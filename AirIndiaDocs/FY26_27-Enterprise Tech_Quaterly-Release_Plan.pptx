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comments/modernComment_7FFFFF1C_85A6DCB1.xml" ContentType="application/vnd.ms-powerpoint.comments+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comments/modernComment_100_16A223B8.xml" ContentType="application/vnd.ms-powerpoint.comments+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comments/modernComment_104_E5356669.xml" ContentType="application/vnd.ms-powerpoint.comments+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comments/modernComment_108_31F7AF6C.xml" ContentType="application/vnd.ms-powerpoint.comments+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29"/>
  </p:notesMasterIdLst>
  <p:sldIdLst>
    <p:sldId id="276" r:id="rId2"/>
    <p:sldId id="265" r:id="rId3"/>
    <p:sldId id="293" r:id="rId4"/>
    <p:sldId id="288" r:id="rId5"/>
    <p:sldId id="300" r:id="rId6"/>
    <p:sldId id="422" r:id="rId7"/>
    <p:sldId id="295" r:id="rId8"/>
    <p:sldId id="421" r:id="rId9"/>
    <p:sldId id="301" r:id="rId10"/>
    <p:sldId id="328" r:id="rId11"/>
    <p:sldId id="369" r:id="rId12"/>
    <p:sldId id="299" r:id="rId13"/>
    <p:sldId id="324" r:id="rId14"/>
    <p:sldId id="329" r:id="rId15"/>
    <p:sldId id="330" r:id="rId16"/>
    <p:sldId id="331" r:id="rId17"/>
    <p:sldId id="280" r:id="rId18"/>
    <p:sldId id="313" r:id="rId19"/>
    <p:sldId id="314" r:id="rId20"/>
    <p:sldId id="315" r:id="rId21"/>
    <p:sldId id="335" r:id="rId22"/>
    <p:sldId id="336" r:id="rId23"/>
    <p:sldId id="358" r:id="rId24"/>
    <p:sldId id="337" r:id="rId25"/>
    <p:sldId id="334" r:id="rId26"/>
    <p:sldId id="333" r:id="rId27"/>
    <p:sldId id="285" r:id="rId28"/>
    <p:sldId id="273" r:id="rId29"/>
    <p:sldId id="262" r:id="rId30"/>
    <p:sldId id="354" r:id="rId31"/>
    <p:sldId id="339" r:id="rId32"/>
    <p:sldId id="261" r:id="rId33"/>
    <p:sldId id="340" r:id="rId34"/>
    <p:sldId id="341" r:id="rId35"/>
    <p:sldId id="289" r:id="rId36"/>
    <p:sldId id="287" r:id="rId37"/>
    <p:sldId id="286" r:id="rId38"/>
    <p:sldId id="259" r:id="rId39"/>
    <p:sldId id="342" r:id="rId40"/>
    <p:sldId id="375" r:id="rId41"/>
    <p:sldId id="376" r:id="rId42"/>
    <p:sldId id="377" r:id="rId43"/>
    <p:sldId id="347" r:id="rId44"/>
    <p:sldId id="373" r:id="rId45"/>
    <p:sldId id="327" r:id="rId46"/>
    <p:sldId id="346" r:id="rId47"/>
    <p:sldId id="323" r:id="rId48"/>
    <p:sldId id="2147483647" r:id="rId49"/>
    <p:sldId id="277" r:id="rId50"/>
    <p:sldId id="303" r:id="rId51"/>
    <p:sldId id="302" r:id="rId52"/>
    <p:sldId id="310" r:id="rId53"/>
    <p:sldId id="374" r:id="rId54"/>
    <p:sldId id="258" r:id="rId55"/>
    <p:sldId id="263" r:id="rId56"/>
    <p:sldId id="350" r:id="rId57"/>
    <p:sldId id="352" r:id="rId58"/>
    <p:sldId id="343" r:id="rId59"/>
    <p:sldId id="344" r:id="rId60"/>
    <p:sldId id="349" r:id="rId61"/>
    <p:sldId id="355" r:id="rId62"/>
    <p:sldId id="368" r:id="rId63"/>
    <p:sldId id="298" r:id="rId64"/>
    <p:sldId id="2147483420" r:id="rId65"/>
    <p:sldId id="308" r:id="rId66"/>
    <p:sldId id="309" r:id="rId67"/>
    <p:sldId id="256" r:id="rId68"/>
    <p:sldId id="312" r:id="rId69"/>
    <p:sldId id="311" r:id="rId70"/>
    <p:sldId id="260" r:id="rId71"/>
    <p:sldId id="307" r:id="rId72"/>
    <p:sldId id="306" r:id="rId73"/>
    <p:sldId id="264" r:id="rId74"/>
    <p:sldId id="304" r:id="rId75"/>
    <p:sldId id="305" r:id="rId76"/>
    <p:sldId id="351" r:id="rId77"/>
    <p:sldId id="290" r:id="rId78"/>
    <p:sldId id="291" r:id="rId79"/>
    <p:sldId id="292" r:id="rId80"/>
    <p:sldId id="338" r:id="rId81"/>
    <p:sldId id="357" r:id="rId82"/>
    <p:sldId id="353" r:id="rId83"/>
    <p:sldId id="283" r:id="rId84"/>
    <p:sldId id="284" r:id="rId85"/>
    <p:sldId id="297" r:id="rId86"/>
    <p:sldId id="296" r:id="rId87"/>
    <p:sldId id="294" r:id="rId88"/>
    <p:sldId id="321" r:id="rId89"/>
    <p:sldId id="318" r:id="rId90"/>
    <p:sldId id="326" r:id="rId91"/>
    <p:sldId id="319" r:id="rId92"/>
    <p:sldId id="320" r:id="rId93"/>
    <p:sldId id="270" r:id="rId94"/>
    <p:sldId id="271" r:id="rId95"/>
    <p:sldId id="348" r:id="rId96"/>
    <p:sldId id="356" r:id="rId97"/>
    <p:sldId id="317" r:id="rId98"/>
    <p:sldId id="278" r:id="rId99"/>
    <p:sldId id="274" r:id="rId100"/>
    <p:sldId id="272" r:id="rId101"/>
    <p:sldId id="275" r:id="rId102"/>
    <p:sldId id="316" r:id="rId103"/>
    <p:sldId id="279" r:id="rId104"/>
    <p:sldId id="281" r:id="rId105"/>
    <p:sldId id="282" r:id="rId106"/>
    <p:sldId id="257" r:id="rId107"/>
    <p:sldId id="417" r:id="rId108"/>
    <p:sldId id="266" r:id="rId109"/>
    <p:sldId id="325" r:id="rId110"/>
    <p:sldId id="361" r:id="rId111"/>
    <p:sldId id="360" r:id="rId112"/>
    <p:sldId id="370" r:id="rId113"/>
    <p:sldId id="359" r:id="rId114"/>
    <p:sldId id="267" r:id="rId115"/>
    <p:sldId id="363" r:id="rId116"/>
    <p:sldId id="362" r:id="rId117"/>
    <p:sldId id="418" r:id="rId118"/>
    <p:sldId id="371" r:id="rId119"/>
    <p:sldId id="268" r:id="rId120"/>
    <p:sldId id="365" r:id="rId121"/>
    <p:sldId id="364" r:id="rId122"/>
    <p:sldId id="372" r:id="rId123"/>
    <p:sldId id="453" r:id="rId124"/>
    <p:sldId id="269" r:id="rId125"/>
    <p:sldId id="367" r:id="rId126"/>
    <p:sldId id="366" r:id="rId127"/>
    <p:sldId id="322" r:id="rId1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37026C07-246F-CFBA-D3C2-18C90E07F6A6}" name="Kunal Kansra" initials="KK" userId="S::kunal.kansra@airindia.com::922aa739-7778-437b-afaf-7a265fb2f933" providerId="AD"/>
  <p188:author id="{AB7D2B15-C6FC-4E1B-D64E-67299F47215F}" name="Chetan Naik" initials="CN" userId="S::chetan.naik@airindia.com::148d6d4e-a369-4e1b-bef1-0d5bab2391d1" providerId="AD"/>
  <p188:author id="{3CC60819-766B-75A0-7947-3CD521EDC8E9}" name="Mohit Jain" initials="MJ" userId="S::mohit.jain@airindia.com::1d08ae71-6cf7-46e6-80a3-337ed2c01cce" providerId="AD"/>
  <p188:author id="{1D8C1D26-40BA-483E-D5A3-B6CCC7C14CC3}" name="Pallavi Gupta" initials="PG" userId="S::pallavi.gupta@airindia.com::34581b12-fdc0-4cc6-b789-e151856670fc" providerId="AD"/>
  <p188:author id="{45F13728-0B67-7496-9233-C19AAC1DA088}" name="Gokul Kollayikal" initials="GK" userId="S::gokul.k@airindia.com::2966c359-c6fb-48a2-9a8b-f3100800f7ea" providerId="AD"/>
  <p188:author id="{FEDF412E-3838-AA9B-83C0-39AFB2C5EABA}" name="Mohammad Azhan Siddiqui" initials="MS" userId="S::mohammadazhan.siddiqui@airindia.com::d5d0daee-917e-4e01-b742-04f4561d98d7" providerId="AD"/>
  <p188:author id="{D3AB592E-9199-5885-5AB5-D89B280D531D}" name="Raj Aryan" initials="" userId="S::raj.aryan@airindia.com::a7caa585-3ee0-4e30-a47a-6ebb24ce955f" providerId="AD"/>
  <p188:author id="{B6387849-F687-FE5A-7FD6-FDFC4004BE93}" name="Vikram Hanji" initials="VH" userId="S::vikram.hanji@airindia.com::60127708-9fee-42cb-bdda-676e3cc93bf1" providerId="AD"/>
  <p188:author id="{35B8BF5D-5D34-A487-FE50-75E73E0BD9B2}" name="Emon Chakraborty" initials="" userId="S::emon.chakraborty@airindia.com::d5c3eaeb-461b-4d20-b898-3b04954cb3f1" providerId="AD"/>
  <p188:author id="{2789D7AB-0019-AF9F-81C9-50EED2E3E514}" name="Ramakrishnan Nallakumar" initials="RN" userId="S::ramakrishnan.nallakumar@airindia.com::e7c34f10-f02e-435d-adb5-6c8f3e6a3921" providerId="AD"/>
  <p188:author id="{E8CCECC1-1462-9B30-AC76-036473718F79}" name="Parth Gohil" initials="PG" userId="S::parth.gohil@airindia.com::b849fa93-8f7b-4561-82b3-a7f1429f75c9" providerId="AD"/>
  <p188:author id="{2B7790D8-30A9-AA9A-5501-21CBD9A3DF0B}" name="Aishik Das" initials="AD" userId="S::aishik.das@airindia.com::423cdab9-d988-45ac-9947-fbdaabe931fc"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0B050"/>
    <a:srgbClr val="0070C0"/>
    <a:srgbClr val="F20C0C"/>
    <a:srgbClr val="05B050"/>
    <a:srgbClr val="016FBC"/>
    <a:srgbClr val="751972"/>
    <a:srgbClr val="FDB03A"/>
    <a:srgbClr val="9DE0BA"/>
    <a:srgbClr val="B61032"/>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microsoft.com/office/2018/10/relationships/authors" Target="author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notesMaster" Target="notesMasters/notesMaster1.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presProps" Target="presProp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theme" Target="theme/theme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tableStyles" Target="tableStyles.xml"/></Relationships>
</file>

<file path=ppt/comments/modernComment_7FFFFF1C_85A6DCB1.xml><?xml version="1.0" encoding="utf-8"?>
<p188:cmLst xmlns:a="http://schemas.openxmlformats.org/drawingml/2006/main" xmlns:r="http://schemas.openxmlformats.org/officeDocument/2006/relationships" xmlns:p188="http://schemas.microsoft.com/office/powerpoint/2018/8/main">
  <p188:cm id="{170F6D4A-733A-774C-A9B4-55F754B4E8D2}" authorId="{1D8C1D26-40BA-483E-D5A3-B6CCC7C14CC3}" status="resolved" created="2025-12-15T10:36:57.786">
    <ac:txMkLst xmlns:ac="http://schemas.microsoft.com/office/drawing/2013/main/command">
      <pc:docMk xmlns:pc="http://schemas.microsoft.com/office/powerpoint/2013/main/command"/>
      <pc:sldMk xmlns:pc="http://schemas.microsoft.com/office/powerpoint/2013/main/command" cId="2242305201" sldId="2147483420"/>
      <ac:graphicFrameMk id="8" creationId="{9C7346B7-B3FB-FE6A-967D-AEE447762A51}"/>
      <ac:tblMk/>
      <ac:tcMk rowId="1733863971" colId="3739979686"/>
      <ac:txMk cp="207">
        <ac:context len="208" hash="206032947"/>
      </ac:txMk>
    </ac:txMkLst>
    <p188:txBody>
      <a:bodyPr/>
      <a:lstStyle/>
      <a:p>
        <a:r>
          <a:rPr lang="en-US"/>
          <a:t>point 2,3,4,5, to be dine in Dec</a:t>
        </a:r>
      </a:p>
    </p188:txBody>
  </p188:cm>
  <p188:cm id="{41389968-F44F-BD49-9D27-F0D083DD9C44}" authorId="{1D8C1D26-40BA-483E-D5A3-B6CCC7C14CC3}" status="resolved" created="2025-12-15T10:54:56.404" complete="100000">
    <ac:txMkLst xmlns:ac="http://schemas.microsoft.com/office/drawing/2013/main/command">
      <pc:docMk xmlns:pc="http://schemas.microsoft.com/office/powerpoint/2013/main/command"/>
      <pc:sldMk xmlns:pc="http://schemas.microsoft.com/office/powerpoint/2013/main/command" cId="4225928480" sldId="2147482977"/>
      <ac:graphicFrameMk id="12" creationId="{0BABDB76-43FF-CE80-DFCB-A9F07709491C}"/>
      <ac:tblMk/>
      <ac:tcMk rowId="3693051173" colId="2822350773"/>
      <ac:txMk cp="0" len="42">
        <ac:context len="43" hash="1536364671"/>
      </ac:txMk>
    </ac:txMkLst>
    <p188:pos x="330038" y="1388101"/>
    <p188:txBody>
      <a:bodyPr/>
      <a:lstStyle/>
      <a:p>
        <a:r>
          <a:rPr lang="en-US"/>
          <a:t>EDR for pilots and cabin crew - qualification and licenses, OCR and approval</a:t>
        </a:r>
      </a:p>
    </p188:txBody>
  </p188:cm>
</p188:cmLst>
</file>

<file path=ppt/comments/modernComment_100_16A223B8.xml><?xml version="1.0" encoding="utf-8"?>
<p188:cmLst xmlns:a="http://schemas.openxmlformats.org/drawingml/2006/main" xmlns:r="http://schemas.openxmlformats.org/officeDocument/2006/relationships" xmlns:p188="http://schemas.microsoft.com/office/powerpoint/2018/8/main">
  <p188:cm id="{782F46C8-9728-436F-BA58-281F7884AE2F}" authorId="{1D8C1D26-40BA-483E-D5A3-B6CCC7C14CC3}" status="resolved" created="2025-12-15T10:36:57.786">
    <ac:txMkLst xmlns:ac="http://schemas.microsoft.com/office/drawing/2013/main/command">
      <pc:docMk xmlns:pc="http://schemas.microsoft.com/office/powerpoint/2013/main/command"/>
      <pc:sldMk xmlns:pc="http://schemas.microsoft.com/office/powerpoint/2013/main/command" cId="2242305201" sldId="2147483420"/>
      <ac:graphicFrameMk id="8" creationId="{9C7346B7-B3FB-FE6A-967D-AEE447762A51}"/>
      <ac:tblMk/>
      <ac:tcMk rowId="1733863971" colId="3739979686"/>
      <ac:txMk cp="207">
        <ac:context len="208" hash="206032947"/>
      </ac:txMk>
    </ac:txMkLst>
    <p188:txBody>
      <a:bodyPr/>
      <a:lstStyle/>
      <a:p>
        <a:r>
          <a:rPr lang="en-US"/>
          <a:t>point 2,3,4,5, to be dine in Dec</a:t>
        </a:r>
      </a:p>
    </p188:txBody>
  </p188:cm>
  <p188:cm id="{913A074E-EE80-4ABE-8B77-69601D44729B}" authorId="{1D8C1D26-40BA-483E-D5A3-B6CCC7C14CC3}" status="resolved" created="2025-12-15T10:54:56.404">
    <ac:txMkLst xmlns:ac="http://schemas.microsoft.com/office/drawing/2013/main/command">
      <pc:docMk xmlns:pc="http://schemas.microsoft.com/office/powerpoint/2013/main/command"/>
      <pc:sldMk xmlns:pc="http://schemas.microsoft.com/office/powerpoint/2013/main/command" cId="4225928480" sldId="2147482977"/>
      <ac:graphicFrameMk id="12" creationId="{0BABDB76-43FF-CE80-DFCB-A9F07709491C}"/>
      <ac:tblMk/>
      <ac:tcMk rowId="3693051173" colId="2822350773"/>
      <ac:txMk cp="0" len="42">
        <ac:context len="43" hash="1536364671"/>
      </ac:txMk>
    </ac:txMkLst>
    <p188:pos x="330038" y="1388101"/>
    <p188:txBody>
      <a:bodyPr/>
      <a:lstStyle/>
      <a:p>
        <a:r>
          <a:rPr lang="en-US"/>
          <a:t>EDR for pilots and cabin crew - qualification and licenses, OCR and approval</a:t>
        </a:r>
      </a:p>
    </p188:txBody>
  </p188:cm>
</p188:cmLst>
</file>

<file path=ppt/comments/modernComment_104_E5356669.xml><?xml version="1.0" encoding="utf-8"?>
<p188:cmLst xmlns:a="http://schemas.openxmlformats.org/drawingml/2006/main" xmlns:r="http://schemas.openxmlformats.org/officeDocument/2006/relationships" xmlns:p188="http://schemas.microsoft.com/office/powerpoint/2018/8/main">
  <p188:cm id="{961B5393-76A2-4737-81F3-C2FE9ADC29D4}" authorId="{1D8C1D26-40BA-483E-D5A3-B6CCC7C14CC3}" status="resolved" created="2025-12-15T10:36:57.786">
    <ac:txMkLst xmlns:ac="http://schemas.microsoft.com/office/drawing/2013/main/command">
      <pc:docMk xmlns:pc="http://schemas.microsoft.com/office/powerpoint/2013/main/command"/>
      <pc:sldMk xmlns:pc="http://schemas.microsoft.com/office/powerpoint/2013/main/command" cId="2242305201" sldId="2147483420"/>
      <ac:graphicFrameMk id="8" creationId="{9C7346B7-B3FB-FE6A-967D-AEE447762A51}"/>
      <ac:tblMk/>
      <ac:tcMk rowId="1733863971" colId="3739979686"/>
      <ac:txMk cp="207">
        <ac:context len="208" hash="206032947"/>
      </ac:txMk>
    </ac:txMkLst>
    <p188:txBody>
      <a:bodyPr/>
      <a:lstStyle/>
      <a:p>
        <a:r>
          <a:rPr lang="en-US"/>
          <a:t>point 2,3,4,5, to be dine in Dec</a:t>
        </a:r>
      </a:p>
    </p188:txBody>
  </p188:cm>
  <p188:cm id="{F95D02F0-C6C7-4B89-A136-347788C3BE2F}" authorId="{1D8C1D26-40BA-483E-D5A3-B6CCC7C14CC3}" status="resolved" created="2025-12-15T10:54:56.404">
    <ac:txMkLst xmlns:ac="http://schemas.microsoft.com/office/drawing/2013/main/command">
      <pc:docMk xmlns:pc="http://schemas.microsoft.com/office/powerpoint/2013/main/command"/>
      <pc:sldMk xmlns:pc="http://schemas.microsoft.com/office/powerpoint/2013/main/command" cId="4225928480" sldId="2147482977"/>
      <ac:graphicFrameMk id="12" creationId="{0BABDB76-43FF-CE80-DFCB-A9F07709491C}"/>
      <ac:tblMk/>
      <ac:tcMk rowId="3693051173" colId="2822350773"/>
      <ac:txMk cp="0" len="42">
        <ac:context len="43" hash="1536364671"/>
      </ac:txMk>
    </ac:txMkLst>
    <p188:pos x="330038" y="1388101"/>
    <p188:txBody>
      <a:bodyPr/>
      <a:lstStyle/>
      <a:p>
        <a:r>
          <a:rPr lang="en-US"/>
          <a:t>EDR for pilots and cabin crew - qualification and licenses, OCR and approval</a:t>
        </a:r>
      </a:p>
    </p188:txBody>
  </p188:cm>
</p188:cmLst>
</file>

<file path=ppt/comments/modernComment_108_31F7AF6C.xml><?xml version="1.0" encoding="utf-8"?>
<p188:cmLst xmlns:a="http://schemas.openxmlformats.org/drawingml/2006/main" xmlns:r="http://schemas.openxmlformats.org/officeDocument/2006/relationships" xmlns:p188="http://schemas.microsoft.com/office/powerpoint/2018/8/main">
  <p188:cm id="{08A0ECFD-6959-4347-924D-65140428855A}" authorId="{1D8C1D26-40BA-483E-D5A3-B6CCC7C14CC3}" status="resolved" created="2025-12-15T10:36:57.786">
    <ac:txMkLst xmlns:ac="http://schemas.microsoft.com/office/drawing/2013/main/command">
      <pc:docMk xmlns:pc="http://schemas.microsoft.com/office/powerpoint/2013/main/command"/>
      <pc:sldMk xmlns:pc="http://schemas.microsoft.com/office/powerpoint/2013/main/command" cId="2242305201" sldId="2147483420"/>
      <ac:graphicFrameMk id="8" creationId="{9C7346B7-B3FB-FE6A-967D-AEE447762A51}"/>
      <ac:tblMk/>
      <ac:tcMk rowId="1733863971" colId="3739979686"/>
      <ac:txMk cp="207">
        <ac:context len="208" hash="206032947"/>
      </ac:txMk>
    </ac:txMkLst>
    <p188:txBody>
      <a:bodyPr/>
      <a:lstStyle/>
      <a:p>
        <a:r>
          <a:rPr lang="en-US"/>
          <a:t>point 2,3,4,5, to be dine in Dec</a:t>
        </a:r>
      </a:p>
    </p188:txBody>
  </p188:cm>
  <p188:cm id="{7D8F42B9-832C-4D3C-BE0D-8BDE6726C37E}" authorId="{1D8C1D26-40BA-483E-D5A3-B6CCC7C14CC3}" status="resolved" created="2025-12-15T10:54:56.404">
    <ac:txMkLst xmlns:ac="http://schemas.microsoft.com/office/drawing/2013/main/command">
      <pc:docMk xmlns:pc="http://schemas.microsoft.com/office/powerpoint/2013/main/command"/>
      <pc:sldMk xmlns:pc="http://schemas.microsoft.com/office/powerpoint/2013/main/command" cId="4225928480" sldId="2147482977"/>
      <ac:graphicFrameMk id="12" creationId="{0BABDB76-43FF-CE80-DFCB-A9F07709491C}"/>
      <ac:tblMk/>
      <ac:tcMk rowId="3693051173" colId="2822350773"/>
      <ac:txMk cp="0" len="42">
        <ac:context len="43" hash="1536364671"/>
      </ac:txMk>
    </ac:txMkLst>
    <p188:pos x="330038" y="1388101"/>
    <p188:txBody>
      <a:bodyPr/>
      <a:lstStyle/>
      <a:p>
        <a:r>
          <a:rPr lang="en-US"/>
          <a:t>EDR for pilots and cabin crew - qualification and licenses, OCR and approval</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0F5A72E-0C27-4033-902A-78331EF282B2}" type="datetimeFigureOut">
              <a:rPr lang="en-IN" smtClean="0"/>
              <a:t>10-08-2026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8EEE444-89E6-4CD3-8952-8E40311B732C}" type="slidenum">
              <a:rPr lang="en-IN" smtClean="0"/>
              <a:t>‹#›</a:t>
            </a:fld>
            <a:endParaRPr lang="en-IN"/>
          </a:p>
        </p:txBody>
      </p:sp>
    </p:spTree>
    <p:extLst>
      <p:ext uri="{BB962C8B-B14F-4D97-AF65-F5344CB8AC3E}">
        <p14:creationId xmlns:p14="http://schemas.microsoft.com/office/powerpoint/2010/main" val="29383461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67B7408-9A06-41BD-8B00-CEBD8D6DDF3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261068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58CCF0-4F1D-A300-8E39-B94620AB6D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CDB586-7F78-B934-85C6-81C8E6FD1D8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37BD6A-BC1A-DB9C-40C6-77ACCC5E2F70}"/>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CD4BFA85-13AC-AE9A-BFFC-4939397A40E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67B7408-9A06-41BD-8B00-CEBD8D6DDF3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684843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298E8F-C742-61F2-28C9-A7AD7A83E5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64BE60-9939-CECF-E46F-A54CACAC04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8E7502-9527-7362-C33B-660E3EB529C0}"/>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5D77E519-17B2-017C-D918-1A483196E79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67B7408-9A06-41BD-8B00-CEBD8D6DDF3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734786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C63BE1-968B-7805-6D69-927805CF86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04271F-CD0F-8E91-BA04-766CDAD4E3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9682BB-310C-D72B-019E-9B783DA3B306}"/>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0FC948E4-53B0-20B3-1B65-02709C3EF85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67B7408-9A06-41BD-8B00-CEBD8D6DDF3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616117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7D4359-62D7-7274-7D1D-8A522E0537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D6F4E4-D27B-29CD-2870-CFC66585E6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9F4B83-6083-9DC4-DFA8-C587EECDF2F3}"/>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CC2B53F1-9DE4-A0F3-23EF-2782A177A73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67B7408-9A06-41BD-8B00-CEBD8D6DDF3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200653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A5790F-CC7C-17A2-9FD6-2B28D68037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256445-8A19-83E7-E2F0-32A4E3ED97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A49902-5A5C-5BEB-AE0C-7AC75BE237A2}"/>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5933D4DE-4723-D3F3-747E-D018AFF9E39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67B7408-9A06-41BD-8B00-CEBD8D6DDF3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81538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BD1BAC-58A4-9E2B-32A7-A2E4953678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58812E-FDA7-8778-46E8-60BA2BF9B2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38DFF0-C0BB-675A-7700-38729B2037C8}"/>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10E1CC1C-5CE4-81EE-0C93-A5DA9B917FC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67B7408-9A06-41BD-8B00-CEBD8D6DDF3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341165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1FA2A0-32A7-0EBE-01F7-8837ECF936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D155E1-FA72-D1DA-0721-C8CBD01A47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7FF890-21C5-3A62-83F3-5DCFCEBB87D1}"/>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24D08FC3-EC6A-7A43-55FD-1D9F0AA912A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67B7408-9A06-41BD-8B00-CEBD8D6DDF3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434002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3EF2C0-9460-89AB-6F75-114DC1370A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E28E28-D254-2262-8937-8060C8A805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C042BC-C590-2541-70B2-77E97399A44F}"/>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04618262-8D87-AE49-3A54-38A3ED4C068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67B7408-9A06-41BD-8B00-CEBD8D6DDF3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737403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B86CB1-94CA-CC52-47E3-CA9CD52572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5CDE79-F781-9EAE-5F62-ECCBA219C9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5B7AF2-1EFA-270A-B346-F0F91E71E6C8}"/>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46E6FD94-1DD0-3900-07A2-50103B520D5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67B7408-9A06-41BD-8B00-CEBD8D6DDF3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127947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B78217-ADAF-0FDD-316C-950CB93684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735851-A68C-045B-F851-170BA8731D5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152885-4EF1-E752-84DA-C8A7EA77226B}"/>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95F4034A-A9ED-5BE5-C807-32E9300DCC2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67B7408-9A06-41BD-8B00-CEBD8D6DDF3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7592976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3E50BE-D1DF-14D0-3E54-4EE216261F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5ACDD4-2C36-2B57-C806-A2EB3AA055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D0F44A-4097-8F74-336E-4B0DCCF66A22}"/>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927878FD-EEC5-0104-4891-12B43ABC2A8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67B7408-9A06-41BD-8B00-CEBD8D6DDF3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5999723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B2B48B-5D68-33CE-7CB9-85CFA6B759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449553-2410-B1CE-80EF-A4C046D9B4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73F3ED-CB3D-4891-4CC4-683EEBE70376}"/>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AA65A1B3-D45A-0031-F986-5CB31D6D72D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67B7408-9A06-41BD-8B00-CEBD8D6DDF3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3418816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E548F2-5F04-2948-D768-8B0DDDDCC5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3A5EB2-2FD8-EDC1-24F9-182AB85E2F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5116C4-0650-117B-E7E6-409C4B51CEF5}"/>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F7A2117B-6C64-A1E2-91F9-F34AC2F1F06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67B7408-9A06-41BD-8B00-CEBD8D6DDF3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2607217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D53E0B-0A10-26ED-12A7-77585BB733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C1CC60-F17F-2481-2D6D-CE073A8D179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357029-2D03-45AA-F142-4FB9EBD31CCC}"/>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9A1A3205-A15A-E9F6-5453-982CE23594A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67B7408-9A06-41BD-8B00-CEBD8D6DDF3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2512496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CF9929-EE21-1DCF-11DA-ACEA5C310F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8C95D3-2480-3694-B14A-BDF9FF986D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9636DAB-C7F2-F256-9EFB-032E6C8C7B8A}"/>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BF41941C-8511-6119-34A5-0041F0DEB81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67B7408-9A06-41BD-8B00-CEBD8D6DDF3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7065976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EC8930-1F24-9C60-1230-1891788FEC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B8E925-42EA-6BBC-F0D7-6067ACA3FA3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7BC6AF-8465-56FF-EF98-CAE93103682D}"/>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E30AA117-45BC-A524-0E1B-FC63CEA5DD2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67B7408-9A06-41BD-8B00-CEBD8D6DDF3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4550396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C8D5F8-8B95-3A7F-04A3-7ABF52524F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6813A0-11AD-1447-EE31-B5C52E8C73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6A14E23-F9CB-9B49-085A-2627CD4572B8}"/>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C7D64C81-3D6F-032C-2C36-AEDB2BB13DD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67B7408-9A06-41BD-8B00-CEBD8D6DDF3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29625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8D765F-F945-7F41-4165-FAC065E064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F95398-86D7-373D-6E79-162EC03448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B09D9E-D554-5181-BE6F-38F0DFC8B982}"/>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31A2A97B-3CD2-E4AA-3519-B22FFEED117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67B7408-9A06-41BD-8B00-CEBD8D6DDF3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1315967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78505F-20F5-2A63-1F92-7E13116057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D0E06C-DF42-CA61-316B-65FD304128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775854-ADD5-2B64-308D-2FBD014857C4}"/>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346A8763-9BF4-D62C-2C7E-061627F1C94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67B7408-9A06-41BD-8B00-CEBD8D6DDF3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2557807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E09E3A-7983-078B-74E9-ABB27313A2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AEB724-0974-947E-516A-B4170D5051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3D7969-80D6-49A4-B43D-DCE674242E62}"/>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E01E6023-A801-4822-CF82-0D8BB4EC096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67B7408-9A06-41BD-8B00-CEBD8D6DDF3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7004052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40B788-D9A2-B1D9-0819-AA705707BE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E611EC-2289-CABC-7CD9-DE4A34B48A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E65C38A-1FF9-DC4D-CD58-B7F8C21D96A1}"/>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0F8243D6-E1CC-AD19-2955-A1E60F9150D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67B7408-9A06-41BD-8B00-CEBD8D6DDF3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3774611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E84D25-398B-D010-D17A-DDE34A2A04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6836FA-B8F5-0E64-2525-301B5B157AD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9C8A9C-47D9-5DA1-F1CB-0C38DDCD8798}"/>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20D16F7D-1F41-F42F-E11F-D7A9552BC1D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67B7408-9A06-41BD-8B00-CEBD8D6DDF3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5755516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E84D25-398B-D010-D17A-DDE34A2A04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6836FA-B8F5-0E64-2525-301B5B157AD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9C8A9C-47D9-5DA1-F1CB-0C38DDCD8798}"/>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20D16F7D-1F41-F42F-E11F-D7A9552BC1D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67B7408-9A06-41BD-8B00-CEBD8D6DDF3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5755516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4B8F75-6765-EF7B-F62F-503582483C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88E8C0-301A-C05C-F618-A37C39D9F2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47DAC6-B3AA-9791-15A5-5D8A0FAE6BAE}"/>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41AF4219-7732-FEED-4958-3E180F11F27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67B7408-9A06-41BD-8B00-CEBD8D6DDF3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6109645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AD4D6E-A2B8-134F-57EB-A30D242D07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8B7872-8D32-CA56-4027-1ED5C01EAC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9DCD87-41AC-5924-A6BF-06B21765050A}"/>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ED68C83E-1FF1-65B7-6CEC-BBC092669C3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67B7408-9A06-41BD-8B00-CEBD8D6DDF3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2274691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6B0F4-A487-6EE6-8CAB-704A1ECD88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43079A-3531-8E9B-7EBA-9322C64EC7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CFE422-3A4E-36EC-0CB1-FC16476A644C}"/>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703D44AF-D445-0643-DA8D-1F25C9336C4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67B7408-9A06-41BD-8B00-CEBD8D6DDF3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5168169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5E4FCC-41FA-4597-64AC-C3DEC5EA7D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AF15EB-5D3A-8A26-DB69-8D46EF0C3A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02C8CE0-6BC0-8F72-BCA9-4A6C73BF9ED4}"/>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81F6B815-2244-B735-8505-47B3BD78374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67B7408-9A06-41BD-8B00-CEBD8D6DDF3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2447715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D8AAF2-2755-F23B-E939-9DB78B5290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62E370-BD4A-2E3E-6D38-96B15B3EC1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29A3F6-9B02-F103-ED24-7E7492982A09}"/>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7E23B81F-7C8D-2171-8A7A-5FE023A28E2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67B7408-9A06-41BD-8B00-CEBD8D6DDF3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9169784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AFD7EF-5EDF-7EC0-DC2A-1E00CACAFB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F58DC7-8E73-1CD4-F548-A844A3D88F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0AB6C9-1B25-E163-EE22-C050ED7FFA33}"/>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4218BAED-8C1E-0ED7-A2DA-255C3DBCF8E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67B7408-9A06-41BD-8B00-CEBD8D6DDF3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8583260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234355-9B91-B7BE-B345-E21E06864A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8E5EFB-E392-6269-9ACB-13CD788149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EB7A8A-6A82-B763-BEED-B0371441B12E}"/>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257D24E2-4333-70A3-8AB9-05262BC593A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67B7408-9A06-41BD-8B00-CEBD8D6DDF3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5217678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8D4D77-B099-6062-58F0-B2B5CD3FBA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6F7CB6-1162-17BB-7C8D-157EE8F3A1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A7B333-4007-9A8D-0926-2765CE9DEECF}"/>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6706F2C8-FE31-C634-ED46-0B63CC37FC7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67B7408-9A06-41BD-8B00-CEBD8D6DDF3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1957637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CB4343-27E5-821D-2807-08BC08BD2D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1F6119-A9A3-EAF5-D599-025839A191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4B29A1-A403-519A-6A67-8B9FAA2CF3B6}"/>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151852FB-FBED-98EF-5D90-F422A368699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67B7408-9A06-41BD-8B00-CEBD8D6DDF3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981217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02E31B-95B3-53B8-5FB9-37A5EF79C4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3029CC-5C00-82A7-35F0-43DFB80ED9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054A30-1BF3-18E2-4060-10A74A200CE4}"/>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1D8C1A62-5911-8A5A-F249-01F780217CF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67B7408-9A06-41BD-8B00-CEBD8D6DDF3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7778438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B41757-A67C-E4F7-6952-E121413312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F9CA8B-9B46-8F5D-E3DC-C54E935F97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A760A0-3B7F-85FD-7B40-F05591E2ACA2}"/>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AC56F9C8-C68C-E480-0EE8-FFBA567860C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67B7408-9A06-41BD-8B00-CEBD8D6DDF3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5342472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D73660-62B2-F401-2EFE-D84E857677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32344C-EDE9-CFB9-CF49-C2CC394A94B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574CB95-64E4-D32D-33B9-5AA704F59535}"/>
              </a:ext>
            </a:extLst>
          </p:cNvPr>
          <p:cNvSpPr>
            <a:spLocks noGrp="1"/>
          </p:cNvSpPr>
          <p:nvPr>
            <p:ph type="body" idx="1"/>
          </p:nvPr>
        </p:nvSpPr>
        <p:spPr/>
        <p:txBody>
          <a:bodyPr/>
          <a:lstStyle/>
          <a:p>
            <a:endParaRPr lang="en-US">
              <a:latin typeface="Calibri"/>
              <a:ea typeface="Calibri"/>
              <a:cs typeface="Calibri"/>
            </a:endParaRPr>
          </a:p>
        </p:txBody>
      </p:sp>
      <p:sp>
        <p:nvSpPr>
          <p:cNvPr id="4" name="Slide Number Placeholder 3">
            <a:extLst>
              <a:ext uri="{FF2B5EF4-FFF2-40B4-BE49-F238E27FC236}">
                <a16:creationId xmlns:a16="http://schemas.microsoft.com/office/drawing/2014/main" id="{BA8F0EAB-7A52-467F-6933-9D4314D0AC92}"/>
              </a:ext>
            </a:extLst>
          </p:cNvPr>
          <p:cNvSpPr>
            <a:spLocks noGrp="1"/>
          </p:cNvSpPr>
          <p:nvPr>
            <p:ph type="sldNum" sz="quarter" idx="5"/>
          </p:nvPr>
        </p:nvSpPr>
        <p:spPr/>
        <p:txBody>
          <a:bodyPr/>
          <a:lstStyle/>
          <a:p>
            <a:fld id="{F236FE56-EDDE-E548-B420-3B41F497375C}" type="slidenum">
              <a:rPr lang="en-US" smtClean="0"/>
              <a:t>64</a:t>
            </a:fld>
            <a:endParaRPr lang="en-US"/>
          </a:p>
        </p:txBody>
      </p:sp>
    </p:spTree>
    <p:extLst>
      <p:ext uri="{BB962C8B-B14F-4D97-AF65-F5344CB8AC3E}">
        <p14:creationId xmlns:p14="http://schemas.microsoft.com/office/powerpoint/2010/main" val="261761814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9FCEB8-D73D-73D1-5BBC-D68F9BA325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F11203-346F-46C3-A141-037803CC4B5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5F08F81-B34A-D80D-D242-DBC4F96B847B}"/>
              </a:ext>
            </a:extLst>
          </p:cNvPr>
          <p:cNvSpPr>
            <a:spLocks noGrp="1"/>
          </p:cNvSpPr>
          <p:nvPr>
            <p:ph type="body" idx="1"/>
          </p:nvPr>
        </p:nvSpPr>
        <p:spPr/>
        <p:txBody>
          <a:bodyPr/>
          <a:lstStyle/>
          <a:p>
            <a:endParaRPr lang="en-US">
              <a:latin typeface="Calibri"/>
              <a:ea typeface="Calibri"/>
              <a:cs typeface="Calibri"/>
            </a:endParaRPr>
          </a:p>
        </p:txBody>
      </p:sp>
      <p:sp>
        <p:nvSpPr>
          <p:cNvPr id="4" name="Slide Number Placeholder 3">
            <a:extLst>
              <a:ext uri="{FF2B5EF4-FFF2-40B4-BE49-F238E27FC236}">
                <a16:creationId xmlns:a16="http://schemas.microsoft.com/office/drawing/2014/main" id="{F24971C5-47D6-A2F1-53D7-65DE57A6BBCE}"/>
              </a:ext>
            </a:extLst>
          </p:cNvPr>
          <p:cNvSpPr>
            <a:spLocks noGrp="1"/>
          </p:cNvSpPr>
          <p:nvPr>
            <p:ph type="sldNum" sz="quarter" idx="5"/>
          </p:nvPr>
        </p:nvSpPr>
        <p:spPr/>
        <p:txBody>
          <a:bodyPr/>
          <a:lstStyle/>
          <a:p>
            <a:fld id="{F236FE56-EDDE-E548-B420-3B41F497375C}" type="slidenum">
              <a:rPr lang="en-US" smtClean="0"/>
              <a:t>65</a:t>
            </a:fld>
            <a:endParaRPr lang="en-US"/>
          </a:p>
        </p:txBody>
      </p:sp>
    </p:spTree>
    <p:extLst>
      <p:ext uri="{BB962C8B-B14F-4D97-AF65-F5344CB8AC3E}">
        <p14:creationId xmlns:p14="http://schemas.microsoft.com/office/powerpoint/2010/main" val="208513786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8896F0-BAC3-FEB7-9A0E-C13C10044A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2F0330-8D87-FD6E-C314-2D6E36FED93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537A84D-4B6E-35FC-CA8F-B6E037312AF9}"/>
              </a:ext>
            </a:extLst>
          </p:cNvPr>
          <p:cNvSpPr>
            <a:spLocks noGrp="1"/>
          </p:cNvSpPr>
          <p:nvPr>
            <p:ph type="body" idx="1"/>
          </p:nvPr>
        </p:nvSpPr>
        <p:spPr/>
        <p:txBody>
          <a:bodyPr/>
          <a:lstStyle/>
          <a:p>
            <a:endParaRPr lang="en-US">
              <a:latin typeface="Calibri"/>
              <a:ea typeface="Calibri"/>
              <a:cs typeface="Calibri"/>
            </a:endParaRPr>
          </a:p>
        </p:txBody>
      </p:sp>
      <p:sp>
        <p:nvSpPr>
          <p:cNvPr id="4" name="Slide Number Placeholder 3">
            <a:extLst>
              <a:ext uri="{FF2B5EF4-FFF2-40B4-BE49-F238E27FC236}">
                <a16:creationId xmlns:a16="http://schemas.microsoft.com/office/drawing/2014/main" id="{E9E94746-93FF-8FF3-5E0D-E3A9DF12A99A}"/>
              </a:ext>
            </a:extLst>
          </p:cNvPr>
          <p:cNvSpPr>
            <a:spLocks noGrp="1"/>
          </p:cNvSpPr>
          <p:nvPr>
            <p:ph type="sldNum" sz="quarter" idx="5"/>
          </p:nvPr>
        </p:nvSpPr>
        <p:spPr/>
        <p:txBody>
          <a:bodyPr/>
          <a:lstStyle/>
          <a:p>
            <a:fld id="{F236FE56-EDDE-E548-B420-3B41F497375C}" type="slidenum">
              <a:rPr lang="en-US" smtClean="0"/>
              <a:t>66</a:t>
            </a:fld>
            <a:endParaRPr lang="en-US"/>
          </a:p>
        </p:txBody>
      </p:sp>
    </p:spTree>
    <p:extLst>
      <p:ext uri="{BB962C8B-B14F-4D97-AF65-F5344CB8AC3E}">
        <p14:creationId xmlns:p14="http://schemas.microsoft.com/office/powerpoint/2010/main" val="137613798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61BE1E-1B60-95A0-AE90-F26AFAB27A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C4945F-2818-B6B9-433C-22EC5328353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0968F5D-CB5A-4DFB-82EE-5E4CFA7E9D14}"/>
              </a:ext>
            </a:extLst>
          </p:cNvPr>
          <p:cNvSpPr>
            <a:spLocks noGrp="1"/>
          </p:cNvSpPr>
          <p:nvPr>
            <p:ph type="body" idx="1"/>
          </p:nvPr>
        </p:nvSpPr>
        <p:spPr/>
        <p:txBody>
          <a:bodyPr/>
          <a:lstStyle/>
          <a:p>
            <a:endParaRPr lang="en-US">
              <a:latin typeface="Calibri"/>
              <a:ea typeface="Calibri"/>
              <a:cs typeface="Calibri"/>
            </a:endParaRPr>
          </a:p>
        </p:txBody>
      </p:sp>
      <p:sp>
        <p:nvSpPr>
          <p:cNvPr id="4" name="Slide Number Placeholder 3">
            <a:extLst>
              <a:ext uri="{FF2B5EF4-FFF2-40B4-BE49-F238E27FC236}">
                <a16:creationId xmlns:a16="http://schemas.microsoft.com/office/drawing/2014/main" id="{60045DDE-6B48-B620-AC94-E9B89C8996FA}"/>
              </a:ext>
            </a:extLst>
          </p:cNvPr>
          <p:cNvSpPr>
            <a:spLocks noGrp="1"/>
          </p:cNvSpPr>
          <p:nvPr>
            <p:ph type="sldNum" sz="quarter" idx="5"/>
          </p:nvPr>
        </p:nvSpPr>
        <p:spPr/>
        <p:txBody>
          <a:bodyPr/>
          <a:lstStyle/>
          <a:p>
            <a:fld id="{F236FE56-EDDE-E548-B420-3B41F497375C}" type="slidenum">
              <a:rPr lang="en-US" smtClean="0"/>
              <a:t>67</a:t>
            </a:fld>
            <a:endParaRPr lang="en-US"/>
          </a:p>
        </p:txBody>
      </p:sp>
    </p:spTree>
    <p:extLst>
      <p:ext uri="{BB962C8B-B14F-4D97-AF65-F5344CB8AC3E}">
        <p14:creationId xmlns:p14="http://schemas.microsoft.com/office/powerpoint/2010/main" val="141769069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5220B7-C0E1-3E28-1AA7-9669CDC2F9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014BA8-DB3C-ECFB-37CF-101E1A41435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4544145-F71B-3BA7-BF31-B7843EDE0B06}"/>
              </a:ext>
            </a:extLst>
          </p:cNvPr>
          <p:cNvSpPr>
            <a:spLocks noGrp="1"/>
          </p:cNvSpPr>
          <p:nvPr>
            <p:ph type="body" idx="1"/>
          </p:nvPr>
        </p:nvSpPr>
        <p:spPr/>
        <p:txBody>
          <a:bodyPr/>
          <a:lstStyle/>
          <a:p>
            <a:endParaRPr lang="en-US">
              <a:latin typeface="Calibri"/>
              <a:ea typeface="Calibri"/>
              <a:cs typeface="Calibri"/>
            </a:endParaRPr>
          </a:p>
        </p:txBody>
      </p:sp>
      <p:sp>
        <p:nvSpPr>
          <p:cNvPr id="4" name="Slide Number Placeholder 3">
            <a:extLst>
              <a:ext uri="{FF2B5EF4-FFF2-40B4-BE49-F238E27FC236}">
                <a16:creationId xmlns:a16="http://schemas.microsoft.com/office/drawing/2014/main" id="{A01FEE5F-996A-3A8F-7915-9EE668FEABFF}"/>
              </a:ext>
            </a:extLst>
          </p:cNvPr>
          <p:cNvSpPr>
            <a:spLocks noGrp="1"/>
          </p:cNvSpPr>
          <p:nvPr>
            <p:ph type="sldNum" sz="quarter" idx="5"/>
          </p:nvPr>
        </p:nvSpPr>
        <p:spPr/>
        <p:txBody>
          <a:bodyPr/>
          <a:lstStyle/>
          <a:p>
            <a:fld id="{F236FE56-EDDE-E548-B420-3B41F497375C}" type="slidenum">
              <a:rPr lang="en-US" smtClean="0"/>
              <a:t>68</a:t>
            </a:fld>
            <a:endParaRPr lang="en-US"/>
          </a:p>
        </p:txBody>
      </p:sp>
    </p:spTree>
    <p:extLst>
      <p:ext uri="{BB962C8B-B14F-4D97-AF65-F5344CB8AC3E}">
        <p14:creationId xmlns:p14="http://schemas.microsoft.com/office/powerpoint/2010/main" val="62754935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3B8107-5BFE-156C-871A-95845ABC23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2CAED8-4CA8-7D86-C05C-903D709007D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31B1BFB-A6C0-3869-C2B4-172D99274FF3}"/>
              </a:ext>
            </a:extLst>
          </p:cNvPr>
          <p:cNvSpPr>
            <a:spLocks noGrp="1"/>
          </p:cNvSpPr>
          <p:nvPr>
            <p:ph type="body" idx="1"/>
          </p:nvPr>
        </p:nvSpPr>
        <p:spPr/>
        <p:txBody>
          <a:bodyPr/>
          <a:lstStyle/>
          <a:p>
            <a:endParaRPr lang="en-US">
              <a:latin typeface="Calibri"/>
              <a:ea typeface="Calibri"/>
              <a:cs typeface="Calibri"/>
            </a:endParaRPr>
          </a:p>
        </p:txBody>
      </p:sp>
      <p:sp>
        <p:nvSpPr>
          <p:cNvPr id="4" name="Slide Number Placeholder 3">
            <a:extLst>
              <a:ext uri="{FF2B5EF4-FFF2-40B4-BE49-F238E27FC236}">
                <a16:creationId xmlns:a16="http://schemas.microsoft.com/office/drawing/2014/main" id="{0F06FC7A-A645-66B9-C6C0-D1E261D81ED8}"/>
              </a:ext>
            </a:extLst>
          </p:cNvPr>
          <p:cNvSpPr>
            <a:spLocks noGrp="1"/>
          </p:cNvSpPr>
          <p:nvPr>
            <p:ph type="sldNum" sz="quarter" idx="5"/>
          </p:nvPr>
        </p:nvSpPr>
        <p:spPr/>
        <p:txBody>
          <a:bodyPr/>
          <a:lstStyle/>
          <a:p>
            <a:fld id="{F236FE56-EDDE-E548-B420-3B41F497375C}" type="slidenum">
              <a:rPr lang="en-US" smtClean="0"/>
              <a:t>69</a:t>
            </a:fld>
            <a:endParaRPr lang="en-US"/>
          </a:p>
        </p:txBody>
      </p:sp>
    </p:spTree>
    <p:extLst>
      <p:ext uri="{BB962C8B-B14F-4D97-AF65-F5344CB8AC3E}">
        <p14:creationId xmlns:p14="http://schemas.microsoft.com/office/powerpoint/2010/main" val="188349344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95B5B5-B931-979C-8B79-2D34D4DA3C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86843D-9BA1-813A-D86D-E2E12CD26F7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D443756-ADB1-D744-F7F6-A74B17E781BC}"/>
              </a:ext>
            </a:extLst>
          </p:cNvPr>
          <p:cNvSpPr>
            <a:spLocks noGrp="1"/>
          </p:cNvSpPr>
          <p:nvPr>
            <p:ph type="body" idx="1"/>
          </p:nvPr>
        </p:nvSpPr>
        <p:spPr/>
        <p:txBody>
          <a:bodyPr/>
          <a:lstStyle/>
          <a:p>
            <a:endParaRPr lang="en-US">
              <a:latin typeface="Calibri"/>
              <a:ea typeface="Calibri"/>
              <a:cs typeface="Calibri"/>
            </a:endParaRPr>
          </a:p>
        </p:txBody>
      </p:sp>
      <p:sp>
        <p:nvSpPr>
          <p:cNvPr id="4" name="Slide Number Placeholder 3">
            <a:extLst>
              <a:ext uri="{FF2B5EF4-FFF2-40B4-BE49-F238E27FC236}">
                <a16:creationId xmlns:a16="http://schemas.microsoft.com/office/drawing/2014/main" id="{6E33F9F3-F69C-4D0D-326A-6D946EF721EC}"/>
              </a:ext>
            </a:extLst>
          </p:cNvPr>
          <p:cNvSpPr>
            <a:spLocks noGrp="1"/>
          </p:cNvSpPr>
          <p:nvPr>
            <p:ph type="sldNum" sz="quarter" idx="5"/>
          </p:nvPr>
        </p:nvSpPr>
        <p:spPr/>
        <p:txBody>
          <a:bodyPr/>
          <a:lstStyle/>
          <a:p>
            <a:fld id="{F236FE56-EDDE-E548-B420-3B41F497375C}" type="slidenum">
              <a:rPr lang="en-US" smtClean="0"/>
              <a:t>70</a:t>
            </a:fld>
            <a:endParaRPr lang="en-US"/>
          </a:p>
        </p:txBody>
      </p:sp>
    </p:spTree>
    <p:extLst>
      <p:ext uri="{BB962C8B-B14F-4D97-AF65-F5344CB8AC3E}">
        <p14:creationId xmlns:p14="http://schemas.microsoft.com/office/powerpoint/2010/main" val="75487007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0CAA06-446F-9597-9F3D-D26C952804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BEA409-51A7-34F1-6DF7-4644A1F855F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EA2DAD2-E803-0003-953F-A2AFDC5627BF}"/>
              </a:ext>
            </a:extLst>
          </p:cNvPr>
          <p:cNvSpPr>
            <a:spLocks noGrp="1"/>
          </p:cNvSpPr>
          <p:nvPr>
            <p:ph type="body" idx="1"/>
          </p:nvPr>
        </p:nvSpPr>
        <p:spPr/>
        <p:txBody>
          <a:bodyPr/>
          <a:lstStyle/>
          <a:p>
            <a:endParaRPr lang="en-US">
              <a:latin typeface="Calibri"/>
              <a:ea typeface="Calibri"/>
              <a:cs typeface="Calibri"/>
            </a:endParaRPr>
          </a:p>
        </p:txBody>
      </p:sp>
      <p:sp>
        <p:nvSpPr>
          <p:cNvPr id="4" name="Slide Number Placeholder 3">
            <a:extLst>
              <a:ext uri="{FF2B5EF4-FFF2-40B4-BE49-F238E27FC236}">
                <a16:creationId xmlns:a16="http://schemas.microsoft.com/office/drawing/2014/main" id="{1EFBF4C7-A481-97A9-BF21-87C47B3FF3CA}"/>
              </a:ext>
            </a:extLst>
          </p:cNvPr>
          <p:cNvSpPr>
            <a:spLocks noGrp="1"/>
          </p:cNvSpPr>
          <p:nvPr>
            <p:ph type="sldNum" sz="quarter" idx="5"/>
          </p:nvPr>
        </p:nvSpPr>
        <p:spPr/>
        <p:txBody>
          <a:bodyPr/>
          <a:lstStyle/>
          <a:p>
            <a:fld id="{F236FE56-EDDE-E548-B420-3B41F497375C}" type="slidenum">
              <a:rPr lang="en-US" smtClean="0"/>
              <a:t>71</a:t>
            </a:fld>
            <a:endParaRPr lang="en-US"/>
          </a:p>
        </p:txBody>
      </p:sp>
    </p:spTree>
    <p:extLst>
      <p:ext uri="{BB962C8B-B14F-4D97-AF65-F5344CB8AC3E}">
        <p14:creationId xmlns:p14="http://schemas.microsoft.com/office/powerpoint/2010/main" val="95679944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03C7AC-F153-23FE-BF83-A80E927B0A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7D472A-FC91-3D3D-0B01-F5149CE656F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F70917B-B1DF-C2B1-9B89-3A916EF7FCC8}"/>
              </a:ext>
            </a:extLst>
          </p:cNvPr>
          <p:cNvSpPr>
            <a:spLocks noGrp="1"/>
          </p:cNvSpPr>
          <p:nvPr>
            <p:ph type="body" idx="1"/>
          </p:nvPr>
        </p:nvSpPr>
        <p:spPr/>
        <p:txBody>
          <a:bodyPr/>
          <a:lstStyle/>
          <a:p>
            <a:endParaRPr lang="en-US">
              <a:latin typeface="Calibri"/>
              <a:ea typeface="Calibri"/>
              <a:cs typeface="Calibri"/>
            </a:endParaRPr>
          </a:p>
        </p:txBody>
      </p:sp>
      <p:sp>
        <p:nvSpPr>
          <p:cNvPr id="4" name="Slide Number Placeholder 3">
            <a:extLst>
              <a:ext uri="{FF2B5EF4-FFF2-40B4-BE49-F238E27FC236}">
                <a16:creationId xmlns:a16="http://schemas.microsoft.com/office/drawing/2014/main" id="{FBFC1CC1-A139-3A31-669D-D7AEB72E4F8C}"/>
              </a:ext>
            </a:extLst>
          </p:cNvPr>
          <p:cNvSpPr>
            <a:spLocks noGrp="1"/>
          </p:cNvSpPr>
          <p:nvPr>
            <p:ph type="sldNum" sz="quarter" idx="5"/>
          </p:nvPr>
        </p:nvSpPr>
        <p:spPr/>
        <p:txBody>
          <a:bodyPr/>
          <a:lstStyle/>
          <a:p>
            <a:fld id="{F236FE56-EDDE-E548-B420-3B41F497375C}" type="slidenum">
              <a:rPr lang="en-US" smtClean="0"/>
              <a:t>72</a:t>
            </a:fld>
            <a:endParaRPr lang="en-US"/>
          </a:p>
        </p:txBody>
      </p:sp>
    </p:spTree>
    <p:extLst>
      <p:ext uri="{BB962C8B-B14F-4D97-AF65-F5344CB8AC3E}">
        <p14:creationId xmlns:p14="http://schemas.microsoft.com/office/powerpoint/2010/main" val="94881762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A00CBC-DC2C-BC17-D8A7-81F7F2E39F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A5BBE5-4EDF-6BE5-9A06-A869333A5D4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B1E2D9E-A10D-A3A2-A453-145DA9F5EF9F}"/>
              </a:ext>
            </a:extLst>
          </p:cNvPr>
          <p:cNvSpPr>
            <a:spLocks noGrp="1"/>
          </p:cNvSpPr>
          <p:nvPr>
            <p:ph type="body" idx="1"/>
          </p:nvPr>
        </p:nvSpPr>
        <p:spPr/>
        <p:txBody>
          <a:bodyPr/>
          <a:lstStyle/>
          <a:p>
            <a:endParaRPr lang="en-US">
              <a:latin typeface="Calibri"/>
              <a:ea typeface="Calibri"/>
              <a:cs typeface="Calibri"/>
            </a:endParaRPr>
          </a:p>
        </p:txBody>
      </p:sp>
      <p:sp>
        <p:nvSpPr>
          <p:cNvPr id="4" name="Slide Number Placeholder 3">
            <a:extLst>
              <a:ext uri="{FF2B5EF4-FFF2-40B4-BE49-F238E27FC236}">
                <a16:creationId xmlns:a16="http://schemas.microsoft.com/office/drawing/2014/main" id="{90F222E7-047C-7413-8490-437D25FFFC15}"/>
              </a:ext>
            </a:extLst>
          </p:cNvPr>
          <p:cNvSpPr>
            <a:spLocks noGrp="1"/>
          </p:cNvSpPr>
          <p:nvPr>
            <p:ph type="sldNum" sz="quarter" idx="5"/>
          </p:nvPr>
        </p:nvSpPr>
        <p:spPr/>
        <p:txBody>
          <a:bodyPr/>
          <a:lstStyle/>
          <a:p>
            <a:fld id="{F236FE56-EDDE-E548-B420-3B41F497375C}" type="slidenum">
              <a:rPr lang="en-US" smtClean="0"/>
              <a:t>73</a:t>
            </a:fld>
            <a:endParaRPr lang="en-US"/>
          </a:p>
        </p:txBody>
      </p:sp>
    </p:spTree>
    <p:extLst>
      <p:ext uri="{BB962C8B-B14F-4D97-AF65-F5344CB8AC3E}">
        <p14:creationId xmlns:p14="http://schemas.microsoft.com/office/powerpoint/2010/main" val="78198763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35D0B7-B5F9-D034-49D2-EFD1F9B300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9B858D-AA45-41EA-9B13-6E60F3D1240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D82D85C-7DD6-FCF0-91A8-935AA4896D65}"/>
              </a:ext>
            </a:extLst>
          </p:cNvPr>
          <p:cNvSpPr>
            <a:spLocks noGrp="1"/>
          </p:cNvSpPr>
          <p:nvPr>
            <p:ph type="body" idx="1"/>
          </p:nvPr>
        </p:nvSpPr>
        <p:spPr/>
        <p:txBody>
          <a:bodyPr/>
          <a:lstStyle/>
          <a:p>
            <a:endParaRPr lang="en-US">
              <a:latin typeface="Calibri"/>
              <a:ea typeface="Calibri"/>
              <a:cs typeface="Calibri"/>
            </a:endParaRPr>
          </a:p>
        </p:txBody>
      </p:sp>
      <p:sp>
        <p:nvSpPr>
          <p:cNvPr id="4" name="Slide Number Placeholder 3">
            <a:extLst>
              <a:ext uri="{FF2B5EF4-FFF2-40B4-BE49-F238E27FC236}">
                <a16:creationId xmlns:a16="http://schemas.microsoft.com/office/drawing/2014/main" id="{BC804A30-DA56-CB24-2B26-6AD83354477A}"/>
              </a:ext>
            </a:extLst>
          </p:cNvPr>
          <p:cNvSpPr>
            <a:spLocks noGrp="1"/>
          </p:cNvSpPr>
          <p:nvPr>
            <p:ph type="sldNum" sz="quarter" idx="5"/>
          </p:nvPr>
        </p:nvSpPr>
        <p:spPr/>
        <p:txBody>
          <a:bodyPr/>
          <a:lstStyle/>
          <a:p>
            <a:fld id="{F236FE56-EDDE-E548-B420-3B41F497375C}" type="slidenum">
              <a:rPr lang="en-US" smtClean="0"/>
              <a:t>74</a:t>
            </a:fld>
            <a:endParaRPr lang="en-US"/>
          </a:p>
        </p:txBody>
      </p:sp>
    </p:spTree>
    <p:extLst>
      <p:ext uri="{BB962C8B-B14F-4D97-AF65-F5344CB8AC3E}">
        <p14:creationId xmlns:p14="http://schemas.microsoft.com/office/powerpoint/2010/main" val="375871484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7E347F-B6C6-17CA-874B-499D28ED02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B52E13-A24C-CC0B-F878-94B7926F010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43FCE11-4864-2D4F-FD88-85765835AAB0}"/>
              </a:ext>
            </a:extLst>
          </p:cNvPr>
          <p:cNvSpPr>
            <a:spLocks noGrp="1"/>
          </p:cNvSpPr>
          <p:nvPr>
            <p:ph type="body" idx="1"/>
          </p:nvPr>
        </p:nvSpPr>
        <p:spPr/>
        <p:txBody>
          <a:bodyPr/>
          <a:lstStyle/>
          <a:p>
            <a:endParaRPr lang="en-US">
              <a:latin typeface="Calibri"/>
              <a:ea typeface="Calibri"/>
              <a:cs typeface="Calibri"/>
            </a:endParaRPr>
          </a:p>
        </p:txBody>
      </p:sp>
      <p:sp>
        <p:nvSpPr>
          <p:cNvPr id="4" name="Slide Number Placeholder 3">
            <a:extLst>
              <a:ext uri="{FF2B5EF4-FFF2-40B4-BE49-F238E27FC236}">
                <a16:creationId xmlns:a16="http://schemas.microsoft.com/office/drawing/2014/main" id="{02D9F0B7-5DAE-E9E2-9EB9-0DC1B61FD2A8}"/>
              </a:ext>
            </a:extLst>
          </p:cNvPr>
          <p:cNvSpPr>
            <a:spLocks noGrp="1"/>
          </p:cNvSpPr>
          <p:nvPr>
            <p:ph type="sldNum" sz="quarter" idx="5"/>
          </p:nvPr>
        </p:nvSpPr>
        <p:spPr/>
        <p:txBody>
          <a:bodyPr/>
          <a:lstStyle/>
          <a:p>
            <a:fld id="{F236FE56-EDDE-E548-B420-3B41F497375C}" type="slidenum">
              <a:rPr lang="en-US" smtClean="0"/>
              <a:t>75</a:t>
            </a:fld>
            <a:endParaRPr lang="en-US"/>
          </a:p>
        </p:txBody>
      </p:sp>
    </p:spTree>
    <p:extLst>
      <p:ext uri="{BB962C8B-B14F-4D97-AF65-F5344CB8AC3E}">
        <p14:creationId xmlns:p14="http://schemas.microsoft.com/office/powerpoint/2010/main" val="329122877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9DCBF6-BEB9-2298-CB11-630DAA14C6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262DDD-5802-ECCA-D3E0-4661E29AFC3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10DA56E-0957-59C7-E2E2-9B5602BDA61E}"/>
              </a:ext>
            </a:extLst>
          </p:cNvPr>
          <p:cNvSpPr>
            <a:spLocks noGrp="1"/>
          </p:cNvSpPr>
          <p:nvPr>
            <p:ph type="body" idx="1"/>
          </p:nvPr>
        </p:nvSpPr>
        <p:spPr/>
        <p:txBody>
          <a:bodyPr/>
          <a:lstStyle/>
          <a:p>
            <a:endParaRPr lang="en-US">
              <a:latin typeface="Calibri"/>
              <a:ea typeface="Calibri"/>
              <a:cs typeface="Calibri"/>
            </a:endParaRPr>
          </a:p>
        </p:txBody>
      </p:sp>
      <p:sp>
        <p:nvSpPr>
          <p:cNvPr id="4" name="Slide Number Placeholder 3">
            <a:extLst>
              <a:ext uri="{FF2B5EF4-FFF2-40B4-BE49-F238E27FC236}">
                <a16:creationId xmlns:a16="http://schemas.microsoft.com/office/drawing/2014/main" id="{3FF50CE1-42A3-9BCB-64DE-E8D87CD3F53F}"/>
              </a:ext>
            </a:extLst>
          </p:cNvPr>
          <p:cNvSpPr>
            <a:spLocks noGrp="1"/>
          </p:cNvSpPr>
          <p:nvPr>
            <p:ph type="sldNum" sz="quarter" idx="5"/>
          </p:nvPr>
        </p:nvSpPr>
        <p:spPr/>
        <p:txBody>
          <a:bodyPr/>
          <a:lstStyle/>
          <a:p>
            <a:fld id="{F236FE56-EDDE-E548-B420-3B41F497375C}" type="slidenum">
              <a:rPr lang="en-US" smtClean="0"/>
              <a:t>77</a:t>
            </a:fld>
            <a:endParaRPr lang="en-US"/>
          </a:p>
        </p:txBody>
      </p:sp>
    </p:spTree>
    <p:extLst>
      <p:ext uri="{BB962C8B-B14F-4D97-AF65-F5344CB8AC3E}">
        <p14:creationId xmlns:p14="http://schemas.microsoft.com/office/powerpoint/2010/main" val="239385228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174010-D0E7-351F-7B31-79635A9C30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DF7E4A-4C9A-B930-0DF6-CD486A6E1F5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2B51742-D9BC-E043-9710-7144F996949E}"/>
              </a:ext>
            </a:extLst>
          </p:cNvPr>
          <p:cNvSpPr>
            <a:spLocks noGrp="1"/>
          </p:cNvSpPr>
          <p:nvPr>
            <p:ph type="body" idx="1"/>
          </p:nvPr>
        </p:nvSpPr>
        <p:spPr/>
        <p:txBody>
          <a:bodyPr/>
          <a:lstStyle/>
          <a:p>
            <a:endParaRPr lang="en-US">
              <a:latin typeface="Calibri"/>
              <a:ea typeface="Calibri"/>
              <a:cs typeface="Calibri"/>
            </a:endParaRPr>
          </a:p>
        </p:txBody>
      </p:sp>
      <p:sp>
        <p:nvSpPr>
          <p:cNvPr id="4" name="Slide Number Placeholder 3">
            <a:extLst>
              <a:ext uri="{FF2B5EF4-FFF2-40B4-BE49-F238E27FC236}">
                <a16:creationId xmlns:a16="http://schemas.microsoft.com/office/drawing/2014/main" id="{D301CFEB-428A-ED7D-4463-54448B38409E}"/>
              </a:ext>
            </a:extLst>
          </p:cNvPr>
          <p:cNvSpPr>
            <a:spLocks noGrp="1"/>
          </p:cNvSpPr>
          <p:nvPr>
            <p:ph type="sldNum" sz="quarter" idx="5"/>
          </p:nvPr>
        </p:nvSpPr>
        <p:spPr/>
        <p:txBody>
          <a:bodyPr/>
          <a:lstStyle/>
          <a:p>
            <a:fld id="{F236FE56-EDDE-E548-B420-3B41F497375C}" type="slidenum">
              <a:rPr lang="en-US" smtClean="0"/>
              <a:t>78</a:t>
            </a:fld>
            <a:endParaRPr lang="en-US"/>
          </a:p>
        </p:txBody>
      </p:sp>
    </p:spTree>
    <p:extLst>
      <p:ext uri="{BB962C8B-B14F-4D97-AF65-F5344CB8AC3E}">
        <p14:creationId xmlns:p14="http://schemas.microsoft.com/office/powerpoint/2010/main" val="70804026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93501F-BED8-EA66-A904-04FF032C58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EE0DBD-F098-2FCC-E889-2F9B15DA29A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4273240-CEF2-3EFC-B1D9-664DD9C1BF97}"/>
              </a:ext>
            </a:extLst>
          </p:cNvPr>
          <p:cNvSpPr>
            <a:spLocks noGrp="1"/>
          </p:cNvSpPr>
          <p:nvPr>
            <p:ph type="body" idx="1"/>
          </p:nvPr>
        </p:nvSpPr>
        <p:spPr/>
        <p:txBody>
          <a:bodyPr/>
          <a:lstStyle/>
          <a:p>
            <a:endParaRPr lang="en-US">
              <a:latin typeface="Calibri"/>
              <a:ea typeface="Calibri"/>
              <a:cs typeface="Calibri"/>
            </a:endParaRPr>
          </a:p>
        </p:txBody>
      </p:sp>
      <p:sp>
        <p:nvSpPr>
          <p:cNvPr id="4" name="Slide Number Placeholder 3">
            <a:extLst>
              <a:ext uri="{FF2B5EF4-FFF2-40B4-BE49-F238E27FC236}">
                <a16:creationId xmlns:a16="http://schemas.microsoft.com/office/drawing/2014/main" id="{B8F0B313-0B33-4CCB-B0C8-4734FD65ED03}"/>
              </a:ext>
            </a:extLst>
          </p:cNvPr>
          <p:cNvSpPr>
            <a:spLocks noGrp="1"/>
          </p:cNvSpPr>
          <p:nvPr>
            <p:ph type="sldNum" sz="quarter" idx="5"/>
          </p:nvPr>
        </p:nvSpPr>
        <p:spPr/>
        <p:txBody>
          <a:bodyPr/>
          <a:lstStyle/>
          <a:p>
            <a:fld id="{F236FE56-EDDE-E548-B420-3B41F497375C}" type="slidenum">
              <a:rPr lang="en-US" smtClean="0"/>
              <a:t>79</a:t>
            </a:fld>
            <a:endParaRPr lang="en-US"/>
          </a:p>
        </p:txBody>
      </p:sp>
    </p:spTree>
    <p:extLst>
      <p:ext uri="{BB962C8B-B14F-4D97-AF65-F5344CB8AC3E}">
        <p14:creationId xmlns:p14="http://schemas.microsoft.com/office/powerpoint/2010/main" val="29807225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3ED57B-E1A4-8F81-FC01-6E891F53BE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DF1A58-2DAF-A25F-52FB-E71D7F06D3C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C870790-4F13-B5E7-393F-4E8D2165E1F8}"/>
              </a:ext>
            </a:extLst>
          </p:cNvPr>
          <p:cNvSpPr>
            <a:spLocks noGrp="1"/>
          </p:cNvSpPr>
          <p:nvPr>
            <p:ph type="body" idx="1"/>
          </p:nvPr>
        </p:nvSpPr>
        <p:spPr/>
        <p:txBody>
          <a:bodyPr/>
          <a:lstStyle/>
          <a:p>
            <a:endParaRPr lang="en-US">
              <a:latin typeface="Calibri"/>
              <a:ea typeface="Calibri"/>
              <a:cs typeface="Calibri"/>
            </a:endParaRPr>
          </a:p>
        </p:txBody>
      </p:sp>
      <p:sp>
        <p:nvSpPr>
          <p:cNvPr id="4" name="Slide Number Placeholder 3">
            <a:extLst>
              <a:ext uri="{FF2B5EF4-FFF2-40B4-BE49-F238E27FC236}">
                <a16:creationId xmlns:a16="http://schemas.microsoft.com/office/drawing/2014/main" id="{11A00DC9-BA11-16C5-EE88-DF0BD9573213}"/>
              </a:ext>
            </a:extLst>
          </p:cNvPr>
          <p:cNvSpPr>
            <a:spLocks noGrp="1"/>
          </p:cNvSpPr>
          <p:nvPr>
            <p:ph type="sldNum" sz="quarter" idx="5"/>
          </p:nvPr>
        </p:nvSpPr>
        <p:spPr/>
        <p:txBody>
          <a:bodyPr/>
          <a:lstStyle/>
          <a:p>
            <a:fld id="{F236FE56-EDDE-E548-B420-3B41F497375C}" type="slidenum">
              <a:rPr lang="en-US" smtClean="0"/>
              <a:t>80</a:t>
            </a:fld>
            <a:endParaRPr lang="en-US"/>
          </a:p>
        </p:txBody>
      </p:sp>
    </p:spTree>
    <p:extLst>
      <p:ext uri="{BB962C8B-B14F-4D97-AF65-F5344CB8AC3E}">
        <p14:creationId xmlns:p14="http://schemas.microsoft.com/office/powerpoint/2010/main" val="208888043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E8DDA1-B8C9-411D-DAF5-A71B0267A8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2A1220-A268-29F0-58E1-22E1187BA13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930EA0A-7EA9-AED7-EEEF-67325E3C5845}"/>
              </a:ext>
            </a:extLst>
          </p:cNvPr>
          <p:cNvSpPr>
            <a:spLocks noGrp="1"/>
          </p:cNvSpPr>
          <p:nvPr>
            <p:ph type="body" idx="1"/>
          </p:nvPr>
        </p:nvSpPr>
        <p:spPr/>
        <p:txBody>
          <a:bodyPr/>
          <a:lstStyle/>
          <a:p>
            <a:endParaRPr lang="en-US">
              <a:latin typeface="Calibri"/>
              <a:ea typeface="Calibri"/>
              <a:cs typeface="Calibri"/>
            </a:endParaRPr>
          </a:p>
        </p:txBody>
      </p:sp>
      <p:sp>
        <p:nvSpPr>
          <p:cNvPr id="4" name="Slide Number Placeholder 3">
            <a:extLst>
              <a:ext uri="{FF2B5EF4-FFF2-40B4-BE49-F238E27FC236}">
                <a16:creationId xmlns:a16="http://schemas.microsoft.com/office/drawing/2014/main" id="{F7CD03ED-E610-59F5-7FCE-2BAE6CA6EBCB}"/>
              </a:ext>
            </a:extLst>
          </p:cNvPr>
          <p:cNvSpPr>
            <a:spLocks noGrp="1"/>
          </p:cNvSpPr>
          <p:nvPr>
            <p:ph type="sldNum" sz="quarter" idx="5"/>
          </p:nvPr>
        </p:nvSpPr>
        <p:spPr/>
        <p:txBody>
          <a:bodyPr/>
          <a:lstStyle/>
          <a:p>
            <a:fld id="{F236FE56-EDDE-E548-B420-3B41F497375C}" type="slidenum">
              <a:rPr lang="en-US" smtClean="0"/>
              <a:t>81</a:t>
            </a:fld>
            <a:endParaRPr lang="en-US"/>
          </a:p>
        </p:txBody>
      </p:sp>
    </p:spTree>
    <p:extLst>
      <p:ext uri="{BB962C8B-B14F-4D97-AF65-F5344CB8AC3E}">
        <p14:creationId xmlns:p14="http://schemas.microsoft.com/office/powerpoint/2010/main" val="190988563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2123FD-939E-3237-4864-C91E4901B8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4429D3-8C9C-673A-FE1D-EC83A84BDEC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EAC6870-2C04-E028-77E4-A8DE4C12904C}"/>
              </a:ext>
            </a:extLst>
          </p:cNvPr>
          <p:cNvSpPr>
            <a:spLocks noGrp="1"/>
          </p:cNvSpPr>
          <p:nvPr>
            <p:ph type="body" idx="1"/>
          </p:nvPr>
        </p:nvSpPr>
        <p:spPr/>
        <p:txBody>
          <a:bodyPr/>
          <a:lstStyle/>
          <a:p>
            <a:endParaRPr lang="en-US">
              <a:latin typeface="Calibri"/>
              <a:ea typeface="Calibri"/>
              <a:cs typeface="Calibri"/>
            </a:endParaRPr>
          </a:p>
        </p:txBody>
      </p:sp>
      <p:sp>
        <p:nvSpPr>
          <p:cNvPr id="4" name="Slide Number Placeholder 3">
            <a:extLst>
              <a:ext uri="{FF2B5EF4-FFF2-40B4-BE49-F238E27FC236}">
                <a16:creationId xmlns:a16="http://schemas.microsoft.com/office/drawing/2014/main" id="{A75F3DAF-B893-9854-EE32-5008A4373B09}"/>
              </a:ext>
            </a:extLst>
          </p:cNvPr>
          <p:cNvSpPr>
            <a:spLocks noGrp="1"/>
          </p:cNvSpPr>
          <p:nvPr>
            <p:ph type="sldNum" sz="quarter" idx="5"/>
          </p:nvPr>
        </p:nvSpPr>
        <p:spPr/>
        <p:txBody>
          <a:bodyPr/>
          <a:lstStyle/>
          <a:p>
            <a:fld id="{F236FE56-EDDE-E548-B420-3B41F497375C}" type="slidenum">
              <a:rPr lang="en-US" smtClean="0"/>
              <a:t>82</a:t>
            </a:fld>
            <a:endParaRPr lang="en-US"/>
          </a:p>
        </p:txBody>
      </p:sp>
    </p:spTree>
    <p:extLst>
      <p:ext uri="{BB962C8B-B14F-4D97-AF65-F5344CB8AC3E}">
        <p14:creationId xmlns:p14="http://schemas.microsoft.com/office/powerpoint/2010/main" val="2915460957"/>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D87DDB-FFFA-7A7D-F22A-5B5C7DE06A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44C214-0FFF-4830-0836-DFDBEBC9556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611B32D-4D32-C7E5-A2AD-26F529D03DC7}"/>
              </a:ext>
            </a:extLst>
          </p:cNvPr>
          <p:cNvSpPr>
            <a:spLocks noGrp="1"/>
          </p:cNvSpPr>
          <p:nvPr>
            <p:ph type="body" idx="1"/>
          </p:nvPr>
        </p:nvSpPr>
        <p:spPr/>
        <p:txBody>
          <a:bodyPr/>
          <a:lstStyle/>
          <a:p>
            <a:endParaRPr lang="en-US">
              <a:latin typeface="Calibri"/>
              <a:ea typeface="Calibri"/>
              <a:cs typeface="Calibri"/>
            </a:endParaRPr>
          </a:p>
        </p:txBody>
      </p:sp>
      <p:sp>
        <p:nvSpPr>
          <p:cNvPr id="4" name="Slide Number Placeholder 3">
            <a:extLst>
              <a:ext uri="{FF2B5EF4-FFF2-40B4-BE49-F238E27FC236}">
                <a16:creationId xmlns:a16="http://schemas.microsoft.com/office/drawing/2014/main" id="{7A8A27E5-E7C5-B6C6-6CC5-5EC54E9C43B4}"/>
              </a:ext>
            </a:extLst>
          </p:cNvPr>
          <p:cNvSpPr>
            <a:spLocks noGrp="1"/>
          </p:cNvSpPr>
          <p:nvPr>
            <p:ph type="sldNum" sz="quarter" idx="5"/>
          </p:nvPr>
        </p:nvSpPr>
        <p:spPr/>
        <p:txBody>
          <a:bodyPr/>
          <a:lstStyle/>
          <a:p>
            <a:fld id="{F236FE56-EDDE-E548-B420-3B41F497375C}" type="slidenum">
              <a:rPr lang="en-US" smtClean="0"/>
              <a:t>83</a:t>
            </a:fld>
            <a:endParaRPr lang="en-US"/>
          </a:p>
        </p:txBody>
      </p:sp>
    </p:spTree>
    <p:extLst>
      <p:ext uri="{BB962C8B-B14F-4D97-AF65-F5344CB8AC3E}">
        <p14:creationId xmlns:p14="http://schemas.microsoft.com/office/powerpoint/2010/main" val="78052233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1ADEAD-16F1-86BF-5DD5-661973E391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9C3E81-911F-F9B9-3ABB-ECE5593F272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DD5E311-8BA0-3224-9642-A46D4863BFC2}"/>
              </a:ext>
            </a:extLst>
          </p:cNvPr>
          <p:cNvSpPr>
            <a:spLocks noGrp="1"/>
          </p:cNvSpPr>
          <p:nvPr>
            <p:ph type="body" idx="1"/>
          </p:nvPr>
        </p:nvSpPr>
        <p:spPr/>
        <p:txBody>
          <a:bodyPr/>
          <a:lstStyle/>
          <a:p>
            <a:endParaRPr lang="en-US">
              <a:latin typeface="Calibri"/>
              <a:ea typeface="Calibri"/>
              <a:cs typeface="Calibri"/>
            </a:endParaRPr>
          </a:p>
        </p:txBody>
      </p:sp>
      <p:sp>
        <p:nvSpPr>
          <p:cNvPr id="4" name="Slide Number Placeholder 3">
            <a:extLst>
              <a:ext uri="{FF2B5EF4-FFF2-40B4-BE49-F238E27FC236}">
                <a16:creationId xmlns:a16="http://schemas.microsoft.com/office/drawing/2014/main" id="{045A113B-4606-3C28-1FEB-3C866FADF1D5}"/>
              </a:ext>
            </a:extLst>
          </p:cNvPr>
          <p:cNvSpPr>
            <a:spLocks noGrp="1"/>
          </p:cNvSpPr>
          <p:nvPr>
            <p:ph type="sldNum" sz="quarter" idx="5"/>
          </p:nvPr>
        </p:nvSpPr>
        <p:spPr/>
        <p:txBody>
          <a:bodyPr/>
          <a:lstStyle/>
          <a:p>
            <a:fld id="{F236FE56-EDDE-E548-B420-3B41F497375C}" type="slidenum">
              <a:rPr lang="en-US" smtClean="0"/>
              <a:t>84</a:t>
            </a:fld>
            <a:endParaRPr lang="en-US"/>
          </a:p>
        </p:txBody>
      </p:sp>
    </p:spTree>
    <p:extLst>
      <p:ext uri="{BB962C8B-B14F-4D97-AF65-F5344CB8AC3E}">
        <p14:creationId xmlns:p14="http://schemas.microsoft.com/office/powerpoint/2010/main" val="174134141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6BFD7A-62F8-5188-C48C-BA5C2B2F52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15B41E-3D5C-C94D-A295-BF5B3C78D91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48983DD-3E4F-619D-74A7-8CA175EA9205}"/>
              </a:ext>
            </a:extLst>
          </p:cNvPr>
          <p:cNvSpPr>
            <a:spLocks noGrp="1"/>
          </p:cNvSpPr>
          <p:nvPr>
            <p:ph type="body" idx="1"/>
          </p:nvPr>
        </p:nvSpPr>
        <p:spPr/>
        <p:txBody>
          <a:bodyPr/>
          <a:lstStyle/>
          <a:p>
            <a:endParaRPr lang="en-US">
              <a:latin typeface="Calibri"/>
              <a:ea typeface="Calibri"/>
              <a:cs typeface="Calibri"/>
            </a:endParaRPr>
          </a:p>
        </p:txBody>
      </p:sp>
      <p:sp>
        <p:nvSpPr>
          <p:cNvPr id="4" name="Slide Number Placeholder 3">
            <a:extLst>
              <a:ext uri="{FF2B5EF4-FFF2-40B4-BE49-F238E27FC236}">
                <a16:creationId xmlns:a16="http://schemas.microsoft.com/office/drawing/2014/main" id="{104C6158-E3EA-0112-9C1C-AD3A8D5758B3}"/>
              </a:ext>
            </a:extLst>
          </p:cNvPr>
          <p:cNvSpPr>
            <a:spLocks noGrp="1"/>
          </p:cNvSpPr>
          <p:nvPr>
            <p:ph type="sldNum" sz="quarter" idx="5"/>
          </p:nvPr>
        </p:nvSpPr>
        <p:spPr/>
        <p:txBody>
          <a:bodyPr/>
          <a:lstStyle/>
          <a:p>
            <a:fld id="{F236FE56-EDDE-E548-B420-3B41F497375C}" type="slidenum">
              <a:rPr lang="en-US" smtClean="0"/>
              <a:t>85</a:t>
            </a:fld>
            <a:endParaRPr lang="en-US"/>
          </a:p>
        </p:txBody>
      </p:sp>
    </p:spTree>
    <p:extLst>
      <p:ext uri="{BB962C8B-B14F-4D97-AF65-F5344CB8AC3E}">
        <p14:creationId xmlns:p14="http://schemas.microsoft.com/office/powerpoint/2010/main" val="379847631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F52649-C8B7-FC77-7548-D720DAC3D6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71349D-BBA6-8F81-04DF-6E477506856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8BA5D3A-EC3E-0A85-67E7-756617CAE167}"/>
              </a:ext>
            </a:extLst>
          </p:cNvPr>
          <p:cNvSpPr>
            <a:spLocks noGrp="1"/>
          </p:cNvSpPr>
          <p:nvPr>
            <p:ph type="body" idx="1"/>
          </p:nvPr>
        </p:nvSpPr>
        <p:spPr/>
        <p:txBody>
          <a:bodyPr/>
          <a:lstStyle/>
          <a:p>
            <a:endParaRPr lang="en-US">
              <a:latin typeface="Calibri"/>
              <a:ea typeface="Calibri"/>
              <a:cs typeface="Calibri"/>
            </a:endParaRPr>
          </a:p>
        </p:txBody>
      </p:sp>
      <p:sp>
        <p:nvSpPr>
          <p:cNvPr id="4" name="Slide Number Placeholder 3">
            <a:extLst>
              <a:ext uri="{FF2B5EF4-FFF2-40B4-BE49-F238E27FC236}">
                <a16:creationId xmlns:a16="http://schemas.microsoft.com/office/drawing/2014/main" id="{B8FA926C-9F8E-64C9-62F1-F1160C499972}"/>
              </a:ext>
            </a:extLst>
          </p:cNvPr>
          <p:cNvSpPr>
            <a:spLocks noGrp="1"/>
          </p:cNvSpPr>
          <p:nvPr>
            <p:ph type="sldNum" sz="quarter" idx="5"/>
          </p:nvPr>
        </p:nvSpPr>
        <p:spPr/>
        <p:txBody>
          <a:bodyPr/>
          <a:lstStyle/>
          <a:p>
            <a:fld id="{F236FE56-EDDE-E548-B420-3B41F497375C}" type="slidenum">
              <a:rPr lang="en-US" smtClean="0"/>
              <a:t>86</a:t>
            </a:fld>
            <a:endParaRPr lang="en-US"/>
          </a:p>
        </p:txBody>
      </p:sp>
    </p:spTree>
    <p:extLst>
      <p:ext uri="{BB962C8B-B14F-4D97-AF65-F5344CB8AC3E}">
        <p14:creationId xmlns:p14="http://schemas.microsoft.com/office/powerpoint/2010/main" val="3765192485"/>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060B47-7D7B-D166-B698-DD72015BD6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7E823E-87D1-DB41-4D0E-859358ACFBF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EFB7B14-B4D1-A408-E5BA-9C3FA48F99A5}"/>
              </a:ext>
            </a:extLst>
          </p:cNvPr>
          <p:cNvSpPr>
            <a:spLocks noGrp="1"/>
          </p:cNvSpPr>
          <p:nvPr>
            <p:ph type="body" idx="1"/>
          </p:nvPr>
        </p:nvSpPr>
        <p:spPr/>
        <p:txBody>
          <a:bodyPr/>
          <a:lstStyle/>
          <a:p>
            <a:endParaRPr lang="en-US">
              <a:latin typeface="Calibri"/>
              <a:ea typeface="Calibri"/>
              <a:cs typeface="Calibri"/>
            </a:endParaRPr>
          </a:p>
        </p:txBody>
      </p:sp>
      <p:sp>
        <p:nvSpPr>
          <p:cNvPr id="4" name="Slide Number Placeholder 3">
            <a:extLst>
              <a:ext uri="{FF2B5EF4-FFF2-40B4-BE49-F238E27FC236}">
                <a16:creationId xmlns:a16="http://schemas.microsoft.com/office/drawing/2014/main" id="{B880EDB5-E41E-BCE2-4B91-59E9A3E3D3D6}"/>
              </a:ext>
            </a:extLst>
          </p:cNvPr>
          <p:cNvSpPr>
            <a:spLocks noGrp="1"/>
          </p:cNvSpPr>
          <p:nvPr>
            <p:ph type="sldNum" sz="quarter" idx="5"/>
          </p:nvPr>
        </p:nvSpPr>
        <p:spPr/>
        <p:txBody>
          <a:bodyPr/>
          <a:lstStyle/>
          <a:p>
            <a:fld id="{F236FE56-EDDE-E548-B420-3B41F497375C}" type="slidenum">
              <a:rPr lang="en-US" smtClean="0"/>
              <a:t>87</a:t>
            </a:fld>
            <a:endParaRPr lang="en-US"/>
          </a:p>
        </p:txBody>
      </p:sp>
    </p:spTree>
    <p:extLst>
      <p:ext uri="{BB962C8B-B14F-4D97-AF65-F5344CB8AC3E}">
        <p14:creationId xmlns:p14="http://schemas.microsoft.com/office/powerpoint/2010/main" val="2214252129"/>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F67B7408-9A06-41BD-8B00-CEBD8D6DDF3F}" type="slidenum">
              <a:rPr lang="en-US" smtClean="0"/>
              <a:t>90</a:t>
            </a:fld>
            <a:endParaRPr lang="en-US"/>
          </a:p>
        </p:txBody>
      </p:sp>
    </p:spTree>
    <p:extLst>
      <p:ext uri="{BB962C8B-B14F-4D97-AF65-F5344CB8AC3E}">
        <p14:creationId xmlns:p14="http://schemas.microsoft.com/office/powerpoint/2010/main" val="3671793285"/>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AC6F32-A0CA-8BCF-86BE-FEB4BE48E2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B10129-A11D-7672-DB27-CDB60DBB22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3DB1466-1EA4-EC3E-2B27-51EAFAEC5B4F}"/>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D47A4CE9-F771-5FCB-4EDB-2B68B570F325}"/>
              </a:ext>
            </a:extLst>
          </p:cNvPr>
          <p:cNvSpPr>
            <a:spLocks noGrp="1"/>
          </p:cNvSpPr>
          <p:nvPr>
            <p:ph type="sldNum" sz="quarter" idx="5"/>
          </p:nvPr>
        </p:nvSpPr>
        <p:spPr/>
        <p:txBody>
          <a:bodyPr/>
          <a:lstStyle/>
          <a:p>
            <a:fld id="{F67B7408-9A06-41BD-8B00-CEBD8D6DDF3F}" type="slidenum">
              <a:rPr lang="en-US" smtClean="0"/>
              <a:t>91</a:t>
            </a:fld>
            <a:endParaRPr lang="en-US"/>
          </a:p>
        </p:txBody>
      </p:sp>
    </p:spTree>
    <p:extLst>
      <p:ext uri="{BB962C8B-B14F-4D97-AF65-F5344CB8AC3E}">
        <p14:creationId xmlns:p14="http://schemas.microsoft.com/office/powerpoint/2010/main" val="714232688"/>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BFC368-C464-A222-1301-4F690838F1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FE9C6F-B8E0-4A0C-3C7A-80650B00AD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F940A1-26DC-CEAD-1C7F-FA89CF1B9810}"/>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967CA131-58D2-C055-6E93-BC4FD4D0A3C2}"/>
              </a:ext>
            </a:extLst>
          </p:cNvPr>
          <p:cNvSpPr>
            <a:spLocks noGrp="1"/>
          </p:cNvSpPr>
          <p:nvPr>
            <p:ph type="sldNum" sz="quarter" idx="5"/>
          </p:nvPr>
        </p:nvSpPr>
        <p:spPr/>
        <p:txBody>
          <a:bodyPr/>
          <a:lstStyle/>
          <a:p>
            <a:fld id="{F67B7408-9A06-41BD-8B00-CEBD8D6DDF3F}" type="slidenum">
              <a:rPr lang="en-US" smtClean="0"/>
              <a:t>92</a:t>
            </a:fld>
            <a:endParaRPr lang="en-US"/>
          </a:p>
        </p:txBody>
      </p:sp>
    </p:spTree>
    <p:extLst>
      <p:ext uri="{BB962C8B-B14F-4D97-AF65-F5344CB8AC3E}">
        <p14:creationId xmlns:p14="http://schemas.microsoft.com/office/powerpoint/2010/main" val="1020136789"/>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1EA6BA-9A72-4BEF-34CA-DA8844621D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806CC0-B7A2-3ED0-2CE6-FEF01A93A4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AA2CB79-939F-40DD-3F25-0243789184EA}"/>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94927EEF-9266-21F1-E88D-11A8D8687177}"/>
              </a:ext>
            </a:extLst>
          </p:cNvPr>
          <p:cNvSpPr>
            <a:spLocks noGrp="1"/>
          </p:cNvSpPr>
          <p:nvPr>
            <p:ph type="sldNum" sz="quarter" idx="5"/>
          </p:nvPr>
        </p:nvSpPr>
        <p:spPr/>
        <p:txBody>
          <a:bodyPr/>
          <a:lstStyle/>
          <a:p>
            <a:fld id="{F67B7408-9A06-41BD-8B00-CEBD8D6DDF3F}" type="slidenum">
              <a:rPr lang="en-US" smtClean="0"/>
              <a:t>94</a:t>
            </a:fld>
            <a:endParaRPr lang="en-US"/>
          </a:p>
        </p:txBody>
      </p:sp>
    </p:spTree>
    <p:extLst>
      <p:ext uri="{BB962C8B-B14F-4D97-AF65-F5344CB8AC3E}">
        <p14:creationId xmlns:p14="http://schemas.microsoft.com/office/powerpoint/2010/main" val="3286368264"/>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ED887E-7212-7479-2883-DFDF867C85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7039EF-5E0C-9A72-29DA-B359CF3EBA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0B4453-927B-7EA1-0BBC-A88BA3354851}"/>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9206D8A2-ADD4-F016-E531-716427B6AAF3}"/>
              </a:ext>
            </a:extLst>
          </p:cNvPr>
          <p:cNvSpPr>
            <a:spLocks noGrp="1"/>
          </p:cNvSpPr>
          <p:nvPr>
            <p:ph type="sldNum" sz="quarter" idx="5"/>
          </p:nvPr>
        </p:nvSpPr>
        <p:spPr/>
        <p:txBody>
          <a:bodyPr/>
          <a:lstStyle/>
          <a:p>
            <a:fld id="{F67B7408-9A06-41BD-8B00-CEBD8D6DDF3F}" type="slidenum">
              <a:rPr lang="en-US" smtClean="0"/>
              <a:t>95</a:t>
            </a:fld>
            <a:endParaRPr lang="en-US"/>
          </a:p>
        </p:txBody>
      </p:sp>
    </p:spTree>
    <p:extLst>
      <p:ext uri="{BB962C8B-B14F-4D97-AF65-F5344CB8AC3E}">
        <p14:creationId xmlns:p14="http://schemas.microsoft.com/office/powerpoint/2010/main" val="3175674992"/>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11C0FC-2F31-F7A2-6352-769EA1D467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78D902-F9BE-34E9-7A2B-C5642A4580E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DE48660-9A76-9272-AD64-447CEB592CB3}"/>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EE2AE113-B7F9-4A08-CED8-B7D983CDD998}"/>
              </a:ext>
            </a:extLst>
          </p:cNvPr>
          <p:cNvSpPr>
            <a:spLocks noGrp="1"/>
          </p:cNvSpPr>
          <p:nvPr>
            <p:ph type="sldNum" sz="quarter" idx="5"/>
          </p:nvPr>
        </p:nvSpPr>
        <p:spPr/>
        <p:txBody>
          <a:bodyPr/>
          <a:lstStyle/>
          <a:p>
            <a:fld id="{F67B7408-9A06-41BD-8B00-CEBD8D6DDF3F}" type="slidenum">
              <a:rPr lang="en-US" smtClean="0"/>
              <a:t>96</a:t>
            </a:fld>
            <a:endParaRPr lang="en-US"/>
          </a:p>
        </p:txBody>
      </p:sp>
    </p:spTree>
    <p:extLst>
      <p:ext uri="{BB962C8B-B14F-4D97-AF65-F5344CB8AC3E}">
        <p14:creationId xmlns:p14="http://schemas.microsoft.com/office/powerpoint/2010/main" val="3762930942"/>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0F2E43-9373-5001-2A52-57CD83F93A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C6BC86-770A-76D0-FC39-0A737FD523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E5A332-88B7-7B38-5785-3FB72BA64F3D}"/>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A9046EC6-F393-DD03-BBA1-93B792CBCADA}"/>
              </a:ext>
            </a:extLst>
          </p:cNvPr>
          <p:cNvSpPr>
            <a:spLocks noGrp="1"/>
          </p:cNvSpPr>
          <p:nvPr>
            <p:ph type="sldNum" sz="quarter" idx="5"/>
          </p:nvPr>
        </p:nvSpPr>
        <p:spPr/>
        <p:txBody>
          <a:bodyPr/>
          <a:lstStyle/>
          <a:p>
            <a:fld id="{F67B7408-9A06-41BD-8B00-CEBD8D6DDF3F}" type="slidenum">
              <a:rPr lang="en-US" smtClean="0"/>
              <a:t>98</a:t>
            </a:fld>
            <a:endParaRPr lang="en-US"/>
          </a:p>
        </p:txBody>
      </p:sp>
    </p:spTree>
    <p:extLst>
      <p:ext uri="{BB962C8B-B14F-4D97-AF65-F5344CB8AC3E}">
        <p14:creationId xmlns:p14="http://schemas.microsoft.com/office/powerpoint/2010/main" val="1066399300"/>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AD0648-92DE-A4D5-9E4E-A4C51136D4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E5E274-92DB-F893-0C1D-533192391A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5F6D63-58E1-CB42-36D0-CA62164284F9}"/>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A81EF073-83CE-A4D2-E0D6-72B57586AB44}"/>
              </a:ext>
            </a:extLst>
          </p:cNvPr>
          <p:cNvSpPr>
            <a:spLocks noGrp="1"/>
          </p:cNvSpPr>
          <p:nvPr>
            <p:ph type="sldNum" sz="quarter" idx="5"/>
          </p:nvPr>
        </p:nvSpPr>
        <p:spPr/>
        <p:txBody>
          <a:bodyPr/>
          <a:lstStyle/>
          <a:p>
            <a:fld id="{F67B7408-9A06-41BD-8B00-CEBD8D6DDF3F}" type="slidenum">
              <a:rPr lang="en-US" smtClean="0"/>
              <a:t>100</a:t>
            </a:fld>
            <a:endParaRPr lang="en-US"/>
          </a:p>
        </p:txBody>
      </p:sp>
    </p:spTree>
    <p:extLst>
      <p:ext uri="{BB962C8B-B14F-4D97-AF65-F5344CB8AC3E}">
        <p14:creationId xmlns:p14="http://schemas.microsoft.com/office/powerpoint/2010/main" val="3889785846"/>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F03421-4A70-0FA9-82A4-AADC2B673D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595C48-11D4-5112-BB41-20451AC211A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354AE4B-FFFE-B04C-9488-4FBBC58F0E0E}"/>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618866FA-A13C-145F-DC31-D2836FB9E84C}"/>
              </a:ext>
            </a:extLst>
          </p:cNvPr>
          <p:cNvSpPr>
            <a:spLocks noGrp="1"/>
          </p:cNvSpPr>
          <p:nvPr>
            <p:ph type="sldNum" sz="quarter" idx="5"/>
          </p:nvPr>
        </p:nvSpPr>
        <p:spPr/>
        <p:txBody>
          <a:bodyPr/>
          <a:lstStyle/>
          <a:p>
            <a:fld id="{F67B7408-9A06-41BD-8B00-CEBD8D6DDF3F}" type="slidenum">
              <a:rPr lang="en-US" smtClean="0"/>
              <a:t>101</a:t>
            </a:fld>
            <a:endParaRPr lang="en-US"/>
          </a:p>
        </p:txBody>
      </p:sp>
    </p:spTree>
    <p:extLst>
      <p:ext uri="{BB962C8B-B14F-4D97-AF65-F5344CB8AC3E}">
        <p14:creationId xmlns:p14="http://schemas.microsoft.com/office/powerpoint/2010/main" val="1005333763"/>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98517F-F4DA-5D0E-0B4C-E7752E3CB0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7DEBF2-32FB-29D5-9F65-3630737A26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04CB58-2517-A0CE-C1E3-3B6E249F34E3}"/>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9E73A827-C50F-3DD3-DA47-97B5D59A0DDF}"/>
              </a:ext>
            </a:extLst>
          </p:cNvPr>
          <p:cNvSpPr>
            <a:spLocks noGrp="1"/>
          </p:cNvSpPr>
          <p:nvPr>
            <p:ph type="sldNum" sz="quarter" idx="5"/>
          </p:nvPr>
        </p:nvSpPr>
        <p:spPr/>
        <p:txBody>
          <a:bodyPr/>
          <a:lstStyle/>
          <a:p>
            <a:fld id="{F67B7408-9A06-41BD-8B00-CEBD8D6DDF3F}" type="slidenum">
              <a:rPr lang="en-US" smtClean="0"/>
              <a:t>103</a:t>
            </a:fld>
            <a:endParaRPr lang="en-US"/>
          </a:p>
        </p:txBody>
      </p:sp>
    </p:spTree>
    <p:extLst>
      <p:ext uri="{BB962C8B-B14F-4D97-AF65-F5344CB8AC3E}">
        <p14:creationId xmlns:p14="http://schemas.microsoft.com/office/powerpoint/2010/main" val="2087916563"/>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9B3DE5-34D7-CF0A-B5FC-7CC7480643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CE81C4-82DC-777B-5864-CD662C7ECF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CB4187-81FC-CE62-5AA3-A622A6F2CA30}"/>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92F13CB3-4AC9-1217-7AC7-3F06AAA2EE96}"/>
              </a:ext>
            </a:extLst>
          </p:cNvPr>
          <p:cNvSpPr>
            <a:spLocks noGrp="1"/>
          </p:cNvSpPr>
          <p:nvPr>
            <p:ph type="sldNum" sz="quarter" idx="5"/>
          </p:nvPr>
        </p:nvSpPr>
        <p:spPr/>
        <p:txBody>
          <a:bodyPr/>
          <a:lstStyle/>
          <a:p>
            <a:fld id="{F67B7408-9A06-41BD-8B00-CEBD8D6DDF3F}" type="slidenum">
              <a:rPr lang="en-US" smtClean="0"/>
              <a:t>105</a:t>
            </a:fld>
            <a:endParaRPr lang="en-US"/>
          </a:p>
        </p:txBody>
      </p:sp>
    </p:spTree>
    <p:extLst>
      <p:ext uri="{BB962C8B-B14F-4D97-AF65-F5344CB8AC3E}">
        <p14:creationId xmlns:p14="http://schemas.microsoft.com/office/powerpoint/2010/main" val="933079285"/>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B7E5FD-4FA8-07A1-0D80-9F168DF50A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3F71BE-F6A8-5CC2-F726-9B9008841B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652F7C-4215-E932-B0B3-CADCA66504C2}"/>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9E8812DB-B5CB-00B1-E26E-6BC8F7E34481}"/>
              </a:ext>
            </a:extLst>
          </p:cNvPr>
          <p:cNvSpPr>
            <a:spLocks noGrp="1"/>
          </p:cNvSpPr>
          <p:nvPr>
            <p:ph type="sldNum" sz="quarter" idx="5"/>
          </p:nvPr>
        </p:nvSpPr>
        <p:spPr/>
        <p:txBody>
          <a:bodyPr/>
          <a:lstStyle/>
          <a:p>
            <a:fld id="{F67B7408-9A06-41BD-8B00-CEBD8D6DDF3F}" type="slidenum">
              <a:rPr lang="en-US" smtClean="0"/>
              <a:t>108</a:t>
            </a:fld>
            <a:endParaRPr lang="en-US"/>
          </a:p>
        </p:txBody>
      </p:sp>
    </p:spTree>
    <p:extLst>
      <p:ext uri="{BB962C8B-B14F-4D97-AF65-F5344CB8AC3E}">
        <p14:creationId xmlns:p14="http://schemas.microsoft.com/office/powerpoint/2010/main" val="1002902049"/>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604069-6F7D-1149-3143-EAE612F398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C1195A-04FC-A1B6-073B-FA297649EB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826620-0E4C-FBC0-9FE7-095F07187C9B}"/>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27A44278-5E3A-549D-9363-8EF4B2B67488}"/>
              </a:ext>
            </a:extLst>
          </p:cNvPr>
          <p:cNvSpPr>
            <a:spLocks noGrp="1"/>
          </p:cNvSpPr>
          <p:nvPr>
            <p:ph type="sldNum" sz="quarter" idx="5"/>
          </p:nvPr>
        </p:nvSpPr>
        <p:spPr/>
        <p:txBody>
          <a:bodyPr/>
          <a:lstStyle/>
          <a:p>
            <a:fld id="{F67B7408-9A06-41BD-8B00-CEBD8D6DDF3F}" type="slidenum">
              <a:rPr lang="en-US" smtClean="0"/>
              <a:t>109</a:t>
            </a:fld>
            <a:endParaRPr lang="en-US"/>
          </a:p>
        </p:txBody>
      </p:sp>
    </p:spTree>
    <p:extLst>
      <p:ext uri="{BB962C8B-B14F-4D97-AF65-F5344CB8AC3E}">
        <p14:creationId xmlns:p14="http://schemas.microsoft.com/office/powerpoint/2010/main" val="1529639335"/>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407E2E-BF1E-3673-4F0F-C90FDC279C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000299-8028-7A31-3324-5479D52FD7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B5A0B72-CF8C-43DF-A5A3-6C85C7B65D83}"/>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B886D5D3-6DF0-326A-0BA1-C923135D79B2}"/>
              </a:ext>
            </a:extLst>
          </p:cNvPr>
          <p:cNvSpPr>
            <a:spLocks noGrp="1"/>
          </p:cNvSpPr>
          <p:nvPr>
            <p:ph type="sldNum" sz="quarter" idx="5"/>
          </p:nvPr>
        </p:nvSpPr>
        <p:spPr/>
        <p:txBody>
          <a:bodyPr/>
          <a:lstStyle/>
          <a:p>
            <a:fld id="{F67B7408-9A06-41BD-8B00-CEBD8D6DDF3F}" type="slidenum">
              <a:rPr lang="en-US" smtClean="0"/>
              <a:t>111</a:t>
            </a:fld>
            <a:endParaRPr lang="en-US"/>
          </a:p>
        </p:txBody>
      </p:sp>
    </p:spTree>
    <p:extLst>
      <p:ext uri="{BB962C8B-B14F-4D97-AF65-F5344CB8AC3E}">
        <p14:creationId xmlns:p14="http://schemas.microsoft.com/office/powerpoint/2010/main" val="2250521905"/>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94DA9C-15B6-9AEE-1DB9-ABAC98DB8C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970531-751C-75FD-EB62-CC61C8FED9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DFB725-A10F-FB6E-595F-170686C25BBF}"/>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1A535FAA-F8A8-78DE-1203-828C997CCC3B}"/>
              </a:ext>
            </a:extLst>
          </p:cNvPr>
          <p:cNvSpPr>
            <a:spLocks noGrp="1"/>
          </p:cNvSpPr>
          <p:nvPr>
            <p:ph type="sldNum" sz="quarter" idx="5"/>
          </p:nvPr>
        </p:nvSpPr>
        <p:spPr/>
        <p:txBody>
          <a:bodyPr/>
          <a:lstStyle/>
          <a:p>
            <a:fld id="{F67B7408-9A06-41BD-8B00-CEBD8D6DDF3F}" type="slidenum">
              <a:rPr lang="en-US" smtClean="0"/>
              <a:t>112</a:t>
            </a:fld>
            <a:endParaRPr lang="en-US"/>
          </a:p>
        </p:txBody>
      </p:sp>
    </p:spTree>
    <p:extLst>
      <p:ext uri="{BB962C8B-B14F-4D97-AF65-F5344CB8AC3E}">
        <p14:creationId xmlns:p14="http://schemas.microsoft.com/office/powerpoint/2010/main" val="1426875538"/>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4D3B62-CE9B-D59A-4245-17657568B5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A6313F-B598-24E6-D60B-FD534D8D92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6D7B709-DA91-464B-263D-11373F173C50}"/>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B4939D63-2B73-D983-7720-BF0FE6BC6AE1}"/>
              </a:ext>
            </a:extLst>
          </p:cNvPr>
          <p:cNvSpPr>
            <a:spLocks noGrp="1"/>
          </p:cNvSpPr>
          <p:nvPr>
            <p:ph type="sldNum" sz="quarter" idx="5"/>
          </p:nvPr>
        </p:nvSpPr>
        <p:spPr/>
        <p:txBody>
          <a:bodyPr/>
          <a:lstStyle/>
          <a:p>
            <a:fld id="{F67B7408-9A06-41BD-8B00-CEBD8D6DDF3F}" type="slidenum">
              <a:rPr lang="en-US" smtClean="0"/>
              <a:t>114</a:t>
            </a:fld>
            <a:endParaRPr lang="en-US"/>
          </a:p>
        </p:txBody>
      </p:sp>
    </p:spTree>
    <p:extLst>
      <p:ext uri="{BB962C8B-B14F-4D97-AF65-F5344CB8AC3E}">
        <p14:creationId xmlns:p14="http://schemas.microsoft.com/office/powerpoint/2010/main" val="3823946746"/>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68A695-8006-54EA-325A-918B7B5906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B6A403-D453-FB7A-5A94-84B0B74F33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6BB49C-E62B-0936-2E8F-4123579310D9}"/>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C46880EB-66CC-1B7D-88B8-87A8A6080C40}"/>
              </a:ext>
            </a:extLst>
          </p:cNvPr>
          <p:cNvSpPr>
            <a:spLocks noGrp="1"/>
          </p:cNvSpPr>
          <p:nvPr>
            <p:ph type="sldNum" sz="quarter" idx="5"/>
          </p:nvPr>
        </p:nvSpPr>
        <p:spPr/>
        <p:txBody>
          <a:bodyPr/>
          <a:lstStyle/>
          <a:p>
            <a:fld id="{F67B7408-9A06-41BD-8B00-CEBD8D6DDF3F}" type="slidenum">
              <a:rPr lang="en-US" smtClean="0"/>
              <a:t>116</a:t>
            </a:fld>
            <a:endParaRPr lang="en-US"/>
          </a:p>
        </p:txBody>
      </p:sp>
    </p:spTree>
    <p:extLst>
      <p:ext uri="{BB962C8B-B14F-4D97-AF65-F5344CB8AC3E}">
        <p14:creationId xmlns:p14="http://schemas.microsoft.com/office/powerpoint/2010/main" val="639012053"/>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6B5B04-835B-60F7-90A6-C80676BA3A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2A50DC-4A10-E419-EAC7-FB7D468119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1B4F91-AE76-06EF-6B52-CA622812508F}"/>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4ECB296B-8724-8DE6-3F00-6CAE06DF9372}"/>
              </a:ext>
            </a:extLst>
          </p:cNvPr>
          <p:cNvSpPr>
            <a:spLocks noGrp="1"/>
          </p:cNvSpPr>
          <p:nvPr>
            <p:ph type="sldNum" sz="quarter" idx="5"/>
          </p:nvPr>
        </p:nvSpPr>
        <p:spPr/>
        <p:txBody>
          <a:bodyPr/>
          <a:lstStyle/>
          <a:p>
            <a:fld id="{F67B7408-9A06-41BD-8B00-CEBD8D6DDF3F}" type="slidenum">
              <a:rPr lang="en-US" smtClean="0"/>
              <a:t>118</a:t>
            </a:fld>
            <a:endParaRPr lang="en-US"/>
          </a:p>
        </p:txBody>
      </p:sp>
    </p:spTree>
    <p:extLst>
      <p:ext uri="{BB962C8B-B14F-4D97-AF65-F5344CB8AC3E}">
        <p14:creationId xmlns:p14="http://schemas.microsoft.com/office/powerpoint/2010/main" val="2431361929"/>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E8AE96-5707-E700-367F-BFD0352CA5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BE211B-F0B9-D05B-9648-C5854184F9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49445A-77E0-3AD0-E929-494BA534091D}"/>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69651815-8FDF-1C9C-E87E-E56EC2E91ED2}"/>
              </a:ext>
            </a:extLst>
          </p:cNvPr>
          <p:cNvSpPr>
            <a:spLocks noGrp="1"/>
          </p:cNvSpPr>
          <p:nvPr>
            <p:ph type="sldNum" sz="quarter" idx="5"/>
          </p:nvPr>
        </p:nvSpPr>
        <p:spPr/>
        <p:txBody>
          <a:bodyPr/>
          <a:lstStyle/>
          <a:p>
            <a:fld id="{F67B7408-9A06-41BD-8B00-CEBD8D6DDF3F}" type="slidenum">
              <a:rPr lang="en-US" smtClean="0"/>
              <a:t>119</a:t>
            </a:fld>
            <a:endParaRPr lang="en-US"/>
          </a:p>
        </p:txBody>
      </p:sp>
    </p:spTree>
    <p:extLst>
      <p:ext uri="{BB962C8B-B14F-4D97-AF65-F5344CB8AC3E}">
        <p14:creationId xmlns:p14="http://schemas.microsoft.com/office/powerpoint/2010/main" val="1210577944"/>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279213-8499-4F86-150C-51F93ABA39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7883F1-6D35-948E-1041-5F1FE9C86E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5F1406-D299-2EC4-AD7C-630D7AA03320}"/>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C3408D8C-A5CD-F987-89A9-3497824DFEE8}"/>
              </a:ext>
            </a:extLst>
          </p:cNvPr>
          <p:cNvSpPr>
            <a:spLocks noGrp="1"/>
          </p:cNvSpPr>
          <p:nvPr>
            <p:ph type="sldNum" sz="quarter" idx="5"/>
          </p:nvPr>
        </p:nvSpPr>
        <p:spPr/>
        <p:txBody>
          <a:bodyPr/>
          <a:lstStyle/>
          <a:p>
            <a:fld id="{F67B7408-9A06-41BD-8B00-CEBD8D6DDF3F}" type="slidenum">
              <a:rPr lang="en-US" smtClean="0"/>
              <a:t>121</a:t>
            </a:fld>
            <a:endParaRPr lang="en-US"/>
          </a:p>
        </p:txBody>
      </p:sp>
    </p:spTree>
    <p:extLst>
      <p:ext uri="{BB962C8B-B14F-4D97-AF65-F5344CB8AC3E}">
        <p14:creationId xmlns:p14="http://schemas.microsoft.com/office/powerpoint/2010/main" val="356384534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E4C366-3415-3995-3507-9051CDAD38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98706A-8C06-7DE9-43BF-B3AB11304D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434054-7C4B-2D68-AAF4-8799FA42D628}"/>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F25A11AE-D05C-8E8D-E127-AB021F5D1D04}"/>
              </a:ext>
            </a:extLst>
          </p:cNvPr>
          <p:cNvSpPr>
            <a:spLocks noGrp="1"/>
          </p:cNvSpPr>
          <p:nvPr>
            <p:ph type="sldNum" sz="quarter" idx="5"/>
          </p:nvPr>
        </p:nvSpPr>
        <p:spPr/>
        <p:txBody>
          <a:bodyPr/>
          <a:lstStyle/>
          <a:p>
            <a:fld id="{F67B7408-9A06-41BD-8B00-CEBD8D6DDF3F}" type="slidenum">
              <a:rPr lang="en-US" smtClean="0"/>
              <a:t>122</a:t>
            </a:fld>
            <a:endParaRPr lang="en-US"/>
          </a:p>
        </p:txBody>
      </p:sp>
    </p:spTree>
    <p:extLst>
      <p:ext uri="{BB962C8B-B14F-4D97-AF65-F5344CB8AC3E}">
        <p14:creationId xmlns:p14="http://schemas.microsoft.com/office/powerpoint/2010/main" val="370162645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611DF3-E2D3-5CD7-8AE4-C00E2018B0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D719C5-AC95-36CB-9C88-C2C4508282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175097-359A-1DF2-8EA2-C41622E099F4}"/>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C87020CC-FA21-6E4D-8623-8DACB5ADCAD1}"/>
              </a:ext>
            </a:extLst>
          </p:cNvPr>
          <p:cNvSpPr>
            <a:spLocks noGrp="1"/>
          </p:cNvSpPr>
          <p:nvPr>
            <p:ph type="sldNum" sz="quarter" idx="5"/>
          </p:nvPr>
        </p:nvSpPr>
        <p:spPr/>
        <p:txBody>
          <a:bodyPr/>
          <a:lstStyle/>
          <a:p>
            <a:fld id="{F67B7408-9A06-41BD-8B00-CEBD8D6DDF3F}" type="slidenum">
              <a:rPr lang="en-US" smtClean="0"/>
              <a:t>124</a:t>
            </a:fld>
            <a:endParaRPr lang="en-US"/>
          </a:p>
        </p:txBody>
      </p:sp>
    </p:spTree>
    <p:extLst>
      <p:ext uri="{BB962C8B-B14F-4D97-AF65-F5344CB8AC3E}">
        <p14:creationId xmlns:p14="http://schemas.microsoft.com/office/powerpoint/2010/main" val="426226370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F0E166-154C-A97C-DB89-D2599AC9E4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BE65C3-51AD-04F7-8D6C-1D31F3E070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56FAE8-08AD-8290-47B9-B9BA0196EA8E}"/>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E9DC3FE0-57D1-54F6-AC35-40A3A8760905}"/>
              </a:ext>
            </a:extLst>
          </p:cNvPr>
          <p:cNvSpPr>
            <a:spLocks noGrp="1"/>
          </p:cNvSpPr>
          <p:nvPr>
            <p:ph type="sldNum" sz="quarter" idx="5"/>
          </p:nvPr>
        </p:nvSpPr>
        <p:spPr/>
        <p:txBody>
          <a:bodyPr/>
          <a:lstStyle/>
          <a:p>
            <a:fld id="{F67B7408-9A06-41BD-8B00-CEBD8D6DDF3F}" type="slidenum">
              <a:rPr lang="en-US" smtClean="0"/>
              <a:t>126</a:t>
            </a:fld>
            <a:endParaRPr lang="en-US"/>
          </a:p>
        </p:txBody>
      </p:sp>
    </p:spTree>
    <p:extLst>
      <p:ext uri="{BB962C8B-B14F-4D97-AF65-F5344CB8AC3E}">
        <p14:creationId xmlns:p14="http://schemas.microsoft.com/office/powerpoint/2010/main" val="2610641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Cover Slide">
    <p:spTree>
      <p:nvGrpSpPr>
        <p:cNvPr id="1" name=""/>
        <p:cNvGrpSpPr/>
        <p:nvPr/>
      </p:nvGrpSpPr>
      <p:grpSpPr>
        <a:xfrm>
          <a:off x="0" y="0"/>
          <a:ext cx="0" cy="0"/>
          <a:chOff x="0" y="0"/>
          <a:chExt cx="0" cy="0"/>
        </a:xfrm>
      </p:grpSpPr>
      <p:pic>
        <p:nvPicPr>
          <p:cNvPr id="5" name="Picture 4" descr="A red background with a gold and purple figure&#10;&#10;Description automatically generated">
            <a:extLst>
              <a:ext uri="{FF2B5EF4-FFF2-40B4-BE49-F238E27FC236}">
                <a16:creationId xmlns:a16="http://schemas.microsoft.com/office/drawing/2014/main" id="{89B26D62-2982-895C-4C5E-CADCB2E222A0}"/>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235D8806-B30C-5D48-17A9-922DBA16C5CA}"/>
              </a:ext>
            </a:extLst>
          </p:cNvPr>
          <p:cNvSpPr>
            <a:spLocks noGrp="1"/>
          </p:cNvSpPr>
          <p:nvPr>
            <p:ph type="ctrTitle" hasCustomPrompt="1"/>
          </p:nvPr>
        </p:nvSpPr>
        <p:spPr>
          <a:xfrm>
            <a:off x="5205351" y="1600200"/>
            <a:ext cx="6384966" cy="2420399"/>
          </a:xfrm>
        </p:spPr>
        <p:txBody>
          <a:bodyPr anchor="b">
            <a:normAutofit/>
          </a:bodyPr>
          <a:lstStyle>
            <a:lvl1pPr algn="l">
              <a:defRPr sz="6000" b="1" i="0">
                <a:solidFill>
                  <a:schemeClr val="bg1"/>
                </a:solidFill>
                <a:latin typeface="AirIndia" pitchFamily="82" charset="77"/>
              </a:defRPr>
            </a:lvl1pPr>
          </a:lstStyle>
          <a:p>
            <a:r>
              <a:rPr lang="en-GB"/>
              <a:t>CLICK TO EDIT TITLE</a:t>
            </a:r>
            <a:endParaRPr lang="en-US"/>
          </a:p>
        </p:txBody>
      </p:sp>
      <p:sp>
        <p:nvSpPr>
          <p:cNvPr id="3" name="Subtitle 2">
            <a:extLst>
              <a:ext uri="{FF2B5EF4-FFF2-40B4-BE49-F238E27FC236}">
                <a16:creationId xmlns:a16="http://schemas.microsoft.com/office/drawing/2014/main" id="{3D40D339-36A2-E854-A497-9F753205B7CC}"/>
              </a:ext>
            </a:extLst>
          </p:cNvPr>
          <p:cNvSpPr>
            <a:spLocks noGrp="1"/>
          </p:cNvSpPr>
          <p:nvPr>
            <p:ph type="subTitle" idx="1"/>
          </p:nvPr>
        </p:nvSpPr>
        <p:spPr>
          <a:xfrm>
            <a:off x="5205350" y="4037607"/>
            <a:ext cx="6384966" cy="1350818"/>
          </a:xfrm>
        </p:spPr>
        <p:txBody>
          <a:bodyPr>
            <a:normAutofit/>
          </a:bodyPr>
          <a:lstStyle>
            <a:lvl1pPr marL="0" indent="0" algn="l">
              <a:buFontTx/>
              <a:buNone/>
              <a:defRPr sz="2800">
                <a:solidFill>
                  <a:schemeClr val="bg1"/>
                </a:solidFill>
                <a:latin typeface="Nunito Sans"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148760864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3360">
          <p15:clr>
            <a:srgbClr val="FBAE40"/>
          </p15:clr>
        </p15:guide>
        <p15:guide id="4" orient="horz" pos="148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1_Cover Slide">
    <p:spTree>
      <p:nvGrpSpPr>
        <p:cNvPr id="1" name=""/>
        <p:cNvGrpSpPr/>
        <p:nvPr/>
      </p:nvGrpSpPr>
      <p:grpSpPr>
        <a:xfrm>
          <a:off x="0" y="0"/>
          <a:ext cx="0" cy="0"/>
          <a:chOff x="0" y="0"/>
          <a:chExt cx="0" cy="0"/>
        </a:xfrm>
      </p:grpSpPr>
      <p:pic>
        <p:nvPicPr>
          <p:cNvPr id="5" name="Picture 4" descr="A person in a red dress in front of a large building&#10;&#10;Description automatically generated">
            <a:extLst>
              <a:ext uri="{FF2B5EF4-FFF2-40B4-BE49-F238E27FC236}">
                <a16:creationId xmlns:a16="http://schemas.microsoft.com/office/drawing/2014/main" id="{760CAD27-C4FB-B99A-C7A2-0E210F9DE0E0}"/>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235D8806-B30C-5D48-17A9-922DBA16C5CA}"/>
              </a:ext>
            </a:extLst>
          </p:cNvPr>
          <p:cNvSpPr>
            <a:spLocks noGrp="1"/>
          </p:cNvSpPr>
          <p:nvPr>
            <p:ph type="ctrTitle" hasCustomPrompt="1"/>
          </p:nvPr>
        </p:nvSpPr>
        <p:spPr>
          <a:xfrm>
            <a:off x="549233" y="478975"/>
            <a:ext cx="6384966" cy="2420399"/>
          </a:xfrm>
        </p:spPr>
        <p:txBody>
          <a:bodyPr anchor="b">
            <a:normAutofit/>
          </a:bodyPr>
          <a:lstStyle>
            <a:lvl1pPr algn="l">
              <a:defRPr sz="6000" b="1" i="0">
                <a:solidFill>
                  <a:schemeClr val="bg1"/>
                </a:solidFill>
                <a:latin typeface="AirIndia" pitchFamily="82" charset="77"/>
              </a:defRPr>
            </a:lvl1pPr>
          </a:lstStyle>
          <a:p>
            <a:r>
              <a:rPr lang="en-GB"/>
              <a:t>CLICK TO EDIT TITLE</a:t>
            </a:r>
            <a:endParaRPr lang="en-US"/>
          </a:p>
        </p:txBody>
      </p:sp>
      <p:sp>
        <p:nvSpPr>
          <p:cNvPr id="3" name="Subtitle 2">
            <a:extLst>
              <a:ext uri="{FF2B5EF4-FFF2-40B4-BE49-F238E27FC236}">
                <a16:creationId xmlns:a16="http://schemas.microsoft.com/office/drawing/2014/main" id="{3D40D339-36A2-E854-A497-9F753205B7CC}"/>
              </a:ext>
            </a:extLst>
          </p:cNvPr>
          <p:cNvSpPr>
            <a:spLocks noGrp="1"/>
          </p:cNvSpPr>
          <p:nvPr>
            <p:ph type="subTitle" idx="1"/>
          </p:nvPr>
        </p:nvSpPr>
        <p:spPr>
          <a:xfrm>
            <a:off x="549233" y="2916382"/>
            <a:ext cx="6384966" cy="1350818"/>
          </a:xfrm>
        </p:spPr>
        <p:txBody>
          <a:bodyPr>
            <a:normAutofit/>
          </a:bodyPr>
          <a:lstStyle>
            <a:lvl1pPr marL="0" indent="0" algn="l">
              <a:buFontTx/>
              <a:buNone/>
              <a:defRPr sz="2800">
                <a:solidFill>
                  <a:schemeClr val="bg1"/>
                </a:solidFill>
                <a:latin typeface="Nunito Sans"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305577225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3360">
          <p15:clr>
            <a:srgbClr val="FBAE40"/>
          </p15:clr>
        </p15:guide>
        <p15:guide id="4" orient="horz" pos="1488">
          <p15:clr>
            <a:srgbClr val="FBAE40"/>
          </p15:clr>
        </p15:guide>
        <p15:guide id="5" pos="336">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Divider">
    <p:spTree>
      <p:nvGrpSpPr>
        <p:cNvPr id="1" name=""/>
        <p:cNvGrpSpPr/>
        <p:nvPr/>
      </p:nvGrpSpPr>
      <p:grpSpPr>
        <a:xfrm>
          <a:off x="0" y="0"/>
          <a:ext cx="0" cy="0"/>
          <a:chOff x="0" y="0"/>
          <a:chExt cx="0" cy="0"/>
        </a:xfrm>
      </p:grpSpPr>
      <p:pic>
        <p:nvPicPr>
          <p:cNvPr id="4" name="Picture 3" descr="A close-up of a person&#10;&#10;Description automatically generated">
            <a:extLst>
              <a:ext uri="{FF2B5EF4-FFF2-40B4-BE49-F238E27FC236}">
                <a16:creationId xmlns:a16="http://schemas.microsoft.com/office/drawing/2014/main" id="{A8809EBD-4F03-089D-9B17-0892C74FE77D}"/>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CAA6D9B3-83BC-FA03-3BFF-4E45C7F3A82B}"/>
              </a:ext>
            </a:extLst>
          </p:cNvPr>
          <p:cNvSpPr>
            <a:spLocks noGrp="1"/>
          </p:cNvSpPr>
          <p:nvPr>
            <p:ph type="title" hasCustomPrompt="1"/>
          </p:nvPr>
        </p:nvSpPr>
        <p:spPr>
          <a:xfrm>
            <a:off x="525484" y="2133600"/>
            <a:ext cx="10066316" cy="1325563"/>
          </a:xfrm>
        </p:spPr>
        <p:txBody>
          <a:bodyPr vert="horz" lIns="91440" tIns="45720" rIns="91440" bIns="45720" rtlCol="0" anchor="b">
            <a:noAutofit/>
          </a:bodyPr>
          <a:lstStyle>
            <a:lvl1pPr>
              <a:defRPr lang="en-US" sz="6000" b="1" i="0" dirty="0">
                <a:solidFill>
                  <a:schemeClr val="accent1"/>
                </a:solidFill>
                <a:latin typeface="AirIndia" pitchFamily="82" charset="77"/>
              </a:defRPr>
            </a:lvl1pPr>
          </a:lstStyle>
          <a:p>
            <a:pPr lvl="0"/>
            <a:r>
              <a:rPr lang="en-GB"/>
              <a:t>DIVIDER SLIDE</a:t>
            </a:r>
            <a:endParaRPr lang="en-US"/>
          </a:p>
        </p:txBody>
      </p:sp>
      <p:sp>
        <p:nvSpPr>
          <p:cNvPr id="5" name="Subtitle 2">
            <a:extLst>
              <a:ext uri="{FF2B5EF4-FFF2-40B4-BE49-F238E27FC236}">
                <a16:creationId xmlns:a16="http://schemas.microsoft.com/office/drawing/2014/main" id="{F3CE7A17-E74C-0BB2-D16A-ABDD0CD57389}"/>
              </a:ext>
            </a:extLst>
          </p:cNvPr>
          <p:cNvSpPr>
            <a:spLocks noGrp="1"/>
          </p:cNvSpPr>
          <p:nvPr>
            <p:ph type="subTitle" idx="10"/>
          </p:nvPr>
        </p:nvSpPr>
        <p:spPr>
          <a:xfrm>
            <a:off x="525484" y="3455979"/>
            <a:ext cx="5471984" cy="1790607"/>
          </a:xfrm>
        </p:spPr>
        <p:txBody>
          <a:bodyPr vert="horz" lIns="91440" tIns="45720" rIns="91440" bIns="45720" rtlCol="0">
            <a:normAutofit/>
          </a:bodyPr>
          <a:lstStyle>
            <a:lvl1pPr>
              <a:defRPr lang="en-US" dirty="0">
                <a:latin typeface="Nunito Sans" pitchFamily="2" charset="77"/>
              </a:defRPr>
            </a:lvl1pPr>
          </a:lstStyle>
          <a:p>
            <a:pPr marL="0" lvl="0" indent="0">
              <a:buFontTx/>
              <a:buNone/>
            </a:pPr>
            <a:r>
              <a:rPr lang="en-US"/>
              <a:t>Click to edit Master subtitle style</a:t>
            </a:r>
          </a:p>
        </p:txBody>
      </p:sp>
    </p:spTree>
    <p:extLst>
      <p:ext uri="{BB962C8B-B14F-4D97-AF65-F5344CB8AC3E}">
        <p14:creationId xmlns:p14="http://schemas.microsoft.com/office/powerpoint/2010/main" val="229278926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336">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Section Divider - 2">
    <p:spTree>
      <p:nvGrpSpPr>
        <p:cNvPr id="1" name=""/>
        <p:cNvGrpSpPr/>
        <p:nvPr/>
      </p:nvGrpSpPr>
      <p:grpSpPr>
        <a:xfrm>
          <a:off x="0" y="0"/>
          <a:ext cx="0" cy="0"/>
          <a:chOff x="0" y="0"/>
          <a:chExt cx="0" cy="0"/>
        </a:xfrm>
      </p:grpSpPr>
      <p:pic>
        <p:nvPicPr>
          <p:cNvPr id="4" name="Picture 3" descr="A close-up of a building&#10;&#10;Description automatically generated">
            <a:extLst>
              <a:ext uri="{FF2B5EF4-FFF2-40B4-BE49-F238E27FC236}">
                <a16:creationId xmlns:a16="http://schemas.microsoft.com/office/drawing/2014/main" id="{4BF3DACE-7AF7-507E-BB2C-74CBFB108C00}"/>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CAA6D9B3-83BC-FA03-3BFF-4E45C7F3A82B}"/>
              </a:ext>
            </a:extLst>
          </p:cNvPr>
          <p:cNvSpPr>
            <a:spLocks noGrp="1"/>
          </p:cNvSpPr>
          <p:nvPr>
            <p:ph type="title" hasCustomPrompt="1"/>
          </p:nvPr>
        </p:nvSpPr>
        <p:spPr>
          <a:xfrm>
            <a:off x="6110416" y="1475552"/>
            <a:ext cx="5484483" cy="1983612"/>
          </a:xfrm>
        </p:spPr>
        <p:txBody>
          <a:bodyPr vert="horz" lIns="91440" tIns="45720" rIns="91440" bIns="45720" rtlCol="0" anchor="b">
            <a:noAutofit/>
          </a:bodyPr>
          <a:lstStyle>
            <a:lvl1pPr>
              <a:defRPr lang="en-US" sz="6000" b="1" i="0" kern="1200" dirty="0">
                <a:solidFill>
                  <a:schemeClr val="accent3"/>
                </a:solidFill>
                <a:latin typeface="AirIndia" pitchFamily="82" charset="77"/>
                <a:ea typeface="+mj-ea"/>
                <a:cs typeface="+mj-cs"/>
              </a:defRPr>
            </a:lvl1pPr>
          </a:lstStyle>
          <a:p>
            <a:pPr lvl="0"/>
            <a:r>
              <a:rPr lang="en-GB"/>
              <a:t>DIVIDER SLIDE</a:t>
            </a:r>
            <a:endParaRPr lang="en-US"/>
          </a:p>
        </p:txBody>
      </p:sp>
      <p:sp>
        <p:nvSpPr>
          <p:cNvPr id="5" name="Subtitle 2">
            <a:extLst>
              <a:ext uri="{FF2B5EF4-FFF2-40B4-BE49-F238E27FC236}">
                <a16:creationId xmlns:a16="http://schemas.microsoft.com/office/drawing/2014/main" id="{F3CE7A17-E74C-0BB2-D16A-ABDD0CD57389}"/>
              </a:ext>
            </a:extLst>
          </p:cNvPr>
          <p:cNvSpPr>
            <a:spLocks noGrp="1"/>
          </p:cNvSpPr>
          <p:nvPr>
            <p:ph type="subTitle" idx="10"/>
          </p:nvPr>
        </p:nvSpPr>
        <p:spPr>
          <a:xfrm>
            <a:off x="6110416" y="3459164"/>
            <a:ext cx="5431768" cy="1253359"/>
          </a:xfrm>
        </p:spPr>
        <p:txBody>
          <a:bodyPr vert="horz" lIns="91440" tIns="45720" rIns="91440" bIns="45720" rtlCol="0">
            <a:normAutofit/>
          </a:bodyPr>
          <a:lstStyle>
            <a:lvl1pPr>
              <a:defRPr lang="en-US" dirty="0">
                <a:solidFill>
                  <a:schemeClr val="accent3"/>
                </a:solidFill>
                <a:latin typeface="Nunito Sans" pitchFamily="2" charset="77"/>
              </a:defRPr>
            </a:lvl1pPr>
          </a:lstStyle>
          <a:p>
            <a:pPr marL="0" lvl="0" indent="0">
              <a:buFontTx/>
              <a:buNone/>
            </a:pPr>
            <a:r>
              <a:rPr lang="en-US"/>
              <a:t>Click to edit Master subtitle style</a:t>
            </a:r>
          </a:p>
        </p:txBody>
      </p:sp>
    </p:spTree>
    <p:extLst>
      <p:ext uri="{BB962C8B-B14F-4D97-AF65-F5344CB8AC3E}">
        <p14:creationId xmlns:p14="http://schemas.microsoft.com/office/powerpoint/2010/main" val="2174070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_Section Divider - 2">
    <p:spTree>
      <p:nvGrpSpPr>
        <p:cNvPr id="1" name=""/>
        <p:cNvGrpSpPr/>
        <p:nvPr/>
      </p:nvGrpSpPr>
      <p:grpSpPr>
        <a:xfrm>
          <a:off x="0" y="0"/>
          <a:ext cx="0" cy="0"/>
          <a:chOff x="0" y="0"/>
          <a:chExt cx="0" cy="0"/>
        </a:xfrm>
      </p:grpSpPr>
      <p:pic>
        <p:nvPicPr>
          <p:cNvPr id="4" name="Picture 3" descr="A building with a dome and a shield&#10;&#10;Description automatically generated with medium confidence">
            <a:extLst>
              <a:ext uri="{FF2B5EF4-FFF2-40B4-BE49-F238E27FC236}">
                <a16:creationId xmlns:a16="http://schemas.microsoft.com/office/drawing/2014/main" id="{84590AF8-3315-DD8B-5187-80D0BBE65ADD}"/>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CAA6D9B3-83BC-FA03-3BFF-4E45C7F3A82B}"/>
              </a:ext>
            </a:extLst>
          </p:cNvPr>
          <p:cNvSpPr>
            <a:spLocks noGrp="1"/>
          </p:cNvSpPr>
          <p:nvPr>
            <p:ph type="title" hasCustomPrompt="1"/>
          </p:nvPr>
        </p:nvSpPr>
        <p:spPr>
          <a:xfrm>
            <a:off x="6110416" y="1475552"/>
            <a:ext cx="5484483" cy="1983612"/>
          </a:xfrm>
        </p:spPr>
        <p:txBody>
          <a:bodyPr vert="horz" lIns="91440" tIns="45720" rIns="91440" bIns="45720" rtlCol="0" anchor="b">
            <a:noAutofit/>
          </a:bodyPr>
          <a:lstStyle>
            <a:lvl1pPr>
              <a:defRPr lang="en-US" sz="6000" b="1" i="0" kern="1200" dirty="0">
                <a:solidFill>
                  <a:schemeClr val="accent3"/>
                </a:solidFill>
                <a:latin typeface="AirIndia" pitchFamily="82" charset="77"/>
                <a:ea typeface="+mj-ea"/>
                <a:cs typeface="+mj-cs"/>
              </a:defRPr>
            </a:lvl1pPr>
          </a:lstStyle>
          <a:p>
            <a:pPr lvl="0"/>
            <a:r>
              <a:rPr lang="en-GB"/>
              <a:t>DIVIDER SLIDE</a:t>
            </a:r>
            <a:endParaRPr lang="en-US"/>
          </a:p>
        </p:txBody>
      </p:sp>
      <p:sp>
        <p:nvSpPr>
          <p:cNvPr id="5" name="Subtitle 2">
            <a:extLst>
              <a:ext uri="{FF2B5EF4-FFF2-40B4-BE49-F238E27FC236}">
                <a16:creationId xmlns:a16="http://schemas.microsoft.com/office/drawing/2014/main" id="{F3CE7A17-E74C-0BB2-D16A-ABDD0CD57389}"/>
              </a:ext>
            </a:extLst>
          </p:cNvPr>
          <p:cNvSpPr>
            <a:spLocks noGrp="1"/>
          </p:cNvSpPr>
          <p:nvPr>
            <p:ph type="subTitle" idx="10"/>
          </p:nvPr>
        </p:nvSpPr>
        <p:spPr>
          <a:xfrm>
            <a:off x="6110416" y="3459164"/>
            <a:ext cx="5431768" cy="1253359"/>
          </a:xfrm>
        </p:spPr>
        <p:txBody>
          <a:bodyPr vert="horz" lIns="91440" tIns="45720" rIns="91440" bIns="45720" rtlCol="0">
            <a:normAutofit/>
          </a:bodyPr>
          <a:lstStyle>
            <a:lvl1pPr>
              <a:defRPr lang="en-US" dirty="0">
                <a:solidFill>
                  <a:schemeClr val="accent3"/>
                </a:solidFill>
                <a:latin typeface="Nunito Sans" pitchFamily="2" charset="77"/>
              </a:defRPr>
            </a:lvl1pPr>
          </a:lstStyle>
          <a:p>
            <a:pPr marL="0" lvl="0" indent="0">
              <a:buFontTx/>
              <a:buNone/>
            </a:pPr>
            <a:r>
              <a:rPr lang="en-US"/>
              <a:t>Click to edit Master subtitle style</a:t>
            </a:r>
          </a:p>
        </p:txBody>
      </p:sp>
    </p:spTree>
    <p:extLst>
      <p:ext uri="{BB962C8B-B14F-4D97-AF65-F5344CB8AC3E}">
        <p14:creationId xmlns:p14="http://schemas.microsoft.com/office/powerpoint/2010/main" val="303042239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8_Section Divider - 2">
    <p:spTree>
      <p:nvGrpSpPr>
        <p:cNvPr id="1" name=""/>
        <p:cNvGrpSpPr/>
        <p:nvPr/>
      </p:nvGrpSpPr>
      <p:grpSpPr>
        <a:xfrm>
          <a:off x="0" y="0"/>
          <a:ext cx="0" cy="0"/>
          <a:chOff x="0" y="0"/>
          <a:chExt cx="0" cy="0"/>
        </a:xfrm>
      </p:grpSpPr>
      <p:pic>
        <p:nvPicPr>
          <p:cNvPr id="6" name="Picture 5" descr="An airplane flying in the sky&#10;&#10;Description automatically generated">
            <a:extLst>
              <a:ext uri="{FF2B5EF4-FFF2-40B4-BE49-F238E27FC236}">
                <a16:creationId xmlns:a16="http://schemas.microsoft.com/office/drawing/2014/main" id="{5427E8E9-5E7C-EE80-E075-E8D3836B38BE}"/>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CAA6D9B3-83BC-FA03-3BFF-4E45C7F3A82B}"/>
              </a:ext>
            </a:extLst>
          </p:cNvPr>
          <p:cNvSpPr>
            <a:spLocks noGrp="1"/>
          </p:cNvSpPr>
          <p:nvPr>
            <p:ph type="title" hasCustomPrompt="1"/>
          </p:nvPr>
        </p:nvSpPr>
        <p:spPr>
          <a:xfrm>
            <a:off x="6110416" y="1475552"/>
            <a:ext cx="5484483" cy="1983612"/>
          </a:xfrm>
        </p:spPr>
        <p:txBody>
          <a:bodyPr vert="horz" lIns="91440" tIns="45720" rIns="91440" bIns="45720" rtlCol="0" anchor="b">
            <a:noAutofit/>
          </a:bodyPr>
          <a:lstStyle>
            <a:lvl1pPr>
              <a:defRPr lang="en-US" sz="6000" b="1" i="0" kern="1200" dirty="0">
                <a:solidFill>
                  <a:schemeClr val="accent3"/>
                </a:solidFill>
                <a:latin typeface="AirIndia" pitchFamily="82" charset="77"/>
                <a:ea typeface="+mj-ea"/>
                <a:cs typeface="+mj-cs"/>
              </a:defRPr>
            </a:lvl1pPr>
          </a:lstStyle>
          <a:p>
            <a:pPr lvl="0"/>
            <a:r>
              <a:rPr lang="en-GB"/>
              <a:t>DIVIDER SLIDE</a:t>
            </a:r>
            <a:endParaRPr lang="en-US"/>
          </a:p>
        </p:txBody>
      </p:sp>
      <p:sp>
        <p:nvSpPr>
          <p:cNvPr id="5" name="Subtitle 2">
            <a:extLst>
              <a:ext uri="{FF2B5EF4-FFF2-40B4-BE49-F238E27FC236}">
                <a16:creationId xmlns:a16="http://schemas.microsoft.com/office/drawing/2014/main" id="{F3CE7A17-E74C-0BB2-D16A-ABDD0CD57389}"/>
              </a:ext>
            </a:extLst>
          </p:cNvPr>
          <p:cNvSpPr>
            <a:spLocks noGrp="1"/>
          </p:cNvSpPr>
          <p:nvPr>
            <p:ph type="subTitle" idx="10"/>
          </p:nvPr>
        </p:nvSpPr>
        <p:spPr>
          <a:xfrm>
            <a:off x="6110416" y="3459164"/>
            <a:ext cx="5431768" cy="1253359"/>
          </a:xfrm>
        </p:spPr>
        <p:txBody>
          <a:bodyPr vert="horz" lIns="91440" tIns="45720" rIns="91440" bIns="45720" rtlCol="0">
            <a:normAutofit/>
          </a:bodyPr>
          <a:lstStyle>
            <a:lvl1pPr>
              <a:defRPr lang="en-US" dirty="0">
                <a:solidFill>
                  <a:schemeClr val="accent3"/>
                </a:solidFill>
                <a:latin typeface="Nunito Sans" pitchFamily="2" charset="77"/>
              </a:defRPr>
            </a:lvl1pPr>
          </a:lstStyle>
          <a:p>
            <a:pPr marL="0" lvl="0" indent="0">
              <a:buFontTx/>
              <a:buNone/>
            </a:pPr>
            <a:r>
              <a:rPr lang="en-US"/>
              <a:t>Click to edit Master subtitle style</a:t>
            </a:r>
          </a:p>
        </p:txBody>
      </p:sp>
    </p:spTree>
    <p:extLst>
      <p:ext uri="{BB962C8B-B14F-4D97-AF65-F5344CB8AC3E}">
        <p14:creationId xmlns:p14="http://schemas.microsoft.com/office/powerpoint/2010/main" val="39770507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ext &amp; Content Layout - 1">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FD44452D-6719-3A3C-48DC-057312D60730}"/>
              </a:ext>
            </a:extLst>
          </p:cNvPr>
          <p:cNvSpPr>
            <a:spLocks noGrp="1"/>
          </p:cNvSpPr>
          <p:nvPr>
            <p:ph type="sldNum" sz="quarter" idx="12"/>
          </p:nvPr>
        </p:nvSpPr>
        <p:spPr>
          <a:xfrm>
            <a:off x="11125200" y="6492875"/>
            <a:ext cx="857245" cy="365125"/>
          </a:xfrm>
          <a:prstGeom prst="rect">
            <a:avLst/>
          </a:prstGeom>
        </p:spPr>
        <p:txBody>
          <a:bodyPr anchor="ctr"/>
          <a:lstStyle>
            <a:lvl1pPr algn="ctr">
              <a:defRPr sz="1200">
                <a:solidFill>
                  <a:schemeClr val="accent1"/>
                </a:solidFill>
              </a:defRPr>
            </a:lvl1pPr>
          </a:lstStyle>
          <a:p>
            <a:fld id="{3A41A254-7326-714E-AF55-4C213D6394DE}" type="slidenum">
              <a:rPr lang="en-US" smtClean="0"/>
              <a:pPr/>
              <a:t>‹#›</a:t>
            </a:fld>
            <a:endParaRPr lang="en-US"/>
          </a:p>
        </p:txBody>
      </p:sp>
      <p:sp>
        <p:nvSpPr>
          <p:cNvPr id="8" name="Title 7">
            <a:extLst>
              <a:ext uri="{FF2B5EF4-FFF2-40B4-BE49-F238E27FC236}">
                <a16:creationId xmlns:a16="http://schemas.microsoft.com/office/drawing/2014/main" id="{D37B8DCE-B813-ECB6-504B-646AA8A70E7F}"/>
              </a:ext>
            </a:extLst>
          </p:cNvPr>
          <p:cNvSpPr>
            <a:spLocks noGrp="1"/>
          </p:cNvSpPr>
          <p:nvPr>
            <p:ph type="title" hasCustomPrompt="1"/>
          </p:nvPr>
        </p:nvSpPr>
        <p:spPr>
          <a:xfrm>
            <a:off x="607060" y="304800"/>
            <a:ext cx="10977880" cy="914400"/>
          </a:xfrm>
        </p:spPr>
        <p:txBody>
          <a:bodyPr>
            <a:normAutofit/>
          </a:bodyPr>
          <a:lstStyle>
            <a:lvl1pPr>
              <a:defRPr sz="3200">
                <a:solidFill>
                  <a:schemeClr val="accent1"/>
                </a:solidFill>
              </a:defRPr>
            </a:lvl1pPr>
          </a:lstStyle>
          <a:p>
            <a:r>
              <a:rPr lang="en-US"/>
              <a:t>CLICK TO EDIT MASTER TITLE STYLE</a:t>
            </a:r>
          </a:p>
        </p:txBody>
      </p:sp>
      <p:sp>
        <p:nvSpPr>
          <p:cNvPr id="10" name="Text Placeholder 9">
            <a:extLst>
              <a:ext uri="{FF2B5EF4-FFF2-40B4-BE49-F238E27FC236}">
                <a16:creationId xmlns:a16="http://schemas.microsoft.com/office/drawing/2014/main" id="{70176C6B-4C1B-92FA-CF20-B7F8064C9C6C}"/>
              </a:ext>
            </a:extLst>
          </p:cNvPr>
          <p:cNvSpPr>
            <a:spLocks noGrp="1"/>
          </p:cNvSpPr>
          <p:nvPr>
            <p:ph type="body" sz="quarter" idx="13"/>
          </p:nvPr>
        </p:nvSpPr>
        <p:spPr>
          <a:xfrm>
            <a:off x="610372" y="1587998"/>
            <a:ext cx="10974567" cy="4520204"/>
          </a:xfrm>
        </p:spPr>
        <p:txBody>
          <a:bodyPr>
            <a:normAutofit/>
          </a:bodyPr>
          <a:lstStyle>
            <a:lvl1pPr marL="320040" indent="-320040">
              <a:lnSpc>
                <a:spcPct val="100000"/>
              </a:lnSpc>
              <a:buSzPct val="112000"/>
              <a:buFontTx/>
              <a:buBlip>
                <a:blip r:embed="rId2"/>
              </a:buBlip>
              <a:defRPr sz="1800"/>
            </a:lvl1pPr>
            <a:lvl2pPr marL="685800" indent="-320040">
              <a:lnSpc>
                <a:spcPct val="100000"/>
              </a:lnSpc>
              <a:buSzPct val="112000"/>
              <a:buFontTx/>
              <a:buBlip>
                <a:blip r:embed="rId2"/>
              </a:buBlip>
              <a:defRPr sz="1600"/>
            </a:lvl2pPr>
            <a:lvl3pPr marL="1143000" indent="-320040">
              <a:lnSpc>
                <a:spcPct val="100000"/>
              </a:lnSpc>
              <a:buSzPct val="112000"/>
              <a:buFontTx/>
              <a:buBlip>
                <a:blip r:embed="rId2"/>
              </a:buBlip>
              <a:defRPr sz="1400"/>
            </a:lvl3pPr>
            <a:lvl4pPr marL="1600200" indent="-320040">
              <a:lnSpc>
                <a:spcPct val="100000"/>
              </a:lnSpc>
              <a:buSzPct val="112000"/>
              <a:buFontTx/>
              <a:buBlip>
                <a:blip r:embed="rId2"/>
              </a:buBlip>
              <a:defRPr sz="1200"/>
            </a:lvl4pPr>
            <a:lvl5pPr marL="2057400" indent="-320040">
              <a:lnSpc>
                <a:spcPct val="100000"/>
              </a:lnSpc>
              <a:buSzPct val="112000"/>
              <a:buFontTx/>
              <a:buBlip>
                <a:blip r:embed="rId2"/>
              </a:buBlip>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ubtitle 2">
            <a:extLst>
              <a:ext uri="{FF2B5EF4-FFF2-40B4-BE49-F238E27FC236}">
                <a16:creationId xmlns:a16="http://schemas.microsoft.com/office/drawing/2014/main" id="{5EAFBD2D-C2BB-8088-2AF6-FCA057912F15}"/>
              </a:ext>
            </a:extLst>
          </p:cNvPr>
          <p:cNvSpPr>
            <a:spLocks noGrp="1"/>
          </p:cNvSpPr>
          <p:nvPr>
            <p:ph type="subTitle" idx="10" hasCustomPrompt="1"/>
          </p:nvPr>
        </p:nvSpPr>
        <p:spPr>
          <a:xfrm>
            <a:off x="616100" y="990600"/>
            <a:ext cx="10965528" cy="457200"/>
          </a:xfrm>
        </p:spPr>
        <p:txBody>
          <a:bodyPr vert="horz" lIns="91440" tIns="45720" rIns="91440" bIns="45720" rtlCol="0" anchor="ctr">
            <a:normAutofit/>
          </a:bodyPr>
          <a:lstStyle>
            <a:lvl1pPr>
              <a:defRPr lang="en-US" sz="2000" b="1" dirty="0">
                <a:latin typeface="Nunito Sans" pitchFamily="2" charset="77"/>
              </a:defRPr>
            </a:lvl1pPr>
          </a:lstStyle>
          <a:p>
            <a:pPr marL="0" lvl="0" indent="0">
              <a:buFontTx/>
              <a:buNone/>
            </a:pPr>
            <a:r>
              <a:rPr lang="en-GB"/>
              <a:t>Sub-heading</a:t>
            </a:r>
            <a:endParaRPr lang="en-US"/>
          </a:p>
        </p:txBody>
      </p:sp>
      <p:pic>
        <p:nvPicPr>
          <p:cNvPr id="2" name="Picture 1" descr="A close-up of a logo&#10;&#10;Description automatically generated">
            <a:extLst>
              <a:ext uri="{FF2B5EF4-FFF2-40B4-BE49-F238E27FC236}">
                <a16:creationId xmlns:a16="http://schemas.microsoft.com/office/drawing/2014/main" id="{60B4ED90-1C19-538C-AD30-CF248331DB73}"/>
              </a:ext>
            </a:extLst>
          </p:cNvPr>
          <p:cNvPicPr>
            <a:picLocks noChangeAspect="1"/>
          </p:cNvPicPr>
          <p:nvPr userDrawn="1"/>
        </p:nvPicPr>
        <p:blipFill rotWithShape="1">
          <a:blip r:embed="rId3"/>
          <a:srcRect l="23879" t="-2216" r="16423" b="36975"/>
          <a:stretch/>
        </p:blipFill>
        <p:spPr>
          <a:xfrm>
            <a:off x="0" y="6363684"/>
            <a:ext cx="914400" cy="494315"/>
          </a:xfrm>
          <a:prstGeom prst="rect">
            <a:avLst/>
          </a:prstGeom>
        </p:spPr>
      </p:pic>
    </p:spTree>
    <p:extLst>
      <p:ext uri="{BB962C8B-B14F-4D97-AF65-F5344CB8AC3E}">
        <p14:creationId xmlns:p14="http://schemas.microsoft.com/office/powerpoint/2010/main" val="220233050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orient="horz" pos="192">
          <p15:clr>
            <a:srgbClr val="FBAE40"/>
          </p15:clr>
        </p15:guide>
        <p15:guide id="4" orient="horz" pos="912">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 1">
    <p:spTree>
      <p:nvGrpSpPr>
        <p:cNvPr id="1" name=""/>
        <p:cNvGrpSpPr/>
        <p:nvPr/>
      </p:nvGrpSpPr>
      <p:grpSpPr>
        <a:xfrm>
          <a:off x="0" y="0"/>
          <a:ext cx="0" cy="0"/>
          <a:chOff x="0" y="0"/>
          <a:chExt cx="0" cy="0"/>
        </a:xfrm>
      </p:grpSpPr>
      <p:sp>
        <p:nvSpPr>
          <p:cNvPr id="5" name="Picture Placeholder 7">
            <a:extLst>
              <a:ext uri="{FF2B5EF4-FFF2-40B4-BE49-F238E27FC236}">
                <a16:creationId xmlns:a16="http://schemas.microsoft.com/office/drawing/2014/main" id="{15658912-D983-FCD7-8563-DCAA4AD6C8BA}"/>
              </a:ext>
            </a:extLst>
          </p:cNvPr>
          <p:cNvSpPr>
            <a:spLocks noGrp="1"/>
          </p:cNvSpPr>
          <p:nvPr>
            <p:ph type="pic" sz="quarter" idx="13"/>
          </p:nvPr>
        </p:nvSpPr>
        <p:spPr>
          <a:xfrm>
            <a:off x="6558280" y="1587998"/>
            <a:ext cx="5024120" cy="4588965"/>
          </a:xfrm>
        </p:spPr>
        <p:txBody>
          <a:bodyPr vert="horz" lIns="91440" tIns="45720" rIns="91440" bIns="45720" rtlCol="0" anchor="ctr">
            <a:normAutofit/>
          </a:bodyPr>
          <a:lstStyle>
            <a:lvl1pPr algn="ctr">
              <a:defRPr lang="en-US" sz="4000" dirty="0">
                <a:solidFill>
                  <a:srgbClr val="FF0000"/>
                </a:solidFill>
              </a:defRPr>
            </a:lvl1pPr>
          </a:lstStyle>
          <a:p>
            <a:pPr lvl="0" indent="-320040">
              <a:lnSpc>
                <a:spcPct val="100000"/>
              </a:lnSpc>
              <a:buSzPct val="112000"/>
              <a:buFontTx/>
              <a:buBlip>
                <a:blip r:embed="rId2"/>
              </a:buBlip>
            </a:pPr>
            <a:r>
              <a:rPr lang="en-US"/>
              <a:t>Click icon to add picture</a:t>
            </a:r>
          </a:p>
        </p:txBody>
      </p:sp>
      <p:sp>
        <p:nvSpPr>
          <p:cNvPr id="11" name="Slide Number Placeholder 5">
            <a:extLst>
              <a:ext uri="{FF2B5EF4-FFF2-40B4-BE49-F238E27FC236}">
                <a16:creationId xmlns:a16="http://schemas.microsoft.com/office/drawing/2014/main" id="{8C3759EA-CF74-7437-28A8-3807402391D1}"/>
              </a:ext>
            </a:extLst>
          </p:cNvPr>
          <p:cNvSpPr>
            <a:spLocks noGrp="1"/>
          </p:cNvSpPr>
          <p:nvPr>
            <p:ph type="sldNum" sz="quarter" idx="12"/>
          </p:nvPr>
        </p:nvSpPr>
        <p:spPr>
          <a:xfrm>
            <a:off x="11125200" y="6492875"/>
            <a:ext cx="857245" cy="365125"/>
          </a:xfrm>
          <a:prstGeom prst="rect">
            <a:avLst/>
          </a:prstGeom>
        </p:spPr>
        <p:txBody>
          <a:bodyPr anchor="ctr"/>
          <a:lstStyle>
            <a:lvl1pPr>
              <a:defRPr lang="en-US" sz="1200" smtClean="0">
                <a:solidFill>
                  <a:schemeClr val="accent1"/>
                </a:solidFill>
              </a:defRPr>
            </a:lvl1pPr>
          </a:lstStyle>
          <a:p>
            <a:pPr algn="ctr"/>
            <a:fld id="{3A41A254-7326-714E-AF55-4C213D6394DE}" type="slidenum">
              <a:rPr lang="en-IN" smtClean="0"/>
              <a:pPr algn="ctr"/>
              <a:t>‹#›</a:t>
            </a:fld>
            <a:endParaRPr lang="en-IN"/>
          </a:p>
        </p:txBody>
      </p:sp>
      <p:sp>
        <p:nvSpPr>
          <p:cNvPr id="12" name="Text Placeholder 9">
            <a:extLst>
              <a:ext uri="{FF2B5EF4-FFF2-40B4-BE49-F238E27FC236}">
                <a16:creationId xmlns:a16="http://schemas.microsoft.com/office/drawing/2014/main" id="{C0A9E431-EC2B-5717-285E-278016CA82BF}"/>
              </a:ext>
            </a:extLst>
          </p:cNvPr>
          <p:cNvSpPr>
            <a:spLocks noGrp="1"/>
          </p:cNvSpPr>
          <p:nvPr>
            <p:ph type="body" sz="quarter" idx="14"/>
          </p:nvPr>
        </p:nvSpPr>
        <p:spPr>
          <a:xfrm>
            <a:off x="610373" y="1600200"/>
            <a:ext cx="5485628" cy="4561839"/>
          </a:xfrm>
        </p:spPr>
        <p:txBody>
          <a:bodyPr vert="horz" lIns="91440" tIns="45720" rIns="91440" bIns="45720" rtlCol="0">
            <a:normAutofit/>
          </a:bodyPr>
          <a:lstStyle>
            <a:lvl1pPr>
              <a:defRPr lang="en-GB" sz="1800" dirty="0"/>
            </a:lvl1pPr>
            <a:lvl2pPr>
              <a:defRPr lang="en-GB" sz="1600" dirty="0"/>
            </a:lvl2pPr>
            <a:lvl3pPr>
              <a:defRPr lang="en-GB" sz="1400" dirty="0"/>
            </a:lvl3pPr>
            <a:lvl4pPr>
              <a:defRPr lang="en-GB" sz="1200" dirty="0"/>
            </a:lvl4pPr>
            <a:lvl5pPr>
              <a:defRPr lang="en-US" sz="1200" dirty="0"/>
            </a:lvl5pPr>
          </a:lstStyle>
          <a:p>
            <a:pPr lvl="0" indent="-320040">
              <a:lnSpc>
                <a:spcPct val="100000"/>
              </a:lnSpc>
              <a:buSzPct val="112000"/>
              <a:buFontTx/>
              <a:buBlip>
                <a:blip r:embed="rId2"/>
              </a:buBlip>
            </a:pPr>
            <a:r>
              <a:rPr lang="en-US"/>
              <a:t>Click to edit Master text styles</a:t>
            </a:r>
          </a:p>
          <a:p>
            <a:pPr lvl="1" indent="-320040">
              <a:lnSpc>
                <a:spcPct val="100000"/>
              </a:lnSpc>
              <a:buSzPct val="112000"/>
              <a:buFontTx/>
              <a:buBlip>
                <a:blip r:embed="rId2"/>
              </a:buBlip>
            </a:pPr>
            <a:r>
              <a:rPr lang="en-US"/>
              <a:t>Second level</a:t>
            </a:r>
          </a:p>
          <a:p>
            <a:pPr lvl="2" indent="-320040">
              <a:lnSpc>
                <a:spcPct val="100000"/>
              </a:lnSpc>
              <a:buSzPct val="112000"/>
              <a:buFontTx/>
              <a:buBlip>
                <a:blip r:embed="rId2"/>
              </a:buBlip>
            </a:pPr>
            <a:r>
              <a:rPr lang="en-US"/>
              <a:t>Third level</a:t>
            </a:r>
          </a:p>
          <a:p>
            <a:pPr lvl="3" indent="-320040">
              <a:lnSpc>
                <a:spcPct val="100000"/>
              </a:lnSpc>
              <a:buSzPct val="112000"/>
              <a:buFontTx/>
              <a:buBlip>
                <a:blip r:embed="rId2"/>
              </a:buBlip>
            </a:pPr>
            <a:r>
              <a:rPr lang="en-US"/>
              <a:t>Fourth level</a:t>
            </a:r>
          </a:p>
          <a:p>
            <a:pPr lvl="4" indent="-320040">
              <a:lnSpc>
                <a:spcPct val="100000"/>
              </a:lnSpc>
              <a:buSzPct val="112000"/>
              <a:buFontTx/>
              <a:buBlip>
                <a:blip r:embed="rId2"/>
              </a:buBlip>
            </a:pPr>
            <a:r>
              <a:rPr lang="en-US"/>
              <a:t>Fifth level</a:t>
            </a:r>
          </a:p>
        </p:txBody>
      </p:sp>
      <p:sp>
        <p:nvSpPr>
          <p:cNvPr id="4" name="Subtitle 2">
            <a:extLst>
              <a:ext uri="{FF2B5EF4-FFF2-40B4-BE49-F238E27FC236}">
                <a16:creationId xmlns:a16="http://schemas.microsoft.com/office/drawing/2014/main" id="{7607FE69-5627-2F02-8D78-2B38708079C2}"/>
              </a:ext>
            </a:extLst>
          </p:cNvPr>
          <p:cNvSpPr>
            <a:spLocks noGrp="1"/>
          </p:cNvSpPr>
          <p:nvPr>
            <p:ph type="subTitle" idx="10" hasCustomPrompt="1"/>
          </p:nvPr>
        </p:nvSpPr>
        <p:spPr>
          <a:xfrm>
            <a:off x="616100" y="990600"/>
            <a:ext cx="10965528" cy="457200"/>
          </a:xfrm>
        </p:spPr>
        <p:txBody>
          <a:bodyPr vert="horz" lIns="91440" tIns="45720" rIns="91440" bIns="45720" rtlCol="0" anchor="ctr">
            <a:normAutofit/>
          </a:bodyPr>
          <a:lstStyle>
            <a:lvl1pPr>
              <a:defRPr lang="en-US" sz="2000" b="1" dirty="0">
                <a:latin typeface="Nunito Sans" pitchFamily="2" charset="77"/>
              </a:defRPr>
            </a:lvl1pPr>
          </a:lstStyle>
          <a:p>
            <a:pPr marL="0" lvl="0" indent="0">
              <a:buFontTx/>
              <a:buNone/>
            </a:pPr>
            <a:r>
              <a:rPr lang="en-GB"/>
              <a:t>Sub-heading</a:t>
            </a:r>
            <a:endParaRPr lang="en-US"/>
          </a:p>
        </p:txBody>
      </p:sp>
      <p:sp>
        <p:nvSpPr>
          <p:cNvPr id="6" name="Title 5">
            <a:extLst>
              <a:ext uri="{FF2B5EF4-FFF2-40B4-BE49-F238E27FC236}">
                <a16:creationId xmlns:a16="http://schemas.microsoft.com/office/drawing/2014/main" id="{99127A2E-2194-FA16-2895-A983F804DEBC}"/>
              </a:ext>
            </a:extLst>
          </p:cNvPr>
          <p:cNvSpPr>
            <a:spLocks noGrp="1"/>
          </p:cNvSpPr>
          <p:nvPr>
            <p:ph type="title" hasCustomPrompt="1"/>
          </p:nvPr>
        </p:nvSpPr>
        <p:spPr>
          <a:xfrm>
            <a:off x="609600" y="304800"/>
            <a:ext cx="10972800" cy="914400"/>
          </a:xfrm>
        </p:spPr>
        <p:txBody>
          <a:bodyPr vert="horz" lIns="91440" tIns="45720" rIns="91440" bIns="45720" rtlCol="0" anchor="ctr">
            <a:normAutofit/>
          </a:bodyPr>
          <a:lstStyle>
            <a:lvl1pPr>
              <a:defRPr lang="en-US" sz="3200" dirty="0">
                <a:solidFill>
                  <a:schemeClr val="accent1"/>
                </a:solidFill>
              </a:defRPr>
            </a:lvl1pPr>
          </a:lstStyle>
          <a:p>
            <a:pPr lvl="0"/>
            <a:r>
              <a:rPr lang="en-GB"/>
              <a:t>CLICK TO EDIT MASTER TITLE STYLE</a:t>
            </a:r>
            <a:endParaRPr lang="en-US"/>
          </a:p>
        </p:txBody>
      </p:sp>
      <p:pic>
        <p:nvPicPr>
          <p:cNvPr id="7" name="Picture 6" descr="A close-up of a logo&#10;&#10;Description automatically generated">
            <a:extLst>
              <a:ext uri="{FF2B5EF4-FFF2-40B4-BE49-F238E27FC236}">
                <a16:creationId xmlns:a16="http://schemas.microsoft.com/office/drawing/2014/main" id="{C089A545-7420-C6A8-55C6-91018ACE1836}"/>
              </a:ext>
            </a:extLst>
          </p:cNvPr>
          <p:cNvPicPr>
            <a:picLocks noChangeAspect="1"/>
          </p:cNvPicPr>
          <p:nvPr userDrawn="1"/>
        </p:nvPicPr>
        <p:blipFill rotWithShape="1">
          <a:blip r:embed="rId3"/>
          <a:srcRect l="23879" t="-2216" r="16423" b="36975"/>
          <a:stretch/>
        </p:blipFill>
        <p:spPr>
          <a:xfrm>
            <a:off x="0" y="6363684"/>
            <a:ext cx="914400" cy="494315"/>
          </a:xfrm>
          <a:prstGeom prst="rect">
            <a:avLst/>
          </a:prstGeom>
        </p:spPr>
      </p:pic>
    </p:spTree>
    <p:extLst>
      <p:ext uri="{BB962C8B-B14F-4D97-AF65-F5344CB8AC3E}">
        <p14:creationId xmlns:p14="http://schemas.microsoft.com/office/powerpoint/2010/main" val="100018404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orient="horz" pos="192">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8DB54E09-83C2-64E7-9110-8776CF1BC192}"/>
              </a:ext>
            </a:extLst>
          </p:cNvPr>
          <p:cNvSpPr>
            <a:spLocks noGrp="1"/>
          </p:cNvSpPr>
          <p:nvPr>
            <p:ph type="sldNum" sz="quarter" idx="12"/>
          </p:nvPr>
        </p:nvSpPr>
        <p:spPr>
          <a:xfrm>
            <a:off x="11125200" y="6492875"/>
            <a:ext cx="857245" cy="365125"/>
          </a:xfrm>
          <a:prstGeom prst="rect">
            <a:avLst/>
          </a:prstGeom>
        </p:spPr>
        <p:txBody>
          <a:bodyPr anchor="ctr"/>
          <a:lstStyle>
            <a:lvl1pPr algn="ctr">
              <a:defRPr sz="1200">
                <a:solidFill>
                  <a:schemeClr val="accent1"/>
                </a:solidFill>
              </a:defRPr>
            </a:lvl1pPr>
          </a:lstStyle>
          <a:p>
            <a:fld id="{3A41A254-7326-714E-AF55-4C213D6394DE}" type="slidenum">
              <a:rPr lang="en-US" smtClean="0"/>
              <a:pPr/>
              <a:t>‹#›</a:t>
            </a:fld>
            <a:endParaRPr lang="en-US"/>
          </a:p>
        </p:txBody>
      </p:sp>
      <p:sp>
        <p:nvSpPr>
          <p:cNvPr id="2" name="Title 7">
            <a:extLst>
              <a:ext uri="{FF2B5EF4-FFF2-40B4-BE49-F238E27FC236}">
                <a16:creationId xmlns:a16="http://schemas.microsoft.com/office/drawing/2014/main" id="{8B5B5505-B75C-A9AE-5EE1-1C13D23353A9}"/>
              </a:ext>
            </a:extLst>
          </p:cNvPr>
          <p:cNvSpPr>
            <a:spLocks noGrp="1"/>
          </p:cNvSpPr>
          <p:nvPr>
            <p:ph type="title" hasCustomPrompt="1"/>
          </p:nvPr>
        </p:nvSpPr>
        <p:spPr>
          <a:xfrm>
            <a:off x="607060" y="304800"/>
            <a:ext cx="10977880" cy="914400"/>
          </a:xfrm>
        </p:spPr>
        <p:txBody>
          <a:bodyPr>
            <a:normAutofit/>
          </a:bodyPr>
          <a:lstStyle>
            <a:lvl1pPr>
              <a:defRPr sz="3200">
                <a:solidFill>
                  <a:schemeClr val="accent1"/>
                </a:solidFill>
              </a:defRPr>
            </a:lvl1pPr>
          </a:lstStyle>
          <a:p>
            <a:r>
              <a:rPr lang="en-US"/>
              <a:t>CLICK TO EDIT MASTER TITLE STYLE</a:t>
            </a:r>
          </a:p>
        </p:txBody>
      </p:sp>
      <p:pic>
        <p:nvPicPr>
          <p:cNvPr id="5" name="Picture 4" descr="A close-up of a logo&#10;&#10;Description automatically generated">
            <a:extLst>
              <a:ext uri="{FF2B5EF4-FFF2-40B4-BE49-F238E27FC236}">
                <a16:creationId xmlns:a16="http://schemas.microsoft.com/office/drawing/2014/main" id="{6B0F032F-D65A-0255-D2B4-F805BB188F3D}"/>
              </a:ext>
            </a:extLst>
          </p:cNvPr>
          <p:cNvPicPr>
            <a:picLocks noChangeAspect="1"/>
          </p:cNvPicPr>
          <p:nvPr userDrawn="1"/>
        </p:nvPicPr>
        <p:blipFill rotWithShape="1">
          <a:blip r:embed="rId2"/>
          <a:srcRect l="23879" t="-2216" r="16423" b="36975"/>
          <a:stretch/>
        </p:blipFill>
        <p:spPr>
          <a:xfrm>
            <a:off x="0" y="6363684"/>
            <a:ext cx="914400" cy="494315"/>
          </a:xfrm>
          <a:prstGeom prst="rect">
            <a:avLst/>
          </a:prstGeom>
        </p:spPr>
      </p:pic>
    </p:spTree>
    <p:extLst>
      <p:ext uri="{BB962C8B-B14F-4D97-AF65-F5344CB8AC3E}">
        <p14:creationId xmlns:p14="http://schemas.microsoft.com/office/powerpoint/2010/main" val="186811802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orient="horz" pos="192">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Blank">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8DB54E09-83C2-64E7-9110-8776CF1BC192}"/>
              </a:ext>
            </a:extLst>
          </p:cNvPr>
          <p:cNvSpPr>
            <a:spLocks noGrp="1"/>
          </p:cNvSpPr>
          <p:nvPr>
            <p:ph type="sldNum" sz="quarter" idx="12"/>
          </p:nvPr>
        </p:nvSpPr>
        <p:spPr>
          <a:xfrm>
            <a:off x="11125200" y="6492875"/>
            <a:ext cx="857245" cy="365125"/>
          </a:xfrm>
          <a:prstGeom prst="rect">
            <a:avLst/>
          </a:prstGeom>
        </p:spPr>
        <p:txBody>
          <a:bodyPr anchor="ctr"/>
          <a:lstStyle>
            <a:lvl1pPr algn="ctr">
              <a:defRPr sz="1200">
                <a:solidFill>
                  <a:schemeClr val="accent1"/>
                </a:solidFill>
              </a:defRPr>
            </a:lvl1pPr>
          </a:lstStyle>
          <a:p>
            <a:fld id="{3A41A254-7326-714E-AF55-4C213D6394DE}" type="slidenum">
              <a:rPr lang="en-US" smtClean="0"/>
              <a:pPr/>
              <a:t>‹#›</a:t>
            </a:fld>
            <a:endParaRPr lang="en-US"/>
          </a:p>
        </p:txBody>
      </p:sp>
      <p:pic>
        <p:nvPicPr>
          <p:cNvPr id="3" name="Picture 2" descr="A close-up of a logo&#10;&#10;Description automatically generated">
            <a:extLst>
              <a:ext uri="{FF2B5EF4-FFF2-40B4-BE49-F238E27FC236}">
                <a16:creationId xmlns:a16="http://schemas.microsoft.com/office/drawing/2014/main" id="{12BD0675-B4A3-C2D7-F0F5-5CFD25D415BF}"/>
              </a:ext>
            </a:extLst>
          </p:cNvPr>
          <p:cNvPicPr>
            <a:picLocks noChangeAspect="1"/>
          </p:cNvPicPr>
          <p:nvPr userDrawn="1"/>
        </p:nvPicPr>
        <p:blipFill rotWithShape="1">
          <a:blip r:embed="rId2"/>
          <a:srcRect l="23879" t="-2216" r="16423" b="36975"/>
          <a:stretch/>
        </p:blipFill>
        <p:spPr>
          <a:xfrm>
            <a:off x="0" y="6363684"/>
            <a:ext cx="914400" cy="494315"/>
          </a:xfrm>
          <a:prstGeom prst="rect">
            <a:avLst/>
          </a:prstGeom>
        </p:spPr>
      </p:pic>
    </p:spTree>
    <p:extLst>
      <p:ext uri="{BB962C8B-B14F-4D97-AF65-F5344CB8AC3E}">
        <p14:creationId xmlns:p14="http://schemas.microsoft.com/office/powerpoint/2010/main" val="176298404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pic>
        <p:nvPicPr>
          <p:cNvPr id="4" name="Picture 3" descr="A person standing on a beach with palm trees&#10;&#10;Description automatically generated">
            <a:extLst>
              <a:ext uri="{FF2B5EF4-FFF2-40B4-BE49-F238E27FC236}">
                <a16:creationId xmlns:a16="http://schemas.microsoft.com/office/drawing/2014/main" id="{C7D329FF-FF14-46C2-412E-08A9D4AD95A9}"/>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235D8806-B30C-5D48-17A9-922DBA16C5CA}"/>
              </a:ext>
            </a:extLst>
          </p:cNvPr>
          <p:cNvSpPr>
            <a:spLocks noGrp="1"/>
          </p:cNvSpPr>
          <p:nvPr>
            <p:ph type="ctrTitle" hasCustomPrompt="1"/>
          </p:nvPr>
        </p:nvSpPr>
        <p:spPr>
          <a:xfrm>
            <a:off x="6096000" y="1008601"/>
            <a:ext cx="5486400" cy="2420399"/>
          </a:xfrm>
        </p:spPr>
        <p:txBody>
          <a:bodyPr anchor="b">
            <a:normAutofit/>
          </a:bodyPr>
          <a:lstStyle>
            <a:lvl1pPr algn="l">
              <a:defRPr sz="6600" b="0" i="0">
                <a:solidFill>
                  <a:srgbClr val="962067"/>
                </a:solidFill>
                <a:latin typeface="AirIndia" pitchFamily="82" charset="77"/>
              </a:defRPr>
            </a:lvl1pPr>
          </a:lstStyle>
          <a:p>
            <a:r>
              <a:rPr lang="en-GB"/>
              <a:t>Thank you</a:t>
            </a:r>
            <a:endParaRPr lang="en-US"/>
          </a:p>
        </p:txBody>
      </p:sp>
    </p:spTree>
    <p:extLst>
      <p:ext uri="{BB962C8B-B14F-4D97-AF65-F5344CB8AC3E}">
        <p14:creationId xmlns:p14="http://schemas.microsoft.com/office/powerpoint/2010/main" val="6687496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3360">
          <p15:clr>
            <a:srgbClr val="FBAE40"/>
          </p15:clr>
        </p15:guide>
        <p15:guide id="4" orient="horz" pos="1344">
          <p15:clr>
            <a:srgbClr val="FBAE40"/>
          </p15:clr>
        </p15:guide>
        <p15:guide id="5" pos="336">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Thank You">
    <p:spTree>
      <p:nvGrpSpPr>
        <p:cNvPr id="1" name=""/>
        <p:cNvGrpSpPr/>
        <p:nvPr/>
      </p:nvGrpSpPr>
      <p:grpSpPr>
        <a:xfrm>
          <a:off x="0" y="0"/>
          <a:ext cx="0" cy="0"/>
          <a:chOff x="0" y="0"/>
          <a:chExt cx="0" cy="0"/>
        </a:xfrm>
      </p:grpSpPr>
      <p:pic>
        <p:nvPicPr>
          <p:cNvPr id="4" name="Picture 3" descr="A plane flying in the sky&#10;&#10;Description automatically generated">
            <a:extLst>
              <a:ext uri="{FF2B5EF4-FFF2-40B4-BE49-F238E27FC236}">
                <a16:creationId xmlns:a16="http://schemas.microsoft.com/office/drawing/2014/main" id="{55762A92-547E-5F52-4F9B-5EA30AB79EAF}"/>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12" name="Title 1">
            <a:extLst>
              <a:ext uri="{FF2B5EF4-FFF2-40B4-BE49-F238E27FC236}">
                <a16:creationId xmlns:a16="http://schemas.microsoft.com/office/drawing/2014/main" id="{7DC3906F-921E-6E1D-753F-E155F5842C7D}"/>
              </a:ext>
            </a:extLst>
          </p:cNvPr>
          <p:cNvSpPr>
            <a:spLocks noGrp="1"/>
          </p:cNvSpPr>
          <p:nvPr>
            <p:ph type="ctrTitle" hasCustomPrompt="1"/>
          </p:nvPr>
        </p:nvSpPr>
        <p:spPr>
          <a:xfrm>
            <a:off x="6683298" y="4800600"/>
            <a:ext cx="5203902" cy="1752600"/>
          </a:xfrm>
        </p:spPr>
        <p:txBody>
          <a:bodyPr anchor="b">
            <a:normAutofit/>
          </a:bodyPr>
          <a:lstStyle>
            <a:lvl1pPr algn="l">
              <a:defRPr sz="5400" b="1" i="0">
                <a:solidFill>
                  <a:schemeClr val="bg1"/>
                </a:solidFill>
                <a:latin typeface="AirIndia" pitchFamily="82" charset="77"/>
              </a:defRPr>
            </a:lvl1pPr>
          </a:lstStyle>
          <a:p>
            <a:r>
              <a:rPr lang="en-GB"/>
              <a:t>Thank you</a:t>
            </a:r>
            <a:endParaRPr lang="en-US"/>
          </a:p>
        </p:txBody>
      </p:sp>
    </p:spTree>
    <p:extLst>
      <p:ext uri="{BB962C8B-B14F-4D97-AF65-F5344CB8AC3E}">
        <p14:creationId xmlns:p14="http://schemas.microsoft.com/office/powerpoint/2010/main" val="24232363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3360">
          <p15:clr>
            <a:srgbClr val="FBAE40"/>
          </p15:clr>
        </p15:guide>
        <p15:guide id="4" orient="horz" pos="1440">
          <p15:clr>
            <a:srgbClr val="FBAE40"/>
          </p15:clr>
        </p15:guide>
        <p15:guide id="5" pos="336">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B652595-EEAA-FEBB-57C9-219EE26E327B}"/>
              </a:ext>
            </a:extLst>
          </p:cNvPr>
          <p:cNvSpPr>
            <a:spLocks noGrp="1"/>
          </p:cNvSpPr>
          <p:nvPr>
            <p:ph type="dt" sz="half" idx="10"/>
          </p:nvPr>
        </p:nvSpPr>
        <p:spPr/>
        <p:txBody>
          <a:bodyPr/>
          <a:lstStyle/>
          <a:p>
            <a:fld id="{1F5F7E7A-D156-FC4A-AD12-34B09024C08C}" type="datetimeFigureOut">
              <a:rPr lang="en-US" smtClean="0"/>
              <a:t>8/10/2026</a:t>
            </a:fld>
            <a:endParaRPr lang="en-US"/>
          </a:p>
        </p:txBody>
      </p:sp>
      <p:sp>
        <p:nvSpPr>
          <p:cNvPr id="3" name="Footer Placeholder 2">
            <a:extLst>
              <a:ext uri="{FF2B5EF4-FFF2-40B4-BE49-F238E27FC236}">
                <a16:creationId xmlns:a16="http://schemas.microsoft.com/office/drawing/2014/main" id="{F42DF1BE-410F-E421-5016-E62D076A167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9D3E26B-75A6-8385-F766-88AAD7F06F50}"/>
              </a:ext>
            </a:extLst>
          </p:cNvPr>
          <p:cNvSpPr>
            <a:spLocks noGrp="1"/>
          </p:cNvSpPr>
          <p:nvPr>
            <p:ph type="sldNum" sz="quarter" idx="12"/>
          </p:nvPr>
        </p:nvSpPr>
        <p:spPr/>
        <p:txBody>
          <a:bodyPr/>
          <a:lstStyle/>
          <a:p>
            <a:fld id="{9EFA0657-948E-BB45-B15A-BCBEA86551CC}" type="slidenum">
              <a:rPr lang="en-US" smtClean="0"/>
              <a:t>‹#›</a:t>
            </a:fld>
            <a:endParaRPr lang="en-US"/>
          </a:p>
        </p:txBody>
      </p:sp>
    </p:spTree>
    <p:extLst>
      <p:ext uri="{BB962C8B-B14F-4D97-AF65-F5344CB8AC3E}">
        <p14:creationId xmlns:p14="http://schemas.microsoft.com/office/powerpoint/2010/main" val="8926403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15DDEF0-7AF8-5F17-BBC5-8B04639B1F0E}"/>
              </a:ext>
            </a:extLst>
          </p:cNvPr>
          <p:cNvSpPr>
            <a:spLocks noGrp="1"/>
          </p:cNvSpPr>
          <p:nvPr>
            <p:ph type="title"/>
          </p:nvPr>
        </p:nvSpPr>
        <p:spPr>
          <a:xfrm>
            <a:off x="609600" y="681037"/>
            <a:ext cx="10972800" cy="9191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6B40AF1-B2D1-340A-5F66-CB24C4B8D868}"/>
              </a:ext>
            </a:extLst>
          </p:cNvPr>
          <p:cNvSpPr>
            <a:spLocks noGrp="1"/>
          </p:cNvSpPr>
          <p:nvPr>
            <p:ph type="body" idx="1"/>
          </p:nvPr>
        </p:nvSpPr>
        <p:spPr>
          <a:xfrm>
            <a:off x="609600" y="2057399"/>
            <a:ext cx="10972800" cy="41195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6201386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hf hdr="0" ftr="0" dt="0"/>
  <p:txStyles>
    <p:titleStyle>
      <a:lvl1pPr algn="l" defTabSz="914400" rtl="0" eaLnBrk="1" latinLnBrk="0" hangingPunct="1">
        <a:lnSpc>
          <a:spcPct val="90000"/>
        </a:lnSpc>
        <a:spcBef>
          <a:spcPct val="0"/>
        </a:spcBef>
        <a:buNone/>
        <a:defRPr sz="4400" b="1" i="0" kern="1200">
          <a:solidFill>
            <a:schemeClr val="tx1"/>
          </a:solidFill>
          <a:latin typeface="AirIndia" pitchFamily="82" charset="77"/>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0.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0.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0.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0.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0.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0.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3" Type="http://schemas.microsoft.com/office/2018/10/relationships/comments" Target="../comments/modernComment_7FFFFF1C_85A6DCB1.xml"/><Relationship Id="rId2" Type="http://schemas.openxmlformats.org/officeDocument/2006/relationships/notesSlide" Target="../notesSlides/notesSlide36.xml"/><Relationship Id="rId1" Type="http://schemas.openxmlformats.org/officeDocument/2006/relationships/slideLayout" Target="../slideLayouts/slideLayout13.xml"/><Relationship Id="rId4" Type="http://schemas.openxmlformats.org/officeDocument/2006/relationships/image" Target="../media/image11.png"/></Relationships>
</file>

<file path=ppt/slides/_rels/slide65.xml.rels><?xml version="1.0" encoding="UTF-8" standalone="yes"?>
<Relationships xmlns="http://schemas.openxmlformats.org/package/2006/relationships"><Relationship Id="rId3" Type="http://schemas.openxmlformats.org/officeDocument/2006/relationships/hyperlink" Target="https://vihaan-ai.atlassian.net/browse/MC-112" TargetMode="External"/><Relationship Id="rId7" Type="http://schemas.openxmlformats.org/officeDocument/2006/relationships/image" Target="../media/image11.png"/><Relationship Id="rId2" Type="http://schemas.openxmlformats.org/officeDocument/2006/relationships/notesSlide" Target="../notesSlides/notesSlide37.xml"/><Relationship Id="rId1" Type="http://schemas.openxmlformats.org/officeDocument/2006/relationships/slideLayout" Target="../slideLayouts/slideLayout13.xml"/><Relationship Id="rId6" Type="http://schemas.openxmlformats.org/officeDocument/2006/relationships/hyperlink" Target="https://vihaan-ai.atlassian.net/browse/MC-148" TargetMode="External"/><Relationship Id="rId5" Type="http://schemas.openxmlformats.org/officeDocument/2006/relationships/hyperlink" Target="https://vihaan-ai.atlassian.net/browse/MC-499" TargetMode="External"/><Relationship Id="rId4" Type="http://schemas.openxmlformats.org/officeDocument/2006/relationships/hyperlink" Target="https://vihaan-ai.atlassian.net/browse/MC-811" TargetMode="External"/></Relationships>
</file>

<file path=ppt/slides/_rels/slide6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8.xml"/><Relationship Id="rId1" Type="http://schemas.openxmlformats.org/officeDocument/2006/relationships/slideLayout" Target="../slideLayouts/slideLayout13.xml"/></Relationships>
</file>

<file path=ppt/slides/_rels/slide67.xml.rels><?xml version="1.0" encoding="UTF-8" standalone="yes"?>
<Relationships xmlns="http://schemas.openxmlformats.org/package/2006/relationships"><Relationship Id="rId3" Type="http://schemas.microsoft.com/office/2018/10/relationships/comments" Target="../comments/modernComment_100_16A223B8.xml"/><Relationship Id="rId2" Type="http://schemas.openxmlformats.org/officeDocument/2006/relationships/notesSlide" Target="../notesSlides/notesSlide39.xml"/><Relationship Id="rId1" Type="http://schemas.openxmlformats.org/officeDocument/2006/relationships/slideLayout" Target="../slideLayouts/slideLayout13.xml"/><Relationship Id="rId5" Type="http://schemas.openxmlformats.org/officeDocument/2006/relationships/image" Target="../media/image11.png"/><Relationship Id="rId4" Type="http://schemas.openxmlformats.org/officeDocument/2006/relationships/hyperlink" Target="https://vihaan-ai.atlassian.net/browse/CP-2086" TargetMode="External"/></Relationships>
</file>

<file path=ppt/slides/_rels/slide6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0.xml"/><Relationship Id="rId1" Type="http://schemas.openxmlformats.org/officeDocument/2006/relationships/slideLayout" Target="../slideLayouts/slideLayout13.xml"/></Relationships>
</file>

<file path=ppt/slides/_rels/slide6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1.xml"/><Relationship Id="rId1" Type="http://schemas.openxmlformats.org/officeDocument/2006/relationships/slideLayout" Target="../slideLayouts/slideLayout13.xml"/></Relationships>
</file>

<file path=ppt/slides/_rels/slide70.xml.rels><?xml version="1.0" encoding="UTF-8" standalone="yes"?>
<Relationships xmlns="http://schemas.openxmlformats.org/package/2006/relationships"><Relationship Id="rId8" Type="http://schemas.openxmlformats.org/officeDocument/2006/relationships/hyperlink" Target="https://vihaan-ai.atlassian.net/browse/AAM-5456" TargetMode="External"/><Relationship Id="rId3" Type="http://schemas.microsoft.com/office/2018/10/relationships/comments" Target="../comments/modernComment_104_E5356669.xml"/><Relationship Id="rId7" Type="http://schemas.openxmlformats.org/officeDocument/2006/relationships/hyperlink" Target="https://vihaan-ai.atlassian.net/browse/AAM-3647" TargetMode="External"/><Relationship Id="rId2" Type="http://schemas.openxmlformats.org/officeDocument/2006/relationships/notesSlide" Target="../notesSlides/notesSlide42.xml"/><Relationship Id="rId1" Type="http://schemas.openxmlformats.org/officeDocument/2006/relationships/slideLayout" Target="../slideLayouts/slideLayout13.xml"/><Relationship Id="rId6" Type="http://schemas.openxmlformats.org/officeDocument/2006/relationships/hyperlink" Target="https://vihaan-ai.atlassian.net/browse/AAM-972" TargetMode="External"/><Relationship Id="rId11" Type="http://schemas.openxmlformats.org/officeDocument/2006/relationships/image" Target="../media/image11.png"/><Relationship Id="rId5" Type="http://schemas.openxmlformats.org/officeDocument/2006/relationships/hyperlink" Target="https://vihaan-ai.atlassian.net/browse/AAM-6092" TargetMode="External"/><Relationship Id="rId10" Type="http://schemas.openxmlformats.org/officeDocument/2006/relationships/hyperlink" Target="https://vihaan-ai.atlassian.net/browse/AAM-6028" TargetMode="External"/><Relationship Id="rId4" Type="http://schemas.openxmlformats.org/officeDocument/2006/relationships/hyperlink" Target="https://vihaan-ai.atlassian.net/browse/AAM-5986" TargetMode="External"/><Relationship Id="rId9" Type="http://schemas.openxmlformats.org/officeDocument/2006/relationships/hyperlink" Target="https://vihaan-ai.atlassian.net/browse/AAM-6040" TargetMode="External"/></Relationships>
</file>

<file path=ppt/slides/_rels/slide71.xml.rels><?xml version="1.0" encoding="UTF-8" standalone="yes"?>
<Relationships xmlns="http://schemas.openxmlformats.org/package/2006/relationships"><Relationship Id="rId8" Type="http://schemas.openxmlformats.org/officeDocument/2006/relationships/hyperlink" Target="https://vihaan-ai.atlassian.net/browse/AAM-972" TargetMode="External"/><Relationship Id="rId13" Type="http://schemas.openxmlformats.org/officeDocument/2006/relationships/image" Target="../media/image11.png"/><Relationship Id="rId3" Type="http://schemas.openxmlformats.org/officeDocument/2006/relationships/hyperlink" Target="https://vihaan-ai.atlassian.net/browse/AAM-6093" TargetMode="External"/><Relationship Id="rId7" Type="http://schemas.openxmlformats.org/officeDocument/2006/relationships/hyperlink" Target="https://vihaan-ai.atlassian.net/browse/AAM-1374" TargetMode="External"/><Relationship Id="rId12" Type="http://schemas.openxmlformats.org/officeDocument/2006/relationships/hyperlink" Target="https://vihaan-ai.atlassian.net/browse/AAM-6630" TargetMode="External"/><Relationship Id="rId2" Type="http://schemas.openxmlformats.org/officeDocument/2006/relationships/notesSlide" Target="../notesSlides/notesSlide43.xml"/><Relationship Id="rId1" Type="http://schemas.openxmlformats.org/officeDocument/2006/relationships/slideLayout" Target="../slideLayouts/slideLayout13.xml"/><Relationship Id="rId6" Type="http://schemas.openxmlformats.org/officeDocument/2006/relationships/hyperlink" Target="https://vihaan-ai.atlassian.net/browse/AAM-6095" TargetMode="External"/><Relationship Id="rId11" Type="http://schemas.openxmlformats.org/officeDocument/2006/relationships/hyperlink" Target="https://vihaan-ai.atlassian.net/browse/AAM-6330" TargetMode="External"/><Relationship Id="rId5" Type="http://schemas.openxmlformats.org/officeDocument/2006/relationships/hyperlink" Target="https://vihaan-ai.atlassian.net/browse/AAM-6094" TargetMode="External"/><Relationship Id="rId10" Type="http://schemas.openxmlformats.org/officeDocument/2006/relationships/hyperlink" Target="https://vihaan-ai.atlassian.net/browse/AAM-6475" TargetMode="External"/><Relationship Id="rId4" Type="http://schemas.openxmlformats.org/officeDocument/2006/relationships/hyperlink" Target="https://vihaan-ai.atlassian.net/browse/AAM-6096" TargetMode="External"/><Relationship Id="rId9" Type="http://schemas.openxmlformats.org/officeDocument/2006/relationships/hyperlink" Target="https://vihaan-ai.atlassian.net/browse/AAM-6092" TargetMode="External"/></Relationships>
</file>

<file path=ppt/slides/_rels/slide72.xml.rels><?xml version="1.0" encoding="UTF-8" standalone="yes"?>
<Relationships xmlns="http://schemas.openxmlformats.org/package/2006/relationships"><Relationship Id="rId3" Type="http://schemas.openxmlformats.org/officeDocument/2006/relationships/hyperlink" Target="https://vihaan-ai.atlassian.net/browse/AAM-6097" TargetMode="External"/><Relationship Id="rId7" Type="http://schemas.openxmlformats.org/officeDocument/2006/relationships/image" Target="../media/image11.png"/><Relationship Id="rId2" Type="http://schemas.openxmlformats.org/officeDocument/2006/relationships/notesSlide" Target="../notesSlides/notesSlide44.xml"/><Relationship Id="rId1" Type="http://schemas.openxmlformats.org/officeDocument/2006/relationships/slideLayout" Target="../slideLayouts/slideLayout13.xml"/><Relationship Id="rId6" Type="http://schemas.openxmlformats.org/officeDocument/2006/relationships/hyperlink" Target="https://vihaan-ai.atlassian.net/browse/AAM-6101" TargetMode="External"/><Relationship Id="rId5" Type="http://schemas.openxmlformats.org/officeDocument/2006/relationships/hyperlink" Target="https://vihaan-ai.atlassian.net/browse/AAM-6099" TargetMode="External"/><Relationship Id="rId4" Type="http://schemas.openxmlformats.org/officeDocument/2006/relationships/hyperlink" Target="https://vihaan-ai.atlassian.net/browse/AAM-6098" TargetMode="External"/></Relationships>
</file>

<file path=ppt/slides/_rels/slide73.xml.rels><?xml version="1.0" encoding="UTF-8" standalone="yes"?>
<Relationships xmlns="http://schemas.openxmlformats.org/package/2006/relationships"><Relationship Id="rId8" Type="http://schemas.openxmlformats.org/officeDocument/2006/relationships/hyperlink" Target="https://vihaan-ai.atlassian.net/browse/PLT-3492" TargetMode="External"/><Relationship Id="rId3" Type="http://schemas.microsoft.com/office/2018/10/relationships/comments" Target="../comments/modernComment_108_31F7AF6C.xml"/><Relationship Id="rId7" Type="http://schemas.openxmlformats.org/officeDocument/2006/relationships/hyperlink" Target="https://vihaan-ai.atlassian.net/browse/PLT-3490" TargetMode="External"/><Relationship Id="rId2" Type="http://schemas.openxmlformats.org/officeDocument/2006/relationships/notesSlide" Target="../notesSlides/notesSlide45.xml"/><Relationship Id="rId1" Type="http://schemas.openxmlformats.org/officeDocument/2006/relationships/slideLayout" Target="../slideLayouts/slideLayout13.xml"/><Relationship Id="rId6" Type="http://schemas.openxmlformats.org/officeDocument/2006/relationships/hyperlink" Target="https://vihaan-ai.atlassian.net/browse/PLT-3404" TargetMode="External"/><Relationship Id="rId5" Type="http://schemas.openxmlformats.org/officeDocument/2006/relationships/hyperlink" Target="https://vihaan-ai.atlassian.net/browse/PLT-3369" TargetMode="External"/><Relationship Id="rId10" Type="http://schemas.openxmlformats.org/officeDocument/2006/relationships/image" Target="../media/image11.png"/><Relationship Id="rId4" Type="http://schemas.openxmlformats.org/officeDocument/2006/relationships/hyperlink" Target="https://vihaan-ai.atlassian.net/browse/PLT-3346" TargetMode="External"/><Relationship Id="rId9" Type="http://schemas.openxmlformats.org/officeDocument/2006/relationships/hyperlink" Target="https://vihaan-ai.atlassian.net/browse/PLT-3547" TargetMode="External"/></Relationships>
</file>

<file path=ppt/slides/_rels/slide7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6.xml"/><Relationship Id="rId1" Type="http://schemas.openxmlformats.org/officeDocument/2006/relationships/slideLayout" Target="../slideLayouts/slideLayout13.xml"/></Relationships>
</file>

<file path=ppt/slides/_rels/slide7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7.xml"/><Relationship Id="rId1" Type="http://schemas.openxmlformats.org/officeDocument/2006/relationships/slideLayout" Target="../slideLayouts/slideLayout13.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7.xml.rels><?xml version="1.0" encoding="UTF-8" standalone="yes"?>
<Relationships xmlns="http://schemas.openxmlformats.org/package/2006/relationships"><Relationship Id="rId3" Type="http://schemas.openxmlformats.org/officeDocument/2006/relationships/hyperlink" Target="https://vihaan-ai.atlassian.net/browse/AAM-7013" TargetMode="External"/><Relationship Id="rId7" Type="http://schemas.openxmlformats.org/officeDocument/2006/relationships/image" Target="../media/image11.png"/><Relationship Id="rId2" Type="http://schemas.openxmlformats.org/officeDocument/2006/relationships/notesSlide" Target="../notesSlides/notesSlide48.xml"/><Relationship Id="rId1" Type="http://schemas.openxmlformats.org/officeDocument/2006/relationships/slideLayout" Target="../slideLayouts/slideLayout13.xml"/><Relationship Id="rId6" Type="http://schemas.openxmlformats.org/officeDocument/2006/relationships/hyperlink" Target="https://vihaan-ai.atlassian.net/browse/AAM-6096?search_id=f869ad4f-632d-491d-995b-f6886d7c1996" TargetMode="External"/><Relationship Id="rId5" Type="http://schemas.openxmlformats.org/officeDocument/2006/relationships/hyperlink" Target="https://vihaan-ai.atlassian.net/browse/AAM-7030" TargetMode="External"/><Relationship Id="rId4" Type="http://schemas.openxmlformats.org/officeDocument/2006/relationships/hyperlink" Target="https://vihaan-ai.atlassian.net/browse/AAM-6987?search_id=50947cd5-cc14-4d99-99f6-7269593a5bbb" TargetMode="External"/></Relationships>
</file>

<file path=ppt/slides/_rels/slide78.xml.rels><?xml version="1.0" encoding="UTF-8" standalone="yes"?>
<Relationships xmlns="http://schemas.openxmlformats.org/package/2006/relationships"><Relationship Id="rId3" Type="http://schemas.openxmlformats.org/officeDocument/2006/relationships/hyperlink" Target="https://vihaan-ai.atlassian.net/browse/AAM-7014" TargetMode="External"/><Relationship Id="rId2" Type="http://schemas.openxmlformats.org/officeDocument/2006/relationships/notesSlide" Target="../notesSlides/notesSlide49.xml"/><Relationship Id="rId1" Type="http://schemas.openxmlformats.org/officeDocument/2006/relationships/slideLayout" Target="../slideLayouts/slideLayout13.xml"/><Relationship Id="rId6" Type="http://schemas.openxmlformats.org/officeDocument/2006/relationships/image" Target="../media/image11.png"/><Relationship Id="rId5" Type="http://schemas.openxmlformats.org/officeDocument/2006/relationships/hyperlink" Target="https://vihaan-ai.atlassian.net/browse/AAM-6096?search_id=f869ad4f-632d-491d-995b-f6886d7c1996" TargetMode="External"/><Relationship Id="rId4" Type="http://schemas.openxmlformats.org/officeDocument/2006/relationships/hyperlink" Target="https://vihaan-ai.atlassian.net/browse/AAM-6093?search_id=b8efc6fe-406b-4d69-babc-306206f1f601" TargetMode="External"/></Relationships>
</file>

<file path=ppt/slides/_rels/slide79.xml.rels><?xml version="1.0" encoding="UTF-8" standalone="yes"?>
<Relationships xmlns="http://schemas.openxmlformats.org/package/2006/relationships"><Relationship Id="rId3" Type="http://schemas.openxmlformats.org/officeDocument/2006/relationships/hyperlink" Target="https://vihaan-ai.atlassian.net/browse/AAM-5456?search_id=49a6f2a4-8aa8-456b-92e1-1ecb9833231a" TargetMode="External"/><Relationship Id="rId2" Type="http://schemas.openxmlformats.org/officeDocument/2006/relationships/notesSlide" Target="../notesSlides/notesSlide50.xml"/><Relationship Id="rId1" Type="http://schemas.openxmlformats.org/officeDocument/2006/relationships/slideLayout" Target="../slideLayouts/slideLayout13.xml"/><Relationship Id="rId6" Type="http://schemas.openxmlformats.org/officeDocument/2006/relationships/image" Target="../media/image11.png"/><Relationship Id="rId5" Type="http://schemas.openxmlformats.org/officeDocument/2006/relationships/hyperlink" Target="https://vihaan-ai.atlassian.net/browse/AAM-6096?search_id=f869ad4f-632d-491d-995b-f6886d7c1996" TargetMode="External"/><Relationship Id="rId4" Type="http://schemas.openxmlformats.org/officeDocument/2006/relationships/hyperlink" Target="https://vihaan-ai.atlassian.net/browse/AAM-7015" TargetMode="External"/></Relationships>
</file>

<file path=ppt/slides/_rels/slide8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1.xml"/><Relationship Id="rId1" Type="http://schemas.openxmlformats.org/officeDocument/2006/relationships/slideLayout" Target="../slideLayouts/slideLayout13.xml"/></Relationships>
</file>

<file path=ppt/slides/_rels/slide8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2.xml"/><Relationship Id="rId1" Type="http://schemas.openxmlformats.org/officeDocument/2006/relationships/slideLayout" Target="../slideLayouts/slideLayout13.xml"/></Relationships>
</file>

<file path=ppt/slides/_rels/slide82.xml.rels><?xml version="1.0" encoding="UTF-8" standalone="yes"?>
<Relationships xmlns="http://schemas.openxmlformats.org/package/2006/relationships"><Relationship Id="rId8" Type="http://schemas.openxmlformats.org/officeDocument/2006/relationships/hyperlink" Target="https://vihaan-ai.atlassian.net/browse/MC-2329" TargetMode="External"/><Relationship Id="rId3" Type="http://schemas.openxmlformats.org/officeDocument/2006/relationships/hyperlink" Target="https://vihaan-ai.atlassian.net/browse/MC-1654" TargetMode="External"/><Relationship Id="rId7" Type="http://schemas.openxmlformats.org/officeDocument/2006/relationships/hyperlink" Target="https://vihaan-ai.atlassian.net/browse/MC-2419" TargetMode="External"/><Relationship Id="rId2" Type="http://schemas.openxmlformats.org/officeDocument/2006/relationships/notesSlide" Target="../notesSlides/notesSlide53.xml"/><Relationship Id="rId1" Type="http://schemas.openxmlformats.org/officeDocument/2006/relationships/slideLayout" Target="../slideLayouts/slideLayout13.xml"/><Relationship Id="rId6" Type="http://schemas.openxmlformats.org/officeDocument/2006/relationships/hyperlink" Target="https://vihaan-ai.atlassian.net/browse/MC-2024" TargetMode="External"/><Relationship Id="rId5" Type="http://schemas.openxmlformats.org/officeDocument/2006/relationships/hyperlink" Target="https://vihaan-ai.atlassian.net/browse/MC-2421" TargetMode="External"/><Relationship Id="rId4" Type="http://schemas.openxmlformats.org/officeDocument/2006/relationships/hyperlink" Target="https://vihaan-ai.atlassian.net/browse/MC-1107" TargetMode="External"/><Relationship Id="rId9" Type="http://schemas.openxmlformats.org/officeDocument/2006/relationships/image" Target="../media/image11.png"/></Relationships>
</file>

<file path=ppt/slides/_rels/slide83.xml.rels><?xml version="1.0" encoding="UTF-8" standalone="yes"?>
<Relationships xmlns="http://schemas.openxmlformats.org/package/2006/relationships"><Relationship Id="rId8" Type="http://schemas.openxmlformats.org/officeDocument/2006/relationships/hyperlink" Target="https://vihaan-ai.atlassian.net/browse/MC-2379" TargetMode="External"/><Relationship Id="rId3" Type="http://schemas.openxmlformats.org/officeDocument/2006/relationships/hyperlink" Target="https://vihaan-ai.atlassian.net/browse/MC-204" TargetMode="External"/><Relationship Id="rId7" Type="http://schemas.openxmlformats.org/officeDocument/2006/relationships/hyperlink" Target="https://vihaan-ai.atlassian.net/browse/MC-2433" TargetMode="External"/><Relationship Id="rId2" Type="http://schemas.openxmlformats.org/officeDocument/2006/relationships/notesSlide" Target="../notesSlides/notesSlide54.xml"/><Relationship Id="rId1" Type="http://schemas.openxmlformats.org/officeDocument/2006/relationships/slideLayout" Target="../slideLayouts/slideLayout13.xml"/><Relationship Id="rId6" Type="http://schemas.openxmlformats.org/officeDocument/2006/relationships/hyperlink" Target="https://vihaan-ai.atlassian.net/browse/MC-1806" TargetMode="External"/><Relationship Id="rId5" Type="http://schemas.openxmlformats.org/officeDocument/2006/relationships/hyperlink" Target="https://vihaan-ai.atlassian.net/browse/MC-811" TargetMode="External"/><Relationship Id="rId4" Type="http://schemas.openxmlformats.org/officeDocument/2006/relationships/hyperlink" Target="https://vihaan-ai.atlassian.net/browse/MC-1634" TargetMode="External"/><Relationship Id="rId9" Type="http://schemas.openxmlformats.org/officeDocument/2006/relationships/image" Target="../media/image11.png"/></Relationships>
</file>

<file path=ppt/slides/_rels/slide84.xml.rels><?xml version="1.0" encoding="UTF-8" standalone="yes"?>
<Relationships xmlns="http://schemas.openxmlformats.org/package/2006/relationships"><Relationship Id="rId8" Type="http://schemas.openxmlformats.org/officeDocument/2006/relationships/hyperlink" Target="https://vihaan-ai.atlassian.net/browse/MC-2440" TargetMode="External"/><Relationship Id="rId3" Type="http://schemas.openxmlformats.org/officeDocument/2006/relationships/hyperlink" Target="https://vihaan-ai.atlassian.net/browse/MC-1635" TargetMode="External"/><Relationship Id="rId7" Type="http://schemas.openxmlformats.org/officeDocument/2006/relationships/hyperlink" Target="https://vihaan-ai.atlassian.net/browse/MC-2438" TargetMode="External"/><Relationship Id="rId2" Type="http://schemas.openxmlformats.org/officeDocument/2006/relationships/notesSlide" Target="../notesSlides/notesSlide55.xml"/><Relationship Id="rId1" Type="http://schemas.openxmlformats.org/officeDocument/2006/relationships/slideLayout" Target="../slideLayouts/slideLayout13.xml"/><Relationship Id="rId6" Type="http://schemas.openxmlformats.org/officeDocument/2006/relationships/hyperlink" Target="https://vihaan-ai.atlassian.net/browse/MC-2436" TargetMode="External"/><Relationship Id="rId5" Type="http://schemas.openxmlformats.org/officeDocument/2006/relationships/hyperlink" Target="https://vihaan-ai.atlassian.net/browse/MC-2441" TargetMode="External"/><Relationship Id="rId4" Type="http://schemas.openxmlformats.org/officeDocument/2006/relationships/hyperlink" Target="https://vihaan-ai.atlassian.net/browse/MC-2435" TargetMode="External"/><Relationship Id="rId9" Type="http://schemas.openxmlformats.org/officeDocument/2006/relationships/image" Target="../media/image11.png"/></Relationships>
</file>

<file path=ppt/slides/_rels/slide85.xml.rels><?xml version="1.0" encoding="UTF-8" standalone="yes"?>
<Relationships xmlns="http://schemas.openxmlformats.org/package/2006/relationships"><Relationship Id="rId3" Type="http://schemas.openxmlformats.org/officeDocument/2006/relationships/hyperlink" Target="https://vihaan-ai.atlassian.net/browse/PLT-3783" TargetMode="External"/><Relationship Id="rId2" Type="http://schemas.openxmlformats.org/officeDocument/2006/relationships/notesSlide" Target="../notesSlides/notesSlide56.xml"/><Relationship Id="rId1" Type="http://schemas.openxmlformats.org/officeDocument/2006/relationships/slideLayout" Target="../slideLayouts/slideLayout13.xml"/><Relationship Id="rId5" Type="http://schemas.openxmlformats.org/officeDocument/2006/relationships/image" Target="../media/image11.png"/><Relationship Id="rId4" Type="http://schemas.openxmlformats.org/officeDocument/2006/relationships/hyperlink" Target="https://vihaan-ai.atlassian.net/browse/PLT-3568" TargetMode="External"/></Relationships>
</file>

<file path=ppt/slides/_rels/slide86.xml.rels><?xml version="1.0" encoding="UTF-8" standalone="yes"?>
<Relationships xmlns="http://schemas.openxmlformats.org/package/2006/relationships"><Relationship Id="rId3" Type="http://schemas.openxmlformats.org/officeDocument/2006/relationships/hyperlink" Target="https://vihaan-ai.atlassian.net/browse/PLT-3924" TargetMode="External"/><Relationship Id="rId2" Type="http://schemas.openxmlformats.org/officeDocument/2006/relationships/notesSlide" Target="../notesSlides/notesSlide57.xml"/><Relationship Id="rId1" Type="http://schemas.openxmlformats.org/officeDocument/2006/relationships/slideLayout" Target="../slideLayouts/slideLayout13.xml"/><Relationship Id="rId6" Type="http://schemas.openxmlformats.org/officeDocument/2006/relationships/image" Target="../media/image11.png"/><Relationship Id="rId5" Type="http://schemas.openxmlformats.org/officeDocument/2006/relationships/hyperlink" Target="https://vihaan-ai.atlassian.net/browse/PLT-3604" TargetMode="External"/><Relationship Id="rId4" Type="http://schemas.openxmlformats.org/officeDocument/2006/relationships/hyperlink" Target="https://vihaan-ai.atlassian.net/browse/PLT-4034" TargetMode="External"/></Relationships>
</file>

<file path=ppt/slides/_rels/slide87.xml.rels><?xml version="1.0" encoding="UTF-8" standalone="yes"?>
<Relationships xmlns="http://schemas.openxmlformats.org/package/2006/relationships"><Relationship Id="rId3" Type="http://schemas.openxmlformats.org/officeDocument/2006/relationships/hyperlink" Target="https://vihaan-ai.atlassian.net/browse/PLT-3948" TargetMode="External"/><Relationship Id="rId2" Type="http://schemas.openxmlformats.org/officeDocument/2006/relationships/notesSlide" Target="../notesSlides/notesSlide58.xml"/><Relationship Id="rId1" Type="http://schemas.openxmlformats.org/officeDocument/2006/relationships/slideLayout" Target="../slideLayouts/slideLayout13.xml"/><Relationship Id="rId5" Type="http://schemas.openxmlformats.org/officeDocument/2006/relationships/image" Target="../media/image11.png"/><Relationship Id="rId4" Type="http://schemas.openxmlformats.org/officeDocument/2006/relationships/hyperlink" Target="https://vihaan-ai.atlassian.net/browse/PLT-4029" TargetMode="Externa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0.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0.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0.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0.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0.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0.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0.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0.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0.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0.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0.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0.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0.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0.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0.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0.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0.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0.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0.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0.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0.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10.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10.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094815C-32A6-A0BF-0C2C-9167C897ED3C}"/>
              </a:ext>
            </a:extLst>
          </p:cNvPr>
          <p:cNvSpPr>
            <a:spLocks noGrp="1"/>
          </p:cNvSpPr>
          <p:nvPr>
            <p:ph type="ctrTitle"/>
          </p:nvPr>
        </p:nvSpPr>
        <p:spPr>
          <a:xfrm>
            <a:off x="5205351" y="1371600"/>
            <a:ext cx="6384966" cy="2420399"/>
          </a:xfrm>
        </p:spPr>
        <p:txBody>
          <a:bodyPr>
            <a:normAutofit/>
          </a:bodyPr>
          <a:lstStyle/>
          <a:p>
            <a:r>
              <a:rPr lang="en-US" sz="4800">
                <a:latin typeface="AirIndia"/>
              </a:rPr>
              <a:t>FY27-Q1, Q2, Q3 &amp; Q4  Plans</a:t>
            </a:r>
            <a:endParaRPr lang="en-US" sz="4800"/>
          </a:p>
        </p:txBody>
      </p:sp>
      <p:sp>
        <p:nvSpPr>
          <p:cNvPr id="7" name="Subtitle 6">
            <a:extLst>
              <a:ext uri="{FF2B5EF4-FFF2-40B4-BE49-F238E27FC236}">
                <a16:creationId xmlns:a16="http://schemas.microsoft.com/office/drawing/2014/main" id="{999B9E5B-895F-3F5C-C87D-B472648C2710}"/>
              </a:ext>
            </a:extLst>
          </p:cNvPr>
          <p:cNvSpPr>
            <a:spLocks noGrp="1"/>
          </p:cNvSpPr>
          <p:nvPr>
            <p:ph type="subTitle" idx="1"/>
          </p:nvPr>
        </p:nvSpPr>
        <p:spPr>
          <a:xfrm>
            <a:off x="5205350" y="3810000"/>
            <a:ext cx="6384966" cy="1350818"/>
          </a:xfrm>
        </p:spPr>
        <p:txBody>
          <a:bodyPr vert="horz" lIns="91440" tIns="45720" rIns="91440" bIns="45720" rtlCol="0" anchor="t">
            <a:normAutofit/>
          </a:bodyPr>
          <a:lstStyle/>
          <a:p>
            <a:r>
              <a:rPr lang="en-US">
                <a:latin typeface="Nunito Sans"/>
              </a:rPr>
              <a:t>Enterprise Tech</a:t>
            </a:r>
          </a:p>
        </p:txBody>
      </p:sp>
      <p:grpSp>
        <p:nvGrpSpPr>
          <p:cNvPr id="11" name="Group 10">
            <a:extLst>
              <a:ext uri="{FF2B5EF4-FFF2-40B4-BE49-F238E27FC236}">
                <a16:creationId xmlns:a16="http://schemas.microsoft.com/office/drawing/2014/main" id="{BD677359-C9C1-D5E6-1F9E-C23D3A27800C}"/>
              </a:ext>
            </a:extLst>
          </p:cNvPr>
          <p:cNvGrpSpPr/>
          <p:nvPr/>
        </p:nvGrpSpPr>
        <p:grpSpPr>
          <a:xfrm>
            <a:off x="-685800" y="0"/>
            <a:ext cx="533400" cy="4014737"/>
            <a:chOff x="-685800" y="0"/>
            <a:chExt cx="533400" cy="4014737"/>
          </a:xfrm>
        </p:grpSpPr>
        <p:sp>
          <p:nvSpPr>
            <p:cNvPr id="2" name="Rectangle 1">
              <a:extLst>
                <a:ext uri="{FF2B5EF4-FFF2-40B4-BE49-F238E27FC236}">
                  <a16:creationId xmlns:a16="http://schemas.microsoft.com/office/drawing/2014/main" id="{3E0D5341-9538-7647-4008-AFF6A4928B72}"/>
                </a:ext>
              </a:extLst>
            </p:cNvPr>
            <p:cNvSpPr/>
            <p:nvPr/>
          </p:nvSpPr>
          <p:spPr>
            <a:xfrm>
              <a:off x="-685800" y="0"/>
              <a:ext cx="533400" cy="533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3" name="Rectangle 2">
              <a:extLst>
                <a:ext uri="{FF2B5EF4-FFF2-40B4-BE49-F238E27FC236}">
                  <a16:creationId xmlns:a16="http://schemas.microsoft.com/office/drawing/2014/main" id="{D816B34D-664B-D388-F725-54524DB66A57}"/>
                </a:ext>
              </a:extLst>
            </p:cNvPr>
            <p:cNvSpPr/>
            <p:nvPr/>
          </p:nvSpPr>
          <p:spPr>
            <a:xfrm>
              <a:off x="-685800" y="580223"/>
              <a:ext cx="533400" cy="533400"/>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4" name="Rectangle 3">
              <a:extLst>
                <a:ext uri="{FF2B5EF4-FFF2-40B4-BE49-F238E27FC236}">
                  <a16:creationId xmlns:a16="http://schemas.microsoft.com/office/drawing/2014/main" id="{8E2B92FE-8920-F41F-5C21-7B598A01B847}"/>
                </a:ext>
              </a:extLst>
            </p:cNvPr>
            <p:cNvSpPr/>
            <p:nvPr/>
          </p:nvSpPr>
          <p:spPr>
            <a:xfrm>
              <a:off x="-685800" y="1160446"/>
              <a:ext cx="533400" cy="533400"/>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5" name="Rectangle 4">
              <a:extLst>
                <a:ext uri="{FF2B5EF4-FFF2-40B4-BE49-F238E27FC236}">
                  <a16:creationId xmlns:a16="http://schemas.microsoft.com/office/drawing/2014/main" id="{001F3D7B-9E16-EB02-32C7-5D901CBB0B6C}"/>
                </a:ext>
              </a:extLst>
            </p:cNvPr>
            <p:cNvSpPr/>
            <p:nvPr/>
          </p:nvSpPr>
          <p:spPr>
            <a:xfrm>
              <a:off x="-685800" y="2320892"/>
              <a:ext cx="533400" cy="53340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8" name="Rectangle 7">
              <a:extLst>
                <a:ext uri="{FF2B5EF4-FFF2-40B4-BE49-F238E27FC236}">
                  <a16:creationId xmlns:a16="http://schemas.microsoft.com/office/drawing/2014/main" id="{6776AB42-88E3-FE66-65B1-00FB6D33F4F2}"/>
                </a:ext>
              </a:extLst>
            </p:cNvPr>
            <p:cNvSpPr/>
            <p:nvPr/>
          </p:nvSpPr>
          <p:spPr>
            <a:xfrm>
              <a:off x="-685800" y="2901115"/>
              <a:ext cx="533400" cy="533400"/>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9" name="Rectangle 8">
              <a:extLst>
                <a:ext uri="{FF2B5EF4-FFF2-40B4-BE49-F238E27FC236}">
                  <a16:creationId xmlns:a16="http://schemas.microsoft.com/office/drawing/2014/main" id="{9B4FBB17-1C26-FE71-6E90-07D0903A24CB}"/>
                </a:ext>
              </a:extLst>
            </p:cNvPr>
            <p:cNvSpPr/>
            <p:nvPr/>
          </p:nvSpPr>
          <p:spPr>
            <a:xfrm>
              <a:off x="-685800" y="3481337"/>
              <a:ext cx="533400" cy="533400"/>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10" name="Rectangle 9">
              <a:extLst>
                <a:ext uri="{FF2B5EF4-FFF2-40B4-BE49-F238E27FC236}">
                  <a16:creationId xmlns:a16="http://schemas.microsoft.com/office/drawing/2014/main" id="{9612D772-FAE2-54B9-8C08-7C7B5E11F50F}"/>
                </a:ext>
              </a:extLst>
            </p:cNvPr>
            <p:cNvSpPr/>
            <p:nvPr/>
          </p:nvSpPr>
          <p:spPr>
            <a:xfrm>
              <a:off x="-685800" y="1740669"/>
              <a:ext cx="533400" cy="533400"/>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Nunito Sans"/>
                <a:ea typeface="+mn-ea"/>
                <a:cs typeface="+mn-cs"/>
              </a:endParaRPr>
            </a:p>
          </p:txBody>
        </p:sp>
      </p:grpSp>
    </p:spTree>
    <p:extLst>
      <p:ext uri="{BB962C8B-B14F-4D97-AF65-F5344CB8AC3E}">
        <p14:creationId xmlns:p14="http://schemas.microsoft.com/office/powerpoint/2010/main" val="19480337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128419-F80B-90C7-8B98-0D372B3AFD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5F9BF1-E2F8-CF87-B2CC-3234A663BCFD}"/>
              </a:ext>
            </a:extLst>
          </p:cNvPr>
          <p:cNvSpPr>
            <a:spLocks noGrp="1"/>
          </p:cNvSpPr>
          <p:nvPr>
            <p:ph type="title"/>
          </p:nvPr>
        </p:nvSpPr>
        <p:spPr>
          <a:xfrm>
            <a:off x="1919417" y="920381"/>
            <a:ext cx="10176225" cy="895041"/>
          </a:xfrm>
        </p:spPr>
        <p:txBody>
          <a:bodyPr/>
          <a:lstStyle/>
          <a:p>
            <a:r>
              <a:rPr lang="en-US" sz="3600">
                <a:latin typeface="AirIndia"/>
              </a:rPr>
              <a:t>Business Systems – FY26-27/Q1, Q2</a:t>
            </a:r>
            <a:endParaRPr lang="en-IN" sz="3600">
              <a:latin typeface="AirIndia"/>
            </a:endParaRPr>
          </a:p>
        </p:txBody>
      </p:sp>
    </p:spTree>
    <p:extLst>
      <p:ext uri="{BB962C8B-B14F-4D97-AF65-F5344CB8AC3E}">
        <p14:creationId xmlns:p14="http://schemas.microsoft.com/office/powerpoint/2010/main" val="9270540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71C443-F22A-FC79-DB44-5299C8ABC3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340D34-0B59-08BE-8D92-A990F69AC183}"/>
              </a:ext>
            </a:extLst>
          </p:cNvPr>
          <p:cNvSpPr>
            <a:spLocks noGrp="1"/>
          </p:cNvSpPr>
          <p:nvPr>
            <p:ph type="title"/>
          </p:nvPr>
        </p:nvSpPr>
        <p:spPr>
          <a:xfrm>
            <a:off x="1919417" y="920381"/>
            <a:ext cx="10176225" cy="895041"/>
          </a:xfrm>
        </p:spPr>
        <p:txBody>
          <a:bodyPr/>
          <a:lstStyle/>
          <a:p>
            <a:r>
              <a:rPr lang="en-US" sz="3600">
                <a:latin typeface="AirIndia"/>
              </a:rPr>
              <a:t>Corporate Systems – FY26-27/Q1</a:t>
            </a:r>
            <a:endParaRPr lang="en-IN" sz="3600">
              <a:latin typeface="AirIndia"/>
            </a:endParaRPr>
          </a:p>
        </p:txBody>
      </p:sp>
    </p:spTree>
    <p:extLst>
      <p:ext uri="{BB962C8B-B14F-4D97-AF65-F5344CB8AC3E}">
        <p14:creationId xmlns:p14="http://schemas.microsoft.com/office/powerpoint/2010/main" val="32479771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CF895B2-6371-CBEE-D467-3165C1F818A2}"/>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3A41A254-7326-714E-AF55-4C213D6394DE}" type="slidenum">
              <a:rPr kumimoji="0" lang="en-US" sz="1200" b="0" i="0" u="none" strike="noStrike" kern="1200" cap="none" spc="0" normalizeH="0" baseline="0" noProof="0" smtClean="0">
                <a:ln>
                  <a:noFill/>
                </a:ln>
                <a:solidFill>
                  <a:srgbClr val="DA0E28"/>
                </a:solidFill>
                <a:effectLst/>
                <a:uLnTx/>
                <a:uFillTx/>
                <a:latin typeface="Nunito Sans"/>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srgbClr val="DA0E28"/>
              </a:solidFill>
              <a:effectLst/>
              <a:uLnTx/>
              <a:uFillTx/>
              <a:latin typeface="Nunito Sans"/>
              <a:ea typeface="+mn-ea"/>
              <a:cs typeface="+mn-cs"/>
            </a:endParaRPr>
          </a:p>
        </p:txBody>
      </p:sp>
      <p:sp>
        <p:nvSpPr>
          <p:cNvPr id="3" name="Rectangle 2">
            <a:extLst>
              <a:ext uri="{FF2B5EF4-FFF2-40B4-BE49-F238E27FC236}">
                <a16:creationId xmlns:a16="http://schemas.microsoft.com/office/drawing/2014/main" id="{33C64436-1CCC-E917-B868-7433769E6628}"/>
              </a:ext>
            </a:extLst>
          </p:cNvPr>
          <p:cNvSpPr/>
          <p:nvPr/>
        </p:nvSpPr>
        <p:spPr>
          <a:xfrm>
            <a:off x="118192" y="610471"/>
            <a:ext cx="1290174" cy="42234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defRPr/>
            </a:pPr>
            <a:r>
              <a:rPr lang="en-IN" sz="1400" b="1">
                <a:solidFill>
                  <a:srgbClr val="FFFFFF"/>
                </a:solidFill>
                <a:latin typeface="AirIndia"/>
                <a:ea typeface="+mn-lt"/>
                <a:cs typeface="+mn-lt"/>
              </a:rPr>
              <a:t>24th April</a:t>
            </a:r>
            <a:r>
              <a:rPr kumimoji="0" lang="en-IN" sz="1400" b="1" i="0" u="none" strike="noStrike" kern="1200" cap="none" spc="0" normalizeH="0" baseline="0" noProof="0">
                <a:ln>
                  <a:noFill/>
                </a:ln>
                <a:solidFill>
                  <a:srgbClr val="FFFFFF"/>
                </a:solidFill>
                <a:effectLst/>
                <a:uLnTx/>
                <a:uFillTx/>
                <a:latin typeface="AirIndia"/>
                <a:ea typeface="+mn-ea"/>
                <a:cs typeface="+mn-cs"/>
              </a:rPr>
              <a:t> ‘</a:t>
            </a:r>
            <a:r>
              <a:rPr lang="en-IN" sz="1400" b="1">
                <a:solidFill>
                  <a:srgbClr val="FFFFFF"/>
                </a:solidFill>
                <a:latin typeface="AirIndia"/>
              </a:rPr>
              <a:t>26</a:t>
            </a:r>
            <a:endParaRPr lang="en-US" sz="1400" b="1" i="0" u="none" strike="noStrike" kern="1200" cap="none" spc="0" normalizeH="0" baseline="0" noProof="0">
              <a:ln>
                <a:noFill/>
              </a:ln>
              <a:solidFill>
                <a:srgbClr val="FFFFFF"/>
              </a:solidFill>
              <a:effectLst/>
              <a:uLnTx/>
              <a:uFillTx/>
              <a:latin typeface="AirIndia"/>
            </a:endParaRPr>
          </a:p>
        </p:txBody>
      </p:sp>
      <p:sp>
        <p:nvSpPr>
          <p:cNvPr id="6" name="Title 11">
            <a:extLst>
              <a:ext uri="{FF2B5EF4-FFF2-40B4-BE49-F238E27FC236}">
                <a16:creationId xmlns:a16="http://schemas.microsoft.com/office/drawing/2014/main" id="{0A7D5819-7592-1902-0E92-EAA0A2D86D94}"/>
              </a:ext>
            </a:extLst>
          </p:cNvPr>
          <p:cNvSpPr txBox="1">
            <a:spLocks/>
          </p:cNvSpPr>
          <p:nvPr/>
        </p:nvSpPr>
        <p:spPr>
          <a:xfrm>
            <a:off x="242857" y="182023"/>
            <a:ext cx="7691717" cy="430255"/>
          </a:xfrm>
          <a:prstGeom prst="rect">
            <a:avLst/>
          </a:prstGeom>
        </p:spPr>
        <p:txBody>
          <a:bodyPr lIns="91440" tIns="45720" rIns="91440" bIns="45720" anchor="t">
            <a:noAutofit/>
          </a:bodyPr>
          <a:lstStyle>
            <a:lvl1pPr algn="l" defTabSz="914400" rtl="0" eaLnBrk="1" latinLnBrk="0" hangingPunct="1">
              <a:lnSpc>
                <a:spcPct val="90000"/>
              </a:lnSpc>
              <a:spcBef>
                <a:spcPct val="0"/>
              </a:spcBef>
              <a:buNone/>
              <a:defRPr sz="4400" b="1" i="0" kern="1200">
                <a:solidFill>
                  <a:schemeClr val="tx1"/>
                </a:solidFill>
                <a:latin typeface="AirIndia" pitchFamily="82" charset="77"/>
                <a:ea typeface="+mj-ea"/>
                <a:cs typeface="+mj-cs"/>
              </a:defRPr>
            </a:lvl1pPr>
          </a:lstStyle>
          <a:p>
            <a:pPr>
              <a:defRPr/>
            </a:pPr>
            <a:r>
              <a:rPr lang="en-US" sz="1800">
                <a:solidFill>
                  <a:srgbClr val="DA0E28"/>
                </a:solidFill>
                <a:latin typeface="AirIndia"/>
              </a:rPr>
              <a:t>Corporate Systems </a:t>
            </a:r>
            <a:r>
              <a:rPr kumimoji="0" lang="en-US" sz="1800" b="1" i="0" u="none" strike="noStrike" kern="1200" cap="none" spc="0" normalizeH="0" baseline="0" noProof="0">
                <a:ln>
                  <a:noFill/>
                </a:ln>
                <a:solidFill>
                  <a:srgbClr val="DA0E28"/>
                </a:solidFill>
                <a:effectLst/>
                <a:uLnTx/>
                <a:uFillTx/>
                <a:latin typeface="AirIndia"/>
                <a:ea typeface="+mj-ea"/>
                <a:cs typeface="+mj-cs"/>
              </a:rPr>
              <a:t>- </a:t>
            </a:r>
            <a:r>
              <a:rPr lang="en-US" sz="1800">
                <a:solidFill>
                  <a:srgbClr val="DA0E28"/>
                </a:solidFill>
                <a:latin typeface="AirIndia"/>
              </a:rPr>
              <a:t>FY26-27</a:t>
            </a:r>
            <a:r>
              <a:rPr kumimoji="0" lang="en-US" sz="1800" b="1" i="0" u="none" strike="noStrike" kern="1200" cap="none" spc="0" normalizeH="0" baseline="0" noProof="0">
                <a:ln>
                  <a:noFill/>
                </a:ln>
                <a:solidFill>
                  <a:srgbClr val="DA0E28"/>
                </a:solidFill>
                <a:effectLst/>
                <a:uLnTx/>
                <a:uFillTx/>
                <a:latin typeface="AirIndia"/>
                <a:ea typeface="+mj-ea"/>
                <a:cs typeface="+mj-cs"/>
              </a:rPr>
              <a:t> Q1  Release Plan</a:t>
            </a:r>
            <a:r>
              <a:rPr lang="en-US" sz="1800">
                <a:solidFill>
                  <a:srgbClr val="DA0E28"/>
                </a:solidFill>
                <a:latin typeface="AirIndia"/>
              </a:rPr>
              <a:t> (HR Tech)</a:t>
            </a:r>
            <a:endParaRPr lang="en-US" sz="1800" b="0" i="0" u="none" strike="noStrike" kern="1200" cap="none" spc="0" normalizeH="0" baseline="0" noProof="0">
              <a:ln>
                <a:noFill/>
              </a:ln>
              <a:solidFill>
                <a:srgbClr val="DA0E28"/>
              </a:solidFill>
              <a:effectLst/>
              <a:uLnTx/>
              <a:uFillTx/>
              <a:latin typeface="AirIndia"/>
            </a:endParaRPr>
          </a:p>
        </p:txBody>
      </p:sp>
      <p:graphicFrame>
        <p:nvGraphicFramePr>
          <p:cNvPr id="12" name="Table 11">
            <a:extLst>
              <a:ext uri="{FF2B5EF4-FFF2-40B4-BE49-F238E27FC236}">
                <a16:creationId xmlns:a16="http://schemas.microsoft.com/office/drawing/2014/main" id="{F6168131-DF40-0579-4805-99ACF6DAC1EC}"/>
              </a:ext>
            </a:extLst>
          </p:cNvPr>
          <p:cNvGraphicFramePr>
            <a:graphicFrameLocks noGrp="1"/>
          </p:cNvGraphicFramePr>
          <p:nvPr>
            <p:extLst>
              <p:ext uri="{D42A27DB-BD31-4B8C-83A1-F6EECF244321}">
                <p14:modId xmlns:p14="http://schemas.microsoft.com/office/powerpoint/2010/main" val="2783495558"/>
              </p:ext>
            </p:extLst>
          </p:nvPr>
        </p:nvGraphicFramePr>
        <p:xfrm>
          <a:off x="1251008" y="588627"/>
          <a:ext cx="9874192" cy="3643534"/>
        </p:xfrm>
        <a:graphic>
          <a:graphicData uri="http://schemas.openxmlformats.org/drawingml/2006/table">
            <a:tbl>
              <a:tblPr firstRow="1" bandRow="1">
                <a:tableStyleId>{5C22544A-7EE6-4342-B048-85BDC9FD1C3A}</a:tableStyleId>
              </a:tblPr>
              <a:tblGrid>
                <a:gridCol w="2957353">
                  <a:extLst>
                    <a:ext uri="{9D8B030D-6E8A-4147-A177-3AD203B41FA5}">
                      <a16:colId xmlns:a16="http://schemas.microsoft.com/office/drawing/2014/main" val="2822350773"/>
                    </a:ext>
                  </a:extLst>
                </a:gridCol>
                <a:gridCol w="3482250">
                  <a:extLst>
                    <a:ext uri="{9D8B030D-6E8A-4147-A177-3AD203B41FA5}">
                      <a16:colId xmlns:a16="http://schemas.microsoft.com/office/drawing/2014/main" val="2318469327"/>
                    </a:ext>
                  </a:extLst>
                </a:gridCol>
                <a:gridCol w="3434589">
                  <a:extLst>
                    <a:ext uri="{9D8B030D-6E8A-4147-A177-3AD203B41FA5}">
                      <a16:colId xmlns:a16="http://schemas.microsoft.com/office/drawing/2014/main" val="99588705"/>
                    </a:ext>
                  </a:extLst>
                </a:gridCol>
              </a:tblGrid>
              <a:tr h="469103">
                <a:tc>
                  <a:txBody>
                    <a:bodyPr/>
                    <a:lstStyle/>
                    <a:p>
                      <a:pPr marL="0" lvl="0" indent="0" algn="ctr" defTabSz="914400" rtl="0" eaLnBrk="1" latinLnBrk="0" hangingPunct="1">
                        <a:lnSpc>
                          <a:spcPct val="100000"/>
                        </a:lnSpc>
                        <a:buFont typeface="Arial" panose="020B0604020202020204" pitchFamily="34" charset="0"/>
                        <a:buNone/>
                      </a:pPr>
                      <a:r>
                        <a:rPr lang="en-IN" sz="1100" b="1" kern="1200">
                          <a:solidFill>
                            <a:schemeClr val="bg1"/>
                          </a:solidFill>
                          <a:latin typeface="+mn-lt"/>
                          <a:ea typeface="+mn-ea"/>
                          <a:cs typeface="+mn-cs"/>
                        </a:rPr>
                        <a:t>Initiatives</a:t>
                      </a:r>
                      <a:endParaRPr lang="en-US" sz="1100" b="1"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tc>
                  <a:txBody>
                    <a:bodyPr/>
                    <a:lstStyle/>
                    <a:p>
                      <a:pPr marL="0" lvl="0" indent="0" algn="ctr" defTabSz="914400">
                        <a:lnSpc>
                          <a:spcPct val="100000"/>
                        </a:lnSpc>
                        <a:buNone/>
                      </a:pPr>
                      <a:r>
                        <a:rPr lang="en-IN" sz="1100" b="1" i="0" u="none" strike="noStrike" kern="1200" noProof="0">
                          <a:solidFill>
                            <a:schemeClr val="bg1"/>
                          </a:solidFill>
                          <a:latin typeface="Nunito Sans"/>
                          <a:ea typeface="+mn-ea"/>
                          <a:cs typeface="+mn-cs"/>
                        </a:rPr>
                        <a:t>Programs/Projects</a:t>
                      </a:r>
                      <a:endParaRPr lang="en-US"/>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solidFill>
                      <a:schemeClr val="accent3">
                        <a:lumMod val="90000"/>
                        <a:lumOff val="10000"/>
                      </a:schemeClr>
                    </a:solidFill>
                  </a:tcPr>
                </a:tc>
                <a:tc>
                  <a:txBody>
                    <a:bodyPr/>
                    <a:lstStyle/>
                    <a:p>
                      <a:pPr marL="0" lvl="0" indent="0" algn="ctr">
                        <a:lnSpc>
                          <a:spcPct val="100000"/>
                        </a:lnSpc>
                        <a:buNone/>
                      </a:pPr>
                      <a:endParaRPr lang="en-IN" sz="1100" b="1" i="0" u="none" strike="noStrike" kern="1200" baseline="0" noProof="0">
                        <a:solidFill>
                          <a:srgbClr val="FFFFFF"/>
                        </a:solidFill>
                        <a:latin typeface="Nunito Sans"/>
                      </a:endParaRPr>
                    </a:p>
                    <a:p>
                      <a:pPr marL="0" lvl="0" indent="0" algn="ctr">
                        <a:lnSpc>
                          <a:spcPct val="100000"/>
                        </a:lnSpc>
                        <a:buNone/>
                      </a:pPr>
                      <a:r>
                        <a:rPr lang="en-IN" sz="1100" b="1" i="0" u="none" strike="noStrike" kern="1200" baseline="0" noProof="0">
                          <a:solidFill>
                            <a:srgbClr val="FFFFFF"/>
                          </a:solidFill>
                          <a:latin typeface="Nunito Sans"/>
                        </a:rPr>
                        <a:t>Value Justification/Realization</a:t>
                      </a:r>
                    </a:p>
                    <a:p>
                      <a:pPr marL="0" lvl="0" indent="0" algn="ctr" defTabSz="914400">
                        <a:buFont typeface="Arial" panose="020B0604020202020204" pitchFamily="34" charset="0"/>
                        <a:buNone/>
                      </a:pPr>
                      <a:endParaRPr lang="en-IN" sz="1100"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extLst>
                  <a:ext uri="{0D108BD9-81ED-4DB2-BD59-A6C34878D82A}">
                    <a16:rowId xmlns:a16="http://schemas.microsoft.com/office/drawing/2014/main" val="844450115"/>
                  </a:ext>
                </a:extLst>
              </a:tr>
              <a:tr h="3049174">
                <a:tc>
                  <a:txBody>
                    <a:bodyPr/>
                    <a:lstStyle/>
                    <a:p>
                      <a:pPr marL="228600" lvl="0" indent="-228600" algn="l">
                        <a:lnSpc>
                          <a:spcPct val="100000"/>
                        </a:lnSpc>
                        <a:spcBef>
                          <a:spcPts val="0"/>
                        </a:spcBef>
                        <a:spcAft>
                          <a:spcPts val="0"/>
                        </a:spcAft>
                        <a:buAutoNum type="arabicPeriod"/>
                      </a:pPr>
                      <a:endParaRPr lang="en-US" sz="1200" b="1" i="0" u="none" strike="noStrike" kern="1200" noProof="0">
                        <a:solidFill>
                          <a:srgbClr val="00B050"/>
                        </a:solidFill>
                        <a:latin typeface="Nunito Sans"/>
                      </a:endParaRPr>
                    </a:p>
                    <a:p>
                      <a:pPr marL="228600" lvl="0" indent="-228600" algn="l">
                        <a:lnSpc>
                          <a:spcPct val="100000"/>
                        </a:lnSpc>
                        <a:spcBef>
                          <a:spcPts val="0"/>
                        </a:spcBef>
                        <a:spcAft>
                          <a:spcPts val="0"/>
                        </a:spcAft>
                        <a:buAutoNum type="arabicPeriod"/>
                      </a:pPr>
                      <a:r>
                        <a:rPr lang="en-US" sz="1200" b="1" i="0" u="none" strike="noStrike" kern="1200" noProof="0">
                          <a:solidFill>
                            <a:srgbClr val="0070C0"/>
                          </a:solidFill>
                          <a:latin typeface="Nunito Sans"/>
                        </a:rPr>
                        <a:t>Compensation Planning &amp; Increment Letter + Bonus Letter Generation FY 26 Phase 1</a:t>
                      </a:r>
                    </a:p>
                    <a:p>
                      <a:pPr marL="228600" lvl="0" indent="-228600" algn="l">
                        <a:lnSpc>
                          <a:spcPct val="100000"/>
                        </a:lnSpc>
                        <a:spcBef>
                          <a:spcPts val="0"/>
                        </a:spcBef>
                        <a:spcAft>
                          <a:spcPts val="0"/>
                        </a:spcAft>
                        <a:buAutoNum type="arabicPeriod"/>
                      </a:pPr>
                      <a:r>
                        <a:rPr lang="en-US" sz="1200" b="1" i="0" u="none" strike="noStrike" kern="1200" noProof="0">
                          <a:solidFill>
                            <a:srgbClr val="0070C0"/>
                          </a:solidFill>
                          <a:latin typeface="Nunito Sans"/>
                        </a:rPr>
                        <a:t>Workforce Analytics – Employee Snapshot Related Dashboard revamp</a:t>
                      </a:r>
                    </a:p>
                    <a:p>
                      <a:pPr marL="228600" lvl="0" indent="-228600" algn="l">
                        <a:lnSpc>
                          <a:spcPct val="100000"/>
                        </a:lnSpc>
                        <a:spcBef>
                          <a:spcPts val="0"/>
                        </a:spcBef>
                        <a:spcAft>
                          <a:spcPts val="0"/>
                        </a:spcAft>
                        <a:buAutoNum type="arabicPeriod"/>
                      </a:pPr>
                      <a:r>
                        <a:rPr lang="en-US" sz="1200" b="1" i="0" u="none" strike="noStrike" kern="1200" noProof="0">
                          <a:solidFill>
                            <a:srgbClr val="0070C0"/>
                          </a:solidFill>
                          <a:latin typeface="Nunito Sans"/>
                        </a:rPr>
                        <a:t>[Adhoc] Offer Letters Revamp Ph 1</a:t>
                      </a:r>
                    </a:p>
                    <a:p>
                      <a:pPr marL="228600" lvl="0" indent="-228600" algn="l">
                        <a:lnSpc>
                          <a:spcPct val="100000"/>
                        </a:lnSpc>
                        <a:spcBef>
                          <a:spcPts val="0"/>
                        </a:spcBef>
                        <a:spcAft>
                          <a:spcPts val="0"/>
                        </a:spcAft>
                        <a:buAutoNum type="arabicPeriod"/>
                      </a:pPr>
                      <a:r>
                        <a:rPr lang="en-US" sz="1200" b="1" i="0" u="none" strike="noStrike" kern="1200" noProof="0">
                          <a:solidFill>
                            <a:srgbClr val="0070C0"/>
                          </a:solidFill>
                          <a:latin typeface="Nunito Sans"/>
                        </a:rPr>
                        <a:t>Life ka Plan &amp; Azure SSO Integration</a:t>
                      </a:r>
                    </a:p>
                    <a:p>
                      <a:pPr marL="228600" lvl="0" indent="-228600" algn="l">
                        <a:lnSpc>
                          <a:spcPct val="100000"/>
                        </a:lnSpc>
                        <a:spcBef>
                          <a:spcPts val="0"/>
                        </a:spcBef>
                        <a:spcAft>
                          <a:spcPts val="0"/>
                        </a:spcAft>
                        <a:buAutoNum type="arabicPeriod"/>
                      </a:pPr>
                      <a:endParaRPr lang="en-US" sz="1200" b="1" i="0" u="none" strike="noStrike" kern="1200" noProof="0">
                        <a:solidFill>
                          <a:srgbClr val="00B050"/>
                        </a:solidFill>
                        <a:latin typeface="Nunito Sans"/>
                      </a:endParaRPr>
                    </a:p>
                    <a:p>
                      <a:pPr marL="228600" lvl="0" indent="-228600" algn="l">
                        <a:lnSpc>
                          <a:spcPct val="100000"/>
                        </a:lnSpc>
                        <a:spcBef>
                          <a:spcPts val="0"/>
                        </a:spcBef>
                        <a:spcAft>
                          <a:spcPts val="0"/>
                        </a:spcAft>
                        <a:buAutoNum type="arabicPeriod"/>
                      </a:pPr>
                      <a:endParaRPr lang="en-US" sz="1200" b="1" i="0" u="none" strike="noStrike" kern="1200" noProof="0">
                        <a:solidFill>
                          <a:srgbClr val="00B050"/>
                        </a:solidFill>
                        <a:latin typeface="Nunito Sans"/>
                      </a:endParaRPr>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tc>
                  <a:txBody>
                    <a:bodyPr/>
                    <a:lstStyle/>
                    <a:p>
                      <a:pPr marL="228600" lvl="0" indent="-228600" algn="l">
                        <a:lnSpc>
                          <a:spcPct val="100000"/>
                        </a:lnSpc>
                        <a:spcBef>
                          <a:spcPts val="0"/>
                        </a:spcBef>
                        <a:spcAft>
                          <a:spcPts val="0"/>
                        </a:spcAft>
                        <a:buAutoNum type="arabicPeriod"/>
                      </a:pPr>
                      <a:r>
                        <a:rPr lang="en-US" sz="1200" b="1" i="0" u="none" strike="noStrike" kern="1200" noProof="0">
                          <a:solidFill>
                            <a:srgbClr val="0070C0"/>
                          </a:solidFill>
                          <a:latin typeface="Nunito Sans"/>
                        </a:rPr>
                        <a:t>Compensation Planning Templates, Increment &amp; Bonus Letters Templates Implementation Ph 1</a:t>
                      </a:r>
                    </a:p>
                    <a:p>
                      <a:pPr marL="228600" lvl="0" indent="-228600" algn="l">
                        <a:lnSpc>
                          <a:spcPct val="100000"/>
                        </a:lnSpc>
                        <a:spcBef>
                          <a:spcPts val="0"/>
                        </a:spcBef>
                        <a:spcAft>
                          <a:spcPts val="0"/>
                        </a:spcAft>
                        <a:buClr>
                          <a:srgbClr val="000000"/>
                        </a:buClr>
                        <a:buAutoNum type="arabicPeriod"/>
                      </a:pPr>
                      <a:r>
                        <a:rPr lang="en-US" sz="1200" b="1" i="0" u="none" strike="noStrike" kern="1200" noProof="0">
                          <a:solidFill>
                            <a:srgbClr val="0070C0"/>
                          </a:solidFill>
                          <a:latin typeface="Nunito Sans"/>
                        </a:rPr>
                        <a:t>Workforce Analytics – Employee Snapshot Related Dashboard revamp</a:t>
                      </a:r>
                    </a:p>
                    <a:p>
                      <a:pPr marL="228600" lvl="0" indent="-228600" algn="l">
                        <a:lnSpc>
                          <a:spcPct val="100000"/>
                        </a:lnSpc>
                        <a:spcBef>
                          <a:spcPts val="0"/>
                        </a:spcBef>
                        <a:spcAft>
                          <a:spcPts val="0"/>
                        </a:spcAft>
                        <a:buClr>
                          <a:srgbClr val="000000"/>
                        </a:buClr>
                        <a:buAutoNum type="arabicPeriod"/>
                      </a:pPr>
                      <a:r>
                        <a:rPr lang="en-US" sz="1200" b="1" i="0" u="none" strike="noStrike" kern="1200" noProof="0">
                          <a:solidFill>
                            <a:srgbClr val="0070C0"/>
                          </a:solidFill>
                          <a:latin typeface="Nunito Sans"/>
                        </a:rPr>
                        <a:t>[Adhoc] Offer Letters Revamp Ph 1 – Optimizing offer letters (merging of multiple letters) &amp; incorporating wage code changes</a:t>
                      </a:r>
                    </a:p>
                    <a:p>
                      <a:pPr marL="228600" lvl="0" indent="-228600" algn="l">
                        <a:lnSpc>
                          <a:spcPct val="100000"/>
                        </a:lnSpc>
                        <a:spcBef>
                          <a:spcPts val="0"/>
                        </a:spcBef>
                        <a:spcAft>
                          <a:spcPts val="0"/>
                        </a:spcAft>
                        <a:buClr>
                          <a:srgbClr val="000000"/>
                        </a:buClr>
                        <a:buAutoNum type="arabicPeriod"/>
                      </a:pPr>
                      <a:r>
                        <a:rPr lang="en-US" sz="1200" b="1" i="0" u="none" strike="noStrike" kern="1200" noProof="0">
                          <a:solidFill>
                            <a:srgbClr val="0070C0"/>
                          </a:solidFill>
                          <a:latin typeface="Nunito Sans"/>
                        </a:rPr>
                        <a:t>Life ka Plan &amp; Azure SSO Integration</a:t>
                      </a:r>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tc>
                  <a:txBody>
                    <a:bodyPr/>
                    <a:lstStyle/>
                    <a:p>
                      <a:pPr marL="228600" lvl="0" indent="-228600" algn="l">
                        <a:lnSpc>
                          <a:spcPct val="100000"/>
                        </a:lnSpc>
                        <a:spcBef>
                          <a:spcPts val="0"/>
                        </a:spcBef>
                        <a:spcAft>
                          <a:spcPts val="0"/>
                        </a:spcAft>
                        <a:buAutoNum type="arabicPeriod"/>
                      </a:pPr>
                      <a:r>
                        <a:rPr lang="en-US" sz="1200" b="0" i="0" u="none" strike="noStrike" kern="1200" noProof="0">
                          <a:solidFill>
                            <a:schemeClr val="tx1"/>
                          </a:solidFill>
                          <a:latin typeface="Segoe UI"/>
                          <a:cs typeface="Segoe UI"/>
                        </a:rPr>
                        <a:t>Standardizes and automates compensation communication, reducing manual effort and ensuring error‑free, timely rollouts.</a:t>
                      </a:r>
                    </a:p>
                    <a:p>
                      <a:pPr marL="228600" lvl="0" indent="-228600" algn="l">
                        <a:lnSpc>
                          <a:spcPct val="100000"/>
                        </a:lnSpc>
                        <a:spcBef>
                          <a:spcPts val="0"/>
                        </a:spcBef>
                        <a:spcAft>
                          <a:spcPts val="0"/>
                        </a:spcAft>
                        <a:buAutoNum type="arabicPeriod"/>
                      </a:pPr>
                      <a:r>
                        <a:rPr lang="en-US" sz="1200" b="0" i="0" u="none" strike="noStrike" kern="1200" noProof="0">
                          <a:solidFill>
                            <a:schemeClr val="tx1"/>
                          </a:solidFill>
                          <a:latin typeface="Segoe UI"/>
                          <a:cs typeface="Segoe UI"/>
                        </a:rPr>
                        <a:t>Provides deeper visibility into position structures, vacancies, and utilization through improved visuals and data accuracy, enabling better workforce planning.</a:t>
                      </a:r>
                    </a:p>
                    <a:p>
                      <a:pPr marL="228600" lvl="0" indent="-228600" algn="l">
                        <a:lnSpc>
                          <a:spcPct val="100000"/>
                        </a:lnSpc>
                        <a:spcBef>
                          <a:spcPts val="0"/>
                        </a:spcBef>
                        <a:spcAft>
                          <a:spcPts val="0"/>
                        </a:spcAft>
                        <a:buAutoNum type="arabicPeriod"/>
                      </a:pPr>
                      <a:r>
                        <a:rPr lang="en-US" sz="1200" b="0" i="0" u="none" strike="noStrike" kern="1200" noProof="0">
                          <a:solidFill>
                            <a:schemeClr val="tx1"/>
                          </a:solidFill>
                          <a:latin typeface="Segoe UI"/>
                          <a:cs typeface="Segoe UI"/>
                        </a:rPr>
                        <a:t>Reducing release TAT and rework while improving compliance and candidate experience</a:t>
                      </a:r>
                    </a:p>
                    <a:p>
                      <a:pPr marL="228600" lvl="0" indent="-228600" algn="l">
                        <a:lnSpc>
                          <a:spcPct val="100000"/>
                        </a:lnSpc>
                        <a:spcBef>
                          <a:spcPts val="0"/>
                        </a:spcBef>
                        <a:spcAft>
                          <a:spcPts val="0"/>
                        </a:spcAft>
                        <a:buAutoNum type="arabicPeriod"/>
                      </a:pPr>
                      <a:r>
                        <a:rPr lang="en-US" sz="1200" b="0" i="0" u="none" strike="noStrike" kern="1200" noProof="0">
                          <a:solidFill>
                            <a:schemeClr val="tx1"/>
                          </a:solidFill>
                          <a:latin typeface="Segoe UI"/>
                          <a:cs typeface="Segoe UI"/>
                        </a:rPr>
                        <a:t>Ensuring single source of truth (SuccessFactors) across systems &amp; 100% data accuracy</a:t>
                      </a:r>
                    </a:p>
                    <a:p>
                      <a:pPr marL="228600" lvl="0" indent="-228600" algn="l">
                        <a:lnSpc>
                          <a:spcPct val="100000"/>
                        </a:lnSpc>
                        <a:spcBef>
                          <a:spcPts val="0"/>
                        </a:spcBef>
                        <a:spcAft>
                          <a:spcPts val="0"/>
                        </a:spcAft>
                        <a:buAutoNum type="arabicPeriod"/>
                      </a:pPr>
                      <a:endParaRPr lang="en-US" sz="1200" b="0" i="0" u="none" strike="noStrike" kern="1200" noProof="0">
                        <a:solidFill>
                          <a:schemeClr val="tx1"/>
                        </a:solidFill>
                        <a:latin typeface="Segoe UI"/>
                        <a:cs typeface="Segoe UI"/>
                      </a:endParaRPr>
                    </a:p>
                    <a:p>
                      <a:pPr marL="228600" lvl="0" indent="-228600" algn="l">
                        <a:lnSpc>
                          <a:spcPct val="100000"/>
                        </a:lnSpc>
                        <a:spcBef>
                          <a:spcPts val="0"/>
                        </a:spcBef>
                        <a:spcAft>
                          <a:spcPts val="0"/>
                        </a:spcAft>
                        <a:buAutoNum type="arabicPeriod"/>
                      </a:pPr>
                      <a:endParaRPr lang="en-US" sz="1200" b="0" i="0" u="none" strike="noStrike" kern="1200" noProof="0">
                        <a:solidFill>
                          <a:schemeClr val="tx1"/>
                        </a:solidFill>
                        <a:latin typeface="Segoe UI"/>
                        <a:cs typeface="Segoe UI"/>
                      </a:endParaRPr>
                    </a:p>
                    <a:p>
                      <a:pPr marL="228600" lvl="0" indent="-228600" algn="l">
                        <a:lnSpc>
                          <a:spcPct val="100000"/>
                        </a:lnSpc>
                        <a:spcBef>
                          <a:spcPts val="0"/>
                        </a:spcBef>
                        <a:spcAft>
                          <a:spcPts val="0"/>
                        </a:spcAft>
                        <a:buAutoNum type="arabicPeriod"/>
                      </a:pPr>
                      <a:endParaRPr lang="en-US" sz="1200" b="0" i="0" u="none" strike="noStrike" kern="1200" noProof="0">
                        <a:solidFill>
                          <a:schemeClr val="tx1"/>
                        </a:solidFill>
                        <a:latin typeface="Segoe UI"/>
                        <a:cs typeface="Segoe UI"/>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a:solidFill>
                        <a:schemeClr val="bg1">
                          <a:lumMod val="75000"/>
                        </a:schemeClr>
                      </a:solidFill>
                    </a:lnB>
                    <a:noFill/>
                  </a:tcPr>
                </a:tc>
                <a:extLst>
                  <a:ext uri="{0D108BD9-81ED-4DB2-BD59-A6C34878D82A}">
                    <a16:rowId xmlns:a16="http://schemas.microsoft.com/office/drawing/2014/main" val="2443371065"/>
                  </a:ext>
                </a:extLst>
              </a:tr>
            </a:tbl>
          </a:graphicData>
        </a:graphic>
      </p:graphicFrame>
      <p:sp>
        <p:nvSpPr>
          <p:cNvPr id="4" name="Rectangle 3">
            <a:extLst>
              <a:ext uri="{FF2B5EF4-FFF2-40B4-BE49-F238E27FC236}">
                <a16:creationId xmlns:a16="http://schemas.microsoft.com/office/drawing/2014/main" id="{BE5C433F-A291-8A4F-61F6-3118264BFE41}"/>
              </a:ext>
            </a:extLst>
          </p:cNvPr>
          <p:cNvSpPr/>
          <p:nvPr/>
        </p:nvSpPr>
        <p:spPr>
          <a:xfrm>
            <a:off x="1188132" y="6671592"/>
            <a:ext cx="90000" cy="90000"/>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5" name="Rectangle 4">
            <a:extLst>
              <a:ext uri="{FF2B5EF4-FFF2-40B4-BE49-F238E27FC236}">
                <a16:creationId xmlns:a16="http://schemas.microsoft.com/office/drawing/2014/main" id="{4E57ED9F-6B7F-BC01-E54D-63DD13CA0261}"/>
              </a:ext>
            </a:extLst>
          </p:cNvPr>
          <p:cNvSpPr/>
          <p:nvPr/>
        </p:nvSpPr>
        <p:spPr>
          <a:xfrm>
            <a:off x="2265818" y="6670554"/>
            <a:ext cx="90000" cy="90000"/>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7" name="Rectangle 6">
            <a:extLst>
              <a:ext uri="{FF2B5EF4-FFF2-40B4-BE49-F238E27FC236}">
                <a16:creationId xmlns:a16="http://schemas.microsoft.com/office/drawing/2014/main" id="{C5F0240A-5CD9-F29A-014D-D3D4898ACE73}"/>
              </a:ext>
            </a:extLst>
          </p:cNvPr>
          <p:cNvSpPr/>
          <p:nvPr/>
        </p:nvSpPr>
        <p:spPr>
          <a:xfrm>
            <a:off x="3443423" y="6671592"/>
            <a:ext cx="90000" cy="90000"/>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8" name="Rectangle 7">
            <a:extLst>
              <a:ext uri="{FF2B5EF4-FFF2-40B4-BE49-F238E27FC236}">
                <a16:creationId xmlns:a16="http://schemas.microsoft.com/office/drawing/2014/main" id="{651D43F5-AC98-AC53-FF94-03E1C4B66D6B}"/>
              </a:ext>
            </a:extLst>
          </p:cNvPr>
          <p:cNvSpPr/>
          <p:nvPr/>
        </p:nvSpPr>
        <p:spPr>
          <a:xfrm>
            <a:off x="8146052" y="6714097"/>
            <a:ext cx="90000" cy="90000"/>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9" name="TextBox 15">
            <a:extLst>
              <a:ext uri="{FF2B5EF4-FFF2-40B4-BE49-F238E27FC236}">
                <a16:creationId xmlns:a16="http://schemas.microsoft.com/office/drawing/2014/main" id="{2F60FCB8-2EA2-5ADD-7DA3-4B9C5EDCDA05}"/>
              </a:ext>
            </a:extLst>
          </p:cNvPr>
          <p:cNvSpPr txBox="1"/>
          <p:nvPr/>
        </p:nvSpPr>
        <p:spPr>
          <a:xfrm>
            <a:off x="1288983" y="6614743"/>
            <a:ext cx="857245"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0070C0"/>
                </a:solidFill>
                <a:effectLst/>
                <a:uLnTx/>
                <a:uFillTx/>
                <a:latin typeface="Nunito Sans"/>
                <a:ea typeface="+mn-ea"/>
                <a:cs typeface="+mn-cs"/>
              </a:rPr>
              <a:t>Delivered</a:t>
            </a:r>
            <a:endParaRPr kumimoji="0" lang="en-IN" sz="1000" b="0" i="0" u="none" strike="noStrike" kern="1200" cap="none" spc="0" normalizeH="0" baseline="0" noProof="0">
              <a:ln>
                <a:noFill/>
              </a:ln>
              <a:solidFill>
                <a:srgbClr val="000000"/>
              </a:solidFill>
              <a:effectLst/>
              <a:uLnTx/>
              <a:uFillTx/>
              <a:latin typeface="Nunito Sans"/>
              <a:ea typeface="+mn-ea"/>
              <a:cs typeface="+mn-cs"/>
            </a:endParaRPr>
          </a:p>
        </p:txBody>
      </p:sp>
      <p:sp>
        <p:nvSpPr>
          <p:cNvPr id="10" name="TextBox 18">
            <a:extLst>
              <a:ext uri="{FF2B5EF4-FFF2-40B4-BE49-F238E27FC236}">
                <a16:creationId xmlns:a16="http://schemas.microsoft.com/office/drawing/2014/main" id="{3759D00A-A115-687D-FA4D-4D77713F74DD}"/>
              </a:ext>
            </a:extLst>
          </p:cNvPr>
          <p:cNvSpPr txBox="1"/>
          <p:nvPr/>
        </p:nvSpPr>
        <p:spPr>
          <a:xfrm>
            <a:off x="2310642" y="6611102"/>
            <a:ext cx="1032881"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00B050"/>
                </a:solidFill>
                <a:effectLst/>
                <a:uLnTx/>
                <a:uFillTx/>
                <a:latin typeface="Nunito Sans"/>
                <a:ea typeface="+mn-ea"/>
                <a:cs typeface="+mn-cs"/>
              </a:rPr>
              <a:t>Ontrack</a:t>
            </a:r>
            <a:endParaRPr kumimoji="0" lang="en-IN" sz="1000" b="0" i="0" u="none" strike="noStrike" kern="1200" cap="none" spc="0" normalizeH="0" baseline="0" noProof="0">
              <a:ln>
                <a:noFill/>
              </a:ln>
              <a:solidFill>
                <a:srgbClr val="000000"/>
              </a:solidFill>
              <a:effectLst/>
              <a:uLnTx/>
              <a:uFillTx/>
              <a:latin typeface="Nunito Sans"/>
              <a:ea typeface="+mn-ea"/>
              <a:cs typeface="+mn-cs"/>
            </a:endParaRPr>
          </a:p>
        </p:txBody>
      </p:sp>
      <p:sp>
        <p:nvSpPr>
          <p:cNvPr id="11" name="TextBox 20">
            <a:extLst>
              <a:ext uri="{FF2B5EF4-FFF2-40B4-BE49-F238E27FC236}">
                <a16:creationId xmlns:a16="http://schemas.microsoft.com/office/drawing/2014/main" id="{02577833-2DED-7F2E-B57F-E8120F25CD47}"/>
              </a:ext>
            </a:extLst>
          </p:cNvPr>
          <p:cNvSpPr txBox="1"/>
          <p:nvPr/>
        </p:nvSpPr>
        <p:spPr>
          <a:xfrm>
            <a:off x="3539606" y="6608370"/>
            <a:ext cx="2257628"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FED9A0">
                    <a:lumMod val="75000"/>
                  </a:srgbClr>
                </a:solidFill>
                <a:effectLst/>
                <a:uLnTx/>
                <a:uFillTx/>
                <a:latin typeface="Nunito Sans"/>
                <a:ea typeface="+mn-ea"/>
                <a:cs typeface="+mn-cs"/>
              </a:rPr>
              <a:t>Under delay and can be recovered</a:t>
            </a:r>
            <a:endParaRPr kumimoji="0" lang="en-IN" sz="1000" b="0" i="0" u="none" strike="noStrike" kern="1200" cap="none" spc="0" normalizeH="0" baseline="0" noProof="0">
              <a:ln>
                <a:noFill/>
              </a:ln>
              <a:solidFill>
                <a:srgbClr val="000000"/>
              </a:solidFill>
              <a:effectLst/>
              <a:uLnTx/>
              <a:uFillTx/>
              <a:latin typeface="Nunito Sans"/>
              <a:ea typeface="+mn-ea"/>
              <a:cs typeface="+mn-cs"/>
            </a:endParaRPr>
          </a:p>
        </p:txBody>
      </p:sp>
      <p:sp>
        <p:nvSpPr>
          <p:cNvPr id="13" name="TextBox 22">
            <a:extLst>
              <a:ext uri="{FF2B5EF4-FFF2-40B4-BE49-F238E27FC236}">
                <a16:creationId xmlns:a16="http://schemas.microsoft.com/office/drawing/2014/main" id="{07AEEF94-42D3-6481-9114-C7917B06E6E6}"/>
              </a:ext>
            </a:extLst>
          </p:cNvPr>
          <p:cNvSpPr txBox="1"/>
          <p:nvPr/>
        </p:nvSpPr>
        <p:spPr>
          <a:xfrm>
            <a:off x="8246937" y="6618126"/>
            <a:ext cx="2338222"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FF0000"/>
                </a:solidFill>
                <a:effectLst/>
                <a:uLnTx/>
                <a:uFillTx/>
                <a:latin typeface="Nunito Sans"/>
                <a:ea typeface="+mn-ea"/>
                <a:cs typeface="+mn-cs"/>
              </a:rPr>
              <a:t>Delayed and pushed to next release</a:t>
            </a:r>
          </a:p>
        </p:txBody>
      </p:sp>
      <p:sp>
        <p:nvSpPr>
          <p:cNvPr id="15" name="TextBox 14">
            <a:extLst>
              <a:ext uri="{FF2B5EF4-FFF2-40B4-BE49-F238E27FC236}">
                <a16:creationId xmlns:a16="http://schemas.microsoft.com/office/drawing/2014/main" id="{88EF92A4-5E3B-4E8A-0975-5ADEDEB8CCEA}"/>
              </a:ext>
            </a:extLst>
          </p:cNvPr>
          <p:cNvSpPr txBox="1"/>
          <p:nvPr/>
        </p:nvSpPr>
        <p:spPr>
          <a:xfrm>
            <a:off x="6454369" y="6611638"/>
            <a:ext cx="2743200"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IN" sz="1000">
                <a:solidFill>
                  <a:srgbClr val="7D7D7D"/>
                </a:solidFill>
              </a:rPr>
              <a:t>Descoped</a:t>
            </a:r>
            <a:endParaRPr lang="en-US"/>
          </a:p>
        </p:txBody>
      </p:sp>
      <p:sp>
        <p:nvSpPr>
          <p:cNvPr id="16" name="Rectangle 15">
            <a:extLst>
              <a:ext uri="{FF2B5EF4-FFF2-40B4-BE49-F238E27FC236}">
                <a16:creationId xmlns:a16="http://schemas.microsoft.com/office/drawing/2014/main" id="{E27CFA2B-2451-B86C-5A2F-F248C5593AD5}"/>
              </a:ext>
            </a:extLst>
          </p:cNvPr>
          <p:cNvSpPr/>
          <p:nvPr/>
        </p:nvSpPr>
        <p:spPr>
          <a:xfrm>
            <a:off x="6360794" y="6681439"/>
            <a:ext cx="90000" cy="90000"/>
          </a:xfrm>
          <a:prstGeom prst="rect">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Tree>
    <p:extLst>
      <p:ext uri="{BB962C8B-B14F-4D97-AF65-F5344CB8AC3E}">
        <p14:creationId xmlns:p14="http://schemas.microsoft.com/office/powerpoint/2010/main" val="3026104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8872E5-47EE-9B3E-6D2E-EB2E4E2A7D8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C4AE985-D17B-1963-D2BD-CEEE4EAFA607}"/>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3A41A254-7326-714E-AF55-4C213D6394DE}" type="slidenum">
              <a:rPr kumimoji="0" lang="en-US" sz="1200" b="0" i="0" u="none" strike="noStrike" kern="1200" cap="none" spc="0" normalizeH="0" baseline="0" noProof="0" smtClean="0">
                <a:ln>
                  <a:noFill/>
                </a:ln>
                <a:solidFill>
                  <a:srgbClr val="DA0E28"/>
                </a:solidFill>
                <a:effectLst/>
                <a:uLnTx/>
                <a:uFillTx/>
                <a:latin typeface="Nunito Sans"/>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srgbClr val="DA0E28"/>
              </a:solidFill>
              <a:effectLst/>
              <a:uLnTx/>
              <a:uFillTx/>
              <a:latin typeface="Nunito Sans"/>
              <a:ea typeface="+mn-ea"/>
              <a:cs typeface="+mn-cs"/>
            </a:endParaRPr>
          </a:p>
        </p:txBody>
      </p:sp>
      <p:sp>
        <p:nvSpPr>
          <p:cNvPr id="3" name="Rectangle 2">
            <a:extLst>
              <a:ext uri="{FF2B5EF4-FFF2-40B4-BE49-F238E27FC236}">
                <a16:creationId xmlns:a16="http://schemas.microsoft.com/office/drawing/2014/main" id="{1057303B-29D3-A931-1A66-C822D28245F9}"/>
              </a:ext>
            </a:extLst>
          </p:cNvPr>
          <p:cNvSpPr/>
          <p:nvPr/>
        </p:nvSpPr>
        <p:spPr>
          <a:xfrm>
            <a:off x="129077" y="610471"/>
            <a:ext cx="1170432" cy="42234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defRPr/>
            </a:pPr>
            <a:r>
              <a:rPr lang="en-IN" sz="1400" b="1">
                <a:solidFill>
                  <a:srgbClr val="FFFFFF"/>
                </a:solidFill>
                <a:latin typeface="AirIndia"/>
                <a:ea typeface="+mn-lt"/>
                <a:cs typeface="+mn-lt"/>
              </a:rPr>
              <a:t>27th </a:t>
            </a:r>
            <a:r>
              <a:rPr lang="en-IN" sz="1400" b="1">
                <a:solidFill>
                  <a:srgbClr val="FFFFFF"/>
                </a:solidFill>
                <a:latin typeface="AirIndia"/>
              </a:rPr>
              <a:t>May</a:t>
            </a:r>
            <a:r>
              <a:rPr kumimoji="0" lang="en-IN" sz="1400" b="1" i="0" u="none" strike="noStrike" kern="1200" cap="none" spc="0" normalizeH="0" baseline="0" noProof="0">
                <a:ln>
                  <a:noFill/>
                </a:ln>
                <a:solidFill>
                  <a:srgbClr val="FFFFFF"/>
                </a:solidFill>
                <a:effectLst/>
                <a:uLnTx/>
                <a:uFillTx/>
                <a:latin typeface="AirIndia"/>
                <a:ea typeface="+mn-ea"/>
                <a:cs typeface="+mn-cs"/>
              </a:rPr>
              <a:t> ‘</a:t>
            </a:r>
            <a:r>
              <a:rPr lang="en-IN" sz="1400" b="1">
                <a:solidFill>
                  <a:srgbClr val="FFFFFF"/>
                </a:solidFill>
                <a:latin typeface="AirIndia"/>
              </a:rPr>
              <a:t>26</a:t>
            </a:r>
            <a:endParaRPr lang="en-US" sz="1400" b="1" i="0" u="none" strike="noStrike" kern="1200" cap="none" spc="0" normalizeH="0" baseline="0" noProof="0">
              <a:ln>
                <a:noFill/>
              </a:ln>
              <a:solidFill>
                <a:srgbClr val="FFFFFF"/>
              </a:solidFill>
              <a:effectLst/>
              <a:uLnTx/>
              <a:uFillTx/>
              <a:latin typeface="AirIndia"/>
            </a:endParaRPr>
          </a:p>
        </p:txBody>
      </p:sp>
      <p:sp>
        <p:nvSpPr>
          <p:cNvPr id="6" name="Title 11">
            <a:extLst>
              <a:ext uri="{FF2B5EF4-FFF2-40B4-BE49-F238E27FC236}">
                <a16:creationId xmlns:a16="http://schemas.microsoft.com/office/drawing/2014/main" id="{9700E361-A58B-2CEF-F1A5-F1D2C5CF1CA1}"/>
              </a:ext>
            </a:extLst>
          </p:cNvPr>
          <p:cNvSpPr txBox="1">
            <a:spLocks/>
          </p:cNvSpPr>
          <p:nvPr/>
        </p:nvSpPr>
        <p:spPr>
          <a:xfrm>
            <a:off x="242857" y="182023"/>
            <a:ext cx="7691717" cy="430255"/>
          </a:xfrm>
          <a:prstGeom prst="rect">
            <a:avLst/>
          </a:prstGeom>
        </p:spPr>
        <p:txBody>
          <a:bodyPr lIns="91440" tIns="45720" rIns="91440" bIns="45720" anchor="t">
            <a:noAutofit/>
          </a:bodyPr>
          <a:lstStyle>
            <a:lvl1pPr algn="l" defTabSz="914400" rtl="0" eaLnBrk="1" latinLnBrk="0" hangingPunct="1">
              <a:lnSpc>
                <a:spcPct val="90000"/>
              </a:lnSpc>
              <a:spcBef>
                <a:spcPct val="0"/>
              </a:spcBef>
              <a:buNone/>
              <a:defRPr sz="4400" b="1" i="0" kern="1200">
                <a:solidFill>
                  <a:schemeClr val="tx1"/>
                </a:solidFill>
                <a:latin typeface="AirIndia" pitchFamily="82" charset="77"/>
                <a:ea typeface="+mj-ea"/>
                <a:cs typeface="+mj-cs"/>
              </a:defRPr>
            </a:lvl1pPr>
          </a:lstStyle>
          <a:p>
            <a:pPr>
              <a:defRPr/>
            </a:pPr>
            <a:r>
              <a:rPr lang="en-US" sz="1800">
                <a:solidFill>
                  <a:srgbClr val="DA0E28"/>
                </a:solidFill>
                <a:latin typeface="AirIndia"/>
              </a:rPr>
              <a:t>Corporate Systems </a:t>
            </a:r>
            <a:r>
              <a:rPr kumimoji="0" lang="en-US" sz="1800" b="1" i="0" u="none" strike="noStrike" kern="1200" cap="none" spc="0" normalizeH="0" baseline="0" noProof="0">
                <a:ln>
                  <a:noFill/>
                </a:ln>
                <a:solidFill>
                  <a:srgbClr val="DA0E28"/>
                </a:solidFill>
                <a:effectLst/>
                <a:uLnTx/>
                <a:uFillTx/>
                <a:latin typeface="AirIndia"/>
                <a:ea typeface="+mj-ea"/>
                <a:cs typeface="+mj-cs"/>
              </a:rPr>
              <a:t>- </a:t>
            </a:r>
            <a:r>
              <a:rPr lang="en-US" sz="1800">
                <a:solidFill>
                  <a:srgbClr val="DA0E28"/>
                </a:solidFill>
                <a:latin typeface="AirIndia"/>
              </a:rPr>
              <a:t>FY26-27</a:t>
            </a:r>
            <a:r>
              <a:rPr kumimoji="0" lang="en-US" sz="1800" b="1" i="0" u="none" strike="noStrike" kern="1200" cap="none" spc="0" normalizeH="0" baseline="0" noProof="0">
                <a:ln>
                  <a:noFill/>
                </a:ln>
                <a:solidFill>
                  <a:srgbClr val="DA0E28"/>
                </a:solidFill>
                <a:effectLst/>
                <a:uLnTx/>
                <a:uFillTx/>
                <a:latin typeface="AirIndia"/>
                <a:ea typeface="+mj-ea"/>
                <a:cs typeface="+mj-cs"/>
              </a:rPr>
              <a:t> Q1  Release Plan</a:t>
            </a:r>
            <a:r>
              <a:rPr lang="en-US" sz="1800">
                <a:solidFill>
                  <a:srgbClr val="DA0E28"/>
                </a:solidFill>
                <a:latin typeface="AirIndia"/>
              </a:rPr>
              <a:t> (HR Tech)</a:t>
            </a:r>
            <a:endParaRPr lang="en-US" sz="1800" b="0" i="0" u="none" strike="noStrike" kern="1200" cap="none" spc="0" normalizeH="0" baseline="0" noProof="0">
              <a:ln>
                <a:noFill/>
              </a:ln>
              <a:solidFill>
                <a:srgbClr val="DA0E28"/>
              </a:solidFill>
              <a:effectLst/>
              <a:uLnTx/>
              <a:uFillTx/>
              <a:latin typeface="AirIndia"/>
            </a:endParaRPr>
          </a:p>
        </p:txBody>
      </p:sp>
      <p:graphicFrame>
        <p:nvGraphicFramePr>
          <p:cNvPr id="12" name="Table 11">
            <a:extLst>
              <a:ext uri="{FF2B5EF4-FFF2-40B4-BE49-F238E27FC236}">
                <a16:creationId xmlns:a16="http://schemas.microsoft.com/office/drawing/2014/main" id="{C91CC4C4-DED3-9B8C-95BB-D56B0C6A4116}"/>
              </a:ext>
            </a:extLst>
          </p:cNvPr>
          <p:cNvGraphicFramePr>
            <a:graphicFrameLocks noGrp="1"/>
          </p:cNvGraphicFramePr>
          <p:nvPr>
            <p:extLst>
              <p:ext uri="{D42A27DB-BD31-4B8C-83A1-F6EECF244321}">
                <p14:modId xmlns:p14="http://schemas.microsoft.com/office/powerpoint/2010/main" val="1021266574"/>
              </p:ext>
            </p:extLst>
          </p:nvPr>
        </p:nvGraphicFramePr>
        <p:xfrm>
          <a:off x="1251008" y="588627"/>
          <a:ext cx="9607492" cy="5479244"/>
        </p:xfrm>
        <a:graphic>
          <a:graphicData uri="http://schemas.openxmlformats.org/drawingml/2006/table">
            <a:tbl>
              <a:tblPr firstRow="1" bandRow="1">
                <a:tableStyleId>{5C22544A-7EE6-4342-B048-85BDC9FD1C3A}</a:tableStyleId>
              </a:tblPr>
              <a:tblGrid>
                <a:gridCol w="2852561">
                  <a:extLst>
                    <a:ext uri="{9D8B030D-6E8A-4147-A177-3AD203B41FA5}">
                      <a16:colId xmlns:a16="http://schemas.microsoft.com/office/drawing/2014/main" val="2822350773"/>
                    </a:ext>
                  </a:extLst>
                </a:gridCol>
                <a:gridCol w="3186543">
                  <a:extLst>
                    <a:ext uri="{9D8B030D-6E8A-4147-A177-3AD203B41FA5}">
                      <a16:colId xmlns:a16="http://schemas.microsoft.com/office/drawing/2014/main" val="2043345236"/>
                    </a:ext>
                  </a:extLst>
                </a:gridCol>
                <a:gridCol w="3568388">
                  <a:extLst>
                    <a:ext uri="{9D8B030D-6E8A-4147-A177-3AD203B41FA5}">
                      <a16:colId xmlns:a16="http://schemas.microsoft.com/office/drawing/2014/main" val="99588705"/>
                    </a:ext>
                  </a:extLst>
                </a:gridCol>
              </a:tblGrid>
              <a:tr h="530670">
                <a:tc>
                  <a:txBody>
                    <a:bodyPr/>
                    <a:lstStyle/>
                    <a:p>
                      <a:pPr marL="0" lvl="0" indent="0" algn="ctr" defTabSz="914400" rtl="0">
                        <a:lnSpc>
                          <a:spcPct val="100000"/>
                        </a:lnSpc>
                        <a:buFont typeface="Arial" panose="020B0604020202020204" pitchFamily="34" charset="0"/>
                        <a:buNone/>
                      </a:pPr>
                      <a:r>
                        <a:rPr lang="en-IN" sz="1100" b="1" kern="1200">
                          <a:solidFill>
                            <a:schemeClr val="bg1"/>
                          </a:solidFill>
                          <a:latin typeface="+mn-lt"/>
                          <a:ea typeface="+mn-ea"/>
                          <a:cs typeface="+mn-cs"/>
                        </a:rPr>
                        <a:t>Initiatives</a:t>
                      </a:r>
                      <a:endParaRPr lang="en-US" sz="1100" b="1"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tc>
                  <a:txBody>
                    <a:bodyPr/>
                    <a:lstStyle/>
                    <a:p>
                      <a:pPr marL="0" lvl="0" indent="0" algn="ctr" defTabSz="914400">
                        <a:lnSpc>
                          <a:spcPct val="100000"/>
                        </a:lnSpc>
                        <a:buNone/>
                      </a:pPr>
                      <a:r>
                        <a:rPr lang="en-IN" sz="1100" b="1" i="0" u="none" strike="noStrike" kern="1200" noProof="0">
                          <a:solidFill>
                            <a:schemeClr val="bg1"/>
                          </a:solidFill>
                          <a:latin typeface="Nunito Sans"/>
                          <a:ea typeface="+mn-ea"/>
                          <a:cs typeface="+mn-cs"/>
                        </a:rPr>
                        <a:t>Programs/Projects</a:t>
                      </a:r>
                      <a:endParaRPr lang="en-US"/>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solidFill>
                      <a:schemeClr val="accent3">
                        <a:lumMod val="90000"/>
                        <a:lumOff val="10000"/>
                      </a:schemeClr>
                    </a:solidFill>
                  </a:tcPr>
                </a:tc>
                <a:tc>
                  <a:txBody>
                    <a:bodyPr/>
                    <a:lstStyle/>
                    <a:p>
                      <a:pPr marL="0" lvl="0" indent="0" algn="ctr">
                        <a:lnSpc>
                          <a:spcPct val="100000"/>
                        </a:lnSpc>
                        <a:buNone/>
                      </a:pPr>
                      <a:endParaRPr lang="en-IN" sz="1100" b="1" i="0" u="none" strike="noStrike" kern="1200" baseline="0" noProof="0">
                        <a:solidFill>
                          <a:srgbClr val="FFFFFF"/>
                        </a:solidFill>
                        <a:latin typeface="Nunito Sans"/>
                      </a:endParaRPr>
                    </a:p>
                    <a:p>
                      <a:pPr marL="0" lvl="0" indent="0" algn="ctr">
                        <a:lnSpc>
                          <a:spcPct val="100000"/>
                        </a:lnSpc>
                        <a:buNone/>
                      </a:pPr>
                      <a:r>
                        <a:rPr lang="en-IN" sz="1100" b="1" i="0" u="none" strike="noStrike" kern="1200" baseline="0" noProof="0">
                          <a:solidFill>
                            <a:srgbClr val="FFFFFF"/>
                          </a:solidFill>
                          <a:latin typeface="Nunito Sans"/>
                        </a:rPr>
                        <a:t>Value Justification/Realization</a:t>
                      </a:r>
                    </a:p>
                    <a:p>
                      <a:pPr marL="0" lvl="0" indent="0" algn="ctr" defTabSz="914400">
                        <a:buFont typeface="Arial" panose="020B0604020202020204" pitchFamily="34" charset="0"/>
                        <a:buNone/>
                      </a:pPr>
                      <a:endParaRPr lang="en-IN" sz="1100"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extLst>
                  <a:ext uri="{0D108BD9-81ED-4DB2-BD59-A6C34878D82A}">
                    <a16:rowId xmlns:a16="http://schemas.microsoft.com/office/drawing/2014/main" val="844450115"/>
                  </a:ext>
                </a:extLst>
              </a:tr>
              <a:tr h="4884884">
                <a:tc>
                  <a:txBody>
                    <a:bodyPr/>
                    <a:lstStyle/>
                    <a:p>
                      <a:pPr marL="228600" lvl="0" indent="-228600" algn="l">
                        <a:lnSpc>
                          <a:spcPct val="100000"/>
                        </a:lnSpc>
                        <a:spcBef>
                          <a:spcPts val="0"/>
                        </a:spcBef>
                        <a:spcAft>
                          <a:spcPts val="0"/>
                        </a:spcAft>
                        <a:buAutoNum type="arabicPeriod"/>
                      </a:pPr>
                      <a:r>
                        <a:rPr lang="en-US" sz="1200" b="1" i="0" u="none" strike="noStrike" kern="1200" noProof="0">
                          <a:solidFill>
                            <a:srgbClr val="0070C0"/>
                          </a:solidFill>
                          <a:latin typeface="Nunito Sans"/>
                        </a:rPr>
                        <a:t>Crew Upgrade Automation</a:t>
                      </a:r>
                      <a:endParaRPr lang="en-US">
                        <a:solidFill>
                          <a:srgbClr val="0070C0"/>
                        </a:solidFill>
                      </a:endParaRPr>
                    </a:p>
                    <a:p>
                      <a:pPr marL="228600" lvl="0" indent="-228600" algn="l">
                        <a:lnSpc>
                          <a:spcPct val="100000"/>
                        </a:lnSpc>
                        <a:spcBef>
                          <a:spcPts val="0"/>
                        </a:spcBef>
                        <a:spcAft>
                          <a:spcPts val="0"/>
                        </a:spcAft>
                        <a:buAutoNum type="arabicPeriod"/>
                      </a:pPr>
                      <a:r>
                        <a:rPr lang="en-US" sz="1200" b="1" i="0" u="none" strike="noStrike" kern="1200" noProof="0">
                          <a:solidFill>
                            <a:srgbClr val="0070C0"/>
                          </a:solidFill>
                          <a:latin typeface="Nunito Sans"/>
                        </a:rPr>
                        <a:t>Creating Employee Masters (Rule-Based with Validations) – Phase 1</a:t>
                      </a:r>
                    </a:p>
                    <a:p>
                      <a:pPr marL="228600" lvl="0" indent="-228600" algn="l">
                        <a:lnSpc>
                          <a:spcPct val="100000"/>
                        </a:lnSpc>
                        <a:spcBef>
                          <a:spcPts val="0"/>
                        </a:spcBef>
                        <a:spcAft>
                          <a:spcPts val="0"/>
                        </a:spcAft>
                        <a:buAutoNum type="arabicPeriod"/>
                      </a:pPr>
                      <a:r>
                        <a:rPr lang="en-US" sz="1200" b="1" i="0" u="none" strike="noStrike" kern="1200" noProof="0">
                          <a:solidFill>
                            <a:srgbClr val="FF0000"/>
                          </a:solidFill>
                          <a:latin typeface="Nunito Sans"/>
                        </a:rPr>
                        <a:t>[SkyFam] Weekend Duty Travel Alert on Email for SOD</a:t>
                      </a:r>
                    </a:p>
                    <a:p>
                      <a:pPr marL="228600" lvl="0" indent="-228600" algn="l">
                        <a:lnSpc>
                          <a:spcPct val="100000"/>
                        </a:lnSpc>
                        <a:spcBef>
                          <a:spcPts val="0"/>
                        </a:spcBef>
                        <a:spcAft>
                          <a:spcPts val="0"/>
                        </a:spcAft>
                        <a:buClr>
                          <a:srgbClr val="000000"/>
                        </a:buClr>
                        <a:buAutoNum type="arabicPeriod"/>
                      </a:pPr>
                      <a:r>
                        <a:rPr lang="en-US" sz="1200" b="1" i="0" u="none" strike="noStrike" kern="1200" noProof="0">
                          <a:solidFill>
                            <a:srgbClr val="0070C0"/>
                          </a:solidFill>
                          <a:latin typeface="Nunito Sans"/>
                        </a:rPr>
                        <a:t>[Adhoc] Offer Letters Revamp Ph 2</a:t>
                      </a:r>
                      <a:endParaRPr lang="en-US" sz="1200" b="0" i="0" u="none" strike="noStrike" kern="1200" noProof="0">
                        <a:solidFill>
                          <a:srgbClr val="0070C0"/>
                        </a:solidFill>
                        <a:latin typeface="Nunito Sans"/>
                      </a:endParaRPr>
                    </a:p>
                    <a:p>
                      <a:pPr marL="228600" lvl="0" indent="-228600" algn="l">
                        <a:lnSpc>
                          <a:spcPct val="100000"/>
                        </a:lnSpc>
                        <a:spcBef>
                          <a:spcPts val="0"/>
                        </a:spcBef>
                        <a:spcAft>
                          <a:spcPts val="0"/>
                        </a:spcAft>
                        <a:buClr>
                          <a:srgbClr val="000000"/>
                        </a:buClr>
                        <a:buAutoNum type="arabicPeriod"/>
                      </a:pPr>
                      <a:r>
                        <a:rPr lang="en-US" sz="1200" b="1" i="0" u="none" strike="noStrike" kern="1200" noProof="0">
                          <a:solidFill>
                            <a:srgbClr val="0070C0"/>
                          </a:solidFill>
                          <a:latin typeface="Nunito Sans"/>
                        </a:rPr>
                        <a:t>Compensation Planning &amp; Increment Letter + Bonus Letter Generation FY 26 Phase 2</a:t>
                      </a:r>
                      <a:endParaRPr lang="en-US">
                        <a:solidFill>
                          <a:srgbClr val="0070C0"/>
                        </a:solidFill>
                      </a:endParaRPr>
                    </a:p>
                    <a:p>
                      <a:pPr marL="228600" lvl="0" indent="-228600" algn="l">
                        <a:lnSpc>
                          <a:spcPct val="100000"/>
                        </a:lnSpc>
                        <a:spcBef>
                          <a:spcPts val="0"/>
                        </a:spcBef>
                        <a:spcAft>
                          <a:spcPts val="0"/>
                        </a:spcAft>
                        <a:buAutoNum type="arabicPeriod"/>
                      </a:pPr>
                      <a:endParaRPr lang="en-US" sz="1200" b="1" i="0" u="none" strike="noStrike" kern="1200" noProof="0">
                        <a:solidFill>
                          <a:srgbClr val="00B050"/>
                        </a:solidFill>
                        <a:latin typeface="Nunito Sans"/>
                      </a:endParaRPr>
                    </a:p>
                    <a:p>
                      <a:pPr marL="228600" lvl="0" indent="-228600" algn="l">
                        <a:lnSpc>
                          <a:spcPct val="100000"/>
                        </a:lnSpc>
                        <a:spcBef>
                          <a:spcPts val="0"/>
                        </a:spcBef>
                        <a:spcAft>
                          <a:spcPts val="0"/>
                        </a:spcAft>
                        <a:buAutoNum type="arabicPeriod"/>
                      </a:pPr>
                      <a:endParaRPr lang="en-US" sz="1200" b="1" i="0" u="none" strike="noStrike" kern="1200" noProof="0">
                        <a:solidFill>
                          <a:srgbClr val="00B050"/>
                        </a:solidFill>
                        <a:latin typeface="Nunito Sans"/>
                      </a:endParaRPr>
                    </a:p>
                    <a:p>
                      <a:pPr marL="228600" lvl="0" indent="-228600" algn="l">
                        <a:lnSpc>
                          <a:spcPct val="100000"/>
                        </a:lnSpc>
                        <a:spcBef>
                          <a:spcPts val="0"/>
                        </a:spcBef>
                        <a:spcAft>
                          <a:spcPts val="0"/>
                        </a:spcAft>
                        <a:buAutoNum type="arabicPeriod"/>
                      </a:pPr>
                      <a:endParaRPr lang="en-US" sz="1200" b="1" i="0" u="none" strike="noStrike" kern="1200" noProof="0">
                        <a:solidFill>
                          <a:srgbClr val="00B050"/>
                        </a:solidFill>
                        <a:latin typeface="Nunito Sans"/>
                      </a:endParaRPr>
                    </a:p>
                    <a:p>
                      <a:pPr marL="228600" lvl="0" indent="-228600" algn="l">
                        <a:lnSpc>
                          <a:spcPct val="100000"/>
                        </a:lnSpc>
                        <a:spcBef>
                          <a:spcPts val="0"/>
                        </a:spcBef>
                        <a:spcAft>
                          <a:spcPts val="0"/>
                        </a:spcAft>
                        <a:buAutoNum type="arabicPeriod"/>
                      </a:pPr>
                      <a:endParaRPr lang="en-US" sz="1200" b="1" i="0" u="none" strike="noStrike" kern="1200" noProof="0">
                        <a:solidFill>
                          <a:srgbClr val="00B050"/>
                        </a:solidFill>
                        <a:latin typeface="Nunito Sans"/>
                      </a:endParaRPr>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tc>
                  <a:txBody>
                    <a:bodyPr/>
                    <a:lstStyle/>
                    <a:p>
                      <a:pPr marL="228600" lvl="0" indent="-228600" algn="l">
                        <a:lnSpc>
                          <a:spcPct val="100000"/>
                        </a:lnSpc>
                        <a:spcBef>
                          <a:spcPts val="0"/>
                        </a:spcBef>
                        <a:spcAft>
                          <a:spcPts val="0"/>
                        </a:spcAft>
                        <a:buAutoNum type="arabicPeriod"/>
                      </a:pPr>
                      <a:r>
                        <a:rPr lang="en-US" sz="1200" b="1" i="0" u="none" strike="noStrike" kern="1200" noProof="0">
                          <a:solidFill>
                            <a:srgbClr val="00B050"/>
                          </a:solidFill>
                          <a:latin typeface="Nunito Sans"/>
                        </a:rPr>
                        <a:t>End‑to‑End Crew Upgrade Automation (basis tenure, certification, etc.)</a:t>
                      </a:r>
                    </a:p>
                    <a:p>
                      <a:pPr marL="228600" lvl="0" indent="-228600" algn="l">
                        <a:lnSpc>
                          <a:spcPct val="100000"/>
                        </a:lnSpc>
                        <a:spcBef>
                          <a:spcPts val="0"/>
                        </a:spcBef>
                        <a:spcAft>
                          <a:spcPts val="0"/>
                        </a:spcAft>
                        <a:buAutoNum type="arabicPeriod"/>
                      </a:pPr>
                      <a:r>
                        <a:rPr lang="en-US" sz="1200" b="1" i="0" u="none" strike="noStrike" kern="1200" noProof="0">
                          <a:solidFill>
                            <a:srgbClr val="00B050"/>
                          </a:solidFill>
                          <a:latin typeface="Nunito Sans"/>
                        </a:rPr>
                        <a:t>Creating Employee Masters (Rule-Based with Validations) – Phase 1</a:t>
                      </a:r>
                    </a:p>
                    <a:p>
                      <a:pPr marL="228600" lvl="0" indent="-228600" algn="l">
                        <a:lnSpc>
                          <a:spcPct val="100000"/>
                        </a:lnSpc>
                        <a:spcBef>
                          <a:spcPts val="0"/>
                        </a:spcBef>
                        <a:spcAft>
                          <a:spcPts val="0"/>
                        </a:spcAft>
                        <a:buAutoNum type="arabicPeriod"/>
                      </a:pPr>
                      <a:r>
                        <a:rPr lang="en-US" sz="1200" b="1" i="0" u="none" strike="noStrike" kern="1200" noProof="0">
                          <a:solidFill>
                            <a:srgbClr val="00B050"/>
                          </a:solidFill>
                          <a:latin typeface="Nunito Sans"/>
                        </a:rPr>
                        <a:t>[SkyFam] Weekend Duty Travel Alert on Email for SOD (Carry‑forward + New Project)</a:t>
                      </a:r>
                    </a:p>
                    <a:p>
                      <a:pPr marL="228600" lvl="0" indent="-228600" algn="l">
                        <a:lnSpc>
                          <a:spcPct val="100000"/>
                        </a:lnSpc>
                        <a:spcBef>
                          <a:spcPts val="0"/>
                        </a:spcBef>
                        <a:spcAft>
                          <a:spcPts val="0"/>
                        </a:spcAft>
                        <a:buAutoNum type="arabicPeriod"/>
                      </a:pPr>
                      <a:r>
                        <a:rPr lang="en-US" sz="1200" b="1" i="0" u="none" strike="noStrike" kern="1200" noProof="0">
                          <a:solidFill>
                            <a:srgbClr val="00B050"/>
                          </a:solidFill>
                          <a:latin typeface="Nunito Sans"/>
                        </a:rPr>
                        <a:t>[Adhoc] Offer Letters Revamp Ph 2 – Optimizing offer letters (merging of multiple letters) &amp; incorporating wage code changes</a:t>
                      </a:r>
                    </a:p>
                    <a:p>
                      <a:pPr marL="228600" lvl="0" indent="-228600" algn="l">
                        <a:lnSpc>
                          <a:spcPct val="100000"/>
                        </a:lnSpc>
                        <a:spcBef>
                          <a:spcPts val="0"/>
                        </a:spcBef>
                        <a:spcAft>
                          <a:spcPts val="0"/>
                        </a:spcAft>
                        <a:buClr>
                          <a:srgbClr val="000000"/>
                        </a:buClr>
                        <a:buAutoNum type="arabicPeriod"/>
                      </a:pPr>
                      <a:r>
                        <a:rPr lang="en-US" sz="1200" b="1" i="0" u="none" strike="noStrike" kern="1200" noProof="0">
                          <a:solidFill>
                            <a:srgbClr val="00B050"/>
                          </a:solidFill>
                          <a:latin typeface="Nunito Sans"/>
                        </a:rPr>
                        <a:t>Compensation Planning Templates, Increment &amp; Bonus Letters Templates Implementation Ph 2</a:t>
                      </a:r>
                      <a:endParaRPr lang="en-US" sz="1200" b="0" i="0" u="none" strike="noStrike" kern="1200" noProof="0">
                        <a:solidFill>
                          <a:srgbClr val="000000"/>
                        </a:solidFill>
                        <a:latin typeface="Nunito Sans"/>
                      </a:endParaRPr>
                    </a:p>
                    <a:p>
                      <a:pPr marL="228600" lvl="0" indent="-228600" algn="l">
                        <a:lnSpc>
                          <a:spcPct val="100000"/>
                        </a:lnSpc>
                        <a:spcBef>
                          <a:spcPts val="0"/>
                        </a:spcBef>
                        <a:spcAft>
                          <a:spcPts val="0"/>
                        </a:spcAft>
                        <a:buAutoNum type="arabicPeriod"/>
                      </a:pPr>
                      <a:endParaRPr lang="en-US" sz="1200" b="1" i="0" u="none" strike="noStrike" kern="1200" noProof="0">
                        <a:solidFill>
                          <a:srgbClr val="00B050"/>
                        </a:solidFill>
                        <a:latin typeface="Nunito Sans"/>
                      </a:endParaRPr>
                    </a:p>
                    <a:p>
                      <a:pPr marL="228600" lvl="0" indent="-228600" algn="l">
                        <a:lnSpc>
                          <a:spcPct val="100000"/>
                        </a:lnSpc>
                        <a:spcBef>
                          <a:spcPts val="0"/>
                        </a:spcBef>
                        <a:spcAft>
                          <a:spcPts val="0"/>
                        </a:spcAft>
                        <a:buAutoNum type="arabicPeriod"/>
                      </a:pPr>
                      <a:endParaRPr lang="en-US" sz="1200" b="1" i="0" u="none" strike="noStrike" kern="1200" noProof="0">
                        <a:solidFill>
                          <a:srgbClr val="00B050"/>
                        </a:solidFill>
                        <a:latin typeface="Nunito Sans"/>
                      </a:endParaRPr>
                    </a:p>
                    <a:p>
                      <a:pPr marL="228600" lvl="0" indent="-228600" algn="l">
                        <a:lnSpc>
                          <a:spcPct val="100000"/>
                        </a:lnSpc>
                        <a:spcBef>
                          <a:spcPts val="0"/>
                        </a:spcBef>
                        <a:spcAft>
                          <a:spcPts val="0"/>
                        </a:spcAft>
                        <a:buAutoNum type="arabicPeriod"/>
                      </a:pPr>
                      <a:endParaRPr lang="en-US" sz="1200" b="1" i="0" u="none" strike="noStrike" kern="1200" noProof="0">
                        <a:solidFill>
                          <a:srgbClr val="00B050"/>
                        </a:solidFill>
                        <a:latin typeface="Nunito Sans"/>
                      </a:endParaRPr>
                    </a:p>
                    <a:p>
                      <a:pPr marL="228600" lvl="0" indent="-228600" algn="l">
                        <a:lnSpc>
                          <a:spcPct val="100000"/>
                        </a:lnSpc>
                        <a:spcBef>
                          <a:spcPts val="0"/>
                        </a:spcBef>
                        <a:spcAft>
                          <a:spcPts val="0"/>
                        </a:spcAft>
                        <a:buAutoNum type="arabicPeriod"/>
                      </a:pPr>
                      <a:endParaRPr lang="en-US" sz="1200" b="1" i="0" u="none" strike="noStrike" kern="1200" noProof="0">
                        <a:solidFill>
                          <a:srgbClr val="00B050"/>
                        </a:solidFill>
                        <a:latin typeface="Nunito Sans"/>
                      </a:endParaRPr>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tc>
                  <a:txBody>
                    <a:bodyPr/>
                    <a:lstStyle/>
                    <a:p>
                      <a:pPr marL="228600" lvl="0" indent="-228600" algn="l">
                        <a:lnSpc>
                          <a:spcPct val="100000"/>
                        </a:lnSpc>
                        <a:buAutoNum type="arabicPeriod"/>
                      </a:pPr>
                      <a:r>
                        <a:rPr lang="en-US" sz="1200" b="0" i="0" u="none" strike="noStrike" kern="1200" baseline="0" noProof="0">
                          <a:solidFill>
                            <a:srgbClr val="000000"/>
                          </a:solidFill>
                          <a:latin typeface="Nunito Sans"/>
                        </a:rPr>
                        <a:t>Automates upgrade decisions through rule‑based logic, improving fairness, process speed, and operational efficiency.</a:t>
                      </a:r>
                      <a:endParaRPr lang="en-US" sz="1200"/>
                    </a:p>
                    <a:p>
                      <a:pPr marL="228600" lvl="0" indent="-228600" algn="l">
                        <a:lnSpc>
                          <a:spcPct val="100000"/>
                        </a:lnSpc>
                        <a:buAutoNum type="arabicPeriod"/>
                      </a:pPr>
                      <a:r>
                        <a:rPr lang="en-US" sz="1200" b="0" i="0" u="none" strike="noStrike" kern="1200" baseline="0" noProof="0">
                          <a:solidFill>
                            <a:srgbClr val="000000"/>
                          </a:solidFill>
                          <a:latin typeface="Nunito Sans"/>
                        </a:rPr>
                        <a:t>Creates a validated, rule-based employee master ensuring data integrity and reducing downstream system inconsistencies.</a:t>
                      </a:r>
                    </a:p>
                    <a:p>
                      <a:pPr marL="228600" lvl="0" indent="-228600" algn="l">
                        <a:lnSpc>
                          <a:spcPct val="100000"/>
                        </a:lnSpc>
                        <a:buAutoNum type="arabicPeriod"/>
                      </a:pPr>
                      <a:r>
                        <a:rPr lang="en-US" sz="1200" b="0" i="0" u="none" strike="noStrike" kern="1200" baseline="0" noProof="0">
                          <a:solidFill>
                            <a:srgbClr val="000000"/>
                          </a:solidFill>
                          <a:latin typeface="Nunito Sans"/>
                        </a:rPr>
                        <a:t>Sends automated alerts for planned weekend travel, strengthening compliance, governance, and operational visibility.</a:t>
                      </a:r>
                    </a:p>
                    <a:p>
                      <a:pPr marL="228600" lvl="0" indent="-228600" algn="l">
                        <a:lnSpc>
                          <a:spcPct val="100000"/>
                        </a:lnSpc>
                        <a:buAutoNum type="arabicPeriod"/>
                      </a:pPr>
                      <a:r>
                        <a:rPr lang="en-US" sz="1200" b="0" i="0" u="none" strike="noStrike" kern="1200" baseline="0" noProof="0">
                          <a:solidFill>
                            <a:schemeClr val="tx1"/>
                          </a:solidFill>
                          <a:latin typeface="Segoe UI"/>
                          <a:cs typeface="Segoe UI"/>
                        </a:rPr>
                        <a:t>Reducing release TAT and rework while improving compliance and candidate experience</a:t>
                      </a:r>
                      <a:endParaRPr lang="en-US" sz="1200" b="0" i="0" u="none" strike="noStrike" kern="1200" baseline="0" noProof="0">
                        <a:solidFill>
                          <a:srgbClr val="000000"/>
                        </a:solidFill>
                        <a:latin typeface="Nunito Sans"/>
                      </a:endParaRPr>
                    </a:p>
                    <a:p>
                      <a:pPr marL="228600" lvl="0" indent="-228600" algn="l">
                        <a:lnSpc>
                          <a:spcPct val="100000"/>
                        </a:lnSpc>
                        <a:buAutoNum type="arabicPeriod"/>
                      </a:pPr>
                      <a:r>
                        <a:rPr lang="en-US" sz="1200" b="0" i="0" u="none" strike="noStrike" kern="1200" baseline="0" noProof="0">
                          <a:solidFill>
                            <a:schemeClr val="tx1"/>
                          </a:solidFill>
                          <a:latin typeface="Segoe UI"/>
                          <a:cs typeface="Segoe UI"/>
                        </a:rPr>
                        <a:t>Standardizes and automates compensation communication, reducing manual effort and ensuring error‑free, timely rollouts.</a:t>
                      </a:r>
                    </a:p>
                    <a:p>
                      <a:pPr marL="228600" lvl="0" indent="-228600" algn="l">
                        <a:lnSpc>
                          <a:spcPct val="100000"/>
                        </a:lnSpc>
                        <a:buAutoNum type="arabicPeriod"/>
                      </a:pPr>
                      <a:endParaRPr lang="en-US" sz="1200" b="0" i="0" u="none" strike="noStrike" kern="1200" baseline="0" noProof="0">
                        <a:solidFill>
                          <a:srgbClr val="000000"/>
                        </a:solidFill>
                        <a:latin typeface="Nunito Sans"/>
                      </a:endParaRPr>
                    </a:p>
                    <a:p>
                      <a:pPr marL="0" lvl="0" indent="0" algn="l">
                        <a:lnSpc>
                          <a:spcPct val="100000"/>
                        </a:lnSpc>
                        <a:spcBef>
                          <a:spcPts val="0"/>
                        </a:spcBef>
                        <a:spcAft>
                          <a:spcPts val="0"/>
                        </a:spcAft>
                        <a:buNone/>
                      </a:pPr>
                      <a:endParaRPr lang="en-US" sz="1200" b="0" i="0" u="none" strike="noStrike" kern="1200" noProof="0">
                        <a:solidFill>
                          <a:schemeClr val="tx1"/>
                        </a:solidFill>
                        <a:latin typeface="Nunito Sans"/>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a:solidFill>
                        <a:schemeClr val="bg1">
                          <a:lumMod val="75000"/>
                        </a:schemeClr>
                      </a:solidFill>
                    </a:lnB>
                    <a:noFill/>
                  </a:tcPr>
                </a:tc>
                <a:extLst>
                  <a:ext uri="{0D108BD9-81ED-4DB2-BD59-A6C34878D82A}">
                    <a16:rowId xmlns:a16="http://schemas.microsoft.com/office/drawing/2014/main" val="2443371065"/>
                  </a:ext>
                </a:extLst>
              </a:tr>
            </a:tbl>
          </a:graphicData>
        </a:graphic>
      </p:graphicFrame>
      <p:sp>
        <p:nvSpPr>
          <p:cNvPr id="4" name="Rectangle 3">
            <a:extLst>
              <a:ext uri="{FF2B5EF4-FFF2-40B4-BE49-F238E27FC236}">
                <a16:creationId xmlns:a16="http://schemas.microsoft.com/office/drawing/2014/main" id="{220C2447-FFE7-A5C5-8B04-5964FE6987F8}"/>
              </a:ext>
            </a:extLst>
          </p:cNvPr>
          <p:cNvSpPr/>
          <p:nvPr/>
        </p:nvSpPr>
        <p:spPr>
          <a:xfrm>
            <a:off x="1188132" y="6671592"/>
            <a:ext cx="90000" cy="90000"/>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5" name="Rectangle 4">
            <a:extLst>
              <a:ext uri="{FF2B5EF4-FFF2-40B4-BE49-F238E27FC236}">
                <a16:creationId xmlns:a16="http://schemas.microsoft.com/office/drawing/2014/main" id="{0534F98D-FCB8-34DC-C767-33BE85B00FA3}"/>
              </a:ext>
            </a:extLst>
          </p:cNvPr>
          <p:cNvSpPr/>
          <p:nvPr/>
        </p:nvSpPr>
        <p:spPr>
          <a:xfrm>
            <a:off x="2265818" y="6670554"/>
            <a:ext cx="90000" cy="90000"/>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7" name="Rectangle 6">
            <a:extLst>
              <a:ext uri="{FF2B5EF4-FFF2-40B4-BE49-F238E27FC236}">
                <a16:creationId xmlns:a16="http://schemas.microsoft.com/office/drawing/2014/main" id="{9BB55D8E-E945-AF93-D5F9-721E21B5F514}"/>
              </a:ext>
            </a:extLst>
          </p:cNvPr>
          <p:cNvSpPr/>
          <p:nvPr/>
        </p:nvSpPr>
        <p:spPr>
          <a:xfrm>
            <a:off x="3443423" y="6671592"/>
            <a:ext cx="90000" cy="90000"/>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8" name="Rectangle 7">
            <a:extLst>
              <a:ext uri="{FF2B5EF4-FFF2-40B4-BE49-F238E27FC236}">
                <a16:creationId xmlns:a16="http://schemas.microsoft.com/office/drawing/2014/main" id="{31CB2785-48B7-ACC1-D26F-D6B9957BDF80}"/>
              </a:ext>
            </a:extLst>
          </p:cNvPr>
          <p:cNvSpPr/>
          <p:nvPr/>
        </p:nvSpPr>
        <p:spPr>
          <a:xfrm>
            <a:off x="8146052" y="6714097"/>
            <a:ext cx="90000" cy="90000"/>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9" name="TextBox 15">
            <a:extLst>
              <a:ext uri="{FF2B5EF4-FFF2-40B4-BE49-F238E27FC236}">
                <a16:creationId xmlns:a16="http://schemas.microsoft.com/office/drawing/2014/main" id="{5EB254B2-B5DC-AD90-70A6-32ACD47AF12B}"/>
              </a:ext>
            </a:extLst>
          </p:cNvPr>
          <p:cNvSpPr txBox="1"/>
          <p:nvPr/>
        </p:nvSpPr>
        <p:spPr>
          <a:xfrm>
            <a:off x="1288983" y="6614743"/>
            <a:ext cx="857245"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0070C0"/>
                </a:solidFill>
                <a:effectLst/>
                <a:uLnTx/>
                <a:uFillTx/>
                <a:latin typeface="Nunito Sans"/>
                <a:ea typeface="+mn-ea"/>
                <a:cs typeface="+mn-cs"/>
              </a:rPr>
              <a:t>Delivered</a:t>
            </a:r>
            <a:endParaRPr kumimoji="0" lang="en-IN" sz="1000" b="0" i="0" u="none" strike="noStrike" kern="1200" cap="none" spc="0" normalizeH="0" baseline="0" noProof="0">
              <a:ln>
                <a:noFill/>
              </a:ln>
              <a:solidFill>
                <a:srgbClr val="000000"/>
              </a:solidFill>
              <a:effectLst/>
              <a:uLnTx/>
              <a:uFillTx/>
              <a:latin typeface="Nunito Sans"/>
              <a:ea typeface="+mn-ea"/>
              <a:cs typeface="+mn-cs"/>
            </a:endParaRPr>
          </a:p>
        </p:txBody>
      </p:sp>
      <p:sp>
        <p:nvSpPr>
          <p:cNvPr id="10" name="TextBox 18">
            <a:extLst>
              <a:ext uri="{FF2B5EF4-FFF2-40B4-BE49-F238E27FC236}">
                <a16:creationId xmlns:a16="http://schemas.microsoft.com/office/drawing/2014/main" id="{EE29C8AC-C81A-9A07-1BB2-68501012FBB1}"/>
              </a:ext>
            </a:extLst>
          </p:cNvPr>
          <p:cNvSpPr txBox="1"/>
          <p:nvPr/>
        </p:nvSpPr>
        <p:spPr>
          <a:xfrm>
            <a:off x="2310642" y="6611102"/>
            <a:ext cx="1032881"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00B050"/>
                </a:solidFill>
                <a:effectLst/>
                <a:uLnTx/>
                <a:uFillTx/>
                <a:latin typeface="Nunito Sans"/>
                <a:ea typeface="+mn-ea"/>
                <a:cs typeface="+mn-cs"/>
              </a:rPr>
              <a:t>Ontrack</a:t>
            </a:r>
            <a:endParaRPr kumimoji="0" lang="en-IN" sz="1000" b="0" i="0" u="none" strike="noStrike" kern="1200" cap="none" spc="0" normalizeH="0" baseline="0" noProof="0">
              <a:ln>
                <a:noFill/>
              </a:ln>
              <a:solidFill>
                <a:srgbClr val="000000"/>
              </a:solidFill>
              <a:effectLst/>
              <a:uLnTx/>
              <a:uFillTx/>
              <a:latin typeface="Nunito Sans"/>
              <a:ea typeface="+mn-ea"/>
              <a:cs typeface="+mn-cs"/>
            </a:endParaRPr>
          </a:p>
        </p:txBody>
      </p:sp>
      <p:sp>
        <p:nvSpPr>
          <p:cNvPr id="11" name="TextBox 20">
            <a:extLst>
              <a:ext uri="{FF2B5EF4-FFF2-40B4-BE49-F238E27FC236}">
                <a16:creationId xmlns:a16="http://schemas.microsoft.com/office/drawing/2014/main" id="{5047EF4B-31D1-1D4E-549C-FFB12CF7B871}"/>
              </a:ext>
            </a:extLst>
          </p:cNvPr>
          <p:cNvSpPr txBox="1"/>
          <p:nvPr/>
        </p:nvSpPr>
        <p:spPr>
          <a:xfrm>
            <a:off x="3539606" y="6608370"/>
            <a:ext cx="2257628"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FED9A0">
                    <a:lumMod val="75000"/>
                  </a:srgbClr>
                </a:solidFill>
                <a:effectLst/>
                <a:uLnTx/>
                <a:uFillTx/>
                <a:latin typeface="Nunito Sans"/>
                <a:ea typeface="+mn-ea"/>
                <a:cs typeface="+mn-cs"/>
              </a:rPr>
              <a:t>Under delay and can be recovered</a:t>
            </a:r>
            <a:endParaRPr kumimoji="0" lang="en-IN" sz="1000" b="0" i="0" u="none" strike="noStrike" kern="1200" cap="none" spc="0" normalizeH="0" baseline="0" noProof="0">
              <a:ln>
                <a:noFill/>
              </a:ln>
              <a:solidFill>
                <a:srgbClr val="000000"/>
              </a:solidFill>
              <a:effectLst/>
              <a:uLnTx/>
              <a:uFillTx/>
              <a:latin typeface="Nunito Sans"/>
              <a:ea typeface="+mn-ea"/>
              <a:cs typeface="+mn-cs"/>
            </a:endParaRPr>
          </a:p>
        </p:txBody>
      </p:sp>
      <p:sp>
        <p:nvSpPr>
          <p:cNvPr id="13" name="TextBox 22">
            <a:extLst>
              <a:ext uri="{FF2B5EF4-FFF2-40B4-BE49-F238E27FC236}">
                <a16:creationId xmlns:a16="http://schemas.microsoft.com/office/drawing/2014/main" id="{84B76A48-0067-6605-44DA-A29F25A5E8A5}"/>
              </a:ext>
            </a:extLst>
          </p:cNvPr>
          <p:cNvSpPr txBox="1"/>
          <p:nvPr/>
        </p:nvSpPr>
        <p:spPr>
          <a:xfrm>
            <a:off x="8246937" y="6618126"/>
            <a:ext cx="2338222"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FF0000"/>
                </a:solidFill>
                <a:effectLst/>
                <a:uLnTx/>
                <a:uFillTx/>
                <a:latin typeface="Nunito Sans"/>
                <a:ea typeface="+mn-ea"/>
                <a:cs typeface="+mn-cs"/>
              </a:rPr>
              <a:t>Delayed and pushed to next release</a:t>
            </a:r>
          </a:p>
        </p:txBody>
      </p:sp>
      <p:sp>
        <p:nvSpPr>
          <p:cNvPr id="15" name="TextBox 14">
            <a:extLst>
              <a:ext uri="{FF2B5EF4-FFF2-40B4-BE49-F238E27FC236}">
                <a16:creationId xmlns:a16="http://schemas.microsoft.com/office/drawing/2014/main" id="{399AC110-EB28-420B-94CC-84A3ED88351D}"/>
              </a:ext>
            </a:extLst>
          </p:cNvPr>
          <p:cNvSpPr txBox="1"/>
          <p:nvPr/>
        </p:nvSpPr>
        <p:spPr>
          <a:xfrm>
            <a:off x="6454369" y="6611638"/>
            <a:ext cx="2743200"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IN" sz="1000">
                <a:solidFill>
                  <a:srgbClr val="7D7D7D"/>
                </a:solidFill>
              </a:rPr>
              <a:t>Descoped</a:t>
            </a:r>
            <a:endParaRPr lang="en-US"/>
          </a:p>
        </p:txBody>
      </p:sp>
      <p:sp>
        <p:nvSpPr>
          <p:cNvPr id="16" name="Rectangle 15">
            <a:extLst>
              <a:ext uri="{FF2B5EF4-FFF2-40B4-BE49-F238E27FC236}">
                <a16:creationId xmlns:a16="http://schemas.microsoft.com/office/drawing/2014/main" id="{D9A1F4C3-7DF6-AD72-F60A-3965C96C428D}"/>
              </a:ext>
            </a:extLst>
          </p:cNvPr>
          <p:cNvSpPr/>
          <p:nvPr/>
        </p:nvSpPr>
        <p:spPr>
          <a:xfrm>
            <a:off x="6360794" y="6681439"/>
            <a:ext cx="90000" cy="90000"/>
          </a:xfrm>
          <a:prstGeom prst="rect">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Tree>
    <p:extLst>
      <p:ext uri="{BB962C8B-B14F-4D97-AF65-F5344CB8AC3E}">
        <p14:creationId xmlns:p14="http://schemas.microsoft.com/office/powerpoint/2010/main" val="24554704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2788E4-B053-4675-03BC-DF1C53E5F0F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AD94137-CF46-C549-534D-F2C2B97C782B}"/>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3A41A254-7326-714E-AF55-4C213D6394DE}" type="slidenum">
              <a:rPr kumimoji="0" lang="en-US" sz="1200" b="0" i="0" u="none" strike="noStrike" kern="1200" cap="none" spc="0" normalizeH="0" baseline="0" noProof="0" smtClean="0">
                <a:ln>
                  <a:noFill/>
                </a:ln>
                <a:solidFill>
                  <a:srgbClr val="DA0E28"/>
                </a:solidFill>
                <a:effectLst/>
                <a:uLnTx/>
                <a:uFillTx/>
                <a:latin typeface="Nunito Sans"/>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srgbClr val="DA0E28"/>
              </a:solidFill>
              <a:effectLst/>
              <a:uLnTx/>
              <a:uFillTx/>
              <a:latin typeface="Nunito Sans"/>
              <a:ea typeface="+mn-ea"/>
              <a:cs typeface="+mn-cs"/>
            </a:endParaRPr>
          </a:p>
        </p:txBody>
      </p:sp>
      <p:sp>
        <p:nvSpPr>
          <p:cNvPr id="3" name="Rectangle 2">
            <a:extLst>
              <a:ext uri="{FF2B5EF4-FFF2-40B4-BE49-F238E27FC236}">
                <a16:creationId xmlns:a16="http://schemas.microsoft.com/office/drawing/2014/main" id="{C9CDF5D9-ACE6-4D5A-D58B-7409B97362B4}"/>
              </a:ext>
            </a:extLst>
          </p:cNvPr>
          <p:cNvSpPr/>
          <p:nvPr/>
        </p:nvSpPr>
        <p:spPr>
          <a:xfrm>
            <a:off x="129077" y="610471"/>
            <a:ext cx="1170432" cy="42234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defRPr/>
            </a:pPr>
            <a:r>
              <a:rPr lang="en-IN" sz="1400" b="1">
                <a:solidFill>
                  <a:srgbClr val="FFFFFF"/>
                </a:solidFill>
                <a:latin typeface="AirIndia"/>
                <a:ea typeface="+mn-lt"/>
                <a:cs typeface="+mn-lt"/>
              </a:rPr>
              <a:t>26th </a:t>
            </a:r>
            <a:r>
              <a:rPr lang="en-IN" sz="1400" b="1">
                <a:solidFill>
                  <a:srgbClr val="FFFFFF"/>
                </a:solidFill>
                <a:latin typeface="AirIndia"/>
              </a:rPr>
              <a:t>June</a:t>
            </a:r>
            <a:r>
              <a:rPr kumimoji="0" lang="en-IN" sz="1400" b="1" i="0" u="none" strike="noStrike" kern="1200" cap="none" spc="0" normalizeH="0" baseline="0" noProof="0">
                <a:ln>
                  <a:noFill/>
                </a:ln>
                <a:solidFill>
                  <a:srgbClr val="FFFFFF"/>
                </a:solidFill>
                <a:effectLst/>
                <a:uLnTx/>
                <a:uFillTx/>
                <a:latin typeface="AirIndia"/>
                <a:ea typeface="+mn-ea"/>
                <a:cs typeface="+mn-cs"/>
              </a:rPr>
              <a:t> ‘</a:t>
            </a:r>
            <a:r>
              <a:rPr lang="en-IN" sz="1400" b="1">
                <a:solidFill>
                  <a:srgbClr val="FFFFFF"/>
                </a:solidFill>
                <a:latin typeface="AirIndia"/>
              </a:rPr>
              <a:t>26</a:t>
            </a:r>
            <a:endParaRPr lang="en-US" sz="1400" b="1" i="0" u="none" strike="noStrike" kern="1200" cap="none" spc="0" normalizeH="0" baseline="0" noProof="0">
              <a:ln>
                <a:noFill/>
              </a:ln>
              <a:solidFill>
                <a:srgbClr val="FFFFFF"/>
              </a:solidFill>
              <a:effectLst/>
              <a:uLnTx/>
              <a:uFillTx/>
              <a:latin typeface="AirIndia"/>
            </a:endParaRPr>
          </a:p>
        </p:txBody>
      </p:sp>
      <p:sp>
        <p:nvSpPr>
          <p:cNvPr id="6" name="Title 11">
            <a:extLst>
              <a:ext uri="{FF2B5EF4-FFF2-40B4-BE49-F238E27FC236}">
                <a16:creationId xmlns:a16="http://schemas.microsoft.com/office/drawing/2014/main" id="{2F0CFBDE-6680-940B-E2E4-5F3E8491B071}"/>
              </a:ext>
            </a:extLst>
          </p:cNvPr>
          <p:cNvSpPr txBox="1">
            <a:spLocks/>
          </p:cNvSpPr>
          <p:nvPr/>
        </p:nvSpPr>
        <p:spPr>
          <a:xfrm>
            <a:off x="242857" y="182023"/>
            <a:ext cx="7691717" cy="430255"/>
          </a:xfrm>
          <a:prstGeom prst="rect">
            <a:avLst/>
          </a:prstGeom>
        </p:spPr>
        <p:txBody>
          <a:bodyPr lIns="91440" tIns="45720" rIns="91440" bIns="45720" anchor="t">
            <a:noAutofit/>
          </a:bodyPr>
          <a:lstStyle>
            <a:lvl1pPr algn="l" defTabSz="914400" rtl="0" eaLnBrk="1" latinLnBrk="0" hangingPunct="1">
              <a:lnSpc>
                <a:spcPct val="90000"/>
              </a:lnSpc>
              <a:spcBef>
                <a:spcPct val="0"/>
              </a:spcBef>
              <a:buNone/>
              <a:defRPr sz="4400" b="1" i="0" kern="1200">
                <a:solidFill>
                  <a:schemeClr val="tx1"/>
                </a:solidFill>
                <a:latin typeface="AirIndia" pitchFamily="82" charset="77"/>
                <a:ea typeface="+mj-ea"/>
                <a:cs typeface="+mj-cs"/>
              </a:defRPr>
            </a:lvl1pPr>
          </a:lstStyle>
          <a:p>
            <a:pPr>
              <a:defRPr/>
            </a:pPr>
            <a:r>
              <a:rPr lang="en-US" sz="1800">
                <a:solidFill>
                  <a:srgbClr val="DA0E28"/>
                </a:solidFill>
                <a:latin typeface="AirIndia"/>
              </a:rPr>
              <a:t>Corporate Systems </a:t>
            </a:r>
            <a:r>
              <a:rPr kumimoji="0" lang="en-US" sz="1800" b="1" i="0" u="none" strike="noStrike" kern="1200" cap="none" spc="0" normalizeH="0" baseline="0" noProof="0">
                <a:ln>
                  <a:noFill/>
                </a:ln>
                <a:solidFill>
                  <a:srgbClr val="DA0E28"/>
                </a:solidFill>
                <a:effectLst/>
                <a:uLnTx/>
                <a:uFillTx/>
                <a:latin typeface="AirIndia"/>
                <a:ea typeface="+mj-ea"/>
                <a:cs typeface="+mj-cs"/>
              </a:rPr>
              <a:t>- </a:t>
            </a:r>
            <a:r>
              <a:rPr lang="en-US" sz="1800">
                <a:solidFill>
                  <a:srgbClr val="DA0E28"/>
                </a:solidFill>
                <a:latin typeface="AirIndia"/>
              </a:rPr>
              <a:t>FY26-27 </a:t>
            </a:r>
            <a:r>
              <a:rPr kumimoji="0" lang="en-US" sz="1800" b="1" i="0" u="none" strike="noStrike" kern="1200" cap="none" spc="0" normalizeH="0" baseline="0" noProof="0">
                <a:ln>
                  <a:noFill/>
                </a:ln>
                <a:solidFill>
                  <a:srgbClr val="DA0E28"/>
                </a:solidFill>
                <a:effectLst/>
                <a:uLnTx/>
                <a:uFillTx/>
                <a:latin typeface="AirIndia"/>
                <a:ea typeface="+mj-ea"/>
                <a:cs typeface="+mj-cs"/>
              </a:rPr>
              <a:t>Q1 Release Plan</a:t>
            </a:r>
            <a:r>
              <a:rPr lang="en-US" sz="1800">
                <a:solidFill>
                  <a:srgbClr val="DA0E28"/>
                </a:solidFill>
                <a:latin typeface="AirIndia"/>
              </a:rPr>
              <a:t> (HR Tech)</a:t>
            </a:r>
            <a:endParaRPr lang="en-US" sz="1800" b="0">
              <a:solidFill>
                <a:srgbClr val="000000"/>
              </a:solidFill>
              <a:latin typeface="AirIndia"/>
            </a:endParaRPr>
          </a:p>
          <a:p>
            <a:pPr>
              <a:defRPr/>
            </a:pPr>
            <a:endParaRPr lang="en-US" sz="1800" i="0" u="none" strike="noStrike" kern="1200" cap="none" spc="0" normalizeH="0" baseline="0" noProof="0">
              <a:ln>
                <a:noFill/>
              </a:ln>
              <a:solidFill>
                <a:srgbClr val="DA0E28"/>
              </a:solidFill>
              <a:effectLst/>
              <a:uLnTx/>
              <a:uFillTx/>
              <a:latin typeface="AirIndia"/>
            </a:endParaRPr>
          </a:p>
        </p:txBody>
      </p:sp>
      <p:graphicFrame>
        <p:nvGraphicFramePr>
          <p:cNvPr id="12" name="Table 11">
            <a:extLst>
              <a:ext uri="{FF2B5EF4-FFF2-40B4-BE49-F238E27FC236}">
                <a16:creationId xmlns:a16="http://schemas.microsoft.com/office/drawing/2014/main" id="{914F3B3B-F7CA-3ACE-3954-51F52244D911}"/>
              </a:ext>
            </a:extLst>
          </p:cNvPr>
          <p:cNvGraphicFramePr>
            <a:graphicFrameLocks noGrp="1"/>
          </p:cNvGraphicFramePr>
          <p:nvPr>
            <p:extLst>
              <p:ext uri="{D42A27DB-BD31-4B8C-83A1-F6EECF244321}">
                <p14:modId xmlns:p14="http://schemas.microsoft.com/office/powerpoint/2010/main" val="1998573380"/>
              </p:ext>
            </p:extLst>
          </p:nvPr>
        </p:nvGraphicFramePr>
        <p:xfrm>
          <a:off x="1251008" y="588627"/>
          <a:ext cx="9264593" cy="5486238"/>
        </p:xfrm>
        <a:graphic>
          <a:graphicData uri="http://schemas.openxmlformats.org/drawingml/2006/table">
            <a:tbl>
              <a:tblPr firstRow="1" bandRow="1">
                <a:tableStyleId>{5C22544A-7EE6-4342-B048-85BDC9FD1C3A}</a:tableStyleId>
              </a:tblPr>
              <a:tblGrid>
                <a:gridCol w="2531224">
                  <a:extLst>
                    <a:ext uri="{9D8B030D-6E8A-4147-A177-3AD203B41FA5}">
                      <a16:colId xmlns:a16="http://schemas.microsoft.com/office/drawing/2014/main" val="2822350773"/>
                    </a:ext>
                  </a:extLst>
                </a:gridCol>
                <a:gridCol w="2531224">
                  <a:extLst>
                    <a:ext uri="{9D8B030D-6E8A-4147-A177-3AD203B41FA5}">
                      <a16:colId xmlns:a16="http://schemas.microsoft.com/office/drawing/2014/main" val="1843387359"/>
                    </a:ext>
                  </a:extLst>
                </a:gridCol>
                <a:gridCol w="4202145">
                  <a:extLst>
                    <a:ext uri="{9D8B030D-6E8A-4147-A177-3AD203B41FA5}">
                      <a16:colId xmlns:a16="http://schemas.microsoft.com/office/drawing/2014/main" val="99588705"/>
                    </a:ext>
                  </a:extLst>
                </a:gridCol>
              </a:tblGrid>
              <a:tr h="601354">
                <a:tc>
                  <a:txBody>
                    <a:bodyPr/>
                    <a:lstStyle/>
                    <a:p>
                      <a:pPr marL="0" lvl="0" indent="0" algn="ctr" defTabSz="914400" rtl="0">
                        <a:lnSpc>
                          <a:spcPct val="100000"/>
                        </a:lnSpc>
                        <a:buFont typeface="Arial" panose="020B0604020202020204" pitchFamily="34" charset="0"/>
                        <a:buNone/>
                      </a:pPr>
                      <a:r>
                        <a:rPr lang="en-IN" sz="1100" b="1" kern="1200">
                          <a:solidFill>
                            <a:schemeClr val="bg1"/>
                          </a:solidFill>
                          <a:latin typeface="+mn-lt"/>
                          <a:ea typeface="+mn-ea"/>
                          <a:cs typeface="+mn-cs"/>
                        </a:rPr>
                        <a:t>Initiatives</a:t>
                      </a:r>
                      <a:endParaRPr lang="en-US" sz="1100" b="1"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tc>
                  <a:txBody>
                    <a:bodyPr/>
                    <a:lstStyle/>
                    <a:p>
                      <a:pPr marL="0" lvl="0" indent="0" algn="ctr" defTabSz="914400">
                        <a:lnSpc>
                          <a:spcPct val="100000"/>
                        </a:lnSpc>
                        <a:buNone/>
                      </a:pPr>
                      <a:r>
                        <a:rPr lang="en-IN" sz="1100" b="1" i="0" u="none" strike="noStrike" kern="1200" noProof="0">
                          <a:solidFill>
                            <a:schemeClr val="bg1"/>
                          </a:solidFill>
                          <a:latin typeface="Nunito Sans"/>
                          <a:ea typeface="+mn-ea"/>
                          <a:cs typeface="+mn-cs"/>
                        </a:rPr>
                        <a:t>Programs/Projects</a:t>
                      </a:r>
                      <a:endParaRPr lang="en-US"/>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solidFill>
                      <a:schemeClr val="accent3">
                        <a:lumMod val="90000"/>
                        <a:lumOff val="10000"/>
                      </a:schemeClr>
                    </a:solidFill>
                  </a:tcPr>
                </a:tc>
                <a:tc>
                  <a:txBody>
                    <a:bodyPr/>
                    <a:lstStyle/>
                    <a:p>
                      <a:pPr marL="0" lvl="0" indent="0" algn="ctr">
                        <a:lnSpc>
                          <a:spcPct val="100000"/>
                        </a:lnSpc>
                        <a:buNone/>
                      </a:pPr>
                      <a:endParaRPr lang="en-IN" sz="1100" b="1" i="0" u="none" strike="noStrike" kern="1200" baseline="0" noProof="0">
                        <a:solidFill>
                          <a:srgbClr val="FFFFFF"/>
                        </a:solidFill>
                        <a:latin typeface="Nunito Sans"/>
                      </a:endParaRPr>
                    </a:p>
                    <a:p>
                      <a:pPr marL="0" lvl="0" indent="0" algn="ctr">
                        <a:lnSpc>
                          <a:spcPct val="100000"/>
                        </a:lnSpc>
                        <a:buNone/>
                      </a:pPr>
                      <a:r>
                        <a:rPr lang="en-IN" sz="1100" b="1" i="0" u="none" strike="noStrike" kern="1200" baseline="0" noProof="0">
                          <a:solidFill>
                            <a:srgbClr val="FFFFFF"/>
                          </a:solidFill>
                          <a:latin typeface="Nunito Sans"/>
                        </a:rPr>
                        <a:t>Value Justification/Realization</a:t>
                      </a:r>
                    </a:p>
                    <a:p>
                      <a:pPr marL="0" lvl="0" indent="0" algn="ctr" defTabSz="914400">
                        <a:buFont typeface="Arial" panose="020B0604020202020204" pitchFamily="34" charset="0"/>
                        <a:buNone/>
                      </a:pPr>
                      <a:endParaRPr lang="en-IN" sz="1100"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extLst>
                  <a:ext uri="{0D108BD9-81ED-4DB2-BD59-A6C34878D82A}">
                    <a16:rowId xmlns:a16="http://schemas.microsoft.com/office/drawing/2014/main" val="844450115"/>
                  </a:ext>
                </a:extLst>
              </a:tr>
              <a:tr h="4884884">
                <a:tc>
                  <a:txBody>
                    <a:bodyPr/>
                    <a:lstStyle/>
                    <a:p>
                      <a:pPr marL="228600" lvl="0" indent="-228600" algn="l">
                        <a:lnSpc>
                          <a:spcPct val="100000"/>
                        </a:lnSpc>
                        <a:spcBef>
                          <a:spcPts val="0"/>
                        </a:spcBef>
                        <a:spcAft>
                          <a:spcPts val="0"/>
                        </a:spcAft>
                        <a:buAutoNum type="arabicPeriod"/>
                      </a:pPr>
                      <a:r>
                        <a:rPr lang="en-US" sz="1100" b="1" i="0" u="none" strike="noStrike" kern="1200" noProof="0">
                          <a:solidFill>
                            <a:srgbClr val="0070C0"/>
                          </a:solidFill>
                          <a:latin typeface="Nunito Sans"/>
                        </a:rPr>
                        <a:t>[Adhoc] Life ka Plan SF Integration</a:t>
                      </a:r>
                    </a:p>
                    <a:p>
                      <a:pPr marL="228600" lvl="0" indent="-228600" algn="l">
                        <a:lnSpc>
                          <a:spcPct val="100000"/>
                        </a:lnSpc>
                        <a:spcBef>
                          <a:spcPts val="0"/>
                        </a:spcBef>
                        <a:spcAft>
                          <a:spcPts val="0"/>
                        </a:spcAft>
                        <a:buAutoNum type="arabicPeriod"/>
                      </a:pPr>
                      <a:r>
                        <a:rPr lang="en-US" sz="1100" b="1" i="0" u="none" strike="noStrike" kern="1200" noProof="0">
                          <a:solidFill>
                            <a:schemeClr val="bg1">
                              <a:lumMod val="49000"/>
                            </a:schemeClr>
                          </a:solidFill>
                          <a:latin typeface="Nunito Sans"/>
                        </a:rPr>
                        <a:t>Onboarding 2.0 Enhancements</a:t>
                      </a:r>
                      <a:endParaRPr lang="en-US">
                        <a:solidFill>
                          <a:schemeClr val="bg1">
                            <a:lumMod val="49000"/>
                          </a:schemeClr>
                        </a:solidFill>
                      </a:endParaRPr>
                    </a:p>
                    <a:p>
                      <a:pPr marL="228600" lvl="0" indent="-228600" algn="l">
                        <a:lnSpc>
                          <a:spcPct val="100000"/>
                        </a:lnSpc>
                        <a:spcBef>
                          <a:spcPts val="0"/>
                        </a:spcBef>
                        <a:spcAft>
                          <a:spcPts val="0"/>
                        </a:spcAft>
                        <a:buAutoNum type="arabicPeriod"/>
                      </a:pPr>
                      <a:r>
                        <a:rPr lang="en-US" sz="1100" b="1" i="0" u="none" strike="noStrike" kern="1200" noProof="0">
                          <a:solidFill>
                            <a:srgbClr val="0070C0"/>
                          </a:solidFill>
                          <a:latin typeface="Nunito Sans"/>
                        </a:rPr>
                        <a:t>Team Touchpoint on PMGM Automation</a:t>
                      </a:r>
                    </a:p>
                    <a:p>
                      <a:pPr marL="228600" lvl="0" indent="-228600" algn="l">
                        <a:lnSpc>
                          <a:spcPct val="100000"/>
                        </a:lnSpc>
                        <a:spcBef>
                          <a:spcPts val="0"/>
                        </a:spcBef>
                        <a:spcAft>
                          <a:spcPts val="0"/>
                        </a:spcAft>
                        <a:buAutoNum type="arabicPeriod"/>
                      </a:pPr>
                      <a:r>
                        <a:rPr lang="en-US" sz="1100" b="1" i="0" u="none" strike="noStrike" kern="1200" noProof="0">
                          <a:solidFill>
                            <a:schemeClr val="bg1">
                              <a:lumMod val="49000"/>
                            </a:schemeClr>
                          </a:solidFill>
                          <a:latin typeface="Nunito Sans"/>
                        </a:rPr>
                        <a:t>AMS (Attendance Management System) Phase 1 – Linkage to Payroll</a:t>
                      </a:r>
                    </a:p>
                    <a:p>
                      <a:pPr marL="228600" lvl="0" indent="-228600" algn="l">
                        <a:lnSpc>
                          <a:spcPct val="100000"/>
                        </a:lnSpc>
                        <a:spcBef>
                          <a:spcPts val="0"/>
                        </a:spcBef>
                        <a:spcAft>
                          <a:spcPts val="0"/>
                        </a:spcAft>
                        <a:buAutoNum type="arabicPeriod"/>
                      </a:pPr>
                      <a:r>
                        <a:rPr lang="en-US" sz="1100" b="1" i="0" u="none" strike="noStrike" kern="1200" noProof="0">
                          <a:solidFill>
                            <a:schemeClr val="bg1">
                              <a:lumMod val="49000"/>
                            </a:schemeClr>
                          </a:solidFill>
                          <a:latin typeface="Nunito Sans"/>
                        </a:rPr>
                        <a:t>Enable LWD FNF Input on PeopleStrong</a:t>
                      </a:r>
                    </a:p>
                    <a:p>
                      <a:pPr marL="228600" lvl="0" indent="-228600" algn="l">
                        <a:lnSpc>
                          <a:spcPct val="100000"/>
                        </a:lnSpc>
                        <a:spcBef>
                          <a:spcPts val="0"/>
                        </a:spcBef>
                        <a:spcAft>
                          <a:spcPts val="0"/>
                        </a:spcAft>
                        <a:buAutoNum type="arabicPeriod"/>
                      </a:pPr>
                      <a:r>
                        <a:rPr lang="en-US" sz="1100" b="1" i="0" u="none" strike="noStrike" kern="1200" noProof="0">
                          <a:solidFill>
                            <a:srgbClr val="0070C0"/>
                          </a:solidFill>
                          <a:latin typeface="Nunito Sans"/>
                        </a:rPr>
                        <a:t>BRE – PeopleStrong Expense Module</a:t>
                      </a:r>
                    </a:p>
                    <a:p>
                      <a:pPr marL="228600" lvl="0" indent="-228600" algn="l">
                        <a:lnSpc>
                          <a:spcPct val="100000"/>
                        </a:lnSpc>
                        <a:spcBef>
                          <a:spcPts val="0"/>
                        </a:spcBef>
                        <a:spcAft>
                          <a:spcPts val="0"/>
                        </a:spcAft>
                        <a:buAutoNum type="arabicPeriod"/>
                      </a:pPr>
                      <a:r>
                        <a:rPr lang="en-US" sz="1100" b="1" i="0" u="none" strike="noStrike" kern="1200" noProof="0">
                          <a:solidFill>
                            <a:srgbClr val="0070C0"/>
                          </a:solidFill>
                          <a:latin typeface="Nunito Sans"/>
                        </a:rPr>
                        <a:t>Workforce Analytics – Position Management Related Dashboard Implementation</a:t>
                      </a:r>
                    </a:p>
                    <a:p>
                      <a:pPr marL="228600" lvl="0" indent="-228600" algn="l">
                        <a:lnSpc>
                          <a:spcPct val="100000"/>
                        </a:lnSpc>
                        <a:spcBef>
                          <a:spcPts val="0"/>
                        </a:spcBef>
                        <a:spcAft>
                          <a:spcPts val="0"/>
                        </a:spcAft>
                        <a:buAutoNum type="arabicPeriod"/>
                      </a:pPr>
                      <a:r>
                        <a:rPr lang="en-US" sz="1100" b="1" i="0" u="none" strike="noStrike" kern="1200" baseline="0" noProof="0">
                          <a:solidFill>
                            <a:srgbClr val="0070C0"/>
                          </a:solidFill>
                          <a:latin typeface="Nunito Sans"/>
                        </a:rPr>
                        <a:t>Creating Employee Masters (Rule-Based with Validations) – Phase 2</a:t>
                      </a:r>
                      <a:endParaRPr lang="en-US">
                        <a:solidFill>
                          <a:srgbClr val="0070C0"/>
                        </a:solidFill>
                      </a:endParaRPr>
                    </a:p>
                    <a:p>
                      <a:pPr marL="228600" lvl="0" indent="-228600" algn="l">
                        <a:lnSpc>
                          <a:spcPct val="100000"/>
                        </a:lnSpc>
                        <a:spcBef>
                          <a:spcPts val="0"/>
                        </a:spcBef>
                        <a:spcAft>
                          <a:spcPts val="0"/>
                        </a:spcAft>
                        <a:buAutoNum type="arabicPeriod"/>
                      </a:pPr>
                      <a:endParaRPr lang="en-US" sz="1100" b="1" i="0" u="none" strike="noStrike" kern="1200" baseline="0" noProof="0">
                        <a:solidFill>
                          <a:srgbClr val="00B050"/>
                        </a:solidFill>
                        <a:latin typeface="Nunito Sans"/>
                      </a:endParaRPr>
                    </a:p>
                    <a:p>
                      <a:pPr marL="228600" lvl="0" indent="-228600" algn="l">
                        <a:lnSpc>
                          <a:spcPct val="100000"/>
                        </a:lnSpc>
                        <a:spcBef>
                          <a:spcPts val="0"/>
                        </a:spcBef>
                        <a:spcAft>
                          <a:spcPts val="0"/>
                        </a:spcAft>
                        <a:buAutoNum type="arabicPeriod"/>
                      </a:pPr>
                      <a:endParaRPr lang="en-US" sz="1100" b="1" i="0" u="none" strike="noStrike" kern="1200" noProof="0">
                        <a:solidFill>
                          <a:srgbClr val="00B050"/>
                        </a:solidFill>
                        <a:latin typeface="Nunito Sans"/>
                      </a:endParaRPr>
                    </a:p>
                    <a:p>
                      <a:pPr marL="228600" lvl="0" indent="-228600" algn="l">
                        <a:lnSpc>
                          <a:spcPct val="100000"/>
                        </a:lnSpc>
                        <a:spcBef>
                          <a:spcPts val="0"/>
                        </a:spcBef>
                        <a:spcAft>
                          <a:spcPts val="0"/>
                        </a:spcAft>
                        <a:buAutoNum type="arabicPeriod"/>
                      </a:pPr>
                      <a:endParaRPr lang="en-US" sz="1100" b="1" i="0" u="none" strike="noStrike" kern="1200" noProof="0">
                        <a:solidFill>
                          <a:srgbClr val="00B050"/>
                        </a:solidFill>
                        <a:latin typeface="Nunito Sans"/>
                      </a:endParaRPr>
                    </a:p>
                    <a:p>
                      <a:pPr marL="228600" lvl="0" indent="-228600" algn="l">
                        <a:lnSpc>
                          <a:spcPct val="100000"/>
                        </a:lnSpc>
                        <a:spcBef>
                          <a:spcPts val="0"/>
                        </a:spcBef>
                        <a:spcAft>
                          <a:spcPts val="0"/>
                        </a:spcAft>
                        <a:buAutoNum type="arabicPeriod"/>
                      </a:pPr>
                      <a:endParaRPr lang="en-US" sz="1100" b="1" i="0" u="none" strike="noStrike" kern="1200" noProof="0">
                        <a:solidFill>
                          <a:srgbClr val="00B050"/>
                        </a:solidFill>
                        <a:latin typeface="Nunito Sans"/>
                      </a:endParaRPr>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tc>
                  <a:txBody>
                    <a:bodyPr/>
                    <a:lstStyle/>
                    <a:p>
                      <a:pPr marL="228600" lvl="0" indent="-228600" algn="l">
                        <a:lnSpc>
                          <a:spcPct val="100000"/>
                        </a:lnSpc>
                        <a:spcBef>
                          <a:spcPts val="0"/>
                        </a:spcBef>
                        <a:spcAft>
                          <a:spcPts val="0"/>
                        </a:spcAft>
                        <a:buAutoNum type="arabicPeriod"/>
                      </a:pPr>
                      <a:r>
                        <a:rPr lang="en-US" sz="1100" b="1" i="0" u="none" strike="noStrike" kern="1200" noProof="0">
                          <a:solidFill>
                            <a:srgbClr val="00B050"/>
                          </a:solidFill>
                          <a:latin typeface="Nunito Sans"/>
                        </a:rPr>
                        <a:t>[Adhoc] Life ka Plan SF Integration</a:t>
                      </a:r>
                    </a:p>
                    <a:p>
                      <a:pPr marL="228600" lvl="0" indent="-228600" algn="l">
                        <a:lnSpc>
                          <a:spcPct val="100000"/>
                        </a:lnSpc>
                        <a:spcBef>
                          <a:spcPts val="0"/>
                        </a:spcBef>
                        <a:spcAft>
                          <a:spcPts val="0"/>
                        </a:spcAft>
                        <a:buAutoNum type="arabicPeriod"/>
                      </a:pPr>
                      <a:r>
                        <a:rPr lang="en-US" sz="1100" b="1" i="0" u="none" strike="noStrike" kern="1200" noProof="0">
                          <a:solidFill>
                            <a:schemeClr val="bg1">
                              <a:lumMod val="49000"/>
                            </a:schemeClr>
                          </a:solidFill>
                          <a:latin typeface="Nunito Sans"/>
                        </a:rPr>
                        <a:t>Onboarding 2.0 Enhancements</a:t>
                      </a:r>
                    </a:p>
                    <a:p>
                      <a:pPr marL="228600" lvl="0" indent="-228600" algn="l">
                        <a:lnSpc>
                          <a:spcPct val="100000"/>
                        </a:lnSpc>
                        <a:spcBef>
                          <a:spcPts val="0"/>
                        </a:spcBef>
                        <a:spcAft>
                          <a:spcPts val="0"/>
                        </a:spcAft>
                        <a:buAutoNum type="arabicPeriod"/>
                      </a:pPr>
                      <a:r>
                        <a:rPr lang="en-US" sz="1100" b="1" i="0" u="none" strike="noStrike" kern="1200" noProof="0">
                          <a:solidFill>
                            <a:srgbClr val="00B050"/>
                          </a:solidFill>
                          <a:latin typeface="Nunito Sans"/>
                        </a:rPr>
                        <a:t>Team Touchpoint on PMGM Automation</a:t>
                      </a:r>
                    </a:p>
                    <a:p>
                      <a:pPr marL="228600" lvl="0" indent="-228600" algn="l">
                        <a:lnSpc>
                          <a:spcPct val="100000"/>
                        </a:lnSpc>
                        <a:spcBef>
                          <a:spcPts val="0"/>
                        </a:spcBef>
                        <a:spcAft>
                          <a:spcPts val="0"/>
                        </a:spcAft>
                        <a:buAutoNum type="arabicPeriod"/>
                      </a:pPr>
                      <a:r>
                        <a:rPr lang="en-US" sz="1100" b="1" i="0" u="none" strike="noStrike" kern="1200" noProof="0">
                          <a:solidFill>
                            <a:schemeClr val="bg1">
                              <a:lumMod val="49000"/>
                            </a:schemeClr>
                          </a:solidFill>
                          <a:latin typeface="Nunito Sans"/>
                        </a:rPr>
                        <a:t>AMS (Attendance Management System) Phase 1 – Linkage to Payroll</a:t>
                      </a:r>
                    </a:p>
                    <a:p>
                      <a:pPr marL="228600" lvl="0" indent="-228600" algn="l">
                        <a:lnSpc>
                          <a:spcPct val="100000"/>
                        </a:lnSpc>
                        <a:spcBef>
                          <a:spcPts val="0"/>
                        </a:spcBef>
                        <a:spcAft>
                          <a:spcPts val="0"/>
                        </a:spcAft>
                        <a:buAutoNum type="arabicPeriod"/>
                      </a:pPr>
                      <a:r>
                        <a:rPr lang="en-US" sz="1100" b="1" i="0" u="none" strike="noStrike" kern="1200" noProof="0">
                          <a:solidFill>
                            <a:schemeClr val="bg1">
                              <a:lumMod val="49000"/>
                            </a:schemeClr>
                          </a:solidFill>
                          <a:latin typeface="Nunito Sans"/>
                        </a:rPr>
                        <a:t>Enable LWD FNF Input on PeopleStrong</a:t>
                      </a:r>
                    </a:p>
                    <a:p>
                      <a:pPr marL="228600" lvl="0" indent="-228600" algn="l">
                        <a:lnSpc>
                          <a:spcPct val="100000"/>
                        </a:lnSpc>
                        <a:spcBef>
                          <a:spcPts val="0"/>
                        </a:spcBef>
                        <a:spcAft>
                          <a:spcPts val="0"/>
                        </a:spcAft>
                        <a:buAutoNum type="arabicPeriod"/>
                      </a:pPr>
                      <a:r>
                        <a:rPr lang="en-US" sz="1100" b="1" i="0" u="none" strike="noStrike" kern="1200" noProof="0">
                          <a:solidFill>
                            <a:srgbClr val="00B050"/>
                          </a:solidFill>
                          <a:latin typeface="Nunito Sans"/>
                        </a:rPr>
                        <a:t>BRE – PeopleStrong Expense Module</a:t>
                      </a:r>
                    </a:p>
                    <a:p>
                      <a:pPr marL="228600" lvl="0" indent="-228600" algn="l">
                        <a:lnSpc>
                          <a:spcPct val="100000"/>
                        </a:lnSpc>
                        <a:spcBef>
                          <a:spcPts val="0"/>
                        </a:spcBef>
                        <a:spcAft>
                          <a:spcPts val="0"/>
                        </a:spcAft>
                        <a:buAutoNum type="arabicPeriod"/>
                      </a:pPr>
                      <a:r>
                        <a:rPr lang="en-US" sz="1100" b="1" i="0" u="none" strike="noStrike" kern="1200" noProof="0">
                          <a:solidFill>
                            <a:srgbClr val="FF0000"/>
                          </a:solidFill>
                          <a:latin typeface="Nunito Sans"/>
                        </a:rPr>
                        <a:t>Workforce Analytics – Position Management Related Dashboard Implementation</a:t>
                      </a:r>
                    </a:p>
                    <a:p>
                      <a:pPr marL="228600" lvl="0" indent="-228600" algn="l">
                        <a:lnSpc>
                          <a:spcPct val="100000"/>
                        </a:lnSpc>
                        <a:spcBef>
                          <a:spcPts val="0"/>
                        </a:spcBef>
                        <a:spcAft>
                          <a:spcPts val="0"/>
                        </a:spcAft>
                        <a:buAutoNum type="arabicPeriod"/>
                      </a:pPr>
                      <a:r>
                        <a:rPr lang="en-US" sz="1100" b="1" i="0" u="none" strike="noStrike" kern="1200" baseline="0" noProof="0">
                          <a:solidFill>
                            <a:srgbClr val="00B050"/>
                          </a:solidFill>
                          <a:latin typeface="Nunito Sans"/>
                        </a:rPr>
                        <a:t>Creating Employee Masters (Rule-Based with Validations) – Phase 2</a:t>
                      </a:r>
                      <a:endParaRPr lang="en-US"/>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tc>
                  <a:txBody>
                    <a:bodyPr/>
                    <a:lstStyle/>
                    <a:p>
                      <a:pPr marL="228600" lvl="0" indent="-228600" algn="l">
                        <a:lnSpc>
                          <a:spcPct val="100000"/>
                        </a:lnSpc>
                        <a:buAutoNum type="arabicPeriod"/>
                      </a:pPr>
                      <a:r>
                        <a:rPr lang="en-US" sz="1000" b="0" i="0" u="none" strike="noStrike" kern="1200" baseline="0" noProof="0">
                          <a:solidFill>
                            <a:srgbClr val="000000"/>
                          </a:solidFill>
                          <a:latin typeface="Nunito Sans"/>
                        </a:rPr>
                        <a:t>Ensure single source of truth for Life Ka Plan (Insurance) portal for employee master &amp; ensuring seamless automated entry &amp; exit of employees making access active/inactive near real time</a:t>
                      </a:r>
                    </a:p>
                    <a:p>
                      <a:pPr marL="228600" lvl="0" indent="-228600" algn="l">
                        <a:lnSpc>
                          <a:spcPct val="100000"/>
                        </a:lnSpc>
                        <a:buAutoNum type="arabicPeriod"/>
                      </a:pPr>
                      <a:r>
                        <a:rPr lang="en-US" sz="1000" b="0" i="0" u="none" strike="noStrike" kern="1200" baseline="0" noProof="0">
                          <a:solidFill>
                            <a:srgbClr val="000000"/>
                          </a:solidFill>
                          <a:latin typeface="Nunito Sans"/>
                        </a:rPr>
                        <a:t>Digitizes and streamlines onboarding workflows, improving new‑hire experience and reducing turnaround time.</a:t>
                      </a:r>
                    </a:p>
                    <a:p>
                      <a:pPr marL="228600" lvl="0" indent="-228600" algn="l">
                        <a:lnSpc>
                          <a:spcPct val="100000"/>
                        </a:lnSpc>
                        <a:buAutoNum type="arabicPeriod"/>
                      </a:pPr>
                      <a:r>
                        <a:rPr lang="en-US" sz="1000" b="0" i="0" u="none" strike="noStrike" kern="1200" baseline="0" noProof="0">
                          <a:solidFill>
                            <a:srgbClr val="000000"/>
                          </a:solidFill>
                          <a:latin typeface="Nunito Sans"/>
                        </a:rPr>
                        <a:t>Automates scheduled manager–employee conversations, improving documentation quality and PMGM cycle compliance.</a:t>
                      </a:r>
                    </a:p>
                    <a:p>
                      <a:pPr marL="228600" lvl="0" indent="-228600" algn="l">
                        <a:lnSpc>
                          <a:spcPct val="100000"/>
                        </a:lnSpc>
                        <a:buAutoNum type="arabicPeriod"/>
                      </a:pPr>
                      <a:r>
                        <a:rPr lang="en-US" sz="1000" b="0" i="0" u="none" strike="noStrike" kern="1200" baseline="0" noProof="0">
                          <a:solidFill>
                            <a:srgbClr val="000000"/>
                          </a:solidFill>
                          <a:latin typeface="Nunito Sans"/>
                        </a:rPr>
                        <a:t>Ensures accurate payouts by linking attendance directly to payroll, reducing manual reconciliations and errors.</a:t>
                      </a:r>
                    </a:p>
                    <a:p>
                      <a:pPr marL="228600" lvl="0" indent="-228600" algn="l">
                        <a:lnSpc>
                          <a:spcPct val="100000"/>
                        </a:lnSpc>
                        <a:buAutoNum type="arabicPeriod"/>
                      </a:pPr>
                      <a:r>
                        <a:rPr lang="en-US" sz="1000" b="0" i="0" u="none" strike="noStrike" kern="1200" baseline="0" noProof="0">
                          <a:solidFill>
                            <a:srgbClr val="000000"/>
                          </a:solidFill>
                          <a:latin typeface="Nunito Sans"/>
                        </a:rPr>
                        <a:t>Automates full‑and‑final settlement inputs on LWD, reducing manual dependency and speeding up settlement timelines.</a:t>
                      </a:r>
                    </a:p>
                    <a:p>
                      <a:pPr marL="228600" lvl="0" indent="-228600" algn="l">
                        <a:lnSpc>
                          <a:spcPct val="100000"/>
                        </a:lnSpc>
                        <a:buAutoNum type="arabicPeriod"/>
                      </a:pPr>
                      <a:r>
                        <a:rPr lang="en-US" sz="1000" b="0" i="0" u="none" strike="noStrike" kern="1200" baseline="0" noProof="0">
                          <a:solidFill>
                            <a:srgbClr val="000000"/>
                          </a:solidFill>
                          <a:latin typeface="Nunito Sans"/>
                        </a:rPr>
                        <a:t>Implements rule-based checks for expense claims, reducing policy violations and enabling faster reimbursement cycles.</a:t>
                      </a:r>
                    </a:p>
                    <a:p>
                      <a:pPr marL="228600" lvl="0" indent="-228600" algn="l">
                        <a:lnSpc>
                          <a:spcPct val="100000"/>
                        </a:lnSpc>
                        <a:buAutoNum type="arabicPeriod"/>
                      </a:pPr>
                      <a:r>
                        <a:rPr lang="en-US" sz="1200" b="0" i="0" u="none" strike="noStrike" kern="1200" baseline="0" noProof="0">
                          <a:solidFill>
                            <a:schemeClr val="tx1"/>
                          </a:solidFill>
                          <a:latin typeface="Segoe UI"/>
                          <a:cs typeface="Segoe UI"/>
                        </a:rPr>
                        <a:t>Delivers a more intuitive, comprehensive view of employee demographics, movements, and trends, improving stakeholder understanding and analytics adoption.</a:t>
                      </a:r>
                      <a:endParaRPr lang="en-US" sz="1000" b="0" i="0" u="none" strike="noStrike" kern="1200" baseline="0" noProof="0">
                        <a:solidFill>
                          <a:srgbClr val="000000"/>
                        </a:solidFill>
                        <a:latin typeface="Nunito Sans"/>
                      </a:endParaRPr>
                    </a:p>
                    <a:p>
                      <a:pPr marL="228600" lvl="0" indent="-228600" algn="l">
                        <a:lnSpc>
                          <a:spcPct val="100000"/>
                        </a:lnSpc>
                        <a:buAutoNum type="arabicPeriod"/>
                      </a:pPr>
                      <a:r>
                        <a:rPr lang="en-US" sz="1200" b="0" i="0" u="none" strike="noStrike" kern="1200" baseline="0" noProof="0">
                          <a:solidFill>
                            <a:schemeClr val="tx1"/>
                          </a:solidFill>
                          <a:latin typeface="Segoe UI"/>
                          <a:cs typeface="Segoe UI"/>
                        </a:rPr>
                        <a:t>Creates a validated, rule-based employee master ensuring data integrity and reducing downstream system inconsistencies</a:t>
                      </a:r>
                    </a:p>
                    <a:p>
                      <a:pPr marL="228600" lvl="0" indent="-228600" algn="l">
                        <a:lnSpc>
                          <a:spcPct val="100000"/>
                        </a:lnSpc>
                        <a:buAutoNum type="arabicPeriod"/>
                      </a:pPr>
                      <a:endParaRPr lang="en-US" sz="1000" b="0" i="0" u="none" strike="noStrike" kern="1200" baseline="0" noProof="0">
                        <a:solidFill>
                          <a:srgbClr val="000000"/>
                        </a:solidFill>
                        <a:latin typeface="Nunito Sans"/>
                      </a:endParaRPr>
                    </a:p>
                  </a:txBody>
                  <a:tcP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a:solidFill>
                        <a:schemeClr val="bg1">
                          <a:lumMod val="75000"/>
                        </a:schemeClr>
                      </a:solidFill>
                    </a:lnB>
                    <a:noFill/>
                  </a:tcPr>
                </a:tc>
                <a:extLst>
                  <a:ext uri="{0D108BD9-81ED-4DB2-BD59-A6C34878D82A}">
                    <a16:rowId xmlns:a16="http://schemas.microsoft.com/office/drawing/2014/main" val="2443371065"/>
                  </a:ext>
                </a:extLst>
              </a:tr>
            </a:tbl>
          </a:graphicData>
        </a:graphic>
      </p:graphicFrame>
      <p:sp>
        <p:nvSpPr>
          <p:cNvPr id="4" name="Rectangle 3">
            <a:extLst>
              <a:ext uri="{FF2B5EF4-FFF2-40B4-BE49-F238E27FC236}">
                <a16:creationId xmlns:a16="http://schemas.microsoft.com/office/drawing/2014/main" id="{DB538FC3-91A4-F442-7E3B-33935B871BC6}"/>
              </a:ext>
            </a:extLst>
          </p:cNvPr>
          <p:cNvSpPr/>
          <p:nvPr/>
        </p:nvSpPr>
        <p:spPr>
          <a:xfrm>
            <a:off x="1188132" y="6671592"/>
            <a:ext cx="90000" cy="90000"/>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5" name="Rectangle 4">
            <a:extLst>
              <a:ext uri="{FF2B5EF4-FFF2-40B4-BE49-F238E27FC236}">
                <a16:creationId xmlns:a16="http://schemas.microsoft.com/office/drawing/2014/main" id="{807B5133-710D-1767-0E04-970D9641426C}"/>
              </a:ext>
            </a:extLst>
          </p:cNvPr>
          <p:cNvSpPr/>
          <p:nvPr/>
        </p:nvSpPr>
        <p:spPr>
          <a:xfrm>
            <a:off x="2265818" y="6670554"/>
            <a:ext cx="90000" cy="90000"/>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7" name="Rectangle 6">
            <a:extLst>
              <a:ext uri="{FF2B5EF4-FFF2-40B4-BE49-F238E27FC236}">
                <a16:creationId xmlns:a16="http://schemas.microsoft.com/office/drawing/2014/main" id="{C03DB6C9-A36D-8C22-F215-ECCA15FFA080}"/>
              </a:ext>
            </a:extLst>
          </p:cNvPr>
          <p:cNvSpPr/>
          <p:nvPr/>
        </p:nvSpPr>
        <p:spPr>
          <a:xfrm>
            <a:off x="3443423" y="6671592"/>
            <a:ext cx="90000" cy="90000"/>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8" name="Rectangle 7">
            <a:extLst>
              <a:ext uri="{FF2B5EF4-FFF2-40B4-BE49-F238E27FC236}">
                <a16:creationId xmlns:a16="http://schemas.microsoft.com/office/drawing/2014/main" id="{5E86101E-3EEA-0EC1-9173-519A6F42E7E1}"/>
              </a:ext>
            </a:extLst>
          </p:cNvPr>
          <p:cNvSpPr/>
          <p:nvPr/>
        </p:nvSpPr>
        <p:spPr>
          <a:xfrm>
            <a:off x="8146052" y="6714097"/>
            <a:ext cx="90000" cy="90000"/>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9" name="TextBox 15">
            <a:extLst>
              <a:ext uri="{FF2B5EF4-FFF2-40B4-BE49-F238E27FC236}">
                <a16:creationId xmlns:a16="http://schemas.microsoft.com/office/drawing/2014/main" id="{FA610A35-CDFA-D2D4-A603-DEB0D93C9520}"/>
              </a:ext>
            </a:extLst>
          </p:cNvPr>
          <p:cNvSpPr txBox="1"/>
          <p:nvPr/>
        </p:nvSpPr>
        <p:spPr>
          <a:xfrm>
            <a:off x="1288983" y="6614743"/>
            <a:ext cx="857245"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0070C0"/>
                </a:solidFill>
                <a:effectLst/>
                <a:uLnTx/>
                <a:uFillTx/>
                <a:latin typeface="Nunito Sans"/>
                <a:ea typeface="+mn-ea"/>
                <a:cs typeface="+mn-cs"/>
              </a:rPr>
              <a:t>Delivered</a:t>
            </a:r>
            <a:endParaRPr kumimoji="0" lang="en-IN" sz="1000" b="0" i="0" u="none" strike="noStrike" kern="1200" cap="none" spc="0" normalizeH="0" baseline="0" noProof="0">
              <a:ln>
                <a:noFill/>
              </a:ln>
              <a:solidFill>
                <a:srgbClr val="000000"/>
              </a:solidFill>
              <a:effectLst/>
              <a:uLnTx/>
              <a:uFillTx/>
              <a:latin typeface="Nunito Sans"/>
              <a:ea typeface="+mn-ea"/>
              <a:cs typeface="+mn-cs"/>
            </a:endParaRPr>
          </a:p>
        </p:txBody>
      </p:sp>
      <p:sp>
        <p:nvSpPr>
          <p:cNvPr id="10" name="TextBox 18">
            <a:extLst>
              <a:ext uri="{FF2B5EF4-FFF2-40B4-BE49-F238E27FC236}">
                <a16:creationId xmlns:a16="http://schemas.microsoft.com/office/drawing/2014/main" id="{CB7653F3-A10C-5BD5-0D07-29B038426FDE}"/>
              </a:ext>
            </a:extLst>
          </p:cNvPr>
          <p:cNvSpPr txBox="1"/>
          <p:nvPr/>
        </p:nvSpPr>
        <p:spPr>
          <a:xfrm>
            <a:off x="2310642" y="6611102"/>
            <a:ext cx="1032881"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00B050"/>
                </a:solidFill>
                <a:effectLst/>
                <a:uLnTx/>
                <a:uFillTx/>
                <a:latin typeface="Nunito Sans"/>
                <a:ea typeface="+mn-ea"/>
                <a:cs typeface="+mn-cs"/>
              </a:rPr>
              <a:t>Ontrack</a:t>
            </a:r>
            <a:endParaRPr kumimoji="0" lang="en-IN" sz="1000" b="0" i="0" u="none" strike="noStrike" kern="1200" cap="none" spc="0" normalizeH="0" baseline="0" noProof="0">
              <a:ln>
                <a:noFill/>
              </a:ln>
              <a:solidFill>
                <a:srgbClr val="000000"/>
              </a:solidFill>
              <a:effectLst/>
              <a:uLnTx/>
              <a:uFillTx/>
              <a:latin typeface="Nunito Sans"/>
              <a:ea typeface="+mn-ea"/>
              <a:cs typeface="+mn-cs"/>
            </a:endParaRPr>
          </a:p>
        </p:txBody>
      </p:sp>
      <p:sp>
        <p:nvSpPr>
          <p:cNvPr id="11" name="TextBox 20">
            <a:extLst>
              <a:ext uri="{FF2B5EF4-FFF2-40B4-BE49-F238E27FC236}">
                <a16:creationId xmlns:a16="http://schemas.microsoft.com/office/drawing/2014/main" id="{83C3EBE6-B027-CE6A-AFBA-82CCF312C32C}"/>
              </a:ext>
            </a:extLst>
          </p:cNvPr>
          <p:cNvSpPr txBox="1"/>
          <p:nvPr/>
        </p:nvSpPr>
        <p:spPr>
          <a:xfrm>
            <a:off x="3539606" y="6608370"/>
            <a:ext cx="2257628"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FED9A0">
                    <a:lumMod val="75000"/>
                  </a:srgbClr>
                </a:solidFill>
                <a:effectLst/>
                <a:uLnTx/>
                <a:uFillTx/>
                <a:latin typeface="Nunito Sans"/>
                <a:ea typeface="+mn-ea"/>
                <a:cs typeface="+mn-cs"/>
              </a:rPr>
              <a:t>Under delay and can be recovered</a:t>
            </a:r>
            <a:endParaRPr kumimoji="0" lang="en-IN" sz="1000" b="0" i="0" u="none" strike="noStrike" kern="1200" cap="none" spc="0" normalizeH="0" baseline="0" noProof="0">
              <a:ln>
                <a:noFill/>
              </a:ln>
              <a:solidFill>
                <a:srgbClr val="000000"/>
              </a:solidFill>
              <a:effectLst/>
              <a:uLnTx/>
              <a:uFillTx/>
              <a:latin typeface="Nunito Sans"/>
              <a:ea typeface="+mn-ea"/>
              <a:cs typeface="+mn-cs"/>
            </a:endParaRPr>
          </a:p>
        </p:txBody>
      </p:sp>
      <p:sp>
        <p:nvSpPr>
          <p:cNvPr id="13" name="TextBox 22">
            <a:extLst>
              <a:ext uri="{FF2B5EF4-FFF2-40B4-BE49-F238E27FC236}">
                <a16:creationId xmlns:a16="http://schemas.microsoft.com/office/drawing/2014/main" id="{A47DD321-3912-DFFB-6796-BFD71EAAAA61}"/>
              </a:ext>
            </a:extLst>
          </p:cNvPr>
          <p:cNvSpPr txBox="1"/>
          <p:nvPr/>
        </p:nvSpPr>
        <p:spPr>
          <a:xfrm>
            <a:off x="8246937" y="6618126"/>
            <a:ext cx="2338222"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FF0000"/>
                </a:solidFill>
                <a:effectLst/>
                <a:uLnTx/>
                <a:uFillTx/>
                <a:latin typeface="Nunito Sans"/>
                <a:ea typeface="+mn-ea"/>
                <a:cs typeface="+mn-cs"/>
              </a:rPr>
              <a:t>Delayed and pushed to next release</a:t>
            </a:r>
          </a:p>
        </p:txBody>
      </p:sp>
      <p:sp>
        <p:nvSpPr>
          <p:cNvPr id="15" name="TextBox 14">
            <a:extLst>
              <a:ext uri="{FF2B5EF4-FFF2-40B4-BE49-F238E27FC236}">
                <a16:creationId xmlns:a16="http://schemas.microsoft.com/office/drawing/2014/main" id="{51C04F26-94B3-5507-DE99-0818562A2338}"/>
              </a:ext>
            </a:extLst>
          </p:cNvPr>
          <p:cNvSpPr txBox="1"/>
          <p:nvPr/>
        </p:nvSpPr>
        <p:spPr>
          <a:xfrm>
            <a:off x="6454369" y="6611638"/>
            <a:ext cx="2743200"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IN" sz="1000">
                <a:solidFill>
                  <a:srgbClr val="7D7D7D"/>
                </a:solidFill>
              </a:rPr>
              <a:t>Descoped</a:t>
            </a:r>
            <a:endParaRPr lang="en-US"/>
          </a:p>
        </p:txBody>
      </p:sp>
      <p:sp>
        <p:nvSpPr>
          <p:cNvPr id="16" name="Rectangle 15">
            <a:extLst>
              <a:ext uri="{FF2B5EF4-FFF2-40B4-BE49-F238E27FC236}">
                <a16:creationId xmlns:a16="http://schemas.microsoft.com/office/drawing/2014/main" id="{DF3860ED-BFCC-0FE5-7050-1CA81BE3311C}"/>
              </a:ext>
            </a:extLst>
          </p:cNvPr>
          <p:cNvSpPr/>
          <p:nvPr/>
        </p:nvSpPr>
        <p:spPr>
          <a:xfrm>
            <a:off x="6360794" y="6681439"/>
            <a:ext cx="90000" cy="90000"/>
          </a:xfrm>
          <a:prstGeom prst="rect">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Tree>
    <p:extLst>
      <p:ext uri="{BB962C8B-B14F-4D97-AF65-F5344CB8AC3E}">
        <p14:creationId xmlns:p14="http://schemas.microsoft.com/office/powerpoint/2010/main" val="22329805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3CF325-F700-67A3-D35C-54A8218A038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75E4AE7-B384-D163-3781-BC5D21B6F542}"/>
              </a:ext>
            </a:extLst>
          </p:cNvPr>
          <p:cNvSpPr>
            <a:spLocks noGrp="1"/>
          </p:cNvSpPr>
          <p:nvPr>
            <p:ph type="sldNum" sz="quarter" idx="12"/>
          </p:nvPr>
        </p:nvSpPr>
        <p:spPr>
          <a:xfrm>
            <a:off x="11241441" y="6438972"/>
            <a:ext cx="857245"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3A41A254-7326-714E-AF55-4C213D6394DE}" type="slidenum">
              <a:rPr kumimoji="0" lang="en-US" sz="1000" b="0" i="0" u="none" strike="noStrike" kern="1200" cap="none" spc="0" normalizeH="0" baseline="0" noProof="0" smtClean="0">
                <a:ln>
                  <a:noFill/>
                </a:ln>
                <a:solidFill>
                  <a:srgbClr val="DA0E28"/>
                </a:solidFill>
                <a:effectLst/>
                <a:uLnTx/>
                <a:uFillTx/>
                <a:latin typeface="Nunito Sans"/>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7</a:t>
            </a:fld>
            <a:endParaRPr kumimoji="0" lang="en-US" sz="1000" b="0" i="0" u="none" strike="noStrike" kern="1200" cap="none" spc="0" normalizeH="0" baseline="0" noProof="0">
              <a:ln>
                <a:noFill/>
              </a:ln>
              <a:solidFill>
                <a:srgbClr val="DA0E28"/>
              </a:solidFill>
              <a:effectLst/>
              <a:uLnTx/>
              <a:uFillTx/>
              <a:latin typeface="Nunito Sans"/>
              <a:ea typeface="+mn-ea"/>
              <a:cs typeface="+mn-cs"/>
            </a:endParaRPr>
          </a:p>
        </p:txBody>
      </p:sp>
      <p:sp>
        <p:nvSpPr>
          <p:cNvPr id="3" name="Rectangle 2">
            <a:extLst>
              <a:ext uri="{FF2B5EF4-FFF2-40B4-BE49-F238E27FC236}">
                <a16:creationId xmlns:a16="http://schemas.microsoft.com/office/drawing/2014/main" id="{6D5066ED-231B-CFC5-ACC0-14D90E7CE60E}"/>
              </a:ext>
            </a:extLst>
          </p:cNvPr>
          <p:cNvSpPr/>
          <p:nvPr/>
        </p:nvSpPr>
        <p:spPr>
          <a:xfrm>
            <a:off x="237934" y="610471"/>
            <a:ext cx="1170432" cy="42234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defRPr/>
            </a:pPr>
            <a:r>
              <a:rPr lang="en-IN" sz="1400" b="1">
                <a:solidFill>
                  <a:srgbClr val="FFFFFF"/>
                </a:solidFill>
                <a:latin typeface="AirIndia"/>
              </a:rPr>
              <a:t>30th April</a:t>
            </a:r>
            <a:r>
              <a:rPr kumimoji="0" lang="en-IN" sz="1400" b="1" i="0" u="none" strike="noStrike" kern="1200" cap="none" spc="0" normalizeH="0" baseline="0" noProof="0">
                <a:ln>
                  <a:noFill/>
                </a:ln>
                <a:solidFill>
                  <a:srgbClr val="FFFFFF"/>
                </a:solidFill>
                <a:effectLst/>
                <a:uLnTx/>
                <a:uFillTx/>
                <a:latin typeface="AirIndia"/>
                <a:ea typeface="+mn-ea"/>
                <a:cs typeface="+mn-cs"/>
              </a:rPr>
              <a:t> ‘</a:t>
            </a:r>
            <a:r>
              <a:rPr lang="en-IN" sz="1400" b="1">
                <a:solidFill>
                  <a:srgbClr val="FFFFFF"/>
                </a:solidFill>
                <a:latin typeface="AirIndia"/>
              </a:rPr>
              <a:t>26</a:t>
            </a:r>
            <a:endParaRPr kumimoji="0" lang="en-US" sz="1400" b="1" i="0" u="none" strike="noStrike" kern="1200" cap="none" spc="0" normalizeH="0" baseline="0" noProof="0">
              <a:ln>
                <a:noFill/>
              </a:ln>
              <a:solidFill>
                <a:srgbClr val="FFFFFF"/>
              </a:solidFill>
              <a:effectLst/>
              <a:uLnTx/>
              <a:uFillTx/>
              <a:latin typeface="AirIndia"/>
              <a:ea typeface="+mn-ea"/>
              <a:cs typeface="+mn-cs"/>
            </a:endParaRPr>
          </a:p>
        </p:txBody>
      </p:sp>
      <p:sp>
        <p:nvSpPr>
          <p:cNvPr id="6" name="Title 11">
            <a:extLst>
              <a:ext uri="{FF2B5EF4-FFF2-40B4-BE49-F238E27FC236}">
                <a16:creationId xmlns:a16="http://schemas.microsoft.com/office/drawing/2014/main" id="{7FEF486C-9F4D-5F38-ACDB-BC91E7E89917}"/>
              </a:ext>
            </a:extLst>
          </p:cNvPr>
          <p:cNvSpPr txBox="1">
            <a:spLocks/>
          </p:cNvSpPr>
          <p:nvPr/>
        </p:nvSpPr>
        <p:spPr>
          <a:xfrm>
            <a:off x="242857" y="182023"/>
            <a:ext cx="7691717" cy="430255"/>
          </a:xfrm>
          <a:prstGeom prst="rect">
            <a:avLst/>
          </a:prstGeom>
        </p:spPr>
        <p:txBody>
          <a:bodyPr lIns="91440" tIns="45720" rIns="91440" bIns="45720" anchor="t">
            <a:noAutofit/>
          </a:bodyPr>
          <a:lstStyle>
            <a:lvl1pPr algn="l" defTabSz="914400" rtl="0" eaLnBrk="1" latinLnBrk="0" hangingPunct="1">
              <a:lnSpc>
                <a:spcPct val="90000"/>
              </a:lnSpc>
              <a:spcBef>
                <a:spcPct val="0"/>
              </a:spcBef>
              <a:buNone/>
              <a:defRPr sz="4400" b="1" i="0" kern="1200">
                <a:solidFill>
                  <a:schemeClr val="tx1"/>
                </a:solidFill>
                <a:latin typeface="AirIndia" pitchFamily="82" charset="77"/>
                <a:ea typeface="+mj-ea"/>
                <a:cs typeface="+mj-cs"/>
              </a:defRPr>
            </a:lvl1pPr>
          </a:lstStyle>
          <a:p>
            <a:pPr>
              <a:defRPr/>
            </a:pPr>
            <a:r>
              <a:rPr lang="en-US" sz="1800">
                <a:solidFill>
                  <a:srgbClr val="DA0E28"/>
                </a:solidFill>
                <a:latin typeface="AirIndia"/>
              </a:rPr>
              <a:t>Corporate Systems </a:t>
            </a:r>
            <a:r>
              <a:rPr kumimoji="0" lang="en-US" sz="1800" b="1" i="0" u="none" strike="noStrike" kern="1200" cap="none" spc="0" normalizeH="0" baseline="0" noProof="0">
                <a:ln>
                  <a:noFill/>
                </a:ln>
                <a:solidFill>
                  <a:srgbClr val="DA0E28"/>
                </a:solidFill>
                <a:effectLst/>
                <a:uLnTx/>
                <a:uFillTx/>
                <a:latin typeface="AirIndia"/>
                <a:ea typeface="+mj-ea"/>
                <a:cs typeface="+mj-cs"/>
              </a:rPr>
              <a:t>- </a:t>
            </a:r>
            <a:r>
              <a:rPr lang="en-US" sz="1800">
                <a:solidFill>
                  <a:srgbClr val="DA0E28"/>
                </a:solidFill>
                <a:latin typeface="AirIndia"/>
              </a:rPr>
              <a:t>FY26-27</a:t>
            </a:r>
            <a:r>
              <a:rPr kumimoji="0" lang="en-US" sz="1800" b="1" i="0" u="none" strike="noStrike" kern="1200" cap="none" spc="0" normalizeH="0" baseline="0" noProof="0">
                <a:ln>
                  <a:noFill/>
                </a:ln>
                <a:solidFill>
                  <a:srgbClr val="DA0E28"/>
                </a:solidFill>
                <a:effectLst/>
                <a:uLnTx/>
                <a:uFillTx/>
                <a:latin typeface="AirIndia"/>
                <a:ea typeface="+mj-ea"/>
                <a:cs typeface="+mj-cs"/>
              </a:rPr>
              <a:t> Q1  Release Plan</a:t>
            </a:r>
            <a:r>
              <a:rPr lang="en-US" sz="1800">
                <a:solidFill>
                  <a:srgbClr val="DA0E28"/>
                </a:solidFill>
                <a:latin typeface="AirIndia"/>
              </a:rPr>
              <a:t> (Fin Tech)</a:t>
            </a:r>
            <a:endParaRPr lang="en-US" sz="1800" b="0" i="0" u="none" strike="noStrike" kern="1200" cap="none" spc="0" normalizeH="0" baseline="0" noProof="0">
              <a:ln>
                <a:noFill/>
              </a:ln>
              <a:solidFill>
                <a:srgbClr val="DA0E28"/>
              </a:solidFill>
              <a:effectLst/>
              <a:uLnTx/>
              <a:uFillTx/>
              <a:latin typeface="AirIndia"/>
            </a:endParaRPr>
          </a:p>
        </p:txBody>
      </p:sp>
      <p:graphicFrame>
        <p:nvGraphicFramePr>
          <p:cNvPr id="12" name="Table 11">
            <a:extLst>
              <a:ext uri="{FF2B5EF4-FFF2-40B4-BE49-F238E27FC236}">
                <a16:creationId xmlns:a16="http://schemas.microsoft.com/office/drawing/2014/main" id="{FCA2966E-7A15-3C2E-EA6F-9CE801165171}"/>
              </a:ext>
            </a:extLst>
          </p:cNvPr>
          <p:cNvGraphicFramePr>
            <a:graphicFrameLocks noGrp="1"/>
          </p:cNvGraphicFramePr>
          <p:nvPr>
            <p:extLst>
              <p:ext uri="{D42A27DB-BD31-4B8C-83A1-F6EECF244321}">
                <p14:modId xmlns:p14="http://schemas.microsoft.com/office/powerpoint/2010/main" val="2427583125"/>
              </p:ext>
            </p:extLst>
          </p:nvPr>
        </p:nvGraphicFramePr>
        <p:xfrm>
          <a:off x="1393371" y="587828"/>
          <a:ext cx="9187543" cy="5338730"/>
        </p:xfrm>
        <a:graphic>
          <a:graphicData uri="http://schemas.openxmlformats.org/drawingml/2006/table">
            <a:tbl>
              <a:tblPr firstRow="1" bandRow="1">
                <a:tableStyleId>{5C22544A-7EE6-4342-B048-85BDC9FD1C3A}</a:tableStyleId>
              </a:tblPr>
              <a:tblGrid>
                <a:gridCol w="1586593">
                  <a:extLst>
                    <a:ext uri="{9D8B030D-6E8A-4147-A177-3AD203B41FA5}">
                      <a16:colId xmlns:a16="http://schemas.microsoft.com/office/drawing/2014/main" val="2822350773"/>
                    </a:ext>
                  </a:extLst>
                </a:gridCol>
                <a:gridCol w="1730829">
                  <a:extLst>
                    <a:ext uri="{9D8B030D-6E8A-4147-A177-3AD203B41FA5}">
                      <a16:colId xmlns:a16="http://schemas.microsoft.com/office/drawing/2014/main" val="2318469327"/>
                    </a:ext>
                  </a:extLst>
                </a:gridCol>
                <a:gridCol w="4815209">
                  <a:extLst>
                    <a:ext uri="{9D8B030D-6E8A-4147-A177-3AD203B41FA5}">
                      <a16:colId xmlns:a16="http://schemas.microsoft.com/office/drawing/2014/main" val="99588705"/>
                    </a:ext>
                  </a:extLst>
                </a:gridCol>
                <a:gridCol w="1054912">
                  <a:extLst>
                    <a:ext uri="{9D8B030D-6E8A-4147-A177-3AD203B41FA5}">
                      <a16:colId xmlns:a16="http://schemas.microsoft.com/office/drawing/2014/main" val="4234975894"/>
                    </a:ext>
                  </a:extLst>
                </a:gridCol>
              </a:tblGrid>
              <a:tr h="537644">
                <a:tc>
                  <a:txBody>
                    <a:bodyPr/>
                    <a:lstStyle/>
                    <a:p>
                      <a:pPr marL="0" lvl="0" indent="0" algn="ctr" defTabSz="914400" rtl="0" eaLnBrk="1" latinLnBrk="0" hangingPunct="1">
                        <a:lnSpc>
                          <a:spcPct val="100000"/>
                        </a:lnSpc>
                        <a:buFont typeface="Arial" panose="020B0604020202020204" pitchFamily="34" charset="0"/>
                        <a:buNone/>
                      </a:pPr>
                      <a:r>
                        <a:rPr lang="en-IN" sz="1100" b="1" kern="1200">
                          <a:solidFill>
                            <a:schemeClr val="bg1"/>
                          </a:solidFill>
                          <a:latin typeface="+mn-lt"/>
                          <a:ea typeface="+mn-ea"/>
                          <a:cs typeface="+mn-cs"/>
                        </a:rPr>
                        <a:t>Initiatives</a:t>
                      </a:r>
                      <a:endParaRPr lang="en-US" sz="1100" b="1"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tc>
                  <a:txBody>
                    <a:bodyPr/>
                    <a:lstStyle/>
                    <a:p>
                      <a:pPr marL="0" lvl="0" indent="0" algn="ctr" defTabSz="914400">
                        <a:lnSpc>
                          <a:spcPct val="100000"/>
                        </a:lnSpc>
                        <a:buNone/>
                      </a:pPr>
                      <a:r>
                        <a:rPr lang="en-IN" sz="1100" b="1" i="0" u="none" strike="noStrike" kern="1200" noProof="0">
                          <a:solidFill>
                            <a:schemeClr val="bg1"/>
                          </a:solidFill>
                          <a:latin typeface="Nunito Sans"/>
                          <a:ea typeface="+mn-ea"/>
                          <a:cs typeface="+mn-cs"/>
                        </a:rPr>
                        <a:t>Programs/Projects</a:t>
                      </a:r>
                      <a:endParaRPr lang="en-US"/>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solidFill>
                      <a:schemeClr val="accent3">
                        <a:lumMod val="90000"/>
                        <a:lumOff val="10000"/>
                      </a:schemeClr>
                    </a:solidFill>
                  </a:tcPr>
                </a:tc>
                <a:tc>
                  <a:txBody>
                    <a:bodyPr/>
                    <a:lstStyle/>
                    <a:p>
                      <a:pPr marL="0" lvl="0" indent="0" algn="ctr">
                        <a:lnSpc>
                          <a:spcPct val="100000"/>
                        </a:lnSpc>
                        <a:buNone/>
                      </a:pPr>
                      <a:endParaRPr lang="en-IN" sz="1100" b="1" i="0" u="none" strike="noStrike" kern="1200" baseline="0" noProof="0">
                        <a:solidFill>
                          <a:srgbClr val="FFFFFF"/>
                        </a:solidFill>
                        <a:latin typeface="Nunito Sans"/>
                      </a:endParaRPr>
                    </a:p>
                    <a:p>
                      <a:pPr marL="0" lvl="0" indent="0" algn="ctr">
                        <a:lnSpc>
                          <a:spcPct val="100000"/>
                        </a:lnSpc>
                        <a:buNone/>
                      </a:pPr>
                      <a:r>
                        <a:rPr lang="en-IN" sz="1100" b="1" i="0" u="none" strike="noStrike" kern="1200" baseline="0" noProof="0">
                          <a:solidFill>
                            <a:srgbClr val="FFFFFF"/>
                          </a:solidFill>
                          <a:latin typeface="Nunito Sans"/>
                        </a:rPr>
                        <a:t>Value Justification/Realization</a:t>
                      </a:r>
                    </a:p>
                    <a:p>
                      <a:pPr marL="0" lvl="0" indent="0" algn="ctr" defTabSz="914400">
                        <a:buFont typeface="Arial" panose="020B0604020202020204" pitchFamily="34" charset="0"/>
                        <a:buNone/>
                      </a:pPr>
                      <a:endParaRPr lang="en-IN" sz="1100"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100">
                          <a:latin typeface="+mn-lt"/>
                        </a:rPr>
                        <a:t>Actual/Revised Go-Live</a:t>
                      </a:r>
                    </a:p>
                    <a:p>
                      <a:pPr marL="0" lvl="0" indent="0" algn="ctr" defTabSz="914400">
                        <a:buFont typeface="Arial" panose="020B0604020202020204" pitchFamily="34" charset="0"/>
                        <a:buNone/>
                      </a:pPr>
                      <a:endParaRPr lang="en-IN" sz="1100"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extLst>
                  <a:ext uri="{0D108BD9-81ED-4DB2-BD59-A6C34878D82A}">
                    <a16:rowId xmlns:a16="http://schemas.microsoft.com/office/drawing/2014/main" val="844450115"/>
                  </a:ext>
                </a:extLst>
              </a:tr>
              <a:tr h="541509">
                <a:tc>
                  <a:txBody>
                    <a:bodyPr/>
                    <a:lstStyle/>
                    <a:p>
                      <a:pPr marL="0" lvl="0" indent="0" algn="l">
                        <a:lnSpc>
                          <a:spcPct val="100000"/>
                        </a:lnSpc>
                        <a:spcBef>
                          <a:spcPts val="0"/>
                        </a:spcBef>
                        <a:spcAft>
                          <a:spcPts val="0"/>
                        </a:spcAft>
                        <a:buFont typeface="Arial"/>
                        <a:buNone/>
                      </a:pPr>
                      <a:r>
                        <a:rPr lang="en-US" sz="1000" b="1" i="0" u="none" strike="noStrike" kern="1200" noProof="0">
                          <a:solidFill>
                            <a:srgbClr val="0070C0"/>
                          </a:solidFill>
                          <a:latin typeface="+mn-lt"/>
                        </a:rPr>
                        <a:t>Provision Module Implementation – Reversal &amp; Adjustments</a:t>
                      </a:r>
                      <a:endParaRPr lang="en-US" sz="1000" b="1" i="0" u="none" strike="noStrike" kern="1200" noProof="0">
                        <a:solidFill>
                          <a:srgbClr val="00B050"/>
                        </a:solidFill>
                        <a:latin typeface="+mn-lt"/>
                      </a:endParaRP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marL="0" lvl="0" indent="0" algn="l">
                        <a:lnSpc>
                          <a:spcPct val="100000"/>
                        </a:lnSpc>
                        <a:spcBef>
                          <a:spcPts val="0"/>
                        </a:spcBef>
                        <a:spcAft>
                          <a:spcPts val="0"/>
                        </a:spcAft>
                        <a:buClr>
                          <a:srgbClr val="000000"/>
                        </a:buClr>
                        <a:buFont typeface="Arial,Sans-Serif"/>
                        <a:buNone/>
                      </a:pPr>
                      <a:r>
                        <a:rPr lang="en-US" sz="1000" b="1" i="0" u="none" strike="noStrike" kern="1200" noProof="0">
                          <a:solidFill>
                            <a:srgbClr val="0070C0"/>
                          </a:solidFill>
                          <a:latin typeface="+mn-lt"/>
                        </a:rPr>
                        <a:t>Provision Module Implementation – Reversal &amp; Adjustments</a:t>
                      </a:r>
                      <a:endParaRPr lang="en-US" sz="1000" b="0" i="0" u="none" strike="noStrike" kern="1200" noProof="0">
                        <a:solidFill>
                          <a:srgbClr val="00B050"/>
                        </a:solidFill>
                        <a:latin typeface="+mn-lt"/>
                      </a:endParaRP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lvl="0" algn="l">
                        <a:lnSpc>
                          <a:spcPct val="100000"/>
                        </a:lnSpc>
                        <a:spcBef>
                          <a:spcPts val="0"/>
                        </a:spcBef>
                        <a:spcAft>
                          <a:spcPts val="0"/>
                        </a:spcAft>
                        <a:buNone/>
                      </a:pPr>
                      <a:r>
                        <a:rPr lang="en-US" sz="1000" b="0" i="0" u="none" strike="noStrike" kern="1200" baseline="0" noProof="0">
                          <a:solidFill>
                            <a:srgbClr val="000000"/>
                          </a:solidFill>
                          <a:latin typeface="+mn-lt"/>
                        </a:rPr>
                        <a:t>Improves provisioning accuracy and regulatory compliance through automated, policy‑driven calculations.</a:t>
                      </a:r>
                      <a:endParaRPr lang="en-US" sz="1000">
                        <a:latin typeface="+mn-lt"/>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000000"/>
                          </a:solidFill>
                          <a:effectLst/>
                          <a:uLnTx/>
                          <a:uFillTx/>
                          <a:latin typeface="+mn-lt"/>
                          <a:ea typeface="+mn-ea"/>
                          <a:cs typeface="+mn-cs"/>
                        </a:rPr>
                        <a:t>3</a:t>
                      </a:r>
                      <a:r>
                        <a:rPr kumimoji="0" lang="en-IN" sz="1000" b="0" i="0" u="none" strike="noStrike" kern="1200" cap="none" spc="0" normalizeH="0" baseline="30000" noProof="0">
                          <a:ln>
                            <a:noFill/>
                          </a:ln>
                          <a:solidFill>
                            <a:srgbClr val="000000"/>
                          </a:solidFill>
                          <a:effectLst/>
                          <a:uLnTx/>
                          <a:uFillTx/>
                          <a:latin typeface="+mn-lt"/>
                          <a:ea typeface="+mn-ea"/>
                          <a:cs typeface="+mn-cs"/>
                        </a:rPr>
                        <a:t>rd</a:t>
                      </a:r>
                      <a:r>
                        <a:rPr kumimoji="0" lang="en-IN" sz="1000" b="0" i="0" u="none" strike="noStrike" kern="1200" cap="none" spc="0" normalizeH="0" baseline="0" noProof="0">
                          <a:ln>
                            <a:noFill/>
                          </a:ln>
                          <a:solidFill>
                            <a:srgbClr val="000000"/>
                          </a:solidFill>
                          <a:effectLst/>
                          <a:uLnTx/>
                          <a:uFillTx/>
                          <a:latin typeface="+mn-lt"/>
                          <a:ea typeface="+mn-ea"/>
                          <a:cs typeface="+mn-cs"/>
                        </a:rPr>
                        <a:t> May 2026</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443371065"/>
                  </a:ext>
                </a:extLst>
              </a:tr>
              <a:tr h="44669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i="0" u="none" strike="noStrike" kern="1200" noProof="0">
                          <a:solidFill>
                            <a:srgbClr val="0070C0"/>
                          </a:solidFill>
                          <a:latin typeface="+mn-lt"/>
                        </a:rPr>
                        <a:t>Approve Source List (Preferred supplier List)</a:t>
                      </a: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i="0" u="none" strike="noStrike" kern="1200" noProof="0">
                          <a:solidFill>
                            <a:srgbClr val="0070C0"/>
                          </a:solidFill>
                          <a:latin typeface="+mn-lt"/>
                        </a:rPr>
                        <a:t>Approve Source List (Preferred supplier List)</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u="none" strike="noStrike" kern="1200" baseline="0" noProof="0">
                          <a:solidFill>
                            <a:srgbClr val="000000"/>
                          </a:solidFill>
                          <a:latin typeface="+mn-lt"/>
                        </a:rPr>
                        <a:t>Ensures controlled sourcing from approved suppliers, reducing risk, improving compliance, and strengthening supplier governance.</a:t>
                      </a:r>
                      <a:endParaRPr lang="en-US" sz="1000">
                        <a:latin typeface="+mn-lt"/>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000000"/>
                          </a:solidFill>
                          <a:effectLst/>
                          <a:uLnTx/>
                          <a:uFillTx/>
                          <a:latin typeface="+mn-lt"/>
                          <a:ea typeface="+mn-ea"/>
                          <a:cs typeface="+mn-cs"/>
                        </a:rPr>
                        <a:t>24</a:t>
                      </a:r>
                      <a:r>
                        <a:rPr kumimoji="0" lang="en-IN" sz="1000" b="0" i="0" u="none" strike="noStrike" kern="1200" cap="none" spc="0" normalizeH="0" baseline="30000" noProof="0">
                          <a:ln>
                            <a:noFill/>
                          </a:ln>
                          <a:solidFill>
                            <a:srgbClr val="000000"/>
                          </a:solidFill>
                          <a:effectLst/>
                          <a:uLnTx/>
                          <a:uFillTx/>
                          <a:latin typeface="+mn-lt"/>
                          <a:ea typeface="+mn-ea"/>
                          <a:cs typeface="+mn-cs"/>
                        </a:rPr>
                        <a:t>th</a:t>
                      </a:r>
                      <a:r>
                        <a:rPr kumimoji="0" lang="en-IN" sz="1000" b="0" i="0" u="none" strike="noStrike" kern="1200" cap="none" spc="0" normalizeH="0" baseline="0" noProof="0">
                          <a:ln>
                            <a:noFill/>
                          </a:ln>
                          <a:solidFill>
                            <a:srgbClr val="000000"/>
                          </a:solidFill>
                          <a:effectLst/>
                          <a:uLnTx/>
                          <a:uFillTx/>
                          <a:latin typeface="+mn-lt"/>
                          <a:ea typeface="+mn-ea"/>
                          <a:cs typeface="+mn-cs"/>
                        </a:rPr>
                        <a:t> Apr 2026</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346458768"/>
                  </a:ext>
                </a:extLst>
              </a:tr>
              <a:tr h="44669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i="0" u="none" strike="noStrike" kern="1200">
                          <a:solidFill>
                            <a:srgbClr val="0070C0"/>
                          </a:solidFill>
                          <a:effectLst/>
                          <a:latin typeface="+mn-lt"/>
                          <a:ea typeface="+mn-ea"/>
                          <a:cs typeface="+mn-cs"/>
                        </a:rPr>
                        <a:t>Material rate change report – PO Variation</a:t>
                      </a: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i="0" u="none" strike="noStrike" kern="1200">
                          <a:solidFill>
                            <a:srgbClr val="0070C0"/>
                          </a:solidFill>
                          <a:effectLst/>
                          <a:latin typeface="+mn-lt"/>
                          <a:ea typeface="+mn-ea"/>
                          <a:cs typeface="+mn-cs"/>
                        </a:rPr>
                        <a:t>Material rate change report – PO Variation</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kern="1200">
                          <a:solidFill>
                            <a:schemeClr val="tx1"/>
                          </a:solidFill>
                          <a:latin typeface="+mn-lt"/>
                          <a:ea typeface="+mn-ea"/>
                          <a:cs typeface="+mn-cs"/>
                        </a:rPr>
                        <a:t>Provides clear visibility into material price movements, enabling proactive cost control and informed procurement decisions.</a:t>
                      </a:r>
                      <a:endParaRPr lang="en-US" sz="1000">
                        <a:latin typeface="+mn-lt"/>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000000"/>
                          </a:solidFill>
                          <a:effectLst/>
                          <a:uLnTx/>
                          <a:uFillTx/>
                          <a:latin typeface="+mn-lt"/>
                          <a:ea typeface="+mn-ea"/>
                          <a:cs typeface="+mn-cs"/>
                        </a:rPr>
                        <a:t>10</a:t>
                      </a:r>
                      <a:r>
                        <a:rPr kumimoji="0" lang="en-IN" sz="1000" b="0" i="0" u="none" strike="noStrike" kern="1200" cap="none" spc="0" normalizeH="0" baseline="30000" noProof="0">
                          <a:ln>
                            <a:noFill/>
                          </a:ln>
                          <a:solidFill>
                            <a:srgbClr val="000000"/>
                          </a:solidFill>
                          <a:effectLst/>
                          <a:uLnTx/>
                          <a:uFillTx/>
                          <a:latin typeface="+mn-lt"/>
                          <a:ea typeface="+mn-ea"/>
                          <a:cs typeface="+mn-cs"/>
                        </a:rPr>
                        <a:t>th</a:t>
                      </a:r>
                      <a:r>
                        <a:rPr kumimoji="0" lang="en-IN" sz="1000" b="0" i="0" u="none" strike="noStrike" kern="1200" cap="none" spc="0" normalizeH="0" baseline="0" noProof="0">
                          <a:ln>
                            <a:noFill/>
                          </a:ln>
                          <a:solidFill>
                            <a:srgbClr val="000000"/>
                          </a:solidFill>
                          <a:effectLst/>
                          <a:uLnTx/>
                          <a:uFillTx/>
                          <a:latin typeface="+mn-lt"/>
                          <a:ea typeface="+mn-ea"/>
                          <a:cs typeface="+mn-cs"/>
                        </a:rPr>
                        <a:t> Apr 2026</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780204823"/>
                  </a:ext>
                </a:extLst>
              </a:tr>
              <a:tr h="40342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000" b="1" i="0" u="none" strike="noStrike" kern="1200" err="1">
                          <a:solidFill>
                            <a:srgbClr val="0070C0"/>
                          </a:solidFill>
                          <a:effectLst/>
                          <a:latin typeface="+mn-lt"/>
                          <a:ea typeface="+mn-ea"/>
                          <a:cs typeface="+mn-cs"/>
                        </a:rPr>
                        <a:t>Adhoc</a:t>
                      </a:r>
                      <a:r>
                        <a:rPr lang="en-IN" sz="1000" b="1" i="0" u="none" strike="noStrike" kern="1200">
                          <a:solidFill>
                            <a:srgbClr val="0070C0"/>
                          </a:solidFill>
                          <a:effectLst/>
                          <a:latin typeface="+mn-lt"/>
                          <a:ea typeface="+mn-ea"/>
                          <a:cs typeface="+mn-cs"/>
                        </a:rPr>
                        <a:t> - Accelerating Supplier Activation at Parkland</a:t>
                      </a: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000" b="1" i="0" u="none" strike="noStrike" kern="1200" err="1">
                          <a:solidFill>
                            <a:srgbClr val="0070C0"/>
                          </a:solidFill>
                          <a:effectLst/>
                          <a:latin typeface="+mn-lt"/>
                          <a:ea typeface="+mn-ea"/>
                          <a:cs typeface="+mn-cs"/>
                        </a:rPr>
                        <a:t>Adhoc</a:t>
                      </a:r>
                      <a:r>
                        <a:rPr lang="en-IN" sz="1000" b="1" i="0" u="none" strike="noStrike" kern="1200">
                          <a:solidFill>
                            <a:srgbClr val="0070C0"/>
                          </a:solidFill>
                          <a:effectLst/>
                          <a:latin typeface="+mn-lt"/>
                          <a:ea typeface="+mn-ea"/>
                          <a:cs typeface="+mn-cs"/>
                        </a:rPr>
                        <a:t> - Accelerating Supplier Activation at Parkland</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000" b="0" i="0">
                          <a:solidFill>
                            <a:srgbClr val="000000"/>
                          </a:solidFill>
                          <a:effectLst/>
                          <a:latin typeface="+mn-lt"/>
                        </a:rPr>
                        <a:t>Streamlining vendor onboarding reduces lead time for supplier activation, enabling faster sourcing, contracting, and purchase order execution.​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a:latin typeface="+mn-lt"/>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a:ln>
                            <a:noFill/>
                          </a:ln>
                          <a:solidFill>
                            <a:srgbClr val="000000"/>
                          </a:solidFill>
                          <a:effectLst/>
                          <a:uLnTx/>
                          <a:uFillTx/>
                          <a:latin typeface="+mn-lt"/>
                          <a:ea typeface="+mn-ea"/>
                          <a:cs typeface="+mn-cs"/>
                        </a:rPr>
                        <a:t>27</a:t>
                      </a:r>
                      <a:r>
                        <a:rPr kumimoji="0" lang="en-IN" sz="1000" b="0" i="0" u="none" strike="noStrike" kern="1200" cap="none" spc="0" normalizeH="0" baseline="30000">
                          <a:ln>
                            <a:noFill/>
                          </a:ln>
                          <a:solidFill>
                            <a:srgbClr val="000000"/>
                          </a:solidFill>
                          <a:effectLst/>
                          <a:uLnTx/>
                          <a:uFillTx/>
                          <a:latin typeface="+mn-lt"/>
                          <a:ea typeface="+mn-ea"/>
                          <a:cs typeface="+mn-cs"/>
                        </a:rPr>
                        <a:t>th</a:t>
                      </a:r>
                      <a:r>
                        <a:rPr kumimoji="0" lang="en-IN" sz="1000" b="0" i="0" u="none" strike="noStrike" kern="1200" cap="none" spc="0" normalizeH="0" baseline="0">
                          <a:ln>
                            <a:noFill/>
                          </a:ln>
                          <a:solidFill>
                            <a:srgbClr val="000000"/>
                          </a:solidFill>
                          <a:effectLst/>
                          <a:uLnTx/>
                          <a:uFillTx/>
                          <a:latin typeface="+mn-lt"/>
                          <a:ea typeface="+mn-ea"/>
                          <a:cs typeface="+mn-cs"/>
                        </a:rPr>
                        <a:t> Apr 2026</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709124711"/>
                  </a:ext>
                </a:extLst>
              </a:tr>
              <a:tr h="42759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i="0" u="none" strike="noStrike" kern="1200">
                          <a:solidFill>
                            <a:srgbClr val="0070C0"/>
                          </a:solidFill>
                          <a:effectLst/>
                          <a:latin typeface="+mn-lt"/>
                          <a:ea typeface="+mn-ea"/>
                          <a:cs typeface="+mn-cs"/>
                        </a:rPr>
                        <a:t>Refund failure report for transaction not hitting XPP</a:t>
                      </a:r>
                      <a:endParaRPr lang="en-US" sz="1000" b="1" i="0" u="none" strike="noStrike" kern="1200" noProof="0">
                        <a:solidFill>
                          <a:srgbClr val="00B050"/>
                        </a:solidFill>
                        <a:latin typeface="+mn-lt"/>
                      </a:endParaRP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i="0" u="none" strike="noStrike" kern="1200">
                          <a:solidFill>
                            <a:srgbClr val="0070C0"/>
                          </a:solidFill>
                          <a:effectLst/>
                          <a:latin typeface="+mn-lt"/>
                          <a:ea typeface="+mn-ea"/>
                          <a:cs typeface="+mn-cs"/>
                        </a:rPr>
                        <a:t>Refund failure report for transaction not hitting XPP</a:t>
                      </a:r>
                      <a:endParaRPr lang="en-US" sz="1000" b="1" i="0" u="none" strike="noStrike" kern="1200" noProof="0">
                        <a:solidFill>
                          <a:srgbClr val="00B050"/>
                        </a:solidFill>
                        <a:latin typeface="+mn-lt"/>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000" b="0" i="0" u="none" strike="noStrike" kern="1200">
                          <a:solidFill>
                            <a:srgbClr val="000000"/>
                          </a:solidFill>
                          <a:effectLst/>
                          <a:latin typeface="+mn-lt"/>
                          <a:ea typeface="+mn-ea"/>
                          <a:cs typeface="+mn-cs"/>
                        </a:rPr>
                        <a:t>Monitor refund payments, track failures, and provide actionable insights for reconciliation.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a:latin typeface="+mn-lt"/>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000000"/>
                          </a:solidFill>
                          <a:effectLst/>
                          <a:uLnTx/>
                          <a:uFillTx/>
                          <a:latin typeface="+mn-lt"/>
                          <a:ea typeface="+mn-ea"/>
                          <a:cs typeface="+mn-cs"/>
                        </a:rPr>
                        <a:t>30</a:t>
                      </a:r>
                      <a:r>
                        <a:rPr kumimoji="0" lang="en-IN" sz="1000" b="0" i="0" u="none" strike="noStrike" kern="1200" cap="none" spc="0" normalizeH="0" baseline="30000" noProof="0">
                          <a:ln>
                            <a:noFill/>
                          </a:ln>
                          <a:solidFill>
                            <a:srgbClr val="000000"/>
                          </a:solidFill>
                          <a:effectLst/>
                          <a:uLnTx/>
                          <a:uFillTx/>
                          <a:latin typeface="+mn-lt"/>
                          <a:ea typeface="+mn-ea"/>
                          <a:cs typeface="+mn-cs"/>
                        </a:rPr>
                        <a:t>th</a:t>
                      </a:r>
                      <a:r>
                        <a:rPr kumimoji="0" lang="en-IN" sz="1000" b="0" i="0" u="none" strike="noStrike" kern="1200" cap="none" spc="0" normalizeH="0" baseline="0" noProof="0">
                          <a:ln>
                            <a:noFill/>
                          </a:ln>
                          <a:solidFill>
                            <a:srgbClr val="000000"/>
                          </a:solidFill>
                          <a:effectLst/>
                          <a:uLnTx/>
                          <a:uFillTx/>
                          <a:latin typeface="+mn-lt"/>
                          <a:ea typeface="+mn-ea"/>
                          <a:cs typeface="+mn-cs"/>
                        </a:rPr>
                        <a:t> Apr 2026</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489685155"/>
                  </a:ext>
                </a:extLst>
              </a:tr>
              <a:tr h="42759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000" b="1" i="0" u="none" strike="noStrike" kern="1200">
                          <a:solidFill>
                            <a:srgbClr val="016FBC"/>
                          </a:solidFill>
                          <a:effectLst/>
                          <a:latin typeface="+mn-lt"/>
                          <a:ea typeface="+mn-ea"/>
                          <a:cs typeface="+mn-cs"/>
                        </a:rPr>
                        <a:t>Pax Claim Phase II – Implementation with HSBC</a:t>
                      </a:r>
                      <a:endParaRPr lang="en-US" sz="1000" b="1" i="0" u="none" strike="noStrike" kern="1200">
                        <a:solidFill>
                          <a:srgbClr val="016FBC"/>
                        </a:solidFill>
                        <a:effectLst/>
                        <a:latin typeface="+mn-lt"/>
                        <a:ea typeface="+mn-ea"/>
                        <a:cs typeface="+mn-cs"/>
                      </a:endParaRP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a:lnSpc>
                          <a:spcPct val="100000"/>
                        </a:lnSpc>
                        <a:spcBef>
                          <a:spcPts val="0"/>
                        </a:spcBef>
                        <a:spcAft>
                          <a:spcPts val="0"/>
                        </a:spcAft>
                        <a:buNone/>
                        <a:tabLst/>
                        <a:defRPr/>
                      </a:pPr>
                      <a:r>
                        <a:rPr lang="en-IN" sz="1000" b="1" i="0" u="none" strike="noStrike" kern="1200" noProof="0">
                          <a:solidFill>
                            <a:srgbClr val="016FBC"/>
                          </a:solidFill>
                          <a:effectLst/>
                          <a:latin typeface="Nunito Sans"/>
                          <a:ea typeface="+mn-ea"/>
                          <a:cs typeface="+mn-cs"/>
                        </a:rPr>
                        <a:t>Pax Claim Phase II – Implementation with HSBC</a:t>
                      </a:r>
                      <a:endParaRPr lang="en-US" noProof="0">
                        <a:solidFill>
                          <a:srgbClr val="016FBC"/>
                        </a:solidFill>
                        <a:latin typeface="Nunito San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000" b="0" i="0" u="none" strike="noStrike">
                          <a:solidFill>
                            <a:srgbClr val="000000"/>
                          </a:solidFill>
                          <a:effectLst/>
                          <a:latin typeface="+mn-lt"/>
                        </a:rPr>
                        <a:t>Automating the integration ensures faster processing of Pax Claim payments with reduced manual errors, leading to improved financial accuracy and timely disbursements</a:t>
                      </a:r>
                      <a:r>
                        <a:rPr lang="en-IN" sz="1000" b="0" i="0">
                          <a:solidFill>
                            <a:srgbClr val="000000"/>
                          </a:solidFill>
                          <a:effectLst/>
                          <a:latin typeface="+mn-lt"/>
                        </a:rPr>
                        <a:t>​. </a:t>
                      </a:r>
                      <a:r>
                        <a:rPr lang="en-IN" sz="1000" b="0" i="0" u="none" strike="noStrike">
                          <a:solidFill>
                            <a:srgbClr val="000000"/>
                          </a:solidFill>
                          <a:effectLst/>
                          <a:latin typeface="+mn-lt"/>
                        </a:rPr>
                        <a:t>Direct integration with banking partners strengthens data traceability and aligns with financial governance standards</a:t>
                      </a:r>
                      <a:r>
                        <a:rPr lang="en-IN" sz="1000" b="0" i="0">
                          <a:solidFill>
                            <a:srgbClr val="000000"/>
                          </a:solidFill>
                          <a:effectLst/>
                          <a:latin typeface="+mn-lt"/>
                        </a:rPr>
                        <a:t>​.</a:t>
                      </a:r>
                      <a:endParaRPr lang="en-US" sz="1000">
                        <a:latin typeface="+mn-lt"/>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l" rtl="0" eaLnBrk="1" fontAlgn="auto" latinLnBrk="0" hangingPunct="1">
                        <a:lnSpc>
                          <a:spcPct val="100000"/>
                        </a:lnSpc>
                        <a:spcBef>
                          <a:spcPts val="0"/>
                        </a:spcBef>
                        <a:spcAft>
                          <a:spcPts val="0"/>
                        </a:spcAft>
                        <a:buClrTx/>
                        <a:buSzTx/>
                        <a:buNone/>
                      </a:pPr>
                      <a:r>
                        <a:rPr lang="en-IN" sz="1000" b="0" i="0" u="none" strike="noStrike" kern="1200" cap="none" spc="0" normalizeH="0" baseline="0" noProof="0">
                          <a:ln>
                            <a:noFill/>
                          </a:ln>
                          <a:solidFill>
                            <a:srgbClr val="000000"/>
                          </a:solidFill>
                          <a:effectLst/>
                          <a:uLnTx/>
                          <a:uFillTx/>
                          <a:latin typeface="+mn-lt"/>
                          <a:ea typeface="+mn-ea"/>
                          <a:cs typeface="+mn-cs"/>
                        </a:rPr>
                        <a:t>1</a:t>
                      </a:r>
                      <a:r>
                        <a:rPr lang="en-IN" sz="1000" b="0" i="0" u="none" strike="noStrike" kern="1200" cap="none" spc="0" normalizeH="0" baseline="30000" noProof="0">
                          <a:ln>
                            <a:noFill/>
                          </a:ln>
                          <a:solidFill>
                            <a:srgbClr val="000000"/>
                          </a:solidFill>
                          <a:effectLst/>
                          <a:uLnTx/>
                          <a:uFillTx/>
                          <a:latin typeface="+mn-lt"/>
                          <a:ea typeface="+mn-ea"/>
                          <a:cs typeface="+mn-cs"/>
                        </a:rPr>
                        <a:t>st</a:t>
                      </a:r>
                      <a:r>
                        <a:rPr lang="en-IN" sz="1000" b="0" i="0" u="none" strike="noStrike" kern="1200" cap="none" spc="0" normalizeH="0" baseline="0" noProof="0">
                          <a:ln>
                            <a:noFill/>
                          </a:ln>
                          <a:solidFill>
                            <a:srgbClr val="000000"/>
                          </a:solidFill>
                          <a:effectLst/>
                          <a:uLnTx/>
                          <a:uFillTx/>
                          <a:latin typeface="+mn-lt"/>
                          <a:ea typeface="+mn-ea"/>
                          <a:cs typeface="+mn-cs"/>
                        </a:rPr>
                        <a:t> July 2026</a:t>
                      </a:r>
                      <a:endParaRPr kumimoji="0" lang="en-IN" sz="1000" b="0" i="0" u="none" strike="noStrike" kern="1200" cap="none" spc="0" normalizeH="0" baseline="0" noProof="0">
                        <a:ln>
                          <a:noFill/>
                        </a:ln>
                        <a:solidFill>
                          <a:srgbClr val="000000"/>
                        </a:solidFill>
                        <a:effectLst/>
                        <a:uLnTx/>
                        <a:uFillTx/>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001326412"/>
                  </a:ext>
                </a:extLst>
              </a:tr>
              <a:tr h="42759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i="0" u="none" strike="noStrike" kern="1200" noProof="0">
                          <a:solidFill>
                            <a:srgbClr val="FF0000"/>
                          </a:solidFill>
                          <a:latin typeface="+mn-lt"/>
                        </a:rPr>
                        <a:t>Pax Claim – Implementation with PayU</a:t>
                      </a: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i="0" u="none" strike="noStrike" kern="1200" noProof="0">
                          <a:solidFill>
                            <a:srgbClr val="FF0000"/>
                          </a:solidFill>
                          <a:latin typeface="+mn-lt"/>
                          <a:ea typeface="+mn-ea"/>
                          <a:cs typeface="+mn-cs"/>
                        </a:rPr>
                        <a:t>Pax Claim – Implementation with PayU</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u="none" strike="noStrike" kern="1200" baseline="0" noProof="0">
                          <a:solidFill>
                            <a:srgbClr val="000000"/>
                          </a:solidFill>
                          <a:latin typeface="+mn-lt"/>
                        </a:rPr>
                        <a:t>Automating the integration ensures faster processing of Pax Claim payments with reduced manual errors, leading to improved financial accuracy and timely disbursements . Direct integration with banking partners strengthens data traceability and aligns with financial governance standards </a:t>
                      </a:r>
                      <a:endParaRPr lang="en-US" sz="1000">
                        <a:latin typeface="+mn-lt"/>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l" rtl="0" eaLnBrk="1" fontAlgn="auto" latinLnBrk="0" hangingPunct="1">
                        <a:lnSpc>
                          <a:spcPct val="100000"/>
                        </a:lnSpc>
                        <a:spcBef>
                          <a:spcPts val="0"/>
                        </a:spcBef>
                        <a:spcAft>
                          <a:spcPts val="0"/>
                        </a:spcAft>
                        <a:buClrTx/>
                        <a:buSzTx/>
                        <a:buFontTx/>
                        <a:buNone/>
                      </a:pPr>
                      <a:r>
                        <a:rPr lang="en-US" sz="1000">
                          <a:latin typeface="+mn-lt"/>
                        </a:rPr>
                        <a:t>On Hold</a:t>
                      </a:r>
                      <a:endParaRPr kumimoji="0" lang="en-US" sz="1000">
                        <a:latin typeface="+mn-lt"/>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969004380"/>
                  </a:ext>
                </a:extLst>
              </a:tr>
              <a:tr h="42759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000" b="1" i="0" u="none" strike="noStrike" kern="1200">
                          <a:solidFill>
                            <a:srgbClr val="0070C0"/>
                          </a:solidFill>
                          <a:effectLst/>
                          <a:latin typeface="+mn-lt"/>
                          <a:ea typeface="+mn-ea"/>
                          <a:cs typeface="+mn-cs"/>
                        </a:rPr>
                        <a:t>15 CA/CB - Phase II​</a:t>
                      </a: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a:solidFill>
                        <a:schemeClr val="bg1">
                          <a:lumMod val="75000"/>
                        </a:schemeClr>
                      </a:solidFill>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000" b="1" i="0" u="none" strike="noStrike" kern="1200">
                          <a:solidFill>
                            <a:srgbClr val="0070C0"/>
                          </a:solidFill>
                          <a:effectLst/>
                          <a:latin typeface="+mn-lt"/>
                          <a:ea typeface="+mn-ea"/>
                          <a:cs typeface="+mn-cs"/>
                        </a:rPr>
                        <a:t>15 CA/CB - Phase II​</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a:solidFill>
                        <a:schemeClr val="bg1">
                          <a:lumMod val="75000"/>
                        </a:schemeClr>
                      </a:solidFill>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u="none" strike="noStrike" kern="1200">
                          <a:solidFill>
                            <a:srgbClr val="000000"/>
                          </a:solidFill>
                          <a:effectLst/>
                          <a:latin typeface="+mn-lt"/>
                          <a:ea typeface="+mn-ea"/>
                          <a:cs typeface="+mn-cs"/>
                        </a:rPr>
                        <a:t>Implementing a streamlined process for Form 15CA and 15CB enhances regulatory compliance, reduces tax-related risks, and ensures accurate reporting of foreign remittances. </a:t>
                      </a:r>
                      <a:endParaRPr lang="en-US" sz="1000">
                        <a:latin typeface="+mn-lt"/>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a:solidFill>
                        <a:schemeClr val="bg1">
                          <a:lumMod val="75000"/>
                        </a:schemeClr>
                      </a:solidFill>
                    </a:lnB>
                    <a:noFill/>
                  </a:tcPr>
                </a:tc>
                <a:tc>
                  <a:txBody>
                    <a:bodyPr/>
                    <a:lstStyle/>
                    <a:p>
                      <a:pPr lvl="0" algn="l">
                        <a:lnSpc>
                          <a:spcPct val="100000"/>
                        </a:lnSpc>
                        <a:spcBef>
                          <a:spcPts val="0"/>
                        </a:spcBef>
                        <a:spcAft>
                          <a:spcPts val="0"/>
                        </a:spcAft>
                        <a:buNone/>
                      </a:pPr>
                      <a:r>
                        <a:rPr lang="en-IN" sz="1000" b="0" i="0" u="none" strike="noStrike" noProof="0">
                          <a:solidFill>
                            <a:srgbClr val="000000"/>
                          </a:solidFill>
                          <a:latin typeface="Nunito Sans"/>
                        </a:rPr>
                        <a:t>30</a:t>
                      </a:r>
                      <a:r>
                        <a:rPr lang="en-IN" sz="700" b="0" i="0" u="none" strike="noStrike" baseline="30000" noProof="0">
                          <a:solidFill>
                            <a:srgbClr val="000000"/>
                          </a:solidFill>
                          <a:latin typeface="Nunito Sans"/>
                        </a:rPr>
                        <a:t>th</a:t>
                      </a:r>
                      <a:r>
                        <a:rPr lang="en-IN" sz="1000" b="0" i="0" u="none" strike="noStrike" noProof="0">
                          <a:solidFill>
                            <a:srgbClr val="000000"/>
                          </a:solidFill>
                          <a:latin typeface="Nunito Sans"/>
                        </a:rPr>
                        <a:t> Apr 2026</a:t>
                      </a:r>
                      <a:endParaRPr lang="en-US" sz="1000" b="0" i="0" u="none" strike="noStrike" noProof="0">
                        <a:latin typeface="Nunito San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a:solidFill>
                        <a:schemeClr val="bg1">
                          <a:lumMod val="75000"/>
                        </a:schemeClr>
                      </a:solidFill>
                    </a:lnB>
                    <a:noFill/>
                  </a:tcPr>
                </a:tc>
                <a:extLst>
                  <a:ext uri="{0D108BD9-81ED-4DB2-BD59-A6C34878D82A}">
                    <a16:rowId xmlns:a16="http://schemas.microsoft.com/office/drawing/2014/main" val="599127905"/>
                  </a:ext>
                </a:extLst>
              </a:tr>
            </a:tbl>
          </a:graphicData>
        </a:graphic>
      </p:graphicFrame>
      <p:sp>
        <p:nvSpPr>
          <p:cNvPr id="4" name="Rectangle 3">
            <a:extLst>
              <a:ext uri="{FF2B5EF4-FFF2-40B4-BE49-F238E27FC236}">
                <a16:creationId xmlns:a16="http://schemas.microsoft.com/office/drawing/2014/main" id="{587C8E5B-31E1-34C6-A6CA-2B22CCBD8DC3}"/>
              </a:ext>
            </a:extLst>
          </p:cNvPr>
          <p:cNvSpPr/>
          <p:nvPr/>
        </p:nvSpPr>
        <p:spPr>
          <a:xfrm>
            <a:off x="1188132" y="6671592"/>
            <a:ext cx="90000" cy="90000"/>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5" name="Rectangle 4">
            <a:extLst>
              <a:ext uri="{FF2B5EF4-FFF2-40B4-BE49-F238E27FC236}">
                <a16:creationId xmlns:a16="http://schemas.microsoft.com/office/drawing/2014/main" id="{EAF73D27-F5D8-B679-417F-EED465B3FAFB}"/>
              </a:ext>
            </a:extLst>
          </p:cNvPr>
          <p:cNvSpPr/>
          <p:nvPr/>
        </p:nvSpPr>
        <p:spPr>
          <a:xfrm>
            <a:off x="2265818" y="6670554"/>
            <a:ext cx="90000" cy="90000"/>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7" name="Rectangle 6">
            <a:extLst>
              <a:ext uri="{FF2B5EF4-FFF2-40B4-BE49-F238E27FC236}">
                <a16:creationId xmlns:a16="http://schemas.microsoft.com/office/drawing/2014/main" id="{151B423A-6A49-88BD-F97F-22038A105C58}"/>
              </a:ext>
            </a:extLst>
          </p:cNvPr>
          <p:cNvSpPr/>
          <p:nvPr/>
        </p:nvSpPr>
        <p:spPr>
          <a:xfrm>
            <a:off x="3443423" y="6671592"/>
            <a:ext cx="90000" cy="90000"/>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8" name="Rectangle 7">
            <a:extLst>
              <a:ext uri="{FF2B5EF4-FFF2-40B4-BE49-F238E27FC236}">
                <a16:creationId xmlns:a16="http://schemas.microsoft.com/office/drawing/2014/main" id="{6506F89A-7CDB-B4C7-5184-FF8B67AA128A}"/>
              </a:ext>
            </a:extLst>
          </p:cNvPr>
          <p:cNvSpPr/>
          <p:nvPr/>
        </p:nvSpPr>
        <p:spPr>
          <a:xfrm>
            <a:off x="7677964" y="6714097"/>
            <a:ext cx="90000" cy="90000"/>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9" name="TextBox 15">
            <a:extLst>
              <a:ext uri="{FF2B5EF4-FFF2-40B4-BE49-F238E27FC236}">
                <a16:creationId xmlns:a16="http://schemas.microsoft.com/office/drawing/2014/main" id="{63E5178C-4B3C-B03F-D9F2-81234C135CF9}"/>
              </a:ext>
            </a:extLst>
          </p:cNvPr>
          <p:cNvSpPr txBox="1"/>
          <p:nvPr/>
        </p:nvSpPr>
        <p:spPr>
          <a:xfrm>
            <a:off x="1288983" y="6614743"/>
            <a:ext cx="857245"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0070C0"/>
                </a:solidFill>
                <a:effectLst/>
                <a:uLnTx/>
                <a:uFillTx/>
                <a:latin typeface="Nunito Sans"/>
                <a:ea typeface="+mn-ea"/>
                <a:cs typeface="+mn-cs"/>
              </a:rPr>
              <a:t>Delivered</a:t>
            </a:r>
            <a:endParaRPr kumimoji="0" lang="en-IN" sz="1000" b="0" i="0" u="none" strike="noStrike" kern="1200" cap="none" spc="0" normalizeH="0" baseline="0" noProof="0">
              <a:ln>
                <a:noFill/>
              </a:ln>
              <a:solidFill>
                <a:srgbClr val="000000"/>
              </a:solidFill>
              <a:effectLst/>
              <a:uLnTx/>
              <a:uFillTx/>
              <a:latin typeface="Nunito Sans"/>
              <a:ea typeface="+mn-ea"/>
              <a:cs typeface="+mn-cs"/>
            </a:endParaRPr>
          </a:p>
        </p:txBody>
      </p:sp>
      <p:sp>
        <p:nvSpPr>
          <p:cNvPr id="10" name="TextBox 18">
            <a:extLst>
              <a:ext uri="{FF2B5EF4-FFF2-40B4-BE49-F238E27FC236}">
                <a16:creationId xmlns:a16="http://schemas.microsoft.com/office/drawing/2014/main" id="{8F12A339-543E-1810-AE60-DC191A2BA1AF}"/>
              </a:ext>
            </a:extLst>
          </p:cNvPr>
          <p:cNvSpPr txBox="1"/>
          <p:nvPr/>
        </p:nvSpPr>
        <p:spPr>
          <a:xfrm>
            <a:off x="2310642" y="6611102"/>
            <a:ext cx="1032881"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00B050"/>
                </a:solidFill>
                <a:effectLst/>
                <a:uLnTx/>
                <a:uFillTx/>
                <a:latin typeface="Nunito Sans"/>
                <a:ea typeface="+mn-ea"/>
                <a:cs typeface="+mn-cs"/>
              </a:rPr>
              <a:t>Ontrack</a:t>
            </a:r>
            <a:endParaRPr kumimoji="0" lang="en-IN" sz="1000" b="0" i="0" u="none" strike="noStrike" kern="1200" cap="none" spc="0" normalizeH="0" baseline="0" noProof="0">
              <a:ln>
                <a:noFill/>
              </a:ln>
              <a:solidFill>
                <a:srgbClr val="000000"/>
              </a:solidFill>
              <a:effectLst/>
              <a:uLnTx/>
              <a:uFillTx/>
              <a:latin typeface="Nunito Sans"/>
              <a:ea typeface="+mn-ea"/>
              <a:cs typeface="+mn-cs"/>
            </a:endParaRPr>
          </a:p>
        </p:txBody>
      </p:sp>
      <p:sp>
        <p:nvSpPr>
          <p:cNvPr id="11" name="TextBox 20">
            <a:extLst>
              <a:ext uri="{FF2B5EF4-FFF2-40B4-BE49-F238E27FC236}">
                <a16:creationId xmlns:a16="http://schemas.microsoft.com/office/drawing/2014/main" id="{94E1C674-5812-975D-660D-47533577F58E}"/>
              </a:ext>
            </a:extLst>
          </p:cNvPr>
          <p:cNvSpPr txBox="1"/>
          <p:nvPr/>
        </p:nvSpPr>
        <p:spPr>
          <a:xfrm>
            <a:off x="3539606" y="6608370"/>
            <a:ext cx="2257628"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FED9A0">
                    <a:lumMod val="75000"/>
                  </a:srgbClr>
                </a:solidFill>
                <a:effectLst/>
                <a:uLnTx/>
                <a:uFillTx/>
                <a:latin typeface="Nunito Sans"/>
                <a:ea typeface="+mn-ea"/>
                <a:cs typeface="+mn-cs"/>
              </a:rPr>
              <a:t>Under delay and can be recovered</a:t>
            </a:r>
            <a:endParaRPr kumimoji="0" lang="en-IN" sz="1000" b="0" i="0" u="none" strike="noStrike" kern="1200" cap="none" spc="0" normalizeH="0" baseline="0" noProof="0">
              <a:ln>
                <a:noFill/>
              </a:ln>
              <a:solidFill>
                <a:srgbClr val="000000"/>
              </a:solidFill>
              <a:effectLst/>
              <a:uLnTx/>
              <a:uFillTx/>
              <a:latin typeface="Nunito Sans"/>
              <a:ea typeface="+mn-ea"/>
              <a:cs typeface="+mn-cs"/>
            </a:endParaRPr>
          </a:p>
        </p:txBody>
      </p:sp>
      <p:sp>
        <p:nvSpPr>
          <p:cNvPr id="13" name="TextBox 22">
            <a:extLst>
              <a:ext uri="{FF2B5EF4-FFF2-40B4-BE49-F238E27FC236}">
                <a16:creationId xmlns:a16="http://schemas.microsoft.com/office/drawing/2014/main" id="{67767855-454B-1D20-FBC6-CA14CECA0669}"/>
              </a:ext>
            </a:extLst>
          </p:cNvPr>
          <p:cNvSpPr txBox="1"/>
          <p:nvPr/>
        </p:nvSpPr>
        <p:spPr>
          <a:xfrm>
            <a:off x="7778849" y="6618126"/>
            <a:ext cx="2338222"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FF0000"/>
                </a:solidFill>
                <a:effectLst/>
                <a:uLnTx/>
                <a:uFillTx/>
                <a:latin typeface="Nunito Sans"/>
                <a:ea typeface="+mn-ea"/>
                <a:cs typeface="+mn-cs"/>
              </a:rPr>
              <a:t>Delayed and pushed to next release</a:t>
            </a:r>
          </a:p>
        </p:txBody>
      </p:sp>
      <p:sp>
        <p:nvSpPr>
          <p:cNvPr id="15" name="TextBox 14">
            <a:extLst>
              <a:ext uri="{FF2B5EF4-FFF2-40B4-BE49-F238E27FC236}">
                <a16:creationId xmlns:a16="http://schemas.microsoft.com/office/drawing/2014/main" id="{6336D96E-CA04-7816-CB0B-D1565F53BE12}"/>
              </a:ext>
            </a:extLst>
          </p:cNvPr>
          <p:cNvSpPr txBox="1"/>
          <p:nvPr/>
        </p:nvSpPr>
        <p:spPr>
          <a:xfrm>
            <a:off x="5986281" y="6611638"/>
            <a:ext cx="2743200"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IN" sz="1000">
                <a:solidFill>
                  <a:srgbClr val="7D7D7D"/>
                </a:solidFill>
              </a:rPr>
              <a:t>Descoped</a:t>
            </a:r>
            <a:endParaRPr lang="en-US"/>
          </a:p>
        </p:txBody>
      </p:sp>
      <p:sp>
        <p:nvSpPr>
          <p:cNvPr id="16" name="Rectangle 15">
            <a:extLst>
              <a:ext uri="{FF2B5EF4-FFF2-40B4-BE49-F238E27FC236}">
                <a16:creationId xmlns:a16="http://schemas.microsoft.com/office/drawing/2014/main" id="{5CE773BC-B233-1899-BF85-B651C8D75DC3}"/>
              </a:ext>
            </a:extLst>
          </p:cNvPr>
          <p:cNvSpPr/>
          <p:nvPr/>
        </p:nvSpPr>
        <p:spPr>
          <a:xfrm>
            <a:off x="5892706" y="6681439"/>
            <a:ext cx="90000" cy="90000"/>
          </a:xfrm>
          <a:prstGeom prst="rect">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Tree>
    <p:extLst>
      <p:ext uri="{BB962C8B-B14F-4D97-AF65-F5344CB8AC3E}">
        <p14:creationId xmlns:p14="http://schemas.microsoft.com/office/powerpoint/2010/main" val="10305757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DB6E31-ECFE-B574-6F6F-B1DE60725F95}"/>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05FA8D4-1F02-7648-A152-B7C71BFD5BED}"/>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3A41A254-7326-714E-AF55-4C213D6394DE}" type="slidenum">
              <a:rPr kumimoji="0" lang="en-US" sz="1200" b="0" i="0" u="none" strike="noStrike" kern="1200" cap="none" spc="0" normalizeH="0" baseline="0" noProof="0" smtClean="0">
                <a:ln>
                  <a:noFill/>
                </a:ln>
                <a:solidFill>
                  <a:srgbClr val="DA0E28"/>
                </a:solidFill>
                <a:effectLst/>
                <a:uLnTx/>
                <a:uFillTx/>
                <a:latin typeface="Nunito Sans"/>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srgbClr val="DA0E28"/>
              </a:solidFill>
              <a:effectLst/>
              <a:uLnTx/>
              <a:uFillTx/>
              <a:latin typeface="Nunito Sans"/>
              <a:ea typeface="+mn-ea"/>
              <a:cs typeface="+mn-cs"/>
            </a:endParaRPr>
          </a:p>
        </p:txBody>
      </p:sp>
      <p:sp>
        <p:nvSpPr>
          <p:cNvPr id="3" name="Rectangle 2">
            <a:extLst>
              <a:ext uri="{FF2B5EF4-FFF2-40B4-BE49-F238E27FC236}">
                <a16:creationId xmlns:a16="http://schemas.microsoft.com/office/drawing/2014/main" id="{44E2560B-5ABE-3CDD-D7E7-5B53CB1D2439}"/>
              </a:ext>
            </a:extLst>
          </p:cNvPr>
          <p:cNvSpPr/>
          <p:nvPr/>
        </p:nvSpPr>
        <p:spPr>
          <a:xfrm>
            <a:off x="129077" y="610471"/>
            <a:ext cx="1170432" cy="42234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defRPr/>
            </a:pPr>
            <a:r>
              <a:rPr lang="en-IN" sz="1400" b="1">
                <a:solidFill>
                  <a:srgbClr val="FFFFFF"/>
                </a:solidFill>
                <a:latin typeface="AirIndia"/>
              </a:rPr>
              <a:t>28th May</a:t>
            </a:r>
            <a:r>
              <a:rPr kumimoji="0" lang="en-IN" sz="1400" b="1" i="0" u="none" strike="noStrike" kern="1200" cap="none" spc="0" normalizeH="0" baseline="0" noProof="0">
                <a:ln>
                  <a:noFill/>
                </a:ln>
                <a:solidFill>
                  <a:srgbClr val="FFFFFF"/>
                </a:solidFill>
                <a:effectLst/>
                <a:uLnTx/>
                <a:uFillTx/>
                <a:latin typeface="AirIndia"/>
                <a:ea typeface="+mn-ea"/>
                <a:cs typeface="+mn-cs"/>
              </a:rPr>
              <a:t> ‘</a:t>
            </a:r>
            <a:r>
              <a:rPr lang="en-IN" sz="1400" b="1">
                <a:solidFill>
                  <a:srgbClr val="FFFFFF"/>
                </a:solidFill>
                <a:latin typeface="AirIndia"/>
              </a:rPr>
              <a:t>26</a:t>
            </a:r>
            <a:endParaRPr kumimoji="0" lang="en-US" sz="1400" b="1" i="0" u="none" strike="noStrike" kern="1200" cap="none" spc="0" normalizeH="0" baseline="0" noProof="0">
              <a:ln>
                <a:noFill/>
              </a:ln>
              <a:solidFill>
                <a:srgbClr val="FFFFFF"/>
              </a:solidFill>
              <a:effectLst/>
              <a:uLnTx/>
              <a:uFillTx/>
              <a:latin typeface="AirIndia"/>
              <a:ea typeface="+mn-ea"/>
              <a:cs typeface="+mn-cs"/>
            </a:endParaRPr>
          </a:p>
        </p:txBody>
      </p:sp>
      <p:sp>
        <p:nvSpPr>
          <p:cNvPr id="6" name="Title 11">
            <a:extLst>
              <a:ext uri="{FF2B5EF4-FFF2-40B4-BE49-F238E27FC236}">
                <a16:creationId xmlns:a16="http://schemas.microsoft.com/office/drawing/2014/main" id="{1F7AB79F-8A0E-9EAC-C03F-2137CAA00748}"/>
              </a:ext>
            </a:extLst>
          </p:cNvPr>
          <p:cNvSpPr txBox="1">
            <a:spLocks/>
          </p:cNvSpPr>
          <p:nvPr/>
        </p:nvSpPr>
        <p:spPr>
          <a:xfrm>
            <a:off x="242857" y="182023"/>
            <a:ext cx="7691717" cy="430255"/>
          </a:xfrm>
          <a:prstGeom prst="rect">
            <a:avLst/>
          </a:prstGeom>
        </p:spPr>
        <p:txBody>
          <a:bodyPr lIns="91440" tIns="45720" rIns="91440" bIns="45720" anchor="t">
            <a:noAutofit/>
          </a:bodyPr>
          <a:lstStyle>
            <a:lvl1pPr algn="l" defTabSz="914400" rtl="0" eaLnBrk="1" latinLnBrk="0" hangingPunct="1">
              <a:lnSpc>
                <a:spcPct val="90000"/>
              </a:lnSpc>
              <a:spcBef>
                <a:spcPct val="0"/>
              </a:spcBef>
              <a:buNone/>
              <a:defRPr sz="4400" b="1" i="0" kern="1200">
                <a:solidFill>
                  <a:schemeClr val="tx1"/>
                </a:solidFill>
                <a:latin typeface="AirIndia" pitchFamily="82" charset="77"/>
                <a:ea typeface="+mj-ea"/>
                <a:cs typeface="+mj-cs"/>
              </a:defRPr>
            </a:lvl1pPr>
          </a:lstStyle>
          <a:p>
            <a:pPr>
              <a:defRPr/>
            </a:pPr>
            <a:r>
              <a:rPr lang="en-US" sz="1800">
                <a:solidFill>
                  <a:srgbClr val="DA0E28"/>
                </a:solidFill>
                <a:latin typeface="AirIndia"/>
              </a:rPr>
              <a:t>Corporate Systems </a:t>
            </a:r>
            <a:r>
              <a:rPr kumimoji="0" lang="en-US" sz="1800" b="1" i="0" u="none" strike="noStrike" kern="1200" cap="none" spc="0" normalizeH="0" baseline="0" noProof="0">
                <a:ln>
                  <a:noFill/>
                </a:ln>
                <a:solidFill>
                  <a:srgbClr val="DA0E28"/>
                </a:solidFill>
                <a:effectLst/>
                <a:uLnTx/>
                <a:uFillTx/>
                <a:latin typeface="AirIndia"/>
                <a:ea typeface="+mj-ea"/>
                <a:cs typeface="+mj-cs"/>
              </a:rPr>
              <a:t>- </a:t>
            </a:r>
            <a:r>
              <a:rPr lang="en-US" sz="1800">
                <a:solidFill>
                  <a:srgbClr val="DA0E28"/>
                </a:solidFill>
                <a:latin typeface="AirIndia"/>
              </a:rPr>
              <a:t>FY26-27</a:t>
            </a:r>
            <a:r>
              <a:rPr kumimoji="0" lang="en-US" sz="1800" b="1" i="0" u="none" strike="noStrike" kern="1200" cap="none" spc="0" normalizeH="0" baseline="0" noProof="0">
                <a:ln>
                  <a:noFill/>
                </a:ln>
                <a:solidFill>
                  <a:srgbClr val="DA0E28"/>
                </a:solidFill>
                <a:effectLst/>
                <a:uLnTx/>
                <a:uFillTx/>
                <a:latin typeface="AirIndia"/>
                <a:ea typeface="+mj-ea"/>
                <a:cs typeface="+mj-cs"/>
              </a:rPr>
              <a:t> Q1  Release Plan</a:t>
            </a:r>
            <a:r>
              <a:rPr lang="en-US" sz="1800">
                <a:solidFill>
                  <a:srgbClr val="DA0E28"/>
                </a:solidFill>
                <a:latin typeface="AirIndia"/>
              </a:rPr>
              <a:t> (Fin Tech)</a:t>
            </a:r>
            <a:endParaRPr lang="en-US" sz="1800" b="0" i="0" u="none" strike="noStrike" kern="1200" cap="none" spc="0" normalizeH="0" baseline="0" noProof="0">
              <a:ln>
                <a:noFill/>
              </a:ln>
              <a:solidFill>
                <a:srgbClr val="DA0E28"/>
              </a:solidFill>
              <a:effectLst/>
              <a:uLnTx/>
              <a:uFillTx/>
              <a:latin typeface="AirIndia"/>
            </a:endParaRPr>
          </a:p>
        </p:txBody>
      </p:sp>
      <p:graphicFrame>
        <p:nvGraphicFramePr>
          <p:cNvPr id="12" name="Table 11">
            <a:extLst>
              <a:ext uri="{FF2B5EF4-FFF2-40B4-BE49-F238E27FC236}">
                <a16:creationId xmlns:a16="http://schemas.microsoft.com/office/drawing/2014/main" id="{B6EC41FA-6516-E92B-7456-E6E97B8D23ED}"/>
              </a:ext>
            </a:extLst>
          </p:cNvPr>
          <p:cNvGraphicFramePr>
            <a:graphicFrameLocks noGrp="1"/>
          </p:cNvGraphicFramePr>
          <p:nvPr>
            <p:extLst>
              <p:ext uri="{D42A27DB-BD31-4B8C-83A1-F6EECF244321}">
                <p14:modId xmlns:p14="http://schemas.microsoft.com/office/powerpoint/2010/main" val="2036565522"/>
              </p:ext>
            </p:extLst>
          </p:nvPr>
        </p:nvGraphicFramePr>
        <p:xfrm>
          <a:off x="1250156" y="595312"/>
          <a:ext cx="9460815" cy="5260434"/>
        </p:xfrm>
        <a:graphic>
          <a:graphicData uri="http://schemas.openxmlformats.org/drawingml/2006/table">
            <a:tbl>
              <a:tblPr firstRow="1" bandRow="1">
                <a:tableStyleId>{5C22544A-7EE6-4342-B048-85BDC9FD1C3A}</a:tableStyleId>
              </a:tblPr>
              <a:tblGrid>
                <a:gridCol w="1778266">
                  <a:extLst>
                    <a:ext uri="{9D8B030D-6E8A-4147-A177-3AD203B41FA5}">
                      <a16:colId xmlns:a16="http://schemas.microsoft.com/office/drawing/2014/main" val="2822350773"/>
                    </a:ext>
                  </a:extLst>
                </a:gridCol>
                <a:gridCol w="1778266">
                  <a:extLst>
                    <a:ext uri="{9D8B030D-6E8A-4147-A177-3AD203B41FA5}">
                      <a16:colId xmlns:a16="http://schemas.microsoft.com/office/drawing/2014/main" val="2043345236"/>
                    </a:ext>
                  </a:extLst>
                </a:gridCol>
                <a:gridCol w="4679400">
                  <a:extLst>
                    <a:ext uri="{9D8B030D-6E8A-4147-A177-3AD203B41FA5}">
                      <a16:colId xmlns:a16="http://schemas.microsoft.com/office/drawing/2014/main" val="99588705"/>
                    </a:ext>
                  </a:extLst>
                </a:gridCol>
                <a:gridCol w="1224883">
                  <a:extLst>
                    <a:ext uri="{9D8B030D-6E8A-4147-A177-3AD203B41FA5}">
                      <a16:colId xmlns:a16="http://schemas.microsoft.com/office/drawing/2014/main" val="2531239385"/>
                    </a:ext>
                  </a:extLst>
                </a:gridCol>
              </a:tblGrid>
              <a:tr h="526264">
                <a:tc>
                  <a:txBody>
                    <a:bodyPr/>
                    <a:lstStyle/>
                    <a:p>
                      <a:pPr marL="0" lvl="0" indent="0" algn="ctr" defTabSz="914400" rtl="0">
                        <a:lnSpc>
                          <a:spcPct val="100000"/>
                        </a:lnSpc>
                        <a:buFont typeface="Arial" panose="020B0604020202020204" pitchFamily="34" charset="0"/>
                        <a:buNone/>
                      </a:pPr>
                      <a:r>
                        <a:rPr lang="en-IN" sz="1100" b="1" kern="1200">
                          <a:solidFill>
                            <a:schemeClr val="bg1"/>
                          </a:solidFill>
                          <a:latin typeface="+mn-lt"/>
                          <a:ea typeface="+mn-ea"/>
                          <a:cs typeface="+mn-cs"/>
                        </a:rPr>
                        <a:t>Initiatives</a:t>
                      </a:r>
                      <a:endParaRPr lang="en-US" sz="1100" b="1"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tc>
                  <a:txBody>
                    <a:bodyPr/>
                    <a:lstStyle/>
                    <a:p>
                      <a:pPr marL="0" lvl="0" indent="0" algn="ctr" defTabSz="914400">
                        <a:lnSpc>
                          <a:spcPct val="100000"/>
                        </a:lnSpc>
                        <a:buNone/>
                      </a:pPr>
                      <a:r>
                        <a:rPr lang="en-IN" sz="1100" b="1" i="0" u="none" strike="noStrike" kern="1200" noProof="0">
                          <a:solidFill>
                            <a:schemeClr val="bg1"/>
                          </a:solidFill>
                          <a:latin typeface="Nunito Sans"/>
                          <a:ea typeface="+mn-ea"/>
                          <a:cs typeface="+mn-cs"/>
                        </a:rPr>
                        <a:t>Programs/Projects</a:t>
                      </a:r>
                      <a:endParaRPr lang="en-US"/>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solidFill>
                      <a:schemeClr val="accent3">
                        <a:lumMod val="90000"/>
                        <a:lumOff val="10000"/>
                      </a:schemeClr>
                    </a:solidFill>
                  </a:tcPr>
                </a:tc>
                <a:tc>
                  <a:txBody>
                    <a:bodyPr/>
                    <a:lstStyle/>
                    <a:p>
                      <a:pPr marL="0" lvl="0" indent="0" algn="ctr">
                        <a:lnSpc>
                          <a:spcPct val="100000"/>
                        </a:lnSpc>
                        <a:buNone/>
                      </a:pPr>
                      <a:endParaRPr lang="en-IN" sz="1100" b="1" i="0" u="none" strike="noStrike" kern="1200" baseline="0" noProof="0">
                        <a:solidFill>
                          <a:srgbClr val="FFFFFF"/>
                        </a:solidFill>
                        <a:latin typeface="Nunito Sans"/>
                      </a:endParaRPr>
                    </a:p>
                    <a:p>
                      <a:pPr marL="0" lvl="0" indent="0" algn="ctr">
                        <a:lnSpc>
                          <a:spcPct val="100000"/>
                        </a:lnSpc>
                        <a:buNone/>
                      </a:pPr>
                      <a:r>
                        <a:rPr lang="en-IN" sz="1100" b="1" i="0" u="none" strike="noStrike" kern="1200" baseline="0" noProof="0">
                          <a:solidFill>
                            <a:srgbClr val="FFFFFF"/>
                          </a:solidFill>
                          <a:latin typeface="Nunito Sans"/>
                        </a:rPr>
                        <a:t>Value Justification/Realization</a:t>
                      </a:r>
                    </a:p>
                    <a:p>
                      <a:pPr marL="0" lvl="0" indent="0" algn="ctr" defTabSz="914400">
                        <a:buFont typeface="Arial" panose="020B0604020202020204" pitchFamily="34" charset="0"/>
                        <a:buNone/>
                      </a:pPr>
                      <a:endParaRPr lang="en-IN" sz="1100"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100">
                          <a:latin typeface="+mn-lt"/>
                        </a:rPr>
                        <a:t>Actual/Revised Go-Live</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extLst>
                  <a:ext uri="{0D108BD9-81ED-4DB2-BD59-A6C34878D82A}">
                    <a16:rowId xmlns:a16="http://schemas.microsoft.com/office/drawing/2014/main" val="844450115"/>
                  </a:ext>
                </a:extLst>
              </a:tr>
              <a:tr h="73709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i="0" u="none" strike="noStrike" kern="1200" err="1">
                          <a:solidFill>
                            <a:srgbClr val="0070C0"/>
                          </a:solidFill>
                          <a:effectLst/>
                          <a:latin typeface="+mn-lt"/>
                          <a:ea typeface="+mn-ea"/>
                          <a:cs typeface="+mn-cs"/>
                        </a:rPr>
                        <a:t>Adhoc</a:t>
                      </a:r>
                      <a:r>
                        <a:rPr lang="en-US" sz="1000" b="1" i="0" u="none" strike="noStrike" kern="1200">
                          <a:solidFill>
                            <a:srgbClr val="0070C0"/>
                          </a:solidFill>
                          <a:effectLst/>
                          <a:latin typeface="+mn-lt"/>
                          <a:ea typeface="+mn-ea"/>
                          <a:cs typeface="+mn-cs"/>
                        </a:rPr>
                        <a:t> - User–Role Visibility for CTM</a:t>
                      </a:r>
                      <a:endParaRPr lang="en-US" sz="1000" b="1" i="0" u="none" strike="noStrike" kern="1200" noProof="0">
                        <a:solidFill>
                          <a:srgbClr val="0070C0"/>
                        </a:solidFill>
                        <a:latin typeface="+mn-lt"/>
                      </a:endParaRP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lvl="0" indent="0" algn="l">
                        <a:lnSpc>
                          <a:spcPct val="100000"/>
                        </a:lnSpc>
                        <a:spcBef>
                          <a:spcPts val="0"/>
                        </a:spcBef>
                        <a:spcAft>
                          <a:spcPts val="0"/>
                        </a:spcAft>
                        <a:buNone/>
                      </a:pPr>
                      <a:r>
                        <a:rPr lang="en-US" sz="1000" b="1" i="0" u="none" strike="noStrike" kern="1200">
                          <a:solidFill>
                            <a:srgbClr val="0070C0"/>
                          </a:solidFill>
                          <a:effectLst/>
                          <a:latin typeface="+mn-lt"/>
                          <a:ea typeface="+mn-ea"/>
                          <a:cs typeface="+mn-cs"/>
                        </a:rPr>
                        <a:t>User–Role Visibility for CTM</a:t>
                      </a:r>
                      <a:endParaRPr lang="en-US" sz="1000" b="1" i="0" u="none" strike="noStrike" kern="1200" noProof="0">
                        <a:solidFill>
                          <a:srgbClr val="0070C0"/>
                        </a:solidFill>
                        <a:latin typeface="+mn-lt"/>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u="none" strike="noStrike" kern="1200">
                          <a:solidFill>
                            <a:srgbClr val="000000"/>
                          </a:solidFill>
                          <a:effectLst/>
                          <a:latin typeface="+mn-lt"/>
                          <a:ea typeface="+mn-ea"/>
                          <a:cs typeface="+mn-cs"/>
                        </a:rPr>
                        <a:t>Access has been provided to the CTM team to review roles assigned to users in SAP. This enables CTM to perform a basic validation to ensure that only minimum required access is assigned. Additionally, this report can be used by business users to conduct access reviews for their respective users, helping them proactively identify and manage user access in SAP.</a:t>
                      </a:r>
                      <a:endParaRPr lang="en-IN" sz="1000" b="0" i="0" u="none" strike="noStrike" kern="1200">
                        <a:solidFill>
                          <a:srgbClr val="000000"/>
                        </a:solidFill>
                        <a:effectLst/>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000000"/>
                          </a:solidFill>
                          <a:effectLst/>
                          <a:uLnTx/>
                          <a:uFillTx/>
                          <a:latin typeface="+mn-lt"/>
                          <a:ea typeface="+mn-ea"/>
                          <a:cs typeface="+mn-cs"/>
                        </a:rPr>
                        <a:t>05</a:t>
                      </a:r>
                      <a:r>
                        <a:rPr kumimoji="0" lang="en-IN" sz="1000" b="0" i="0" u="none" strike="noStrike" kern="1200" cap="none" spc="0" normalizeH="0" baseline="30000" noProof="0">
                          <a:ln>
                            <a:noFill/>
                          </a:ln>
                          <a:solidFill>
                            <a:srgbClr val="000000"/>
                          </a:solidFill>
                          <a:effectLst/>
                          <a:uLnTx/>
                          <a:uFillTx/>
                          <a:latin typeface="+mn-lt"/>
                          <a:ea typeface="+mn-ea"/>
                          <a:cs typeface="+mn-cs"/>
                        </a:rPr>
                        <a:t>th</a:t>
                      </a:r>
                      <a:r>
                        <a:rPr kumimoji="0" lang="en-IN" sz="1000" b="0" i="0" u="none" strike="noStrike" kern="1200" cap="none" spc="0" normalizeH="0" baseline="0" noProof="0">
                          <a:ln>
                            <a:noFill/>
                          </a:ln>
                          <a:solidFill>
                            <a:srgbClr val="000000"/>
                          </a:solidFill>
                          <a:effectLst/>
                          <a:uLnTx/>
                          <a:uFillTx/>
                          <a:latin typeface="+mn-lt"/>
                          <a:ea typeface="+mn-ea"/>
                          <a:cs typeface="+mn-cs"/>
                        </a:rPr>
                        <a:t> May 2026</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11935849"/>
                  </a:ext>
                </a:extLst>
              </a:tr>
              <a:tr h="73709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i="0" u="none" strike="noStrike" kern="1200" err="1">
                          <a:solidFill>
                            <a:srgbClr val="0070C0"/>
                          </a:solidFill>
                          <a:effectLst/>
                          <a:latin typeface="+mn-lt"/>
                          <a:ea typeface="+mn-ea"/>
                          <a:cs typeface="+mn-cs"/>
                        </a:rPr>
                        <a:t>Adhoc</a:t>
                      </a:r>
                      <a:r>
                        <a:rPr lang="en-US" sz="1000" b="1" i="0" u="none" strike="noStrike" kern="1200">
                          <a:solidFill>
                            <a:srgbClr val="0070C0"/>
                          </a:solidFill>
                          <a:effectLst/>
                          <a:latin typeface="+mn-lt"/>
                          <a:ea typeface="+mn-ea"/>
                          <a:cs typeface="+mn-cs"/>
                        </a:rPr>
                        <a:t> - Automated Inactivity Notifications</a:t>
                      </a:r>
                      <a:endParaRPr lang="en-US" sz="1000" b="1" i="0" u="none" strike="noStrike" kern="1200" noProof="0">
                        <a:solidFill>
                          <a:srgbClr val="0070C0"/>
                        </a:solidFill>
                        <a:latin typeface="+mn-lt"/>
                      </a:endParaRP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i="0" u="none" strike="noStrike" kern="1200">
                          <a:solidFill>
                            <a:srgbClr val="0070C0"/>
                          </a:solidFill>
                          <a:effectLst/>
                          <a:latin typeface="+mn-lt"/>
                          <a:ea typeface="+mn-ea"/>
                          <a:cs typeface="+mn-cs"/>
                        </a:rPr>
                        <a:t>Automated Inactivity Notifications</a:t>
                      </a:r>
                      <a:endParaRPr lang="en-US" sz="1000" b="1" i="0" u="none" strike="noStrike" kern="1200" noProof="0">
                        <a:solidFill>
                          <a:srgbClr val="0070C0"/>
                        </a:solidFill>
                        <a:latin typeface="+mn-lt"/>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u="none" strike="noStrike" kern="1200">
                          <a:solidFill>
                            <a:srgbClr val="000000"/>
                          </a:solidFill>
                          <a:effectLst/>
                          <a:latin typeface="+mn-lt"/>
                          <a:ea typeface="+mn-ea"/>
                          <a:cs typeface="+mn-cs"/>
                        </a:rPr>
                        <a:t>An automated notification mechanism has been implemented for users who have not logged in to the system for more than 90 days. As part of this automation, users receive email reminders on the 80th and 85th day prompting them to log in. This initiative helps reduce instances of user lockouts triggered after 90 days by the automated job, ensuring continued compliance with audit requirements.</a:t>
                      </a:r>
                      <a:endParaRPr lang="en-IN" sz="1000" b="0" i="0" u="none" strike="noStrike" kern="1200">
                        <a:solidFill>
                          <a:srgbClr val="000000"/>
                        </a:solidFill>
                        <a:effectLst/>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000000"/>
                          </a:solidFill>
                          <a:effectLst/>
                          <a:uLnTx/>
                          <a:uFillTx/>
                          <a:latin typeface="+mn-lt"/>
                          <a:ea typeface="+mn-ea"/>
                          <a:cs typeface="+mn-cs"/>
                        </a:rPr>
                        <a:t>05</a:t>
                      </a:r>
                      <a:r>
                        <a:rPr kumimoji="0" lang="en-IN" sz="1000" b="0" i="0" u="none" strike="noStrike" kern="1200" cap="none" spc="0" normalizeH="0" baseline="30000" noProof="0">
                          <a:ln>
                            <a:noFill/>
                          </a:ln>
                          <a:solidFill>
                            <a:srgbClr val="000000"/>
                          </a:solidFill>
                          <a:effectLst/>
                          <a:uLnTx/>
                          <a:uFillTx/>
                          <a:latin typeface="+mn-lt"/>
                          <a:ea typeface="+mn-ea"/>
                          <a:cs typeface="+mn-cs"/>
                        </a:rPr>
                        <a:t>th</a:t>
                      </a:r>
                      <a:r>
                        <a:rPr kumimoji="0" lang="en-IN" sz="1000" b="0" i="0" u="none" strike="noStrike" kern="1200" cap="none" spc="0" normalizeH="0" baseline="0" noProof="0">
                          <a:ln>
                            <a:noFill/>
                          </a:ln>
                          <a:solidFill>
                            <a:srgbClr val="000000"/>
                          </a:solidFill>
                          <a:effectLst/>
                          <a:uLnTx/>
                          <a:uFillTx/>
                          <a:latin typeface="+mn-lt"/>
                          <a:ea typeface="+mn-ea"/>
                          <a:cs typeface="+mn-cs"/>
                        </a:rPr>
                        <a:t> May 2026</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944099129"/>
                  </a:ext>
                </a:extLst>
              </a:tr>
              <a:tr h="73709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i="0" u="none" strike="noStrike" kern="1200">
                          <a:solidFill>
                            <a:srgbClr val="0070C0"/>
                          </a:solidFill>
                          <a:effectLst/>
                          <a:latin typeface="+mn-lt"/>
                          <a:ea typeface="+mn-ea"/>
                          <a:cs typeface="+mn-cs"/>
                        </a:rPr>
                        <a:t>Adhoc - Vendor Master Integration with SuccessFactors Phase II</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b="1" i="0" u="none" strike="noStrike" kern="1200" noProof="0">
                        <a:solidFill>
                          <a:srgbClr val="0070C0"/>
                        </a:solidFill>
                        <a:latin typeface="+mn-lt"/>
                      </a:endParaRP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i="0" u="none" strike="noStrike" kern="1200">
                          <a:solidFill>
                            <a:srgbClr val="0070C0"/>
                          </a:solidFill>
                          <a:effectLst/>
                          <a:latin typeface="+mn-lt"/>
                          <a:ea typeface="+mn-ea"/>
                          <a:cs typeface="+mn-cs"/>
                        </a:rPr>
                        <a:t>Vendor Master Integration with SuccessFactors Phase II</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b="1" i="0" u="none" strike="noStrike" kern="1200" noProof="0">
                        <a:solidFill>
                          <a:srgbClr val="0070C0"/>
                        </a:solidFill>
                        <a:latin typeface="+mn-lt"/>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a:latin typeface="+mn-lt"/>
                        </a:rPr>
                        <a:t>A single, consistent source of truth for vendor and service provider data across finance and HR processes. This integration reduces manual data maintenance, prevents data inconsistencies, and strengthens compliance and governance, while enabling faster onboarding, accurate payments, and improved operational efficiency</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a:latin typeface="+mn-lt"/>
                        </a:rPr>
                        <a:t>03</a:t>
                      </a:r>
                      <a:r>
                        <a:rPr lang="en-US" sz="1000" baseline="30000">
                          <a:latin typeface="+mn-lt"/>
                        </a:rPr>
                        <a:t>rd</a:t>
                      </a:r>
                      <a:r>
                        <a:rPr lang="en-US" sz="1000">
                          <a:latin typeface="+mn-lt"/>
                        </a:rPr>
                        <a:t> Jun 2026</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527245688"/>
                  </a:ext>
                </a:extLst>
              </a:tr>
              <a:tr h="737097">
                <a:tc>
                  <a:txBody>
                    <a:bodyPr/>
                    <a:lstStyle/>
                    <a:p>
                      <a:pPr marL="0" marR="0" lvl="0" indent="0" algn="l" rtl="0" eaLnBrk="1" fontAlgn="auto" latinLnBrk="0" hangingPunct="1">
                        <a:lnSpc>
                          <a:spcPct val="100000"/>
                        </a:lnSpc>
                        <a:spcBef>
                          <a:spcPts val="0"/>
                        </a:spcBef>
                        <a:spcAft>
                          <a:spcPts val="0"/>
                        </a:spcAft>
                        <a:buClrTx/>
                        <a:buSzTx/>
                        <a:buFontTx/>
                        <a:buNone/>
                      </a:pPr>
                      <a:r>
                        <a:rPr lang="en-US" sz="1000" b="1" i="0" u="none" strike="noStrike" kern="1200">
                          <a:solidFill>
                            <a:srgbClr val="0070C0"/>
                          </a:solidFill>
                          <a:effectLst/>
                          <a:latin typeface="+mn-lt"/>
                          <a:ea typeface="+mn-ea"/>
                          <a:cs typeface="+mn-cs"/>
                        </a:rPr>
                        <a:t>Adhoc - HSBC House Bank Configuration for EBRS - MT940 Part II</a:t>
                      </a:r>
                      <a:endParaRPr lang="en-US" sz="1000" b="1" i="0" u="none" strike="noStrike" kern="1200" noProof="0">
                        <a:solidFill>
                          <a:srgbClr val="0070C0"/>
                        </a:solidFill>
                        <a:latin typeface="+mn-lt"/>
                      </a:endParaRP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i="0" u="none" strike="noStrike" kern="1200">
                          <a:solidFill>
                            <a:srgbClr val="0070C0"/>
                          </a:solidFill>
                          <a:effectLst/>
                          <a:latin typeface="+mn-lt"/>
                          <a:ea typeface="+mn-ea"/>
                          <a:cs typeface="+mn-cs"/>
                        </a:rPr>
                        <a:t>HSBC House Bank Configuration FOR EBRS - MT940 Part II</a:t>
                      </a:r>
                      <a:endParaRPr lang="en-US" sz="1000" b="1" i="0" u="none" strike="noStrike" kern="1200" noProof="0">
                        <a:solidFill>
                          <a:srgbClr val="0070C0"/>
                        </a:solidFill>
                        <a:latin typeface="+mn-lt"/>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a:latin typeface="+mn-lt"/>
                        </a:rPr>
                        <a:t>Automates MT940 statement ingestion into EBRS for HSBC house banks, delivering faster cash reconciliation, reduced manual effort, and improved cash visibility across entities. Ensures a robust, audit-ready configuration aligned with bank and internal control requirements — minimizing operational risk and reconciliation delays.</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000000"/>
                          </a:solidFill>
                          <a:effectLst/>
                          <a:uLnTx/>
                          <a:uFillTx/>
                          <a:latin typeface="+mn-lt"/>
                          <a:ea typeface="+mn-ea"/>
                          <a:cs typeface="+mn-cs"/>
                        </a:rPr>
                        <a:t>27</a:t>
                      </a:r>
                      <a:r>
                        <a:rPr kumimoji="0" lang="en-IN" sz="1000" b="0" i="0" u="none" strike="noStrike" kern="1200" cap="none" spc="0" normalizeH="0" baseline="30000" noProof="0">
                          <a:ln>
                            <a:noFill/>
                          </a:ln>
                          <a:solidFill>
                            <a:srgbClr val="000000"/>
                          </a:solidFill>
                          <a:effectLst/>
                          <a:uLnTx/>
                          <a:uFillTx/>
                          <a:latin typeface="+mn-lt"/>
                          <a:ea typeface="+mn-ea"/>
                          <a:cs typeface="+mn-cs"/>
                        </a:rPr>
                        <a:t>th</a:t>
                      </a:r>
                      <a:r>
                        <a:rPr kumimoji="0" lang="en-IN" sz="1000" b="0" i="0" u="none" strike="noStrike" kern="1200" cap="none" spc="0" normalizeH="0" baseline="0" noProof="0">
                          <a:ln>
                            <a:noFill/>
                          </a:ln>
                          <a:solidFill>
                            <a:srgbClr val="000000"/>
                          </a:solidFill>
                          <a:effectLst/>
                          <a:uLnTx/>
                          <a:uFillTx/>
                          <a:latin typeface="+mn-lt"/>
                          <a:ea typeface="+mn-ea"/>
                          <a:cs typeface="+mn-cs"/>
                        </a:rPr>
                        <a:t> May 2026</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948682650"/>
                  </a:ext>
                </a:extLst>
              </a:tr>
              <a:tr h="67523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i="0" u="none" strike="noStrike" kern="1200">
                          <a:solidFill>
                            <a:srgbClr val="0070C0"/>
                          </a:solidFill>
                          <a:effectLst/>
                          <a:latin typeface="+mn-lt"/>
                          <a:ea typeface="+mn-ea"/>
                          <a:cs typeface="+mn-cs"/>
                        </a:rPr>
                        <a:t>Aged provisions Report</a:t>
                      </a: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i="0" u="none" strike="noStrike" kern="1200">
                          <a:solidFill>
                            <a:srgbClr val="0070C0"/>
                          </a:solidFill>
                          <a:effectLst/>
                          <a:latin typeface="+mn-lt"/>
                          <a:ea typeface="+mn-ea"/>
                          <a:cs typeface="+mn-cs"/>
                        </a:rPr>
                        <a:t>Aged provisions Report</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a:latin typeface="+mn-lt"/>
                        </a:rPr>
                        <a:t>Delivers a consolidated, accurate view of aged provisions across entities — enabling faster financial close, improved audit readiness, and better-informed decision-making on provision releases and write-offs.</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000000"/>
                          </a:solidFill>
                          <a:effectLst/>
                          <a:uLnTx/>
                          <a:uFillTx/>
                          <a:latin typeface="+mn-lt"/>
                          <a:ea typeface="+mn-ea"/>
                          <a:cs typeface="+mn-cs"/>
                        </a:rPr>
                        <a:t>21</a:t>
                      </a:r>
                      <a:r>
                        <a:rPr kumimoji="0" lang="en-IN" sz="1000" b="0" i="0" u="none" strike="noStrike" kern="1200" cap="none" spc="0" normalizeH="0" baseline="30000" noProof="0">
                          <a:ln>
                            <a:noFill/>
                          </a:ln>
                          <a:solidFill>
                            <a:srgbClr val="000000"/>
                          </a:solidFill>
                          <a:effectLst/>
                          <a:uLnTx/>
                          <a:uFillTx/>
                          <a:latin typeface="+mn-lt"/>
                          <a:ea typeface="+mn-ea"/>
                          <a:cs typeface="+mn-cs"/>
                        </a:rPr>
                        <a:t>st</a:t>
                      </a:r>
                      <a:r>
                        <a:rPr kumimoji="0" lang="en-IN" sz="1000" b="0" i="0" u="none" strike="noStrike" kern="1200" cap="none" spc="0" normalizeH="0" baseline="0" noProof="0">
                          <a:ln>
                            <a:noFill/>
                          </a:ln>
                          <a:solidFill>
                            <a:srgbClr val="000000"/>
                          </a:solidFill>
                          <a:effectLst/>
                          <a:uLnTx/>
                          <a:uFillTx/>
                          <a:latin typeface="+mn-lt"/>
                          <a:ea typeface="+mn-ea"/>
                          <a:cs typeface="+mn-cs"/>
                        </a:rPr>
                        <a:t> May 2026</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521487507"/>
                  </a:ext>
                </a:extLst>
              </a:tr>
              <a:tr h="424679">
                <a:tc>
                  <a:txBody>
                    <a:bodyPr/>
                    <a:lstStyle/>
                    <a:p>
                      <a:pPr marL="0" marR="0" lvl="0" indent="0" algn="l" rtl="0">
                        <a:lnSpc>
                          <a:spcPct val="100000"/>
                        </a:lnSpc>
                        <a:spcBef>
                          <a:spcPts val="0"/>
                        </a:spcBef>
                        <a:spcAft>
                          <a:spcPts val="0"/>
                        </a:spcAft>
                        <a:buClrTx/>
                        <a:buSzTx/>
                        <a:buFontTx/>
                        <a:buNone/>
                      </a:pPr>
                      <a:r>
                        <a:rPr lang="en-US" sz="1000" b="1" i="0" u="none" strike="noStrike" kern="1200">
                          <a:solidFill>
                            <a:srgbClr val="0070C0"/>
                          </a:solidFill>
                          <a:effectLst/>
                          <a:latin typeface="+mn-lt"/>
                          <a:ea typeface="+mn-ea"/>
                          <a:cs typeface="+mn-cs"/>
                        </a:rPr>
                        <a:t>Adhoc - MASS Customer Creation</a:t>
                      </a:r>
                      <a:endParaRPr lang="en-US"/>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tc>
                  <a:txBody>
                    <a:bodyPr/>
                    <a:lstStyle/>
                    <a:p>
                      <a:pPr marL="0" marR="0" lvl="0" indent="0" algn="l" rtl="0">
                        <a:lnSpc>
                          <a:spcPct val="100000"/>
                        </a:lnSpc>
                        <a:spcBef>
                          <a:spcPts val="0"/>
                        </a:spcBef>
                        <a:spcAft>
                          <a:spcPts val="0"/>
                        </a:spcAft>
                        <a:buClrTx/>
                        <a:buSzTx/>
                        <a:buFontTx/>
                        <a:buNone/>
                      </a:pPr>
                      <a:r>
                        <a:rPr lang="en-US" sz="1000" b="1" i="0" u="none" strike="noStrike" kern="1200">
                          <a:solidFill>
                            <a:srgbClr val="0070C0"/>
                          </a:solidFill>
                          <a:effectLst/>
                          <a:latin typeface="+mn-lt"/>
                          <a:ea typeface="+mn-ea"/>
                          <a:cs typeface="+mn-cs"/>
                        </a:rPr>
                        <a:t>MASS Customer Creation</a:t>
                      </a:r>
                      <a:endParaRPr lang="en-US"/>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tc>
                  <a:txBody>
                    <a:bodyPr/>
                    <a:lstStyle/>
                    <a:p>
                      <a:pPr marL="0" marR="0" lvl="0" indent="0" algn="l" rtl="0">
                        <a:lnSpc>
                          <a:spcPct val="100000"/>
                        </a:lnSpc>
                        <a:spcBef>
                          <a:spcPts val="0"/>
                        </a:spcBef>
                        <a:spcAft>
                          <a:spcPts val="0"/>
                        </a:spcAft>
                        <a:buClrTx/>
                        <a:buSzTx/>
                        <a:buFontTx/>
                        <a:buNone/>
                      </a:pPr>
                      <a:r>
                        <a:rPr lang="en-US" sz="1000">
                          <a:latin typeface="+mn-lt"/>
                        </a:rPr>
                        <a:t>Streamlines high-volume customer onboarding with improved data quality, faster processing, and reduced operational overhead.</a:t>
                      </a:r>
                      <a:endParaRPr lang="en-US"/>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tc>
                  <a:txBody>
                    <a:bodyPr/>
                    <a:lstStyle/>
                    <a:p>
                      <a:pPr marL="0" marR="0" lvl="0" indent="0" algn="l" rtl="0">
                        <a:lnSpc>
                          <a:spcPct val="100000"/>
                        </a:lnSpc>
                        <a:spcBef>
                          <a:spcPts val="0"/>
                        </a:spcBef>
                        <a:spcAft>
                          <a:spcPts val="0"/>
                        </a:spcAft>
                        <a:buClrTx/>
                        <a:buSzTx/>
                        <a:buFontTx/>
                        <a:buNone/>
                      </a:pPr>
                      <a:r>
                        <a:rPr lang="en-US" sz="1000">
                          <a:latin typeface="+mn-lt"/>
                        </a:rPr>
                        <a:t>09</a:t>
                      </a:r>
                      <a:r>
                        <a:rPr lang="en-US" sz="1000" baseline="30000">
                          <a:latin typeface="+mn-lt"/>
                        </a:rPr>
                        <a:t>th</a:t>
                      </a:r>
                      <a:r>
                        <a:rPr lang="en-US" sz="1000">
                          <a:latin typeface="+mn-lt"/>
                        </a:rPr>
                        <a:t> Jun 2026</a:t>
                      </a:r>
                      <a:endParaRPr kumimoji="0" lang="en-US"/>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extLst>
                  <a:ext uri="{0D108BD9-81ED-4DB2-BD59-A6C34878D82A}">
                    <a16:rowId xmlns:a16="http://schemas.microsoft.com/office/drawing/2014/main" val="1312469886"/>
                  </a:ext>
                </a:extLst>
              </a:tr>
            </a:tbl>
          </a:graphicData>
        </a:graphic>
      </p:graphicFrame>
      <p:sp>
        <p:nvSpPr>
          <p:cNvPr id="4" name="Rectangle 3">
            <a:extLst>
              <a:ext uri="{FF2B5EF4-FFF2-40B4-BE49-F238E27FC236}">
                <a16:creationId xmlns:a16="http://schemas.microsoft.com/office/drawing/2014/main" id="{128ED909-A356-FD67-B30D-999CB93EA228}"/>
              </a:ext>
            </a:extLst>
          </p:cNvPr>
          <p:cNvSpPr/>
          <p:nvPr/>
        </p:nvSpPr>
        <p:spPr>
          <a:xfrm>
            <a:off x="1188132" y="6671592"/>
            <a:ext cx="90000" cy="90000"/>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5" name="Rectangle 4">
            <a:extLst>
              <a:ext uri="{FF2B5EF4-FFF2-40B4-BE49-F238E27FC236}">
                <a16:creationId xmlns:a16="http://schemas.microsoft.com/office/drawing/2014/main" id="{EB9468E0-12F4-04C6-940A-8F678E85C3B2}"/>
              </a:ext>
            </a:extLst>
          </p:cNvPr>
          <p:cNvSpPr/>
          <p:nvPr/>
        </p:nvSpPr>
        <p:spPr>
          <a:xfrm>
            <a:off x="2265818" y="6670554"/>
            <a:ext cx="90000" cy="90000"/>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7" name="Rectangle 6">
            <a:extLst>
              <a:ext uri="{FF2B5EF4-FFF2-40B4-BE49-F238E27FC236}">
                <a16:creationId xmlns:a16="http://schemas.microsoft.com/office/drawing/2014/main" id="{3C3B8DE9-30B8-9364-802A-9875110BD40D}"/>
              </a:ext>
            </a:extLst>
          </p:cNvPr>
          <p:cNvSpPr/>
          <p:nvPr/>
        </p:nvSpPr>
        <p:spPr>
          <a:xfrm>
            <a:off x="3443423" y="6671592"/>
            <a:ext cx="90000" cy="90000"/>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8" name="Rectangle 7">
            <a:extLst>
              <a:ext uri="{FF2B5EF4-FFF2-40B4-BE49-F238E27FC236}">
                <a16:creationId xmlns:a16="http://schemas.microsoft.com/office/drawing/2014/main" id="{64631898-6D00-FE32-5D75-9368F3C90302}"/>
              </a:ext>
            </a:extLst>
          </p:cNvPr>
          <p:cNvSpPr/>
          <p:nvPr/>
        </p:nvSpPr>
        <p:spPr>
          <a:xfrm>
            <a:off x="8146052" y="6714097"/>
            <a:ext cx="90000" cy="90000"/>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9" name="TextBox 15">
            <a:extLst>
              <a:ext uri="{FF2B5EF4-FFF2-40B4-BE49-F238E27FC236}">
                <a16:creationId xmlns:a16="http://schemas.microsoft.com/office/drawing/2014/main" id="{B6E88A4E-47DF-2184-52FF-0935C0C5E90A}"/>
              </a:ext>
            </a:extLst>
          </p:cNvPr>
          <p:cNvSpPr txBox="1"/>
          <p:nvPr/>
        </p:nvSpPr>
        <p:spPr>
          <a:xfrm>
            <a:off x="1288983" y="6614743"/>
            <a:ext cx="857245"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0070C0"/>
                </a:solidFill>
                <a:effectLst/>
                <a:uLnTx/>
                <a:uFillTx/>
                <a:latin typeface="Nunito Sans"/>
                <a:ea typeface="+mn-ea"/>
                <a:cs typeface="+mn-cs"/>
              </a:rPr>
              <a:t>Delivered</a:t>
            </a:r>
            <a:endParaRPr kumimoji="0" lang="en-IN" sz="1000" b="0" i="0" u="none" strike="noStrike" kern="1200" cap="none" spc="0" normalizeH="0" baseline="0" noProof="0">
              <a:ln>
                <a:noFill/>
              </a:ln>
              <a:solidFill>
                <a:srgbClr val="000000"/>
              </a:solidFill>
              <a:effectLst/>
              <a:uLnTx/>
              <a:uFillTx/>
              <a:latin typeface="Nunito Sans"/>
              <a:ea typeface="+mn-ea"/>
              <a:cs typeface="+mn-cs"/>
            </a:endParaRPr>
          </a:p>
        </p:txBody>
      </p:sp>
      <p:sp>
        <p:nvSpPr>
          <p:cNvPr id="10" name="TextBox 18">
            <a:extLst>
              <a:ext uri="{FF2B5EF4-FFF2-40B4-BE49-F238E27FC236}">
                <a16:creationId xmlns:a16="http://schemas.microsoft.com/office/drawing/2014/main" id="{FD387A92-FA76-4C2B-F3F8-6F930152FB3A}"/>
              </a:ext>
            </a:extLst>
          </p:cNvPr>
          <p:cNvSpPr txBox="1"/>
          <p:nvPr/>
        </p:nvSpPr>
        <p:spPr>
          <a:xfrm>
            <a:off x="2310642" y="6611102"/>
            <a:ext cx="1032881"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00B050"/>
                </a:solidFill>
                <a:effectLst/>
                <a:uLnTx/>
                <a:uFillTx/>
                <a:latin typeface="Nunito Sans"/>
                <a:ea typeface="+mn-ea"/>
                <a:cs typeface="+mn-cs"/>
              </a:rPr>
              <a:t>Ontrack</a:t>
            </a:r>
            <a:endParaRPr kumimoji="0" lang="en-IN" sz="1000" b="0" i="0" u="none" strike="noStrike" kern="1200" cap="none" spc="0" normalizeH="0" baseline="0" noProof="0">
              <a:ln>
                <a:noFill/>
              </a:ln>
              <a:solidFill>
                <a:srgbClr val="000000"/>
              </a:solidFill>
              <a:effectLst/>
              <a:uLnTx/>
              <a:uFillTx/>
              <a:latin typeface="Nunito Sans"/>
              <a:ea typeface="+mn-ea"/>
              <a:cs typeface="+mn-cs"/>
            </a:endParaRPr>
          </a:p>
        </p:txBody>
      </p:sp>
      <p:sp>
        <p:nvSpPr>
          <p:cNvPr id="11" name="TextBox 20">
            <a:extLst>
              <a:ext uri="{FF2B5EF4-FFF2-40B4-BE49-F238E27FC236}">
                <a16:creationId xmlns:a16="http://schemas.microsoft.com/office/drawing/2014/main" id="{3C0EC2CC-A35A-2496-39D5-661CE83C3718}"/>
              </a:ext>
            </a:extLst>
          </p:cNvPr>
          <p:cNvSpPr txBox="1"/>
          <p:nvPr/>
        </p:nvSpPr>
        <p:spPr>
          <a:xfrm>
            <a:off x="3539606" y="6608370"/>
            <a:ext cx="2257628"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FED9A0">
                    <a:lumMod val="75000"/>
                  </a:srgbClr>
                </a:solidFill>
                <a:effectLst/>
                <a:uLnTx/>
                <a:uFillTx/>
                <a:latin typeface="Nunito Sans"/>
                <a:ea typeface="+mn-ea"/>
                <a:cs typeface="+mn-cs"/>
              </a:rPr>
              <a:t>Under delay and can be recovered</a:t>
            </a:r>
            <a:endParaRPr kumimoji="0" lang="en-IN" sz="1000" b="0" i="0" u="none" strike="noStrike" kern="1200" cap="none" spc="0" normalizeH="0" baseline="0" noProof="0">
              <a:ln>
                <a:noFill/>
              </a:ln>
              <a:solidFill>
                <a:srgbClr val="000000"/>
              </a:solidFill>
              <a:effectLst/>
              <a:uLnTx/>
              <a:uFillTx/>
              <a:latin typeface="Nunito Sans"/>
              <a:ea typeface="+mn-ea"/>
              <a:cs typeface="+mn-cs"/>
            </a:endParaRPr>
          </a:p>
        </p:txBody>
      </p:sp>
      <p:sp>
        <p:nvSpPr>
          <p:cNvPr id="13" name="TextBox 22">
            <a:extLst>
              <a:ext uri="{FF2B5EF4-FFF2-40B4-BE49-F238E27FC236}">
                <a16:creationId xmlns:a16="http://schemas.microsoft.com/office/drawing/2014/main" id="{7DADC281-7E8D-D798-435B-CA93DF2A9772}"/>
              </a:ext>
            </a:extLst>
          </p:cNvPr>
          <p:cNvSpPr txBox="1"/>
          <p:nvPr/>
        </p:nvSpPr>
        <p:spPr>
          <a:xfrm>
            <a:off x="8246937" y="6618126"/>
            <a:ext cx="2338222"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FF0000"/>
                </a:solidFill>
                <a:effectLst/>
                <a:uLnTx/>
                <a:uFillTx/>
                <a:latin typeface="Nunito Sans"/>
                <a:ea typeface="+mn-ea"/>
                <a:cs typeface="+mn-cs"/>
              </a:rPr>
              <a:t>Delayed and pushed to next release</a:t>
            </a:r>
          </a:p>
        </p:txBody>
      </p:sp>
      <p:sp>
        <p:nvSpPr>
          <p:cNvPr id="15" name="TextBox 14">
            <a:extLst>
              <a:ext uri="{FF2B5EF4-FFF2-40B4-BE49-F238E27FC236}">
                <a16:creationId xmlns:a16="http://schemas.microsoft.com/office/drawing/2014/main" id="{CC88AD7A-0F11-5D57-AB25-592871D0D07F}"/>
              </a:ext>
            </a:extLst>
          </p:cNvPr>
          <p:cNvSpPr txBox="1"/>
          <p:nvPr/>
        </p:nvSpPr>
        <p:spPr>
          <a:xfrm>
            <a:off x="6454369" y="6611638"/>
            <a:ext cx="2743200"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IN" sz="1000">
                <a:solidFill>
                  <a:srgbClr val="7D7D7D"/>
                </a:solidFill>
              </a:rPr>
              <a:t>Descoped</a:t>
            </a:r>
            <a:endParaRPr lang="en-US"/>
          </a:p>
        </p:txBody>
      </p:sp>
      <p:sp>
        <p:nvSpPr>
          <p:cNvPr id="16" name="Rectangle 15">
            <a:extLst>
              <a:ext uri="{FF2B5EF4-FFF2-40B4-BE49-F238E27FC236}">
                <a16:creationId xmlns:a16="http://schemas.microsoft.com/office/drawing/2014/main" id="{A8BF481A-CFD2-CC98-CE22-26621F5F05D6}"/>
              </a:ext>
            </a:extLst>
          </p:cNvPr>
          <p:cNvSpPr/>
          <p:nvPr/>
        </p:nvSpPr>
        <p:spPr>
          <a:xfrm>
            <a:off x="6360794" y="6681439"/>
            <a:ext cx="90000" cy="90000"/>
          </a:xfrm>
          <a:prstGeom prst="rect">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Tree>
    <p:extLst>
      <p:ext uri="{BB962C8B-B14F-4D97-AF65-F5344CB8AC3E}">
        <p14:creationId xmlns:p14="http://schemas.microsoft.com/office/powerpoint/2010/main" val="42895118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5D908B-B2A2-5691-8DE9-1E653DC8C9A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D3E246-7C6F-626B-CB76-E0DD13F6E153}"/>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3A41A254-7326-714E-AF55-4C213D6394DE}" type="slidenum">
              <a:rPr kumimoji="0" lang="en-US" sz="1200" b="0" i="0" u="none" strike="noStrike" kern="1200" cap="none" spc="0" normalizeH="0" baseline="0" noProof="0" smtClean="0">
                <a:ln>
                  <a:noFill/>
                </a:ln>
                <a:solidFill>
                  <a:srgbClr val="DA0E28"/>
                </a:solidFill>
                <a:effectLst/>
                <a:uLnTx/>
                <a:uFillTx/>
                <a:latin typeface="Nunito Sans"/>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srgbClr val="DA0E28"/>
              </a:solidFill>
              <a:effectLst/>
              <a:uLnTx/>
              <a:uFillTx/>
              <a:latin typeface="Nunito Sans"/>
              <a:ea typeface="+mn-ea"/>
              <a:cs typeface="+mn-cs"/>
            </a:endParaRPr>
          </a:p>
        </p:txBody>
      </p:sp>
      <p:sp>
        <p:nvSpPr>
          <p:cNvPr id="3" name="Rectangle 2">
            <a:extLst>
              <a:ext uri="{FF2B5EF4-FFF2-40B4-BE49-F238E27FC236}">
                <a16:creationId xmlns:a16="http://schemas.microsoft.com/office/drawing/2014/main" id="{98847393-60CE-122E-2BBB-879BB8775860}"/>
              </a:ext>
            </a:extLst>
          </p:cNvPr>
          <p:cNvSpPr/>
          <p:nvPr/>
        </p:nvSpPr>
        <p:spPr>
          <a:xfrm>
            <a:off x="164796" y="610471"/>
            <a:ext cx="1086212" cy="42234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defRPr/>
            </a:pPr>
            <a:r>
              <a:rPr lang="en-IN" sz="1400" b="1">
                <a:solidFill>
                  <a:srgbClr val="FFFFFF"/>
                </a:solidFill>
                <a:latin typeface="AirIndia"/>
              </a:rPr>
              <a:t>30th June</a:t>
            </a:r>
            <a:r>
              <a:rPr kumimoji="0" lang="en-IN" sz="1400" b="1" i="0" u="none" strike="noStrike" kern="1200" cap="none" spc="0" normalizeH="0" baseline="0" noProof="0">
                <a:ln>
                  <a:noFill/>
                </a:ln>
                <a:solidFill>
                  <a:srgbClr val="FFFFFF"/>
                </a:solidFill>
                <a:effectLst/>
                <a:uLnTx/>
                <a:uFillTx/>
                <a:latin typeface="AirIndia"/>
                <a:ea typeface="+mn-ea"/>
                <a:cs typeface="+mn-cs"/>
              </a:rPr>
              <a:t> ‘</a:t>
            </a:r>
            <a:r>
              <a:rPr lang="en-IN" sz="1400" b="1">
                <a:solidFill>
                  <a:srgbClr val="FFFFFF"/>
                </a:solidFill>
                <a:latin typeface="AirIndia"/>
              </a:rPr>
              <a:t>26</a:t>
            </a:r>
            <a:endParaRPr kumimoji="0" lang="en-US" sz="1400" b="1" i="0" u="none" strike="noStrike" kern="1200" cap="none" spc="0" normalizeH="0" baseline="0" noProof="0">
              <a:ln>
                <a:noFill/>
              </a:ln>
              <a:solidFill>
                <a:srgbClr val="FFFFFF"/>
              </a:solidFill>
              <a:effectLst/>
              <a:uLnTx/>
              <a:uFillTx/>
              <a:latin typeface="AirIndia"/>
              <a:ea typeface="+mn-ea"/>
              <a:cs typeface="+mn-cs"/>
            </a:endParaRPr>
          </a:p>
        </p:txBody>
      </p:sp>
      <p:sp>
        <p:nvSpPr>
          <p:cNvPr id="6" name="Title 11">
            <a:extLst>
              <a:ext uri="{FF2B5EF4-FFF2-40B4-BE49-F238E27FC236}">
                <a16:creationId xmlns:a16="http://schemas.microsoft.com/office/drawing/2014/main" id="{DC17EE1B-4039-E578-71C0-787ABE6BF7AF}"/>
              </a:ext>
            </a:extLst>
          </p:cNvPr>
          <p:cNvSpPr txBox="1">
            <a:spLocks/>
          </p:cNvSpPr>
          <p:nvPr/>
        </p:nvSpPr>
        <p:spPr>
          <a:xfrm>
            <a:off x="242857" y="182023"/>
            <a:ext cx="7691717" cy="430255"/>
          </a:xfrm>
          <a:prstGeom prst="rect">
            <a:avLst/>
          </a:prstGeom>
        </p:spPr>
        <p:txBody>
          <a:bodyPr lIns="91440" tIns="45720" rIns="91440" bIns="45720" anchor="t">
            <a:noAutofit/>
          </a:bodyPr>
          <a:lstStyle>
            <a:lvl1pPr algn="l" defTabSz="914400" rtl="0" eaLnBrk="1" latinLnBrk="0" hangingPunct="1">
              <a:lnSpc>
                <a:spcPct val="90000"/>
              </a:lnSpc>
              <a:spcBef>
                <a:spcPct val="0"/>
              </a:spcBef>
              <a:buNone/>
              <a:defRPr sz="4400" b="1" i="0" kern="1200">
                <a:solidFill>
                  <a:schemeClr val="tx1"/>
                </a:solidFill>
                <a:latin typeface="AirIndia" pitchFamily="82" charset="77"/>
                <a:ea typeface="+mj-ea"/>
                <a:cs typeface="+mj-cs"/>
              </a:defRPr>
            </a:lvl1pPr>
          </a:lstStyle>
          <a:p>
            <a:pPr>
              <a:defRPr/>
            </a:pPr>
            <a:r>
              <a:rPr lang="en-US" sz="1800">
                <a:solidFill>
                  <a:srgbClr val="DA0E28"/>
                </a:solidFill>
                <a:latin typeface="AirIndia"/>
              </a:rPr>
              <a:t>Corporate Systems </a:t>
            </a:r>
            <a:r>
              <a:rPr kumimoji="0" lang="en-US" sz="1800" b="1" i="0" u="none" strike="noStrike" kern="1200" cap="none" spc="0" normalizeH="0" baseline="0" noProof="0">
                <a:ln>
                  <a:noFill/>
                </a:ln>
                <a:solidFill>
                  <a:srgbClr val="DA0E28"/>
                </a:solidFill>
                <a:effectLst/>
                <a:uLnTx/>
                <a:uFillTx/>
                <a:latin typeface="AirIndia"/>
                <a:ea typeface="+mj-ea"/>
                <a:cs typeface="+mj-cs"/>
              </a:rPr>
              <a:t>- </a:t>
            </a:r>
            <a:r>
              <a:rPr lang="en-US" sz="1800">
                <a:solidFill>
                  <a:srgbClr val="DA0E28"/>
                </a:solidFill>
                <a:latin typeface="AirIndia"/>
              </a:rPr>
              <a:t>FY26-27 </a:t>
            </a:r>
            <a:r>
              <a:rPr kumimoji="0" lang="en-US" sz="1800" b="1" i="0" u="none" strike="noStrike" kern="1200" cap="none" spc="0" normalizeH="0" baseline="0" noProof="0">
                <a:ln>
                  <a:noFill/>
                </a:ln>
                <a:solidFill>
                  <a:srgbClr val="DA0E28"/>
                </a:solidFill>
                <a:effectLst/>
                <a:uLnTx/>
                <a:uFillTx/>
                <a:latin typeface="AirIndia"/>
                <a:ea typeface="+mj-ea"/>
                <a:cs typeface="+mj-cs"/>
              </a:rPr>
              <a:t>Q1 Release Plan</a:t>
            </a:r>
            <a:r>
              <a:rPr lang="en-US" sz="1800">
                <a:solidFill>
                  <a:srgbClr val="DA0E28"/>
                </a:solidFill>
                <a:latin typeface="AirIndia"/>
              </a:rPr>
              <a:t> (Fin Tech)</a:t>
            </a:r>
            <a:endParaRPr lang="en-US" sz="1800" b="0">
              <a:solidFill>
                <a:srgbClr val="000000"/>
              </a:solidFill>
              <a:latin typeface="AirIndia"/>
            </a:endParaRPr>
          </a:p>
          <a:p>
            <a:pPr>
              <a:defRPr/>
            </a:pPr>
            <a:endParaRPr lang="en-US" sz="1800" i="0" u="none" strike="noStrike" kern="1200" cap="none" spc="0" normalizeH="0" baseline="0" noProof="0">
              <a:ln>
                <a:noFill/>
              </a:ln>
              <a:solidFill>
                <a:srgbClr val="DA0E28"/>
              </a:solidFill>
              <a:effectLst/>
              <a:uLnTx/>
              <a:uFillTx/>
              <a:latin typeface="AirIndia"/>
            </a:endParaRPr>
          </a:p>
        </p:txBody>
      </p:sp>
      <p:graphicFrame>
        <p:nvGraphicFramePr>
          <p:cNvPr id="12" name="Table 11">
            <a:extLst>
              <a:ext uri="{FF2B5EF4-FFF2-40B4-BE49-F238E27FC236}">
                <a16:creationId xmlns:a16="http://schemas.microsoft.com/office/drawing/2014/main" id="{DF57CF10-838E-5032-231F-CDECCB821E06}"/>
              </a:ext>
            </a:extLst>
          </p:cNvPr>
          <p:cNvGraphicFramePr>
            <a:graphicFrameLocks noGrp="1"/>
          </p:cNvGraphicFramePr>
          <p:nvPr>
            <p:extLst>
              <p:ext uri="{D42A27DB-BD31-4B8C-83A1-F6EECF244321}">
                <p14:modId xmlns:p14="http://schemas.microsoft.com/office/powerpoint/2010/main" val="2050372879"/>
              </p:ext>
            </p:extLst>
          </p:nvPr>
        </p:nvGraphicFramePr>
        <p:xfrm>
          <a:off x="1251008" y="588627"/>
          <a:ext cx="10685698" cy="4962744"/>
        </p:xfrm>
        <a:graphic>
          <a:graphicData uri="http://schemas.openxmlformats.org/drawingml/2006/table">
            <a:tbl>
              <a:tblPr firstRow="1" bandRow="1">
                <a:tableStyleId>{5C22544A-7EE6-4342-B048-85BDC9FD1C3A}</a:tableStyleId>
              </a:tblPr>
              <a:tblGrid>
                <a:gridCol w="2008496">
                  <a:extLst>
                    <a:ext uri="{9D8B030D-6E8A-4147-A177-3AD203B41FA5}">
                      <a16:colId xmlns:a16="http://schemas.microsoft.com/office/drawing/2014/main" val="2822350773"/>
                    </a:ext>
                  </a:extLst>
                </a:gridCol>
                <a:gridCol w="2008496">
                  <a:extLst>
                    <a:ext uri="{9D8B030D-6E8A-4147-A177-3AD203B41FA5}">
                      <a16:colId xmlns:a16="http://schemas.microsoft.com/office/drawing/2014/main" val="1843387359"/>
                    </a:ext>
                  </a:extLst>
                </a:gridCol>
                <a:gridCol w="5405255">
                  <a:extLst>
                    <a:ext uri="{9D8B030D-6E8A-4147-A177-3AD203B41FA5}">
                      <a16:colId xmlns:a16="http://schemas.microsoft.com/office/drawing/2014/main" val="99588705"/>
                    </a:ext>
                  </a:extLst>
                </a:gridCol>
                <a:gridCol w="1263451">
                  <a:extLst>
                    <a:ext uri="{9D8B030D-6E8A-4147-A177-3AD203B41FA5}">
                      <a16:colId xmlns:a16="http://schemas.microsoft.com/office/drawing/2014/main" val="257245675"/>
                    </a:ext>
                  </a:extLst>
                </a:gridCol>
              </a:tblGrid>
              <a:tr h="349169">
                <a:tc>
                  <a:txBody>
                    <a:bodyPr/>
                    <a:lstStyle/>
                    <a:p>
                      <a:pPr marL="0" lvl="0" indent="0" algn="ctr" defTabSz="914400" rtl="0">
                        <a:lnSpc>
                          <a:spcPct val="100000"/>
                        </a:lnSpc>
                        <a:buFont typeface="Arial" panose="020B0604020202020204" pitchFamily="34" charset="0"/>
                        <a:buNone/>
                      </a:pPr>
                      <a:r>
                        <a:rPr lang="en-IN" sz="1100" b="1" kern="1200">
                          <a:solidFill>
                            <a:schemeClr val="bg1"/>
                          </a:solidFill>
                          <a:latin typeface="+mn-lt"/>
                          <a:ea typeface="+mn-ea"/>
                          <a:cs typeface="+mn-cs"/>
                        </a:rPr>
                        <a:t>Initiatives</a:t>
                      </a:r>
                      <a:endParaRPr lang="en-US" sz="1100" b="1"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tc>
                  <a:txBody>
                    <a:bodyPr/>
                    <a:lstStyle/>
                    <a:p>
                      <a:pPr marL="0" lvl="0" indent="0" algn="ctr" defTabSz="914400">
                        <a:lnSpc>
                          <a:spcPct val="100000"/>
                        </a:lnSpc>
                        <a:buNone/>
                      </a:pPr>
                      <a:r>
                        <a:rPr lang="en-IN" sz="1100" b="1" i="0" u="none" strike="noStrike" kern="1200" noProof="0">
                          <a:solidFill>
                            <a:schemeClr val="bg1"/>
                          </a:solidFill>
                          <a:latin typeface="Nunito Sans"/>
                          <a:ea typeface="+mn-ea"/>
                          <a:cs typeface="+mn-cs"/>
                        </a:rPr>
                        <a:t>Programs/Projects</a:t>
                      </a:r>
                      <a:endParaRPr lang="en-US"/>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tc>
                  <a:txBody>
                    <a:bodyPr/>
                    <a:lstStyle/>
                    <a:p>
                      <a:pPr marL="0" lvl="0" indent="0" algn="ctr">
                        <a:lnSpc>
                          <a:spcPct val="100000"/>
                        </a:lnSpc>
                        <a:buNone/>
                      </a:pPr>
                      <a:endParaRPr lang="en-IN" sz="1100" b="1" i="0" u="none" strike="noStrike" kern="1200" baseline="0" noProof="0">
                        <a:solidFill>
                          <a:srgbClr val="FFFFFF"/>
                        </a:solidFill>
                        <a:latin typeface="Nunito Sans"/>
                      </a:endParaRPr>
                    </a:p>
                    <a:p>
                      <a:pPr marL="0" lvl="0" indent="0" algn="ctr">
                        <a:lnSpc>
                          <a:spcPct val="100000"/>
                        </a:lnSpc>
                        <a:buNone/>
                      </a:pPr>
                      <a:r>
                        <a:rPr lang="en-IN" sz="1100" b="1" i="0" u="none" strike="noStrike" kern="1200" baseline="0" noProof="0">
                          <a:solidFill>
                            <a:srgbClr val="FFFFFF"/>
                          </a:solidFill>
                          <a:latin typeface="Nunito Sans"/>
                        </a:rPr>
                        <a:t>Value Justification/Realization</a:t>
                      </a:r>
                    </a:p>
                    <a:p>
                      <a:pPr marL="0" lvl="0" indent="0" algn="ctr" defTabSz="914400">
                        <a:buFont typeface="Arial" panose="020B0604020202020204" pitchFamily="34" charset="0"/>
                        <a:buNone/>
                      </a:pPr>
                      <a:endParaRPr lang="en-IN" sz="1100"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100">
                          <a:latin typeface="+mn-lt"/>
                        </a:rPr>
                        <a:t>Actual/Revised Go-Live</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extLst>
                  <a:ext uri="{0D108BD9-81ED-4DB2-BD59-A6C34878D82A}">
                    <a16:rowId xmlns:a16="http://schemas.microsoft.com/office/drawing/2014/main" val="844450115"/>
                  </a:ext>
                </a:extLst>
              </a:tr>
              <a:tr h="59326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000" b="1" i="0" u="none" strike="noStrike" kern="1200" err="1">
                          <a:solidFill>
                            <a:srgbClr val="1A56DB"/>
                          </a:solidFill>
                          <a:effectLst/>
                          <a:latin typeface="+mn-lt"/>
                          <a:ea typeface="+mn-ea"/>
                          <a:cs typeface="+mn-cs"/>
                        </a:rPr>
                        <a:t>Adhoc</a:t>
                      </a:r>
                      <a:r>
                        <a:rPr lang="en-IN" sz="1000" b="1" i="0" u="none" strike="noStrike" kern="1200">
                          <a:solidFill>
                            <a:srgbClr val="1A56DB"/>
                          </a:solidFill>
                          <a:effectLst/>
                          <a:latin typeface="+mn-lt"/>
                          <a:ea typeface="+mn-ea"/>
                          <a:cs typeface="+mn-cs"/>
                        </a:rPr>
                        <a:t> – F.13 GR/IR automatic clearing</a:t>
                      </a: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000" b="1" i="0" u="none" strike="noStrike" kern="1200">
                          <a:solidFill>
                            <a:srgbClr val="1A56DB"/>
                          </a:solidFill>
                          <a:effectLst/>
                          <a:latin typeface="+mn-lt"/>
                          <a:ea typeface="+mn-ea"/>
                          <a:cs typeface="+mn-cs"/>
                        </a:rPr>
                        <a:t>F.13 GR/IR automatic clearing</a:t>
                      </a:r>
                      <a:endParaRPr lang="en-US" sz="1000" b="1" i="0" u="none" strike="noStrike" kern="1200" noProof="0">
                        <a:solidFill>
                          <a:srgbClr val="00B050"/>
                        </a:solidFill>
                        <a:latin typeface="+mn-lt"/>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000" b="0" i="0" u="none" strike="noStrike" kern="1200">
                          <a:solidFill>
                            <a:srgbClr val="000000"/>
                          </a:solidFill>
                          <a:effectLst/>
                          <a:latin typeface="+mn-lt"/>
                          <a:ea typeface="+mn-ea"/>
                          <a:cs typeface="+mn-cs"/>
                        </a:rPr>
                        <a:t>17K+ monthly line items automatic clearing functionality enabled reducing manual intervention and adherence to SAP best practices to streamline month end closing activities.</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000000"/>
                          </a:solidFill>
                          <a:effectLst/>
                          <a:uLnTx/>
                          <a:uFillTx/>
                          <a:latin typeface="+mn-lt"/>
                          <a:ea typeface="+mn-ea"/>
                          <a:cs typeface="+mn-cs"/>
                        </a:rPr>
                        <a:t>02</a:t>
                      </a:r>
                      <a:r>
                        <a:rPr kumimoji="0" lang="en-IN" sz="1000" b="0" i="0" u="none" strike="noStrike" kern="1200" cap="none" spc="0" normalizeH="0" baseline="30000" noProof="0">
                          <a:ln>
                            <a:noFill/>
                          </a:ln>
                          <a:solidFill>
                            <a:srgbClr val="000000"/>
                          </a:solidFill>
                          <a:effectLst/>
                          <a:uLnTx/>
                          <a:uFillTx/>
                          <a:latin typeface="+mn-lt"/>
                          <a:ea typeface="+mn-ea"/>
                          <a:cs typeface="+mn-cs"/>
                        </a:rPr>
                        <a:t>nd</a:t>
                      </a:r>
                      <a:r>
                        <a:rPr kumimoji="0" lang="en-IN" sz="1000" b="0" i="0" u="none" strike="noStrike" kern="1200" cap="none" spc="0" normalizeH="0" baseline="0" noProof="0">
                          <a:ln>
                            <a:noFill/>
                          </a:ln>
                          <a:solidFill>
                            <a:srgbClr val="000000"/>
                          </a:solidFill>
                          <a:effectLst/>
                          <a:uLnTx/>
                          <a:uFillTx/>
                          <a:latin typeface="+mn-lt"/>
                          <a:ea typeface="+mn-ea"/>
                          <a:cs typeface="+mn-cs"/>
                        </a:rPr>
                        <a:t> Jun 2026</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672295907"/>
                  </a:ext>
                </a:extLst>
              </a:tr>
              <a:tr h="59326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i="0" u="none" strike="noStrike" kern="1200" noProof="0">
                          <a:solidFill>
                            <a:srgbClr val="016FBC"/>
                          </a:solidFill>
                          <a:latin typeface="+mn-lt"/>
                        </a:rPr>
                        <a:t>Automated Statement Processing (EBS) with CITI Bank</a:t>
                      </a: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i="0" u="none" strike="noStrike" kern="1200" noProof="0">
                          <a:solidFill>
                            <a:srgbClr val="016FBC"/>
                          </a:solidFill>
                          <a:latin typeface="+mn-lt"/>
                        </a:rPr>
                        <a:t>Automated Statement Processing (EBS) with CITI Bank</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u="none" strike="noStrike" kern="1200" noProof="0">
                          <a:solidFill>
                            <a:schemeClr val="tx1"/>
                          </a:solidFill>
                          <a:latin typeface="+mn-lt"/>
                        </a:rPr>
                        <a:t>Implementing EBS logic with MT940 via FF_5 automates matching and posting of bank transactions, reducing manual intervention and reconciliation time.</a:t>
                      </a:r>
                      <a:endParaRPr lang="en-US" sz="1000">
                        <a:latin typeface="+mn-lt"/>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a:latin typeface="+mn-lt"/>
                        </a:rPr>
                        <a:t>25</a:t>
                      </a:r>
                      <a:r>
                        <a:rPr lang="en-US" sz="1000" baseline="30000">
                          <a:latin typeface="+mn-lt"/>
                        </a:rPr>
                        <a:t>th</a:t>
                      </a:r>
                      <a:r>
                        <a:rPr lang="en-US" sz="1000">
                          <a:latin typeface="+mn-lt"/>
                        </a:rPr>
                        <a:t> Jun 2026</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155590220"/>
                  </a:ext>
                </a:extLst>
              </a:tr>
              <a:tr h="59326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i="0" u="none" strike="noStrike" kern="1200">
                          <a:solidFill>
                            <a:srgbClr val="016FBC"/>
                          </a:solidFill>
                          <a:latin typeface="+mn-lt"/>
                          <a:ea typeface="+mn-ea"/>
                          <a:cs typeface="+mn-cs"/>
                        </a:rPr>
                        <a:t>Adhoc – Improvements in NFA process for Ariba</a:t>
                      </a:r>
                      <a:endParaRPr lang="en-IN" sz="1000" b="1" i="0" u="none" strike="noStrike" kern="1200">
                        <a:solidFill>
                          <a:srgbClr val="016FBC"/>
                        </a:solidFill>
                        <a:latin typeface="+mn-lt"/>
                        <a:ea typeface="+mn-ea"/>
                        <a:cs typeface="+mn-cs"/>
                      </a:endParaRP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i="0" u="none" strike="noStrike" kern="1200" noProof="0">
                          <a:solidFill>
                            <a:srgbClr val="016FBC"/>
                          </a:solidFill>
                          <a:latin typeface="+mn-lt"/>
                        </a:rPr>
                        <a:t>Improvements in NFA process for Ariba</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a:t>Improves business efficiency and user experience through seamless approval workflows, faster processing, and higher success rates for Ariba sourcing projects, while enhancing NFA generation reliability and performance</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a:t>12</a:t>
                      </a:r>
                      <a:r>
                        <a:rPr lang="en-US" sz="1000" baseline="30000"/>
                        <a:t>th</a:t>
                      </a:r>
                      <a:r>
                        <a:rPr lang="en-US" sz="1000"/>
                        <a:t> Jun 2026</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110131065"/>
                  </a:ext>
                </a:extLst>
              </a:tr>
              <a:tr h="59326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i="0" u="none" strike="noStrike" kern="1200" err="1">
                          <a:solidFill>
                            <a:srgbClr val="016FBC"/>
                          </a:solidFill>
                          <a:latin typeface="+mn-lt"/>
                          <a:ea typeface="+mn-ea"/>
                          <a:cs typeface="+mn-cs"/>
                        </a:rPr>
                        <a:t>Adhoc</a:t>
                      </a:r>
                      <a:r>
                        <a:rPr lang="en-US" sz="1000" b="1" i="0" u="none" strike="noStrike" kern="1200">
                          <a:solidFill>
                            <a:srgbClr val="016FBC"/>
                          </a:solidFill>
                          <a:latin typeface="+mn-lt"/>
                          <a:ea typeface="+mn-ea"/>
                          <a:cs typeface="+mn-cs"/>
                        </a:rPr>
                        <a:t> – </a:t>
                      </a:r>
                      <a:r>
                        <a:rPr lang="en-US" sz="1000" b="1" i="0" u="none" strike="noStrike" kern="1200" noProof="0">
                          <a:solidFill>
                            <a:srgbClr val="016FBC"/>
                          </a:solidFill>
                          <a:latin typeface="+mn-lt"/>
                          <a:ea typeface="+mn-ea"/>
                          <a:cs typeface="+mn-cs"/>
                        </a:rPr>
                        <a:t>Chevron System Upgrade &amp; Migration to Azure</a:t>
                      </a:r>
                      <a:endParaRPr lang="en-IN" sz="1000" b="1" i="0" u="none" strike="noStrike" kern="1200">
                        <a:solidFill>
                          <a:srgbClr val="016FBC"/>
                        </a:solidFill>
                        <a:latin typeface="+mn-lt"/>
                        <a:ea typeface="+mn-ea"/>
                        <a:cs typeface="+mn-cs"/>
                      </a:endParaRP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i="0" u="none" strike="noStrike" kern="1200" noProof="0">
                          <a:solidFill>
                            <a:srgbClr val="016FBC"/>
                          </a:solidFill>
                          <a:latin typeface="+mn-lt"/>
                          <a:ea typeface="+mn-ea"/>
                          <a:cs typeface="+mn-cs"/>
                        </a:rPr>
                        <a:t>Chevron System Upgrade &amp; Migration to Azure</a:t>
                      </a:r>
                      <a:endParaRPr lang="en-US" sz="1000" b="1" i="0" u="none" strike="noStrike" kern="1200">
                        <a:solidFill>
                          <a:srgbClr val="016FBC"/>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lvl="0" indent="0" algn="l">
                        <a:lnSpc>
                          <a:spcPct val="100000"/>
                        </a:lnSpc>
                        <a:spcBef>
                          <a:spcPts val="0"/>
                        </a:spcBef>
                        <a:spcAft>
                          <a:spcPts val="0"/>
                        </a:spcAft>
                        <a:buNone/>
                      </a:pPr>
                      <a:r>
                        <a:rPr lang="en-US" sz="1000" kern="1200" noProof="0">
                          <a:solidFill>
                            <a:schemeClr val="dk1"/>
                          </a:solidFill>
                          <a:latin typeface="+mn-lt"/>
                          <a:ea typeface="+mn-ea"/>
                          <a:cs typeface="+mn-cs"/>
                        </a:rPr>
                        <a:t>Improves system reliability and availability through modern Azure infrastructure, reducing unplanned downtime and business interruptions.</a:t>
                      </a:r>
                      <a:endParaRPr lang="en-US" sz="1000" kern="1200">
                        <a:solidFill>
                          <a:schemeClr val="dk1"/>
                        </a:solidFill>
                        <a:latin typeface="+mn-lt"/>
                        <a:ea typeface="+mn-ea"/>
                        <a:cs typeface="+mn-cs"/>
                      </a:endParaRPr>
                    </a:p>
                    <a:p>
                      <a:pPr marL="0" marR="0" lvl="0" indent="0" algn="l">
                        <a:lnSpc>
                          <a:spcPct val="100000"/>
                        </a:lnSpc>
                        <a:spcBef>
                          <a:spcPts val="0"/>
                        </a:spcBef>
                        <a:spcAft>
                          <a:spcPts val="0"/>
                        </a:spcAft>
                        <a:buClrTx/>
                        <a:buSzTx/>
                        <a:buFontTx/>
                        <a:buNone/>
                      </a:pPr>
                      <a:endParaRPr lang="en-US" sz="1000"/>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l" rtl="0">
                        <a:lnSpc>
                          <a:spcPct val="100000"/>
                        </a:lnSpc>
                        <a:spcBef>
                          <a:spcPts val="0"/>
                        </a:spcBef>
                        <a:spcAft>
                          <a:spcPts val="0"/>
                        </a:spcAft>
                        <a:buClrTx/>
                        <a:buSzTx/>
                        <a:buFontTx/>
                        <a:buNone/>
                      </a:pPr>
                      <a:r>
                        <a:rPr lang="en-US" sz="1000"/>
                        <a:t>29</a:t>
                      </a:r>
                      <a:r>
                        <a:rPr lang="en-US" sz="1000" baseline="30000"/>
                        <a:t>th</a:t>
                      </a:r>
                      <a:r>
                        <a:rPr lang="en-US" sz="1000"/>
                        <a:t> Jun 2026</a:t>
                      </a:r>
                      <a:endParaRPr lang="en-US"/>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692739256"/>
                  </a:ext>
                </a:extLst>
              </a:tr>
              <a:tr h="59326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i="0" u="none" strike="noStrike" kern="1200" err="1">
                          <a:solidFill>
                            <a:srgbClr val="016FBC"/>
                          </a:solidFill>
                          <a:latin typeface="+mn-lt"/>
                          <a:ea typeface="+mn-ea"/>
                          <a:cs typeface="+mn-cs"/>
                        </a:rPr>
                        <a:t>Adhoc</a:t>
                      </a:r>
                      <a:r>
                        <a:rPr lang="en-US" sz="1000" b="1" i="0" u="none" strike="noStrike" kern="1200">
                          <a:solidFill>
                            <a:srgbClr val="016FBC"/>
                          </a:solidFill>
                          <a:latin typeface="+mn-lt"/>
                          <a:ea typeface="+mn-ea"/>
                          <a:cs typeface="+mn-cs"/>
                        </a:rPr>
                        <a:t> – Ariba RFP detailed report + Report for RFPs related to purchase group ANC</a:t>
                      </a: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i="0" u="none" strike="noStrike" kern="1200">
                          <a:solidFill>
                            <a:srgbClr val="016FBC"/>
                          </a:solidFill>
                          <a:latin typeface="+mn-lt"/>
                          <a:ea typeface="+mn-ea"/>
                          <a:cs typeface="+mn-cs"/>
                        </a:rPr>
                        <a:t>Ariba RFP detailed report + Report for RFPs related to purchase group ANC</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l">
                        <a:lnSpc>
                          <a:spcPct val="100000"/>
                        </a:lnSpc>
                        <a:spcBef>
                          <a:spcPts val="0"/>
                        </a:spcBef>
                        <a:spcAft>
                          <a:spcPts val="0"/>
                        </a:spcAft>
                        <a:buClrTx/>
                        <a:buSzTx/>
                        <a:buFontTx/>
                        <a:buNone/>
                      </a:pPr>
                      <a:r>
                        <a:rPr lang="en-US" sz="1000"/>
                        <a:t>Reports will provide real-time visibility into the sourcing lifecycle, eliminating manual tracking and enabling faster, informed decision-making. The ANC purchase group-specific view will further strengthen category-level oversight, improve compliance and ensure audit readiness across all sourcing activities.</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l" rtl="0">
                        <a:lnSpc>
                          <a:spcPct val="100000"/>
                        </a:lnSpc>
                        <a:spcBef>
                          <a:spcPts val="0"/>
                        </a:spcBef>
                        <a:spcAft>
                          <a:spcPts val="0"/>
                        </a:spcAft>
                        <a:buClrTx/>
                        <a:buSzTx/>
                        <a:buFontTx/>
                        <a:buNone/>
                      </a:pPr>
                      <a:r>
                        <a:rPr lang="en-US" sz="1000" kern="1200">
                          <a:solidFill>
                            <a:schemeClr val="dk1"/>
                          </a:solidFill>
                          <a:latin typeface="+mn-lt"/>
                          <a:ea typeface="+mn-ea"/>
                          <a:cs typeface="+mn-cs"/>
                        </a:rPr>
                        <a:t>26th Jun 2026</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230474293"/>
                  </a:ext>
                </a:extLst>
              </a:tr>
              <a:tr h="59326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i="0" u="none" strike="noStrike" kern="1200" noProof="0">
                          <a:solidFill>
                            <a:srgbClr val="FF0000"/>
                          </a:solidFill>
                          <a:latin typeface="+mn-lt"/>
                        </a:rPr>
                        <a:t>Group Consolidation Reporting - Phase I</a:t>
                      </a: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i="0" u="none" strike="noStrike" kern="1200" noProof="0">
                          <a:solidFill>
                            <a:srgbClr val="FF0000"/>
                          </a:solidFill>
                          <a:latin typeface="+mn-lt"/>
                          <a:ea typeface="+mn-ea"/>
                          <a:cs typeface="+mn-cs"/>
                        </a:rPr>
                        <a:t>Group Consolidation Reporting - Phase I</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u="none" strike="noStrike" kern="1200" baseline="0" noProof="0">
                          <a:solidFill>
                            <a:srgbClr val="000000"/>
                          </a:solidFill>
                          <a:latin typeface="+mn-lt"/>
                        </a:rPr>
                        <a:t>Delivers a single, consolidated view of group financials, improving transparency, accuracy, and leadership decision‑making.</a:t>
                      </a:r>
                      <a:endParaRPr lang="en-US" sz="1000">
                        <a:latin typeface="+mn-lt"/>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u="none" strike="noStrike" kern="1200">
                          <a:solidFill>
                            <a:srgbClr val="000000"/>
                          </a:solidFill>
                          <a:effectLst/>
                          <a:latin typeface="+mn-lt"/>
                          <a:ea typeface="+mn-ea"/>
                          <a:cs typeface="+mn-cs"/>
                        </a:rPr>
                        <a:t>TBD</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162301883"/>
                  </a:ext>
                </a:extLst>
              </a:tr>
              <a:tr h="593261">
                <a:tc>
                  <a:txBody>
                    <a:bodyPr/>
                    <a:lstStyle/>
                    <a:p>
                      <a:pPr marL="0" lvl="0" indent="0" algn="l">
                        <a:lnSpc>
                          <a:spcPct val="100000"/>
                        </a:lnSpc>
                        <a:spcBef>
                          <a:spcPts val="0"/>
                        </a:spcBef>
                        <a:spcAft>
                          <a:spcPts val="0"/>
                        </a:spcAft>
                        <a:buFont typeface="Arial"/>
                        <a:buNone/>
                      </a:pPr>
                      <a:r>
                        <a:rPr lang="en-US" sz="1000" b="1" i="0" u="none" strike="noStrike" kern="1200" noProof="0">
                          <a:solidFill>
                            <a:srgbClr val="FF0000"/>
                          </a:solidFill>
                          <a:latin typeface="+mn-lt"/>
                          <a:ea typeface="+mn-ea"/>
                          <a:cs typeface="+mn-cs"/>
                        </a:rPr>
                        <a:t>PAX Claim - JPM Integration</a:t>
                      </a: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lvl="0" indent="0" algn="l">
                        <a:lnSpc>
                          <a:spcPct val="100000"/>
                        </a:lnSpc>
                        <a:spcBef>
                          <a:spcPts val="0"/>
                        </a:spcBef>
                        <a:spcAft>
                          <a:spcPts val="0"/>
                        </a:spcAft>
                        <a:buClr>
                          <a:srgbClr val="000000"/>
                        </a:buClr>
                        <a:buFont typeface="Arial,Sans-Serif"/>
                        <a:buNone/>
                      </a:pPr>
                      <a:r>
                        <a:rPr lang="en-US" sz="1000" b="1" i="0" u="none" strike="noStrike" kern="1200" noProof="0">
                          <a:solidFill>
                            <a:srgbClr val="FF0000"/>
                          </a:solidFill>
                          <a:latin typeface="+mn-lt"/>
                          <a:ea typeface="+mn-ea"/>
                          <a:cs typeface="+mn-cs"/>
                        </a:rPr>
                        <a:t>PAX Claim - JPM Integration</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lvl="0" indent="0" algn="l">
                        <a:lnSpc>
                          <a:spcPct val="100000"/>
                        </a:lnSpc>
                        <a:spcBef>
                          <a:spcPts val="0"/>
                        </a:spcBef>
                        <a:spcAft>
                          <a:spcPts val="0"/>
                        </a:spcAft>
                        <a:buNone/>
                      </a:pPr>
                      <a:r>
                        <a:rPr lang="en-US" sz="1000" b="0" i="0" u="none" strike="noStrike" kern="1200" noProof="0">
                          <a:solidFill>
                            <a:schemeClr val="tx1"/>
                          </a:solidFill>
                          <a:latin typeface="+mn-lt"/>
                        </a:rPr>
                        <a:t>Automating the integration ensures faster processing of Pax Claim payments with reduced manual errors, leading to improved financial accuracy and timely disbursements . Direct integration with banking partners strengthens data traceability and aligns with financial governance standards </a:t>
                      </a:r>
                      <a:endParaRPr lang="en-US" sz="1000">
                        <a:latin typeface="+mn-lt"/>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lvl="0" indent="0" algn="l">
                        <a:lnSpc>
                          <a:spcPct val="100000"/>
                        </a:lnSpc>
                        <a:spcBef>
                          <a:spcPts val="0"/>
                        </a:spcBef>
                        <a:spcAft>
                          <a:spcPts val="0"/>
                        </a:spcAft>
                        <a:buNone/>
                      </a:pPr>
                      <a:r>
                        <a:rPr lang="en-US" sz="1000">
                          <a:solidFill>
                            <a:schemeClr val="bg1">
                              <a:lumMod val="49000"/>
                            </a:schemeClr>
                          </a:solidFill>
                          <a:latin typeface="+mn-lt"/>
                        </a:rPr>
                        <a:t>Descoped</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443371065"/>
                  </a:ext>
                </a:extLst>
              </a:tr>
            </a:tbl>
          </a:graphicData>
        </a:graphic>
      </p:graphicFrame>
      <p:sp>
        <p:nvSpPr>
          <p:cNvPr id="4" name="Rectangle 3">
            <a:extLst>
              <a:ext uri="{FF2B5EF4-FFF2-40B4-BE49-F238E27FC236}">
                <a16:creationId xmlns:a16="http://schemas.microsoft.com/office/drawing/2014/main" id="{057A0BF1-1354-7465-B761-00F16C32BA9F}"/>
              </a:ext>
            </a:extLst>
          </p:cNvPr>
          <p:cNvSpPr/>
          <p:nvPr/>
        </p:nvSpPr>
        <p:spPr>
          <a:xfrm>
            <a:off x="1188132" y="6671592"/>
            <a:ext cx="90000" cy="90000"/>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5" name="Rectangle 4">
            <a:extLst>
              <a:ext uri="{FF2B5EF4-FFF2-40B4-BE49-F238E27FC236}">
                <a16:creationId xmlns:a16="http://schemas.microsoft.com/office/drawing/2014/main" id="{29AC5330-F450-AE82-F4F9-9D60715EF00E}"/>
              </a:ext>
            </a:extLst>
          </p:cNvPr>
          <p:cNvSpPr/>
          <p:nvPr/>
        </p:nvSpPr>
        <p:spPr>
          <a:xfrm>
            <a:off x="2265818" y="6670554"/>
            <a:ext cx="90000" cy="90000"/>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7" name="Rectangle 6">
            <a:extLst>
              <a:ext uri="{FF2B5EF4-FFF2-40B4-BE49-F238E27FC236}">
                <a16:creationId xmlns:a16="http://schemas.microsoft.com/office/drawing/2014/main" id="{3A73C82F-9D46-97B0-04A5-2AE60068C951}"/>
              </a:ext>
            </a:extLst>
          </p:cNvPr>
          <p:cNvSpPr/>
          <p:nvPr/>
        </p:nvSpPr>
        <p:spPr>
          <a:xfrm>
            <a:off x="3443423" y="6671592"/>
            <a:ext cx="90000" cy="90000"/>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8" name="Rectangle 7">
            <a:extLst>
              <a:ext uri="{FF2B5EF4-FFF2-40B4-BE49-F238E27FC236}">
                <a16:creationId xmlns:a16="http://schemas.microsoft.com/office/drawing/2014/main" id="{3AFDA24C-70FF-ECE5-45E5-5CD8FEE631AD}"/>
              </a:ext>
            </a:extLst>
          </p:cNvPr>
          <p:cNvSpPr/>
          <p:nvPr/>
        </p:nvSpPr>
        <p:spPr>
          <a:xfrm>
            <a:off x="8146052" y="6714097"/>
            <a:ext cx="90000" cy="90000"/>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9" name="TextBox 15">
            <a:extLst>
              <a:ext uri="{FF2B5EF4-FFF2-40B4-BE49-F238E27FC236}">
                <a16:creationId xmlns:a16="http://schemas.microsoft.com/office/drawing/2014/main" id="{08C3BCF5-9DFD-E601-782F-97D5E4090220}"/>
              </a:ext>
            </a:extLst>
          </p:cNvPr>
          <p:cNvSpPr txBox="1"/>
          <p:nvPr/>
        </p:nvSpPr>
        <p:spPr>
          <a:xfrm>
            <a:off x="1288983" y="6614743"/>
            <a:ext cx="857245"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0070C0"/>
                </a:solidFill>
                <a:effectLst/>
                <a:uLnTx/>
                <a:uFillTx/>
                <a:latin typeface="Nunito Sans"/>
                <a:ea typeface="+mn-ea"/>
                <a:cs typeface="+mn-cs"/>
              </a:rPr>
              <a:t>Delivered</a:t>
            </a:r>
            <a:endParaRPr kumimoji="0" lang="en-IN" sz="1000" b="0" i="0" u="none" strike="noStrike" kern="1200" cap="none" spc="0" normalizeH="0" baseline="0" noProof="0">
              <a:ln>
                <a:noFill/>
              </a:ln>
              <a:solidFill>
                <a:srgbClr val="000000"/>
              </a:solidFill>
              <a:effectLst/>
              <a:uLnTx/>
              <a:uFillTx/>
              <a:latin typeface="Nunito Sans"/>
              <a:ea typeface="+mn-ea"/>
              <a:cs typeface="+mn-cs"/>
            </a:endParaRPr>
          </a:p>
        </p:txBody>
      </p:sp>
      <p:sp>
        <p:nvSpPr>
          <p:cNvPr id="10" name="TextBox 18">
            <a:extLst>
              <a:ext uri="{FF2B5EF4-FFF2-40B4-BE49-F238E27FC236}">
                <a16:creationId xmlns:a16="http://schemas.microsoft.com/office/drawing/2014/main" id="{C2F3C881-8034-C04A-8B79-6906384FA3C9}"/>
              </a:ext>
            </a:extLst>
          </p:cNvPr>
          <p:cNvSpPr txBox="1"/>
          <p:nvPr/>
        </p:nvSpPr>
        <p:spPr>
          <a:xfrm>
            <a:off x="2310642" y="6611102"/>
            <a:ext cx="1032881"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00B050"/>
                </a:solidFill>
                <a:effectLst/>
                <a:uLnTx/>
                <a:uFillTx/>
                <a:latin typeface="Nunito Sans"/>
                <a:ea typeface="+mn-ea"/>
                <a:cs typeface="+mn-cs"/>
              </a:rPr>
              <a:t>Ontrack</a:t>
            </a:r>
            <a:endParaRPr kumimoji="0" lang="en-IN" sz="1000" b="0" i="0" u="none" strike="noStrike" kern="1200" cap="none" spc="0" normalizeH="0" baseline="0" noProof="0">
              <a:ln>
                <a:noFill/>
              </a:ln>
              <a:solidFill>
                <a:srgbClr val="000000"/>
              </a:solidFill>
              <a:effectLst/>
              <a:uLnTx/>
              <a:uFillTx/>
              <a:latin typeface="Nunito Sans"/>
              <a:ea typeface="+mn-ea"/>
              <a:cs typeface="+mn-cs"/>
            </a:endParaRPr>
          </a:p>
        </p:txBody>
      </p:sp>
      <p:sp>
        <p:nvSpPr>
          <p:cNvPr id="11" name="TextBox 20">
            <a:extLst>
              <a:ext uri="{FF2B5EF4-FFF2-40B4-BE49-F238E27FC236}">
                <a16:creationId xmlns:a16="http://schemas.microsoft.com/office/drawing/2014/main" id="{DB1A184C-B718-3FAE-610A-8F0BB3616E97}"/>
              </a:ext>
            </a:extLst>
          </p:cNvPr>
          <p:cNvSpPr txBox="1"/>
          <p:nvPr/>
        </p:nvSpPr>
        <p:spPr>
          <a:xfrm>
            <a:off x="3539606" y="6608370"/>
            <a:ext cx="2257628"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FED9A0">
                    <a:lumMod val="75000"/>
                  </a:srgbClr>
                </a:solidFill>
                <a:effectLst/>
                <a:uLnTx/>
                <a:uFillTx/>
                <a:latin typeface="Nunito Sans"/>
                <a:ea typeface="+mn-ea"/>
                <a:cs typeface="+mn-cs"/>
              </a:rPr>
              <a:t>Under delay and can be recovered</a:t>
            </a:r>
            <a:endParaRPr kumimoji="0" lang="en-IN" sz="1000" b="0" i="0" u="none" strike="noStrike" kern="1200" cap="none" spc="0" normalizeH="0" baseline="0" noProof="0">
              <a:ln>
                <a:noFill/>
              </a:ln>
              <a:solidFill>
                <a:srgbClr val="000000"/>
              </a:solidFill>
              <a:effectLst/>
              <a:uLnTx/>
              <a:uFillTx/>
              <a:latin typeface="Nunito Sans"/>
              <a:ea typeface="+mn-ea"/>
              <a:cs typeface="+mn-cs"/>
            </a:endParaRPr>
          </a:p>
        </p:txBody>
      </p:sp>
      <p:sp>
        <p:nvSpPr>
          <p:cNvPr id="13" name="TextBox 22">
            <a:extLst>
              <a:ext uri="{FF2B5EF4-FFF2-40B4-BE49-F238E27FC236}">
                <a16:creationId xmlns:a16="http://schemas.microsoft.com/office/drawing/2014/main" id="{0293FE29-6DE8-F826-0882-F38B0433D256}"/>
              </a:ext>
            </a:extLst>
          </p:cNvPr>
          <p:cNvSpPr txBox="1"/>
          <p:nvPr/>
        </p:nvSpPr>
        <p:spPr>
          <a:xfrm>
            <a:off x="8246937" y="6618126"/>
            <a:ext cx="2338222"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FF0000"/>
                </a:solidFill>
                <a:effectLst/>
                <a:uLnTx/>
                <a:uFillTx/>
                <a:latin typeface="Nunito Sans"/>
                <a:ea typeface="+mn-ea"/>
                <a:cs typeface="+mn-cs"/>
              </a:rPr>
              <a:t>Delayed and pushed to next release</a:t>
            </a:r>
          </a:p>
        </p:txBody>
      </p:sp>
      <p:sp>
        <p:nvSpPr>
          <p:cNvPr id="15" name="TextBox 14">
            <a:extLst>
              <a:ext uri="{FF2B5EF4-FFF2-40B4-BE49-F238E27FC236}">
                <a16:creationId xmlns:a16="http://schemas.microsoft.com/office/drawing/2014/main" id="{924DA70B-BAF7-97B2-D94C-F76FF6430ED0}"/>
              </a:ext>
            </a:extLst>
          </p:cNvPr>
          <p:cNvSpPr txBox="1"/>
          <p:nvPr/>
        </p:nvSpPr>
        <p:spPr>
          <a:xfrm>
            <a:off x="6454369" y="6611638"/>
            <a:ext cx="2743200"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IN" sz="1000">
                <a:solidFill>
                  <a:srgbClr val="7D7D7D"/>
                </a:solidFill>
              </a:rPr>
              <a:t>Descoped</a:t>
            </a:r>
            <a:endParaRPr lang="en-US"/>
          </a:p>
        </p:txBody>
      </p:sp>
      <p:sp>
        <p:nvSpPr>
          <p:cNvPr id="16" name="Rectangle 15">
            <a:extLst>
              <a:ext uri="{FF2B5EF4-FFF2-40B4-BE49-F238E27FC236}">
                <a16:creationId xmlns:a16="http://schemas.microsoft.com/office/drawing/2014/main" id="{731A6B90-CE9E-EC58-F232-50876C49D8B4}"/>
              </a:ext>
            </a:extLst>
          </p:cNvPr>
          <p:cNvSpPr/>
          <p:nvPr/>
        </p:nvSpPr>
        <p:spPr>
          <a:xfrm>
            <a:off x="6360794" y="6681439"/>
            <a:ext cx="90000" cy="90000"/>
          </a:xfrm>
          <a:prstGeom prst="rect">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Tree>
    <p:extLst>
      <p:ext uri="{BB962C8B-B14F-4D97-AF65-F5344CB8AC3E}">
        <p14:creationId xmlns:p14="http://schemas.microsoft.com/office/powerpoint/2010/main" val="34614857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F8989-20C9-ABBF-BC67-DA2324FFD3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5CB745-D6F6-4D23-58FD-7F514DAB1B72}"/>
              </a:ext>
            </a:extLst>
          </p:cNvPr>
          <p:cNvSpPr>
            <a:spLocks noGrp="1"/>
          </p:cNvSpPr>
          <p:nvPr>
            <p:ph type="title"/>
          </p:nvPr>
        </p:nvSpPr>
        <p:spPr>
          <a:xfrm>
            <a:off x="1919417" y="920381"/>
            <a:ext cx="10176225" cy="895041"/>
          </a:xfrm>
        </p:spPr>
        <p:txBody>
          <a:bodyPr/>
          <a:lstStyle/>
          <a:p>
            <a:r>
              <a:rPr lang="en-US" sz="3600">
                <a:latin typeface="AirIndia"/>
              </a:rPr>
              <a:t>Corporate Systems – FY26-27/Q2</a:t>
            </a:r>
            <a:endParaRPr lang="en-IN" sz="3600">
              <a:latin typeface="AirIndia"/>
            </a:endParaRPr>
          </a:p>
        </p:txBody>
      </p:sp>
    </p:spTree>
    <p:extLst>
      <p:ext uri="{BB962C8B-B14F-4D97-AF65-F5344CB8AC3E}">
        <p14:creationId xmlns:p14="http://schemas.microsoft.com/office/powerpoint/2010/main" val="1516161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42A1A2-0506-44F8-2056-81FE70288DCE}"/>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325E0AB-B936-487D-58B1-B2394403A07F}"/>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3A41A254-7326-714E-AF55-4C213D6394DE}" type="slidenum">
              <a:rPr kumimoji="0" lang="en-US" sz="1200" b="0" i="0" u="none" strike="noStrike" kern="1200" cap="none" spc="0" normalizeH="0" baseline="0" noProof="0" smtClean="0">
                <a:ln>
                  <a:noFill/>
                </a:ln>
                <a:solidFill>
                  <a:srgbClr val="DA0E28"/>
                </a:solidFill>
                <a:effectLst/>
                <a:uLnTx/>
                <a:uFillTx/>
                <a:latin typeface="Nunito Sans"/>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srgbClr val="DA0E28"/>
              </a:solidFill>
              <a:effectLst/>
              <a:uLnTx/>
              <a:uFillTx/>
              <a:latin typeface="Nunito Sans"/>
              <a:ea typeface="+mn-ea"/>
              <a:cs typeface="+mn-cs"/>
            </a:endParaRPr>
          </a:p>
        </p:txBody>
      </p:sp>
      <p:sp>
        <p:nvSpPr>
          <p:cNvPr id="3" name="Rectangle 2">
            <a:extLst>
              <a:ext uri="{FF2B5EF4-FFF2-40B4-BE49-F238E27FC236}">
                <a16:creationId xmlns:a16="http://schemas.microsoft.com/office/drawing/2014/main" id="{73196996-3D40-E9CA-8BBA-D59A3D54023B}"/>
              </a:ext>
            </a:extLst>
          </p:cNvPr>
          <p:cNvSpPr/>
          <p:nvPr/>
        </p:nvSpPr>
        <p:spPr>
          <a:xfrm>
            <a:off x="129077" y="610471"/>
            <a:ext cx="1170432" cy="42234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defRPr/>
            </a:pPr>
            <a:r>
              <a:rPr lang="en-IN" sz="1400" b="1">
                <a:solidFill>
                  <a:srgbClr val="FFFFFF"/>
                </a:solidFill>
                <a:latin typeface="AirIndia"/>
              </a:rPr>
              <a:t>July</a:t>
            </a:r>
            <a:r>
              <a:rPr kumimoji="0" lang="en-IN" sz="1400" b="1" i="0" u="none" strike="noStrike" kern="1200" cap="none" spc="0" normalizeH="0" baseline="0" noProof="0">
                <a:ln>
                  <a:noFill/>
                </a:ln>
                <a:solidFill>
                  <a:srgbClr val="FFFFFF"/>
                </a:solidFill>
                <a:effectLst/>
                <a:uLnTx/>
                <a:uFillTx/>
                <a:latin typeface="AirIndia"/>
                <a:ea typeface="+mn-ea"/>
                <a:cs typeface="+mn-cs"/>
              </a:rPr>
              <a:t> ‘</a:t>
            </a:r>
            <a:r>
              <a:rPr lang="en-IN" sz="1400" b="1">
                <a:solidFill>
                  <a:srgbClr val="FFFFFF"/>
                </a:solidFill>
                <a:latin typeface="AirIndia"/>
              </a:rPr>
              <a:t>26</a:t>
            </a:r>
            <a:endParaRPr kumimoji="0" lang="en-US" sz="1400" b="1" i="0" u="none" strike="noStrike" kern="1200" cap="none" spc="0" normalizeH="0" baseline="0" noProof="0">
              <a:ln>
                <a:noFill/>
              </a:ln>
              <a:solidFill>
                <a:srgbClr val="FFFFFF"/>
              </a:solidFill>
              <a:effectLst/>
              <a:uLnTx/>
              <a:uFillTx/>
              <a:latin typeface="AirIndia"/>
              <a:ea typeface="+mn-ea"/>
              <a:cs typeface="+mn-cs"/>
            </a:endParaRPr>
          </a:p>
        </p:txBody>
      </p:sp>
      <p:graphicFrame>
        <p:nvGraphicFramePr>
          <p:cNvPr id="12" name="Table 11">
            <a:extLst>
              <a:ext uri="{FF2B5EF4-FFF2-40B4-BE49-F238E27FC236}">
                <a16:creationId xmlns:a16="http://schemas.microsoft.com/office/drawing/2014/main" id="{2B609777-0576-BA57-18FD-AE6513B5350A}"/>
              </a:ext>
            </a:extLst>
          </p:cNvPr>
          <p:cNvGraphicFramePr>
            <a:graphicFrameLocks noGrp="1"/>
          </p:cNvGraphicFramePr>
          <p:nvPr>
            <p:extLst>
              <p:ext uri="{D42A27DB-BD31-4B8C-83A1-F6EECF244321}">
                <p14:modId xmlns:p14="http://schemas.microsoft.com/office/powerpoint/2010/main" val="1903665455"/>
              </p:ext>
            </p:extLst>
          </p:nvPr>
        </p:nvGraphicFramePr>
        <p:xfrm>
          <a:off x="1251008" y="588627"/>
          <a:ext cx="10685696" cy="4191282"/>
        </p:xfrm>
        <a:graphic>
          <a:graphicData uri="http://schemas.openxmlformats.org/drawingml/2006/table">
            <a:tbl>
              <a:tblPr firstRow="1" bandRow="1">
                <a:tableStyleId>{5C22544A-7EE6-4342-B048-85BDC9FD1C3A}</a:tableStyleId>
              </a:tblPr>
              <a:tblGrid>
                <a:gridCol w="1758236">
                  <a:extLst>
                    <a:ext uri="{9D8B030D-6E8A-4147-A177-3AD203B41FA5}">
                      <a16:colId xmlns:a16="http://schemas.microsoft.com/office/drawing/2014/main" val="2822350773"/>
                    </a:ext>
                  </a:extLst>
                </a:gridCol>
                <a:gridCol w="1758236">
                  <a:extLst>
                    <a:ext uri="{9D8B030D-6E8A-4147-A177-3AD203B41FA5}">
                      <a16:colId xmlns:a16="http://schemas.microsoft.com/office/drawing/2014/main" val="1843387359"/>
                    </a:ext>
                  </a:extLst>
                </a:gridCol>
                <a:gridCol w="4506342">
                  <a:extLst>
                    <a:ext uri="{9D8B030D-6E8A-4147-A177-3AD203B41FA5}">
                      <a16:colId xmlns:a16="http://schemas.microsoft.com/office/drawing/2014/main" val="99588705"/>
                    </a:ext>
                  </a:extLst>
                </a:gridCol>
                <a:gridCol w="1331441">
                  <a:extLst>
                    <a:ext uri="{9D8B030D-6E8A-4147-A177-3AD203B41FA5}">
                      <a16:colId xmlns:a16="http://schemas.microsoft.com/office/drawing/2014/main" val="850806059"/>
                    </a:ext>
                  </a:extLst>
                </a:gridCol>
                <a:gridCol w="1331441">
                  <a:extLst>
                    <a:ext uri="{9D8B030D-6E8A-4147-A177-3AD203B41FA5}">
                      <a16:colId xmlns:a16="http://schemas.microsoft.com/office/drawing/2014/main" val="529241555"/>
                    </a:ext>
                  </a:extLst>
                </a:gridCol>
              </a:tblGrid>
              <a:tr h="530670">
                <a:tc>
                  <a:txBody>
                    <a:bodyPr/>
                    <a:lstStyle/>
                    <a:p>
                      <a:pPr marL="0" lvl="0" indent="0" algn="ctr" defTabSz="914400" rtl="0">
                        <a:lnSpc>
                          <a:spcPct val="100000"/>
                        </a:lnSpc>
                        <a:buFont typeface="Arial" panose="020B0604020202020204" pitchFamily="34" charset="0"/>
                        <a:buNone/>
                      </a:pPr>
                      <a:r>
                        <a:rPr lang="en-IN" sz="1100" b="1" kern="1200">
                          <a:solidFill>
                            <a:schemeClr val="bg1"/>
                          </a:solidFill>
                          <a:latin typeface="+mn-lt"/>
                          <a:ea typeface="+mn-ea"/>
                          <a:cs typeface="+mn-cs"/>
                        </a:rPr>
                        <a:t>Initiatives</a:t>
                      </a:r>
                      <a:endParaRPr lang="en-US" sz="1100" b="1"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tc>
                  <a:txBody>
                    <a:bodyPr/>
                    <a:lstStyle/>
                    <a:p>
                      <a:pPr marL="0" lvl="0" indent="0" algn="ctr" defTabSz="914400">
                        <a:lnSpc>
                          <a:spcPct val="100000"/>
                        </a:lnSpc>
                        <a:buNone/>
                      </a:pPr>
                      <a:r>
                        <a:rPr lang="en-IN" sz="1100" b="1" i="0" u="none" strike="noStrike" kern="1200" noProof="0">
                          <a:solidFill>
                            <a:schemeClr val="bg1"/>
                          </a:solidFill>
                          <a:latin typeface="Nunito Sans"/>
                          <a:ea typeface="+mn-ea"/>
                          <a:cs typeface="+mn-cs"/>
                        </a:rPr>
                        <a:t>Programs/Projects</a:t>
                      </a:r>
                      <a:endParaRPr lang="en-US"/>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tc>
                  <a:txBody>
                    <a:bodyPr/>
                    <a:lstStyle/>
                    <a:p>
                      <a:pPr marL="0" lvl="0" indent="0" algn="ctr">
                        <a:lnSpc>
                          <a:spcPct val="100000"/>
                        </a:lnSpc>
                        <a:buNone/>
                      </a:pPr>
                      <a:endParaRPr lang="en-IN" sz="1100" b="1" i="0" u="none" strike="noStrike" kern="1200" baseline="0" noProof="0">
                        <a:solidFill>
                          <a:srgbClr val="FFFFFF"/>
                        </a:solidFill>
                        <a:latin typeface="Nunito Sans"/>
                      </a:endParaRPr>
                    </a:p>
                    <a:p>
                      <a:pPr marL="0" lvl="0" indent="0" algn="ctr">
                        <a:lnSpc>
                          <a:spcPct val="100000"/>
                        </a:lnSpc>
                        <a:buNone/>
                      </a:pPr>
                      <a:r>
                        <a:rPr lang="en-IN" sz="1100" b="1" i="0" u="none" strike="noStrike" kern="1200" baseline="0" noProof="0">
                          <a:solidFill>
                            <a:srgbClr val="FFFFFF"/>
                          </a:solidFill>
                          <a:latin typeface="Nunito Sans"/>
                        </a:rPr>
                        <a:t>Value Justification/Realization</a:t>
                      </a:r>
                    </a:p>
                    <a:p>
                      <a:pPr marL="0" lvl="0" indent="0" algn="ctr" defTabSz="914400">
                        <a:buFont typeface="Arial" panose="020B0604020202020204" pitchFamily="34" charset="0"/>
                        <a:buNone/>
                      </a:pPr>
                      <a:endParaRPr lang="en-IN" sz="1100"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tc>
                  <a:txBody>
                    <a:bodyPr/>
                    <a:lstStyle/>
                    <a:p>
                      <a:pPr lvl="0" algn="ctr">
                        <a:lnSpc>
                          <a:spcPct val="100000"/>
                        </a:lnSpc>
                        <a:spcBef>
                          <a:spcPts val="0"/>
                        </a:spcBef>
                        <a:spcAft>
                          <a:spcPts val="0"/>
                        </a:spcAft>
                        <a:buNone/>
                      </a:pPr>
                      <a:r>
                        <a:rPr lang="en-IN" sz="1000" b="1" i="0" u="none" strike="noStrike" kern="1200" noProof="0">
                          <a:solidFill>
                            <a:srgbClr val="FFFFFF"/>
                          </a:solidFill>
                          <a:latin typeface="Nunito Sans"/>
                          <a:ea typeface="+mn-ea"/>
                          <a:cs typeface="+mn-cs"/>
                        </a:rPr>
                        <a:t>Go-Live ETA</a:t>
                      </a:r>
                      <a:endParaRPr lang="en-US"/>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000" b="1" i="0" u="none" strike="noStrike" kern="1200">
                          <a:solidFill>
                            <a:srgbClr val="FFFFFF"/>
                          </a:solidFill>
                          <a:latin typeface="Nunito Sans"/>
                          <a:ea typeface="+mn-ea"/>
                          <a:cs typeface="+mn-cs"/>
                        </a:rPr>
                        <a:t>EIP Integration Required (Yes/No)</a:t>
                      </a: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extLst>
                  <a:ext uri="{0D108BD9-81ED-4DB2-BD59-A6C34878D82A}">
                    <a16:rowId xmlns:a16="http://schemas.microsoft.com/office/drawing/2014/main" val="844450115"/>
                  </a:ext>
                </a:extLst>
              </a:tr>
              <a:tr h="719385">
                <a:tc>
                  <a:txBody>
                    <a:bodyPr/>
                    <a:lstStyle/>
                    <a:p>
                      <a:pPr marL="0" lvl="0" indent="0" algn="l">
                        <a:lnSpc>
                          <a:spcPct val="100000"/>
                        </a:lnSpc>
                        <a:buNone/>
                      </a:pPr>
                      <a:r>
                        <a:rPr lang="en-IN" sz="1000" b="1" i="0" u="none" strike="noStrike" kern="1200" baseline="0" noProof="0">
                          <a:solidFill>
                            <a:srgbClr val="00B050"/>
                          </a:solidFill>
                          <a:effectLst/>
                          <a:latin typeface="Nunito Sans"/>
                          <a:ea typeface="+mn-ea"/>
                          <a:cs typeface="+mn-cs"/>
                        </a:rPr>
                        <a:t>Leave Pro-ration on Exit Phase 1 - Tarun</a:t>
                      </a: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lvl="0">
                        <a:buNone/>
                      </a:pPr>
                      <a:r>
                        <a:rPr lang="en-IN" sz="1000" b="1" i="0" u="none" strike="noStrike" kern="1200" noProof="0">
                          <a:solidFill>
                            <a:srgbClr val="00B050"/>
                          </a:solidFill>
                          <a:effectLst/>
                          <a:latin typeface="Nunito Sans"/>
                          <a:ea typeface="+mn-ea"/>
                          <a:cs typeface="+mn-cs"/>
                        </a:rPr>
                        <a:t>Leave Pro-ration on Exit Phase 1</a:t>
                      </a:r>
                      <a:endParaRPr lang="en-US"/>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171450" indent="-171450">
                        <a:buFont typeface="Arial" panose="020B0604020202020204" pitchFamily="34" charset="0"/>
                        <a:buChar char="•"/>
                      </a:pPr>
                      <a:r>
                        <a:rPr lang="en-US" sz="1000" b="0" i="0" u="none" strike="noStrike" kern="1200">
                          <a:solidFill>
                            <a:srgbClr val="000000"/>
                          </a:solidFill>
                          <a:effectLst/>
                          <a:latin typeface="+mn-lt"/>
                          <a:ea typeface="+mn-ea"/>
                          <a:cs typeface="+mn-cs"/>
                        </a:rPr>
                        <a:t>Ensures fair and compliant leave settlement, reducing disputes and manual adjustments at exit..</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ctr" defTabSz="914400" rtl="0" eaLnBrk="1" fontAlgn="b" latinLnBrk="0" hangingPunct="1">
                        <a:lnSpc>
                          <a:spcPct val="100000"/>
                        </a:lnSpc>
                        <a:spcBef>
                          <a:spcPts val="0"/>
                        </a:spcBef>
                        <a:spcAft>
                          <a:spcPts val="0"/>
                        </a:spcAft>
                        <a:buClrTx/>
                        <a:buSzTx/>
                        <a:buFont typeface="Arial" panose="020B0604020202020204" pitchFamily="34" charset="0"/>
                        <a:buNone/>
                        <a:tabLst/>
                        <a:defRPr/>
                      </a:pPr>
                      <a:r>
                        <a:rPr kumimoji="0" lang="en-IN" sz="1000" b="0" i="0" u="none" strike="noStrike" kern="1200" cap="none" spc="0" normalizeH="0" baseline="0" noProof="0">
                          <a:ln>
                            <a:noFill/>
                          </a:ln>
                          <a:solidFill>
                            <a:srgbClr val="000000"/>
                          </a:solidFill>
                          <a:effectLst/>
                          <a:uLnTx/>
                          <a:uFillTx/>
                          <a:latin typeface="+mn-lt"/>
                          <a:ea typeface="+mn-ea"/>
                          <a:cs typeface="+mn-cs"/>
                        </a:rPr>
                        <a:t>25</a:t>
                      </a:r>
                      <a:r>
                        <a:rPr kumimoji="0" lang="en-IN" sz="1000" b="0" i="0" u="none" strike="noStrike" kern="1200" cap="none" spc="0" normalizeH="0" baseline="30000" noProof="0">
                          <a:ln>
                            <a:noFill/>
                          </a:ln>
                          <a:solidFill>
                            <a:srgbClr val="000000"/>
                          </a:solidFill>
                          <a:effectLst/>
                          <a:uLnTx/>
                          <a:uFillTx/>
                          <a:latin typeface="+mn-lt"/>
                          <a:ea typeface="+mn-ea"/>
                          <a:cs typeface="+mn-cs"/>
                        </a:rPr>
                        <a:t> </a:t>
                      </a:r>
                      <a:r>
                        <a:rPr kumimoji="0" lang="en-IN" sz="1000" b="0" i="0" u="none" strike="noStrike" kern="1200" cap="none" spc="0" normalizeH="0" baseline="0" noProof="0">
                          <a:ln>
                            <a:noFill/>
                          </a:ln>
                          <a:solidFill>
                            <a:srgbClr val="000000"/>
                          </a:solidFill>
                          <a:effectLst/>
                          <a:uLnTx/>
                          <a:uFillTx/>
                          <a:latin typeface="+mn-lt"/>
                          <a:ea typeface="+mn-ea"/>
                          <a:cs typeface="+mn-cs"/>
                        </a:rPr>
                        <a:t>Jul 2026</a:t>
                      </a: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ctr" defTabSz="914400" rtl="0" eaLnBrk="1" fontAlgn="b" latinLnBrk="0" hangingPunct="1">
                        <a:lnSpc>
                          <a:spcPct val="100000"/>
                        </a:lnSpc>
                        <a:spcBef>
                          <a:spcPts val="0"/>
                        </a:spcBef>
                        <a:spcAft>
                          <a:spcPts val="0"/>
                        </a:spcAft>
                        <a:buClrTx/>
                        <a:buSzTx/>
                        <a:buFont typeface="Arial" panose="020B0604020202020204" pitchFamily="34" charset="0"/>
                        <a:buNone/>
                        <a:tabLst/>
                        <a:defRPr/>
                      </a:pPr>
                      <a:r>
                        <a:rPr lang="en-IN" sz="1000" b="0" i="0" u="none" strike="noStrike" kern="1200" noProof="0">
                          <a:solidFill>
                            <a:schemeClr val="tx1"/>
                          </a:solidFill>
                          <a:latin typeface="Nunito Sans"/>
                          <a:ea typeface="+mn-ea"/>
                          <a:cs typeface="+mn-cs"/>
                        </a:rPr>
                        <a:t>Yes</a:t>
                      </a:r>
                    </a:p>
                  </a:txBody>
                  <a:tcPr anchor="ctr">
                    <a:lnL w="6350">
                      <a:solidFill>
                        <a:schemeClr val="bg1">
                          <a:lumMod val="75000"/>
                        </a:schemeClr>
                      </a:solidFill>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378710390"/>
                  </a:ext>
                </a:extLst>
              </a:tr>
              <a:tr h="719385">
                <a:tc>
                  <a:txBody>
                    <a:bodyPr/>
                    <a:lstStyle/>
                    <a:p>
                      <a:pPr lvl="0">
                        <a:buNone/>
                      </a:pPr>
                      <a:r>
                        <a:rPr lang="en-US" sz="1100" b="1" i="0" u="none" strike="noStrike" kern="1200" noProof="0">
                          <a:solidFill>
                            <a:srgbClr val="0070C0"/>
                          </a:solidFill>
                          <a:effectLst/>
                          <a:latin typeface="Nunito Sans"/>
                          <a:ea typeface="+mn-ea"/>
                          <a:cs typeface="+mn-cs"/>
                        </a:rPr>
                        <a:t>Offer Letter Revamp Phase 3</a:t>
                      </a:r>
                      <a:endParaRPr lang="en-US">
                        <a:solidFill>
                          <a:srgbClr val="0070C0"/>
                        </a:solidFill>
                      </a:endParaRP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lvl="0">
                        <a:buNone/>
                      </a:pPr>
                      <a:r>
                        <a:rPr lang="en-US" sz="1100" b="1" i="0" u="none" strike="noStrike" kern="1200" noProof="0">
                          <a:solidFill>
                            <a:srgbClr val="0070C0"/>
                          </a:solidFill>
                          <a:effectLst/>
                          <a:latin typeface="Nunito Sans"/>
                          <a:ea typeface="+mn-ea"/>
                          <a:cs typeface="+mn-cs"/>
                        </a:rPr>
                        <a:t>Offer Letter Revamp Phase 3</a:t>
                      </a:r>
                      <a:endParaRPr lang="en-IN" sz="1000" b="1" i="0" u="none" strike="noStrike" kern="1200">
                        <a:solidFill>
                          <a:srgbClr val="0070C0"/>
                        </a:solidFill>
                        <a:effectLst/>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171450" marR="0" lvl="0" indent="-171450" algn="l" rtl="0" eaLnBrk="1" fontAlgn="auto" latinLnBrk="0" hangingPunct="1">
                        <a:lnSpc>
                          <a:spcPct val="100000"/>
                        </a:lnSpc>
                        <a:spcBef>
                          <a:spcPts val="0"/>
                        </a:spcBef>
                        <a:spcAft>
                          <a:spcPts val="0"/>
                        </a:spcAft>
                        <a:buClrTx/>
                        <a:buSzTx/>
                        <a:buFont typeface="Arial" panose="020B0604020202020204" pitchFamily="34" charset="0"/>
                        <a:buChar char="•"/>
                      </a:pPr>
                      <a:r>
                        <a:rPr lang="en-US" sz="1000" b="0" i="0" u="none" strike="noStrike" noProof="0">
                          <a:solidFill>
                            <a:srgbClr val="000000"/>
                          </a:solidFill>
                          <a:latin typeface="Nunito Sans"/>
                        </a:rPr>
                        <a:t>Standardizes and modernizes offer communication to improve candidate experience and reduce errors.</a:t>
                      </a:r>
                      <a:endParaRPr lang="en-US" sz="1000"/>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ctr" defTabSz="914400" rtl="0" eaLnBrk="1" fontAlgn="b" latinLnBrk="0" hangingPunct="1">
                        <a:lnSpc>
                          <a:spcPct val="100000"/>
                        </a:lnSpc>
                        <a:spcBef>
                          <a:spcPts val="0"/>
                        </a:spcBef>
                        <a:spcAft>
                          <a:spcPts val="0"/>
                        </a:spcAft>
                        <a:buClrTx/>
                        <a:buSzTx/>
                        <a:buFont typeface="Arial" panose="020B0604020202020204" pitchFamily="34" charset="0"/>
                        <a:buNone/>
                        <a:tabLst/>
                        <a:defRPr/>
                      </a:pPr>
                      <a:r>
                        <a:rPr kumimoji="0" lang="en-IN" sz="1000" b="0" i="0" u="none" strike="noStrike" kern="1200" cap="none" spc="0" normalizeH="0" baseline="0" noProof="0">
                          <a:ln>
                            <a:noFill/>
                          </a:ln>
                          <a:solidFill>
                            <a:srgbClr val="000000"/>
                          </a:solidFill>
                          <a:effectLst/>
                          <a:uLnTx/>
                          <a:uFillTx/>
                          <a:latin typeface="+mn-lt"/>
                          <a:ea typeface="+mn-ea"/>
                          <a:cs typeface="+mn-cs"/>
                        </a:rPr>
                        <a:t>26 Jul 2026</a:t>
                      </a: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ctr" defTabSz="914400" rtl="0" eaLnBrk="1" fontAlgn="b" latinLnBrk="0" hangingPunct="1">
                        <a:lnSpc>
                          <a:spcPct val="100000"/>
                        </a:lnSpc>
                        <a:spcBef>
                          <a:spcPts val="0"/>
                        </a:spcBef>
                        <a:spcAft>
                          <a:spcPts val="0"/>
                        </a:spcAft>
                        <a:buClrTx/>
                        <a:buSzTx/>
                        <a:buFont typeface="Arial" panose="020B0604020202020204" pitchFamily="34" charset="0"/>
                        <a:buNone/>
                        <a:tabLst/>
                        <a:defRPr/>
                      </a:pPr>
                      <a:r>
                        <a:rPr lang="en-IN" sz="1000" b="0" i="0" u="none" strike="noStrike" kern="1200" cap="none" spc="0" normalizeH="0" baseline="0" noProof="0">
                          <a:ln>
                            <a:noFill/>
                          </a:ln>
                          <a:solidFill>
                            <a:srgbClr val="000000"/>
                          </a:solidFill>
                          <a:effectLst/>
                          <a:uLnTx/>
                          <a:uFillTx/>
                          <a:latin typeface="+mn-lt"/>
                          <a:ea typeface="+mn-ea"/>
                          <a:cs typeface="+mn-cs"/>
                        </a:rPr>
                        <a:t>No</a:t>
                      </a:r>
                      <a:endParaRPr kumimoji="0" lang="en-IN" sz="1000" b="0" i="0" u="none" strike="noStrike" kern="1200" cap="none" spc="0" normalizeH="0" baseline="0" noProof="0">
                        <a:ln>
                          <a:noFill/>
                        </a:ln>
                        <a:solidFill>
                          <a:srgbClr val="000000"/>
                        </a:solidFill>
                        <a:effectLst/>
                        <a:uLnTx/>
                        <a:uFillTx/>
                        <a:latin typeface="+mn-lt"/>
                        <a:ea typeface="+mn-ea"/>
                        <a:cs typeface="+mn-cs"/>
                      </a:endParaRPr>
                    </a:p>
                  </a:txBody>
                  <a:tcPr anchor="ctr">
                    <a:lnL w="6350">
                      <a:solidFill>
                        <a:schemeClr val="bg1">
                          <a:lumMod val="75000"/>
                        </a:schemeClr>
                      </a:solidFill>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890803232"/>
                  </a:ext>
                </a:extLst>
              </a:tr>
              <a:tr h="719384">
                <a:tc>
                  <a:txBody>
                    <a:bodyPr/>
                    <a:lstStyle/>
                    <a:p>
                      <a:pPr marL="0" marR="0" lvl="0" indent="0" algn="l">
                        <a:lnSpc>
                          <a:spcPct val="100000"/>
                        </a:lnSpc>
                        <a:spcBef>
                          <a:spcPts val="0"/>
                        </a:spcBef>
                        <a:spcAft>
                          <a:spcPts val="0"/>
                        </a:spcAft>
                        <a:buNone/>
                      </a:pPr>
                      <a:r>
                        <a:rPr lang="en-US" sz="1100" b="1" i="0" u="none" strike="noStrike" kern="1200" noProof="0">
                          <a:solidFill>
                            <a:srgbClr val="0070C0"/>
                          </a:solidFill>
                          <a:effectLst/>
                          <a:latin typeface="Nunito Sans"/>
                          <a:ea typeface="+mn-ea"/>
                          <a:cs typeface="+mn-cs"/>
                        </a:rPr>
                        <a:t>Goal Setting Revamp</a:t>
                      </a: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l">
                        <a:lnSpc>
                          <a:spcPct val="100000"/>
                        </a:lnSpc>
                        <a:spcBef>
                          <a:spcPts val="0"/>
                        </a:spcBef>
                        <a:spcAft>
                          <a:spcPts val="0"/>
                        </a:spcAft>
                        <a:buNone/>
                      </a:pPr>
                      <a:r>
                        <a:rPr lang="en-US" sz="1100" b="1" i="0" u="none" strike="noStrike" kern="1200" noProof="0">
                          <a:solidFill>
                            <a:srgbClr val="0070C0"/>
                          </a:solidFill>
                          <a:effectLst/>
                          <a:latin typeface="Nunito Sans"/>
                          <a:ea typeface="+mn-ea"/>
                          <a:cs typeface="+mn-cs"/>
                        </a:rPr>
                        <a:t>Goal Setting Revamp</a:t>
                      </a:r>
                      <a:endParaRPr lang="en-US" sz="1000" b="1" i="0" u="none" strike="noStrike" kern="1200">
                        <a:solidFill>
                          <a:srgbClr val="0070C0"/>
                        </a:solidFill>
                        <a:effectLst/>
                        <a:latin typeface="+mn-lt"/>
                        <a:ea typeface="+mn-ea"/>
                        <a:cs typeface="+mn-cs"/>
                      </a:endParaRP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marL="171450" marR="0" lvl="0" indent="-171450" algn="l" rtl="0" eaLnBrk="1" fontAlgn="auto" latinLnBrk="0" hangingPunct="1">
                        <a:lnSpc>
                          <a:spcPct val="100000"/>
                        </a:lnSpc>
                        <a:spcBef>
                          <a:spcPts val="0"/>
                        </a:spcBef>
                        <a:spcAft>
                          <a:spcPts val="0"/>
                        </a:spcAft>
                        <a:buClrTx/>
                        <a:buSzTx/>
                        <a:buFont typeface="Arial" panose="020B0604020202020204" pitchFamily="34" charset="0"/>
                        <a:buChar char="•"/>
                      </a:pPr>
                      <a:r>
                        <a:rPr lang="en-US" sz="1000" b="0" i="0" u="none" strike="noStrike" kern="1200" noProof="0">
                          <a:solidFill>
                            <a:srgbClr val="000000"/>
                          </a:solidFill>
                          <a:latin typeface="Nunito Sans"/>
                          <a:ea typeface="+mn-ea"/>
                          <a:cs typeface="+mn-cs"/>
                        </a:rPr>
                        <a:t>Drives clearer performance alignment with business priorities, improving accountability and outcomes.</a:t>
                      </a:r>
                      <a:endParaRPr lang="en-US" sz="1000" kern="1200">
                        <a:solidFill>
                          <a:schemeClr val="dk1"/>
                        </a:solidFill>
                        <a:latin typeface="+mn-lt"/>
                        <a:ea typeface="+mn-ea"/>
                        <a:cs typeface="+mn-cs"/>
                      </a:endParaRP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ctr" defTabSz="914400" rtl="0" eaLnBrk="1" fontAlgn="b" latinLnBrk="0" hangingPunct="1">
                        <a:lnSpc>
                          <a:spcPct val="100000"/>
                        </a:lnSpc>
                        <a:spcBef>
                          <a:spcPts val="0"/>
                        </a:spcBef>
                        <a:spcAft>
                          <a:spcPts val="0"/>
                        </a:spcAft>
                        <a:buClrTx/>
                        <a:buSzTx/>
                        <a:buFont typeface="Arial" panose="020B0604020202020204" pitchFamily="34" charset="0"/>
                        <a:buNone/>
                        <a:tabLst/>
                        <a:defRPr/>
                      </a:pPr>
                      <a:r>
                        <a:rPr lang="en-IN" sz="1000" b="0" i="0" u="none" strike="noStrike" kern="1200" cap="none" spc="0" normalizeH="0" baseline="0" noProof="0">
                          <a:ln>
                            <a:noFill/>
                          </a:ln>
                          <a:solidFill>
                            <a:srgbClr val="000000"/>
                          </a:solidFill>
                          <a:effectLst/>
                          <a:uLnTx/>
                          <a:uFillTx/>
                          <a:latin typeface="+mn-lt"/>
                          <a:ea typeface="+mn-ea"/>
                          <a:cs typeface="+mn-cs"/>
                        </a:rPr>
                        <a:t>26</a:t>
                      </a:r>
                      <a:r>
                        <a:rPr kumimoji="0" lang="en-IN" sz="1000" b="0" i="0" u="none" strike="noStrike" kern="1200" cap="none" spc="0" normalizeH="0" baseline="0" noProof="0">
                          <a:ln>
                            <a:noFill/>
                          </a:ln>
                          <a:solidFill>
                            <a:srgbClr val="000000"/>
                          </a:solidFill>
                          <a:effectLst/>
                          <a:uLnTx/>
                          <a:uFillTx/>
                          <a:latin typeface="+mn-lt"/>
                          <a:ea typeface="+mn-ea"/>
                          <a:cs typeface="+mn-cs"/>
                        </a:rPr>
                        <a:t> Jul 2026</a:t>
                      </a: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ctr" defTabSz="914400" rtl="0" eaLnBrk="1" fontAlgn="b" latinLnBrk="0" hangingPunct="1">
                        <a:lnSpc>
                          <a:spcPct val="100000"/>
                        </a:lnSpc>
                        <a:spcBef>
                          <a:spcPts val="0"/>
                        </a:spcBef>
                        <a:spcAft>
                          <a:spcPts val="0"/>
                        </a:spcAft>
                        <a:buClrTx/>
                        <a:buSzTx/>
                        <a:buFont typeface="Arial" panose="020B0604020202020204" pitchFamily="34" charset="0"/>
                        <a:buNone/>
                        <a:tabLst/>
                        <a:defRPr/>
                      </a:pPr>
                      <a:r>
                        <a:rPr lang="en-IN" sz="1000" b="0" i="0" u="none" strike="noStrike" kern="1200" cap="none" spc="0" normalizeH="0" baseline="0" noProof="0">
                          <a:ln>
                            <a:noFill/>
                          </a:ln>
                          <a:solidFill>
                            <a:srgbClr val="000000"/>
                          </a:solidFill>
                          <a:effectLst/>
                          <a:uLnTx/>
                          <a:uFillTx/>
                          <a:latin typeface="+mn-lt"/>
                          <a:ea typeface="+mn-ea"/>
                          <a:cs typeface="+mn-cs"/>
                        </a:rPr>
                        <a:t>No</a:t>
                      </a:r>
                      <a:endParaRPr kumimoji="0" lang="en-IN" sz="1000" b="0" i="0" u="none" strike="noStrike" kern="1200" cap="none" spc="0" normalizeH="0" baseline="0" noProof="0">
                        <a:ln>
                          <a:noFill/>
                        </a:ln>
                        <a:solidFill>
                          <a:srgbClr val="000000"/>
                        </a:solidFill>
                        <a:effectLst/>
                        <a:uLnTx/>
                        <a:uFillTx/>
                        <a:latin typeface="+mn-lt"/>
                        <a:ea typeface="+mn-ea"/>
                        <a:cs typeface="+mn-cs"/>
                      </a:endParaRPr>
                    </a:p>
                  </a:txBody>
                  <a:tcPr anchor="ctr">
                    <a:lnL w="6350">
                      <a:solidFill>
                        <a:schemeClr val="bg1">
                          <a:lumMod val="75000"/>
                        </a:schemeClr>
                      </a:solidFill>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091857160"/>
                  </a:ext>
                </a:extLst>
              </a:tr>
              <a:tr h="719384">
                <a:tc>
                  <a:txBody>
                    <a:bodyPr/>
                    <a:lstStyle/>
                    <a:p>
                      <a:pPr marL="0" marR="0" lvl="0" indent="0" algn="l">
                        <a:lnSpc>
                          <a:spcPct val="100000"/>
                        </a:lnSpc>
                        <a:spcBef>
                          <a:spcPts val="0"/>
                        </a:spcBef>
                        <a:spcAft>
                          <a:spcPts val="0"/>
                        </a:spcAft>
                        <a:buNone/>
                      </a:pPr>
                      <a:r>
                        <a:rPr lang="en-US" sz="1100" b="1" i="0" u="none" strike="noStrike" kern="1200" noProof="0">
                          <a:solidFill>
                            <a:srgbClr val="00B050"/>
                          </a:solidFill>
                          <a:effectLst/>
                          <a:latin typeface="Nunito Sans"/>
                          <a:ea typeface="+mn-ea"/>
                          <a:cs typeface="+mn-cs"/>
                        </a:rPr>
                        <a:t>Employee Attrition &amp; Overview Dashboard Enhancements - Kunal</a:t>
                      </a:r>
                      <a:endParaRPr lang="en-US"/>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lvl="0">
                        <a:buNone/>
                      </a:pPr>
                      <a:r>
                        <a:rPr lang="en-US" sz="1100" b="1" i="0" u="none" strike="noStrike" kern="1200" noProof="0">
                          <a:solidFill>
                            <a:srgbClr val="00B050"/>
                          </a:solidFill>
                          <a:effectLst/>
                          <a:latin typeface="Nunito Sans"/>
                          <a:ea typeface="+mn-ea"/>
                          <a:cs typeface="+mn-cs"/>
                        </a:rPr>
                        <a:t>Employee Attrition &amp; Overview Dashboard Enhancements</a:t>
                      </a:r>
                      <a:endParaRPr lang="en-US"/>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marL="171450" marR="0" lvl="0" indent="-171450" algn="l" rtl="0" eaLnBrk="1" fontAlgn="auto" latinLnBrk="0" hangingPunct="1">
                        <a:lnSpc>
                          <a:spcPct val="100000"/>
                        </a:lnSpc>
                        <a:spcBef>
                          <a:spcPts val="0"/>
                        </a:spcBef>
                        <a:spcAft>
                          <a:spcPts val="0"/>
                        </a:spcAft>
                        <a:buClrTx/>
                        <a:buSzTx/>
                        <a:buFont typeface="Arial" panose="020B0604020202020204" pitchFamily="34" charset="0"/>
                        <a:buChar char="•"/>
                      </a:pPr>
                      <a:r>
                        <a:rPr lang="en-US" sz="1000" b="0" i="0" u="none" strike="noStrike" noProof="0">
                          <a:solidFill>
                            <a:srgbClr val="000000"/>
                          </a:solidFill>
                          <a:latin typeface="Nunito Sans"/>
                        </a:rPr>
                        <a:t>Improves workforce retention decisions by providing real-time insights into attrition trends and key drivers.</a:t>
                      </a:r>
                      <a:endParaRPr lang="en-US" sz="1000"/>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ctr">
                        <a:lnSpc>
                          <a:spcPct val="100000"/>
                        </a:lnSpc>
                        <a:spcBef>
                          <a:spcPts val="0"/>
                        </a:spcBef>
                        <a:spcAft>
                          <a:spcPts val="0"/>
                        </a:spcAft>
                        <a:buNone/>
                      </a:pPr>
                      <a:r>
                        <a:rPr lang="en-IN" sz="1000" b="0" i="0" u="none" strike="noStrike" kern="1200" cap="none" spc="0" normalizeH="0" baseline="0" noProof="0">
                          <a:ln>
                            <a:noFill/>
                          </a:ln>
                          <a:solidFill>
                            <a:srgbClr val="000000"/>
                          </a:solidFill>
                          <a:effectLst/>
                          <a:uLnTx/>
                          <a:uFillTx/>
                          <a:latin typeface="Nunito Sans"/>
                          <a:ea typeface="+mn-ea"/>
                          <a:cs typeface="+mn-cs"/>
                        </a:rPr>
                        <a:t>26 Jul 2026</a:t>
                      </a:r>
                      <a:endParaRPr kumimoji="0" lang="en-US"/>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ctr" defTabSz="914400" rtl="0" eaLnBrk="1" fontAlgn="b" latinLnBrk="0" hangingPunct="1">
                        <a:lnSpc>
                          <a:spcPct val="100000"/>
                        </a:lnSpc>
                        <a:spcBef>
                          <a:spcPts val="0"/>
                        </a:spcBef>
                        <a:spcAft>
                          <a:spcPts val="0"/>
                        </a:spcAft>
                        <a:buClrTx/>
                        <a:buSzTx/>
                        <a:buFont typeface="Arial" panose="020B0604020202020204" pitchFamily="34" charset="0"/>
                        <a:buNone/>
                        <a:tabLst/>
                        <a:defRPr/>
                      </a:pPr>
                      <a:r>
                        <a:rPr lang="en-IN" sz="1000" b="0" i="0" u="none" strike="noStrike" kern="1200" cap="none" spc="0" normalizeH="0" baseline="0" noProof="0">
                          <a:ln>
                            <a:noFill/>
                          </a:ln>
                          <a:solidFill>
                            <a:srgbClr val="000000"/>
                          </a:solidFill>
                          <a:effectLst/>
                          <a:uLnTx/>
                          <a:uFillTx/>
                          <a:latin typeface="+mn-lt"/>
                          <a:ea typeface="+mn-ea"/>
                          <a:cs typeface="+mn-cs"/>
                        </a:rPr>
                        <a:t>No</a:t>
                      </a:r>
                      <a:endParaRPr kumimoji="0" lang="en-IN" sz="1000" b="0" i="0" u="none" strike="noStrike" kern="1200" cap="none" spc="0" normalizeH="0" baseline="0" noProof="0">
                        <a:ln>
                          <a:noFill/>
                        </a:ln>
                        <a:solidFill>
                          <a:srgbClr val="000000"/>
                        </a:solidFill>
                        <a:effectLst/>
                        <a:uLnTx/>
                        <a:uFillTx/>
                        <a:latin typeface="+mn-lt"/>
                        <a:ea typeface="+mn-ea"/>
                        <a:cs typeface="+mn-cs"/>
                      </a:endParaRPr>
                    </a:p>
                  </a:txBody>
                  <a:tcPr anchor="ctr">
                    <a:lnL w="6350">
                      <a:solidFill>
                        <a:schemeClr val="bg1">
                          <a:lumMod val="75000"/>
                        </a:schemeClr>
                      </a:solidFill>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980404190"/>
                  </a:ext>
                </a:extLst>
              </a:tr>
              <a:tr h="719384">
                <a:tc>
                  <a:txBody>
                    <a:bodyPr/>
                    <a:lstStyle/>
                    <a:p>
                      <a:pPr marL="0" lvl="0" indent="0" algn="l">
                        <a:lnSpc>
                          <a:spcPct val="100000"/>
                        </a:lnSpc>
                        <a:spcBef>
                          <a:spcPts val="0"/>
                        </a:spcBef>
                        <a:spcAft>
                          <a:spcPts val="0"/>
                        </a:spcAft>
                        <a:buNone/>
                      </a:pPr>
                      <a:r>
                        <a:rPr lang="en-US" sz="1100" b="1" i="0" u="none" strike="noStrike" kern="1200" noProof="0">
                          <a:solidFill>
                            <a:srgbClr val="0070C0"/>
                          </a:solidFill>
                          <a:effectLst/>
                          <a:latin typeface="Nunito Sans"/>
                          <a:ea typeface="+mn-ea"/>
                          <a:cs typeface="+mn-cs"/>
                        </a:rPr>
                        <a:t>AMS Dashboard Enhancements</a:t>
                      </a:r>
                      <a:endParaRPr lang="en-US">
                        <a:solidFill>
                          <a:srgbClr val="0070C0"/>
                        </a:solidFill>
                      </a:endParaRP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lvl="0">
                        <a:buNone/>
                      </a:pPr>
                      <a:r>
                        <a:rPr lang="en-US" sz="1100" b="1" i="0" u="none" strike="noStrike" kern="1200" noProof="0">
                          <a:solidFill>
                            <a:srgbClr val="0070C0"/>
                          </a:solidFill>
                          <a:effectLst/>
                          <a:latin typeface="Nunito Sans"/>
                          <a:ea typeface="+mn-ea"/>
                          <a:cs typeface="+mn-cs"/>
                        </a:rPr>
                        <a:t>AMS Dashboard Enhancements</a:t>
                      </a:r>
                      <a:endParaRPr lang="en-US">
                        <a:solidFill>
                          <a:srgbClr val="0070C0"/>
                        </a:solidFill>
                      </a:endParaRP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marL="171450" lvl="0" indent="-171450" algn="l">
                        <a:lnSpc>
                          <a:spcPct val="100000"/>
                        </a:lnSpc>
                        <a:spcBef>
                          <a:spcPts val="0"/>
                        </a:spcBef>
                        <a:spcAft>
                          <a:spcPts val="0"/>
                        </a:spcAft>
                        <a:buFont typeface="Arial"/>
                        <a:buChar char="•"/>
                      </a:pPr>
                      <a:r>
                        <a:rPr lang="en-US" sz="1000" b="0" i="0" u="none" strike="noStrike" noProof="0">
                          <a:solidFill>
                            <a:srgbClr val="000000"/>
                          </a:solidFill>
                          <a:latin typeface="Nunito Sans"/>
                        </a:rPr>
                        <a:t>Enhances operational efficiency and service quality through better visibility into application performance and support metrics.</a:t>
                      </a: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ctr">
                        <a:lnSpc>
                          <a:spcPct val="100000"/>
                        </a:lnSpc>
                        <a:spcBef>
                          <a:spcPts val="0"/>
                        </a:spcBef>
                        <a:spcAft>
                          <a:spcPts val="0"/>
                        </a:spcAft>
                        <a:buNone/>
                      </a:pPr>
                      <a:r>
                        <a:rPr lang="en-IN" sz="1000" b="0" i="0" u="none" strike="noStrike" kern="1200" cap="none" spc="0" normalizeH="0" baseline="0" noProof="0">
                          <a:ln>
                            <a:noFill/>
                          </a:ln>
                          <a:solidFill>
                            <a:srgbClr val="000000"/>
                          </a:solidFill>
                          <a:effectLst/>
                          <a:uLnTx/>
                          <a:uFillTx/>
                          <a:latin typeface="Nunito Sans"/>
                          <a:ea typeface="+mn-ea"/>
                          <a:cs typeface="+mn-cs"/>
                        </a:rPr>
                        <a:t>26 Jul 2026</a:t>
                      </a:r>
                      <a:endParaRPr kumimoji="0" lang="en-US"/>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ctr" defTabSz="914400" rtl="0">
                        <a:lnSpc>
                          <a:spcPct val="100000"/>
                        </a:lnSpc>
                        <a:spcBef>
                          <a:spcPts val="0"/>
                        </a:spcBef>
                        <a:spcAft>
                          <a:spcPts val="0"/>
                        </a:spcAft>
                        <a:buClrTx/>
                        <a:buSzTx/>
                        <a:buFont typeface="Arial" panose="020B0604020202020204" pitchFamily="34" charset="0"/>
                        <a:buNone/>
                        <a:tabLst/>
                        <a:defRPr/>
                      </a:pPr>
                      <a:r>
                        <a:rPr lang="en-IN" sz="1000" b="0" i="0" u="none" strike="noStrike" kern="1200" cap="none" spc="0" normalizeH="0" baseline="0" noProof="0">
                          <a:ln>
                            <a:noFill/>
                          </a:ln>
                          <a:solidFill>
                            <a:srgbClr val="000000"/>
                          </a:solidFill>
                          <a:effectLst/>
                          <a:uLnTx/>
                          <a:uFillTx/>
                          <a:latin typeface="+mn-lt"/>
                          <a:ea typeface="+mn-ea"/>
                          <a:cs typeface="+mn-cs"/>
                        </a:rPr>
                        <a:t>No</a:t>
                      </a:r>
                      <a:endParaRPr kumimoji="0" lang="en-IN" sz="1000" b="0" i="0" u="none" strike="noStrike" kern="1200" cap="none" spc="0" normalizeH="0" baseline="0" noProof="0">
                        <a:ln>
                          <a:noFill/>
                        </a:ln>
                        <a:solidFill>
                          <a:srgbClr val="000000"/>
                        </a:solidFill>
                        <a:effectLst/>
                        <a:uLnTx/>
                        <a:uFillTx/>
                        <a:latin typeface="+mn-lt"/>
                        <a:ea typeface="+mn-ea"/>
                        <a:cs typeface="+mn-cs"/>
                      </a:endParaRPr>
                    </a:p>
                  </a:txBody>
                  <a:tcPr anchor="ctr">
                    <a:lnL w="6350">
                      <a:solidFill>
                        <a:schemeClr val="bg1">
                          <a:lumMod val="75000"/>
                        </a:schemeClr>
                      </a:solidFill>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680045145"/>
                  </a:ext>
                </a:extLst>
              </a:tr>
            </a:tbl>
          </a:graphicData>
        </a:graphic>
      </p:graphicFrame>
      <p:sp>
        <p:nvSpPr>
          <p:cNvPr id="4" name="Rectangle 3">
            <a:extLst>
              <a:ext uri="{FF2B5EF4-FFF2-40B4-BE49-F238E27FC236}">
                <a16:creationId xmlns:a16="http://schemas.microsoft.com/office/drawing/2014/main" id="{6771A390-CF29-0C20-DBC7-01C15206D853}"/>
              </a:ext>
            </a:extLst>
          </p:cNvPr>
          <p:cNvSpPr/>
          <p:nvPr/>
        </p:nvSpPr>
        <p:spPr>
          <a:xfrm>
            <a:off x="1188132" y="6671592"/>
            <a:ext cx="90000" cy="90000"/>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5" name="Rectangle 4">
            <a:extLst>
              <a:ext uri="{FF2B5EF4-FFF2-40B4-BE49-F238E27FC236}">
                <a16:creationId xmlns:a16="http://schemas.microsoft.com/office/drawing/2014/main" id="{CC9E2887-C412-6913-4DE1-D2A2434B8716}"/>
              </a:ext>
            </a:extLst>
          </p:cNvPr>
          <p:cNvSpPr/>
          <p:nvPr/>
        </p:nvSpPr>
        <p:spPr>
          <a:xfrm>
            <a:off x="2265818" y="6670554"/>
            <a:ext cx="90000" cy="90000"/>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7" name="Rectangle 6">
            <a:extLst>
              <a:ext uri="{FF2B5EF4-FFF2-40B4-BE49-F238E27FC236}">
                <a16:creationId xmlns:a16="http://schemas.microsoft.com/office/drawing/2014/main" id="{A6311762-FFF6-FE08-83D7-405D3EF081AE}"/>
              </a:ext>
            </a:extLst>
          </p:cNvPr>
          <p:cNvSpPr/>
          <p:nvPr/>
        </p:nvSpPr>
        <p:spPr>
          <a:xfrm>
            <a:off x="3443423" y="6671592"/>
            <a:ext cx="90000" cy="90000"/>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8" name="Rectangle 7">
            <a:extLst>
              <a:ext uri="{FF2B5EF4-FFF2-40B4-BE49-F238E27FC236}">
                <a16:creationId xmlns:a16="http://schemas.microsoft.com/office/drawing/2014/main" id="{A70BEF79-4AFF-08B3-7A3D-8EA7DD3BD073}"/>
              </a:ext>
            </a:extLst>
          </p:cNvPr>
          <p:cNvSpPr/>
          <p:nvPr/>
        </p:nvSpPr>
        <p:spPr>
          <a:xfrm>
            <a:off x="8146052" y="6714097"/>
            <a:ext cx="90000" cy="90000"/>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9" name="TextBox 15">
            <a:extLst>
              <a:ext uri="{FF2B5EF4-FFF2-40B4-BE49-F238E27FC236}">
                <a16:creationId xmlns:a16="http://schemas.microsoft.com/office/drawing/2014/main" id="{DE3ADEDF-10AA-6C35-2E64-74766A986005}"/>
              </a:ext>
            </a:extLst>
          </p:cNvPr>
          <p:cNvSpPr txBox="1"/>
          <p:nvPr/>
        </p:nvSpPr>
        <p:spPr>
          <a:xfrm>
            <a:off x="1288983" y="6614743"/>
            <a:ext cx="857245"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0070C0"/>
                </a:solidFill>
                <a:effectLst/>
                <a:uLnTx/>
                <a:uFillTx/>
                <a:latin typeface="Nunito Sans"/>
                <a:ea typeface="+mn-ea"/>
                <a:cs typeface="+mn-cs"/>
              </a:rPr>
              <a:t>Delivered</a:t>
            </a:r>
            <a:endParaRPr kumimoji="0" lang="en-IN" sz="1000" b="0" i="0" u="none" strike="noStrike" kern="1200" cap="none" spc="0" normalizeH="0" baseline="0" noProof="0">
              <a:ln>
                <a:noFill/>
              </a:ln>
              <a:solidFill>
                <a:srgbClr val="000000"/>
              </a:solidFill>
              <a:effectLst/>
              <a:uLnTx/>
              <a:uFillTx/>
              <a:latin typeface="Nunito Sans"/>
              <a:ea typeface="+mn-ea"/>
              <a:cs typeface="+mn-cs"/>
            </a:endParaRPr>
          </a:p>
        </p:txBody>
      </p:sp>
      <p:sp>
        <p:nvSpPr>
          <p:cNvPr id="10" name="TextBox 18">
            <a:extLst>
              <a:ext uri="{FF2B5EF4-FFF2-40B4-BE49-F238E27FC236}">
                <a16:creationId xmlns:a16="http://schemas.microsoft.com/office/drawing/2014/main" id="{A53BBBF6-EE2E-997B-C493-991616AAFE92}"/>
              </a:ext>
            </a:extLst>
          </p:cNvPr>
          <p:cNvSpPr txBox="1"/>
          <p:nvPr/>
        </p:nvSpPr>
        <p:spPr>
          <a:xfrm>
            <a:off x="2310642" y="6611102"/>
            <a:ext cx="1032881"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00B050"/>
                </a:solidFill>
                <a:effectLst/>
                <a:uLnTx/>
                <a:uFillTx/>
                <a:latin typeface="Nunito Sans"/>
                <a:ea typeface="+mn-ea"/>
                <a:cs typeface="+mn-cs"/>
              </a:rPr>
              <a:t>Ontrack</a:t>
            </a:r>
            <a:endParaRPr kumimoji="0" lang="en-IN" sz="1000" b="0" i="0" u="none" strike="noStrike" kern="1200" cap="none" spc="0" normalizeH="0" baseline="0" noProof="0">
              <a:ln>
                <a:noFill/>
              </a:ln>
              <a:solidFill>
                <a:srgbClr val="000000"/>
              </a:solidFill>
              <a:effectLst/>
              <a:uLnTx/>
              <a:uFillTx/>
              <a:latin typeface="Nunito Sans"/>
              <a:ea typeface="+mn-ea"/>
              <a:cs typeface="+mn-cs"/>
            </a:endParaRPr>
          </a:p>
        </p:txBody>
      </p:sp>
      <p:sp>
        <p:nvSpPr>
          <p:cNvPr id="11" name="TextBox 20">
            <a:extLst>
              <a:ext uri="{FF2B5EF4-FFF2-40B4-BE49-F238E27FC236}">
                <a16:creationId xmlns:a16="http://schemas.microsoft.com/office/drawing/2014/main" id="{CB2181CF-FC19-AFA0-2937-4305EB3AEDA8}"/>
              </a:ext>
            </a:extLst>
          </p:cNvPr>
          <p:cNvSpPr txBox="1"/>
          <p:nvPr/>
        </p:nvSpPr>
        <p:spPr>
          <a:xfrm>
            <a:off x="3539606" y="6608370"/>
            <a:ext cx="2257628"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FED9A0">
                    <a:lumMod val="75000"/>
                  </a:srgbClr>
                </a:solidFill>
                <a:effectLst/>
                <a:uLnTx/>
                <a:uFillTx/>
                <a:latin typeface="Nunito Sans"/>
                <a:ea typeface="+mn-ea"/>
                <a:cs typeface="+mn-cs"/>
              </a:rPr>
              <a:t>Under delay and can be recovered</a:t>
            </a:r>
            <a:endParaRPr kumimoji="0" lang="en-IN" sz="1000" b="0" i="0" u="none" strike="noStrike" kern="1200" cap="none" spc="0" normalizeH="0" baseline="0" noProof="0">
              <a:ln>
                <a:noFill/>
              </a:ln>
              <a:solidFill>
                <a:srgbClr val="000000"/>
              </a:solidFill>
              <a:effectLst/>
              <a:uLnTx/>
              <a:uFillTx/>
              <a:latin typeface="Nunito Sans"/>
              <a:ea typeface="+mn-ea"/>
              <a:cs typeface="+mn-cs"/>
            </a:endParaRPr>
          </a:p>
        </p:txBody>
      </p:sp>
      <p:sp>
        <p:nvSpPr>
          <p:cNvPr id="13" name="TextBox 22">
            <a:extLst>
              <a:ext uri="{FF2B5EF4-FFF2-40B4-BE49-F238E27FC236}">
                <a16:creationId xmlns:a16="http://schemas.microsoft.com/office/drawing/2014/main" id="{35E70690-A3C7-203F-A25E-0F6FD3AC930F}"/>
              </a:ext>
            </a:extLst>
          </p:cNvPr>
          <p:cNvSpPr txBox="1"/>
          <p:nvPr/>
        </p:nvSpPr>
        <p:spPr>
          <a:xfrm>
            <a:off x="8246937" y="6618126"/>
            <a:ext cx="2338222"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FF0000"/>
                </a:solidFill>
                <a:effectLst/>
                <a:uLnTx/>
                <a:uFillTx/>
                <a:latin typeface="Nunito Sans"/>
                <a:ea typeface="+mn-ea"/>
                <a:cs typeface="+mn-cs"/>
              </a:rPr>
              <a:t>Delayed and pushed to next release</a:t>
            </a:r>
          </a:p>
        </p:txBody>
      </p:sp>
      <p:sp>
        <p:nvSpPr>
          <p:cNvPr id="15" name="TextBox 14">
            <a:extLst>
              <a:ext uri="{FF2B5EF4-FFF2-40B4-BE49-F238E27FC236}">
                <a16:creationId xmlns:a16="http://schemas.microsoft.com/office/drawing/2014/main" id="{7D92EFD9-F108-75F6-72C5-3A10DFF57A92}"/>
              </a:ext>
            </a:extLst>
          </p:cNvPr>
          <p:cNvSpPr txBox="1"/>
          <p:nvPr/>
        </p:nvSpPr>
        <p:spPr>
          <a:xfrm>
            <a:off x="6454369" y="6611638"/>
            <a:ext cx="2743200"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IN" sz="1000">
                <a:solidFill>
                  <a:srgbClr val="7D7D7D"/>
                </a:solidFill>
              </a:rPr>
              <a:t>Descoped</a:t>
            </a:r>
            <a:endParaRPr lang="en-US"/>
          </a:p>
        </p:txBody>
      </p:sp>
      <p:sp>
        <p:nvSpPr>
          <p:cNvPr id="16" name="Rectangle 15">
            <a:extLst>
              <a:ext uri="{FF2B5EF4-FFF2-40B4-BE49-F238E27FC236}">
                <a16:creationId xmlns:a16="http://schemas.microsoft.com/office/drawing/2014/main" id="{7595A250-C5CF-322F-67CE-9375FD090D61}"/>
              </a:ext>
            </a:extLst>
          </p:cNvPr>
          <p:cNvSpPr/>
          <p:nvPr/>
        </p:nvSpPr>
        <p:spPr>
          <a:xfrm>
            <a:off x="6360794" y="6681439"/>
            <a:ext cx="90000" cy="90000"/>
          </a:xfrm>
          <a:prstGeom prst="rect">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17" name="Title 11">
            <a:extLst>
              <a:ext uri="{FF2B5EF4-FFF2-40B4-BE49-F238E27FC236}">
                <a16:creationId xmlns:a16="http://schemas.microsoft.com/office/drawing/2014/main" id="{61A32F47-801D-E3E4-8B0D-50F5C201A219}"/>
              </a:ext>
            </a:extLst>
          </p:cNvPr>
          <p:cNvSpPr txBox="1">
            <a:spLocks/>
          </p:cNvSpPr>
          <p:nvPr/>
        </p:nvSpPr>
        <p:spPr>
          <a:xfrm>
            <a:off x="242857" y="182023"/>
            <a:ext cx="7691717" cy="430255"/>
          </a:xfrm>
          <a:prstGeom prst="rect">
            <a:avLst/>
          </a:prstGeom>
        </p:spPr>
        <p:txBody>
          <a:bodyPr lIns="91440" tIns="45720" rIns="91440" bIns="45720" anchor="t">
            <a:noAutofit/>
          </a:bodyPr>
          <a:lstStyle>
            <a:lvl1pPr algn="l" defTabSz="914400" rtl="0" eaLnBrk="1" latinLnBrk="0" hangingPunct="1">
              <a:lnSpc>
                <a:spcPct val="90000"/>
              </a:lnSpc>
              <a:spcBef>
                <a:spcPct val="0"/>
              </a:spcBef>
              <a:buNone/>
              <a:defRPr sz="4400" b="1" i="0" kern="1200">
                <a:solidFill>
                  <a:schemeClr val="tx1"/>
                </a:solidFill>
                <a:latin typeface="AirIndia" pitchFamily="82" charset="77"/>
                <a:ea typeface="+mj-ea"/>
                <a:cs typeface="+mj-cs"/>
              </a:defRPr>
            </a:lvl1pPr>
          </a:lstStyle>
          <a:p>
            <a:pPr>
              <a:defRPr/>
            </a:pPr>
            <a:r>
              <a:rPr lang="en-US" sz="1800">
                <a:solidFill>
                  <a:srgbClr val="DA0E28"/>
                </a:solidFill>
                <a:latin typeface="AirIndia"/>
              </a:rPr>
              <a:t>Corporate Systems </a:t>
            </a:r>
            <a:r>
              <a:rPr kumimoji="0" lang="en-US" sz="1800" b="1" i="0" u="none" strike="noStrike" kern="1200" cap="none" spc="0" normalizeH="0" baseline="0" noProof="0">
                <a:ln>
                  <a:noFill/>
                </a:ln>
                <a:solidFill>
                  <a:srgbClr val="DA0E28"/>
                </a:solidFill>
                <a:effectLst/>
                <a:uLnTx/>
                <a:uFillTx/>
                <a:latin typeface="AirIndia"/>
                <a:ea typeface="+mj-ea"/>
                <a:cs typeface="+mj-cs"/>
              </a:rPr>
              <a:t>- </a:t>
            </a:r>
            <a:r>
              <a:rPr lang="en-US" sz="1800">
                <a:solidFill>
                  <a:srgbClr val="DA0E28"/>
                </a:solidFill>
                <a:latin typeface="AirIndia"/>
              </a:rPr>
              <a:t>FY26-27 Q2</a:t>
            </a:r>
            <a:r>
              <a:rPr kumimoji="0" lang="en-US" sz="1800" b="1" i="0" u="none" strike="noStrike" kern="1200" cap="none" spc="0" normalizeH="0" baseline="0" noProof="0">
                <a:ln>
                  <a:noFill/>
                </a:ln>
                <a:solidFill>
                  <a:srgbClr val="DA0E28"/>
                </a:solidFill>
                <a:effectLst/>
                <a:uLnTx/>
                <a:uFillTx/>
                <a:latin typeface="AirIndia"/>
                <a:ea typeface="+mj-ea"/>
                <a:cs typeface="+mj-cs"/>
              </a:rPr>
              <a:t> Release Plan</a:t>
            </a:r>
            <a:r>
              <a:rPr lang="en-US" sz="1800">
                <a:solidFill>
                  <a:srgbClr val="DA0E28"/>
                </a:solidFill>
                <a:latin typeface="AirIndia"/>
              </a:rPr>
              <a:t> (HR Tech)</a:t>
            </a:r>
            <a:endParaRPr lang="en-US" sz="1800" b="0">
              <a:solidFill>
                <a:srgbClr val="000000"/>
              </a:solidFill>
              <a:latin typeface="AirIndia"/>
            </a:endParaRPr>
          </a:p>
          <a:p>
            <a:pPr>
              <a:defRPr/>
            </a:pPr>
            <a:endParaRPr lang="en-US" sz="1800" i="0" u="none" strike="noStrike" kern="1200" cap="none" spc="0" normalizeH="0" baseline="0" noProof="0">
              <a:ln>
                <a:noFill/>
              </a:ln>
              <a:solidFill>
                <a:srgbClr val="DA0E28"/>
              </a:solidFill>
              <a:effectLst/>
              <a:uLnTx/>
              <a:uFillTx/>
              <a:latin typeface="AirIndia"/>
            </a:endParaRPr>
          </a:p>
        </p:txBody>
      </p:sp>
    </p:spTree>
    <p:extLst>
      <p:ext uri="{BB962C8B-B14F-4D97-AF65-F5344CB8AC3E}">
        <p14:creationId xmlns:p14="http://schemas.microsoft.com/office/powerpoint/2010/main" val="38367424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3B2DB0-D4DD-2E25-CF86-4AE85124D1E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3CBE074-F426-7E98-4D2A-109B1B35C9F9}"/>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3A41A254-7326-714E-AF55-4C213D6394DE}" type="slidenum">
              <a:rPr kumimoji="0" lang="en-US" sz="1200" b="0" i="0" u="none" strike="noStrike" kern="1200" cap="none" spc="0" normalizeH="0" baseline="0" noProof="0" smtClean="0">
                <a:ln>
                  <a:noFill/>
                </a:ln>
                <a:solidFill>
                  <a:srgbClr val="DA0E28"/>
                </a:solidFill>
                <a:effectLst/>
                <a:uLnTx/>
                <a:uFillTx/>
                <a:latin typeface="Nunito Sans"/>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srgbClr val="DA0E28"/>
              </a:solidFill>
              <a:effectLst/>
              <a:uLnTx/>
              <a:uFillTx/>
              <a:latin typeface="Nunito Sans"/>
              <a:ea typeface="+mn-ea"/>
              <a:cs typeface="+mn-cs"/>
            </a:endParaRPr>
          </a:p>
        </p:txBody>
      </p:sp>
      <p:sp>
        <p:nvSpPr>
          <p:cNvPr id="3" name="Rectangle 2">
            <a:extLst>
              <a:ext uri="{FF2B5EF4-FFF2-40B4-BE49-F238E27FC236}">
                <a16:creationId xmlns:a16="http://schemas.microsoft.com/office/drawing/2014/main" id="{D9463A72-1371-6EC0-3DB7-4D76F8D5C039}"/>
              </a:ext>
            </a:extLst>
          </p:cNvPr>
          <p:cNvSpPr/>
          <p:nvPr/>
        </p:nvSpPr>
        <p:spPr>
          <a:xfrm>
            <a:off x="129077" y="610471"/>
            <a:ext cx="1170432" cy="42234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defRPr/>
            </a:pPr>
            <a:r>
              <a:rPr lang="en-IN" sz="1400" b="1">
                <a:solidFill>
                  <a:srgbClr val="FFFFFF"/>
                </a:solidFill>
                <a:latin typeface="AirIndia"/>
              </a:rPr>
              <a:t>Aug</a:t>
            </a:r>
            <a:r>
              <a:rPr kumimoji="0" lang="en-IN" sz="1400" b="1" i="0" u="none" strike="noStrike" kern="1200" cap="none" spc="0" normalizeH="0" baseline="0" noProof="0">
                <a:ln>
                  <a:noFill/>
                </a:ln>
                <a:solidFill>
                  <a:srgbClr val="FFFFFF"/>
                </a:solidFill>
                <a:effectLst/>
                <a:uLnTx/>
                <a:uFillTx/>
                <a:latin typeface="AirIndia"/>
                <a:ea typeface="+mn-ea"/>
                <a:cs typeface="+mn-cs"/>
              </a:rPr>
              <a:t> ‘</a:t>
            </a:r>
            <a:r>
              <a:rPr lang="en-IN" sz="1400" b="1">
                <a:solidFill>
                  <a:srgbClr val="FFFFFF"/>
                </a:solidFill>
                <a:latin typeface="AirIndia"/>
              </a:rPr>
              <a:t>26</a:t>
            </a:r>
            <a:endParaRPr kumimoji="0" lang="en-US" sz="1400" b="1" i="0" u="none" strike="noStrike" kern="1200" cap="none" spc="0" normalizeH="0" baseline="0" noProof="0">
              <a:ln>
                <a:noFill/>
              </a:ln>
              <a:solidFill>
                <a:srgbClr val="FFFFFF"/>
              </a:solidFill>
              <a:effectLst/>
              <a:uLnTx/>
              <a:uFillTx/>
              <a:latin typeface="AirIndia"/>
              <a:ea typeface="+mn-ea"/>
              <a:cs typeface="+mn-cs"/>
            </a:endParaRPr>
          </a:p>
        </p:txBody>
      </p:sp>
      <p:graphicFrame>
        <p:nvGraphicFramePr>
          <p:cNvPr id="12" name="Table 11">
            <a:extLst>
              <a:ext uri="{FF2B5EF4-FFF2-40B4-BE49-F238E27FC236}">
                <a16:creationId xmlns:a16="http://schemas.microsoft.com/office/drawing/2014/main" id="{1FE94FD9-9B43-E51D-3287-380342BE801D}"/>
              </a:ext>
            </a:extLst>
          </p:cNvPr>
          <p:cNvGraphicFramePr>
            <a:graphicFrameLocks noGrp="1"/>
          </p:cNvGraphicFramePr>
          <p:nvPr>
            <p:extLst>
              <p:ext uri="{D42A27DB-BD31-4B8C-83A1-F6EECF244321}">
                <p14:modId xmlns:p14="http://schemas.microsoft.com/office/powerpoint/2010/main" val="1720395125"/>
              </p:ext>
            </p:extLst>
          </p:nvPr>
        </p:nvGraphicFramePr>
        <p:xfrm>
          <a:off x="1251008" y="588627"/>
          <a:ext cx="10685696" cy="4569177"/>
        </p:xfrm>
        <a:graphic>
          <a:graphicData uri="http://schemas.openxmlformats.org/drawingml/2006/table">
            <a:tbl>
              <a:tblPr firstRow="1" bandRow="1">
                <a:tableStyleId>{5C22544A-7EE6-4342-B048-85BDC9FD1C3A}</a:tableStyleId>
              </a:tblPr>
              <a:tblGrid>
                <a:gridCol w="1758236">
                  <a:extLst>
                    <a:ext uri="{9D8B030D-6E8A-4147-A177-3AD203B41FA5}">
                      <a16:colId xmlns:a16="http://schemas.microsoft.com/office/drawing/2014/main" val="2822350773"/>
                    </a:ext>
                  </a:extLst>
                </a:gridCol>
                <a:gridCol w="1758236">
                  <a:extLst>
                    <a:ext uri="{9D8B030D-6E8A-4147-A177-3AD203B41FA5}">
                      <a16:colId xmlns:a16="http://schemas.microsoft.com/office/drawing/2014/main" val="1843387359"/>
                    </a:ext>
                  </a:extLst>
                </a:gridCol>
                <a:gridCol w="4506342">
                  <a:extLst>
                    <a:ext uri="{9D8B030D-6E8A-4147-A177-3AD203B41FA5}">
                      <a16:colId xmlns:a16="http://schemas.microsoft.com/office/drawing/2014/main" val="99588705"/>
                    </a:ext>
                  </a:extLst>
                </a:gridCol>
                <a:gridCol w="1331441">
                  <a:extLst>
                    <a:ext uri="{9D8B030D-6E8A-4147-A177-3AD203B41FA5}">
                      <a16:colId xmlns:a16="http://schemas.microsoft.com/office/drawing/2014/main" val="850806059"/>
                    </a:ext>
                  </a:extLst>
                </a:gridCol>
                <a:gridCol w="1331441">
                  <a:extLst>
                    <a:ext uri="{9D8B030D-6E8A-4147-A177-3AD203B41FA5}">
                      <a16:colId xmlns:a16="http://schemas.microsoft.com/office/drawing/2014/main" val="529241555"/>
                    </a:ext>
                  </a:extLst>
                </a:gridCol>
              </a:tblGrid>
              <a:tr h="530670">
                <a:tc>
                  <a:txBody>
                    <a:bodyPr/>
                    <a:lstStyle/>
                    <a:p>
                      <a:pPr marL="0" lvl="0" indent="0" algn="ctr" defTabSz="914400" rtl="0">
                        <a:lnSpc>
                          <a:spcPct val="100000"/>
                        </a:lnSpc>
                        <a:buFont typeface="Arial" panose="020B0604020202020204" pitchFamily="34" charset="0"/>
                        <a:buNone/>
                      </a:pPr>
                      <a:r>
                        <a:rPr lang="en-IN" sz="1100" b="1" kern="1200">
                          <a:solidFill>
                            <a:schemeClr val="bg1"/>
                          </a:solidFill>
                          <a:latin typeface="+mn-lt"/>
                          <a:ea typeface="+mn-ea"/>
                          <a:cs typeface="+mn-cs"/>
                        </a:rPr>
                        <a:t>Initiatives</a:t>
                      </a:r>
                      <a:endParaRPr lang="en-US" sz="1100" b="1"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tc>
                  <a:txBody>
                    <a:bodyPr/>
                    <a:lstStyle/>
                    <a:p>
                      <a:pPr marL="0" lvl="0" indent="0" algn="ctr" defTabSz="914400">
                        <a:lnSpc>
                          <a:spcPct val="100000"/>
                        </a:lnSpc>
                        <a:buNone/>
                      </a:pPr>
                      <a:r>
                        <a:rPr lang="en-IN" sz="1100" b="1" i="0" u="none" strike="noStrike" kern="1200" noProof="0">
                          <a:solidFill>
                            <a:schemeClr val="bg1"/>
                          </a:solidFill>
                          <a:latin typeface="Nunito Sans"/>
                          <a:ea typeface="+mn-ea"/>
                          <a:cs typeface="+mn-cs"/>
                        </a:rPr>
                        <a:t>Programs/Projects</a:t>
                      </a:r>
                      <a:endParaRPr lang="en-US"/>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tc>
                  <a:txBody>
                    <a:bodyPr/>
                    <a:lstStyle/>
                    <a:p>
                      <a:pPr marL="0" lvl="0" indent="0" algn="ctr">
                        <a:lnSpc>
                          <a:spcPct val="100000"/>
                        </a:lnSpc>
                        <a:buNone/>
                      </a:pPr>
                      <a:endParaRPr lang="en-IN" sz="1100" b="1" i="0" u="none" strike="noStrike" kern="1200" baseline="0" noProof="0">
                        <a:solidFill>
                          <a:srgbClr val="FFFFFF"/>
                        </a:solidFill>
                        <a:latin typeface="Nunito Sans"/>
                      </a:endParaRPr>
                    </a:p>
                    <a:p>
                      <a:pPr marL="0" lvl="0" indent="0" algn="ctr">
                        <a:lnSpc>
                          <a:spcPct val="100000"/>
                        </a:lnSpc>
                        <a:buNone/>
                      </a:pPr>
                      <a:r>
                        <a:rPr lang="en-IN" sz="1100" b="1" i="0" u="none" strike="noStrike" kern="1200" baseline="0" noProof="0">
                          <a:solidFill>
                            <a:srgbClr val="FFFFFF"/>
                          </a:solidFill>
                          <a:latin typeface="Nunito Sans"/>
                        </a:rPr>
                        <a:t>Value Justification/Realization</a:t>
                      </a:r>
                    </a:p>
                    <a:p>
                      <a:pPr marL="0" lvl="0" indent="0" algn="ctr" defTabSz="914400">
                        <a:buFont typeface="Arial" panose="020B0604020202020204" pitchFamily="34" charset="0"/>
                        <a:buNone/>
                      </a:pPr>
                      <a:endParaRPr lang="en-IN" sz="1100"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tc>
                  <a:txBody>
                    <a:bodyPr/>
                    <a:lstStyle/>
                    <a:p>
                      <a:pPr lvl="0" algn="ctr">
                        <a:lnSpc>
                          <a:spcPct val="100000"/>
                        </a:lnSpc>
                        <a:spcBef>
                          <a:spcPts val="0"/>
                        </a:spcBef>
                        <a:spcAft>
                          <a:spcPts val="0"/>
                        </a:spcAft>
                        <a:buNone/>
                      </a:pPr>
                      <a:r>
                        <a:rPr lang="en-IN" sz="1000" b="1" i="0" u="none" strike="noStrike" kern="1200" noProof="0">
                          <a:solidFill>
                            <a:srgbClr val="FFFFFF"/>
                          </a:solidFill>
                          <a:latin typeface="Nunito Sans"/>
                          <a:ea typeface="+mn-ea"/>
                          <a:cs typeface="+mn-cs"/>
                        </a:rPr>
                        <a:t>Go-Live ETA</a:t>
                      </a:r>
                      <a:endParaRPr lang="en-US"/>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000" b="1" i="0" u="none" strike="noStrike" kern="1200">
                          <a:solidFill>
                            <a:srgbClr val="FFFFFF"/>
                          </a:solidFill>
                          <a:latin typeface="Nunito Sans"/>
                          <a:ea typeface="+mn-ea"/>
                          <a:cs typeface="+mn-cs"/>
                        </a:rPr>
                        <a:t>EIP Integration Required (Yes/No)</a:t>
                      </a: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extLst>
                  <a:ext uri="{0D108BD9-81ED-4DB2-BD59-A6C34878D82A}">
                    <a16:rowId xmlns:a16="http://schemas.microsoft.com/office/drawing/2014/main" val="844450115"/>
                  </a:ext>
                </a:extLst>
              </a:tr>
              <a:tr h="719385">
                <a:tc>
                  <a:txBody>
                    <a:bodyPr/>
                    <a:lstStyle/>
                    <a:p>
                      <a:pPr lvl="0">
                        <a:buNone/>
                      </a:pPr>
                      <a:r>
                        <a:rPr lang="en-US" sz="1100" b="1" i="0" u="none" strike="noStrike" kern="1200" noProof="0">
                          <a:solidFill>
                            <a:srgbClr val="00B050"/>
                          </a:solidFill>
                          <a:effectLst/>
                          <a:latin typeface="Nunito Sans"/>
                          <a:ea typeface="+mn-ea"/>
                          <a:cs typeface="+mn-cs"/>
                        </a:rPr>
                        <a:t>Gratuity Nomination on myAI – Pallavi Gupta</a:t>
                      </a:r>
                      <a:endParaRPr lang="en-US" err="1"/>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lvl="0">
                        <a:buNone/>
                      </a:pPr>
                      <a:r>
                        <a:rPr lang="en-US" sz="1100" b="1" i="0" u="none" strike="noStrike" kern="1200" noProof="0">
                          <a:solidFill>
                            <a:srgbClr val="00B050"/>
                          </a:solidFill>
                          <a:effectLst/>
                          <a:latin typeface="Nunito Sans"/>
                          <a:ea typeface="+mn-ea"/>
                          <a:cs typeface="+mn-cs"/>
                        </a:rPr>
                        <a:t>Gratuity Nomination on myAI</a:t>
                      </a:r>
                      <a:endParaRPr lang="en-US" err="1"/>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171450" marR="0" lvl="0" indent="-171450" algn="l" rtl="0" eaLnBrk="1" fontAlgn="auto" latinLnBrk="0" hangingPunct="1">
                        <a:lnSpc>
                          <a:spcPct val="100000"/>
                        </a:lnSpc>
                        <a:spcBef>
                          <a:spcPts val="0"/>
                        </a:spcBef>
                        <a:spcAft>
                          <a:spcPts val="0"/>
                        </a:spcAft>
                        <a:buClrTx/>
                        <a:buSzTx/>
                        <a:buFont typeface="Arial" panose="020B0604020202020204" pitchFamily="34" charset="0"/>
                        <a:buChar char="•"/>
                      </a:pPr>
                      <a:r>
                        <a:rPr lang="en-US" sz="1000" b="0" i="0" u="none" strike="noStrike" noProof="0">
                          <a:solidFill>
                            <a:srgbClr val="000000"/>
                          </a:solidFill>
                          <a:latin typeface="Nunito Sans"/>
                        </a:rPr>
                        <a:t>Improves compliance and employee convenience through easy digital nomination and records</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ctr" defTabSz="914400">
                        <a:lnSpc>
                          <a:spcPct val="100000"/>
                        </a:lnSpc>
                        <a:spcBef>
                          <a:spcPts val="0"/>
                        </a:spcBef>
                        <a:spcAft>
                          <a:spcPts val="0"/>
                        </a:spcAft>
                        <a:buNone/>
                        <a:tabLst/>
                        <a:defRPr/>
                      </a:pPr>
                      <a:r>
                        <a:rPr kumimoji="0" lang="en-IN" sz="1000" b="0" i="0" u="none" strike="noStrike" kern="1200" cap="none" spc="0" normalizeH="0" baseline="0" noProof="0">
                          <a:ln>
                            <a:noFill/>
                          </a:ln>
                          <a:solidFill>
                            <a:srgbClr val="000000"/>
                          </a:solidFill>
                          <a:effectLst/>
                          <a:uLnTx/>
                          <a:uFillTx/>
                          <a:latin typeface="Nunito Sans"/>
                          <a:ea typeface="+mn-ea"/>
                          <a:cs typeface="+mn-cs"/>
                        </a:rPr>
                        <a:t>26</a:t>
                      </a:r>
                      <a:r>
                        <a:rPr kumimoji="0" lang="en-IN" sz="700" b="0" i="0" u="none" strike="noStrike" kern="1200" cap="none" spc="0" normalizeH="0" baseline="30000" noProof="0">
                          <a:ln>
                            <a:noFill/>
                          </a:ln>
                          <a:solidFill>
                            <a:srgbClr val="000000"/>
                          </a:solidFill>
                          <a:effectLst/>
                          <a:uLnTx/>
                          <a:uFillTx/>
                          <a:latin typeface="Nunito Sans"/>
                          <a:ea typeface="+mn-ea"/>
                          <a:cs typeface="+mn-cs"/>
                        </a:rPr>
                        <a:t> </a:t>
                      </a:r>
                      <a:r>
                        <a:rPr lang="en-IN" sz="1000" b="0" i="0" u="none" strike="noStrike" kern="1200" cap="none" spc="0" normalizeH="0" baseline="0" noProof="0">
                          <a:ln>
                            <a:noFill/>
                          </a:ln>
                          <a:solidFill>
                            <a:srgbClr val="000000"/>
                          </a:solidFill>
                          <a:effectLst/>
                          <a:uLnTx/>
                          <a:uFillTx/>
                          <a:latin typeface="Nunito Sans"/>
                          <a:ea typeface="+mn-ea"/>
                          <a:cs typeface="+mn-cs"/>
                        </a:rPr>
                        <a:t>Aug</a:t>
                      </a:r>
                      <a:r>
                        <a:rPr kumimoji="0" lang="en-IN" sz="1000" b="0" i="0" u="none" strike="noStrike" kern="1200" cap="none" spc="0" normalizeH="0" baseline="0" noProof="0">
                          <a:ln>
                            <a:noFill/>
                          </a:ln>
                          <a:solidFill>
                            <a:srgbClr val="000000"/>
                          </a:solidFill>
                          <a:effectLst/>
                          <a:uLnTx/>
                          <a:uFillTx/>
                          <a:latin typeface="Nunito Sans"/>
                          <a:ea typeface="+mn-ea"/>
                          <a:cs typeface="+mn-cs"/>
                        </a:rPr>
                        <a:t> 2026</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ctr" defTabSz="914400" rtl="0" eaLnBrk="1" fontAlgn="b" latinLnBrk="0" hangingPunct="1">
                        <a:lnSpc>
                          <a:spcPct val="100000"/>
                        </a:lnSpc>
                        <a:spcBef>
                          <a:spcPts val="0"/>
                        </a:spcBef>
                        <a:spcAft>
                          <a:spcPts val="0"/>
                        </a:spcAft>
                        <a:buClrTx/>
                        <a:buSzTx/>
                        <a:buFont typeface="Arial" panose="020B0604020202020204" pitchFamily="34" charset="0"/>
                        <a:buNone/>
                        <a:tabLst/>
                        <a:defRPr/>
                      </a:pPr>
                      <a:r>
                        <a:rPr lang="en-IN" sz="1000" b="0" i="0" u="none" strike="noStrike" kern="1200" cap="none" spc="0" normalizeH="0" baseline="0" noProof="0">
                          <a:ln>
                            <a:noFill/>
                          </a:ln>
                          <a:solidFill>
                            <a:srgbClr val="000000"/>
                          </a:solidFill>
                          <a:effectLst/>
                          <a:uLnTx/>
                          <a:uFillTx/>
                          <a:latin typeface="+mn-lt"/>
                          <a:ea typeface="+mn-ea"/>
                          <a:cs typeface="+mn-cs"/>
                        </a:rPr>
                        <a:t>No</a:t>
                      </a:r>
                      <a:endParaRPr kumimoji="0" lang="en-IN" sz="1000" b="0" i="0" u="none" strike="noStrike" kern="1200" cap="none" spc="0" normalizeH="0" baseline="0" noProof="0">
                        <a:ln>
                          <a:noFill/>
                        </a:ln>
                        <a:solidFill>
                          <a:srgbClr val="000000"/>
                        </a:solidFill>
                        <a:effectLst/>
                        <a:uLnTx/>
                        <a:uFillTx/>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890803232"/>
                  </a:ext>
                </a:extLst>
              </a:tr>
              <a:tr h="719384">
                <a:tc>
                  <a:txBody>
                    <a:bodyPr/>
                    <a:lstStyle/>
                    <a:p>
                      <a:pPr marL="0" marR="0" lvl="0" indent="0" algn="l">
                        <a:lnSpc>
                          <a:spcPct val="100000"/>
                        </a:lnSpc>
                        <a:spcBef>
                          <a:spcPts val="0"/>
                        </a:spcBef>
                        <a:spcAft>
                          <a:spcPts val="0"/>
                        </a:spcAft>
                        <a:buNone/>
                      </a:pPr>
                      <a:r>
                        <a:rPr lang="en-US" sz="1100" b="1" i="0" u="none" strike="noStrike" kern="1200" noProof="0">
                          <a:solidFill>
                            <a:srgbClr val="00B050"/>
                          </a:solidFill>
                          <a:effectLst/>
                          <a:latin typeface="Nunito Sans"/>
                          <a:ea typeface="+mn-ea"/>
                          <a:cs typeface="+mn-cs"/>
                        </a:rPr>
                        <a:t>SkyFam – Consultant Auto-passage creation- Amrit</a:t>
                      </a:r>
                      <a:endParaRPr lang="en-US"/>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l">
                        <a:lnSpc>
                          <a:spcPct val="100000"/>
                        </a:lnSpc>
                        <a:spcBef>
                          <a:spcPts val="0"/>
                        </a:spcBef>
                        <a:spcAft>
                          <a:spcPts val="0"/>
                        </a:spcAft>
                        <a:buNone/>
                      </a:pPr>
                      <a:r>
                        <a:rPr lang="en-US" sz="1100" b="1" i="0" u="none" strike="noStrike" kern="1200" noProof="0">
                          <a:solidFill>
                            <a:srgbClr val="00B050"/>
                          </a:solidFill>
                          <a:effectLst/>
                          <a:latin typeface="Nunito Sans"/>
                          <a:ea typeface="+mn-ea"/>
                          <a:cs typeface="+mn-cs"/>
                        </a:rPr>
                        <a:t>SkyFam – Consultant Auto-passage creation </a:t>
                      </a:r>
                      <a:endParaRPr lang="en-US"/>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marL="171450" marR="0" lvl="0" indent="-171450" algn="l" rtl="0" eaLnBrk="1" fontAlgn="auto" latinLnBrk="0" hangingPunct="1">
                        <a:lnSpc>
                          <a:spcPct val="100000"/>
                        </a:lnSpc>
                        <a:spcBef>
                          <a:spcPts val="0"/>
                        </a:spcBef>
                        <a:spcAft>
                          <a:spcPts val="0"/>
                        </a:spcAft>
                        <a:buClrTx/>
                        <a:buSzTx/>
                        <a:buFont typeface="Arial" panose="020B0604020202020204" pitchFamily="34" charset="0"/>
                        <a:buChar char="•"/>
                      </a:pPr>
                      <a:r>
                        <a:rPr lang="en-US" sz="1000" b="0" i="0" u="none" strike="noStrike" kern="1200" noProof="0">
                          <a:solidFill>
                            <a:srgbClr val="000000"/>
                          </a:solidFill>
                          <a:latin typeface="Nunito Sans"/>
                          <a:ea typeface="+mn-ea"/>
                          <a:cs typeface="+mn-cs"/>
                        </a:rPr>
                        <a:t>Automates consultant onboarding records, ensuring faster processing and improved data accuracy</a:t>
                      </a: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ctr" defTabSz="914400">
                        <a:lnSpc>
                          <a:spcPct val="100000"/>
                        </a:lnSpc>
                        <a:spcBef>
                          <a:spcPts val="0"/>
                        </a:spcBef>
                        <a:spcAft>
                          <a:spcPts val="0"/>
                        </a:spcAft>
                        <a:buNone/>
                        <a:tabLst/>
                        <a:defRPr/>
                      </a:pPr>
                      <a:r>
                        <a:rPr lang="en-IN" sz="1000" b="0" i="0" u="none" strike="noStrike" kern="1200" cap="none" spc="0" normalizeH="0" baseline="0" noProof="0">
                          <a:ln>
                            <a:noFill/>
                          </a:ln>
                          <a:solidFill>
                            <a:srgbClr val="000000"/>
                          </a:solidFill>
                          <a:effectLst/>
                          <a:uLnTx/>
                          <a:uFillTx/>
                          <a:latin typeface="Nunito Sans"/>
                          <a:ea typeface="+mn-ea"/>
                          <a:cs typeface="+mn-cs"/>
                        </a:rPr>
                        <a:t>26</a:t>
                      </a:r>
                      <a:r>
                        <a:rPr kumimoji="0" lang="en-IN" sz="700" b="0" i="0" u="none" strike="noStrike" kern="1200" cap="none" spc="0" normalizeH="0" baseline="30000" noProof="0">
                          <a:ln>
                            <a:noFill/>
                          </a:ln>
                          <a:solidFill>
                            <a:srgbClr val="000000"/>
                          </a:solidFill>
                          <a:effectLst/>
                          <a:uLnTx/>
                          <a:uFillTx/>
                          <a:latin typeface="Nunito Sans"/>
                          <a:ea typeface="+mn-ea"/>
                          <a:cs typeface="+mn-cs"/>
                        </a:rPr>
                        <a:t> </a:t>
                      </a:r>
                      <a:r>
                        <a:rPr lang="en-IN" sz="1000" b="0" i="0" u="none" strike="noStrike" kern="1200" cap="none" spc="0" normalizeH="0" baseline="0" noProof="0">
                          <a:ln>
                            <a:noFill/>
                          </a:ln>
                          <a:solidFill>
                            <a:srgbClr val="000000"/>
                          </a:solidFill>
                          <a:effectLst/>
                          <a:uLnTx/>
                          <a:uFillTx/>
                          <a:latin typeface="Nunito Sans"/>
                          <a:ea typeface="+mn-ea"/>
                          <a:cs typeface="+mn-cs"/>
                        </a:rPr>
                        <a:t>Aug</a:t>
                      </a:r>
                      <a:r>
                        <a:rPr kumimoji="0" lang="en-IN" sz="1000" b="0" i="0" u="none" strike="noStrike" kern="1200" cap="none" spc="0" normalizeH="0" baseline="0" noProof="0">
                          <a:ln>
                            <a:noFill/>
                          </a:ln>
                          <a:solidFill>
                            <a:srgbClr val="000000"/>
                          </a:solidFill>
                          <a:effectLst/>
                          <a:uLnTx/>
                          <a:uFillTx/>
                          <a:latin typeface="Nunito Sans"/>
                          <a:ea typeface="+mn-ea"/>
                          <a:cs typeface="+mn-cs"/>
                        </a:rPr>
                        <a:t> 2026</a:t>
                      </a: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ctr" defTabSz="914400" rtl="0" eaLnBrk="1" fontAlgn="b" latinLnBrk="0" hangingPunct="1">
                        <a:lnSpc>
                          <a:spcPct val="100000"/>
                        </a:lnSpc>
                        <a:spcBef>
                          <a:spcPts val="0"/>
                        </a:spcBef>
                        <a:spcAft>
                          <a:spcPts val="0"/>
                        </a:spcAft>
                        <a:buClrTx/>
                        <a:buSzTx/>
                        <a:buFont typeface="Arial" panose="020B0604020202020204" pitchFamily="34" charset="0"/>
                        <a:buNone/>
                        <a:tabLst/>
                        <a:defRPr/>
                      </a:pPr>
                      <a:r>
                        <a:rPr lang="en-IN" sz="1000" b="0" i="0" u="none" strike="noStrike" kern="1200" cap="none" spc="0" normalizeH="0" baseline="0" noProof="0">
                          <a:ln>
                            <a:noFill/>
                          </a:ln>
                          <a:solidFill>
                            <a:srgbClr val="000000"/>
                          </a:solidFill>
                          <a:effectLst/>
                          <a:uLnTx/>
                          <a:uFillTx/>
                          <a:latin typeface="+mn-lt"/>
                          <a:ea typeface="+mn-ea"/>
                          <a:cs typeface="+mn-cs"/>
                        </a:rPr>
                        <a:t>No</a:t>
                      </a:r>
                      <a:endParaRPr kumimoji="0" lang="en-IN" sz="1000" b="0" i="0" u="none" strike="noStrike" kern="1200" cap="none" spc="0" normalizeH="0" baseline="0" noProof="0">
                        <a:ln>
                          <a:noFill/>
                        </a:ln>
                        <a:solidFill>
                          <a:srgbClr val="000000"/>
                        </a:solidFill>
                        <a:effectLst/>
                        <a:uLnTx/>
                        <a:uFillTx/>
                        <a:latin typeface="+mn-lt"/>
                        <a:ea typeface="+mn-ea"/>
                        <a:cs typeface="+mn-cs"/>
                      </a:endParaRPr>
                    </a:p>
                  </a:txBody>
                  <a:tcPr anchor="ctr">
                    <a:lnL w="6350">
                      <a:solidFill>
                        <a:schemeClr val="bg1">
                          <a:lumMod val="75000"/>
                        </a:schemeClr>
                      </a:solidFill>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091857160"/>
                  </a:ext>
                </a:extLst>
              </a:tr>
              <a:tr h="719384">
                <a:tc>
                  <a:txBody>
                    <a:bodyPr/>
                    <a:lstStyle/>
                    <a:p>
                      <a:pPr marL="0" lvl="0" indent="0" algn="l">
                        <a:lnSpc>
                          <a:spcPct val="100000"/>
                        </a:lnSpc>
                        <a:spcBef>
                          <a:spcPts val="0"/>
                        </a:spcBef>
                        <a:spcAft>
                          <a:spcPts val="0"/>
                        </a:spcAft>
                        <a:buClr>
                          <a:srgbClr val="000000"/>
                        </a:buClr>
                        <a:buNone/>
                      </a:pPr>
                      <a:r>
                        <a:rPr lang="en-US" sz="1100" b="1" i="0" u="none" strike="noStrike" kern="1200" noProof="0">
                          <a:solidFill>
                            <a:srgbClr val="00B050"/>
                          </a:solidFill>
                          <a:effectLst/>
                          <a:latin typeface="Nunito Sans"/>
                          <a:ea typeface="+mn-ea"/>
                          <a:cs typeface="+mn-cs"/>
                        </a:rPr>
                        <a:t>HR Cost Dashboard Implementation - Kunal</a:t>
                      </a:r>
                      <a:endParaRPr lang="en-US" sz="1100" b="0" i="0" u="none" strike="noStrike" kern="1200" noProof="0">
                        <a:solidFill>
                          <a:srgbClr val="000000"/>
                        </a:solidFill>
                        <a:effectLst/>
                        <a:latin typeface="Nunito Sans"/>
                        <a:ea typeface="+mn-ea"/>
                        <a:cs typeface="+mn-cs"/>
                      </a:endParaRP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a:solidFill>
                        <a:schemeClr val="bg1">
                          <a:lumMod val="75000"/>
                        </a:schemeClr>
                      </a:solidFill>
                    </a:lnB>
                    <a:noFill/>
                  </a:tcPr>
                </a:tc>
                <a:tc>
                  <a:txBody>
                    <a:bodyPr/>
                    <a:lstStyle/>
                    <a:p>
                      <a:pPr marL="0" lvl="0" indent="0" algn="l">
                        <a:lnSpc>
                          <a:spcPct val="100000"/>
                        </a:lnSpc>
                        <a:spcBef>
                          <a:spcPts val="0"/>
                        </a:spcBef>
                        <a:spcAft>
                          <a:spcPts val="0"/>
                        </a:spcAft>
                        <a:buClr>
                          <a:srgbClr val="000000"/>
                        </a:buClr>
                        <a:buNone/>
                      </a:pPr>
                      <a:r>
                        <a:rPr lang="en-US" sz="1100" b="1" i="0" u="none" strike="noStrike" kern="1200" noProof="0">
                          <a:solidFill>
                            <a:srgbClr val="00B050"/>
                          </a:solidFill>
                          <a:effectLst/>
                          <a:latin typeface="Nunito Sans"/>
                          <a:ea typeface="+mn-ea"/>
                          <a:cs typeface="+mn-cs"/>
                        </a:rPr>
                        <a:t>HR Cost Dashboard Implementation</a:t>
                      </a:r>
                      <a:endParaRPr lang="en-US" sz="1100" b="0" i="0" u="none" strike="noStrike" kern="1200" noProof="0">
                        <a:solidFill>
                          <a:srgbClr val="000000"/>
                        </a:solidFill>
                        <a:effectLst/>
                        <a:latin typeface="Nunito Sans"/>
                        <a:ea typeface="+mn-ea"/>
                        <a:cs typeface="+mn-cs"/>
                      </a:endParaRP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tc>
                  <a:txBody>
                    <a:bodyPr/>
                    <a:lstStyle/>
                    <a:p>
                      <a:pPr marL="171450" marR="0" lvl="0" indent="-171450" algn="l" rtl="0" eaLnBrk="1" fontAlgn="auto" latinLnBrk="0" hangingPunct="1">
                        <a:lnSpc>
                          <a:spcPct val="100000"/>
                        </a:lnSpc>
                        <a:spcBef>
                          <a:spcPts val="0"/>
                        </a:spcBef>
                        <a:spcAft>
                          <a:spcPts val="0"/>
                        </a:spcAft>
                        <a:buClrTx/>
                        <a:buSzTx/>
                        <a:buFont typeface="Arial" panose="020B0604020202020204" pitchFamily="34" charset="0"/>
                        <a:buChar char="•"/>
                      </a:pPr>
                      <a:r>
                        <a:rPr lang="en-US" sz="1000" b="0" i="0" u="none" strike="noStrike" noProof="0">
                          <a:solidFill>
                            <a:srgbClr val="000000"/>
                          </a:solidFill>
                          <a:latin typeface="Nunito Sans"/>
                        </a:rPr>
                        <a:t>Enables data-driven cost optimization by providing clear visibility into HR spending, workforce costs, and budget efficiency.</a:t>
                      </a: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tc>
                  <a:txBody>
                    <a:bodyPr/>
                    <a:lstStyle/>
                    <a:p>
                      <a:pPr marL="0" marR="0" lvl="0" indent="0" algn="ctr">
                        <a:lnSpc>
                          <a:spcPct val="100000"/>
                        </a:lnSpc>
                        <a:spcBef>
                          <a:spcPts val="0"/>
                        </a:spcBef>
                        <a:spcAft>
                          <a:spcPts val="0"/>
                        </a:spcAft>
                        <a:buNone/>
                      </a:pPr>
                      <a:r>
                        <a:rPr lang="en-IN" sz="1000" b="0" i="0" u="none" strike="noStrike" kern="1200" cap="none" spc="0" normalizeH="0" baseline="0" noProof="0">
                          <a:ln>
                            <a:noFill/>
                          </a:ln>
                          <a:solidFill>
                            <a:srgbClr val="000000"/>
                          </a:solidFill>
                          <a:effectLst/>
                          <a:uLnTx/>
                          <a:uFillTx/>
                          <a:latin typeface="Nunito Sans"/>
                          <a:ea typeface="+mn-ea"/>
                          <a:cs typeface="+mn-cs"/>
                        </a:rPr>
                        <a:t>26</a:t>
                      </a:r>
                      <a:r>
                        <a:rPr lang="en-IN" sz="700" b="0" i="0" u="none" strike="noStrike" kern="1200" cap="none" spc="0" normalizeH="0" baseline="30000" noProof="0">
                          <a:ln>
                            <a:noFill/>
                          </a:ln>
                          <a:solidFill>
                            <a:srgbClr val="000000"/>
                          </a:solidFill>
                          <a:effectLst/>
                          <a:uLnTx/>
                          <a:uFillTx/>
                          <a:latin typeface="Nunito Sans"/>
                          <a:ea typeface="+mn-ea"/>
                          <a:cs typeface="+mn-cs"/>
                        </a:rPr>
                        <a:t> </a:t>
                      </a:r>
                      <a:r>
                        <a:rPr lang="en-IN" sz="1000" b="0" i="0" u="none" strike="noStrike" kern="1200" cap="none" spc="0" normalizeH="0" baseline="0" noProof="0">
                          <a:ln>
                            <a:noFill/>
                          </a:ln>
                          <a:solidFill>
                            <a:srgbClr val="000000"/>
                          </a:solidFill>
                          <a:effectLst/>
                          <a:uLnTx/>
                          <a:uFillTx/>
                          <a:latin typeface="Nunito Sans"/>
                          <a:ea typeface="+mn-ea"/>
                          <a:cs typeface="+mn-cs"/>
                        </a:rPr>
                        <a:t>Aug 2026</a:t>
                      </a:r>
                      <a:endParaRPr kumimoji="0" lang="en-US"/>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a:solidFill>
                        <a:schemeClr val="bg1">
                          <a:lumMod val="75000"/>
                        </a:schemeClr>
                      </a:solidFill>
                    </a:lnB>
                    <a:noFill/>
                  </a:tcPr>
                </a:tc>
                <a:tc>
                  <a:txBody>
                    <a:bodyPr/>
                    <a:lstStyle/>
                    <a:p>
                      <a:pPr marL="0" marR="0" lvl="0" indent="0" algn="ctr" defTabSz="914400" rtl="0" eaLnBrk="1" fontAlgn="b" latinLnBrk="0" hangingPunct="1">
                        <a:lnSpc>
                          <a:spcPct val="100000"/>
                        </a:lnSpc>
                        <a:spcBef>
                          <a:spcPts val="0"/>
                        </a:spcBef>
                        <a:spcAft>
                          <a:spcPts val="0"/>
                        </a:spcAft>
                        <a:buClrTx/>
                        <a:buSzTx/>
                        <a:buFont typeface="Arial" panose="020B0604020202020204" pitchFamily="34" charset="0"/>
                        <a:buNone/>
                        <a:tabLst/>
                        <a:defRPr/>
                      </a:pPr>
                      <a:r>
                        <a:rPr lang="en-IN" sz="1000" b="0" i="0" u="none" strike="noStrike" kern="1200" cap="none" spc="0" normalizeH="0" baseline="0" noProof="0">
                          <a:ln>
                            <a:noFill/>
                          </a:ln>
                          <a:solidFill>
                            <a:srgbClr val="000000"/>
                          </a:solidFill>
                          <a:effectLst/>
                          <a:uLnTx/>
                          <a:uFillTx/>
                          <a:latin typeface="+mn-lt"/>
                          <a:ea typeface="+mn-ea"/>
                          <a:cs typeface="+mn-cs"/>
                        </a:rPr>
                        <a:t>No</a:t>
                      </a:r>
                      <a:endParaRPr kumimoji="0" lang="en-IN" sz="1000" b="0" i="0" u="none" strike="noStrike" kern="1200" cap="none" spc="0" normalizeH="0" baseline="0" noProof="0">
                        <a:ln>
                          <a:noFill/>
                        </a:ln>
                        <a:solidFill>
                          <a:srgbClr val="000000"/>
                        </a:solidFill>
                        <a:effectLst/>
                        <a:uLnTx/>
                        <a:uFillTx/>
                        <a:latin typeface="+mn-lt"/>
                        <a:ea typeface="+mn-ea"/>
                        <a:cs typeface="+mn-cs"/>
                      </a:endParaRPr>
                    </a:p>
                  </a:txBody>
                  <a:tcPr anchor="ctr">
                    <a:lnL w="6350">
                      <a:solidFill>
                        <a:schemeClr val="bg1">
                          <a:lumMod val="75000"/>
                        </a:schemeClr>
                      </a:solidFill>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980404190"/>
                  </a:ext>
                </a:extLst>
              </a:tr>
              <a:tr h="719384">
                <a:tc>
                  <a:txBody>
                    <a:bodyPr/>
                    <a:lstStyle/>
                    <a:p>
                      <a:pPr marL="0" lvl="0" indent="0" algn="l">
                        <a:lnSpc>
                          <a:spcPct val="100000"/>
                        </a:lnSpc>
                        <a:spcBef>
                          <a:spcPts val="0"/>
                        </a:spcBef>
                        <a:spcAft>
                          <a:spcPts val="0"/>
                        </a:spcAft>
                        <a:buNone/>
                      </a:pPr>
                      <a:r>
                        <a:rPr lang="en-US" sz="1100" b="1" i="0" u="none" strike="noStrike" kern="1200" noProof="0">
                          <a:solidFill>
                            <a:srgbClr val="00B050"/>
                          </a:solidFill>
                          <a:effectLst/>
                          <a:latin typeface="Nunito Sans"/>
                          <a:ea typeface="+mn-ea"/>
                          <a:cs typeface="+mn-cs"/>
                        </a:rPr>
                        <a:t>Recruitment Process Enhancements - Alli</a:t>
                      </a:r>
                      <a:endParaRPr lang="en-US"/>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marL="0" lvl="0" indent="0" algn="l">
                        <a:lnSpc>
                          <a:spcPct val="100000"/>
                        </a:lnSpc>
                        <a:spcBef>
                          <a:spcPts val="0"/>
                        </a:spcBef>
                        <a:spcAft>
                          <a:spcPts val="0"/>
                        </a:spcAft>
                        <a:buNone/>
                      </a:pPr>
                      <a:r>
                        <a:rPr lang="en-US" sz="1100" b="1" i="0" u="none" strike="noStrike" kern="1200" noProof="0">
                          <a:solidFill>
                            <a:srgbClr val="00B050"/>
                          </a:solidFill>
                          <a:effectLst/>
                          <a:latin typeface="Nunito Sans"/>
                          <a:ea typeface="+mn-ea"/>
                          <a:cs typeface="+mn-cs"/>
                        </a:rPr>
                        <a:t>Recruitment Process Enhancements – Auto Salary Calculations, Conditional Offer Letter Config, Creation of New Job Req templates</a:t>
                      </a:r>
                      <a:endParaRPr lang="en-US"/>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marL="171450" lvl="0" indent="-171450" algn="l">
                        <a:lnSpc>
                          <a:spcPct val="100000"/>
                        </a:lnSpc>
                        <a:spcBef>
                          <a:spcPts val="0"/>
                        </a:spcBef>
                        <a:spcAft>
                          <a:spcPts val="0"/>
                        </a:spcAft>
                        <a:buFont typeface="Arial"/>
                        <a:buChar char="•"/>
                      </a:pPr>
                      <a:r>
                        <a:rPr lang="en-US" sz="1100" b="0" i="0" u="none" strike="noStrike" noProof="0">
                          <a:solidFill>
                            <a:srgbClr val="000000"/>
                          </a:solidFill>
                          <a:latin typeface="Segoe UI"/>
                          <a:cs typeface="Segoe UI"/>
                        </a:rPr>
                        <a:t>Enhanced recruitment efficiency and accuracy by automating salary calculations, enabling dynamic offer letter generation, and standardizing job requisition templates—reducing manual effort and accelerating hiring turnaround time.</a:t>
                      </a:r>
                      <a:endParaRPr lang="en-US" sz="1000" b="0" i="0" u="none" strike="noStrike" noProof="0">
                        <a:solidFill>
                          <a:srgbClr val="000000"/>
                        </a:solidFill>
                        <a:latin typeface="Nunito Sans"/>
                      </a:endParaRP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marL="0" lvl="0" indent="0" algn="ctr">
                        <a:lnSpc>
                          <a:spcPct val="100000"/>
                        </a:lnSpc>
                        <a:spcBef>
                          <a:spcPts val="0"/>
                        </a:spcBef>
                        <a:spcAft>
                          <a:spcPts val="0"/>
                        </a:spcAft>
                        <a:buNone/>
                      </a:pPr>
                      <a:r>
                        <a:rPr lang="en-IN" sz="1000" b="0" i="0" u="none" strike="noStrike" kern="1200" cap="none" spc="0" normalizeH="0" baseline="0" noProof="0">
                          <a:ln>
                            <a:noFill/>
                          </a:ln>
                          <a:solidFill>
                            <a:srgbClr val="000000"/>
                          </a:solidFill>
                          <a:effectLst/>
                          <a:uLnTx/>
                          <a:uFillTx/>
                          <a:latin typeface="Nunito Sans"/>
                          <a:ea typeface="+mn-ea"/>
                          <a:cs typeface="+mn-cs"/>
                        </a:rPr>
                        <a:t>26 Aug 2026</a:t>
                      </a:r>
                      <a:endParaRPr kumimoji="0" lang="en-IN" sz="1000" b="0" i="0" u="none" strike="noStrike" kern="1200" cap="none" spc="0" normalizeH="0" baseline="0" noProof="0">
                        <a:ln>
                          <a:noFill/>
                        </a:ln>
                        <a:solidFill>
                          <a:srgbClr val="000000"/>
                        </a:solidFill>
                        <a:effectLst/>
                        <a:uLnTx/>
                        <a:uFillTx/>
                        <a:latin typeface="Nunito Sans"/>
                        <a:ea typeface="+mn-ea"/>
                        <a:cs typeface="+mn-cs"/>
                      </a:endParaRP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marL="0" lvl="0" indent="0" algn="ctr" defTabSz="914400">
                        <a:lnSpc>
                          <a:spcPct val="100000"/>
                        </a:lnSpc>
                        <a:spcBef>
                          <a:spcPts val="0"/>
                        </a:spcBef>
                        <a:spcAft>
                          <a:spcPts val="0"/>
                        </a:spcAft>
                        <a:buNone/>
                        <a:tabLst/>
                        <a:defRPr/>
                      </a:pPr>
                      <a:r>
                        <a:rPr lang="en-IN" sz="1000" b="0" i="0" u="none" strike="noStrike" kern="1200" cap="none" spc="0" normalizeH="0" baseline="0" noProof="0">
                          <a:ln>
                            <a:noFill/>
                          </a:ln>
                          <a:solidFill>
                            <a:srgbClr val="000000"/>
                          </a:solidFill>
                          <a:effectLst/>
                          <a:uLnTx/>
                          <a:uFillTx/>
                          <a:latin typeface="+mn-lt"/>
                          <a:ea typeface="+mn-ea"/>
                          <a:cs typeface="+mn-cs"/>
                        </a:rPr>
                        <a:t>No</a:t>
                      </a:r>
                      <a:endParaRPr kumimoji="0" lang="en-IN" sz="1000" b="0" i="0" u="none" strike="noStrike" kern="1200" cap="none" spc="0" normalizeH="0" baseline="0" noProof="0">
                        <a:ln>
                          <a:noFill/>
                        </a:ln>
                        <a:solidFill>
                          <a:srgbClr val="000000"/>
                        </a:solidFill>
                        <a:effectLst/>
                        <a:uLnTx/>
                        <a:uFillTx/>
                        <a:latin typeface="+mn-lt"/>
                        <a:ea typeface="+mn-ea"/>
                        <a:cs typeface="+mn-cs"/>
                      </a:endParaRP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201935435"/>
                  </a:ext>
                </a:extLst>
              </a:tr>
              <a:tr h="719384">
                <a:tc>
                  <a:txBody>
                    <a:bodyPr/>
                    <a:lstStyle/>
                    <a:p>
                      <a:pPr marL="0" lvl="0" indent="0" algn="l">
                        <a:lnSpc>
                          <a:spcPct val="100000"/>
                        </a:lnSpc>
                        <a:spcBef>
                          <a:spcPts val="0"/>
                        </a:spcBef>
                        <a:spcAft>
                          <a:spcPts val="0"/>
                        </a:spcAft>
                        <a:buNone/>
                      </a:pPr>
                      <a:r>
                        <a:rPr lang="en-US" sz="1100" b="1" i="0" u="none" strike="noStrike" kern="1200" noProof="0">
                          <a:solidFill>
                            <a:srgbClr val="00B050"/>
                          </a:solidFill>
                          <a:effectLst/>
                          <a:latin typeface="Nunito Sans"/>
                          <a:ea typeface="+mn-ea"/>
                          <a:cs typeface="+mn-cs"/>
                        </a:rPr>
                        <a:t>Creation of new ID Card in SF - Tarun</a:t>
                      </a: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tc>
                  <a:txBody>
                    <a:bodyPr/>
                    <a:lstStyle/>
                    <a:p>
                      <a:pPr marL="0" lvl="0" indent="0" algn="l">
                        <a:lnSpc>
                          <a:spcPct val="100000"/>
                        </a:lnSpc>
                        <a:spcBef>
                          <a:spcPts val="0"/>
                        </a:spcBef>
                        <a:spcAft>
                          <a:spcPts val="0"/>
                        </a:spcAft>
                        <a:buNone/>
                      </a:pPr>
                      <a:r>
                        <a:rPr lang="en-US" sz="1100" b="1" i="0" u="none" strike="noStrike" kern="1200" noProof="0">
                          <a:solidFill>
                            <a:srgbClr val="00B050"/>
                          </a:solidFill>
                          <a:effectLst/>
                          <a:latin typeface="Nunito Sans"/>
                          <a:ea typeface="+mn-ea"/>
                          <a:cs typeface="+mn-cs"/>
                        </a:rPr>
                        <a:t>Creation of new ID Card in SF</a:t>
                      </a:r>
                      <a:endParaRPr lang="en-US"/>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tc>
                  <a:txBody>
                    <a:bodyPr/>
                    <a:lstStyle/>
                    <a:p>
                      <a:pPr marL="171450" lvl="0" indent="-171450" algn="l">
                        <a:lnSpc>
                          <a:spcPct val="100000"/>
                        </a:lnSpc>
                        <a:spcBef>
                          <a:spcPts val="0"/>
                        </a:spcBef>
                        <a:spcAft>
                          <a:spcPts val="0"/>
                        </a:spcAft>
                        <a:buFont typeface="Arial"/>
                        <a:buChar char="•"/>
                      </a:pPr>
                      <a:r>
                        <a:rPr lang="en-US" sz="1100" b="0" i="0" u="none" strike="noStrike" noProof="0">
                          <a:solidFill>
                            <a:srgbClr val="000000"/>
                          </a:solidFill>
                          <a:latin typeface="Segoe UI"/>
                          <a:cs typeface="Segoe UI"/>
                        </a:rPr>
                        <a:t>Reduce time to ID card creation via seamless integration between SF &amp; Admin systems</a:t>
                      </a: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tc>
                  <a:txBody>
                    <a:bodyPr/>
                    <a:lstStyle/>
                    <a:p>
                      <a:pPr marL="0" lvl="0" indent="0" algn="ctr">
                        <a:lnSpc>
                          <a:spcPct val="100000"/>
                        </a:lnSpc>
                        <a:spcBef>
                          <a:spcPts val="0"/>
                        </a:spcBef>
                        <a:spcAft>
                          <a:spcPts val="0"/>
                        </a:spcAft>
                        <a:buNone/>
                      </a:pPr>
                      <a:r>
                        <a:rPr lang="en-IN" sz="1000" b="0" i="0" u="none" strike="noStrike" kern="1200" cap="none" spc="0" normalizeH="0" baseline="0" noProof="0">
                          <a:ln>
                            <a:noFill/>
                          </a:ln>
                          <a:solidFill>
                            <a:srgbClr val="000000"/>
                          </a:solidFill>
                          <a:effectLst/>
                          <a:uLnTx/>
                          <a:uFillTx/>
                          <a:latin typeface="Nunito Sans"/>
                          <a:ea typeface="+mn-ea"/>
                          <a:cs typeface="+mn-cs"/>
                        </a:rPr>
                        <a:t>26 Aug 2026</a:t>
                      </a:r>
                      <a:endParaRPr kumimoji="0" lang="en-IN" sz="1000" b="0" i="0" u="none" strike="noStrike" kern="1200" cap="none" spc="0" normalizeH="0" baseline="0" noProof="0">
                        <a:ln>
                          <a:noFill/>
                        </a:ln>
                        <a:solidFill>
                          <a:srgbClr val="000000"/>
                        </a:solidFill>
                        <a:effectLst/>
                        <a:uLnTx/>
                        <a:uFillTx/>
                        <a:latin typeface="Nunito Sans"/>
                        <a:ea typeface="+mn-ea"/>
                        <a:cs typeface="+mn-cs"/>
                      </a:endParaRP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tc>
                  <a:txBody>
                    <a:bodyPr/>
                    <a:lstStyle/>
                    <a:p>
                      <a:pPr marL="0" lvl="0" indent="0" algn="ctr" defTabSz="914400">
                        <a:lnSpc>
                          <a:spcPct val="100000"/>
                        </a:lnSpc>
                        <a:spcBef>
                          <a:spcPts val="0"/>
                        </a:spcBef>
                        <a:spcAft>
                          <a:spcPts val="0"/>
                        </a:spcAft>
                        <a:buNone/>
                        <a:tabLst/>
                        <a:defRPr/>
                      </a:pPr>
                      <a:r>
                        <a:rPr lang="en-IN" sz="1000" b="0" i="0" u="none" strike="noStrike" kern="1200" cap="none" spc="0" normalizeH="0" baseline="0" noProof="0">
                          <a:ln>
                            <a:noFill/>
                          </a:ln>
                          <a:solidFill>
                            <a:srgbClr val="000000"/>
                          </a:solidFill>
                          <a:effectLst/>
                          <a:uLnTx/>
                          <a:uFillTx/>
                          <a:latin typeface="+mn-lt"/>
                          <a:ea typeface="+mn-ea"/>
                          <a:cs typeface="+mn-cs"/>
                        </a:rPr>
                        <a:t>No</a:t>
                      </a:r>
                      <a:endParaRPr kumimoji="0" lang="en-IN" sz="1000" b="0" i="0" u="none" strike="noStrike" kern="1200" cap="none" spc="0" normalizeH="0" baseline="0" noProof="0">
                        <a:ln>
                          <a:noFill/>
                        </a:ln>
                        <a:solidFill>
                          <a:srgbClr val="000000"/>
                        </a:solidFill>
                        <a:effectLst/>
                        <a:uLnTx/>
                        <a:uFillTx/>
                        <a:latin typeface="+mn-lt"/>
                        <a:ea typeface="+mn-ea"/>
                        <a:cs typeface="+mn-cs"/>
                      </a:endParaRP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extLst>
                  <a:ext uri="{0D108BD9-81ED-4DB2-BD59-A6C34878D82A}">
                    <a16:rowId xmlns:a16="http://schemas.microsoft.com/office/drawing/2014/main" val="808599992"/>
                  </a:ext>
                </a:extLst>
              </a:tr>
            </a:tbl>
          </a:graphicData>
        </a:graphic>
      </p:graphicFrame>
      <p:sp>
        <p:nvSpPr>
          <p:cNvPr id="4" name="Rectangle 3">
            <a:extLst>
              <a:ext uri="{FF2B5EF4-FFF2-40B4-BE49-F238E27FC236}">
                <a16:creationId xmlns:a16="http://schemas.microsoft.com/office/drawing/2014/main" id="{4349B7FA-84EF-D69E-E518-B8B7752F8DAD}"/>
              </a:ext>
            </a:extLst>
          </p:cNvPr>
          <p:cNvSpPr/>
          <p:nvPr/>
        </p:nvSpPr>
        <p:spPr>
          <a:xfrm>
            <a:off x="1188132" y="6671592"/>
            <a:ext cx="90000" cy="90000"/>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5" name="Rectangle 4">
            <a:extLst>
              <a:ext uri="{FF2B5EF4-FFF2-40B4-BE49-F238E27FC236}">
                <a16:creationId xmlns:a16="http://schemas.microsoft.com/office/drawing/2014/main" id="{D33CFB76-DD6B-D4D2-0F15-DD7A85D3D8E0}"/>
              </a:ext>
            </a:extLst>
          </p:cNvPr>
          <p:cNvSpPr/>
          <p:nvPr/>
        </p:nvSpPr>
        <p:spPr>
          <a:xfrm>
            <a:off x="2265818" y="6670554"/>
            <a:ext cx="90000" cy="90000"/>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7" name="Rectangle 6">
            <a:extLst>
              <a:ext uri="{FF2B5EF4-FFF2-40B4-BE49-F238E27FC236}">
                <a16:creationId xmlns:a16="http://schemas.microsoft.com/office/drawing/2014/main" id="{974FAA5B-9E9B-C9A1-2FD1-71840FFB419A}"/>
              </a:ext>
            </a:extLst>
          </p:cNvPr>
          <p:cNvSpPr/>
          <p:nvPr/>
        </p:nvSpPr>
        <p:spPr>
          <a:xfrm>
            <a:off x="3443423" y="6671592"/>
            <a:ext cx="90000" cy="90000"/>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8" name="Rectangle 7">
            <a:extLst>
              <a:ext uri="{FF2B5EF4-FFF2-40B4-BE49-F238E27FC236}">
                <a16:creationId xmlns:a16="http://schemas.microsoft.com/office/drawing/2014/main" id="{2587E776-46F8-B1B8-DC67-9804BFED45F5}"/>
              </a:ext>
            </a:extLst>
          </p:cNvPr>
          <p:cNvSpPr/>
          <p:nvPr/>
        </p:nvSpPr>
        <p:spPr>
          <a:xfrm>
            <a:off x="8146052" y="6714097"/>
            <a:ext cx="90000" cy="90000"/>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9" name="TextBox 15">
            <a:extLst>
              <a:ext uri="{FF2B5EF4-FFF2-40B4-BE49-F238E27FC236}">
                <a16:creationId xmlns:a16="http://schemas.microsoft.com/office/drawing/2014/main" id="{3CE63978-C8D8-093F-87A3-53D7AA76ECE7}"/>
              </a:ext>
            </a:extLst>
          </p:cNvPr>
          <p:cNvSpPr txBox="1"/>
          <p:nvPr/>
        </p:nvSpPr>
        <p:spPr>
          <a:xfrm>
            <a:off x="1288983" y="6614743"/>
            <a:ext cx="857245"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0070C0"/>
                </a:solidFill>
                <a:effectLst/>
                <a:uLnTx/>
                <a:uFillTx/>
                <a:latin typeface="Nunito Sans"/>
                <a:ea typeface="+mn-ea"/>
                <a:cs typeface="+mn-cs"/>
              </a:rPr>
              <a:t>Delivered</a:t>
            </a:r>
            <a:endParaRPr kumimoji="0" lang="en-IN" sz="1000" b="0" i="0" u="none" strike="noStrike" kern="1200" cap="none" spc="0" normalizeH="0" baseline="0" noProof="0">
              <a:ln>
                <a:noFill/>
              </a:ln>
              <a:solidFill>
                <a:srgbClr val="000000"/>
              </a:solidFill>
              <a:effectLst/>
              <a:uLnTx/>
              <a:uFillTx/>
              <a:latin typeface="Nunito Sans"/>
              <a:ea typeface="+mn-ea"/>
              <a:cs typeface="+mn-cs"/>
            </a:endParaRPr>
          </a:p>
        </p:txBody>
      </p:sp>
      <p:sp>
        <p:nvSpPr>
          <p:cNvPr id="10" name="TextBox 18">
            <a:extLst>
              <a:ext uri="{FF2B5EF4-FFF2-40B4-BE49-F238E27FC236}">
                <a16:creationId xmlns:a16="http://schemas.microsoft.com/office/drawing/2014/main" id="{D85F90E0-9AF0-E99E-83B6-4FF0B170058A}"/>
              </a:ext>
            </a:extLst>
          </p:cNvPr>
          <p:cNvSpPr txBox="1"/>
          <p:nvPr/>
        </p:nvSpPr>
        <p:spPr>
          <a:xfrm>
            <a:off x="2310642" y="6611102"/>
            <a:ext cx="1032881"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00B050"/>
                </a:solidFill>
                <a:effectLst/>
                <a:uLnTx/>
                <a:uFillTx/>
                <a:latin typeface="Nunito Sans"/>
                <a:ea typeface="+mn-ea"/>
                <a:cs typeface="+mn-cs"/>
              </a:rPr>
              <a:t>Ontrack</a:t>
            </a:r>
            <a:endParaRPr kumimoji="0" lang="en-IN" sz="1000" b="0" i="0" u="none" strike="noStrike" kern="1200" cap="none" spc="0" normalizeH="0" baseline="0" noProof="0">
              <a:ln>
                <a:noFill/>
              </a:ln>
              <a:solidFill>
                <a:srgbClr val="000000"/>
              </a:solidFill>
              <a:effectLst/>
              <a:uLnTx/>
              <a:uFillTx/>
              <a:latin typeface="Nunito Sans"/>
              <a:ea typeface="+mn-ea"/>
              <a:cs typeface="+mn-cs"/>
            </a:endParaRPr>
          </a:p>
        </p:txBody>
      </p:sp>
      <p:sp>
        <p:nvSpPr>
          <p:cNvPr id="11" name="TextBox 20">
            <a:extLst>
              <a:ext uri="{FF2B5EF4-FFF2-40B4-BE49-F238E27FC236}">
                <a16:creationId xmlns:a16="http://schemas.microsoft.com/office/drawing/2014/main" id="{9084DD2C-4003-1E0B-92C5-78382512FB7C}"/>
              </a:ext>
            </a:extLst>
          </p:cNvPr>
          <p:cNvSpPr txBox="1"/>
          <p:nvPr/>
        </p:nvSpPr>
        <p:spPr>
          <a:xfrm>
            <a:off x="3539606" y="6608370"/>
            <a:ext cx="2257628"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FED9A0">
                    <a:lumMod val="75000"/>
                  </a:srgbClr>
                </a:solidFill>
                <a:effectLst/>
                <a:uLnTx/>
                <a:uFillTx/>
                <a:latin typeface="Nunito Sans"/>
                <a:ea typeface="+mn-ea"/>
                <a:cs typeface="+mn-cs"/>
              </a:rPr>
              <a:t>Under delay and can be recovered</a:t>
            </a:r>
            <a:endParaRPr kumimoji="0" lang="en-IN" sz="1000" b="0" i="0" u="none" strike="noStrike" kern="1200" cap="none" spc="0" normalizeH="0" baseline="0" noProof="0">
              <a:ln>
                <a:noFill/>
              </a:ln>
              <a:solidFill>
                <a:srgbClr val="000000"/>
              </a:solidFill>
              <a:effectLst/>
              <a:uLnTx/>
              <a:uFillTx/>
              <a:latin typeface="Nunito Sans"/>
              <a:ea typeface="+mn-ea"/>
              <a:cs typeface="+mn-cs"/>
            </a:endParaRPr>
          </a:p>
        </p:txBody>
      </p:sp>
      <p:sp>
        <p:nvSpPr>
          <p:cNvPr id="13" name="TextBox 22">
            <a:extLst>
              <a:ext uri="{FF2B5EF4-FFF2-40B4-BE49-F238E27FC236}">
                <a16:creationId xmlns:a16="http://schemas.microsoft.com/office/drawing/2014/main" id="{CACB4A5B-E5AF-E87A-5DF0-8353D9EFC079}"/>
              </a:ext>
            </a:extLst>
          </p:cNvPr>
          <p:cNvSpPr txBox="1"/>
          <p:nvPr/>
        </p:nvSpPr>
        <p:spPr>
          <a:xfrm>
            <a:off x="8246937" y="6618126"/>
            <a:ext cx="2338222"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FF0000"/>
                </a:solidFill>
                <a:effectLst/>
                <a:uLnTx/>
                <a:uFillTx/>
                <a:latin typeface="Nunito Sans"/>
                <a:ea typeface="+mn-ea"/>
                <a:cs typeface="+mn-cs"/>
              </a:rPr>
              <a:t>Delayed and pushed to next release</a:t>
            </a:r>
          </a:p>
        </p:txBody>
      </p:sp>
      <p:sp>
        <p:nvSpPr>
          <p:cNvPr id="15" name="TextBox 14">
            <a:extLst>
              <a:ext uri="{FF2B5EF4-FFF2-40B4-BE49-F238E27FC236}">
                <a16:creationId xmlns:a16="http://schemas.microsoft.com/office/drawing/2014/main" id="{91A1D149-2684-1663-367A-7A01A4B9CAFC}"/>
              </a:ext>
            </a:extLst>
          </p:cNvPr>
          <p:cNvSpPr txBox="1"/>
          <p:nvPr/>
        </p:nvSpPr>
        <p:spPr>
          <a:xfrm>
            <a:off x="6454369" y="6611638"/>
            <a:ext cx="2743200"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IN" sz="1000">
                <a:solidFill>
                  <a:srgbClr val="7D7D7D"/>
                </a:solidFill>
              </a:rPr>
              <a:t>Descoped</a:t>
            </a:r>
            <a:endParaRPr lang="en-US"/>
          </a:p>
        </p:txBody>
      </p:sp>
      <p:sp>
        <p:nvSpPr>
          <p:cNvPr id="16" name="Rectangle 15">
            <a:extLst>
              <a:ext uri="{FF2B5EF4-FFF2-40B4-BE49-F238E27FC236}">
                <a16:creationId xmlns:a16="http://schemas.microsoft.com/office/drawing/2014/main" id="{36A6575E-B365-7119-03CD-5AF735FDEDAE}"/>
              </a:ext>
            </a:extLst>
          </p:cNvPr>
          <p:cNvSpPr/>
          <p:nvPr/>
        </p:nvSpPr>
        <p:spPr>
          <a:xfrm>
            <a:off x="6360794" y="6681439"/>
            <a:ext cx="90000" cy="90000"/>
          </a:xfrm>
          <a:prstGeom prst="rect">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17" name="Title 11">
            <a:extLst>
              <a:ext uri="{FF2B5EF4-FFF2-40B4-BE49-F238E27FC236}">
                <a16:creationId xmlns:a16="http://schemas.microsoft.com/office/drawing/2014/main" id="{1D593FB6-6E89-FD66-DC97-3F340DFCB6F7}"/>
              </a:ext>
            </a:extLst>
          </p:cNvPr>
          <p:cNvSpPr txBox="1">
            <a:spLocks/>
          </p:cNvSpPr>
          <p:nvPr/>
        </p:nvSpPr>
        <p:spPr>
          <a:xfrm>
            <a:off x="242857" y="182023"/>
            <a:ext cx="7691717" cy="430255"/>
          </a:xfrm>
          <a:prstGeom prst="rect">
            <a:avLst/>
          </a:prstGeom>
        </p:spPr>
        <p:txBody>
          <a:bodyPr lIns="91440" tIns="45720" rIns="91440" bIns="45720" anchor="t">
            <a:noAutofit/>
          </a:bodyPr>
          <a:lstStyle>
            <a:lvl1pPr algn="l" defTabSz="914400" rtl="0" eaLnBrk="1" latinLnBrk="0" hangingPunct="1">
              <a:lnSpc>
                <a:spcPct val="90000"/>
              </a:lnSpc>
              <a:spcBef>
                <a:spcPct val="0"/>
              </a:spcBef>
              <a:buNone/>
              <a:defRPr sz="4400" b="1" i="0" kern="1200">
                <a:solidFill>
                  <a:schemeClr val="tx1"/>
                </a:solidFill>
                <a:latin typeface="AirIndia" pitchFamily="82" charset="77"/>
                <a:ea typeface="+mj-ea"/>
                <a:cs typeface="+mj-cs"/>
              </a:defRPr>
            </a:lvl1pPr>
          </a:lstStyle>
          <a:p>
            <a:pPr>
              <a:defRPr/>
            </a:pPr>
            <a:r>
              <a:rPr lang="en-US" sz="1800">
                <a:solidFill>
                  <a:srgbClr val="DA0E28"/>
                </a:solidFill>
                <a:latin typeface="AirIndia"/>
              </a:rPr>
              <a:t>Corporate Systems </a:t>
            </a:r>
            <a:r>
              <a:rPr kumimoji="0" lang="en-US" sz="1800" b="1" i="0" u="none" strike="noStrike" kern="1200" cap="none" spc="0" normalizeH="0" baseline="0" noProof="0">
                <a:ln>
                  <a:noFill/>
                </a:ln>
                <a:solidFill>
                  <a:srgbClr val="DA0E28"/>
                </a:solidFill>
                <a:effectLst/>
                <a:uLnTx/>
                <a:uFillTx/>
                <a:latin typeface="AirIndia"/>
                <a:ea typeface="+mj-ea"/>
                <a:cs typeface="+mj-cs"/>
              </a:rPr>
              <a:t>- </a:t>
            </a:r>
            <a:r>
              <a:rPr lang="en-US" sz="1800">
                <a:solidFill>
                  <a:srgbClr val="DA0E28"/>
                </a:solidFill>
                <a:latin typeface="AirIndia"/>
              </a:rPr>
              <a:t>FY26-27 Q2</a:t>
            </a:r>
            <a:r>
              <a:rPr kumimoji="0" lang="en-US" sz="1800" b="1" i="0" u="none" strike="noStrike" kern="1200" cap="none" spc="0" normalizeH="0" baseline="0" noProof="0">
                <a:ln>
                  <a:noFill/>
                </a:ln>
                <a:solidFill>
                  <a:srgbClr val="DA0E28"/>
                </a:solidFill>
                <a:effectLst/>
                <a:uLnTx/>
                <a:uFillTx/>
                <a:latin typeface="AirIndia"/>
                <a:ea typeface="+mj-ea"/>
                <a:cs typeface="+mj-cs"/>
              </a:rPr>
              <a:t> Release Plan</a:t>
            </a:r>
            <a:r>
              <a:rPr lang="en-US" sz="1800">
                <a:solidFill>
                  <a:srgbClr val="DA0E28"/>
                </a:solidFill>
                <a:latin typeface="AirIndia"/>
              </a:rPr>
              <a:t> (HR Tech)</a:t>
            </a:r>
            <a:endParaRPr lang="en-US" sz="1800" b="0">
              <a:solidFill>
                <a:srgbClr val="000000"/>
              </a:solidFill>
              <a:latin typeface="AirIndia"/>
            </a:endParaRPr>
          </a:p>
          <a:p>
            <a:pPr>
              <a:defRPr/>
            </a:pPr>
            <a:endParaRPr lang="en-US" sz="1800" i="0" u="none" strike="noStrike" kern="1200" cap="none" spc="0" normalizeH="0" baseline="0" noProof="0">
              <a:ln>
                <a:noFill/>
              </a:ln>
              <a:solidFill>
                <a:srgbClr val="DA0E28"/>
              </a:solidFill>
              <a:effectLst/>
              <a:uLnTx/>
              <a:uFillTx/>
              <a:latin typeface="AirIndia"/>
            </a:endParaRPr>
          </a:p>
        </p:txBody>
      </p:sp>
    </p:spTree>
    <p:extLst>
      <p:ext uri="{BB962C8B-B14F-4D97-AF65-F5344CB8AC3E}">
        <p14:creationId xmlns:p14="http://schemas.microsoft.com/office/powerpoint/2010/main" val="15731398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895728-6B86-18E1-EA19-AC21FDC2703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23C6908-0EDD-5AD6-87F2-D5063CA91074}"/>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3A41A254-7326-714E-AF55-4C213D6394DE}" type="slidenum">
              <a:rPr kumimoji="0" lang="en-US" sz="1200" b="0" i="0" u="none" strike="noStrike" kern="1200" cap="none" spc="0" normalizeH="0" baseline="0" noProof="0" smtClean="0">
                <a:ln>
                  <a:noFill/>
                </a:ln>
                <a:solidFill>
                  <a:srgbClr val="DA0E28"/>
                </a:solidFill>
                <a:effectLst/>
                <a:uLnTx/>
                <a:uFillTx/>
                <a:latin typeface="Nunito Sans"/>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srgbClr val="DA0E28"/>
              </a:solidFill>
              <a:effectLst/>
              <a:uLnTx/>
              <a:uFillTx/>
              <a:latin typeface="Nunito Sans"/>
              <a:ea typeface="+mn-ea"/>
              <a:cs typeface="+mn-cs"/>
            </a:endParaRPr>
          </a:p>
        </p:txBody>
      </p:sp>
      <p:sp>
        <p:nvSpPr>
          <p:cNvPr id="3" name="Rectangle 2">
            <a:extLst>
              <a:ext uri="{FF2B5EF4-FFF2-40B4-BE49-F238E27FC236}">
                <a16:creationId xmlns:a16="http://schemas.microsoft.com/office/drawing/2014/main" id="{C5BC6EFB-7970-AF55-7906-FD9324C33C25}"/>
              </a:ext>
            </a:extLst>
          </p:cNvPr>
          <p:cNvSpPr/>
          <p:nvPr/>
        </p:nvSpPr>
        <p:spPr>
          <a:xfrm>
            <a:off x="129077" y="610471"/>
            <a:ext cx="1170432" cy="42234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defRPr/>
            </a:pPr>
            <a:r>
              <a:rPr lang="en-IN" sz="1400" b="1">
                <a:solidFill>
                  <a:srgbClr val="FFFFFF"/>
                </a:solidFill>
                <a:latin typeface="AirIndia"/>
              </a:rPr>
              <a:t>Sep</a:t>
            </a:r>
            <a:r>
              <a:rPr kumimoji="0" lang="en-IN" sz="1400" b="1" i="0" u="none" strike="noStrike" kern="1200" cap="none" spc="0" normalizeH="0" baseline="0" noProof="0">
                <a:ln>
                  <a:noFill/>
                </a:ln>
                <a:solidFill>
                  <a:srgbClr val="FFFFFF"/>
                </a:solidFill>
                <a:effectLst/>
                <a:uLnTx/>
                <a:uFillTx/>
                <a:latin typeface="AirIndia"/>
                <a:ea typeface="+mn-ea"/>
                <a:cs typeface="+mn-cs"/>
              </a:rPr>
              <a:t> ‘</a:t>
            </a:r>
            <a:r>
              <a:rPr lang="en-IN" sz="1400" b="1">
                <a:solidFill>
                  <a:srgbClr val="FFFFFF"/>
                </a:solidFill>
                <a:latin typeface="AirIndia"/>
              </a:rPr>
              <a:t>26</a:t>
            </a:r>
            <a:endParaRPr kumimoji="0" lang="en-US" sz="1400" b="1" i="0" u="none" strike="noStrike" kern="1200" cap="none" spc="0" normalizeH="0" baseline="0" noProof="0">
              <a:ln>
                <a:noFill/>
              </a:ln>
              <a:solidFill>
                <a:srgbClr val="FFFFFF"/>
              </a:solidFill>
              <a:effectLst/>
              <a:uLnTx/>
              <a:uFillTx/>
              <a:latin typeface="AirIndia"/>
              <a:ea typeface="+mn-ea"/>
              <a:cs typeface="+mn-cs"/>
            </a:endParaRPr>
          </a:p>
        </p:txBody>
      </p:sp>
      <p:graphicFrame>
        <p:nvGraphicFramePr>
          <p:cNvPr id="12" name="Table 11">
            <a:extLst>
              <a:ext uri="{FF2B5EF4-FFF2-40B4-BE49-F238E27FC236}">
                <a16:creationId xmlns:a16="http://schemas.microsoft.com/office/drawing/2014/main" id="{C33CDA6E-732F-65EE-05A1-4D66AA0F165E}"/>
              </a:ext>
            </a:extLst>
          </p:cNvPr>
          <p:cNvGraphicFramePr>
            <a:graphicFrameLocks noGrp="1"/>
          </p:cNvGraphicFramePr>
          <p:nvPr>
            <p:extLst>
              <p:ext uri="{D42A27DB-BD31-4B8C-83A1-F6EECF244321}">
                <p14:modId xmlns:p14="http://schemas.microsoft.com/office/powerpoint/2010/main" val="2409924281"/>
              </p:ext>
            </p:extLst>
          </p:nvPr>
        </p:nvGraphicFramePr>
        <p:xfrm>
          <a:off x="1251008" y="588627"/>
          <a:ext cx="10685696" cy="4910666"/>
        </p:xfrm>
        <a:graphic>
          <a:graphicData uri="http://schemas.openxmlformats.org/drawingml/2006/table">
            <a:tbl>
              <a:tblPr firstRow="1" bandRow="1">
                <a:tableStyleId>{5C22544A-7EE6-4342-B048-85BDC9FD1C3A}</a:tableStyleId>
              </a:tblPr>
              <a:tblGrid>
                <a:gridCol w="1758236">
                  <a:extLst>
                    <a:ext uri="{9D8B030D-6E8A-4147-A177-3AD203B41FA5}">
                      <a16:colId xmlns:a16="http://schemas.microsoft.com/office/drawing/2014/main" val="2822350773"/>
                    </a:ext>
                  </a:extLst>
                </a:gridCol>
                <a:gridCol w="1758236">
                  <a:extLst>
                    <a:ext uri="{9D8B030D-6E8A-4147-A177-3AD203B41FA5}">
                      <a16:colId xmlns:a16="http://schemas.microsoft.com/office/drawing/2014/main" val="1843387359"/>
                    </a:ext>
                  </a:extLst>
                </a:gridCol>
                <a:gridCol w="4506342">
                  <a:extLst>
                    <a:ext uri="{9D8B030D-6E8A-4147-A177-3AD203B41FA5}">
                      <a16:colId xmlns:a16="http://schemas.microsoft.com/office/drawing/2014/main" val="99588705"/>
                    </a:ext>
                  </a:extLst>
                </a:gridCol>
                <a:gridCol w="1331441">
                  <a:extLst>
                    <a:ext uri="{9D8B030D-6E8A-4147-A177-3AD203B41FA5}">
                      <a16:colId xmlns:a16="http://schemas.microsoft.com/office/drawing/2014/main" val="850806059"/>
                    </a:ext>
                  </a:extLst>
                </a:gridCol>
                <a:gridCol w="1331441">
                  <a:extLst>
                    <a:ext uri="{9D8B030D-6E8A-4147-A177-3AD203B41FA5}">
                      <a16:colId xmlns:a16="http://schemas.microsoft.com/office/drawing/2014/main" val="529241555"/>
                    </a:ext>
                  </a:extLst>
                </a:gridCol>
              </a:tblGrid>
              <a:tr h="530670">
                <a:tc>
                  <a:txBody>
                    <a:bodyPr/>
                    <a:lstStyle/>
                    <a:p>
                      <a:pPr marL="0" lvl="0" indent="0" algn="ctr" defTabSz="914400" rtl="0">
                        <a:lnSpc>
                          <a:spcPct val="100000"/>
                        </a:lnSpc>
                        <a:buFont typeface="Arial" panose="020B0604020202020204" pitchFamily="34" charset="0"/>
                        <a:buNone/>
                      </a:pPr>
                      <a:r>
                        <a:rPr lang="en-IN" sz="1100" b="1" kern="1200">
                          <a:solidFill>
                            <a:schemeClr val="bg1"/>
                          </a:solidFill>
                          <a:latin typeface="+mn-lt"/>
                          <a:ea typeface="+mn-ea"/>
                          <a:cs typeface="+mn-cs"/>
                        </a:rPr>
                        <a:t>Initiatives</a:t>
                      </a:r>
                      <a:endParaRPr lang="en-US" sz="1100" b="1"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tc>
                  <a:txBody>
                    <a:bodyPr/>
                    <a:lstStyle/>
                    <a:p>
                      <a:pPr marL="0" lvl="0" indent="0" algn="ctr" defTabSz="914400">
                        <a:lnSpc>
                          <a:spcPct val="100000"/>
                        </a:lnSpc>
                        <a:buNone/>
                      </a:pPr>
                      <a:r>
                        <a:rPr lang="en-IN" sz="1100" b="1" i="0" u="none" strike="noStrike" kern="1200" noProof="0">
                          <a:solidFill>
                            <a:schemeClr val="bg1"/>
                          </a:solidFill>
                          <a:latin typeface="Nunito Sans"/>
                          <a:ea typeface="+mn-ea"/>
                          <a:cs typeface="+mn-cs"/>
                        </a:rPr>
                        <a:t>Programs/Projects</a:t>
                      </a:r>
                      <a:endParaRPr lang="en-US"/>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tc>
                  <a:txBody>
                    <a:bodyPr/>
                    <a:lstStyle/>
                    <a:p>
                      <a:pPr marL="0" lvl="0" indent="0" algn="ctr">
                        <a:lnSpc>
                          <a:spcPct val="100000"/>
                        </a:lnSpc>
                        <a:buNone/>
                      </a:pPr>
                      <a:endParaRPr lang="en-IN" sz="1100" b="1" i="0" u="none" strike="noStrike" kern="1200" baseline="0" noProof="0">
                        <a:solidFill>
                          <a:srgbClr val="FFFFFF"/>
                        </a:solidFill>
                        <a:latin typeface="Nunito Sans"/>
                      </a:endParaRPr>
                    </a:p>
                    <a:p>
                      <a:pPr marL="0" lvl="0" indent="0" algn="ctr">
                        <a:lnSpc>
                          <a:spcPct val="100000"/>
                        </a:lnSpc>
                        <a:buNone/>
                      </a:pPr>
                      <a:r>
                        <a:rPr lang="en-IN" sz="1100" b="1" i="0" u="none" strike="noStrike" kern="1200" baseline="0" noProof="0">
                          <a:solidFill>
                            <a:srgbClr val="FFFFFF"/>
                          </a:solidFill>
                          <a:latin typeface="Nunito Sans"/>
                        </a:rPr>
                        <a:t>Value Justification/Realization</a:t>
                      </a:r>
                    </a:p>
                    <a:p>
                      <a:pPr marL="0" lvl="0" indent="0" algn="ctr" defTabSz="914400">
                        <a:buFont typeface="Arial" panose="020B0604020202020204" pitchFamily="34" charset="0"/>
                        <a:buNone/>
                      </a:pPr>
                      <a:endParaRPr lang="en-IN" sz="1100"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tc>
                  <a:txBody>
                    <a:bodyPr/>
                    <a:lstStyle/>
                    <a:p>
                      <a:pPr lvl="0" algn="ctr">
                        <a:lnSpc>
                          <a:spcPct val="100000"/>
                        </a:lnSpc>
                        <a:spcBef>
                          <a:spcPts val="0"/>
                        </a:spcBef>
                        <a:spcAft>
                          <a:spcPts val="0"/>
                        </a:spcAft>
                        <a:buNone/>
                      </a:pPr>
                      <a:r>
                        <a:rPr lang="en-IN" sz="1000" b="1" i="0" u="none" strike="noStrike" kern="1200" noProof="0">
                          <a:solidFill>
                            <a:srgbClr val="FFFFFF"/>
                          </a:solidFill>
                          <a:latin typeface="Nunito Sans"/>
                          <a:ea typeface="+mn-ea"/>
                          <a:cs typeface="+mn-cs"/>
                        </a:rPr>
                        <a:t>Go-Live ETA</a:t>
                      </a:r>
                      <a:endParaRPr lang="en-US"/>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000" b="1" i="0" u="none" strike="noStrike" kern="1200">
                          <a:solidFill>
                            <a:srgbClr val="FFFFFF"/>
                          </a:solidFill>
                          <a:latin typeface="Nunito Sans"/>
                          <a:ea typeface="+mn-ea"/>
                          <a:cs typeface="+mn-cs"/>
                        </a:rPr>
                        <a:t>EIP Integration Required (Yes/No)</a:t>
                      </a: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extLst>
                  <a:ext uri="{0D108BD9-81ED-4DB2-BD59-A6C34878D82A}">
                    <a16:rowId xmlns:a16="http://schemas.microsoft.com/office/drawing/2014/main" val="844450115"/>
                  </a:ext>
                </a:extLst>
              </a:tr>
              <a:tr h="719385">
                <a:tc>
                  <a:txBody>
                    <a:bodyPr/>
                    <a:lstStyle/>
                    <a:p>
                      <a:pPr marL="0" lvl="0" indent="0" algn="l">
                        <a:lnSpc>
                          <a:spcPct val="100000"/>
                        </a:lnSpc>
                        <a:buNone/>
                      </a:pPr>
                      <a:r>
                        <a:rPr lang="en-US" sz="1100" b="1" i="0" u="none" strike="noStrike" kern="1200" baseline="0" noProof="0">
                          <a:solidFill>
                            <a:srgbClr val="00B050"/>
                          </a:solidFill>
                          <a:effectLst/>
                          <a:latin typeface="Nunito Sans"/>
                          <a:ea typeface="+mn-ea"/>
                          <a:cs typeface="+mn-cs"/>
                        </a:rPr>
                        <a:t>AMS (Attendance, Shift, Rostering) Phase 2 - Alli</a:t>
                      </a:r>
                      <a:endParaRPr lang="en-IN" sz="1000" b="1" i="0" u="none" strike="noStrike" kern="1200" baseline="0" noProof="0">
                        <a:solidFill>
                          <a:srgbClr val="00B050"/>
                        </a:solidFill>
                        <a:effectLst/>
                        <a:latin typeface="Nunito Sans"/>
                        <a:ea typeface="+mn-ea"/>
                        <a:cs typeface="+mn-cs"/>
                      </a:endParaRP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lvl="0">
                        <a:buNone/>
                      </a:pPr>
                      <a:r>
                        <a:rPr lang="en-US" sz="1100" b="1" i="0" u="none" strike="noStrike" kern="1200" noProof="0">
                          <a:solidFill>
                            <a:srgbClr val="00B050"/>
                          </a:solidFill>
                          <a:effectLst/>
                          <a:latin typeface="Nunito Sans"/>
                          <a:ea typeface="+mn-ea"/>
                          <a:cs typeface="+mn-cs"/>
                        </a:rPr>
                        <a:t>AMS (Attendance, Shift, Rostering) Phase 2</a:t>
                      </a:r>
                      <a:endParaRPr lang="en-US"/>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171450" indent="-171450" algn="l">
                        <a:lnSpc>
                          <a:spcPct val="100000"/>
                        </a:lnSpc>
                        <a:buClr>
                          <a:srgbClr val="000000"/>
                        </a:buClr>
                        <a:buFont typeface="Arial"/>
                        <a:buChar char="•"/>
                      </a:pPr>
                      <a:r>
                        <a:rPr lang="en-US" sz="1000" b="0" i="0" u="none" strike="noStrike" kern="1200" noProof="0">
                          <a:solidFill>
                            <a:srgbClr val="000000"/>
                          </a:solidFill>
                          <a:latin typeface="Nunito Sans"/>
                          <a:ea typeface="+mn-ea"/>
                          <a:cs typeface="+mn-cs"/>
                        </a:rPr>
                        <a:t>Enhances</a:t>
                      </a:r>
                      <a:r>
                        <a:rPr lang="en-US" sz="1000" b="0" i="0" u="none" strike="noStrike" kern="1200" noProof="0">
                          <a:solidFill>
                            <a:srgbClr val="000000"/>
                          </a:solidFill>
                          <a:effectLst/>
                          <a:latin typeface="Nunito Sans"/>
                          <a:ea typeface="+mn-ea"/>
                          <a:cs typeface="+mn-cs"/>
                        </a:rPr>
                        <a:t> end-to-end HR service delivery through deeper automation and scalability, driving significant efficiency gains.</a:t>
                      </a:r>
                      <a:r>
                        <a:rPr lang="en-US" sz="1000" b="0" i="0" u="none" strike="noStrike" kern="1200">
                          <a:solidFill>
                            <a:srgbClr val="000000"/>
                          </a:solidFill>
                          <a:effectLst/>
                          <a:latin typeface="+mn-lt"/>
                          <a:ea typeface="+mn-ea"/>
                          <a:cs typeface="+mn-cs"/>
                        </a:rPr>
                        <a:t>.</a:t>
                      </a:r>
                      <a:endParaRPr lang="en-US"/>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ctr" rtl="0" eaLnBrk="1" fontAlgn="b" latinLnBrk="0" hangingPunct="1">
                        <a:lnSpc>
                          <a:spcPct val="100000"/>
                        </a:lnSpc>
                        <a:spcBef>
                          <a:spcPts val="0"/>
                        </a:spcBef>
                        <a:spcAft>
                          <a:spcPts val="0"/>
                        </a:spcAft>
                        <a:buClrTx/>
                        <a:buSzTx/>
                        <a:buFont typeface="Arial" panose="020B0604020202020204" pitchFamily="34" charset="0"/>
                        <a:buNone/>
                      </a:pPr>
                      <a:r>
                        <a:rPr lang="en-IN" sz="1000" b="0" i="0" u="none" strike="noStrike" kern="1200" cap="none" spc="0" normalizeH="0" baseline="0" noProof="0">
                          <a:ln>
                            <a:noFill/>
                          </a:ln>
                          <a:solidFill>
                            <a:srgbClr val="000000"/>
                          </a:solidFill>
                          <a:effectLst/>
                          <a:uLnTx/>
                          <a:uFillTx/>
                          <a:latin typeface="+mn-lt"/>
                          <a:ea typeface="+mn-ea"/>
                          <a:cs typeface="+mn-cs"/>
                        </a:rPr>
                        <a:t>30 Sep 2026</a:t>
                      </a:r>
                      <a:endParaRPr kumimoji="0" lang="en-IN" sz="1000" b="0" i="0" u="none" strike="noStrike" kern="1200" cap="none" spc="0" normalizeH="0" baseline="0" noProof="0">
                        <a:ln>
                          <a:noFill/>
                        </a:ln>
                        <a:solidFill>
                          <a:srgbClr val="000000"/>
                        </a:solidFill>
                        <a:effectLst/>
                        <a:uLnTx/>
                        <a:uFillTx/>
                        <a:latin typeface="+mn-lt"/>
                        <a:ea typeface="+mn-ea"/>
                        <a:cs typeface="+mn-cs"/>
                      </a:endParaRP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ctr" defTabSz="914400" rtl="0" eaLnBrk="1" fontAlgn="b" latinLnBrk="0" hangingPunct="1">
                        <a:lnSpc>
                          <a:spcPct val="100000"/>
                        </a:lnSpc>
                        <a:spcBef>
                          <a:spcPts val="0"/>
                        </a:spcBef>
                        <a:spcAft>
                          <a:spcPts val="0"/>
                        </a:spcAft>
                        <a:buClrTx/>
                        <a:buSzTx/>
                        <a:buFont typeface="Arial" panose="020B0604020202020204" pitchFamily="34" charset="0"/>
                        <a:buNone/>
                        <a:tabLst/>
                        <a:defRPr/>
                      </a:pPr>
                      <a:r>
                        <a:rPr lang="en-IN" sz="1000" b="0" i="0" u="none" strike="noStrike" kern="1200" noProof="0">
                          <a:solidFill>
                            <a:schemeClr val="tx1"/>
                          </a:solidFill>
                          <a:latin typeface="Nunito Sans"/>
                          <a:ea typeface="+mn-ea"/>
                          <a:cs typeface="+mn-cs"/>
                        </a:rPr>
                        <a:t>Yes</a:t>
                      </a:r>
                    </a:p>
                  </a:txBody>
                  <a:tcPr anchor="ctr">
                    <a:lnL w="6350">
                      <a:solidFill>
                        <a:schemeClr val="bg1">
                          <a:lumMod val="75000"/>
                        </a:schemeClr>
                      </a:solidFill>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378710390"/>
                  </a:ext>
                </a:extLst>
              </a:tr>
              <a:tr h="719385">
                <a:tc>
                  <a:txBody>
                    <a:bodyPr/>
                    <a:lstStyle/>
                    <a:p>
                      <a:pPr marL="0" lvl="0" indent="0" algn="l">
                        <a:lnSpc>
                          <a:spcPct val="100000"/>
                        </a:lnSpc>
                        <a:spcBef>
                          <a:spcPts val="0"/>
                        </a:spcBef>
                        <a:spcAft>
                          <a:spcPts val="0"/>
                        </a:spcAft>
                        <a:buClr>
                          <a:srgbClr val="000000"/>
                        </a:buClr>
                        <a:buNone/>
                      </a:pPr>
                      <a:r>
                        <a:rPr lang="en-US" sz="1100" b="1" i="0" u="none" strike="noStrike" kern="1200" noProof="0">
                          <a:solidFill>
                            <a:srgbClr val="00B050"/>
                          </a:solidFill>
                          <a:effectLst/>
                          <a:latin typeface="Nunito Sans"/>
                          <a:ea typeface="+mn-ea"/>
                          <a:cs typeface="+mn-cs"/>
                        </a:rPr>
                        <a:t>Engineering Upgrade Automation - Tarun</a:t>
                      </a:r>
                      <a:endParaRPr lang="en-US" sz="1100" b="0" i="0" u="none" strike="noStrike" kern="1200" noProof="0">
                        <a:solidFill>
                          <a:srgbClr val="000000"/>
                        </a:solidFill>
                        <a:effectLst/>
                        <a:latin typeface="Nunito Sans"/>
                        <a:ea typeface="+mn-ea"/>
                        <a:cs typeface="+mn-cs"/>
                      </a:endParaRP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lvl="0">
                        <a:buNone/>
                      </a:pPr>
                      <a:r>
                        <a:rPr lang="en-US" sz="1100" b="1" i="0" u="none" strike="noStrike" kern="1200" noProof="0">
                          <a:solidFill>
                            <a:srgbClr val="00B050"/>
                          </a:solidFill>
                          <a:effectLst/>
                          <a:latin typeface="Nunito Sans"/>
                          <a:ea typeface="+mn-ea"/>
                          <a:cs typeface="+mn-cs"/>
                        </a:rPr>
                        <a:t>Engineering Upgrade Automation</a:t>
                      </a:r>
                      <a:endParaRPr lang="en-US"/>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171450" marR="0" lvl="0" indent="-171450" algn="l" rtl="0" eaLnBrk="1" fontAlgn="auto" latinLnBrk="0" hangingPunct="1">
                        <a:lnSpc>
                          <a:spcPct val="100000"/>
                        </a:lnSpc>
                        <a:spcBef>
                          <a:spcPts val="0"/>
                        </a:spcBef>
                        <a:spcAft>
                          <a:spcPts val="0"/>
                        </a:spcAft>
                        <a:buClrTx/>
                        <a:buSzTx/>
                        <a:buFont typeface="Arial" panose="020B0604020202020204" pitchFamily="34" charset="0"/>
                        <a:buChar char="•"/>
                      </a:pPr>
                      <a:r>
                        <a:rPr lang="en-US" sz="1000" b="0" i="0" u="none" strike="noStrike" noProof="0">
                          <a:solidFill>
                            <a:srgbClr val="000000"/>
                          </a:solidFill>
                          <a:latin typeface="Nunito Sans"/>
                        </a:rPr>
                        <a:t>Reduces manual dependency and turnaround time by automating upgrade workflows, improving reliability and speed.</a:t>
                      </a:r>
                      <a:endParaRPr lang="en-US" sz="1000"/>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ctr">
                        <a:lnSpc>
                          <a:spcPct val="100000"/>
                        </a:lnSpc>
                        <a:spcBef>
                          <a:spcPts val="0"/>
                        </a:spcBef>
                        <a:spcAft>
                          <a:spcPts val="0"/>
                        </a:spcAft>
                        <a:buNone/>
                      </a:pPr>
                      <a:r>
                        <a:rPr lang="en-IN" sz="1000" b="0" i="0" u="none" strike="noStrike" kern="1200" cap="none" spc="0" normalizeH="0" baseline="0" noProof="0">
                          <a:ln>
                            <a:noFill/>
                          </a:ln>
                          <a:solidFill>
                            <a:srgbClr val="000000"/>
                          </a:solidFill>
                          <a:effectLst/>
                          <a:uLnTx/>
                          <a:uFillTx/>
                          <a:latin typeface="Nunito Sans"/>
                          <a:ea typeface="+mn-ea"/>
                          <a:cs typeface="+mn-cs"/>
                        </a:rPr>
                        <a:t>30 Sep</a:t>
                      </a:r>
                      <a:r>
                        <a:rPr kumimoji="0" lang="en-IN" sz="1000" b="0" i="0" u="none" strike="noStrike" kern="1200" cap="none" spc="0" normalizeH="0" baseline="0" noProof="0">
                          <a:ln>
                            <a:noFill/>
                          </a:ln>
                          <a:solidFill>
                            <a:srgbClr val="000000"/>
                          </a:solidFill>
                          <a:effectLst/>
                          <a:uLnTx/>
                          <a:uFillTx/>
                          <a:latin typeface="Nunito Sans"/>
                          <a:ea typeface="+mn-ea"/>
                          <a:cs typeface="+mn-cs"/>
                        </a:rPr>
                        <a:t> 2026</a:t>
                      </a: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ctr" defTabSz="914400" rtl="0" eaLnBrk="1" fontAlgn="b" latinLnBrk="0" hangingPunct="1">
                        <a:lnSpc>
                          <a:spcPct val="100000"/>
                        </a:lnSpc>
                        <a:spcBef>
                          <a:spcPts val="0"/>
                        </a:spcBef>
                        <a:spcAft>
                          <a:spcPts val="0"/>
                        </a:spcAft>
                        <a:buClrTx/>
                        <a:buSzTx/>
                        <a:buFont typeface="Arial" panose="020B0604020202020204" pitchFamily="34" charset="0"/>
                        <a:buNone/>
                        <a:tabLst/>
                        <a:defRPr/>
                      </a:pPr>
                      <a:r>
                        <a:rPr lang="en-IN" sz="1000" b="0" i="0" u="none" strike="noStrike" kern="1200" cap="none" spc="0" normalizeH="0" baseline="0" noProof="0">
                          <a:ln>
                            <a:noFill/>
                          </a:ln>
                          <a:solidFill>
                            <a:srgbClr val="000000"/>
                          </a:solidFill>
                          <a:effectLst/>
                          <a:uLnTx/>
                          <a:uFillTx/>
                          <a:latin typeface="+mn-lt"/>
                          <a:ea typeface="+mn-ea"/>
                          <a:cs typeface="+mn-cs"/>
                        </a:rPr>
                        <a:t>Yes</a:t>
                      </a:r>
                      <a:endParaRPr kumimoji="0" lang="en-IN" sz="1000" b="0" i="0" u="none" strike="noStrike" kern="1200" cap="none" spc="0" normalizeH="0" baseline="0" noProof="0">
                        <a:ln>
                          <a:noFill/>
                        </a:ln>
                        <a:solidFill>
                          <a:srgbClr val="000000"/>
                        </a:solidFill>
                        <a:effectLst/>
                        <a:uLnTx/>
                        <a:uFillTx/>
                        <a:latin typeface="+mn-lt"/>
                        <a:ea typeface="+mn-ea"/>
                        <a:cs typeface="+mn-cs"/>
                      </a:endParaRPr>
                    </a:p>
                  </a:txBody>
                  <a:tcPr anchor="ctr">
                    <a:lnL w="6350">
                      <a:solidFill>
                        <a:schemeClr val="bg1">
                          <a:lumMod val="75000"/>
                        </a:schemeClr>
                      </a:solidFill>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890803232"/>
                  </a:ext>
                </a:extLst>
              </a:tr>
              <a:tr h="719384">
                <a:tc>
                  <a:txBody>
                    <a:bodyPr/>
                    <a:lstStyle/>
                    <a:p>
                      <a:pPr marL="0" lvl="0" indent="0" algn="l">
                        <a:lnSpc>
                          <a:spcPct val="100000"/>
                        </a:lnSpc>
                        <a:spcBef>
                          <a:spcPts val="0"/>
                        </a:spcBef>
                        <a:spcAft>
                          <a:spcPts val="0"/>
                        </a:spcAft>
                        <a:buClr>
                          <a:srgbClr val="000000"/>
                        </a:buClr>
                        <a:buNone/>
                      </a:pPr>
                      <a:r>
                        <a:rPr lang="en-US" sz="1100" b="1" i="0" u="none" strike="noStrike" kern="1200" noProof="0">
                          <a:solidFill>
                            <a:srgbClr val="00B050"/>
                          </a:solidFill>
                          <a:effectLst/>
                          <a:latin typeface="Nunito Sans"/>
                          <a:ea typeface="+mn-ea"/>
                          <a:cs typeface="+mn-cs"/>
                        </a:rPr>
                        <a:t>Worker &amp; Employee Mapping in SF - Vijender</a:t>
                      </a:r>
                      <a:endParaRPr lang="en-US" sz="1100" b="0" i="0" u="none" strike="noStrike" kern="1200" noProof="0">
                        <a:solidFill>
                          <a:srgbClr val="000000"/>
                        </a:solidFill>
                        <a:effectLst/>
                        <a:latin typeface="Nunito Sans"/>
                        <a:ea typeface="+mn-ea"/>
                        <a:cs typeface="+mn-cs"/>
                      </a:endParaRP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lvl="0">
                        <a:buNone/>
                      </a:pPr>
                      <a:r>
                        <a:rPr lang="en-US" sz="1100" b="1" i="0" u="none" strike="noStrike" kern="1200" noProof="0">
                          <a:solidFill>
                            <a:srgbClr val="00B050"/>
                          </a:solidFill>
                          <a:effectLst/>
                          <a:latin typeface="Nunito Sans"/>
                          <a:ea typeface="+mn-ea"/>
                          <a:cs typeface="+mn-cs"/>
                        </a:rPr>
                        <a:t>Worker &amp; Employee Mapping in SF</a:t>
                      </a:r>
                      <a:endParaRPr lang="en-US"/>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228600" marR="0" lvl="0" indent="-228600" algn="l" rtl="0" eaLnBrk="1" fontAlgn="auto" latinLnBrk="0" hangingPunct="1">
                        <a:lnSpc>
                          <a:spcPct val="100000"/>
                        </a:lnSpc>
                        <a:buClr>
                          <a:srgbClr val="000000"/>
                        </a:buClr>
                        <a:buSzTx/>
                        <a:buFont typeface="Arial"/>
                        <a:buChar char="•"/>
                      </a:pPr>
                      <a:r>
                        <a:rPr lang="en-US" sz="1000" b="0" i="0" u="none" strike="noStrike" noProof="0">
                          <a:solidFill>
                            <a:srgbClr val="000000"/>
                          </a:solidFill>
                          <a:latin typeface="Nunito Sans"/>
                        </a:rPr>
                        <a:t>Enables accurate workforce data alignment for better reporting, compliance, and decision-making.</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ctr">
                        <a:lnSpc>
                          <a:spcPct val="100000"/>
                        </a:lnSpc>
                        <a:spcBef>
                          <a:spcPts val="0"/>
                        </a:spcBef>
                        <a:spcAft>
                          <a:spcPts val="0"/>
                        </a:spcAft>
                        <a:buNone/>
                      </a:pPr>
                      <a:r>
                        <a:rPr lang="en-IN" sz="1000" b="0" i="0" u="none" strike="noStrike" kern="1200" cap="none" spc="0" normalizeH="0" baseline="0" noProof="0">
                          <a:ln>
                            <a:noFill/>
                          </a:ln>
                          <a:solidFill>
                            <a:srgbClr val="000000"/>
                          </a:solidFill>
                          <a:effectLst/>
                          <a:uLnTx/>
                          <a:uFillTx/>
                          <a:latin typeface="Nunito Sans"/>
                          <a:ea typeface="+mn-ea"/>
                          <a:cs typeface="+mn-cs"/>
                        </a:rPr>
                        <a:t>30 Sep 2026</a:t>
                      </a:r>
                      <a:endParaRPr kumimoji="0" lang="en-US"/>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ctr" defTabSz="914400" rtl="0" eaLnBrk="1" fontAlgn="b" latinLnBrk="0" hangingPunct="1">
                        <a:lnSpc>
                          <a:spcPct val="100000"/>
                        </a:lnSpc>
                        <a:spcBef>
                          <a:spcPts val="0"/>
                        </a:spcBef>
                        <a:spcAft>
                          <a:spcPts val="0"/>
                        </a:spcAft>
                        <a:buClrTx/>
                        <a:buSzTx/>
                        <a:buFont typeface="Arial" panose="020B0604020202020204" pitchFamily="34" charset="0"/>
                        <a:buNone/>
                        <a:tabLst/>
                        <a:defRPr/>
                      </a:pPr>
                      <a:r>
                        <a:rPr lang="en-IN" sz="1000" b="0" i="0" u="none" strike="noStrike" kern="1200" cap="none" spc="0" normalizeH="0" baseline="0" noProof="0">
                          <a:ln>
                            <a:noFill/>
                          </a:ln>
                          <a:solidFill>
                            <a:srgbClr val="000000"/>
                          </a:solidFill>
                          <a:effectLst/>
                          <a:uLnTx/>
                          <a:uFillTx/>
                          <a:latin typeface="+mn-lt"/>
                          <a:ea typeface="+mn-ea"/>
                          <a:cs typeface="+mn-cs"/>
                        </a:rPr>
                        <a:t>No</a:t>
                      </a:r>
                      <a:endParaRPr kumimoji="0" lang="en-IN" sz="1000" b="0" i="0" u="none" strike="noStrike" kern="1200" cap="none" spc="0" normalizeH="0" baseline="0" noProof="0">
                        <a:ln>
                          <a:noFill/>
                        </a:ln>
                        <a:solidFill>
                          <a:srgbClr val="000000"/>
                        </a:solidFill>
                        <a:effectLst/>
                        <a:uLnTx/>
                        <a:uFillTx/>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980404190"/>
                  </a:ext>
                </a:extLst>
              </a:tr>
              <a:tr h="719384">
                <a:tc>
                  <a:txBody>
                    <a:bodyPr/>
                    <a:lstStyle/>
                    <a:p>
                      <a:pPr marL="0" lvl="0" indent="0" algn="l">
                        <a:lnSpc>
                          <a:spcPct val="100000"/>
                        </a:lnSpc>
                        <a:spcBef>
                          <a:spcPts val="0"/>
                        </a:spcBef>
                        <a:spcAft>
                          <a:spcPts val="0"/>
                        </a:spcAft>
                        <a:buClr>
                          <a:srgbClr val="000000"/>
                        </a:buClr>
                        <a:buNone/>
                      </a:pPr>
                      <a:r>
                        <a:rPr lang="en-US" sz="1100" b="1" i="0" u="none" strike="noStrike" kern="1200" noProof="0">
                          <a:solidFill>
                            <a:srgbClr val="00B050"/>
                          </a:solidFill>
                          <a:effectLst/>
                          <a:latin typeface="Nunito Sans"/>
                          <a:ea typeface="+mn-ea"/>
                          <a:cs typeface="+mn-cs"/>
                        </a:rPr>
                        <a:t>Labour Code Changes in Payroll - Suraj</a:t>
                      </a:r>
                      <a:endParaRPr lang="en-US" sz="1100" b="0" i="0" u="none" strike="noStrike" kern="1200" noProof="0">
                        <a:solidFill>
                          <a:srgbClr val="000000"/>
                        </a:solidFill>
                        <a:effectLst/>
                        <a:latin typeface="Nunito Sans"/>
                        <a:ea typeface="+mn-ea"/>
                        <a:cs typeface="+mn-cs"/>
                      </a:endParaRP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tc>
                  <a:txBody>
                    <a:bodyPr/>
                    <a:lstStyle/>
                    <a:p>
                      <a:pPr lvl="0">
                        <a:buNone/>
                      </a:pPr>
                      <a:r>
                        <a:rPr lang="en-US" sz="1100" b="1" i="0" u="none" strike="noStrike" kern="1200" noProof="0">
                          <a:solidFill>
                            <a:srgbClr val="00B050"/>
                          </a:solidFill>
                          <a:effectLst/>
                          <a:latin typeface="Nunito Sans"/>
                          <a:ea typeface="+mn-ea"/>
                          <a:cs typeface="+mn-cs"/>
                        </a:rPr>
                        <a:t>Labour Code Changes in Payroll</a:t>
                      </a:r>
                      <a:endParaRPr lang="en-US"/>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tc>
                  <a:txBody>
                    <a:bodyPr/>
                    <a:lstStyle/>
                    <a:p>
                      <a:pPr marL="228600" lvl="0" indent="-228600" algn="l">
                        <a:lnSpc>
                          <a:spcPct val="100000"/>
                        </a:lnSpc>
                        <a:buClr>
                          <a:srgbClr val="000000"/>
                        </a:buClr>
                        <a:buFont typeface="Arial"/>
                        <a:buChar char="•"/>
                      </a:pPr>
                      <a:r>
                        <a:rPr lang="en-US" sz="1000" b="0" i="0" u="none" strike="noStrike" noProof="0">
                          <a:solidFill>
                            <a:srgbClr val="000000"/>
                          </a:solidFill>
                          <a:latin typeface="Nunito Sans"/>
                        </a:rPr>
                        <a:t>Ensures payroll compliance with evolving labour laws while minimizing legal and financial risk.</a:t>
                      </a: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tc>
                  <a:txBody>
                    <a:bodyPr/>
                    <a:lstStyle/>
                    <a:p>
                      <a:pPr marL="0" marR="0" lvl="0" indent="0" algn="ctr">
                        <a:lnSpc>
                          <a:spcPct val="100000"/>
                        </a:lnSpc>
                        <a:spcBef>
                          <a:spcPts val="0"/>
                        </a:spcBef>
                        <a:spcAft>
                          <a:spcPts val="0"/>
                        </a:spcAft>
                        <a:buNone/>
                      </a:pPr>
                      <a:r>
                        <a:rPr lang="en-IN" sz="1000" b="0" i="0" u="none" strike="noStrike" kern="1200" cap="none" spc="0" normalizeH="0" baseline="0" noProof="0">
                          <a:ln>
                            <a:noFill/>
                          </a:ln>
                          <a:solidFill>
                            <a:srgbClr val="000000"/>
                          </a:solidFill>
                          <a:effectLst/>
                          <a:uLnTx/>
                          <a:uFillTx/>
                          <a:latin typeface="Nunito Sans"/>
                          <a:ea typeface="+mn-ea"/>
                          <a:cs typeface="+mn-cs"/>
                        </a:rPr>
                        <a:t>30 Sep 2026</a:t>
                      </a:r>
                      <a:endParaRPr kumimoji="0" lang="en-US"/>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a:solidFill>
                        <a:schemeClr val="bg1">
                          <a:lumMod val="75000"/>
                        </a:schemeClr>
                      </a:solidFill>
                    </a:lnB>
                    <a:noFill/>
                  </a:tcPr>
                </a:tc>
                <a:tc>
                  <a:txBody>
                    <a:bodyPr/>
                    <a:lstStyle/>
                    <a:p>
                      <a:pPr marL="0" marR="0" lvl="0" indent="0" algn="ctr" defTabSz="914400" rtl="0">
                        <a:lnSpc>
                          <a:spcPct val="100000"/>
                        </a:lnSpc>
                        <a:spcBef>
                          <a:spcPts val="0"/>
                        </a:spcBef>
                        <a:spcAft>
                          <a:spcPts val="0"/>
                        </a:spcAft>
                        <a:buClrTx/>
                        <a:buSzTx/>
                        <a:buFont typeface="Arial" panose="020B0604020202020204" pitchFamily="34" charset="0"/>
                        <a:buNone/>
                        <a:tabLst/>
                        <a:defRPr/>
                      </a:pPr>
                      <a:r>
                        <a:rPr lang="en-IN" sz="1000" b="0" i="0" u="none" strike="noStrike" kern="1200" cap="none" spc="0" normalizeH="0" baseline="0" noProof="0">
                          <a:ln>
                            <a:noFill/>
                          </a:ln>
                          <a:solidFill>
                            <a:srgbClr val="000000"/>
                          </a:solidFill>
                          <a:effectLst/>
                          <a:uLnTx/>
                          <a:uFillTx/>
                          <a:latin typeface="+mn-lt"/>
                          <a:ea typeface="+mn-ea"/>
                          <a:cs typeface="+mn-cs"/>
                        </a:rPr>
                        <a:t>No</a:t>
                      </a:r>
                      <a:endParaRPr kumimoji="0" lang="en-IN" sz="1000" b="0" i="0" u="none" strike="noStrike" kern="1200" cap="none" spc="0" normalizeH="0" baseline="0" noProof="0">
                        <a:ln>
                          <a:noFill/>
                        </a:ln>
                        <a:solidFill>
                          <a:srgbClr val="000000"/>
                        </a:solidFill>
                        <a:effectLst/>
                        <a:uLnTx/>
                        <a:uFillTx/>
                        <a:latin typeface="+mn-lt"/>
                        <a:ea typeface="+mn-ea"/>
                        <a:cs typeface="+mn-cs"/>
                      </a:endParaRPr>
                    </a:p>
                  </a:txBody>
                  <a:tcPr anchor="ctr">
                    <a:lnL w="6350">
                      <a:solidFill>
                        <a:schemeClr val="bg1">
                          <a:lumMod val="75000"/>
                        </a:schemeClr>
                      </a:solidFill>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680045145"/>
                  </a:ext>
                </a:extLst>
              </a:tr>
              <a:tr h="719384">
                <a:tc>
                  <a:txBody>
                    <a:bodyPr/>
                    <a:lstStyle/>
                    <a:p>
                      <a:pPr marL="0" lvl="0" indent="0" algn="l">
                        <a:lnSpc>
                          <a:spcPct val="100000"/>
                        </a:lnSpc>
                        <a:spcBef>
                          <a:spcPts val="0"/>
                        </a:spcBef>
                        <a:spcAft>
                          <a:spcPts val="0"/>
                        </a:spcAft>
                        <a:buClr>
                          <a:srgbClr val="000000"/>
                        </a:buClr>
                        <a:buNone/>
                      </a:pPr>
                      <a:r>
                        <a:rPr lang="en-US" sz="1100" b="1" i="0" u="none" strike="noStrike" kern="1200" noProof="0">
                          <a:solidFill>
                            <a:srgbClr val="00B050"/>
                          </a:solidFill>
                          <a:effectLst/>
                          <a:latin typeface="Nunito Sans"/>
                          <a:ea typeface="+mn-ea"/>
                          <a:cs typeface="+mn-cs"/>
                        </a:rPr>
                        <a:t>Leave Pro-ration on Exit Phase 2- Tarun</a:t>
                      </a:r>
                      <a:endParaRPr lang="en-US" sz="1100" b="0" i="0" u="none" strike="noStrike" kern="1200" noProof="0">
                        <a:solidFill>
                          <a:srgbClr val="000000"/>
                        </a:solidFill>
                        <a:effectLst/>
                        <a:latin typeface="Nunito Sans"/>
                        <a:ea typeface="+mn-ea"/>
                        <a:cs typeface="+mn-cs"/>
                      </a:endParaRP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lvl="0">
                        <a:buNone/>
                      </a:pPr>
                      <a:r>
                        <a:rPr lang="en-US" sz="1100" b="1" i="0" u="none" strike="noStrike" kern="1200" noProof="0">
                          <a:solidFill>
                            <a:srgbClr val="00B050"/>
                          </a:solidFill>
                          <a:effectLst/>
                          <a:latin typeface="Nunito Sans"/>
                          <a:ea typeface="+mn-ea"/>
                          <a:cs typeface="+mn-cs"/>
                        </a:rPr>
                        <a:t>Leave Pro-ration on Exit Phase 2</a:t>
                      </a:r>
                      <a:endParaRPr lang="en-US"/>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marL="228600" lvl="0" indent="-228600" algn="l">
                        <a:lnSpc>
                          <a:spcPct val="100000"/>
                        </a:lnSpc>
                        <a:buFont typeface="Arial"/>
                        <a:buChar char="•"/>
                      </a:pPr>
                      <a:r>
                        <a:rPr lang="en-US" sz="1000" b="0" i="0" u="none" strike="noStrike" noProof="0">
                          <a:solidFill>
                            <a:srgbClr val="000000"/>
                          </a:solidFill>
                          <a:latin typeface="Nunito Sans"/>
                        </a:rPr>
                        <a:t>Ensures fair and compliant leave settlement, reducing disputes and manual adjustments at exit.</a:t>
                      </a: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ctr">
                        <a:lnSpc>
                          <a:spcPct val="100000"/>
                        </a:lnSpc>
                        <a:spcBef>
                          <a:spcPts val="0"/>
                        </a:spcBef>
                        <a:spcAft>
                          <a:spcPts val="0"/>
                        </a:spcAft>
                        <a:buNone/>
                      </a:pPr>
                      <a:r>
                        <a:rPr lang="en-IN" sz="1000" b="0" i="0" u="none" strike="noStrike" kern="1200" cap="none" spc="0" normalizeH="0" baseline="0" noProof="0">
                          <a:ln>
                            <a:noFill/>
                          </a:ln>
                          <a:solidFill>
                            <a:srgbClr val="000000"/>
                          </a:solidFill>
                          <a:effectLst/>
                          <a:uLnTx/>
                          <a:uFillTx/>
                          <a:latin typeface="Nunito Sans"/>
                          <a:ea typeface="+mn-ea"/>
                          <a:cs typeface="+mn-cs"/>
                        </a:rPr>
                        <a:t>30 Sep 2026</a:t>
                      </a:r>
                      <a:endParaRPr kumimoji="0" lang="en-US"/>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ctr" rtl="0">
                        <a:lnSpc>
                          <a:spcPct val="100000"/>
                        </a:lnSpc>
                        <a:spcBef>
                          <a:spcPts val="0"/>
                        </a:spcBef>
                        <a:spcAft>
                          <a:spcPts val="0"/>
                        </a:spcAft>
                        <a:buClrTx/>
                        <a:buSzTx/>
                        <a:buFont typeface="Arial" panose="020B0604020202020204" pitchFamily="34" charset="0"/>
                        <a:buNone/>
                      </a:pPr>
                      <a:r>
                        <a:rPr lang="en-IN" sz="1000" b="0" i="0" u="none" strike="noStrike" kern="1200" cap="none" spc="0" normalizeH="0" baseline="0" noProof="0">
                          <a:ln>
                            <a:noFill/>
                          </a:ln>
                          <a:solidFill>
                            <a:srgbClr val="000000"/>
                          </a:solidFill>
                          <a:effectLst/>
                          <a:uLnTx/>
                          <a:uFillTx/>
                          <a:latin typeface="+mn-lt"/>
                          <a:ea typeface="+mn-ea"/>
                          <a:cs typeface="+mn-cs"/>
                        </a:rPr>
                        <a:t>No</a:t>
                      </a:r>
                      <a:endParaRPr kumimoji="0" lang="en-IN" sz="1000" b="0" i="0" u="none" strike="noStrike" kern="1200" cap="none" spc="0" normalizeH="0" baseline="0" noProof="0">
                        <a:ln>
                          <a:noFill/>
                        </a:ln>
                        <a:solidFill>
                          <a:srgbClr val="000000"/>
                        </a:solidFill>
                        <a:effectLst/>
                        <a:uLnTx/>
                        <a:uFillTx/>
                        <a:latin typeface="+mn-lt"/>
                        <a:ea typeface="+mn-ea"/>
                        <a:cs typeface="+mn-cs"/>
                      </a:endParaRPr>
                    </a:p>
                  </a:txBody>
                  <a:tcPr anchor="ctr">
                    <a:lnL w="6350">
                      <a:solidFill>
                        <a:schemeClr val="bg1">
                          <a:lumMod val="75000"/>
                        </a:schemeClr>
                      </a:solidFill>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245768891"/>
                  </a:ext>
                </a:extLst>
              </a:tr>
              <a:tr h="719384">
                <a:tc>
                  <a:txBody>
                    <a:bodyPr/>
                    <a:lstStyle/>
                    <a:p>
                      <a:pPr marL="0" lvl="0" indent="0" algn="l">
                        <a:lnSpc>
                          <a:spcPct val="100000"/>
                        </a:lnSpc>
                        <a:spcBef>
                          <a:spcPts val="0"/>
                        </a:spcBef>
                        <a:spcAft>
                          <a:spcPts val="0"/>
                        </a:spcAft>
                        <a:buClr>
                          <a:srgbClr val="000000"/>
                        </a:buClr>
                        <a:buNone/>
                      </a:pPr>
                      <a:r>
                        <a:rPr lang="en-US" sz="1100" b="1" i="0" u="none" strike="noStrike" kern="1200" noProof="0">
                          <a:solidFill>
                            <a:srgbClr val="00B050"/>
                          </a:solidFill>
                          <a:effectLst/>
                          <a:latin typeface="Nunito Sans"/>
                          <a:ea typeface="+mn-ea"/>
                          <a:cs typeface="+mn-cs"/>
                        </a:rPr>
                        <a:t>Manager Scorecard &amp; Team Insights Dashboard - Kunal</a:t>
                      </a:r>
                      <a:endParaRPr lang="en-US" sz="1100" b="0" i="0" u="none" strike="noStrike" kern="1200" noProof="0">
                        <a:solidFill>
                          <a:srgbClr val="000000"/>
                        </a:solidFill>
                        <a:effectLst/>
                        <a:latin typeface="Nunito Sans"/>
                        <a:ea typeface="+mn-ea"/>
                        <a:cs typeface="+mn-cs"/>
                      </a:endParaRP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tc>
                  <a:txBody>
                    <a:bodyPr/>
                    <a:lstStyle/>
                    <a:p>
                      <a:pPr lvl="0">
                        <a:buNone/>
                      </a:pPr>
                      <a:r>
                        <a:rPr lang="en-US" sz="1100" b="1" i="0" u="none" strike="noStrike" kern="1200" noProof="0">
                          <a:solidFill>
                            <a:srgbClr val="00B050"/>
                          </a:solidFill>
                          <a:effectLst/>
                          <a:latin typeface="Nunito Sans"/>
                          <a:ea typeface="+mn-ea"/>
                          <a:cs typeface="+mn-cs"/>
                        </a:rPr>
                        <a:t>Manager Scorecard &amp; Team Insights Dashboard</a:t>
                      </a:r>
                      <a:endParaRPr lang="en-US"/>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tc>
                  <a:txBody>
                    <a:bodyPr/>
                    <a:lstStyle/>
                    <a:p>
                      <a:pPr marL="228600" lvl="0" indent="-228600" algn="l">
                        <a:lnSpc>
                          <a:spcPct val="100000"/>
                        </a:lnSpc>
                        <a:buClr>
                          <a:srgbClr val="000000"/>
                        </a:buClr>
                        <a:buFont typeface="Arial"/>
                        <a:buChar char="•"/>
                      </a:pPr>
                      <a:r>
                        <a:rPr lang="en-US" sz="1000" b="0" i="0" u="none" strike="noStrike" noProof="0">
                          <a:solidFill>
                            <a:srgbClr val="000000"/>
                          </a:solidFill>
                          <a:latin typeface="Nunito Sans"/>
                        </a:rPr>
                        <a:t>Provides leadership with strategic insights and KPIs to enable data-backed decisions and business alignment.</a:t>
                      </a: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tc>
                  <a:txBody>
                    <a:bodyPr/>
                    <a:lstStyle/>
                    <a:p>
                      <a:pPr marL="0" marR="0" lvl="0" indent="0" algn="ctr">
                        <a:lnSpc>
                          <a:spcPct val="100000"/>
                        </a:lnSpc>
                        <a:spcBef>
                          <a:spcPts val="0"/>
                        </a:spcBef>
                        <a:spcAft>
                          <a:spcPts val="0"/>
                        </a:spcAft>
                        <a:buNone/>
                      </a:pPr>
                      <a:r>
                        <a:rPr lang="en-IN" sz="1000" b="0" i="0" u="none" strike="noStrike" kern="1200" cap="none" spc="0" normalizeH="0" baseline="0" noProof="0">
                          <a:ln>
                            <a:noFill/>
                          </a:ln>
                          <a:solidFill>
                            <a:srgbClr val="000000"/>
                          </a:solidFill>
                          <a:effectLst/>
                          <a:uLnTx/>
                          <a:uFillTx/>
                          <a:latin typeface="Nunito Sans"/>
                          <a:ea typeface="+mn-ea"/>
                          <a:cs typeface="+mn-cs"/>
                        </a:rPr>
                        <a:t>30 Sep 2026</a:t>
                      </a:r>
                      <a:endParaRPr kumimoji="0" lang="en-US"/>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ctr" defTabSz="914400" rtl="0">
                        <a:lnSpc>
                          <a:spcPct val="100000"/>
                        </a:lnSpc>
                        <a:spcBef>
                          <a:spcPts val="0"/>
                        </a:spcBef>
                        <a:spcAft>
                          <a:spcPts val="0"/>
                        </a:spcAft>
                        <a:buClrTx/>
                        <a:buSzTx/>
                        <a:buFont typeface="Arial" panose="020B0604020202020204" pitchFamily="34" charset="0"/>
                        <a:buNone/>
                        <a:tabLst/>
                        <a:defRPr/>
                      </a:pPr>
                      <a:r>
                        <a:rPr lang="en-IN" sz="1000" b="0" i="0" u="none" strike="noStrike" kern="1200" cap="none" spc="0" normalizeH="0" baseline="0" noProof="0">
                          <a:ln>
                            <a:noFill/>
                          </a:ln>
                          <a:solidFill>
                            <a:srgbClr val="000000"/>
                          </a:solidFill>
                          <a:effectLst/>
                          <a:uLnTx/>
                          <a:uFillTx/>
                          <a:latin typeface="+mn-lt"/>
                          <a:ea typeface="+mn-ea"/>
                          <a:cs typeface="+mn-cs"/>
                        </a:rPr>
                        <a:t>No</a:t>
                      </a:r>
                      <a:endParaRPr kumimoji="0" lang="en-IN" sz="1000" b="0" i="0" u="none" strike="noStrike" kern="1200" cap="none" spc="0" normalizeH="0" baseline="0" noProof="0">
                        <a:ln>
                          <a:noFill/>
                        </a:ln>
                        <a:solidFill>
                          <a:srgbClr val="000000"/>
                        </a:solidFill>
                        <a:effectLst/>
                        <a:uLnTx/>
                        <a:uFillTx/>
                        <a:latin typeface="+mn-lt"/>
                        <a:ea typeface="+mn-ea"/>
                        <a:cs typeface="+mn-cs"/>
                      </a:endParaRPr>
                    </a:p>
                  </a:txBody>
                  <a:tcPr anchor="ctr">
                    <a:lnL w="6350">
                      <a:solidFill>
                        <a:schemeClr val="bg1">
                          <a:lumMod val="75000"/>
                        </a:schemeClr>
                      </a:solidFill>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73188353"/>
                  </a:ext>
                </a:extLst>
              </a:tr>
            </a:tbl>
          </a:graphicData>
        </a:graphic>
      </p:graphicFrame>
      <p:sp>
        <p:nvSpPr>
          <p:cNvPr id="4" name="Rectangle 3">
            <a:extLst>
              <a:ext uri="{FF2B5EF4-FFF2-40B4-BE49-F238E27FC236}">
                <a16:creationId xmlns:a16="http://schemas.microsoft.com/office/drawing/2014/main" id="{83D53127-4861-84EE-9B9E-042988FDA568}"/>
              </a:ext>
            </a:extLst>
          </p:cNvPr>
          <p:cNvSpPr/>
          <p:nvPr/>
        </p:nvSpPr>
        <p:spPr>
          <a:xfrm>
            <a:off x="1188132" y="6671592"/>
            <a:ext cx="90000" cy="90000"/>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5" name="Rectangle 4">
            <a:extLst>
              <a:ext uri="{FF2B5EF4-FFF2-40B4-BE49-F238E27FC236}">
                <a16:creationId xmlns:a16="http://schemas.microsoft.com/office/drawing/2014/main" id="{202F690C-ED8C-0B5F-7A02-8ED3E99027FC}"/>
              </a:ext>
            </a:extLst>
          </p:cNvPr>
          <p:cNvSpPr/>
          <p:nvPr/>
        </p:nvSpPr>
        <p:spPr>
          <a:xfrm>
            <a:off x="2265818" y="6670554"/>
            <a:ext cx="90000" cy="90000"/>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7" name="Rectangle 6">
            <a:extLst>
              <a:ext uri="{FF2B5EF4-FFF2-40B4-BE49-F238E27FC236}">
                <a16:creationId xmlns:a16="http://schemas.microsoft.com/office/drawing/2014/main" id="{83C6C260-1946-13C3-FDE4-7ED8C4285087}"/>
              </a:ext>
            </a:extLst>
          </p:cNvPr>
          <p:cNvSpPr/>
          <p:nvPr/>
        </p:nvSpPr>
        <p:spPr>
          <a:xfrm>
            <a:off x="3443423" y="6671592"/>
            <a:ext cx="90000" cy="90000"/>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8" name="Rectangle 7">
            <a:extLst>
              <a:ext uri="{FF2B5EF4-FFF2-40B4-BE49-F238E27FC236}">
                <a16:creationId xmlns:a16="http://schemas.microsoft.com/office/drawing/2014/main" id="{3F0D2FCD-4EAE-5E3F-AD91-6A18868B9DE0}"/>
              </a:ext>
            </a:extLst>
          </p:cNvPr>
          <p:cNvSpPr/>
          <p:nvPr/>
        </p:nvSpPr>
        <p:spPr>
          <a:xfrm>
            <a:off x="8146052" y="6714097"/>
            <a:ext cx="90000" cy="90000"/>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9" name="TextBox 15">
            <a:extLst>
              <a:ext uri="{FF2B5EF4-FFF2-40B4-BE49-F238E27FC236}">
                <a16:creationId xmlns:a16="http://schemas.microsoft.com/office/drawing/2014/main" id="{F88919FE-05EF-DF19-FF7B-872AA9B26FF9}"/>
              </a:ext>
            </a:extLst>
          </p:cNvPr>
          <p:cNvSpPr txBox="1"/>
          <p:nvPr/>
        </p:nvSpPr>
        <p:spPr>
          <a:xfrm>
            <a:off x="1288983" y="6614743"/>
            <a:ext cx="857245"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0070C0"/>
                </a:solidFill>
                <a:effectLst/>
                <a:uLnTx/>
                <a:uFillTx/>
                <a:latin typeface="Nunito Sans"/>
                <a:ea typeface="+mn-ea"/>
                <a:cs typeface="+mn-cs"/>
              </a:rPr>
              <a:t>Delivered</a:t>
            </a:r>
            <a:endParaRPr kumimoji="0" lang="en-IN" sz="1000" b="0" i="0" u="none" strike="noStrike" kern="1200" cap="none" spc="0" normalizeH="0" baseline="0" noProof="0">
              <a:ln>
                <a:noFill/>
              </a:ln>
              <a:solidFill>
                <a:srgbClr val="000000"/>
              </a:solidFill>
              <a:effectLst/>
              <a:uLnTx/>
              <a:uFillTx/>
              <a:latin typeface="Nunito Sans"/>
              <a:ea typeface="+mn-ea"/>
              <a:cs typeface="+mn-cs"/>
            </a:endParaRPr>
          </a:p>
        </p:txBody>
      </p:sp>
      <p:sp>
        <p:nvSpPr>
          <p:cNvPr id="10" name="TextBox 18">
            <a:extLst>
              <a:ext uri="{FF2B5EF4-FFF2-40B4-BE49-F238E27FC236}">
                <a16:creationId xmlns:a16="http://schemas.microsoft.com/office/drawing/2014/main" id="{82D464FE-7EBC-D7B2-3D34-0A523899B44D}"/>
              </a:ext>
            </a:extLst>
          </p:cNvPr>
          <p:cNvSpPr txBox="1"/>
          <p:nvPr/>
        </p:nvSpPr>
        <p:spPr>
          <a:xfrm>
            <a:off x="2310642" y="6611102"/>
            <a:ext cx="1032881"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00B050"/>
                </a:solidFill>
                <a:effectLst/>
                <a:uLnTx/>
                <a:uFillTx/>
                <a:latin typeface="Nunito Sans"/>
                <a:ea typeface="+mn-ea"/>
                <a:cs typeface="+mn-cs"/>
              </a:rPr>
              <a:t>Ontrack</a:t>
            </a:r>
            <a:endParaRPr kumimoji="0" lang="en-IN" sz="1000" b="0" i="0" u="none" strike="noStrike" kern="1200" cap="none" spc="0" normalizeH="0" baseline="0" noProof="0">
              <a:ln>
                <a:noFill/>
              </a:ln>
              <a:solidFill>
                <a:srgbClr val="000000"/>
              </a:solidFill>
              <a:effectLst/>
              <a:uLnTx/>
              <a:uFillTx/>
              <a:latin typeface="Nunito Sans"/>
              <a:ea typeface="+mn-ea"/>
              <a:cs typeface="+mn-cs"/>
            </a:endParaRPr>
          </a:p>
        </p:txBody>
      </p:sp>
      <p:sp>
        <p:nvSpPr>
          <p:cNvPr id="11" name="TextBox 20">
            <a:extLst>
              <a:ext uri="{FF2B5EF4-FFF2-40B4-BE49-F238E27FC236}">
                <a16:creationId xmlns:a16="http://schemas.microsoft.com/office/drawing/2014/main" id="{3A205CC2-009D-0754-B1F0-7A18F5E12306}"/>
              </a:ext>
            </a:extLst>
          </p:cNvPr>
          <p:cNvSpPr txBox="1"/>
          <p:nvPr/>
        </p:nvSpPr>
        <p:spPr>
          <a:xfrm>
            <a:off x="3539606" y="6608370"/>
            <a:ext cx="2257628"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FED9A0">
                    <a:lumMod val="75000"/>
                  </a:srgbClr>
                </a:solidFill>
                <a:effectLst/>
                <a:uLnTx/>
                <a:uFillTx/>
                <a:latin typeface="Nunito Sans"/>
                <a:ea typeface="+mn-ea"/>
                <a:cs typeface="+mn-cs"/>
              </a:rPr>
              <a:t>Under delay and can be recovered</a:t>
            </a:r>
            <a:endParaRPr kumimoji="0" lang="en-IN" sz="1000" b="0" i="0" u="none" strike="noStrike" kern="1200" cap="none" spc="0" normalizeH="0" baseline="0" noProof="0">
              <a:ln>
                <a:noFill/>
              </a:ln>
              <a:solidFill>
                <a:srgbClr val="000000"/>
              </a:solidFill>
              <a:effectLst/>
              <a:uLnTx/>
              <a:uFillTx/>
              <a:latin typeface="Nunito Sans"/>
              <a:ea typeface="+mn-ea"/>
              <a:cs typeface="+mn-cs"/>
            </a:endParaRPr>
          </a:p>
        </p:txBody>
      </p:sp>
      <p:sp>
        <p:nvSpPr>
          <p:cNvPr id="13" name="TextBox 22">
            <a:extLst>
              <a:ext uri="{FF2B5EF4-FFF2-40B4-BE49-F238E27FC236}">
                <a16:creationId xmlns:a16="http://schemas.microsoft.com/office/drawing/2014/main" id="{BAE14494-C1E3-D7BF-C57E-D573B05AA22A}"/>
              </a:ext>
            </a:extLst>
          </p:cNvPr>
          <p:cNvSpPr txBox="1"/>
          <p:nvPr/>
        </p:nvSpPr>
        <p:spPr>
          <a:xfrm>
            <a:off x="8246937" y="6618126"/>
            <a:ext cx="2338222"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FF0000"/>
                </a:solidFill>
                <a:effectLst/>
                <a:uLnTx/>
                <a:uFillTx/>
                <a:latin typeface="Nunito Sans"/>
                <a:ea typeface="+mn-ea"/>
                <a:cs typeface="+mn-cs"/>
              </a:rPr>
              <a:t>Delayed and pushed to next release</a:t>
            </a:r>
          </a:p>
        </p:txBody>
      </p:sp>
      <p:sp>
        <p:nvSpPr>
          <p:cNvPr id="15" name="TextBox 14">
            <a:extLst>
              <a:ext uri="{FF2B5EF4-FFF2-40B4-BE49-F238E27FC236}">
                <a16:creationId xmlns:a16="http://schemas.microsoft.com/office/drawing/2014/main" id="{69B0E0E1-032E-9FB4-7FF9-D5DCA2A07948}"/>
              </a:ext>
            </a:extLst>
          </p:cNvPr>
          <p:cNvSpPr txBox="1"/>
          <p:nvPr/>
        </p:nvSpPr>
        <p:spPr>
          <a:xfrm>
            <a:off x="6454369" y="6611638"/>
            <a:ext cx="2743200"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IN" sz="1000">
                <a:solidFill>
                  <a:srgbClr val="7D7D7D"/>
                </a:solidFill>
              </a:rPr>
              <a:t>Descoped</a:t>
            </a:r>
            <a:endParaRPr lang="en-US"/>
          </a:p>
        </p:txBody>
      </p:sp>
      <p:sp>
        <p:nvSpPr>
          <p:cNvPr id="16" name="Rectangle 15">
            <a:extLst>
              <a:ext uri="{FF2B5EF4-FFF2-40B4-BE49-F238E27FC236}">
                <a16:creationId xmlns:a16="http://schemas.microsoft.com/office/drawing/2014/main" id="{CB6DF9BD-9C5B-3E38-CA82-F173B3950CEA}"/>
              </a:ext>
            </a:extLst>
          </p:cNvPr>
          <p:cNvSpPr/>
          <p:nvPr/>
        </p:nvSpPr>
        <p:spPr>
          <a:xfrm>
            <a:off x="6360794" y="6681439"/>
            <a:ext cx="90000" cy="90000"/>
          </a:xfrm>
          <a:prstGeom prst="rect">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17" name="Title 11">
            <a:extLst>
              <a:ext uri="{FF2B5EF4-FFF2-40B4-BE49-F238E27FC236}">
                <a16:creationId xmlns:a16="http://schemas.microsoft.com/office/drawing/2014/main" id="{B6679B17-97DD-D712-94D1-3115E0C6B3EE}"/>
              </a:ext>
            </a:extLst>
          </p:cNvPr>
          <p:cNvSpPr txBox="1">
            <a:spLocks/>
          </p:cNvSpPr>
          <p:nvPr/>
        </p:nvSpPr>
        <p:spPr>
          <a:xfrm>
            <a:off x="242857" y="182023"/>
            <a:ext cx="7691717" cy="430255"/>
          </a:xfrm>
          <a:prstGeom prst="rect">
            <a:avLst/>
          </a:prstGeom>
        </p:spPr>
        <p:txBody>
          <a:bodyPr lIns="91440" tIns="45720" rIns="91440" bIns="45720" anchor="t">
            <a:noAutofit/>
          </a:bodyPr>
          <a:lstStyle>
            <a:lvl1pPr algn="l" defTabSz="914400" rtl="0" eaLnBrk="1" latinLnBrk="0" hangingPunct="1">
              <a:lnSpc>
                <a:spcPct val="90000"/>
              </a:lnSpc>
              <a:spcBef>
                <a:spcPct val="0"/>
              </a:spcBef>
              <a:buNone/>
              <a:defRPr sz="4400" b="1" i="0" kern="1200">
                <a:solidFill>
                  <a:schemeClr val="tx1"/>
                </a:solidFill>
                <a:latin typeface="AirIndia" pitchFamily="82" charset="77"/>
                <a:ea typeface="+mj-ea"/>
                <a:cs typeface="+mj-cs"/>
              </a:defRPr>
            </a:lvl1pPr>
          </a:lstStyle>
          <a:p>
            <a:pPr>
              <a:defRPr/>
            </a:pPr>
            <a:r>
              <a:rPr lang="en-US" sz="1800">
                <a:solidFill>
                  <a:srgbClr val="DA0E28"/>
                </a:solidFill>
                <a:latin typeface="AirIndia"/>
              </a:rPr>
              <a:t>Corporate Systems </a:t>
            </a:r>
            <a:r>
              <a:rPr kumimoji="0" lang="en-US" sz="1800" b="1" i="0" u="none" strike="noStrike" kern="1200" cap="none" spc="0" normalizeH="0" baseline="0" noProof="0">
                <a:ln>
                  <a:noFill/>
                </a:ln>
                <a:solidFill>
                  <a:srgbClr val="DA0E28"/>
                </a:solidFill>
                <a:effectLst/>
                <a:uLnTx/>
                <a:uFillTx/>
                <a:latin typeface="AirIndia"/>
                <a:ea typeface="+mj-ea"/>
                <a:cs typeface="+mj-cs"/>
              </a:rPr>
              <a:t>- </a:t>
            </a:r>
            <a:r>
              <a:rPr lang="en-US" sz="1800">
                <a:solidFill>
                  <a:srgbClr val="DA0E28"/>
                </a:solidFill>
                <a:latin typeface="AirIndia"/>
              </a:rPr>
              <a:t>FY26-27 Q2</a:t>
            </a:r>
            <a:r>
              <a:rPr kumimoji="0" lang="en-US" sz="1800" b="1" i="0" u="none" strike="noStrike" kern="1200" cap="none" spc="0" normalizeH="0" baseline="0" noProof="0">
                <a:ln>
                  <a:noFill/>
                </a:ln>
                <a:solidFill>
                  <a:srgbClr val="DA0E28"/>
                </a:solidFill>
                <a:effectLst/>
                <a:uLnTx/>
                <a:uFillTx/>
                <a:latin typeface="AirIndia"/>
                <a:ea typeface="+mj-ea"/>
                <a:cs typeface="+mj-cs"/>
              </a:rPr>
              <a:t> Release Plan</a:t>
            </a:r>
            <a:r>
              <a:rPr lang="en-US" sz="1800">
                <a:solidFill>
                  <a:srgbClr val="DA0E28"/>
                </a:solidFill>
                <a:latin typeface="AirIndia"/>
              </a:rPr>
              <a:t> (HR Tech)</a:t>
            </a:r>
            <a:endParaRPr lang="en-US" sz="1800" b="0">
              <a:solidFill>
                <a:srgbClr val="000000"/>
              </a:solidFill>
              <a:latin typeface="AirIndia"/>
            </a:endParaRPr>
          </a:p>
          <a:p>
            <a:pPr>
              <a:defRPr/>
            </a:pPr>
            <a:endParaRPr lang="en-US" sz="1800" i="0" u="none" strike="noStrike" kern="1200" cap="none" spc="0" normalizeH="0" baseline="0" noProof="0">
              <a:ln>
                <a:noFill/>
              </a:ln>
              <a:solidFill>
                <a:srgbClr val="DA0E28"/>
              </a:solidFill>
              <a:effectLst/>
              <a:uLnTx/>
              <a:uFillTx/>
              <a:latin typeface="AirIndia"/>
            </a:endParaRPr>
          </a:p>
        </p:txBody>
      </p:sp>
    </p:spTree>
    <p:extLst>
      <p:ext uri="{BB962C8B-B14F-4D97-AF65-F5344CB8AC3E}">
        <p14:creationId xmlns:p14="http://schemas.microsoft.com/office/powerpoint/2010/main" val="33374478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DD9555-254D-3684-D9AE-A85C88CD422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68524FE-E844-1178-957C-AA42E260D5F8}"/>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3A41A254-7326-714E-AF55-4C213D6394DE}" type="slidenum">
              <a:rPr kumimoji="0" lang="en-US" sz="1200" b="0" i="0" u="none" strike="noStrike" kern="1200" cap="none" spc="0" normalizeH="0" baseline="0" noProof="0" smtClean="0">
                <a:ln>
                  <a:noFill/>
                </a:ln>
                <a:solidFill>
                  <a:srgbClr val="DA0E28"/>
                </a:solidFill>
                <a:effectLst/>
                <a:uLnTx/>
                <a:uFillTx/>
                <a:latin typeface="Nunito Sans"/>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srgbClr val="DA0E28"/>
              </a:solidFill>
              <a:effectLst/>
              <a:uLnTx/>
              <a:uFillTx/>
              <a:latin typeface="Nunito Sans"/>
              <a:ea typeface="+mn-ea"/>
              <a:cs typeface="+mn-cs"/>
            </a:endParaRPr>
          </a:p>
        </p:txBody>
      </p:sp>
      <p:sp>
        <p:nvSpPr>
          <p:cNvPr id="3" name="Rectangle 2">
            <a:extLst>
              <a:ext uri="{FF2B5EF4-FFF2-40B4-BE49-F238E27FC236}">
                <a16:creationId xmlns:a16="http://schemas.microsoft.com/office/drawing/2014/main" id="{BD4E3913-DFF6-62DD-EEF3-B558BAF7EA4D}"/>
              </a:ext>
            </a:extLst>
          </p:cNvPr>
          <p:cNvSpPr/>
          <p:nvPr/>
        </p:nvSpPr>
        <p:spPr>
          <a:xfrm>
            <a:off x="129077" y="610471"/>
            <a:ext cx="1170432" cy="42234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defRPr/>
            </a:pPr>
            <a:r>
              <a:rPr lang="en-IN" sz="1400" b="1">
                <a:solidFill>
                  <a:srgbClr val="FFFFFF"/>
                </a:solidFill>
                <a:latin typeface="AirIndia"/>
              </a:rPr>
              <a:t>July</a:t>
            </a:r>
            <a:r>
              <a:rPr kumimoji="0" lang="en-IN" sz="1400" b="1" i="0" u="none" strike="noStrike" kern="1200" cap="none" spc="0" normalizeH="0" baseline="0" noProof="0">
                <a:ln>
                  <a:noFill/>
                </a:ln>
                <a:solidFill>
                  <a:srgbClr val="FFFFFF"/>
                </a:solidFill>
                <a:effectLst/>
                <a:uLnTx/>
                <a:uFillTx/>
                <a:latin typeface="AirIndia"/>
                <a:ea typeface="+mn-ea"/>
                <a:cs typeface="+mn-cs"/>
              </a:rPr>
              <a:t> ‘</a:t>
            </a:r>
            <a:r>
              <a:rPr lang="en-IN" sz="1400" b="1">
                <a:solidFill>
                  <a:srgbClr val="FFFFFF"/>
                </a:solidFill>
                <a:latin typeface="AirIndia"/>
              </a:rPr>
              <a:t>26</a:t>
            </a:r>
            <a:endParaRPr kumimoji="0" lang="en-US" sz="1400" b="1" i="0" u="none" strike="noStrike" kern="1200" cap="none" spc="0" normalizeH="0" baseline="0" noProof="0">
              <a:ln>
                <a:noFill/>
              </a:ln>
              <a:solidFill>
                <a:srgbClr val="FFFFFF"/>
              </a:solidFill>
              <a:effectLst/>
              <a:uLnTx/>
              <a:uFillTx/>
              <a:latin typeface="AirIndia"/>
              <a:ea typeface="+mn-ea"/>
              <a:cs typeface="+mn-cs"/>
            </a:endParaRPr>
          </a:p>
        </p:txBody>
      </p:sp>
      <p:sp>
        <p:nvSpPr>
          <p:cNvPr id="6" name="Title 11">
            <a:extLst>
              <a:ext uri="{FF2B5EF4-FFF2-40B4-BE49-F238E27FC236}">
                <a16:creationId xmlns:a16="http://schemas.microsoft.com/office/drawing/2014/main" id="{3A706780-B578-C83A-E70D-84467F105052}"/>
              </a:ext>
            </a:extLst>
          </p:cNvPr>
          <p:cNvSpPr txBox="1">
            <a:spLocks/>
          </p:cNvSpPr>
          <p:nvPr/>
        </p:nvSpPr>
        <p:spPr>
          <a:xfrm>
            <a:off x="242857" y="182023"/>
            <a:ext cx="7691717" cy="430255"/>
          </a:xfrm>
          <a:prstGeom prst="rect">
            <a:avLst/>
          </a:prstGeom>
        </p:spPr>
        <p:txBody>
          <a:bodyPr lIns="91440" tIns="45720" rIns="91440" bIns="45720" anchor="t">
            <a:noAutofit/>
          </a:bodyPr>
          <a:lstStyle>
            <a:lvl1pPr algn="l" defTabSz="914400" rtl="0" eaLnBrk="1" latinLnBrk="0" hangingPunct="1">
              <a:lnSpc>
                <a:spcPct val="90000"/>
              </a:lnSpc>
              <a:spcBef>
                <a:spcPct val="0"/>
              </a:spcBef>
              <a:buNone/>
              <a:defRPr sz="4400" b="1" i="0" kern="1200">
                <a:solidFill>
                  <a:schemeClr val="tx1"/>
                </a:solidFill>
                <a:latin typeface="AirIndia" pitchFamily="82" charset="77"/>
                <a:ea typeface="+mj-ea"/>
                <a:cs typeface="+mj-cs"/>
              </a:defRPr>
            </a:lvl1pPr>
          </a:lstStyle>
          <a:p>
            <a:pPr>
              <a:defRPr/>
            </a:pPr>
            <a:r>
              <a:rPr lang="en-US" sz="1800">
                <a:solidFill>
                  <a:srgbClr val="DA0E28"/>
                </a:solidFill>
                <a:latin typeface="AirIndia"/>
              </a:rPr>
              <a:t>Corporate Systems </a:t>
            </a:r>
            <a:r>
              <a:rPr kumimoji="0" lang="en-US" sz="1800" b="1" i="0" u="none" strike="noStrike" kern="1200" cap="none" spc="0" normalizeH="0" baseline="0" noProof="0">
                <a:ln>
                  <a:noFill/>
                </a:ln>
                <a:solidFill>
                  <a:srgbClr val="DA0E28"/>
                </a:solidFill>
                <a:effectLst/>
                <a:uLnTx/>
                <a:uFillTx/>
                <a:latin typeface="AirIndia"/>
                <a:ea typeface="+mj-ea"/>
                <a:cs typeface="+mj-cs"/>
              </a:rPr>
              <a:t>- </a:t>
            </a:r>
            <a:r>
              <a:rPr lang="en-US" sz="1800">
                <a:solidFill>
                  <a:srgbClr val="DA0E28"/>
                </a:solidFill>
                <a:latin typeface="AirIndia"/>
              </a:rPr>
              <a:t>FY26-27 </a:t>
            </a:r>
            <a:r>
              <a:rPr kumimoji="0" lang="en-US" sz="1800" b="1" i="0" u="none" strike="noStrike" kern="1200" cap="none" spc="0" normalizeH="0" baseline="0" noProof="0">
                <a:ln>
                  <a:noFill/>
                </a:ln>
                <a:solidFill>
                  <a:srgbClr val="DA0E28"/>
                </a:solidFill>
                <a:effectLst/>
                <a:uLnTx/>
                <a:uFillTx/>
                <a:latin typeface="AirIndia"/>
                <a:ea typeface="+mj-ea"/>
                <a:cs typeface="+mj-cs"/>
              </a:rPr>
              <a:t>Q2 Release Plan</a:t>
            </a:r>
            <a:r>
              <a:rPr lang="en-US" sz="1800">
                <a:solidFill>
                  <a:srgbClr val="DA0E28"/>
                </a:solidFill>
                <a:latin typeface="AirIndia"/>
              </a:rPr>
              <a:t> (Fin Tech)</a:t>
            </a:r>
            <a:endParaRPr lang="en-US" sz="1800" b="0">
              <a:solidFill>
                <a:srgbClr val="000000"/>
              </a:solidFill>
              <a:latin typeface="AirIndia"/>
            </a:endParaRPr>
          </a:p>
          <a:p>
            <a:pPr>
              <a:defRPr/>
            </a:pPr>
            <a:endParaRPr lang="en-US" sz="1800" i="0" u="none" strike="noStrike" kern="1200" cap="none" spc="0" normalizeH="0" baseline="0" noProof="0">
              <a:ln>
                <a:noFill/>
              </a:ln>
              <a:solidFill>
                <a:srgbClr val="DA0E28"/>
              </a:solidFill>
              <a:effectLst/>
              <a:uLnTx/>
              <a:uFillTx/>
              <a:latin typeface="AirIndia"/>
            </a:endParaRPr>
          </a:p>
        </p:txBody>
      </p:sp>
      <p:graphicFrame>
        <p:nvGraphicFramePr>
          <p:cNvPr id="12" name="Table 11">
            <a:extLst>
              <a:ext uri="{FF2B5EF4-FFF2-40B4-BE49-F238E27FC236}">
                <a16:creationId xmlns:a16="http://schemas.microsoft.com/office/drawing/2014/main" id="{8A3A880D-CA1C-58B0-6807-89340340C81B}"/>
              </a:ext>
            </a:extLst>
          </p:cNvPr>
          <p:cNvGraphicFramePr>
            <a:graphicFrameLocks noGrp="1"/>
          </p:cNvGraphicFramePr>
          <p:nvPr>
            <p:extLst>
              <p:ext uri="{D42A27DB-BD31-4B8C-83A1-F6EECF244321}">
                <p14:modId xmlns:p14="http://schemas.microsoft.com/office/powerpoint/2010/main" val="2226835779"/>
              </p:ext>
            </p:extLst>
          </p:nvPr>
        </p:nvGraphicFramePr>
        <p:xfrm>
          <a:off x="1251008" y="588627"/>
          <a:ext cx="10685696" cy="2752514"/>
        </p:xfrm>
        <a:graphic>
          <a:graphicData uri="http://schemas.openxmlformats.org/drawingml/2006/table">
            <a:tbl>
              <a:tblPr firstRow="1" bandRow="1">
                <a:tableStyleId>{5C22544A-7EE6-4342-B048-85BDC9FD1C3A}</a:tableStyleId>
              </a:tblPr>
              <a:tblGrid>
                <a:gridCol w="1758236">
                  <a:extLst>
                    <a:ext uri="{9D8B030D-6E8A-4147-A177-3AD203B41FA5}">
                      <a16:colId xmlns:a16="http://schemas.microsoft.com/office/drawing/2014/main" val="2822350773"/>
                    </a:ext>
                  </a:extLst>
                </a:gridCol>
                <a:gridCol w="1758236">
                  <a:extLst>
                    <a:ext uri="{9D8B030D-6E8A-4147-A177-3AD203B41FA5}">
                      <a16:colId xmlns:a16="http://schemas.microsoft.com/office/drawing/2014/main" val="1843387359"/>
                    </a:ext>
                  </a:extLst>
                </a:gridCol>
                <a:gridCol w="4506342">
                  <a:extLst>
                    <a:ext uri="{9D8B030D-6E8A-4147-A177-3AD203B41FA5}">
                      <a16:colId xmlns:a16="http://schemas.microsoft.com/office/drawing/2014/main" val="99588705"/>
                    </a:ext>
                  </a:extLst>
                </a:gridCol>
                <a:gridCol w="1331441">
                  <a:extLst>
                    <a:ext uri="{9D8B030D-6E8A-4147-A177-3AD203B41FA5}">
                      <a16:colId xmlns:a16="http://schemas.microsoft.com/office/drawing/2014/main" val="850806059"/>
                    </a:ext>
                  </a:extLst>
                </a:gridCol>
                <a:gridCol w="1331441">
                  <a:extLst>
                    <a:ext uri="{9D8B030D-6E8A-4147-A177-3AD203B41FA5}">
                      <a16:colId xmlns:a16="http://schemas.microsoft.com/office/drawing/2014/main" val="529241555"/>
                    </a:ext>
                  </a:extLst>
                </a:gridCol>
              </a:tblGrid>
              <a:tr h="530670">
                <a:tc>
                  <a:txBody>
                    <a:bodyPr/>
                    <a:lstStyle/>
                    <a:p>
                      <a:pPr marL="0" lvl="0" indent="0" algn="ctr" defTabSz="914400" rtl="0">
                        <a:lnSpc>
                          <a:spcPct val="100000"/>
                        </a:lnSpc>
                        <a:buFont typeface="Arial" panose="020B0604020202020204" pitchFamily="34" charset="0"/>
                        <a:buNone/>
                      </a:pPr>
                      <a:r>
                        <a:rPr lang="en-IN" sz="1100" b="1" kern="1200">
                          <a:solidFill>
                            <a:schemeClr val="bg1"/>
                          </a:solidFill>
                          <a:latin typeface="+mn-lt"/>
                          <a:ea typeface="+mn-ea"/>
                          <a:cs typeface="+mn-cs"/>
                        </a:rPr>
                        <a:t>Initiatives</a:t>
                      </a:r>
                      <a:endParaRPr lang="en-US" sz="1100" b="1"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tc>
                  <a:txBody>
                    <a:bodyPr/>
                    <a:lstStyle/>
                    <a:p>
                      <a:pPr marL="0" lvl="0" indent="0" algn="ctr" defTabSz="914400">
                        <a:lnSpc>
                          <a:spcPct val="100000"/>
                        </a:lnSpc>
                        <a:buNone/>
                      </a:pPr>
                      <a:r>
                        <a:rPr lang="en-IN" sz="1100" b="1" i="0" u="none" strike="noStrike" kern="1200" noProof="0">
                          <a:solidFill>
                            <a:schemeClr val="bg1"/>
                          </a:solidFill>
                          <a:latin typeface="Nunito Sans"/>
                          <a:ea typeface="+mn-ea"/>
                          <a:cs typeface="+mn-cs"/>
                        </a:rPr>
                        <a:t>Programs/Projects</a:t>
                      </a:r>
                      <a:endParaRPr lang="en-US"/>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tc>
                  <a:txBody>
                    <a:bodyPr/>
                    <a:lstStyle/>
                    <a:p>
                      <a:pPr marL="0" lvl="0" indent="0" algn="ctr">
                        <a:lnSpc>
                          <a:spcPct val="100000"/>
                        </a:lnSpc>
                        <a:buNone/>
                      </a:pPr>
                      <a:endParaRPr lang="en-IN" sz="1100" b="1" i="0" u="none" strike="noStrike" kern="1200" baseline="0" noProof="0">
                        <a:solidFill>
                          <a:srgbClr val="FFFFFF"/>
                        </a:solidFill>
                        <a:latin typeface="Nunito Sans"/>
                      </a:endParaRPr>
                    </a:p>
                    <a:p>
                      <a:pPr marL="0" lvl="0" indent="0" algn="ctr">
                        <a:lnSpc>
                          <a:spcPct val="100000"/>
                        </a:lnSpc>
                        <a:buNone/>
                      </a:pPr>
                      <a:r>
                        <a:rPr lang="en-IN" sz="1100" b="1" i="0" u="none" strike="noStrike" kern="1200" baseline="0" noProof="0">
                          <a:solidFill>
                            <a:srgbClr val="FFFFFF"/>
                          </a:solidFill>
                          <a:latin typeface="Nunito Sans"/>
                        </a:rPr>
                        <a:t>Value Justification/Realization</a:t>
                      </a:r>
                    </a:p>
                    <a:p>
                      <a:pPr marL="0" lvl="0" indent="0" algn="ctr" defTabSz="914400">
                        <a:buFont typeface="Arial" panose="020B0604020202020204" pitchFamily="34" charset="0"/>
                        <a:buNone/>
                      </a:pPr>
                      <a:endParaRPr lang="en-IN" sz="1100"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tc>
                  <a:txBody>
                    <a:bodyPr/>
                    <a:lstStyle/>
                    <a:p>
                      <a:pPr lvl="0" algn="ctr">
                        <a:lnSpc>
                          <a:spcPct val="100000"/>
                        </a:lnSpc>
                        <a:spcBef>
                          <a:spcPts val="0"/>
                        </a:spcBef>
                        <a:spcAft>
                          <a:spcPts val="0"/>
                        </a:spcAft>
                        <a:buNone/>
                      </a:pPr>
                      <a:r>
                        <a:rPr lang="en-IN" sz="1000" b="1" i="0" u="none" strike="noStrike" kern="1200" noProof="0">
                          <a:solidFill>
                            <a:srgbClr val="FFFFFF"/>
                          </a:solidFill>
                          <a:latin typeface="Nunito Sans"/>
                          <a:ea typeface="+mn-ea"/>
                          <a:cs typeface="+mn-cs"/>
                        </a:rPr>
                        <a:t>Go-Live ETA</a:t>
                      </a:r>
                      <a:endParaRPr lang="en-US"/>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000" b="1" i="0" u="none" strike="noStrike" kern="1200">
                          <a:solidFill>
                            <a:srgbClr val="FFFFFF"/>
                          </a:solidFill>
                          <a:latin typeface="Nunito Sans"/>
                          <a:ea typeface="+mn-ea"/>
                          <a:cs typeface="+mn-cs"/>
                        </a:rPr>
                        <a:t>EIP Integration Required (Yes/No)</a:t>
                      </a: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extLst>
                  <a:ext uri="{0D108BD9-81ED-4DB2-BD59-A6C34878D82A}">
                    <a16:rowId xmlns:a16="http://schemas.microsoft.com/office/drawing/2014/main" val="844450115"/>
                  </a:ext>
                </a:extLst>
              </a:tr>
              <a:tr h="719385">
                <a:tc>
                  <a:txBody>
                    <a:bodyPr/>
                    <a:lstStyle/>
                    <a:p>
                      <a:pPr lvl="0"/>
                      <a:r>
                        <a:rPr lang="en-US" sz="1000" b="1" i="0" u="none" strike="noStrike" kern="1200">
                          <a:solidFill>
                            <a:srgbClr val="0070C0"/>
                          </a:solidFill>
                          <a:effectLst/>
                          <a:latin typeface="+mn-lt"/>
                          <a:ea typeface="+mn-ea"/>
                          <a:cs typeface="+mn-cs"/>
                        </a:rPr>
                        <a:t>Approval workflow for customer creation</a:t>
                      </a: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lvl="0"/>
                      <a:r>
                        <a:rPr lang="en-US" sz="1000" b="1" i="0" u="none" strike="noStrike" kern="1200">
                          <a:solidFill>
                            <a:srgbClr val="0070C0"/>
                          </a:solidFill>
                          <a:effectLst/>
                          <a:latin typeface="+mn-lt"/>
                          <a:ea typeface="+mn-ea"/>
                          <a:cs typeface="+mn-cs"/>
                        </a:rPr>
                        <a:t>Approval workflow for both customer creation &amp; modification</a:t>
                      </a:r>
                      <a:endParaRPr lang="en-IN" sz="1000" b="1" i="0" u="none" strike="noStrike" kern="1200">
                        <a:solidFill>
                          <a:srgbClr val="0070C0"/>
                        </a:solidFill>
                        <a:effectLst/>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b="0" i="0" u="none" strike="noStrike" kern="1200">
                          <a:solidFill>
                            <a:srgbClr val="000000"/>
                          </a:solidFill>
                          <a:effectLst/>
                          <a:latin typeface="+mn-lt"/>
                          <a:ea typeface="+mn-ea"/>
                          <a:cs typeface="+mn-cs"/>
                        </a:rPr>
                        <a:t>Streamlined customer onboarding with automated workflows ensures accuracy and compliance. Multi-level approvals strengthen governance, reduce risks, and enhance audit readiness.</a:t>
                      </a:r>
                      <a:endParaRPr lang="en-IN" sz="1000" b="0" i="0" u="none" strike="noStrike" kern="1200">
                        <a:solidFill>
                          <a:srgbClr val="000000"/>
                        </a:solidFill>
                        <a:effectLst/>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ctr" defTabSz="914400" rtl="0" eaLnBrk="1" fontAlgn="b" latinLnBrk="0" hangingPunct="1">
                        <a:lnSpc>
                          <a:spcPct val="100000"/>
                        </a:lnSpc>
                        <a:spcBef>
                          <a:spcPts val="0"/>
                        </a:spcBef>
                        <a:spcAft>
                          <a:spcPts val="0"/>
                        </a:spcAft>
                        <a:buClrTx/>
                        <a:buSzTx/>
                        <a:buFont typeface="Arial" panose="020B0604020202020204" pitchFamily="34" charset="0"/>
                        <a:buNone/>
                        <a:tabLst/>
                        <a:defRPr/>
                      </a:pPr>
                      <a:r>
                        <a:rPr kumimoji="0" lang="en-IN" sz="1000" b="0" i="0" u="none" strike="noStrike" kern="1200" cap="none" spc="0" normalizeH="0" baseline="0" noProof="0">
                          <a:ln>
                            <a:noFill/>
                          </a:ln>
                          <a:solidFill>
                            <a:srgbClr val="000000"/>
                          </a:solidFill>
                          <a:effectLst/>
                          <a:uLnTx/>
                          <a:uFillTx/>
                          <a:latin typeface="+mn-lt"/>
                          <a:ea typeface="+mn-ea"/>
                          <a:cs typeface="+mn-cs"/>
                        </a:rPr>
                        <a:t>25 Jul 2026</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ctr" defTabSz="914400" rtl="0" eaLnBrk="1" fontAlgn="b" latinLnBrk="0" hangingPunct="1">
                        <a:lnSpc>
                          <a:spcPct val="100000"/>
                        </a:lnSpc>
                        <a:spcBef>
                          <a:spcPts val="0"/>
                        </a:spcBef>
                        <a:spcAft>
                          <a:spcPts val="0"/>
                        </a:spcAft>
                        <a:buClrTx/>
                        <a:buSzTx/>
                        <a:buFont typeface="Arial" panose="020B0604020202020204" pitchFamily="34" charset="0"/>
                        <a:buNone/>
                        <a:tabLst/>
                        <a:defRPr/>
                      </a:pPr>
                      <a:r>
                        <a:rPr kumimoji="0" lang="en-IN" sz="1000" b="0" i="0" u="none" strike="noStrike" kern="1200" cap="none" spc="0" normalizeH="0" baseline="0" noProof="0">
                          <a:ln>
                            <a:noFill/>
                          </a:ln>
                          <a:solidFill>
                            <a:srgbClr val="000000"/>
                          </a:solidFill>
                          <a:effectLst/>
                          <a:uLnTx/>
                          <a:uFillTx/>
                          <a:latin typeface="+mn-lt"/>
                          <a:ea typeface="+mn-ea"/>
                          <a:cs typeface="+mn-cs"/>
                        </a:rPr>
                        <a:t>No</a:t>
                      </a:r>
                    </a:p>
                  </a:txBody>
                  <a:tcPr anchor="ctr">
                    <a:lnL w="6350" cap="flat" cmpd="sng" algn="ctr">
                      <a:solidFill>
                        <a:schemeClr val="bg1">
                          <a:lumMod val="75000"/>
                        </a:schemeClr>
                      </a:solidFill>
                      <a:prstDash val="solid"/>
                      <a:round/>
                      <a:headEnd type="none" w="med" len="med"/>
                      <a:tailEnd type="none" w="med" len="med"/>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936628407"/>
                  </a:ext>
                </a:extLst>
              </a:tr>
              <a:tr h="719385">
                <a:tc>
                  <a:txBody>
                    <a:bodyPr/>
                    <a:lstStyle/>
                    <a:p>
                      <a:pPr lvl="0"/>
                      <a:r>
                        <a:rPr lang="en-IN" sz="1000" b="1" i="0" u="none" strike="noStrike" kern="1200">
                          <a:solidFill>
                            <a:srgbClr val="0070C0"/>
                          </a:solidFill>
                          <a:effectLst/>
                          <a:latin typeface="+mn-lt"/>
                          <a:ea typeface="+mn-ea"/>
                          <a:cs typeface="+mn-cs"/>
                        </a:rPr>
                        <a:t>ENOC System Upgrade &amp; Migration</a:t>
                      </a: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lvl="0"/>
                      <a:r>
                        <a:rPr lang="en-IN" sz="1000" b="1" i="0" u="none" strike="noStrike" kern="1200">
                          <a:solidFill>
                            <a:srgbClr val="0070C0"/>
                          </a:solidFill>
                          <a:effectLst/>
                          <a:latin typeface="+mn-lt"/>
                          <a:ea typeface="+mn-ea"/>
                          <a:cs typeface="+mn-cs"/>
                        </a:rPr>
                        <a:t>ENOC System Upgrade &amp; Migration</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a:t>Modernizes the ENOC platform to boost availability, resilience, and security — reducing unplanned outages, strengthening compliance, and cutting legacy maintenance costs.</a:t>
                      </a:r>
                      <a:endParaRPr lang="en-IN" sz="1000" b="0" i="0" u="none" strike="noStrike" kern="1200">
                        <a:solidFill>
                          <a:srgbClr val="000000"/>
                        </a:solidFill>
                        <a:effectLst/>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ctr" defTabSz="914400" rtl="0" eaLnBrk="1" fontAlgn="b" latinLnBrk="0" hangingPunct="1">
                        <a:lnSpc>
                          <a:spcPct val="100000"/>
                        </a:lnSpc>
                        <a:spcBef>
                          <a:spcPts val="0"/>
                        </a:spcBef>
                        <a:spcAft>
                          <a:spcPts val="0"/>
                        </a:spcAft>
                        <a:buClrTx/>
                        <a:buSzTx/>
                        <a:buFont typeface="Arial" panose="020B0604020202020204" pitchFamily="34" charset="0"/>
                        <a:buNone/>
                        <a:tabLst/>
                        <a:defRPr/>
                      </a:pPr>
                      <a:r>
                        <a:rPr kumimoji="0" lang="en-IN" sz="1000" b="0" i="0" u="none" strike="noStrike" kern="1200" cap="none" spc="0" normalizeH="0" baseline="0" noProof="0">
                          <a:ln>
                            <a:noFill/>
                          </a:ln>
                          <a:solidFill>
                            <a:srgbClr val="000000"/>
                          </a:solidFill>
                          <a:effectLst/>
                          <a:uLnTx/>
                          <a:uFillTx/>
                          <a:latin typeface="+mn-lt"/>
                          <a:ea typeface="+mn-ea"/>
                          <a:cs typeface="+mn-cs"/>
                        </a:rPr>
                        <a:t>24 Jul 2026</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ctr" defTabSz="914400" rtl="0" eaLnBrk="1" fontAlgn="b" latinLnBrk="0" hangingPunct="1">
                        <a:lnSpc>
                          <a:spcPct val="100000"/>
                        </a:lnSpc>
                        <a:spcBef>
                          <a:spcPts val="0"/>
                        </a:spcBef>
                        <a:spcAft>
                          <a:spcPts val="0"/>
                        </a:spcAft>
                        <a:buClrTx/>
                        <a:buSzTx/>
                        <a:buFont typeface="Arial" panose="020B0604020202020204" pitchFamily="34" charset="0"/>
                        <a:buNone/>
                        <a:tabLst/>
                        <a:defRPr/>
                      </a:pPr>
                      <a:r>
                        <a:rPr kumimoji="0" lang="en-IN" sz="1000" b="0" i="0" u="none" strike="noStrike" kern="1200" cap="none" spc="0" normalizeH="0" baseline="0" noProof="0">
                          <a:ln>
                            <a:noFill/>
                          </a:ln>
                          <a:solidFill>
                            <a:srgbClr val="000000"/>
                          </a:solidFill>
                          <a:effectLst/>
                          <a:uLnTx/>
                          <a:uFillTx/>
                          <a:latin typeface="+mn-lt"/>
                          <a:ea typeface="+mn-ea"/>
                          <a:cs typeface="+mn-cs"/>
                        </a:rPr>
                        <a:t>Yes</a:t>
                      </a:r>
                    </a:p>
                  </a:txBody>
                  <a:tcPr anchor="ctr">
                    <a:lnL w="6350" cap="flat" cmpd="sng" algn="ctr">
                      <a:solidFill>
                        <a:schemeClr val="bg1">
                          <a:lumMod val="75000"/>
                        </a:schemeClr>
                      </a:solidFill>
                      <a:prstDash val="solid"/>
                      <a:round/>
                      <a:headEnd type="none" w="med" len="med"/>
                      <a:tailEnd type="none" w="med" len="med"/>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890803232"/>
                  </a:ext>
                </a:extLst>
              </a:tr>
              <a:tr h="719384">
                <a:tc>
                  <a:txBody>
                    <a:bodyPr/>
                    <a:lstStyle/>
                    <a:p>
                      <a:pPr marL="0" marR="0" lvl="0" indent="0" algn="l" rtl="0" eaLnBrk="1" fontAlgn="auto" latinLnBrk="0" hangingPunct="1">
                        <a:lnSpc>
                          <a:spcPct val="100000"/>
                        </a:lnSpc>
                        <a:spcBef>
                          <a:spcPts val="0"/>
                        </a:spcBef>
                        <a:spcAft>
                          <a:spcPts val="0"/>
                        </a:spcAft>
                        <a:buClrTx/>
                        <a:buSzTx/>
                        <a:buFontTx/>
                        <a:buNone/>
                      </a:pPr>
                      <a:r>
                        <a:rPr lang="en-US" sz="1000" b="1" i="0" u="none" strike="noStrike" kern="1200">
                          <a:solidFill>
                            <a:srgbClr val="016FBC"/>
                          </a:solidFill>
                          <a:effectLst/>
                          <a:latin typeface="+mn-lt"/>
                          <a:ea typeface="+mn-ea"/>
                          <a:cs typeface="+mn-cs"/>
                        </a:rPr>
                        <a:t>HAM Rollout - Phase I</a:t>
                      </a: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l" rtl="0" eaLnBrk="1" fontAlgn="auto" latinLnBrk="0" hangingPunct="1">
                        <a:lnSpc>
                          <a:spcPct val="100000"/>
                        </a:lnSpc>
                        <a:spcBef>
                          <a:spcPts val="0"/>
                        </a:spcBef>
                        <a:spcAft>
                          <a:spcPts val="0"/>
                        </a:spcAft>
                        <a:buClrTx/>
                        <a:buSzTx/>
                        <a:buFontTx/>
                        <a:buNone/>
                      </a:pPr>
                      <a:r>
                        <a:rPr lang="en-US" sz="1000" b="1" i="0" u="none" strike="noStrike" kern="1200">
                          <a:solidFill>
                            <a:srgbClr val="016FBC"/>
                          </a:solidFill>
                          <a:effectLst/>
                          <a:latin typeface="+mn-lt"/>
                          <a:ea typeface="+mn-ea"/>
                          <a:cs typeface="+mn-cs"/>
                        </a:rPr>
                        <a:t>HAM Rollout – PO, GRN &amp; Material Management</a:t>
                      </a: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kern="1200">
                          <a:solidFill>
                            <a:schemeClr val="dk1"/>
                          </a:solidFill>
                          <a:latin typeface="+mn-lt"/>
                          <a:ea typeface="+mn-ea"/>
                          <a:cs typeface="+mn-cs"/>
                        </a:rPr>
                        <a:t>The custom HAM solution replaces ServiceNow, eliminating licensing costs while automating asset lifecycle processes and integrating with SAP and HRMS to ensure audit compliance and improved asset visibility.</a:t>
                      </a:r>
                      <a:endParaRPr lang="en-IN" sz="1000" kern="1200">
                        <a:solidFill>
                          <a:schemeClr val="dk1"/>
                        </a:solidFill>
                        <a:latin typeface="+mn-lt"/>
                        <a:ea typeface="+mn-ea"/>
                        <a:cs typeface="+mn-cs"/>
                      </a:endParaRP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ctr" defTabSz="914400" rtl="0" eaLnBrk="1" fontAlgn="b" latinLnBrk="0" hangingPunct="1">
                        <a:lnSpc>
                          <a:spcPct val="100000"/>
                        </a:lnSpc>
                        <a:spcBef>
                          <a:spcPts val="0"/>
                        </a:spcBef>
                        <a:spcAft>
                          <a:spcPts val="0"/>
                        </a:spcAft>
                        <a:buClrTx/>
                        <a:buSzTx/>
                        <a:buFont typeface="Arial" panose="020B0604020202020204" pitchFamily="34" charset="0"/>
                        <a:buNone/>
                        <a:tabLst/>
                        <a:defRPr/>
                      </a:pPr>
                      <a:r>
                        <a:rPr kumimoji="0" lang="en-IN" sz="1000" b="0" i="0" u="none" strike="noStrike" kern="1200" cap="none" spc="0" normalizeH="0" baseline="0" noProof="0">
                          <a:ln>
                            <a:noFill/>
                          </a:ln>
                          <a:solidFill>
                            <a:srgbClr val="000000"/>
                          </a:solidFill>
                          <a:effectLst/>
                          <a:uLnTx/>
                          <a:uFillTx/>
                          <a:latin typeface="+mn-lt"/>
                          <a:ea typeface="+mn-ea"/>
                          <a:cs typeface="+mn-cs"/>
                        </a:rPr>
                        <a:t>10 Jul 2026</a:t>
                      </a: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ctr" defTabSz="914400" rtl="0" eaLnBrk="1" fontAlgn="b" latinLnBrk="0" hangingPunct="1">
                        <a:lnSpc>
                          <a:spcPct val="100000"/>
                        </a:lnSpc>
                        <a:spcBef>
                          <a:spcPts val="0"/>
                        </a:spcBef>
                        <a:spcAft>
                          <a:spcPts val="0"/>
                        </a:spcAft>
                        <a:buClrTx/>
                        <a:buSzTx/>
                        <a:buFont typeface="Arial" panose="020B0604020202020204" pitchFamily="34" charset="0"/>
                        <a:buNone/>
                        <a:tabLst/>
                        <a:defRPr/>
                      </a:pPr>
                      <a:r>
                        <a:rPr kumimoji="0" lang="en-IN" sz="1000" b="0" i="0" u="none" strike="noStrike" kern="1200" cap="none" spc="0" normalizeH="0" baseline="0" noProof="0">
                          <a:ln>
                            <a:noFill/>
                          </a:ln>
                          <a:solidFill>
                            <a:srgbClr val="000000"/>
                          </a:solidFill>
                          <a:effectLst/>
                          <a:uLnTx/>
                          <a:uFillTx/>
                          <a:latin typeface="+mn-lt"/>
                          <a:ea typeface="+mn-ea"/>
                          <a:cs typeface="+mn-cs"/>
                        </a:rPr>
                        <a:t>Yes</a:t>
                      </a:r>
                    </a:p>
                  </a:txBody>
                  <a:tcPr anchor="ctr">
                    <a:lnL w="6350">
                      <a:solidFill>
                        <a:schemeClr val="bg1">
                          <a:lumMod val="75000"/>
                        </a:schemeClr>
                      </a:solidFill>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091857160"/>
                  </a:ext>
                </a:extLst>
              </a:tr>
            </a:tbl>
          </a:graphicData>
        </a:graphic>
      </p:graphicFrame>
      <p:sp>
        <p:nvSpPr>
          <p:cNvPr id="4" name="Rectangle 3">
            <a:extLst>
              <a:ext uri="{FF2B5EF4-FFF2-40B4-BE49-F238E27FC236}">
                <a16:creationId xmlns:a16="http://schemas.microsoft.com/office/drawing/2014/main" id="{96F8D848-2B83-10E2-3AB3-BD82FCCB3AE3}"/>
              </a:ext>
            </a:extLst>
          </p:cNvPr>
          <p:cNvSpPr/>
          <p:nvPr/>
        </p:nvSpPr>
        <p:spPr>
          <a:xfrm>
            <a:off x="1188132" y="6671592"/>
            <a:ext cx="90000" cy="90000"/>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5" name="Rectangle 4">
            <a:extLst>
              <a:ext uri="{FF2B5EF4-FFF2-40B4-BE49-F238E27FC236}">
                <a16:creationId xmlns:a16="http://schemas.microsoft.com/office/drawing/2014/main" id="{0B48875D-06D5-56DC-30A7-D8C460434910}"/>
              </a:ext>
            </a:extLst>
          </p:cNvPr>
          <p:cNvSpPr/>
          <p:nvPr/>
        </p:nvSpPr>
        <p:spPr>
          <a:xfrm>
            <a:off x="2265818" y="6670554"/>
            <a:ext cx="90000" cy="90000"/>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7" name="Rectangle 6">
            <a:extLst>
              <a:ext uri="{FF2B5EF4-FFF2-40B4-BE49-F238E27FC236}">
                <a16:creationId xmlns:a16="http://schemas.microsoft.com/office/drawing/2014/main" id="{2FC76DF2-EAE2-D5ED-ADCA-B42B0DCC545D}"/>
              </a:ext>
            </a:extLst>
          </p:cNvPr>
          <p:cNvSpPr/>
          <p:nvPr/>
        </p:nvSpPr>
        <p:spPr>
          <a:xfrm>
            <a:off x="3443423" y="6671592"/>
            <a:ext cx="90000" cy="90000"/>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8" name="Rectangle 7">
            <a:extLst>
              <a:ext uri="{FF2B5EF4-FFF2-40B4-BE49-F238E27FC236}">
                <a16:creationId xmlns:a16="http://schemas.microsoft.com/office/drawing/2014/main" id="{43C6BA40-2BD1-EE57-F1E5-E76798DD2559}"/>
              </a:ext>
            </a:extLst>
          </p:cNvPr>
          <p:cNvSpPr/>
          <p:nvPr/>
        </p:nvSpPr>
        <p:spPr>
          <a:xfrm>
            <a:off x="8146052" y="6714097"/>
            <a:ext cx="90000" cy="90000"/>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9" name="TextBox 15">
            <a:extLst>
              <a:ext uri="{FF2B5EF4-FFF2-40B4-BE49-F238E27FC236}">
                <a16:creationId xmlns:a16="http://schemas.microsoft.com/office/drawing/2014/main" id="{89E9617D-4DFD-D288-E93C-31BB10B554D9}"/>
              </a:ext>
            </a:extLst>
          </p:cNvPr>
          <p:cNvSpPr txBox="1"/>
          <p:nvPr/>
        </p:nvSpPr>
        <p:spPr>
          <a:xfrm>
            <a:off x="1288983" y="6614743"/>
            <a:ext cx="857245"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0070C0"/>
                </a:solidFill>
                <a:effectLst/>
                <a:uLnTx/>
                <a:uFillTx/>
                <a:latin typeface="Nunito Sans"/>
                <a:ea typeface="+mn-ea"/>
                <a:cs typeface="+mn-cs"/>
              </a:rPr>
              <a:t>Delivered</a:t>
            </a:r>
            <a:endParaRPr kumimoji="0" lang="en-IN" sz="1000" b="0" i="0" u="none" strike="noStrike" kern="1200" cap="none" spc="0" normalizeH="0" baseline="0" noProof="0">
              <a:ln>
                <a:noFill/>
              </a:ln>
              <a:solidFill>
                <a:srgbClr val="000000"/>
              </a:solidFill>
              <a:effectLst/>
              <a:uLnTx/>
              <a:uFillTx/>
              <a:latin typeface="Nunito Sans"/>
              <a:ea typeface="+mn-ea"/>
              <a:cs typeface="+mn-cs"/>
            </a:endParaRPr>
          </a:p>
        </p:txBody>
      </p:sp>
      <p:sp>
        <p:nvSpPr>
          <p:cNvPr id="10" name="TextBox 18">
            <a:extLst>
              <a:ext uri="{FF2B5EF4-FFF2-40B4-BE49-F238E27FC236}">
                <a16:creationId xmlns:a16="http://schemas.microsoft.com/office/drawing/2014/main" id="{A6F1127E-1EF5-4F16-7998-DA4515D35E3D}"/>
              </a:ext>
            </a:extLst>
          </p:cNvPr>
          <p:cNvSpPr txBox="1"/>
          <p:nvPr/>
        </p:nvSpPr>
        <p:spPr>
          <a:xfrm>
            <a:off x="2310642" y="6611102"/>
            <a:ext cx="1032881"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00B050"/>
                </a:solidFill>
                <a:effectLst/>
                <a:uLnTx/>
                <a:uFillTx/>
                <a:latin typeface="Nunito Sans"/>
                <a:ea typeface="+mn-ea"/>
                <a:cs typeface="+mn-cs"/>
              </a:rPr>
              <a:t>Ontrack</a:t>
            </a:r>
            <a:endParaRPr kumimoji="0" lang="en-IN" sz="1000" b="0" i="0" u="none" strike="noStrike" kern="1200" cap="none" spc="0" normalizeH="0" baseline="0" noProof="0">
              <a:ln>
                <a:noFill/>
              </a:ln>
              <a:solidFill>
                <a:srgbClr val="000000"/>
              </a:solidFill>
              <a:effectLst/>
              <a:uLnTx/>
              <a:uFillTx/>
              <a:latin typeface="Nunito Sans"/>
              <a:ea typeface="+mn-ea"/>
              <a:cs typeface="+mn-cs"/>
            </a:endParaRPr>
          </a:p>
        </p:txBody>
      </p:sp>
      <p:sp>
        <p:nvSpPr>
          <p:cNvPr id="11" name="TextBox 20">
            <a:extLst>
              <a:ext uri="{FF2B5EF4-FFF2-40B4-BE49-F238E27FC236}">
                <a16:creationId xmlns:a16="http://schemas.microsoft.com/office/drawing/2014/main" id="{4E7D7CEB-9D91-2B51-3B38-BEFDDCB3237E}"/>
              </a:ext>
            </a:extLst>
          </p:cNvPr>
          <p:cNvSpPr txBox="1"/>
          <p:nvPr/>
        </p:nvSpPr>
        <p:spPr>
          <a:xfrm>
            <a:off x="3539606" y="6608370"/>
            <a:ext cx="2257628"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FED9A0">
                    <a:lumMod val="75000"/>
                  </a:srgbClr>
                </a:solidFill>
                <a:effectLst/>
                <a:uLnTx/>
                <a:uFillTx/>
                <a:latin typeface="Nunito Sans"/>
                <a:ea typeface="+mn-ea"/>
                <a:cs typeface="+mn-cs"/>
              </a:rPr>
              <a:t>Under delay and can be recovered</a:t>
            </a:r>
            <a:endParaRPr kumimoji="0" lang="en-IN" sz="1000" b="0" i="0" u="none" strike="noStrike" kern="1200" cap="none" spc="0" normalizeH="0" baseline="0" noProof="0">
              <a:ln>
                <a:noFill/>
              </a:ln>
              <a:solidFill>
                <a:srgbClr val="000000"/>
              </a:solidFill>
              <a:effectLst/>
              <a:uLnTx/>
              <a:uFillTx/>
              <a:latin typeface="Nunito Sans"/>
              <a:ea typeface="+mn-ea"/>
              <a:cs typeface="+mn-cs"/>
            </a:endParaRPr>
          </a:p>
        </p:txBody>
      </p:sp>
      <p:sp>
        <p:nvSpPr>
          <p:cNvPr id="13" name="TextBox 22">
            <a:extLst>
              <a:ext uri="{FF2B5EF4-FFF2-40B4-BE49-F238E27FC236}">
                <a16:creationId xmlns:a16="http://schemas.microsoft.com/office/drawing/2014/main" id="{43D4E24C-AC58-5D2E-1087-C848FAB99C5A}"/>
              </a:ext>
            </a:extLst>
          </p:cNvPr>
          <p:cNvSpPr txBox="1"/>
          <p:nvPr/>
        </p:nvSpPr>
        <p:spPr>
          <a:xfrm>
            <a:off x="8246937" y="6618126"/>
            <a:ext cx="2338222"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FF0000"/>
                </a:solidFill>
                <a:effectLst/>
                <a:uLnTx/>
                <a:uFillTx/>
                <a:latin typeface="Nunito Sans"/>
                <a:ea typeface="+mn-ea"/>
                <a:cs typeface="+mn-cs"/>
              </a:rPr>
              <a:t>Delayed and pushed to next release</a:t>
            </a:r>
          </a:p>
        </p:txBody>
      </p:sp>
      <p:sp>
        <p:nvSpPr>
          <p:cNvPr id="15" name="TextBox 14">
            <a:extLst>
              <a:ext uri="{FF2B5EF4-FFF2-40B4-BE49-F238E27FC236}">
                <a16:creationId xmlns:a16="http://schemas.microsoft.com/office/drawing/2014/main" id="{096CCCD5-FB97-101B-B85B-A7C304F9C59E}"/>
              </a:ext>
            </a:extLst>
          </p:cNvPr>
          <p:cNvSpPr txBox="1"/>
          <p:nvPr/>
        </p:nvSpPr>
        <p:spPr>
          <a:xfrm>
            <a:off x="6454369" y="6611638"/>
            <a:ext cx="2743200"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IN" sz="1000">
                <a:solidFill>
                  <a:srgbClr val="7D7D7D"/>
                </a:solidFill>
              </a:rPr>
              <a:t>Descoped</a:t>
            </a:r>
            <a:endParaRPr lang="en-US"/>
          </a:p>
        </p:txBody>
      </p:sp>
      <p:sp>
        <p:nvSpPr>
          <p:cNvPr id="16" name="Rectangle 15">
            <a:extLst>
              <a:ext uri="{FF2B5EF4-FFF2-40B4-BE49-F238E27FC236}">
                <a16:creationId xmlns:a16="http://schemas.microsoft.com/office/drawing/2014/main" id="{CE214DCC-5729-38F0-3F7A-DBDC98DEA8AE}"/>
              </a:ext>
            </a:extLst>
          </p:cNvPr>
          <p:cNvSpPr/>
          <p:nvPr/>
        </p:nvSpPr>
        <p:spPr>
          <a:xfrm>
            <a:off x="6360794" y="6681439"/>
            <a:ext cx="90000" cy="90000"/>
          </a:xfrm>
          <a:prstGeom prst="rect">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Tree>
    <p:extLst>
      <p:ext uri="{BB962C8B-B14F-4D97-AF65-F5344CB8AC3E}">
        <p14:creationId xmlns:p14="http://schemas.microsoft.com/office/powerpoint/2010/main" val="17601463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79C41C-B32B-C37E-CC8D-4334B6F92B6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2C0BCBD-C0E0-8D18-E6F3-AFEC4563FAD0}"/>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3A41A254-7326-714E-AF55-4C213D6394DE}" type="slidenum">
              <a:rPr kumimoji="0" lang="en-US" sz="1200" b="0" i="0" u="none" strike="noStrike" kern="1200" cap="none" spc="0" normalizeH="0" baseline="0" noProof="0" smtClean="0">
                <a:ln>
                  <a:noFill/>
                </a:ln>
                <a:solidFill>
                  <a:srgbClr val="DA0E28"/>
                </a:solidFill>
                <a:effectLst/>
                <a:uLnTx/>
                <a:uFillTx/>
                <a:latin typeface="Nunito Sans"/>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srgbClr val="DA0E28"/>
              </a:solidFill>
              <a:effectLst/>
              <a:uLnTx/>
              <a:uFillTx/>
              <a:latin typeface="Nunito Sans"/>
              <a:ea typeface="+mn-ea"/>
              <a:cs typeface="+mn-cs"/>
            </a:endParaRPr>
          </a:p>
        </p:txBody>
      </p:sp>
      <p:sp>
        <p:nvSpPr>
          <p:cNvPr id="3" name="Rectangle 2">
            <a:extLst>
              <a:ext uri="{FF2B5EF4-FFF2-40B4-BE49-F238E27FC236}">
                <a16:creationId xmlns:a16="http://schemas.microsoft.com/office/drawing/2014/main" id="{AE2D1991-AEFC-6790-FB4B-E56B34247A2E}"/>
              </a:ext>
            </a:extLst>
          </p:cNvPr>
          <p:cNvSpPr/>
          <p:nvPr/>
        </p:nvSpPr>
        <p:spPr>
          <a:xfrm>
            <a:off x="129077" y="610471"/>
            <a:ext cx="1170432" cy="42234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defRPr/>
            </a:pPr>
            <a:r>
              <a:rPr kumimoji="0" lang="en-IN" sz="1400" b="1" i="0" u="none" strike="noStrike" kern="1200" cap="none" spc="0" normalizeH="0" baseline="0" noProof="0">
                <a:ln>
                  <a:noFill/>
                </a:ln>
                <a:solidFill>
                  <a:srgbClr val="FFFFFF"/>
                </a:solidFill>
                <a:effectLst/>
                <a:uLnTx/>
                <a:uFillTx/>
                <a:latin typeface="AirIndia"/>
                <a:ea typeface="+mn-ea"/>
                <a:cs typeface="+mn-cs"/>
              </a:rPr>
              <a:t>Aug ‘</a:t>
            </a:r>
            <a:r>
              <a:rPr lang="en-IN" sz="1400" b="1">
                <a:solidFill>
                  <a:srgbClr val="FFFFFF"/>
                </a:solidFill>
                <a:latin typeface="AirIndia"/>
              </a:rPr>
              <a:t>26</a:t>
            </a:r>
            <a:endParaRPr kumimoji="0" lang="en-US" sz="1400" b="1" i="0" u="none" strike="noStrike" kern="1200" cap="none" spc="0" normalizeH="0" baseline="0" noProof="0">
              <a:ln>
                <a:noFill/>
              </a:ln>
              <a:solidFill>
                <a:srgbClr val="FFFFFF"/>
              </a:solidFill>
              <a:effectLst/>
              <a:uLnTx/>
              <a:uFillTx/>
              <a:latin typeface="AirIndia"/>
              <a:ea typeface="+mn-ea"/>
              <a:cs typeface="+mn-cs"/>
            </a:endParaRPr>
          </a:p>
        </p:txBody>
      </p:sp>
      <p:sp>
        <p:nvSpPr>
          <p:cNvPr id="6" name="Title 11">
            <a:extLst>
              <a:ext uri="{FF2B5EF4-FFF2-40B4-BE49-F238E27FC236}">
                <a16:creationId xmlns:a16="http://schemas.microsoft.com/office/drawing/2014/main" id="{B36C151A-2FF3-6739-1362-F09C64B7AD71}"/>
              </a:ext>
            </a:extLst>
          </p:cNvPr>
          <p:cNvSpPr txBox="1">
            <a:spLocks/>
          </p:cNvSpPr>
          <p:nvPr/>
        </p:nvSpPr>
        <p:spPr>
          <a:xfrm>
            <a:off x="242857" y="182023"/>
            <a:ext cx="7691717" cy="430255"/>
          </a:xfrm>
          <a:prstGeom prst="rect">
            <a:avLst/>
          </a:prstGeom>
        </p:spPr>
        <p:txBody>
          <a:bodyPr lIns="91440" tIns="45720" rIns="91440" bIns="45720" anchor="t">
            <a:noAutofit/>
          </a:bodyPr>
          <a:lstStyle>
            <a:lvl1pPr algn="l" defTabSz="914400" rtl="0" eaLnBrk="1" latinLnBrk="0" hangingPunct="1">
              <a:lnSpc>
                <a:spcPct val="90000"/>
              </a:lnSpc>
              <a:spcBef>
                <a:spcPct val="0"/>
              </a:spcBef>
              <a:buNone/>
              <a:defRPr sz="4400" b="1" i="0" kern="1200">
                <a:solidFill>
                  <a:schemeClr val="tx1"/>
                </a:solidFill>
                <a:latin typeface="AirIndia" pitchFamily="82" charset="77"/>
                <a:ea typeface="+mj-ea"/>
                <a:cs typeface="+mj-cs"/>
              </a:defRPr>
            </a:lvl1pPr>
          </a:lstStyle>
          <a:p>
            <a:pPr>
              <a:defRPr/>
            </a:pPr>
            <a:r>
              <a:rPr lang="en-US" sz="1800">
                <a:solidFill>
                  <a:srgbClr val="DA0E28"/>
                </a:solidFill>
                <a:latin typeface="AirIndia"/>
              </a:rPr>
              <a:t>Corporate Systems </a:t>
            </a:r>
            <a:r>
              <a:rPr kumimoji="0" lang="en-US" sz="1800" b="1" i="0" u="none" strike="noStrike" kern="1200" cap="none" spc="0" normalizeH="0" baseline="0" noProof="0">
                <a:ln>
                  <a:noFill/>
                </a:ln>
                <a:solidFill>
                  <a:srgbClr val="DA0E28"/>
                </a:solidFill>
                <a:effectLst/>
                <a:uLnTx/>
                <a:uFillTx/>
                <a:latin typeface="AirIndia"/>
                <a:ea typeface="+mj-ea"/>
                <a:cs typeface="+mj-cs"/>
              </a:rPr>
              <a:t>- </a:t>
            </a:r>
            <a:r>
              <a:rPr lang="en-US" sz="1800">
                <a:solidFill>
                  <a:srgbClr val="DA0E28"/>
                </a:solidFill>
                <a:latin typeface="AirIndia"/>
              </a:rPr>
              <a:t>FY26-27 </a:t>
            </a:r>
            <a:r>
              <a:rPr kumimoji="0" lang="en-US" sz="1800" b="1" i="0" u="none" strike="noStrike" kern="1200" cap="none" spc="0" normalizeH="0" baseline="0" noProof="0">
                <a:ln>
                  <a:noFill/>
                </a:ln>
                <a:solidFill>
                  <a:srgbClr val="DA0E28"/>
                </a:solidFill>
                <a:effectLst/>
                <a:uLnTx/>
                <a:uFillTx/>
                <a:latin typeface="AirIndia"/>
                <a:ea typeface="+mj-ea"/>
                <a:cs typeface="+mj-cs"/>
              </a:rPr>
              <a:t>Q2 Release Plan</a:t>
            </a:r>
            <a:r>
              <a:rPr lang="en-US" sz="1800">
                <a:solidFill>
                  <a:srgbClr val="DA0E28"/>
                </a:solidFill>
                <a:latin typeface="AirIndia"/>
              </a:rPr>
              <a:t> (Fin Tech)</a:t>
            </a:r>
            <a:endParaRPr lang="en-US" sz="1800" b="0">
              <a:solidFill>
                <a:srgbClr val="000000"/>
              </a:solidFill>
              <a:latin typeface="AirIndia"/>
            </a:endParaRPr>
          </a:p>
          <a:p>
            <a:pPr>
              <a:defRPr/>
            </a:pPr>
            <a:endParaRPr lang="en-US" sz="1800" i="0" u="none" strike="noStrike" kern="1200" cap="none" spc="0" normalizeH="0" baseline="0" noProof="0">
              <a:ln>
                <a:noFill/>
              </a:ln>
              <a:solidFill>
                <a:srgbClr val="DA0E28"/>
              </a:solidFill>
              <a:effectLst/>
              <a:uLnTx/>
              <a:uFillTx/>
              <a:latin typeface="AirIndia"/>
            </a:endParaRPr>
          </a:p>
        </p:txBody>
      </p:sp>
      <p:graphicFrame>
        <p:nvGraphicFramePr>
          <p:cNvPr id="12" name="Table 11">
            <a:extLst>
              <a:ext uri="{FF2B5EF4-FFF2-40B4-BE49-F238E27FC236}">
                <a16:creationId xmlns:a16="http://schemas.microsoft.com/office/drawing/2014/main" id="{8F30192B-A51D-9B48-7A73-10D6B4C14FA5}"/>
              </a:ext>
            </a:extLst>
          </p:cNvPr>
          <p:cNvGraphicFramePr>
            <a:graphicFrameLocks noGrp="1"/>
          </p:cNvGraphicFramePr>
          <p:nvPr>
            <p:extLst>
              <p:ext uri="{D42A27DB-BD31-4B8C-83A1-F6EECF244321}">
                <p14:modId xmlns:p14="http://schemas.microsoft.com/office/powerpoint/2010/main" val="3451792119"/>
              </p:ext>
            </p:extLst>
          </p:nvPr>
        </p:nvGraphicFramePr>
        <p:xfrm>
          <a:off x="1251008" y="588627"/>
          <a:ext cx="10685698" cy="2941320"/>
        </p:xfrm>
        <a:graphic>
          <a:graphicData uri="http://schemas.openxmlformats.org/drawingml/2006/table">
            <a:tbl>
              <a:tblPr firstRow="1" bandRow="1">
                <a:tableStyleId>{5C22544A-7EE6-4342-B048-85BDC9FD1C3A}</a:tableStyleId>
              </a:tblPr>
              <a:tblGrid>
                <a:gridCol w="1753707">
                  <a:extLst>
                    <a:ext uri="{9D8B030D-6E8A-4147-A177-3AD203B41FA5}">
                      <a16:colId xmlns:a16="http://schemas.microsoft.com/office/drawing/2014/main" val="2822350773"/>
                    </a:ext>
                  </a:extLst>
                </a:gridCol>
                <a:gridCol w="1753707">
                  <a:extLst>
                    <a:ext uri="{9D8B030D-6E8A-4147-A177-3AD203B41FA5}">
                      <a16:colId xmlns:a16="http://schemas.microsoft.com/office/drawing/2014/main" val="1843387359"/>
                    </a:ext>
                  </a:extLst>
                </a:gridCol>
                <a:gridCol w="4467198">
                  <a:extLst>
                    <a:ext uri="{9D8B030D-6E8A-4147-A177-3AD203B41FA5}">
                      <a16:colId xmlns:a16="http://schemas.microsoft.com/office/drawing/2014/main" val="99588705"/>
                    </a:ext>
                  </a:extLst>
                </a:gridCol>
                <a:gridCol w="1355543">
                  <a:extLst>
                    <a:ext uri="{9D8B030D-6E8A-4147-A177-3AD203B41FA5}">
                      <a16:colId xmlns:a16="http://schemas.microsoft.com/office/drawing/2014/main" val="3862336239"/>
                    </a:ext>
                  </a:extLst>
                </a:gridCol>
                <a:gridCol w="1355543">
                  <a:extLst>
                    <a:ext uri="{9D8B030D-6E8A-4147-A177-3AD203B41FA5}">
                      <a16:colId xmlns:a16="http://schemas.microsoft.com/office/drawing/2014/main" val="890439505"/>
                    </a:ext>
                  </a:extLst>
                </a:gridCol>
              </a:tblGrid>
              <a:tr h="119634">
                <a:tc>
                  <a:txBody>
                    <a:bodyPr/>
                    <a:lstStyle/>
                    <a:p>
                      <a:pPr marL="0" lvl="0" indent="0" algn="ctr" defTabSz="914400" rtl="0">
                        <a:lnSpc>
                          <a:spcPct val="100000"/>
                        </a:lnSpc>
                        <a:buFont typeface="Arial" panose="020B0604020202020204" pitchFamily="34" charset="0"/>
                        <a:buNone/>
                      </a:pPr>
                      <a:r>
                        <a:rPr lang="en-IN" sz="1100" b="1" kern="1200">
                          <a:solidFill>
                            <a:schemeClr val="bg1"/>
                          </a:solidFill>
                          <a:latin typeface="+mn-lt"/>
                          <a:ea typeface="+mn-ea"/>
                          <a:cs typeface="+mn-cs"/>
                        </a:rPr>
                        <a:t>Initiatives</a:t>
                      </a:r>
                      <a:endParaRPr lang="en-US" sz="1100" b="1"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tc>
                  <a:txBody>
                    <a:bodyPr/>
                    <a:lstStyle/>
                    <a:p>
                      <a:pPr marL="0" lvl="0" indent="0" algn="ctr" defTabSz="914400">
                        <a:lnSpc>
                          <a:spcPct val="100000"/>
                        </a:lnSpc>
                        <a:buNone/>
                      </a:pPr>
                      <a:r>
                        <a:rPr lang="en-IN" sz="1100" b="1" i="0" u="none" strike="noStrike" kern="1200" noProof="0">
                          <a:solidFill>
                            <a:schemeClr val="bg1"/>
                          </a:solidFill>
                          <a:latin typeface="Nunito Sans"/>
                          <a:ea typeface="+mn-ea"/>
                          <a:cs typeface="+mn-cs"/>
                        </a:rPr>
                        <a:t>Programs/Projects</a:t>
                      </a:r>
                      <a:endParaRPr lang="en-US"/>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tc>
                  <a:txBody>
                    <a:bodyPr/>
                    <a:lstStyle/>
                    <a:p>
                      <a:pPr marL="0" lvl="0" indent="0" algn="ctr">
                        <a:lnSpc>
                          <a:spcPct val="100000"/>
                        </a:lnSpc>
                        <a:buNone/>
                      </a:pPr>
                      <a:endParaRPr lang="en-IN" sz="1100" b="1" i="0" u="none" strike="noStrike" kern="1200" baseline="0" noProof="0">
                        <a:solidFill>
                          <a:srgbClr val="FFFFFF"/>
                        </a:solidFill>
                        <a:latin typeface="Nunito Sans"/>
                      </a:endParaRPr>
                    </a:p>
                    <a:p>
                      <a:pPr marL="0" lvl="0" indent="0" algn="ctr">
                        <a:lnSpc>
                          <a:spcPct val="100000"/>
                        </a:lnSpc>
                        <a:buNone/>
                      </a:pPr>
                      <a:r>
                        <a:rPr lang="en-IN" sz="1100" b="1" i="0" u="none" strike="noStrike" kern="1200" baseline="0" noProof="0">
                          <a:solidFill>
                            <a:srgbClr val="FFFFFF"/>
                          </a:solidFill>
                          <a:latin typeface="Nunito Sans"/>
                        </a:rPr>
                        <a:t>Value Justification/Realization</a:t>
                      </a:r>
                    </a:p>
                    <a:p>
                      <a:pPr marL="0" lvl="0" indent="0" algn="ctr" defTabSz="914400">
                        <a:buFont typeface="Arial" panose="020B0604020202020204" pitchFamily="34" charset="0"/>
                        <a:buNone/>
                      </a:pPr>
                      <a:endParaRPr lang="en-IN" sz="1100"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100">
                          <a:latin typeface="+mn-lt"/>
                        </a:rPr>
                        <a:t>Go-Live ETA</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1100" b="1" kern="1200">
                          <a:solidFill>
                            <a:schemeClr val="lt1"/>
                          </a:solidFill>
                          <a:latin typeface="+mn-lt"/>
                          <a:ea typeface="+mn-ea"/>
                          <a:cs typeface="+mn-cs"/>
                        </a:rPr>
                        <a:t>EIP Integration Required (Yes/No)</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extLst>
                  <a:ext uri="{0D108BD9-81ED-4DB2-BD59-A6C34878D82A}">
                    <a16:rowId xmlns:a16="http://schemas.microsoft.com/office/drawing/2014/main" val="844450115"/>
                  </a:ext>
                </a:extLst>
              </a:tr>
              <a:tr h="451372">
                <a:tc>
                  <a:txBody>
                    <a:bodyPr/>
                    <a:lstStyle/>
                    <a:p>
                      <a:pPr lvl="0"/>
                      <a:r>
                        <a:rPr lang="en-IN" sz="1000" b="1" i="0" u="none" strike="noStrike" kern="1200">
                          <a:solidFill>
                            <a:srgbClr val="00B050"/>
                          </a:solidFill>
                          <a:effectLst/>
                          <a:latin typeface="+mn-lt"/>
                          <a:ea typeface="+mn-ea"/>
                          <a:cs typeface="+mn-cs"/>
                        </a:rPr>
                        <a:t>Trial Balance Report </a:t>
                      </a: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lvl="0"/>
                      <a:r>
                        <a:rPr lang="en-IN" sz="1000" b="1" i="0" u="none" strike="noStrike" kern="1200">
                          <a:solidFill>
                            <a:srgbClr val="00B050"/>
                          </a:solidFill>
                          <a:effectLst/>
                          <a:latin typeface="+mn-lt"/>
                          <a:ea typeface="+mn-ea"/>
                          <a:cs typeface="+mn-cs"/>
                        </a:rPr>
                        <a:t>Trial Balance Report </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marL="171450" indent="-171450">
                        <a:buFont typeface="Arial" panose="020B0604020202020204" pitchFamily="34" charset="0"/>
                        <a:buChar char="•"/>
                      </a:pPr>
                      <a:r>
                        <a:rPr lang="en-US" sz="1000" b="0" i="0" u="none" strike="noStrike" kern="1200">
                          <a:solidFill>
                            <a:srgbClr val="000000"/>
                          </a:solidFill>
                          <a:effectLst/>
                          <a:latin typeface="+mn-lt"/>
                          <a:ea typeface="+mn-ea"/>
                          <a:cs typeface="+mn-cs"/>
                        </a:rPr>
                        <a:t>Trial Balance Report in SAP ensures financial accuracy by validating debit-credit integrity across all GL accounts - eliminating reconciliation errors and accelerating period-end close.</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ctr" defTabSz="914400" rtl="0" eaLnBrk="1" fontAlgn="b" latinLnBrk="0" hangingPunct="1">
                        <a:lnSpc>
                          <a:spcPct val="100000"/>
                        </a:lnSpc>
                        <a:spcBef>
                          <a:spcPts val="0"/>
                        </a:spcBef>
                        <a:spcAft>
                          <a:spcPts val="0"/>
                        </a:spcAft>
                        <a:buClrTx/>
                        <a:buSzTx/>
                        <a:buFont typeface="Arial" panose="020B0604020202020204" pitchFamily="34" charset="0"/>
                        <a:buNone/>
                        <a:tabLst/>
                        <a:defRPr/>
                      </a:pPr>
                      <a:r>
                        <a:rPr kumimoji="0" lang="en-IN" sz="1000" b="0" i="0" u="none" strike="noStrike" kern="1200" cap="none" spc="0" normalizeH="0" baseline="0" noProof="0">
                          <a:ln>
                            <a:noFill/>
                          </a:ln>
                          <a:solidFill>
                            <a:srgbClr val="000000"/>
                          </a:solidFill>
                          <a:effectLst/>
                          <a:uLnTx/>
                          <a:uFillTx/>
                          <a:latin typeface="+mn-lt"/>
                          <a:ea typeface="+mn-ea"/>
                          <a:cs typeface="+mn-cs"/>
                        </a:rPr>
                        <a:t>25</a:t>
                      </a:r>
                      <a:r>
                        <a:rPr kumimoji="0" lang="en-IN" sz="1000" b="0" i="0" u="none" strike="noStrike" kern="1200" cap="none" spc="0" normalizeH="0" baseline="30000" noProof="0">
                          <a:ln>
                            <a:noFill/>
                          </a:ln>
                          <a:solidFill>
                            <a:srgbClr val="000000"/>
                          </a:solidFill>
                          <a:effectLst/>
                          <a:uLnTx/>
                          <a:uFillTx/>
                          <a:latin typeface="+mn-lt"/>
                          <a:ea typeface="+mn-ea"/>
                          <a:cs typeface="+mn-cs"/>
                        </a:rPr>
                        <a:t> </a:t>
                      </a:r>
                      <a:r>
                        <a:rPr kumimoji="0" lang="en-IN" sz="1000" b="0" i="0" u="none" strike="noStrike" kern="1200" cap="none" spc="0" normalizeH="0" baseline="0" noProof="0">
                          <a:ln>
                            <a:noFill/>
                          </a:ln>
                          <a:solidFill>
                            <a:srgbClr val="000000"/>
                          </a:solidFill>
                          <a:effectLst/>
                          <a:uLnTx/>
                          <a:uFillTx/>
                          <a:latin typeface="+mn-lt"/>
                          <a:ea typeface="+mn-ea"/>
                          <a:cs typeface="+mn-cs"/>
                        </a:rPr>
                        <a:t>Aug 2026</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ctr" defTabSz="914400" rtl="0" eaLnBrk="1" fontAlgn="b" latinLnBrk="0" hangingPunct="1">
                        <a:lnSpc>
                          <a:spcPct val="100000"/>
                        </a:lnSpc>
                        <a:spcBef>
                          <a:spcPts val="0"/>
                        </a:spcBef>
                        <a:spcAft>
                          <a:spcPts val="0"/>
                        </a:spcAft>
                        <a:buClrTx/>
                        <a:buSzTx/>
                        <a:buFont typeface="Arial" panose="020B0604020202020204" pitchFamily="34" charset="0"/>
                        <a:buNone/>
                        <a:tabLst/>
                        <a:defRPr/>
                      </a:pPr>
                      <a:r>
                        <a:rPr lang="en-IN" sz="1000" b="0" i="0" u="none" strike="noStrike" kern="1200" noProof="0">
                          <a:solidFill>
                            <a:schemeClr val="tx1"/>
                          </a:solidFill>
                          <a:latin typeface="Nunito Sans"/>
                          <a:ea typeface="+mn-ea"/>
                          <a:cs typeface="+mn-cs"/>
                        </a:rPr>
                        <a:t>No</a:t>
                      </a:r>
                    </a:p>
                  </a:txBody>
                  <a:tcPr anchor="ctr">
                    <a:lnL w="6350" cap="flat" cmpd="sng" algn="ctr">
                      <a:solidFill>
                        <a:schemeClr val="bg1">
                          <a:lumMod val="75000"/>
                        </a:schemeClr>
                      </a:solidFill>
                      <a:prstDash val="solid"/>
                      <a:round/>
                      <a:headEnd type="none" w="med" len="med"/>
                      <a:tailEnd type="none" w="med" len="med"/>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415556309"/>
                  </a:ext>
                </a:extLst>
              </a:tr>
              <a:tr h="451372">
                <a:tc>
                  <a:txBody>
                    <a:bodyPr/>
                    <a:lstStyle/>
                    <a:p>
                      <a:pPr marL="0" marR="0" lvl="0" indent="0" algn="l" rtl="0" eaLnBrk="1" fontAlgn="auto" latinLnBrk="0" hangingPunct="1">
                        <a:lnSpc>
                          <a:spcPct val="100000"/>
                        </a:lnSpc>
                        <a:spcBef>
                          <a:spcPts val="0"/>
                        </a:spcBef>
                        <a:spcAft>
                          <a:spcPts val="0"/>
                        </a:spcAft>
                        <a:buClrTx/>
                        <a:buSzTx/>
                        <a:buFont typeface="Arial" panose="020B0604020202020204" pitchFamily="34" charset="0"/>
                        <a:buNone/>
                      </a:pPr>
                      <a:r>
                        <a:rPr lang="en-IN" sz="1000" b="1" i="0" u="none" strike="noStrike" kern="1200" err="1">
                          <a:solidFill>
                            <a:srgbClr val="05B050"/>
                          </a:solidFill>
                          <a:effectLst/>
                          <a:latin typeface="+mn-lt"/>
                          <a:ea typeface="+mn-ea"/>
                          <a:cs typeface="+mn-cs"/>
                        </a:rPr>
                        <a:t>ReVamp</a:t>
                      </a:r>
                      <a:r>
                        <a:rPr lang="en-IN" sz="1000" b="1" i="0" u="none" strike="noStrike" kern="1200">
                          <a:solidFill>
                            <a:srgbClr val="05B050"/>
                          </a:solidFill>
                          <a:effectLst/>
                          <a:latin typeface="+mn-lt"/>
                          <a:ea typeface="+mn-ea"/>
                          <a:cs typeface="+mn-cs"/>
                        </a:rPr>
                        <a:t> 15 CA/CB</a:t>
                      </a: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lvl="0" algn="l">
                        <a:lnSpc>
                          <a:spcPct val="100000"/>
                        </a:lnSpc>
                        <a:spcBef>
                          <a:spcPts val="0"/>
                        </a:spcBef>
                        <a:spcAft>
                          <a:spcPts val="0"/>
                        </a:spcAft>
                        <a:buNone/>
                      </a:pPr>
                      <a:r>
                        <a:rPr lang="en-IN" sz="1000" b="1" i="0" u="none" strike="noStrike" kern="1200" noProof="0" err="1">
                          <a:solidFill>
                            <a:srgbClr val="05B050"/>
                          </a:solidFill>
                          <a:effectLst/>
                          <a:latin typeface="Nunito Sans"/>
                          <a:ea typeface="+mn-ea"/>
                          <a:cs typeface="+mn-cs"/>
                        </a:rPr>
                        <a:t>ReVamp</a:t>
                      </a:r>
                      <a:r>
                        <a:rPr lang="en-IN" sz="1000" b="1" i="0" u="none" strike="noStrike" kern="1200" noProof="0">
                          <a:solidFill>
                            <a:srgbClr val="05B050"/>
                          </a:solidFill>
                          <a:effectLst/>
                          <a:latin typeface="Nunito Sans"/>
                          <a:ea typeface="+mn-ea"/>
                          <a:cs typeface="+mn-cs"/>
                        </a:rPr>
                        <a:t> 15 CA/CB</a:t>
                      </a:r>
                      <a:endParaRPr lang="en-IN" sz="1000" b="0" i="0" u="none" strike="noStrike" kern="1200" noProof="0">
                        <a:solidFill>
                          <a:srgbClr val="05B050"/>
                        </a:solidFill>
                        <a:effectLst/>
                        <a:latin typeface="Nunito Sans"/>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b="0" i="0" u="none" strike="noStrike" kern="1200">
                          <a:solidFill>
                            <a:srgbClr val="000000"/>
                          </a:solidFill>
                          <a:effectLst/>
                          <a:latin typeface="+mn-lt"/>
                          <a:ea typeface="+mn-ea"/>
                          <a:cs typeface="+mn-cs"/>
                        </a:rPr>
                        <a:t>Implementing a streamlined process for Form 15CA and 15CB enhances regulatory compliance, reduces tax-related risks, and ensures accurate reporting of foreign remittances. </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ctr" defTabSz="914400" rtl="0" eaLnBrk="1" fontAlgn="b" latinLnBrk="0" hangingPunct="1">
                        <a:lnSpc>
                          <a:spcPct val="100000"/>
                        </a:lnSpc>
                        <a:spcBef>
                          <a:spcPts val="0"/>
                        </a:spcBef>
                        <a:spcAft>
                          <a:spcPts val="0"/>
                        </a:spcAft>
                        <a:buClrTx/>
                        <a:buSzTx/>
                        <a:buFont typeface="Arial" panose="020B0604020202020204" pitchFamily="34" charset="0"/>
                        <a:buNone/>
                        <a:tabLst/>
                        <a:defRPr/>
                      </a:pPr>
                      <a:r>
                        <a:rPr kumimoji="0" lang="en-IN" sz="1000" b="0" i="0" u="none" strike="noStrike" kern="1200" cap="none" spc="0" normalizeH="0" baseline="0" noProof="0">
                          <a:ln>
                            <a:noFill/>
                          </a:ln>
                          <a:solidFill>
                            <a:srgbClr val="000000"/>
                          </a:solidFill>
                          <a:effectLst/>
                          <a:uLnTx/>
                          <a:uFillTx/>
                          <a:latin typeface="+mn-lt"/>
                          <a:ea typeface="+mn-ea"/>
                          <a:cs typeface="+mn-cs"/>
                        </a:rPr>
                        <a:t>25 Aug 2026</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ctr"/>
                      <a:r>
                        <a:rPr lang="en-US" sz="1000">
                          <a:latin typeface="+mn-lt"/>
                        </a:rPr>
                        <a:t>No</a:t>
                      </a:r>
                    </a:p>
                  </a:txBody>
                  <a:tcPr anchor="ctr">
                    <a:lnL w="6350" cap="flat" cmpd="sng" algn="ctr">
                      <a:solidFill>
                        <a:schemeClr val="bg1">
                          <a:lumMod val="75000"/>
                        </a:schemeClr>
                      </a:solidFill>
                      <a:prstDash val="solid"/>
                      <a:round/>
                      <a:headEnd type="none" w="med" len="med"/>
                      <a:tailEnd type="none" w="med" len="med"/>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30614429"/>
                  </a:ext>
                </a:extLst>
              </a:tr>
              <a:tr h="45137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i="0" u="none" strike="noStrike" kern="1200">
                          <a:solidFill>
                            <a:srgbClr val="00B050"/>
                          </a:solidFill>
                          <a:effectLst/>
                          <a:latin typeface="+mn-lt"/>
                          <a:ea typeface="+mn-ea"/>
                          <a:cs typeface="+mn-cs"/>
                        </a:rPr>
                        <a:t>Uniform App enablement for Engineering</a:t>
                      </a:r>
                      <a:endParaRPr lang="en-IN" sz="1000" b="1" i="0" u="none" strike="noStrike" kern="1200">
                        <a:solidFill>
                          <a:srgbClr val="00B050"/>
                        </a:solidFill>
                        <a:effectLst/>
                        <a:latin typeface="+mn-lt"/>
                        <a:ea typeface="+mn-ea"/>
                        <a:cs typeface="+mn-cs"/>
                      </a:endParaRP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lvl="0"/>
                      <a:r>
                        <a:rPr lang="en-US" sz="1000" b="1" i="0" u="none" strike="noStrike" kern="1200">
                          <a:solidFill>
                            <a:srgbClr val="00B050"/>
                          </a:solidFill>
                          <a:effectLst/>
                          <a:latin typeface="+mn-lt"/>
                          <a:ea typeface="+mn-ea"/>
                          <a:cs typeface="+mn-cs"/>
                        </a:rPr>
                        <a:t>Uniform App enablement for Engineering</a:t>
                      </a:r>
                      <a:endParaRPr lang="en-IN" sz="1000" b="1" i="0" u="none" strike="noStrike" kern="1200">
                        <a:solidFill>
                          <a:srgbClr val="00B050"/>
                        </a:solidFill>
                        <a:effectLst/>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a:t>Empowers employees with a single digital platform for end-to-end uniform ordering, size exchanges and entitlement visibility — eliminating manual processes. Real-time notifications ensure seamless tracking from order placement through to collection.</a:t>
                      </a:r>
                      <a:endParaRPr lang="en-IN" sz="1000" kern="1200">
                        <a:solidFill>
                          <a:schemeClr val="dk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ctr" defTabSz="914400" rtl="0" eaLnBrk="1" fontAlgn="b" latinLnBrk="0" hangingPunct="1">
                        <a:lnSpc>
                          <a:spcPct val="100000"/>
                        </a:lnSpc>
                        <a:spcBef>
                          <a:spcPts val="0"/>
                        </a:spcBef>
                        <a:spcAft>
                          <a:spcPts val="0"/>
                        </a:spcAft>
                        <a:buClrTx/>
                        <a:buSzTx/>
                        <a:buFont typeface="Arial" panose="020B0604020202020204" pitchFamily="34" charset="0"/>
                        <a:buNone/>
                        <a:tabLst/>
                        <a:defRPr/>
                      </a:pPr>
                      <a:r>
                        <a:rPr kumimoji="0" lang="en-IN" sz="1000" b="0" i="0" u="none" strike="noStrike" kern="1200" cap="none" spc="0" normalizeH="0" baseline="0" noProof="0">
                          <a:ln>
                            <a:noFill/>
                          </a:ln>
                          <a:solidFill>
                            <a:srgbClr val="000000"/>
                          </a:solidFill>
                          <a:effectLst/>
                          <a:uLnTx/>
                          <a:uFillTx/>
                          <a:latin typeface="+mn-lt"/>
                          <a:ea typeface="+mn-ea"/>
                          <a:cs typeface="+mn-cs"/>
                        </a:rPr>
                        <a:t>25 Aug 2026</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ctr" defTabSz="914400" rtl="0" eaLnBrk="1" fontAlgn="b" latinLnBrk="0" hangingPunct="1">
                        <a:lnSpc>
                          <a:spcPct val="100000"/>
                        </a:lnSpc>
                        <a:spcBef>
                          <a:spcPts val="0"/>
                        </a:spcBef>
                        <a:spcAft>
                          <a:spcPts val="0"/>
                        </a:spcAft>
                        <a:buClrTx/>
                        <a:buSzTx/>
                        <a:buFont typeface="Arial" panose="020B0604020202020204" pitchFamily="34" charset="0"/>
                        <a:buNone/>
                        <a:tabLst/>
                        <a:defRPr/>
                      </a:pPr>
                      <a:r>
                        <a:rPr kumimoji="0" lang="en-IN" sz="1000" b="0" i="0" u="none" strike="noStrike" kern="1200" cap="none" spc="0" normalizeH="0" baseline="0" noProof="0">
                          <a:ln>
                            <a:noFill/>
                          </a:ln>
                          <a:solidFill>
                            <a:srgbClr val="000000"/>
                          </a:solidFill>
                          <a:effectLst/>
                          <a:uLnTx/>
                          <a:uFillTx/>
                          <a:latin typeface="+mn-lt"/>
                          <a:ea typeface="+mn-ea"/>
                          <a:cs typeface="+mn-cs"/>
                        </a:rPr>
                        <a:t>Yes</a:t>
                      </a:r>
                    </a:p>
                  </a:txBody>
                  <a:tcPr anchor="ctr">
                    <a:lnL w="6350" cap="flat" cmpd="sng" algn="ctr">
                      <a:solidFill>
                        <a:schemeClr val="bg1">
                          <a:lumMod val="75000"/>
                        </a:schemeClr>
                      </a:solidFill>
                      <a:prstDash val="solid"/>
                      <a:round/>
                      <a:headEnd type="none" w="med" len="med"/>
                      <a:tailEnd type="none" w="med" len="med"/>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682378717"/>
                  </a:ext>
                </a:extLst>
              </a:tr>
              <a:tr h="451372">
                <a:tc>
                  <a:txBody>
                    <a:bodyPr/>
                    <a:lstStyle/>
                    <a:p>
                      <a:pPr lvl="0">
                        <a:buNone/>
                      </a:pPr>
                      <a:r>
                        <a:rPr lang="en-US" sz="1000" b="1" i="0" u="none" strike="noStrike" kern="1200" err="1">
                          <a:solidFill>
                            <a:srgbClr val="00B050"/>
                          </a:solidFill>
                          <a:effectLst/>
                          <a:latin typeface="+mn-lt"/>
                          <a:ea typeface="+mn-ea"/>
                          <a:cs typeface="+mn-cs"/>
                        </a:rPr>
                        <a:t>AdHoc</a:t>
                      </a:r>
                      <a:r>
                        <a:rPr lang="en-US" sz="1000" b="1" i="0" u="none" strike="noStrike" kern="1200">
                          <a:solidFill>
                            <a:srgbClr val="00B050"/>
                          </a:solidFill>
                          <a:effectLst/>
                          <a:latin typeface="+mn-lt"/>
                          <a:ea typeface="+mn-ea"/>
                          <a:cs typeface="+mn-cs"/>
                        </a:rPr>
                        <a:t> - Approval workflow for customer modification</a:t>
                      </a:r>
                      <a:endParaRPr lang="en-US">
                        <a:solidFill>
                          <a:srgbClr val="00B050"/>
                        </a:solidFill>
                      </a:endParaRP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lvl="0" algn="l">
                        <a:lnSpc>
                          <a:spcPct val="100000"/>
                        </a:lnSpc>
                        <a:spcBef>
                          <a:spcPts val="0"/>
                        </a:spcBef>
                        <a:spcAft>
                          <a:spcPts val="0"/>
                        </a:spcAft>
                        <a:buNone/>
                      </a:pPr>
                      <a:r>
                        <a:rPr lang="en-US" sz="1000" b="1" i="0" u="none" strike="noStrike" kern="1200" noProof="0" err="1">
                          <a:solidFill>
                            <a:srgbClr val="00B050"/>
                          </a:solidFill>
                          <a:effectLst/>
                          <a:latin typeface="Nunito Sans"/>
                          <a:ea typeface="+mn-ea"/>
                          <a:cs typeface="+mn-cs"/>
                        </a:rPr>
                        <a:t>AdHoc</a:t>
                      </a:r>
                      <a:r>
                        <a:rPr lang="en-US" sz="1000" b="1" i="0" u="none" strike="noStrike" kern="1200" noProof="0">
                          <a:solidFill>
                            <a:srgbClr val="00B050"/>
                          </a:solidFill>
                          <a:effectLst/>
                          <a:latin typeface="Nunito Sans"/>
                          <a:ea typeface="+mn-ea"/>
                          <a:cs typeface="+mn-cs"/>
                        </a:rPr>
                        <a:t> - Approval workflow for customer modification</a:t>
                      </a:r>
                      <a:endParaRPr lang="en-US" sz="1000" b="0" i="0" u="none" strike="noStrike" kern="1200" noProof="0">
                        <a:solidFill>
                          <a:srgbClr val="00B050"/>
                        </a:solidFill>
                        <a:effectLst/>
                        <a:latin typeface="Nunito Sans"/>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171450" marR="0" lvl="0" indent="-171450" algn="l" rtl="0">
                        <a:lnSpc>
                          <a:spcPct val="100000"/>
                        </a:lnSpc>
                        <a:spcBef>
                          <a:spcPts val="0"/>
                        </a:spcBef>
                        <a:spcAft>
                          <a:spcPts val="0"/>
                        </a:spcAft>
                        <a:buClrTx/>
                        <a:buSzTx/>
                        <a:buFont typeface="Arial" panose="020B0604020202020204" pitchFamily="34" charset="0"/>
                        <a:buChar char="•"/>
                      </a:pPr>
                      <a:r>
                        <a:rPr lang="en-US" sz="1000" b="0" i="0" u="none" strike="noStrike" kern="1200">
                          <a:solidFill>
                            <a:srgbClr val="000000"/>
                          </a:solidFill>
                          <a:effectLst/>
                          <a:latin typeface="+mn-lt"/>
                          <a:ea typeface="+mn-ea"/>
                          <a:cs typeface="+mn-cs"/>
                        </a:rPr>
                        <a:t>Streamlined customer onboarding with automated workflows ensures accuracy and compliance. Multi-level approvals strengthen governance, reduce risks, and enhance audit readiness.</a:t>
                      </a:r>
                      <a:endParaRPr lang="en-IN" sz="1000" b="0" i="0" u="none" strike="noStrike" kern="1200">
                        <a:solidFill>
                          <a:srgbClr val="000000"/>
                        </a:solidFill>
                        <a:effectLst/>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lvl="0" algn="ctr">
                        <a:lnSpc>
                          <a:spcPct val="100000"/>
                        </a:lnSpc>
                        <a:spcBef>
                          <a:spcPts val="0"/>
                        </a:spcBef>
                        <a:spcAft>
                          <a:spcPts val="0"/>
                        </a:spcAft>
                        <a:buNone/>
                      </a:pPr>
                      <a:r>
                        <a:rPr lang="en-IN" sz="1000" b="0" i="0" u="none" strike="noStrike" kern="1200" cap="none" spc="0" normalizeH="0" baseline="0" noProof="0">
                          <a:ln>
                            <a:noFill/>
                          </a:ln>
                          <a:solidFill>
                            <a:srgbClr val="000000"/>
                          </a:solidFill>
                          <a:effectLst/>
                          <a:uLnTx/>
                          <a:uFillTx/>
                          <a:latin typeface="Nunito Sans"/>
                          <a:ea typeface="+mn-ea"/>
                          <a:cs typeface="+mn-cs"/>
                        </a:rPr>
                        <a:t>25 Aug 2026</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ctr" defTabSz="914400" rtl="0">
                        <a:lnSpc>
                          <a:spcPct val="100000"/>
                        </a:lnSpc>
                        <a:spcBef>
                          <a:spcPts val="0"/>
                        </a:spcBef>
                        <a:spcAft>
                          <a:spcPts val="0"/>
                        </a:spcAft>
                        <a:buClrTx/>
                        <a:buSzTx/>
                        <a:buFont typeface="Arial" panose="020B0604020202020204" pitchFamily="34" charset="0"/>
                        <a:buNone/>
                        <a:tabLst/>
                        <a:defRPr/>
                      </a:pPr>
                      <a:r>
                        <a:rPr lang="en-IN" sz="1000" b="0" i="0" u="none" strike="noStrike" kern="1200" cap="none" spc="0" normalizeH="0" baseline="0" noProof="0">
                          <a:ln>
                            <a:noFill/>
                          </a:ln>
                          <a:solidFill>
                            <a:srgbClr val="000000"/>
                          </a:solidFill>
                          <a:effectLst/>
                          <a:uLnTx/>
                          <a:uFillTx/>
                          <a:latin typeface="+mn-lt"/>
                          <a:ea typeface="+mn-ea"/>
                          <a:cs typeface="+mn-cs"/>
                        </a:rPr>
                        <a:t>No</a:t>
                      </a:r>
                      <a:endParaRPr kumimoji="0" lang="en-US"/>
                    </a:p>
                  </a:txBody>
                  <a:tcPr anchor="ctr">
                    <a:lnL w="6350" cap="flat" cmpd="sng" algn="ctr">
                      <a:solidFill>
                        <a:schemeClr val="bg1">
                          <a:lumMod val="75000"/>
                        </a:schemeClr>
                      </a:solidFill>
                      <a:prstDash val="solid"/>
                      <a:round/>
                      <a:headEnd type="none" w="med" len="med"/>
                      <a:tailEnd type="none" w="med" len="med"/>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33723201"/>
                  </a:ext>
                </a:extLst>
              </a:tr>
            </a:tbl>
          </a:graphicData>
        </a:graphic>
      </p:graphicFrame>
      <p:sp>
        <p:nvSpPr>
          <p:cNvPr id="4" name="Rectangle 3">
            <a:extLst>
              <a:ext uri="{FF2B5EF4-FFF2-40B4-BE49-F238E27FC236}">
                <a16:creationId xmlns:a16="http://schemas.microsoft.com/office/drawing/2014/main" id="{35DC576E-E6A6-7D02-C2F1-35BC614BEB34}"/>
              </a:ext>
            </a:extLst>
          </p:cNvPr>
          <p:cNvSpPr/>
          <p:nvPr/>
        </p:nvSpPr>
        <p:spPr>
          <a:xfrm>
            <a:off x="1188132" y="6671592"/>
            <a:ext cx="90000" cy="90000"/>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5" name="Rectangle 4">
            <a:extLst>
              <a:ext uri="{FF2B5EF4-FFF2-40B4-BE49-F238E27FC236}">
                <a16:creationId xmlns:a16="http://schemas.microsoft.com/office/drawing/2014/main" id="{7C595851-E780-B6B5-7DBC-0152723B1D46}"/>
              </a:ext>
            </a:extLst>
          </p:cNvPr>
          <p:cNvSpPr/>
          <p:nvPr/>
        </p:nvSpPr>
        <p:spPr>
          <a:xfrm>
            <a:off x="2265818" y="6670554"/>
            <a:ext cx="90000" cy="90000"/>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7" name="Rectangle 6">
            <a:extLst>
              <a:ext uri="{FF2B5EF4-FFF2-40B4-BE49-F238E27FC236}">
                <a16:creationId xmlns:a16="http://schemas.microsoft.com/office/drawing/2014/main" id="{4EA8A336-C4ED-9B29-E817-31001346B088}"/>
              </a:ext>
            </a:extLst>
          </p:cNvPr>
          <p:cNvSpPr/>
          <p:nvPr/>
        </p:nvSpPr>
        <p:spPr>
          <a:xfrm>
            <a:off x="3443423" y="6671592"/>
            <a:ext cx="90000" cy="90000"/>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8" name="Rectangle 7">
            <a:extLst>
              <a:ext uri="{FF2B5EF4-FFF2-40B4-BE49-F238E27FC236}">
                <a16:creationId xmlns:a16="http://schemas.microsoft.com/office/drawing/2014/main" id="{F35E0A80-4D98-3B13-E5D7-9B9AEC7102F2}"/>
              </a:ext>
            </a:extLst>
          </p:cNvPr>
          <p:cNvSpPr/>
          <p:nvPr/>
        </p:nvSpPr>
        <p:spPr>
          <a:xfrm>
            <a:off x="8146052" y="6714097"/>
            <a:ext cx="90000" cy="90000"/>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9" name="TextBox 15">
            <a:extLst>
              <a:ext uri="{FF2B5EF4-FFF2-40B4-BE49-F238E27FC236}">
                <a16:creationId xmlns:a16="http://schemas.microsoft.com/office/drawing/2014/main" id="{7AF0CF25-8FDA-90F3-1704-8953B2177155}"/>
              </a:ext>
            </a:extLst>
          </p:cNvPr>
          <p:cNvSpPr txBox="1"/>
          <p:nvPr/>
        </p:nvSpPr>
        <p:spPr>
          <a:xfrm>
            <a:off x="1288983" y="6614743"/>
            <a:ext cx="857245"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0070C0"/>
                </a:solidFill>
                <a:effectLst/>
                <a:uLnTx/>
                <a:uFillTx/>
                <a:latin typeface="Nunito Sans"/>
                <a:ea typeface="+mn-ea"/>
                <a:cs typeface="+mn-cs"/>
              </a:rPr>
              <a:t>Delivered</a:t>
            </a:r>
            <a:endParaRPr kumimoji="0" lang="en-IN" sz="1000" b="0" i="0" u="none" strike="noStrike" kern="1200" cap="none" spc="0" normalizeH="0" baseline="0" noProof="0">
              <a:ln>
                <a:noFill/>
              </a:ln>
              <a:solidFill>
                <a:srgbClr val="000000"/>
              </a:solidFill>
              <a:effectLst/>
              <a:uLnTx/>
              <a:uFillTx/>
              <a:latin typeface="Nunito Sans"/>
              <a:ea typeface="+mn-ea"/>
              <a:cs typeface="+mn-cs"/>
            </a:endParaRPr>
          </a:p>
        </p:txBody>
      </p:sp>
      <p:sp>
        <p:nvSpPr>
          <p:cNvPr id="10" name="TextBox 18">
            <a:extLst>
              <a:ext uri="{FF2B5EF4-FFF2-40B4-BE49-F238E27FC236}">
                <a16:creationId xmlns:a16="http://schemas.microsoft.com/office/drawing/2014/main" id="{E231FBC7-6343-0CC7-8A5F-8E1EFE95ED99}"/>
              </a:ext>
            </a:extLst>
          </p:cNvPr>
          <p:cNvSpPr txBox="1"/>
          <p:nvPr/>
        </p:nvSpPr>
        <p:spPr>
          <a:xfrm>
            <a:off x="2310642" y="6611102"/>
            <a:ext cx="1032881"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00B050"/>
                </a:solidFill>
                <a:effectLst/>
                <a:uLnTx/>
                <a:uFillTx/>
                <a:latin typeface="Nunito Sans"/>
                <a:ea typeface="+mn-ea"/>
                <a:cs typeface="+mn-cs"/>
              </a:rPr>
              <a:t>Ontrack</a:t>
            </a:r>
            <a:endParaRPr kumimoji="0" lang="en-IN" sz="1000" b="0" i="0" u="none" strike="noStrike" kern="1200" cap="none" spc="0" normalizeH="0" baseline="0" noProof="0">
              <a:ln>
                <a:noFill/>
              </a:ln>
              <a:solidFill>
                <a:srgbClr val="000000"/>
              </a:solidFill>
              <a:effectLst/>
              <a:uLnTx/>
              <a:uFillTx/>
              <a:latin typeface="Nunito Sans"/>
              <a:ea typeface="+mn-ea"/>
              <a:cs typeface="+mn-cs"/>
            </a:endParaRPr>
          </a:p>
        </p:txBody>
      </p:sp>
      <p:sp>
        <p:nvSpPr>
          <p:cNvPr id="11" name="TextBox 20">
            <a:extLst>
              <a:ext uri="{FF2B5EF4-FFF2-40B4-BE49-F238E27FC236}">
                <a16:creationId xmlns:a16="http://schemas.microsoft.com/office/drawing/2014/main" id="{BEB97AA4-94A9-72F4-CE89-59546D5AC379}"/>
              </a:ext>
            </a:extLst>
          </p:cNvPr>
          <p:cNvSpPr txBox="1"/>
          <p:nvPr/>
        </p:nvSpPr>
        <p:spPr>
          <a:xfrm>
            <a:off x="3539606" y="6608370"/>
            <a:ext cx="2257628"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FED9A0">
                    <a:lumMod val="75000"/>
                  </a:srgbClr>
                </a:solidFill>
                <a:effectLst/>
                <a:uLnTx/>
                <a:uFillTx/>
                <a:latin typeface="Nunito Sans"/>
                <a:ea typeface="+mn-ea"/>
                <a:cs typeface="+mn-cs"/>
              </a:rPr>
              <a:t>Under delay and can be recovered</a:t>
            </a:r>
            <a:endParaRPr kumimoji="0" lang="en-IN" sz="1000" b="0" i="0" u="none" strike="noStrike" kern="1200" cap="none" spc="0" normalizeH="0" baseline="0" noProof="0">
              <a:ln>
                <a:noFill/>
              </a:ln>
              <a:solidFill>
                <a:srgbClr val="000000"/>
              </a:solidFill>
              <a:effectLst/>
              <a:uLnTx/>
              <a:uFillTx/>
              <a:latin typeface="Nunito Sans"/>
              <a:ea typeface="+mn-ea"/>
              <a:cs typeface="+mn-cs"/>
            </a:endParaRPr>
          </a:p>
        </p:txBody>
      </p:sp>
      <p:sp>
        <p:nvSpPr>
          <p:cNvPr id="13" name="TextBox 22">
            <a:extLst>
              <a:ext uri="{FF2B5EF4-FFF2-40B4-BE49-F238E27FC236}">
                <a16:creationId xmlns:a16="http://schemas.microsoft.com/office/drawing/2014/main" id="{E23A692B-393D-A6C4-061B-7CA518FF6FA8}"/>
              </a:ext>
            </a:extLst>
          </p:cNvPr>
          <p:cNvSpPr txBox="1"/>
          <p:nvPr/>
        </p:nvSpPr>
        <p:spPr>
          <a:xfrm>
            <a:off x="8246937" y="6618126"/>
            <a:ext cx="2338222"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FF0000"/>
                </a:solidFill>
                <a:effectLst/>
                <a:uLnTx/>
                <a:uFillTx/>
                <a:latin typeface="Nunito Sans"/>
                <a:ea typeface="+mn-ea"/>
                <a:cs typeface="+mn-cs"/>
              </a:rPr>
              <a:t>Delayed and pushed to next release</a:t>
            </a:r>
          </a:p>
        </p:txBody>
      </p:sp>
      <p:sp>
        <p:nvSpPr>
          <p:cNvPr id="15" name="TextBox 14">
            <a:extLst>
              <a:ext uri="{FF2B5EF4-FFF2-40B4-BE49-F238E27FC236}">
                <a16:creationId xmlns:a16="http://schemas.microsoft.com/office/drawing/2014/main" id="{3EE283F0-4650-C00C-A902-38DB6231B0BE}"/>
              </a:ext>
            </a:extLst>
          </p:cNvPr>
          <p:cNvSpPr txBox="1"/>
          <p:nvPr/>
        </p:nvSpPr>
        <p:spPr>
          <a:xfrm>
            <a:off x="6454369" y="6611638"/>
            <a:ext cx="2743200"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IN" sz="1000">
                <a:solidFill>
                  <a:srgbClr val="7D7D7D"/>
                </a:solidFill>
              </a:rPr>
              <a:t>Descoped</a:t>
            </a:r>
            <a:endParaRPr lang="en-US"/>
          </a:p>
        </p:txBody>
      </p:sp>
      <p:sp>
        <p:nvSpPr>
          <p:cNvPr id="16" name="Rectangle 15">
            <a:extLst>
              <a:ext uri="{FF2B5EF4-FFF2-40B4-BE49-F238E27FC236}">
                <a16:creationId xmlns:a16="http://schemas.microsoft.com/office/drawing/2014/main" id="{9142EB0D-80F2-0B19-0A1C-8FB708DF78C6}"/>
              </a:ext>
            </a:extLst>
          </p:cNvPr>
          <p:cNvSpPr/>
          <p:nvPr/>
        </p:nvSpPr>
        <p:spPr>
          <a:xfrm>
            <a:off x="6360794" y="6681439"/>
            <a:ext cx="90000" cy="90000"/>
          </a:xfrm>
          <a:prstGeom prst="rect">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Tree>
    <p:extLst>
      <p:ext uri="{BB962C8B-B14F-4D97-AF65-F5344CB8AC3E}">
        <p14:creationId xmlns:p14="http://schemas.microsoft.com/office/powerpoint/2010/main" val="22144890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36AD5B-6B39-63D7-BF93-EE11633F4FE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26A0FC8-F43E-9D43-1FD4-8956DBBA06C4}"/>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3A41A254-7326-714E-AF55-4C213D6394DE}" type="slidenum">
              <a:rPr kumimoji="0" lang="en-US" sz="1200" b="0" i="0" u="none" strike="noStrike" kern="1200" cap="none" spc="0" normalizeH="0" baseline="0" noProof="0" smtClean="0">
                <a:ln>
                  <a:noFill/>
                </a:ln>
                <a:solidFill>
                  <a:srgbClr val="DA0E28"/>
                </a:solidFill>
                <a:effectLst/>
                <a:uLnTx/>
                <a:uFillTx/>
                <a:latin typeface="Nunito Sans"/>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srgbClr val="DA0E28"/>
              </a:solidFill>
              <a:effectLst/>
              <a:uLnTx/>
              <a:uFillTx/>
              <a:latin typeface="Nunito Sans"/>
              <a:ea typeface="+mn-ea"/>
              <a:cs typeface="+mn-cs"/>
            </a:endParaRPr>
          </a:p>
        </p:txBody>
      </p:sp>
      <p:sp>
        <p:nvSpPr>
          <p:cNvPr id="3" name="Rectangle 2">
            <a:extLst>
              <a:ext uri="{FF2B5EF4-FFF2-40B4-BE49-F238E27FC236}">
                <a16:creationId xmlns:a16="http://schemas.microsoft.com/office/drawing/2014/main" id="{07865F5D-8855-4854-0023-B15FA70ACA76}"/>
              </a:ext>
            </a:extLst>
          </p:cNvPr>
          <p:cNvSpPr/>
          <p:nvPr/>
        </p:nvSpPr>
        <p:spPr>
          <a:xfrm>
            <a:off x="129077" y="610471"/>
            <a:ext cx="1170432" cy="42234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defRPr/>
            </a:pPr>
            <a:r>
              <a:rPr kumimoji="0" lang="en-IN" sz="1400" b="1" i="0" u="none" strike="noStrike" kern="1200" cap="none" spc="0" normalizeH="0" baseline="0" noProof="0">
                <a:ln>
                  <a:noFill/>
                </a:ln>
                <a:solidFill>
                  <a:srgbClr val="FFFFFF"/>
                </a:solidFill>
                <a:effectLst/>
                <a:uLnTx/>
                <a:uFillTx/>
                <a:latin typeface="AirIndia"/>
                <a:ea typeface="+mn-ea"/>
                <a:cs typeface="+mn-cs"/>
              </a:rPr>
              <a:t>Sep ‘</a:t>
            </a:r>
            <a:r>
              <a:rPr lang="en-IN" sz="1400" b="1">
                <a:solidFill>
                  <a:srgbClr val="FFFFFF"/>
                </a:solidFill>
                <a:latin typeface="AirIndia"/>
              </a:rPr>
              <a:t>26</a:t>
            </a:r>
            <a:endParaRPr kumimoji="0" lang="en-US" sz="1400" b="1" i="0" u="none" strike="noStrike" kern="1200" cap="none" spc="0" normalizeH="0" baseline="0" noProof="0">
              <a:ln>
                <a:noFill/>
              </a:ln>
              <a:solidFill>
                <a:srgbClr val="FFFFFF"/>
              </a:solidFill>
              <a:effectLst/>
              <a:uLnTx/>
              <a:uFillTx/>
              <a:latin typeface="AirIndia"/>
              <a:ea typeface="+mn-ea"/>
              <a:cs typeface="+mn-cs"/>
            </a:endParaRPr>
          </a:p>
        </p:txBody>
      </p:sp>
      <p:sp>
        <p:nvSpPr>
          <p:cNvPr id="6" name="Title 11">
            <a:extLst>
              <a:ext uri="{FF2B5EF4-FFF2-40B4-BE49-F238E27FC236}">
                <a16:creationId xmlns:a16="http://schemas.microsoft.com/office/drawing/2014/main" id="{2AD2E9A5-0681-64B5-8583-3EF62892EB41}"/>
              </a:ext>
            </a:extLst>
          </p:cNvPr>
          <p:cNvSpPr txBox="1">
            <a:spLocks/>
          </p:cNvSpPr>
          <p:nvPr/>
        </p:nvSpPr>
        <p:spPr>
          <a:xfrm>
            <a:off x="242857" y="182023"/>
            <a:ext cx="7691717" cy="430255"/>
          </a:xfrm>
          <a:prstGeom prst="rect">
            <a:avLst/>
          </a:prstGeom>
        </p:spPr>
        <p:txBody>
          <a:bodyPr lIns="91440" tIns="45720" rIns="91440" bIns="45720" anchor="t">
            <a:noAutofit/>
          </a:bodyPr>
          <a:lstStyle>
            <a:lvl1pPr algn="l" defTabSz="914400" rtl="0" eaLnBrk="1" latinLnBrk="0" hangingPunct="1">
              <a:lnSpc>
                <a:spcPct val="90000"/>
              </a:lnSpc>
              <a:spcBef>
                <a:spcPct val="0"/>
              </a:spcBef>
              <a:buNone/>
              <a:defRPr sz="4400" b="1" i="0" kern="1200">
                <a:solidFill>
                  <a:schemeClr val="tx1"/>
                </a:solidFill>
                <a:latin typeface="AirIndia" pitchFamily="82" charset="77"/>
                <a:ea typeface="+mj-ea"/>
                <a:cs typeface="+mj-cs"/>
              </a:defRPr>
            </a:lvl1pPr>
          </a:lstStyle>
          <a:p>
            <a:pPr>
              <a:defRPr/>
            </a:pPr>
            <a:r>
              <a:rPr lang="en-US" sz="1800">
                <a:solidFill>
                  <a:srgbClr val="DA0E28"/>
                </a:solidFill>
                <a:latin typeface="AirIndia"/>
              </a:rPr>
              <a:t>Corporate Systems </a:t>
            </a:r>
            <a:r>
              <a:rPr kumimoji="0" lang="en-US" sz="1800" b="1" i="0" u="none" strike="noStrike" kern="1200" cap="none" spc="0" normalizeH="0" baseline="0" noProof="0">
                <a:ln>
                  <a:noFill/>
                </a:ln>
                <a:solidFill>
                  <a:srgbClr val="DA0E28"/>
                </a:solidFill>
                <a:effectLst/>
                <a:uLnTx/>
                <a:uFillTx/>
                <a:latin typeface="AirIndia"/>
                <a:ea typeface="+mj-ea"/>
                <a:cs typeface="+mj-cs"/>
              </a:rPr>
              <a:t>- </a:t>
            </a:r>
            <a:r>
              <a:rPr lang="en-US" sz="1800">
                <a:solidFill>
                  <a:srgbClr val="DA0E28"/>
                </a:solidFill>
                <a:latin typeface="AirIndia"/>
              </a:rPr>
              <a:t>FY26-27 </a:t>
            </a:r>
            <a:r>
              <a:rPr kumimoji="0" lang="en-US" sz="1800" b="1" i="0" u="none" strike="noStrike" kern="1200" cap="none" spc="0" normalizeH="0" baseline="0" noProof="0">
                <a:ln>
                  <a:noFill/>
                </a:ln>
                <a:solidFill>
                  <a:srgbClr val="DA0E28"/>
                </a:solidFill>
                <a:effectLst/>
                <a:uLnTx/>
                <a:uFillTx/>
                <a:latin typeface="AirIndia"/>
                <a:ea typeface="+mj-ea"/>
                <a:cs typeface="+mj-cs"/>
              </a:rPr>
              <a:t>Q2 Release Plan</a:t>
            </a:r>
            <a:r>
              <a:rPr lang="en-US" sz="1800">
                <a:solidFill>
                  <a:srgbClr val="DA0E28"/>
                </a:solidFill>
                <a:latin typeface="AirIndia"/>
              </a:rPr>
              <a:t> (Fin Tech)</a:t>
            </a:r>
            <a:endParaRPr lang="en-US" sz="1800" b="0">
              <a:solidFill>
                <a:srgbClr val="000000"/>
              </a:solidFill>
              <a:latin typeface="AirIndia"/>
            </a:endParaRPr>
          </a:p>
          <a:p>
            <a:pPr>
              <a:defRPr/>
            </a:pPr>
            <a:endParaRPr lang="en-US" sz="1800" i="0" u="none" strike="noStrike" kern="1200" cap="none" spc="0" normalizeH="0" baseline="0" noProof="0">
              <a:ln>
                <a:noFill/>
              </a:ln>
              <a:solidFill>
                <a:srgbClr val="DA0E28"/>
              </a:solidFill>
              <a:effectLst/>
              <a:uLnTx/>
              <a:uFillTx/>
              <a:latin typeface="AirIndia"/>
            </a:endParaRPr>
          </a:p>
        </p:txBody>
      </p:sp>
      <p:graphicFrame>
        <p:nvGraphicFramePr>
          <p:cNvPr id="12" name="Table 11">
            <a:extLst>
              <a:ext uri="{FF2B5EF4-FFF2-40B4-BE49-F238E27FC236}">
                <a16:creationId xmlns:a16="http://schemas.microsoft.com/office/drawing/2014/main" id="{37FA8445-7B82-2C72-D1DE-7ED5C6ED549E}"/>
              </a:ext>
            </a:extLst>
          </p:cNvPr>
          <p:cNvGraphicFramePr>
            <a:graphicFrameLocks noGrp="1"/>
          </p:cNvGraphicFramePr>
          <p:nvPr>
            <p:extLst>
              <p:ext uri="{D42A27DB-BD31-4B8C-83A1-F6EECF244321}">
                <p14:modId xmlns:p14="http://schemas.microsoft.com/office/powerpoint/2010/main" val="2863451580"/>
              </p:ext>
            </p:extLst>
          </p:nvPr>
        </p:nvGraphicFramePr>
        <p:xfrm>
          <a:off x="1251008" y="588627"/>
          <a:ext cx="10685699" cy="2657922"/>
        </p:xfrm>
        <a:graphic>
          <a:graphicData uri="http://schemas.openxmlformats.org/drawingml/2006/table">
            <a:tbl>
              <a:tblPr firstRow="1" bandRow="1">
                <a:tableStyleId>{5C22544A-7EE6-4342-B048-85BDC9FD1C3A}</a:tableStyleId>
              </a:tblPr>
              <a:tblGrid>
                <a:gridCol w="1733607">
                  <a:extLst>
                    <a:ext uri="{9D8B030D-6E8A-4147-A177-3AD203B41FA5}">
                      <a16:colId xmlns:a16="http://schemas.microsoft.com/office/drawing/2014/main" val="2822350773"/>
                    </a:ext>
                  </a:extLst>
                </a:gridCol>
                <a:gridCol w="1733607">
                  <a:extLst>
                    <a:ext uri="{9D8B030D-6E8A-4147-A177-3AD203B41FA5}">
                      <a16:colId xmlns:a16="http://schemas.microsoft.com/office/drawing/2014/main" val="1843387359"/>
                    </a:ext>
                  </a:extLst>
                </a:gridCol>
                <a:gridCol w="4293529">
                  <a:extLst>
                    <a:ext uri="{9D8B030D-6E8A-4147-A177-3AD203B41FA5}">
                      <a16:colId xmlns:a16="http://schemas.microsoft.com/office/drawing/2014/main" val="99588705"/>
                    </a:ext>
                  </a:extLst>
                </a:gridCol>
                <a:gridCol w="1462478">
                  <a:extLst>
                    <a:ext uri="{9D8B030D-6E8A-4147-A177-3AD203B41FA5}">
                      <a16:colId xmlns:a16="http://schemas.microsoft.com/office/drawing/2014/main" val="2769948327"/>
                    </a:ext>
                  </a:extLst>
                </a:gridCol>
                <a:gridCol w="1462478">
                  <a:extLst>
                    <a:ext uri="{9D8B030D-6E8A-4147-A177-3AD203B41FA5}">
                      <a16:colId xmlns:a16="http://schemas.microsoft.com/office/drawing/2014/main" val="1751150457"/>
                    </a:ext>
                  </a:extLst>
                </a:gridCol>
              </a:tblGrid>
              <a:tr h="530670">
                <a:tc>
                  <a:txBody>
                    <a:bodyPr/>
                    <a:lstStyle/>
                    <a:p>
                      <a:pPr marL="0" lvl="0" indent="0" algn="ctr" defTabSz="914400" rtl="0">
                        <a:lnSpc>
                          <a:spcPct val="100000"/>
                        </a:lnSpc>
                        <a:buFont typeface="Arial" panose="020B0604020202020204" pitchFamily="34" charset="0"/>
                        <a:buNone/>
                      </a:pPr>
                      <a:r>
                        <a:rPr lang="en-IN" sz="1100" b="1" kern="1200">
                          <a:solidFill>
                            <a:schemeClr val="bg1"/>
                          </a:solidFill>
                          <a:latin typeface="+mn-lt"/>
                          <a:ea typeface="+mn-ea"/>
                          <a:cs typeface="+mn-cs"/>
                        </a:rPr>
                        <a:t>Initiatives</a:t>
                      </a:r>
                      <a:endParaRPr lang="en-US" sz="1100" b="1"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tc>
                  <a:txBody>
                    <a:bodyPr/>
                    <a:lstStyle/>
                    <a:p>
                      <a:pPr marL="0" lvl="0" indent="0" algn="ctr" defTabSz="914400">
                        <a:lnSpc>
                          <a:spcPct val="100000"/>
                        </a:lnSpc>
                        <a:buNone/>
                      </a:pPr>
                      <a:r>
                        <a:rPr lang="en-IN" sz="1100" b="1" i="0" u="none" strike="noStrike" kern="1200" noProof="0">
                          <a:solidFill>
                            <a:schemeClr val="bg1"/>
                          </a:solidFill>
                          <a:latin typeface="Nunito Sans"/>
                          <a:ea typeface="+mn-ea"/>
                          <a:cs typeface="+mn-cs"/>
                        </a:rPr>
                        <a:t>Programs/Projects</a:t>
                      </a:r>
                      <a:endParaRPr lang="en-US"/>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tc>
                  <a:txBody>
                    <a:bodyPr/>
                    <a:lstStyle/>
                    <a:p>
                      <a:pPr marL="0" lvl="0" indent="0" algn="ctr">
                        <a:lnSpc>
                          <a:spcPct val="100000"/>
                        </a:lnSpc>
                        <a:buNone/>
                      </a:pPr>
                      <a:endParaRPr lang="en-IN" sz="1100" b="1" i="0" u="none" strike="noStrike" kern="1200" baseline="0" noProof="0">
                        <a:solidFill>
                          <a:srgbClr val="FFFFFF"/>
                        </a:solidFill>
                        <a:latin typeface="Nunito Sans"/>
                      </a:endParaRPr>
                    </a:p>
                    <a:p>
                      <a:pPr marL="0" lvl="0" indent="0" algn="ctr">
                        <a:lnSpc>
                          <a:spcPct val="100000"/>
                        </a:lnSpc>
                        <a:buNone/>
                      </a:pPr>
                      <a:r>
                        <a:rPr lang="en-IN" sz="1100" b="1" i="0" u="none" strike="noStrike" kern="1200" baseline="0" noProof="0">
                          <a:solidFill>
                            <a:srgbClr val="FFFFFF"/>
                          </a:solidFill>
                          <a:latin typeface="Nunito Sans"/>
                        </a:rPr>
                        <a:t>Value Justification/Realization</a:t>
                      </a:r>
                    </a:p>
                    <a:p>
                      <a:pPr marL="0" lvl="0" indent="0" algn="ctr" defTabSz="914400">
                        <a:buFont typeface="Arial" panose="020B0604020202020204" pitchFamily="34" charset="0"/>
                        <a:buNone/>
                      </a:pPr>
                      <a:endParaRPr lang="en-IN" sz="1100"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100">
                          <a:latin typeface="+mn-lt"/>
                        </a:rPr>
                        <a:t>Go-Live ETA</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1100" b="1" kern="1200">
                          <a:solidFill>
                            <a:schemeClr val="lt1"/>
                          </a:solidFill>
                          <a:latin typeface="+mn-lt"/>
                          <a:ea typeface="+mn-ea"/>
                          <a:cs typeface="+mn-cs"/>
                        </a:rPr>
                        <a:t>EIP Integration Required (Yes/No)</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extLst>
                  <a:ext uri="{0D108BD9-81ED-4DB2-BD59-A6C34878D82A}">
                    <a16:rowId xmlns:a16="http://schemas.microsoft.com/office/drawing/2014/main" val="844450115"/>
                  </a:ext>
                </a:extLst>
              </a:tr>
              <a:tr h="687854">
                <a:tc>
                  <a:txBody>
                    <a:bodyPr/>
                    <a:lstStyle/>
                    <a:p>
                      <a:pPr lvl="0"/>
                      <a:r>
                        <a:rPr lang="en-US" sz="1000" b="1" i="0" u="none" strike="noStrike" kern="1200">
                          <a:solidFill>
                            <a:srgbClr val="05B050"/>
                          </a:solidFill>
                          <a:effectLst/>
                          <a:latin typeface="+mn-lt"/>
                          <a:ea typeface="+mn-ea"/>
                          <a:cs typeface="+mn-cs"/>
                        </a:rPr>
                        <a:t>Payment workflow implementation (F110)</a:t>
                      </a: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lvl="0"/>
                      <a:r>
                        <a:rPr lang="en-US" sz="1000" b="1" i="0" u="none" strike="noStrike" kern="1200">
                          <a:solidFill>
                            <a:srgbClr val="05B050"/>
                          </a:solidFill>
                          <a:effectLst/>
                          <a:latin typeface="+mn-lt"/>
                          <a:ea typeface="+mn-ea"/>
                          <a:cs typeface="+mn-cs"/>
                        </a:rPr>
                        <a:t>Payment workflow implementation (F110)</a:t>
                      </a:r>
                    </a:p>
                  </a:txBody>
                  <a:tcPr anchor="ctr">
                    <a:lnL w="6350" cap="flat" cmpd="sng" algn="ctr">
                      <a:solidFill>
                        <a:schemeClr val="bg1">
                          <a:lumMod val="75000"/>
                        </a:schemeClr>
                      </a:solidFill>
                      <a:prstDash val="solid"/>
                      <a:round/>
                      <a:headEnd type="none" w="med" len="med"/>
                      <a:tailEnd type="none" w="med" len="med"/>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b="0" i="0" u="none" strike="noStrike" kern="1200">
                          <a:solidFill>
                            <a:srgbClr val="000000"/>
                          </a:solidFill>
                          <a:effectLst/>
                          <a:latin typeface="+mn-lt"/>
                          <a:ea typeface="+mn-ea"/>
                          <a:cs typeface="+mn-cs"/>
                        </a:rPr>
                        <a:t>Automated payment workflows with multi-approval reduce errors, prevent fraud, and ensure compliance. Strengthened control and transparency improve financial governance and audit readiness.</a:t>
                      </a:r>
                      <a:endParaRPr lang="en-IN" sz="1000" b="0" i="0" u="none" strike="noStrike" kern="1200">
                        <a:solidFill>
                          <a:srgbClr val="000000"/>
                        </a:solidFill>
                        <a:effectLst/>
                        <a:latin typeface="+mn-lt"/>
                        <a:ea typeface="+mn-ea"/>
                        <a:cs typeface="+mn-cs"/>
                      </a:endParaRP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ctr" defTabSz="914400" rtl="0" eaLnBrk="1" fontAlgn="b" latinLnBrk="0" hangingPunct="1">
                        <a:lnSpc>
                          <a:spcPct val="100000"/>
                        </a:lnSpc>
                        <a:spcBef>
                          <a:spcPts val="0"/>
                        </a:spcBef>
                        <a:spcAft>
                          <a:spcPts val="0"/>
                        </a:spcAft>
                        <a:buClrTx/>
                        <a:buSzTx/>
                        <a:buFont typeface="Arial" panose="020B0604020202020204" pitchFamily="34" charset="0"/>
                        <a:buNone/>
                        <a:tabLst/>
                        <a:defRPr/>
                      </a:pPr>
                      <a:r>
                        <a:rPr kumimoji="0" lang="en-IN" sz="1000" b="0" i="0" u="none" strike="noStrike" kern="1200" cap="none" spc="0" normalizeH="0" baseline="0" noProof="0">
                          <a:ln>
                            <a:noFill/>
                          </a:ln>
                          <a:solidFill>
                            <a:srgbClr val="000000"/>
                          </a:solidFill>
                          <a:effectLst/>
                          <a:uLnTx/>
                          <a:uFillTx/>
                          <a:latin typeface="+mn-lt"/>
                          <a:ea typeface="+mn-ea"/>
                          <a:cs typeface="+mn-cs"/>
                        </a:rPr>
                        <a:t>24 Sep 2026</a:t>
                      </a: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ctr" defTabSz="914400" rtl="0" eaLnBrk="1" fontAlgn="b" latinLnBrk="0" hangingPunct="1">
                        <a:lnSpc>
                          <a:spcPct val="100000"/>
                        </a:lnSpc>
                        <a:spcBef>
                          <a:spcPts val="0"/>
                        </a:spcBef>
                        <a:spcAft>
                          <a:spcPts val="0"/>
                        </a:spcAft>
                        <a:buClrTx/>
                        <a:buSzTx/>
                        <a:buFont typeface="Arial" panose="020B0604020202020204" pitchFamily="34" charset="0"/>
                        <a:buNone/>
                        <a:tabLst/>
                        <a:defRPr/>
                      </a:pPr>
                      <a:r>
                        <a:rPr kumimoji="0" lang="en-IN" sz="1000" b="0" i="0" u="none" strike="noStrike" kern="1200" cap="none" spc="0" normalizeH="0" baseline="0" noProof="0">
                          <a:ln>
                            <a:noFill/>
                          </a:ln>
                          <a:solidFill>
                            <a:srgbClr val="000000"/>
                          </a:solidFill>
                          <a:effectLst/>
                          <a:uLnTx/>
                          <a:uFillTx/>
                          <a:latin typeface="+mn-lt"/>
                          <a:ea typeface="+mn-ea"/>
                          <a:cs typeface="+mn-cs"/>
                        </a:rPr>
                        <a:t>No</a:t>
                      </a:r>
                    </a:p>
                  </a:txBody>
                  <a:tcPr anchor="ctr">
                    <a:lnL w="6350">
                      <a:solidFill>
                        <a:schemeClr val="bg1">
                          <a:lumMod val="75000"/>
                        </a:schemeClr>
                      </a:solidFill>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443371065"/>
                  </a:ext>
                </a:extLst>
              </a:tr>
              <a:tr h="687854">
                <a:tc>
                  <a:txBody>
                    <a:bodyPr/>
                    <a:lstStyle/>
                    <a:p>
                      <a:pPr lvl="0"/>
                      <a:r>
                        <a:rPr lang="en-IN" sz="1000" b="1" i="0" u="none" strike="noStrike" kern="1200">
                          <a:solidFill>
                            <a:srgbClr val="05B050"/>
                          </a:solidFill>
                          <a:effectLst/>
                          <a:latin typeface="+mn-lt"/>
                          <a:ea typeface="+mn-ea"/>
                          <a:cs typeface="+mn-cs"/>
                        </a:rPr>
                        <a:t>H2H Maker Checker (Domestic)</a:t>
                      </a: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lvl="0"/>
                      <a:r>
                        <a:rPr lang="en-IN" sz="1000" b="1" i="0" u="none" strike="noStrike" kern="1200">
                          <a:solidFill>
                            <a:srgbClr val="05B050"/>
                          </a:solidFill>
                          <a:effectLst/>
                          <a:latin typeface="+mn-lt"/>
                          <a:ea typeface="+mn-ea"/>
                          <a:cs typeface="+mn-cs"/>
                        </a:rPr>
                        <a:t>H2H Maker Checker (Domestic)</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000" b="0" i="0" u="none" strike="noStrike" kern="1200">
                          <a:solidFill>
                            <a:srgbClr val="000000"/>
                          </a:solidFill>
                          <a:effectLst/>
                          <a:latin typeface="+mn-lt"/>
                          <a:ea typeface="+mn-ea"/>
                          <a:cs typeface="+mn-cs"/>
                        </a:rPr>
                        <a:t>Capability fortifies corporate governance by embedding dual authorization into domestic transactions, ensuring compliance, minimizing operational risk, and safeguarding financial integrity.</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ctr" defTabSz="914400" rtl="0" eaLnBrk="1" fontAlgn="b" latinLnBrk="0" hangingPunct="1">
                        <a:lnSpc>
                          <a:spcPct val="100000"/>
                        </a:lnSpc>
                        <a:spcBef>
                          <a:spcPts val="0"/>
                        </a:spcBef>
                        <a:spcAft>
                          <a:spcPts val="0"/>
                        </a:spcAft>
                        <a:buClrTx/>
                        <a:buSzTx/>
                        <a:buFont typeface="Arial" panose="020B0604020202020204" pitchFamily="34" charset="0"/>
                        <a:buNone/>
                        <a:tabLst/>
                        <a:defRPr/>
                      </a:pPr>
                      <a:r>
                        <a:rPr kumimoji="0" lang="en-IN" sz="1000" b="0" i="0" u="none" strike="noStrike" kern="1200" cap="none" spc="0" normalizeH="0" baseline="0" noProof="0">
                          <a:ln>
                            <a:noFill/>
                          </a:ln>
                          <a:solidFill>
                            <a:srgbClr val="000000"/>
                          </a:solidFill>
                          <a:effectLst/>
                          <a:uLnTx/>
                          <a:uFillTx/>
                          <a:latin typeface="+mn-lt"/>
                          <a:ea typeface="+mn-ea"/>
                          <a:cs typeface="+mn-cs"/>
                        </a:rPr>
                        <a:t>24 Sep 2026</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ctr" defTabSz="914400" rtl="0" eaLnBrk="1" fontAlgn="b" latinLnBrk="0" hangingPunct="1">
                        <a:lnSpc>
                          <a:spcPct val="100000"/>
                        </a:lnSpc>
                        <a:spcBef>
                          <a:spcPts val="0"/>
                        </a:spcBef>
                        <a:spcAft>
                          <a:spcPts val="0"/>
                        </a:spcAft>
                        <a:buClrTx/>
                        <a:buSzTx/>
                        <a:buFont typeface="Arial" panose="020B0604020202020204" pitchFamily="34" charset="0"/>
                        <a:buNone/>
                        <a:tabLst/>
                        <a:defRPr/>
                      </a:pPr>
                      <a:r>
                        <a:rPr kumimoji="0" lang="en-IN" sz="1000" b="0" i="0" u="none" strike="noStrike" kern="1200" cap="none" spc="0" normalizeH="0" baseline="0" noProof="0">
                          <a:ln>
                            <a:noFill/>
                          </a:ln>
                          <a:solidFill>
                            <a:srgbClr val="000000"/>
                          </a:solidFill>
                          <a:effectLst/>
                          <a:uLnTx/>
                          <a:uFillTx/>
                          <a:latin typeface="+mn-lt"/>
                          <a:ea typeface="+mn-ea"/>
                          <a:cs typeface="+mn-cs"/>
                        </a:rPr>
                        <a:t>No</a:t>
                      </a:r>
                    </a:p>
                  </a:txBody>
                  <a:tcPr anchor="ctr">
                    <a:lnL w="6350" cap="flat" cmpd="sng" algn="ctr">
                      <a:solidFill>
                        <a:schemeClr val="bg1">
                          <a:lumMod val="75000"/>
                        </a:schemeClr>
                      </a:solidFill>
                      <a:prstDash val="solid"/>
                      <a:round/>
                      <a:headEnd type="none" w="med" len="med"/>
                      <a:tailEnd type="none" w="med" len="med"/>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353027153"/>
                  </a:ext>
                </a:extLst>
              </a:tr>
              <a:tr h="68785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i="0" u="none" strike="noStrike" kern="1200" err="1">
                          <a:solidFill>
                            <a:srgbClr val="05B050"/>
                          </a:solidFill>
                          <a:effectLst/>
                          <a:latin typeface="+mn-lt"/>
                          <a:ea typeface="+mn-ea"/>
                          <a:cs typeface="+mn-cs"/>
                        </a:rPr>
                        <a:t>LogServ</a:t>
                      </a:r>
                      <a:r>
                        <a:rPr lang="en-US" sz="1000" b="1" i="0" u="none" strike="noStrike" kern="1200">
                          <a:solidFill>
                            <a:srgbClr val="05B050"/>
                          </a:solidFill>
                          <a:effectLst/>
                          <a:latin typeface="+mn-lt"/>
                          <a:ea typeface="+mn-ea"/>
                          <a:cs typeface="+mn-cs"/>
                        </a:rPr>
                        <a:t> Implementation</a:t>
                      </a: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a:solidFill>
                        <a:schemeClr val="bg1">
                          <a:lumMod val="75000"/>
                        </a:schemeClr>
                      </a:solidFill>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i="0" u="none" strike="noStrike" kern="1200" err="1">
                          <a:solidFill>
                            <a:srgbClr val="05B050"/>
                          </a:solidFill>
                          <a:effectLst/>
                          <a:latin typeface="+mn-lt"/>
                          <a:ea typeface="+mn-ea"/>
                          <a:cs typeface="+mn-cs"/>
                        </a:rPr>
                        <a:t>LogServ</a:t>
                      </a:r>
                      <a:r>
                        <a:rPr lang="en-US" sz="1000" b="1" i="0" u="none" strike="noStrike" kern="1200">
                          <a:solidFill>
                            <a:srgbClr val="05B050"/>
                          </a:solidFill>
                          <a:effectLst/>
                          <a:latin typeface="+mn-lt"/>
                          <a:ea typeface="+mn-ea"/>
                          <a:cs typeface="+mn-cs"/>
                        </a:rPr>
                        <a:t> Implementation</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a:solidFill>
                        <a:schemeClr val="bg1">
                          <a:lumMod val="75000"/>
                        </a:schemeClr>
                      </a:solidFill>
                    </a:lnB>
                    <a:no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000" b="0" i="0" u="none" strike="noStrike" kern="1200">
                          <a:solidFill>
                            <a:srgbClr val="000000"/>
                          </a:solidFill>
                          <a:effectLst/>
                          <a:latin typeface="+mn-lt"/>
                          <a:ea typeface="+mn-ea"/>
                          <a:cs typeface="+mn-cs"/>
                        </a:rPr>
                        <a:t>legal compliance requirements mandated by the Government of India, system log data must be retained for a minimum period of eight years. </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a:solidFill>
                        <a:schemeClr val="bg1">
                          <a:lumMod val="75000"/>
                        </a:schemeClr>
                      </a:solidFill>
                    </a:lnB>
                    <a:noFill/>
                  </a:tcPr>
                </a:tc>
                <a:tc>
                  <a:txBody>
                    <a:bodyPr/>
                    <a:lstStyle/>
                    <a:p>
                      <a:pPr marL="0" marR="0" lvl="0" indent="0" algn="ctr" defTabSz="914400" rtl="0" eaLnBrk="1" fontAlgn="b" latinLnBrk="0" hangingPunct="1">
                        <a:lnSpc>
                          <a:spcPct val="100000"/>
                        </a:lnSpc>
                        <a:spcBef>
                          <a:spcPts val="0"/>
                        </a:spcBef>
                        <a:spcAft>
                          <a:spcPts val="0"/>
                        </a:spcAft>
                        <a:buClrTx/>
                        <a:buSzTx/>
                        <a:buFont typeface="Arial" panose="020B0604020202020204" pitchFamily="34" charset="0"/>
                        <a:buNone/>
                        <a:tabLst/>
                        <a:defRPr/>
                      </a:pPr>
                      <a:r>
                        <a:rPr kumimoji="0" lang="en-IN" sz="1000" b="0" i="0" u="none" strike="noStrike" kern="1200" cap="none" spc="0" normalizeH="0" baseline="0" noProof="0">
                          <a:ln>
                            <a:noFill/>
                          </a:ln>
                          <a:solidFill>
                            <a:srgbClr val="000000"/>
                          </a:solidFill>
                          <a:effectLst/>
                          <a:uLnTx/>
                          <a:uFillTx/>
                          <a:latin typeface="+mn-lt"/>
                          <a:ea typeface="+mn-ea"/>
                          <a:cs typeface="+mn-cs"/>
                        </a:rPr>
                        <a:t>25 Sep 2026</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a:solidFill>
                        <a:schemeClr val="bg1">
                          <a:lumMod val="75000"/>
                        </a:schemeClr>
                      </a:solidFill>
                    </a:lnB>
                    <a:noFill/>
                  </a:tcPr>
                </a:tc>
                <a:tc>
                  <a:txBody>
                    <a:bodyPr/>
                    <a:lstStyle/>
                    <a:p>
                      <a:pPr marL="0" marR="0" lvl="0" indent="0" algn="ctr" defTabSz="914400" rtl="0" eaLnBrk="1" fontAlgn="b" latinLnBrk="0" hangingPunct="1">
                        <a:lnSpc>
                          <a:spcPct val="100000"/>
                        </a:lnSpc>
                        <a:spcBef>
                          <a:spcPts val="0"/>
                        </a:spcBef>
                        <a:spcAft>
                          <a:spcPts val="0"/>
                        </a:spcAft>
                        <a:buClrTx/>
                        <a:buSzTx/>
                        <a:buFont typeface="Arial" panose="020B0604020202020204" pitchFamily="34" charset="0"/>
                        <a:buNone/>
                        <a:tabLst/>
                        <a:defRPr/>
                      </a:pPr>
                      <a:r>
                        <a:rPr kumimoji="0" lang="en-IN" sz="1000" b="0" i="0" u="none" strike="noStrike" kern="1200" cap="none" spc="0" normalizeH="0" baseline="0" noProof="0">
                          <a:ln>
                            <a:noFill/>
                          </a:ln>
                          <a:solidFill>
                            <a:srgbClr val="000000"/>
                          </a:solidFill>
                          <a:effectLst/>
                          <a:uLnTx/>
                          <a:uFillTx/>
                          <a:latin typeface="+mn-lt"/>
                          <a:ea typeface="+mn-ea"/>
                          <a:cs typeface="+mn-cs"/>
                        </a:rPr>
                        <a:t>No</a:t>
                      </a:r>
                    </a:p>
                  </a:txBody>
                  <a:tcPr anchor="ctr">
                    <a:lnL w="6350" cap="flat" cmpd="sng" algn="ctr">
                      <a:solidFill>
                        <a:schemeClr val="bg1">
                          <a:lumMod val="75000"/>
                        </a:schemeClr>
                      </a:solidFill>
                      <a:prstDash val="solid"/>
                      <a:round/>
                      <a:headEnd type="none" w="med" len="med"/>
                      <a:tailEnd type="none" w="med" len="med"/>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a:solidFill>
                        <a:schemeClr val="bg1">
                          <a:lumMod val="75000"/>
                        </a:schemeClr>
                      </a:solidFill>
                    </a:lnB>
                    <a:noFill/>
                  </a:tcPr>
                </a:tc>
                <a:extLst>
                  <a:ext uri="{0D108BD9-81ED-4DB2-BD59-A6C34878D82A}">
                    <a16:rowId xmlns:a16="http://schemas.microsoft.com/office/drawing/2014/main" val="1233400893"/>
                  </a:ext>
                </a:extLst>
              </a:tr>
            </a:tbl>
          </a:graphicData>
        </a:graphic>
      </p:graphicFrame>
      <p:sp>
        <p:nvSpPr>
          <p:cNvPr id="4" name="Rectangle 3">
            <a:extLst>
              <a:ext uri="{FF2B5EF4-FFF2-40B4-BE49-F238E27FC236}">
                <a16:creationId xmlns:a16="http://schemas.microsoft.com/office/drawing/2014/main" id="{B267593D-03DD-CDAD-9DE9-4EBD657629B0}"/>
              </a:ext>
            </a:extLst>
          </p:cNvPr>
          <p:cNvSpPr/>
          <p:nvPr/>
        </p:nvSpPr>
        <p:spPr>
          <a:xfrm>
            <a:off x="1188132" y="6671592"/>
            <a:ext cx="90000" cy="90000"/>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5" name="Rectangle 4">
            <a:extLst>
              <a:ext uri="{FF2B5EF4-FFF2-40B4-BE49-F238E27FC236}">
                <a16:creationId xmlns:a16="http://schemas.microsoft.com/office/drawing/2014/main" id="{B45468D6-4EA8-D77A-422D-32294275ADAE}"/>
              </a:ext>
            </a:extLst>
          </p:cNvPr>
          <p:cNvSpPr/>
          <p:nvPr/>
        </p:nvSpPr>
        <p:spPr>
          <a:xfrm>
            <a:off x="2265818" y="6670554"/>
            <a:ext cx="90000" cy="90000"/>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7" name="Rectangle 6">
            <a:extLst>
              <a:ext uri="{FF2B5EF4-FFF2-40B4-BE49-F238E27FC236}">
                <a16:creationId xmlns:a16="http://schemas.microsoft.com/office/drawing/2014/main" id="{41224E0E-AC16-FFBF-32F0-E3CD21B08D3F}"/>
              </a:ext>
            </a:extLst>
          </p:cNvPr>
          <p:cNvSpPr/>
          <p:nvPr/>
        </p:nvSpPr>
        <p:spPr>
          <a:xfrm>
            <a:off x="3443423" y="6671592"/>
            <a:ext cx="90000" cy="90000"/>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8" name="Rectangle 7">
            <a:extLst>
              <a:ext uri="{FF2B5EF4-FFF2-40B4-BE49-F238E27FC236}">
                <a16:creationId xmlns:a16="http://schemas.microsoft.com/office/drawing/2014/main" id="{4F5EE12C-3119-C7DA-9324-8664A2F74F98}"/>
              </a:ext>
            </a:extLst>
          </p:cNvPr>
          <p:cNvSpPr/>
          <p:nvPr/>
        </p:nvSpPr>
        <p:spPr>
          <a:xfrm>
            <a:off x="8146052" y="6714097"/>
            <a:ext cx="90000" cy="90000"/>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9" name="TextBox 15">
            <a:extLst>
              <a:ext uri="{FF2B5EF4-FFF2-40B4-BE49-F238E27FC236}">
                <a16:creationId xmlns:a16="http://schemas.microsoft.com/office/drawing/2014/main" id="{16154607-85DD-0A15-A6F1-1C34EAD147E1}"/>
              </a:ext>
            </a:extLst>
          </p:cNvPr>
          <p:cNvSpPr txBox="1"/>
          <p:nvPr/>
        </p:nvSpPr>
        <p:spPr>
          <a:xfrm>
            <a:off x="1288983" y="6614743"/>
            <a:ext cx="857245"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0070C0"/>
                </a:solidFill>
                <a:effectLst/>
                <a:uLnTx/>
                <a:uFillTx/>
                <a:latin typeface="Nunito Sans"/>
                <a:ea typeface="+mn-ea"/>
                <a:cs typeface="+mn-cs"/>
              </a:rPr>
              <a:t>Delivered</a:t>
            </a:r>
            <a:endParaRPr kumimoji="0" lang="en-IN" sz="1000" b="0" i="0" u="none" strike="noStrike" kern="1200" cap="none" spc="0" normalizeH="0" baseline="0" noProof="0">
              <a:ln>
                <a:noFill/>
              </a:ln>
              <a:solidFill>
                <a:srgbClr val="000000"/>
              </a:solidFill>
              <a:effectLst/>
              <a:uLnTx/>
              <a:uFillTx/>
              <a:latin typeface="Nunito Sans"/>
              <a:ea typeface="+mn-ea"/>
              <a:cs typeface="+mn-cs"/>
            </a:endParaRPr>
          </a:p>
        </p:txBody>
      </p:sp>
      <p:sp>
        <p:nvSpPr>
          <p:cNvPr id="10" name="TextBox 18">
            <a:extLst>
              <a:ext uri="{FF2B5EF4-FFF2-40B4-BE49-F238E27FC236}">
                <a16:creationId xmlns:a16="http://schemas.microsoft.com/office/drawing/2014/main" id="{57332DD2-CB26-B493-C683-0444C59968AC}"/>
              </a:ext>
            </a:extLst>
          </p:cNvPr>
          <p:cNvSpPr txBox="1"/>
          <p:nvPr/>
        </p:nvSpPr>
        <p:spPr>
          <a:xfrm>
            <a:off x="2310642" y="6611102"/>
            <a:ext cx="1032881"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00B050"/>
                </a:solidFill>
                <a:effectLst/>
                <a:uLnTx/>
                <a:uFillTx/>
                <a:latin typeface="Nunito Sans"/>
                <a:ea typeface="+mn-ea"/>
                <a:cs typeface="+mn-cs"/>
              </a:rPr>
              <a:t>Ontrack</a:t>
            </a:r>
            <a:endParaRPr kumimoji="0" lang="en-IN" sz="1000" b="0" i="0" u="none" strike="noStrike" kern="1200" cap="none" spc="0" normalizeH="0" baseline="0" noProof="0">
              <a:ln>
                <a:noFill/>
              </a:ln>
              <a:solidFill>
                <a:srgbClr val="000000"/>
              </a:solidFill>
              <a:effectLst/>
              <a:uLnTx/>
              <a:uFillTx/>
              <a:latin typeface="Nunito Sans"/>
              <a:ea typeface="+mn-ea"/>
              <a:cs typeface="+mn-cs"/>
            </a:endParaRPr>
          </a:p>
        </p:txBody>
      </p:sp>
      <p:sp>
        <p:nvSpPr>
          <p:cNvPr id="11" name="TextBox 20">
            <a:extLst>
              <a:ext uri="{FF2B5EF4-FFF2-40B4-BE49-F238E27FC236}">
                <a16:creationId xmlns:a16="http://schemas.microsoft.com/office/drawing/2014/main" id="{0839AF86-AAE6-0BAB-4F60-0CD88BB2E20C}"/>
              </a:ext>
            </a:extLst>
          </p:cNvPr>
          <p:cNvSpPr txBox="1"/>
          <p:nvPr/>
        </p:nvSpPr>
        <p:spPr>
          <a:xfrm>
            <a:off x="3539606" y="6608370"/>
            <a:ext cx="2257628"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FED9A0">
                    <a:lumMod val="75000"/>
                  </a:srgbClr>
                </a:solidFill>
                <a:effectLst/>
                <a:uLnTx/>
                <a:uFillTx/>
                <a:latin typeface="Nunito Sans"/>
                <a:ea typeface="+mn-ea"/>
                <a:cs typeface="+mn-cs"/>
              </a:rPr>
              <a:t>Under delay and can be recovered</a:t>
            </a:r>
            <a:endParaRPr kumimoji="0" lang="en-IN" sz="1000" b="0" i="0" u="none" strike="noStrike" kern="1200" cap="none" spc="0" normalizeH="0" baseline="0" noProof="0">
              <a:ln>
                <a:noFill/>
              </a:ln>
              <a:solidFill>
                <a:srgbClr val="000000"/>
              </a:solidFill>
              <a:effectLst/>
              <a:uLnTx/>
              <a:uFillTx/>
              <a:latin typeface="Nunito Sans"/>
              <a:ea typeface="+mn-ea"/>
              <a:cs typeface="+mn-cs"/>
            </a:endParaRPr>
          </a:p>
        </p:txBody>
      </p:sp>
      <p:sp>
        <p:nvSpPr>
          <p:cNvPr id="13" name="TextBox 22">
            <a:extLst>
              <a:ext uri="{FF2B5EF4-FFF2-40B4-BE49-F238E27FC236}">
                <a16:creationId xmlns:a16="http://schemas.microsoft.com/office/drawing/2014/main" id="{D600F11D-A04D-68B3-AB51-00736D60EE9C}"/>
              </a:ext>
            </a:extLst>
          </p:cNvPr>
          <p:cNvSpPr txBox="1"/>
          <p:nvPr/>
        </p:nvSpPr>
        <p:spPr>
          <a:xfrm>
            <a:off x="8246937" y="6618126"/>
            <a:ext cx="2338222"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FF0000"/>
                </a:solidFill>
                <a:effectLst/>
                <a:uLnTx/>
                <a:uFillTx/>
                <a:latin typeface="Nunito Sans"/>
                <a:ea typeface="+mn-ea"/>
                <a:cs typeface="+mn-cs"/>
              </a:rPr>
              <a:t>Delayed and pushed to next release</a:t>
            </a:r>
          </a:p>
        </p:txBody>
      </p:sp>
      <p:sp>
        <p:nvSpPr>
          <p:cNvPr id="15" name="TextBox 14">
            <a:extLst>
              <a:ext uri="{FF2B5EF4-FFF2-40B4-BE49-F238E27FC236}">
                <a16:creationId xmlns:a16="http://schemas.microsoft.com/office/drawing/2014/main" id="{2FCA13DC-E551-AB7B-2176-2B967BC6B747}"/>
              </a:ext>
            </a:extLst>
          </p:cNvPr>
          <p:cNvSpPr txBox="1"/>
          <p:nvPr/>
        </p:nvSpPr>
        <p:spPr>
          <a:xfrm>
            <a:off x="6454369" y="6611638"/>
            <a:ext cx="2743200"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IN" sz="1000">
                <a:solidFill>
                  <a:srgbClr val="7D7D7D"/>
                </a:solidFill>
              </a:rPr>
              <a:t>Descoped</a:t>
            </a:r>
            <a:endParaRPr lang="en-US"/>
          </a:p>
        </p:txBody>
      </p:sp>
      <p:sp>
        <p:nvSpPr>
          <p:cNvPr id="16" name="Rectangle 15">
            <a:extLst>
              <a:ext uri="{FF2B5EF4-FFF2-40B4-BE49-F238E27FC236}">
                <a16:creationId xmlns:a16="http://schemas.microsoft.com/office/drawing/2014/main" id="{7C3F7CE5-30BD-A1C3-8BAA-7CB56073A167}"/>
              </a:ext>
            </a:extLst>
          </p:cNvPr>
          <p:cNvSpPr/>
          <p:nvPr/>
        </p:nvSpPr>
        <p:spPr>
          <a:xfrm>
            <a:off x="6360794" y="6681439"/>
            <a:ext cx="90000" cy="90000"/>
          </a:xfrm>
          <a:prstGeom prst="rect">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Tree>
    <p:extLst>
      <p:ext uri="{BB962C8B-B14F-4D97-AF65-F5344CB8AC3E}">
        <p14:creationId xmlns:p14="http://schemas.microsoft.com/office/powerpoint/2010/main" val="13152267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1760A6-1FDF-5437-65EB-30C4F670E1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D9AE63-7261-91FF-AE33-91B9BB288D0C}"/>
              </a:ext>
            </a:extLst>
          </p:cNvPr>
          <p:cNvSpPr>
            <a:spLocks noGrp="1"/>
          </p:cNvSpPr>
          <p:nvPr>
            <p:ph type="title"/>
          </p:nvPr>
        </p:nvSpPr>
        <p:spPr>
          <a:xfrm>
            <a:off x="1919417" y="920381"/>
            <a:ext cx="10176225" cy="895041"/>
          </a:xfrm>
        </p:spPr>
        <p:txBody>
          <a:bodyPr/>
          <a:lstStyle/>
          <a:p>
            <a:r>
              <a:rPr lang="en-US" sz="3600">
                <a:latin typeface="AirIndia"/>
              </a:rPr>
              <a:t>Operations Tech – FY27/Q1</a:t>
            </a:r>
            <a:endParaRPr lang="en-IN" sz="3600">
              <a:latin typeface="AirIndia"/>
            </a:endParaRPr>
          </a:p>
        </p:txBody>
      </p:sp>
    </p:spTree>
    <p:extLst>
      <p:ext uri="{BB962C8B-B14F-4D97-AF65-F5344CB8AC3E}">
        <p14:creationId xmlns:p14="http://schemas.microsoft.com/office/powerpoint/2010/main" val="49683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CDAF17-5169-8F6C-AE23-95FD5F50E77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D0AECD8-4A60-2BEB-68A1-55FA905878F4}"/>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3A41A254-7326-714E-AF55-4C213D6394DE}" type="slidenum">
              <a:rPr kumimoji="0" lang="en-US" sz="1200" b="0" i="0" u="none" strike="noStrike" kern="1200" cap="none" spc="0" normalizeH="0" baseline="0" noProof="0" smtClean="0">
                <a:ln>
                  <a:noFill/>
                </a:ln>
                <a:solidFill>
                  <a:srgbClr val="DA0E28"/>
                </a:solidFill>
                <a:effectLst/>
                <a:uLnTx/>
                <a:uFillTx/>
                <a:latin typeface="Nunito Sans"/>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srgbClr val="DA0E28"/>
              </a:solidFill>
              <a:effectLst/>
              <a:uLnTx/>
              <a:uFillTx/>
              <a:latin typeface="Nunito Sans"/>
              <a:ea typeface="+mn-ea"/>
              <a:cs typeface="+mn-cs"/>
            </a:endParaRPr>
          </a:p>
        </p:txBody>
      </p:sp>
      <p:sp>
        <p:nvSpPr>
          <p:cNvPr id="3" name="Rectangle 2">
            <a:extLst>
              <a:ext uri="{FF2B5EF4-FFF2-40B4-BE49-F238E27FC236}">
                <a16:creationId xmlns:a16="http://schemas.microsoft.com/office/drawing/2014/main" id="{71147F10-A27B-128A-6A26-29729A9C5A90}"/>
              </a:ext>
            </a:extLst>
          </p:cNvPr>
          <p:cNvSpPr/>
          <p:nvPr/>
        </p:nvSpPr>
        <p:spPr>
          <a:xfrm>
            <a:off x="237934" y="610471"/>
            <a:ext cx="1170432" cy="42234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400" b="1" i="0" u="none" strike="noStrike" kern="1200" cap="none" spc="0" normalizeH="0" baseline="0" noProof="0">
                <a:ln>
                  <a:noFill/>
                </a:ln>
                <a:solidFill>
                  <a:srgbClr val="FFFFFF"/>
                </a:solidFill>
                <a:effectLst/>
                <a:uLnTx/>
                <a:uFillTx/>
                <a:latin typeface="AirIndia"/>
                <a:ea typeface="+mn-ea"/>
                <a:cs typeface="+mn-cs"/>
              </a:rPr>
              <a:t>April ‘</a:t>
            </a:r>
            <a:r>
              <a:rPr lang="en-IN" sz="1400" b="1">
                <a:solidFill>
                  <a:srgbClr val="FFFFFF"/>
                </a:solidFill>
                <a:latin typeface="AirIndia"/>
              </a:rPr>
              <a:t>26</a:t>
            </a:r>
            <a:endParaRPr kumimoji="0" lang="en-US" sz="1400" b="1" i="0" u="none" strike="noStrike" kern="1200" cap="none" spc="0" normalizeH="0" baseline="0" noProof="0">
              <a:ln>
                <a:noFill/>
              </a:ln>
              <a:solidFill>
                <a:srgbClr val="FFFFFF"/>
              </a:solidFill>
              <a:effectLst/>
              <a:uLnTx/>
              <a:uFillTx/>
              <a:latin typeface="AirIndia"/>
              <a:ea typeface="+mn-ea"/>
              <a:cs typeface="+mn-cs"/>
            </a:endParaRPr>
          </a:p>
        </p:txBody>
      </p:sp>
      <p:sp>
        <p:nvSpPr>
          <p:cNvPr id="6" name="Title 11">
            <a:extLst>
              <a:ext uri="{FF2B5EF4-FFF2-40B4-BE49-F238E27FC236}">
                <a16:creationId xmlns:a16="http://schemas.microsoft.com/office/drawing/2014/main" id="{45F22B4C-AC44-7286-6B5E-DA2CF46EE72C}"/>
              </a:ext>
            </a:extLst>
          </p:cNvPr>
          <p:cNvSpPr txBox="1">
            <a:spLocks/>
          </p:cNvSpPr>
          <p:nvPr/>
        </p:nvSpPr>
        <p:spPr>
          <a:xfrm>
            <a:off x="242857" y="182023"/>
            <a:ext cx="7691717" cy="430255"/>
          </a:xfrm>
          <a:prstGeom prst="rect">
            <a:avLst/>
          </a:prstGeom>
        </p:spPr>
        <p:txBody>
          <a:bodyPr lIns="91440" tIns="45720" rIns="91440" bIns="45720" anchor="t">
            <a:noAutofit/>
          </a:bodyPr>
          <a:lstStyle>
            <a:lvl1pPr algn="l" defTabSz="914400" rtl="0" eaLnBrk="1" latinLnBrk="0" hangingPunct="1">
              <a:lnSpc>
                <a:spcPct val="90000"/>
              </a:lnSpc>
              <a:spcBef>
                <a:spcPct val="0"/>
              </a:spcBef>
              <a:buNone/>
              <a:defRPr sz="4400" b="1" i="0" kern="1200">
                <a:solidFill>
                  <a:schemeClr val="tx1"/>
                </a:solidFill>
                <a:latin typeface="AirIndia" pitchFamily="82" charset="77"/>
                <a:ea typeface="+mj-ea"/>
                <a:cs typeface="+mj-cs"/>
              </a:defRPr>
            </a:lvl1pPr>
          </a:lstStyle>
          <a:p>
            <a:pPr>
              <a:defRPr/>
            </a:pPr>
            <a:r>
              <a:rPr lang="en-US" sz="1800">
                <a:solidFill>
                  <a:srgbClr val="DA0E28"/>
                </a:solidFill>
                <a:latin typeface="AirIndia"/>
              </a:rPr>
              <a:t>Operations Tech </a:t>
            </a:r>
            <a:r>
              <a:rPr kumimoji="0" lang="en-US" sz="1800" b="1" i="0" u="none" strike="noStrike" kern="1200" cap="none" spc="0" normalizeH="0" baseline="0" noProof="0">
                <a:ln>
                  <a:noFill/>
                </a:ln>
                <a:solidFill>
                  <a:srgbClr val="DA0E28"/>
                </a:solidFill>
                <a:effectLst/>
                <a:uLnTx/>
                <a:uFillTx/>
                <a:latin typeface="AirIndia"/>
                <a:ea typeface="+mj-ea"/>
                <a:cs typeface="+mj-cs"/>
              </a:rPr>
              <a:t>- </a:t>
            </a:r>
            <a:r>
              <a:rPr lang="en-US" sz="1800">
                <a:solidFill>
                  <a:srgbClr val="DA0E28"/>
                </a:solidFill>
                <a:latin typeface="AirIndia"/>
              </a:rPr>
              <a:t>FY26-27 </a:t>
            </a:r>
            <a:r>
              <a:rPr kumimoji="0" lang="en-US" sz="1800" b="1" i="0" u="none" strike="noStrike" kern="1200" cap="none" spc="0" normalizeH="0" baseline="0" noProof="0">
                <a:ln>
                  <a:noFill/>
                </a:ln>
                <a:solidFill>
                  <a:srgbClr val="DA0E28"/>
                </a:solidFill>
                <a:effectLst/>
                <a:uLnTx/>
                <a:uFillTx/>
                <a:latin typeface="AirIndia"/>
                <a:ea typeface="+mj-ea"/>
                <a:cs typeface="+mj-cs"/>
              </a:rPr>
              <a:t>Q1 Release Plan</a:t>
            </a:r>
            <a:endParaRPr lang="en-US" sz="1800" b="0">
              <a:solidFill>
                <a:srgbClr val="000000"/>
              </a:solidFill>
              <a:latin typeface="AirIndia"/>
            </a:endParaRPr>
          </a:p>
          <a:p>
            <a:pPr>
              <a:defRPr/>
            </a:pPr>
            <a:endParaRPr lang="en-US" sz="1800" i="0" u="none" strike="noStrike" kern="1200" cap="none" spc="0" normalizeH="0" baseline="0" noProof="0">
              <a:ln>
                <a:noFill/>
              </a:ln>
              <a:solidFill>
                <a:srgbClr val="DA0E28"/>
              </a:solidFill>
              <a:effectLst/>
              <a:uLnTx/>
              <a:uFillTx/>
              <a:latin typeface="AirIndia"/>
            </a:endParaRPr>
          </a:p>
        </p:txBody>
      </p:sp>
      <p:graphicFrame>
        <p:nvGraphicFramePr>
          <p:cNvPr id="12" name="Table 11">
            <a:extLst>
              <a:ext uri="{FF2B5EF4-FFF2-40B4-BE49-F238E27FC236}">
                <a16:creationId xmlns:a16="http://schemas.microsoft.com/office/drawing/2014/main" id="{0CC13394-E7AA-3274-437B-175CB0291932}"/>
              </a:ext>
            </a:extLst>
          </p:cNvPr>
          <p:cNvGraphicFramePr>
            <a:graphicFrameLocks noGrp="1"/>
          </p:cNvGraphicFramePr>
          <p:nvPr>
            <p:extLst>
              <p:ext uri="{D42A27DB-BD31-4B8C-83A1-F6EECF244321}">
                <p14:modId xmlns:p14="http://schemas.microsoft.com/office/powerpoint/2010/main" val="3262974949"/>
              </p:ext>
            </p:extLst>
          </p:nvPr>
        </p:nvGraphicFramePr>
        <p:xfrm>
          <a:off x="1413566" y="608947"/>
          <a:ext cx="9711634" cy="3645586"/>
        </p:xfrm>
        <a:graphic>
          <a:graphicData uri="http://schemas.openxmlformats.org/drawingml/2006/table">
            <a:tbl>
              <a:tblPr firstRow="1" bandRow="1">
                <a:tableStyleId>{5C22544A-7EE6-4342-B048-85BDC9FD1C3A}</a:tableStyleId>
              </a:tblPr>
              <a:tblGrid>
                <a:gridCol w="2727454">
                  <a:extLst>
                    <a:ext uri="{9D8B030D-6E8A-4147-A177-3AD203B41FA5}">
                      <a16:colId xmlns:a16="http://schemas.microsoft.com/office/drawing/2014/main" val="2822350773"/>
                    </a:ext>
                  </a:extLst>
                </a:gridCol>
                <a:gridCol w="3234007">
                  <a:extLst>
                    <a:ext uri="{9D8B030D-6E8A-4147-A177-3AD203B41FA5}">
                      <a16:colId xmlns:a16="http://schemas.microsoft.com/office/drawing/2014/main" val="1486858219"/>
                    </a:ext>
                  </a:extLst>
                </a:gridCol>
                <a:gridCol w="3750173">
                  <a:extLst>
                    <a:ext uri="{9D8B030D-6E8A-4147-A177-3AD203B41FA5}">
                      <a16:colId xmlns:a16="http://schemas.microsoft.com/office/drawing/2014/main" val="99588705"/>
                    </a:ext>
                  </a:extLst>
                </a:gridCol>
              </a:tblGrid>
              <a:tr h="864901">
                <a:tc>
                  <a:txBody>
                    <a:bodyPr/>
                    <a:lstStyle/>
                    <a:p>
                      <a:pPr lvl="0" algn="ctr">
                        <a:lnSpc>
                          <a:spcPct val="100000"/>
                        </a:lnSpc>
                        <a:spcBef>
                          <a:spcPts val="0"/>
                        </a:spcBef>
                        <a:spcAft>
                          <a:spcPts val="0"/>
                        </a:spcAft>
                        <a:buNone/>
                      </a:pPr>
                      <a:r>
                        <a:rPr lang="en-IN" sz="1100" b="1" i="0" u="none" strike="noStrike" kern="1200" noProof="0">
                          <a:solidFill>
                            <a:schemeClr val="bg1"/>
                          </a:solidFill>
                          <a:latin typeface="Nunito Sans"/>
                          <a:ea typeface="+mn-ea"/>
                          <a:cs typeface="+mn-cs"/>
                        </a:rPr>
                        <a:t>Programs/Projects</a:t>
                      </a:r>
                      <a:endParaRPr lang="en-IN" sz="1100" b="1" i="0" u="none" strike="noStrike" kern="1200" noProof="0">
                        <a:solidFill>
                          <a:srgbClr val="FFFFFF"/>
                        </a:solidFill>
                        <a:latin typeface="Nunito Sans"/>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1100" b="1" i="0" u="none" strike="noStrike" kern="1200" noProof="0">
                          <a:solidFill>
                            <a:schemeClr val="bg1"/>
                          </a:solidFill>
                          <a:latin typeface="+mn-lt"/>
                          <a:ea typeface="+mn-ea"/>
                          <a:cs typeface="+mn-cs"/>
                        </a:rPr>
                        <a:t>Programs/Projects</a:t>
                      </a:r>
                      <a:endParaRPr lang="en-US" sz="1100"/>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tc>
                  <a:txBody>
                    <a:bodyPr/>
                    <a:lstStyle/>
                    <a:p>
                      <a:pPr marL="0" lvl="0" indent="0" algn="ctr">
                        <a:lnSpc>
                          <a:spcPct val="100000"/>
                        </a:lnSpc>
                        <a:buNone/>
                      </a:pPr>
                      <a:endParaRPr lang="en-IN" sz="1100" b="1" i="0" u="none" strike="noStrike" kern="1200" baseline="0" noProof="0">
                        <a:solidFill>
                          <a:srgbClr val="FFFFFF"/>
                        </a:solidFill>
                        <a:latin typeface="Nunito Sans"/>
                      </a:endParaRPr>
                    </a:p>
                    <a:p>
                      <a:pPr marL="0" lvl="0" indent="0" algn="ctr">
                        <a:lnSpc>
                          <a:spcPct val="100000"/>
                        </a:lnSpc>
                        <a:buNone/>
                      </a:pPr>
                      <a:r>
                        <a:rPr lang="en-IN" sz="1100" b="1" i="0" u="none" strike="noStrike" kern="1200" baseline="0" noProof="0">
                          <a:solidFill>
                            <a:srgbClr val="FFFFFF"/>
                          </a:solidFill>
                          <a:latin typeface="Nunito Sans"/>
                        </a:rPr>
                        <a:t>Value Justification/Realization</a:t>
                      </a:r>
                    </a:p>
                    <a:p>
                      <a:pPr marL="0" lvl="0" indent="0" algn="ctr" defTabSz="914400">
                        <a:buFont typeface="Arial" panose="020B0604020202020204" pitchFamily="34" charset="0"/>
                        <a:buNone/>
                      </a:pPr>
                      <a:endParaRPr lang="en-IN" sz="1100"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extLst>
                  <a:ext uri="{0D108BD9-81ED-4DB2-BD59-A6C34878D82A}">
                    <a16:rowId xmlns:a16="http://schemas.microsoft.com/office/drawing/2014/main" val="844450115"/>
                  </a:ext>
                </a:extLst>
              </a:tr>
              <a:tr h="733286">
                <a:tc>
                  <a:txBody>
                    <a:bodyPr/>
                    <a:lstStyle/>
                    <a:p>
                      <a:pPr marL="0" lvl="0" indent="0" algn="l" defTabSz="914400" rtl="0" eaLnBrk="1" latinLnBrk="0" hangingPunct="1">
                        <a:lnSpc>
                          <a:spcPct val="100000"/>
                        </a:lnSpc>
                        <a:spcBef>
                          <a:spcPts val="0"/>
                        </a:spcBef>
                        <a:spcAft>
                          <a:spcPts val="0"/>
                        </a:spcAft>
                        <a:buNone/>
                      </a:pPr>
                      <a:r>
                        <a:rPr lang="en-US" sz="900" b="1" i="0" u="none" strike="noStrike" kern="1200" noProof="0">
                          <a:solidFill>
                            <a:srgbClr val="0070C0"/>
                          </a:solidFill>
                          <a:latin typeface="+mn-lt"/>
                          <a:ea typeface="+mn-ea"/>
                          <a:cs typeface="+mn-cs"/>
                        </a:rPr>
                        <a:t>TMU Dashboard:</a:t>
                      </a:r>
                    </a:p>
                    <a:p>
                      <a:pPr marL="0" lvl="0" indent="0" algn="l" defTabSz="914400" rtl="0" eaLnBrk="1" latinLnBrk="0" hangingPunct="1">
                        <a:lnSpc>
                          <a:spcPct val="100000"/>
                        </a:lnSpc>
                        <a:spcBef>
                          <a:spcPts val="0"/>
                        </a:spcBef>
                        <a:spcAft>
                          <a:spcPts val="0"/>
                        </a:spcAft>
                        <a:buNone/>
                      </a:pPr>
                      <a:r>
                        <a:rPr lang="en-US" sz="900" b="1" i="0" u="none" strike="noStrike" kern="1200" noProof="0">
                          <a:solidFill>
                            <a:srgbClr val="0070C0"/>
                          </a:solidFill>
                          <a:latin typeface="+mn-lt"/>
                          <a:ea typeface="+mn-ea"/>
                          <a:cs typeface="+mn-cs"/>
                        </a:rPr>
                        <a:t>Planned Go Live: 24</a:t>
                      </a:r>
                      <a:r>
                        <a:rPr lang="en-US" sz="900" b="1" i="0" u="none" strike="noStrike" kern="1200" baseline="30000" noProof="0">
                          <a:solidFill>
                            <a:srgbClr val="0070C0"/>
                          </a:solidFill>
                          <a:latin typeface="+mn-lt"/>
                          <a:ea typeface="+mn-ea"/>
                          <a:cs typeface="+mn-cs"/>
                        </a:rPr>
                        <a:t>th</a:t>
                      </a:r>
                      <a:r>
                        <a:rPr lang="en-US" sz="900" b="1" i="0" u="none" strike="noStrike" kern="1200" noProof="0">
                          <a:solidFill>
                            <a:srgbClr val="0070C0"/>
                          </a:solidFill>
                          <a:latin typeface="+mn-lt"/>
                          <a:ea typeface="+mn-ea"/>
                          <a:cs typeface="+mn-cs"/>
                        </a:rPr>
                        <a:t> April 2026</a:t>
                      </a:r>
                    </a:p>
                    <a:p>
                      <a:pPr marL="0" lvl="0" indent="0" algn="l" defTabSz="914400" rtl="0" eaLnBrk="1" latinLnBrk="0" hangingPunct="1">
                        <a:lnSpc>
                          <a:spcPct val="100000"/>
                        </a:lnSpc>
                        <a:spcBef>
                          <a:spcPts val="0"/>
                        </a:spcBef>
                        <a:spcAft>
                          <a:spcPts val="0"/>
                        </a:spcAft>
                        <a:buNone/>
                      </a:pPr>
                      <a:r>
                        <a:rPr lang="en-US" sz="900" b="1" i="0" u="none" strike="noStrike" kern="1200" noProof="0">
                          <a:solidFill>
                            <a:srgbClr val="0070C0"/>
                          </a:solidFill>
                          <a:latin typeface="+mn-lt"/>
                          <a:ea typeface="+mn-ea"/>
                          <a:cs typeface="+mn-cs"/>
                        </a:rPr>
                        <a:t>Actual Go Live : 23</a:t>
                      </a:r>
                      <a:r>
                        <a:rPr lang="en-US" sz="900" b="1" i="0" u="none" strike="noStrike" kern="1200" baseline="30000" noProof="0">
                          <a:solidFill>
                            <a:srgbClr val="0070C0"/>
                          </a:solidFill>
                          <a:latin typeface="+mn-lt"/>
                          <a:ea typeface="+mn-ea"/>
                          <a:cs typeface="+mn-cs"/>
                        </a:rPr>
                        <a:t>rd</a:t>
                      </a:r>
                      <a:r>
                        <a:rPr lang="en-US" sz="900" b="1" i="0" u="none" strike="noStrike" kern="1200" noProof="0">
                          <a:solidFill>
                            <a:srgbClr val="0070C0"/>
                          </a:solidFill>
                          <a:latin typeface="+mn-lt"/>
                          <a:ea typeface="+mn-ea"/>
                          <a:cs typeface="+mn-cs"/>
                        </a:rPr>
                        <a:t> April 2026</a:t>
                      </a:r>
                      <a:endParaRPr lang="en-US" sz="900" b="1" i="0" u="none" strike="noStrike" kern="1200">
                        <a:solidFill>
                          <a:srgbClr val="0070C0"/>
                        </a:solidFill>
                        <a:latin typeface="+mn-lt"/>
                        <a:ea typeface="+mn-ea"/>
                        <a:cs typeface="+mn-cs"/>
                      </a:endParaRPr>
                    </a:p>
                  </a:txBody>
                  <a:tcP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lvl="0" indent="0" algn="l" defTabSz="914400" rtl="0" eaLnBrk="1" latinLnBrk="0" hangingPunct="1">
                        <a:lnSpc>
                          <a:spcPct val="100000"/>
                        </a:lnSpc>
                        <a:spcBef>
                          <a:spcPts val="0"/>
                        </a:spcBef>
                        <a:spcAft>
                          <a:spcPts val="0"/>
                        </a:spcAft>
                        <a:buNone/>
                      </a:pPr>
                      <a:endParaRPr lang="en-US" sz="900" b="1" i="0" u="none" strike="noStrike" kern="1200">
                        <a:solidFill>
                          <a:srgbClr val="0070C0"/>
                        </a:solidFill>
                        <a:latin typeface="+mn-lt"/>
                        <a:ea typeface="+mn-ea"/>
                        <a:cs typeface="+mn-cs"/>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lvl="0" algn="l">
                        <a:lnSpc>
                          <a:spcPct val="100000"/>
                        </a:lnSpc>
                        <a:spcBef>
                          <a:spcPts val="0"/>
                        </a:spcBef>
                        <a:spcAft>
                          <a:spcPts val="0"/>
                        </a:spcAft>
                        <a:buNone/>
                      </a:pPr>
                      <a:r>
                        <a:rPr lang="en-US" sz="900" b="0" i="0" u="none" strike="noStrike" kern="1200" noProof="0">
                          <a:solidFill>
                            <a:srgbClr val="0070C0"/>
                          </a:solidFill>
                          <a:latin typeface="+mn-lt"/>
                          <a:cs typeface="Segoe UI"/>
                        </a:rPr>
                        <a:t>Automating TMU tracking with clear visibility and timely triggers can help save around </a:t>
                      </a:r>
                      <a:r>
                        <a:rPr lang="en-US" sz="900" b="0" i="1" u="none" strike="noStrike" kern="1200" noProof="0">
                          <a:solidFill>
                            <a:srgbClr val="0070C0"/>
                          </a:solidFill>
                          <a:latin typeface="+mn-lt"/>
                          <a:cs typeface="Segoe UI"/>
                        </a:rPr>
                        <a:t>700 pilot man‑days annually</a:t>
                      </a:r>
                      <a:r>
                        <a:rPr lang="en-US" sz="900" b="0" i="0" u="none" strike="noStrike" kern="1200" noProof="0">
                          <a:solidFill>
                            <a:srgbClr val="0070C0"/>
                          </a:solidFill>
                          <a:latin typeface="+mn-lt"/>
                          <a:cs typeface="Segoe UI"/>
                        </a:rPr>
                        <a:t>, while enabling earlier corrective actions.</a:t>
                      </a:r>
                      <a:endParaRPr lang="en-US" sz="1200">
                        <a:solidFill>
                          <a:srgbClr val="0070C0"/>
                        </a:solidFill>
                        <a:latin typeface="+mn-lt"/>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722333614"/>
                  </a:ext>
                </a:extLst>
              </a:tr>
              <a:tr h="62047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1" i="0" u="none" strike="noStrike" kern="1200" noProof="0">
                          <a:solidFill>
                            <a:srgbClr val="0070C0"/>
                          </a:solidFill>
                          <a:latin typeface="+mn-lt"/>
                          <a:ea typeface="+mn-ea"/>
                          <a:cs typeface="+mn-cs"/>
                        </a:rPr>
                        <a:t>DMS development phase 1</a:t>
                      </a:r>
                    </a:p>
                    <a:p>
                      <a:pPr marL="0" lvl="0" indent="0" algn="l" defTabSz="914400" rtl="0" eaLnBrk="1" latinLnBrk="0" hangingPunct="1">
                        <a:lnSpc>
                          <a:spcPct val="100000"/>
                        </a:lnSpc>
                        <a:spcBef>
                          <a:spcPts val="0"/>
                        </a:spcBef>
                        <a:spcAft>
                          <a:spcPts val="0"/>
                        </a:spcAft>
                        <a:buNone/>
                      </a:pPr>
                      <a:r>
                        <a:rPr lang="en-US" sz="900" b="1" i="0" u="none" strike="noStrike" kern="1200" noProof="0">
                          <a:solidFill>
                            <a:srgbClr val="0070C0"/>
                          </a:solidFill>
                          <a:latin typeface="+mn-lt"/>
                          <a:ea typeface="+mn-ea"/>
                          <a:cs typeface="+mn-cs"/>
                        </a:rPr>
                        <a:t>Planned Go Live: 24</a:t>
                      </a:r>
                      <a:r>
                        <a:rPr lang="en-US" sz="900" b="1" i="0" u="none" strike="noStrike" kern="1200" baseline="30000" noProof="0">
                          <a:solidFill>
                            <a:srgbClr val="0070C0"/>
                          </a:solidFill>
                          <a:latin typeface="+mn-lt"/>
                          <a:ea typeface="+mn-ea"/>
                          <a:cs typeface="+mn-cs"/>
                        </a:rPr>
                        <a:t>th</a:t>
                      </a:r>
                      <a:r>
                        <a:rPr lang="en-US" sz="900" b="1" i="0" u="none" strike="noStrike" kern="1200" noProof="0">
                          <a:solidFill>
                            <a:srgbClr val="0070C0"/>
                          </a:solidFill>
                          <a:latin typeface="+mn-lt"/>
                          <a:ea typeface="+mn-ea"/>
                          <a:cs typeface="+mn-cs"/>
                        </a:rPr>
                        <a:t> April 2026</a:t>
                      </a:r>
                    </a:p>
                    <a:p>
                      <a:pPr marL="0" lvl="0" indent="0" algn="l" defTabSz="914400" rtl="0" eaLnBrk="1" latinLnBrk="0" hangingPunct="1">
                        <a:lnSpc>
                          <a:spcPct val="100000"/>
                        </a:lnSpc>
                        <a:spcBef>
                          <a:spcPts val="0"/>
                        </a:spcBef>
                        <a:spcAft>
                          <a:spcPts val="0"/>
                        </a:spcAft>
                        <a:buNone/>
                      </a:pPr>
                      <a:r>
                        <a:rPr lang="en-US" sz="900" b="1" i="0" u="none" strike="noStrike" kern="1200" noProof="0">
                          <a:solidFill>
                            <a:srgbClr val="0070C0"/>
                          </a:solidFill>
                          <a:latin typeface="+mn-lt"/>
                          <a:ea typeface="+mn-ea"/>
                          <a:cs typeface="+mn-cs"/>
                        </a:rPr>
                        <a:t>Actual Go Live : 24</a:t>
                      </a:r>
                      <a:r>
                        <a:rPr lang="en-US" sz="900" b="1" i="0" u="none" strike="noStrike" kern="1200" baseline="30000" noProof="0">
                          <a:solidFill>
                            <a:srgbClr val="0070C0"/>
                          </a:solidFill>
                          <a:latin typeface="+mn-lt"/>
                          <a:ea typeface="+mn-ea"/>
                          <a:cs typeface="+mn-cs"/>
                        </a:rPr>
                        <a:t>th</a:t>
                      </a:r>
                      <a:r>
                        <a:rPr lang="en-US" sz="900" b="1" i="0" u="none" strike="noStrike" kern="1200" noProof="0">
                          <a:solidFill>
                            <a:srgbClr val="0070C0"/>
                          </a:solidFill>
                          <a:latin typeface="+mn-lt"/>
                          <a:ea typeface="+mn-ea"/>
                          <a:cs typeface="+mn-cs"/>
                        </a:rPr>
                        <a:t> April 2026</a:t>
                      </a:r>
                      <a:endParaRPr lang="en-US" sz="900" b="1" i="0" u="none" strike="noStrike" kern="1200">
                        <a:solidFill>
                          <a:srgbClr val="0070C0"/>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900" b="1" i="0" u="none" strike="noStrike" kern="1200" noProof="0">
                        <a:solidFill>
                          <a:srgbClr val="0070C0"/>
                        </a:solidFill>
                        <a:latin typeface="+mn-lt"/>
                        <a:ea typeface="+mn-ea"/>
                        <a:cs typeface="+mn-cs"/>
                      </a:endParaRPr>
                    </a:p>
                  </a:txBody>
                  <a:tcP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900" b="1" i="0" u="none" strike="noStrike" kern="1200" noProof="0">
                        <a:solidFill>
                          <a:srgbClr val="0070C0"/>
                        </a:solidFill>
                        <a:latin typeface="+mn-lt"/>
                        <a:ea typeface="+mn-ea"/>
                        <a:cs typeface="+mn-cs"/>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r>
                        <a:rPr lang="en-US" sz="900">
                          <a:solidFill>
                            <a:srgbClr val="0070C0"/>
                          </a:solidFill>
                          <a:effectLst/>
                          <a:latin typeface="+mn-lt"/>
                        </a:rPr>
                        <a:t>DMS will enhance internal audit guidelines and overcome dissemination limit of current manual process.</a:t>
                      </a:r>
                      <a:endParaRPr lang="en-US" sz="900">
                        <a:solidFill>
                          <a:srgbClr val="0070C0"/>
                        </a:solidFill>
                        <a:latin typeface="+mn-lt"/>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536934792"/>
                  </a:ext>
                </a:extLst>
              </a:tr>
              <a:tr h="786847">
                <a:tc>
                  <a:txBody>
                    <a:bodyPr/>
                    <a:lstStyle/>
                    <a:p>
                      <a:pPr marL="0" lvl="0" indent="0" algn="l">
                        <a:lnSpc>
                          <a:spcPct val="100000"/>
                        </a:lnSpc>
                        <a:spcBef>
                          <a:spcPts val="0"/>
                        </a:spcBef>
                        <a:spcAft>
                          <a:spcPts val="0"/>
                        </a:spcAft>
                        <a:buNone/>
                      </a:pPr>
                      <a:r>
                        <a:rPr lang="en-US" sz="900" b="1" i="0" u="none" strike="noStrike" kern="1200" noProof="0">
                          <a:solidFill>
                            <a:srgbClr val="0070C0"/>
                          </a:solidFill>
                          <a:latin typeface="+mn-lt"/>
                          <a:ea typeface="+mn-ea"/>
                          <a:cs typeface="+mn-cs"/>
                        </a:rPr>
                        <a:t>Duplicate qualifications cleanup of CAE CM</a:t>
                      </a:r>
                    </a:p>
                    <a:p>
                      <a:pPr marL="0" lvl="0" indent="0" algn="l" defTabSz="914400" rtl="0" eaLnBrk="1" latinLnBrk="0" hangingPunct="1">
                        <a:lnSpc>
                          <a:spcPct val="100000"/>
                        </a:lnSpc>
                        <a:spcBef>
                          <a:spcPts val="0"/>
                        </a:spcBef>
                        <a:spcAft>
                          <a:spcPts val="0"/>
                        </a:spcAft>
                        <a:buNone/>
                      </a:pPr>
                      <a:r>
                        <a:rPr lang="en-US" sz="900" b="1" i="0" u="none" strike="noStrike" kern="1200" noProof="0">
                          <a:solidFill>
                            <a:srgbClr val="0070C0"/>
                          </a:solidFill>
                          <a:latin typeface="+mn-lt"/>
                          <a:ea typeface="+mn-ea"/>
                          <a:cs typeface="+mn-cs"/>
                        </a:rPr>
                        <a:t>Planned Go Live: 20</a:t>
                      </a:r>
                      <a:r>
                        <a:rPr lang="en-US" sz="900" b="1" i="0" u="none" strike="noStrike" kern="1200" baseline="30000" noProof="0">
                          <a:solidFill>
                            <a:srgbClr val="0070C0"/>
                          </a:solidFill>
                          <a:latin typeface="+mn-lt"/>
                          <a:ea typeface="+mn-ea"/>
                          <a:cs typeface="+mn-cs"/>
                        </a:rPr>
                        <a:t>th</a:t>
                      </a:r>
                      <a:r>
                        <a:rPr lang="en-US" sz="900" b="1" i="0" u="none" strike="noStrike" kern="1200" noProof="0">
                          <a:solidFill>
                            <a:srgbClr val="0070C0"/>
                          </a:solidFill>
                          <a:latin typeface="+mn-lt"/>
                          <a:ea typeface="+mn-ea"/>
                          <a:cs typeface="+mn-cs"/>
                        </a:rPr>
                        <a:t> April 2026</a:t>
                      </a:r>
                    </a:p>
                    <a:p>
                      <a:pPr marL="0" lvl="0" indent="0" algn="l" defTabSz="914400" rtl="0" eaLnBrk="1" latinLnBrk="0" hangingPunct="1">
                        <a:lnSpc>
                          <a:spcPct val="100000"/>
                        </a:lnSpc>
                        <a:spcBef>
                          <a:spcPts val="0"/>
                        </a:spcBef>
                        <a:spcAft>
                          <a:spcPts val="0"/>
                        </a:spcAft>
                        <a:buNone/>
                      </a:pPr>
                      <a:r>
                        <a:rPr lang="en-US" sz="900" b="1" i="0" u="none" strike="noStrike" kern="1200" noProof="0">
                          <a:solidFill>
                            <a:srgbClr val="0070C0"/>
                          </a:solidFill>
                          <a:latin typeface="+mn-lt"/>
                          <a:ea typeface="+mn-ea"/>
                          <a:cs typeface="+mn-cs"/>
                        </a:rPr>
                        <a:t>Actual Go Live : 23</a:t>
                      </a:r>
                      <a:r>
                        <a:rPr lang="en-US" sz="900" b="1" i="0" u="none" strike="noStrike" kern="1200" baseline="30000" noProof="0">
                          <a:solidFill>
                            <a:srgbClr val="0070C0"/>
                          </a:solidFill>
                          <a:latin typeface="+mn-lt"/>
                          <a:ea typeface="+mn-ea"/>
                          <a:cs typeface="+mn-cs"/>
                        </a:rPr>
                        <a:t>rd</a:t>
                      </a:r>
                      <a:r>
                        <a:rPr lang="en-US" sz="900" b="1" i="0" u="none" strike="noStrike" kern="1200" noProof="0">
                          <a:solidFill>
                            <a:srgbClr val="0070C0"/>
                          </a:solidFill>
                          <a:latin typeface="+mn-lt"/>
                          <a:ea typeface="+mn-ea"/>
                          <a:cs typeface="+mn-cs"/>
                        </a:rPr>
                        <a:t> April 2026</a:t>
                      </a:r>
                      <a:endParaRPr lang="en-US" sz="900" b="1" i="0" u="none" strike="noStrike" kern="1200">
                        <a:solidFill>
                          <a:srgbClr val="0070C0"/>
                        </a:solidFill>
                        <a:latin typeface="+mn-lt"/>
                        <a:ea typeface="+mn-ea"/>
                        <a:cs typeface="+mn-cs"/>
                      </a:endParaRPr>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marL="0" lvl="0" indent="0" algn="l">
                        <a:lnSpc>
                          <a:spcPct val="100000"/>
                        </a:lnSpc>
                        <a:spcBef>
                          <a:spcPts val="0"/>
                        </a:spcBef>
                        <a:spcAft>
                          <a:spcPts val="0"/>
                        </a:spcAft>
                        <a:buNone/>
                      </a:pPr>
                      <a:endParaRPr lang="en-US" sz="900" b="1" i="0" u="none" strike="noStrike" kern="1200" noProof="0">
                        <a:solidFill>
                          <a:srgbClr val="00B050"/>
                        </a:solidFill>
                        <a:latin typeface="+mn-lt"/>
                        <a:ea typeface="+mn-ea"/>
                        <a:cs typeface="+mn-cs"/>
                      </a:endParaRPr>
                    </a:p>
                  </a:txBody>
                  <a:tcPr>
                    <a:lnL w="6350" cap="flat" cmpd="sng" algn="ctr">
                      <a:solidFill>
                        <a:schemeClr val="bg1">
                          <a:lumMod val="75000"/>
                        </a:schemeClr>
                      </a:solidFill>
                      <a:prstDash val="solid"/>
                      <a:round/>
                      <a:headEnd type="none" w="med" len="med"/>
                      <a:tailEnd type="none" w="med" len="med"/>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algn="l" defTabSz="914400" rtl="0" eaLnBrk="1" fontAlgn="t" latinLnBrk="0" hangingPunct="1">
                        <a:lnSpc>
                          <a:spcPts val="1500"/>
                        </a:lnSpc>
                        <a:buNone/>
                      </a:pPr>
                      <a:r>
                        <a:rPr lang="en-US" sz="900" kern="1200">
                          <a:solidFill>
                            <a:schemeClr val="dk1"/>
                          </a:solidFill>
                          <a:effectLst/>
                          <a:latin typeface="+mn-lt"/>
                          <a:ea typeface="+mn-ea"/>
                          <a:cs typeface="+mn-cs"/>
                        </a:rPr>
                        <a:t>Eliminating duplicate qualification records creates a single, reliable source of truth, improving trust in compliance status and preventing incorrect marking or rollback issues.</a:t>
                      </a: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566410678"/>
                  </a:ext>
                </a:extLst>
              </a:tr>
              <a:tr h="620472">
                <a:tc>
                  <a:txBody>
                    <a:bodyPr/>
                    <a:lstStyle/>
                    <a:p>
                      <a:pPr marL="0" lvl="0" indent="0" algn="l">
                        <a:lnSpc>
                          <a:spcPct val="100000"/>
                        </a:lnSpc>
                        <a:spcBef>
                          <a:spcPts val="0"/>
                        </a:spcBef>
                        <a:spcAft>
                          <a:spcPts val="0"/>
                        </a:spcAft>
                        <a:buNone/>
                      </a:pPr>
                      <a:r>
                        <a:rPr lang="en-US" sz="900" b="1" i="0" u="none" strike="noStrike" kern="1200" noProof="0">
                          <a:solidFill>
                            <a:srgbClr val="FF0000"/>
                          </a:solidFill>
                          <a:latin typeface="+mn-lt"/>
                          <a:ea typeface="+mn-ea"/>
                          <a:cs typeface="+mn-cs"/>
                        </a:rPr>
                        <a:t>FIXM Activation in CAE FPM</a:t>
                      </a:r>
                    </a:p>
                    <a:p>
                      <a:pPr marL="0" lvl="0" indent="0" algn="l">
                        <a:lnSpc>
                          <a:spcPct val="100000"/>
                        </a:lnSpc>
                        <a:spcBef>
                          <a:spcPts val="0"/>
                        </a:spcBef>
                        <a:spcAft>
                          <a:spcPts val="0"/>
                        </a:spcAft>
                        <a:buNone/>
                      </a:pPr>
                      <a:r>
                        <a:rPr lang="en-US" sz="900" b="1" i="0" u="none" strike="noStrike" kern="1200" noProof="0">
                          <a:solidFill>
                            <a:srgbClr val="FF0000"/>
                          </a:solidFill>
                          <a:latin typeface="+mn-lt"/>
                          <a:ea typeface="+mn-ea"/>
                          <a:cs typeface="+mn-cs"/>
                        </a:rPr>
                        <a:t>Go Live: 24</a:t>
                      </a:r>
                      <a:r>
                        <a:rPr lang="en-US" sz="900" b="1" i="0" u="none" strike="noStrike" kern="1200" baseline="30000" noProof="0">
                          <a:solidFill>
                            <a:srgbClr val="FF0000"/>
                          </a:solidFill>
                          <a:latin typeface="+mn-lt"/>
                          <a:ea typeface="+mn-ea"/>
                          <a:cs typeface="+mn-cs"/>
                        </a:rPr>
                        <a:t>th</a:t>
                      </a:r>
                      <a:r>
                        <a:rPr lang="en-US" sz="900" b="1" i="0" u="none" strike="noStrike" kern="1200" noProof="0">
                          <a:solidFill>
                            <a:srgbClr val="FF0000"/>
                          </a:solidFill>
                          <a:latin typeface="+mn-lt"/>
                          <a:ea typeface="+mn-ea"/>
                          <a:cs typeface="+mn-cs"/>
                        </a:rPr>
                        <a:t> April 2026</a:t>
                      </a:r>
                    </a:p>
                  </a:txBody>
                  <a:tcP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a:solidFill>
                        <a:schemeClr val="bg1">
                          <a:lumMod val="75000"/>
                        </a:schemeClr>
                      </a:solidFill>
                    </a:lnB>
                    <a:noFill/>
                  </a:tcPr>
                </a:tc>
                <a:tc>
                  <a:txBody>
                    <a:bodyPr/>
                    <a:lstStyle/>
                    <a:p>
                      <a:pPr marL="0" lvl="0" indent="0" algn="l">
                        <a:lnSpc>
                          <a:spcPct val="100000"/>
                        </a:lnSpc>
                        <a:spcBef>
                          <a:spcPts val="0"/>
                        </a:spcBef>
                        <a:spcAft>
                          <a:spcPts val="0"/>
                        </a:spcAft>
                        <a:buNone/>
                      </a:pPr>
                      <a:endParaRPr lang="en-US" sz="900" b="1" i="0" u="none" strike="noStrike" kern="1200" noProof="0">
                        <a:solidFill>
                          <a:srgbClr val="00B050"/>
                        </a:solidFill>
                        <a:latin typeface="+mn-lt"/>
                        <a:ea typeface="+mn-ea"/>
                        <a:cs typeface="+mn-cs"/>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a:solidFill>
                        <a:schemeClr val="bg1">
                          <a:lumMod val="75000"/>
                        </a:schemeClr>
                      </a:solidFill>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0" i="0" kern="1200" noProof="0">
                          <a:solidFill>
                            <a:schemeClr val="dk1"/>
                          </a:solidFill>
                          <a:effectLst/>
                          <a:latin typeface="+mn-lt"/>
                          <a:ea typeface="+mn-ea"/>
                          <a:cs typeface="+mn-cs"/>
                        </a:rPr>
                        <a:t>Mandate required by Eurocontrol.</a:t>
                      </a: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a:solidFill>
                        <a:schemeClr val="bg1">
                          <a:lumMod val="75000"/>
                        </a:schemeClr>
                      </a:solidFill>
                    </a:lnB>
                    <a:noFill/>
                  </a:tcPr>
                </a:tc>
                <a:extLst>
                  <a:ext uri="{0D108BD9-81ED-4DB2-BD59-A6C34878D82A}">
                    <a16:rowId xmlns:a16="http://schemas.microsoft.com/office/drawing/2014/main" val="2755886242"/>
                  </a:ext>
                </a:extLst>
              </a:tr>
            </a:tbl>
          </a:graphicData>
        </a:graphic>
      </p:graphicFrame>
      <p:sp>
        <p:nvSpPr>
          <p:cNvPr id="4" name="Rectangle 3">
            <a:extLst>
              <a:ext uri="{FF2B5EF4-FFF2-40B4-BE49-F238E27FC236}">
                <a16:creationId xmlns:a16="http://schemas.microsoft.com/office/drawing/2014/main" id="{62F8E175-3211-55D5-6E94-9A7A3E475FA5}"/>
              </a:ext>
            </a:extLst>
          </p:cNvPr>
          <p:cNvSpPr/>
          <p:nvPr/>
        </p:nvSpPr>
        <p:spPr>
          <a:xfrm>
            <a:off x="1188132" y="6671592"/>
            <a:ext cx="90000" cy="90000"/>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5" name="Rectangle 4">
            <a:extLst>
              <a:ext uri="{FF2B5EF4-FFF2-40B4-BE49-F238E27FC236}">
                <a16:creationId xmlns:a16="http://schemas.microsoft.com/office/drawing/2014/main" id="{D7D981C5-A66D-B668-AB38-0FC1BBCB3FE7}"/>
              </a:ext>
            </a:extLst>
          </p:cNvPr>
          <p:cNvSpPr/>
          <p:nvPr/>
        </p:nvSpPr>
        <p:spPr>
          <a:xfrm>
            <a:off x="2265818" y="6670554"/>
            <a:ext cx="90000" cy="90000"/>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7" name="Rectangle 6">
            <a:extLst>
              <a:ext uri="{FF2B5EF4-FFF2-40B4-BE49-F238E27FC236}">
                <a16:creationId xmlns:a16="http://schemas.microsoft.com/office/drawing/2014/main" id="{060C7D6C-A15F-9BD3-9DD0-7117DB54C3E4}"/>
              </a:ext>
            </a:extLst>
          </p:cNvPr>
          <p:cNvSpPr/>
          <p:nvPr/>
        </p:nvSpPr>
        <p:spPr>
          <a:xfrm>
            <a:off x="3443423" y="6671592"/>
            <a:ext cx="90000" cy="90000"/>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8" name="Rectangle 7">
            <a:extLst>
              <a:ext uri="{FF2B5EF4-FFF2-40B4-BE49-F238E27FC236}">
                <a16:creationId xmlns:a16="http://schemas.microsoft.com/office/drawing/2014/main" id="{B3BF8826-F0A0-072E-F721-E53DDDE2725E}"/>
              </a:ext>
            </a:extLst>
          </p:cNvPr>
          <p:cNvSpPr/>
          <p:nvPr/>
        </p:nvSpPr>
        <p:spPr>
          <a:xfrm>
            <a:off x="8146052" y="6714097"/>
            <a:ext cx="90000" cy="90000"/>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9" name="TextBox 15">
            <a:extLst>
              <a:ext uri="{FF2B5EF4-FFF2-40B4-BE49-F238E27FC236}">
                <a16:creationId xmlns:a16="http://schemas.microsoft.com/office/drawing/2014/main" id="{2DB48DC3-018D-BA24-D7CC-831FCDA23165}"/>
              </a:ext>
            </a:extLst>
          </p:cNvPr>
          <p:cNvSpPr txBox="1"/>
          <p:nvPr/>
        </p:nvSpPr>
        <p:spPr>
          <a:xfrm>
            <a:off x="1288983" y="6614743"/>
            <a:ext cx="857245"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0070C0"/>
                </a:solidFill>
                <a:effectLst/>
                <a:uLnTx/>
                <a:uFillTx/>
                <a:latin typeface="Nunito Sans"/>
                <a:ea typeface="+mn-ea"/>
                <a:cs typeface="+mn-cs"/>
              </a:rPr>
              <a:t>Delivered</a:t>
            </a:r>
            <a:endParaRPr kumimoji="0" lang="en-IN" sz="1000" b="0" i="0" u="none" strike="noStrike" kern="1200" cap="none" spc="0" normalizeH="0" baseline="0" noProof="0">
              <a:ln>
                <a:noFill/>
              </a:ln>
              <a:solidFill>
                <a:srgbClr val="000000"/>
              </a:solidFill>
              <a:effectLst/>
              <a:uLnTx/>
              <a:uFillTx/>
              <a:latin typeface="Nunito Sans"/>
              <a:ea typeface="+mn-ea"/>
              <a:cs typeface="+mn-cs"/>
            </a:endParaRPr>
          </a:p>
        </p:txBody>
      </p:sp>
      <p:sp>
        <p:nvSpPr>
          <p:cNvPr id="10" name="TextBox 18">
            <a:extLst>
              <a:ext uri="{FF2B5EF4-FFF2-40B4-BE49-F238E27FC236}">
                <a16:creationId xmlns:a16="http://schemas.microsoft.com/office/drawing/2014/main" id="{FF4369E7-7371-9826-C04A-1F3DDCB2A826}"/>
              </a:ext>
            </a:extLst>
          </p:cNvPr>
          <p:cNvSpPr txBox="1"/>
          <p:nvPr/>
        </p:nvSpPr>
        <p:spPr>
          <a:xfrm>
            <a:off x="2310642" y="6611102"/>
            <a:ext cx="1032881"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00B050"/>
                </a:solidFill>
                <a:effectLst/>
                <a:uLnTx/>
                <a:uFillTx/>
                <a:latin typeface="Nunito Sans"/>
                <a:ea typeface="+mn-ea"/>
                <a:cs typeface="+mn-cs"/>
              </a:rPr>
              <a:t>Ontrack</a:t>
            </a:r>
            <a:endParaRPr kumimoji="0" lang="en-IN" sz="1000" b="0" i="0" u="none" strike="noStrike" kern="1200" cap="none" spc="0" normalizeH="0" baseline="0" noProof="0">
              <a:ln>
                <a:noFill/>
              </a:ln>
              <a:solidFill>
                <a:srgbClr val="000000"/>
              </a:solidFill>
              <a:effectLst/>
              <a:uLnTx/>
              <a:uFillTx/>
              <a:latin typeface="Nunito Sans"/>
              <a:ea typeface="+mn-ea"/>
              <a:cs typeface="+mn-cs"/>
            </a:endParaRPr>
          </a:p>
        </p:txBody>
      </p:sp>
      <p:sp>
        <p:nvSpPr>
          <p:cNvPr id="11" name="TextBox 20">
            <a:extLst>
              <a:ext uri="{FF2B5EF4-FFF2-40B4-BE49-F238E27FC236}">
                <a16:creationId xmlns:a16="http://schemas.microsoft.com/office/drawing/2014/main" id="{28CA1696-F395-6C97-EF3F-655033E69B6A}"/>
              </a:ext>
            </a:extLst>
          </p:cNvPr>
          <p:cNvSpPr txBox="1"/>
          <p:nvPr/>
        </p:nvSpPr>
        <p:spPr>
          <a:xfrm>
            <a:off x="3539606" y="6608370"/>
            <a:ext cx="2257628"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FED9A0">
                    <a:lumMod val="75000"/>
                  </a:srgbClr>
                </a:solidFill>
                <a:effectLst/>
                <a:uLnTx/>
                <a:uFillTx/>
                <a:latin typeface="Nunito Sans"/>
                <a:ea typeface="+mn-ea"/>
                <a:cs typeface="+mn-cs"/>
              </a:rPr>
              <a:t>Under delay and can be recovered</a:t>
            </a:r>
            <a:endParaRPr kumimoji="0" lang="en-IN" sz="1000" b="0" i="0" u="none" strike="noStrike" kern="1200" cap="none" spc="0" normalizeH="0" baseline="0" noProof="0">
              <a:ln>
                <a:noFill/>
              </a:ln>
              <a:solidFill>
                <a:srgbClr val="000000"/>
              </a:solidFill>
              <a:effectLst/>
              <a:uLnTx/>
              <a:uFillTx/>
              <a:latin typeface="Nunito Sans"/>
              <a:ea typeface="+mn-ea"/>
              <a:cs typeface="+mn-cs"/>
            </a:endParaRPr>
          </a:p>
        </p:txBody>
      </p:sp>
      <p:sp>
        <p:nvSpPr>
          <p:cNvPr id="13" name="TextBox 22">
            <a:extLst>
              <a:ext uri="{FF2B5EF4-FFF2-40B4-BE49-F238E27FC236}">
                <a16:creationId xmlns:a16="http://schemas.microsoft.com/office/drawing/2014/main" id="{BDB818C3-5E71-EF69-C0A7-9AFE0D1ADAE2}"/>
              </a:ext>
            </a:extLst>
          </p:cNvPr>
          <p:cNvSpPr txBox="1"/>
          <p:nvPr/>
        </p:nvSpPr>
        <p:spPr>
          <a:xfrm>
            <a:off x="8246937" y="6618126"/>
            <a:ext cx="2338222"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FF0000"/>
                </a:solidFill>
                <a:effectLst/>
                <a:uLnTx/>
                <a:uFillTx/>
                <a:latin typeface="Nunito Sans"/>
                <a:ea typeface="+mn-ea"/>
                <a:cs typeface="+mn-cs"/>
              </a:rPr>
              <a:t>Delayed and pushed to next release</a:t>
            </a:r>
          </a:p>
        </p:txBody>
      </p:sp>
      <p:sp>
        <p:nvSpPr>
          <p:cNvPr id="15" name="TextBox 14">
            <a:extLst>
              <a:ext uri="{FF2B5EF4-FFF2-40B4-BE49-F238E27FC236}">
                <a16:creationId xmlns:a16="http://schemas.microsoft.com/office/drawing/2014/main" id="{2BE38903-FD39-0242-DC11-821D1AD737B9}"/>
              </a:ext>
            </a:extLst>
          </p:cNvPr>
          <p:cNvSpPr txBox="1"/>
          <p:nvPr/>
        </p:nvSpPr>
        <p:spPr>
          <a:xfrm>
            <a:off x="6454369" y="6611638"/>
            <a:ext cx="2743200"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IN" sz="1000">
                <a:solidFill>
                  <a:srgbClr val="7D7D7D"/>
                </a:solidFill>
              </a:rPr>
              <a:t>Descoped</a:t>
            </a:r>
            <a:endParaRPr lang="en-US"/>
          </a:p>
        </p:txBody>
      </p:sp>
      <p:sp>
        <p:nvSpPr>
          <p:cNvPr id="16" name="Rectangle 15">
            <a:extLst>
              <a:ext uri="{FF2B5EF4-FFF2-40B4-BE49-F238E27FC236}">
                <a16:creationId xmlns:a16="http://schemas.microsoft.com/office/drawing/2014/main" id="{D8BEC72D-64FC-A6A1-64C2-8DCB90F9F83B}"/>
              </a:ext>
            </a:extLst>
          </p:cNvPr>
          <p:cNvSpPr/>
          <p:nvPr/>
        </p:nvSpPr>
        <p:spPr>
          <a:xfrm>
            <a:off x="6360794" y="6681439"/>
            <a:ext cx="90000" cy="90000"/>
          </a:xfrm>
          <a:prstGeom prst="rect">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Tree>
    <p:extLst>
      <p:ext uri="{BB962C8B-B14F-4D97-AF65-F5344CB8AC3E}">
        <p14:creationId xmlns:p14="http://schemas.microsoft.com/office/powerpoint/2010/main" val="1321432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7D9CF2-A766-F59C-F22D-4BD37C4E45F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4E55923-B8A5-CBD7-CC9E-9EE8317801A7}"/>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3A41A254-7326-714E-AF55-4C213D6394DE}" type="slidenum">
              <a:rPr kumimoji="0" lang="en-US" sz="1200" b="0" i="0" u="none" strike="noStrike" kern="1200" cap="none" spc="0" normalizeH="0" baseline="0" noProof="0" smtClean="0">
                <a:ln>
                  <a:noFill/>
                </a:ln>
                <a:solidFill>
                  <a:srgbClr val="DA0E28"/>
                </a:solidFill>
                <a:effectLst/>
                <a:uLnTx/>
                <a:uFillTx/>
                <a:latin typeface="Nunito Sans"/>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srgbClr val="DA0E28"/>
              </a:solidFill>
              <a:effectLst/>
              <a:uLnTx/>
              <a:uFillTx/>
              <a:latin typeface="Nunito Sans"/>
              <a:ea typeface="+mn-ea"/>
              <a:cs typeface="+mn-cs"/>
            </a:endParaRPr>
          </a:p>
        </p:txBody>
      </p:sp>
      <p:sp>
        <p:nvSpPr>
          <p:cNvPr id="3" name="Rectangle 2">
            <a:extLst>
              <a:ext uri="{FF2B5EF4-FFF2-40B4-BE49-F238E27FC236}">
                <a16:creationId xmlns:a16="http://schemas.microsoft.com/office/drawing/2014/main" id="{4A472C96-49BA-7440-CD7D-CABAC961C759}"/>
              </a:ext>
            </a:extLst>
          </p:cNvPr>
          <p:cNvSpPr/>
          <p:nvPr/>
        </p:nvSpPr>
        <p:spPr>
          <a:xfrm>
            <a:off x="129077" y="472823"/>
            <a:ext cx="1170432" cy="42234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400" b="1">
                <a:solidFill>
                  <a:srgbClr val="FFFFFF"/>
                </a:solidFill>
                <a:latin typeface="AirIndia"/>
              </a:rPr>
              <a:t>May</a:t>
            </a:r>
            <a:r>
              <a:rPr kumimoji="0" lang="en-IN" sz="1400" b="1" i="0" u="none" strike="noStrike" kern="1200" cap="none" spc="0" normalizeH="0" baseline="0" noProof="0">
                <a:ln>
                  <a:noFill/>
                </a:ln>
                <a:solidFill>
                  <a:srgbClr val="FFFFFF"/>
                </a:solidFill>
                <a:effectLst/>
                <a:uLnTx/>
                <a:uFillTx/>
                <a:latin typeface="AirIndia"/>
                <a:ea typeface="+mn-ea"/>
                <a:cs typeface="+mn-cs"/>
              </a:rPr>
              <a:t> ‘</a:t>
            </a:r>
            <a:r>
              <a:rPr lang="en-IN" sz="1400" b="1">
                <a:solidFill>
                  <a:srgbClr val="FFFFFF"/>
                </a:solidFill>
                <a:latin typeface="AirIndia"/>
              </a:rPr>
              <a:t>26</a:t>
            </a:r>
            <a:endParaRPr kumimoji="0" lang="en-US" sz="1400" b="1" i="0" u="none" strike="noStrike" kern="1200" cap="none" spc="0" normalizeH="0" baseline="0" noProof="0">
              <a:ln>
                <a:noFill/>
              </a:ln>
              <a:solidFill>
                <a:srgbClr val="FFFFFF"/>
              </a:solidFill>
              <a:effectLst/>
              <a:uLnTx/>
              <a:uFillTx/>
              <a:latin typeface="AirIndia"/>
              <a:ea typeface="+mn-ea"/>
              <a:cs typeface="+mn-cs"/>
            </a:endParaRPr>
          </a:p>
        </p:txBody>
      </p:sp>
      <p:sp>
        <p:nvSpPr>
          <p:cNvPr id="6" name="Title 11">
            <a:extLst>
              <a:ext uri="{FF2B5EF4-FFF2-40B4-BE49-F238E27FC236}">
                <a16:creationId xmlns:a16="http://schemas.microsoft.com/office/drawing/2014/main" id="{E4E0141F-D70D-81E2-5B27-FE23E44DD87C}"/>
              </a:ext>
            </a:extLst>
          </p:cNvPr>
          <p:cNvSpPr txBox="1">
            <a:spLocks/>
          </p:cNvSpPr>
          <p:nvPr/>
        </p:nvSpPr>
        <p:spPr>
          <a:xfrm>
            <a:off x="210200" y="182023"/>
            <a:ext cx="7691717" cy="430255"/>
          </a:xfrm>
          <a:prstGeom prst="rect">
            <a:avLst/>
          </a:prstGeom>
        </p:spPr>
        <p:txBody>
          <a:bodyPr lIns="91440" tIns="45720" rIns="91440" bIns="45720" anchor="t">
            <a:noAutofit/>
          </a:bodyPr>
          <a:lstStyle>
            <a:lvl1pPr algn="l" defTabSz="914400" rtl="0" eaLnBrk="1" latinLnBrk="0" hangingPunct="1">
              <a:lnSpc>
                <a:spcPct val="90000"/>
              </a:lnSpc>
              <a:spcBef>
                <a:spcPct val="0"/>
              </a:spcBef>
              <a:buNone/>
              <a:defRPr sz="4400" b="1" i="0" kern="1200">
                <a:solidFill>
                  <a:schemeClr val="tx1"/>
                </a:solidFill>
                <a:latin typeface="AirIndia" pitchFamily="82" charset="77"/>
                <a:ea typeface="+mj-ea"/>
                <a:cs typeface="+mj-cs"/>
              </a:defRPr>
            </a:lvl1pPr>
          </a:lstStyle>
          <a:p>
            <a:pPr>
              <a:defRPr/>
            </a:pPr>
            <a:r>
              <a:rPr lang="en-US" sz="1800">
                <a:solidFill>
                  <a:srgbClr val="DA0E28"/>
                </a:solidFill>
                <a:latin typeface="AirIndia"/>
              </a:rPr>
              <a:t>Operations Tech </a:t>
            </a:r>
            <a:r>
              <a:rPr kumimoji="0" lang="en-US" sz="1800" b="1" i="0" u="none" strike="noStrike" kern="1200" cap="none" spc="0" normalizeH="0" baseline="0" noProof="0">
                <a:ln>
                  <a:noFill/>
                </a:ln>
                <a:solidFill>
                  <a:srgbClr val="DA0E28"/>
                </a:solidFill>
                <a:effectLst/>
                <a:uLnTx/>
                <a:uFillTx/>
                <a:latin typeface="AirIndia"/>
                <a:ea typeface="+mj-ea"/>
                <a:cs typeface="+mj-cs"/>
              </a:rPr>
              <a:t>- </a:t>
            </a:r>
            <a:r>
              <a:rPr lang="en-US" sz="1800">
                <a:solidFill>
                  <a:srgbClr val="DA0E28"/>
                </a:solidFill>
                <a:latin typeface="AirIndia"/>
              </a:rPr>
              <a:t>FY26-27 </a:t>
            </a:r>
            <a:r>
              <a:rPr kumimoji="0" lang="en-US" sz="1800" b="1" i="0" u="none" strike="noStrike" kern="1200" cap="none" spc="0" normalizeH="0" baseline="0" noProof="0">
                <a:ln>
                  <a:noFill/>
                </a:ln>
                <a:solidFill>
                  <a:srgbClr val="DA0E28"/>
                </a:solidFill>
                <a:effectLst/>
                <a:uLnTx/>
                <a:uFillTx/>
                <a:latin typeface="AirIndia"/>
                <a:ea typeface="+mj-ea"/>
                <a:cs typeface="+mj-cs"/>
              </a:rPr>
              <a:t>Q1 Release Plan</a:t>
            </a:r>
            <a:endParaRPr lang="en-US" sz="1800" b="0">
              <a:solidFill>
                <a:srgbClr val="000000"/>
              </a:solidFill>
              <a:latin typeface="AirIndia"/>
            </a:endParaRPr>
          </a:p>
          <a:p>
            <a:pPr>
              <a:defRPr/>
            </a:pPr>
            <a:endParaRPr lang="en-US" sz="1800" i="0" u="none" strike="noStrike" kern="1200" cap="none" spc="0" normalizeH="0" baseline="0" noProof="0">
              <a:ln>
                <a:noFill/>
              </a:ln>
              <a:solidFill>
                <a:srgbClr val="DA0E28"/>
              </a:solidFill>
              <a:effectLst/>
              <a:uLnTx/>
              <a:uFillTx/>
              <a:latin typeface="AirIndia"/>
            </a:endParaRPr>
          </a:p>
        </p:txBody>
      </p:sp>
      <p:graphicFrame>
        <p:nvGraphicFramePr>
          <p:cNvPr id="12" name="Table 11">
            <a:extLst>
              <a:ext uri="{FF2B5EF4-FFF2-40B4-BE49-F238E27FC236}">
                <a16:creationId xmlns:a16="http://schemas.microsoft.com/office/drawing/2014/main" id="{474114F0-AB19-8F7E-C6E8-5B8620DC5382}"/>
              </a:ext>
            </a:extLst>
          </p:cNvPr>
          <p:cNvGraphicFramePr>
            <a:graphicFrameLocks noGrp="1"/>
          </p:cNvGraphicFramePr>
          <p:nvPr>
            <p:extLst>
              <p:ext uri="{D42A27DB-BD31-4B8C-83A1-F6EECF244321}">
                <p14:modId xmlns:p14="http://schemas.microsoft.com/office/powerpoint/2010/main" val="2271741348"/>
              </p:ext>
            </p:extLst>
          </p:nvPr>
        </p:nvGraphicFramePr>
        <p:xfrm>
          <a:off x="1278222" y="470698"/>
          <a:ext cx="10685696" cy="5317839"/>
        </p:xfrm>
        <a:graphic>
          <a:graphicData uri="http://schemas.openxmlformats.org/drawingml/2006/table">
            <a:tbl>
              <a:tblPr firstRow="1" bandRow="1">
                <a:tableStyleId>{5C22544A-7EE6-4342-B048-85BDC9FD1C3A}</a:tableStyleId>
              </a:tblPr>
              <a:tblGrid>
                <a:gridCol w="3020291">
                  <a:extLst>
                    <a:ext uri="{9D8B030D-6E8A-4147-A177-3AD203B41FA5}">
                      <a16:colId xmlns:a16="http://schemas.microsoft.com/office/drawing/2014/main" val="2822350773"/>
                    </a:ext>
                  </a:extLst>
                </a:gridCol>
                <a:gridCol w="2818688">
                  <a:extLst>
                    <a:ext uri="{9D8B030D-6E8A-4147-A177-3AD203B41FA5}">
                      <a16:colId xmlns:a16="http://schemas.microsoft.com/office/drawing/2014/main" val="2043345236"/>
                    </a:ext>
                  </a:extLst>
                </a:gridCol>
                <a:gridCol w="4846717">
                  <a:extLst>
                    <a:ext uri="{9D8B030D-6E8A-4147-A177-3AD203B41FA5}">
                      <a16:colId xmlns:a16="http://schemas.microsoft.com/office/drawing/2014/main" val="99588705"/>
                    </a:ext>
                  </a:extLst>
                </a:gridCol>
              </a:tblGrid>
              <a:tr h="437101">
                <a:tc>
                  <a:txBody>
                    <a:bodyPr/>
                    <a:lstStyle/>
                    <a:p>
                      <a:pPr marL="0" lvl="0" indent="0" algn="ctr" defTabSz="914400" rtl="0">
                        <a:lnSpc>
                          <a:spcPct val="100000"/>
                        </a:lnSpc>
                        <a:buFont typeface="Arial" panose="020B0604020202020204" pitchFamily="34" charset="0"/>
                        <a:buNone/>
                      </a:pPr>
                      <a:r>
                        <a:rPr lang="en-IN" sz="1100" b="1" kern="1200">
                          <a:solidFill>
                            <a:schemeClr val="bg1"/>
                          </a:solidFill>
                          <a:latin typeface="+mn-lt"/>
                          <a:ea typeface="+mn-ea"/>
                          <a:cs typeface="+mn-cs"/>
                        </a:rPr>
                        <a:t>Initiatives</a:t>
                      </a:r>
                      <a:endParaRPr lang="en-US" sz="1100" b="1"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tc>
                  <a:txBody>
                    <a:bodyPr/>
                    <a:lstStyle/>
                    <a:p>
                      <a:pPr marL="0" lvl="0" indent="0" algn="ctr" defTabSz="914400">
                        <a:lnSpc>
                          <a:spcPct val="100000"/>
                        </a:lnSpc>
                        <a:buNone/>
                      </a:pPr>
                      <a:r>
                        <a:rPr lang="en-IN" sz="1100" b="1" i="0" u="none" strike="noStrike" kern="1200" noProof="0">
                          <a:solidFill>
                            <a:schemeClr val="bg1"/>
                          </a:solidFill>
                          <a:latin typeface="Nunito Sans"/>
                          <a:ea typeface="+mn-ea"/>
                          <a:cs typeface="+mn-cs"/>
                        </a:rPr>
                        <a:t>Programs/Projects</a:t>
                      </a:r>
                      <a:endParaRPr lang="en-US"/>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solidFill>
                      <a:schemeClr val="accent3">
                        <a:lumMod val="90000"/>
                        <a:lumOff val="10000"/>
                      </a:schemeClr>
                    </a:solidFill>
                  </a:tcPr>
                </a:tc>
                <a:tc>
                  <a:txBody>
                    <a:bodyPr/>
                    <a:lstStyle/>
                    <a:p>
                      <a:pPr marL="0" lvl="0" indent="0" algn="ctr">
                        <a:lnSpc>
                          <a:spcPct val="100000"/>
                        </a:lnSpc>
                        <a:buNone/>
                      </a:pPr>
                      <a:endParaRPr lang="en-IN" sz="1100" b="1" i="0" u="none" strike="noStrike" kern="1200" baseline="0" noProof="0">
                        <a:solidFill>
                          <a:srgbClr val="FFFFFF"/>
                        </a:solidFill>
                        <a:latin typeface="Nunito Sans"/>
                      </a:endParaRPr>
                    </a:p>
                    <a:p>
                      <a:pPr marL="0" lvl="0" indent="0" algn="ctr">
                        <a:lnSpc>
                          <a:spcPct val="100000"/>
                        </a:lnSpc>
                        <a:buNone/>
                      </a:pPr>
                      <a:r>
                        <a:rPr lang="en-IN" sz="1100" b="1" i="0" u="none" strike="noStrike" kern="1200" baseline="0" noProof="0">
                          <a:solidFill>
                            <a:srgbClr val="FFFFFF"/>
                          </a:solidFill>
                          <a:latin typeface="Nunito Sans"/>
                        </a:rPr>
                        <a:t>Value Justification/Realization</a:t>
                      </a:r>
                    </a:p>
                    <a:p>
                      <a:pPr marL="0" lvl="0" indent="0" algn="ctr" defTabSz="914400">
                        <a:buFont typeface="Arial" panose="020B0604020202020204" pitchFamily="34" charset="0"/>
                        <a:buNone/>
                      </a:pPr>
                      <a:endParaRPr lang="en-IN" sz="1100"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extLst>
                  <a:ext uri="{0D108BD9-81ED-4DB2-BD59-A6C34878D82A}">
                    <a16:rowId xmlns:a16="http://schemas.microsoft.com/office/drawing/2014/main" val="844450115"/>
                  </a:ext>
                </a:extLst>
              </a:tr>
              <a:tr h="288906">
                <a:tc>
                  <a:txBody>
                    <a:bodyPr/>
                    <a:lstStyle/>
                    <a:p>
                      <a:pPr marL="0" lvl="0" indent="0" algn="l">
                        <a:lnSpc>
                          <a:spcPct val="100000"/>
                        </a:lnSpc>
                        <a:spcBef>
                          <a:spcPts val="0"/>
                        </a:spcBef>
                        <a:spcAft>
                          <a:spcPts val="0"/>
                        </a:spcAft>
                        <a:buClr>
                          <a:srgbClr val="000000"/>
                        </a:buClr>
                        <a:buNone/>
                      </a:pPr>
                      <a:r>
                        <a:rPr lang="en-US" sz="900" b="1" i="0" u="none" strike="noStrike" kern="1200" noProof="0">
                          <a:solidFill>
                            <a:srgbClr val="0070C0"/>
                          </a:solidFill>
                          <a:latin typeface="+mn-lt"/>
                        </a:rPr>
                        <a:t>Crew data health Check</a:t>
                      </a:r>
                    </a:p>
                    <a:p>
                      <a:pPr marL="0" lvl="0" indent="0" algn="l">
                        <a:lnSpc>
                          <a:spcPct val="100000"/>
                        </a:lnSpc>
                        <a:spcBef>
                          <a:spcPts val="0"/>
                        </a:spcBef>
                        <a:spcAft>
                          <a:spcPts val="0"/>
                        </a:spcAft>
                        <a:buClr>
                          <a:srgbClr val="000000"/>
                        </a:buClr>
                        <a:buNone/>
                      </a:pPr>
                      <a:r>
                        <a:rPr lang="en-US" sz="900" b="1" i="0" u="none" strike="noStrike" kern="1200" noProof="0">
                          <a:solidFill>
                            <a:srgbClr val="0070C0"/>
                          </a:solidFill>
                          <a:latin typeface="+mn-lt"/>
                        </a:rPr>
                        <a:t>Go Live: 20</a:t>
                      </a:r>
                      <a:r>
                        <a:rPr lang="en-US" sz="900" b="1" i="0" u="none" strike="noStrike" kern="1200" baseline="30000" noProof="0">
                          <a:solidFill>
                            <a:srgbClr val="0070C0"/>
                          </a:solidFill>
                          <a:latin typeface="+mn-lt"/>
                        </a:rPr>
                        <a:t>th</a:t>
                      </a:r>
                      <a:r>
                        <a:rPr lang="en-US" sz="900" b="1" i="0" u="none" strike="noStrike" kern="1200" noProof="0">
                          <a:solidFill>
                            <a:srgbClr val="0070C0"/>
                          </a:solidFill>
                          <a:latin typeface="+mn-lt"/>
                        </a:rPr>
                        <a:t> May 2026</a:t>
                      </a:r>
                    </a:p>
                    <a:p>
                      <a:pPr marL="0" lvl="0" indent="0" algn="l">
                        <a:lnSpc>
                          <a:spcPct val="100000"/>
                        </a:lnSpc>
                        <a:spcBef>
                          <a:spcPts val="0"/>
                        </a:spcBef>
                        <a:spcAft>
                          <a:spcPts val="0"/>
                        </a:spcAft>
                        <a:buNone/>
                      </a:pPr>
                      <a:r>
                        <a:rPr lang="en-US" sz="900" b="1" i="0" u="none" strike="noStrike" kern="1200" noProof="0">
                          <a:solidFill>
                            <a:srgbClr val="0070C0"/>
                          </a:solidFill>
                          <a:latin typeface="+mn-lt"/>
                        </a:rPr>
                        <a:t>Actual Go Live: 22nd May 2026</a:t>
                      </a:r>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marL="228600" lvl="0" indent="-228600" algn="l">
                        <a:lnSpc>
                          <a:spcPct val="100000"/>
                        </a:lnSpc>
                        <a:spcBef>
                          <a:spcPts val="0"/>
                        </a:spcBef>
                        <a:spcAft>
                          <a:spcPts val="0"/>
                        </a:spcAft>
                        <a:buAutoNum type="arabicPeriod"/>
                      </a:pPr>
                      <a:endParaRPr lang="en-US" sz="900" b="1" i="0" u="none" strike="noStrike" kern="1200" noProof="0">
                        <a:solidFill>
                          <a:srgbClr val="0070C0"/>
                        </a:solidFill>
                        <a:latin typeface="+mn-lt"/>
                      </a:endParaRPr>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lvl="0" algn="l">
                        <a:lnSpc>
                          <a:spcPct val="100000"/>
                        </a:lnSpc>
                        <a:spcBef>
                          <a:spcPts val="0"/>
                        </a:spcBef>
                        <a:spcAft>
                          <a:spcPts val="0"/>
                        </a:spcAft>
                        <a:buNone/>
                      </a:pPr>
                      <a:r>
                        <a:rPr lang="en-US" sz="900" b="0" i="0" u="none" strike="noStrike" kern="1200" noProof="0">
                          <a:solidFill>
                            <a:schemeClr val="tx1"/>
                          </a:solidFill>
                        </a:rPr>
                        <a:t>To perform a comprehensive health check on crew data to identify data inconsistencies, missing values, and anomalies</a:t>
                      </a:r>
                      <a:endParaRPr lang="en-US"/>
                    </a:p>
                    <a:p>
                      <a:pPr marL="0" lvl="0" indent="0" algn="l">
                        <a:lnSpc>
                          <a:spcPct val="100000"/>
                        </a:lnSpc>
                        <a:spcBef>
                          <a:spcPts val="0"/>
                        </a:spcBef>
                        <a:spcAft>
                          <a:spcPts val="0"/>
                        </a:spcAft>
                        <a:buNone/>
                      </a:pPr>
                      <a:r>
                        <a:rPr lang="en-US" sz="900" b="0" i="0" u="none" strike="noStrike" kern="1200" noProof="0">
                          <a:solidFill>
                            <a:schemeClr val="tx1"/>
                          </a:solidFill>
                        </a:rPr>
                        <a:t>Ensure alignment across source systems and reporting views</a:t>
                      </a:r>
                      <a:endParaRPr lang="en-US"/>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443371065"/>
                  </a:ext>
                </a:extLst>
              </a:tr>
              <a:tr h="387134">
                <a:tc>
                  <a:txBody>
                    <a:bodyPr/>
                    <a:lstStyle/>
                    <a:p>
                      <a:pPr marL="0" lvl="0" indent="0" algn="l" defTabSz="914400" rtl="0" eaLnBrk="1" latinLnBrk="0" hangingPunct="1">
                        <a:lnSpc>
                          <a:spcPct val="100000"/>
                        </a:lnSpc>
                        <a:spcBef>
                          <a:spcPts val="0"/>
                        </a:spcBef>
                        <a:spcAft>
                          <a:spcPts val="0"/>
                        </a:spcAft>
                        <a:buNone/>
                      </a:pPr>
                      <a:r>
                        <a:rPr lang="en-US" sz="900" b="1" i="0" u="none" strike="noStrike" kern="1200" noProof="0">
                          <a:solidFill>
                            <a:srgbClr val="0070C0"/>
                          </a:solidFill>
                          <a:effectLst/>
                          <a:latin typeface="+mn-lt"/>
                          <a:ea typeface="+mn-ea"/>
                          <a:cs typeface="+mn-cs"/>
                        </a:rPr>
                        <a:t>Slot Adherence Dashboard phase 3</a:t>
                      </a:r>
                    </a:p>
                    <a:p>
                      <a:pPr marL="0" lvl="0" indent="0" algn="l" defTabSz="914400" rtl="0" eaLnBrk="1" latinLnBrk="0" hangingPunct="1">
                        <a:lnSpc>
                          <a:spcPct val="100000"/>
                        </a:lnSpc>
                        <a:spcBef>
                          <a:spcPts val="0"/>
                        </a:spcBef>
                        <a:spcAft>
                          <a:spcPts val="0"/>
                        </a:spcAft>
                        <a:buNone/>
                      </a:pPr>
                      <a:r>
                        <a:rPr lang="en-US" sz="900" b="1" i="0" u="none" strike="noStrike" kern="1200" noProof="0">
                          <a:solidFill>
                            <a:srgbClr val="0070C0"/>
                          </a:solidFill>
                          <a:effectLst/>
                          <a:latin typeface="+mn-lt"/>
                          <a:ea typeface="+mn-ea"/>
                          <a:cs typeface="+mn-cs"/>
                        </a:rPr>
                        <a:t>Go Live: 24th  May 2026</a:t>
                      </a:r>
                    </a:p>
                    <a:p>
                      <a:pPr marL="0" lvl="0" indent="0" algn="l" defTabSz="914400" rtl="0" eaLnBrk="1" latinLnBrk="0" hangingPunct="1">
                        <a:lnSpc>
                          <a:spcPct val="100000"/>
                        </a:lnSpc>
                        <a:spcBef>
                          <a:spcPts val="0"/>
                        </a:spcBef>
                        <a:spcAft>
                          <a:spcPts val="0"/>
                        </a:spcAft>
                        <a:buNone/>
                      </a:pPr>
                      <a:r>
                        <a:rPr lang="en-US" sz="900" b="1" i="0" u="none" strike="noStrike" kern="1200" noProof="0">
                          <a:solidFill>
                            <a:srgbClr val="0070C0"/>
                          </a:solidFill>
                          <a:effectLst/>
                          <a:latin typeface="+mn-lt"/>
                          <a:ea typeface="+mn-ea"/>
                          <a:cs typeface="+mn-cs"/>
                        </a:rPr>
                        <a:t>Actual Go Live : 21</a:t>
                      </a:r>
                      <a:r>
                        <a:rPr lang="en-US" sz="900" b="1" i="0" u="none" strike="noStrike" kern="1200" baseline="30000" noProof="0">
                          <a:solidFill>
                            <a:srgbClr val="0070C0"/>
                          </a:solidFill>
                          <a:effectLst/>
                          <a:latin typeface="+mn-lt"/>
                          <a:ea typeface="+mn-ea"/>
                          <a:cs typeface="+mn-cs"/>
                        </a:rPr>
                        <a:t>st</a:t>
                      </a:r>
                      <a:r>
                        <a:rPr lang="en-US" sz="900" b="1" i="0" u="none" strike="noStrike" kern="1200" noProof="0">
                          <a:solidFill>
                            <a:srgbClr val="0070C0"/>
                          </a:solidFill>
                          <a:effectLst/>
                          <a:latin typeface="+mn-lt"/>
                          <a:ea typeface="+mn-ea"/>
                          <a:cs typeface="+mn-cs"/>
                        </a:rPr>
                        <a:t> May 2026</a:t>
                      </a:r>
                      <a:endParaRPr lang="en-US" sz="900" b="1" i="0" u="none" strike="noStrike" kern="1200">
                        <a:solidFill>
                          <a:srgbClr val="0070C0"/>
                        </a:solidFill>
                        <a:effectLst/>
                        <a:latin typeface="+mn-lt"/>
                        <a:ea typeface="+mn-ea"/>
                        <a:cs typeface="+mn-cs"/>
                      </a:endParaRPr>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marL="0" lvl="0" indent="0" algn="l">
                        <a:lnSpc>
                          <a:spcPct val="100000"/>
                        </a:lnSpc>
                        <a:spcBef>
                          <a:spcPts val="0"/>
                        </a:spcBef>
                        <a:spcAft>
                          <a:spcPts val="0"/>
                        </a:spcAft>
                        <a:buNone/>
                      </a:pPr>
                      <a:endParaRPr lang="en-US" sz="900" b="1" i="0" u="none" strike="noStrike" kern="1200" noProof="0">
                        <a:solidFill>
                          <a:srgbClr val="0070C0"/>
                        </a:solidFill>
                        <a:latin typeface="+mn-lt"/>
                      </a:endParaRPr>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lvl="0" algn="l">
                        <a:lnSpc>
                          <a:spcPct val="100000"/>
                        </a:lnSpc>
                        <a:spcBef>
                          <a:spcPts val="0"/>
                        </a:spcBef>
                        <a:spcAft>
                          <a:spcPts val="0"/>
                        </a:spcAft>
                        <a:buNone/>
                      </a:pPr>
                      <a:r>
                        <a:rPr lang="en-US" sz="900" b="0" i="0" u="none" strike="noStrike" kern="1200" noProof="0">
                          <a:solidFill>
                            <a:schemeClr val="tx1"/>
                          </a:solidFill>
                          <a:latin typeface="+mn-lt"/>
                          <a:ea typeface="+mn-ea"/>
                          <a:cs typeface="Segoe UI"/>
                        </a:rPr>
                        <a:t>Phase 3 of the Slot Adherence Dashboard reduces manual effort through automated alerts and delivers 18–20 hours of monthly productivity gains with deeper rotation-level insights.</a:t>
                      </a:r>
                      <a:endParaRPr lang="en-US" sz="900" b="0" i="0" u="none" strike="noStrike" kern="1200">
                        <a:solidFill>
                          <a:schemeClr val="tx1"/>
                        </a:solidFill>
                        <a:latin typeface="+mn-lt"/>
                        <a:ea typeface="+mn-ea"/>
                        <a:cs typeface="Segoe UI"/>
                      </a:endParaRPr>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66970743"/>
                  </a:ext>
                </a:extLst>
              </a:tr>
              <a:tr h="543143">
                <a:tc>
                  <a:txBody>
                    <a:bodyPr/>
                    <a:lstStyle/>
                    <a:p>
                      <a:pPr marL="0" lvl="0" indent="0" algn="l" defTabSz="914400">
                        <a:lnSpc>
                          <a:spcPct val="100000"/>
                        </a:lnSpc>
                        <a:spcBef>
                          <a:spcPts val="0"/>
                        </a:spcBef>
                        <a:spcAft>
                          <a:spcPts val="0"/>
                        </a:spcAft>
                        <a:buNone/>
                      </a:pPr>
                      <a:r>
                        <a:rPr lang="en-US" sz="900" b="1" i="0" u="none" strike="noStrike" kern="1200">
                          <a:solidFill>
                            <a:srgbClr val="0070C0"/>
                          </a:solidFill>
                          <a:effectLst/>
                          <a:latin typeface="+mn-lt"/>
                          <a:ea typeface="+mn-ea"/>
                          <a:cs typeface="+mn-cs"/>
                        </a:rPr>
                        <a:t>CAE MM 10.6.10 Upgrade</a:t>
                      </a:r>
                    </a:p>
                    <a:p>
                      <a:pPr marL="0" lvl="0" indent="0" algn="l" defTabSz="914400">
                        <a:lnSpc>
                          <a:spcPct val="100000"/>
                        </a:lnSpc>
                        <a:spcBef>
                          <a:spcPts val="0"/>
                        </a:spcBef>
                        <a:spcAft>
                          <a:spcPts val="0"/>
                        </a:spcAft>
                        <a:buNone/>
                      </a:pPr>
                      <a:r>
                        <a:rPr lang="en-US" sz="900" b="1" i="0" u="none" strike="noStrike" kern="1200">
                          <a:solidFill>
                            <a:srgbClr val="0070C0"/>
                          </a:solidFill>
                          <a:effectLst/>
                          <a:latin typeface="+mn-lt"/>
                          <a:ea typeface="+mn-ea"/>
                          <a:cs typeface="+mn-cs"/>
                        </a:rPr>
                        <a:t>Go Live: 15th May 2026</a:t>
                      </a:r>
                    </a:p>
                    <a:p>
                      <a:pPr marL="0" lvl="0" indent="0" algn="l">
                        <a:lnSpc>
                          <a:spcPct val="100000"/>
                        </a:lnSpc>
                        <a:spcBef>
                          <a:spcPts val="0"/>
                        </a:spcBef>
                        <a:spcAft>
                          <a:spcPts val="0"/>
                        </a:spcAft>
                        <a:buNone/>
                      </a:pPr>
                      <a:r>
                        <a:rPr lang="en-US" sz="900" b="1" i="0" u="none" strike="noStrike" kern="1200" noProof="0">
                          <a:solidFill>
                            <a:srgbClr val="0070C0"/>
                          </a:solidFill>
                          <a:effectLst/>
                          <a:latin typeface="Nunito Sans"/>
                          <a:ea typeface="+mn-ea"/>
                          <a:cs typeface="+mn-cs"/>
                        </a:rPr>
                        <a:t>Actual Go Live : 20th May 2026</a:t>
                      </a:r>
                      <a:endParaRPr lang="en-US"/>
                    </a:p>
                  </a:txBody>
                  <a:tcP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lvl="0" indent="0" algn="l">
                        <a:lnSpc>
                          <a:spcPct val="100000"/>
                        </a:lnSpc>
                        <a:spcBef>
                          <a:spcPts val="0"/>
                        </a:spcBef>
                        <a:spcAft>
                          <a:spcPts val="0"/>
                        </a:spcAft>
                        <a:buNone/>
                      </a:pPr>
                      <a:endParaRPr lang="en-US" sz="900" b="1" i="0" u="none" strike="noStrike" kern="1200" noProof="0">
                        <a:solidFill>
                          <a:srgbClr val="0070C0"/>
                        </a:solidFill>
                        <a:latin typeface="+mn-lt"/>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lvl="0" algn="just">
                        <a:lnSpc>
                          <a:spcPct val="100000"/>
                        </a:lnSpc>
                        <a:spcBef>
                          <a:spcPts val="0"/>
                        </a:spcBef>
                        <a:spcAft>
                          <a:spcPts val="0"/>
                        </a:spcAft>
                        <a:buNone/>
                      </a:pPr>
                      <a:r>
                        <a:rPr lang="en-US" sz="900" b="0" i="0" u="none" strike="noStrike" kern="1200" noProof="0">
                          <a:solidFill>
                            <a:schemeClr val="tx1"/>
                          </a:solidFill>
                          <a:latin typeface="+mn-lt"/>
                          <a:ea typeface="+mn-ea"/>
                          <a:cs typeface="Segoe UI"/>
                        </a:rPr>
                        <a:t>Offers a comprehensive view of the entire fleet, reduces manual data entry. ​</a:t>
                      </a:r>
                    </a:p>
                    <a:p>
                      <a:pPr lvl="0" algn="just">
                        <a:lnSpc>
                          <a:spcPct val="100000"/>
                        </a:lnSpc>
                        <a:spcBef>
                          <a:spcPts val="0"/>
                        </a:spcBef>
                        <a:spcAft>
                          <a:spcPts val="0"/>
                        </a:spcAft>
                        <a:buNone/>
                      </a:pPr>
                      <a:r>
                        <a:rPr lang="en-US" sz="900" b="0" i="0" u="none" strike="noStrike" kern="1200" noProof="0">
                          <a:solidFill>
                            <a:schemeClr val="tx1"/>
                          </a:solidFill>
                          <a:latin typeface="+mn-lt"/>
                          <a:ea typeface="+mn-ea"/>
                          <a:cs typeface="Segoe UI"/>
                        </a:rPr>
                        <a:t>Provides additional functionalities and changes in layout of flight pucks, new message format for sending details to CAE FPM. </a:t>
                      </a:r>
                      <a:r>
                        <a:rPr lang="en-US" sz="900" b="0" i="0" u="none" strike="noStrike" kern="1200" noProof="0">
                          <a:solidFill>
                            <a:schemeClr val="tx1"/>
                          </a:solidFill>
                        </a:rPr>
                        <a:t>Enhance performance to support large airlines in AMDM Integration for the Crew Domain.</a:t>
                      </a:r>
                    </a:p>
                  </a:txBody>
                  <a:tcPr>
                    <a:lnL w="6350" cap="flat" cmpd="sng" algn="ctr">
                      <a:solidFill>
                        <a:schemeClr val="bg1">
                          <a:lumMod val="75000"/>
                        </a:schemeClr>
                      </a:solidFill>
                      <a:prstDash val="solid"/>
                      <a:round/>
                      <a:headEnd type="none" w="med" len="med"/>
                      <a:tailEnd type="none" w="med" len="med"/>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62732955"/>
                  </a:ext>
                </a:extLst>
              </a:tr>
              <a:tr h="543143">
                <a:tc>
                  <a:txBody>
                    <a:bodyPr/>
                    <a:lstStyle/>
                    <a:p>
                      <a:pPr marL="0" lvl="0" indent="0" algn="l">
                        <a:lnSpc>
                          <a:spcPct val="100000"/>
                        </a:lnSpc>
                        <a:buNone/>
                      </a:pPr>
                      <a:r>
                        <a:rPr lang="en-US" sz="900" b="1" i="0" u="none" strike="noStrike" kern="1200" baseline="0" noProof="0">
                          <a:solidFill>
                            <a:srgbClr val="0070C0"/>
                          </a:solidFill>
                          <a:effectLst/>
                          <a:latin typeface="Nunito Sans"/>
                          <a:ea typeface="+mn-ea"/>
                          <a:cs typeface="+mn-cs"/>
                        </a:rPr>
                        <a:t>[Adhoc] Schedule comparison tool (SM-MM) - PHASE 2</a:t>
                      </a:r>
                      <a:endParaRPr lang="en-US">
                        <a:solidFill>
                          <a:srgbClr val="0070C0"/>
                        </a:solidFill>
                      </a:endParaRPr>
                    </a:p>
                    <a:p>
                      <a:pPr marL="0" lvl="0" indent="0" algn="l" defTabSz="914400" rtl="0" eaLnBrk="1" latinLnBrk="0" hangingPunct="1">
                        <a:lnSpc>
                          <a:spcPct val="100000"/>
                        </a:lnSpc>
                        <a:spcBef>
                          <a:spcPts val="0"/>
                        </a:spcBef>
                        <a:spcAft>
                          <a:spcPts val="0"/>
                        </a:spcAft>
                        <a:buNone/>
                      </a:pPr>
                      <a:r>
                        <a:rPr lang="en-US" sz="900" b="1" i="0" u="none" strike="noStrike" kern="1200" noProof="0">
                          <a:solidFill>
                            <a:srgbClr val="0070C0"/>
                          </a:solidFill>
                          <a:effectLst/>
                          <a:latin typeface="+mn-lt"/>
                          <a:ea typeface="+mn-ea"/>
                          <a:cs typeface="+mn-cs"/>
                        </a:rPr>
                        <a:t>Go Live: 20th May 2026</a:t>
                      </a:r>
                    </a:p>
                    <a:p>
                      <a:pPr marL="0" lvl="0" indent="0" algn="l" rtl="0" eaLnBrk="1" latinLnBrk="0" hangingPunct="1">
                        <a:lnSpc>
                          <a:spcPct val="100000"/>
                        </a:lnSpc>
                        <a:spcBef>
                          <a:spcPts val="0"/>
                        </a:spcBef>
                        <a:spcAft>
                          <a:spcPts val="0"/>
                        </a:spcAft>
                        <a:buNone/>
                      </a:pPr>
                      <a:r>
                        <a:rPr lang="en-US" sz="900" b="1" i="0" u="none" strike="noStrike" kern="1200" noProof="0">
                          <a:solidFill>
                            <a:srgbClr val="0070C0"/>
                          </a:solidFill>
                          <a:effectLst/>
                          <a:latin typeface="+mn-lt"/>
                          <a:ea typeface="+mn-ea"/>
                          <a:cs typeface="+mn-cs"/>
                        </a:rPr>
                        <a:t>Actual Go Live: 20th May 2026</a:t>
                      </a:r>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tc>
                  <a:txBody>
                    <a:bodyPr/>
                    <a:lstStyle/>
                    <a:p>
                      <a:pPr marL="0" lvl="0" indent="0" algn="l">
                        <a:lnSpc>
                          <a:spcPct val="100000"/>
                        </a:lnSpc>
                        <a:spcBef>
                          <a:spcPts val="0"/>
                        </a:spcBef>
                        <a:spcAft>
                          <a:spcPts val="0"/>
                        </a:spcAft>
                        <a:buNone/>
                      </a:pPr>
                      <a:endParaRPr lang="en-US" sz="900" b="1" i="0" u="none" strike="noStrike" kern="1200" noProof="0">
                        <a:solidFill>
                          <a:srgbClr val="0070C0"/>
                        </a:solidFill>
                        <a:latin typeface="+mn-lt"/>
                      </a:endParaRPr>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tc>
                  <a:txBody>
                    <a:bodyPr/>
                    <a:lstStyle/>
                    <a:p>
                      <a:pPr lvl="0" algn="just">
                        <a:lnSpc>
                          <a:spcPct val="100000"/>
                        </a:lnSpc>
                        <a:spcBef>
                          <a:spcPts val="0"/>
                        </a:spcBef>
                        <a:spcAft>
                          <a:spcPts val="0"/>
                        </a:spcAft>
                        <a:buNone/>
                      </a:pPr>
                      <a:r>
                        <a:rPr lang="en-US" sz="900" b="0" i="0" u="none" strike="noStrike" kern="1200" noProof="0">
                          <a:solidFill>
                            <a:schemeClr val="tx1"/>
                          </a:solidFill>
                        </a:rPr>
                        <a:t>Adding schedule time and </a:t>
                      </a:r>
                      <a:r>
                        <a:rPr lang="en-US" sz="900" b="0" i="0" u="none" strike="noStrike" kern="1200" noProof="0" err="1">
                          <a:solidFill>
                            <a:schemeClr val="tx1"/>
                          </a:solidFill>
                        </a:rPr>
                        <a:t>subfleet</a:t>
                      </a:r>
                      <a:r>
                        <a:rPr lang="en-US" sz="900" b="0" i="0" u="none" strike="noStrike" kern="1200" noProof="0">
                          <a:solidFill>
                            <a:schemeClr val="tx1"/>
                          </a:solidFill>
                        </a:rPr>
                        <a:t> validation improves schedule accuracy, flags mismatches early, reduces manual effort, and strengthens operational efficiency.</a:t>
                      </a:r>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extLst>
                  <a:ext uri="{0D108BD9-81ED-4DB2-BD59-A6C34878D82A}">
                    <a16:rowId xmlns:a16="http://schemas.microsoft.com/office/drawing/2014/main" val="1524994996"/>
                  </a:ext>
                </a:extLst>
              </a:tr>
              <a:tr h="716487">
                <a:tc>
                  <a:txBody>
                    <a:bodyPr/>
                    <a:lstStyle/>
                    <a:p>
                      <a:pPr algn="l" rtl="0" fontAlgn="base">
                        <a:lnSpc>
                          <a:spcPts val="1425"/>
                        </a:lnSpc>
                        <a:buNone/>
                      </a:pPr>
                      <a:r>
                        <a:rPr lang="en-US" sz="900" b="1" i="0" u="none" strike="noStrike">
                          <a:solidFill>
                            <a:srgbClr val="0070C0"/>
                          </a:solidFill>
                          <a:effectLst/>
                          <a:latin typeface="+mn-lt"/>
                        </a:rPr>
                        <a:t>Jeppesen Dead Head Optimisation and Assignment in JCR for AIX</a:t>
                      </a:r>
                      <a:r>
                        <a:rPr lang="en-US" sz="900" b="0" i="0">
                          <a:solidFill>
                            <a:srgbClr val="0070C0"/>
                          </a:solidFill>
                          <a:effectLst/>
                          <a:latin typeface="+mn-lt"/>
                        </a:rPr>
                        <a:t>​</a:t>
                      </a:r>
                    </a:p>
                    <a:p>
                      <a:pPr algn="l" rtl="0" fontAlgn="base">
                        <a:lnSpc>
                          <a:spcPts val="1425"/>
                        </a:lnSpc>
                        <a:buNone/>
                      </a:pPr>
                      <a:r>
                        <a:rPr lang="en-US" sz="900" b="0" i="0">
                          <a:solidFill>
                            <a:srgbClr val="0070C0"/>
                          </a:solidFill>
                          <a:effectLst/>
                          <a:latin typeface="+mn-lt"/>
                        </a:rPr>
                        <a:t>​</a:t>
                      </a:r>
                      <a:r>
                        <a:rPr lang="en-US" sz="900" b="1" i="0" u="none" strike="noStrike">
                          <a:solidFill>
                            <a:srgbClr val="0070C0"/>
                          </a:solidFill>
                          <a:effectLst/>
                          <a:latin typeface="+mn-lt"/>
                        </a:rPr>
                        <a:t>Go Live: 26th May 26</a:t>
                      </a:r>
                      <a:r>
                        <a:rPr lang="en-US" sz="900" b="0" i="0">
                          <a:solidFill>
                            <a:srgbClr val="0070C0"/>
                          </a:solidFill>
                          <a:effectLst/>
                          <a:latin typeface="+mn-lt"/>
                        </a:rPr>
                        <a:t>​</a:t>
                      </a:r>
                    </a:p>
                  </a:txBody>
                  <a:tcP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a:solidFill>
                        <a:schemeClr val="bg1">
                          <a:lumMod val="75000"/>
                        </a:schemeClr>
                      </a:solidFill>
                    </a:lnB>
                    <a:noFill/>
                  </a:tcPr>
                </a:tc>
                <a:tc>
                  <a:txBody>
                    <a:bodyPr/>
                    <a:lstStyle/>
                    <a:p>
                      <a:pPr marL="0" lvl="0" indent="0" algn="l">
                        <a:lnSpc>
                          <a:spcPts val="1425"/>
                        </a:lnSpc>
                        <a:buClr>
                          <a:srgbClr val="000000"/>
                        </a:buClr>
                        <a:buNone/>
                      </a:pPr>
                      <a:r>
                        <a:rPr lang="en-US" sz="900" b="1" i="0" u="none" strike="noStrike" noProof="0">
                          <a:solidFill>
                            <a:srgbClr val="0070C0"/>
                          </a:solidFill>
                          <a:effectLst/>
                          <a:latin typeface="+mn-lt"/>
                        </a:rPr>
                        <a:t>Jeppesen Pairing and Rostering for AIX</a:t>
                      </a:r>
                      <a:endParaRPr lang="en-US">
                        <a:solidFill>
                          <a:srgbClr val="0070C0"/>
                        </a:solidFill>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a:solidFill>
                        <a:schemeClr val="bg1">
                          <a:lumMod val="75000"/>
                        </a:schemeClr>
                      </a:solidFill>
                    </a:lnB>
                    <a:noFill/>
                  </a:tcPr>
                </a:tc>
                <a:tc>
                  <a:txBody>
                    <a:bodyPr/>
                    <a:lstStyle/>
                    <a:p>
                      <a:pPr algn="l" rtl="0" fontAlgn="base">
                        <a:lnSpc>
                          <a:spcPts val="1425"/>
                        </a:lnSpc>
                        <a:buNone/>
                      </a:pPr>
                      <a:r>
                        <a:rPr lang="en-US" sz="900" b="0" i="0" u="none" strike="noStrike">
                          <a:solidFill>
                            <a:srgbClr val="000000"/>
                          </a:solidFill>
                          <a:effectLst/>
                          <a:latin typeface="+mn-lt"/>
                        </a:rPr>
                        <a:t>AIX currently executes approximately </a:t>
                      </a:r>
                      <a:r>
                        <a:rPr lang="en-US" sz="900" b="1" i="0" u="none" strike="noStrike">
                          <a:solidFill>
                            <a:srgbClr val="000000"/>
                          </a:solidFill>
                          <a:effectLst/>
                          <a:latin typeface="+mn-lt"/>
                        </a:rPr>
                        <a:t>1,250 manual deadhead assignments each month</a:t>
                      </a:r>
                      <a:r>
                        <a:rPr lang="en-US" sz="900" b="0" i="0" u="none" strike="noStrike">
                          <a:solidFill>
                            <a:srgbClr val="000000"/>
                          </a:solidFill>
                          <a:effectLst/>
                          <a:latin typeface="+mn-lt"/>
                        </a:rPr>
                        <a:t>, consuming nearly </a:t>
                      </a:r>
                      <a:r>
                        <a:rPr lang="en-US" sz="900" b="1" i="0" u="none" strike="noStrike">
                          <a:solidFill>
                            <a:srgbClr val="000000"/>
                          </a:solidFill>
                          <a:effectLst/>
                          <a:latin typeface="+mn-lt"/>
                        </a:rPr>
                        <a:t>60 man‑hours</a:t>
                      </a:r>
                      <a:r>
                        <a:rPr lang="en-US" sz="900" b="0" i="0" u="none" strike="noStrike">
                          <a:solidFill>
                            <a:srgbClr val="000000"/>
                          </a:solidFill>
                          <a:effectLst/>
                          <a:latin typeface="+mn-lt"/>
                        </a:rPr>
                        <a:t> and creating operational inefficiencies. Automating and optimizing these assignments through </a:t>
                      </a:r>
                      <a:r>
                        <a:rPr lang="en-US" sz="900" b="1" i="0" u="none" strike="noStrike">
                          <a:solidFill>
                            <a:srgbClr val="000000"/>
                          </a:solidFill>
                          <a:effectLst/>
                          <a:latin typeface="+mn-lt"/>
                        </a:rPr>
                        <a:t>Jeppesen</a:t>
                      </a:r>
                      <a:r>
                        <a:rPr lang="en-US" sz="900" b="0" i="0" u="none" strike="noStrike">
                          <a:solidFill>
                            <a:srgbClr val="000000"/>
                          </a:solidFill>
                          <a:effectLst/>
                          <a:latin typeface="+mn-lt"/>
                        </a:rPr>
                        <a:t> will significantly reduce manual workload, improve accuracy, and deliver measurable cost savings while enhancing overall crew‑planning productivity.</a:t>
                      </a:r>
                      <a:r>
                        <a:rPr lang="en-US" sz="900" b="0" i="0">
                          <a:solidFill>
                            <a:srgbClr val="000000"/>
                          </a:solidFill>
                          <a:effectLst/>
                          <a:latin typeface="+mn-lt"/>
                        </a:rPr>
                        <a:t>​</a:t>
                      </a:r>
                    </a:p>
                  </a:txBody>
                  <a:tcPr>
                    <a:lnL w="6350" cap="flat" cmpd="sng" algn="ctr">
                      <a:solidFill>
                        <a:schemeClr val="bg1">
                          <a:lumMod val="75000"/>
                        </a:schemeClr>
                      </a:solidFill>
                      <a:prstDash val="solid"/>
                      <a:round/>
                      <a:headEnd type="none" w="med" len="med"/>
                      <a:tailEnd type="none" w="med" len="med"/>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a:solidFill>
                        <a:schemeClr val="bg1">
                          <a:lumMod val="75000"/>
                        </a:schemeClr>
                      </a:solidFill>
                    </a:lnB>
                    <a:noFill/>
                  </a:tcPr>
                </a:tc>
                <a:extLst>
                  <a:ext uri="{0D108BD9-81ED-4DB2-BD59-A6C34878D82A}">
                    <a16:rowId xmlns:a16="http://schemas.microsoft.com/office/drawing/2014/main" val="2845872150"/>
                  </a:ext>
                </a:extLst>
              </a:tr>
              <a:tr h="716487">
                <a:tc>
                  <a:txBody>
                    <a:bodyPr/>
                    <a:lstStyle/>
                    <a:p>
                      <a:pPr algn="l" rtl="0" fontAlgn="base">
                        <a:lnSpc>
                          <a:spcPts val="1425"/>
                        </a:lnSpc>
                        <a:buNone/>
                      </a:pPr>
                      <a:r>
                        <a:rPr lang="en-US" sz="900" b="1" i="0" u="none" strike="noStrike">
                          <a:solidFill>
                            <a:srgbClr val="0070C0"/>
                          </a:solidFill>
                          <a:effectLst/>
                          <a:latin typeface="+mn-lt"/>
                        </a:rPr>
                        <a:t>Jeppesen FD Trainer Lifestyle Bidding Enhancement</a:t>
                      </a:r>
                      <a:r>
                        <a:rPr lang="en-US" sz="900" b="0" i="0">
                          <a:solidFill>
                            <a:srgbClr val="0070C0"/>
                          </a:solidFill>
                          <a:effectLst/>
                          <a:latin typeface="+mn-lt"/>
                        </a:rPr>
                        <a:t>​</a:t>
                      </a:r>
                    </a:p>
                    <a:p>
                      <a:pPr algn="l" rtl="0" fontAlgn="base">
                        <a:lnSpc>
                          <a:spcPts val="1425"/>
                        </a:lnSpc>
                        <a:buNone/>
                      </a:pPr>
                      <a:r>
                        <a:rPr lang="en-US" sz="900" b="1" i="0" u="none" strike="noStrike">
                          <a:solidFill>
                            <a:srgbClr val="0070C0"/>
                          </a:solidFill>
                          <a:effectLst/>
                          <a:latin typeface="+mn-lt"/>
                        </a:rPr>
                        <a:t>Go Live: 26th May 26</a:t>
                      </a:r>
                      <a:r>
                        <a:rPr lang="en-US" sz="900" b="0" i="0">
                          <a:solidFill>
                            <a:srgbClr val="0070C0"/>
                          </a:solidFill>
                          <a:effectLst/>
                          <a:latin typeface="+mn-lt"/>
                        </a:rPr>
                        <a:t>​</a:t>
                      </a:r>
                    </a:p>
                  </a:txBody>
                  <a:tcP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a:solidFill>
                        <a:schemeClr val="bg1">
                          <a:lumMod val="75000"/>
                        </a:schemeClr>
                      </a:solidFill>
                    </a:lnB>
                    <a:noFill/>
                  </a:tcPr>
                </a:tc>
                <a:tc>
                  <a:txBody>
                    <a:bodyPr/>
                    <a:lstStyle/>
                    <a:p>
                      <a:pPr marL="0" lvl="0" indent="0" algn="l">
                        <a:lnSpc>
                          <a:spcPts val="1425"/>
                        </a:lnSpc>
                        <a:buClr>
                          <a:srgbClr val="000000"/>
                        </a:buClr>
                        <a:buNone/>
                      </a:pPr>
                      <a:r>
                        <a:rPr lang="en-US" sz="900" b="1" i="0" u="none" strike="noStrike" noProof="0">
                          <a:solidFill>
                            <a:srgbClr val="0070C0"/>
                          </a:solidFill>
                          <a:effectLst/>
                          <a:latin typeface="+mn-lt"/>
                        </a:rPr>
                        <a:t>Jeppesen Pairing and Rostering Lifestyle Bidding</a:t>
                      </a:r>
                      <a:endParaRPr lang="en-US" sz="900" b="0" i="0" u="none" strike="noStrike" noProof="0">
                        <a:solidFill>
                          <a:srgbClr val="0070C0"/>
                        </a:solidFill>
                        <a:effectLst/>
                        <a:latin typeface="+mn-lt"/>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a:solidFill>
                        <a:schemeClr val="bg1">
                          <a:lumMod val="75000"/>
                        </a:schemeClr>
                      </a:solidFill>
                    </a:lnB>
                    <a:noFill/>
                  </a:tcPr>
                </a:tc>
                <a:tc>
                  <a:txBody>
                    <a:bodyPr/>
                    <a:lstStyle/>
                    <a:p>
                      <a:pPr algn="l" rtl="0" fontAlgn="base">
                        <a:lnSpc>
                          <a:spcPts val="1425"/>
                        </a:lnSpc>
                        <a:buNone/>
                      </a:pPr>
                      <a:r>
                        <a:rPr lang="en-US" sz="900" b="0" i="0" u="none" strike="noStrike">
                          <a:solidFill>
                            <a:srgbClr val="000000"/>
                          </a:solidFill>
                          <a:effectLst/>
                          <a:latin typeface="+mn-lt"/>
                        </a:rPr>
                        <a:t>This will significantly improve </a:t>
                      </a:r>
                      <a:r>
                        <a:rPr lang="en-US" sz="900" b="1" i="0" u="none" strike="noStrike">
                          <a:solidFill>
                            <a:srgbClr val="000000"/>
                          </a:solidFill>
                          <a:effectLst/>
                          <a:latin typeface="+mn-lt"/>
                        </a:rPr>
                        <a:t>operational reliability</a:t>
                      </a:r>
                      <a:r>
                        <a:rPr lang="en-US" sz="900" b="0" i="0" u="none" strike="noStrike">
                          <a:solidFill>
                            <a:srgbClr val="000000"/>
                          </a:solidFill>
                          <a:effectLst/>
                          <a:latin typeface="+mn-lt"/>
                        </a:rPr>
                        <a:t>, </a:t>
                      </a:r>
                      <a:r>
                        <a:rPr lang="en-US" sz="900" b="1" i="0" u="none" strike="noStrike">
                          <a:solidFill>
                            <a:srgbClr val="000000"/>
                          </a:solidFill>
                          <a:effectLst/>
                          <a:latin typeface="+mn-lt"/>
                        </a:rPr>
                        <a:t>compliance</a:t>
                      </a:r>
                      <a:r>
                        <a:rPr lang="en-US" sz="900" b="0" i="0" u="none" strike="noStrike">
                          <a:solidFill>
                            <a:srgbClr val="000000"/>
                          </a:solidFill>
                          <a:effectLst/>
                          <a:latin typeface="+mn-lt"/>
                        </a:rPr>
                        <a:t>, and </a:t>
                      </a:r>
                      <a:r>
                        <a:rPr lang="en-US" sz="900" b="1" i="0" u="none" strike="noStrike">
                          <a:solidFill>
                            <a:srgbClr val="000000"/>
                          </a:solidFill>
                          <a:effectLst/>
                          <a:latin typeface="+mn-lt"/>
                        </a:rPr>
                        <a:t>planner productivity</a:t>
                      </a:r>
                      <a:r>
                        <a:rPr lang="en-US" sz="900" b="0" i="0" u="none" strike="noStrike">
                          <a:solidFill>
                            <a:srgbClr val="000000"/>
                          </a:solidFill>
                          <a:effectLst/>
                          <a:latin typeface="+mn-lt"/>
                        </a:rPr>
                        <a:t> across Crew Planning and Rostering by delivering:</a:t>
                      </a:r>
                      <a:r>
                        <a:rPr lang="en-US" sz="900" b="0" i="0">
                          <a:solidFill>
                            <a:srgbClr val="000000"/>
                          </a:solidFill>
                          <a:effectLst/>
                          <a:latin typeface="+mn-lt"/>
                        </a:rPr>
                        <a:t>​</a:t>
                      </a:r>
                    </a:p>
                    <a:p>
                      <a:pPr marL="171450" indent="-171450" algn="l" rtl="0" fontAlgn="base">
                        <a:lnSpc>
                          <a:spcPts val="1425"/>
                        </a:lnSpc>
                        <a:buFont typeface="Arial" panose="020B0604020202020204" pitchFamily="34" charset="0"/>
                        <a:buChar char="•"/>
                      </a:pPr>
                      <a:r>
                        <a:rPr lang="en-US" sz="900" b="1" i="0" u="none" strike="noStrike">
                          <a:solidFill>
                            <a:srgbClr val="000000"/>
                          </a:solidFill>
                          <a:effectLst/>
                          <a:latin typeface="+mn-lt"/>
                        </a:rPr>
                        <a:t>Improved Trainer Flight Bid Satisfaction</a:t>
                      </a:r>
                      <a:r>
                        <a:rPr lang="en-US" sz="900" b="0" i="0">
                          <a:solidFill>
                            <a:srgbClr val="000000"/>
                          </a:solidFill>
                          <a:effectLst/>
                          <a:latin typeface="+mn-lt"/>
                        </a:rPr>
                        <a:t>​</a:t>
                      </a:r>
                    </a:p>
                    <a:p>
                      <a:pPr marL="171450" indent="-171450" algn="l" rtl="0" fontAlgn="base">
                        <a:lnSpc>
                          <a:spcPts val="1425"/>
                        </a:lnSpc>
                        <a:buFont typeface="Arial" panose="020B0604020202020204" pitchFamily="34" charset="0"/>
                        <a:buChar char="•"/>
                      </a:pPr>
                      <a:r>
                        <a:rPr lang="en-US" sz="900" b="1" i="0" u="none" strike="noStrike">
                          <a:solidFill>
                            <a:srgbClr val="000000"/>
                          </a:solidFill>
                          <a:effectLst/>
                          <a:latin typeface="+mn-lt"/>
                        </a:rPr>
                        <a:t>Fair and transparent distribution of Trainer Flight Bids</a:t>
                      </a:r>
                      <a:r>
                        <a:rPr lang="en-US" sz="900" b="0" i="0">
                          <a:solidFill>
                            <a:srgbClr val="000000"/>
                          </a:solidFill>
                          <a:effectLst/>
                          <a:latin typeface="+mn-lt"/>
                        </a:rPr>
                        <a:t>​</a:t>
                      </a:r>
                    </a:p>
                    <a:p>
                      <a:pPr marL="171450" indent="-171450" algn="l" rtl="0" fontAlgn="base">
                        <a:lnSpc>
                          <a:spcPts val="1425"/>
                        </a:lnSpc>
                        <a:buFont typeface="Arial" panose="020B0604020202020204" pitchFamily="34" charset="0"/>
                        <a:buChar char="•"/>
                      </a:pPr>
                      <a:r>
                        <a:rPr lang="en-US" sz="900" b="1" i="0" u="none" strike="noStrike">
                          <a:solidFill>
                            <a:srgbClr val="000000"/>
                          </a:solidFill>
                          <a:effectLst/>
                          <a:latin typeface="+mn-lt"/>
                        </a:rPr>
                        <a:t>Greater overall operational stability</a:t>
                      </a:r>
                      <a:r>
                        <a:rPr lang="en-US" sz="900" b="0" i="0">
                          <a:solidFill>
                            <a:srgbClr val="000000"/>
                          </a:solidFill>
                          <a:effectLst/>
                          <a:latin typeface="+mn-lt"/>
                        </a:rPr>
                        <a:t>​</a:t>
                      </a:r>
                    </a:p>
                  </a:txBody>
                  <a:tcPr>
                    <a:lnL w="6350" cap="flat" cmpd="sng" algn="ctr">
                      <a:solidFill>
                        <a:schemeClr val="bg1">
                          <a:lumMod val="75000"/>
                        </a:schemeClr>
                      </a:solidFill>
                      <a:prstDash val="solid"/>
                      <a:round/>
                      <a:headEnd type="none" w="med" len="med"/>
                      <a:tailEnd type="none" w="med" len="med"/>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a:solidFill>
                        <a:schemeClr val="bg1">
                          <a:lumMod val="75000"/>
                        </a:schemeClr>
                      </a:solidFill>
                    </a:lnB>
                    <a:noFill/>
                  </a:tcPr>
                </a:tc>
                <a:extLst>
                  <a:ext uri="{0D108BD9-81ED-4DB2-BD59-A6C34878D82A}">
                    <a16:rowId xmlns:a16="http://schemas.microsoft.com/office/drawing/2014/main" val="3102250750"/>
                  </a:ext>
                </a:extLst>
              </a:tr>
              <a:tr h="496919">
                <a:tc>
                  <a:txBody>
                    <a:bodyPr/>
                    <a:lstStyle/>
                    <a:p>
                      <a:pPr lvl="0" algn="l">
                        <a:lnSpc>
                          <a:spcPts val="1425"/>
                        </a:lnSpc>
                        <a:buNone/>
                      </a:pPr>
                      <a:r>
                        <a:rPr lang="en-US" sz="900" b="1" i="0" u="none" strike="noStrike" kern="1200">
                          <a:solidFill>
                            <a:srgbClr val="0070C0"/>
                          </a:solidFill>
                          <a:effectLst/>
                          <a:latin typeface="+mn-lt"/>
                          <a:ea typeface="+mn-ea"/>
                          <a:cs typeface="+mn-cs"/>
                        </a:rPr>
                        <a:t>[Adhoc] </a:t>
                      </a:r>
                      <a:r>
                        <a:rPr lang="en-US" sz="900" b="1" i="0" u="none" strike="noStrike" kern="1200" noProof="0">
                          <a:solidFill>
                            <a:srgbClr val="0070C0"/>
                          </a:solidFill>
                          <a:effectLst/>
                          <a:latin typeface="+mn-lt"/>
                          <a:ea typeface="+mn-ea"/>
                          <a:cs typeface="+mn-cs"/>
                        </a:rPr>
                        <a:t>DGCA CAR Change for Para 13.3</a:t>
                      </a:r>
                    </a:p>
                    <a:p>
                      <a:pPr lvl="0" algn="l">
                        <a:lnSpc>
                          <a:spcPts val="1425"/>
                        </a:lnSpc>
                        <a:buNone/>
                      </a:pPr>
                      <a:r>
                        <a:rPr lang="en-US" sz="900" b="1" i="0" u="none" strike="noStrike" kern="1200" noProof="0">
                          <a:solidFill>
                            <a:srgbClr val="0070C0"/>
                          </a:solidFill>
                          <a:effectLst/>
                          <a:latin typeface="+mn-lt"/>
                          <a:ea typeface="+mn-ea"/>
                          <a:cs typeface="+mn-cs"/>
                        </a:rPr>
                        <a:t>Go Live : 26th May 26</a:t>
                      </a:r>
                      <a:r>
                        <a:rPr lang="en-US" sz="900" b="0" i="0" u="none" strike="noStrike" kern="1200" noProof="0">
                          <a:solidFill>
                            <a:srgbClr val="0070C0"/>
                          </a:solidFill>
                          <a:effectLst/>
                          <a:latin typeface="+mn-lt"/>
                          <a:ea typeface="+mn-ea"/>
                          <a:cs typeface="+mn-cs"/>
                        </a:rPr>
                        <a:t> </a:t>
                      </a:r>
                      <a:endParaRPr lang="en-US" sz="900">
                        <a:solidFill>
                          <a:srgbClr val="0070C0"/>
                        </a:solidFill>
                        <a:latin typeface="+mn-lt"/>
                      </a:endParaRPr>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tc>
                  <a:txBody>
                    <a:bodyPr/>
                    <a:lstStyle/>
                    <a:p>
                      <a:pPr marL="0" lvl="0" indent="0" algn="l">
                        <a:lnSpc>
                          <a:spcPts val="1425"/>
                        </a:lnSpc>
                        <a:buNone/>
                      </a:pPr>
                      <a:r>
                        <a:rPr lang="en-US" sz="900" b="1" i="0" u="none" strike="noStrike" kern="1200">
                          <a:solidFill>
                            <a:srgbClr val="0070C0"/>
                          </a:solidFill>
                          <a:effectLst/>
                          <a:latin typeface="+mn-lt"/>
                          <a:ea typeface="+mn-ea"/>
                          <a:cs typeface="+mn-cs"/>
                        </a:rPr>
                        <a:t>Jeppesen Roster Optimiser</a:t>
                      </a:r>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tc>
                  <a:txBody>
                    <a:bodyPr/>
                    <a:lstStyle/>
                    <a:p>
                      <a:pPr marL="0" lvl="0" indent="0" algn="l">
                        <a:lnSpc>
                          <a:spcPts val="1425"/>
                        </a:lnSpc>
                        <a:buNone/>
                      </a:pPr>
                      <a:r>
                        <a:rPr lang="en-US" sz="900" b="0" i="0" u="none" strike="noStrike" noProof="0">
                          <a:solidFill>
                            <a:srgbClr val="000000"/>
                          </a:solidFill>
                          <a:effectLst/>
                          <a:latin typeface="+mn-lt"/>
                        </a:rPr>
                        <a:t>DGCA regulatory requirement to produce legal rosters in Jeppesen.</a:t>
                      </a:r>
                      <a:endParaRPr lang="en-US" sz="900" b="0" i="0">
                        <a:solidFill>
                          <a:srgbClr val="000000"/>
                        </a:solidFill>
                        <a:effectLst/>
                        <a:latin typeface="+mn-lt"/>
                      </a:endParaRPr>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extLst>
                  <a:ext uri="{0D108BD9-81ED-4DB2-BD59-A6C34878D82A}">
                    <a16:rowId xmlns:a16="http://schemas.microsoft.com/office/drawing/2014/main" val="2325582439"/>
                  </a:ext>
                </a:extLst>
              </a:tr>
            </a:tbl>
          </a:graphicData>
        </a:graphic>
      </p:graphicFrame>
      <p:sp>
        <p:nvSpPr>
          <p:cNvPr id="4" name="Rectangle 3">
            <a:extLst>
              <a:ext uri="{FF2B5EF4-FFF2-40B4-BE49-F238E27FC236}">
                <a16:creationId xmlns:a16="http://schemas.microsoft.com/office/drawing/2014/main" id="{BDDF684F-8273-22E0-865F-1A75F6A97704}"/>
              </a:ext>
            </a:extLst>
          </p:cNvPr>
          <p:cNvSpPr/>
          <p:nvPr/>
        </p:nvSpPr>
        <p:spPr>
          <a:xfrm>
            <a:off x="1188132" y="6671592"/>
            <a:ext cx="90000" cy="90000"/>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5" name="Rectangle 4">
            <a:extLst>
              <a:ext uri="{FF2B5EF4-FFF2-40B4-BE49-F238E27FC236}">
                <a16:creationId xmlns:a16="http://schemas.microsoft.com/office/drawing/2014/main" id="{FFF18927-0915-E0F6-985A-75B8BAFE794D}"/>
              </a:ext>
            </a:extLst>
          </p:cNvPr>
          <p:cNvSpPr/>
          <p:nvPr/>
        </p:nvSpPr>
        <p:spPr>
          <a:xfrm>
            <a:off x="2265818" y="6670554"/>
            <a:ext cx="90000" cy="90000"/>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7" name="Rectangle 6">
            <a:extLst>
              <a:ext uri="{FF2B5EF4-FFF2-40B4-BE49-F238E27FC236}">
                <a16:creationId xmlns:a16="http://schemas.microsoft.com/office/drawing/2014/main" id="{10CFDD26-9DAF-8DCD-35D7-5C5E7A377849}"/>
              </a:ext>
            </a:extLst>
          </p:cNvPr>
          <p:cNvSpPr/>
          <p:nvPr/>
        </p:nvSpPr>
        <p:spPr>
          <a:xfrm>
            <a:off x="3443423" y="6671592"/>
            <a:ext cx="90000" cy="90000"/>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8" name="Rectangle 7">
            <a:extLst>
              <a:ext uri="{FF2B5EF4-FFF2-40B4-BE49-F238E27FC236}">
                <a16:creationId xmlns:a16="http://schemas.microsoft.com/office/drawing/2014/main" id="{BA012D3D-3FA5-3409-0A12-C68302E98627}"/>
              </a:ext>
            </a:extLst>
          </p:cNvPr>
          <p:cNvSpPr/>
          <p:nvPr/>
        </p:nvSpPr>
        <p:spPr>
          <a:xfrm>
            <a:off x="8146052" y="6714097"/>
            <a:ext cx="90000" cy="90000"/>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9" name="TextBox 15">
            <a:extLst>
              <a:ext uri="{FF2B5EF4-FFF2-40B4-BE49-F238E27FC236}">
                <a16:creationId xmlns:a16="http://schemas.microsoft.com/office/drawing/2014/main" id="{D6461941-BEC5-98A6-A10E-A775A567BAC2}"/>
              </a:ext>
            </a:extLst>
          </p:cNvPr>
          <p:cNvSpPr txBox="1"/>
          <p:nvPr/>
        </p:nvSpPr>
        <p:spPr>
          <a:xfrm>
            <a:off x="1288983" y="6614743"/>
            <a:ext cx="857245"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0070C0"/>
                </a:solidFill>
                <a:effectLst/>
                <a:uLnTx/>
                <a:uFillTx/>
                <a:latin typeface="Nunito Sans"/>
                <a:ea typeface="+mn-ea"/>
                <a:cs typeface="+mn-cs"/>
              </a:rPr>
              <a:t>Delivered</a:t>
            </a:r>
            <a:endParaRPr kumimoji="0" lang="en-IN" sz="1000" b="0" i="0" u="none" strike="noStrike" kern="1200" cap="none" spc="0" normalizeH="0" baseline="0" noProof="0">
              <a:ln>
                <a:noFill/>
              </a:ln>
              <a:solidFill>
                <a:srgbClr val="000000"/>
              </a:solidFill>
              <a:effectLst/>
              <a:uLnTx/>
              <a:uFillTx/>
              <a:latin typeface="Nunito Sans"/>
              <a:ea typeface="+mn-ea"/>
              <a:cs typeface="+mn-cs"/>
            </a:endParaRPr>
          </a:p>
        </p:txBody>
      </p:sp>
      <p:sp>
        <p:nvSpPr>
          <p:cNvPr id="10" name="TextBox 18">
            <a:extLst>
              <a:ext uri="{FF2B5EF4-FFF2-40B4-BE49-F238E27FC236}">
                <a16:creationId xmlns:a16="http://schemas.microsoft.com/office/drawing/2014/main" id="{23CEFF84-FB27-8C68-4C89-F1C37756157D}"/>
              </a:ext>
            </a:extLst>
          </p:cNvPr>
          <p:cNvSpPr txBox="1"/>
          <p:nvPr/>
        </p:nvSpPr>
        <p:spPr>
          <a:xfrm>
            <a:off x="2310642" y="6611102"/>
            <a:ext cx="1032881"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00B050"/>
                </a:solidFill>
                <a:effectLst/>
                <a:uLnTx/>
                <a:uFillTx/>
                <a:latin typeface="Nunito Sans"/>
                <a:ea typeface="+mn-ea"/>
                <a:cs typeface="+mn-cs"/>
              </a:rPr>
              <a:t>Ontrack</a:t>
            </a:r>
            <a:endParaRPr kumimoji="0" lang="en-IN" sz="1000" b="0" i="0" u="none" strike="noStrike" kern="1200" cap="none" spc="0" normalizeH="0" baseline="0" noProof="0">
              <a:ln>
                <a:noFill/>
              </a:ln>
              <a:solidFill>
                <a:srgbClr val="000000"/>
              </a:solidFill>
              <a:effectLst/>
              <a:uLnTx/>
              <a:uFillTx/>
              <a:latin typeface="Nunito Sans"/>
              <a:ea typeface="+mn-ea"/>
              <a:cs typeface="+mn-cs"/>
            </a:endParaRPr>
          </a:p>
        </p:txBody>
      </p:sp>
      <p:sp>
        <p:nvSpPr>
          <p:cNvPr id="11" name="TextBox 20">
            <a:extLst>
              <a:ext uri="{FF2B5EF4-FFF2-40B4-BE49-F238E27FC236}">
                <a16:creationId xmlns:a16="http://schemas.microsoft.com/office/drawing/2014/main" id="{8DE85DAC-4CAD-452C-345F-A9DABF71F2D0}"/>
              </a:ext>
            </a:extLst>
          </p:cNvPr>
          <p:cNvSpPr txBox="1"/>
          <p:nvPr/>
        </p:nvSpPr>
        <p:spPr>
          <a:xfrm>
            <a:off x="3539606" y="6608370"/>
            <a:ext cx="2257628"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FED9A0">
                    <a:lumMod val="75000"/>
                  </a:srgbClr>
                </a:solidFill>
                <a:effectLst/>
                <a:uLnTx/>
                <a:uFillTx/>
                <a:latin typeface="Nunito Sans"/>
                <a:ea typeface="+mn-ea"/>
                <a:cs typeface="+mn-cs"/>
              </a:rPr>
              <a:t>Under delay and can be recovered</a:t>
            </a:r>
            <a:endParaRPr kumimoji="0" lang="en-IN" sz="1000" b="0" i="0" u="none" strike="noStrike" kern="1200" cap="none" spc="0" normalizeH="0" baseline="0" noProof="0">
              <a:ln>
                <a:noFill/>
              </a:ln>
              <a:solidFill>
                <a:srgbClr val="000000"/>
              </a:solidFill>
              <a:effectLst/>
              <a:uLnTx/>
              <a:uFillTx/>
              <a:latin typeface="Nunito Sans"/>
              <a:ea typeface="+mn-ea"/>
              <a:cs typeface="+mn-cs"/>
            </a:endParaRPr>
          </a:p>
        </p:txBody>
      </p:sp>
      <p:sp>
        <p:nvSpPr>
          <p:cNvPr id="13" name="TextBox 22">
            <a:extLst>
              <a:ext uri="{FF2B5EF4-FFF2-40B4-BE49-F238E27FC236}">
                <a16:creationId xmlns:a16="http://schemas.microsoft.com/office/drawing/2014/main" id="{4ECF4B18-84B3-36EA-F313-B2F2FEC2695C}"/>
              </a:ext>
            </a:extLst>
          </p:cNvPr>
          <p:cNvSpPr txBox="1"/>
          <p:nvPr/>
        </p:nvSpPr>
        <p:spPr>
          <a:xfrm>
            <a:off x="8246937" y="6618126"/>
            <a:ext cx="2338222"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FF0000"/>
                </a:solidFill>
                <a:effectLst/>
                <a:uLnTx/>
                <a:uFillTx/>
                <a:latin typeface="Nunito Sans"/>
                <a:ea typeface="+mn-ea"/>
                <a:cs typeface="+mn-cs"/>
              </a:rPr>
              <a:t>Delayed and pushed to next release</a:t>
            </a:r>
          </a:p>
        </p:txBody>
      </p:sp>
      <p:sp>
        <p:nvSpPr>
          <p:cNvPr id="15" name="TextBox 14">
            <a:extLst>
              <a:ext uri="{FF2B5EF4-FFF2-40B4-BE49-F238E27FC236}">
                <a16:creationId xmlns:a16="http://schemas.microsoft.com/office/drawing/2014/main" id="{FE5BE963-7A75-CB2F-E6BF-4F16B1F19488}"/>
              </a:ext>
            </a:extLst>
          </p:cNvPr>
          <p:cNvSpPr txBox="1"/>
          <p:nvPr/>
        </p:nvSpPr>
        <p:spPr>
          <a:xfrm>
            <a:off x="6454369" y="6611638"/>
            <a:ext cx="2743200"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IN" sz="1000">
                <a:solidFill>
                  <a:srgbClr val="7D7D7D"/>
                </a:solidFill>
              </a:rPr>
              <a:t>Descoped</a:t>
            </a:r>
            <a:endParaRPr lang="en-US"/>
          </a:p>
        </p:txBody>
      </p:sp>
      <p:sp>
        <p:nvSpPr>
          <p:cNvPr id="16" name="Rectangle 15">
            <a:extLst>
              <a:ext uri="{FF2B5EF4-FFF2-40B4-BE49-F238E27FC236}">
                <a16:creationId xmlns:a16="http://schemas.microsoft.com/office/drawing/2014/main" id="{FF9637A1-3A63-FF7B-FA0E-3F8A4027F791}"/>
              </a:ext>
            </a:extLst>
          </p:cNvPr>
          <p:cNvSpPr/>
          <p:nvPr/>
        </p:nvSpPr>
        <p:spPr>
          <a:xfrm>
            <a:off x="6360794" y="6681439"/>
            <a:ext cx="90000" cy="90000"/>
          </a:xfrm>
          <a:prstGeom prst="rect">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Tree>
    <p:extLst>
      <p:ext uri="{BB962C8B-B14F-4D97-AF65-F5344CB8AC3E}">
        <p14:creationId xmlns:p14="http://schemas.microsoft.com/office/powerpoint/2010/main" val="15164327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688FD6-0CDB-B288-9F75-E4C02E8FADB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A021252-AAEA-5ECB-FAD5-D049CA6B6736}"/>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3A41A254-7326-714E-AF55-4C213D6394DE}" type="slidenum">
              <a:rPr kumimoji="0" lang="en-US" sz="1200" b="0" i="0" u="none" strike="noStrike" kern="1200" cap="none" spc="0" normalizeH="0" baseline="0" noProof="0" smtClean="0">
                <a:ln>
                  <a:noFill/>
                </a:ln>
                <a:solidFill>
                  <a:srgbClr val="DA0E28"/>
                </a:solidFill>
                <a:effectLst/>
                <a:uLnTx/>
                <a:uFillTx/>
                <a:latin typeface="Nunito Sans"/>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srgbClr val="DA0E28"/>
              </a:solidFill>
              <a:effectLst/>
              <a:uLnTx/>
              <a:uFillTx/>
              <a:latin typeface="Nunito Sans"/>
              <a:ea typeface="+mn-ea"/>
              <a:cs typeface="+mn-cs"/>
            </a:endParaRPr>
          </a:p>
        </p:txBody>
      </p:sp>
      <p:sp>
        <p:nvSpPr>
          <p:cNvPr id="3" name="Rectangle 2">
            <a:extLst>
              <a:ext uri="{FF2B5EF4-FFF2-40B4-BE49-F238E27FC236}">
                <a16:creationId xmlns:a16="http://schemas.microsoft.com/office/drawing/2014/main" id="{45B9BF51-7374-1E7E-F832-C58F38300A40}"/>
              </a:ext>
            </a:extLst>
          </p:cNvPr>
          <p:cNvSpPr/>
          <p:nvPr/>
        </p:nvSpPr>
        <p:spPr>
          <a:xfrm>
            <a:off x="129077" y="610471"/>
            <a:ext cx="1170432" cy="42234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400" b="1">
                <a:solidFill>
                  <a:srgbClr val="FFFFFF"/>
                </a:solidFill>
                <a:latin typeface="AirIndia"/>
              </a:rPr>
              <a:t>June</a:t>
            </a:r>
            <a:r>
              <a:rPr kumimoji="0" lang="en-IN" sz="1400" b="1" i="0" u="none" strike="noStrike" kern="1200" cap="none" spc="0" normalizeH="0" baseline="0" noProof="0">
                <a:ln>
                  <a:noFill/>
                </a:ln>
                <a:solidFill>
                  <a:srgbClr val="FFFFFF"/>
                </a:solidFill>
                <a:effectLst/>
                <a:uLnTx/>
                <a:uFillTx/>
                <a:latin typeface="AirIndia"/>
                <a:ea typeface="+mn-ea"/>
                <a:cs typeface="+mn-cs"/>
              </a:rPr>
              <a:t> ‘</a:t>
            </a:r>
            <a:r>
              <a:rPr lang="en-IN" sz="1400" b="1">
                <a:solidFill>
                  <a:srgbClr val="FFFFFF"/>
                </a:solidFill>
                <a:latin typeface="AirIndia"/>
              </a:rPr>
              <a:t>26</a:t>
            </a:r>
            <a:endParaRPr kumimoji="0" lang="en-US" sz="1400" b="1" i="0" u="none" strike="noStrike" kern="1200" cap="none" spc="0" normalizeH="0" baseline="0" noProof="0">
              <a:ln>
                <a:noFill/>
              </a:ln>
              <a:solidFill>
                <a:srgbClr val="FFFFFF"/>
              </a:solidFill>
              <a:effectLst/>
              <a:uLnTx/>
              <a:uFillTx/>
              <a:latin typeface="AirIndia"/>
              <a:ea typeface="+mn-ea"/>
              <a:cs typeface="+mn-cs"/>
            </a:endParaRPr>
          </a:p>
        </p:txBody>
      </p:sp>
      <p:sp>
        <p:nvSpPr>
          <p:cNvPr id="6" name="Title 11">
            <a:extLst>
              <a:ext uri="{FF2B5EF4-FFF2-40B4-BE49-F238E27FC236}">
                <a16:creationId xmlns:a16="http://schemas.microsoft.com/office/drawing/2014/main" id="{4533BCF4-DE62-E7EA-6E48-2551091BE436}"/>
              </a:ext>
            </a:extLst>
          </p:cNvPr>
          <p:cNvSpPr txBox="1">
            <a:spLocks/>
          </p:cNvSpPr>
          <p:nvPr/>
        </p:nvSpPr>
        <p:spPr>
          <a:xfrm>
            <a:off x="253743" y="182023"/>
            <a:ext cx="7702602" cy="430255"/>
          </a:xfrm>
          <a:prstGeom prst="rect">
            <a:avLst/>
          </a:prstGeom>
        </p:spPr>
        <p:txBody>
          <a:bodyPr lIns="91440" tIns="45720" rIns="91440" bIns="45720" anchor="t">
            <a:noAutofit/>
          </a:bodyPr>
          <a:lstStyle>
            <a:lvl1pPr algn="l" defTabSz="914400" rtl="0" eaLnBrk="1" latinLnBrk="0" hangingPunct="1">
              <a:lnSpc>
                <a:spcPct val="90000"/>
              </a:lnSpc>
              <a:spcBef>
                <a:spcPct val="0"/>
              </a:spcBef>
              <a:buNone/>
              <a:defRPr sz="4400" b="1" i="0" kern="1200">
                <a:solidFill>
                  <a:schemeClr val="tx1"/>
                </a:solidFill>
                <a:latin typeface="AirIndia" pitchFamily="82" charset="77"/>
                <a:ea typeface="+mj-ea"/>
                <a:cs typeface="+mj-cs"/>
              </a:defRPr>
            </a:lvl1pPr>
          </a:lstStyle>
          <a:p>
            <a:pPr>
              <a:defRPr/>
            </a:pPr>
            <a:r>
              <a:rPr lang="en-US" sz="1800">
                <a:solidFill>
                  <a:srgbClr val="DA0E28"/>
                </a:solidFill>
                <a:latin typeface="AirIndia"/>
              </a:rPr>
              <a:t>Operations Tech </a:t>
            </a:r>
            <a:r>
              <a:rPr kumimoji="0" lang="en-US" sz="1800" b="1" i="0" u="none" strike="noStrike" kern="1200" cap="none" spc="0" normalizeH="0" baseline="0" noProof="0">
                <a:ln>
                  <a:noFill/>
                </a:ln>
                <a:solidFill>
                  <a:srgbClr val="DA0E28"/>
                </a:solidFill>
                <a:effectLst/>
                <a:uLnTx/>
                <a:uFillTx/>
                <a:latin typeface="AirIndia"/>
                <a:ea typeface="+mj-ea"/>
                <a:cs typeface="+mj-cs"/>
              </a:rPr>
              <a:t>- </a:t>
            </a:r>
            <a:r>
              <a:rPr lang="en-US" sz="1800">
                <a:solidFill>
                  <a:srgbClr val="DA0E28"/>
                </a:solidFill>
                <a:latin typeface="AirIndia"/>
              </a:rPr>
              <a:t>FY26-27 </a:t>
            </a:r>
            <a:r>
              <a:rPr kumimoji="0" lang="en-US" sz="1800" b="1" i="0" u="none" strike="noStrike" kern="1200" cap="none" spc="0" normalizeH="0" baseline="0" noProof="0">
                <a:ln>
                  <a:noFill/>
                </a:ln>
                <a:solidFill>
                  <a:srgbClr val="DA0E28"/>
                </a:solidFill>
                <a:effectLst/>
                <a:uLnTx/>
                <a:uFillTx/>
                <a:latin typeface="AirIndia"/>
                <a:ea typeface="+mj-ea"/>
                <a:cs typeface="+mj-cs"/>
              </a:rPr>
              <a:t>Q1 Release Plan</a:t>
            </a:r>
            <a:endParaRPr lang="en-US" sz="1800" b="0">
              <a:solidFill>
                <a:srgbClr val="000000"/>
              </a:solidFill>
              <a:latin typeface="AirIndia"/>
            </a:endParaRPr>
          </a:p>
          <a:p>
            <a:pPr>
              <a:defRPr/>
            </a:pPr>
            <a:endParaRPr lang="en-US" sz="1800" i="0" u="none" strike="noStrike" kern="1200" cap="none" spc="0" normalizeH="0" baseline="0" noProof="0">
              <a:ln>
                <a:noFill/>
              </a:ln>
              <a:solidFill>
                <a:srgbClr val="DA0E28"/>
              </a:solidFill>
              <a:effectLst/>
              <a:uLnTx/>
              <a:uFillTx/>
              <a:latin typeface="AirIndia"/>
            </a:endParaRPr>
          </a:p>
        </p:txBody>
      </p:sp>
      <p:graphicFrame>
        <p:nvGraphicFramePr>
          <p:cNvPr id="12" name="Table 11">
            <a:extLst>
              <a:ext uri="{FF2B5EF4-FFF2-40B4-BE49-F238E27FC236}">
                <a16:creationId xmlns:a16="http://schemas.microsoft.com/office/drawing/2014/main" id="{71E90098-7BCD-7B8C-0ED9-BE1E6EF536F6}"/>
              </a:ext>
            </a:extLst>
          </p:cNvPr>
          <p:cNvGraphicFramePr>
            <a:graphicFrameLocks noGrp="1"/>
          </p:cNvGraphicFramePr>
          <p:nvPr>
            <p:extLst>
              <p:ext uri="{D42A27DB-BD31-4B8C-83A1-F6EECF244321}">
                <p14:modId xmlns:p14="http://schemas.microsoft.com/office/powerpoint/2010/main" val="1441747651"/>
              </p:ext>
            </p:extLst>
          </p:nvPr>
        </p:nvGraphicFramePr>
        <p:xfrm>
          <a:off x="1299509" y="608827"/>
          <a:ext cx="10763414" cy="5855907"/>
        </p:xfrm>
        <a:graphic>
          <a:graphicData uri="http://schemas.openxmlformats.org/drawingml/2006/table">
            <a:tbl>
              <a:tblPr firstRow="1" bandRow="1">
                <a:tableStyleId>{5C22544A-7EE6-4342-B048-85BDC9FD1C3A}</a:tableStyleId>
              </a:tblPr>
              <a:tblGrid>
                <a:gridCol w="2614765">
                  <a:extLst>
                    <a:ext uri="{9D8B030D-6E8A-4147-A177-3AD203B41FA5}">
                      <a16:colId xmlns:a16="http://schemas.microsoft.com/office/drawing/2014/main" val="2822350773"/>
                    </a:ext>
                  </a:extLst>
                </a:gridCol>
                <a:gridCol w="1443789">
                  <a:extLst>
                    <a:ext uri="{9D8B030D-6E8A-4147-A177-3AD203B41FA5}">
                      <a16:colId xmlns:a16="http://schemas.microsoft.com/office/drawing/2014/main" val="1843387359"/>
                    </a:ext>
                  </a:extLst>
                </a:gridCol>
                <a:gridCol w="6704860">
                  <a:extLst>
                    <a:ext uri="{9D8B030D-6E8A-4147-A177-3AD203B41FA5}">
                      <a16:colId xmlns:a16="http://schemas.microsoft.com/office/drawing/2014/main" val="99588705"/>
                    </a:ext>
                  </a:extLst>
                </a:gridCol>
              </a:tblGrid>
              <a:tr h="469883">
                <a:tc>
                  <a:txBody>
                    <a:bodyPr/>
                    <a:lstStyle/>
                    <a:p>
                      <a:pPr marL="0" lvl="0" indent="0" algn="ctr" defTabSz="914400" rtl="0">
                        <a:lnSpc>
                          <a:spcPct val="100000"/>
                        </a:lnSpc>
                        <a:buFont typeface="Arial" panose="020B0604020202020204" pitchFamily="34" charset="0"/>
                        <a:buNone/>
                      </a:pPr>
                      <a:r>
                        <a:rPr lang="en-IN" sz="1100" b="1" kern="1200">
                          <a:solidFill>
                            <a:schemeClr val="bg1"/>
                          </a:solidFill>
                          <a:latin typeface="+mn-lt"/>
                          <a:ea typeface="+mn-ea"/>
                          <a:cs typeface="+mn-cs"/>
                        </a:rPr>
                        <a:t>Initiatives</a:t>
                      </a:r>
                      <a:endParaRPr lang="en-US" sz="1100" b="1"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tc>
                  <a:txBody>
                    <a:bodyPr/>
                    <a:lstStyle/>
                    <a:p>
                      <a:pPr marL="0" lvl="0" indent="0" algn="ctr" defTabSz="914400">
                        <a:lnSpc>
                          <a:spcPct val="100000"/>
                        </a:lnSpc>
                        <a:buNone/>
                      </a:pPr>
                      <a:r>
                        <a:rPr lang="en-IN" sz="1100" b="1" i="0" u="none" strike="noStrike" kern="1200" noProof="0">
                          <a:solidFill>
                            <a:schemeClr val="bg1"/>
                          </a:solidFill>
                          <a:latin typeface="Nunito Sans"/>
                          <a:ea typeface="+mn-ea"/>
                          <a:cs typeface="+mn-cs"/>
                        </a:rPr>
                        <a:t>Programs/Project</a:t>
                      </a:r>
                      <a:endParaRPr lang="en-US"/>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tc>
                  <a:txBody>
                    <a:bodyPr/>
                    <a:lstStyle/>
                    <a:p>
                      <a:pPr marL="0" lvl="0" indent="0" algn="ctr">
                        <a:lnSpc>
                          <a:spcPct val="100000"/>
                        </a:lnSpc>
                        <a:buNone/>
                      </a:pPr>
                      <a:endParaRPr lang="en-IN" sz="1100" b="1" i="0" u="none" strike="noStrike" kern="1200" baseline="0" noProof="0">
                        <a:solidFill>
                          <a:srgbClr val="FFFFFF"/>
                        </a:solidFill>
                        <a:latin typeface="Nunito Sans"/>
                      </a:endParaRPr>
                    </a:p>
                    <a:p>
                      <a:pPr marL="0" lvl="0" indent="0" algn="ctr">
                        <a:lnSpc>
                          <a:spcPct val="100000"/>
                        </a:lnSpc>
                        <a:buNone/>
                      </a:pPr>
                      <a:r>
                        <a:rPr lang="en-IN" sz="1100" b="1" i="0" u="none" strike="noStrike" kern="1200" baseline="0" noProof="0">
                          <a:solidFill>
                            <a:srgbClr val="FFFFFF"/>
                          </a:solidFill>
                          <a:latin typeface="Nunito Sans"/>
                        </a:rPr>
                        <a:t>Value Justification/Realization</a:t>
                      </a:r>
                    </a:p>
                    <a:p>
                      <a:pPr marL="0" lvl="0" indent="0" algn="ctr" defTabSz="914400">
                        <a:buFont typeface="Arial" panose="020B0604020202020204" pitchFamily="34" charset="0"/>
                        <a:buNone/>
                      </a:pPr>
                      <a:endParaRPr lang="en-IN" sz="1100"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extLst>
                  <a:ext uri="{0D108BD9-81ED-4DB2-BD59-A6C34878D82A}">
                    <a16:rowId xmlns:a16="http://schemas.microsoft.com/office/drawing/2014/main" val="844450115"/>
                  </a:ext>
                </a:extLst>
              </a:tr>
              <a:tr h="289159">
                <a:tc>
                  <a:txBody>
                    <a:bodyPr/>
                    <a:lstStyle/>
                    <a:p>
                      <a:pPr marL="0" lvl="0" indent="0" algn="l" defTabSz="914400" rtl="0" eaLnBrk="1" latinLnBrk="0" hangingPunct="1">
                        <a:lnSpc>
                          <a:spcPts val="1425"/>
                        </a:lnSpc>
                        <a:spcBef>
                          <a:spcPts val="0"/>
                        </a:spcBef>
                        <a:spcAft>
                          <a:spcPts val="0"/>
                        </a:spcAft>
                        <a:buNone/>
                      </a:pPr>
                      <a:r>
                        <a:rPr lang="en-US" sz="900" b="1" i="0" u="none" strike="noStrike" kern="1200" noProof="0">
                          <a:solidFill>
                            <a:srgbClr val="0070C0"/>
                          </a:solidFill>
                          <a:effectLst/>
                          <a:latin typeface="+mn-lt"/>
                          <a:ea typeface="+mn-ea"/>
                          <a:cs typeface="+mn-cs"/>
                        </a:rPr>
                        <a:t>DMS in-house Development Phase 2</a:t>
                      </a:r>
                    </a:p>
                    <a:p>
                      <a:pPr marL="0" lvl="0" indent="0" algn="l" defTabSz="914400" rtl="0" eaLnBrk="1" latinLnBrk="0" hangingPunct="1">
                        <a:lnSpc>
                          <a:spcPts val="1425"/>
                        </a:lnSpc>
                        <a:spcBef>
                          <a:spcPts val="0"/>
                        </a:spcBef>
                        <a:spcAft>
                          <a:spcPts val="0"/>
                        </a:spcAft>
                        <a:buNone/>
                      </a:pPr>
                      <a:r>
                        <a:rPr lang="en-US" sz="900" b="1" i="0" u="none" strike="noStrike" kern="1200" noProof="0">
                          <a:solidFill>
                            <a:srgbClr val="0070C0"/>
                          </a:solidFill>
                          <a:effectLst/>
                          <a:latin typeface="+mn-lt"/>
                          <a:ea typeface="+mn-ea"/>
                          <a:cs typeface="+mn-cs"/>
                        </a:rPr>
                        <a:t>Go Live: 1st June 2026</a:t>
                      </a:r>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tc>
                  <a:txBody>
                    <a:bodyPr/>
                    <a:lstStyle/>
                    <a:p>
                      <a:pPr marL="228600" lvl="0" indent="-228600" algn="l">
                        <a:lnSpc>
                          <a:spcPct val="100000"/>
                        </a:lnSpc>
                        <a:spcBef>
                          <a:spcPts val="0"/>
                        </a:spcBef>
                        <a:spcAft>
                          <a:spcPts val="0"/>
                        </a:spcAft>
                        <a:buAutoNum type="arabicPeriod"/>
                      </a:pPr>
                      <a:endParaRPr lang="en-US" sz="900" b="1" i="0" u="none" strike="noStrike" kern="1200" noProof="0">
                        <a:solidFill>
                          <a:schemeClr val="tx1"/>
                        </a:solidFill>
                        <a:latin typeface="+mn-lt"/>
                      </a:endParaRPr>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tc>
                  <a:txBody>
                    <a:bodyPr/>
                    <a:lstStyle/>
                    <a:p>
                      <a:pPr marL="0" lvl="0" indent="0" algn="l">
                        <a:lnSpc>
                          <a:spcPct val="100000"/>
                        </a:lnSpc>
                        <a:spcBef>
                          <a:spcPts val="0"/>
                        </a:spcBef>
                        <a:spcAft>
                          <a:spcPts val="0"/>
                        </a:spcAft>
                        <a:buNone/>
                      </a:pPr>
                      <a:r>
                        <a:rPr lang="en-US" sz="900" b="0" i="0" u="none" strike="noStrike" kern="1200" noProof="0">
                          <a:solidFill>
                            <a:schemeClr val="tx1"/>
                          </a:solidFill>
                        </a:rPr>
                        <a:t>Deployment of Watermark rollback due to Audit constraints</a:t>
                      </a:r>
                      <a:endParaRPr lang="en-US"/>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extLst>
                  <a:ext uri="{0D108BD9-81ED-4DB2-BD59-A6C34878D82A}">
                    <a16:rowId xmlns:a16="http://schemas.microsoft.com/office/drawing/2014/main" val="276077021"/>
                  </a:ext>
                </a:extLst>
              </a:tr>
              <a:tr h="289159">
                <a:tc>
                  <a:txBody>
                    <a:bodyPr/>
                    <a:lstStyle/>
                    <a:p>
                      <a:pPr marL="0" lvl="0" indent="0" algn="l">
                        <a:lnSpc>
                          <a:spcPct val="100000"/>
                        </a:lnSpc>
                        <a:spcBef>
                          <a:spcPts val="0"/>
                        </a:spcBef>
                        <a:spcAft>
                          <a:spcPts val="0"/>
                        </a:spcAft>
                        <a:buClr>
                          <a:srgbClr val="000000"/>
                        </a:buClr>
                        <a:buNone/>
                      </a:pPr>
                      <a:r>
                        <a:rPr lang="en-US" sz="900" b="1" i="0" u="none" strike="noStrike" kern="1200" noProof="0">
                          <a:solidFill>
                            <a:srgbClr val="FF0000"/>
                          </a:solidFill>
                          <a:effectLst/>
                          <a:latin typeface="+mn-lt"/>
                          <a:ea typeface="+mn-ea"/>
                          <a:cs typeface="+mn-cs"/>
                        </a:rPr>
                        <a:t>CMTS</a:t>
                      </a:r>
                    </a:p>
                    <a:p>
                      <a:pPr marL="0" lvl="0" indent="0" algn="l">
                        <a:lnSpc>
                          <a:spcPct val="100000"/>
                        </a:lnSpc>
                        <a:spcBef>
                          <a:spcPts val="0"/>
                        </a:spcBef>
                        <a:spcAft>
                          <a:spcPts val="0"/>
                        </a:spcAft>
                        <a:buClr>
                          <a:srgbClr val="000000"/>
                        </a:buClr>
                        <a:buNone/>
                      </a:pPr>
                      <a:r>
                        <a:rPr lang="en-US" sz="900" b="1" i="0" u="none" strike="noStrike" kern="1200" noProof="0">
                          <a:solidFill>
                            <a:srgbClr val="FF0000"/>
                          </a:solidFill>
                          <a:effectLst/>
                          <a:latin typeface="+mn-lt"/>
                          <a:ea typeface="+mn-ea"/>
                          <a:cs typeface="+mn-cs"/>
                        </a:rPr>
                        <a:t>Go Live : 5th  June 2026</a:t>
                      </a:r>
                    </a:p>
                  </a:txBody>
                  <a:tcP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228600" lvl="0" indent="-228600" algn="l">
                        <a:lnSpc>
                          <a:spcPct val="100000"/>
                        </a:lnSpc>
                        <a:spcBef>
                          <a:spcPts val="0"/>
                        </a:spcBef>
                        <a:spcAft>
                          <a:spcPts val="0"/>
                        </a:spcAft>
                        <a:buAutoNum type="arabicPeriod"/>
                      </a:pPr>
                      <a:endParaRPr lang="en-US" sz="900" b="1" i="0" u="none" strike="noStrike" kern="1200" noProof="0">
                        <a:solidFill>
                          <a:schemeClr val="tx1"/>
                        </a:solidFill>
                        <a:latin typeface="+mn-lt"/>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lvl="0" indent="0" algn="l">
                        <a:lnSpc>
                          <a:spcPct val="100000"/>
                        </a:lnSpc>
                        <a:spcBef>
                          <a:spcPts val="0"/>
                        </a:spcBef>
                        <a:spcAft>
                          <a:spcPts val="0"/>
                        </a:spcAft>
                        <a:buNone/>
                      </a:pPr>
                      <a:r>
                        <a:rPr lang="en-US" sz="900" b="0" i="0" u="none" strike="noStrike" kern="1200">
                          <a:solidFill>
                            <a:schemeClr val="tx1"/>
                          </a:solidFill>
                          <a:latin typeface="+mn-lt"/>
                          <a:ea typeface="+mn-ea"/>
                          <a:cs typeface="Segoe UI"/>
                        </a:rPr>
                        <a:t>Robust training planning module implementation as part of error free operations</a:t>
                      </a:r>
                    </a:p>
                  </a:txBody>
                  <a:tcPr>
                    <a:lnL w="6350" cap="flat" cmpd="sng" algn="ctr">
                      <a:solidFill>
                        <a:schemeClr val="bg1">
                          <a:lumMod val="75000"/>
                        </a:schemeClr>
                      </a:solidFill>
                      <a:prstDash val="solid"/>
                      <a:round/>
                      <a:headEnd type="none" w="med" len="med"/>
                      <a:tailEnd type="none" w="med" len="med"/>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115069882"/>
                  </a:ext>
                </a:extLst>
              </a:tr>
              <a:tr h="289159">
                <a:tc>
                  <a:txBody>
                    <a:bodyPr/>
                    <a:lstStyle/>
                    <a:p>
                      <a:pPr marL="0" lvl="0" indent="0" algn="l" defTabSz="914400" rtl="0" eaLnBrk="1" latinLnBrk="0" hangingPunct="1">
                        <a:lnSpc>
                          <a:spcPct val="100000"/>
                        </a:lnSpc>
                        <a:spcBef>
                          <a:spcPts val="0"/>
                        </a:spcBef>
                        <a:spcAft>
                          <a:spcPts val="0"/>
                        </a:spcAft>
                        <a:buClr>
                          <a:srgbClr val="000000"/>
                        </a:buClr>
                        <a:buNone/>
                      </a:pPr>
                      <a:r>
                        <a:rPr lang="en-US" sz="900" b="1" i="0" u="none" strike="noStrike" kern="1200" noProof="0">
                          <a:solidFill>
                            <a:schemeClr val="bg1">
                              <a:lumMod val="65000"/>
                            </a:schemeClr>
                          </a:solidFill>
                          <a:latin typeface="+mn-lt"/>
                          <a:ea typeface="+mn-ea"/>
                          <a:cs typeface="+mn-cs"/>
                        </a:rPr>
                        <a:t>RM Ops Phase 2</a:t>
                      </a:r>
                    </a:p>
                    <a:p>
                      <a:pPr marL="0" lvl="0" indent="0" algn="l" defTabSz="914400" rtl="0" eaLnBrk="1" latinLnBrk="0" hangingPunct="1">
                        <a:lnSpc>
                          <a:spcPct val="100000"/>
                        </a:lnSpc>
                        <a:spcBef>
                          <a:spcPts val="0"/>
                        </a:spcBef>
                        <a:spcAft>
                          <a:spcPts val="0"/>
                        </a:spcAft>
                        <a:buClr>
                          <a:srgbClr val="000000"/>
                        </a:buClr>
                        <a:buNone/>
                      </a:pPr>
                      <a:r>
                        <a:rPr lang="en-US" sz="900" b="1" i="0" u="none" strike="noStrike" kern="1200" noProof="0">
                          <a:solidFill>
                            <a:schemeClr val="bg1">
                              <a:lumMod val="65000"/>
                            </a:schemeClr>
                          </a:solidFill>
                          <a:latin typeface="+mn-lt"/>
                          <a:ea typeface="+mn-ea"/>
                          <a:cs typeface="+mn-cs"/>
                        </a:rPr>
                        <a:t>Go Live : 15</a:t>
                      </a:r>
                      <a:r>
                        <a:rPr lang="en-US" sz="900" b="1" i="0" u="none" strike="noStrike" kern="1200" baseline="30000" noProof="0">
                          <a:solidFill>
                            <a:schemeClr val="bg1">
                              <a:lumMod val="65000"/>
                            </a:schemeClr>
                          </a:solidFill>
                          <a:latin typeface="+mn-lt"/>
                          <a:ea typeface="+mn-ea"/>
                          <a:cs typeface="+mn-cs"/>
                        </a:rPr>
                        <a:t>th</a:t>
                      </a:r>
                      <a:r>
                        <a:rPr lang="en-US" sz="900" b="1" i="0" u="none" strike="noStrike" kern="1200" noProof="0">
                          <a:solidFill>
                            <a:schemeClr val="bg1">
                              <a:lumMod val="65000"/>
                            </a:schemeClr>
                          </a:solidFill>
                          <a:latin typeface="+mn-lt"/>
                          <a:ea typeface="+mn-ea"/>
                          <a:cs typeface="+mn-cs"/>
                        </a:rPr>
                        <a:t> June 2026 </a:t>
                      </a:r>
                    </a:p>
                  </a:txBody>
                  <a:tcPr>
                    <a:lnL w="6350">
                      <a:solidFill>
                        <a:schemeClr val="bg1">
                          <a:lumMod val="75000"/>
                        </a:schemeClr>
                      </a:solidFill>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lvl="0" indent="0" algn="l">
                        <a:lnSpc>
                          <a:spcPct val="100000"/>
                        </a:lnSpc>
                        <a:spcBef>
                          <a:spcPts val="0"/>
                        </a:spcBef>
                        <a:spcAft>
                          <a:spcPts val="0"/>
                        </a:spcAft>
                        <a:buNone/>
                      </a:pPr>
                      <a:endParaRPr lang="en-US" sz="900" b="1" i="0" u="none" strike="noStrike" kern="1200" noProof="0">
                        <a:solidFill>
                          <a:schemeClr val="tx1"/>
                        </a:solidFill>
                        <a:latin typeface="+mn-lt"/>
                      </a:endParaRPr>
                    </a:p>
                  </a:txBody>
                  <a:tcPr>
                    <a:lnL w="6350">
                      <a:solidFill>
                        <a:schemeClr val="bg1">
                          <a:lumMod val="75000"/>
                        </a:schemeClr>
                      </a:solidFill>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lvl="0" indent="0" algn="l">
                        <a:lnSpc>
                          <a:spcPct val="100000"/>
                        </a:lnSpc>
                        <a:spcBef>
                          <a:spcPts val="0"/>
                        </a:spcBef>
                        <a:spcAft>
                          <a:spcPts val="0"/>
                        </a:spcAft>
                        <a:buNone/>
                      </a:pPr>
                      <a:r>
                        <a:rPr lang="en-US" sz="900" b="0" i="0" u="none" strike="noStrike" kern="1200" noProof="0">
                          <a:solidFill>
                            <a:schemeClr val="tx1"/>
                          </a:solidFill>
                          <a:latin typeface="+mn-lt"/>
                        </a:rPr>
                        <a:t>Optimization of schedule recovery during IROPS process to improve operational efficiency, reduce disruption cost and customer satisfaction.</a:t>
                      </a:r>
                    </a:p>
                  </a:txBody>
                  <a:tcPr>
                    <a:lnL w="6350">
                      <a:solidFill>
                        <a:schemeClr val="bg1">
                          <a:lumMod val="75000"/>
                        </a:schemeClr>
                      </a:solidFill>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443371065"/>
                  </a:ext>
                </a:extLst>
              </a:tr>
              <a:tr h="397593">
                <a:tc>
                  <a:txBody>
                    <a:bodyPr/>
                    <a:lstStyle/>
                    <a:p>
                      <a:pPr marL="0" lvl="0" indent="0" algn="l">
                        <a:lnSpc>
                          <a:spcPct val="100000"/>
                        </a:lnSpc>
                        <a:spcBef>
                          <a:spcPts val="0"/>
                        </a:spcBef>
                        <a:spcAft>
                          <a:spcPts val="0"/>
                        </a:spcAft>
                        <a:buNone/>
                      </a:pPr>
                      <a:r>
                        <a:rPr lang="en-US" sz="900" b="1" i="0" u="none" strike="noStrike" kern="1200">
                          <a:solidFill>
                            <a:srgbClr val="FF0000"/>
                          </a:solidFill>
                          <a:latin typeface="+mn-lt"/>
                          <a:ea typeface="+mn-ea"/>
                          <a:cs typeface="+mn-cs"/>
                        </a:rPr>
                        <a:t>ACE CMTS Integration</a:t>
                      </a:r>
                    </a:p>
                    <a:p>
                      <a:pPr marL="0" lvl="0" indent="0" algn="l">
                        <a:lnSpc>
                          <a:spcPct val="100000"/>
                        </a:lnSpc>
                        <a:spcBef>
                          <a:spcPts val="0"/>
                        </a:spcBef>
                        <a:spcAft>
                          <a:spcPts val="0"/>
                        </a:spcAft>
                        <a:buNone/>
                      </a:pPr>
                      <a:r>
                        <a:rPr lang="en-US" sz="900" b="1" i="0" u="none" strike="noStrike" kern="1200">
                          <a:solidFill>
                            <a:srgbClr val="FF0000"/>
                          </a:solidFill>
                          <a:latin typeface="+mn-lt"/>
                          <a:ea typeface="+mn-ea"/>
                          <a:cs typeface="+mn-cs"/>
                        </a:rPr>
                        <a:t>Go Live: 25</a:t>
                      </a:r>
                      <a:r>
                        <a:rPr lang="en-US" sz="900" b="1" i="0" u="none" strike="noStrike" kern="1200" baseline="30000">
                          <a:solidFill>
                            <a:srgbClr val="FF0000"/>
                          </a:solidFill>
                          <a:latin typeface="+mn-lt"/>
                          <a:ea typeface="+mn-ea"/>
                          <a:cs typeface="+mn-cs"/>
                        </a:rPr>
                        <a:t>th</a:t>
                      </a:r>
                      <a:r>
                        <a:rPr lang="en-US" sz="900" b="1" i="0" u="none" strike="noStrike" kern="1200">
                          <a:solidFill>
                            <a:srgbClr val="FF0000"/>
                          </a:solidFill>
                          <a:latin typeface="+mn-lt"/>
                          <a:ea typeface="+mn-ea"/>
                          <a:cs typeface="+mn-cs"/>
                        </a:rPr>
                        <a:t> June 2026</a:t>
                      </a:r>
                    </a:p>
                  </a:txBody>
                  <a:tcP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lvl="0" indent="0" algn="l">
                        <a:lnSpc>
                          <a:spcPct val="100000"/>
                        </a:lnSpc>
                        <a:spcBef>
                          <a:spcPts val="0"/>
                        </a:spcBef>
                        <a:spcAft>
                          <a:spcPts val="0"/>
                        </a:spcAft>
                        <a:buNone/>
                      </a:pPr>
                      <a:endParaRPr lang="en-US" sz="900" b="1" i="0" u="none" strike="noStrike" kern="1200" noProof="0">
                        <a:solidFill>
                          <a:schemeClr val="tx1"/>
                        </a:solidFill>
                        <a:latin typeface="+mn-lt"/>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lvl="0" algn="just">
                        <a:lnSpc>
                          <a:spcPct val="100000"/>
                        </a:lnSpc>
                        <a:spcBef>
                          <a:spcPts val="0"/>
                        </a:spcBef>
                        <a:spcAft>
                          <a:spcPts val="0"/>
                        </a:spcAft>
                        <a:buNone/>
                      </a:pPr>
                      <a:r>
                        <a:rPr lang="en-US" sz="900" b="0" i="0" u="none" strike="noStrike" kern="1200" noProof="0">
                          <a:solidFill>
                            <a:schemeClr val="tx1"/>
                          </a:solidFill>
                          <a:latin typeface="+mn-lt"/>
                          <a:ea typeface="+mn-ea"/>
                          <a:cs typeface="Segoe UI"/>
                        </a:rPr>
                        <a:t>Since </a:t>
                      </a:r>
                      <a:r>
                        <a:rPr lang="en-US" sz="900" b="0" i="0" u="none" strike="noStrike" kern="1200" noProof="0" err="1">
                          <a:solidFill>
                            <a:schemeClr val="tx1"/>
                          </a:solidFill>
                          <a:latin typeface="+mn-lt"/>
                          <a:ea typeface="+mn-ea"/>
                          <a:cs typeface="Segoe UI"/>
                        </a:rPr>
                        <a:t>TnQ</a:t>
                      </a:r>
                      <a:r>
                        <a:rPr lang="en-US" sz="900" b="0" i="0" u="none" strike="noStrike" kern="1200" noProof="0">
                          <a:solidFill>
                            <a:schemeClr val="tx1"/>
                          </a:solidFill>
                          <a:latin typeface="+mn-lt"/>
                          <a:ea typeface="+mn-ea"/>
                          <a:cs typeface="Segoe UI"/>
                        </a:rPr>
                        <a:t> is being decommissioned, the system needs to be updated accordingly. This change will reduce the manual effort required to add training for crew members and eliminate redundant tasks. It will also help ensure that AI remains compliant with regulatory bodies in the future, paving the way for CBTA.</a:t>
                      </a:r>
                    </a:p>
                  </a:txBody>
                  <a:tcPr>
                    <a:lnL w="6350" cap="flat" cmpd="sng" algn="ctr">
                      <a:solidFill>
                        <a:schemeClr val="bg1">
                          <a:lumMod val="75000"/>
                        </a:schemeClr>
                      </a:solidFill>
                      <a:prstDash val="solid"/>
                      <a:round/>
                      <a:headEnd type="none" w="med" len="med"/>
                      <a:tailEnd type="none" w="med" len="med"/>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119470951"/>
                  </a:ext>
                </a:extLst>
              </a:tr>
              <a:tr h="289159">
                <a:tc>
                  <a:txBody>
                    <a:bodyPr/>
                    <a:lstStyle/>
                    <a:p>
                      <a:pPr marL="0" lvl="0" indent="0" algn="l" rtl="0">
                        <a:lnSpc>
                          <a:spcPct val="100000"/>
                        </a:lnSpc>
                        <a:spcBef>
                          <a:spcPts val="0"/>
                        </a:spcBef>
                        <a:spcAft>
                          <a:spcPts val="0"/>
                        </a:spcAft>
                        <a:buNone/>
                      </a:pPr>
                      <a:r>
                        <a:rPr lang="en-US" sz="900" b="1" i="0" u="none" strike="noStrike" kern="1200">
                          <a:solidFill>
                            <a:schemeClr val="bg1">
                              <a:lumMod val="65000"/>
                            </a:schemeClr>
                          </a:solidFill>
                          <a:latin typeface="+mn-lt"/>
                          <a:ea typeface="+mn-ea"/>
                          <a:cs typeface="+mn-cs"/>
                        </a:rPr>
                        <a:t>BA Randomizer Success Factor Integration</a:t>
                      </a:r>
                    </a:p>
                    <a:p>
                      <a:pPr marL="0" lvl="0" indent="0" algn="l" rtl="0">
                        <a:lnSpc>
                          <a:spcPct val="100000"/>
                        </a:lnSpc>
                        <a:spcBef>
                          <a:spcPts val="0"/>
                        </a:spcBef>
                        <a:spcAft>
                          <a:spcPts val="0"/>
                        </a:spcAft>
                        <a:buNone/>
                      </a:pPr>
                      <a:r>
                        <a:rPr lang="en-US" sz="900" b="1" i="0" u="none" strike="noStrike" kern="1200">
                          <a:solidFill>
                            <a:schemeClr val="bg1">
                              <a:lumMod val="65000"/>
                            </a:schemeClr>
                          </a:solidFill>
                          <a:latin typeface="+mn-lt"/>
                          <a:ea typeface="+mn-ea"/>
                          <a:cs typeface="+mn-cs"/>
                        </a:rPr>
                        <a:t>Go Live:  18</a:t>
                      </a:r>
                      <a:r>
                        <a:rPr lang="en-US" sz="900" b="1" i="0" u="none" strike="noStrike" kern="1200" baseline="30000">
                          <a:solidFill>
                            <a:schemeClr val="bg1">
                              <a:lumMod val="65000"/>
                            </a:schemeClr>
                          </a:solidFill>
                          <a:latin typeface="+mn-lt"/>
                          <a:ea typeface="+mn-ea"/>
                          <a:cs typeface="+mn-cs"/>
                        </a:rPr>
                        <a:t>th</a:t>
                      </a:r>
                      <a:r>
                        <a:rPr lang="en-US" sz="900" b="1" i="0" u="none" strike="noStrike" kern="1200">
                          <a:solidFill>
                            <a:schemeClr val="bg1">
                              <a:lumMod val="65000"/>
                            </a:schemeClr>
                          </a:solidFill>
                          <a:latin typeface="+mn-lt"/>
                          <a:ea typeface="+mn-ea"/>
                          <a:cs typeface="+mn-cs"/>
                        </a:rPr>
                        <a:t> June 2026</a:t>
                      </a:r>
                    </a:p>
                  </a:txBody>
                  <a:tcP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lvl="0" indent="0" algn="l">
                        <a:lnSpc>
                          <a:spcPct val="100000"/>
                        </a:lnSpc>
                        <a:spcBef>
                          <a:spcPts val="0"/>
                        </a:spcBef>
                        <a:spcAft>
                          <a:spcPts val="0"/>
                        </a:spcAft>
                        <a:buNone/>
                      </a:pPr>
                      <a:endParaRPr lang="en-US" sz="900" b="1" i="0" u="none" strike="noStrike" kern="1200" noProof="0">
                        <a:solidFill>
                          <a:schemeClr val="tx1"/>
                        </a:solidFill>
                        <a:latin typeface="+mn-lt"/>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fontAlgn="t">
                        <a:lnSpc>
                          <a:spcPts val="1500"/>
                        </a:lnSpc>
                        <a:buNone/>
                      </a:pPr>
                      <a:r>
                        <a:rPr lang="en-US" sz="900" b="0" i="0" u="none" strike="noStrike" kern="1200">
                          <a:solidFill>
                            <a:schemeClr val="tx1"/>
                          </a:solidFill>
                          <a:latin typeface="+mn-lt"/>
                          <a:ea typeface="+mn-ea"/>
                          <a:cs typeface="Segoe UI"/>
                        </a:rPr>
                        <a:t>It enables seamless, timely onboarding of new crew for BA testing, eliminating manual intervention and reducing errors</a:t>
                      </a:r>
                    </a:p>
                  </a:txBody>
                  <a:tcPr>
                    <a:lnL w="6350" cap="flat" cmpd="sng" algn="ctr">
                      <a:solidFill>
                        <a:schemeClr val="bg1">
                          <a:lumMod val="75000"/>
                        </a:schemeClr>
                      </a:solidFill>
                      <a:prstDash val="solid"/>
                      <a:round/>
                      <a:headEnd type="none" w="med" len="med"/>
                      <a:tailEnd type="none" w="med" len="med"/>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911538847"/>
                  </a:ext>
                </a:extLst>
              </a:tr>
              <a:tr h="767074">
                <a:tc>
                  <a:txBody>
                    <a:bodyPr/>
                    <a:lstStyle/>
                    <a:p>
                      <a:pPr algn="l" rtl="0" fontAlgn="base">
                        <a:lnSpc>
                          <a:spcPts val="1425"/>
                        </a:lnSpc>
                        <a:buNone/>
                      </a:pPr>
                      <a:r>
                        <a:rPr lang="en-US" sz="900" b="1" i="0" u="none" strike="noStrike" kern="1200">
                          <a:solidFill>
                            <a:srgbClr val="0070C0"/>
                          </a:solidFill>
                          <a:effectLst/>
                          <a:latin typeface="+mn-lt"/>
                          <a:ea typeface="+mn-ea"/>
                          <a:cs typeface="+mn-cs"/>
                        </a:rPr>
                        <a:t>Jeppesen Standby Assignment Problem fleet wise​ - FD</a:t>
                      </a:r>
                    </a:p>
                    <a:p>
                      <a:pPr algn="l" rtl="0" fontAlgn="base">
                        <a:lnSpc>
                          <a:spcPts val="1425"/>
                        </a:lnSpc>
                        <a:buNone/>
                      </a:pPr>
                      <a:r>
                        <a:rPr lang="en-US" sz="900" b="1" i="0" u="none" strike="noStrike" kern="1200">
                          <a:solidFill>
                            <a:srgbClr val="0070C0"/>
                          </a:solidFill>
                          <a:effectLst/>
                          <a:latin typeface="+mn-lt"/>
                          <a:ea typeface="+mn-ea"/>
                          <a:cs typeface="+mn-cs"/>
                        </a:rPr>
                        <a:t>Go Live: 26th June 2026​</a:t>
                      </a:r>
                    </a:p>
                    <a:p>
                      <a:pPr algn="l" rtl="0" fontAlgn="base">
                        <a:lnSpc>
                          <a:spcPts val="1425"/>
                        </a:lnSpc>
                        <a:buNone/>
                      </a:pPr>
                      <a:r>
                        <a:rPr lang="en-US" sz="900" b="0" i="0">
                          <a:solidFill>
                            <a:schemeClr val="tx1"/>
                          </a:solidFill>
                          <a:effectLst/>
                          <a:latin typeface="+mn-lt"/>
                        </a:rPr>
                        <a:t>​</a:t>
                      </a:r>
                    </a:p>
                  </a:txBody>
                  <a:tcP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rtl="0" fontAlgn="auto">
                        <a:lnSpc>
                          <a:spcPts val="1425"/>
                        </a:lnSpc>
                        <a:buFont typeface="+mj-lt"/>
                        <a:buNone/>
                      </a:pPr>
                      <a:r>
                        <a:rPr lang="en-US" sz="900" b="1" i="0" u="none" strike="noStrike">
                          <a:solidFill>
                            <a:schemeClr val="tx1"/>
                          </a:solidFill>
                          <a:effectLst/>
                          <a:latin typeface="+mn-lt"/>
                        </a:rPr>
                        <a:t>Jeppesen Pairing and Rostering</a:t>
                      </a: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rtl="0" fontAlgn="base">
                        <a:lnSpc>
                          <a:spcPts val="1425"/>
                        </a:lnSpc>
                        <a:buNone/>
                      </a:pPr>
                      <a:r>
                        <a:rPr lang="en-US" sz="900" b="0" i="0" u="none" strike="noStrike">
                          <a:solidFill>
                            <a:srgbClr val="000000"/>
                          </a:solidFill>
                          <a:effectLst/>
                          <a:latin typeface="+mn-lt"/>
                        </a:rPr>
                        <a:t>With Standby generation now resolved, the next priority is optimizing Standby assignment. Doing so will directly:</a:t>
                      </a:r>
                      <a:r>
                        <a:rPr lang="en-US" sz="900" b="0" i="0">
                          <a:solidFill>
                            <a:srgbClr val="000000"/>
                          </a:solidFill>
                          <a:effectLst/>
                          <a:latin typeface="+mn-lt"/>
                        </a:rPr>
                        <a:t>​</a:t>
                      </a:r>
                    </a:p>
                    <a:p>
                      <a:pPr algn="l" rtl="0" fontAlgn="base">
                        <a:lnSpc>
                          <a:spcPts val="1425"/>
                        </a:lnSpc>
                        <a:buFont typeface="Arial" panose="020B0604020202020204" pitchFamily="34" charset="0"/>
                        <a:buChar char="•"/>
                      </a:pPr>
                      <a:r>
                        <a:rPr lang="en-US" sz="900" b="1" i="0" u="none" strike="noStrike">
                          <a:solidFill>
                            <a:srgbClr val="000000"/>
                          </a:solidFill>
                          <a:effectLst/>
                          <a:latin typeface="+mn-lt"/>
                        </a:rPr>
                        <a:t>Improve roster stability</a:t>
                      </a:r>
                      <a:r>
                        <a:rPr lang="en-US" sz="900" b="0" i="0">
                          <a:solidFill>
                            <a:srgbClr val="000000"/>
                          </a:solidFill>
                          <a:effectLst/>
                          <a:latin typeface="+mn-lt"/>
                        </a:rPr>
                        <a:t>​</a:t>
                      </a:r>
                    </a:p>
                    <a:p>
                      <a:pPr algn="l" rtl="0" fontAlgn="base">
                        <a:lnSpc>
                          <a:spcPts val="1425"/>
                        </a:lnSpc>
                        <a:buFont typeface="Arial" panose="020B0604020202020204" pitchFamily="34" charset="0"/>
                        <a:buChar char="•"/>
                      </a:pPr>
                      <a:r>
                        <a:rPr lang="en-US" sz="900" b="1" i="0" u="none" strike="noStrike">
                          <a:solidFill>
                            <a:srgbClr val="000000"/>
                          </a:solidFill>
                          <a:effectLst/>
                          <a:latin typeface="+mn-lt"/>
                        </a:rPr>
                        <a:t>Increase roster efficiency</a:t>
                      </a:r>
                      <a:r>
                        <a:rPr lang="en-US" sz="900" b="0" i="0">
                          <a:solidFill>
                            <a:srgbClr val="000000"/>
                          </a:solidFill>
                          <a:effectLst/>
                          <a:latin typeface="+mn-lt"/>
                        </a:rPr>
                        <a:t>​</a:t>
                      </a:r>
                    </a:p>
                    <a:p>
                      <a:pPr algn="l" rtl="0" fontAlgn="base">
                        <a:lnSpc>
                          <a:spcPts val="1425"/>
                        </a:lnSpc>
                        <a:buFont typeface="Arial" panose="020B0604020202020204" pitchFamily="34" charset="0"/>
                        <a:buChar char="•"/>
                      </a:pPr>
                      <a:r>
                        <a:rPr lang="en-US" sz="900" b="1" i="0" u="none" strike="noStrike">
                          <a:solidFill>
                            <a:srgbClr val="000000"/>
                          </a:solidFill>
                          <a:effectLst/>
                          <a:latin typeface="+mn-lt"/>
                        </a:rPr>
                        <a:t>Enhance crew productivity</a:t>
                      </a:r>
                      <a:r>
                        <a:rPr lang="en-US" sz="900" b="0" i="0">
                          <a:solidFill>
                            <a:srgbClr val="000000"/>
                          </a:solidFill>
                          <a:effectLst/>
                          <a:latin typeface="+mn-lt"/>
                        </a:rPr>
                        <a:t>​</a:t>
                      </a:r>
                    </a:p>
                    <a:p>
                      <a:pPr algn="l" rtl="0" fontAlgn="base">
                        <a:lnSpc>
                          <a:spcPts val="1425"/>
                        </a:lnSpc>
                        <a:buNone/>
                      </a:pPr>
                      <a:r>
                        <a:rPr lang="en-US" sz="900" b="0" i="0" u="none" strike="noStrike">
                          <a:solidFill>
                            <a:srgbClr val="000000"/>
                          </a:solidFill>
                          <a:effectLst/>
                          <a:latin typeface="+mn-lt"/>
                        </a:rPr>
                        <a:t>Efficient Standby allocation is essential for a more reliable and higher‑performing rostering process.</a:t>
                      </a:r>
                      <a:r>
                        <a:rPr lang="en-US" sz="900" b="0" i="0">
                          <a:solidFill>
                            <a:srgbClr val="000000"/>
                          </a:solidFill>
                          <a:effectLst/>
                          <a:latin typeface="+mn-lt"/>
                        </a:rPr>
                        <a:t>​</a:t>
                      </a:r>
                    </a:p>
                  </a:txBody>
                  <a:tcPr>
                    <a:lnL w="6350" cap="flat" cmpd="sng" algn="ctr">
                      <a:solidFill>
                        <a:schemeClr val="bg1">
                          <a:lumMod val="75000"/>
                        </a:schemeClr>
                      </a:solidFill>
                      <a:prstDash val="solid"/>
                      <a:round/>
                      <a:headEnd type="none" w="med" len="med"/>
                      <a:tailEnd type="none" w="med" len="med"/>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516526193"/>
                  </a:ext>
                </a:extLst>
              </a:tr>
              <a:tr h="907637">
                <a:tc>
                  <a:txBody>
                    <a:bodyPr/>
                    <a:lstStyle/>
                    <a:p>
                      <a:pPr marL="0" algn="l" defTabSz="914400" rtl="0" eaLnBrk="1" fontAlgn="base" latinLnBrk="0" hangingPunct="1">
                        <a:lnSpc>
                          <a:spcPts val="1425"/>
                        </a:lnSpc>
                        <a:buNone/>
                      </a:pPr>
                      <a:r>
                        <a:rPr lang="en-US" sz="900" b="1" i="0" u="none" strike="noStrike" kern="1200">
                          <a:solidFill>
                            <a:srgbClr val="0070C0"/>
                          </a:solidFill>
                          <a:effectLst/>
                          <a:latin typeface="+mn-lt"/>
                          <a:ea typeface="+mn-ea"/>
                          <a:cs typeface="+mn-cs"/>
                        </a:rPr>
                        <a:t>Jeppesen Carmsys Upgrade from 31.6 to 32.x​</a:t>
                      </a:r>
                    </a:p>
                    <a:p>
                      <a:pPr marL="0" lvl="0" algn="l">
                        <a:lnSpc>
                          <a:spcPts val="1425"/>
                        </a:lnSpc>
                        <a:buNone/>
                      </a:pPr>
                      <a:r>
                        <a:rPr lang="en-US" sz="900" b="1" i="0" u="none" strike="noStrike" kern="1200" noProof="0">
                          <a:solidFill>
                            <a:srgbClr val="0070C0"/>
                          </a:solidFill>
                          <a:effectLst/>
                          <a:latin typeface="+mn-lt"/>
                          <a:ea typeface="+mn-ea"/>
                          <a:cs typeface="+mn-cs"/>
                        </a:rPr>
                        <a:t>Jeppesen Crew Bid Portal upgrade (for AIX)</a:t>
                      </a:r>
                      <a:endParaRPr lang="en-US" sz="900" b="1" i="0" u="none" strike="noStrike" kern="1200">
                        <a:solidFill>
                          <a:srgbClr val="0070C0"/>
                        </a:solidFill>
                        <a:effectLst/>
                        <a:latin typeface="+mn-lt"/>
                        <a:ea typeface="+mn-ea"/>
                        <a:cs typeface="+mn-cs"/>
                      </a:endParaRPr>
                    </a:p>
                    <a:p>
                      <a:pPr marL="0" marR="0" lvl="0" indent="0" algn="l" defTabSz="914400" rtl="0" eaLnBrk="1" fontAlgn="base" latinLnBrk="0" hangingPunct="1">
                        <a:lnSpc>
                          <a:spcPts val="1425"/>
                        </a:lnSpc>
                        <a:spcBef>
                          <a:spcPts val="0"/>
                        </a:spcBef>
                        <a:spcAft>
                          <a:spcPts val="0"/>
                        </a:spcAft>
                        <a:buClrTx/>
                        <a:buSzTx/>
                        <a:buFontTx/>
                        <a:buNone/>
                        <a:tabLst/>
                        <a:defRPr/>
                      </a:pPr>
                      <a:r>
                        <a:rPr lang="en-US" sz="900" b="1" i="0" u="none" strike="noStrike" kern="1200">
                          <a:solidFill>
                            <a:srgbClr val="0070C0"/>
                          </a:solidFill>
                          <a:effectLst/>
                          <a:latin typeface="+mn-lt"/>
                          <a:ea typeface="+mn-ea"/>
                          <a:cs typeface="+mn-cs"/>
                        </a:rPr>
                        <a:t>Go Live: 26th June 2026​</a:t>
                      </a:r>
                    </a:p>
                    <a:p>
                      <a:pPr marL="0" marR="0" lvl="0" indent="0" algn="l" defTabSz="914400" rtl="0" eaLnBrk="1" fontAlgn="base" latinLnBrk="0" hangingPunct="1">
                        <a:lnSpc>
                          <a:spcPts val="1425"/>
                        </a:lnSpc>
                        <a:spcBef>
                          <a:spcPts val="0"/>
                        </a:spcBef>
                        <a:spcAft>
                          <a:spcPts val="0"/>
                        </a:spcAft>
                        <a:buClrTx/>
                        <a:buSzTx/>
                        <a:buFontTx/>
                        <a:buNone/>
                        <a:tabLst/>
                        <a:defRPr/>
                      </a:pPr>
                      <a:r>
                        <a:rPr lang="en-US" sz="900" b="1" i="0" u="none" strike="noStrike" kern="1200">
                          <a:solidFill>
                            <a:srgbClr val="0070C0"/>
                          </a:solidFill>
                          <a:effectLst/>
                          <a:latin typeface="+mn-lt"/>
                          <a:ea typeface="+mn-ea"/>
                          <a:cs typeface="+mn-cs"/>
                        </a:rPr>
                        <a:t>Actual Go Live: 15</a:t>
                      </a:r>
                      <a:r>
                        <a:rPr lang="en-US" sz="900" b="1" i="0" u="none" strike="noStrike" kern="1200" baseline="30000">
                          <a:solidFill>
                            <a:srgbClr val="0070C0"/>
                          </a:solidFill>
                          <a:effectLst/>
                          <a:latin typeface="+mn-lt"/>
                          <a:ea typeface="+mn-ea"/>
                          <a:cs typeface="+mn-cs"/>
                        </a:rPr>
                        <a:t>th</a:t>
                      </a:r>
                      <a:r>
                        <a:rPr lang="en-US" sz="900" b="1" i="0" u="none" strike="noStrike" kern="1200">
                          <a:solidFill>
                            <a:srgbClr val="0070C0"/>
                          </a:solidFill>
                          <a:effectLst/>
                          <a:latin typeface="+mn-lt"/>
                          <a:ea typeface="+mn-ea"/>
                          <a:cs typeface="+mn-cs"/>
                        </a:rPr>
                        <a:t> June 2026</a:t>
                      </a:r>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marL="0" indent="0" algn="l" rtl="0" fontAlgn="auto">
                        <a:lnSpc>
                          <a:spcPts val="1425"/>
                        </a:lnSpc>
                        <a:buClr>
                          <a:srgbClr val="000000"/>
                        </a:buClr>
                        <a:buNone/>
                      </a:pPr>
                      <a:r>
                        <a:rPr lang="en-US" sz="900" b="1" i="0" u="none" strike="noStrike" noProof="0">
                          <a:solidFill>
                            <a:schemeClr val="tx1"/>
                          </a:solidFill>
                          <a:effectLst/>
                          <a:latin typeface="+mn-lt"/>
                        </a:rPr>
                        <a:t>Jeppesen Pairing and Rostering System Upgrade</a:t>
                      </a:r>
                      <a:endParaRPr lang="en-US" sz="900" b="0" i="0" u="none" strike="noStrike" noProof="0">
                        <a:solidFill>
                          <a:schemeClr val="tx1"/>
                        </a:solidFill>
                        <a:effectLst/>
                        <a:latin typeface="+mn-lt"/>
                      </a:endParaRPr>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algn="l" rtl="0" fontAlgn="base">
                        <a:lnSpc>
                          <a:spcPts val="1425"/>
                        </a:lnSpc>
                        <a:buNone/>
                      </a:pPr>
                      <a:r>
                        <a:rPr lang="en-US" sz="900" b="0" i="0" u="none" strike="noStrike">
                          <a:solidFill>
                            <a:srgbClr val="000000"/>
                          </a:solidFill>
                          <a:effectLst/>
                          <a:latin typeface="+mn-lt"/>
                        </a:rPr>
                        <a:t>Upgrading </a:t>
                      </a:r>
                      <a:r>
                        <a:rPr lang="en-US" sz="900" b="0" i="0" u="none" strike="noStrike" err="1">
                          <a:solidFill>
                            <a:srgbClr val="000000"/>
                          </a:solidFill>
                          <a:effectLst/>
                          <a:latin typeface="+mn-lt"/>
                        </a:rPr>
                        <a:t>Carmsys</a:t>
                      </a:r>
                      <a:r>
                        <a:rPr lang="en-US" sz="900" b="0" i="0" u="none" strike="noStrike">
                          <a:solidFill>
                            <a:srgbClr val="000000"/>
                          </a:solidFill>
                          <a:effectLst/>
                          <a:latin typeface="+mn-lt"/>
                        </a:rPr>
                        <a:t> to </a:t>
                      </a:r>
                      <a:r>
                        <a:rPr lang="en-US" sz="900" b="1" i="0" u="none" strike="noStrike">
                          <a:solidFill>
                            <a:srgbClr val="000000"/>
                          </a:solidFill>
                          <a:effectLst/>
                          <a:latin typeface="+mn-lt"/>
                        </a:rPr>
                        <a:t>32.x</a:t>
                      </a:r>
                      <a:r>
                        <a:rPr lang="en-US" sz="900" b="0" i="0" u="none" strike="noStrike">
                          <a:solidFill>
                            <a:srgbClr val="000000"/>
                          </a:solidFill>
                          <a:effectLst/>
                          <a:latin typeface="+mn-lt"/>
                        </a:rPr>
                        <a:t> and JCB portal delivers clear operational and analytical benefits:</a:t>
                      </a:r>
                      <a:r>
                        <a:rPr lang="en-US" sz="900" b="0" i="0">
                          <a:solidFill>
                            <a:srgbClr val="000000"/>
                          </a:solidFill>
                          <a:effectLst/>
                          <a:latin typeface="+mn-lt"/>
                        </a:rPr>
                        <a:t>​</a:t>
                      </a:r>
                    </a:p>
                    <a:p>
                      <a:pPr algn="l" rtl="0" fontAlgn="base">
                        <a:lnSpc>
                          <a:spcPts val="1425"/>
                        </a:lnSpc>
                        <a:buFont typeface="Arial" panose="020B0604020202020204" pitchFamily="34" charset="0"/>
                        <a:buChar char="•"/>
                      </a:pPr>
                      <a:r>
                        <a:rPr lang="en-US" sz="900" b="1" i="0" u="none" strike="noStrike">
                          <a:solidFill>
                            <a:srgbClr val="000000"/>
                          </a:solidFill>
                          <a:effectLst/>
                          <a:latin typeface="+mn-lt"/>
                        </a:rPr>
                        <a:t>Better system performance, stability, and security compliance</a:t>
                      </a:r>
                      <a:r>
                        <a:rPr lang="en-US" sz="900" b="0" i="0">
                          <a:solidFill>
                            <a:srgbClr val="000000"/>
                          </a:solidFill>
                          <a:effectLst/>
                          <a:latin typeface="+mn-lt"/>
                        </a:rPr>
                        <a:t>​</a:t>
                      </a:r>
                    </a:p>
                    <a:p>
                      <a:pPr algn="l" rtl="0" fontAlgn="base">
                        <a:lnSpc>
                          <a:spcPts val="1425"/>
                        </a:lnSpc>
                        <a:buFont typeface="Arial" panose="020B0604020202020204" pitchFamily="34" charset="0"/>
                        <a:buChar char="•"/>
                      </a:pPr>
                      <a:r>
                        <a:rPr lang="en-US" sz="900" b="1" i="0" u="none" strike="noStrike">
                          <a:solidFill>
                            <a:srgbClr val="000000"/>
                          </a:solidFill>
                          <a:effectLst/>
                          <a:latin typeface="+mn-lt"/>
                        </a:rPr>
                        <a:t>Improved compatibility with latest Jeppesen features and support standards</a:t>
                      </a:r>
                      <a:r>
                        <a:rPr lang="en-US" sz="900" b="0" i="0">
                          <a:solidFill>
                            <a:srgbClr val="000000"/>
                          </a:solidFill>
                          <a:effectLst/>
                          <a:latin typeface="+mn-lt"/>
                        </a:rPr>
                        <a:t>​</a:t>
                      </a:r>
                    </a:p>
                    <a:p>
                      <a:pPr algn="l" rtl="0" fontAlgn="base">
                        <a:lnSpc>
                          <a:spcPts val="1425"/>
                        </a:lnSpc>
                        <a:buFont typeface="Arial" panose="020B0604020202020204" pitchFamily="34" charset="0"/>
                        <a:buChar char="•"/>
                      </a:pPr>
                      <a:r>
                        <a:rPr lang="en-US" sz="900" b="1" i="0" u="none" strike="noStrike">
                          <a:solidFill>
                            <a:srgbClr val="000000"/>
                          </a:solidFill>
                          <a:effectLst/>
                          <a:latin typeface="+mn-lt"/>
                        </a:rPr>
                        <a:t>Enhanced workflows for more efficient pairing and rostering</a:t>
                      </a:r>
                      <a:r>
                        <a:rPr lang="en-US" sz="900" b="0" i="0">
                          <a:solidFill>
                            <a:srgbClr val="000000"/>
                          </a:solidFill>
                          <a:effectLst/>
                          <a:latin typeface="+mn-lt"/>
                        </a:rPr>
                        <a:t>​</a:t>
                      </a:r>
                    </a:p>
                    <a:p>
                      <a:pPr algn="l" rtl="0" fontAlgn="base">
                        <a:lnSpc>
                          <a:spcPts val="1425"/>
                        </a:lnSpc>
                        <a:buFont typeface="Arial" panose="020B0604020202020204" pitchFamily="34" charset="0"/>
                        <a:buChar char="•"/>
                      </a:pPr>
                      <a:r>
                        <a:rPr lang="en-US" sz="900" b="1" i="0" u="none" strike="noStrike">
                          <a:solidFill>
                            <a:srgbClr val="000000"/>
                          </a:solidFill>
                          <a:effectLst/>
                          <a:latin typeface="+mn-lt"/>
                        </a:rPr>
                        <a:t>Rave‑based filtering for deeper, targeted insights</a:t>
                      </a:r>
                      <a:r>
                        <a:rPr lang="en-US" sz="900" b="0" i="0">
                          <a:solidFill>
                            <a:srgbClr val="000000"/>
                          </a:solidFill>
                          <a:effectLst/>
                          <a:latin typeface="+mn-lt"/>
                        </a:rPr>
                        <a:t>​</a:t>
                      </a:r>
                    </a:p>
                    <a:p>
                      <a:pPr algn="l" rtl="0" fontAlgn="base">
                        <a:lnSpc>
                          <a:spcPts val="1425"/>
                        </a:lnSpc>
                        <a:buFont typeface="Arial" panose="020B0604020202020204" pitchFamily="34" charset="0"/>
                        <a:buChar char="•"/>
                      </a:pPr>
                      <a:r>
                        <a:rPr lang="en-US" sz="900" b="1" i="0" u="none" strike="noStrike">
                          <a:solidFill>
                            <a:srgbClr val="000000"/>
                          </a:solidFill>
                          <a:effectLst/>
                          <a:latin typeface="+mn-lt"/>
                        </a:rPr>
                        <a:t>Improved optimizer performance</a:t>
                      </a:r>
                      <a:r>
                        <a:rPr lang="en-US" sz="900" b="0" i="0">
                          <a:solidFill>
                            <a:srgbClr val="000000"/>
                          </a:solidFill>
                          <a:effectLst/>
                          <a:latin typeface="+mn-lt"/>
                        </a:rPr>
                        <a:t>​</a:t>
                      </a:r>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856523985"/>
                  </a:ext>
                </a:extLst>
              </a:tr>
              <a:tr h="350304">
                <a:tc>
                  <a:txBody>
                    <a:bodyPr/>
                    <a:lstStyle/>
                    <a:p>
                      <a:pPr marL="0" marR="0" lvl="0" indent="0" algn="l" rtl="0" eaLnBrk="1" fontAlgn="base" latinLnBrk="0" hangingPunct="1">
                        <a:lnSpc>
                          <a:spcPts val="1425"/>
                        </a:lnSpc>
                        <a:spcBef>
                          <a:spcPts val="0"/>
                        </a:spcBef>
                        <a:spcAft>
                          <a:spcPts val="0"/>
                        </a:spcAft>
                        <a:buClrTx/>
                        <a:buSzTx/>
                        <a:buFontTx/>
                        <a:buNone/>
                      </a:pPr>
                      <a:r>
                        <a:rPr lang="en-US" sz="900" b="1" i="0" u="none" strike="noStrike" kern="1200">
                          <a:solidFill>
                            <a:srgbClr val="0070C0"/>
                          </a:solidFill>
                          <a:effectLst/>
                          <a:latin typeface="+mn-lt"/>
                          <a:ea typeface="+mn-ea"/>
                          <a:cs typeface="+mn-cs"/>
                        </a:rPr>
                        <a:t>Adhoc - IOCC Report 2, 2A and 3A</a:t>
                      </a:r>
                    </a:p>
                    <a:p>
                      <a:pPr marL="0" marR="0" lvl="0" indent="0" algn="l">
                        <a:lnSpc>
                          <a:spcPts val="1425"/>
                        </a:lnSpc>
                        <a:spcBef>
                          <a:spcPts val="0"/>
                        </a:spcBef>
                        <a:spcAft>
                          <a:spcPts val="0"/>
                        </a:spcAft>
                        <a:buClrTx/>
                        <a:buSzTx/>
                        <a:buFontTx/>
                        <a:buNone/>
                      </a:pPr>
                      <a:r>
                        <a:rPr lang="en-US" sz="900" b="1" i="0" u="none" strike="noStrike" kern="1200">
                          <a:solidFill>
                            <a:srgbClr val="0070C0"/>
                          </a:solidFill>
                          <a:effectLst/>
                          <a:latin typeface="+mn-lt"/>
                          <a:ea typeface="+mn-ea"/>
                          <a:cs typeface="+mn-cs"/>
                        </a:rPr>
                        <a:t>Go Live: 1st June 2026</a:t>
                      </a:r>
                    </a:p>
                  </a:txBody>
                  <a:tcP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marL="0" indent="0" algn="l" rtl="0" fontAlgn="auto">
                        <a:lnSpc>
                          <a:spcPts val="1425"/>
                        </a:lnSpc>
                        <a:buClr>
                          <a:srgbClr val="000000"/>
                        </a:buClr>
                        <a:buNone/>
                      </a:pPr>
                      <a:endParaRPr lang="en-US" sz="900" b="0" i="0" u="none" strike="noStrike" noProof="0">
                        <a:solidFill>
                          <a:schemeClr val="tx1"/>
                        </a:solidFill>
                        <a:effectLst/>
                        <a:latin typeface="+mn-lt"/>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marL="171450" indent="-171450" algn="l" rtl="0" fontAlgn="base">
                        <a:lnSpc>
                          <a:spcPts val="1425"/>
                        </a:lnSpc>
                        <a:buFont typeface="Arial" panose="020B0604020202020204" pitchFamily="34" charset="0"/>
                        <a:buChar char="•"/>
                      </a:pPr>
                      <a:r>
                        <a:rPr lang="en-US" sz="1100" b="0" i="0" u="none" strike="noStrike" noProof="0">
                          <a:solidFill>
                            <a:srgbClr val="000000"/>
                          </a:solidFill>
                          <a:effectLst/>
                          <a:latin typeface="Segoe UI"/>
                          <a:cs typeface="Segoe UI"/>
                        </a:rPr>
                        <a:t>Enabled a </a:t>
                      </a:r>
                      <a:r>
                        <a:rPr lang="en-US" sz="1100" b="1" i="0" u="none" strike="noStrike" noProof="0">
                          <a:solidFill>
                            <a:srgbClr val="000000"/>
                          </a:solidFill>
                          <a:effectLst/>
                          <a:latin typeface="Segoe UI"/>
                          <a:cs typeface="Segoe UI"/>
                        </a:rPr>
                        <a:t>secure, scalable shift from legacy tooling to a modern data platform</a:t>
                      </a:r>
                      <a:r>
                        <a:rPr lang="en-US" sz="1100" b="0" i="0" u="none" strike="noStrike" noProof="0">
                          <a:solidFill>
                            <a:srgbClr val="000000"/>
                          </a:solidFill>
                          <a:effectLst/>
                          <a:latin typeface="Segoe UI"/>
                          <a:cs typeface="Segoe UI"/>
                        </a:rPr>
                        <a:t>, mitigating system expiry risk and strengthening reporting reliability.</a:t>
                      </a:r>
                      <a:endParaRPr lang="en-US" sz="900" b="0" i="0">
                        <a:solidFill>
                          <a:srgbClr val="000000"/>
                        </a:solidFill>
                        <a:effectLst/>
                        <a:latin typeface="+mn-lt"/>
                      </a:endParaRPr>
                    </a:p>
                  </a:txBody>
                  <a:tcPr>
                    <a:lnL w="6350" cap="flat" cmpd="sng" algn="ctr">
                      <a:solidFill>
                        <a:schemeClr val="bg1">
                          <a:lumMod val="75000"/>
                        </a:schemeClr>
                      </a:solidFill>
                      <a:prstDash val="solid"/>
                      <a:round/>
                      <a:headEnd type="none" w="med" len="med"/>
                      <a:tailEnd type="none" w="med" len="med"/>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15500475"/>
                  </a:ext>
                </a:extLst>
              </a:tr>
              <a:tr h="524100">
                <a:tc>
                  <a:txBody>
                    <a:bodyPr/>
                    <a:lstStyle/>
                    <a:p>
                      <a:pPr marL="0" marR="0" lvl="0" indent="0" algn="l" defTabSz="914400" rtl="0" eaLnBrk="1" fontAlgn="auto" latinLnBrk="0" hangingPunct="1">
                        <a:lnSpc>
                          <a:spcPts val="1425"/>
                        </a:lnSpc>
                        <a:spcBef>
                          <a:spcPts val="0"/>
                        </a:spcBef>
                        <a:spcAft>
                          <a:spcPts val="0"/>
                        </a:spcAft>
                        <a:buClrTx/>
                        <a:buSzTx/>
                        <a:buFontTx/>
                        <a:buNone/>
                        <a:tabLst/>
                        <a:defRPr/>
                      </a:pPr>
                      <a:r>
                        <a:rPr lang="en-IN" sz="900" b="1" i="0" u="none" strike="noStrike" kern="1200" err="1">
                          <a:solidFill>
                            <a:srgbClr val="0070C0"/>
                          </a:solidFill>
                          <a:effectLst/>
                          <a:latin typeface="+mn-lt"/>
                          <a:ea typeface="+mn-ea"/>
                          <a:cs typeface="+mn-cs"/>
                        </a:rPr>
                        <a:t>Adhoc</a:t>
                      </a:r>
                      <a:r>
                        <a:rPr lang="en-IN" sz="900" b="1" i="0" u="none" strike="noStrike" kern="1200">
                          <a:solidFill>
                            <a:srgbClr val="0070C0"/>
                          </a:solidFill>
                          <a:effectLst/>
                          <a:latin typeface="+mn-lt"/>
                          <a:ea typeface="+mn-ea"/>
                          <a:cs typeface="+mn-cs"/>
                        </a:rPr>
                        <a:t> - Integration between </a:t>
                      </a:r>
                      <a:r>
                        <a:rPr lang="en-IN" sz="900" b="1" i="0" u="none" strike="noStrike" kern="1200" err="1">
                          <a:solidFill>
                            <a:srgbClr val="0070C0"/>
                          </a:solidFill>
                          <a:effectLst/>
                          <a:latin typeface="+mn-lt"/>
                          <a:ea typeface="+mn-ea"/>
                          <a:cs typeface="+mn-cs"/>
                        </a:rPr>
                        <a:t>Botminds</a:t>
                      </a:r>
                      <a:r>
                        <a:rPr lang="en-IN" sz="900" b="1" i="0" u="none" strike="noStrike" kern="1200">
                          <a:solidFill>
                            <a:srgbClr val="0070C0"/>
                          </a:solidFill>
                          <a:effectLst/>
                          <a:latin typeface="+mn-lt"/>
                          <a:ea typeface="+mn-ea"/>
                          <a:cs typeface="+mn-cs"/>
                        </a:rPr>
                        <a:t> and </a:t>
                      </a:r>
                      <a:r>
                        <a:rPr lang="en-IN" sz="900" b="1" i="0" u="none" strike="noStrike" kern="1200" err="1">
                          <a:solidFill>
                            <a:srgbClr val="0070C0"/>
                          </a:solidFill>
                          <a:effectLst/>
                          <a:latin typeface="+mn-lt"/>
                          <a:ea typeface="+mn-ea"/>
                          <a:cs typeface="+mn-cs"/>
                        </a:rPr>
                        <a:t>MyAI</a:t>
                      </a:r>
                      <a:endParaRPr lang="en-IN" sz="900" b="1" i="0" u="none" strike="noStrike" kern="1200">
                        <a:solidFill>
                          <a:srgbClr val="0070C0"/>
                        </a:solidFill>
                        <a:effectLst/>
                        <a:latin typeface="+mn-lt"/>
                        <a:ea typeface="+mn-ea"/>
                        <a:cs typeface="+mn-cs"/>
                      </a:endParaRPr>
                    </a:p>
                    <a:p>
                      <a:pPr marL="0" marR="0" lvl="0" indent="0" algn="l">
                        <a:lnSpc>
                          <a:spcPts val="1425"/>
                        </a:lnSpc>
                        <a:spcBef>
                          <a:spcPts val="0"/>
                        </a:spcBef>
                        <a:spcAft>
                          <a:spcPts val="0"/>
                        </a:spcAft>
                        <a:buClrTx/>
                        <a:buSzTx/>
                        <a:buFontTx/>
                        <a:buNone/>
                      </a:pPr>
                      <a:r>
                        <a:rPr lang="en-US" sz="900" b="1" i="0" u="none" strike="noStrike" kern="1200">
                          <a:solidFill>
                            <a:srgbClr val="0070C0"/>
                          </a:solidFill>
                          <a:effectLst/>
                          <a:latin typeface="+mn-lt"/>
                          <a:ea typeface="+mn-ea"/>
                          <a:cs typeface="+mn-cs"/>
                        </a:rPr>
                        <a:t>Go Live: 25</a:t>
                      </a:r>
                      <a:r>
                        <a:rPr lang="en-US" sz="900" b="1" i="0" u="none" strike="noStrike" kern="1200" baseline="30000">
                          <a:solidFill>
                            <a:srgbClr val="0070C0"/>
                          </a:solidFill>
                          <a:effectLst/>
                          <a:latin typeface="+mn-lt"/>
                          <a:ea typeface="+mn-ea"/>
                          <a:cs typeface="+mn-cs"/>
                        </a:rPr>
                        <a:t>th</a:t>
                      </a:r>
                      <a:r>
                        <a:rPr lang="en-US" sz="900" b="1" i="0" u="none" strike="noStrike" kern="1200">
                          <a:solidFill>
                            <a:srgbClr val="0070C0"/>
                          </a:solidFill>
                          <a:effectLst/>
                          <a:latin typeface="+mn-lt"/>
                          <a:ea typeface="+mn-ea"/>
                          <a:cs typeface="+mn-cs"/>
                        </a:rPr>
                        <a:t> June 2026 (Technical)</a:t>
                      </a:r>
                    </a:p>
                  </a:txBody>
                  <a:tcP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marL="0" indent="0" algn="l" rtl="0" fontAlgn="auto">
                        <a:lnSpc>
                          <a:spcPts val="1425"/>
                        </a:lnSpc>
                        <a:buClr>
                          <a:srgbClr val="000000"/>
                        </a:buClr>
                        <a:buNone/>
                      </a:pPr>
                      <a:endParaRPr lang="en-US" sz="900" b="0" i="0" u="none" strike="noStrike" noProof="0">
                        <a:solidFill>
                          <a:schemeClr val="tx1"/>
                        </a:solidFill>
                        <a:effectLst/>
                        <a:latin typeface="+mn-lt"/>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fontAlgn="t">
                        <a:lnSpc>
                          <a:spcPts val="1500"/>
                        </a:lnSpc>
                        <a:buNone/>
                      </a:pPr>
                      <a:r>
                        <a:rPr lang="en-IN" sz="1100" b="0" i="0" u="none" strike="noStrike" kern="1200">
                          <a:solidFill>
                            <a:srgbClr val="000000"/>
                          </a:solidFill>
                          <a:effectLst/>
                          <a:latin typeface="Segoe UI"/>
                          <a:ea typeface="+mn-ea"/>
                          <a:cs typeface="Segoe UI"/>
                        </a:rPr>
                        <a:t>Automated filing of approved documents ensures secure, tamper-proof regulatory records with verifiable acknowledgements, strengthening DGCA compliance and audit readiness, while eliminating redundant L1/L2 approvals reduces manual effort, accelerates processing, and lowers operational overhead</a:t>
                      </a:r>
                    </a:p>
                  </a:txBody>
                  <a:tcPr>
                    <a:lnL w="6350" cap="flat" cmpd="sng" algn="ctr">
                      <a:solidFill>
                        <a:schemeClr val="bg1">
                          <a:lumMod val="75000"/>
                        </a:schemeClr>
                      </a:solidFill>
                      <a:prstDash val="solid"/>
                      <a:round/>
                      <a:headEnd type="none" w="med" len="med"/>
                      <a:tailEnd type="none" w="med" len="med"/>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200732388"/>
                  </a:ext>
                </a:extLst>
              </a:tr>
            </a:tbl>
          </a:graphicData>
        </a:graphic>
      </p:graphicFrame>
      <p:sp>
        <p:nvSpPr>
          <p:cNvPr id="4" name="Rectangle 3">
            <a:extLst>
              <a:ext uri="{FF2B5EF4-FFF2-40B4-BE49-F238E27FC236}">
                <a16:creationId xmlns:a16="http://schemas.microsoft.com/office/drawing/2014/main" id="{96037763-C2CC-E9C1-2D21-096E8AF459F4}"/>
              </a:ext>
            </a:extLst>
          </p:cNvPr>
          <p:cNvSpPr/>
          <p:nvPr/>
        </p:nvSpPr>
        <p:spPr>
          <a:xfrm>
            <a:off x="1188132" y="6671592"/>
            <a:ext cx="90000" cy="90000"/>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5" name="Rectangle 4">
            <a:extLst>
              <a:ext uri="{FF2B5EF4-FFF2-40B4-BE49-F238E27FC236}">
                <a16:creationId xmlns:a16="http://schemas.microsoft.com/office/drawing/2014/main" id="{E4FB1362-326F-E318-7E51-36D9B0FDA138}"/>
              </a:ext>
            </a:extLst>
          </p:cNvPr>
          <p:cNvSpPr/>
          <p:nvPr/>
        </p:nvSpPr>
        <p:spPr>
          <a:xfrm>
            <a:off x="2265818" y="6670554"/>
            <a:ext cx="90000" cy="90000"/>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7" name="Rectangle 6">
            <a:extLst>
              <a:ext uri="{FF2B5EF4-FFF2-40B4-BE49-F238E27FC236}">
                <a16:creationId xmlns:a16="http://schemas.microsoft.com/office/drawing/2014/main" id="{86E8EC17-46C1-FDDA-7326-82BB54FD017B}"/>
              </a:ext>
            </a:extLst>
          </p:cNvPr>
          <p:cNvSpPr/>
          <p:nvPr/>
        </p:nvSpPr>
        <p:spPr>
          <a:xfrm>
            <a:off x="3443423" y="6671592"/>
            <a:ext cx="90000" cy="90000"/>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8" name="Rectangle 7">
            <a:extLst>
              <a:ext uri="{FF2B5EF4-FFF2-40B4-BE49-F238E27FC236}">
                <a16:creationId xmlns:a16="http://schemas.microsoft.com/office/drawing/2014/main" id="{49E51BA5-FF5B-11D9-AFD5-1BC4C23852BF}"/>
              </a:ext>
            </a:extLst>
          </p:cNvPr>
          <p:cNvSpPr/>
          <p:nvPr/>
        </p:nvSpPr>
        <p:spPr>
          <a:xfrm>
            <a:off x="8146052" y="6714097"/>
            <a:ext cx="90000" cy="90000"/>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9" name="TextBox 15">
            <a:extLst>
              <a:ext uri="{FF2B5EF4-FFF2-40B4-BE49-F238E27FC236}">
                <a16:creationId xmlns:a16="http://schemas.microsoft.com/office/drawing/2014/main" id="{A566A8EA-D948-69BD-BD7D-983AED658708}"/>
              </a:ext>
            </a:extLst>
          </p:cNvPr>
          <p:cNvSpPr txBox="1"/>
          <p:nvPr/>
        </p:nvSpPr>
        <p:spPr>
          <a:xfrm>
            <a:off x="1288983" y="6614743"/>
            <a:ext cx="857245"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0070C0"/>
                </a:solidFill>
                <a:effectLst/>
                <a:uLnTx/>
                <a:uFillTx/>
                <a:latin typeface="Nunito Sans"/>
                <a:ea typeface="+mn-ea"/>
                <a:cs typeface="+mn-cs"/>
              </a:rPr>
              <a:t>Delivered</a:t>
            </a:r>
            <a:endParaRPr kumimoji="0" lang="en-IN" sz="1000" b="0" i="0" u="none" strike="noStrike" kern="1200" cap="none" spc="0" normalizeH="0" baseline="0" noProof="0">
              <a:ln>
                <a:noFill/>
              </a:ln>
              <a:solidFill>
                <a:srgbClr val="000000"/>
              </a:solidFill>
              <a:effectLst/>
              <a:uLnTx/>
              <a:uFillTx/>
              <a:latin typeface="Nunito Sans"/>
              <a:ea typeface="+mn-ea"/>
              <a:cs typeface="+mn-cs"/>
            </a:endParaRPr>
          </a:p>
        </p:txBody>
      </p:sp>
      <p:sp>
        <p:nvSpPr>
          <p:cNvPr id="10" name="TextBox 18">
            <a:extLst>
              <a:ext uri="{FF2B5EF4-FFF2-40B4-BE49-F238E27FC236}">
                <a16:creationId xmlns:a16="http://schemas.microsoft.com/office/drawing/2014/main" id="{7646963D-6171-7205-1682-5E328E3EDA1F}"/>
              </a:ext>
            </a:extLst>
          </p:cNvPr>
          <p:cNvSpPr txBox="1"/>
          <p:nvPr/>
        </p:nvSpPr>
        <p:spPr>
          <a:xfrm>
            <a:off x="2310642" y="6611102"/>
            <a:ext cx="1032881"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00B050"/>
                </a:solidFill>
                <a:effectLst/>
                <a:uLnTx/>
                <a:uFillTx/>
                <a:latin typeface="Nunito Sans"/>
                <a:ea typeface="+mn-ea"/>
                <a:cs typeface="+mn-cs"/>
              </a:rPr>
              <a:t>Ontrack</a:t>
            </a:r>
            <a:endParaRPr kumimoji="0" lang="en-IN" sz="1000" b="0" i="0" u="none" strike="noStrike" kern="1200" cap="none" spc="0" normalizeH="0" baseline="0" noProof="0">
              <a:ln>
                <a:noFill/>
              </a:ln>
              <a:solidFill>
                <a:srgbClr val="000000"/>
              </a:solidFill>
              <a:effectLst/>
              <a:uLnTx/>
              <a:uFillTx/>
              <a:latin typeface="Nunito Sans"/>
              <a:ea typeface="+mn-ea"/>
              <a:cs typeface="+mn-cs"/>
            </a:endParaRPr>
          </a:p>
        </p:txBody>
      </p:sp>
      <p:sp>
        <p:nvSpPr>
          <p:cNvPr id="11" name="TextBox 20">
            <a:extLst>
              <a:ext uri="{FF2B5EF4-FFF2-40B4-BE49-F238E27FC236}">
                <a16:creationId xmlns:a16="http://schemas.microsoft.com/office/drawing/2014/main" id="{48560A1F-AAB9-555C-65E7-C5D59E58541B}"/>
              </a:ext>
            </a:extLst>
          </p:cNvPr>
          <p:cNvSpPr txBox="1"/>
          <p:nvPr/>
        </p:nvSpPr>
        <p:spPr>
          <a:xfrm>
            <a:off x="3539606" y="6608370"/>
            <a:ext cx="2257628"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FED9A0">
                    <a:lumMod val="75000"/>
                  </a:srgbClr>
                </a:solidFill>
                <a:effectLst/>
                <a:uLnTx/>
                <a:uFillTx/>
                <a:latin typeface="Nunito Sans"/>
                <a:ea typeface="+mn-ea"/>
                <a:cs typeface="+mn-cs"/>
              </a:rPr>
              <a:t>Under delay and can be recovered</a:t>
            </a:r>
            <a:endParaRPr kumimoji="0" lang="en-IN" sz="1000" b="0" i="0" u="none" strike="noStrike" kern="1200" cap="none" spc="0" normalizeH="0" baseline="0" noProof="0">
              <a:ln>
                <a:noFill/>
              </a:ln>
              <a:solidFill>
                <a:srgbClr val="000000"/>
              </a:solidFill>
              <a:effectLst/>
              <a:uLnTx/>
              <a:uFillTx/>
              <a:latin typeface="Nunito Sans"/>
              <a:ea typeface="+mn-ea"/>
              <a:cs typeface="+mn-cs"/>
            </a:endParaRPr>
          </a:p>
        </p:txBody>
      </p:sp>
      <p:sp>
        <p:nvSpPr>
          <p:cNvPr id="13" name="TextBox 22">
            <a:extLst>
              <a:ext uri="{FF2B5EF4-FFF2-40B4-BE49-F238E27FC236}">
                <a16:creationId xmlns:a16="http://schemas.microsoft.com/office/drawing/2014/main" id="{473B8030-0D5D-4253-023B-9730F33816E3}"/>
              </a:ext>
            </a:extLst>
          </p:cNvPr>
          <p:cNvSpPr txBox="1"/>
          <p:nvPr/>
        </p:nvSpPr>
        <p:spPr>
          <a:xfrm>
            <a:off x="8246937" y="6618126"/>
            <a:ext cx="2338222"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FF0000"/>
                </a:solidFill>
                <a:effectLst/>
                <a:uLnTx/>
                <a:uFillTx/>
                <a:latin typeface="Nunito Sans"/>
                <a:ea typeface="+mn-ea"/>
                <a:cs typeface="+mn-cs"/>
              </a:rPr>
              <a:t>Delayed and pushed to next release</a:t>
            </a:r>
          </a:p>
        </p:txBody>
      </p:sp>
      <p:sp>
        <p:nvSpPr>
          <p:cNvPr id="15" name="TextBox 14">
            <a:extLst>
              <a:ext uri="{FF2B5EF4-FFF2-40B4-BE49-F238E27FC236}">
                <a16:creationId xmlns:a16="http://schemas.microsoft.com/office/drawing/2014/main" id="{35217D30-12D2-23DD-FDB2-FC206A7F9B88}"/>
              </a:ext>
            </a:extLst>
          </p:cNvPr>
          <p:cNvSpPr txBox="1"/>
          <p:nvPr/>
        </p:nvSpPr>
        <p:spPr>
          <a:xfrm>
            <a:off x="6454369" y="6611638"/>
            <a:ext cx="2743200"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IN" sz="1000">
                <a:solidFill>
                  <a:srgbClr val="7D7D7D"/>
                </a:solidFill>
              </a:rPr>
              <a:t>Descoped</a:t>
            </a:r>
            <a:endParaRPr lang="en-US"/>
          </a:p>
        </p:txBody>
      </p:sp>
      <p:sp>
        <p:nvSpPr>
          <p:cNvPr id="16" name="Rectangle 15">
            <a:extLst>
              <a:ext uri="{FF2B5EF4-FFF2-40B4-BE49-F238E27FC236}">
                <a16:creationId xmlns:a16="http://schemas.microsoft.com/office/drawing/2014/main" id="{FD6F3D19-2E44-BE29-7F01-8F9BEB53C2FD}"/>
              </a:ext>
            </a:extLst>
          </p:cNvPr>
          <p:cNvSpPr/>
          <p:nvPr/>
        </p:nvSpPr>
        <p:spPr>
          <a:xfrm>
            <a:off x="6360794" y="6681439"/>
            <a:ext cx="90000" cy="90000"/>
          </a:xfrm>
          <a:prstGeom prst="rect">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Tree>
    <p:extLst>
      <p:ext uri="{BB962C8B-B14F-4D97-AF65-F5344CB8AC3E}">
        <p14:creationId xmlns:p14="http://schemas.microsoft.com/office/powerpoint/2010/main" val="33327226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85A16-4749-8BB5-3A1F-4412D4C88E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02865E-C2B7-CAE6-2EDC-7C6B096CC7E8}"/>
              </a:ext>
            </a:extLst>
          </p:cNvPr>
          <p:cNvSpPr>
            <a:spLocks noGrp="1"/>
          </p:cNvSpPr>
          <p:nvPr>
            <p:ph type="title"/>
          </p:nvPr>
        </p:nvSpPr>
        <p:spPr>
          <a:xfrm>
            <a:off x="1919417" y="920381"/>
            <a:ext cx="10176225" cy="895041"/>
          </a:xfrm>
        </p:spPr>
        <p:txBody>
          <a:bodyPr/>
          <a:lstStyle/>
          <a:p>
            <a:r>
              <a:rPr lang="en-US" sz="3600">
                <a:latin typeface="AirIndia"/>
              </a:rPr>
              <a:t>Operations Tech – FY27/Q2</a:t>
            </a:r>
            <a:endParaRPr lang="en-IN" sz="3600">
              <a:latin typeface="AirIndia"/>
            </a:endParaRPr>
          </a:p>
        </p:txBody>
      </p:sp>
    </p:spTree>
    <p:extLst>
      <p:ext uri="{BB962C8B-B14F-4D97-AF65-F5344CB8AC3E}">
        <p14:creationId xmlns:p14="http://schemas.microsoft.com/office/powerpoint/2010/main" val="7108500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A7C775-6CE6-1A9B-16AC-8BEF94039E2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AB3005C-F303-0955-CB8C-C7477F3CB54A}"/>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3A41A254-7326-714E-AF55-4C213D6394DE}" type="slidenum">
              <a:rPr kumimoji="0" lang="en-US" sz="1200" b="0" i="0" u="none" strike="noStrike" kern="1200" cap="none" spc="0" normalizeH="0" baseline="0" noProof="0" smtClean="0">
                <a:ln>
                  <a:noFill/>
                </a:ln>
                <a:solidFill>
                  <a:srgbClr val="DA0E28"/>
                </a:solidFill>
                <a:effectLst/>
                <a:uLnTx/>
                <a:uFillTx/>
                <a:latin typeface="Nunito Sans"/>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srgbClr val="DA0E28"/>
              </a:solidFill>
              <a:effectLst/>
              <a:uLnTx/>
              <a:uFillTx/>
              <a:latin typeface="Nunito Sans"/>
              <a:ea typeface="+mn-ea"/>
              <a:cs typeface="+mn-cs"/>
            </a:endParaRPr>
          </a:p>
        </p:txBody>
      </p:sp>
      <p:sp>
        <p:nvSpPr>
          <p:cNvPr id="3" name="Rectangle 2">
            <a:extLst>
              <a:ext uri="{FF2B5EF4-FFF2-40B4-BE49-F238E27FC236}">
                <a16:creationId xmlns:a16="http://schemas.microsoft.com/office/drawing/2014/main" id="{084B4BEA-348B-38D2-3F9F-3ACEB2ADB2BF}"/>
              </a:ext>
            </a:extLst>
          </p:cNvPr>
          <p:cNvSpPr/>
          <p:nvPr/>
        </p:nvSpPr>
        <p:spPr>
          <a:xfrm>
            <a:off x="129077" y="510993"/>
            <a:ext cx="931627" cy="42234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400" b="1">
                <a:solidFill>
                  <a:srgbClr val="FFFFFF"/>
                </a:solidFill>
                <a:latin typeface="AirIndia"/>
              </a:rPr>
              <a:t>July</a:t>
            </a:r>
            <a:r>
              <a:rPr kumimoji="0" lang="en-IN" sz="1400" b="1" i="0" u="none" strike="noStrike" kern="1200" cap="none" spc="0" normalizeH="0" baseline="0" noProof="0">
                <a:ln>
                  <a:noFill/>
                </a:ln>
                <a:solidFill>
                  <a:srgbClr val="FFFFFF"/>
                </a:solidFill>
                <a:effectLst/>
                <a:uLnTx/>
                <a:uFillTx/>
                <a:latin typeface="AirIndia"/>
                <a:ea typeface="+mn-ea"/>
                <a:cs typeface="+mn-cs"/>
              </a:rPr>
              <a:t> ‘</a:t>
            </a:r>
            <a:r>
              <a:rPr lang="en-IN" sz="1400" b="1">
                <a:solidFill>
                  <a:srgbClr val="FFFFFF"/>
                </a:solidFill>
                <a:latin typeface="AirIndia"/>
              </a:rPr>
              <a:t>26</a:t>
            </a:r>
            <a:endParaRPr kumimoji="0" lang="en-US" sz="1400" b="1" i="0" u="none" strike="noStrike" kern="1200" cap="none" spc="0" normalizeH="0" baseline="0" noProof="0">
              <a:ln>
                <a:noFill/>
              </a:ln>
              <a:solidFill>
                <a:srgbClr val="FFFFFF"/>
              </a:solidFill>
              <a:effectLst/>
              <a:uLnTx/>
              <a:uFillTx/>
              <a:latin typeface="AirIndia"/>
              <a:ea typeface="+mn-ea"/>
              <a:cs typeface="+mn-cs"/>
            </a:endParaRPr>
          </a:p>
        </p:txBody>
      </p:sp>
      <p:sp>
        <p:nvSpPr>
          <p:cNvPr id="6" name="Title 11">
            <a:extLst>
              <a:ext uri="{FF2B5EF4-FFF2-40B4-BE49-F238E27FC236}">
                <a16:creationId xmlns:a16="http://schemas.microsoft.com/office/drawing/2014/main" id="{3994C80B-9F89-B030-388E-CC18DA9C597D}"/>
              </a:ext>
            </a:extLst>
          </p:cNvPr>
          <p:cNvSpPr txBox="1">
            <a:spLocks/>
          </p:cNvSpPr>
          <p:nvPr/>
        </p:nvSpPr>
        <p:spPr>
          <a:xfrm>
            <a:off x="253743" y="182023"/>
            <a:ext cx="7702602" cy="430255"/>
          </a:xfrm>
          <a:prstGeom prst="rect">
            <a:avLst/>
          </a:prstGeom>
        </p:spPr>
        <p:txBody>
          <a:bodyPr lIns="91440" tIns="45720" rIns="91440" bIns="45720" anchor="t">
            <a:noAutofit/>
          </a:bodyPr>
          <a:lstStyle>
            <a:lvl1pPr algn="l" defTabSz="914400" rtl="0" eaLnBrk="1" latinLnBrk="0" hangingPunct="1">
              <a:lnSpc>
                <a:spcPct val="90000"/>
              </a:lnSpc>
              <a:spcBef>
                <a:spcPct val="0"/>
              </a:spcBef>
              <a:buNone/>
              <a:defRPr sz="4400" b="1" i="0" kern="1200">
                <a:solidFill>
                  <a:schemeClr val="tx1"/>
                </a:solidFill>
                <a:latin typeface="AirIndia" pitchFamily="82" charset="77"/>
                <a:ea typeface="+mj-ea"/>
                <a:cs typeface="+mj-cs"/>
              </a:defRPr>
            </a:lvl1pPr>
          </a:lstStyle>
          <a:p>
            <a:pPr>
              <a:defRPr/>
            </a:pPr>
            <a:r>
              <a:rPr lang="en-US" sz="1800">
                <a:solidFill>
                  <a:srgbClr val="DA0E28"/>
                </a:solidFill>
                <a:latin typeface="AirIndia"/>
              </a:rPr>
              <a:t>Operations Tech </a:t>
            </a:r>
            <a:r>
              <a:rPr kumimoji="0" lang="en-US" sz="1800" b="1" i="0" u="none" strike="noStrike" kern="1200" cap="none" spc="0" normalizeH="0" baseline="0" noProof="0">
                <a:ln>
                  <a:noFill/>
                </a:ln>
                <a:solidFill>
                  <a:srgbClr val="DA0E28"/>
                </a:solidFill>
                <a:effectLst/>
                <a:uLnTx/>
                <a:uFillTx/>
                <a:latin typeface="AirIndia"/>
                <a:ea typeface="+mj-ea"/>
                <a:cs typeface="+mj-cs"/>
              </a:rPr>
              <a:t>- </a:t>
            </a:r>
            <a:r>
              <a:rPr lang="en-US" sz="1800">
                <a:solidFill>
                  <a:srgbClr val="DA0E28"/>
                </a:solidFill>
                <a:latin typeface="AirIndia"/>
              </a:rPr>
              <a:t>FY26-27 </a:t>
            </a:r>
            <a:r>
              <a:rPr kumimoji="0" lang="en-US" sz="1800" b="1" i="0" u="none" strike="noStrike" kern="1200" cap="none" spc="0" normalizeH="0" baseline="0" noProof="0">
                <a:ln>
                  <a:noFill/>
                </a:ln>
                <a:solidFill>
                  <a:srgbClr val="DA0E28"/>
                </a:solidFill>
                <a:effectLst/>
                <a:uLnTx/>
                <a:uFillTx/>
                <a:latin typeface="AirIndia"/>
                <a:ea typeface="+mj-ea"/>
                <a:cs typeface="+mj-cs"/>
              </a:rPr>
              <a:t>Q2 Release Plan</a:t>
            </a:r>
            <a:endParaRPr lang="en-US" sz="1800" b="0">
              <a:solidFill>
                <a:srgbClr val="000000"/>
              </a:solidFill>
              <a:latin typeface="AirIndia"/>
            </a:endParaRPr>
          </a:p>
          <a:p>
            <a:pPr>
              <a:defRPr/>
            </a:pPr>
            <a:endParaRPr lang="en-US" sz="1800" i="0" u="none" strike="noStrike" kern="1200" cap="none" spc="0" normalizeH="0" baseline="0" noProof="0">
              <a:ln>
                <a:noFill/>
              </a:ln>
              <a:solidFill>
                <a:srgbClr val="DA0E28"/>
              </a:solidFill>
              <a:effectLst/>
              <a:uLnTx/>
              <a:uFillTx/>
              <a:latin typeface="AirIndia"/>
            </a:endParaRPr>
          </a:p>
        </p:txBody>
      </p:sp>
      <p:sp>
        <p:nvSpPr>
          <p:cNvPr id="4" name="Rectangle 3">
            <a:extLst>
              <a:ext uri="{FF2B5EF4-FFF2-40B4-BE49-F238E27FC236}">
                <a16:creationId xmlns:a16="http://schemas.microsoft.com/office/drawing/2014/main" id="{D528BC02-CFD0-C45E-29DF-39BBF633CA3A}"/>
              </a:ext>
            </a:extLst>
          </p:cNvPr>
          <p:cNvSpPr/>
          <p:nvPr/>
        </p:nvSpPr>
        <p:spPr>
          <a:xfrm>
            <a:off x="1188132" y="6681522"/>
            <a:ext cx="90000" cy="90000"/>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5" name="Rectangle 4">
            <a:extLst>
              <a:ext uri="{FF2B5EF4-FFF2-40B4-BE49-F238E27FC236}">
                <a16:creationId xmlns:a16="http://schemas.microsoft.com/office/drawing/2014/main" id="{4C430F3A-806D-64D4-232B-F014303D325F}"/>
              </a:ext>
            </a:extLst>
          </p:cNvPr>
          <p:cNvSpPr/>
          <p:nvPr/>
        </p:nvSpPr>
        <p:spPr>
          <a:xfrm>
            <a:off x="2265818" y="6681522"/>
            <a:ext cx="90000" cy="90000"/>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7" name="Rectangle 6">
            <a:extLst>
              <a:ext uri="{FF2B5EF4-FFF2-40B4-BE49-F238E27FC236}">
                <a16:creationId xmlns:a16="http://schemas.microsoft.com/office/drawing/2014/main" id="{649A0B85-CE08-121D-7249-2DB88615D510}"/>
              </a:ext>
            </a:extLst>
          </p:cNvPr>
          <p:cNvSpPr/>
          <p:nvPr/>
        </p:nvSpPr>
        <p:spPr>
          <a:xfrm>
            <a:off x="3443423" y="6681522"/>
            <a:ext cx="90000" cy="90000"/>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8" name="Rectangle 7">
            <a:extLst>
              <a:ext uri="{FF2B5EF4-FFF2-40B4-BE49-F238E27FC236}">
                <a16:creationId xmlns:a16="http://schemas.microsoft.com/office/drawing/2014/main" id="{27431577-0A18-4127-52BC-DAA2FA978707}"/>
              </a:ext>
            </a:extLst>
          </p:cNvPr>
          <p:cNvSpPr/>
          <p:nvPr/>
        </p:nvSpPr>
        <p:spPr>
          <a:xfrm>
            <a:off x="8146052" y="6681522"/>
            <a:ext cx="90000" cy="90000"/>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9" name="TextBox 15">
            <a:extLst>
              <a:ext uri="{FF2B5EF4-FFF2-40B4-BE49-F238E27FC236}">
                <a16:creationId xmlns:a16="http://schemas.microsoft.com/office/drawing/2014/main" id="{858010CA-7BD0-2ACD-6156-65AF926EE2A6}"/>
              </a:ext>
            </a:extLst>
          </p:cNvPr>
          <p:cNvSpPr txBox="1"/>
          <p:nvPr/>
        </p:nvSpPr>
        <p:spPr>
          <a:xfrm>
            <a:off x="1288983" y="6608370"/>
            <a:ext cx="769857"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0070C0"/>
                </a:solidFill>
                <a:effectLst/>
                <a:uLnTx/>
                <a:uFillTx/>
                <a:latin typeface="Nunito Sans"/>
                <a:ea typeface="+mn-ea"/>
                <a:cs typeface="+mn-cs"/>
              </a:rPr>
              <a:t>Delivered</a:t>
            </a:r>
            <a:endParaRPr kumimoji="0" lang="en-IN" sz="1000" b="0" i="0" u="none" strike="noStrike" kern="1200" cap="none" spc="0" normalizeH="0" baseline="0" noProof="0">
              <a:ln>
                <a:noFill/>
              </a:ln>
              <a:solidFill>
                <a:srgbClr val="000000"/>
              </a:solidFill>
              <a:effectLst/>
              <a:uLnTx/>
              <a:uFillTx/>
              <a:latin typeface="Nunito Sans"/>
              <a:ea typeface="+mn-ea"/>
              <a:cs typeface="+mn-cs"/>
            </a:endParaRPr>
          </a:p>
        </p:txBody>
      </p:sp>
      <p:sp>
        <p:nvSpPr>
          <p:cNvPr id="10" name="TextBox 18">
            <a:extLst>
              <a:ext uri="{FF2B5EF4-FFF2-40B4-BE49-F238E27FC236}">
                <a16:creationId xmlns:a16="http://schemas.microsoft.com/office/drawing/2014/main" id="{99906DF6-6C16-388E-3BBF-530A38E22552}"/>
              </a:ext>
            </a:extLst>
          </p:cNvPr>
          <p:cNvSpPr txBox="1"/>
          <p:nvPr/>
        </p:nvSpPr>
        <p:spPr>
          <a:xfrm>
            <a:off x="2310642" y="6608370"/>
            <a:ext cx="769857"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00B050"/>
                </a:solidFill>
                <a:effectLst/>
                <a:uLnTx/>
                <a:uFillTx/>
                <a:latin typeface="Nunito Sans"/>
                <a:ea typeface="+mn-ea"/>
                <a:cs typeface="+mn-cs"/>
              </a:rPr>
              <a:t>On-track</a:t>
            </a:r>
            <a:endParaRPr kumimoji="0" lang="en-IN" sz="1000" b="0" i="0" u="none" strike="noStrike" kern="1200" cap="none" spc="0" normalizeH="0" baseline="0" noProof="0">
              <a:ln>
                <a:noFill/>
              </a:ln>
              <a:solidFill>
                <a:srgbClr val="000000"/>
              </a:solidFill>
              <a:effectLst/>
              <a:uLnTx/>
              <a:uFillTx/>
              <a:latin typeface="Nunito Sans"/>
              <a:ea typeface="+mn-ea"/>
              <a:cs typeface="+mn-cs"/>
            </a:endParaRPr>
          </a:p>
        </p:txBody>
      </p:sp>
      <p:sp>
        <p:nvSpPr>
          <p:cNvPr id="11" name="TextBox 20">
            <a:extLst>
              <a:ext uri="{FF2B5EF4-FFF2-40B4-BE49-F238E27FC236}">
                <a16:creationId xmlns:a16="http://schemas.microsoft.com/office/drawing/2014/main" id="{45A63DD6-1F47-B7B5-5E80-851395F3F591}"/>
              </a:ext>
            </a:extLst>
          </p:cNvPr>
          <p:cNvSpPr txBox="1"/>
          <p:nvPr/>
        </p:nvSpPr>
        <p:spPr>
          <a:xfrm>
            <a:off x="3539606" y="6608370"/>
            <a:ext cx="2190082"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FED9A0">
                    <a:lumMod val="75000"/>
                  </a:srgbClr>
                </a:solidFill>
                <a:effectLst/>
                <a:uLnTx/>
                <a:uFillTx/>
                <a:latin typeface="Nunito Sans"/>
                <a:ea typeface="+mn-ea"/>
                <a:cs typeface="+mn-cs"/>
              </a:rPr>
              <a:t>Under delay and can be recovered</a:t>
            </a:r>
            <a:endParaRPr kumimoji="0" lang="en-IN" sz="1000" b="0" i="0" u="none" strike="noStrike" kern="1200" cap="none" spc="0" normalizeH="0" baseline="0" noProof="0">
              <a:ln>
                <a:noFill/>
              </a:ln>
              <a:solidFill>
                <a:srgbClr val="000000"/>
              </a:solidFill>
              <a:effectLst/>
              <a:uLnTx/>
              <a:uFillTx/>
              <a:latin typeface="Nunito Sans"/>
              <a:ea typeface="+mn-ea"/>
              <a:cs typeface="+mn-cs"/>
            </a:endParaRPr>
          </a:p>
        </p:txBody>
      </p:sp>
      <p:sp>
        <p:nvSpPr>
          <p:cNvPr id="13" name="TextBox 22">
            <a:extLst>
              <a:ext uri="{FF2B5EF4-FFF2-40B4-BE49-F238E27FC236}">
                <a16:creationId xmlns:a16="http://schemas.microsoft.com/office/drawing/2014/main" id="{B43AD501-09E6-AF52-C377-7AF53C9C2544}"/>
              </a:ext>
            </a:extLst>
          </p:cNvPr>
          <p:cNvSpPr txBox="1"/>
          <p:nvPr/>
        </p:nvSpPr>
        <p:spPr>
          <a:xfrm>
            <a:off x="8246937" y="6608370"/>
            <a:ext cx="2259519"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FF0000"/>
                </a:solidFill>
                <a:effectLst/>
                <a:uLnTx/>
                <a:uFillTx/>
                <a:latin typeface="Nunito Sans"/>
                <a:ea typeface="+mn-ea"/>
                <a:cs typeface="+mn-cs"/>
              </a:rPr>
              <a:t>Delayed and pushed to next release</a:t>
            </a:r>
          </a:p>
        </p:txBody>
      </p:sp>
      <p:sp>
        <p:nvSpPr>
          <p:cNvPr id="15" name="TextBox 14">
            <a:extLst>
              <a:ext uri="{FF2B5EF4-FFF2-40B4-BE49-F238E27FC236}">
                <a16:creationId xmlns:a16="http://schemas.microsoft.com/office/drawing/2014/main" id="{08322253-A0FB-8CFA-7B16-022158E52D08}"/>
              </a:ext>
            </a:extLst>
          </p:cNvPr>
          <p:cNvSpPr txBox="1"/>
          <p:nvPr/>
        </p:nvSpPr>
        <p:spPr>
          <a:xfrm>
            <a:off x="6454369" y="6608370"/>
            <a:ext cx="999983" cy="246221"/>
          </a:xfrm>
          <a:prstGeom prst="rect">
            <a:avLst/>
          </a:prstGeom>
          <a:noFill/>
        </p:spPr>
        <p:txBody>
          <a:bodyPr rot="0" spcFirstLastPara="0" vertOverflow="overflow" horzOverflow="overflow" vert="horz" wrap="square" lIns="36000" tIns="45720" rIns="36000" bIns="45720" numCol="1" spcCol="0" rtlCol="0" fromWordArt="0" anchor="t" anchorCtr="0" forceAA="0" compatLnSpc="1">
            <a:prstTxWarp prst="textNoShape">
              <a:avLst/>
            </a:prstTxWarp>
            <a:spAutoFit/>
          </a:bodyPr>
          <a:lstStyle/>
          <a:p>
            <a:r>
              <a:rPr lang="en-IN" sz="1000">
                <a:solidFill>
                  <a:srgbClr val="7D7D7D"/>
                </a:solidFill>
              </a:rPr>
              <a:t>Descoped</a:t>
            </a:r>
            <a:endParaRPr lang="en-US"/>
          </a:p>
        </p:txBody>
      </p:sp>
      <p:sp>
        <p:nvSpPr>
          <p:cNvPr id="16" name="Rectangle 15">
            <a:extLst>
              <a:ext uri="{FF2B5EF4-FFF2-40B4-BE49-F238E27FC236}">
                <a16:creationId xmlns:a16="http://schemas.microsoft.com/office/drawing/2014/main" id="{D2084411-B9B7-1F22-1E7D-BC307A26DF72}"/>
              </a:ext>
            </a:extLst>
          </p:cNvPr>
          <p:cNvSpPr/>
          <p:nvPr/>
        </p:nvSpPr>
        <p:spPr>
          <a:xfrm>
            <a:off x="6360794" y="6681439"/>
            <a:ext cx="90000" cy="90000"/>
          </a:xfrm>
          <a:prstGeom prst="rect">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graphicFrame>
        <p:nvGraphicFramePr>
          <p:cNvPr id="14" name="Table 13">
            <a:extLst>
              <a:ext uri="{FF2B5EF4-FFF2-40B4-BE49-F238E27FC236}">
                <a16:creationId xmlns:a16="http://schemas.microsoft.com/office/drawing/2014/main" id="{82B3F597-3BB5-023B-DAC5-7A695313D426}"/>
              </a:ext>
            </a:extLst>
          </p:cNvPr>
          <p:cNvGraphicFramePr>
            <a:graphicFrameLocks noGrp="1"/>
          </p:cNvGraphicFramePr>
          <p:nvPr>
            <p:extLst>
              <p:ext uri="{D42A27DB-BD31-4B8C-83A1-F6EECF244321}">
                <p14:modId xmlns:p14="http://schemas.microsoft.com/office/powerpoint/2010/main" val="681642895"/>
              </p:ext>
            </p:extLst>
          </p:nvPr>
        </p:nvGraphicFramePr>
        <p:xfrm>
          <a:off x="1060704" y="513280"/>
          <a:ext cx="11002211" cy="5791199"/>
        </p:xfrm>
        <a:graphic>
          <a:graphicData uri="http://schemas.openxmlformats.org/drawingml/2006/table">
            <a:tbl>
              <a:tblPr firstRow="1" bandRow="1">
                <a:tableStyleId>{5C22544A-7EE6-4342-B048-85BDC9FD1C3A}</a:tableStyleId>
              </a:tblPr>
              <a:tblGrid>
                <a:gridCol w="1477065">
                  <a:extLst>
                    <a:ext uri="{9D8B030D-6E8A-4147-A177-3AD203B41FA5}">
                      <a16:colId xmlns:a16="http://schemas.microsoft.com/office/drawing/2014/main" val="2822350773"/>
                    </a:ext>
                  </a:extLst>
                </a:gridCol>
                <a:gridCol w="920838">
                  <a:extLst>
                    <a:ext uri="{9D8B030D-6E8A-4147-A177-3AD203B41FA5}">
                      <a16:colId xmlns:a16="http://schemas.microsoft.com/office/drawing/2014/main" val="1843387359"/>
                    </a:ext>
                  </a:extLst>
                </a:gridCol>
                <a:gridCol w="6463517">
                  <a:extLst>
                    <a:ext uri="{9D8B030D-6E8A-4147-A177-3AD203B41FA5}">
                      <a16:colId xmlns:a16="http://schemas.microsoft.com/office/drawing/2014/main" val="99588705"/>
                    </a:ext>
                  </a:extLst>
                </a:gridCol>
                <a:gridCol w="1039367">
                  <a:extLst>
                    <a:ext uri="{9D8B030D-6E8A-4147-A177-3AD203B41FA5}">
                      <a16:colId xmlns:a16="http://schemas.microsoft.com/office/drawing/2014/main" val="2435817915"/>
                    </a:ext>
                  </a:extLst>
                </a:gridCol>
                <a:gridCol w="1101424">
                  <a:extLst>
                    <a:ext uri="{9D8B030D-6E8A-4147-A177-3AD203B41FA5}">
                      <a16:colId xmlns:a16="http://schemas.microsoft.com/office/drawing/2014/main" val="2664340947"/>
                    </a:ext>
                  </a:extLst>
                </a:gridCol>
              </a:tblGrid>
              <a:tr h="388712">
                <a:tc>
                  <a:txBody>
                    <a:bodyPr/>
                    <a:lstStyle/>
                    <a:p>
                      <a:pPr marL="0" lvl="0" indent="0" algn="ctr" defTabSz="914400" rtl="0">
                        <a:lnSpc>
                          <a:spcPct val="100000"/>
                        </a:lnSpc>
                        <a:buFont typeface="Arial" panose="020B0604020202020204" pitchFamily="34" charset="0"/>
                        <a:buNone/>
                      </a:pPr>
                      <a:r>
                        <a:rPr lang="en-IN" sz="1050" b="1" kern="1200">
                          <a:solidFill>
                            <a:schemeClr val="bg1"/>
                          </a:solidFill>
                          <a:latin typeface="+mn-lt"/>
                          <a:ea typeface="+mn-ea"/>
                          <a:cs typeface="+mn-cs"/>
                        </a:rPr>
                        <a:t>Initiatives</a:t>
                      </a:r>
                      <a:endParaRPr lang="en-US" sz="1050" b="1"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tc>
                  <a:txBody>
                    <a:bodyPr/>
                    <a:lstStyle/>
                    <a:p>
                      <a:pPr marL="0" lvl="0" indent="0" algn="ctr" defTabSz="914400">
                        <a:lnSpc>
                          <a:spcPct val="100000"/>
                        </a:lnSpc>
                        <a:buNone/>
                      </a:pPr>
                      <a:r>
                        <a:rPr lang="en-IN" sz="1050" b="1" i="0" u="none" strike="noStrike" kern="1200" noProof="0">
                          <a:solidFill>
                            <a:schemeClr val="bg1"/>
                          </a:solidFill>
                          <a:latin typeface="Nunito Sans"/>
                          <a:ea typeface="+mn-ea"/>
                          <a:cs typeface="+mn-cs"/>
                        </a:rPr>
                        <a:t>Programs/Project</a:t>
                      </a:r>
                      <a:endParaRPr lang="en-US" sz="1600"/>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tc>
                  <a:txBody>
                    <a:bodyPr/>
                    <a:lstStyle/>
                    <a:p>
                      <a:pPr marL="0" lvl="0" indent="0" algn="ctr">
                        <a:lnSpc>
                          <a:spcPct val="100000"/>
                        </a:lnSpc>
                        <a:buNone/>
                      </a:pPr>
                      <a:r>
                        <a:rPr lang="en-IN" sz="1050" b="1" i="0" u="none" strike="noStrike" kern="1200" baseline="0" noProof="0">
                          <a:solidFill>
                            <a:srgbClr val="FFFFFF"/>
                          </a:solidFill>
                          <a:latin typeface="Nunito Sans"/>
                        </a:rPr>
                        <a:t>Value Justification/Realization</a:t>
                      </a:r>
                      <a:endParaRPr lang="en-IN" sz="1050"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tc>
                  <a:txBody>
                    <a:bodyPr/>
                    <a:lstStyle/>
                    <a:p>
                      <a:pPr marL="0" lvl="0" indent="0" algn="ctr" defTabSz="914400">
                        <a:buFont typeface="Arial" panose="020B0604020202020204" pitchFamily="34" charset="0"/>
                        <a:buNone/>
                      </a:pPr>
                      <a:r>
                        <a:rPr lang="en-IN" sz="1050" kern="1200">
                          <a:solidFill>
                            <a:schemeClr val="bg1"/>
                          </a:solidFill>
                          <a:latin typeface="+mn-lt"/>
                          <a:ea typeface="+mn-ea"/>
                          <a:cs typeface="+mn-cs"/>
                        </a:rPr>
                        <a:t>Planned Go-live date</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1050" b="1" kern="1200">
                          <a:solidFill>
                            <a:schemeClr val="bg1"/>
                          </a:solidFill>
                          <a:latin typeface="+mn-lt"/>
                          <a:ea typeface="+mn-ea"/>
                          <a:cs typeface="+mn-cs"/>
                        </a:rPr>
                        <a:t>EIP Integration Required (Yes/No)</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extLst>
                  <a:ext uri="{0D108BD9-81ED-4DB2-BD59-A6C34878D82A}">
                    <a16:rowId xmlns:a16="http://schemas.microsoft.com/office/drawing/2014/main" val="844450115"/>
                  </a:ext>
                </a:extLst>
              </a:tr>
              <a:tr h="634999">
                <a:tc>
                  <a:txBody>
                    <a:bodyPr/>
                    <a:lstStyle/>
                    <a:p>
                      <a:pPr lvl="0" algn="l" rtl="0">
                        <a:lnSpc>
                          <a:spcPts val="1425"/>
                        </a:lnSpc>
                        <a:buNone/>
                      </a:pPr>
                      <a:r>
                        <a:rPr lang="en-US" sz="800" b="1" i="0" u="none" strike="noStrike">
                          <a:solidFill>
                            <a:srgbClr val="00B050"/>
                          </a:solidFill>
                          <a:effectLst/>
                          <a:latin typeface="+mn-lt"/>
                        </a:rPr>
                        <a:t>Jeppesen Standby feature enhancement for Cabin Crew Planning</a:t>
                      </a:r>
                      <a:endParaRPr lang="en-US" sz="1600">
                        <a:solidFill>
                          <a:srgbClr val="00B050"/>
                        </a:solidFill>
                      </a:endParaRPr>
                    </a:p>
                  </a:txBody>
                  <a:tcP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lvl="0" algn="l" rtl="0">
                        <a:lnSpc>
                          <a:spcPts val="1425"/>
                        </a:lnSpc>
                        <a:buFont typeface="+mj-lt"/>
                        <a:buNone/>
                      </a:pPr>
                      <a:r>
                        <a:rPr lang="en-US" sz="800" b="1" i="0" u="none" strike="noStrike">
                          <a:solidFill>
                            <a:schemeClr val="tx1"/>
                          </a:solidFill>
                          <a:effectLst/>
                          <a:latin typeface="+mn-lt"/>
                        </a:rPr>
                        <a:t>Jeppesen Pairing and Rostering</a:t>
                      </a:r>
                      <a:endParaRPr lang="en-US" sz="1600"/>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171450" lvl="0" indent="-171450" algn="l" rtl="0" eaLnBrk="1" latinLnBrk="0" hangingPunct="1">
                        <a:lnSpc>
                          <a:spcPct val="100000"/>
                        </a:lnSpc>
                        <a:spcBef>
                          <a:spcPts val="0"/>
                        </a:spcBef>
                        <a:spcAft>
                          <a:spcPts val="0"/>
                        </a:spcAft>
                        <a:buFont typeface="Arial" panose="020B0604020202020204" pitchFamily="34" charset="0"/>
                        <a:buChar char="•"/>
                      </a:pPr>
                      <a:r>
                        <a:rPr lang="en-US" sz="800" b="0" i="0" u="none" strike="noStrike" kern="1200">
                          <a:solidFill>
                            <a:schemeClr val="tx1"/>
                          </a:solidFill>
                          <a:latin typeface="+mn-lt"/>
                          <a:ea typeface="+mn-ea"/>
                          <a:cs typeface="+mn-cs"/>
                        </a:rPr>
                        <a:t>    Improve roster stability,​ roster efficiency &amp; enhance crew productivity​</a:t>
                      </a:r>
                      <a:endParaRPr lang="en-US" sz="1600"/>
                    </a:p>
                    <a:p>
                      <a:pPr marL="285750" lvl="0" indent="-285750" algn="l" rtl="0">
                        <a:lnSpc>
                          <a:spcPct val="100000"/>
                        </a:lnSpc>
                        <a:spcBef>
                          <a:spcPts val="0"/>
                        </a:spcBef>
                        <a:spcAft>
                          <a:spcPts val="0"/>
                        </a:spcAft>
                        <a:buFont typeface="Arial"/>
                        <a:buChar char="•"/>
                      </a:pPr>
                      <a:r>
                        <a:rPr lang="en-US" sz="800" b="0" i="0" u="none" strike="noStrike" kern="1200">
                          <a:solidFill>
                            <a:schemeClr val="tx1"/>
                          </a:solidFill>
                          <a:latin typeface="+mn-lt"/>
                          <a:ea typeface="+mn-ea"/>
                          <a:cs typeface="+mn-cs"/>
                        </a:rPr>
                        <a:t>Efficient Standby allocation is essential for a more reliable and higher‑performing rostering process.​</a:t>
                      </a:r>
                      <a:endParaRPr lang="en-US" sz="1600"/>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lvl="0" indent="0" algn="l" rtl="0">
                        <a:lnSpc>
                          <a:spcPct val="100000"/>
                        </a:lnSpc>
                        <a:spcBef>
                          <a:spcPts val="0"/>
                        </a:spcBef>
                        <a:spcAft>
                          <a:spcPts val="0"/>
                        </a:spcAft>
                        <a:buFont typeface="Arial"/>
                        <a:buNone/>
                      </a:pPr>
                      <a:r>
                        <a:rPr kumimoji="0" lang="en-US" sz="800" b="1" i="0" u="none" strike="noStrike" kern="1200" cap="none" spc="0" normalizeH="0" baseline="0" noProof="0">
                          <a:ln>
                            <a:noFill/>
                          </a:ln>
                          <a:solidFill>
                            <a:srgbClr val="00B050"/>
                          </a:solidFill>
                          <a:effectLst/>
                          <a:uLnTx/>
                          <a:uFillTx/>
                          <a:latin typeface="+mn-lt"/>
                          <a:ea typeface="+mn-ea"/>
                          <a:cs typeface="+mn-cs"/>
                        </a:rPr>
                        <a:t>24 Jul 2026</a:t>
                      </a:r>
                      <a:r>
                        <a:rPr kumimoji="0" lang="en-US" sz="800" b="0" i="0" u="none" strike="noStrike" kern="1200" cap="none" spc="0" normalizeH="0" baseline="0" noProof="0">
                          <a:ln>
                            <a:noFill/>
                          </a:ln>
                          <a:solidFill>
                            <a:srgbClr val="00B050"/>
                          </a:solidFill>
                          <a:effectLst/>
                          <a:uLnTx/>
                          <a:uFillTx/>
                          <a:latin typeface="+mn-lt"/>
                          <a:ea typeface="+mn-ea"/>
                          <a:cs typeface="+mn-cs"/>
                        </a:rPr>
                        <a:t>​</a:t>
                      </a:r>
                      <a:endParaRPr lang="en-US" sz="1600"/>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lvl="0" indent="0" algn="ctr">
                        <a:lnSpc>
                          <a:spcPct val="100000"/>
                        </a:lnSpc>
                        <a:spcBef>
                          <a:spcPts val="0"/>
                        </a:spcBef>
                        <a:spcAft>
                          <a:spcPts val="0"/>
                        </a:spcAft>
                        <a:buNone/>
                      </a:pPr>
                      <a:r>
                        <a:rPr lang="en-US" sz="800" b="0" i="0" u="none" strike="noStrike" kern="1200" noProof="0">
                          <a:solidFill>
                            <a:schemeClr val="tx1"/>
                          </a:solidFill>
                          <a:latin typeface="Nunito Sans"/>
                          <a:ea typeface="+mn-ea"/>
                          <a:cs typeface="+mn-cs"/>
                        </a:rPr>
                        <a:t>No</a:t>
                      </a:r>
                      <a:endParaRPr lang="en-US"/>
                    </a:p>
                  </a:txBody>
                  <a:tcPr>
                    <a:lnL w="6350" cap="flat" cmpd="sng" algn="ctr">
                      <a:solidFill>
                        <a:schemeClr val="bg1">
                          <a:lumMod val="75000"/>
                        </a:schemeClr>
                      </a:solidFill>
                      <a:prstDash val="solid"/>
                      <a:round/>
                      <a:headEnd type="none" w="med" len="med"/>
                      <a:tailEnd type="none" w="med" len="med"/>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76077021"/>
                  </a:ext>
                </a:extLst>
              </a:tr>
              <a:tr h="588691">
                <a:tc>
                  <a:txBody>
                    <a:bodyPr/>
                    <a:lstStyle/>
                    <a:p>
                      <a:pPr marL="0" lvl="0" indent="0" algn="l">
                        <a:lnSpc>
                          <a:spcPct val="100000"/>
                        </a:lnSpc>
                        <a:spcBef>
                          <a:spcPts val="0"/>
                        </a:spcBef>
                        <a:spcAft>
                          <a:spcPts val="0"/>
                        </a:spcAft>
                        <a:buClr>
                          <a:srgbClr val="000000"/>
                        </a:buClr>
                        <a:buNone/>
                      </a:pPr>
                      <a:r>
                        <a:rPr lang="en-US" sz="800" b="1" i="0" u="none" strike="noStrike" kern="1200" noProof="0">
                          <a:solidFill>
                            <a:srgbClr val="00B050"/>
                          </a:solidFill>
                          <a:effectLst/>
                          <a:latin typeface="+mn-lt"/>
                          <a:ea typeface="+mn-ea"/>
                          <a:cs typeface="+mn-cs"/>
                        </a:rPr>
                        <a:t>Jeppesen – Annual Block Time limit for Cabin Crew Planning</a:t>
                      </a:r>
                      <a:endParaRPr lang="en-US" sz="1600">
                        <a:solidFill>
                          <a:srgbClr val="00B050"/>
                        </a:solidFill>
                      </a:endParaRPr>
                    </a:p>
                  </a:txBody>
                  <a:tcP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marL="0" lvl="0" indent="0" algn="l">
                        <a:lnSpc>
                          <a:spcPct val="100000"/>
                        </a:lnSpc>
                        <a:spcBef>
                          <a:spcPts val="0"/>
                        </a:spcBef>
                        <a:spcAft>
                          <a:spcPts val="0"/>
                        </a:spcAft>
                        <a:buNone/>
                      </a:pPr>
                      <a:r>
                        <a:rPr lang="en-US" sz="800" b="1" i="0" u="none" strike="noStrike" kern="1200" noProof="0">
                          <a:solidFill>
                            <a:schemeClr val="tx1"/>
                          </a:solidFill>
                          <a:latin typeface="Nunito Sans"/>
                        </a:rPr>
                        <a:t>Jeppesen Pairing and Rostering</a:t>
                      </a:r>
                      <a:endParaRPr lang="en-US" sz="800" b="1" i="0" u="none" strike="noStrike" kern="1200" noProof="0">
                        <a:solidFill>
                          <a:schemeClr val="tx1"/>
                        </a:solidFill>
                        <a:latin typeface="+mn-lt"/>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marL="285750" lvl="0" indent="-285750" algn="l">
                        <a:lnSpc>
                          <a:spcPct val="100000"/>
                        </a:lnSpc>
                        <a:spcBef>
                          <a:spcPts val="0"/>
                        </a:spcBef>
                        <a:spcAft>
                          <a:spcPts val="0"/>
                        </a:spcAft>
                        <a:buFont typeface="Arial"/>
                        <a:buChar char="•"/>
                      </a:pPr>
                      <a:r>
                        <a:rPr lang="en-US" sz="800" b="0" i="0" u="none" strike="noStrike" kern="1200" noProof="0">
                          <a:solidFill>
                            <a:schemeClr val="tx1"/>
                          </a:solidFill>
                          <a:latin typeface="+mn-lt"/>
                          <a:ea typeface="+mn-ea"/>
                          <a:cs typeface="+mn-cs"/>
                        </a:rPr>
                        <a:t>Improve overall annual crew utilization balance</a:t>
                      </a:r>
                      <a:endParaRPr lang="en-US" sz="800" b="0" i="0" u="none" strike="noStrike" kern="1200">
                        <a:solidFill>
                          <a:schemeClr val="tx1"/>
                        </a:solidFill>
                        <a:latin typeface="+mn-lt"/>
                        <a:ea typeface="+mn-ea"/>
                        <a:cs typeface="+mn-cs"/>
                      </a:endParaRPr>
                    </a:p>
                    <a:p>
                      <a:pPr marL="285750" lvl="0" indent="-285750" algn="l">
                        <a:lnSpc>
                          <a:spcPct val="100000"/>
                        </a:lnSpc>
                        <a:spcBef>
                          <a:spcPts val="0"/>
                        </a:spcBef>
                        <a:spcAft>
                          <a:spcPts val="0"/>
                        </a:spcAft>
                        <a:buFont typeface="Arial"/>
                        <a:buChar char="•"/>
                      </a:pPr>
                      <a:r>
                        <a:rPr lang="en-US" sz="800" b="0" i="0" u="none" strike="noStrike" kern="1200" noProof="0">
                          <a:solidFill>
                            <a:schemeClr val="tx1"/>
                          </a:solidFill>
                          <a:latin typeface="+mn-lt"/>
                          <a:ea typeface="+mn-ea"/>
                          <a:cs typeface="+mn-cs"/>
                        </a:rPr>
                        <a:t>Reduce high-hour concentration leading to HOH (High on Hours) and crew unavailability</a:t>
                      </a:r>
                      <a:endParaRPr lang="en-US" sz="800" b="0" i="0" u="none" strike="noStrike" kern="1200">
                        <a:solidFill>
                          <a:schemeClr val="tx1"/>
                        </a:solidFill>
                        <a:latin typeface="+mn-lt"/>
                        <a:ea typeface="+mn-ea"/>
                        <a:cs typeface="+mn-cs"/>
                      </a:endParaRPr>
                    </a:p>
                    <a:p>
                      <a:pPr marL="285750" lvl="0" indent="-285750" algn="l">
                        <a:lnSpc>
                          <a:spcPct val="100000"/>
                        </a:lnSpc>
                        <a:spcBef>
                          <a:spcPts val="0"/>
                        </a:spcBef>
                        <a:spcAft>
                          <a:spcPts val="0"/>
                        </a:spcAft>
                        <a:buFont typeface="Arial"/>
                        <a:buChar char="•"/>
                      </a:pPr>
                      <a:r>
                        <a:rPr lang="en-US" sz="800" b="0" i="0" u="none" strike="noStrike" kern="1200" noProof="0">
                          <a:solidFill>
                            <a:schemeClr val="tx1"/>
                          </a:solidFill>
                          <a:latin typeface="+mn-lt"/>
                          <a:ea typeface="+mn-ea"/>
                          <a:cs typeface="+mn-cs"/>
                        </a:rPr>
                        <a:t>Enable better flying opportunities for under-utilized crew</a:t>
                      </a:r>
                      <a:endParaRPr lang="en-US" sz="800" b="0" i="0" u="none" strike="noStrike" kern="1200">
                        <a:solidFill>
                          <a:schemeClr val="tx1"/>
                        </a:solidFill>
                        <a:latin typeface="+mn-lt"/>
                        <a:ea typeface="+mn-ea"/>
                        <a:cs typeface="+mn-cs"/>
                      </a:endParaRPr>
                    </a:p>
                    <a:p>
                      <a:pPr marL="285750" lvl="0" indent="-285750" algn="l">
                        <a:lnSpc>
                          <a:spcPct val="100000"/>
                        </a:lnSpc>
                        <a:spcBef>
                          <a:spcPts val="0"/>
                        </a:spcBef>
                        <a:spcAft>
                          <a:spcPts val="0"/>
                        </a:spcAft>
                        <a:buFont typeface="Arial"/>
                        <a:buChar char="•"/>
                      </a:pPr>
                      <a:r>
                        <a:rPr lang="en-US" sz="800" b="0" i="0" u="none" strike="noStrike" kern="1200" noProof="0">
                          <a:solidFill>
                            <a:schemeClr val="tx1"/>
                          </a:solidFill>
                          <a:latin typeface="+mn-lt"/>
                          <a:ea typeface="+mn-ea"/>
                          <a:cs typeface="+mn-cs"/>
                        </a:rPr>
                        <a:t>Ensure no compromise on operational coverage</a:t>
                      </a:r>
                      <a:endParaRPr lang="en-US" sz="800" b="0" i="0" u="none" strike="noStrike" kern="1200">
                        <a:solidFill>
                          <a:schemeClr val="tx1"/>
                        </a:solidFill>
                        <a:latin typeface="+mn-lt"/>
                        <a:ea typeface="+mn-ea"/>
                        <a:cs typeface="+mn-cs"/>
                      </a:endParaRPr>
                    </a:p>
                    <a:p>
                      <a:pPr marL="285750" lvl="0" indent="-285750" algn="l">
                        <a:lnSpc>
                          <a:spcPct val="100000"/>
                        </a:lnSpc>
                        <a:spcBef>
                          <a:spcPts val="0"/>
                        </a:spcBef>
                        <a:spcAft>
                          <a:spcPts val="0"/>
                        </a:spcAft>
                        <a:buFont typeface="Arial"/>
                        <a:buChar char="•"/>
                      </a:pPr>
                      <a:r>
                        <a:rPr lang="en-US" sz="800" b="0" i="0" u="none" strike="noStrike" kern="1200" noProof="0">
                          <a:solidFill>
                            <a:schemeClr val="tx1"/>
                          </a:solidFill>
                          <a:latin typeface="+mn-lt"/>
                          <a:ea typeface="+mn-ea"/>
                          <a:cs typeface="+mn-cs"/>
                        </a:rPr>
                        <a:t>Maintain adherence to all regulatory and compliance requirements</a:t>
                      </a:r>
                      <a:endParaRPr lang="en-US" sz="800" b="0" i="0" u="none" strike="noStrike" kern="1200">
                        <a:solidFill>
                          <a:schemeClr val="tx1"/>
                        </a:solidFill>
                        <a:latin typeface="+mn-lt"/>
                        <a:ea typeface="+mn-ea"/>
                        <a:cs typeface="+mn-cs"/>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marL="0" lvl="0" indent="0" algn="l">
                        <a:lnSpc>
                          <a:spcPct val="100000"/>
                        </a:lnSpc>
                        <a:spcBef>
                          <a:spcPts val="0"/>
                        </a:spcBef>
                        <a:spcAft>
                          <a:spcPts val="0"/>
                        </a:spcAft>
                        <a:buFont typeface="Arial"/>
                        <a:buNone/>
                      </a:pPr>
                      <a:r>
                        <a:rPr lang="en-US" sz="800" b="1" i="0" u="none" strike="noStrike" kern="1200" noProof="0">
                          <a:solidFill>
                            <a:srgbClr val="00B050"/>
                          </a:solidFill>
                          <a:effectLst/>
                          <a:latin typeface="+mn-lt"/>
                          <a:ea typeface="+mn-ea"/>
                          <a:cs typeface="+mn-cs"/>
                        </a:rPr>
                        <a:t>24 Jul 2026</a:t>
                      </a:r>
                      <a:endParaRPr lang="en-US" sz="800" b="0" i="0" u="none" strike="noStrike" kern="1200">
                        <a:solidFill>
                          <a:schemeClr val="tx1"/>
                        </a:solidFill>
                        <a:latin typeface="+mn-lt"/>
                        <a:ea typeface="+mn-ea"/>
                        <a:cs typeface="+mn-cs"/>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lvl="0" indent="0" algn="ctr">
                        <a:lnSpc>
                          <a:spcPct val="100000"/>
                        </a:lnSpc>
                        <a:spcBef>
                          <a:spcPts val="0"/>
                        </a:spcBef>
                        <a:spcAft>
                          <a:spcPts val="0"/>
                        </a:spcAft>
                        <a:buFont typeface="Arial"/>
                        <a:buNone/>
                      </a:pPr>
                      <a:r>
                        <a:rPr lang="en-US" sz="800" b="0" i="0" u="none" strike="noStrike" kern="1200">
                          <a:solidFill>
                            <a:schemeClr val="tx1"/>
                          </a:solidFill>
                          <a:latin typeface="+mn-lt"/>
                          <a:ea typeface="+mn-ea"/>
                          <a:cs typeface="+mn-cs"/>
                        </a:rPr>
                        <a:t>No</a:t>
                      </a:r>
                    </a:p>
                  </a:txBody>
                  <a:tcPr>
                    <a:lnL w="6350" cap="flat" cmpd="sng" algn="ctr">
                      <a:solidFill>
                        <a:schemeClr val="bg1">
                          <a:lumMod val="75000"/>
                        </a:schemeClr>
                      </a:solidFill>
                      <a:prstDash val="solid"/>
                      <a:round/>
                      <a:headEnd type="none" w="med" len="med"/>
                      <a:tailEnd type="none" w="med" len="med"/>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115069882"/>
                  </a:ext>
                </a:extLst>
              </a:tr>
              <a:tr h="793453">
                <a:tc>
                  <a:txBody>
                    <a:bodyPr/>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r>
                        <a:rPr lang="en-US" sz="800" b="1" i="0" u="none" strike="noStrike" kern="1200">
                          <a:solidFill>
                            <a:srgbClr val="00B050"/>
                          </a:solidFill>
                          <a:effectLst/>
                          <a:latin typeface="+mn-lt"/>
                          <a:ea typeface="+mn-ea"/>
                          <a:cs typeface="+mn-cs"/>
                        </a:rPr>
                        <a:t>Jeppesen - APC Enhancements for Cabin Crew Planning</a:t>
                      </a:r>
                      <a:endParaRPr lang="en-US" sz="800">
                        <a:solidFill>
                          <a:srgbClr val="00B050"/>
                        </a:solidFill>
                      </a:endParaRPr>
                    </a:p>
                  </a:txBody>
                  <a:tcPr>
                    <a:lnL w="6350">
                      <a:solidFill>
                        <a:schemeClr val="bg1">
                          <a:lumMod val="75000"/>
                        </a:schemeClr>
                      </a:solidFill>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lvl="0" indent="0" algn="l">
                        <a:lnSpc>
                          <a:spcPct val="100000"/>
                        </a:lnSpc>
                        <a:spcBef>
                          <a:spcPts val="0"/>
                        </a:spcBef>
                        <a:spcAft>
                          <a:spcPts val="0"/>
                        </a:spcAft>
                        <a:buNone/>
                      </a:pPr>
                      <a:r>
                        <a:rPr lang="en-US" sz="800" b="1" i="0" u="none" strike="noStrike" kern="1200" noProof="0">
                          <a:solidFill>
                            <a:schemeClr val="tx1"/>
                          </a:solidFill>
                          <a:latin typeface="Nunito Sans"/>
                        </a:rPr>
                        <a:t>Jeppesen Pairing and Rostering</a:t>
                      </a:r>
                      <a:endParaRPr lang="en-US" sz="1600"/>
                    </a:p>
                  </a:txBody>
                  <a:tcP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285750" lvl="0" indent="-285750" algn="l" defTabSz="914400" rtl="0" eaLnBrk="1" fontAlgn="t" latinLnBrk="0" hangingPunct="1">
                        <a:lnSpc>
                          <a:spcPct val="100000"/>
                        </a:lnSpc>
                        <a:spcBef>
                          <a:spcPts val="0"/>
                        </a:spcBef>
                        <a:spcAft>
                          <a:spcPts val="0"/>
                        </a:spcAft>
                        <a:buFont typeface="Arial"/>
                        <a:buChar char="•"/>
                      </a:pPr>
                      <a:r>
                        <a:rPr lang="en-IN" sz="800" b="1" i="0" u="none" strike="noStrike" kern="1200">
                          <a:solidFill>
                            <a:schemeClr val="tx1"/>
                          </a:solidFill>
                          <a:latin typeface="+mn-lt"/>
                          <a:ea typeface="+mn-ea"/>
                          <a:cs typeface="+mn-cs"/>
                        </a:rPr>
                        <a:t>Ensures Compliance: </a:t>
                      </a:r>
                      <a:r>
                        <a:rPr lang="en-IN" sz="800" b="0" i="0" u="none" strike="noStrike" kern="1200">
                          <a:solidFill>
                            <a:schemeClr val="tx1"/>
                          </a:solidFill>
                          <a:latin typeface="+mn-lt"/>
                          <a:ea typeface="+mn-ea"/>
                          <a:cs typeface="+mn-cs"/>
                        </a:rPr>
                        <a:t>Prevents APC assignments beyond qualification validity, reducing regulatory risk.</a:t>
                      </a:r>
                    </a:p>
                    <a:p>
                      <a:pPr marL="285750" lvl="0" indent="-285750" algn="l" defTabSz="914400" rtl="0" eaLnBrk="1" fontAlgn="t" latinLnBrk="0" hangingPunct="1">
                        <a:lnSpc>
                          <a:spcPct val="100000"/>
                        </a:lnSpc>
                        <a:spcBef>
                          <a:spcPts val="0"/>
                        </a:spcBef>
                        <a:spcAft>
                          <a:spcPts val="0"/>
                        </a:spcAft>
                        <a:buFont typeface="Arial"/>
                        <a:buChar char="•"/>
                      </a:pPr>
                      <a:r>
                        <a:rPr lang="en-IN" sz="800" b="1" i="0" u="none" strike="noStrike" kern="1200">
                          <a:solidFill>
                            <a:schemeClr val="tx1"/>
                          </a:solidFill>
                          <a:latin typeface="+mn-lt"/>
                          <a:ea typeface="+mn-ea"/>
                          <a:cs typeface="+mn-cs"/>
                        </a:rPr>
                        <a:t>Optimises Resources:</a:t>
                      </a:r>
                      <a:r>
                        <a:rPr lang="en-IN" sz="800" b="0" i="0" u="none" strike="noStrike" kern="1200">
                          <a:solidFill>
                            <a:schemeClr val="tx1"/>
                          </a:solidFill>
                          <a:latin typeface="+mn-lt"/>
                          <a:ea typeface="+mn-ea"/>
                          <a:cs typeface="+mn-cs"/>
                        </a:rPr>
                        <a:t> Better trainer–trainee allocation through refined rules and PCI tagging.</a:t>
                      </a:r>
                    </a:p>
                    <a:p>
                      <a:pPr marL="285750" lvl="0" indent="-285750" algn="l" defTabSz="914400" rtl="0" eaLnBrk="1" fontAlgn="t" latinLnBrk="0" hangingPunct="1">
                        <a:lnSpc>
                          <a:spcPct val="100000"/>
                        </a:lnSpc>
                        <a:spcBef>
                          <a:spcPts val="0"/>
                        </a:spcBef>
                        <a:spcAft>
                          <a:spcPts val="0"/>
                        </a:spcAft>
                        <a:buFont typeface="Arial"/>
                        <a:buChar char="•"/>
                      </a:pPr>
                      <a:r>
                        <a:rPr lang="en-IN" sz="800" b="1" i="0" u="none" strike="noStrike" kern="1200">
                          <a:solidFill>
                            <a:schemeClr val="tx1"/>
                          </a:solidFill>
                          <a:latin typeface="+mn-lt"/>
                          <a:ea typeface="+mn-ea"/>
                          <a:cs typeface="+mn-cs"/>
                        </a:rPr>
                        <a:t>Enhances Control:</a:t>
                      </a:r>
                      <a:r>
                        <a:rPr lang="en-IN" sz="800" b="0" i="0" u="none" strike="noStrike" kern="1200">
                          <a:solidFill>
                            <a:schemeClr val="tx1"/>
                          </a:solidFill>
                          <a:latin typeface="+mn-lt"/>
                          <a:ea typeface="+mn-ea"/>
                          <a:cs typeface="+mn-cs"/>
                        </a:rPr>
                        <a:t> Manual PCI tagging enables flexible, informed planning decisions.</a:t>
                      </a:r>
                    </a:p>
                    <a:p>
                      <a:pPr marL="285750" lvl="0" indent="-285750" algn="l" defTabSz="914400" rtl="0" eaLnBrk="1" fontAlgn="t" latinLnBrk="0" hangingPunct="1">
                        <a:lnSpc>
                          <a:spcPct val="100000"/>
                        </a:lnSpc>
                        <a:spcBef>
                          <a:spcPts val="0"/>
                        </a:spcBef>
                        <a:spcAft>
                          <a:spcPts val="0"/>
                        </a:spcAft>
                        <a:buFont typeface="Arial"/>
                        <a:buChar char="•"/>
                      </a:pPr>
                      <a:r>
                        <a:rPr lang="en-IN" sz="800" b="1" i="0" u="none" strike="noStrike" kern="1200">
                          <a:solidFill>
                            <a:schemeClr val="tx1"/>
                          </a:solidFill>
                          <a:latin typeface="+mn-lt"/>
                          <a:ea typeface="+mn-ea"/>
                          <a:cs typeface="+mn-cs"/>
                        </a:rPr>
                        <a:t>Reduces Rework:</a:t>
                      </a:r>
                      <a:r>
                        <a:rPr lang="en-IN" sz="800" b="0" i="0" u="none" strike="noStrike" kern="1200">
                          <a:solidFill>
                            <a:schemeClr val="tx1"/>
                          </a:solidFill>
                          <a:latin typeface="+mn-lt"/>
                          <a:ea typeface="+mn-ea"/>
                          <a:cs typeface="+mn-cs"/>
                        </a:rPr>
                        <a:t> Built-in constraints minimise manual corrections and improve accuracy </a:t>
                      </a:r>
                    </a:p>
                    <a:p>
                      <a:pPr marL="285750" lvl="0" indent="-285750" algn="l" defTabSz="914400" rtl="0" eaLnBrk="1" fontAlgn="t" latinLnBrk="0" hangingPunct="1">
                        <a:lnSpc>
                          <a:spcPct val="100000"/>
                        </a:lnSpc>
                        <a:spcBef>
                          <a:spcPts val="0"/>
                        </a:spcBef>
                        <a:spcAft>
                          <a:spcPts val="0"/>
                        </a:spcAft>
                        <a:buFont typeface="Arial"/>
                        <a:buChar char="•"/>
                      </a:pPr>
                      <a:r>
                        <a:rPr lang="en-IN" sz="800" b="1" i="0" u="none" strike="noStrike" kern="1200">
                          <a:solidFill>
                            <a:schemeClr val="tx1"/>
                          </a:solidFill>
                          <a:latin typeface="+mn-lt"/>
                          <a:ea typeface="+mn-ea"/>
                          <a:cs typeface="+mn-cs"/>
                        </a:rPr>
                        <a:t>Strengthens Training:</a:t>
                      </a:r>
                      <a:r>
                        <a:rPr lang="en-IN" sz="800" b="0" i="0" u="none" strike="noStrike" kern="1200">
                          <a:solidFill>
                            <a:schemeClr val="tx1"/>
                          </a:solidFill>
                          <a:latin typeface="+mn-lt"/>
                          <a:ea typeface="+mn-ea"/>
                          <a:cs typeface="+mn-cs"/>
                        </a:rPr>
                        <a:t> Ensures effective trainer–trainee pairing for better outcomes.</a:t>
                      </a:r>
                    </a:p>
                    <a:p>
                      <a:pPr marL="285750" lvl="0" indent="-285750" algn="l" defTabSz="914400" rtl="0" eaLnBrk="1" fontAlgn="t" latinLnBrk="0" hangingPunct="1">
                        <a:lnSpc>
                          <a:spcPct val="100000"/>
                        </a:lnSpc>
                        <a:spcBef>
                          <a:spcPts val="0"/>
                        </a:spcBef>
                        <a:spcAft>
                          <a:spcPts val="0"/>
                        </a:spcAft>
                        <a:buFont typeface="Arial"/>
                        <a:buChar char="•"/>
                      </a:pPr>
                      <a:r>
                        <a:rPr lang="en-IN" sz="800" b="1" i="0" u="none" strike="noStrike" kern="1200">
                          <a:solidFill>
                            <a:schemeClr val="tx1"/>
                          </a:solidFill>
                          <a:latin typeface="+mn-lt"/>
                          <a:ea typeface="+mn-ea"/>
                          <a:cs typeface="+mn-cs"/>
                        </a:rPr>
                        <a:t>Delivers Robust Outcomes:</a:t>
                      </a:r>
                      <a:r>
                        <a:rPr lang="en-IN" sz="800" b="0" i="0" u="none" strike="noStrike" kern="1200">
                          <a:solidFill>
                            <a:schemeClr val="tx1"/>
                          </a:solidFill>
                          <a:latin typeface="+mn-lt"/>
                          <a:ea typeface="+mn-ea"/>
                          <a:cs typeface="+mn-cs"/>
                        </a:rPr>
                        <a:t> Improves reliability and optimisation of APC assignments in JCR</a:t>
                      </a:r>
                    </a:p>
                  </a:txBody>
                  <a:tcP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lvl="0" indent="0" algn="l" defTabSz="914400" rtl="0" eaLnBrk="1" fontAlgn="t" latinLnBrk="0" hangingPunct="1">
                        <a:lnSpc>
                          <a:spcPct val="100000"/>
                        </a:lnSpc>
                        <a:spcBef>
                          <a:spcPts val="0"/>
                        </a:spcBef>
                        <a:spcAft>
                          <a:spcPts val="0"/>
                        </a:spcAft>
                        <a:buFont typeface="Arial"/>
                        <a:buNone/>
                      </a:pPr>
                      <a:r>
                        <a:rPr lang="en-US" sz="800" b="1" i="0" u="none" strike="noStrike" kern="1200" noProof="0">
                          <a:solidFill>
                            <a:srgbClr val="00B050"/>
                          </a:solidFill>
                          <a:effectLst/>
                          <a:latin typeface="+mn-lt"/>
                          <a:ea typeface="+mn-ea"/>
                          <a:cs typeface="+mn-cs"/>
                        </a:rPr>
                        <a:t>24 Jul 2026</a:t>
                      </a:r>
                      <a:endParaRPr lang="en-IN" sz="800" b="0" i="0" u="none" strike="noStrike" kern="1200">
                        <a:solidFill>
                          <a:schemeClr val="tx1"/>
                        </a:solidFill>
                        <a:latin typeface="+mn-lt"/>
                        <a:ea typeface="+mn-ea"/>
                        <a:cs typeface="+mn-cs"/>
                      </a:endParaRPr>
                    </a:p>
                  </a:txBody>
                  <a:tcP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lvl="0" indent="0" algn="ctr" defTabSz="914400">
                        <a:lnSpc>
                          <a:spcPct val="100000"/>
                        </a:lnSpc>
                        <a:spcBef>
                          <a:spcPts val="0"/>
                        </a:spcBef>
                        <a:spcAft>
                          <a:spcPts val="0"/>
                        </a:spcAft>
                        <a:buNone/>
                      </a:pPr>
                      <a:r>
                        <a:rPr lang="en-US" sz="800" b="0" i="0" u="none" strike="noStrike" kern="1200" noProof="0">
                          <a:solidFill>
                            <a:schemeClr val="tx1"/>
                          </a:solidFill>
                          <a:latin typeface="Nunito Sans"/>
                          <a:ea typeface="+mn-ea"/>
                          <a:cs typeface="+mn-cs"/>
                        </a:rPr>
                        <a:t>No</a:t>
                      </a:r>
                      <a:endParaRPr lang="en-US"/>
                    </a:p>
                  </a:txBody>
                  <a:tcPr>
                    <a:lnL w="6350">
                      <a:solidFill>
                        <a:schemeClr val="bg1">
                          <a:lumMod val="75000"/>
                        </a:schemeClr>
                      </a:solidFill>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443371065"/>
                  </a:ext>
                </a:extLst>
              </a:tr>
              <a:tr h="363666">
                <a:tc>
                  <a:txBody>
                    <a:bodyPr/>
                    <a:lstStyle/>
                    <a:p>
                      <a:pPr lvl="0" algn="l" rtl="0">
                        <a:lnSpc>
                          <a:spcPts val="1425"/>
                        </a:lnSpc>
                        <a:buNone/>
                      </a:pPr>
                      <a:r>
                        <a:rPr lang="en-US" sz="800" b="1" i="0" u="none" strike="noStrike" kern="1200">
                          <a:solidFill>
                            <a:srgbClr val="00B050"/>
                          </a:solidFill>
                          <a:effectLst/>
                          <a:latin typeface="+mn-lt"/>
                          <a:ea typeface="+mn-ea"/>
                          <a:cs typeface="+mn-cs"/>
                        </a:rPr>
                        <a:t>Jeppesen - Teaming feature for CC Planning</a:t>
                      </a:r>
                    </a:p>
                  </a:txBody>
                  <a:tcP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lvl="0" algn="l" rtl="0">
                        <a:lnSpc>
                          <a:spcPts val="1425"/>
                        </a:lnSpc>
                        <a:buFont typeface="+mj-lt"/>
                        <a:buNone/>
                      </a:pPr>
                      <a:r>
                        <a:rPr lang="en-US" sz="800" b="1" i="0" u="none" strike="noStrike">
                          <a:solidFill>
                            <a:schemeClr val="tx1"/>
                          </a:solidFill>
                          <a:effectLst/>
                          <a:latin typeface="+mn-lt"/>
                        </a:rPr>
                        <a:t>Jeppesen Pairing and Rostering</a:t>
                      </a:r>
                      <a:endParaRPr lang="en-US" sz="1600"/>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285750" lvl="0" indent="-285750" algn="l" defTabSz="914400" rtl="0" eaLnBrk="1" latinLnBrk="0" hangingPunct="1">
                        <a:lnSpc>
                          <a:spcPct val="100000"/>
                        </a:lnSpc>
                        <a:spcBef>
                          <a:spcPts val="0"/>
                        </a:spcBef>
                        <a:spcAft>
                          <a:spcPts val="0"/>
                        </a:spcAft>
                        <a:buFont typeface="Arial"/>
                        <a:buChar char="•"/>
                      </a:pPr>
                      <a:r>
                        <a:rPr lang="en-US" sz="800" b="0" i="0" u="none" strike="noStrike" kern="1200">
                          <a:solidFill>
                            <a:schemeClr val="tx1"/>
                          </a:solidFill>
                          <a:latin typeface="+mn-lt"/>
                          <a:ea typeface="+mn-ea"/>
                          <a:cs typeface="+mn-cs"/>
                        </a:rPr>
                        <a:t>Improve roster stability​ and roster efficiency​</a:t>
                      </a:r>
                    </a:p>
                    <a:p>
                      <a:pPr marL="285750" lvl="0" indent="-285750" algn="l" defTabSz="914400" rtl="0" eaLnBrk="1" latinLnBrk="0" hangingPunct="1">
                        <a:lnSpc>
                          <a:spcPct val="100000"/>
                        </a:lnSpc>
                        <a:spcBef>
                          <a:spcPts val="0"/>
                        </a:spcBef>
                        <a:spcAft>
                          <a:spcPts val="0"/>
                        </a:spcAft>
                        <a:buFont typeface="Arial"/>
                        <a:buChar char="•"/>
                      </a:pPr>
                      <a:r>
                        <a:rPr lang="en-IN" sz="800"/>
                        <a:t>During disruptions, it facilitates more efficient crew management, faster recovery, and reduced operational complexity</a:t>
                      </a:r>
                      <a:endParaRPr lang="en-US" sz="800" b="0" i="0" u="none" strike="noStrike" kern="1200">
                        <a:solidFill>
                          <a:schemeClr val="tx1"/>
                        </a:solidFill>
                        <a:latin typeface="+mn-lt"/>
                        <a:ea typeface="+mn-ea"/>
                        <a:cs typeface="+mn-cs"/>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lvl="0" indent="0" algn="l" defTabSz="914400" rtl="0" eaLnBrk="1" latinLnBrk="0" hangingPunct="1">
                        <a:lnSpc>
                          <a:spcPct val="100000"/>
                        </a:lnSpc>
                        <a:spcBef>
                          <a:spcPts val="0"/>
                        </a:spcBef>
                        <a:spcAft>
                          <a:spcPts val="0"/>
                        </a:spcAft>
                        <a:buFont typeface="Arial"/>
                        <a:buNone/>
                      </a:pPr>
                      <a:r>
                        <a:rPr lang="en-US" sz="800" b="1" i="0" u="none" strike="noStrike">
                          <a:solidFill>
                            <a:srgbClr val="00B050"/>
                          </a:solidFill>
                          <a:effectLst/>
                          <a:latin typeface="+mn-lt"/>
                        </a:rPr>
                        <a:t>24 Jul 2026</a:t>
                      </a:r>
                      <a:endParaRPr lang="en-US" sz="800" b="0" i="0" u="none" strike="noStrike" kern="1200">
                        <a:solidFill>
                          <a:schemeClr val="tx1"/>
                        </a:solidFill>
                        <a:latin typeface="+mn-lt"/>
                        <a:ea typeface="+mn-ea"/>
                        <a:cs typeface="+mn-cs"/>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lvl="0" indent="0" algn="ctr" defTabSz="914400">
                        <a:lnSpc>
                          <a:spcPct val="100000"/>
                        </a:lnSpc>
                        <a:spcBef>
                          <a:spcPts val="0"/>
                        </a:spcBef>
                        <a:spcAft>
                          <a:spcPts val="0"/>
                        </a:spcAft>
                        <a:buNone/>
                      </a:pPr>
                      <a:r>
                        <a:rPr lang="en-US" sz="800" b="0" i="0" u="none" strike="noStrike" kern="1200" noProof="0">
                          <a:solidFill>
                            <a:schemeClr val="tx1"/>
                          </a:solidFill>
                          <a:latin typeface="Nunito Sans"/>
                          <a:ea typeface="+mn-ea"/>
                          <a:cs typeface="+mn-cs"/>
                        </a:rPr>
                        <a:t>No</a:t>
                      </a:r>
                      <a:endParaRPr lang="en-US"/>
                    </a:p>
                  </a:txBody>
                  <a:tcPr>
                    <a:lnL w="6350" cap="flat" cmpd="sng" algn="ctr">
                      <a:solidFill>
                        <a:schemeClr val="bg1">
                          <a:lumMod val="75000"/>
                        </a:schemeClr>
                      </a:solidFill>
                      <a:prstDash val="solid"/>
                      <a:round/>
                      <a:headEnd type="none" w="med" len="med"/>
                      <a:tailEnd type="none" w="med" len="med"/>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119470951"/>
                  </a:ext>
                </a:extLst>
              </a:tr>
              <a:tr h="588691">
                <a:tc>
                  <a:txBody>
                    <a:bodyPr/>
                    <a:lstStyle/>
                    <a:p>
                      <a:pPr marL="0" lvl="0" indent="0" algn="l" defTabSz="914400" rtl="0" eaLnBrk="1" latinLnBrk="0" hangingPunct="1">
                        <a:lnSpc>
                          <a:spcPct val="100000"/>
                        </a:lnSpc>
                        <a:spcBef>
                          <a:spcPts val="0"/>
                        </a:spcBef>
                        <a:spcAft>
                          <a:spcPts val="0"/>
                        </a:spcAft>
                        <a:buClr>
                          <a:srgbClr val="000000"/>
                        </a:buClr>
                        <a:buNone/>
                      </a:pPr>
                      <a:r>
                        <a:rPr lang="en-US" sz="800" b="1" i="0" u="none" strike="noStrike" kern="1200" noProof="0">
                          <a:solidFill>
                            <a:srgbClr val="0070C0"/>
                          </a:solidFill>
                          <a:latin typeface="Nunito Sans"/>
                          <a:ea typeface="+mn-ea"/>
                          <a:cs typeface="+mn-cs"/>
                        </a:rPr>
                        <a:t>ATC comparison tool </a:t>
                      </a:r>
                      <a:r>
                        <a:rPr lang="en-US" sz="800" b="1" i="0" u="none" strike="noStrike" kern="1200" noProof="0">
                          <a:solidFill>
                            <a:srgbClr val="0070C0"/>
                          </a:solidFill>
                          <a:effectLst/>
                          <a:latin typeface="+mn-lt"/>
                          <a:ea typeface="+mn-ea"/>
                          <a:cs typeface="+mn-cs"/>
                        </a:rPr>
                        <a:t>automation</a:t>
                      </a:r>
                      <a:endParaRPr lang="en-US" sz="800" b="1" i="0" u="none" strike="noStrike" kern="1200">
                        <a:solidFill>
                          <a:srgbClr val="0070C0"/>
                        </a:solidFill>
                        <a:effectLst/>
                        <a:latin typeface="+mn-lt"/>
                        <a:ea typeface="+mn-ea"/>
                        <a:cs typeface="+mn-cs"/>
                      </a:endParaRPr>
                    </a:p>
                  </a:txBody>
                  <a:tcP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lvl="0" indent="0" algn="l">
                        <a:lnSpc>
                          <a:spcPct val="100000"/>
                        </a:lnSpc>
                        <a:spcBef>
                          <a:spcPts val="0"/>
                        </a:spcBef>
                        <a:spcAft>
                          <a:spcPts val="0"/>
                        </a:spcAft>
                        <a:buNone/>
                      </a:pPr>
                      <a:endParaRPr lang="en-US" sz="800" b="1" i="0" u="none" strike="noStrike" kern="1200" noProof="0">
                        <a:solidFill>
                          <a:schemeClr val="tx1"/>
                        </a:solidFill>
                        <a:latin typeface="+mn-lt"/>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171450" lvl="0" indent="-171450" algn="l" defTabSz="914400" rtl="0" eaLnBrk="1" latinLnBrk="0" hangingPunct="1">
                        <a:lnSpc>
                          <a:spcPct val="100000"/>
                        </a:lnSpc>
                        <a:spcBef>
                          <a:spcPts val="0"/>
                        </a:spcBef>
                        <a:spcAft>
                          <a:spcPts val="0"/>
                        </a:spcAft>
                        <a:buFont typeface="Arial" panose="020B0604020202020204" pitchFamily="34" charset="0"/>
                        <a:buChar char="•"/>
                      </a:pPr>
                      <a:r>
                        <a:rPr lang="en-IN" sz="800" b="0" i="0" u="none" strike="noStrike" kern="1200" noProof="0">
                          <a:solidFill>
                            <a:schemeClr val="tx1"/>
                          </a:solidFill>
                          <a:latin typeface="+mn-lt"/>
                          <a:ea typeface="+mn-ea"/>
                          <a:cs typeface="+mn-cs"/>
                        </a:rPr>
                        <a:t>Improves accuracy of ATC call sign data across systems</a:t>
                      </a:r>
                      <a:endParaRPr lang="en-US" sz="800" b="0" i="0" u="none" strike="noStrike" kern="1200">
                        <a:solidFill>
                          <a:schemeClr val="tx1"/>
                        </a:solidFill>
                        <a:latin typeface="+mn-lt"/>
                        <a:ea typeface="+mn-ea"/>
                        <a:cs typeface="+mn-cs"/>
                      </a:endParaRPr>
                    </a:p>
                    <a:p>
                      <a:pPr marL="171450" lvl="0" indent="-171450" algn="l" defTabSz="914400" rtl="0" eaLnBrk="1" latinLnBrk="0" hangingPunct="1">
                        <a:lnSpc>
                          <a:spcPct val="100000"/>
                        </a:lnSpc>
                        <a:spcBef>
                          <a:spcPts val="0"/>
                        </a:spcBef>
                        <a:spcAft>
                          <a:spcPts val="0"/>
                        </a:spcAft>
                        <a:buFont typeface="Arial" panose="020B0604020202020204" pitchFamily="34" charset="0"/>
                        <a:buChar char="•"/>
                      </a:pPr>
                      <a:r>
                        <a:rPr lang="en-IN" sz="800" b="0" i="0" u="none" strike="noStrike" kern="1200" noProof="0">
                          <a:solidFill>
                            <a:schemeClr val="tx1"/>
                          </a:solidFill>
                          <a:latin typeface="+mn-lt"/>
                          <a:ea typeface="+mn-ea"/>
                          <a:cs typeface="+mn-cs"/>
                        </a:rPr>
                        <a:t>Reduces manual effort through automated comparison</a:t>
                      </a:r>
                      <a:endParaRPr lang="en-IN" sz="800" b="0" i="0" u="none" strike="noStrike" kern="1200">
                        <a:solidFill>
                          <a:schemeClr val="tx1"/>
                        </a:solidFill>
                        <a:latin typeface="+mn-lt"/>
                        <a:ea typeface="+mn-ea"/>
                        <a:cs typeface="+mn-cs"/>
                      </a:endParaRPr>
                    </a:p>
                    <a:p>
                      <a:pPr marL="171450" lvl="0" indent="-171450" algn="l" defTabSz="914400" rtl="0" eaLnBrk="1" latinLnBrk="0" hangingPunct="1">
                        <a:lnSpc>
                          <a:spcPct val="100000"/>
                        </a:lnSpc>
                        <a:spcBef>
                          <a:spcPts val="0"/>
                        </a:spcBef>
                        <a:spcAft>
                          <a:spcPts val="0"/>
                        </a:spcAft>
                        <a:buFont typeface="Arial" panose="020B0604020202020204" pitchFamily="34" charset="0"/>
                        <a:buChar char="•"/>
                      </a:pPr>
                      <a:r>
                        <a:rPr lang="en-IN" sz="800" b="0" i="0" u="none" strike="noStrike" kern="1200" noProof="0">
                          <a:solidFill>
                            <a:schemeClr val="tx1"/>
                          </a:solidFill>
                          <a:latin typeface="+mn-lt"/>
                          <a:ea typeface="+mn-ea"/>
                          <a:cs typeface="+mn-cs"/>
                        </a:rPr>
                        <a:t>Enables quick identification of mismatches</a:t>
                      </a:r>
                      <a:endParaRPr lang="en-IN" sz="800" b="0" i="0" u="none" strike="noStrike" kern="1200">
                        <a:solidFill>
                          <a:schemeClr val="tx1"/>
                        </a:solidFill>
                        <a:latin typeface="+mn-lt"/>
                        <a:ea typeface="+mn-ea"/>
                        <a:cs typeface="+mn-cs"/>
                      </a:endParaRPr>
                    </a:p>
                    <a:p>
                      <a:pPr marL="171450" lvl="0" indent="-171450" algn="l" defTabSz="914400" rtl="0" eaLnBrk="1" latinLnBrk="0" hangingPunct="1">
                        <a:lnSpc>
                          <a:spcPct val="100000"/>
                        </a:lnSpc>
                        <a:spcBef>
                          <a:spcPts val="0"/>
                        </a:spcBef>
                        <a:spcAft>
                          <a:spcPts val="0"/>
                        </a:spcAft>
                        <a:buFont typeface="Arial" panose="020B0604020202020204" pitchFamily="34" charset="0"/>
                        <a:buChar char="•"/>
                      </a:pPr>
                      <a:r>
                        <a:rPr lang="en-IN" sz="800" b="0" i="0" u="none" strike="noStrike" kern="1200" noProof="0">
                          <a:solidFill>
                            <a:schemeClr val="tx1"/>
                          </a:solidFill>
                          <a:latin typeface="+mn-lt"/>
                          <a:ea typeface="+mn-ea"/>
                          <a:cs typeface="+mn-cs"/>
                        </a:rPr>
                        <a:t>Scalable solution to support increasing flight volumes and data complexity</a:t>
                      </a:r>
                      <a:endParaRPr lang="en-IN" sz="800" b="0" i="0" u="none" strike="noStrike" kern="1200">
                        <a:solidFill>
                          <a:schemeClr val="tx1"/>
                        </a:solidFill>
                        <a:latin typeface="+mn-lt"/>
                        <a:ea typeface="+mn-ea"/>
                        <a:cs typeface="+mn-cs"/>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l">
                        <a:lnSpc>
                          <a:spcPts val="1425"/>
                        </a:lnSpc>
                        <a:spcBef>
                          <a:spcPts val="0"/>
                        </a:spcBef>
                        <a:spcAft>
                          <a:spcPts val="0"/>
                        </a:spcAft>
                        <a:buNone/>
                      </a:pPr>
                      <a:r>
                        <a:rPr lang="en-US" sz="800" b="1" i="0" u="none" strike="noStrike" kern="1200" noProof="0">
                          <a:solidFill>
                            <a:srgbClr val="0070C0"/>
                          </a:solidFill>
                          <a:latin typeface="Nunito Sans"/>
                          <a:ea typeface="+mn-ea"/>
                          <a:cs typeface="+mn-cs"/>
                        </a:rPr>
                        <a:t>Planned: 15 Jul'26</a:t>
                      </a:r>
                      <a:endParaRPr lang="en-US" sz="800" b="0" i="0" u="none" strike="noStrike" kern="1200" noProof="0">
                        <a:solidFill>
                          <a:srgbClr val="000000"/>
                        </a:solidFill>
                        <a:latin typeface="Nunito Sans"/>
                        <a:ea typeface="+mn-ea"/>
                        <a:cs typeface="+mn-cs"/>
                      </a:endParaRPr>
                    </a:p>
                    <a:p>
                      <a:pPr marL="0" marR="0" lvl="0" indent="0" algn="l">
                        <a:lnSpc>
                          <a:spcPts val="1425"/>
                        </a:lnSpc>
                        <a:spcBef>
                          <a:spcPts val="0"/>
                        </a:spcBef>
                        <a:spcAft>
                          <a:spcPts val="0"/>
                        </a:spcAft>
                        <a:buNone/>
                      </a:pPr>
                      <a:r>
                        <a:rPr lang="en-US" sz="800" b="1" i="0" u="none" strike="noStrike" kern="1200" noProof="0">
                          <a:solidFill>
                            <a:srgbClr val="0070C0"/>
                          </a:solidFill>
                          <a:latin typeface="Nunito Sans"/>
                          <a:ea typeface="+mn-ea"/>
                          <a:cs typeface="+mn-cs"/>
                        </a:rPr>
                        <a:t>Actual: 15 Jul'26</a:t>
                      </a:r>
                      <a:endParaRPr lang="en-IN"/>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800" b="0" i="0" u="none" strike="noStrike" kern="1200" noProof="0">
                          <a:solidFill>
                            <a:schemeClr val="tx1"/>
                          </a:solidFill>
                          <a:latin typeface="+mn-lt"/>
                          <a:ea typeface="+mn-ea"/>
                          <a:cs typeface="+mn-cs"/>
                        </a:rPr>
                        <a:t>No</a:t>
                      </a:r>
                      <a:endParaRPr lang="en-US" sz="800"/>
                    </a:p>
                  </a:txBody>
                  <a:tcPr>
                    <a:lnL w="6350" cap="flat" cmpd="sng" algn="ctr">
                      <a:solidFill>
                        <a:schemeClr val="bg1">
                          <a:lumMod val="75000"/>
                        </a:schemeClr>
                      </a:solidFill>
                      <a:prstDash val="solid"/>
                      <a:round/>
                      <a:headEnd type="none" w="med" len="med"/>
                      <a:tailEnd type="none" w="med" len="med"/>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4283078"/>
                  </a:ext>
                </a:extLst>
              </a:tr>
              <a:tr h="38392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i="0" u="none" strike="noStrike" kern="1200">
                          <a:solidFill>
                            <a:srgbClr val="0070C0"/>
                          </a:solidFill>
                          <a:latin typeface="Nunito Sans"/>
                          <a:ea typeface="+mn-ea"/>
                          <a:cs typeface="+mn-cs"/>
                        </a:rPr>
                        <a:t>DMS Development Phase 3</a:t>
                      </a:r>
                      <a:endParaRPr lang="en-US" sz="800" b="1" i="0" u="none" strike="noStrike" kern="1200" noProof="0">
                        <a:solidFill>
                          <a:srgbClr val="0070C0"/>
                        </a:solidFill>
                        <a:latin typeface="+mn-lt"/>
                        <a:ea typeface="+mn-ea"/>
                        <a:cs typeface="+mn-cs"/>
                      </a:endParaRPr>
                    </a:p>
                  </a:txBody>
                  <a:tcP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lvl="0" indent="0" algn="l">
                        <a:lnSpc>
                          <a:spcPct val="100000"/>
                        </a:lnSpc>
                        <a:spcBef>
                          <a:spcPts val="0"/>
                        </a:spcBef>
                        <a:spcAft>
                          <a:spcPts val="0"/>
                        </a:spcAft>
                        <a:buNone/>
                      </a:pPr>
                      <a:r>
                        <a:rPr lang="en-US" sz="800" b="1" i="0" u="none" strike="noStrike" kern="1200" noProof="0">
                          <a:solidFill>
                            <a:schemeClr val="tx1"/>
                          </a:solidFill>
                          <a:latin typeface="+mn-lt"/>
                        </a:rPr>
                        <a:t>Document Control Hub</a:t>
                      </a: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171450" marR="0" lvl="0" indent="-171450" algn="l" rtl="0" eaLnBrk="1" fontAlgn="auto" latinLnBrk="0" hangingPunct="1">
                        <a:lnSpc>
                          <a:spcPct val="100000"/>
                        </a:lnSpc>
                        <a:spcBef>
                          <a:spcPts val="0"/>
                        </a:spcBef>
                        <a:spcAft>
                          <a:spcPts val="0"/>
                        </a:spcAft>
                        <a:buClrTx/>
                        <a:buSzTx/>
                        <a:buFont typeface="Arial" panose="020B0604020202020204" pitchFamily="34" charset="0"/>
                        <a:buChar char="•"/>
                      </a:pPr>
                      <a:r>
                        <a:rPr lang="en-IN" sz="800" b="0" i="0" u="none" strike="noStrike" kern="1200" noProof="0">
                          <a:solidFill>
                            <a:schemeClr val="tx1"/>
                          </a:solidFill>
                        </a:rPr>
                        <a:t>Simplified UI reduces: User confusion, Incorrect actions and Training dependency</a:t>
                      </a:r>
                      <a:endParaRPr lang="en-IN" sz="1600"/>
                    </a:p>
                    <a:p>
                      <a:pPr marL="171450" lvl="0" indent="-171450" algn="l">
                        <a:lnSpc>
                          <a:spcPct val="100000"/>
                        </a:lnSpc>
                        <a:spcBef>
                          <a:spcPts val="0"/>
                        </a:spcBef>
                        <a:spcAft>
                          <a:spcPts val="0"/>
                        </a:spcAft>
                        <a:buClrTx/>
                        <a:buSzTx/>
                        <a:buFont typeface="Arial" panose="020B0604020202020204" pitchFamily="34" charset="0"/>
                        <a:buChar char="•"/>
                      </a:pPr>
                      <a:r>
                        <a:rPr lang="en-IN" sz="800" b="0" i="0" u="none" strike="noStrike" kern="1200" noProof="0">
                          <a:solidFill>
                            <a:schemeClr val="tx1"/>
                          </a:solidFill>
                        </a:rPr>
                        <a:t>Expected drop in:: Support tickets (SRs), Clarification emails to IT team, Manual follow-ups with departments and Effort in consolidating inputs</a:t>
                      </a:r>
                      <a:endParaRPr lang="en-IN" sz="1600"/>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lvl="0" indent="0" algn="l">
                        <a:lnSpc>
                          <a:spcPct val="100000"/>
                        </a:lnSpc>
                        <a:spcBef>
                          <a:spcPts val="0"/>
                        </a:spcBef>
                        <a:spcAft>
                          <a:spcPts val="0"/>
                        </a:spcAft>
                        <a:buClrTx/>
                        <a:buSzTx/>
                        <a:buFont typeface="Arial" panose="020B0604020202020204" pitchFamily="34" charset="0"/>
                        <a:buNone/>
                      </a:pPr>
                      <a:r>
                        <a:rPr kumimoji="0" lang="en-US" sz="800" b="1" i="0" u="none" strike="noStrike" kern="1200" cap="none" spc="0" normalizeH="0" baseline="0" noProof="0">
                          <a:ln>
                            <a:noFill/>
                          </a:ln>
                          <a:solidFill>
                            <a:srgbClr val="000000"/>
                          </a:solidFill>
                          <a:effectLst/>
                          <a:uLnTx/>
                          <a:uFillTx/>
                          <a:latin typeface="+mn-lt"/>
                          <a:ea typeface="+mn-ea"/>
                          <a:cs typeface="+mn-cs"/>
                        </a:rPr>
                        <a:t>25 Jul 2026</a:t>
                      </a:r>
                      <a:endParaRPr lang="en-IN" sz="1600"/>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lvl="0" indent="0" algn="ctr">
                        <a:lnSpc>
                          <a:spcPct val="100000"/>
                        </a:lnSpc>
                        <a:spcBef>
                          <a:spcPts val="0"/>
                        </a:spcBef>
                        <a:spcAft>
                          <a:spcPts val="0"/>
                        </a:spcAft>
                        <a:buClrTx/>
                        <a:buSzTx/>
                        <a:buFont typeface="Arial" panose="020B0604020202020204" pitchFamily="34" charset="0"/>
                        <a:buNone/>
                      </a:pPr>
                      <a:r>
                        <a:rPr lang="en-IN" sz="800"/>
                        <a:t>No</a:t>
                      </a:r>
                    </a:p>
                  </a:txBody>
                  <a:tcPr>
                    <a:lnL w="6350" cap="flat" cmpd="sng" algn="ctr">
                      <a:solidFill>
                        <a:schemeClr val="bg1">
                          <a:lumMod val="75000"/>
                        </a:schemeClr>
                      </a:solidFill>
                      <a:prstDash val="solid"/>
                      <a:round/>
                      <a:headEnd type="none" w="med" len="med"/>
                      <a:tailEnd type="none" w="med" len="med"/>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847714360"/>
                  </a:ext>
                </a:extLst>
              </a:tr>
              <a:tr h="0">
                <a:tc>
                  <a:txBody>
                    <a:bodyPr/>
                    <a:lstStyle/>
                    <a:p>
                      <a:pPr marL="0" lvl="0" algn="l">
                        <a:lnSpc>
                          <a:spcPts val="1425"/>
                        </a:lnSpc>
                        <a:buNone/>
                      </a:pPr>
                      <a:r>
                        <a:rPr lang="en-US" sz="800" b="1" i="0" u="none" strike="noStrike" noProof="0">
                          <a:solidFill>
                            <a:srgbClr val="0070C0"/>
                          </a:solidFill>
                          <a:effectLst/>
                          <a:latin typeface="Nunito Sans"/>
                        </a:rPr>
                        <a:t>CAE MM Message flavor customization for </a:t>
                      </a:r>
                      <a:r>
                        <a:rPr lang="en-US" sz="800" b="1" i="0" u="none" strike="noStrike" noProof="0">
                          <a:solidFill>
                            <a:srgbClr val="0070C0"/>
                          </a:solidFill>
                          <a:effectLst/>
                        </a:rPr>
                        <a:t>Star Alliance FLIFO system</a:t>
                      </a:r>
                      <a:endParaRPr lang="en-US" sz="1050" b="1" i="0" u="none" strike="noStrike" noProof="0">
                        <a:solidFill>
                          <a:srgbClr val="0070C0"/>
                        </a:solidFill>
                        <a:effectLst/>
                        <a:latin typeface="Segoe UI"/>
                        <a:cs typeface="Segoe UI"/>
                      </a:endParaRPr>
                    </a:p>
                  </a:txBody>
                  <a:tcP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lvl="0" algn="l" rtl="0">
                        <a:lnSpc>
                          <a:spcPts val="1425"/>
                        </a:lnSpc>
                        <a:buFont typeface="+mj-lt"/>
                        <a:buNone/>
                      </a:pPr>
                      <a:endParaRPr lang="en-US" sz="800" b="1" i="0" u="none" strike="noStrike">
                        <a:solidFill>
                          <a:schemeClr val="tx1"/>
                        </a:solidFill>
                        <a:effectLst/>
                        <a:latin typeface="+mn-lt"/>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171450" lvl="0" indent="-171450" algn="l" rtl="0" eaLnBrk="1" latinLnBrk="0" hangingPunct="1">
                        <a:lnSpc>
                          <a:spcPct val="100000"/>
                        </a:lnSpc>
                        <a:spcBef>
                          <a:spcPts val="0"/>
                        </a:spcBef>
                        <a:spcAft>
                          <a:spcPts val="0"/>
                        </a:spcAft>
                        <a:buFont typeface="Arial"/>
                        <a:buChar char="•"/>
                      </a:pPr>
                      <a:r>
                        <a:rPr lang="en-US" sz="800" b="0" i="0" u="none" strike="noStrike" kern="1200" noProof="0">
                          <a:solidFill>
                            <a:schemeClr val="tx1"/>
                          </a:solidFill>
                        </a:rPr>
                        <a:t>Resolve current message format issues that are causing message delivery failures.</a:t>
                      </a:r>
                      <a:endParaRPr lang="en-US" sz="800" b="0" i="0" u="none" strike="noStrike" kern="1200">
                        <a:solidFill>
                          <a:schemeClr val="tx1"/>
                        </a:solidFill>
                        <a:latin typeface="+mn-lt"/>
                        <a:ea typeface="+mn-ea"/>
                        <a:cs typeface="+mn-cs"/>
                      </a:endParaRPr>
                    </a:p>
                    <a:p>
                      <a:pPr marL="171450" lvl="0" indent="-171450" algn="l">
                        <a:lnSpc>
                          <a:spcPct val="100000"/>
                        </a:lnSpc>
                        <a:spcBef>
                          <a:spcPts val="0"/>
                        </a:spcBef>
                        <a:spcAft>
                          <a:spcPts val="0"/>
                        </a:spcAft>
                        <a:buFont typeface="Arial"/>
                        <a:buChar char="•"/>
                      </a:pPr>
                      <a:r>
                        <a:rPr lang="en-US" sz="800" b="0" i="0" u="none" strike="noStrike" kern="1200" noProof="0">
                          <a:solidFill>
                            <a:schemeClr val="tx1"/>
                          </a:solidFill>
                        </a:rPr>
                        <a:t>Improve reliability of FLIFO message processing for Star Alliance integrations.</a:t>
                      </a:r>
                      <a:endParaRPr lang="en-US" sz="1600"/>
                    </a:p>
                    <a:p>
                      <a:pPr marL="171450" lvl="0" indent="-171450" algn="l">
                        <a:lnSpc>
                          <a:spcPct val="100000"/>
                        </a:lnSpc>
                        <a:spcBef>
                          <a:spcPts val="0"/>
                        </a:spcBef>
                        <a:spcAft>
                          <a:spcPts val="0"/>
                        </a:spcAft>
                        <a:buFont typeface="Arial"/>
                        <a:buChar char="•"/>
                      </a:pPr>
                      <a:r>
                        <a:rPr lang="en-US" sz="800" b="0" i="0" u="none" strike="noStrike" kern="1200" noProof="0">
                          <a:solidFill>
                            <a:schemeClr val="tx1"/>
                          </a:solidFill>
                        </a:rPr>
                        <a:t>Reduce operational errors and manual intervention caused by failed message transmissions.</a:t>
                      </a:r>
                      <a:endParaRPr lang="en-US" sz="1600"/>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ts val="1425"/>
                        </a:lnSpc>
                        <a:spcBef>
                          <a:spcPts val="0"/>
                        </a:spcBef>
                        <a:spcAft>
                          <a:spcPts val="0"/>
                        </a:spcAft>
                        <a:buClrTx/>
                        <a:buSzTx/>
                        <a:buFontTx/>
                        <a:buNone/>
                        <a:tabLst/>
                        <a:defRPr/>
                      </a:pPr>
                      <a:r>
                        <a:rPr kumimoji="0" lang="en-US" sz="800" b="1" i="0" u="none" strike="noStrike" kern="1200" cap="none" spc="0" normalizeH="0" baseline="0" noProof="0">
                          <a:ln>
                            <a:noFill/>
                          </a:ln>
                          <a:solidFill>
                            <a:srgbClr val="0070C0"/>
                          </a:solidFill>
                          <a:effectLst/>
                          <a:uLnTx/>
                          <a:uFillTx/>
                          <a:latin typeface="+mn-lt"/>
                          <a:ea typeface="+mn-ea"/>
                          <a:cs typeface="+mn-cs"/>
                        </a:rPr>
                        <a:t>Planned: 20 </a:t>
                      </a:r>
                      <a:r>
                        <a:rPr lang="en-US" sz="800" b="1" i="0" u="none" strike="noStrike" kern="1200" cap="none" spc="0" normalizeH="0" baseline="0" noProof="0">
                          <a:ln>
                            <a:noFill/>
                          </a:ln>
                          <a:solidFill>
                            <a:srgbClr val="0070C0"/>
                          </a:solidFill>
                          <a:effectLst/>
                          <a:uLnTx/>
                          <a:uFillTx/>
                          <a:latin typeface="+mn-lt"/>
                          <a:ea typeface="+mn-ea"/>
                          <a:cs typeface="+mn-cs"/>
                        </a:rPr>
                        <a:t>Jul'26</a:t>
                      </a:r>
                      <a:endParaRPr kumimoji="0" lang="en-US" sz="800" b="1" i="0" u="none" strike="noStrike" kern="1200" cap="none" spc="0" normalizeH="0" baseline="0" noProof="0">
                        <a:ln>
                          <a:noFill/>
                        </a:ln>
                        <a:solidFill>
                          <a:srgbClr val="0070C0"/>
                        </a:solidFill>
                        <a:effectLst/>
                        <a:uLnTx/>
                        <a:uFillTx/>
                        <a:latin typeface="+mn-lt"/>
                        <a:ea typeface="+mn-ea"/>
                        <a:cs typeface="+mn-cs"/>
                      </a:endParaRPr>
                    </a:p>
                    <a:p>
                      <a:pPr marL="0" marR="0" lvl="0" indent="0" algn="l" defTabSz="914400" rtl="0" eaLnBrk="1" fontAlgn="auto" latinLnBrk="0" hangingPunct="1">
                        <a:lnSpc>
                          <a:spcPts val="1425"/>
                        </a:lnSpc>
                        <a:spcBef>
                          <a:spcPts val="0"/>
                        </a:spcBef>
                        <a:spcAft>
                          <a:spcPts val="0"/>
                        </a:spcAft>
                        <a:buClrTx/>
                        <a:buSzTx/>
                        <a:buFontTx/>
                        <a:buNone/>
                        <a:tabLst/>
                        <a:defRPr/>
                      </a:pPr>
                      <a:r>
                        <a:rPr kumimoji="0" lang="en-US" sz="800" b="1" i="0" u="none" strike="noStrike" kern="1200" cap="none" spc="0" normalizeH="0" baseline="0" noProof="0">
                          <a:ln>
                            <a:noFill/>
                          </a:ln>
                          <a:solidFill>
                            <a:srgbClr val="0070C0"/>
                          </a:solidFill>
                          <a:effectLst/>
                          <a:uLnTx/>
                          <a:uFillTx/>
                          <a:latin typeface="+mn-lt"/>
                          <a:ea typeface="+mn-ea"/>
                          <a:cs typeface="+mn-cs"/>
                        </a:rPr>
                        <a:t>Actual: 3 </a:t>
                      </a:r>
                      <a:r>
                        <a:rPr lang="en-US" sz="800" b="1" i="0" u="none" strike="noStrike" kern="1200" cap="none" spc="0" normalizeH="0" baseline="0" noProof="0">
                          <a:ln>
                            <a:noFill/>
                          </a:ln>
                          <a:solidFill>
                            <a:srgbClr val="0070C0"/>
                          </a:solidFill>
                          <a:effectLst/>
                          <a:uLnTx/>
                          <a:uFillTx/>
                          <a:latin typeface="+mn-lt"/>
                          <a:ea typeface="+mn-ea"/>
                          <a:cs typeface="+mn-cs"/>
                        </a:rPr>
                        <a:t>Jul'26</a:t>
                      </a:r>
                      <a:endParaRPr kumimoji="0" lang="en-US" sz="800" b="1" i="0" u="none" strike="noStrike" kern="1200" cap="none" spc="0" normalizeH="0" baseline="0" noProof="0">
                        <a:ln>
                          <a:noFill/>
                        </a:ln>
                        <a:solidFill>
                          <a:srgbClr val="0070C0"/>
                        </a:solidFill>
                        <a:effectLst/>
                        <a:uLnTx/>
                        <a:uFillTx/>
                        <a:latin typeface="+mn-lt"/>
                        <a:ea typeface="+mn-ea"/>
                        <a:cs typeface="+mn-cs"/>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ts val="1425"/>
                        </a:lnSpc>
                        <a:spcBef>
                          <a:spcPts val="0"/>
                        </a:spcBef>
                        <a:spcAft>
                          <a:spcPts val="0"/>
                        </a:spcAft>
                        <a:buClrTx/>
                        <a:buSzTx/>
                        <a:buFontTx/>
                        <a:buNone/>
                        <a:tabLst/>
                        <a:defRPr/>
                      </a:pPr>
                      <a:r>
                        <a:rPr lang="en-US" sz="800" b="0" i="0" u="none" strike="noStrike" kern="1200" noProof="0">
                          <a:solidFill>
                            <a:schemeClr val="tx1"/>
                          </a:solidFill>
                          <a:latin typeface="+mn-lt"/>
                          <a:ea typeface="+mn-ea"/>
                          <a:cs typeface="+mn-cs"/>
                        </a:rPr>
                        <a:t>No</a:t>
                      </a:r>
                      <a:endParaRPr lang="en-US" sz="800"/>
                    </a:p>
                  </a:txBody>
                  <a:tcPr>
                    <a:lnL w="6350" cap="flat" cmpd="sng" algn="ctr">
                      <a:solidFill>
                        <a:schemeClr val="bg1">
                          <a:lumMod val="75000"/>
                        </a:schemeClr>
                      </a:solidFill>
                      <a:prstDash val="solid"/>
                      <a:round/>
                      <a:headEnd type="none" w="med" len="med"/>
                      <a:tailEnd type="none" w="med" len="med"/>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294786419"/>
                  </a:ext>
                </a:extLst>
              </a:tr>
              <a:tr h="0">
                <a:tc>
                  <a:txBody>
                    <a:bodyPr/>
                    <a:lstStyle/>
                    <a:p>
                      <a:pPr marL="0" lvl="0" algn="l">
                        <a:lnSpc>
                          <a:spcPts val="1425"/>
                        </a:lnSpc>
                        <a:buNone/>
                      </a:pPr>
                      <a:r>
                        <a:rPr lang="en-US" sz="800" b="1" i="0" u="none" strike="noStrike" kern="1200" noProof="0">
                          <a:solidFill>
                            <a:srgbClr val="0070C0"/>
                          </a:solidFill>
                          <a:effectLst/>
                          <a:latin typeface="Nunito Sans"/>
                          <a:ea typeface="+mn-ea"/>
                          <a:cs typeface="+mn-cs"/>
                        </a:rPr>
                        <a:t>Adhoc : Re-engineering of ZFW integration to FPM via EIP</a:t>
                      </a:r>
                    </a:p>
                  </a:txBody>
                  <a:tcP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lvl="0" algn="l" rtl="0">
                        <a:lnSpc>
                          <a:spcPts val="1425"/>
                        </a:lnSpc>
                        <a:buFont typeface="+mj-lt"/>
                        <a:buNone/>
                      </a:pPr>
                      <a:endParaRPr lang="en-US" sz="800" b="1" i="0" u="none" strike="noStrike">
                        <a:solidFill>
                          <a:schemeClr val="tx1"/>
                        </a:solidFill>
                        <a:effectLst/>
                        <a:latin typeface="+mn-lt"/>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171450" lvl="0" indent="-171450" algn="l">
                        <a:lnSpc>
                          <a:spcPct val="100000"/>
                        </a:lnSpc>
                        <a:spcBef>
                          <a:spcPts val="0"/>
                        </a:spcBef>
                        <a:spcAft>
                          <a:spcPts val="0"/>
                        </a:spcAft>
                        <a:buFont typeface="Arial"/>
                        <a:buChar char="•"/>
                      </a:pPr>
                      <a:r>
                        <a:rPr lang="en-US" sz="800" b="0" i="0" u="none" strike="noStrike" kern="1200">
                          <a:solidFill>
                            <a:schemeClr val="tx1"/>
                          </a:solidFill>
                          <a:latin typeface="+mn-lt"/>
                          <a:ea typeface="+mn-ea"/>
                          <a:cs typeface="+mn-cs"/>
                        </a:rPr>
                        <a:t>MM API had a limitation of 5 calls per app ID per minute, leading to 429 'Too Many requests' error.</a:t>
                      </a:r>
                    </a:p>
                    <a:p>
                      <a:pPr marL="171450" lvl="0" indent="-171450" algn="l">
                        <a:lnSpc>
                          <a:spcPct val="100000"/>
                        </a:lnSpc>
                        <a:spcBef>
                          <a:spcPts val="0"/>
                        </a:spcBef>
                        <a:spcAft>
                          <a:spcPts val="0"/>
                        </a:spcAft>
                        <a:buFont typeface="Arial"/>
                        <a:buChar char="•"/>
                      </a:pPr>
                      <a:r>
                        <a:rPr lang="en-US" sz="800" b="0" i="0" u="none" strike="noStrike" kern="1200">
                          <a:solidFill>
                            <a:schemeClr val="tx1"/>
                          </a:solidFill>
                          <a:latin typeface="+mn-lt"/>
                          <a:ea typeface="+mn-ea"/>
                          <a:cs typeface="+mn-cs"/>
                        </a:rPr>
                        <a:t>MM API was replaced with getFlightSchedule CM API.</a:t>
                      </a:r>
                    </a:p>
                    <a:p>
                      <a:pPr marL="171450" lvl="0" indent="-171450" algn="l">
                        <a:lnSpc>
                          <a:spcPct val="100000"/>
                        </a:lnSpc>
                        <a:spcBef>
                          <a:spcPts val="0"/>
                        </a:spcBef>
                        <a:spcAft>
                          <a:spcPts val="0"/>
                        </a:spcAft>
                        <a:buFont typeface="Arial"/>
                        <a:buChar char="•"/>
                      </a:pPr>
                      <a:r>
                        <a:rPr lang="en-US" sz="800" b="0" i="0" u="none" strike="noStrike" kern="1200">
                          <a:solidFill>
                            <a:schemeClr val="tx1"/>
                          </a:solidFill>
                          <a:latin typeface="+mn-lt"/>
                          <a:ea typeface="+mn-ea"/>
                          <a:cs typeface="+mn-cs"/>
                        </a:rPr>
                        <a:t>Cost savings: 95000 USD.</a:t>
                      </a: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l" rtl="0" eaLnBrk="1" fontAlgn="auto" latinLnBrk="0" hangingPunct="1">
                        <a:lnSpc>
                          <a:spcPts val="1425"/>
                        </a:lnSpc>
                        <a:spcBef>
                          <a:spcPts val="0"/>
                        </a:spcBef>
                        <a:spcAft>
                          <a:spcPts val="0"/>
                        </a:spcAft>
                        <a:buClrTx/>
                        <a:buSzTx/>
                        <a:buFontTx/>
                        <a:buNone/>
                      </a:pPr>
                      <a:r>
                        <a:rPr lang="en-US" sz="800" b="1" i="0" u="none" strike="noStrike" kern="1200" cap="none" spc="0" normalizeH="0" baseline="0" noProof="0">
                          <a:ln>
                            <a:noFill/>
                          </a:ln>
                          <a:solidFill>
                            <a:srgbClr val="0070C0"/>
                          </a:solidFill>
                          <a:effectLst/>
                          <a:uLnTx/>
                          <a:uFillTx/>
                          <a:latin typeface="+mn-lt"/>
                          <a:ea typeface="+mn-ea"/>
                          <a:cs typeface="+mn-cs"/>
                        </a:rPr>
                        <a:t>Planned: 6 Jul'26</a:t>
                      </a:r>
                    </a:p>
                    <a:p>
                      <a:pPr marL="0" marR="0" lvl="0" indent="0" algn="l">
                        <a:lnSpc>
                          <a:spcPts val="1425"/>
                        </a:lnSpc>
                        <a:spcBef>
                          <a:spcPts val="0"/>
                        </a:spcBef>
                        <a:spcAft>
                          <a:spcPts val="0"/>
                        </a:spcAft>
                        <a:buClrTx/>
                        <a:buSzTx/>
                        <a:buFontTx/>
                        <a:buNone/>
                      </a:pPr>
                      <a:r>
                        <a:rPr lang="en-US" sz="800" b="1" i="0" u="none" strike="noStrike" kern="1200" cap="none" spc="0" normalizeH="0" baseline="0" noProof="0">
                          <a:ln>
                            <a:noFill/>
                          </a:ln>
                          <a:solidFill>
                            <a:srgbClr val="0070C0"/>
                          </a:solidFill>
                          <a:effectLst/>
                          <a:uLnTx/>
                          <a:uFillTx/>
                          <a:latin typeface="+mn-lt"/>
                          <a:ea typeface="+mn-ea"/>
                          <a:cs typeface="+mn-cs"/>
                        </a:rPr>
                        <a:t>Actual: 6 Jul'26</a:t>
                      </a: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ts val="1425"/>
                        </a:lnSpc>
                        <a:spcBef>
                          <a:spcPts val="0"/>
                        </a:spcBef>
                        <a:spcAft>
                          <a:spcPts val="0"/>
                        </a:spcAft>
                        <a:buClrTx/>
                        <a:buSzTx/>
                        <a:buFontTx/>
                        <a:buNone/>
                        <a:tabLst/>
                        <a:defRPr/>
                      </a:pPr>
                      <a:r>
                        <a:rPr lang="en-US" sz="800"/>
                        <a:t>Yes</a:t>
                      </a:r>
                    </a:p>
                  </a:txBody>
                  <a:tcPr>
                    <a:lnL w="6350" cap="flat" cmpd="sng" algn="ctr">
                      <a:solidFill>
                        <a:schemeClr val="bg1">
                          <a:lumMod val="75000"/>
                        </a:schemeClr>
                      </a:solidFill>
                      <a:prstDash val="solid"/>
                      <a:round/>
                      <a:headEnd type="none" w="med" len="med"/>
                      <a:tailEnd type="none" w="med" len="med"/>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761812965"/>
                  </a:ext>
                </a:extLst>
              </a:tr>
            </a:tbl>
          </a:graphicData>
        </a:graphic>
      </p:graphicFrame>
    </p:spTree>
    <p:extLst>
      <p:ext uri="{BB962C8B-B14F-4D97-AF65-F5344CB8AC3E}">
        <p14:creationId xmlns:p14="http://schemas.microsoft.com/office/powerpoint/2010/main" val="38540130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D67566-8BC8-0DAB-E129-1783BCD39C3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556931F-F958-E24D-BF90-C89B88857467}"/>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3A41A254-7326-714E-AF55-4C213D6394DE}" type="slidenum">
              <a:rPr kumimoji="0" lang="en-US" sz="1200" b="0" i="0" u="none" strike="noStrike" kern="1200" cap="none" spc="0" normalizeH="0" baseline="0" noProof="0" smtClean="0">
                <a:ln>
                  <a:noFill/>
                </a:ln>
                <a:solidFill>
                  <a:srgbClr val="DA0E28"/>
                </a:solidFill>
                <a:effectLst/>
                <a:uLnTx/>
                <a:uFillTx/>
                <a:latin typeface="Nunito Sans"/>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srgbClr val="DA0E28"/>
              </a:solidFill>
              <a:effectLst/>
              <a:uLnTx/>
              <a:uFillTx/>
              <a:latin typeface="Nunito Sans"/>
              <a:ea typeface="+mn-ea"/>
              <a:cs typeface="+mn-cs"/>
            </a:endParaRPr>
          </a:p>
        </p:txBody>
      </p:sp>
      <p:sp>
        <p:nvSpPr>
          <p:cNvPr id="3" name="Rectangle 2">
            <a:extLst>
              <a:ext uri="{FF2B5EF4-FFF2-40B4-BE49-F238E27FC236}">
                <a16:creationId xmlns:a16="http://schemas.microsoft.com/office/drawing/2014/main" id="{E88720E8-D37D-2A54-9D15-19C11DDA858F}"/>
              </a:ext>
            </a:extLst>
          </p:cNvPr>
          <p:cNvSpPr/>
          <p:nvPr/>
        </p:nvSpPr>
        <p:spPr>
          <a:xfrm>
            <a:off x="129077" y="510993"/>
            <a:ext cx="931627" cy="42234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400" b="1">
                <a:solidFill>
                  <a:srgbClr val="FFFFFF"/>
                </a:solidFill>
                <a:latin typeface="AirIndia"/>
              </a:rPr>
              <a:t>July</a:t>
            </a:r>
            <a:r>
              <a:rPr kumimoji="0" lang="en-IN" sz="1400" b="1" i="0" u="none" strike="noStrike" kern="1200" cap="none" spc="0" normalizeH="0" baseline="0" noProof="0">
                <a:ln>
                  <a:noFill/>
                </a:ln>
                <a:solidFill>
                  <a:srgbClr val="FFFFFF"/>
                </a:solidFill>
                <a:effectLst/>
                <a:uLnTx/>
                <a:uFillTx/>
                <a:latin typeface="AirIndia"/>
                <a:ea typeface="+mn-ea"/>
                <a:cs typeface="+mn-cs"/>
              </a:rPr>
              <a:t> ‘</a:t>
            </a:r>
            <a:r>
              <a:rPr lang="en-IN" sz="1400" b="1">
                <a:solidFill>
                  <a:srgbClr val="FFFFFF"/>
                </a:solidFill>
                <a:latin typeface="AirIndia"/>
              </a:rPr>
              <a:t>26</a:t>
            </a:r>
            <a:endParaRPr kumimoji="0" lang="en-US" sz="1400" b="1" i="0" u="none" strike="noStrike" kern="1200" cap="none" spc="0" normalizeH="0" baseline="0" noProof="0">
              <a:ln>
                <a:noFill/>
              </a:ln>
              <a:solidFill>
                <a:srgbClr val="FFFFFF"/>
              </a:solidFill>
              <a:effectLst/>
              <a:uLnTx/>
              <a:uFillTx/>
              <a:latin typeface="AirIndia"/>
              <a:ea typeface="+mn-ea"/>
              <a:cs typeface="+mn-cs"/>
            </a:endParaRPr>
          </a:p>
        </p:txBody>
      </p:sp>
      <p:sp>
        <p:nvSpPr>
          <p:cNvPr id="6" name="Title 11">
            <a:extLst>
              <a:ext uri="{FF2B5EF4-FFF2-40B4-BE49-F238E27FC236}">
                <a16:creationId xmlns:a16="http://schemas.microsoft.com/office/drawing/2014/main" id="{3D9BFF04-8400-C6FF-E4AD-2B0D3F124FBA}"/>
              </a:ext>
            </a:extLst>
          </p:cNvPr>
          <p:cNvSpPr txBox="1">
            <a:spLocks/>
          </p:cNvSpPr>
          <p:nvPr/>
        </p:nvSpPr>
        <p:spPr>
          <a:xfrm>
            <a:off x="253743" y="182023"/>
            <a:ext cx="7702602" cy="430255"/>
          </a:xfrm>
          <a:prstGeom prst="rect">
            <a:avLst/>
          </a:prstGeom>
        </p:spPr>
        <p:txBody>
          <a:bodyPr lIns="91440" tIns="45720" rIns="91440" bIns="45720" anchor="t">
            <a:noAutofit/>
          </a:bodyPr>
          <a:lstStyle>
            <a:lvl1pPr algn="l" defTabSz="914400" rtl="0" eaLnBrk="1" latinLnBrk="0" hangingPunct="1">
              <a:lnSpc>
                <a:spcPct val="90000"/>
              </a:lnSpc>
              <a:spcBef>
                <a:spcPct val="0"/>
              </a:spcBef>
              <a:buNone/>
              <a:defRPr sz="4400" b="1" i="0" kern="1200">
                <a:solidFill>
                  <a:schemeClr val="tx1"/>
                </a:solidFill>
                <a:latin typeface="AirIndia" pitchFamily="82" charset="77"/>
                <a:ea typeface="+mj-ea"/>
                <a:cs typeface="+mj-cs"/>
              </a:defRPr>
            </a:lvl1pPr>
          </a:lstStyle>
          <a:p>
            <a:pPr>
              <a:defRPr/>
            </a:pPr>
            <a:r>
              <a:rPr lang="en-US" sz="1800">
                <a:solidFill>
                  <a:srgbClr val="DA0E28"/>
                </a:solidFill>
                <a:latin typeface="AirIndia"/>
              </a:rPr>
              <a:t>Operations Tech </a:t>
            </a:r>
            <a:r>
              <a:rPr kumimoji="0" lang="en-US" sz="1800" b="1" i="0" u="none" strike="noStrike" kern="1200" cap="none" spc="0" normalizeH="0" baseline="0" noProof="0">
                <a:ln>
                  <a:noFill/>
                </a:ln>
                <a:solidFill>
                  <a:srgbClr val="DA0E28"/>
                </a:solidFill>
                <a:effectLst/>
                <a:uLnTx/>
                <a:uFillTx/>
                <a:latin typeface="AirIndia"/>
                <a:ea typeface="+mj-ea"/>
                <a:cs typeface="+mj-cs"/>
              </a:rPr>
              <a:t>- </a:t>
            </a:r>
            <a:r>
              <a:rPr lang="en-US" sz="1800">
                <a:solidFill>
                  <a:srgbClr val="DA0E28"/>
                </a:solidFill>
                <a:latin typeface="AirIndia"/>
              </a:rPr>
              <a:t>FY26-27 </a:t>
            </a:r>
            <a:r>
              <a:rPr kumimoji="0" lang="en-US" sz="1800" b="1" i="0" u="none" strike="noStrike" kern="1200" cap="none" spc="0" normalizeH="0" baseline="0" noProof="0">
                <a:ln>
                  <a:noFill/>
                </a:ln>
                <a:solidFill>
                  <a:srgbClr val="DA0E28"/>
                </a:solidFill>
                <a:effectLst/>
                <a:uLnTx/>
                <a:uFillTx/>
                <a:latin typeface="AirIndia"/>
                <a:ea typeface="+mj-ea"/>
                <a:cs typeface="+mj-cs"/>
              </a:rPr>
              <a:t>Q2 Release Plan</a:t>
            </a:r>
            <a:endParaRPr lang="en-US" sz="1800" b="0">
              <a:solidFill>
                <a:srgbClr val="000000"/>
              </a:solidFill>
              <a:latin typeface="AirIndia"/>
            </a:endParaRPr>
          </a:p>
          <a:p>
            <a:pPr>
              <a:defRPr/>
            </a:pPr>
            <a:endParaRPr lang="en-US" sz="1800" i="0" u="none" strike="noStrike" kern="1200" cap="none" spc="0" normalizeH="0" baseline="0" noProof="0">
              <a:ln>
                <a:noFill/>
              </a:ln>
              <a:solidFill>
                <a:srgbClr val="DA0E28"/>
              </a:solidFill>
              <a:effectLst/>
              <a:uLnTx/>
              <a:uFillTx/>
              <a:latin typeface="AirIndia"/>
            </a:endParaRPr>
          </a:p>
        </p:txBody>
      </p:sp>
      <p:sp>
        <p:nvSpPr>
          <p:cNvPr id="4" name="Rectangle 3">
            <a:extLst>
              <a:ext uri="{FF2B5EF4-FFF2-40B4-BE49-F238E27FC236}">
                <a16:creationId xmlns:a16="http://schemas.microsoft.com/office/drawing/2014/main" id="{5C65BFD2-8FEE-FA3A-9AEC-61AB35051731}"/>
              </a:ext>
            </a:extLst>
          </p:cNvPr>
          <p:cNvSpPr/>
          <p:nvPr/>
        </p:nvSpPr>
        <p:spPr>
          <a:xfrm>
            <a:off x="1188132" y="6681522"/>
            <a:ext cx="90000" cy="90000"/>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5" name="Rectangle 4">
            <a:extLst>
              <a:ext uri="{FF2B5EF4-FFF2-40B4-BE49-F238E27FC236}">
                <a16:creationId xmlns:a16="http://schemas.microsoft.com/office/drawing/2014/main" id="{C98BE62B-9BB9-1C8B-4086-7A45448BF0A2}"/>
              </a:ext>
            </a:extLst>
          </p:cNvPr>
          <p:cNvSpPr/>
          <p:nvPr/>
        </p:nvSpPr>
        <p:spPr>
          <a:xfrm>
            <a:off x="2265818" y="6681522"/>
            <a:ext cx="90000" cy="90000"/>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7" name="Rectangle 6">
            <a:extLst>
              <a:ext uri="{FF2B5EF4-FFF2-40B4-BE49-F238E27FC236}">
                <a16:creationId xmlns:a16="http://schemas.microsoft.com/office/drawing/2014/main" id="{91059641-AA97-3FE5-772D-68DBF64B958D}"/>
              </a:ext>
            </a:extLst>
          </p:cNvPr>
          <p:cNvSpPr/>
          <p:nvPr/>
        </p:nvSpPr>
        <p:spPr>
          <a:xfrm>
            <a:off x="3443423" y="6681522"/>
            <a:ext cx="90000" cy="90000"/>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8" name="Rectangle 7">
            <a:extLst>
              <a:ext uri="{FF2B5EF4-FFF2-40B4-BE49-F238E27FC236}">
                <a16:creationId xmlns:a16="http://schemas.microsoft.com/office/drawing/2014/main" id="{4DC9D851-BC6A-90BE-C9F8-535B0212CB3A}"/>
              </a:ext>
            </a:extLst>
          </p:cNvPr>
          <p:cNvSpPr/>
          <p:nvPr/>
        </p:nvSpPr>
        <p:spPr>
          <a:xfrm>
            <a:off x="8146052" y="6681522"/>
            <a:ext cx="90000" cy="90000"/>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9" name="TextBox 15">
            <a:extLst>
              <a:ext uri="{FF2B5EF4-FFF2-40B4-BE49-F238E27FC236}">
                <a16:creationId xmlns:a16="http://schemas.microsoft.com/office/drawing/2014/main" id="{C0A1DA0A-4997-E7E3-E288-3681EADC1076}"/>
              </a:ext>
            </a:extLst>
          </p:cNvPr>
          <p:cNvSpPr txBox="1"/>
          <p:nvPr/>
        </p:nvSpPr>
        <p:spPr>
          <a:xfrm>
            <a:off x="1288983" y="6608370"/>
            <a:ext cx="769857"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0070C0"/>
                </a:solidFill>
                <a:effectLst/>
                <a:uLnTx/>
                <a:uFillTx/>
                <a:latin typeface="Nunito Sans"/>
                <a:ea typeface="+mn-ea"/>
                <a:cs typeface="+mn-cs"/>
              </a:rPr>
              <a:t>Delivered</a:t>
            </a:r>
            <a:endParaRPr kumimoji="0" lang="en-IN" sz="1000" b="0" i="0" u="none" strike="noStrike" kern="1200" cap="none" spc="0" normalizeH="0" baseline="0" noProof="0">
              <a:ln>
                <a:noFill/>
              </a:ln>
              <a:solidFill>
                <a:srgbClr val="000000"/>
              </a:solidFill>
              <a:effectLst/>
              <a:uLnTx/>
              <a:uFillTx/>
              <a:latin typeface="Nunito Sans"/>
              <a:ea typeface="+mn-ea"/>
              <a:cs typeface="+mn-cs"/>
            </a:endParaRPr>
          </a:p>
        </p:txBody>
      </p:sp>
      <p:sp>
        <p:nvSpPr>
          <p:cNvPr id="10" name="TextBox 18">
            <a:extLst>
              <a:ext uri="{FF2B5EF4-FFF2-40B4-BE49-F238E27FC236}">
                <a16:creationId xmlns:a16="http://schemas.microsoft.com/office/drawing/2014/main" id="{E25ADC02-C932-A990-973F-3A145B51BA4B}"/>
              </a:ext>
            </a:extLst>
          </p:cNvPr>
          <p:cNvSpPr txBox="1"/>
          <p:nvPr/>
        </p:nvSpPr>
        <p:spPr>
          <a:xfrm>
            <a:off x="2310642" y="6608370"/>
            <a:ext cx="769857"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00B050"/>
                </a:solidFill>
                <a:effectLst/>
                <a:uLnTx/>
                <a:uFillTx/>
                <a:latin typeface="Nunito Sans"/>
                <a:ea typeface="+mn-ea"/>
                <a:cs typeface="+mn-cs"/>
              </a:rPr>
              <a:t>On-track</a:t>
            </a:r>
            <a:endParaRPr kumimoji="0" lang="en-IN" sz="1000" b="0" i="0" u="none" strike="noStrike" kern="1200" cap="none" spc="0" normalizeH="0" baseline="0" noProof="0">
              <a:ln>
                <a:noFill/>
              </a:ln>
              <a:solidFill>
                <a:srgbClr val="000000"/>
              </a:solidFill>
              <a:effectLst/>
              <a:uLnTx/>
              <a:uFillTx/>
              <a:latin typeface="Nunito Sans"/>
              <a:ea typeface="+mn-ea"/>
              <a:cs typeface="+mn-cs"/>
            </a:endParaRPr>
          </a:p>
        </p:txBody>
      </p:sp>
      <p:sp>
        <p:nvSpPr>
          <p:cNvPr id="11" name="TextBox 20">
            <a:extLst>
              <a:ext uri="{FF2B5EF4-FFF2-40B4-BE49-F238E27FC236}">
                <a16:creationId xmlns:a16="http://schemas.microsoft.com/office/drawing/2014/main" id="{0D2DE003-32FA-4EDA-18E1-6B4BA65BDCBB}"/>
              </a:ext>
            </a:extLst>
          </p:cNvPr>
          <p:cNvSpPr txBox="1"/>
          <p:nvPr/>
        </p:nvSpPr>
        <p:spPr>
          <a:xfrm>
            <a:off x="3539606" y="6608370"/>
            <a:ext cx="2190082"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FED9A0">
                    <a:lumMod val="75000"/>
                  </a:srgbClr>
                </a:solidFill>
                <a:effectLst/>
                <a:uLnTx/>
                <a:uFillTx/>
                <a:latin typeface="Nunito Sans"/>
                <a:ea typeface="+mn-ea"/>
                <a:cs typeface="+mn-cs"/>
              </a:rPr>
              <a:t>Under delay and can be recovered</a:t>
            </a:r>
            <a:endParaRPr kumimoji="0" lang="en-IN" sz="1000" b="0" i="0" u="none" strike="noStrike" kern="1200" cap="none" spc="0" normalizeH="0" baseline="0" noProof="0">
              <a:ln>
                <a:noFill/>
              </a:ln>
              <a:solidFill>
                <a:srgbClr val="000000"/>
              </a:solidFill>
              <a:effectLst/>
              <a:uLnTx/>
              <a:uFillTx/>
              <a:latin typeface="Nunito Sans"/>
              <a:ea typeface="+mn-ea"/>
              <a:cs typeface="+mn-cs"/>
            </a:endParaRPr>
          </a:p>
        </p:txBody>
      </p:sp>
      <p:sp>
        <p:nvSpPr>
          <p:cNvPr id="13" name="TextBox 22">
            <a:extLst>
              <a:ext uri="{FF2B5EF4-FFF2-40B4-BE49-F238E27FC236}">
                <a16:creationId xmlns:a16="http://schemas.microsoft.com/office/drawing/2014/main" id="{379B1E48-00ED-4059-DC07-CEDE2F9D7D6A}"/>
              </a:ext>
            </a:extLst>
          </p:cNvPr>
          <p:cNvSpPr txBox="1"/>
          <p:nvPr/>
        </p:nvSpPr>
        <p:spPr>
          <a:xfrm>
            <a:off x="8246937" y="6608370"/>
            <a:ext cx="2259519"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FF0000"/>
                </a:solidFill>
                <a:effectLst/>
                <a:uLnTx/>
                <a:uFillTx/>
                <a:latin typeface="Nunito Sans"/>
                <a:ea typeface="+mn-ea"/>
                <a:cs typeface="+mn-cs"/>
              </a:rPr>
              <a:t>Delayed and pushed to next release</a:t>
            </a:r>
          </a:p>
        </p:txBody>
      </p:sp>
      <p:sp>
        <p:nvSpPr>
          <p:cNvPr id="15" name="TextBox 14">
            <a:extLst>
              <a:ext uri="{FF2B5EF4-FFF2-40B4-BE49-F238E27FC236}">
                <a16:creationId xmlns:a16="http://schemas.microsoft.com/office/drawing/2014/main" id="{EE715580-784F-BA3A-E069-32B4E731B309}"/>
              </a:ext>
            </a:extLst>
          </p:cNvPr>
          <p:cNvSpPr txBox="1"/>
          <p:nvPr/>
        </p:nvSpPr>
        <p:spPr>
          <a:xfrm>
            <a:off x="6454369" y="6608370"/>
            <a:ext cx="999983" cy="246221"/>
          </a:xfrm>
          <a:prstGeom prst="rect">
            <a:avLst/>
          </a:prstGeom>
          <a:noFill/>
        </p:spPr>
        <p:txBody>
          <a:bodyPr rot="0" spcFirstLastPara="0" vertOverflow="overflow" horzOverflow="overflow" vert="horz" wrap="square" lIns="36000" tIns="45720" rIns="36000" bIns="45720" numCol="1" spcCol="0" rtlCol="0" fromWordArt="0" anchor="t" anchorCtr="0" forceAA="0" compatLnSpc="1">
            <a:prstTxWarp prst="textNoShape">
              <a:avLst/>
            </a:prstTxWarp>
            <a:spAutoFit/>
          </a:bodyPr>
          <a:lstStyle/>
          <a:p>
            <a:r>
              <a:rPr lang="en-IN" sz="1000">
                <a:solidFill>
                  <a:srgbClr val="7D7D7D"/>
                </a:solidFill>
              </a:rPr>
              <a:t>Descoped</a:t>
            </a:r>
            <a:endParaRPr lang="en-US"/>
          </a:p>
        </p:txBody>
      </p:sp>
      <p:sp>
        <p:nvSpPr>
          <p:cNvPr id="16" name="Rectangle 15">
            <a:extLst>
              <a:ext uri="{FF2B5EF4-FFF2-40B4-BE49-F238E27FC236}">
                <a16:creationId xmlns:a16="http://schemas.microsoft.com/office/drawing/2014/main" id="{49FD75A7-50B8-5C77-4D8A-A4698F5E9786}"/>
              </a:ext>
            </a:extLst>
          </p:cNvPr>
          <p:cNvSpPr/>
          <p:nvPr/>
        </p:nvSpPr>
        <p:spPr>
          <a:xfrm>
            <a:off x="6360794" y="6681439"/>
            <a:ext cx="90000" cy="90000"/>
          </a:xfrm>
          <a:prstGeom prst="rect">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graphicFrame>
        <p:nvGraphicFramePr>
          <p:cNvPr id="14" name="Table 13">
            <a:extLst>
              <a:ext uri="{FF2B5EF4-FFF2-40B4-BE49-F238E27FC236}">
                <a16:creationId xmlns:a16="http://schemas.microsoft.com/office/drawing/2014/main" id="{A71E6177-12FC-C793-15F8-E8EB0BBA733A}"/>
              </a:ext>
            </a:extLst>
          </p:cNvPr>
          <p:cNvGraphicFramePr>
            <a:graphicFrameLocks noGrp="1"/>
          </p:cNvGraphicFramePr>
          <p:nvPr>
            <p:extLst>
              <p:ext uri="{D42A27DB-BD31-4B8C-83A1-F6EECF244321}">
                <p14:modId xmlns:p14="http://schemas.microsoft.com/office/powerpoint/2010/main" val="410510228"/>
              </p:ext>
            </p:extLst>
          </p:nvPr>
        </p:nvGraphicFramePr>
        <p:xfrm>
          <a:off x="1060704" y="513280"/>
          <a:ext cx="11002216" cy="3239770"/>
        </p:xfrm>
        <a:graphic>
          <a:graphicData uri="http://schemas.openxmlformats.org/drawingml/2006/table">
            <a:tbl>
              <a:tblPr firstRow="1" bandRow="1">
                <a:tableStyleId>{5C22544A-7EE6-4342-B048-85BDC9FD1C3A}</a:tableStyleId>
              </a:tblPr>
              <a:tblGrid>
                <a:gridCol w="1477065">
                  <a:extLst>
                    <a:ext uri="{9D8B030D-6E8A-4147-A177-3AD203B41FA5}">
                      <a16:colId xmlns:a16="http://schemas.microsoft.com/office/drawing/2014/main" val="2822350773"/>
                    </a:ext>
                  </a:extLst>
                </a:gridCol>
                <a:gridCol w="920838">
                  <a:extLst>
                    <a:ext uri="{9D8B030D-6E8A-4147-A177-3AD203B41FA5}">
                      <a16:colId xmlns:a16="http://schemas.microsoft.com/office/drawing/2014/main" val="1843387359"/>
                    </a:ext>
                  </a:extLst>
                </a:gridCol>
                <a:gridCol w="6463518">
                  <a:extLst>
                    <a:ext uri="{9D8B030D-6E8A-4147-A177-3AD203B41FA5}">
                      <a16:colId xmlns:a16="http://schemas.microsoft.com/office/drawing/2014/main" val="99588705"/>
                    </a:ext>
                  </a:extLst>
                </a:gridCol>
                <a:gridCol w="917995">
                  <a:extLst>
                    <a:ext uri="{9D8B030D-6E8A-4147-A177-3AD203B41FA5}">
                      <a16:colId xmlns:a16="http://schemas.microsoft.com/office/drawing/2014/main" val="2435817915"/>
                    </a:ext>
                  </a:extLst>
                </a:gridCol>
                <a:gridCol w="1222800">
                  <a:extLst>
                    <a:ext uri="{9D8B030D-6E8A-4147-A177-3AD203B41FA5}">
                      <a16:colId xmlns:a16="http://schemas.microsoft.com/office/drawing/2014/main" val="2664340947"/>
                    </a:ext>
                  </a:extLst>
                </a:gridCol>
              </a:tblGrid>
              <a:tr h="388712">
                <a:tc>
                  <a:txBody>
                    <a:bodyPr/>
                    <a:lstStyle/>
                    <a:p>
                      <a:pPr marL="0" lvl="0" indent="0" algn="ctr" defTabSz="914400" rtl="0">
                        <a:lnSpc>
                          <a:spcPct val="100000"/>
                        </a:lnSpc>
                        <a:buFont typeface="Arial" panose="020B0604020202020204" pitchFamily="34" charset="0"/>
                        <a:buNone/>
                      </a:pPr>
                      <a:r>
                        <a:rPr lang="en-IN" sz="1050" b="1" kern="1200">
                          <a:solidFill>
                            <a:schemeClr val="bg1"/>
                          </a:solidFill>
                          <a:latin typeface="+mn-lt"/>
                          <a:ea typeface="+mn-ea"/>
                          <a:cs typeface="+mn-cs"/>
                        </a:rPr>
                        <a:t>Initiatives</a:t>
                      </a:r>
                      <a:endParaRPr lang="en-US" sz="1050" b="1"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tc>
                  <a:txBody>
                    <a:bodyPr/>
                    <a:lstStyle/>
                    <a:p>
                      <a:pPr marL="0" lvl="0" indent="0" algn="ctr" defTabSz="914400">
                        <a:lnSpc>
                          <a:spcPct val="100000"/>
                        </a:lnSpc>
                        <a:buNone/>
                      </a:pPr>
                      <a:r>
                        <a:rPr lang="en-IN" sz="1050" b="1" i="0" u="none" strike="noStrike" kern="1200" noProof="0">
                          <a:solidFill>
                            <a:schemeClr val="bg1"/>
                          </a:solidFill>
                          <a:latin typeface="Nunito Sans"/>
                          <a:ea typeface="+mn-ea"/>
                          <a:cs typeface="+mn-cs"/>
                        </a:rPr>
                        <a:t>Programs/Project</a:t>
                      </a:r>
                      <a:endParaRPr lang="en-US" sz="1600"/>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tc>
                  <a:txBody>
                    <a:bodyPr/>
                    <a:lstStyle/>
                    <a:p>
                      <a:pPr marL="0" lvl="0" indent="0" algn="ctr">
                        <a:lnSpc>
                          <a:spcPct val="100000"/>
                        </a:lnSpc>
                        <a:buNone/>
                      </a:pPr>
                      <a:r>
                        <a:rPr lang="en-IN" sz="1050" b="1" i="0" u="none" strike="noStrike" kern="1200" baseline="0" noProof="0">
                          <a:solidFill>
                            <a:srgbClr val="FFFFFF"/>
                          </a:solidFill>
                          <a:latin typeface="Nunito Sans"/>
                        </a:rPr>
                        <a:t>Value Justification/Realization</a:t>
                      </a:r>
                      <a:endParaRPr lang="en-IN" sz="1050"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tc>
                  <a:txBody>
                    <a:bodyPr/>
                    <a:lstStyle/>
                    <a:p>
                      <a:pPr marL="0" lvl="0" indent="0" algn="ctr" defTabSz="914400">
                        <a:buFont typeface="Arial" panose="020B0604020202020204" pitchFamily="34" charset="0"/>
                        <a:buNone/>
                      </a:pPr>
                      <a:r>
                        <a:rPr lang="en-IN" sz="1050" kern="1200">
                          <a:solidFill>
                            <a:schemeClr val="bg1"/>
                          </a:solidFill>
                          <a:latin typeface="+mn-lt"/>
                          <a:ea typeface="+mn-ea"/>
                          <a:cs typeface="+mn-cs"/>
                        </a:rPr>
                        <a:t>Planned Go-live date</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1050" b="1" kern="1200">
                          <a:solidFill>
                            <a:schemeClr val="bg1"/>
                          </a:solidFill>
                          <a:latin typeface="+mn-lt"/>
                          <a:ea typeface="+mn-ea"/>
                          <a:cs typeface="+mn-cs"/>
                        </a:rPr>
                        <a:t>EIP Integration Required (Yes/No)</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extLst>
                  <a:ext uri="{0D108BD9-81ED-4DB2-BD59-A6C34878D82A}">
                    <a16:rowId xmlns:a16="http://schemas.microsoft.com/office/drawing/2014/main" val="844450115"/>
                  </a:ext>
                </a:extLst>
              </a:tr>
              <a:tr h="0">
                <a:tc>
                  <a:txBody>
                    <a:bodyPr/>
                    <a:lstStyle/>
                    <a:p>
                      <a:pPr lvl="0" algn="l" rtl="0">
                        <a:lnSpc>
                          <a:spcPts val="1425"/>
                        </a:lnSpc>
                        <a:buNone/>
                      </a:pPr>
                      <a:r>
                        <a:rPr lang="en-US" sz="800" b="0" i="0">
                          <a:solidFill>
                            <a:srgbClr val="00B050"/>
                          </a:solidFill>
                          <a:effectLst/>
                          <a:latin typeface="+mn-lt"/>
                        </a:rPr>
                        <a:t>​</a:t>
                      </a:r>
                      <a:r>
                        <a:rPr lang="en-US" sz="800" b="1" i="0" u="none" strike="noStrike" kern="1200" noProof="0">
                          <a:solidFill>
                            <a:srgbClr val="016FBC"/>
                          </a:solidFill>
                          <a:effectLst/>
                          <a:latin typeface="+mn-lt"/>
                          <a:ea typeface="+mn-ea"/>
                          <a:cs typeface="+mn-cs"/>
                        </a:rPr>
                        <a:t>Docunet Daily Non-Compliance Report Phase 3</a:t>
                      </a:r>
                      <a:endParaRPr lang="en-US" sz="800" b="1" i="0" u="none" strike="noStrike" kern="1200">
                        <a:solidFill>
                          <a:srgbClr val="016FBC"/>
                        </a:solidFill>
                        <a:effectLst/>
                        <a:latin typeface="+mn-lt"/>
                        <a:ea typeface="+mn-ea"/>
                        <a:cs typeface="+mn-cs"/>
                      </a:endParaRPr>
                    </a:p>
                  </a:txBody>
                  <a:tcP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lvl="0" algn="l" rtl="0">
                        <a:lnSpc>
                          <a:spcPts val="1425"/>
                        </a:lnSpc>
                        <a:buFont typeface="+mj-lt"/>
                        <a:buNone/>
                      </a:pPr>
                      <a:endParaRPr lang="en-US" sz="800" b="1" i="0" u="none" strike="noStrike">
                        <a:solidFill>
                          <a:schemeClr val="tx1"/>
                        </a:solidFill>
                        <a:effectLst/>
                        <a:latin typeface="+mn-lt"/>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171450" lvl="0" indent="-171450" algn="l" rtl="0" eaLnBrk="1" latinLnBrk="0" hangingPunct="1">
                        <a:lnSpc>
                          <a:spcPct val="100000"/>
                        </a:lnSpc>
                        <a:spcBef>
                          <a:spcPts val="0"/>
                        </a:spcBef>
                        <a:spcAft>
                          <a:spcPts val="0"/>
                        </a:spcAft>
                        <a:buFont typeface="Arial"/>
                        <a:buChar char="•"/>
                      </a:pPr>
                      <a:r>
                        <a:rPr lang="en-US" sz="800" b="0" i="0" u="none" strike="noStrike" kern="1200" noProof="0">
                          <a:solidFill>
                            <a:schemeClr val="tx1"/>
                          </a:solidFill>
                        </a:rPr>
                        <a:t>Automate the daily generation of non-compliance reports identifying previous-day rostered crew who have not completed mandatory read-and-sign documents.</a:t>
                      </a:r>
                    </a:p>
                    <a:p>
                      <a:pPr marL="171450" lvl="0" indent="-171450" algn="l">
                        <a:lnSpc>
                          <a:spcPct val="100000"/>
                        </a:lnSpc>
                        <a:spcBef>
                          <a:spcPts val="0"/>
                        </a:spcBef>
                        <a:spcAft>
                          <a:spcPts val="0"/>
                        </a:spcAft>
                        <a:buFont typeface="Arial"/>
                        <a:buChar char="•"/>
                      </a:pPr>
                      <a:r>
                        <a:rPr lang="en-US" sz="800" b="0" i="0" u="none" strike="noStrike" kern="1200" noProof="0">
                          <a:solidFill>
                            <a:schemeClr val="tx1"/>
                          </a:solidFill>
                        </a:rPr>
                        <a:t>Create monthly dump od docunet data for flightOps Audit.</a:t>
                      </a: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lvl="0" indent="0" algn="l">
                        <a:lnSpc>
                          <a:spcPct val="100000"/>
                        </a:lnSpc>
                        <a:spcBef>
                          <a:spcPts val="0"/>
                        </a:spcBef>
                        <a:spcAft>
                          <a:spcPts val="0"/>
                        </a:spcAft>
                        <a:buFont typeface="Arial"/>
                        <a:buNone/>
                      </a:pPr>
                      <a:r>
                        <a:rPr lang="en-US" sz="800" b="1" i="0" u="none" strike="noStrike" kern="1200" noProof="0">
                          <a:solidFill>
                            <a:srgbClr val="016FBC"/>
                          </a:solidFill>
                          <a:effectLst/>
                          <a:latin typeface="+mn-lt"/>
                          <a:ea typeface="+mn-ea"/>
                          <a:cs typeface="+mn-cs"/>
                        </a:rPr>
                        <a:t>Planned: 25 Jul'26</a:t>
                      </a:r>
                    </a:p>
                    <a:p>
                      <a:pPr marL="0" lvl="0" indent="0" algn="l">
                        <a:lnSpc>
                          <a:spcPct val="100000"/>
                        </a:lnSpc>
                        <a:spcBef>
                          <a:spcPts val="0"/>
                        </a:spcBef>
                        <a:spcAft>
                          <a:spcPts val="0"/>
                        </a:spcAft>
                        <a:buFont typeface="Arial"/>
                        <a:buNone/>
                      </a:pPr>
                      <a:r>
                        <a:rPr lang="en-US" sz="800" b="1" i="0" u="none" strike="noStrike" kern="1200" noProof="0">
                          <a:solidFill>
                            <a:srgbClr val="016FBC"/>
                          </a:solidFill>
                          <a:effectLst/>
                          <a:latin typeface="+mn-lt"/>
                          <a:ea typeface="+mn-ea"/>
                          <a:cs typeface="+mn-cs"/>
                        </a:rPr>
                        <a:t>Actual: 1 Jul'26</a:t>
                      </a: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lvl="0" indent="0" algn="ctr">
                        <a:lnSpc>
                          <a:spcPct val="100000"/>
                        </a:lnSpc>
                        <a:spcBef>
                          <a:spcPts val="0"/>
                        </a:spcBef>
                        <a:spcAft>
                          <a:spcPts val="0"/>
                        </a:spcAft>
                        <a:buFont typeface="Arial"/>
                        <a:buNone/>
                      </a:pPr>
                      <a:r>
                        <a:rPr lang="en-US" sz="800" b="0" i="0" u="none" strike="noStrike" kern="1200" noProof="0">
                          <a:solidFill>
                            <a:schemeClr val="tx1"/>
                          </a:solidFill>
                        </a:rPr>
                        <a:t>No</a:t>
                      </a:r>
                    </a:p>
                  </a:txBody>
                  <a:tcPr>
                    <a:lnL w="6350" cap="flat" cmpd="sng" algn="ctr">
                      <a:solidFill>
                        <a:schemeClr val="bg1">
                          <a:lumMod val="75000"/>
                        </a:schemeClr>
                      </a:solidFill>
                      <a:prstDash val="solid"/>
                      <a:round/>
                      <a:headEnd type="none" w="med" len="med"/>
                      <a:tailEnd type="none" w="med" len="med"/>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00934068"/>
                  </a:ext>
                </a:extLst>
              </a:tr>
              <a:tr h="0">
                <a:tc>
                  <a:txBody>
                    <a:bodyPr/>
                    <a:lstStyle/>
                    <a:p>
                      <a:pPr marL="0" marR="0" lvl="0" indent="0" algn="l" defTabSz="914400" rtl="0" eaLnBrk="1" fontAlgn="auto" latinLnBrk="0" hangingPunct="1">
                        <a:lnSpc>
                          <a:spcPts val="1425"/>
                        </a:lnSpc>
                        <a:spcBef>
                          <a:spcPts val="0"/>
                        </a:spcBef>
                        <a:spcAft>
                          <a:spcPts val="0"/>
                        </a:spcAft>
                        <a:buClrTx/>
                        <a:buSzTx/>
                        <a:buFontTx/>
                        <a:buNone/>
                        <a:tabLst/>
                        <a:defRPr/>
                      </a:pPr>
                      <a:r>
                        <a:rPr lang="en-IN" sz="800" b="1" i="0" u="none" strike="noStrike" kern="1200" err="1">
                          <a:solidFill>
                            <a:srgbClr val="00B050"/>
                          </a:solidFill>
                          <a:effectLst/>
                          <a:latin typeface="+mn-lt"/>
                          <a:ea typeface="+mn-ea"/>
                          <a:cs typeface="+mn-cs"/>
                        </a:rPr>
                        <a:t>Adhoc</a:t>
                      </a:r>
                      <a:r>
                        <a:rPr lang="en-IN" sz="800" b="1" i="0" u="none" strike="noStrike" kern="1200">
                          <a:solidFill>
                            <a:srgbClr val="00B050"/>
                          </a:solidFill>
                          <a:effectLst/>
                          <a:latin typeface="+mn-lt"/>
                          <a:ea typeface="+mn-ea"/>
                          <a:cs typeface="+mn-cs"/>
                        </a:rPr>
                        <a:t> - Schedule comparison tool (SM-MM) – Enhancement</a:t>
                      </a:r>
                      <a:endParaRPr lang="en-US" sz="800" b="1" i="0" u="none" strike="noStrike" kern="1200">
                        <a:solidFill>
                          <a:schemeClr val="tx1"/>
                        </a:solidFill>
                        <a:effectLst/>
                        <a:latin typeface="+mn-lt"/>
                        <a:ea typeface="+mn-ea"/>
                        <a:cs typeface="+mn-cs"/>
                      </a:endParaRPr>
                    </a:p>
                  </a:txBody>
                  <a:tcP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lvl="0" algn="l" rtl="0">
                        <a:lnSpc>
                          <a:spcPts val="1425"/>
                        </a:lnSpc>
                        <a:buFont typeface="+mj-lt"/>
                        <a:buNone/>
                      </a:pPr>
                      <a:endParaRPr lang="en-US" sz="800" b="1" i="0" u="none" strike="noStrike">
                        <a:solidFill>
                          <a:schemeClr val="tx1"/>
                        </a:solidFill>
                        <a:effectLst/>
                        <a:latin typeface="+mn-lt"/>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a:buChar char="•"/>
                        <a:tabLst/>
                        <a:defRPr/>
                      </a:pPr>
                      <a:r>
                        <a:rPr lang="en-IN" sz="800"/>
                        <a:t>Enables early detection of operational discrepancies such as schedule time and aircraft type mismatches, reducing downstream impacts on fleet planning, crew allocation, and operational execution. The enhancement minimizes manual reconciliation effort, supports faster decision‑making, and helps prevent scheduling errors that could lead to delays, increased operational costs, or compliance risks, thereby strengthening overall schedule governance and operational efficiency.</a:t>
                      </a:r>
                    </a:p>
                    <a:p>
                      <a:pPr marL="285750" lvl="0" indent="-285750" algn="l">
                        <a:lnSpc>
                          <a:spcPct val="100000"/>
                        </a:lnSpc>
                        <a:spcBef>
                          <a:spcPts val="0"/>
                        </a:spcBef>
                        <a:spcAft>
                          <a:spcPts val="0"/>
                        </a:spcAft>
                        <a:buFont typeface="Arial"/>
                        <a:buChar char="•"/>
                      </a:pPr>
                      <a:endParaRPr lang="en-US" sz="800" b="0" i="0" u="none" strike="noStrike" kern="1200" noProof="0">
                        <a:solidFill>
                          <a:schemeClr val="tx1"/>
                        </a:solidFill>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 typeface="Arial"/>
                        <a:buNone/>
                        <a:tabLst/>
                        <a:defRPr/>
                      </a:pPr>
                      <a:r>
                        <a:rPr lang="en-IN" sz="800" b="1" i="0" u="none" strike="noStrike" kern="1200">
                          <a:solidFill>
                            <a:srgbClr val="00B050"/>
                          </a:solidFill>
                          <a:effectLst/>
                          <a:latin typeface="+mn-lt"/>
                          <a:ea typeface="+mn-ea"/>
                          <a:cs typeface="+mn-cs"/>
                        </a:rPr>
                        <a:t>23 Jul 2026</a:t>
                      </a: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 typeface="Arial"/>
                        <a:buNone/>
                        <a:tabLst/>
                        <a:defRPr/>
                      </a:pPr>
                      <a:r>
                        <a:rPr lang="en-IN" sz="800" b="0" i="0" u="none" strike="noStrike" kern="1200">
                          <a:solidFill>
                            <a:schemeClr val="tx1"/>
                          </a:solidFill>
                          <a:effectLst/>
                          <a:latin typeface="+mn-lt"/>
                          <a:ea typeface="+mn-ea"/>
                          <a:cs typeface="+mn-cs"/>
                        </a:rPr>
                        <a:t>No</a:t>
                      </a:r>
                    </a:p>
                  </a:txBody>
                  <a:tcPr>
                    <a:lnL w="6350" cap="flat" cmpd="sng" algn="ctr">
                      <a:solidFill>
                        <a:schemeClr val="bg1">
                          <a:lumMod val="75000"/>
                        </a:schemeClr>
                      </a:solidFill>
                      <a:prstDash val="solid"/>
                      <a:round/>
                      <a:headEnd type="none" w="med" len="med"/>
                      <a:tailEnd type="none" w="med" len="med"/>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808116301"/>
                  </a:ext>
                </a:extLst>
              </a:tr>
              <a:tr h="0">
                <a:tc>
                  <a:txBody>
                    <a:bodyPr/>
                    <a:lstStyle/>
                    <a:p>
                      <a:pPr marL="0" lvl="0" indent="0" algn="l">
                        <a:lnSpc>
                          <a:spcPts val="1425"/>
                        </a:lnSpc>
                        <a:spcBef>
                          <a:spcPts val="0"/>
                        </a:spcBef>
                        <a:spcAft>
                          <a:spcPts val="0"/>
                        </a:spcAft>
                        <a:buNone/>
                      </a:pPr>
                      <a:r>
                        <a:rPr lang="en-IN" sz="800" b="1" i="0" u="none" strike="noStrike" kern="1200">
                          <a:solidFill>
                            <a:srgbClr val="016FBC"/>
                          </a:solidFill>
                          <a:effectLst/>
                          <a:latin typeface="+mn-lt"/>
                          <a:ea typeface="+mn-ea"/>
                          <a:cs typeface="+mn-cs"/>
                        </a:rPr>
                        <a:t>Adhoc - Integrated FDTL Crew Exceedance Report</a:t>
                      </a:r>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lvl="0" algn="l">
                        <a:lnSpc>
                          <a:spcPts val="1425"/>
                        </a:lnSpc>
                        <a:buNone/>
                      </a:pPr>
                      <a:endParaRPr lang="en-US" sz="800" b="1" i="0" u="none" strike="noStrike">
                        <a:solidFill>
                          <a:schemeClr val="tx1"/>
                        </a:solidFill>
                        <a:effectLst/>
                        <a:latin typeface="+mn-lt"/>
                      </a:endParaRPr>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marL="171450" lvl="0" indent="-171450" algn="l">
                        <a:lnSpc>
                          <a:spcPct val="100000"/>
                        </a:lnSpc>
                        <a:spcBef>
                          <a:spcPts val="0"/>
                        </a:spcBef>
                        <a:spcAft>
                          <a:spcPts val="0"/>
                        </a:spcAft>
                        <a:buFont typeface="Arial"/>
                        <a:buChar char="•"/>
                      </a:pPr>
                      <a:r>
                        <a:rPr lang="en-US" sz="800" b="0" i="0" u="none" strike="noStrike" kern="1200" noProof="0">
                          <a:solidFill>
                            <a:schemeClr val="tx1"/>
                          </a:solidFill>
                          <a:latin typeface="Nunito Sans"/>
                        </a:rPr>
                        <a:t>This will help submit DGCA exceedance reports and analyze crew FDTL exceedance reasons, reducing manhours for report preparation.</a:t>
                      </a:r>
                      <a:endParaRPr lang="en-US" sz="800" b="0" i="0" u="none" strike="noStrike" kern="1200" noProof="0">
                        <a:solidFill>
                          <a:schemeClr val="tx1"/>
                        </a:solidFill>
                      </a:endParaRPr>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marL="0" lvl="0" indent="0" algn="l">
                        <a:lnSpc>
                          <a:spcPct val="100000"/>
                        </a:lnSpc>
                        <a:spcBef>
                          <a:spcPts val="0"/>
                        </a:spcBef>
                        <a:spcAft>
                          <a:spcPts val="0"/>
                        </a:spcAft>
                        <a:buNone/>
                      </a:pPr>
                      <a:r>
                        <a:rPr lang="en-IN" sz="800" b="1" i="0" u="none" strike="noStrike" kern="1200">
                          <a:solidFill>
                            <a:srgbClr val="016FBC"/>
                          </a:solidFill>
                          <a:effectLst/>
                          <a:latin typeface="+mn-lt"/>
                          <a:ea typeface="+mn-ea"/>
                          <a:cs typeface="+mn-cs"/>
                        </a:rPr>
                        <a:t>Planned: 15 Jul 2026</a:t>
                      </a:r>
                    </a:p>
                    <a:p>
                      <a:pPr marL="0" lvl="0" indent="0" algn="l">
                        <a:lnSpc>
                          <a:spcPct val="100000"/>
                        </a:lnSpc>
                        <a:spcBef>
                          <a:spcPts val="0"/>
                        </a:spcBef>
                        <a:spcAft>
                          <a:spcPts val="0"/>
                        </a:spcAft>
                        <a:buNone/>
                      </a:pPr>
                      <a:r>
                        <a:rPr lang="en-IN" sz="800" b="1" i="0" u="none" strike="noStrike" kern="1200">
                          <a:solidFill>
                            <a:srgbClr val="016FBC"/>
                          </a:solidFill>
                          <a:effectLst/>
                          <a:latin typeface="+mn-lt"/>
                          <a:ea typeface="+mn-ea"/>
                          <a:cs typeface="+mn-cs"/>
                        </a:rPr>
                        <a:t>Actual: 07 Jul 2026</a:t>
                      </a:r>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marL="0" lvl="0" indent="0" algn="ctr" defTabSz="914400">
                        <a:lnSpc>
                          <a:spcPct val="100000"/>
                        </a:lnSpc>
                        <a:spcBef>
                          <a:spcPts val="0"/>
                        </a:spcBef>
                        <a:spcAft>
                          <a:spcPts val="0"/>
                        </a:spcAft>
                        <a:buNone/>
                        <a:tabLst/>
                        <a:defRPr/>
                      </a:pPr>
                      <a:r>
                        <a:rPr lang="en-IN" sz="800" b="0" i="0" u="none" strike="noStrike" kern="1200">
                          <a:solidFill>
                            <a:schemeClr val="tx1"/>
                          </a:solidFill>
                          <a:effectLst/>
                          <a:latin typeface="+mn-lt"/>
                          <a:ea typeface="+mn-ea"/>
                          <a:cs typeface="+mn-cs"/>
                        </a:rPr>
                        <a:t>No</a:t>
                      </a:r>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357993475"/>
                  </a:ext>
                </a:extLst>
              </a:tr>
              <a:tr h="0">
                <a:tc>
                  <a:txBody>
                    <a:bodyPr/>
                    <a:lstStyle/>
                    <a:p>
                      <a:pPr marL="0" marR="0" lvl="0" indent="0" algn="l" rtl="0">
                        <a:lnSpc>
                          <a:spcPct val="100000"/>
                        </a:lnSpc>
                        <a:spcBef>
                          <a:spcPts val="0"/>
                        </a:spcBef>
                        <a:spcAft>
                          <a:spcPts val="0"/>
                        </a:spcAft>
                        <a:buClrTx/>
                        <a:buSzTx/>
                        <a:buFontTx/>
                        <a:buNone/>
                      </a:pPr>
                      <a:r>
                        <a:rPr lang="en-US" sz="800" b="1" i="0" u="none" strike="noStrike" kern="1200">
                          <a:solidFill>
                            <a:srgbClr val="016FBC"/>
                          </a:solidFill>
                          <a:effectLst/>
                          <a:latin typeface="+mn-lt"/>
                          <a:ea typeface="+mn-ea"/>
                          <a:cs typeface="+mn-cs"/>
                        </a:rPr>
                        <a:t>GE Data flow Enhancement</a:t>
                      </a: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lvl="0" indent="0" algn="l">
                        <a:lnSpc>
                          <a:spcPct val="100000"/>
                        </a:lnSpc>
                        <a:spcBef>
                          <a:spcPts val="0"/>
                        </a:spcBef>
                        <a:spcAft>
                          <a:spcPts val="0"/>
                        </a:spcAft>
                        <a:buNone/>
                      </a:pPr>
                      <a:endParaRPr lang="en-US" sz="900" b="1" i="0" u="none" strike="noStrike" kern="1200" noProof="0">
                        <a:solidFill>
                          <a:schemeClr val="tx1"/>
                        </a:solidFill>
                        <a:latin typeface="+mn-lt"/>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171450" lvl="0" indent="-171450">
                        <a:buFont typeface="Arial"/>
                        <a:buChar char="•"/>
                      </a:pPr>
                      <a:r>
                        <a:rPr lang="en-IN" sz="800" b="0" i="0" u="none" strike="noStrike" kern="1200" noProof="0">
                          <a:solidFill>
                            <a:schemeClr val="tx1"/>
                          </a:solidFill>
                          <a:latin typeface="Nunito Sans"/>
                          <a:ea typeface="+mn-ea"/>
                          <a:cs typeface="+mn-cs"/>
                        </a:rPr>
                        <a:t>Resolve intermittent issues for ODW data share to GE SFTP, increasing the coverage rate from 90% to 100%</a:t>
                      </a:r>
                      <a:endParaRPr lang="en-US" sz="800" b="0" i="0" u="none" strike="noStrike" kern="1200">
                        <a:solidFill>
                          <a:schemeClr val="tx1"/>
                        </a:solidFill>
                        <a:latin typeface="Nunito Sans"/>
                        <a:ea typeface="+mn-ea"/>
                        <a:cs typeface="+mn-cs"/>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lvl="0" algn="l">
                        <a:buNone/>
                      </a:pPr>
                      <a:r>
                        <a:rPr lang="en-US" sz="900" b="1" i="0" u="none" strike="noStrike" kern="1200" cap="none" spc="0" normalizeH="0" baseline="0" noProof="0">
                          <a:ln>
                            <a:noFill/>
                          </a:ln>
                          <a:solidFill>
                            <a:srgbClr val="016FBC"/>
                          </a:solidFill>
                          <a:effectLst/>
                          <a:uLnTx/>
                          <a:uFillTx/>
                          <a:latin typeface="+mn-lt"/>
                          <a:ea typeface="+mn-ea"/>
                          <a:cs typeface="+mn-cs"/>
                        </a:rPr>
                        <a:t>Planned: 10 Jul 2026  2026</a:t>
                      </a:r>
                      <a:endParaRPr lang="en-US">
                        <a:solidFill>
                          <a:srgbClr val="016FBC"/>
                        </a:solidFill>
                      </a:endParaRPr>
                    </a:p>
                    <a:p>
                      <a:pPr lvl="0" algn="l">
                        <a:buNone/>
                      </a:pPr>
                      <a:r>
                        <a:rPr lang="en-US" sz="900" b="1" i="0" u="none" strike="noStrike" kern="1200" cap="none" spc="0" normalizeH="0" baseline="0" noProof="0">
                          <a:ln>
                            <a:noFill/>
                          </a:ln>
                          <a:solidFill>
                            <a:srgbClr val="016FBC"/>
                          </a:solidFill>
                          <a:effectLst/>
                          <a:uLnTx/>
                          <a:uFillTx/>
                          <a:latin typeface="+mn-lt"/>
                          <a:ea typeface="+mn-ea"/>
                          <a:cs typeface="+mn-cs"/>
                        </a:rPr>
                        <a:t>Actual: 02 Jul 2026</a:t>
                      </a: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lvl="0" algn="ctr" defTabSz="914400">
                        <a:buNone/>
                        <a:tabLst/>
                        <a:defRPr/>
                      </a:pPr>
                      <a:r>
                        <a:rPr lang="en-IN" sz="800"/>
                        <a:t>No</a:t>
                      </a:r>
                      <a:endParaRPr lang="en-US"/>
                    </a:p>
                  </a:txBody>
                  <a:tcPr>
                    <a:lnL w="6350" cap="flat" cmpd="sng" algn="ctr">
                      <a:solidFill>
                        <a:schemeClr val="bg1">
                          <a:lumMod val="75000"/>
                        </a:schemeClr>
                      </a:solidFill>
                      <a:prstDash val="solid"/>
                      <a:round/>
                      <a:headEnd type="none" w="med" len="med"/>
                      <a:tailEnd type="none" w="med" len="med"/>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301610827"/>
                  </a:ext>
                </a:extLst>
              </a:tr>
            </a:tbl>
          </a:graphicData>
        </a:graphic>
      </p:graphicFrame>
    </p:spTree>
    <p:extLst>
      <p:ext uri="{BB962C8B-B14F-4D97-AF65-F5344CB8AC3E}">
        <p14:creationId xmlns:p14="http://schemas.microsoft.com/office/powerpoint/2010/main" val="340712427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0E3A29-1EEB-850B-3B23-F9B523277BAC}"/>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8753992-5FFF-CDD4-8E0F-292E75B837B8}"/>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3A41A254-7326-714E-AF55-4C213D6394DE}" type="slidenum">
              <a:rPr kumimoji="0" lang="en-US" sz="1200" b="0" i="0" u="none" strike="noStrike" kern="1200" cap="none" spc="0" normalizeH="0" baseline="0" noProof="0" smtClean="0">
                <a:ln>
                  <a:noFill/>
                </a:ln>
                <a:solidFill>
                  <a:srgbClr val="DA0E28"/>
                </a:solidFill>
                <a:effectLst/>
                <a:uLnTx/>
                <a:uFillTx/>
                <a:latin typeface="Nunito Sans"/>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srgbClr val="DA0E28"/>
              </a:solidFill>
              <a:effectLst/>
              <a:uLnTx/>
              <a:uFillTx/>
              <a:latin typeface="Nunito Sans"/>
              <a:ea typeface="+mn-ea"/>
              <a:cs typeface="+mn-cs"/>
            </a:endParaRPr>
          </a:p>
        </p:txBody>
      </p:sp>
      <p:sp>
        <p:nvSpPr>
          <p:cNvPr id="3" name="Rectangle 2">
            <a:extLst>
              <a:ext uri="{FF2B5EF4-FFF2-40B4-BE49-F238E27FC236}">
                <a16:creationId xmlns:a16="http://schemas.microsoft.com/office/drawing/2014/main" id="{D9186D8F-52CF-5D3C-08D1-11DC92960931}"/>
              </a:ext>
            </a:extLst>
          </p:cNvPr>
          <p:cNvSpPr/>
          <p:nvPr/>
        </p:nvSpPr>
        <p:spPr>
          <a:xfrm>
            <a:off x="129077" y="589306"/>
            <a:ext cx="959059" cy="42234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400" b="1" i="0" u="none" strike="noStrike" kern="1200" cap="none" spc="0" normalizeH="0" baseline="0" noProof="0">
                <a:ln>
                  <a:noFill/>
                </a:ln>
                <a:solidFill>
                  <a:srgbClr val="FFFFFF"/>
                </a:solidFill>
                <a:effectLst/>
                <a:uLnTx/>
                <a:uFillTx/>
                <a:latin typeface="AirIndia"/>
                <a:ea typeface="+mn-ea"/>
                <a:cs typeface="+mn-cs"/>
              </a:rPr>
              <a:t>Aug ‘</a:t>
            </a:r>
            <a:r>
              <a:rPr lang="en-IN" sz="1400" b="1">
                <a:solidFill>
                  <a:srgbClr val="FFFFFF"/>
                </a:solidFill>
                <a:latin typeface="AirIndia"/>
              </a:rPr>
              <a:t>26</a:t>
            </a:r>
            <a:endParaRPr kumimoji="0" lang="en-US" sz="1400" b="1" i="0" u="none" strike="noStrike" kern="1200" cap="none" spc="0" normalizeH="0" baseline="0" noProof="0">
              <a:ln>
                <a:noFill/>
              </a:ln>
              <a:solidFill>
                <a:srgbClr val="FFFFFF"/>
              </a:solidFill>
              <a:effectLst/>
              <a:uLnTx/>
              <a:uFillTx/>
              <a:latin typeface="AirIndia"/>
              <a:ea typeface="+mn-ea"/>
              <a:cs typeface="+mn-cs"/>
            </a:endParaRPr>
          </a:p>
        </p:txBody>
      </p:sp>
      <p:sp>
        <p:nvSpPr>
          <p:cNvPr id="6" name="Title 11">
            <a:extLst>
              <a:ext uri="{FF2B5EF4-FFF2-40B4-BE49-F238E27FC236}">
                <a16:creationId xmlns:a16="http://schemas.microsoft.com/office/drawing/2014/main" id="{36D5FEA6-F627-2ACD-5883-6E17B2CE589F}"/>
              </a:ext>
            </a:extLst>
          </p:cNvPr>
          <p:cNvSpPr txBox="1">
            <a:spLocks/>
          </p:cNvSpPr>
          <p:nvPr/>
        </p:nvSpPr>
        <p:spPr>
          <a:xfrm>
            <a:off x="253743" y="182023"/>
            <a:ext cx="7702602" cy="430255"/>
          </a:xfrm>
          <a:prstGeom prst="rect">
            <a:avLst/>
          </a:prstGeom>
        </p:spPr>
        <p:txBody>
          <a:bodyPr lIns="91440" tIns="45720" rIns="91440" bIns="45720" anchor="t">
            <a:noAutofit/>
          </a:bodyPr>
          <a:lstStyle>
            <a:lvl1pPr algn="l" defTabSz="914400" rtl="0" eaLnBrk="1" latinLnBrk="0" hangingPunct="1">
              <a:lnSpc>
                <a:spcPct val="90000"/>
              </a:lnSpc>
              <a:spcBef>
                <a:spcPct val="0"/>
              </a:spcBef>
              <a:buNone/>
              <a:defRPr sz="4400" b="1" i="0" kern="1200">
                <a:solidFill>
                  <a:schemeClr val="tx1"/>
                </a:solidFill>
                <a:latin typeface="AirIndia" pitchFamily="82" charset="77"/>
                <a:ea typeface="+mj-ea"/>
                <a:cs typeface="+mj-cs"/>
              </a:defRPr>
            </a:lvl1pPr>
          </a:lstStyle>
          <a:p>
            <a:pPr>
              <a:defRPr/>
            </a:pPr>
            <a:r>
              <a:rPr lang="en-US" sz="1800">
                <a:solidFill>
                  <a:srgbClr val="DA0E28"/>
                </a:solidFill>
                <a:latin typeface="AirIndia"/>
              </a:rPr>
              <a:t>Operations Tech </a:t>
            </a:r>
            <a:r>
              <a:rPr kumimoji="0" lang="en-US" sz="1800" b="1" i="0" u="none" strike="noStrike" kern="1200" cap="none" spc="0" normalizeH="0" baseline="0" noProof="0">
                <a:ln>
                  <a:noFill/>
                </a:ln>
                <a:solidFill>
                  <a:srgbClr val="DA0E28"/>
                </a:solidFill>
                <a:effectLst/>
                <a:uLnTx/>
                <a:uFillTx/>
                <a:latin typeface="AirIndia"/>
                <a:ea typeface="+mj-ea"/>
                <a:cs typeface="+mj-cs"/>
              </a:rPr>
              <a:t>- </a:t>
            </a:r>
            <a:r>
              <a:rPr lang="en-US" sz="1800">
                <a:solidFill>
                  <a:srgbClr val="DA0E28"/>
                </a:solidFill>
                <a:latin typeface="AirIndia"/>
              </a:rPr>
              <a:t>FY26-27 </a:t>
            </a:r>
            <a:r>
              <a:rPr kumimoji="0" lang="en-US" sz="1800" b="1" i="0" u="none" strike="noStrike" kern="1200" cap="none" spc="0" normalizeH="0" baseline="0" noProof="0">
                <a:ln>
                  <a:noFill/>
                </a:ln>
                <a:solidFill>
                  <a:srgbClr val="DA0E28"/>
                </a:solidFill>
                <a:effectLst/>
                <a:uLnTx/>
                <a:uFillTx/>
                <a:latin typeface="AirIndia"/>
                <a:ea typeface="+mj-ea"/>
                <a:cs typeface="+mj-cs"/>
              </a:rPr>
              <a:t>Q2 Release Plan</a:t>
            </a:r>
            <a:endParaRPr lang="en-US" sz="1800" b="0">
              <a:solidFill>
                <a:srgbClr val="000000"/>
              </a:solidFill>
              <a:latin typeface="AirIndia"/>
            </a:endParaRPr>
          </a:p>
          <a:p>
            <a:pPr>
              <a:defRPr/>
            </a:pPr>
            <a:endParaRPr lang="en-US" sz="1800" i="0" u="none" strike="noStrike" kern="1200" cap="none" spc="0" normalizeH="0" baseline="0" noProof="0">
              <a:ln>
                <a:noFill/>
              </a:ln>
              <a:solidFill>
                <a:srgbClr val="DA0E28"/>
              </a:solidFill>
              <a:effectLst/>
              <a:uLnTx/>
              <a:uFillTx/>
              <a:latin typeface="AirIndia"/>
            </a:endParaRPr>
          </a:p>
        </p:txBody>
      </p:sp>
      <p:sp>
        <p:nvSpPr>
          <p:cNvPr id="4" name="Rectangle 3">
            <a:extLst>
              <a:ext uri="{FF2B5EF4-FFF2-40B4-BE49-F238E27FC236}">
                <a16:creationId xmlns:a16="http://schemas.microsoft.com/office/drawing/2014/main" id="{92928606-851D-30AA-4344-432B80C3EC99}"/>
              </a:ext>
            </a:extLst>
          </p:cNvPr>
          <p:cNvSpPr/>
          <p:nvPr/>
        </p:nvSpPr>
        <p:spPr>
          <a:xfrm>
            <a:off x="1188132" y="6671592"/>
            <a:ext cx="90000" cy="90000"/>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5" name="Rectangle 4">
            <a:extLst>
              <a:ext uri="{FF2B5EF4-FFF2-40B4-BE49-F238E27FC236}">
                <a16:creationId xmlns:a16="http://schemas.microsoft.com/office/drawing/2014/main" id="{351C46E4-0E4B-1D3E-627B-E4C2C32E6472}"/>
              </a:ext>
            </a:extLst>
          </p:cNvPr>
          <p:cNvSpPr/>
          <p:nvPr/>
        </p:nvSpPr>
        <p:spPr>
          <a:xfrm>
            <a:off x="2265818" y="6670554"/>
            <a:ext cx="90000" cy="90000"/>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7" name="Rectangle 6">
            <a:extLst>
              <a:ext uri="{FF2B5EF4-FFF2-40B4-BE49-F238E27FC236}">
                <a16:creationId xmlns:a16="http://schemas.microsoft.com/office/drawing/2014/main" id="{C89A2698-3781-A532-BDF3-A855F39C9C1C}"/>
              </a:ext>
            </a:extLst>
          </p:cNvPr>
          <p:cNvSpPr/>
          <p:nvPr/>
        </p:nvSpPr>
        <p:spPr>
          <a:xfrm>
            <a:off x="3443423" y="6671592"/>
            <a:ext cx="90000" cy="90000"/>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8" name="Rectangle 7">
            <a:extLst>
              <a:ext uri="{FF2B5EF4-FFF2-40B4-BE49-F238E27FC236}">
                <a16:creationId xmlns:a16="http://schemas.microsoft.com/office/drawing/2014/main" id="{85699897-F0E6-200C-15BA-EAA1D641E884}"/>
              </a:ext>
            </a:extLst>
          </p:cNvPr>
          <p:cNvSpPr/>
          <p:nvPr/>
        </p:nvSpPr>
        <p:spPr>
          <a:xfrm>
            <a:off x="8146052" y="6714097"/>
            <a:ext cx="90000" cy="90000"/>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9" name="TextBox 15">
            <a:extLst>
              <a:ext uri="{FF2B5EF4-FFF2-40B4-BE49-F238E27FC236}">
                <a16:creationId xmlns:a16="http://schemas.microsoft.com/office/drawing/2014/main" id="{EADD31F1-98CD-E9D1-6C22-8DE7FBCE58F7}"/>
              </a:ext>
            </a:extLst>
          </p:cNvPr>
          <p:cNvSpPr txBox="1"/>
          <p:nvPr/>
        </p:nvSpPr>
        <p:spPr>
          <a:xfrm>
            <a:off x="1288983" y="6614743"/>
            <a:ext cx="857245"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0070C0"/>
                </a:solidFill>
                <a:effectLst/>
                <a:uLnTx/>
                <a:uFillTx/>
                <a:latin typeface="Nunito Sans"/>
                <a:ea typeface="+mn-ea"/>
                <a:cs typeface="+mn-cs"/>
              </a:rPr>
              <a:t>Delivered</a:t>
            </a:r>
            <a:endParaRPr kumimoji="0" lang="en-IN" sz="1000" b="0" i="0" u="none" strike="noStrike" kern="1200" cap="none" spc="0" normalizeH="0" baseline="0" noProof="0">
              <a:ln>
                <a:noFill/>
              </a:ln>
              <a:solidFill>
                <a:srgbClr val="000000"/>
              </a:solidFill>
              <a:effectLst/>
              <a:uLnTx/>
              <a:uFillTx/>
              <a:latin typeface="Nunito Sans"/>
              <a:ea typeface="+mn-ea"/>
              <a:cs typeface="+mn-cs"/>
            </a:endParaRPr>
          </a:p>
        </p:txBody>
      </p:sp>
      <p:sp>
        <p:nvSpPr>
          <p:cNvPr id="10" name="TextBox 18">
            <a:extLst>
              <a:ext uri="{FF2B5EF4-FFF2-40B4-BE49-F238E27FC236}">
                <a16:creationId xmlns:a16="http://schemas.microsoft.com/office/drawing/2014/main" id="{B6967B09-5B69-127C-BB15-912FEB05FE25}"/>
              </a:ext>
            </a:extLst>
          </p:cNvPr>
          <p:cNvSpPr txBox="1"/>
          <p:nvPr/>
        </p:nvSpPr>
        <p:spPr>
          <a:xfrm>
            <a:off x="2310642" y="6611102"/>
            <a:ext cx="1032881"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00B050"/>
                </a:solidFill>
                <a:effectLst/>
                <a:uLnTx/>
                <a:uFillTx/>
                <a:latin typeface="Nunito Sans"/>
                <a:ea typeface="+mn-ea"/>
                <a:cs typeface="+mn-cs"/>
              </a:rPr>
              <a:t>Ontrack</a:t>
            </a:r>
            <a:endParaRPr kumimoji="0" lang="en-IN" sz="1000" b="0" i="0" u="none" strike="noStrike" kern="1200" cap="none" spc="0" normalizeH="0" baseline="0" noProof="0">
              <a:ln>
                <a:noFill/>
              </a:ln>
              <a:solidFill>
                <a:srgbClr val="000000"/>
              </a:solidFill>
              <a:effectLst/>
              <a:uLnTx/>
              <a:uFillTx/>
              <a:latin typeface="Nunito Sans"/>
              <a:ea typeface="+mn-ea"/>
              <a:cs typeface="+mn-cs"/>
            </a:endParaRPr>
          </a:p>
        </p:txBody>
      </p:sp>
      <p:sp>
        <p:nvSpPr>
          <p:cNvPr id="11" name="TextBox 20">
            <a:extLst>
              <a:ext uri="{FF2B5EF4-FFF2-40B4-BE49-F238E27FC236}">
                <a16:creationId xmlns:a16="http://schemas.microsoft.com/office/drawing/2014/main" id="{6B883040-CA4B-FA85-C28F-2809EC747AE6}"/>
              </a:ext>
            </a:extLst>
          </p:cNvPr>
          <p:cNvSpPr txBox="1"/>
          <p:nvPr/>
        </p:nvSpPr>
        <p:spPr>
          <a:xfrm>
            <a:off x="3539606" y="6608370"/>
            <a:ext cx="2257628"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FED9A0">
                    <a:lumMod val="75000"/>
                  </a:srgbClr>
                </a:solidFill>
                <a:effectLst/>
                <a:uLnTx/>
                <a:uFillTx/>
                <a:latin typeface="Nunito Sans"/>
                <a:ea typeface="+mn-ea"/>
                <a:cs typeface="+mn-cs"/>
              </a:rPr>
              <a:t>Under delay and can be recovered</a:t>
            </a:r>
            <a:endParaRPr kumimoji="0" lang="en-IN" sz="1000" b="0" i="0" u="none" strike="noStrike" kern="1200" cap="none" spc="0" normalizeH="0" baseline="0" noProof="0">
              <a:ln>
                <a:noFill/>
              </a:ln>
              <a:solidFill>
                <a:srgbClr val="000000"/>
              </a:solidFill>
              <a:effectLst/>
              <a:uLnTx/>
              <a:uFillTx/>
              <a:latin typeface="Nunito Sans"/>
              <a:ea typeface="+mn-ea"/>
              <a:cs typeface="+mn-cs"/>
            </a:endParaRPr>
          </a:p>
        </p:txBody>
      </p:sp>
      <p:sp>
        <p:nvSpPr>
          <p:cNvPr id="13" name="TextBox 22">
            <a:extLst>
              <a:ext uri="{FF2B5EF4-FFF2-40B4-BE49-F238E27FC236}">
                <a16:creationId xmlns:a16="http://schemas.microsoft.com/office/drawing/2014/main" id="{DC0195BB-600F-BA63-4A75-96C55A1205DD}"/>
              </a:ext>
            </a:extLst>
          </p:cNvPr>
          <p:cNvSpPr txBox="1"/>
          <p:nvPr/>
        </p:nvSpPr>
        <p:spPr>
          <a:xfrm>
            <a:off x="8246937" y="6618126"/>
            <a:ext cx="2338222"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FF0000"/>
                </a:solidFill>
                <a:effectLst/>
                <a:uLnTx/>
                <a:uFillTx/>
                <a:latin typeface="Nunito Sans"/>
                <a:ea typeface="+mn-ea"/>
                <a:cs typeface="+mn-cs"/>
              </a:rPr>
              <a:t>Delayed and pushed to next release</a:t>
            </a:r>
          </a:p>
        </p:txBody>
      </p:sp>
      <p:sp>
        <p:nvSpPr>
          <p:cNvPr id="15" name="TextBox 14">
            <a:extLst>
              <a:ext uri="{FF2B5EF4-FFF2-40B4-BE49-F238E27FC236}">
                <a16:creationId xmlns:a16="http://schemas.microsoft.com/office/drawing/2014/main" id="{F7E1F24B-76E4-C5FE-8F45-352D1768AADF}"/>
              </a:ext>
            </a:extLst>
          </p:cNvPr>
          <p:cNvSpPr txBox="1"/>
          <p:nvPr/>
        </p:nvSpPr>
        <p:spPr>
          <a:xfrm>
            <a:off x="6454369" y="6611638"/>
            <a:ext cx="2743200"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IN" sz="1000">
                <a:solidFill>
                  <a:srgbClr val="7D7D7D"/>
                </a:solidFill>
              </a:rPr>
              <a:t>Descoped</a:t>
            </a:r>
            <a:endParaRPr lang="en-US"/>
          </a:p>
        </p:txBody>
      </p:sp>
      <p:sp>
        <p:nvSpPr>
          <p:cNvPr id="16" name="Rectangle 15">
            <a:extLst>
              <a:ext uri="{FF2B5EF4-FFF2-40B4-BE49-F238E27FC236}">
                <a16:creationId xmlns:a16="http://schemas.microsoft.com/office/drawing/2014/main" id="{AF18A5AB-8C5C-25FA-28AB-337F9EDE9C81}"/>
              </a:ext>
            </a:extLst>
          </p:cNvPr>
          <p:cNvSpPr/>
          <p:nvPr/>
        </p:nvSpPr>
        <p:spPr>
          <a:xfrm>
            <a:off x="6360794" y="6681439"/>
            <a:ext cx="90000" cy="90000"/>
          </a:xfrm>
          <a:prstGeom prst="rect">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graphicFrame>
        <p:nvGraphicFramePr>
          <p:cNvPr id="14" name="Table 13">
            <a:extLst>
              <a:ext uri="{FF2B5EF4-FFF2-40B4-BE49-F238E27FC236}">
                <a16:creationId xmlns:a16="http://schemas.microsoft.com/office/drawing/2014/main" id="{0D234390-B837-2417-E263-DDF05DE37D23}"/>
              </a:ext>
            </a:extLst>
          </p:cNvPr>
          <p:cNvGraphicFramePr>
            <a:graphicFrameLocks noGrp="1"/>
          </p:cNvGraphicFramePr>
          <p:nvPr>
            <p:extLst>
              <p:ext uri="{D42A27DB-BD31-4B8C-83A1-F6EECF244321}">
                <p14:modId xmlns:p14="http://schemas.microsoft.com/office/powerpoint/2010/main" val="4252298332"/>
              </p:ext>
            </p:extLst>
          </p:nvPr>
        </p:nvGraphicFramePr>
        <p:xfrm>
          <a:off x="1088136" y="588745"/>
          <a:ext cx="10974787" cy="5450840"/>
        </p:xfrm>
        <a:graphic>
          <a:graphicData uri="http://schemas.openxmlformats.org/drawingml/2006/table">
            <a:tbl>
              <a:tblPr firstRow="1" bandRow="1">
                <a:tableStyleId>{5C22544A-7EE6-4342-B048-85BDC9FD1C3A}</a:tableStyleId>
              </a:tblPr>
              <a:tblGrid>
                <a:gridCol w="1861402">
                  <a:extLst>
                    <a:ext uri="{9D8B030D-6E8A-4147-A177-3AD203B41FA5}">
                      <a16:colId xmlns:a16="http://schemas.microsoft.com/office/drawing/2014/main" val="2822350773"/>
                    </a:ext>
                  </a:extLst>
                </a:gridCol>
                <a:gridCol w="1387255">
                  <a:extLst>
                    <a:ext uri="{9D8B030D-6E8A-4147-A177-3AD203B41FA5}">
                      <a16:colId xmlns:a16="http://schemas.microsoft.com/office/drawing/2014/main" val="1843387359"/>
                    </a:ext>
                  </a:extLst>
                </a:gridCol>
                <a:gridCol w="5752030">
                  <a:extLst>
                    <a:ext uri="{9D8B030D-6E8A-4147-A177-3AD203B41FA5}">
                      <a16:colId xmlns:a16="http://schemas.microsoft.com/office/drawing/2014/main" val="99588705"/>
                    </a:ext>
                  </a:extLst>
                </a:gridCol>
                <a:gridCol w="947393">
                  <a:extLst>
                    <a:ext uri="{9D8B030D-6E8A-4147-A177-3AD203B41FA5}">
                      <a16:colId xmlns:a16="http://schemas.microsoft.com/office/drawing/2014/main" val="3933000434"/>
                    </a:ext>
                  </a:extLst>
                </a:gridCol>
                <a:gridCol w="1026707">
                  <a:extLst>
                    <a:ext uri="{9D8B030D-6E8A-4147-A177-3AD203B41FA5}">
                      <a16:colId xmlns:a16="http://schemas.microsoft.com/office/drawing/2014/main" val="2332753323"/>
                    </a:ext>
                  </a:extLst>
                </a:gridCol>
              </a:tblGrid>
              <a:tr h="639072">
                <a:tc>
                  <a:txBody>
                    <a:bodyPr/>
                    <a:lstStyle/>
                    <a:p>
                      <a:pPr marL="0" lvl="0" indent="0" algn="ctr" defTabSz="914400" rtl="0">
                        <a:lnSpc>
                          <a:spcPct val="100000"/>
                        </a:lnSpc>
                        <a:buFont typeface="Arial" panose="020B0604020202020204" pitchFamily="34" charset="0"/>
                        <a:buNone/>
                      </a:pPr>
                      <a:r>
                        <a:rPr lang="en-IN" sz="1100" b="1" kern="1200">
                          <a:solidFill>
                            <a:schemeClr val="bg1"/>
                          </a:solidFill>
                          <a:latin typeface="+mn-lt"/>
                          <a:ea typeface="+mn-ea"/>
                          <a:cs typeface="+mn-cs"/>
                        </a:rPr>
                        <a:t>Initiatives</a:t>
                      </a:r>
                      <a:endParaRPr lang="en-US" sz="1100" b="1"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tc>
                  <a:txBody>
                    <a:bodyPr/>
                    <a:lstStyle/>
                    <a:p>
                      <a:pPr marL="0" lvl="0" indent="0" algn="ctr" defTabSz="914400">
                        <a:lnSpc>
                          <a:spcPct val="100000"/>
                        </a:lnSpc>
                        <a:buNone/>
                      </a:pPr>
                      <a:r>
                        <a:rPr lang="en-IN" sz="1100" b="1" i="0" u="none" strike="noStrike" kern="1200" noProof="0">
                          <a:solidFill>
                            <a:schemeClr val="bg1"/>
                          </a:solidFill>
                          <a:latin typeface="Nunito Sans"/>
                          <a:ea typeface="+mn-ea"/>
                          <a:cs typeface="+mn-cs"/>
                        </a:rPr>
                        <a:t>Programs/Project</a:t>
                      </a:r>
                      <a:endParaRPr lang="en-US"/>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tc>
                  <a:txBody>
                    <a:bodyPr/>
                    <a:lstStyle/>
                    <a:p>
                      <a:pPr marL="0" lvl="0" indent="0" algn="ctr">
                        <a:lnSpc>
                          <a:spcPct val="100000"/>
                        </a:lnSpc>
                        <a:buNone/>
                      </a:pPr>
                      <a:endParaRPr lang="en-IN" sz="1100" b="1" i="0" u="none" strike="noStrike" kern="1200" baseline="0" noProof="0">
                        <a:solidFill>
                          <a:srgbClr val="FFFFFF"/>
                        </a:solidFill>
                        <a:latin typeface="Nunito Sans"/>
                      </a:endParaRPr>
                    </a:p>
                    <a:p>
                      <a:pPr marL="0" lvl="0" indent="0" algn="ctr">
                        <a:lnSpc>
                          <a:spcPct val="100000"/>
                        </a:lnSpc>
                        <a:buNone/>
                      </a:pPr>
                      <a:r>
                        <a:rPr lang="en-IN" sz="1100" b="1" i="0" u="none" strike="noStrike" kern="1200" baseline="0" noProof="0">
                          <a:solidFill>
                            <a:srgbClr val="FFFFFF"/>
                          </a:solidFill>
                          <a:latin typeface="Nunito Sans"/>
                        </a:rPr>
                        <a:t>Value Justification/Realization</a:t>
                      </a:r>
                    </a:p>
                    <a:p>
                      <a:pPr marL="0" lvl="0" indent="0" algn="ctr" defTabSz="914400">
                        <a:buFont typeface="Arial" panose="020B0604020202020204" pitchFamily="34" charset="0"/>
                        <a:buNone/>
                      </a:pPr>
                      <a:endParaRPr lang="en-IN" sz="1100"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tc>
                  <a:txBody>
                    <a:bodyPr/>
                    <a:lstStyle/>
                    <a:p>
                      <a:pPr marL="0" lvl="0" indent="0" algn="ctr" defTabSz="914400">
                        <a:buFont typeface="Arial" panose="020B0604020202020204" pitchFamily="34" charset="0"/>
                        <a:buNone/>
                      </a:pPr>
                      <a:r>
                        <a:rPr lang="en-IN" sz="1100" kern="1200">
                          <a:solidFill>
                            <a:schemeClr val="bg1"/>
                          </a:solidFill>
                          <a:latin typeface="+mn-lt"/>
                          <a:ea typeface="+mn-ea"/>
                          <a:cs typeface="+mn-cs"/>
                        </a:rPr>
                        <a:t>Planned Go-live date</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1100" b="1" kern="1200">
                          <a:solidFill>
                            <a:schemeClr val="bg1"/>
                          </a:solidFill>
                          <a:latin typeface="+mn-lt"/>
                          <a:ea typeface="+mn-ea"/>
                          <a:cs typeface="+mn-cs"/>
                        </a:rPr>
                        <a:t>EIP Integration Required (Yes/No)</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extLst>
                  <a:ext uri="{0D108BD9-81ED-4DB2-BD59-A6C34878D82A}">
                    <a16:rowId xmlns:a16="http://schemas.microsoft.com/office/drawing/2014/main" val="844450115"/>
                  </a:ext>
                </a:extLst>
              </a:tr>
              <a:tr h="1342052">
                <a:tc>
                  <a:txBody>
                    <a:bodyPr/>
                    <a:lstStyle/>
                    <a:p>
                      <a:pPr marL="0" lvl="0" indent="0" algn="l">
                        <a:lnSpc>
                          <a:spcPct val="100000"/>
                        </a:lnSpc>
                        <a:spcBef>
                          <a:spcPts val="0"/>
                        </a:spcBef>
                        <a:spcAft>
                          <a:spcPts val="0"/>
                        </a:spcAft>
                        <a:buNone/>
                      </a:pPr>
                      <a:r>
                        <a:rPr lang="en-US" sz="800" b="1" i="0" u="none" strike="noStrike" kern="1200" noProof="0">
                          <a:solidFill>
                            <a:srgbClr val="00B050"/>
                          </a:solidFill>
                          <a:effectLst/>
                          <a:latin typeface="+mn-lt"/>
                          <a:ea typeface="+mn-ea"/>
                          <a:cs typeface="+mn-cs"/>
                        </a:rPr>
                        <a:t>Jeppesen – Deadhead Automation for Ground / SIM Training </a:t>
                      </a:r>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1" i="0" u="none" strike="noStrike">
                          <a:solidFill>
                            <a:schemeClr val="tx1"/>
                          </a:solidFill>
                          <a:effectLst/>
                          <a:latin typeface="+mn-lt"/>
                        </a:rPr>
                        <a:t>Jeppesen Pairing and Rostering</a:t>
                      </a:r>
                      <a:endParaRPr lang="en-US" sz="900"/>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a:buChar char="•"/>
                        <a:tabLst/>
                        <a:defRPr/>
                      </a:pPr>
                      <a:r>
                        <a:rPr lang="en-US" sz="900" b="0" i="0" u="none" strike="noStrike" kern="1200">
                          <a:solidFill>
                            <a:schemeClr val="tx1"/>
                          </a:solidFill>
                          <a:latin typeface="+mn-lt"/>
                          <a:ea typeface="+mn-ea"/>
                          <a:cs typeface="+mn-cs"/>
                        </a:rPr>
                        <a:t>Reduces manual planning effort through automation, minimizing repetitive scheduling activities.</a:t>
                      </a:r>
                    </a:p>
                    <a:p>
                      <a:pPr marL="285750" marR="0" lvl="0" indent="-285750" algn="l" defTabSz="914400" rtl="0" eaLnBrk="1" fontAlgn="auto" latinLnBrk="0" hangingPunct="1">
                        <a:lnSpc>
                          <a:spcPct val="100000"/>
                        </a:lnSpc>
                        <a:spcBef>
                          <a:spcPts val="0"/>
                        </a:spcBef>
                        <a:spcAft>
                          <a:spcPts val="0"/>
                        </a:spcAft>
                        <a:buClrTx/>
                        <a:buSzTx/>
                        <a:buFont typeface="Arial"/>
                        <a:buChar char="•"/>
                        <a:tabLst/>
                        <a:defRPr/>
                      </a:pPr>
                      <a:r>
                        <a:rPr lang="en-US" sz="900" b="0" i="0" u="none" strike="noStrike" kern="1200">
                          <a:solidFill>
                            <a:schemeClr val="tx1"/>
                          </a:solidFill>
                          <a:latin typeface="+mn-lt"/>
                          <a:ea typeface="+mn-ea"/>
                          <a:cs typeface="+mn-cs"/>
                        </a:rPr>
                        <a:t>Improves planning accuracy, reducing the likelihood of errors and rework.</a:t>
                      </a:r>
                    </a:p>
                    <a:p>
                      <a:pPr marL="285750" marR="0" lvl="0" indent="-285750" algn="l" defTabSz="914400" rtl="0" eaLnBrk="1" fontAlgn="auto" latinLnBrk="0" hangingPunct="1">
                        <a:lnSpc>
                          <a:spcPct val="100000"/>
                        </a:lnSpc>
                        <a:spcBef>
                          <a:spcPts val="0"/>
                        </a:spcBef>
                        <a:spcAft>
                          <a:spcPts val="0"/>
                        </a:spcAft>
                        <a:buClrTx/>
                        <a:buSzTx/>
                        <a:buFont typeface="Arial"/>
                        <a:buChar char="•"/>
                        <a:tabLst/>
                        <a:defRPr/>
                      </a:pPr>
                      <a:r>
                        <a:rPr lang="en-US" sz="900" b="0" i="0" u="none" strike="noStrike" kern="1200">
                          <a:solidFill>
                            <a:schemeClr val="tx1"/>
                          </a:solidFill>
                          <a:latin typeface="+mn-lt"/>
                          <a:ea typeface="+mn-ea"/>
                          <a:cs typeface="+mn-cs"/>
                        </a:rPr>
                        <a:t>Ensures timely crew positioning to support seamless flight operations.</a:t>
                      </a:r>
                    </a:p>
                    <a:p>
                      <a:pPr marL="285750" marR="0" lvl="0" indent="-285750" algn="l" defTabSz="914400" rtl="0" eaLnBrk="1" fontAlgn="auto" latinLnBrk="0" hangingPunct="1">
                        <a:lnSpc>
                          <a:spcPct val="100000"/>
                        </a:lnSpc>
                        <a:spcBef>
                          <a:spcPts val="0"/>
                        </a:spcBef>
                        <a:spcAft>
                          <a:spcPts val="0"/>
                        </a:spcAft>
                        <a:buClrTx/>
                        <a:buSzTx/>
                        <a:buFont typeface="Arial"/>
                        <a:buChar char="•"/>
                        <a:tabLst/>
                        <a:defRPr/>
                      </a:pPr>
                      <a:r>
                        <a:rPr lang="en-US" sz="900" b="0" i="0" u="none" strike="noStrike" kern="1200">
                          <a:solidFill>
                            <a:schemeClr val="tx1"/>
                          </a:solidFill>
                          <a:latin typeface="+mn-lt"/>
                          <a:ea typeface="+mn-ea"/>
                          <a:cs typeface="+mn-cs"/>
                        </a:rPr>
                        <a:t>Enhances overall operational efficiency and resource utilization.</a:t>
                      </a:r>
                    </a:p>
                    <a:p>
                      <a:pPr marL="285750" marR="0" lvl="0" indent="-285750" algn="l" defTabSz="914400" rtl="0" eaLnBrk="1" fontAlgn="auto" latinLnBrk="0" hangingPunct="1">
                        <a:lnSpc>
                          <a:spcPct val="100000"/>
                        </a:lnSpc>
                        <a:spcBef>
                          <a:spcPts val="0"/>
                        </a:spcBef>
                        <a:spcAft>
                          <a:spcPts val="0"/>
                        </a:spcAft>
                        <a:buClrTx/>
                        <a:buSzTx/>
                        <a:buFont typeface="Arial"/>
                        <a:buChar char="•"/>
                        <a:tabLst/>
                        <a:defRPr/>
                      </a:pPr>
                      <a:r>
                        <a:rPr lang="en-US" sz="900" b="0" i="0" u="none" strike="noStrike" kern="1200">
                          <a:solidFill>
                            <a:schemeClr val="tx1"/>
                          </a:solidFill>
                          <a:latin typeface="+mn-lt"/>
                          <a:ea typeface="+mn-ea"/>
                          <a:cs typeface="+mn-cs"/>
                        </a:rPr>
                        <a:t>Delivers significant productivity gains through reduced manual effort.</a:t>
                      </a:r>
                    </a:p>
                    <a:p>
                      <a:pPr marL="285750" marR="0" lvl="0" indent="-285750" algn="l" defTabSz="914400" rtl="0" eaLnBrk="1" fontAlgn="auto" latinLnBrk="0" hangingPunct="1">
                        <a:lnSpc>
                          <a:spcPct val="100000"/>
                        </a:lnSpc>
                        <a:spcBef>
                          <a:spcPts val="0"/>
                        </a:spcBef>
                        <a:spcAft>
                          <a:spcPts val="0"/>
                        </a:spcAft>
                        <a:buClrTx/>
                        <a:buSzTx/>
                        <a:buFont typeface="Arial"/>
                        <a:buChar char="•"/>
                        <a:tabLst/>
                        <a:defRPr/>
                      </a:pPr>
                      <a:r>
                        <a:rPr lang="en-US" sz="900" b="1" i="0" u="none" strike="noStrike" kern="1200">
                          <a:solidFill>
                            <a:schemeClr val="tx1"/>
                          </a:solidFill>
                          <a:latin typeface="+mn-lt"/>
                          <a:ea typeface="+mn-ea"/>
                          <a:cs typeface="+mn-cs"/>
                        </a:rPr>
                        <a:t>Estimated Man-Day Savings</a:t>
                      </a:r>
                    </a:p>
                    <a:p>
                      <a:pPr marL="285750" marR="0" lvl="0" indent="-285750" algn="l" defTabSz="914400" rtl="0" eaLnBrk="1" fontAlgn="auto" latinLnBrk="0" hangingPunct="1">
                        <a:lnSpc>
                          <a:spcPct val="100000"/>
                        </a:lnSpc>
                        <a:spcBef>
                          <a:spcPts val="0"/>
                        </a:spcBef>
                        <a:spcAft>
                          <a:spcPts val="0"/>
                        </a:spcAft>
                        <a:buClrTx/>
                        <a:buSzTx/>
                        <a:buFont typeface="Arial"/>
                        <a:buChar char="•"/>
                        <a:tabLst/>
                        <a:defRPr/>
                      </a:pPr>
                      <a:r>
                        <a:rPr lang="en-US" sz="900" b="0" i="0" u="none" strike="noStrike" kern="1200">
                          <a:solidFill>
                            <a:schemeClr val="tx1"/>
                          </a:solidFill>
                          <a:latin typeface="+mn-lt"/>
                          <a:ea typeface="+mn-ea"/>
                          <a:cs typeface="+mn-cs"/>
                        </a:rPr>
                        <a:t>AI Cabin Crew (AI CC): 4 Man-Days</a:t>
                      </a:r>
                    </a:p>
                    <a:p>
                      <a:pPr marL="285750" marR="0" lvl="0" indent="-285750" algn="l" defTabSz="914400" rtl="0" eaLnBrk="1" fontAlgn="auto" latinLnBrk="0" hangingPunct="1">
                        <a:lnSpc>
                          <a:spcPct val="100000"/>
                        </a:lnSpc>
                        <a:spcBef>
                          <a:spcPts val="0"/>
                        </a:spcBef>
                        <a:spcAft>
                          <a:spcPts val="0"/>
                        </a:spcAft>
                        <a:buClrTx/>
                        <a:buSzTx/>
                        <a:buFont typeface="Arial"/>
                        <a:buChar char="•"/>
                        <a:tabLst/>
                        <a:defRPr/>
                      </a:pPr>
                      <a:r>
                        <a:rPr lang="en-US" sz="900" b="0" i="0" u="none" strike="noStrike" kern="1200">
                          <a:solidFill>
                            <a:schemeClr val="tx1"/>
                          </a:solidFill>
                          <a:latin typeface="+mn-lt"/>
                          <a:ea typeface="+mn-ea"/>
                          <a:cs typeface="+mn-cs"/>
                        </a:rPr>
                        <a:t>AI Flight Deck (AI FD): 4 Man-Days</a:t>
                      </a:r>
                    </a:p>
                    <a:p>
                      <a:pPr marL="285750" marR="0" lvl="0" indent="-285750" algn="l" defTabSz="914400" rtl="0" eaLnBrk="1" fontAlgn="auto" latinLnBrk="0" hangingPunct="1">
                        <a:lnSpc>
                          <a:spcPct val="100000"/>
                        </a:lnSpc>
                        <a:spcBef>
                          <a:spcPts val="0"/>
                        </a:spcBef>
                        <a:spcAft>
                          <a:spcPts val="0"/>
                        </a:spcAft>
                        <a:buClrTx/>
                        <a:buSzTx/>
                        <a:buFont typeface="Arial"/>
                        <a:buChar char="•"/>
                        <a:tabLst/>
                        <a:defRPr/>
                      </a:pPr>
                      <a:r>
                        <a:rPr lang="en-US" sz="900" b="0" i="0" u="none" strike="noStrike" kern="1200">
                          <a:solidFill>
                            <a:schemeClr val="tx1"/>
                          </a:solidFill>
                          <a:latin typeface="+mn-lt"/>
                          <a:ea typeface="+mn-ea"/>
                          <a:cs typeface="+mn-cs"/>
                        </a:rPr>
                        <a:t>AIX Cabin Crew (IX CC): 3 Man-Days</a:t>
                      </a:r>
                    </a:p>
                    <a:p>
                      <a:pPr marL="285750" marR="0" lvl="0" indent="-285750" algn="l" defTabSz="914400" rtl="0" eaLnBrk="1" fontAlgn="auto" latinLnBrk="0" hangingPunct="1">
                        <a:lnSpc>
                          <a:spcPct val="100000"/>
                        </a:lnSpc>
                        <a:spcBef>
                          <a:spcPts val="0"/>
                        </a:spcBef>
                        <a:spcAft>
                          <a:spcPts val="0"/>
                        </a:spcAft>
                        <a:buClrTx/>
                        <a:buSzTx/>
                        <a:buFont typeface="Arial"/>
                        <a:buChar char="•"/>
                        <a:tabLst/>
                        <a:defRPr/>
                      </a:pPr>
                      <a:r>
                        <a:rPr lang="en-US" sz="900" b="0" i="0" u="none" strike="noStrike" kern="1200">
                          <a:solidFill>
                            <a:schemeClr val="tx1"/>
                          </a:solidFill>
                          <a:latin typeface="+mn-lt"/>
                          <a:ea typeface="+mn-ea"/>
                          <a:cs typeface="+mn-cs"/>
                        </a:rPr>
                        <a:t>AIX Flight Deck (IX FD): 3 Man-Days</a:t>
                      </a:r>
                    </a:p>
                    <a:p>
                      <a:pPr marL="285750" marR="0" lvl="0" indent="-285750" algn="l" defTabSz="914400" rtl="0" eaLnBrk="1" fontAlgn="auto" latinLnBrk="0" hangingPunct="1">
                        <a:lnSpc>
                          <a:spcPct val="100000"/>
                        </a:lnSpc>
                        <a:spcBef>
                          <a:spcPts val="0"/>
                        </a:spcBef>
                        <a:spcAft>
                          <a:spcPts val="0"/>
                        </a:spcAft>
                        <a:buClrTx/>
                        <a:buSzTx/>
                        <a:buFont typeface="Arial"/>
                        <a:buChar char="•"/>
                        <a:tabLst/>
                        <a:defRPr/>
                      </a:pPr>
                      <a:r>
                        <a:rPr lang="en-US" sz="900" b="0" i="0" u="none" strike="noStrike" kern="1200">
                          <a:solidFill>
                            <a:schemeClr val="tx1"/>
                          </a:solidFill>
                          <a:latin typeface="+mn-lt"/>
                          <a:ea typeface="+mn-ea"/>
                          <a:cs typeface="+mn-cs"/>
                        </a:rPr>
                        <a:t>Total Estimated Savings: 14 Man-Days per planning cycle.</a:t>
                      </a:r>
                    </a:p>
                  </a:txBody>
                  <a:tcP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 typeface="Arial"/>
                        <a:buNone/>
                        <a:tabLst/>
                        <a:defRPr/>
                      </a:pPr>
                      <a:r>
                        <a:rPr lang="en-US" sz="900" b="1" i="0" u="none" strike="noStrike">
                          <a:solidFill>
                            <a:schemeClr val="tx1"/>
                          </a:solidFill>
                          <a:effectLst/>
                          <a:latin typeface="+mn-lt"/>
                        </a:rPr>
                        <a:t>25 Aug 2026</a:t>
                      </a:r>
                      <a:endParaRPr lang="en-US" sz="900" b="0" i="0" u="none" strike="noStrike" kern="1200">
                        <a:solidFill>
                          <a:schemeClr val="tx1"/>
                        </a:solidFill>
                        <a:latin typeface="+mn-lt"/>
                        <a:ea typeface="+mn-ea"/>
                        <a:cs typeface="+mn-cs"/>
                      </a:endParaRPr>
                    </a:p>
                  </a:txBody>
                  <a:tcP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ctr" defTabSz="914400">
                        <a:lnSpc>
                          <a:spcPct val="100000"/>
                        </a:lnSpc>
                        <a:spcBef>
                          <a:spcPts val="0"/>
                        </a:spcBef>
                        <a:spcAft>
                          <a:spcPts val="0"/>
                        </a:spcAft>
                        <a:buNone/>
                        <a:tabLst/>
                        <a:defRPr/>
                      </a:pPr>
                      <a:r>
                        <a:rPr lang="en-US" sz="800" b="0" i="0" u="none" strike="noStrike" kern="1200" noProof="0">
                          <a:solidFill>
                            <a:schemeClr val="tx1"/>
                          </a:solidFill>
                          <a:latin typeface="Nunito Sans"/>
                          <a:ea typeface="+mn-ea"/>
                          <a:cs typeface="+mn-cs"/>
                        </a:rPr>
                        <a:t>No</a:t>
                      </a:r>
                      <a:endParaRPr lang="en-US"/>
                    </a:p>
                  </a:txBody>
                  <a:tcPr>
                    <a:lnL w="6350">
                      <a:solidFill>
                        <a:schemeClr val="bg1">
                          <a:lumMod val="75000"/>
                        </a:schemeClr>
                      </a:solidFill>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76077021"/>
                  </a:ext>
                </a:extLst>
              </a:tr>
              <a:tr h="421788">
                <a:tc>
                  <a:txBody>
                    <a:bodyPr/>
                    <a:lstStyle/>
                    <a:p>
                      <a:pPr marL="0" lvl="0" indent="0" algn="l" defTabSz="914400" rtl="0" eaLnBrk="1" latinLnBrk="0" hangingPunct="1">
                        <a:lnSpc>
                          <a:spcPct val="100000"/>
                        </a:lnSpc>
                        <a:spcBef>
                          <a:spcPts val="0"/>
                        </a:spcBef>
                        <a:spcAft>
                          <a:spcPts val="0"/>
                        </a:spcAft>
                        <a:buClr>
                          <a:srgbClr val="000000"/>
                        </a:buClr>
                        <a:buNone/>
                      </a:pPr>
                      <a:r>
                        <a:rPr lang="en-US" sz="800" b="1" i="0" u="none" strike="noStrike" kern="1200">
                          <a:solidFill>
                            <a:srgbClr val="00B050"/>
                          </a:solidFill>
                          <a:effectLst/>
                          <a:latin typeface="+mn-lt"/>
                          <a:ea typeface="+mn-ea"/>
                          <a:cs typeface="+mn-cs"/>
                        </a:rPr>
                        <a:t>Jeppesen - OOB Trip Restriction for Crew with Negative QTA_FLTS</a:t>
                      </a:r>
                    </a:p>
                  </a:txBody>
                  <a:tcP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1" i="0" u="none" strike="noStrike">
                          <a:solidFill>
                            <a:schemeClr val="tx1"/>
                          </a:solidFill>
                          <a:effectLst/>
                          <a:latin typeface="+mn-lt"/>
                        </a:rPr>
                        <a:t>Jeppesen Pairing and Rostering</a:t>
                      </a:r>
                      <a:endParaRPr lang="en-US" sz="90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900"/>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171450" indent="-171450" fontAlgn="t">
                        <a:lnSpc>
                          <a:spcPts val="1500"/>
                        </a:lnSpc>
                        <a:buFont typeface="Arial" panose="020B0604020202020204" pitchFamily="34" charset="0"/>
                        <a:buChar char="•"/>
                      </a:pPr>
                      <a:r>
                        <a:rPr lang="en-IN" sz="900" b="0" i="0" u="none" strike="noStrike" kern="1200">
                          <a:solidFill>
                            <a:schemeClr val="tx1"/>
                          </a:solidFill>
                          <a:latin typeface="+mn-lt"/>
                          <a:ea typeface="+mn-ea"/>
                          <a:cs typeface="+mn-cs"/>
                        </a:rPr>
                        <a:t>Reduces manual validation effort and planning errors through automated optimization. </a:t>
                      </a:r>
                    </a:p>
                    <a:p>
                      <a:pPr marL="171450" indent="-171450" fontAlgn="t">
                        <a:lnSpc>
                          <a:spcPts val="1500"/>
                        </a:lnSpc>
                        <a:buFont typeface="Arial" panose="020B0604020202020204" pitchFamily="34" charset="0"/>
                        <a:buChar char="•"/>
                      </a:pPr>
                      <a:r>
                        <a:rPr lang="en-IN" sz="900">
                          <a:effectLst/>
                        </a:rPr>
                        <a:t>Delivers optimized roster outputs, resulting in better resource utilization and compliance</a:t>
                      </a:r>
                      <a:endParaRPr lang="en-IN" sz="900" b="0" i="0" u="none" strike="noStrike" kern="1200">
                        <a:solidFill>
                          <a:schemeClr val="tx1"/>
                        </a:solidFill>
                        <a:latin typeface="+mn-lt"/>
                        <a:ea typeface="+mn-ea"/>
                        <a:cs typeface="+mn-cs"/>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indent="0" algn="ctr" fontAlgn="t">
                        <a:lnSpc>
                          <a:spcPts val="1500"/>
                        </a:lnSpc>
                        <a:buFont typeface="Arial" panose="020B0604020202020204" pitchFamily="34" charset="0"/>
                        <a:buNone/>
                      </a:pPr>
                      <a:r>
                        <a:rPr lang="en-US" sz="900" b="1" i="0" u="none" strike="noStrike">
                          <a:solidFill>
                            <a:schemeClr val="tx1"/>
                          </a:solidFill>
                          <a:effectLst/>
                          <a:latin typeface="+mn-lt"/>
                        </a:rPr>
                        <a:t>25 Aug 2026</a:t>
                      </a:r>
                      <a:endParaRPr lang="en-IN" sz="900" b="0" i="0" u="none" strike="noStrike" kern="1200">
                        <a:solidFill>
                          <a:schemeClr val="tx1"/>
                        </a:solidFill>
                        <a:latin typeface="+mn-lt"/>
                        <a:ea typeface="+mn-ea"/>
                        <a:cs typeface="+mn-cs"/>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lvl="0" indent="0" algn="ctr">
                        <a:lnSpc>
                          <a:spcPts val="1500"/>
                        </a:lnSpc>
                        <a:buNone/>
                      </a:pPr>
                      <a:r>
                        <a:rPr lang="en-US" sz="800" b="0" i="0" u="none" strike="noStrike" kern="1200" noProof="0">
                          <a:solidFill>
                            <a:schemeClr val="tx1"/>
                          </a:solidFill>
                          <a:latin typeface="Nunito Sans"/>
                          <a:ea typeface="+mn-ea"/>
                          <a:cs typeface="+mn-cs"/>
                        </a:rPr>
                        <a:t>No</a:t>
                      </a:r>
                      <a:endParaRPr lang="en-US"/>
                    </a:p>
                  </a:txBody>
                  <a:tcPr>
                    <a:lnL w="6350" cap="flat" cmpd="sng" algn="ctr">
                      <a:solidFill>
                        <a:schemeClr val="bg1">
                          <a:lumMod val="75000"/>
                        </a:schemeClr>
                      </a:solidFill>
                      <a:prstDash val="solid"/>
                      <a:round/>
                      <a:headEnd type="none" w="med" len="med"/>
                      <a:tailEnd type="none" w="med" len="med"/>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443371065"/>
                  </a:ext>
                </a:extLst>
              </a:tr>
              <a:tr h="42178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i="0" u="none" strike="noStrike" kern="1200">
                          <a:solidFill>
                            <a:srgbClr val="00B050"/>
                          </a:solidFill>
                          <a:effectLst/>
                          <a:latin typeface="+mn-lt"/>
                          <a:ea typeface="+mn-ea"/>
                          <a:cs typeface="+mn-cs"/>
                        </a:rPr>
                        <a:t>Jeppesen - Restriction on Mixing a subset of A320 Sub-fleets with other in JCP runs- AIX </a:t>
                      </a:r>
                    </a:p>
                  </a:txBody>
                  <a:tcP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1" i="0" u="none" strike="noStrike">
                          <a:solidFill>
                            <a:schemeClr val="tx1"/>
                          </a:solidFill>
                          <a:effectLst/>
                          <a:latin typeface="+mn-lt"/>
                        </a:rPr>
                        <a:t>Jeppesen Pairing and Rostering</a:t>
                      </a:r>
                      <a:endParaRPr lang="en-US" sz="900"/>
                    </a:p>
                    <a:p>
                      <a:pPr marL="0" lvl="0" indent="0" algn="l">
                        <a:lnSpc>
                          <a:spcPct val="100000"/>
                        </a:lnSpc>
                        <a:spcBef>
                          <a:spcPts val="0"/>
                        </a:spcBef>
                        <a:spcAft>
                          <a:spcPts val="0"/>
                        </a:spcAft>
                        <a:buNone/>
                      </a:pPr>
                      <a:endParaRPr lang="en-US" sz="900" b="1" i="0" u="none" strike="noStrike" kern="1200" noProof="0">
                        <a:solidFill>
                          <a:schemeClr val="tx1"/>
                        </a:solidFill>
                        <a:latin typeface="+mn-lt"/>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171450" indent="-171450" fontAlgn="t">
                        <a:lnSpc>
                          <a:spcPts val="1500"/>
                        </a:lnSpc>
                        <a:buFont typeface="Arial" panose="020B0604020202020204" pitchFamily="34" charset="0"/>
                        <a:buChar char="•"/>
                      </a:pPr>
                      <a:r>
                        <a:rPr lang="en-IN" sz="900" kern="1200">
                          <a:solidFill>
                            <a:schemeClr val="dk1"/>
                          </a:solidFill>
                          <a:effectLst/>
                          <a:latin typeface="+mn-lt"/>
                          <a:ea typeface="+mn-ea"/>
                          <a:cs typeface="+mn-cs"/>
                        </a:rPr>
                        <a:t>Reduces the need for multiple optimizer runs, improving overall planning efficiency. </a:t>
                      </a:r>
                    </a:p>
                    <a:p>
                      <a:pPr marL="171450" indent="-171450" fontAlgn="t">
                        <a:lnSpc>
                          <a:spcPts val="1500"/>
                        </a:lnSpc>
                        <a:buFont typeface="Arial" panose="020B0604020202020204" pitchFamily="34" charset="0"/>
                        <a:buChar char="•"/>
                      </a:pPr>
                      <a:r>
                        <a:rPr lang="en-US" sz="900" kern="1200">
                          <a:solidFill>
                            <a:schemeClr val="dk1"/>
                          </a:solidFill>
                          <a:effectLst/>
                          <a:latin typeface="+mn-lt"/>
                          <a:ea typeface="+mn-ea"/>
                          <a:cs typeface="+mn-cs"/>
                        </a:rPr>
                        <a:t>Ensures fleet-wise compliance and adherence to BPTD requirements.</a:t>
                      </a:r>
                      <a:endParaRPr lang="en-IN" sz="900" kern="1200">
                        <a:solidFill>
                          <a:schemeClr val="dk1"/>
                        </a:solidFill>
                        <a:effectLst/>
                        <a:latin typeface="+mn-lt"/>
                        <a:ea typeface="+mn-ea"/>
                        <a:cs typeface="+mn-cs"/>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indent="0" algn="ctr" fontAlgn="t">
                        <a:lnSpc>
                          <a:spcPts val="1500"/>
                        </a:lnSpc>
                        <a:buFont typeface="Arial" panose="020B0604020202020204" pitchFamily="34" charset="0"/>
                        <a:buNone/>
                      </a:pPr>
                      <a:r>
                        <a:rPr lang="en-US" sz="900" b="1" i="0" u="none" strike="noStrike">
                          <a:solidFill>
                            <a:schemeClr val="tx1"/>
                          </a:solidFill>
                          <a:effectLst/>
                          <a:latin typeface="+mn-lt"/>
                        </a:rPr>
                        <a:t>25 Aug 2026</a:t>
                      </a:r>
                      <a:endParaRPr lang="en-IN" sz="900" kern="1200">
                        <a:solidFill>
                          <a:schemeClr val="dk1"/>
                        </a:solidFill>
                        <a:effectLst/>
                        <a:latin typeface="+mn-lt"/>
                        <a:ea typeface="+mn-ea"/>
                        <a:cs typeface="+mn-cs"/>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lvl="0" indent="0" algn="ctr">
                        <a:lnSpc>
                          <a:spcPts val="1500"/>
                        </a:lnSpc>
                        <a:buNone/>
                      </a:pPr>
                      <a:r>
                        <a:rPr lang="en-US" sz="800" b="0" i="0" u="none" strike="noStrike" kern="1200" noProof="0">
                          <a:solidFill>
                            <a:schemeClr val="tx1"/>
                          </a:solidFill>
                          <a:effectLst/>
                          <a:latin typeface="Nunito Sans"/>
                          <a:ea typeface="+mn-ea"/>
                          <a:cs typeface="+mn-cs"/>
                        </a:rPr>
                        <a:t>No</a:t>
                      </a:r>
                      <a:endParaRPr lang="en-US"/>
                    </a:p>
                  </a:txBody>
                  <a:tcPr>
                    <a:lnL w="6350" cap="flat" cmpd="sng" algn="ctr">
                      <a:solidFill>
                        <a:schemeClr val="bg1">
                          <a:lumMod val="75000"/>
                        </a:schemeClr>
                      </a:solidFill>
                      <a:prstDash val="solid"/>
                      <a:round/>
                      <a:headEnd type="none" w="med" len="med"/>
                      <a:tailEnd type="none" w="med" len="med"/>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745632319"/>
                  </a:ext>
                </a:extLst>
              </a:tr>
              <a:tr h="103529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i="0" u="none" strike="noStrike" kern="1200">
                          <a:solidFill>
                            <a:srgbClr val="00B050"/>
                          </a:solidFill>
                          <a:effectLst/>
                          <a:latin typeface="+mn-lt"/>
                          <a:ea typeface="+mn-ea"/>
                          <a:cs typeface="+mn-cs"/>
                        </a:rPr>
                        <a:t>Jeppesen - Restriction on planning of critical airfields in trainer roster based on crew qualifications.</a:t>
                      </a:r>
                    </a:p>
                  </a:txBody>
                  <a:tcP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1" i="0" u="none" strike="noStrike">
                          <a:solidFill>
                            <a:schemeClr val="tx1"/>
                          </a:solidFill>
                          <a:effectLst/>
                          <a:latin typeface="+mn-lt"/>
                        </a:rPr>
                        <a:t>Jeppesen Pairing and Rostering</a:t>
                      </a:r>
                      <a:endParaRPr lang="en-US" sz="900"/>
                    </a:p>
                    <a:p>
                      <a:pPr marL="0" lvl="0" indent="0" algn="l">
                        <a:lnSpc>
                          <a:spcPct val="100000"/>
                        </a:lnSpc>
                        <a:spcBef>
                          <a:spcPts val="0"/>
                        </a:spcBef>
                        <a:spcAft>
                          <a:spcPts val="0"/>
                        </a:spcAft>
                        <a:buNone/>
                      </a:pPr>
                      <a:endParaRPr lang="en-US" sz="900" b="1" i="0" u="none" strike="noStrike" kern="1200" noProof="0">
                        <a:solidFill>
                          <a:schemeClr val="tx1"/>
                        </a:solidFill>
                        <a:latin typeface="+mn-lt"/>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171450" indent="-171450" algn="l" defTabSz="914400" rtl="0" eaLnBrk="1" fontAlgn="t" latinLnBrk="0" hangingPunct="1">
                        <a:lnSpc>
                          <a:spcPts val="1500"/>
                        </a:lnSpc>
                        <a:buFont typeface="Arial" panose="020B0604020202020204" pitchFamily="34" charset="0"/>
                        <a:buChar char="•"/>
                      </a:pPr>
                      <a:r>
                        <a:rPr lang="en-US" sz="900" kern="1200">
                          <a:solidFill>
                            <a:schemeClr val="dk1"/>
                          </a:solidFill>
                          <a:effectLst/>
                          <a:latin typeface="+mn-lt"/>
                          <a:ea typeface="+mn-ea"/>
                          <a:cs typeface="+mn-cs"/>
                        </a:rPr>
                        <a:t>Reduces the need for multiple optimization runs, improving overall planning efficiency.</a:t>
                      </a:r>
                    </a:p>
                    <a:p>
                      <a:pPr marL="171450" indent="-171450" algn="l" defTabSz="914400" rtl="0" eaLnBrk="1" fontAlgn="t" latinLnBrk="0" hangingPunct="1">
                        <a:lnSpc>
                          <a:spcPts val="1500"/>
                        </a:lnSpc>
                        <a:buFont typeface="Arial" panose="020B0604020202020204" pitchFamily="34" charset="0"/>
                        <a:buChar char="•"/>
                      </a:pPr>
                      <a:r>
                        <a:rPr lang="en-US" sz="900" kern="1200">
                          <a:solidFill>
                            <a:schemeClr val="dk1"/>
                          </a:solidFill>
                          <a:effectLst/>
                          <a:latin typeface="+mn-lt"/>
                          <a:ea typeface="+mn-ea"/>
                          <a:cs typeface="+mn-cs"/>
                        </a:rPr>
                        <a:t>Aligns trainer rosters with line training requirements to support operational readiness.</a:t>
                      </a:r>
                    </a:p>
                    <a:p>
                      <a:pPr marL="171450" indent="-171450" algn="l" defTabSz="914400" rtl="0" eaLnBrk="1" fontAlgn="t" latinLnBrk="0" hangingPunct="1">
                        <a:lnSpc>
                          <a:spcPts val="1500"/>
                        </a:lnSpc>
                        <a:buFont typeface="Arial" panose="020B0604020202020204" pitchFamily="34" charset="0"/>
                        <a:buChar char="•"/>
                      </a:pPr>
                      <a:r>
                        <a:rPr lang="en-US" sz="900" kern="1200">
                          <a:solidFill>
                            <a:schemeClr val="dk1"/>
                          </a:solidFill>
                          <a:effectLst/>
                          <a:latin typeface="+mn-lt"/>
                          <a:ea typeface="+mn-ea"/>
                          <a:cs typeface="+mn-cs"/>
                        </a:rPr>
                        <a:t>Saves planner time and minimizes manual intervention through optimized roster generation.</a:t>
                      </a:r>
                    </a:p>
                    <a:p>
                      <a:pPr marL="171450" indent="-171450" algn="l" defTabSz="914400" rtl="0" eaLnBrk="1" fontAlgn="t" latinLnBrk="0" hangingPunct="1">
                        <a:lnSpc>
                          <a:spcPts val="1500"/>
                        </a:lnSpc>
                        <a:buFont typeface="Arial" panose="020B0604020202020204" pitchFamily="34" charset="0"/>
                        <a:buChar char="•"/>
                      </a:pPr>
                      <a:r>
                        <a:rPr lang="en-US" sz="900" kern="1200">
                          <a:solidFill>
                            <a:schemeClr val="dk1"/>
                          </a:solidFill>
                          <a:effectLst/>
                          <a:latin typeface="+mn-lt"/>
                          <a:ea typeface="+mn-ea"/>
                          <a:cs typeface="+mn-cs"/>
                        </a:rPr>
                        <a:t>Delivers fair and high-quality rosters for both trainers and line crew.</a:t>
                      </a:r>
                    </a:p>
                    <a:p>
                      <a:pPr marL="171450" indent="-171450" algn="l" defTabSz="914400" rtl="0" eaLnBrk="1" fontAlgn="t" latinLnBrk="0" hangingPunct="1">
                        <a:lnSpc>
                          <a:spcPts val="1500"/>
                        </a:lnSpc>
                        <a:buFont typeface="Arial" panose="020B0604020202020204" pitchFamily="34" charset="0"/>
                        <a:buChar char="•"/>
                      </a:pPr>
                      <a:r>
                        <a:rPr lang="en-US" sz="900" kern="1200">
                          <a:solidFill>
                            <a:schemeClr val="dk1"/>
                          </a:solidFill>
                          <a:effectLst/>
                          <a:latin typeface="+mn-lt"/>
                          <a:ea typeface="+mn-ea"/>
                          <a:cs typeface="+mn-cs"/>
                        </a:rPr>
                        <a:t>Achieves optimized roster outcomes within a single optimization run, enhancing productivity and consistency.</a:t>
                      </a:r>
                      <a:endParaRPr lang="en-IN" sz="900" kern="1200">
                        <a:solidFill>
                          <a:schemeClr val="dk1"/>
                        </a:solidFill>
                        <a:effectLst/>
                        <a:latin typeface="+mn-lt"/>
                        <a:ea typeface="+mn-ea"/>
                        <a:cs typeface="+mn-cs"/>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indent="0" algn="ctr" defTabSz="914400" rtl="0" eaLnBrk="1" fontAlgn="t" latinLnBrk="0" hangingPunct="1">
                        <a:lnSpc>
                          <a:spcPts val="1500"/>
                        </a:lnSpc>
                        <a:buFont typeface="Arial" panose="020B0604020202020204" pitchFamily="34" charset="0"/>
                        <a:buNone/>
                      </a:pPr>
                      <a:r>
                        <a:rPr lang="en-US" sz="900" b="1" i="0" u="none" strike="noStrike">
                          <a:solidFill>
                            <a:schemeClr val="tx1"/>
                          </a:solidFill>
                          <a:effectLst/>
                          <a:latin typeface="+mn-lt"/>
                        </a:rPr>
                        <a:t>25 Aug 2026</a:t>
                      </a:r>
                      <a:endParaRPr lang="en-IN" sz="900" kern="1200">
                        <a:solidFill>
                          <a:schemeClr val="dk1"/>
                        </a:solidFill>
                        <a:effectLst/>
                        <a:latin typeface="+mn-lt"/>
                        <a:ea typeface="+mn-ea"/>
                        <a:cs typeface="+mn-cs"/>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lvl="0" indent="0" algn="ctr" defTabSz="914400">
                        <a:lnSpc>
                          <a:spcPts val="1500"/>
                        </a:lnSpc>
                        <a:buNone/>
                      </a:pPr>
                      <a:r>
                        <a:rPr lang="en-US" sz="800" b="0" i="0" u="none" strike="noStrike" kern="1200" noProof="0">
                          <a:solidFill>
                            <a:schemeClr val="tx1"/>
                          </a:solidFill>
                          <a:effectLst/>
                          <a:latin typeface="Nunito Sans"/>
                          <a:ea typeface="+mn-ea"/>
                          <a:cs typeface="+mn-cs"/>
                        </a:rPr>
                        <a:t>No</a:t>
                      </a:r>
                      <a:endParaRPr lang="en-US"/>
                    </a:p>
                  </a:txBody>
                  <a:tcPr>
                    <a:lnL w="6350" cap="flat" cmpd="sng" algn="ctr">
                      <a:solidFill>
                        <a:schemeClr val="bg1">
                          <a:lumMod val="75000"/>
                        </a:schemeClr>
                      </a:solidFill>
                      <a:prstDash val="solid"/>
                      <a:round/>
                      <a:headEnd type="none" w="med" len="med"/>
                      <a:tailEnd type="none" w="med" len="med"/>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792082364"/>
                  </a:ext>
                </a:extLst>
              </a:tr>
              <a:tr h="711501">
                <a:tc>
                  <a:txBody>
                    <a:bodyPr/>
                    <a:lstStyle/>
                    <a:p>
                      <a:pPr marL="0" lvl="0" algn="l">
                        <a:lnSpc>
                          <a:spcPts val="1425"/>
                        </a:lnSpc>
                        <a:buNone/>
                      </a:pPr>
                      <a:r>
                        <a:rPr lang="en-US" sz="900" b="1" i="0" u="none" strike="noStrike" kern="1200" noProof="0">
                          <a:solidFill>
                            <a:schemeClr val="tx1"/>
                          </a:solidFill>
                          <a:effectLst/>
                          <a:latin typeface="+mn-lt"/>
                          <a:ea typeface="+mn-ea"/>
                          <a:cs typeface="+mn-cs"/>
                        </a:rPr>
                        <a:t>CAE MM Message flavor customization for Amadeus</a:t>
                      </a:r>
                    </a:p>
                  </a:txBody>
                  <a:tcP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1" i="0" u="none" strike="noStrike" kern="1200" noProof="0">
                          <a:solidFill>
                            <a:schemeClr val="tx1"/>
                          </a:solidFill>
                          <a:effectLst/>
                          <a:latin typeface="+mn-lt"/>
                          <a:ea typeface="+mn-ea"/>
                          <a:cs typeface="+mn-cs"/>
                        </a:rPr>
                        <a:t>CAE MM</a:t>
                      </a: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171450" lvl="0" indent="-171450" algn="l">
                        <a:lnSpc>
                          <a:spcPct val="100000"/>
                        </a:lnSpc>
                        <a:spcBef>
                          <a:spcPts val="0"/>
                        </a:spcBef>
                        <a:spcAft>
                          <a:spcPts val="0"/>
                        </a:spcAft>
                        <a:buFont typeface="Arial"/>
                        <a:buChar char="•"/>
                      </a:pPr>
                      <a:r>
                        <a:rPr lang="en-US" sz="900" b="0" i="0" u="none" strike="noStrike" noProof="0">
                          <a:solidFill>
                            <a:srgbClr val="000000"/>
                          </a:solidFill>
                          <a:effectLst/>
                        </a:rPr>
                        <a:t>Ensures accurate ETA computation by incorporating CFP time and Taxi‑In time, aligning flight data with passenger‑centric needs.</a:t>
                      </a:r>
                      <a:endParaRPr lang="en-US"/>
                    </a:p>
                    <a:p>
                      <a:pPr marL="171450" lvl="0" indent="-171450" algn="l">
                        <a:lnSpc>
                          <a:spcPct val="100000"/>
                        </a:lnSpc>
                        <a:spcBef>
                          <a:spcPts val="0"/>
                        </a:spcBef>
                        <a:spcAft>
                          <a:spcPts val="0"/>
                        </a:spcAft>
                        <a:buFont typeface="Arial"/>
                        <a:buChar char="•"/>
                      </a:pPr>
                      <a:r>
                        <a:rPr lang="en-US" sz="900" b="0" i="0" u="none" strike="noStrike" noProof="0">
                          <a:solidFill>
                            <a:srgbClr val="000000"/>
                          </a:solidFill>
                          <a:effectLst/>
                        </a:rPr>
                        <a:t>Provides more accurate arrival information to Amadeus, improving passenger handling and planning.</a:t>
                      </a:r>
                      <a:endParaRPr lang="en-US"/>
                    </a:p>
                    <a:p>
                      <a:pPr marL="171450" lvl="0" indent="-171450" algn="l">
                        <a:lnSpc>
                          <a:spcPts val="1425"/>
                        </a:lnSpc>
                        <a:buFont typeface="Arial"/>
                        <a:buChar char="•"/>
                      </a:pPr>
                      <a:r>
                        <a:rPr lang="en-US" sz="900" b="0" i="0" u="none" strike="noStrike" noProof="0">
                          <a:solidFill>
                            <a:srgbClr val="000000"/>
                          </a:solidFill>
                          <a:effectLst/>
                        </a:rPr>
                        <a:t>Enables better management of passenger connections through reliable Estimated Time of Arrival updates.</a:t>
                      </a:r>
                      <a:endParaRPr lang="en-US"/>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lvl="0" indent="0" algn="ctr">
                        <a:lnSpc>
                          <a:spcPts val="1425"/>
                        </a:lnSpc>
                        <a:buFont typeface="Arial"/>
                        <a:buNone/>
                      </a:pPr>
                      <a:r>
                        <a:rPr kumimoji="0" lang="en-US" sz="900" b="1" i="0" u="none" strike="noStrike" kern="1200" cap="none" spc="0" normalizeH="0" baseline="0" noProof="0">
                          <a:ln>
                            <a:noFill/>
                          </a:ln>
                          <a:solidFill>
                            <a:srgbClr val="000000"/>
                          </a:solidFill>
                          <a:effectLst/>
                          <a:uLnTx/>
                          <a:uFillTx/>
                          <a:latin typeface="+mn-lt"/>
                          <a:ea typeface="+mn-ea"/>
                          <a:cs typeface="+mn-cs"/>
                        </a:rPr>
                        <a:t>20 Aug 2026</a:t>
                      </a:r>
                      <a:endParaRPr lang="en-US"/>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ts val="1425"/>
                        </a:lnSpc>
                        <a:spcBef>
                          <a:spcPts val="0"/>
                        </a:spcBef>
                        <a:spcAft>
                          <a:spcPts val="0"/>
                        </a:spcAft>
                        <a:buClrTx/>
                        <a:buSzTx/>
                        <a:buFont typeface="Arial"/>
                        <a:buNone/>
                        <a:tabLst/>
                        <a:defRPr/>
                      </a:pPr>
                      <a:r>
                        <a:rPr lang="en-US" sz="800" b="0" i="0" u="none" strike="noStrike" kern="1200" noProof="0">
                          <a:solidFill>
                            <a:schemeClr val="tx1"/>
                          </a:solidFill>
                          <a:latin typeface="+mn-lt"/>
                          <a:ea typeface="+mn-ea"/>
                          <a:cs typeface="+mn-cs"/>
                        </a:rPr>
                        <a:t>No</a:t>
                      </a:r>
                      <a:endParaRPr lang="en-US" sz="800"/>
                    </a:p>
                  </a:txBody>
                  <a:tcPr>
                    <a:lnL w="6350" cap="flat" cmpd="sng" algn="ctr">
                      <a:solidFill>
                        <a:schemeClr val="bg1">
                          <a:lumMod val="75000"/>
                        </a:schemeClr>
                      </a:solidFill>
                      <a:prstDash val="solid"/>
                      <a:round/>
                      <a:headEnd type="none" w="med" len="med"/>
                      <a:tailEnd type="none" w="med" len="med"/>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152168072"/>
                  </a:ext>
                </a:extLst>
              </a:tr>
            </a:tbl>
          </a:graphicData>
        </a:graphic>
      </p:graphicFrame>
    </p:spTree>
    <p:extLst>
      <p:ext uri="{BB962C8B-B14F-4D97-AF65-F5344CB8AC3E}">
        <p14:creationId xmlns:p14="http://schemas.microsoft.com/office/powerpoint/2010/main" val="131756410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12E86A-A88C-0C59-DAD4-F18A8C7DE4E5}"/>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E674F7D-1763-DB23-8243-831ABAE2DE21}"/>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3A41A254-7326-714E-AF55-4C213D6394DE}" type="slidenum">
              <a:rPr kumimoji="0" lang="en-US" sz="1200" b="0" i="0" u="none" strike="noStrike" kern="1200" cap="none" spc="0" normalizeH="0" baseline="0" noProof="0" smtClean="0">
                <a:ln>
                  <a:noFill/>
                </a:ln>
                <a:solidFill>
                  <a:srgbClr val="DA0E28"/>
                </a:solidFill>
                <a:effectLst/>
                <a:uLnTx/>
                <a:uFillTx/>
                <a:latin typeface="Nunito Sans"/>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srgbClr val="DA0E28"/>
              </a:solidFill>
              <a:effectLst/>
              <a:uLnTx/>
              <a:uFillTx/>
              <a:latin typeface="Nunito Sans"/>
              <a:ea typeface="+mn-ea"/>
              <a:cs typeface="+mn-cs"/>
            </a:endParaRPr>
          </a:p>
        </p:txBody>
      </p:sp>
      <p:sp>
        <p:nvSpPr>
          <p:cNvPr id="3" name="Rectangle 2">
            <a:extLst>
              <a:ext uri="{FF2B5EF4-FFF2-40B4-BE49-F238E27FC236}">
                <a16:creationId xmlns:a16="http://schemas.microsoft.com/office/drawing/2014/main" id="{6709C296-A150-E6E3-A4E2-B9D03FA757A7}"/>
              </a:ext>
            </a:extLst>
          </p:cNvPr>
          <p:cNvSpPr/>
          <p:nvPr/>
        </p:nvSpPr>
        <p:spPr>
          <a:xfrm>
            <a:off x="129077" y="512151"/>
            <a:ext cx="1170432" cy="42234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400" b="1" i="0" u="none" strike="noStrike" kern="1200" cap="none" spc="0" normalizeH="0" baseline="0" noProof="0">
                <a:ln>
                  <a:noFill/>
                </a:ln>
                <a:solidFill>
                  <a:srgbClr val="FFFFFF"/>
                </a:solidFill>
                <a:effectLst/>
                <a:uLnTx/>
                <a:uFillTx/>
                <a:latin typeface="AirIndia"/>
                <a:ea typeface="+mn-ea"/>
                <a:cs typeface="+mn-cs"/>
              </a:rPr>
              <a:t>Sep ‘</a:t>
            </a:r>
            <a:r>
              <a:rPr lang="en-IN" sz="1400" b="1">
                <a:solidFill>
                  <a:srgbClr val="FFFFFF"/>
                </a:solidFill>
                <a:latin typeface="AirIndia"/>
              </a:rPr>
              <a:t>26</a:t>
            </a:r>
            <a:endParaRPr kumimoji="0" lang="en-US" sz="1400" b="1" i="0" u="none" strike="noStrike" kern="1200" cap="none" spc="0" normalizeH="0" baseline="0" noProof="0">
              <a:ln>
                <a:noFill/>
              </a:ln>
              <a:solidFill>
                <a:srgbClr val="FFFFFF"/>
              </a:solidFill>
              <a:effectLst/>
              <a:uLnTx/>
              <a:uFillTx/>
              <a:latin typeface="AirIndia"/>
              <a:ea typeface="+mn-ea"/>
              <a:cs typeface="+mn-cs"/>
            </a:endParaRPr>
          </a:p>
        </p:txBody>
      </p:sp>
      <p:sp>
        <p:nvSpPr>
          <p:cNvPr id="6" name="Title 11">
            <a:extLst>
              <a:ext uri="{FF2B5EF4-FFF2-40B4-BE49-F238E27FC236}">
                <a16:creationId xmlns:a16="http://schemas.microsoft.com/office/drawing/2014/main" id="{A7184841-C327-A899-1D93-84AA51943ECA}"/>
              </a:ext>
            </a:extLst>
          </p:cNvPr>
          <p:cNvSpPr txBox="1">
            <a:spLocks/>
          </p:cNvSpPr>
          <p:nvPr/>
        </p:nvSpPr>
        <p:spPr>
          <a:xfrm>
            <a:off x="253743" y="182023"/>
            <a:ext cx="7702602" cy="430255"/>
          </a:xfrm>
          <a:prstGeom prst="rect">
            <a:avLst/>
          </a:prstGeom>
        </p:spPr>
        <p:txBody>
          <a:bodyPr lIns="91440" tIns="45720" rIns="91440" bIns="45720" anchor="t">
            <a:noAutofit/>
          </a:bodyPr>
          <a:lstStyle>
            <a:lvl1pPr algn="l" defTabSz="914400" rtl="0" eaLnBrk="1" latinLnBrk="0" hangingPunct="1">
              <a:lnSpc>
                <a:spcPct val="90000"/>
              </a:lnSpc>
              <a:spcBef>
                <a:spcPct val="0"/>
              </a:spcBef>
              <a:buNone/>
              <a:defRPr sz="4400" b="1" i="0" kern="1200">
                <a:solidFill>
                  <a:schemeClr val="tx1"/>
                </a:solidFill>
                <a:latin typeface="AirIndia" pitchFamily="82" charset="77"/>
                <a:ea typeface="+mj-ea"/>
                <a:cs typeface="+mj-cs"/>
              </a:defRPr>
            </a:lvl1pPr>
          </a:lstStyle>
          <a:p>
            <a:pPr>
              <a:defRPr/>
            </a:pPr>
            <a:r>
              <a:rPr lang="en-US" sz="1800">
                <a:solidFill>
                  <a:srgbClr val="DA0E28"/>
                </a:solidFill>
                <a:latin typeface="AirIndia"/>
              </a:rPr>
              <a:t>Operations Tech </a:t>
            </a:r>
            <a:r>
              <a:rPr kumimoji="0" lang="en-US" sz="1800" b="1" i="0" u="none" strike="noStrike" kern="1200" cap="none" spc="0" normalizeH="0" baseline="0" noProof="0">
                <a:ln>
                  <a:noFill/>
                </a:ln>
                <a:solidFill>
                  <a:srgbClr val="DA0E28"/>
                </a:solidFill>
                <a:effectLst/>
                <a:uLnTx/>
                <a:uFillTx/>
                <a:latin typeface="AirIndia"/>
                <a:ea typeface="+mj-ea"/>
                <a:cs typeface="+mj-cs"/>
              </a:rPr>
              <a:t>- </a:t>
            </a:r>
            <a:r>
              <a:rPr lang="en-US" sz="1800">
                <a:solidFill>
                  <a:srgbClr val="DA0E28"/>
                </a:solidFill>
                <a:latin typeface="AirIndia"/>
              </a:rPr>
              <a:t>FY26-27 </a:t>
            </a:r>
            <a:r>
              <a:rPr kumimoji="0" lang="en-US" sz="1800" b="1" i="0" u="none" strike="noStrike" kern="1200" cap="none" spc="0" normalizeH="0" baseline="0" noProof="0">
                <a:ln>
                  <a:noFill/>
                </a:ln>
                <a:solidFill>
                  <a:srgbClr val="DA0E28"/>
                </a:solidFill>
                <a:effectLst/>
                <a:uLnTx/>
                <a:uFillTx/>
                <a:latin typeface="AirIndia"/>
                <a:ea typeface="+mj-ea"/>
                <a:cs typeface="+mj-cs"/>
              </a:rPr>
              <a:t>Q2 Release Plan</a:t>
            </a:r>
            <a:endParaRPr lang="en-US" sz="1800" b="0">
              <a:solidFill>
                <a:srgbClr val="000000"/>
              </a:solidFill>
              <a:latin typeface="AirIndia"/>
            </a:endParaRPr>
          </a:p>
          <a:p>
            <a:pPr>
              <a:defRPr/>
            </a:pPr>
            <a:endParaRPr lang="en-US" sz="1800" i="0" u="none" strike="noStrike" kern="1200" cap="none" spc="0" normalizeH="0" baseline="0" noProof="0">
              <a:ln>
                <a:noFill/>
              </a:ln>
              <a:solidFill>
                <a:srgbClr val="DA0E28"/>
              </a:solidFill>
              <a:effectLst/>
              <a:uLnTx/>
              <a:uFillTx/>
              <a:latin typeface="AirIndia"/>
            </a:endParaRPr>
          </a:p>
        </p:txBody>
      </p:sp>
      <p:sp>
        <p:nvSpPr>
          <p:cNvPr id="4" name="Rectangle 3">
            <a:extLst>
              <a:ext uri="{FF2B5EF4-FFF2-40B4-BE49-F238E27FC236}">
                <a16:creationId xmlns:a16="http://schemas.microsoft.com/office/drawing/2014/main" id="{FCAA336F-7B63-E1C4-5C9D-6BBB9391E6FC}"/>
              </a:ext>
            </a:extLst>
          </p:cNvPr>
          <p:cNvSpPr/>
          <p:nvPr/>
        </p:nvSpPr>
        <p:spPr>
          <a:xfrm>
            <a:off x="1188132" y="6671592"/>
            <a:ext cx="90000" cy="90000"/>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5" name="Rectangle 4">
            <a:extLst>
              <a:ext uri="{FF2B5EF4-FFF2-40B4-BE49-F238E27FC236}">
                <a16:creationId xmlns:a16="http://schemas.microsoft.com/office/drawing/2014/main" id="{F983D4C0-67C3-2963-AD1B-19F67020C4E9}"/>
              </a:ext>
            </a:extLst>
          </p:cNvPr>
          <p:cNvSpPr/>
          <p:nvPr/>
        </p:nvSpPr>
        <p:spPr>
          <a:xfrm>
            <a:off x="2265818" y="6670554"/>
            <a:ext cx="90000" cy="90000"/>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7" name="Rectangle 6">
            <a:extLst>
              <a:ext uri="{FF2B5EF4-FFF2-40B4-BE49-F238E27FC236}">
                <a16:creationId xmlns:a16="http://schemas.microsoft.com/office/drawing/2014/main" id="{C64F9A8B-CF57-6391-E238-5FD3A0F99E7A}"/>
              </a:ext>
            </a:extLst>
          </p:cNvPr>
          <p:cNvSpPr/>
          <p:nvPr/>
        </p:nvSpPr>
        <p:spPr>
          <a:xfrm>
            <a:off x="3443423" y="6671592"/>
            <a:ext cx="90000" cy="90000"/>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8" name="Rectangle 7">
            <a:extLst>
              <a:ext uri="{FF2B5EF4-FFF2-40B4-BE49-F238E27FC236}">
                <a16:creationId xmlns:a16="http://schemas.microsoft.com/office/drawing/2014/main" id="{107CFE1E-05FE-E104-D310-C6FC4D604447}"/>
              </a:ext>
            </a:extLst>
          </p:cNvPr>
          <p:cNvSpPr/>
          <p:nvPr/>
        </p:nvSpPr>
        <p:spPr>
          <a:xfrm>
            <a:off x="8146052" y="6714097"/>
            <a:ext cx="90000" cy="90000"/>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9" name="TextBox 15">
            <a:extLst>
              <a:ext uri="{FF2B5EF4-FFF2-40B4-BE49-F238E27FC236}">
                <a16:creationId xmlns:a16="http://schemas.microsoft.com/office/drawing/2014/main" id="{B4C248B8-8D65-C690-60DC-EC6B2A2B45F2}"/>
              </a:ext>
            </a:extLst>
          </p:cNvPr>
          <p:cNvSpPr txBox="1"/>
          <p:nvPr/>
        </p:nvSpPr>
        <p:spPr>
          <a:xfrm>
            <a:off x="1288983" y="6614743"/>
            <a:ext cx="857245"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0070C0"/>
                </a:solidFill>
                <a:effectLst/>
                <a:uLnTx/>
                <a:uFillTx/>
                <a:latin typeface="Nunito Sans"/>
                <a:ea typeface="+mn-ea"/>
                <a:cs typeface="+mn-cs"/>
              </a:rPr>
              <a:t>Delivered</a:t>
            </a:r>
            <a:endParaRPr kumimoji="0" lang="en-IN" sz="1000" b="0" i="0" u="none" strike="noStrike" kern="1200" cap="none" spc="0" normalizeH="0" baseline="0" noProof="0">
              <a:ln>
                <a:noFill/>
              </a:ln>
              <a:solidFill>
                <a:srgbClr val="000000"/>
              </a:solidFill>
              <a:effectLst/>
              <a:uLnTx/>
              <a:uFillTx/>
              <a:latin typeface="Nunito Sans"/>
              <a:ea typeface="+mn-ea"/>
              <a:cs typeface="+mn-cs"/>
            </a:endParaRPr>
          </a:p>
        </p:txBody>
      </p:sp>
      <p:sp>
        <p:nvSpPr>
          <p:cNvPr id="10" name="TextBox 18">
            <a:extLst>
              <a:ext uri="{FF2B5EF4-FFF2-40B4-BE49-F238E27FC236}">
                <a16:creationId xmlns:a16="http://schemas.microsoft.com/office/drawing/2014/main" id="{E38B415A-4102-ACD6-99D6-737898D18DBF}"/>
              </a:ext>
            </a:extLst>
          </p:cNvPr>
          <p:cNvSpPr txBox="1"/>
          <p:nvPr/>
        </p:nvSpPr>
        <p:spPr>
          <a:xfrm>
            <a:off x="2310642" y="6611102"/>
            <a:ext cx="1032881"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00B050"/>
                </a:solidFill>
                <a:effectLst/>
                <a:uLnTx/>
                <a:uFillTx/>
                <a:latin typeface="Nunito Sans"/>
                <a:ea typeface="+mn-ea"/>
                <a:cs typeface="+mn-cs"/>
              </a:rPr>
              <a:t>Ontrack</a:t>
            </a:r>
            <a:endParaRPr kumimoji="0" lang="en-IN" sz="1000" b="0" i="0" u="none" strike="noStrike" kern="1200" cap="none" spc="0" normalizeH="0" baseline="0" noProof="0">
              <a:ln>
                <a:noFill/>
              </a:ln>
              <a:solidFill>
                <a:srgbClr val="000000"/>
              </a:solidFill>
              <a:effectLst/>
              <a:uLnTx/>
              <a:uFillTx/>
              <a:latin typeface="Nunito Sans"/>
              <a:ea typeface="+mn-ea"/>
              <a:cs typeface="+mn-cs"/>
            </a:endParaRPr>
          </a:p>
        </p:txBody>
      </p:sp>
      <p:sp>
        <p:nvSpPr>
          <p:cNvPr id="11" name="TextBox 20">
            <a:extLst>
              <a:ext uri="{FF2B5EF4-FFF2-40B4-BE49-F238E27FC236}">
                <a16:creationId xmlns:a16="http://schemas.microsoft.com/office/drawing/2014/main" id="{E9B30A73-9C8B-3C70-67CA-DA67743E2F2E}"/>
              </a:ext>
            </a:extLst>
          </p:cNvPr>
          <p:cNvSpPr txBox="1"/>
          <p:nvPr/>
        </p:nvSpPr>
        <p:spPr>
          <a:xfrm>
            <a:off x="3539606" y="6608370"/>
            <a:ext cx="2257628"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FED9A0">
                    <a:lumMod val="75000"/>
                  </a:srgbClr>
                </a:solidFill>
                <a:effectLst/>
                <a:uLnTx/>
                <a:uFillTx/>
                <a:latin typeface="Nunito Sans"/>
                <a:ea typeface="+mn-ea"/>
                <a:cs typeface="+mn-cs"/>
              </a:rPr>
              <a:t>Under delay and can be recovered</a:t>
            </a:r>
            <a:endParaRPr kumimoji="0" lang="en-IN" sz="1000" b="0" i="0" u="none" strike="noStrike" kern="1200" cap="none" spc="0" normalizeH="0" baseline="0" noProof="0">
              <a:ln>
                <a:noFill/>
              </a:ln>
              <a:solidFill>
                <a:srgbClr val="000000"/>
              </a:solidFill>
              <a:effectLst/>
              <a:uLnTx/>
              <a:uFillTx/>
              <a:latin typeface="Nunito Sans"/>
              <a:ea typeface="+mn-ea"/>
              <a:cs typeface="+mn-cs"/>
            </a:endParaRPr>
          </a:p>
        </p:txBody>
      </p:sp>
      <p:sp>
        <p:nvSpPr>
          <p:cNvPr id="13" name="TextBox 22">
            <a:extLst>
              <a:ext uri="{FF2B5EF4-FFF2-40B4-BE49-F238E27FC236}">
                <a16:creationId xmlns:a16="http://schemas.microsoft.com/office/drawing/2014/main" id="{2C31F47C-FE9F-BA45-FD3F-E723FA7C34C0}"/>
              </a:ext>
            </a:extLst>
          </p:cNvPr>
          <p:cNvSpPr txBox="1"/>
          <p:nvPr/>
        </p:nvSpPr>
        <p:spPr>
          <a:xfrm>
            <a:off x="8246937" y="6618126"/>
            <a:ext cx="2338222"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FF0000"/>
                </a:solidFill>
                <a:effectLst/>
                <a:uLnTx/>
                <a:uFillTx/>
                <a:latin typeface="Nunito Sans"/>
                <a:ea typeface="+mn-ea"/>
                <a:cs typeface="+mn-cs"/>
              </a:rPr>
              <a:t>Delayed and pushed to next release</a:t>
            </a:r>
          </a:p>
        </p:txBody>
      </p:sp>
      <p:sp>
        <p:nvSpPr>
          <p:cNvPr id="15" name="TextBox 14">
            <a:extLst>
              <a:ext uri="{FF2B5EF4-FFF2-40B4-BE49-F238E27FC236}">
                <a16:creationId xmlns:a16="http://schemas.microsoft.com/office/drawing/2014/main" id="{F6BF8523-75E7-750B-29FF-3552280A10BA}"/>
              </a:ext>
            </a:extLst>
          </p:cNvPr>
          <p:cNvSpPr txBox="1"/>
          <p:nvPr/>
        </p:nvSpPr>
        <p:spPr>
          <a:xfrm>
            <a:off x="6454369" y="6611638"/>
            <a:ext cx="2743200"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IN" sz="1000">
                <a:solidFill>
                  <a:srgbClr val="7D7D7D"/>
                </a:solidFill>
              </a:rPr>
              <a:t>Descoped</a:t>
            </a:r>
            <a:endParaRPr lang="en-US"/>
          </a:p>
        </p:txBody>
      </p:sp>
      <p:sp>
        <p:nvSpPr>
          <p:cNvPr id="16" name="Rectangle 15">
            <a:extLst>
              <a:ext uri="{FF2B5EF4-FFF2-40B4-BE49-F238E27FC236}">
                <a16:creationId xmlns:a16="http://schemas.microsoft.com/office/drawing/2014/main" id="{3943A43E-01A5-AFDF-530C-C4A8773D25B8}"/>
              </a:ext>
            </a:extLst>
          </p:cNvPr>
          <p:cNvSpPr/>
          <p:nvPr/>
        </p:nvSpPr>
        <p:spPr>
          <a:xfrm>
            <a:off x="6360794" y="6681439"/>
            <a:ext cx="90000" cy="90000"/>
          </a:xfrm>
          <a:prstGeom prst="rect">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graphicFrame>
        <p:nvGraphicFramePr>
          <p:cNvPr id="14" name="Table 13">
            <a:extLst>
              <a:ext uri="{FF2B5EF4-FFF2-40B4-BE49-F238E27FC236}">
                <a16:creationId xmlns:a16="http://schemas.microsoft.com/office/drawing/2014/main" id="{E1FC356B-17EB-8126-9EFB-17E070912420}"/>
              </a:ext>
            </a:extLst>
          </p:cNvPr>
          <p:cNvGraphicFramePr>
            <a:graphicFrameLocks noGrp="1"/>
          </p:cNvGraphicFramePr>
          <p:nvPr>
            <p:extLst>
              <p:ext uri="{D42A27DB-BD31-4B8C-83A1-F6EECF244321}">
                <p14:modId xmlns:p14="http://schemas.microsoft.com/office/powerpoint/2010/main" val="657187490"/>
              </p:ext>
            </p:extLst>
          </p:nvPr>
        </p:nvGraphicFramePr>
        <p:xfrm>
          <a:off x="1298121" y="510509"/>
          <a:ext cx="10687085" cy="6111240"/>
        </p:xfrm>
        <a:graphic>
          <a:graphicData uri="http://schemas.openxmlformats.org/drawingml/2006/table">
            <a:tbl>
              <a:tblPr firstRow="1" bandRow="1">
                <a:tableStyleId>{5C22544A-7EE6-4342-B048-85BDC9FD1C3A}</a:tableStyleId>
              </a:tblPr>
              <a:tblGrid>
                <a:gridCol w="1553234">
                  <a:extLst>
                    <a:ext uri="{9D8B030D-6E8A-4147-A177-3AD203B41FA5}">
                      <a16:colId xmlns:a16="http://schemas.microsoft.com/office/drawing/2014/main" val="2822350773"/>
                    </a:ext>
                  </a:extLst>
                </a:gridCol>
                <a:gridCol w="1159945">
                  <a:extLst>
                    <a:ext uri="{9D8B030D-6E8A-4147-A177-3AD203B41FA5}">
                      <a16:colId xmlns:a16="http://schemas.microsoft.com/office/drawing/2014/main" val="1843387359"/>
                    </a:ext>
                  </a:extLst>
                </a:gridCol>
                <a:gridCol w="5598064">
                  <a:extLst>
                    <a:ext uri="{9D8B030D-6E8A-4147-A177-3AD203B41FA5}">
                      <a16:colId xmlns:a16="http://schemas.microsoft.com/office/drawing/2014/main" val="99588705"/>
                    </a:ext>
                  </a:extLst>
                </a:gridCol>
                <a:gridCol w="1151165">
                  <a:extLst>
                    <a:ext uri="{9D8B030D-6E8A-4147-A177-3AD203B41FA5}">
                      <a16:colId xmlns:a16="http://schemas.microsoft.com/office/drawing/2014/main" val="1005493348"/>
                    </a:ext>
                  </a:extLst>
                </a:gridCol>
                <a:gridCol w="1224677">
                  <a:extLst>
                    <a:ext uri="{9D8B030D-6E8A-4147-A177-3AD203B41FA5}">
                      <a16:colId xmlns:a16="http://schemas.microsoft.com/office/drawing/2014/main" val="949336720"/>
                    </a:ext>
                  </a:extLst>
                </a:gridCol>
              </a:tblGrid>
              <a:tr h="261755">
                <a:tc>
                  <a:txBody>
                    <a:bodyPr/>
                    <a:lstStyle/>
                    <a:p>
                      <a:pPr marL="0" lvl="0" indent="0" algn="ctr" defTabSz="914400" rtl="0">
                        <a:lnSpc>
                          <a:spcPct val="100000"/>
                        </a:lnSpc>
                        <a:buFont typeface="Arial" panose="020B0604020202020204" pitchFamily="34" charset="0"/>
                        <a:buNone/>
                      </a:pPr>
                      <a:r>
                        <a:rPr lang="en-IN" sz="1100" b="1" kern="1200">
                          <a:solidFill>
                            <a:schemeClr val="bg1"/>
                          </a:solidFill>
                          <a:latin typeface="+mn-lt"/>
                          <a:ea typeface="+mn-ea"/>
                          <a:cs typeface="+mn-cs"/>
                        </a:rPr>
                        <a:t>Initiatives</a:t>
                      </a:r>
                      <a:endParaRPr lang="en-US" sz="1100" b="1"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tc>
                  <a:txBody>
                    <a:bodyPr/>
                    <a:lstStyle/>
                    <a:p>
                      <a:pPr marL="0" lvl="0" indent="0" algn="ctr" defTabSz="914400">
                        <a:lnSpc>
                          <a:spcPct val="100000"/>
                        </a:lnSpc>
                        <a:buNone/>
                      </a:pPr>
                      <a:r>
                        <a:rPr lang="en-IN" sz="1100" b="1" i="0" u="none" strike="noStrike" kern="1200" noProof="0">
                          <a:solidFill>
                            <a:schemeClr val="bg1"/>
                          </a:solidFill>
                          <a:latin typeface="Nunito Sans"/>
                          <a:ea typeface="+mn-ea"/>
                          <a:cs typeface="+mn-cs"/>
                        </a:rPr>
                        <a:t>Programs/Project</a:t>
                      </a:r>
                      <a:endParaRPr lang="en-US"/>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tc>
                  <a:txBody>
                    <a:bodyPr/>
                    <a:lstStyle/>
                    <a:p>
                      <a:pPr marL="0" lvl="0" indent="0" algn="ctr">
                        <a:lnSpc>
                          <a:spcPct val="100000"/>
                        </a:lnSpc>
                        <a:buNone/>
                      </a:pPr>
                      <a:endParaRPr lang="en-IN" sz="1100" b="1" i="0" u="none" strike="noStrike" kern="1200" baseline="0" noProof="0">
                        <a:solidFill>
                          <a:srgbClr val="FFFFFF"/>
                        </a:solidFill>
                        <a:latin typeface="Nunito Sans"/>
                      </a:endParaRPr>
                    </a:p>
                    <a:p>
                      <a:pPr marL="0" lvl="0" indent="0" algn="ctr">
                        <a:lnSpc>
                          <a:spcPct val="100000"/>
                        </a:lnSpc>
                        <a:buNone/>
                      </a:pPr>
                      <a:r>
                        <a:rPr lang="en-IN" sz="1100" b="1" i="0" u="none" strike="noStrike" kern="1200" baseline="0" noProof="0">
                          <a:solidFill>
                            <a:srgbClr val="FFFFFF"/>
                          </a:solidFill>
                          <a:latin typeface="Nunito Sans"/>
                        </a:rPr>
                        <a:t>Value Justification/Realization</a:t>
                      </a:r>
                    </a:p>
                    <a:p>
                      <a:pPr marL="0" lvl="0" indent="0" algn="ctr" defTabSz="914400">
                        <a:buFont typeface="Arial" panose="020B0604020202020204" pitchFamily="34" charset="0"/>
                        <a:buNone/>
                      </a:pPr>
                      <a:endParaRPr lang="en-IN" sz="1100"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tc>
                  <a:txBody>
                    <a:bodyPr/>
                    <a:lstStyle/>
                    <a:p>
                      <a:pPr marL="0" lvl="0" indent="0" algn="ctr" defTabSz="914400">
                        <a:buFont typeface="Arial" panose="020B0604020202020204" pitchFamily="34" charset="0"/>
                        <a:buNone/>
                      </a:pPr>
                      <a:r>
                        <a:rPr lang="en-IN" sz="1100" kern="1200">
                          <a:solidFill>
                            <a:schemeClr val="bg1"/>
                          </a:solidFill>
                          <a:latin typeface="+mn-lt"/>
                          <a:ea typeface="+mn-ea"/>
                          <a:cs typeface="+mn-cs"/>
                        </a:rPr>
                        <a:t>Planned go-live date</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1100" b="1" kern="1200">
                          <a:solidFill>
                            <a:schemeClr val="bg1"/>
                          </a:solidFill>
                          <a:latin typeface="+mn-lt"/>
                          <a:ea typeface="+mn-ea"/>
                          <a:cs typeface="+mn-cs"/>
                        </a:rPr>
                        <a:t>EIP Integration Required (Yes/No)</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extLst>
                  <a:ext uri="{0D108BD9-81ED-4DB2-BD59-A6C34878D82A}">
                    <a16:rowId xmlns:a16="http://schemas.microsoft.com/office/drawing/2014/main" val="844450115"/>
                  </a:ext>
                </a:extLst>
              </a:tr>
              <a:tr h="523509">
                <a:tc>
                  <a:txBody>
                    <a:bodyPr/>
                    <a:lstStyle/>
                    <a:p>
                      <a:pPr marL="0" lvl="0" indent="0" algn="l">
                        <a:lnSpc>
                          <a:spcPct val="100000"/>
                        </a:lnSpc>
                        <a:spcBef>
                          <a:spcPts val="0"/>
                        </a:spcBef>
                        <a:spcAft>
                          <a:spcPts val="0"/>
                        </a:spcAft>
                        <a:buNone/>
                      </a:pPr>
                      <a:r>
                        <a:rPr lang="en-US" sz="900" b="1" i="0" u="none" strike="noStrike" kern="1200" noProof="0">
                          <a:solidFill>
                            <a:schemeClr val="tx1"/>
                          </a:solidFill>
                          <a:effectLst/>
                        </a:rPr>
                        <a:t>Jeppesen – SLF training optimization and automation for Flight Deck Crew.</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900" b="1" i="0" u="none" strike="noStrike">
                          <a:solidFill>
                            <a:schemeClr val="tx1"/>
                          </a:solidFill>
                          <a:effectLst/>
                          <a:latin typeface="+mn-lt"/>
                        </a:rPr>
                        <a:t>Go Live:</a:t>
                      </a:r>
                      <a:endParaRPr lang="en-US" sz="900">
                        <a:solidFill>
                          <a:schemeClr val="tx1"/>
                        </a:solidFill>
                      </a:endParaRPr>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1" i="0" u="none" strike="noStrike">
                          <a:solidFill>
                            <a:schemeClr val="tx1"/>
                          </a:solidFill>
                          <a:effectLst/>
                          <a:latin typeface="+mn-lt"/>
                        </a:rPr>
                        <a:t>Jeppesen Pairing and Rostering</a:t>
                      </a:r>
                      <a:endParaRPr lang="en-US" sz="900"/>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b="0" i="0" u="none" strike="noStrike" kern="1200" noProof="0">
                          <a:solidFill>
                            <a:schemeClr val="tx1"/>
                          </a:solidFill>
                          <a:latin typeface="+mn-lt"/>
                          <a:ea typeface="+mn-ea"/>
                          <a:cs typeface="+mn-cs"/>
                        </a:rPr>
                        <a:t>Reduces manual intervention in training allocation, minimizing planning effort and human errors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b="0" i="0" u="none" strike="noStrike" kern="1200" noProof="0">
                          <a:solidFill>
                            <a:schemeClr val="tx1"/>
                          </a:solidFill>
                          <a:latin typeface="+mn-lt"/>
                          <a:ea typeface="+mn-ea"/>
                          <a:cs typeface="+mn-cs"/>
                        </a:rPr>
                        <a:t>Improves optimization of training schedules alongside roster constraints, ensuring better alignment with operational needs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b="0" i="0" u="none" strike="noStrike" kern="1200">
                          <a:solidFill>
                            <a:schemeClr val="tx1"/>
                          </a:solidFill>
                          <a:latin typeface="+mn-lt"/>
                          <a:ea typeface="+mn-ea"/>
                          <a:cs typeface="+mn-cs"/>
                        </a:rPr>
                        <a:t>Improves crew availability for operations by optimally sequencing training with flying duties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b="0" i="0" u="none" strike="noStrike" kern="1200">
                          <a:solidFill>
                            <a:schemeClr val="tx1"/>
                          </a:solidFill>
                          <a:latin typeface="+mn-lt"/>
                          <a:ea typeface="+mn-ea"/>
                          <a:cs typeface="+mn-cs"/>
                        </a:rPr>
                        <a:t>Improved utilization of LTC qualified Trainers to increase the availability of line released crew</a:t>
                      </a:r>
                    </a:p>
                  </a:txBody>
                  <a:tcP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900" b="1" i="0" u="none" strike="noStrike">
                          <a:solidFill>
                            <a:schemeClr val="tx1"/>
                          </a:solidFill>
                          <a:effectLst/>
                          <a:latin typeface="+mn-lt"/>
                        </a:rPr>
                        <a:t>25 Sep 2026</a:t>
                      </a:r>
                      <a:r>
                        <a:rPr lang="en-US" sz="900" b="0" i="0">
                          <a:solidFill>
                            <a:schemeClr val="tx1"/>
                          </a:solidFill>
                          <a:effectLst/>
                          <a:latin typeface="+mn-lt"/>
                        </a:rPr>
                        <a:t>​</a:t>
                      </a:r>
                      <a:endParaRPr lang="en-US" sz="900" b="0" i="0" u="none" strike="noStrike" kern="1200">
                        <a:solidFill>
                          <a:schemeClr val="tx1"/>
                        </a:solidFill>
                        <a:latin typeface="+mn-lt"/>
                        <a:ea typeface="+mn-ea"/>
                        <a:cs typeface="+mn-cs"/>
                      </a:endParaRPr>
                    </a:p>
                  </a:txBody>
                  <a:tcP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ctr" defTabSz="914400">
                        <a:lnSpc>
                          <a:spcPct val="100000"/>
                        </a:lnSpc>
                        <a:spcBef>
                          <a:spcPts val="0"/>
                        </a:spcBef>
                        <a:spcAft>
                          <a:spcPts val="0"/>
                        </a:spcAft>
                        <a:buNone/>
                        <a:tabLst/>
                        <a:defRPr/>
                      </a:pPr>
                      <a:r>
                        <a:rPr lang="en-US" sz="800" b="0" i="0" u="none" strike="noStrike" kern="1200" noProof="0">
                          <a:solidFill>
                            <a:schemeClr val="tx1"/>
                          </a:solidFill>
                          <a:latin typeface="Nunito Sans"/>
                          <a:ea typeface="+mn-ea"/>
                          <a:cs typeface="+mn-cs"/>
                        </a:rPr>
                        <a:t>No</a:t>
                      </a:r>
                      <a:endParaRPr lang="en-US"/>
                    </a:p>
                  </a:txBody>
                  <a:tcPr>
                    <a:lnL w="6350">
                      <a:solidFill>
                        <a:schemeClr val="bg1">
                          <a:lumMod val="75000"/>
                        </a:schemeClr>
                      </a:solidFill>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76077021"/>
                  </a:ext>
                </a:extLst>
              </a:tr>
              <a:tr h="161080">
                <a:tc>
                  <a:txBody>
                    <a:bodyPr/>
                    <a:lstStyle/>
                    <a:p>
                      <a:pPr marL="0" lvl="0" indent="0" algn="l" defTabSz="914400" rtl="0" eaLnBrk="1" latinLnBrk="0" hangingPunct="1">
                        <a:lnSpc>
                          <a:spcPct val="100000"/>
                        </a:lnSpc>
                        <a:spcBef>
                          <a:spcPts val="0"/>
                        </a:spcBef>
                        <a:spcAft>
                          <a:spcPts val="0"/>
                        </a:spcAft>
                        <a:buClr>
                          <a:srgbClr val="000000"/>
                        </a:buClr>
                        <a:buNone/>
                      </a:pPr>
                      <a:r>
                        <a:rPr lang="en-US" sz="900" b="1" i="0" u="none" strike="noStrike" kern="1200" noProof="0">
                          <a:solidFill>
                            <a:schemeClr val="tx1"/>
                          </a:solidFill>
                          <a:effectLst/>
                          <a:latin typeface="+mn-lt"/>
                          <a:ea typeface="+mn-ea"/>
                          <a:cs typeface="+mn-cs"/>
                        </a:rPr>
                        <a:t>Jeppesen – </a:t>
                      </a:r>
                      <a:r>
                        <a:rPr lang="en-US" sz="900" b="1" i="0" u="none" strike="noStrike" kern="1200">
                          <a:solidFill>
                            <a:schemeClr val="tx1"/>
                          </a:solidFill>
                          <a:effectLst/>
                          <a:latin typeface="+mn-lt"/>
                          <a:ea typeface="+mn-ea"/>
                          <a:cs typeface="+mn-cs"/>
                        </a:rPr>
                        <a:t>ALC Enhancements for Cockpit Crew Planning</a:t>
                      </a:r>
                    </a:p>
                    <a:p>
                      <a:pPr marL="0" marR="0" lvl="0" indent="0" algn="l" defTabSz="914400" rtl="0" eaLnBrk="1" fontAlgn="auto" latinLnBrk="0" hangingPunct="1">
                        <a:lnSpc>
                          <a:spcPct val="100000"/>
                        </a:lnSpc>
                        <a:spcBef>
                          <a:spcPts val="0"/>
                        </a:spcBef>
                        <a:spcAft>
                          <a:spcPts val="0"/>
                        </a:spcAft>
                        <a:buClr>
                          <a:srgbClr val="000000"/>
                        </a:buClr>
                        <a:buSzTx/>
                        <a:buFontTx/>
                        <a:buNone/>
                        <a:tabLst/>
                        <a:defRPr/>
                      </a:pPr>
                      <a:r>
                        <a:rPr lang="en-US" sz="900" b="1" i="0" u="none" strike="noStrike">
                          <a:solidFill>
                            <a:schemeClr val="tx1"/>
                          </a:solidFill>
                          <a:effectLst/>
                          <a:latin typeface="+mn-lt"/>
                        </a:rPr>
                        <a:t>Go Live: 25</a:t>
                      </a:r>
                      <a:r>
                        <a:rPr lang="en-US" sz="900" b="1" i="0" u="none" strike="noStrike" baseline="30000">
                          <a:solidFill>
                            <a:schemeClr val="tx1"/>
                          </a:solidFill>
                          <a:effectLst/>
                          <a:latin typeface="+mn-lt"/>
                        </a:rPr>
                        <a:t>th</a:t>
                      </a:r>
                      <a:r>
                        <a:rPr lang="en-US" sz="900" b="1" i="0" u="none" strike="noStrike">
                          <a:solidFill>
                            <a:schemeClr val="tx1"/>
                          </a:solidFill>
                          <a:effectLst/>
                          <a:latin typeface="+mn-lt"/>
                        </a:rPr>
                        <a:t> Sep 2026</a:t>
                      </a:r>
                      <a:r>
                        <a:rPr lang="en-US" sz="900" b="0" i="0">
                          <a:solidFill>
                            <a:schemeClr val="tx1"/>
                          </a:solidFill>
                          <a:effectLst/>
                          <a:latin typeface="+mn-lt"/>
                        </a:rPr>
                        <a:t>​</a:t>
                      </a:r>
                      <a:endParaRPr lang="en-US" sz="900">
                        <a:solidFill>
                          <a:schemeClr val="tx1"/>
                        </a:solidFill>
                      </a:endParaRPr>
                    </a:p>
                  </a:txBody>
                  <a:tcP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1" i="0" u="none" strike="noStrike">
                          <a:solidFill>
                            <a:schemeClr val="tx1"/>
                          </a:solidFill>
                          <a:effectLst/>
                          <a:latin typeface="+mn-lt"/>
                        </a:rPr>
                        <a:t>Jeppesen Pairing and Rostering</a:t>
                      </a:r>
                      <a:endParaRPr lang="en-US" sz="900"/>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marL="285750" lvl="0" indent="-285750" algn="l" defTabSz="914400" rtl="0" eaLnBrk="1" fontAlgn="t" latinLnBrk="0" hangingPunct="1">
                        <a:lnSpc>
                          <a:spcPct val="100000"/>
                        </a:lnSpc>
                        <a:spcBef>
                          <a:spcPts val="0"/>
                        </a:spcBef>
                        <a:spcAft>
                          <a:spcPts val="0"/>
                        </a:spcAft>
                        <a:buFont typeface="Arial"/>
                        <a:buChar char="•"/>
                      </a:pPr>
                      <a:r>
                        <a:rPr lang="en-IN" sz="900" b="1" i="0" u="none" strike="noStrike" kern="1200">
                          <a:solidFill>
                            <a:schemeClr val="tx1"/>
                          </a:solidFill>
                          <a:latin typeface="+mn-lt"/>
                          <a:ea typeface="+mn-ea"/>
                          <a:cs typeface="+mn-cs"/>
                        </a:rPr>
                        <a:t>Ensures Compliance: </a:t>
                      </a:r>
                      <a:r>
                        <a:rPr lang="en-IN" sz="900" b="0" i="0" u="none" strike="noStrike" kern="1200">
                          <a:solidFill>
                            <a:schemeClr val="tx1"/>
                          </a:solidFill>
                          <a:latin typeface="+mn-lt"/>
                          <a:ea typeface="+mn-ea"/>
                          <a:cs typeface="+mn-cs"/>
                        </a:rPr>
                        <a:t>The change pertains to 3 and 4 crew Operations as per latest regulatory requirement.</a:t>
                      </a:r>
                    </a:p>
                    <a:p>
                      <a:pPr marL="285750" lvl="0" indent="-285750" algn="l" defTabSz="914400" rtl="0" eaLnBrk="1" fontAlgn="t" latinLnBrk="0" hangingPunct="1">
                        <a:lnSpc>
                          <a:spcPct val="100000"/>
                        </a:lnSpc>
                        <a:spcBef>
                          <a:spcPts val="0"/>
                        </a:spcBef>
                        <a:spcAft>
                          <a:spcPts val="0"/>
                        </a:spcAft>
                        <a:buFont typeface="Arial"/>
                        <a:buChar char="•"/>
                      </a:pPr>
                      <a:r>
                        <a:rPr lang="en-IN" sz="900" b="1" i="0" u="none" strike="noStrike" kern="1200">
                          <a:solidFill>
                            <a:schemeClr val="tx1"/>
                          </a:solidFill>
                          <a:latin typeface="+mn-lt"/>
                          <a:ea typeface="+mn-ea"/>
                          <a:cs typeface="+mn-cs"/>
                        </a:rPr>
                        <a:t>Optimises Resources:</a:t>
                      </a:r>
                      <a:r>
                        <a:rPr lang="en-IN" sz="900" b="0" i="0" u="none" strike="noStrike" kern="1200">
                          <a:solidFill>
                            <a:schemeClr val="tx1"/>
                          </a:solidFill>
                          <a:latin typeface="+mn-lt"/>
                          <a:ea typeface="+mn-ea"/>
                          <a:cs typeface="+mn-cs"/>
                        </a:rPr>
                        <a:t> Better trainer–trainee allocation through refined rules.</a:t>
                      </a:r>
                    </a:p>
                    <a:p>
                      <a:pPr marL="285750" lvl="0" indent="-285750" algn="l" defTabSz="914400" rtl="0" eaLnBrk="1" fontAlgn="t" latinLnBrk="0" hangingPunct="1">
                        <a:lnSpc>
                          <a:spcPct val="100000"/>
                        </a:lnSpc>
                        <a:spcBef>
                          <a:spcPts val="0"/>
                        </a:spcBef>
                        <a:spcAft>
                          <a:spcPts val="0"/>
                        </a:spcAft>
                        <a:buFont typeface="Arial"/>
                        <a:buChar char="•"/>
                      </a:pPr>
                      <a:r>
                        <a:rPr lang="en-IN" sz="900" b="1" i="0" u="none" strike="noStrike" kern="1200">
                          <a:solidFill>
                            <a:schemeClr val="tx1"/>
                          </a:solidFill>
                          <a:latin typeface="+mn-lt"/>
                          <a:ea typeface="+mn-ea"/>
                          <a:cs typeface="+mn-cs"/>
                        </a:rPr>
                        <a:t>Reduces Rework:</a:t>
                      </a:r>
                      <a:r>
                        <a:rPr lang="en-IN" sz="900" b="0" i="0" u="none" strike="noStrike" kern="1200">
                          <a:solidFill>
                            <a:schemeClr val="tx1"/>
                          </a:solidFill>
                          <a:latin typeface="+mn-lt"/>
                          <a:ea typeface="+mn-ea"/>
                          <a:cs typeface="+mn-cs"/>
                        </a:rPr>
                        <a:t>  ALC to be planned using JCR, currently it has been planned manually due to change in policy. </a:t>
                      </a:r>
                    </a:p>
                    <a:p>
                      <a:pPr marL="285750" lvl="0" indent="-285750" algn="l" defTabSz="914400" rtl="0" eaLnBrk="1" fontAlgn="t" latinLnBrk="0" hangingPunct="1">
                        <a:lnSpc>
                          <a:spcPct val="100000"/>
                        </a:lnSpc>
                        <a:spcBef>
                          <a:spcPts val="0"/>
                        </a:spcBef>
                        <a:spcAft>
                          <a:spcPts val="0"/>
                        </a:spcAft>
                        <a:buFont typeface="Arial"/>
                        <a:buChar char="•"/>
                      </a:pPr>
                      <a:r>
                        <a:rPr lang="en-IN" sz="900" b="1" i="0" u="none" strike="noStrike" kern="1200">
                          <a:solidFill>
                            <a:schemeClr val="tx1"/>
                          </a:solidFill>
                          <a:latin typeface="+mn-lt"/>
                          <a:ea typeface="+mn-ea"/>
                          <a:cs typeface="+mn-cs"/>
                        </a:rPr>
                        <a:t>Strengthens Training:</a:t>
                      </a:r>
                      <a:r>
                        <a:rPr lang="en-IN" sz="900" b="0" i="0" u="none" strike="noStrike" kern="1200">
                          <a:solidFill>
                            <a:schemeClr val="tx1"/>
                          </a:solidFill>
                          <a:latin typeface="+mn-lt"/>
                          <a:ea typeface="+mn-ea"/>
                          <a:cs typeface="+mn-cs"/>
                        </a:rPr>
                        <a:t> Ensures effective trainer–trainee pairing for better outcomes.</a:t>
                      </a:r>
                    </a:p>
                    <a:p>
                      <a:pPr marL="285750" lvl="0" indent="-285750" algn="l" defTabSz="914400" rtl="0" eaLnBrk="1" fontAlgn="t" latinLnBrk="0" hangingPunct="1">
                        <a:lnSpc>
                          <a:spcPct val="100000"/>
                        </a:lnSpc>
                        <a:spcBef>
                          <a:spcPts val="0"/>
                        </a:spcBef>
                        <a:spcAft>
                          <a:spcPts val="0"/>
                        </a:spcAft>
                        <a:buFont typeface="Arial"/>
                        <a:buChar char="•"/>
                      </a:pPr>
                      <a:r>
                        <a:rPr lang="en-IN" sz="900" b="1" i="0" u="none" strike="noStrike" kern="1200">
                          <a:solidFill>
                            <a:schemeClr val="tx1"/>
                          </a:solidFill>
                          <a:latin typeface="+mn-lt"/>
                          <a:ea typeface="+mn-ea"/>
                          <a:cs typeface="+mn-cs"/>
                        </a:rPr>
                        <a:t>Delivers Robust Outcomes:</a:t>
                      </a:r>
                      <a:r>
                        <a:rPr lang="en-IN" sz="900" b="0" i="0" u="none" strike="noStrike" kern="1200">
                          <a:solidFill>
                            <a:schemeClr val="tx1"/>
                          </a:solidFill>
                          <a:latin typeface="+mn-lt"/>
                          <a:ea typeface="+mn-ea"/>
                          <a:cs typeface="+mn-cs"/>
                        </a:rPr>
                        <a:t> Improves reliability and optimisation of APC assignments in JCR</a:t>
                      </a: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marL="0" lvl="0" indent="0" algn="ctr" defTabSz="914400" rtl="0" eaLnBrk="1" fontAlgn="t" latinLnBrk="0" hangingPunct="1">
                        <a:lnSpc>
                          <a:spcPct val="100000"/>
                        </a:lnSpc>
                        <a:spcBef>
                          <a:spcPts val="0"/>
                        </a:spcBef>
                        <a:spcAft>
                          <a:spcPts val="0"/>
                        </a:spcAft>
                        <a:buFont typeface="Arial"/>
                        <a:buNone/>
                      </a:pPr>
                      <a:r>
                        <a:rPr lang="en-US" sz="900" b="1" i="0" u="none" strike="noStrike">
                          <a:solidFill>
                            <a:schemeClr val="tx1"/>
                          </a:solidFill>
                          <a:effectLst/>
                          <a:latin typeface="+mn-lt"/>
                        </a:rPr>
                        <a:t>25</a:t>
                      </a:r>
                      <a:r>
                        <a:rPr lang="en-US" sz="900" b="1" i="0" u="none" strike="noStrike" baseline="30000">
                          <a:solidFill>
                            <a:schemeClr val="tx1"/>
                          </a:solidFill>
                          <a:effectLst/>
                          <a:latin typeface="+mn-lt"/>
                        </a:rPr>
                        <a:t> </a:t>
                      </a:r>
                      <a:r>
                        <a:rPr lang="en-US" sz="900" b="1" i="0" u="none" strike="noStrike">
                          <a:solidFill>
                            <a:schemeClr val="tx1"/>
                          </a:solidFill>
                          <a:effectLst/>
                          <a:latin typeface="+mn-lt"/>
                        </a:rPr>
                        <a:t>Sep 2026</a:t>
                      </a:r>
                      <a:r>
                        <a:rPr lang="en-US" sz="900" b="0" i="0">
                          <a:solidFill>
                            <a:schemeClr val="tx1"/>
                          </a:solidFill>
                          <a:effectLst/>
                          <a:latin typeface="+mn-lt"/>
                        </a:rPr>
                        <a:t>​</a:t>
                      </a:r>
                      <a:endParaRPr lang="en-IN" sz="900" b="0" i="0" u="none" strike="noStrike" kern="1200">
                        <a:solidFill>
                          <a:schemeClr val="tx1"/>
                        </a:solidFill>
                        <a:latin typeface="+mn-lt"/>
                        <a:ea typeface="+mn-ea"/>
                        <a:cs typeface="+mn-cs"/>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lvl="0" indent="0" algn="ctr" defTabSz="914400">
                        <a:lnSpc>
                          <a:spcPct val="100000"/>
                        </a:lnSpc>
                        <a:spcBef>
                          <a:spcPts val="0"/>
                        </a:spcBef>
                        <a:spcAft>
                          <a:spcPts val="0"/>
                        </a:spcAft>
                        <a:buNone/>
                      </a:pPr>
                      <a:r>
                        <a:rPr lang="en-US" sz="800" b="0" i="0" u="none" strike="noStrike" kern="1200" noProof="0">
                          <a:solidFill>
                            <a:schemeClr val="tx1"/>
                          </a:solidFill>
                          <a:latin typeface="Nunito Sans"/>
                          <a:ea typeface="+mn-ea"/>
                          <a:cs typeface="+mn-cs"/>
                        </a:rPr>
                        <a:t>No</a:t>
                      </a:r>
                      <a:endParaRPr lang="en-US"/>
                    </a:p>
                  </a:txBody>
                  <a:tcPr>
                    <a:lnL w="6350" cap="flat" cmpd="sng" algn="ctr">
                      <a:solidFill>
                        <a:schemeClr val="bg1">
                          <a:lumMod val="75000"/>
                        </a:schemeClr>
                      </a:solidFill>
                      <a:prstDash val="solid"/>
                      <a:round/>
                      <a:headEnd type="none" w="med" len="med"/>
                      <a:tailEnd type="none" w="med" len="med"/>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115069882"/>
                  </a:ext>
                </a:extLst>
              </a:tr>
              <a:tr h="192401">
                <a:tc>
                  <a:txBody>
                    <a:bodyPr/>
                    <a:lstStyle/>
                    <a:p>
                      <a:pPr marL="0" lvl="0" indent="0" algn="l">
                        <a:lnSpc>
                          <a:spcPct val="100000"/>
                        </a:lnSpc>
                        <a:spcBef>
                          <a:spcPts val="0"/>
                        </a:spcBef>
                        <a:spcAft>
                          <a:spcPts val="0"/>
                        </a:spcAft>
                        <a:buClr>
                          <a:srgbClr val="000000"/>
                        </a:buClr>
                        <a:buNone/>
                      </a:pPr>
                      <a:r>
                        <a:rPr lang="en-US" sz="900" b="1" i="0" u="none" strike="noStrike" kern="1200" noProof="0">
                          <a:solidFill>
                            <a:schemeClr val="tx1"/>
                          </a:solidFill>
                          <a:effectLst/>
                          <a:latin typeface="+mn-lt"/>
                          <a:ea typeface="+mn-ea"/>
                          <a:cs typeface="+mn-cs"/>
                        </a:rPr>
                        <a:t>Jeppesen – STOL Optimization Automation </a:t>
                      </a:r>
                      <a:br>
                        <a:rPr lang="en-US" sz="900" b="1" i="0" u="none" strike="noStrike" kern="1200" noProof="0">
                          <a:solidFill>
                            <a:schemeClr val="tx1"/>
                          </a:solidFill>
                          <a:effectLst/>
                          <a:latin typeface="+mn-lt"/>
                          <a:ea typeface="+mn-ea"/>
                          <a:cs typeface="+mn-cs"/>
                        </a:rPr>
                      </a:br>
                      <a:r>
                        <a:rPr lang="en-US" sz="900" b="1" i="0" u="none" strike="noStrike" kern="1200" noProof="0">
                          <a:solidFill>
                            <a:schemeClr val="tx1"/>
                          </a:solidFill>
                          <a:effectLst/>
                          <a:latin typeface="+mn-lt"/>
                          <a:ea typeface="+mn-ea"/>
                          <a:cs typeface="+mn-cs"/>
                        </a:rPr>
                        <a:t>(</a:t>
                      </a:r>
                      <a:r>
                        <a:rPr lang="en-IN" sz="900" b="1" i="0" u="none" strike="noStrike" kern="1200">
                          <a:solidFill>
                            <a:schemeClr val="tx1"/>
                          </a:solidFill>
                          <a:effectLst/>
                          <a:latin typeface="+mn-lt"/>
                          <a:ea typeface="+mn-ea"/>
                          <a:cs typeface="+mn-cs"/>
                        </a:rPr>
                        <a:t>ATPL &amp; Accelerated Flying Program)</a:t>
                      </a:r>
                    </a:p>
                    <a:p>
                      <a:pPr marL="0" marR="0" lvl="0" indent="0" algn="l" defTabSz="914400" rtl="0" eaLnBrk="1" fontAlgn="auto" latinLnBrk="0" hangingPunct="1">
                        <a:lnSpc>
                          <a:spcPct val="100000"/>
                        </a:lnSpc>
                        <a:spcBef>
                          <a:spcPts val="0"/>
                        </a:spcBef>
                        <a:spcAft>
                          <a:spcPts val="0"/>
                        </a:spcAft>
                        <a:buClr>
                          <a:srgbClr val="000000"/>
                        </a:buClr>
                        <a:buSzTx/>
                        <a:buFontTx/>
                        <a:buNone/>
                        <a:tabLst/>
                        <a:defRPr/>
                      </a:pPr>
                      <a:r>
                        <a:rPr lang="en-US" sz="900" b="1" i="0" u="none" strike="noStrike">
                          <a:solidFill>
                            <a:schemeClr val="tx1"/>
                          </a:solidFill>
                          <a:effectLst/>
                          <a:latin typeface="+mn-lt"/>
                        </a:rPr>
                        <a:t>Go Live: 25</a:t>
                      </a:r>
                      <a:r>
                        <a:rPr lang="en-US" sz="900" b="1" i="0" u="none" strike="noStrike" baseline="30000">
                          <a:solidFill>
                            <a:schemeClr val="tx1"/>
                          </a:solidFill>
                          <a:effectLst/>
                          <a:latin typeface="+mn-lt"/>
                        </a:rPr>
                        <a:t>th</a:t>
                      </a:r>
                      <a:r>
                        <a:rPr lang="en-US" sz="900" b="1" i="0" u="none" strike="noStrike">
                          <a:solidFill>
                            <a:schemeClr val="tx1"/>
                          </a:solidFill>
                          <a:effectLst/>
                          <a:latin typeface="+mn-lt"/>
                        </a:rPr>
                        <a:t> Sep 2026</a:t>
                      </a:r>
                      <a:r>
                        <a:rPr lang="en-US" sz="900" b="0" i="0">
                          <a:solidFill>
                            <a:schemeClr val="tx1"/>
                          </a:solidFill>
                          <a:effectLst/>
                          <a:latin typeface="+mn-lt"/>
                        </a:rPr>
                        <a:t>​</a:t>
                      </a:r>
                      <a:endParaRPr lang="en-US" sz="900">
                        <a:solidFill>
                          <a:schemeClr val="tx1"/>
                        </a:solidFill>
                      </a:endParaRPr>
                    </a:p>
                  </a:txBody>
                  <a:tcP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1" i="0" u="none" strike="noStrike">
                          <a:solidFill>
                            <a:schemeClr val="tx1"/>
                          </a:solidFill>
                          <a:effectLst/>
                          <a:latin typeface="+mn-lt"/>
                        </a:rPr>
                        <a:t>Jeppesen Pairing and Rostering</a:t>
                      </a:r>
                      <a:endParaRPr lang="en-US" sz="900"/>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171450" lvl="0" indent="-171450" algn="l">
                        <a:lnSpc>
                          <a:spcPct val="100000"/>
                        </a:lnSpc>
                        <a:spcBef>
                          <a:spcPts val="0"/>
                        </a:spcBef>
                        <a:spcAft>
                          <a:spcPts val="0"/>
                        </a:spcAft>
                        <a:buFont typeface="Arial" panose="020B0604020202020204" pitchFamily="34" charset="0"/>
                        <a:buChar char="•"/>
                      </a:pPr>
                      <a:r>
                        <a:rPr lang="en-US" sz="900" b="1" i="0" u="none" strike="noStrike" kern="1200">
                          <a:solidFill>
                            <a:schemeClr val="tx1"/>
                          </a:solidFill>
                          <a:latin typeface="+mn-lt"/>
                          <a:ea typeface="+mn-ea"/>
                          <a:cs typeface="Segoe UI"/>
                        </a:rPr>
                        <a:t>Regulatory Compliance Enablement: </a:t>
                      </a:r>
                      <a:r>
                        <a:rPr lang="en-US" sz="900" b="0" i="0" u="none" strike="noStrike" kern="1200">
                          <a:solidFill>
                            <a:schemeClr val="tx1"/>
                          </a:solidFill>
                          <a:latin typeface="+mn-lt"/>
                          <a:ea typeface="+mn-ea"/>
                          <a:cs typeface="Segoe UI"/>
                        </a:rPr>
                        <a:t>Supports DGCA mandate by ensuring First Officers meet ATPL qualification requirements in a structured and trackable manner</a:t>
                      </a:r>
                    </a:p>
                    <a:p>
                      <a:pPr marL="171450" lvl="0" indent="-171450" algn="l">
                        <a:lnSpc>
                          <a:spcPct val="100000"/>
                        </a:lnSpc>
                        <a:spcBef>
                          <a:spcPts val="0"/>
                        </a:spcBef>
                        <a:spcAft>
                          <a:spcPts val="0"/>
                        </a:spcAft>
                        <a:buFont typeface="Arial" panose="020B0604020202020204" pitchFamily="34" charset="0"/>
                        <a:buChar char="•"/>
                      </a:pPr>
                      <a:r>
                        <a:rPr lang="en-US" sz="900" b="1" i="0" u="none" strike="noStrike" kern="1200">
                          <a:solidFill>
                            <a:schemeClr val="tx1"/>
                          </a:solidFill>
                          <a:latin typeface="+mn-lt"/>
                          <a:ea typeface="+mn-ea"/>
                          <a:cs typeface="Segoe UI"/>
                        </a:rPr>
                        <a:t>Accelerated Career Progression: </a:t>
                      </a:r>
                      <a:r>
                        <a:rPr lang="en-US" sz="900" b="0" i="0" u="none" strike="noStrike" kern="1200">
                          <a:solidFill>
                            <a:schemeClr val="tx1"/>
                          </a:solidFill>
                          <a:latin typeface="+mn-lt"/>
                          <a:ea typeface="+mn-ea"/>
                          <a:cs typeface="Segoe UI"/>
                        </a:rPr>
                        <a:t>Facilitates timely upgrade of First Officers to Captain by aligning training and qualification pathways with regulatory criteria</a:t>
                      </a:r>
                    </a:p>
                    <a:p>
                      <a:pPr marL="171450" lvl="0" indent="-171450" algn="l">
                        <a:lnSpc>
                          <a:spcPct val="100000"/>
                        </a:lnSpc>
                        <a:spcBef>
                          <a:spcPts val="0"/>
                        </a:spcBef>
                        <a:spcAft>
                          <a:spcPts val="0"/>
                        </a:spcAft>
                        <a:buFont typeface="Arial" panose="020B0604020202020204" pitchFamily="34" charset="0"/>
                        <a:buChar char="•"/>
                      </a:pPr>
                      <a:r>
                        <a:rPr lang="en-US" sz="900" b="1" i="0" u="none" strike="noStrike" kern="1200">
                          <a:solidFill>
                            <a:schemeClr val="tx1"/>
                          </a:solidFill>
                          <a:latin typeface="+mn-lt"/>
                          <a:ea typeface="+mn-ea"/>
                          <a:cs typeface="Segoe UI"/>
                        </a:rPr>
                        <a:t>Improved Workforce Readiness</a:t>
                      </a:r>
                      <a:r>
                        <a:rPr lang="en-US" sz="900" b="0" i="0" u="none" strike="noStrike" kern="1200">
                          <a:solidFill>
                            <a:schemeClr val="tx1"/>
                          </a:solidFill>
                          <a:latin typeface="+mn-lt"/>
                          <a:ea typeface="+mn-ea"/>
                          <a:cs typeface="Segoe UI"/>
                        </a:rPr>
                        <a:t>: Ensures a qualified pipeline of eligible FOs, strengthening operational continuity and succession planning</a:t>
                      </a:r>
                    </a:p>
                    <a:p>
                      <a:pPr marL="171450" lvl="0" indent="-171450" algn="l">
                        <a:lnSpc>
                          <a:spcPct val="100000"/>
                        </a:lnSpc>
                        <a:spcBef>
                          <a:spcPts val="0"/>
                        </a:spcBef>
                        <a:spcAft>
                          <a:spcPts val="0"/>
                        </a:spcAft>
                        <a:buFont typeface="Arial" panose="020B0604020202020204" pitchFamily="34" charset="0"/>
                        <a:buChar char="•"/>
                      </a:pPr>
                      <a:r>
                        <a:rPr lang="en-US" sz="900" b="1" i="0" u="none" strike="noStrike" kern="1200">
                          <a:solidFill>
                            <a:schemeClr val="tx1"/>
                          </a:solidFill>
                          <a:latin typeface="+mn-lt"/>
                          <a:ea typeface="+mn-ea"/>
                          <a:cs typeface="Segoe UI"/>
                        </a:rPr>
                        <a:t>Reduced Upgrade Delays</a:t>
                      </a:r>
                      <a:r>
                        <a:rPr lang="en-US" sz="900" b="0" i="0" u="none" strike="noStrike" kern="1200">
                          <a:solidFill>
                            <a:schemeClr val="tx1"/>
                          </a:solidFill>
                          <a:latin typeface="+mn-lt"/>
                          <a:ea typeface="+mn-ea"/>
                          <a:cs typeface="Segoe UI"/>
                        </a:rPr>
                        <a:t>: Minimizes bottlenecks in captain upgrades through better visibility and compliance tracking of ATPL requirements</a:t>
                      </a: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lvl="0" indent="0" algn="ctr">
                        <a:lnSpc>
                          <a:spcPct val="100000"/>
                        </a:lnSpc>
                        <a:spcBef>
                          <a:spcPts val="0"/>
                        </a:spcBef>
                        <a:spcAft>
                          <a:spcPts val="0"/>
                        </a:spcAft>
                        <a:buFont typeface="Arial" panose="020B0604020202020204" pitchFamily="34" charset="0"/>
                        <a:buNone/>
                      </a:pPr>
                      <a:r>
                        <a:rPr lang="en-US" sz="900" b="1" i="0" u="none" strike="noStrike">
                          <a:solidFill>
                            <a:schemeClr val="tx1"/>
                          </a:solidFill>
                          <a:effectLst/>
                          <a:latin typeface="+mn-lt"/>
                        </a:rPr>
                        <a:t>25</a:t>
                      </a:r>
                      <a:r>
                        <a:rPr lang="en-US" sz="900" b="1" i="0" u="none" strike="noStrike" baseline="30000">
                          <a:solidFill>
                            <a:schemeClr val="tx1"/>
                          </a:solidFill>
                          <a:effectLst/>
                          <a:latin typeface="+mn-lt"/>
                        </a:rPr>
                        <a:t> </a:t>
                      </a:r>
                      <a:r>
                        <a:rPr lang="en-US" sz="900" b="1" i="0" u="none" strike="noStrike">
                          <a:solidFill>
                            <a:schemeClr val="tx1"/>
                          </a:solidFill>
                          <a:effectLst/>
                          <a:latin typeface="+mn-lt"/>
                        </a:rPr>
                        <a:t>Sep 2026</a:t>
                      </a:r>
                      <a:endParaRPr lang="en-US" sz="900" b="0" i="0" u="none" strike="noStrike" kern="1200">
                        <a:solidFill>
                          <a:schemeClr val="tx1"/>
                        </a:solidFill>
                        <a:latin typeface="+mn-lt"/>
                        <a:ea typeface="+mn-ea"/>
                        <a:cs typeface="Segoe UI"/>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lvl="0" indent="0" algn="ctr">
                        <a:lnSpc>
                          <a:spcPct val="100000"/>
                        </a:lnSpc>
                        <a:spcBef>
                          <a:spcPts val="0"/>
                        </a:spcBef>
                        <a:spcAft>
                          <a:spcPts val="0"/>
                        </a:spcAft>
                        <a:buNone/>
                      </a:pPr>
                      <a:r>
                        <a:rPr lang="en-US" sz="800" b="0" i="0" u="none" strike="noStrike" kern="1200" noProof="0">
                          <a:solidFill>
                            <a:schemeClr val="tx1"/>
                          </a:solidFill>
                          <a:latin typeface="Nunito Sans"/>
                          <a:ea typeface="+mn-ea"/>
                          <a:cs typeface="Segoe UI"/>
                        </a:rPr>
                        <a:t>No</a:t>
                      </a:r>
                      <a:endParaRPr lang="en-US"/>
                    </a:p>
                  </a:txBody>
                  <a:tcPr>
                    <a:lnL w="6350" cap="flat" cmpd="sng" algn="ctr">
                      <a:solidFill>
                        <a:schemeClr val="bg1">
                          <a:lumMod val="75000"/>
                        </a:schemeClr>
                      </a:solidFill>
                      <a:prstDash val="solid"/>
                      <a:round/>
                      <a:headEnd type="none" w="med" len="med"/>
                      <a:tailEnd type="none" w="med" len="med"/>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516526193"/>
                  </a:ext>
                </a:extLst>
              </a:tr>
              <a:tr h="208061">
                <a:tc>
                  <a:txBody>
                    <a:bodyPr/>
                    <a:lstStyle/>
                    <a:p>
                      <a:pPr marL="0" lvl="0" indent="0" algn="l" defTabSz="914400" rtl="0" eaLnBrk="1" latinLnBrk="0" hangingPunct="1">
                        <a:lnSpc>
                          <a:spcPct val="100000"/>
                        </a:lnSpc>
                        <a:spcBef>
                          <a:spcPts val="0"/>
                        </a:spcBef>
                        <a:spcAft>
                          <a:spcPts val="0"/>
                        </a:spcAft>
                        <a:buClr>
                          <a:srgbClr val="000000"/>
                        </a:buClr>
                        <a:buNone/>
                      </a:pPr>
                      <a:r>
                        <a:rPr lang="en-US" sz="900" b="1" i="0" u="none" strike="noStrike" kern="1200" noProof="0">
                          <a:solidFill>
                            <a:schemeClr val="tx1"/>
                          </a:solidFill>
                          <a:latin typeface="+mn-lt"/>
                          <a:ea typeface="+mn-ea"/>
                          <a:cs typeface="+mn-cs"/>
                        </a:rPr>
                        <a:t>AIFA DMS</a:t>
                      </a:r>
                    </a:p>
                    <a:p>
                      <a:pPr marL="0" marR="0" lvl="0" indent="0" algn="l" defTabSz="914400" rtl="0" eaLnBrk="1" fontAlgn="auto" latinLnBrk="0" hangingPunct="1">
                        <a:lnSpc>
                          <a:spcPct val="100000"/>
                        </a:lnSpc>
                        <a:spcBef>
                          <a:spcPts val="0"/>
                        </a:spcBef>
                        <a:spcAft>
                          <a:spcPts val="0"/>
                        </a:spcAft>
                        <a:buClr>
                          <a:srgbClr val="000000"/>
                        </a:buClr>
                        <a:buSzTx/>
                        <a:buFontTx/>
                        <a:buNone/>
                        <a:tabLst/>
                        <a:defRPr/>
                      </a:pPr>
                      <a:r>
                        <a:rPr lang="en-US" sz="900" b="1" i="0" u="none" strike="noStrike" kern="1200" noProof="0">
                          <a:solidFill>
                            <a:schemeClr val="tx1"/>
                          </a:solidFill>
                          <a:latin typeface="+mn-lt"/>
                          <a:ea typeface="+mn-ea"/>
                          <a:cs typeface="+mn-cs"/>
                        </a:rPr>
                        <a:t>Go Live: 25</a:t>
                      </a:r>
                      <a:r>
                        <a:rPr lang="en-US" sz="900" b="1" i="0" u="none" strike="noStrike" kern="1200" baseline="30000" noProof="0">
                          <a:solidFill>
                            <a:schemeClr val="tx1"/>
                          </a:solidFill>
                          <a:latin typeface="+mn-lt"/>
                          <a:ea typeface="+mn-ea"/>
                          <a:cs typeface="+mn-cs"/>
                        </a:rPr>
                        <a:t>th</a:t>
                      </a:r>
                      <a:r>
                        <a:rPr lang="en-US" sz="900" b="1" i="0" u="none" strike="noStrike" kern="1200" noProof="0">
                          <a:solidFill>
                            <a:schemeClr val="tx1"/>
                          </a:solidFill>
                          <a:latin typeface="+mn-lt"/>
                          <a:ea typeface="+mn-ea"/>
                          <a:cs typeface="+mn-cs"/>
                        </a:rPr>
                        <a:t>  Sep 2026 </a:t>
                      </a:r>
                      <a:endParaRPr lang="en-US" sz="900" b="1" i="0" u="none" strike="noStrike" kern="1200">
                        <a:solidFill>
                          <a:schemeClr val="tx1"/>
                        </a:solidFill>
                        <a:latin typeface="+mn-lt"/>
                        <a:ea typeface="+mn-ea"/>
                        <a:cs typeface="+mn-cs"/>
                      </a:endParaRPr>
                    </a:p>
                  </a:txBody>
                  <a:tcP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lvl="0" indent="0" algn="l">
                        <a:lnSpc>
                          <a:spcPct val="100000"/>
                        </a:lnSpc>
                        <a:spcBef>
                          <a:spcPts val="0"/>
                        </a:spcBef>
                        <a:spcAft>
                          <a:spcPts val="0"/>
                        </a:spcAft>
                        <a:buNone/>
                      </a:pPr>
                      <a:r>
                        <a:rPr lang="en-US" sz="900" b="1" i="0" u="none" strike="noStrike" kern="1200" noProof="0">
                          <a:solidFill>
                            <a:schemeClr val="tx1"/>
                          </a:solidFill>
                          <a:latin typeface="+mn-lt"/>
                        </a:rPr>
                        <a:t>Document Management System</a:t>
                      </a: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171450" lvl="0" indent="-171450" algn="l">
                        <a:lnSpc>
                          <a:spcPct val="100000"/>
                        </a:lnSpc>
                        <a:spcBef>
                          <a:spcPts val="0"/>
                        </a:spcBef>
                        <a:spcAft>
                          <a:spcPts val="0"/>
                        </a:spcAft>
                        <a:buFont typeface="Arial" panose="020B0604020202020204" pitchFamily="34" charset="0"/>
                        <a:buChar char="•"/>
                      </a:pPr>
                      <a:r>
                        <a:rPr lang="en-US" sz="900" b="0" i="0" u="none" strike="noStrike" kern="1200" noProof="0">
                          <a:solidFill>
                            <a:schemeClr val="tx1"/>
                          </a:solidFill>
                          <a:latin typeface="+mn-lt"/>
                        </a:rPr>
                        <a:t>Regulatory compliance (DGCA / ICAO) readiness</a:t>
                      </a:r>
                    </a:p>
                    <a:p>
                      <a:pPr marL="171450" lvl="0" indent="-171450" algn="l">
                        <a:lnSpc>
                          <a:spcPct val="100000"/>
                        </a:lnSpc>
                        <a:spcBef>
                          <a:spcPts val="0"/>
                        </a:spcBef>
                        <a:spcAft>
                          <a:spcPts val="0"/>
                        </a:spcAft>
                        <a:buFont typeface="Arial" panose="020B0604020202020204" pitchFamily="34" charset="0"/>
                        <a:buChar char="•"/>
                      </a:pPr>
                      <a:r>
                        <a:rPr lang="en-US" sz="900" b="0" i="0" u="none" strike="noStrike" kern="1200" noProof="0">
                          <a:solidFill>
                            <a:schemeClr val="tx1"/>
                          </a:solidFill>
                          <a:latin typeface="+mn-lt"/>
                        </a:rPr>
                        <a:t>Improved document control and audit traceability</a:t>
                      </a:r>
                    </a:p>
                    <a:p>
                      <a:pPr marL="171450" lvl="0" indent="-171450" algn="l">
                        <a:lnSpc>
                          <a:spcPct val="100000"/>
                        </a:lnSpc>
                        <a:spcBef>
                          <a:spcPts val="0"/>
                        </a:spcBef>
                        <a:spcAft>
                          <a:spcPts val="0"/>
                        </a:spcAft>
                        <a:buFont typeface="Arial" panose="020B0604020202020204" pitchFamily="34" charset="0"/>
                        <a:buChar char="•"/>
                      </a:pPr>
                      <a:r>
                        <a:rPr lang="en-US" sz="900" b="0" i="0" u="none" strike="noStrike" kern="1200" noProof="0">
                          <a:solidFill>
                            <a:schemeClr val="tx1"/>
                          </a:solidFill>
                          <a:latin typeface="+mn-lt"/>
                        </a:rPr>
                        <a:t>Enhanced operational efficiency through workflow automation</a:t>
                      </a:r>
                    </a:p>
                    <a:p>
                      <a:pPr marL="171450" lvl="0" indent="-171450" algn="l">
                        <a:lnSpc>
                          <a:spcPct val="100000"/>
                        </a:lnSpc>
                        <a:spcBef>
                          <a:spcPts val="0"/>
                        </a:spcBef>
                        <a:spcAft>
                          <a:spcPts val="0"/>
                        </a:spcAft>
                        <a:buFont typeface="Arial" panose="020B0604020202020204" pitchFamily="34" charset="0"/>
                        <a:buChar char="•"/>
                      </a:pPr>
                      <a:r>
                        <a:rPr lang="en-US" sz="900" b="0" i="0" u="none" strike="noStrike" kern="1200" noProof="0">
                          <a:solidFill>
                            <a:schemeClr val="tx1"/>
                          </a:solidFill>
                          <a:latin typeface="+mn-lt"/>
                        </a:rPr>
                        <a:t>Cost optimization through reduction in manual processes and paper usage</a:t>
                      </a:r>
                    </a:p>
                    <a:p>
                      <a:pPr marL="171450" lvl="0" indent="-171450" algn="l">
                        <a:lnSpc>
                          <a:spcPct val="100000"/>
                        </a:lnSpc>
                        <a:spcBef>
                          <a:spcPts val="0"/>
                        </a:spcBef>
                        <a:spcAft>
                          <a:spcPts val="0"/>
                        </a:spcAft>
                        <a:buFont typeface="Arial" panose="020B0604020202020204" pitchFamily="34" charset="0"/>
                        <a:buChar char="•"/>
                      </a:pPr>
                      <a:r>
                        <a:rPr lang="en-US" sz="900" b="0" i="0" u="none" strike="noStrike" kern="1200" noProof="0">
                          <a:solidFill>
                            <a:schemeClr val="tx1"/>
                          </a:solidFill>
                          <a:latin typeface="+mn-lt"/>
                        </a:rPr>
                        <a:t>Centralized document repository ensuring a single source of truth</a:t>
                      </a: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lvl="0" indent="0" algn="ctr">
                        <a:lnSpc>
                          <a:spcPct val="100000"/>
                        </a:lnSpc>
                        <a:spcBef>
                          <a:spcPts val="0"/>
                        </a:spcBef>
                        <a:spcAft>
                          <a:spcPts val="0"/>
                        </a:spcAft>
                        <a:buFont typeface="Arial" panose="020B0604020202020204" pitchFamily="34" charset="0"/>
                        <a:buNone/>
                      </a:pPr>
                      <a:r>
                        <a:rPr lang="en-US" sz="900" b="1" i="0" u="none" strike="noStrike">
                          <a:solidFill>
                            <a:schemeClr val="tx1"/>
                          </a:solidFill>
                          <a:effectLst/>
                          <a:latin typeface="+mn-lt"/>
                        </a:rPr>
                        <a:t>25</a:t>
                      </a:r>
                      <a:r>
                        <a:rPr lang="en-US" sz="900" b="1" i="0" u="none" strike="noStrike" baseline="30000">
                          <a:solidFill>
                            <a:schemeClr val="tx1"/>
                          </a:solidFill>
                          <a:effectLst/>
                          <a:latin typeface="+mn-lt"/>
                        </a:rPr>
                        <a:t> </a:t>
                      </a:r>
                      <a:r>
                        <a:rPr lang="en-US" sz="900" b="1" i="0" u="none" strike="noStrike">
                          <a:solidFill>
                            <a:schemeClr val="tx1"/>
                          </a:solidFill>
                          <a:effectLst/>
                          <a:latin typeface="+mn-lt"/>
                        </a:rPr>
                        <a:t>Sep 2026</a:t>
                      </a:r>
                      <a:endParaRPr lang="en-US" sz="900" b="0" i="0" u="none" strike="noStrike" kern="1200" noProof="0">
                        <a:solidFill>
                          <a:schemeClr val="tx1"/>
                        </a:solidFill>
                        <a:latin typeface="+mn-lt"/>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lvl="0" indent="0" algn="ctr">
                        <a:lnSpc>
                          <a:spcPct val="100000"/>
                        </a:lnSpc>
                        <a:spcBef>
                          <a:spcPts val="0"/>
                        </a:spcBef>
                        <a:spcAft>
                          <a:spcPts val="0"/>
                        </a:spcAft>
                        <a:buFont typeface="Arial" panose="020B0604020202020204" pitchFamily="34" charset="0"/>
                        <a:buNone/>
                      </a:pPr>
                      <a:r>
                        <a:rPr lang="en-US" sz="900" b="0" i="0" u="none" strike="noStrike" kern="1200" noProof="0">
                          <a:solidFill>
                            <a:schemeClr val="tx1"/>
                          </a:solidFill>
                          <a:latin typeface="+mn-lt"/>
                        </a:rPr>
                        <a:t>No</a:t>
                      </a:r>
                    </a:p>
                  </a:txBody>
                  <a:tcPr>
                    <a:lnL w="6350" cap="flat" cmpd="sng" algn="ctr">
                      <a:solidFill>
                        <a:schemeClr val="bg1">
                          <a:lumMod val="75000"/>
                        </a:schemeClr>
                      </a:solidFill>
                      <a:prstDash val="solid"/>
                      <a:round/>
                      <a:headEnd type="none" w="med" len="med"/>
                      <a:tailEnd type="none" w="med" len="med"/>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065781384"/>
                  </a:ext>
                </a:extLst>
              </a:tr>
              <a:tr h="208061">
                <a:tc>
                  <a:txBody>
                    <a:bodyPr/>
                    <a:lstStyle/>
                    <a:p>
                      <a:pPr marL="0" lvl="0" indent="0" algn="l">
                        <a:lnSpc>
                          <a:spcPct val="100000"/>
                        </a:lnSpc>
                        <a:spcBef>
                          <a:spcPts val="0"/>
                        </a:spcBef>
                        <a:spcAft>
                          <a:spcPts val="0"/>
                        </a:spcAft>
                        <a:buNone/>
                      </a:pPr>
                      <a:r>
                        <a:rPr lang="en-US" sz="900" b="1" i="0" u="none" strike="noStrike" kern="1200">
                          <a:solidFill>
                            <a:schemeClr val="tx1"/>
                          </a:solidFill>
                          <a:latin typeface="+mn-lt"/>
                          <a:ea typeface="+mn-ea"/>
                          <a:cs typeface="+mn-cs"/>
                        </a:rPr>
                        <a:t>GE- ELB Fuel Uplift integration</a:t>
                      </a:r>
                    </a:p>
                    <a:p>
                      <a:pPr marL="0" lvl="0" indent="0" algn="l">
                        <a:lnSpc>
                          <a:spcPct val="100000"/>
                        </a:lnSpc>
                        <a:spcBef>
                          <a:spcPts val="0"/>
                        </a:spcBef>
                        <a:spcAft>
                          <a:spcPts val="0"/>
                        </a:spcAft>
                        <a:buNone/>
                      </a:pPr>
                      <a:r>
                        <a:rPr lang="en-US" sz="900" b="1" i="0" u="none" strike="noStrike" kern="1200">
                          <a:solidFill>
                            <a:schemeClr val="tx1"/>
                          </a:solidFill>
                          <a:latin typeface="+mn-lt"/>
                          <a:ea typeface="+mn-ea"/>
                          <a:cs typeface="+mn-cs"/>
                        </a:rPr>
                        <a:t>Go Live 25</a:t>
                      </a:r>
                      <a:r>
                        <a:rPr lang="en-US" sz="900" b="1" i="0" u="none" strike="noStrike" kern="1200" baseline="30000">
                          <a:solidFill>
                            <a:schemeClr val="tx1"/>
                          </a:solidFill>
                          <a:latin typeface="+mn-lt"/>
                          <a:ea typeface="+mn-ea"/>
                          <a:cs typeface="+mn-cs"/>
                        </a:rPr>
                        <a:t>th</a:t>
                      </a:r>
                      <a:r>
                        <a:rPr lang="en-US" sz="900" b="1" i="0" u="none" strike="noStrike" kern="1200">
                          <a:solidFill>
                            <a:schemeClr val="tx1"/>
                          </a:solidFill>
                          <a:latin typeface="+mn-lt"/>
                          <a:ea typeface="+mn-ea"/>
                          <a:cs typeface="+mn-cs"/>
                        </a:rPr>
                        <a:t> Sep 2026</a:t>
                      </a:r>
                    </a:p>
                  </a:txBody>
                  <a:tcP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lvl="0" indent="0" algn="l">
                        <a:lnSpc>
                          <a:spcPct val="100000"/>
                        </a:lnSpc>
                        <a:spcBef>
                          <a:spcPts val="0"/>
                        </a:spcBef>
                        <a:spcAft>
                          <a:spcPts val="0"/>
                        </a:spcAft>
                        <a:buNone/>
                      </a:pPr>
                      <a:r>
                        <a:rPr lang="en-US" sz="900" b="1" i="0" u="none" strike="noStrike" kern="1200" noProof="0">
                          <a:solidFill>
                            <a:schemeClr val="tx1"/>
                          </a:solidFill>
                          <a:latin typeface="+mn-lt"/>
                        </a:rPr>
                        <a:t>GE Fuel Analytics</a:t>
                      </a: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171450" lvl="0" indent="-171450" algn="just">
                        <a:lnSpc>
                          <a:spcPct val="100000"/>
                        </a:lnSpc>
                        <a:spcBef>
                          <a:spcPts val="0"/>
                        </a:spcBef>
                        <a:spcAft>
                          <a:spcPts val="0"/>
                        </a:spcAft>
                        <a:buFont typeface="Arial" panose="020B0604020202020204" pitchFamily="34" charset="0"/>
                        <a:buChar char="•"/>
                      </a:pPr>
                      <a:r>
                        <a:rPr lang="en-US" sz="900" b="0" i="0" u="none" strike="noStrike" kern="1200" noProof="0">
                          <a:solidFill>
                            <a:schemeClr val="tx1"/>
                          </a:solidFill>
                          <a:latin typeface="+mn-lt"/>
                          <a:ea typeface="+mn-ea"/>
                          <a:cs typeface="Segoe UI"/>
                        </a:rPr>
                        <a:t>Reduction of manual effort for cross checking of invoice to understand fuel uplift</a:t>
                      </a:r>
                    </a:p>
                    <a:p>
                      <a:pPr marL="171450" lvl="0" indent="-171450" algn="just">
                        <a:lnSpc>
                          <a:spcPct val="100000"/>
                        </a:lnSpc>
                        <a:spcBef>
                          <a:spcPts val="0"/>
                        </a:spcBef>
                        <a:spcAft>
                          <a:spcPts val="0"/>
                        </a:spcAft>
                        <a:buFont typeface="Arial" panose="020B0604020202020204" pitchFamily="34" charset="0"/>
                        <a:buChar char="•"/>
                      </a:pPr>
                      <a:r>
                        <a:rPr lang="en-US" sz="900" b="0" i="0" u="none" strike="noStrike" kern="1200" noProof="0">
                          <a:solidFill>
                            <a:schemeClr val="tx1"/>
                          </a:solidFill>
                          <a:latin typeface="+mn-lt"/>
                          <a:ea typeface="+mn-ea"/>
                          <a:cs typeface="Segoe UI"/>
                        </a:rPr>
                        <a:t>Improves optimization of fuel savings initiative</a:t>
                      </a: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lvl="0" indent="0" algn="ctr">
                        <a:lnSpc>
                          <a:spcPct val="100000"/>
                        </a:lnSpc>
                        <a:spcBef>
                          <a:spcPts val="0"/>
                        </a:spcBef>
                        <a:spcAft>
                          <a:spcPts val="0"/>
                        </a:spcAft>
                        <a:buFont typeface="Arial" panose="020B0604020202020204" pitchFamily="34" charset="0"/>
                        <a:buNone/>
                      </a:pPr>
                      <a:r>
                        <a:rPr lang="en-US" sz="900" b="1" i="0" u="none" strike="noStrike">
                          <a:solidFill>
                            <a:schemeClr val="tx1"/>
                          </a:solidFill>
                          <a:effectLst/>
                          <a:latin typeface="+mn-lt"/>
                        </a:rPr>
                        <a:t>25</a:t>
                      </a:r>
                      <a:r>
                        <a:rPr lang="en-US" sz="900" b="1" i="0" u="none" strike="noStrike" baseline="30000">
                          <a:solidFill>
                            <a:schemeClr val="tx1"/>
                          </a:solidFill>
                          <a:effectLst/>
                          <a:latin typeface="+mn-lt"/>
                        </a:rPr>
                        <a:t> </a:t>
                      </a:r>
                      <a:r>
                        <a:rPr lang="en-US" sz="900" b="1" i="0" u="none" strike="noStrike">
                          <a:solidFill>
                            <a:schemeClr val="tx1"/>
                          </a:solidFill>
                          <a:effectLst/>
                          <a:latin typeface="+mn-lt"/>
                        </a:rPr>
                        <a:t>Sep 2026</a:t>
                      </a:r>
                      <a:endParaRPr lang="en-US" sz="900" b="0" i="0" u="none" strike="noStrike" kern="1200" noProof="0">
                        <a:solidFill>
                          <a:schemeClr val="tx1"/>
                        </a:solidFill>
                        <a:latin typeface="+mn-lt"/>
                        <a:ea typeface="+mn-ea"/>
                        <a:cs typeface="Segoe UI"/>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lvl="0" indent="0" algn="ctr">
                        <a:lnSpc>
                          <a:spcPct val="100000"/>
                        </a:lnSpc>
                        <a:spcBef>
                          <a:spcPts val="0"/>
                        </a:spcBef>
                        <a:spcAft>
                          <a:spcPts val="0"/>
                        </a:spcAft>
                        <a:buFont typeface="Arial" panose="020B0604020202020204" pitchFamily="34" charset="0"/>
                        <a:buNone/>
                      </a:pPr>
                      <a:r>
                        <a:rPr lang="en-US" sz="900" b="0" i="0" u="none" strike="noStrike" kern="1200" noProof="0">
                          <a:solidFill>
                            <a:schemeClr val="tx1"/>
                          </a:solidFill>
                          <a:latin typeface="+mn-lt"/>
                          <a:ea typeface="+mn-ea"/>
                          <a:cs typeface="Segoe UI"/>
                        </a:rPr>
                        <a:t>No</a:t>
                      </a:r>
                    </a:p>
                  </a:txBody>
                  <a:tcPr>
                    <a:lnL w="6350" cap="flat" cmpd="sng" algn="ctr">
                      <a:solidFill>
                        <a:schemeClr val="bg1">
                          <a:lumMod val="75000"/>
                        </a:schemeClr>
                      </a:solidFill>
                      <a:prstDash val="solid"/>
                      <a:round/>
                      <a:headEnd type="none" w="med" len="med"/>
                      <a:tailEnd type="none" w="med" len="med"/>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195806605"/>
                  </a:ext>
                </a:extLst>
              </a:tr>
              <a:tr h="208061">
                <a:tc>
                  <a:txBody>
                    <a:bodyPr/>
                    <a:lstStyle/>
                    <a:p>
                      <a:pPr marL="0" lvl="0" indent="0" algn="l" defTabSz="914400" rtl="0" eaLnBrk="1" fontAlgn="base" latinLnBrk="0" hangingPunct="1">
                        <a:lnSpc>
                          <a:spcPct val="100000"/>
                        </a:lnSpc>
                        <a:spcBef>
                          <a:spcPts val="0"/>
                        </a:spcBef>
                        <a:spcAft>
                          <a:spcPts val="0"/>
                        </a:spcAft>
                        <a:buNone/>
                      </a:pPr>
                      <a:r>
                        <a:rPr lang="en-US" sz="900" b="1" i="0" u="none" strike="noStrike" kern="1200">
                          <a:solidFill>
                            <a:schemeClr val="tx1"/>
                          </a:solidFill>
                          <a:latin typeface="+mn-lt"/>
                          <a:ea typeface="+mn-ea"/>
                          <a:cs typeface="+mn-cs"/>
                        </a:rPr>
                        <a:t>AVSEC lift and Shift </a:t>
                      </a:r>
                    </a:p>
                    <a:p>
                      <a:pPr marL="0" marR="0" lvl="0" indent="0" algn="l" defTabSz="914400" rtl="0" eaLnBrk="1" fontAlgn="base" latinLnBrk="0" hangingPunct="1">
                        <a:lnSpc>
                          <a:spcPct val="100000"/>
                        </a:lnSpc>
                        <a:spcBef>
                          <a:spcPts val="0"/>
                        </a:spcBef>
                        <a:spcAft>
                          <a:spcPts val="0"/>
                        </a:spcAft>
                        <a:buClrTx/>
                        <a:buSzTx/>
                        <a:buFontTx/>
                        <a:buNone/>
                        <a:tabLst/>
                        <a:defRPr/>
                      </a:pPr>
                      <a:r>
                        <a:rPr lang="en-US" sz="900" b="1" i="0" u="none" strike="noStrike" kern="1200">
                          <a:solidFill>
                            <a:schemeClr val="tx1"/>
                          </a:solidFill>
                          <a:latin typeface="+mn-lt"/>
                          <a:ea typeface="+mn-ea"/>
                          <a:cs typeface="+mn-cs"/>
                        </a:rPr>
                        <a:t>Go Live 25th Sep 2026</a:t>
                      </a:r>
                    </a:p>
                  </a:txBody>
                  <a:tcP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lvl="0" indent="0" algn="l">
                        <a:lnSpc>
                          <a:spcPct val="100000"/>
                        </a:lnSpc>
                        <a:spcBef>
                          <a:spcPts val="0"/>
                        </a:spcBef>
                        <a:spcAft>
                          <a:spcPts val="0"/>
                        </a:spcAft>
                        <a:buNone/>
                      </a:pPr>
                      <a:r>
                        <a:rPr lang="en-US" sz="900" b="1" i="0" u="none" strike="noStrike" kern="1200" noProof="0">
                          <a:solidFill>
                            <a:schemeClr val="tx1"/>
                          </a:solidFill>
                          <a:latin typeface="+mn-lt"/>
                        </a:rPr>
                        <a:t>AVSEC STEP portal</a:t>
                      </a: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b="0" i="0" u="none" strike="noStrike" kern="1200">
                          <a:solidFill>
                            <a:schemeClr val="tx1"/>
                          </a:solidFill>
                          <a:latin typeface="+mn-lt"/>
                          <a:ea typeface="+mn-ea"/>
                          <a:cs typeface="+mn-cs"/>
                        </a:rPr>
                        <a:t>Mandatory exam portal for AVSEC exams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b="0" i="0" u="none" strike="noStrike" kern="1200">
                          <a:solidFill>
                            <a:schemeClr val="tx1"/>
                          </a:solidFill>
                          <a:latin typeface="+mn-lt"/>
                          <a:ea typeface="+mn-ea"/>
                          <a:cs typeface="+mn-cs"/>
                        </a:rPr>
                        <a:t>This is a regulatory requirement</a:t>
                      </a: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900" b="1" i="0" u="none" strike="noStrike">
                          <a:solidFill>
                            <a:schemeClr val="tx1"/>
                          </a:solidFill>
                          <a:effectLst/>
                          <a:latin typeface="+mn-lt"/>
                        </a:rPr>
                        <a:t>25</a:t>
                      </a:r>
                      <a:r>
                        <a:rPr lang="en-US" sz="900" b="1" i="0" u="none" strike="noStrike" baseline="30000">
                          <a:solidFill>
                            <a:schemeClr val="tx1"/>
                          </a:solidFill>
                          <a:effectLst/>
                          <a:latin typeface="+mn-lt"/>
                        </a:rPr>
                        <a:t> </a:t>
                      </a:r>
                      <a:r>
                        <a:rPr lang="en-US" sz="900" b="1" i="0" u="none" strike="noStrike">
                          <a:solidFill>
                            <a:schemeClr val="tx1"/>
                          </a:solidFill>
                          <a:effectLst/>
                          <a:latin typeface="+mn-lt"/>
                        </a:rPr>
                        <a:t>Sep 2026</a:t>
                      </a:r>
                      <a:endParaRPr lang="en-US" sz="900" b="0" i="0" u="none" strike="noStrike" kern="1200">
                        <a:solidFill>
                          <a:schemeClr val="tx1"/>
                        </a:solidFill>
                        <a:latin typeface="+mn-lt"/>
                        <a:ea typeface="+mn-ea"/>
                        <a:cs typeface="+mn-cs"/>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900" b="0" i="0" u="none" strike="noStrike" kern="1200">
                          <a:solidFill>
                            <a:schemeClr val="tx1"/>
                          </a:solidFill>
                          <a:latin typeface="+mn-lt"/>
                          <a:ea typeface="+mn-ea"/>
                          <a:cs typeface="+mn-cs"/>
                        </a:rPr>
                        <a:t>No</a:t>
                      </a:r>
                    </a:p>
                  </a:txBody>
                  <a:tcPr>
                    <a:lnL w="6350" cap="flat" cmpd="sng" algn="ctr">
                      <a:solidFill>
                        <a:schemeClr val="bg1">
                          <a:lumMod val="75000"/>
                        </a:schemeClr>
                      </a:solidFill>
                      <a:prstDash val="solid"/>
                      <a:round/>
                      <a:headEnd type="none" w="med" len="med"/>
                      <a:tailEnd type="none" w="med" len="med"/>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654565593"/>
                  </a:ext>
                </a:extLst>
              </a:tr>
              <a:tr h="208061">
                <a:tc>
                  <a:txBody>
                    <a:bodyPr/>
                    <a:lstStyle/>
                    <a:p>
                      <a:pPr marL="0" lvl="0" algn="l">
                        <a:lnSpc>
                          <a:spcPts val="1425"/>
                        </a:lnSpc>
                        <a:buNone/>
                      </a:pPr>
                      <a:r>
                        <a:rPr lang="en-US" sz="800" b="1" i="0" u="none" strike="noStrike" kern="1200" noProof="0">
                          <a:solidFill>
                            <a:srgbClr val="00B050"/>
                          </a:solidFill>
                          <a:effectLst/>
                          <a:latin typeface="+mn-lt"/>
                          <a:ea typeface="+mn-ea"/>
                          <a:cs typeface="+mn-cs"/>
                        </a:rPr>
                        <a:t>AI/AIX UAE Crew APIS integration from CAE to UAE NAIC System</a:t>
                      </a:r>
                    </a:p>
                  </a:txBody>
                  <a:tcP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1" i="0" u="none" strike="noStrike" kern="1200" noProof="0">
                          <a:solidFill>
                            <a:schemeClr val="tx1"/>
                          </a:solidFill>
                          <a:effectLst/>
                          <a:latin typeface="+mn-lt"/>
                          <a:ea typeface="+mn-ea"/>
                          <a:cs typeface="+mn-cs"/>
                        </a:rPr>
                        <a:t>Integration</a:t>
                      </a: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171450" lvl="0" indent="-171450" algn="l" defTabSz="914400" rtl="0" eaLnBrk="1" fontAlgn="t" latinLnBrk="0" hangingPunct="1">
                        <a:lnSpc>
                          <a:spcPts val="1500"/>
                        </a:lnSpc>
                        <a:buFont typeface="Arial"/>
                        <a:buChar char="•"/>
                      </a:pPr>
                      <a:r>
                        <a:rPr lang="en-US" sz="900" b="0" i="0" u="none" strike="noStrike" kern="1200">
                          <a:solidFill>
                            <a:srgbClr val="000000"/>
                          </a:solidFill>
                          <a:effectLst/>
                          <a:latin typeface="+mn-lt"/>
                          <a:ea typeface="+mn-ea"/>
                          <a:cs typeface="+mn-cs"/>
                        </a:rPr>
                        <a:t>Enabled direct Crew APIS submission from CAE to the UAE NAIC system, ensuring compliance with UAE Government regulations and eliminating dependency on the SITA network. The integration improves data reliability, security, and operational continuity while reducing regulatory and transmission risks.</a:t>
                      </a:r>
                      <a:endParaRPr lang="en-IN" sz="900" b="0" i="0" u="none" strike="noStrike" kern="1200">
                        <a:solidFill>
                          <a:srgbClr val="000000"/>
                        </a:solidFill>
                        <a:effectLst/>
                        <a:latin typeface="+mn-lt"/>
                        <a:ea typeface="+mn-ea"/>
                        <a:cs typeface="+mn-cs"/>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lvl="0" indent="0" algn="ctr">
                        <a:lnSpc>
                          <a:spcPts val="1425"/>
                        </a:lnSpc>
                        <a:buFont typeface="Arial"/>
                        <a:buNone/>
                      </a:pPr>
                      <a:r>
                        <a:rPr kumimoji="0" lang="en-US" sz="900" b="1" i="0" u="none" strike="noStrike" kern="1200" cap="none" spc="0" normalizeH="0" baseline="0" noProof="0">
                          <a:ln>
                            <a:noFill/>
                          </a:ln>
                          <a:solidFill>
                            <a:srgbClr val="000000"/>
                          </a:solidFill>
                          <a:effectLst/>
                          <a:uLnTx/>
                          <a:uFillTx/>
                          <a:latin typeface="+mn-lt"/>
                          <a:ea typeface="+mn-ea"/>
                          <a:cs typeface="+mn-cs"/>
                        </a:rPr>
                        <a:t>15 Sep 2026</a:t>
                      </a:r>
                      <a:endParaRPr kumimoji="0" lang="en-US" sz="900" b="1" i="0" u="none" strike="noStrike" kern="1200" cap="none" spc="0" normalizeH="0" baseline="0">
                        <a:ln>
                          <a:noFill/>
                        </a:ln>
                        <a:solidFill>
                          <a:srgbClr val="000000"/>
                        </a:solidFill>
                        <a:effectLst/>
                        <a:uLnTx/>
                        <a:uFillTx/>
                        <a:latin typeface="+mn-lt"/>
                        <a:ea typeface="+mn-ea"/>
                        <a:cs typeface="+mn-cs"/>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ts val="1425"/>
                        </a:lnSpc>
                        <a:spcBef>
                          <a:spcPts val="0"/>
                        </a:spcBef>
                        <a:spcAft>
                          <a:spcPts val="0"/>
                        </a:spcAft>
                        <a:buClrTx/>
                        <a:buSzTx/>
                        <a:buFont typeface="Arial"/>
                        <a:buNone/>
                        <a:tabLst/>
                        <a:defRPr/>
                      </a:pPr>
                      <a:r>
                        <a:rPr lang="en-US" sz="800"/>
                        <a:t>Yes</a:t>
                      </a:r>
                    </a:p>
                  </a:txBody>
                  <a:tcPr>
                    <a:lnL w="6350" cap="flat" cmpd="sng" algn="ctr">
                      <a:solidFill>
                        <a:schemeClr val="bg1">
                          <a:lumMod val="75000"/>
                        </a:schemeClr>
                      </a:solidFill>
                      <a:prstDash val="solid"/>
                      <a:round/>
                      <a:headEnd type="none" w="med" len="med"/>
                      <a:tailEnd type="none" w="med" len="med"/>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196236185"/>
                  </a:ext>
                </a:extLst>
              </a:tr>
            </a:tbl>
          </a:graphicData>
        </a:graphic>
      </p:graphicFrame>
    </p:spTree>
    <p:extLst>
      <p:ext uri="{BB962C8B-B14F-4D97-AF65-F5344CB8AC3E}">
        <p14:creationId xmlns:p14="http://schemas.microsoft.com/office/powerpoint/2010/main" val="14254811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B2EC87-5F56-EA8E-5976-26BA49A5D67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857CCC4-65D0-8C72-DD46-FD4E910A425F}"/>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3A41A254-7326-714E-AF55-4C213D6394DE}" type="slidenum">
              <a:rPr kumimoji="0" lang="en-US" sz="1200" b="0" i="0" u="none" strike="noStrike" kern="1200" cap="none" spc="0" normalizeH="0" baseline="0" noProof="0" smtClean="0">
                <a:ln>
                  <a:noFill/>
                </a:ln>
                <a:solidFill>
                  <a:srgbClr val="DA0E28"/>
                </a:solidFill>
                <a:effectLst/>
                <a:uLnTx/>
                <a:uFillTx/>
                <a:latin typeface="Nunito Sans"/>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a:ln>
                <a:noFill/>
              </a:ln>
              <a:solidFill>
                <a:srgbClr val="DA0E28"/>
              </a:solidFill>
              <a:effectLst/>
              <a:uLnTx/>
              <a:uFillTx/>
              <a:latin typeface="Nunito Sans"/>
              <a:ea typeface="+mn-ea"/>
              <a:cs typeface="+mn-cs"/>
            </a:endParaRPr>
          </a:p>
        </p:txBody>
      </p:sp>
      <p:sp>
        <p:nvSpPr>
          <p:cNvPr id="3" name="Rectangle 2">
            <a:extLst>
              <a:ext uri="{FF2B5EF4-FFF2-40B4-BE49-F238E27FC236}">
                <a16:creationId xmlns:a16="http://schemas.microsoft.com/office/drawing/2014/main" id="{329B1639-71A4-5949-95DD-4C1AA59B63A1}"/>
              </a:ext>
            </a:extLst>
          </p:cNvPr>
          <p:cNvSpPr/>
          <p:nvPr/>
        </p:nvSpPr>
        <p:spPr>
          <a:xfrm>
            <a:off x="129077" y="610471"/>
            <a:ext cx="1170432" cy="42234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400" b="1" i="0" u="none" strike="noStrike" kern="1200" cap="none" spc="0" normalizeH="0" baseline="0" noProof="0">
                <a:ln>
                  <a:noFill/>
                </a:ln>
                <a:solidFill>
                  <a:srgbClr val="FFFFFF"/>
                </a:solidFill>
                <a:effectLst/>
                <a:uLnTx/>
                <a:uFillTx/>
                <a:latin typeface="AirIndia"/>
                <a:ea typeface="+mn-ea"/>
                <a:cs typeface="+mn-cs"/>
              </a:rPr>
              <a:t>Sep ‘</a:t>
            </a:r>
            <a:r>
              <a:rPr lang="en-IN" sz="1400" b="1">
                <a:solidFill>
                  <a:srgbClr val="FFFFFF"/>
                </a:solidFill>
                <a:latin typeface="AirIndia"/>
              </a:rPr>
              <a:t>26</a:t>
            </a:r>
            <a:endParaRPr kumimoji="0" lang="en-US" sz="1400" b="1" i="0" u="none" strike="noStrike" kern="1200" cap="none" spc="0" normalizeH="0" baseline="0" noProof="0">
              <a:ln>
                <a:noFill/>
              </a:ln>
              <a:solidFill>
                <a:srgbClr val="FFFFFF"/>
              </a:solidFill>
              <a:effectLst/>
              <a:uLnTx/>
              <a:uFillTx/>
              <a:latin typeface="AirIndia"/>
              <a:ea typeface="+mn-ea"/>
              <a:cs typeface="+mn-cs"/>
            </a:endParaRPr>
          </a:p>
        </p:txBody>
      </p:sp>
      <p:sp>
        <p:nvSpPr>
          <p:cNvPr id="6" name="Title 11">
            <a:extLst>
              <a:ext uri="{FF2B5EF4-FFF2-40B4-BE49-F238E27FC236}">
                <a16:creationId xmlns:a16="http://schemas.microsoft.com/office/drawing/2014/main" id="{DB77D029-3B39-81DE-F798-6324AEB760F2}"/>
              </a:ext>
            </a:extLst>
          </p:cNvPr>
          <p:cNvSpPr txBox="1">
            <a:spLocks/>
          </p:cNvSpPr>
          <p:nvPr/>
        </p:nvSpPr>
        <p:spPr>
          <a:xfrm>
            <a:off x="253743" y="182023"/>
            <a:ext cx="7702602" cy="430255"/>
          </a:xfrm>
          <a:prstGeom prst="rect">
            <a:avLst/>
          </a:prstGeom>
        </p:spPr>
        <p:txBody>
          <a:bodyPr lIns="91440" tIns="45720" rIns="91440" bIns="45720" anchor="t">
            <a:noAutofit/>
          </a:bodyPr>
          <a:lstStyle>
            <a:lvl1pPr algn="l" defTabSz="914400" rtl="0" eaLnBrk="1" latinLnBrk="0" hangingPunct="1">
              <a:lnSpc>
                <a:spcPct val="90000"/>
              </a:lnSpc>
              <a:spcBef>
                <a:spcPct val="0"/>
              </a:spcBef>
              <a:buNone/>
              <a:defRPr sz="4400" b="1" i="0" kern="1200">
                <a:solidFill>
                  <a:schemeClr val="tx1"/>
                </a:solidFill>
                <a:latin typeface="AirIndia" pitchFamily="82" charset="77"/>
                <a:ea typeface="+mj-ea"/>
                <a:cs typeface="+mj-cs"/>
              </a:defRPr>
            </a:lvl1pPr>
          </a:lstStyle>
          <a:p>
            <a:pPr>
              <a:defRPr/>
            </a:pPr>
            <a:r>
              <a:rPr lang="en-US" sz="1800">
                <a:solidFill>
                  <a:srgbClr val="DA0E28"/>
                </a:solidFill>
                <a:latin typeface="AirIndia"/>
              </a:rPr>
              <a:t>Operations Tech </a:t>
            </a:r>
            <a:r>
              <a:rPr kumimoji="0" lang="en-US" sz="1800" b="1" i="0" u="none" strike="noStrike" kern="1200" cap="none" spc="0" normalizeH="0" baseline="0" noProof="0">
                <a:ln>
                  <a:noFill/>
                </a:ln>
                <a:solidFill>
                  <a:srgbClr val="DA0E28"/>
                </a:solidFill>
                <a:effectLst/>
                <a:uLnTx/>
                <a:uFillTx/>
                <a:latin typeface="AirIndia"/>
                <a:ea typeface="+mj-ea"/>
                <a:cs typeface="+mj-cs"/>
              </a:rPr>
              <a:t>- </a:t>
            </a:r>
            <a:r>
              <a:rPr lang="en-US" sz="1800">
                <a:solidFill>
                  <a:srgbClr val="DA0E28"/>
                </a:solidFill>
                <a:latin typeface="AirIndia"/>
              </a:rPr>
              <a:t>FY26-27 </a:t>
            </a:r>
            <a:r>
              <a:rPr kumimoji="0" lang="en-US" sz="1800" b="1" i="0" u="none" strike="noStrike" kern="1200" cap="none" spc="0" normalizeH="0" baseline="0" noProof="0">
                <a:ln>
                  <a:noFill/>
                </a:ln>
                <a:solidFill>
                  <a:srgbClr val="DA0E28"/>
                </a:solidFill>
                <a:effectLst/>
                <a:uLnTx/>
                <a:uFillTx/>
                <a:latin typeface="AirIndia"/>
                <a:ea typeface="+mj-ea"/>
                <a:cs typeface="+mj-cs"/>
              </a:rPr>
              <a:t>Q2 Release Plan</a:t>
            </a:r>
            <a:endParaRPr lang="en-US" sz="1800" b="0">
              <a:solidFill>
                <a:srgbClr val="000000"/>
              </a:solidFill>
              <a:latin typeface="AirIndia"/>
            </a:endParaRPr>
          </a:p>
          <a:p>
            <a:pPr>
              <a:defRPr/>
            </a:pPr>
            <a:endParaRPr lang="en-US" sz="1800" i="0" u="none" strike="noStrike" kern="1200" cap="none" spc="0" normalizeH="0" baseline="0" noProof="0">
              <a:ln>
                <a:noFill/>
              </a:ln>
              <a:solidFill>
                <a:srgbClr val="DA0E28"/>
              </a:solidFill>
              <a:effectLst/>
              <a:uLnTx/>
              <a:uFillTx/>
              <a:latin typeface="AirIndia"/>
            </a:endParaRPr>
          </a:p>
        </p:txBody>
      </p:sp>
      <p:sp>
        <p:nvSpPr>
          <p:cNvPr id="4" name="Rectangle 3">
            <a:extLst>
              <a:ext uri="{FF2B5EF4-FFF2-40B4-BE49-F238E27FC236}">
                <a16:creationId xmlns:a16="http://schemas.microsoft.com/office/drawing/2014/main" id="{A0A9D487-D747-3DB9-88FD-E4E86B5A3E81}"/>
              </a:ext>
            </a:extLst>
          </p:cNvPr>
          <p:cNvSpPr/>
          <p:nvPr/>
        </p:nvSpPr>
        <p:spPr>
          <a:xfrm>
            <a:off x="1188132" y="6671592"/>
            <a:ext cx="90000" cy="90000"/>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5" name="Rectangle 4">
            <a:extLst>
              <a:ext uri="{FF2B5EF4-FFF2-40B4-BE49-F238E27FC236}">
                <a16:creationId xmlns:a16="http://schemas.microsoft.com/office/drawing/2014/main" id="{FE340F46-B9ED-A7F1-AD24-4CEA5592D4AD}"/>
              </a:ext>
            </a:extLst>
          </p:cNvPr>
          <p:cNvSpPr/>
          <p:nvPr/>
        </p:nvSpPr>
        <p:spPr>
          <a:xfrm>
            <a:off x="2265818" y="6670554"/>
            <a:ext cx="90000" cy="90000"/>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7" name="Rectangle 6">
            <a:extLst>
              <a:ext uri="{FF2B5EF4-FFF2-40B4-BE49-F238E27FC236}">
                <a16:creationId xmlns:a16="http://schemas.microsoft.com/office/drawing/2014/main" id="{6FFA8012-B5D6-9370-B623-566F67AFF717}"/>
              </a:ext>
            </a:extLst>
          </p:cNvPr>
          <p:cNvSpPr/>
          <p:nvPr/>
        </p:nvSpPr>
        <p:spPr>
          <a:xfrm>
            <a:off x="3443423" y="6671592"/>
            <a:ext cx="90000" cy="90000"/>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8" name="Rectangle 7">
            <a:extLst>
              <a:ext uri="{FF2B5EF4-FFF2-40B4-BE49-F238E27FC236}">
                <a16:creationId xmlns:a16="http://schemas.microsoft.com/office/drawing/2014/main" id="{1DE5762E-A8FA-5C23-8388-0F01C4283999}"/>
              </a:ext>
            </a:extLst>
          </p:cNvPr>
          <p:cNvSpPr/>
          <p:nvPr/>
        </p:nvSpPr>
        <p:spPr>
          <a:xfrm>
            <a:off x="8146052" y="6714097"/>
            <a:ext cx="90000" cy="90000"/>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9" name="TextBox 15">
            <a:extLst>
              <a:ext uri="{FF2B5EF4-FFF2-40B4-BE49-F238E27FC236}">
                <a16:creationId xmlns:a16="http://schemas.microsoft.com/office/drawing/2014/main" id="{AD478113-8C1E-CB85-2764-4283210FC22E}"/>
              </a:ext>
            </a:extLst>
          </p:cNvPr>
          <p:cNvSpPr txBox="1"/>
          <p:nvPr/>
        </p:nvSpPr>
        <p:spPr>
          <a:xfrm>
            <a:off x="1288983" y="6614743"/>
            <a:ext cx="857245"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0070C0"/>
                </a:solidFill>
                <a:effectLst/>
                <a:uLnTx/>
                <a:uFillTx/>
                <a:latin typeface="Nunito Sans"/>
                <a:ea typeface="+mn-ea"/>
                <a:cs typeface="+mn-cs"/>
              </a:rPr>
              <a:t>Delivered</a:t>
            </a:r>
            <a:endParaRPr kumimoji="0" lang="en-IN" sz="1000" b="0" i="0" u="none" strike="noStrike" kern="1200" cap="none" spc="0" normalizeH="0" baseline="0" noProof="0">
              <a:ln>
                <a:noFill/>
              </a:ln>
              <a:solidFill>
                <a:srgbClr val="000000"/>
              </a:solidFill>
              <a:effectLst/>
              <a:uLnTx/>
              <a:uFillTx/>
              <a:latin typeface="Nunito Sans"/>
              <a:ea typeface="+mn-ea"/>
              <a:cs typeface="+mn-cs"/>
            </a:endParaRPr>
          </a:p>
        </p:txBody>
      </p:sp>
      <p:sp>
        <p:nvSpPr>
          <p:cNvPr id="10" name="TextBox 18">
            <a:extLst>
              <a:ext uri="{FF2B5EF4-FFF2-40B4-BE49-F238E27FC236}">
                <a16:creationId xmlns:a16="http://schemas.microsoft.com/office/drawing/2014/main" id="{5C4246F2-317A-2E2B-586A-F412BE93777B}"/>
              </a:ext>
            </a:extLst>
          </p:cNvPr>
          <p:cNvSpPr txBox="1"/>
          <p:nvPr/>
        </p:nvSpPr>
        <p:spPr>
          <a:xfrm>
            <a:off x="2310642" y="6611102"/>
            <a:ext cx="1032881"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00B050"/>
                </a:solidFill>
                <a:effectLst/>
                <a:uLnTx/>
                <a:uFillTx/>
                <a:latin typeface="Nunito Sans"/>
                <a:ea typeface="+mn-ea"/>
                <a:cs typeface="+mn-cs"/>
              </a:rPr>
              <a:t>Ontrack</a:t>
            </a:r>
            <a:endParaRPr kumimoji="0" lang="en-IN" sz="1000" b="0" i="0" u="none" strike="noStrike" kern="1200" cap="none" spc="0" normalizeH="0" baseline="0" noProof="0">
              <a:ln>
                <a:noFill/>
              </a:ln>
              <a:solidFill>
                <a:srgbClr val="000000"/>
              </a:solidFill>
              <a:effectLst/>
              <a:uLnTx/>
              <a:uFillTx/>
              <a:latin typeface="Nunito Sans"/>
              <a:ea typeface="+mn-ea"/>
              <a:cs typeface="+mn-cs"/>
            </a:endParaRPr>
          </a:p>
        </p:txBody>
      </p:sp>
      <p:sp>
        <p:nvSpPr>
          <p:cNvPr id="11" name="TextBox 20">
            <a:extLst>
              <a:ext uri="{FF2B5EF4-FFF2-40B4-BE49-F238E27FC236}">
                <a16:creationId xmlns:a16="http://schemas.microsoft.com/office/drawing/2014/main" id="{75FC9E49-EAB8-C928-5B7F-72BD98B21599}"/>
              </a:ext>
            </a:extLst>
          </p:cNvPr>
          <p:cNvSpPr txBox="1"/>
          <p:nvPr/>
        </p:nvSpPr>
        <p:spPr>
          <a:xfrm>
            <a:off x="3539606" y="6608370"/>
            <a:ext cx="2257628"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FED9A0">
                    <a:lumMod val="75000"/>
                  </a:srgbClr>
                </a:solidFill>
                <a:effectLst/>
                <a:uLnTx/>
                <a:uFillTx/>
                <a:latin typeface="Nunito Sans"/>
                <a:ea typeface="+mn-ea"/>
                <a:cs typeface="+mn-cs"/>
              </a:rPr>
              <a:t>Under delay and can be recovered</a:t>
            </a:r>
            <a:endParaRPr kumimoji="0" lang="en-IN" sz="1000" b="0" i="0" u="none" strike="noStrike" kern="1200" cap="none" spc="0" normalizeH="0" baseline="0" noProof="0">
              <a:ln>
                <a:noFill/>
              </a:ln>
              <a:solidFill>
                <a:srgbClr val="000000"/>
              </a:solidFill>
              <a:effectLst/>
              <a:uLnTx/>
              <a:uFillTx/>
              <a:latin typeface="Nunito Sans"/>
              <a:ea typeface="+mn-ea"/>
              <a:cs typeface="+mn-cs"/>
            </a:endParaRPr>
          </a:p>
        </p:txBody>
      </p:sp>
      <p:sp>
        <p:nvSpPr>
          <p:cNvPr id="13" name="TextBox 22">
            <a:extLst>
              <a:ext uri="{FF2B5EF4-FFF2-40B4-BE49-F238E27FC236}">
                <a16:creationId xmlns:a16="http://schemas.microsoft.com/office/drawing/2014/main" id="{A9E945D6-750A-EE45-AB8D-8CB0F0D63328}"/>
              </a:ext>
            </a:extLst>
          </p:cNvPr>
          <p:cNvSpPr txBox="1"/>
          <p:nvPr/>
        </p:nvSpPr>
        <p:spPr>
          <a:xfrm>
            <a:off x="8246937" y="6618126"/>
            <a:ext cx="2338222"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FF0000"/>
                </a:solidFill>
                <a:effectLst/>
                <a:uLnTx/>
                <a:uFillTx/>
                <a:latin typeface="Nunito Sans"/>
                <a:ea typeface="+mn-ea"/>
                <a:cs typeface="+mn-cs"/>
              </a:rPr>
              <a:t>Delayed and pushed to next release</a:t>
            </a:r>
          </a:p>
        </p:txBody>
      </p:sp>
      <p:sp>
        <p:nvSpPr>
          <p:cNvPr id="15" name="TextBox 14">
            <a:extLst>
              <a:ext uri="{FF2B5EF4-FFF2-40B4-BE49-F238E27FC236}">
                <a16:creationId xmlns:a16="http://schemas.microsoft.com/office/drawing/2014/main" id="{DAE128BE-B20B-8C2C-E0E9-57955F2282B5}"/>
              </a:ext>
            </a:extLst>
          </p:cNvPr>
          <p:cNvSpPr txBox="1"/>
          <p:nvPr/>
        </p:nvSpPr>
        <p:spPr>
          <a:xfrm>
            <a:off x="6454369" y="6611638"/>
            <a:ext cx="2743200"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IN" sz="1000">
                <a:solidFill>
                  <a:srgbClr val="7D7D7D"/>
                </a:solidFill>
              </a:rPr>
              <a:t>Descoped</a:t>
            </a:r>
            <a:endParaRPr lang="en-US"/>
          </a:p>
        </p:txBody>
      </p:sp>
      <p:sp>
        <p:nvSpPr>
          <p:cNvPr id="16" name="Rectangle 15">
            <a:extLst>
              <a:ext uri="{FF2B5EF4-FFF2-40B4-BE49-F238E27FC236}">
                <a16:creationId xmlns:a16="http://schemas.microsoft.com/office/drawing/2014/main" id="{A934EFF0-D59C-D843-86AF-9559A68DE1DC}"/>
              </a:ext>
            </a:extLst>
          </p:cNvPr>
          <p:cNvSpPr/>
          <p:nvPr/>
        </p:nvSpPr>
        <p:spPr>
          <a:xfrm>
            <a:off x="6360794" y="6681439"/>
            <a:ext cx="90000" cy="90000"/>
          </a:xfrm>
          <a:prstGeom prst="rect">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graphicFrame>
        <p:nvGraphicFramePr>
          <p:cNvPr id="14" name="Table 13">
            <a:extLst>
              <a:ext uri="{FF2B5EF4-FFF2-40B4-BE49-F238E27FC236}">
                <a16:creationId xmlns:a16="http://schemas.microsoft.com/office/drawing/2014/main" id="{714E98DD-2C77-B271-5F7D-2F56641C3AFF}"/>
              </a:ext>
            </a:extLst>
          </p:cNvPr>
          <p:cNvGraphicFramePr>
            <a:graphicFrameLocks noGrp="1"/>
          </p:cNvGraphicFramePr>
          <p:nvPr>
            <p:extLst>
              <p:ext uri="{D42A27DB-BD31-4B8C-83A1-F6EECF244321}">
                <p14:modId xmlns:p14="http://schemas.microsoft.com/office/powerpoint/2010/main" val="936084165"/>
              </p:ext>
            </p:extLst>
          </p:nvPr>
        </p:nvGraphicFramePr>
        <p:xfrm>
          <a:off x="1298121" y="608829"/>
          <a:ext cx="10235117" cy="3840480"/>
        </p:xfrm>
        <a:graphic>
          <a:graphicData uri="http://schemas.openxmlformats.org/drawingml/2006/table">
            <a:tbl>
              <a:tblPr firstRow="1" bandRow="1">
                <a:tableStyleId>{5C22544A-7EE6-4342-B048-85BDC9FD1C3A}</a:tableStyleId>
              </a:tblPr>
              <a:tblGrid>
                <a:gridCol w="1583210">
                  <a:extLst>
                    <a:ext uri="{9D8B030D-6E8A-4147-A177-3AD203B41FA5}">
                      <a16:colId xmlns:a16="http://schemas.microsoft.com/office/drawing/2014/main" val="2822350773"/>
                    </a:ext>
                  </a:extLst>
                </a:gridCol>
                <a:gridCol w="1347769">
                  <a:extLst>
                    <a:ext uri="{9D8B030D-6E8A-4147-A177-3AD203B41FA5}">
                      <a16:colId xmlns:a16="http://schemas.microsoft.com/office/drawing/2014/main" val="1843387359"/>
                    </a:ext>
                  </a:extLst>
                </a:gridCol>
                <a:gridCol w="4718957">
                  <a:extLst>
                    <a:ext uri="{9D8B030D-6E8A-4147-A177-3AD203B41FA5}">
                      <a16:colId xmlns:a16="http://schemas.microsoft.com/office/drawing/2014/main" val="99588705"/>
                    </a:ext>
                  </a:extLst>
                </a:gridCol>
                <a:gridCol w="1289957">
                  <a:extLst>
                    <a:ext uri="{9D8B030D-6E8A-4147-A177-3AD203B41FA5}">
                      <a16:colId xmlns:a16="http://schemas.microsoft.com/office/drawing/2014/main" val="311179388"/>
                    </a:ext>
                  </a:extLst>
                </a:gridCol>
                <a:gridCol w="1295224">
                  <a:extLst>
                    <a:ext uri="{9D8B030D-6E8A-4147-A177-3AD203B41FA5}">
                      <a16:colId xmlns:a16="http://schemas.microsoft.com/office/drawing/2014/main" val="2805519432"/>
                    </a:ext>
                  </a:extLst>
                </a:gridCol>
              </a:tblGrid>
              <a:tr h="261755">
                <a:tc>
                  <a:txBody>
                    <a:bodyPr/>
                    <a:lstStyle/>
                    <a:p>
                      <a:pPr marL="0" lvl="0" indent="0" algn="ctr" defTabSz="914400" rtl="0">
                        <a:lnSpc>
                          <a:spcPct val="100000"/>
                        </a:lnSpc>
                        <a:buFont typeface="Arial" panose="020B0604020202020204" pitchFamily="34" charset="0"/>
                        <a:buNone/>
                      </a:pPr>
                      <a:r>
                        <a:rPr lang="en-IN" sz="1100" b="1" kern="1200">
                          <a:solidFill>
                            <a:schemeClr val="bg1"/>
                          </a:solidFill>
                          <a:latin typeface="+mn-lt"/>
                          <a:ea typeface="+mn-ea"/>
                          <a:cs typeface="+mn-cs"/>
                        </a:rPr>
                        <a:t>Initiatives</a:t>
                      </a:r>
                      <a:endParaRPr lang="en-US" sz="1100" b="1"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tc>
                  <a:txBody>
                    <a:bodyPr/>
                    <a:lstStyle/>
                    <a:p>
                      <a:pPr marL="0" lvl="0" indent="0" algn="ctr" defTabSz="914400">
                        <a:lnSpc>
                          <a:spcPct val="100000"/>
                        </a:lnSpc>
                        <a:buNone/>
                      </a:pPr>
                      <a:r>
                        <a:rPr lang="en-IN" sz="1100" b="1" i="0" u="none" strike="noStrike" kern="1200" noProof="0">
                          <a:solidFill>
                            <a:schemeClr val="bg1"/>
                          </a:solidFill>
                          <a:latin typeface="Nunito Sans"/>
                          <a:ea typeface="+mn-ea"/>
                          <a:cs typeface="+mn-cs"/>
                        </a:rPr>
                        <a:t>Programs/Project</a:t>
                      </a:r>
                      <a:endParaRPr lang="en-US"/>
                    </a:p>
                  </a:txBody>
                  <a:tcPr anchor="ctr">
                    <a:lnL w="6350" cap="flat" cmpd="sng" algn="ctr">
                      <a:solidFill>
                        <a:schemeClr val="bg1">
                          <a:lumMod val="75000"/>
                        </a:schemeClr>
                      </a:solidFill>
                      <a:prstDash val="solid"/>
                      <a:round/>
                      <a:headEnd type="none" w="med" len="med"/>
                      <a:tailEnd type="none" w="med" len="med"/>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tc>
                  <a:txBody>
                    <a:bodyPr/>
                    <a:lstStyle/>
                    <a:p>
                      <a:pPr marL="0" lvl="0" indent="0" algn="ctr">
                        <a:lnSpc>
                          <a:spcPct val="100000"/>
                        </a:lnSpc>
                        <a:buNone/>
                      </a:pPr>
                      <a:endParaRPr lang="en-IN" sz="1100" b="1" i="0" u="none" strike="noStrike" kern="1200" baseline="0" noProof="0">
                        <a:solidFill>
                          <a:srgbClr val="FFFFFF"/>
                        </a:solidFill>
                        <a:latin typeface="Nunito Sans"/>
                      </a:endParaRPr>
                    </a:p>
                    <a:p>
                      <a:pPr marL="0" lvl="0" indent="0" algn="ctr">
                        <a:lnSpc>
                          <a:spcPct val="100000"/>
                        </a:lnSpc>
                        <a:buNone/>
                      </a:pPr>
                      <a:r>
                        <a:rPr lang="en-IN" sz="1100" b="1" i="0" u="none" strike="noStrike" kern="1200" baseline="0" noProof="0">
                          <a:solidFill>
                            <a:srgbClr val="FFFFFF"/>
                          </a:solidFill>
                          <a:latin typeface="Nunito Sans"/>
                        </a:rPr>
                        <a:t>Value Justification/Realization</a:t>
                      </a:r>
                    </a:p>
                    <a:p>
                      <a:pPr marL="0" lvl="0" indent="0" algn="ctr" defTabSz="914400">
                        <a:buFont typeface="Arial" panose="020B0604020202020204" pitchFamily="34" charset="0"/>
                        <a:buNone/>
                      </a:pPr>
                      <a:endParaRPr lang="en-IN" sz="1100"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tc>
                  <a:txBody>
                    <a:bodyPr/>
                    <a:lstStyle/>
                    <a:p>
                      <a:pPr marL="0" lvl="0" indent="0" algn="ctr" defTabSz="914400" rtl="0">
                        <a:lnSpc>
                          <a:spcPct val="100000"/>
                        </a:lnSpc>
                        <a:buFont typeface="Arial" panose="020B0604020202020204" pitchFamily="34" charset="0"/>
                        <a:buNone/>
                      </a:pPr>
                      <a:r>
                        <a:rPr lang="en-US" sz="1100" b="1" kern="1200">
                          <a:solidFill>
                            <a:schemeClr val="bg1"/>
                          </a:solidFill>
                          <a:latin typeface="+mn-lt"/>
                          <a:ea typeface="+mn-ea"/>
                          <a:cs typeface="+mn-cs"/>
                        </a:rPr>
                        <a:t>Planned Go-live date</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1100" b="1" kern="1200">
                          <a:solidFill>
                            <a:schemeClr val="bg1"/>
                          </a:solidFill>
                          <a:latin typeface="+mn-lt"/>
                          <a:ea typeface="+mn-ea"/>
                          <a:cs typeface="+mn-cs"/>
                        </a:rPr>
                        <a:t>EIP Integration Required (Yes/No)</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extLst>
                  <a:ext uri="{0D108BD9-81ED-4DB2-BD59-A6C34878D82A}">
                    <a16:rowId xmlns:a16="http://schemas.microsoft.com/office/drawing/2014/main" val="844450115"/>
                  </a:ext>
                </a:extLst>
              </a:tr>
              <a:tr h="402700">
                <a:tc>
                  <a:txBody>
                    <a:bodyPr/>
                    <a:lstStyle/>
                    <a:p>
                      <a:pPr lvl="0" algn="l" rtl="0">
                        <a:lnSpc>
                          <a:spcPts val="1425"/>
                        </a:lnSpc>
                        <a:buNone/>
                      </a:pPr>
                      <a:r>
                        <a:rPr lang="en-US" sz="900" b="1" i="0">
                          <a:solidFill>
                            <a:schemeClr val="tx1"/>
                          </a:solidFill>
                          <a:effectLst/>
                          <a:latin typeface="+mn-lt"/>
                        </a:rPr>
                        <a:t>Altea- CM </a:t>
                      </a:r>
                      <a:r>
                        <a:rPr lang="en-US" sz="900" b="1" i="0" u="none" strike="noStrike" noProof="0">
                          <a:solidFill>
                            <a:schemeClr val="tx1"/>
                          </a:solidFill>
                          <a:effectLst/>
                        </a:rPr>
                        <a:t>reconciliation Tool</a:t>
                      </a:r>
                      <a:endParaRPr lang="en-US" sz="900" b="1" i="0">
                        <a:solidFill>
                          <a:schemeClr val="tx1"/>
                        </a:solidFill>
                        <a:effectLst/>
                        <a:latin typeface="+mn-lt"/>
                      </a:endParaRPr>
                    </a:p>
                  </a:txBody>
                  <a:tcP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lvl="0" algn="l" rtl="0">
                        <a:lnSpc>
                          <a:spcPts val="1425"/>
                        </a:lnSpc>
                        <a:buFont typeface="+mj-lt"/>
                        <a:buNone/>
                      </a:pPr>
                      <a:endParaRPr lang="en-US" sz="900" b="1" i="0" u="none" strike="noStrike">
                        <a:solidFill>
                          <a:schemeClr val="tx1"/>
                        </a:solidFill>
                        <a:effectLst/>
                        <a:latin typeface="+mn-lt"/>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b="0" i="0" u="none" strike="noStrike" kern="1200" noProof="0">
                          <a:solidFill>
                            <a:schemeClr val="tx1"/>
                          </a:solidFill>
                          <a:latin typeface="+mn-lt"/>
                          <a:ea typeface="+mn-ea"/>
                          <a:cs typeface="+mn-cs"/>
                        </a:rPr>
                        <a:t>Establishes a control layer between MM and Altea CM to detect mismatches and enable proactive monitoring</a:t>
                      </a:r>
                      <a:endParaRPr lang="en-US" sz="900" b="0" i="0" u="none" strike="noStrike" kern="1200">
                        <a:solidFill>
                          <a:schemeClr val="tx1"/>
                        </a:solidFill>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b="0" i="0" u="none" strike="noStrike" kern="1200" noProof="0">
                          <a:solidFill>
                            <a:schemeClr val="tx1"/>
                          </a:solidFill>
                          <a:latin typeface="+mn-lt"/>
                          <a:ea typeface="+mn-ea"/>
                          <a:cs typeface="+mn-cs"/>
                        </a:rPr>
                        <a:t>Prevents revenue leakage and reduces passenger disruptions through early discrepancy identification</a:t>
                      </a:r>
                      <a:endParaRPr lang="en-US" sz="900" b="0" i="0" u="none" strike="noStrike" kern="1200">
                        <a:solidFill>
                          <a:schemeClr val="tx1"/>
                        </a:solidFill>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b="0" i="0" u="none" strike="noStrike" kern="1200" noProof="0">
                          <a:solidFill>
                            <a:schemeClr val="tx1"/>
                          </a:solidFill>
                          <a:latin typeface="+mn-lt"/>
                          <a:ea typeface="+mn-ea"/>
                          <a:cs typeface="+mn-cs"/>
                        </a:rPr>
                        <a:t>Enhances cross-functional coordination, strengthening schedule integrity and overall operational reliability</a:t>
                      </a:r>
                      <a:endParaRPr lang="en-US" sz="900" b="0" i="0" u="none" strike="noStrike" kern="1200">
                        <a:solidFill>
                          <a:schemeClr val="tx1"/>
                        </a:solidFill>
                        <a:latin typeface="+mn-lt"/>
                        <a:ea typeface="+mn-ea"/>
                        <a:cs typeface="+mn-cs"/>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lvl="0" algn="ctr" defTabSz="914400" rtl="0">
                        <a:lnSpc>
                          <a:spcPts val="1425"/>
                        </a:lnSpc>
                        <a:buNone/>
                      </a:pPr>
                      <a:r>
                        <a:rPr lang="en-US" sz="900" b="1" i="0" u="none" strike="noStrike" kern="1200">
                          <a:solidFill>
                            <a:schemeClr val="tx1"/>
                          </a:solidFill>
                          <a:effectLst/>
                          <a:latin typeface="+mn-lt"/>
                          <a:ea typeface="+mn-ea"/>
                          <a:cs typeface="+mn-cs"/>
                        </a:rPr>
                        <a:t>20 Sep 2026</a:t>
                      </a:r>
                      <a:endParaRPr lang="en-US" sz="900" b="0" i="0">
                        <a:solidFill>
                          <a:schemeClr val="tx1"/>
                        </a:solidFill>
                        <a:effectLst/>
                        <a:latin typeface="+mn-lt"/>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lvl="0" algn="ctr" defTabSz="914400" rtl="0">
                        <a:lnSpc>
                          <a:spcPts val="1425"/>
                        </a:lnSpc>
                        <a:buNone/>
                      </a:pPr>
                      <a:r>
                        <a:rPr lang="en-US" sz="800" b="0" i="0">
                          <a:solidFill>
                            <a:schemeClr val="tx1"/>
                          </a:solidFill>
                          <a:effectLst/>
                          <a:latin typeface="+mn-lt"/>
                        </a:rPr>
                        <a:t>Yes</a:t>
                      </a:r>
                    </a:p>
                  </a:txBody>
                  <a:tcPr>
                    <a:lnL w="6350" cap="flat" cmpd="sng" algn="ctr">
                      <a:solidFill>
                        <a:schemeClr val="bg1">
                          <a:lumMod val="75000"/>
                        </a:schemeClr>
                      </a:solidFill>
                      <a:prstDash val="solid"/>
                      <a:round/>
                      <a:headEnd type="none" w="med" len="med"/>
                      <a:tailEnd type="none" w="med" len="med"/>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856523985"/>
                  </a:ext>
                </a:extLst>
              </a:tr>
              <a:tr h="208061">
                <a:tc>
                  <a:txBody>
                    <a:bodyPr/>
                    <a:lstStyle/>
                    <a:p>
                      <a:pPr marL="0" lvl="0" indent="0" algn="l" rtl="0">
                        <a:lnSpc>
                          <a:spcPct val="100000"/>
                        </a:lnSpc>
                        <a:spcBef>
                          <a:spcPts val="0"/>
                        </a:spcBef>
                        <a:spcAft>
                          <a:spcPts val="0"/>
                        </a:spcAft>
                        <a:buNone/>
                      </a:pPr>
                      <a:r>
                        <a:rPr lang="en-US" sz="800" b="1" i="0" u="none" strike="noStrike" kern="1200">
                          <a:solidFill>
                            <a:srgbClr val="00B050"/>
                          </a:solidFill>
                          <a:effectLst/>
                          <a:latin typeface="+mn-lt"/>
                          <a:ea typeface="+mn-ea"/>
                          <a:cs typeface="+mn-cs"/>
                        </a:rPr>
                        <a:t>BA Randomizer Success Factor Integration</a:t>
                      </a:r>
                    </a:p>
                  </a:txBody>
                  <a:tcP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lvl="0" indent="0" algn="l">
                        <a:lnSpc>
                          <a:spcPct val="100000"/>
                        </a:lnSpc>
                        <a:spcBef>
                          <a:spcPts val="0"/>
                        </a:spcBef>
                        <a:spcAft>
                          <a:spcPts val="0"/>
                        </a:spcAft>
                        <a:buNone/>
                      </a:pPr>
                      <a:endParaRPr lang="en-US" sz="900" b="1" i="0" u="none" strike="noStrike" kern="1200" noProof="0">
                        <a:solidFill>
                          <a:schemeClr val="tx1"/>
                        </a:solidFill>
                        <a:latin typeface="+mn-lt"/>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b="0" i="0" u="none" strike="noStrike" kern="1200">
                          <a:solidFill>
                            <a:schemeClr val="tx1"/>
                          </a:solidFill>
                          <a:latin typeface="+mn-lt"/>
                          <a:ea typeface="+mn-ea"/>
                          <a:cs typeface="+mn-cs"/>
                        </a:rPr>
                        <a:t>It enables seamless, timely onboarding of new crew for BA testing, eliminating manual intervention and reducing errors</a:t>
                      </a: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lvl="0" indent="0" algn="ctr" rtl="0">
                        <a:lnSpc>
                          <a:spcPct val="100000"/>
                        </a:lnSpc>
                        <a:spcBef>
                          <a:spcPts val="0"/>
                        </a:spcBef>
                        <a:spcAft>
                          <a:spcPts val="0"/>
                        </a:spcAft>
                        <a:buNone/>
                      </a:pPr>
                      <a:r>
                        <a:rPr lang="en-US" sz="900" b="1" i="0" u="none" strike="noStrike" kern="1200">
                          <a:solidFill>
                            <a:schemeClr val="tx1"/>
                          </a:solidFill>
                          <a:effectLst/>
                          <a:latin typeface="+mn-lt"/>
                          <a:ea typeface="+mn-ea"/>
                          <a:cs typeface="+mn-cs"/>
                        </a:rPr>
                        <a:t>18 Sep 2026</a:t>
                      </a: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lvl="0" indent="0" algn="ctr">
                        <a:lnSpc>
                          <a:spcPct val="100000"/>
                        </a:lnSpc>
                        <a:spcBef>
                          <a:spcPts val="0"/>
                        </a:spcBef>
                        <a:spcAft>
                          <a:spcPts val="0"/>
                        </a:spcAft>
                        <a:buNone/>
                      </a:pPr>
                      <a:r>
                        <a:rPr lang="en-US" sz="800" b="1" i="0" u="none" strike="noStrike" kern="1200">
                          <a:solidFill>
                            <a:schemeClr val="tx1"/>
                          </a:solidFill>
                          <a:effectLst/>
                          <a:latin typeface="+mn-lt"/>
                          <a:ea typeface="+mn-ea"/>
                          <a:cs typeface="+mn-cs"/>
                        </a:rPr>
                        <a:t>Yes</a:t>
                      </a:r>
                    </a:p>
                  </a:txBody>
                  <a:tcPr>
                    <a:lnL w="6350" cap="flat" cmpd="sng" algn="ctr">
                      <a:solidFill>
                        <a:schemeClr val="bg1">
                          <a:lumMod val="75000"/>
                        </a:schemeClr>
                      </a:solidFill>
                      <a:prstDash val="solid"/>
                      <a:round/>
                      <a:headEnd type="none" w="med" len="med"/>
                      <a:tailEnd type="none" w="med" len="med"/>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065781384"/>
                  </a:ext>
                </a:extLst>
              </a:tr>
              <a:tr h="208061">
                <a:tc>
                  <a:txBody>
                    <a:bodyPr/>
                    <a:lstStyle/>
                    <a:p>
                      <a:pPr marL="0" lvl="0" indent="0" algn="l">
                        <a:lnSpc>
                          <a:spcPct val="100000"/>
                        </a:lnSpc>
                        <a:spcBef>
                          <a:spcPts val="0"/>
                        </a:spcBef>
                        <a:spcAft>
                          <a:spcPts val="0"/>
                        </a:spcAft>
                        <a:buNone/>
                      </a:pPr>
                      <a:r>
                        <a:rPr lang="en-US" sz="900" b="1" i="0" u="none" strike="noStrike" kern="1200" noProof="0">
                          <a:solidFill>
                            <a:schemeClr val="tx1"/>
                          </a:solidFill>
                          <a:effectLst/>
                          <a:latin typeface="Nunito Sans"/>
                        </a:rPr>
                        <a:t>Logging and alert mechanism to detect any missing NOTAM to the SFTP directory</a:t>
                      </a:r>
                    </a:p>
                  </a:txBody>
                  <a:tcP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900" b="1" i="0" u="none" strike="noStrike">
                        <a:solidFill>
                          <a:schemeClr val="tx1"/>
                        </a:solidFill>
                        <a:effectLst/>
                        <a:latin typeface="+mn-lt"/>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171450" marR="0" lvl="0" indent="-171450" algn="l" rtl="0" eaLnBrk="1" fontAlgn="auto" latinLnBrk="0" hangingPunct="1">
                        <a:lnSpc>
                          <a:spcPct val="100000"/>
                        </a:lnSpc>
                        <a:spcBef>
                          <a:spcPts val="0"/>
                        </a:spcBef>
                        <a:spcAft>
                          <a:spcPts val="0"/>
                        </a:spcAft>
                        <a:buClrTx/>
                        <a:buSzTx/>
                        <a:buFont typeface="Arial" panose="020B0604020202020204" pitchFamily="34" charset="0"/>
                        <a:buChar char="•"/>
                      </a:pPr>
                      <a:r>
                        <a:rPr lang="en-US" sz="900" b="0" i="0" u="none" strike="noStrike" kern="1200" noProof="0">
                          <a:solidFill>
                            <a:schemeClr val="tx1"/>
                          </a:solidFill>
                        </a:rPr>
                        <a:t>Ensures that any missing NOTAMs are automatically identified, logged, and trigger an alert, enabling timely manual intervention and ingestion to maintain data completeness and operational reliability.</a:t>
                      </a:r>
                      <a:endParaRPr lang="en-US" sz="900" b="0" i="0" u="none" strike="noStrike" kern="1200">
                        <a:solidFill>
                          <a:schemeClr val="tx1"/>
                        </a:solidFill>
                        <a:latin typeface="+mn-lt"/>
                        <a:ea typeface="+mn-ea"/>
                        <a:cs typeface="+mn-cs"/>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lvl="0" indent="0" algn="ctr">
                        <a:lnSpc>
                          <a:spcPct val="100000"/>
                        </a:lnSpc>
                        <a:spcBef>
                          <a:spcPts val="0"/>
                        </a:spcBef>
                        <a:spcAft>
                          <a:spcPts val="0"/>
                        </a:spcAft>
                        <a:buNone/>
                      </a:pPr>
                      <a:r>
                        <a:rPr kumimoji="0" lang="en-US" sz="900" b="1" i="0" u="none" strike="noStrike" kern="1200" cap="none" spc="0" normalizeH="0" baseline="0" noProof="0">
                          <a:ln>
                            <a:noFill/>
                          </a:ln>
                          <a:solidFill>
                            <a:srgbClr val="000000"/>
                          </a:solidFill>
                          <a:effectLst/>
                          <a:uLnTx/>
                          <a:uFillTx/>
                          <a:latin typeface="+mn-lt"/>
                          <a:ea typeface="+mn-ea"/>
                          <a:cs typeface="+mn-cs"/>
                        </a:rPr>
                        <a:t>25 Sep 2026</a:t>
                      </a:r>
                      <a:endParaRPr lang="en-US"/>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lvl="0" indent="0" algn="ctr">
                        <a:lnSpc>
                          <a:spcPct val="100000"/>
                        </a:lnSpc>
                        <a:spcBef>
                          <a:spcPts val="0"/>
                        </a:spcBef>
                        <a:spcAft>
                          <a:spcPts val="0"/>
                        </a:spcAft>
                        <a:buNone/>
                      </a:pPr>
                      <a:r>
                        <a:rPr lang="en-US" sz="800"/>
                        <a:t>Yes</a:t>
                      </a:r>
                    </a:p>
                  </a:txBody>
                  <a:tcPr>
                    <a:lnL w="6350" cap="flat" cmpd="sng" algn="ctr">
                      <a:solidFill>
                        <a:schemeClr val="bg1">
                          <a:lumMod val="75000"/>
                        </a:schemeClr>
                      </a:solidFill>
                      <a:prstDash val="solid"/>
                      <a:round/>
                      <a:headEnd type="none" w="med" len="med"/>
                      <a:tailEnd type="none" w="med" len="med"/>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654565593"/>
                  </a:ext>
                </a:extLst>
              </a:tr>
              <a:tr h="208061">
                <a:tc>
                  <a:txBody>
                    <a:bodyPr/>
                    <a:lstStyle/>
                    <a:p>
                      <a:pPr marL="0" lvl="0" indent="0" algn="l">
                        <a:lnSpc>
                          <a:spcPct val="100000"/>
                        </a:lnSpc>
                        <a:spcBef>
                          <a:spcPts val="0"/>
                        </a:spcBef>
                        <a:spcAft>
                          <a:spcPts val="0"/>
                        </a:spcAft>
                        <a:buNone/>
                      </a:pPr>
                      <a:r>
                        <a:rPr lang="en-US" sz="900" b="1" i="0" u="none" strike="noStrike" kern="1200" noProof="0">
                          <a:solidFill>
                            <a:schemeClr val="tx1"/>
                          </a:solidFill>
                          <a:latin typeface="Nunito Sans"/>
                          <a:ea typeface="+mn-ea"/>
                          <a:cs typeface="+mn-cs"/>
                        </a:rPr>
                        <a:t>IX Pseudo code configuration in CAE MM and CM</a:t>
                      </a:r>
                      <a:endParaRPr lang="en-US"/>
                    </a:p>
                  </a:txBody>
                  <a:tcP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lvl="0" indent="0" algn="l" defTabSz="914400">
                        <a:lnSpc>
                          <a:spcPct val="100000"/>
                        </a:lnSpc>
                        <a:spcBef>
                          <a:spcPts val="0"/>
                        </a:spcBef>
                        <a:spcAft>
                          <a:spcPts val="0"/>
                        </a:spcAft>
                        <a:buNone/>
                        <a:tabLst/>
                        <a:defRPr/>
                      </a:pPr>
                      <a:endParaRPr lang="en-US" sz="900" b="1" i="0" u="none" strike="noStrike" kern="1200" noProof="0">
                        <a:solidFill>
                          <a:schemeClr val="tx1"/>
                        </a:solidFill>
                        <a:latin typeface="+mn-lt"/>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171450" lvl="0" indent="-171450" algn="l">
                        <a:lnSpc>
                          <a:spcPct val="100000"/>
                        </a:lnSpc>
                        <a:spcBef>
                          <a:spcPts val="0"/>
                        </a:spcBef>
                        <a:spcAft>
                          <a:spcPts val="0"/>
                        </a:spcAft>
                        <a:buFont typeface="Arial"/>
                        <a:buChar char="•"/>
                      </a:pPr>
                      <a:r>
                        <a:rPr lang="en-US" sz="900" b="0" i="0" u="none" strike="noStrike" kern="1200" noProof="0">
                          <a:solidFill>
                            <a:schemeClr val="tx1"/>
                          </a:solidFill>
                        </a:rPr>
                        <a:t>Network Planning: Improved schedule accuracy, better aircraft-route pairing, and reduced payload offloads.</a:t>
                      </a:r>
                      <a:endParaRPr lang="en-US"/>
                    </a:p>
                    <a:p>
                      <a:pPr marL="171450" lvl="0" indent="-171450" algn="l">
                        <a:lnSpc>
                          <a:spcPct val="100000"/>
                        </a:lnSpc>
                        <a:spcBef>
                          <a:spcPts val="0"/>
                        </a:spcBef>
                        <a:spcAft>
                          <a:spcPts val="0"/>
                        </a:spcAft>
                        <a:buFont typeface="Arial"/>
                        <a:buChar char="•"/>
                      </a:pPr>
                      <a:r>
                        <a:rPr lang="en-US" sz="900" b="0" i="0" u="none" strike="noStrike" kern="1200" noProof="0">
                          <a:solidFill>
                            <a:schemeClr val="tx1"/>
                          </a:solidFill>
                        </a:rPr>
                        <a:t>IOCC: Fewer disruptions, easier aircraft swaps, better visibility, and stronger control of OTP.</a:t>
                      </a:r>
                      <a:endParaRPr lang="en-US"/>
                    </a:p>
                    <a:p>
                      <a:pPr marL="171450" lvl="0" indent="-171450" algn="l">
                        <a:lnSpc>
                          <a:spcPct val="100000"/>
                        </a:lnSpc>
                        <a:spcBef>
                          <a:spcPts val="0"/>
                        </a:spcBef>
                        <a:spcAft>
                          <a:spcPts val="0"/>
                        </a:spcAft>
                        <a:buFont typeface="Arial"/>
                        <a:buChar char="•"/>
                      </a:pPr>
                      <a:r>
                        <a:rPr lang="en-US" sz="900" b="0" i="0" u="none" strike="noStrike" kern="1200" noProof="0">
                          <a:solidFill>
                            <a:schemeClr val="tx1"/>
                          </a:solidFill>
                        </a:rPr>
                        <a:t>Commercial: Stronger schedule integrity, better capacity planning, and reduced downgrade risk.</a:t>
                      </a:r>
                      <a:endParaRPr lang="en-US"/>
                    </a:p>
                    <a:p>
                      <a:pPr marL="171450" lvl="0" indent="-171450" algn="l">
                        <a:lnSpc>
                          <a:spcPct val="100000"/>
                        </a:lnSpc>
                        <a:spcBef>
                          <a:spcPts val="0"/>
                        </a:spcBef>
                        <a:spcAft>
                          <a:spcPts val="0"/>
                        </a:spcAft>
                        <a:buFont typeface="Arial"/>
                        <a:buChar char="•"/>
                      </a:pPr>
                      <a:r>
                        <a:rPr lang="en-US" sz="900" b="0" i="0" u="none" strike="noStrike" kern="1200" noProof="0">
                          <a:solidFill>
                            <a:schemeClr val="tx1"/>
                          </a:solidFill>
                        </a:rPr>
                        <a:t>Engineering &amp; Maintenance: Clearer maintenance planning and optimized spares and routing.</a:t>
                      </a:r>
                      <a:endParaRPr lang="en-US"/>
                    </a:p>
                    <a:p>
                      <a:pPr marL="171450" lvl="0" indent="-171450" algn="l">
                        <a:lnSpc>
                          <a:spcPct val="100000"/>
                        </a:lnSpc>
                        <a:spcBef>
                          <a:spcPts val="0"/>
                        </a:spcBef>
                        <a:spcAft>
                          <a:spcPts val="0"/>
                        </a:spcAft>
                        <a:buFont typeface="Arial"/>
                        <a:buChar char="•"/>
                      </a:pPr>
                      <a:r>
                        <a:rPr lang="en-US" sz="900" b="0" i="0" u="none" strike="noStrike" kern="1200" noProof="0">
                          <a:solidFill>
                            <a:schemeClr val="tx1"/>
                          </a:solidFill>
                        </a:rPr>
                        <a:t>Crew Management: Cleaner qualification mapping and simpler roster planning.</a:t>
                      </a:r>
                      <a:endParaRPr lang="en-US"/>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lvl="0" indent="0" algn="ctr">
                        <a:lnSpc>
                          <a:spcPct val="100000"/>
                        </a:lnSpc>
                        <a:spcBef>
                          <a:spcPts val="0"/>
                        </a:spcBef>
                        <a:spcAft>
                          <a:spcPts val="0"/>
                        </a:spcAft>
                        <a:buFont typeface="Arial"/>
                        <a:buNone/>
                      </a:pPr>
                      <a:r>
                        <a:rPr lang="en-US" sz="900" b="1" i="0" u="none" strike="noStrike" kern="1200" cap="none" spc="0" normalizeH="0" baseline="0" noProof="0">
                          <a:ln>
                            <a:noFill/>
                          </a:ln>
                          <a:solidFill>
                            <a:srgbClr val="000000"/>
                          </a:solidFill>
                          <a:effectLst/>
                          <a:uLnTx/>
                          <a:uFillTx/>
                          <a:latin typeface="+mn-lt"/>
                          <a:ea typeface="+mn-ea"/>
                          <a:cs typeface="+mn-cs"/>
                        </a:rPr>
                        <a:t>10 Sep 2026</a:t>
                      </a:r>
                      <a:endParaRPr lang="en-US"/>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ts val="1425"/>
                        </a:lnSpc>
                        <a:spcBef>
                          <a:spcPts val="0"/>
                        </a:spcBef>
                        <a:spcAft>
                          <a:spcPts val="0"/>
                        </a:spcAft>
                        <a:buClrTx/>
                        <a:buSzTx/>
                        <a:buFontTx/>
                        <a:buNone/>
                        <a:tabLst/>
                        <a:defRPr/>
                      </a:pPr>
                      <a:r>
                        <a:rPr lang="en-US" sz="800" b="0" i="0" u="none" strike="noStrike" kern="1200" noProof="0">
                          <a:solidFill>
                            <a:schemeClr val="tx1"/>
                          </a:solidFill>
                          <a:latin typeface="+mn-lt"/>
                          <a:ea typeface="+mn-ea"/>
                          <a:cs typeface="+mn-cs"/>
                        </a:rPr>
                        <a:t>No</a:t>
                      </a:r>
                      <a:endParaRPr lang="en-US" sz="800"/>
                    </a:p>
                  </a:txBody>
                  <a:tcPr>
                    <a:lnL w="6350" cap="flat" cmpd="sng" algn="ctr">
                      <a:solidFill>
                        <a:schemeClr val="bg1">
                          <a:lumMod val="75000"/>
                        </a:schemeClr>
                      </a:solidFill>
                      <a:prstDash val="solid"/>
                      <a:round/>
                      <a:headEnd type="none" w="med" len="med"/>
                      <a:tailEnd type="none" w="med" len="med"/>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861925163"/>
                  </a:ext>
                </a:extLst>
              </a:tr>
            </a:tbl>
          </a:graphicData>
        </a:graphic>
      </p:graphicFrame>
    </p:spTree>
    <p:extLst>
      <p:ext uri="{BB962C8B-B14F-4D97-AF65-F5344CB8AC3E}">
        <p14:creationId xmlns:p14="http://schemas.microsoft.com/office/powerpoint/2010/main" val="100457555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0ADD99-4029-7DE0-C0B3-BBFFE08AD7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D40DEF-07D7-2D8B-58C5-B242BF38C23D}"/>
              </a:ext>
            </a:extLst>
          </p:cNvPr>
          <p:cNvSpPr>
            <a:spLocks noGrp="1"/>
          </p:cNvSpPr>
          <p:nvPr>
            <p:ph type="title"/>
          </p:nvPr>
        </p:nvSpPr>
        <p:spPr>
          <a:xfrm>
            <a:off x="1919417" y="920381"/>
            <a:ext cx="10176225" cy="895041"/>
          </a:xfrm>
        </p:spPr>
        <p:txBody>
          <a:bodyPr/>
          <a:lstStyle/>
          <a:p>
            <a:r>
              <a:rPr lang="en-US" sz="3600">
                <a:latin typeface="AirIndia"/>
              </a:rPr>
              <a:t>Engineering Tech – FY26-27/Q1</a:t>
            </a:r>
            <a:endParaRPr lang="en-IN" sz="3600">
              <a:latin typeface="AirIndia"/>
            </a:endParaRPr>
          </a:p>
        </p:txBody>
      </p:sp>
    </p:spTree>
    <p:extLst>
      <p:ext uri="{BB962C8B-B14F-4D97-AF65-F5344CB8AC3E}">
        <p14:creationId xmlns:p14="http://schemas.microsoft.com/office/powerpoint/2010/main" val="201955626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BBBFA6-1D18-EB47-AECD-45BBA51BC8D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60F5FBB-9C7C-9900-90B0-E9CFD965B562}"/>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3A41A254-7326-714E-AF55-4C213D6394DE}" type="slidenum">
              <a:rPr kumimoji="0" lang="en-US" sz="1200" b="0" i="0" u="none" strike="noStrike" kern="1200" cap="none" spc="0" normalizeH="0" baseline="0" noProof="0" smtClean="0">
                <a:ln>
                  <a:noFill/>
                </a:ln>
                <a:solidFill>
                  <a:srgbClr val="DA0E28"/>
                </a:solidFill>
                <a:effectLst/>
                <a:uLnTx/>
                <a:uFillTx/>
                <a:latin typeface="Nunito Sans"/>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28</a:t>
            </a:fld>
            <a:endParaRPr kumimoji="0" lang="en-US" sz="1200" b="0" i="0" u="none" strike="noStrike" kern="1200" cap="none" spc="0" normalizeH="0" baseline="0" noProof="0">
              <a:ln>
                <a:noFill/>
              </a:ln>
              <a:solidFill>
                <a:srgbClr val="DA0E28"/>
              </a:solidFill>
              <a:effectLst/>
              <a:uLnTx/>
              <a:uFillTx/>
              <a:latin typeface="Nunito Sans"/>
              <a:ea typeface="+mn-ea"/>
              <a:cs typeface="+mn-cs"/>
            </a:endParaRPr>
          </a:p>
        </p:txBody>
      </p:sp>
      <p:sp>
        <p:nvSpPr>
          <p:cNvPr id="3" name="Rectangle 2">
            <a:extLst>
              <a:ext uri="{FF2B5EF4-FFF2-40B4-BE49-F238E27FC236}">
                <a16:creationId xmlns:a16="http://schemas.microsoft.com/office/drawing/2014/main" id="{1B5E5ACB-609B-EB5C-C2FF-4CB8B7D22407}"/>
              </a:ext>
            </a:extLst>
          </p:cNvPr>
          <p:cNvSpPr/>
          <p:nvPr/>
        </p:nvSpPr>
        <p:spPr>
          <a:xfrm>
            <a:off x="237934" y="610471"/>
            <a:ext cx="1170432" cy="42234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400" b="1" i="0" u="none" strike="noStrike" kern="1200" cap="none" spc="0" normalizeH="0" baseline="0" noProof="0">
                <a:ln>
                  <a:noFill/>
                </a:ln>
                <a:solidFill>
                  <a:srgbClr val="FFFFFF"/>
                </a:solidFill>
                <a:effectLst/>
                <a:uLnTx/>
                <a:uFillTx/>
                <a:latin typeface="AirIndia"/>
                <a:ea typeface="+mn-ea"/>
                <a:cs typeface="+mn-cs"/>
              </a:rPr>
              <a:t>April ‘</a:t>
            </a:r>
            <a:r>
              <a:rPr lang="en-IN" sz="1400" b="1">
                <a:solidFill>
                  <a:srgbClr val="FFFFFF"/>
                </a:solidFill>
                <a:latin typeface="AirIndia"/>
              </a:rPr>
              <a:t>26</a:t>
            </a:r>
            <a:endParaRPr kumimoji="0" lang="en-US" sz="1400" b="1" i="0" u="none" strike="noStrike" kern="1200" cap="none" spc="0" normalizeH="0" baseline="0" noProof="0">
              <a:ln>
                <a:noFill/>
              </a:ln>
              <a:solidFill>
                <a:srgbClr val="FFFFFF"/>
              </a:solidFill>
              <a:effectLst/>
              <a:uLnTx/>
              <a:uFillTx/>
              <a:latin typeface="AirIndia"/>
              <a:ea typeface="+mn-ea"/>
              <a:cs typeface="+mn-cs"/>
            </a:endParaRPr>
          </a:p>
        </p:txBody>
      </p:sp>
      <p:sp>
        <p:nvSpPr>
          <p:cNvPr id="6" name="Title 11">
            <a:extLst>
              <a:ext uri="{FF2B5EF4-FFF2-40B4-BE49-F238E27FC236}">
                <a16:creationId xmlns:a16="http://schemas.microsoft.com/office/drawing/2014/main" id="{AEF96692-38E7-82B3-187D-80D5A075DD3E}"/>
              </a:ext>
            </a:extLst>
          </p:cNvPr>
          <p:cNvSpPr txBox="1">
            <a:spLocks/>
          </p:cNvSpPr>
          <p:nvPr/>
        </p:nvSpPr>
        <p:spPr>
          <a:xfrm>
            <a:off x="242857" y="182023"/>
            <a:ext cx="7691717" cy="430255"/>
          </a:xfrm>
          <a:prstGeom prst="rect">
            <a:avLst/>
          </a:prstGeom>
        </p:spPr>
        <p:txBody>
          <a:bodyPr lIns="91440" tIns="45720" rIns="91440" bIns="45720" anchor="t">
            <a:noAutofit/>
          </a:bodyPr>
          <a:lstStyle>
            <a:lvl1pPr algn="l" defTabSz="914400" rtl="0" eaLnBrk="1" latinLnBrk="0" hangingPunct="1">
              <a:lnSpc>
                <a:spcPct val="90000"/>
              </a:lnSpc>
              <a:spcBef>
                <a:spcPct val="0"/>
              </a:spcBef>
              <a:buNone/>
              <a:defRPr sz="4400" b="1" i="0" kern="1200">
                <a:solidFill>
                  <a:schemeClr val="tx1"/>
                </a:solidFill>
                <a:latin typeface="AirIndia" pitchFamily="82" charset="77"/>
                <a:ea typeface="+mj-ea"/>
                <a:cs typeface="+mj-cs"/>
              </a:defRPr>
            </a:lvl1pPr>
          </a:lstStyle>
          <a:p>
            <a:pPr>
              <a:defRPr/>
            </a:pPr>
            <a:r>
              <a:rPr lang="en-US" sz="1800">
                <a:solidFill>
                  <a:srgbClr val="DA0E28"/>
                </a:solidFill>
                <a:latin typeface="AirIndia"/>
              </a:rPr>
              <a:t>Engineering Tech </a:t>
            </a:r>
            <a:r>
              <a:rPr kumimoji="0" lang="en-US" sz="1800" b="1" i="0" u="none" strike="noStrike" kern="1200" cap="none" spc="0" normalizeH="0" baseline="0" noProof="0">
                <a:ln>
                  <a:noFill/>
                </a:ln>
                <a:solidFill>
                  <a:srgbClr val="DA0E28"/>
                </a:solidFill>
                <a:effectLst/>
                <a:uLnTx/>
                <a:uFillTx/>
                <a:latin typeface="AirIndia"/>
                <a:ea typeface="+mj-ea"/>
                <a:cs typeface="+mj-cs"/>
              </a:rPr>
              <a:t>- </a:t>
            </a:r>
            <a:r>
              <a:rPr lang="en-US" sz="1800">
                <a:solidFill>
                  <a:srgbClr val="DA0E28"/>
                </a:solidFill>
                <a:latin typeface="AirIndia"/>
              </a:rPr>
              <a:t>FY26-27 </a:t>
            </a:r>
            <a:r>
              <a:rPr kumimoji="0" lang="en-US" sz="1800" b="1" i="0" u="none" strike="noStrike" kern="1200" cap="none" spc="0" normalizeH="0" baseline="0" noProof="0">
                <a:ln>
                  <a:noFill/>
                </a:ln>
                <a:solidFill>
                  <a:srgbClr val="DA0E28"/>
                </a:solidFill>
                <a:effectLst/>
                <a:uLnTx/>
                <a:uFillTx/>
                <a:latin typeface="AirIndia"/>
                <a:ea typeface="+mj-ea"/>
                <a:cs typeface="+mj-cs"/>
              </a:rPr>
              <a:t>Q1 Release Plan</a:t>
            </a:r>
            <a:endParaRPr lang="en-US" sz="1800" b="0">
              <a:solidFill>
                <a:srgbClr val="000000"/>
              </a:solidFill>
              <a:latin typeface="AirIndia"/>
            </a:endParaRPr>
          </a:p>
          <a:p>
            <a:pPr>
              <a:defRPr/>
            </a:pPr>
            <a:endParaRPr lang="en-US" sz="1800" i="0" u="none" strike="noStrike" kern="1200" cap="none" spc="0" normalizeH="0" baseline="0" noProof="0">
              <a:ln>
                <a:noFill/>
              </a:ln>
              <a:solidFill>
                <a:srgbClr val="DA0E28"/>
              </a:solidFill>
              <a:effectLst/>
              <a:uLnTx/>
              <a:uFillTx/>
              <a:latin typeface="AirIndia"/>
            </a:endParaRPr>
          </a:p>
          <a:p>
            <a:pPr>
              <a:defRPr/>
            </a:pPr>
            <a:endParaRPr lang="en-US" sz="1800">
              <a:solidFill>
                <a:srgbClr val="DA0E28"/>
              </a:solidFill>
              <a:latin typeface="AirIndia"/>
            </a:endParaRPr>
          </a:p>
        </p:txBody>
      </p:sp>
      <p:graphicFrame>
        <p:nvGraphicFramePr>
          <p:cNvPr id="12" name="Table 11">
            <a:extLst>
              <a:ext uri="{FF2B5EF4-FFF2-40B4-BE49-F238E27FC236}">
                <a16:creationId xmlns:a16="http://schemas.microsoft.com/office/drawing/2014/main" id="{E5935E83-A5A1-40A5-9B61-F27D2F989C87}"/>
              </a:ext>
            </a:extLst>
          </p:cNvPr>
          <p:cNvGraphicFramePr>
            <a:graphicFrameLocks noGrp="1"/>
          </p:cNvGraphicFramePr>
          <p:nvPr>
            <p:extLst>
              <p:ext uri="{D42A27DB-BD31-4B8C-83A1-F6EECF244321}">
                <p14:modId xmlns:p14="http://schemas.microsoft.com/office/powerpoint/2010/main" val="2568246178"/>
              </p:ext>
            </p:extLst>
          </p:nvPr>
        </p:nvGraphicFramePr>
        <p:xfrm>
          <a:off x="1251008" y="588627"/>
          <a:ext cx="10685696" cy="5535730"/>
        </p:xfrm>
        <a:graphic>
          <a:graphicData uri="http://schemas.openxmlformats.org/drawingml/2006/table">
            <a:tbl>
              <a:tblPr firstRow="1" bandRow="1">
                <a:tableStyleId>{5C22544A-7EE6-4342-B048-85BDC9FD1C3A}</a:tableStyleId>
              </a:tblPr>
              <a:tblGrid>
                <a:gridCol w="3045156">
                  <a:extLst>
                    <a:ext uri="{9D8B030D-6E8A-4147-A177-3AD203B41FA5}">
                      <a16:colId xmlns:a16="http://schemas.microsoft.com/office/drawing/2014/main" val="2822350773"/>
                    </a:ext>
                  </a:extLst>
                </a:gridCol>
                <a:gridCol w="2793823">
                  <a:extLst>
                    <a:ext uri="{9D8B030D-6E8A-4147-A177-3AD203B41FA5}">
                      <a16:colId xmlns:a16="http://schemas.microsoft.com/office/drawing/2014/main" val="2318469327"/>
                    </a:ext>
                  </a:extLst>
                </a:gridCol>
                <a:gridCol w="4846717">
                  <a:extLst>
                    <a:ext uri="{9D8B030D-6E8A-4147-A177-3AD203B41FA5}">
                      <a16:colId xmlns:a16="http://schemas.microsoft.com/office/drawing/2014/main" val="99588705"/>
                    </a:ext>
                  </a:extLst>
                </a:gridCol>
              </a:tblGrid>
              <a:tr h="544003">
                <a:tc>
                  <a:txBody>
                    <a:bodyPr/>
                    <a:lstStyle/>
                    <a:p>
                      <a:pPr marL="0" lvl="0" indent="0" algn="ctr" defTabSz="914400" rtl="0" eaLnBrk="1" latinLnBrk="0" hangingPunct="1">
                        <a:lnSpc>
                          <a:spcPct val="100000"/>
                        </a:lnSpc>
                        <a:buFont typeface="Arial" panose="020B0604020202020204" pitchFamily="34" charset="0"/>
                        <a:buNone/>
                      </a:pPr>
                      <a:r>
                        <a:rPr lang="en-IN" sz="1100" b="1" kern="1200">
                          <a:solidFill>
                            <a:schemeClr val="bg1"/>
                          </a:solidFill>
                          <a:latin typeface="+mn-lt"/>
                          <a:ea typeface="+mn-ea"/>
                          <a:cs typeface="+mn-cs"/>
                        </a:rPr>
                        <a:t>Initiatives</a:t>
                      </a:r>
                      <a:endParaRPr lang="en-US" sz="1100" b="1"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tc>
                  <a:txBody>
                    <a:bodyPr/>
                    <a:lstStyle/>
                    <a:p>
                      <a:pPr marL="0" lvl="0" indent="0" algn="ctr" defTabSz="914400">
                        <a:lnSpc>
                          <a:spcPct val="100000"/>
                        </a:lnSpc>
                        <a:buNone/>
                      </a:pPr>
                      <a:r>
                        <a:rPr lang="en-IN" sz="1100" b="1" i="0" u="none" strike="noStrike" kern="1200" noProof="0">
                          <a:solidFill>
                            <a:schemeClr val="bg1"/>
                          </a:solidFill>
                          <a:latin typeface="Nunito Sans"/>
                          <a:ea typeface="+mn-ea"/>
                          <a:cs typeface="+mn-cs"/>
                        </a:rPr>
                        <a:t>Programs/Projects</a:t>
                      </a:r>
                      <a:endParaRPr lang="en-US"/>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solidFill>
                      <a:schemeClr val="accent3">
                        <a:lumMod val="90000"/>
                        <a:lumOff val="10000"/>
                      </a:schemeClr>
                    </a:solidFill>
                  </a:tcPr>
                </a:tc>
                <a:tc>
                  <a:txBody>
                    <a:bodyPr/>
                    <a:lstStyle/>
                    <a:p>
                      <a:pPr marL="0" lvl="0" indent="0" algn="ctr">
                        <a:lnSpc>
                          <a:spcPct val="100000"/>
                        </a:lnSpc>
                        <a:buNone/>
                      </a:pPr>
                      <a:endParaRPr lang="en-IN" sz="1100" b="1" i="0" u="none" strike="noStrike" kern="1200" baseline="0" noProof="0">
                        <a:solidFill>
                          <a:srgbClr val="FFFFFF"/>
                        </a:solidFill>
                        <a:latin typeface="Nunito Sans"/>
                      </a:endParaRPr>
                    </a:p>
                    <a:p>
                      <a:pPr marL="0" lvl="0" indent="0" algn="ctr">
                        <a:lnSpc>
                          <a:spcPct val="100000"/>
                        </a:lnSpc>
                        <a:buNone/>
                      </a:pPr>
                      <a:r>
                        <a:rPr lang="en-IN" sz="1100" b="1" i="0" u="none" strike="noStrike" kern="1200" baseline="0" noProof="0">
                          <a:solidFill>
                            <a:srgbClr val="FFFFFF"/>
                          </a:solidFill>
                          <a:latin typeface="Nunito Sans"/>
                        </a:rPr>
                        <a:t>Value Justification/Realization</a:t>
                      </a:r>
                    </a:p>
                    <a:p>
                      <a:pPr marL="0" lvl="0" indent="0" algn="ctr" defTabSz="914400">
                        <a:buFont typeface="Arial" panose="020B0604020202020204" pitchFamily="34" charset="0"/>
                        <a:buNone/>
                      </a:pPr>
                      <a:endParaRPr lang="en-IN" sz="1100"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extLst>
                  <a:ext uri="{0D108BD9-81ED-4DB2-BD59-A6C34878D82A}">
                    <a16:rowId xmlns:a16="http://schemas.microsoft.com/office/drawing/2014/main" val="844450115"/>
                  </a:ext>
                </a:extLst>
              </a:tr>
              <a:tr h="988274">
                <a:tc>
                  <a:txBody>
                    <a:bodyPr/>
                    <a:lstStyle/>
                    <a:p>
                      <a:pPr marL="0" lvl="0" indent="0" algn="l">
                        <a:lnSpc>
                          <a:spcPct val="100000"/>
                        </a:lnSpc>
                        <a:spcBef>
                          <a:spcPts val="0"/>
                        </a:spcBef>
                        <a:spcAft>
                          <a:spcPts val="0"/>
                        </a:spcAft>
                        <a:buNone/>
                      </a:pPr>
                      <a:r>
                        <a:rPr lang="en-US" sz="1100" b="1" i="0" u="none" strike="noStrike" kern="1200" noProof="0">
                          <a:solidFill>
                            <a:srgbClr val="0070C0"/>
                          </a:solidFill>
                          <a:effectLst/>
                          <a:latin typeface="Nunito Sans"/>
                          <a:ea typeface="+mn-ea"/>
                          <a:cs typeface="+mn-cs"/>
                        </a:rPr>
                        <a:t>PPM WO Compliance Report - Phase 2 Dashboard </a:t>
                      </a:r>
                      <a:br>
                        <a:rPr lang="en-US" sz="1100" b="1" i="0" u="none" strike="noStrike" kern="1200" noProof="0">
                          <a:solidFill>
                            <a:srgbClr val="0070C0"/>
                          </a:solidFill>
                          <a:effectLst/>
                          <a:latin typeface="Nunito Sans"/>
                          <a:ea typeface="+mn-ea"/>
                          <a:cs typeface="+mn-cs"/>
                        </a:rPr>
                      </a:br>
                      <a:r>
                        <a:rPr lang="en-US" sz="1100" b="1" i="0" u="none" strike="noStrike" kern="1200" noProof="0">
                          <a:solidFill>
                            <a:srgbClr val="0070C0"/>
                          </a:solidFill>
                          <a:effectLst/>
                          <a:latin typeface="Nunito Sans"/>
                          <a:ea typeface="+mn-ea"/>
                          <a:cs typeface="+mn-cs"/>
                        </a:rPr>
                        <a:t>Planned Go Live: April 15, 2026</a:t>
                      </a:r>
                    </a:p>
                    <a:p>
                      <a:pPr marL="0" lvl="0" indent="0" algn="l">
                        <a:lnSpc>
                          <a:spcPct val="100000"/>
                        </a:lnSpc>
                        <a:spcBef>
                          <a:spcPts val="0"/>
                        </a:spcBef>
                        <a:spcAft>
                          <a:spcPts val="0"/>
                        </a:spcAft>
                        <a:buNone/>
                      </a:pPr>
                      <a:r>
                        <a:rPr lang="en-US" sz="1100" b="1" i="0" u="none" strike="noStrike" kern="1200" noProof="0">
                          <a:solidFill>
                            <a:srgbClr val="0070C0"/>
                          </a:solidFill>
                          <a:effectLst/>
                          <a:latin typeface="Nunito Sans"/>
                          <a:ea typeface="+mn-ea"/>
                          <a:cs typeface="+mn-cs"/>
                        </a:rPr>
                        <a:t>Actual Go Live: April 02, 2026</a:t>
                      </a:r>
                      <a:endParaRPr lang="en-US"/>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marL="0" lvl="0" indent="0" algn="l">
                        <a:lnSpc>
                          <a:spcPct val="100000"/>
                        </a:lnSpc>
                        <a:spcBef>
                          <a:spcPts val="0"/>
                        </a:spcBef>
                        <a:spcAft>
                          <a:spcPts val="0"/>
                        </a:spcAft>
                        <a:buNone/>
                      </a:pPr>
                      <a:r>
                        <a:rPr lang="en-US" sz="1100" b="1" i="0" u="none" strike="noStrike" kern="1200" noProof="0">
                          <a:solidFill>
                            <a:srgbClr val="0070C0"/>
                          </a:solidFill>
                          <a:latin typeface="Nunito Sans"/>
                        </a:rPr>
                        <a:t>PPM WO Compliance Project</a:t>
                      </a:r>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marL="0" lvl="0" indent="0" algn="l">
                        <a:lnSpc>
                          <a:spcPct val="100000"/>
                        </a:lnSpc>
                        <a:spcBef>
                          <a:spcPts val="0"/>
                        </a:spcBef>
                        <a:spcAft>
                          <a:spcPts val="0"/>
                        </a:spcAft>
                        <a:buNone/>
                      </a:pPr>
                      <a:r>
                        <a:rPr lang="en-US" sz="1000" b="0" i="0" u="none" strike="noStrike" kern="1200" baseline="0" noProof="0">
                          <a:solidFill>
                            <a:srgbClr val="000000"/>
                          </a:solidFill>
                          <a:latin typeface="Nunito Sans"/>
                        </a:rPr>
                        <a:t>Ensuring strict compliance with scheduled engineering tasks guarantees airworthiness, regulatory adherence, and operational reliability—minimizing safety risks, avoiding costly penalties, and reducing unscheduled maintenance events</a:t>
                      </a:r>
                      <a:endParaRPr lang="en-US"/>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443371065"/>
                  </a:ext>
                </a:extLst>
              </a:tr>
              <a:tr h="988274">
                <a:tc>
                  <a:txBody>
                    <a:bodyPr/>
                    <a:lstStyle/>
                    <a:p>
                      <a:pPr marL="0" lvl="0" indent="0" algn="l">
                        <a:lnSpc>
                          <a:spcPct val="100000"/>
                        </a:lnSpc>
                        <a:spcBef>
                          <a:spcPts val="0"/>
                        </a:spcBef>
                        <a:spcAft>
                          <a:spcPts val="0"/>
                        </a:spcAft>
                        <a:buNone/>
                      </a:pPr>
                      <a:r>
                        <a:rPr lang="en-US" sz="1100" b="1" i="0" u="none" strike="noStrike" kern="1200" noProof="0">
                          <a:solidFill>
                            <a:srgbClr val="0070C0"/>
                          </a:solidFill>
                          <a:effectLst/>
                          <a:latin typeface="Nunito Sans"/>
                          <a:ea typeface="+mn-ea"/>
                          <a:cs typeface="+mn-cs"/>
                        </a:rPr>
                        <a:t>IFE Unserviceability Dashboard</a:t>
                      </a:r>
                      <a:br>
                        <a:rPr lang="en-US" sz="1100" b="1" i="0" u="none" strike="noStrike" kern="1200" noProof="0">
                          <a:solidFill>
                            <a:srgbClr val="0070C0"/>
                          </a:solidFill>
                          <a:effectLst/>
                          <a:latin typeface="Nunito Sans"/>
                          <a:ea typeface="+mn-ea"/>
                          <a:cs typeface="+mn-cs"/>
                        </a:rPr>
                      </a:br>
                      <a:r>
                        <a:rPr lang="en-US" sz="1100" b="1" i="0" u="none" strike="noStrike" kern="1200" noProof="0">
                          <a:solidFill>
                            <a:srgbClr val="0070C0"/>
                          </a:solidFill>
                          <a:effectLst/>
                          <a:latin typeface="Nunito Sans"/>
                          <a:ea typeface="+mn-ea"/>
                          <a:cs typeface="+mn-cs"/>
                        </a:rPr>
                        <a:t>Go Live: April 29, 2026</a:t>
                      </a:r>
                      <a:br>
                        <a:rPr lang="en-US" sz="1100" b="1" i="0" u="none" strike="noStrike" kern="1200" noProof="0">
                          <a:solidFill>
                            <a:srgbClr val="0070C0"/>
                          </a:solidFill>
                          <a:effectLst/>
                          <a:latin typeface="Nunito Sans"/>
                          <a:ea typeface="+mn-ea"/>
                          <a:cs typeface="+mn-cs"/>
                        </a:rPr>
                      </a:br>
                      <a:r>
                        <a:rPr lang="en-US" sz="1100" b="1" i="0" u="none" strike="noStrike" kern="1200" noProof="0">
                          <a:solidFill>
                            <a:srgbClr val="0070C0"/>
                          </a:solidFill>
                          <a:effectLst/>
                          <a:latin typeface="Nunito Sans"/>
                          <a:ea typeface="+mn-ea"/>
                          <a:cs typeface="+mn-cs"/>
                        </a:rPr>
                        <a:t>Actual Go Live: April 29, 2026</a:t>
                      </a:r>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marL="228600" lvl="0" indent="-228600" algn="l">
                        <a:lnSpc>
                          <a:spcPct val="100000"/>
                        </a:lnSpc>
                        <a:spcBef>
                          <a:spcPts val="0"/>
                        </a:spcBef>
                        <a:spcAft>
                          <a:spcPts val="0"/>
                        </a:spcAft>
                        <a:buAutoNum type="arabicPeriod"/>
                      </a:pPr>
                      <a:endParaRPr lang="en-US" sz="1100" b="1" i="0" u="none" strike="noStrike" kern="1200" noProof="0">
                        <a:solidFill>
                          <a:srgbClr val="0070C0"/>
                        </a:solidFill>
                        <a:latin typeface="Nunito Sans"/>
                      </a:endParaRPr>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marL="0" lvl="0" indent="0" algn="l">
                        <a:lnSpc>
                          <a:spcPct val="100000"/>
                        </a:lnSpc>
                        <a:spcBef>
                          <a:spcPts val="0"/>
                        </a:spcBef>
                        <a:spcAft>
                          <a:spcPts val="0"/>
                        </a:spcAft>
                        <a:buNone/>
                      </a:pPr>
                      <a:r>
                        <a:rPr lang="en-US" sz="1000" b="0" i="0" u="none" strike="noStrike" kern="1200" baseline="0" noProof="0">
                          <a:solidFill>
                            <a:srgbClr val="000000"/>
                          </a:solidFill>
                          <a:latin typeface="Nunito Sans"/>
                        </a:rPr>
                        <a:t>Proactive monitoring of SLAs/warranties. Careful preparation and planning of spares to minimize the number of impacted seats and resulting penalties.</a:t>
                      </a:r>
                      <a:endParaRPr lang="en-US"/>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795646476"/>
                  </a:ext>
                </a:extLst>
              </a:tr>
              <a:tr h="988274">
                <a:tc>
                  <a:txBody>
                    <a:bodyPr/>
                    <a:lstStyle/>
                    <a:p>
                      <a:pPr marL="0" lvl="0" indent="0" algn="l">
                        <a:lnSpc>
                          <a:spcPct val="100000"/>
                        </a:lnSpc>
                        <a:spcBef>
                          <a:spcPts val="0"/>
                        </a:spcBef>
                        <a:spcAft>
                          <a:spcPts val="0"/>
                        </a:spcAft>
                        <a:buNone/>
                      </a:pPr>
                      <a:r>
                        <a:rPr lang="en-US" sz="1100" b="1" i="0" u="none" strike="noStrike" kern="1200" noProof="0">
                          <a:solidFill>
                            <a:srgbClr val="0070C0"/>
                          </a:solidFill>
                          <a:effectLst/>
                          <a:latin typeface="Nunito Sans"/>
                          <a:ea typeface="+mn-ea"/>
                          <a:cs typeface="+mn-cs"/>
                        </a:rPr>
                        <a:t>Pred Mx - A320 Aircraft Parking Brake</a:t>
                      </a:r>
                      <a:br>
                        <a:rPr lang="en-US" sz="1100" b="1" i="0" u="none" strike="noStrike" kern="1200" noProof="0">
                          <a:solidFill>
                            <a:srgbClr val="0070C0"/>
                          </a:solidFill>
                          <a:effectLst/>
                          <a:latin typeface="Nunito Sans"/>
                          <a:ea typeface="+mn-ea"/>
                          <a:cs typeface="+mn-cs"/>
                        </a:rPr>
                      </a:br>
                      <a:r>
                        <a:rPr lang="en-US" sz="1100" b="1" i="0" u="none" strike="noStrike" kern="1200" noProof="0">
                          <a:solidFill>
                            <a:srgbClr val="0070C0"/>
                          </a:solidFill>
                          <a:effectLst/>
                          <a:latin typeface="Nunito Sans"/>
                          <a:ea typeface="+mn-ea"/>
                          <a:cs typeface="+mn-cs"/>
                        </a:rPr>
                        <a:t>Planned Go Live: April 13, 2026</a:t>
                      </a:r>
                      <a:br>
                        <a:rPr lang="en-US" sz="1100" b="1" i="0" u="none" strike="noStrike" kern="1200" noProof="0">
                          <a:solidFill>
                            <a:srgbClr val="0070C0"/>
                          </a:solidFill>
                          <a:effectLst/>
                          <a:latin typeface="Nunito Sans"/>
                          <a:ea typeface="+mn-ea"/>
                          <a:cs typeface="+mn-cs"/>
                        </a:rPr>
                      </a:br>
                      <a:r>
                        <a:rPr lang="en-US" sz="1100" b="1" i="0" u="none" strike="noStrike" kern="1200" noProof="0">
                          <a:solidFill>
                            <a:srgbClr val="0070C0"/>
                          </a:solidFill>
                          <a:effectLst/>
                          <a:latin typeface="Nunito Sans"/>
                          <a:ea typeface="+mn-ea"/>
                          <a:cs typeface="+mn-cs"/>
                        </a:rPr>
                        <a:t>Actual Go Live: April 15, 2026</a:t>
                      </a:r>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marL="228600" lvl="0" indent="-228600" algn="l">
                        <a:lnSpc>
                          <a:spcPct val="100000"/>
                        </a:lnSpc>
                        <a:spcBef>
                          <a:spcPts val="0"/>
                        </a:spcBef>
                        <a:spcAft>
                          <a:spcPts val="0"/>
                        </a:spcAft>
                        <a:buAutoNum type="arabicPeriod"/>
                      </a:pPr>
                      <a:endParaRPr lang="en-US" sz="1100" b="1" i="0" u="none" strike="noStrike" kern="1200" noProof="0">
                        <a:solidFill>
                          <a:srgbClr val="0070C0"/>
                        </a:solidFill>
                        <a:latin typeface="Nunito Sans"/>
                      </a:endParaRPr>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marL="0" lvl="0" indent="0" algn="l">
                        <a:lnSpc>
                          <a:spcPct val="100000"/>
                        </a:lnSpc>
                        <a:buNone/>
                      </a:pPr>
                      <a:r>
                        <a:rPr lang="en-US" sz="1000" b="0" i="0" u="none" strike="noStrike" kern="1200" baseline="0" noProof="0">
                          <a:solidFill>
                            <a:srgbClr val="000000"/>
                          </a:solidFill>
                          <a:latin typeface="Nunito Sans"/>
                        </a:rPr>
                        <a:t>Pred Mx - A320 Aircraft Parking Brake improves OTP by reducing delay minutes and delivers technical dispatch reliability, while improving safety and maintenance planning accuracy.</a:t>
                      </a:r>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69890185"/>
                  </a:ext>
                </a:extLst>
              </a:tr>
              <a:tr h="988274">
                <a:tc>
                  <a:txBody>
                    <a:bodyPr/>
                    <a:lstStyle/>
                    <a:p>
                      <a:pPr marL="0" lvl="0" indent="0" algn="l">
                        <a:lnSpc>
                          <a:spcPct val="100000"/>
                        </a:lnSpc>
                        <a:spcBef>
                          <a:spcPts val="0"/>
                        </a:spcBef>
                        <a:spcAft>
                          <a:spcPts val="0"/>
                        </a:spcAft>
                        <a:buNone/>
                      </a:pPr>
                      <a:r>
                        <a:rPr lang="en-US" sz="1100" b="1" i="0" u="none" strike="noStrike" kern="1200" noProof="0">
                          <a:solidFill>
                            <a:srgbClr val="0070C0"/>
                          </a:solidFill>
                          <a:effectLst/>
                          <a:latin typeface="Nunito Sans"/>
                          <a:ea typeface="+mn-ea"/>
                          <a:cs typeface="+mn-cs"/>
                        </a:rPr>
                        <a:t>ATC Call Sign Production Rollout</a:t>
                      </a:r>
                      <a:br>
                        <a:rPr lang="en-US" sz="1100" b="1" i="0" u="none" strike="noStrike" kern="1200" noProof="0">
                          <a:solidFill>
                            <a:srgbClr val="0070C0"/>
                          </a:solidFill>
                          <a:effectLst/>
                          <a:latin typeface="Nunito Sans"/>
                          <a:ea typeface="+mn-ea"/>
                          <a:cs typeface="+mn-cs"/>
                        </a:rPr>
                      </a:br>
                      <a:r>
                        <a:rPr lang="en-US" sz="1100" b="1" i="0" u="none" strike="noStrike" kern="1200" noProof="0">
                          <a:solidFill>
                            <a:srgbClr val="0070C0"/>
                          </a:solidFill>
                          <a:effectLst/>
                          <a:latin typeface="Nunito Sans"/>
                          <a:ea typeface="+mn-ea"/>
                          <a:cs typeface="+mn-cs"/>
                        </a:rPr>
                        <a:t>Planned Go Live:  April 8, 2026</a:t>
                      </a:r>
                      <a:br>
                        <a:rPr lang="en-US" sz="1100" b="1" i="0" u="none" strike="noStrike" kern="1200" noProof="0">
                          <a:solidFill>
                            <a:srgbClr val="0070C0"/>
                          </a:solidFill>
                          <a:effectLst/>
                          <a:latin typeface="Nunito Sans"/>
                          <a:ea typeface="+mn-ea"/>
                          <a:cs typeface="+mn-cs"/>
                        </a:rPr>
                      </a:br>
                      <a:r>
                        <a:rPr lang="en-US" sz="1100" b="1" i="0" u="none" strike="noStrike" kern="1200" noProof="0">
                          <a:solidFill>
                            <a:srgbClr val="0070C0"/>
                          </a:solidFill>
                          <a:effectLst/>
                          <a:latin typeface="Nunito Sans"/>
                          <a:ea typeface="+mn-ea"/>
                          <a:cs typeface="+mn-cs"/>
                        </a:rPr>
                        <a:t>Actual Go Live: April 2, 2026</a:t>
                      </a:r>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marL="228600" lvl="0" indent="-228600" algn="l">
                        <a:lnSpc>
                          <a:spcPct val="100000"/>
                        </a:lnSpc>
                        <a:spcBef>
                          <a:spcPts val="0"/>
                        </a:spcBef>
                        <a:spcAft>
                          <a:spcPts val="0"/>
                        </a:spcAft>
                        <a:buAutoNum type="arabicPeriod"/>
                      </a:pPr>
                      <a:endParaRPr lang="en-US" sz="1100" b="1" i="0" u="none" strike="noStrike" kern="1200" noProof="0">
                        <a:solidFill>
                          <a:srgbClr val="0070C0"/>
                        </a:solidFill>
                        <a:latin typeface="Nunito Sans"/>
                      </a:endParaRPr>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marL="0" lvl="0" indent="0" algn="l">
                        <a:lnSpc>
                          <a:spcPct val="100000"/>
                        </a:lnSpc>
                        <a:spcBef>
                          <a:spcPts val="0"/>
                        </a:spcBef>
                        <a:spcAft>
                          <a:spcPts val="0"/>
                        </a:spcAft>
                        <a:buNone/>
                      </a:pPr>
                      <a:r>
                        <a:rPr lang="en-US" sz="1000" b="0" i="0" u="none" strike="noStrike" kern="1200" baseline="0" noProof="0">
                          <a:solidFill>
                            <a:srgbClr val="000000"/>
                          </a:solidFill>
                          <a:latin typeface="Nunito Sans"/>
                        </a:rPr>
                        <a:t>This initiative replaces the use of commercial flight IDs with dedicated operational call signs, aligned with regulatory guidance and aviation best practices.</a:t>
                      </a:r>
                      <a:endParaRPr lang="en-US"/>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505292489"/>
                  </a:ext>
                </a:extLst>
              </a:tr>
              <a:tr h="988274">
                <a:tc>
                  <a:txBody>
                    <a:bodyPr/>
                    <a:lstStyle/>
                    <a:p>
                      <a:pPr marL="0" lvl="0" indent="0" algn="l">
                        <a:lnSpc>
                          <a:spcPct val="100000"/>
                        </a:lnSpc>
                        <a:spcBef>
                          <a:spcPts val="0"/>
                        </a:spcBef>
                        <a:spcAft>
                          <a:spcPts val="0"/>
                        </a:spcAft>
                        <a:buNone/>
                      </a:pPr>
                      <a:r>
                        <a:rPr lang="en-US" sz="1100" b="1" i="0" u="none" strike="noStrike" kern="1200" noProof="0">
                          <a:solidFill>
                            <a:srgbClr val="0070C0"/>
                          </a:solidFill>
                          <a:effectLst/>
                        </a:rPr>
                        <a:t>Ultramain ELB Go Live - Phase Wise (B787)</a:t>
                      </a:r>
                    </a:p>
                    <a:p>
                      <a:pPr marL="0" lvl="0" indent="0" algn="l">
                        <a:lnSpc>
                          <a:spcPct val="100000"/>
                        </a:lnSpc>
                        <a:spcBef>
                          <a:spcPts val="0"/>
                        </a:spcBef>
                        <a:spcAft>
                          <a:spcPts val="0"/>
                        </a:spcAft>
                        <a:buNone/>
                      </a:pPr>
                      <a:r>
                        <a:rPr lang="en-US" sz="1100" b="1" i="0" u="none" strike="noStrike" kern="1200" noProof="0">
                          <a:solidFill>
                            <a:srgbClr val="0070C0"/>
                          </a:solidFill>
                          <a:effectLst/>
                          <a:latin typeface="Nunito Sans"/>
                        </a:rPr>
                        <a:t>Planned Go Live: April 21, 2026</a:t>
                      </a:r>
                      <a:br>
                        <a:rPr lang="en-US" sz="1100" b="1" i="0" u="none" strike="noStrike" kern="1200" noProof="0">
                          <a:solidFill>
                            <a:srgbClr val="0070C0"/>
                          </a:solidFill>
                          <a:effectLst/>
                          <a:latin typeface="Nunito Sans"/>
                        </a:rPr>
                      </a:br>
                      <a:r>
                        <a:rPr lang="en-US" sz="1100" b="1" i="0" u="none" strike="noStrike" kern="1200" noProof="0">
                          <a:solidFill>
                            <a:srgbClr val="0070C0"/>
                          </a:solidFill>
                          <a:effectLst/>
                          <a:latin typeface="Nunito Sans"/>
                        </a:rPr>
                        <a:t>Actual Go Live: April 21, 2026</a:t>
                      </a:r>
                      <a:endParaRPr lang="en-US"/>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tc>
                  <a:txBody>
                    <a:bodyPr/>
                    <a:lstStyle/>
                    <a:p>
                      <a:pPr marL="0" lvl="0" indent="0" algn="l">
                        <a:lnSpc>
                          <a:spcPct val="100000"/>
                        </a:lnSpc>
                        <a:spcBef>
                          <a:spcPts val="0"/>
                        </a:spcBef>
                        <a:spcAft>
                          <a:spcPts val="0"/>
                        </a:spcAft>
                        <a:buNone/>
                      </a:pPr>
                      <a:endParaRPr lang="en-US" sz="1100" b="1" i="0" u="none" strike="noStrike" kern="1200" noProof="0">
                        <a:solidFill>
                          <a:srgbClr val="0070C0"/>
                        </a:solidFill>
                        <a:latin typeface="Nunito Sans"/>
                      </a:endParaRPr>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tc>
                  <a:txBody>
                    <a:bodyPr/>
                    <a:lstStyle/>
                    <a:p>
                      <a:pPr marL="0" lvl="0" indent="0" algn="l">
                        <a:lnSpc>
                          <a:spcPct val="100000"/>
                        </a:lnSpc>
                        <a:buNone/>
                      </a:pPr>
                      <a:r>
                        <a:rPr lang="en-US" sz="1000" b="0" i="0" u="none" strike="noStrike" kern="1200" baseline="0" noProof="0">
                          <a:solidFill>
                            <a:srgbClr val="000000"/>
                          </a:solidFill>
                          <a:latin typeface="Nunito Sans"/>
                        </a:rPr>
                        <a:t>Phase-wise Ultramain ELB go-live for B787 will enable seamless digital logbook adoption, while reducing paper-based delays and compliance risks.</a:t>
                      </a:r>
                      <a:endParaRPr lang="en-US"/>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extLst>
                  <a:ext uri="{0D108BD9-81ED-4DB2-BD59-A6C34878D82A}">
                    <a16:rowId xmlns:a16="http://schemas.microsoft.com/office/drawing/2014/main" val="2613867485"/>
                  </a:ext>
                </a:extLst>
              </a:tr>
            </a:tbl>
          </a:graphicData>
        </a:graphic>
      </p:graphicFrame>
      <p:sp>
        <p:nvSpPr>
          <p:cNvPr id="4" name="Rectangle 3">
            <a:extLst>
              <a:ext uri="{FF2B5EF4-FFF2-40B4-BE49-F238E27FC236}">
                <a16:creationId xmlns:a16="http://schemas.microsoft.com/office/drawing/2014/main" id="{BEF4AE0B-78DA-D350-0731-05939BC73BF1}"/>
              </a:ext>
            </a:extLst>
          </p:cNvPr>
          <p:cNvSpPr/>
          <p:nvPr/>
        </p:nvSpPr>
        <p:spPr>
          <a:xfrm>
            <a:off x="1188132" y="6671592"/>
            <a:ext cx="90000" cy="90000"/>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5" name="Rectangle 4">
            <a:extLst>
              <a:ext uri="{FF2B5EF4-FFF2-40B4-BE49-F238E27FC236}">
                <a16:creationId xmlns:a16="http://schemas.microsoft.com/office/drawing/2014/main" id="{7F1B6200-5972-B5F8-F96C-2582365DD9D5}"/>
              </a:ext>
            </a:extLst>
          </p:cNvPr>
          <p:cNvSpPr/>
          <p:nvPr/>
        </p:nvSpPr>
        <p:spPr>
          <a:xfrm>
            <a:off x="2265818" y="6670554"/>
            <a:ext cx="90000" cy="90000"/>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7" name="Rectangle 6">
            <a:extLst>
              <a:ext uri="{FF2B5EF4-FFF2-40B4-BE49-F238E27FC236}">
                <a16:creationId xmlns:a16="http://schemas.microsoft.com/office/drawing/2014/main" id="{6B59E4E9-F882-FDD3-498A-E5AEA8D59783}"/>
              </a:ext>
            </a:extLst>
          </p:cNvPr>
          <p:cNvSpPr/>
          <p:nvPr/>
        </p:nvSpPr>
        <p:spPr>
          <a:xfrm>
            <a:off x="3443423" y="6671592"/>
            <a:ext cx="90000" cy="90000"/>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8" name="Rectangle 7">
            <a:extLst>
              <a:ext uri="{FF2B5EF4-FFF2-40B4-BE49-F238E27FC236}">
                <a16:creationId xmlns:a16="http://schemas.microsoft.com/office/drawing/2014/main" id="{F78E6545-D82D-8B17-63D5-E8114B6B29D6}"/>
              </a:ext>
            </a:extLst>
          </p:cNvPr>
          <p:cNvSpPr/>
          <p:nvPr/>
        </p:nvSpPr>
        <p:spPr>
          <a:xfrm>
            <a:off x="8146052" y="6714097"/>
            <a:ext cx="90000" cy="90000"/>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9" name="TextBox 15">
            <a:extLst>
              <a:ext uri="{FF2B5EF4-FFF2-40B4-BE49-F238E27FC236}">
                <a16:creationId xmlns:a16="http://schemas.microsoft.com/office/drawing/2014/main" id="{3955D2DC-703B-5D9E-DEA0-8733D1073340}"/>
              </a:ext>
            </a:extLst>
          </p:cNvPr>
          <p:cNvSpPr txBox="1"/>
          <p:nvPr/>
        </p:nvSpPr>
        <p:spPr>
          <a:xfrm>
            <a:off x="1288983" y="6614743"/>
            <a:ext cx="857245"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0070C0"/>
                </a:solidFill>
                <a:effectLst/>
                <a:uLnTx/>
                <a:uFillTx/>
                <a:latin typeface="Nunito Sans"/>
                <a:ea typeface="+mn-ea"/>
                <a:cs typeface="+mn-cs"/>
              </a:rPr>
              <a:t>Delivered</a:t>
            </a:r>
            <a:endParaRPr kumimoji="0" lang="en-IN" sz="1000" b="0" i="0" u="none" strike="noStrike" kern="1200" cap="none" spc="0" normalizeH="0" baseline="0" noProof="0">
              <a:ln>
                <a:noFill/>
              </a:ln>
              <a:solidFill>
                <a:srgbClr val="000000"/>
              </a:solidFill>
              <a:effectLst/>
              <a:uLnTx/>
              <a:uFillTx/>
              <a:latin typeface="Nunito Sans"/>
              <a:ea typeface="+mn-ea"/>
              <a:cs typeface="+mn-cs"/>
            </a:endParaRPr>
          </a:p>
        </p:txBody>
      </p:sp>
      <p:sp>
        <p:nvSpPr>
          <p:cNvPr id="10" name="TextBox 18">
            <a:extLst>
              <a:ext uri="{FF2B5EF4-FFF2-40B4-BE49-F238E27FC236}">
                <a16:creationId xmlns:a16="http://schemas.microsoft.com/office/drawing/2014/main" id="{766396B5-417E-E531-3737-97AFA2E1045C}"/>
              </a:ext>
            </a:extLst>
          </p:cNvPr>
          <p:cNvSpPr txBox="1"/>
          <p:nvPr/>
        </p:nvSpPr>
        <p:spPr>
          <a:xfrm>
            <a:off x="2310642" y="6611102"/>
            <a:ext cx="1032881"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00B050"/>
                </a:solidFill>
                <a:effectLst/>
                <a:uLnTx/>
                <a:uFillTx/>
                <a:latin typeface="Nunito Sans"/>
                <a:ea typeface="+mn-ea"/>
                <a:cs typeface="+mn-cs"/>
              </a:rPr>
              <a:t>Ontrack</a:t>
            </a:r>
            <a:endParaRPr kumimoji="0" lang="en-IN" sz="1000" b="0" i="0" u="none" strike="noStrike" kern="1200" cap="none" spc="0" normalizeH="0" baseline="0" noProof="0">
              <a:ln>
                <a:noFill/>
              </a:ln>
              <a:solidFill>
                <a:srgbClr val="000000"/>
              </a:solidFill>
              <a:effectLst/>
              <a:uLnTx/>
              <a:uFillTx/>
              <a:latin typeface="Nunito Sans"/>
              <a:ea typeface="+mn-ea"/>
              <a:cs typeface="+mn-cs"/>
            </a:endParaRPr>
          </a:p>
        </p:txBody>
      </p:sp>
      <p:sp>
        <p:nvSpPr>
          <p:cNvPr id="11" name="TextBox 20">
            <a:extLst>
              <a:ext uri="{FF2B5EF4-FFF2-40B4-BE49-F238E27FC236}">
                <a16:creationId xmlns:a16="http://schemas.microsoft.com/office/drawing/2014/main" id="{31AA7446-082E-8040-B96D-F4C2EB77C4BE}"/>
              </a:ext>
            </a:extLst>
          </p:cNvPr>
          <p:cNvSpPr txBox="1"/>
          <p:nvPr/>
        </p:nvSpPr>
        <p:spPr>
          <a:xfrm>
            <a:off x="3539606" y="6608370"/>
            <a:ext cx="2257628"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FED9A0">
                    <a:lumMod val="75000"/>
                  </a:srgbClr>
                </a:solidFill>
                <a:effectLst/>
                <a:uLnTx/>
                <a:uFillTx/>
                <a:latin typeface="Nunito Sans"/>
                <a:ea typeface="+mn-ea"/>
                <a:cs typeface="+mn-cs"/>
              </a:rPr>
              <a:t>Under delay and can be recovered</a:t>
            </a:r>
            <a:endParaRPr kumimoji="0" lang="en-IN" sz="1000" b="0" i="0" u="none" strike="noStrike" kern="1200" cap="none" spc="0" normalizeH="0" baseline="0" noProof="0">
              <a:ln>
                <a:noFill/>
              </a:ln>
              <a:solidFill>
                <a:srgbClr val="000000"/>
              </a:solidFill>
              <a:effectLst/>
              <a:uLnTx/>
              <a:uFillTx/>
              <a:latin typeface="Nunito Sans"/>
              <a:ea typeface="+mn-ea"/>
              <a:cs typeface="+mn-cs"/>
            </a:endParaRPr>
          </a:p>
        </p:txBody>
      </p:sp>
      <p:sp>
        <p:nvSpPr>
          <p:cNvPr id="13" name="TextBox 22">
            <a:extLst>
              <a:ext uri="{FF2B5EF4-FFF2-40B4-BE49-F238E27FC236}">
                <a16:creationId xmlns:a16="http://schemas.microsoft.com/office/drawing/2014/main" id="{CC0FC20D-378A-2711-8F65-1A43DDCB028A}"/>
              </a:ext>
            </a:extLst>
          </p:cNvPr>
          <p:cNvSpPr txBox="1"/>
          <p:nvPr/>
        </p:nvSpPr>
        <p:spPr>
          <a:xfrm>
            <a:off x="8246937" y="6618126"/>
            <a:ext cx="2338222"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FF0000"/>
                </a:solidFill>
                <a:effectLst/>
                <a:uLnTx/>
                <a:uFillTx/>
                <a:latin typeface="Nunito Sans"/>
                <a:ea typeface="+mn-ea"/>
                <a:cs typeface="+mn-cs"/>
              </a:rPr>
              <a:t>Delayed and pushed to next release</a:t>
            </a:r>
          </a:p>
        </p:txBody>
      </p:sp>
      <p:sp>
        <p:nvSpPr>
          <p:cNvPr id="15" name="TextBox 14">
            <a:extLst>
              <a:ext uri="{FF2B5EF4-FFF2-40B4-BE49-F238E27FC236}">
                <a16:creationId xmlns:a16="http://schemas.microsoft.com/office/drawing/2014/main" id="{1B442DFE-D7CA-40EA-3263-3124C35E5CC6}"/>
              </a:ext>
            </a:extLst>
          </p:cNvPr>
          <p:cNvSpPr txBox="1"/>
          <p:nvPr/>
        </p:nvSpPr>
        <p:spPr>
          <a:xfrm>
            <a:off x="6454369" y="6611638"/>
            <a:ext cx="2743200"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IN" sz="1000">
                <a:solidFill>
                  <a:srgbClr val="7D7D7D"/>
                </a:solidFill>
              </a:rPr>
              <a:t>Descoped</a:t>
            </a:r>
            <a:endParaRPr lang="en-US"/>
          </a:p>
        </p:txBody>
      </p:sp>
      <p:sp>
        <p:nvSpPr>
          <p:cNvPr id="16" name="Rectangle 15">
            <a:extLst>
              <a:ext uri="{FF2B5EF4-FFF2-40B4-BE49-F238E27FC236}">
                <a16:creationId xmlns:a16="http://schemas.microsoft.com/office/drawing/2014/main" id="{C0EF82CE-708B-FB05-B283-528FA056AB72}"/>
              </a:ext>
            </a:extLst>
          </p:cNvPr>
          <p:cNvSpPr/>
          <p:nvPr/>
        </p:nvSpPr>
        <p:spPr>
          <a:xfrm>
            <a:off x="6360794" y="6681439"/>
            <a:ext cx="90000" cy="90000"/>
          </a:xfrm>
          <a:prstGeom prst="rect">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Tree>
    <p:extLst>
      <p:ext uri="{BB962C8B-B14F-4D97-AF65-F5344CB8AC3E}">
        <p14:creationId xmlns:p14="http://schemas.microsoft.com/office/powerpoint/2010/main" val="305588597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D14B75-F4B8-0195-051C-C1A0FAA4E49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3B2C895-AF92-19E3-EEA1-253D6FBFBAD9}"/>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3A41A254-7326-714E-AF55-4C213D6394DE}" type="slidenum">
              <a:rPr kumimoji="0" lang="en-US" sz="1200" b="0" i="0" u="none" strike="noStrike" kern="1200" cap="none" spc="0" normalizeH="0" baseline="0" noProof="0" smtClean="0">
                <a:ln>
                  <a:noFill/>
                </a:ln>
                <a:solidFill>
                  <a:srgbClr val="DA0E28"/>
                </a:solidFill>
                <a:effectLst/>
                <a:uLnTx/>
                <a:uFillTx/>
                <a:latin typeface="Nunito Sans"/>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29</a:t>
            </a:fld>
            <a:endParaRPr kumimoji="0" lang="en-US" sz="1200" b="0" i="0" u="none" strike="noStrike" kern="1200" cap="none" spc="0" normalizeH="0" baseline="0" noProof="0">
              <a:ln>
                <a:noFill/>
              </a:ln>
              <a:solidFill>
                <a:srgbClr val="DA0E28"/>
              </a:solidFill>
              <a:effectLst/>
              <a:uLnTx/>
              <a:uFillTx/>
              <a:latin typeface="Nunito Sans"/>
              <a:ea typeface="+mn-ea"/>
              <a:cs typeface="+mn-cs"/>
            </a:endParaRPr>
          </a:p>
        </p:txBody>
      </p:sp>
      <p:sp>
        <p:nvSpPr>
          <p:cNvPr id="3" name="Rectangle 2">
            <a:extLst>
              <a:ext uri="{FF2B5EF4-FFF2-40B4-BE49-F238E27FC236}">
                <a16:creationId xmlns:a16="http://schemas.microsoft.com/office/drawing/2014/main" id="{236428CD-472E-A3B3-B630-0CB46E5864DE}"/>
              </a:ext>
            </a:extLst>
          </p:cNvPr>
          <p:cNvSpPr/>
          <p:nvPr/>
        </p:nvSpPr>
        <p:spPr>
          <a:xfrm>
            <a:off x="129077" y="610471"/>
            <a:ext cx="1170432" cy="42234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400" b="1">
                <a:solidFill>
                  <a:srgbClr val="FFFFFF"/>
                </a:solidFill>
                <a:latin typeface="AirIndia"/>
              </a:rPr>
              <a:t>May</a:t>
            </a:r>
            <a:r>
              <a:rPr kumimoji="0" lang="en-IN" sz="1400" b="1" i="0" u="none" strike="noStrike" kern="1200" cap="none" spc="0" normalizeH="0" baseline="0" noProof="0">
                <a:ln>
                  <a:noFill/>
                </a:ln>
                <a:solidFill>
                  <a:srgbClr val="FFFFFF"/>
                </a:solidFill>
                <a:effectLst/>
                <a:uLnTx/>
                <a:uFillTx/>
                <a:latin typeface="AirIndia"/>
                <a:ea typeface="+mn-ea"/>
                <a:cs typeface="+mn-cs"/>
              </a:rPr>
              <a:t> ‘</a:t>
            </a:r>
            <a:r>
              <a:rPr lang="en-IN" sz="1400" b="1">
                <a:solidFill>
                  <a:srgbClr val="FFFFFF"/>
                </a:solidFill>
                <a:latin typeface="AirIndia"/>
              </a:rPr>
              <a:t>26</a:t>
            </a:r>
            <a:endParaRPr kumimoji="0" lang="en-US" sz="1400" b="1" i="0" u="none" strike="noStrike" kern="1200" cap="none" spc="0" normalizeH="0" baseline="0" noProof="0">
              <a:ln>
                <a:noFill/>
              </a:ln>
              <a:solidFill>
                <a:srgbClr val="FFFFFF"/>
              </a:solidFill>
              <a:effectLst/>
              <a:uLnTx/>
              <a:uFillTx/>
              <a:latin typeface="AirIndia"/>
              <a:ea typeface="+mn-ea"/>
              <a:cs typeface="+mn-cs"/>
            </a:endParaRPr>
          </a:p>
        </p:txBody>
      </p:sp>
      <p:sp>
        <p:nvSpPr>
          <p:cNvPr id="6" name="Title 11">
            <a:extLst>
              <a:ext uri="{FF2B5EF4-FFF2-40B4-BE49-F238E27FC236}">
                <a16:creationId xmlns:a16="http://schemas.microsoft.com/office/drawing/2014/main" id="{EB048D43-9852-24C1-0BA8-053ACF2B3B14}"/>
              </a:ext>
            </a:extLst>
          </p:cNvPr>
          <p:cNvSpPr txBox="1">
            <a:spLocks/>
          </p:cNvSpPr>
          <p:nvPr/>
        </p:nvSpPr>
        <p:spPr>
          <a:xfrm>
            <a:off x="210200" y="182023"/>
            <a:ext cx="7691717" cy="430255"/>
          </a:xfrm>
          <a:prstGeom prst="rect">
            <a:avLst/>
          </a:prstGeom>
        </p:spPr>
        <p:txBody>
          <a:bodyPr lIns="91440" tIns="45720" rIns="91440" bIns="45720" anchor="t">
            <a:noAutofit/>
          </a:bodyPr>
          <a:lstStyle>
            <a:lvl1pPr algn="l" defTabSz="914400" rtl="0" eaLnBrk="1" latinLnBrk="0" hangingPunct="1">
              <a:lnSpc>
                <a:spcPct val="90000"/>
              </a:lnSpc>
              <a:spcBef>
                <a:spcPct val="0"/>
              </a:spcBef>
              <a:buNone/>
              <a:defRPr sz="4400" b="1" i="0" kern="1200">
                <a:solidFill>
                  <a:schemeClr val="tx1"/>
                </a:solidFill>
                <a:latin typeface="AirIndia" pitchFamily="82" charset="77"/>
                <a:ea typeface="+mj-ea"/>
                <a:cs typeface="+mj-cs"/>
              </a:defRPr>
            </a:lvl1pPr>
          </a:lstStyle>
          <a:p>
            <a:pPr>
              <a:defRPr/>
            </a:pPr>
            <a:r>
              <a:rPr lang="en-US" sz="1800">
                <a:solidFill>
                  <a:srgbClr val="DA0E28"/>
                </a:solidFill>
                <a:latin typeface="AirIndia"/>
              </a:rPr>
              <a:t>Engineering Tech </a:t>
            </a:r>
            <a:r>
              <a:rPr kumimoji="0" lang="en-US" sz="1800" b="1" i="0" u="none" strike="noStrike" kern="1200" cap="none" spc="0" normalizeH="0" baseline="0" noProof="0">
                <a:ln>
                  <a:noFill/>
                </a:ln>
                <a:solidFill>
                  <a:srgbClr val="DA0E28"/>
                </a:solidFill>
                <a:effectLst/>
                <a:uLnTx/>
                <a:uFillTx/>
                <a:latin typeface="AirIndia"/>
                <a:ea typeface="+mj-ea"/>
                <a:cs typeface="+mj-cs"/>
              </a:rPr>
              <a:t>- </a:t>
            </a:r>
            <a:r>
              <a:rPr lang="en-US" sz="1800">
                <a:solidFill>
                  <a:srgbClr val="DA0E28"/>
                </a:solidFill>
                <a:latin typeface="AirIndia"/>
              </a:rPr>
              <a:t>FY26-27 </a:t>
            </a:r>
            <a:r>
              <a:rPr kumimoji="0" lang="en-US" sz="1800" b="1" i="0" u="none" strike="noStrike" kern="1200" cap="none" spc="0" normalizeH="0" baseline="0" noProof="0">
                <a:ln>
                  <a:noFill/>
                </a:ln>
                <a:solidFill>
                  <a:srgbClr val="DA0E28"/>
                </a:solidFill>
                <a:effectLst/>
                <a:uLnTx/>
                <a:uFillTx/>
                <a:latin typeface="AirIndia"/>
                <a:ea typeface="+mj-ea"/>
                <a:cs typeface="+mj-cs"/>
              </a:rPr>
              <a:t>Q1 Release Plan</a:t>
            </a:r>
            <a:endParaRPr lang="en-US" sz="1800" b="0">
              <a:solidFill>
                <a:srgbClr val="000000"/>
              </a:solidFill>
              <a:latin typeface="AirIndia"/>
            </a:endParaRPr>
          </a:p>
          <a:p>
            <a:pPr>
              <a:defRPr/>
            </a:pPr>
            <a:endParaRPr lang="en-US" sz="1800" i="0" u="none" strike="noStrike" kern="1200" cap="none" spc="0" normalizeH="0" baseline="0" noProof="0">
              <a:ln>
                <a:noFill/>
              </a:ln>
              <a:solidFill>
                <a:srgbClr val="DA0E28"/>
              </a:solidFill>
              <a:effectLst/>
              <a:uLnTx/>
              <a:uFillTx/>
              <a:latin typeface="AirIndia"/>
            </a:endParaRPr>
          </a:p>
        </p:txBody>
      </p:sp>
      <p:graphicFrame>
        <p:nvGraphicFramePr>
          <p:cNvPr id="12" name="Table 11">
            <a:extLst>
              <a:ext uri="{FF2B5EF4-FFF2-40B4-BE49-F238E27FC236}">
                <a16:creationId xmlns:a16="http://schemas.microsoft.com/office/drawing/2014/main" id="{31D8C8F3-BCDC-1501-4C76-88204373166E}"/>
              </a:ext>
            </a:extLst>
          </p:cNvPr>
          <p:cNvGraphicFramePr>
            <a:graphicFrameLocks noGrp="1"/>
          </p:cNvGraphicFramePr>
          <p:nvPr>
            <p:extLst>
              <p:ext uri="{D42A27DB-BD31-4B8C-83A1-F6EECF244321}">
                <p14:modId xmlns:p14="http://schemas.microsoft.com/office/powerpoint/2010/main" val="1855101831"/>
              </p:ext>
            </p:extLst>
          </p:nvPr>
        </p:nvGraphicFramePr>
        <p:xfrm>
          <a:off x="1251008" y="588627"/>
          <a:ext cx="10685698" cy="4404360"/>
        </p:xfrm>
        <a:graphic>
          <a:graphicData uri="http://schemas.openxmlformats.org/drawingml/2006/table">
            <a:tbl>
              <a:tblPr firstRow="1" bandRow="1">
                <a:tableStyleId>{5C22544A-7EE6-4342-B048-85BDC9FD1C3A}</a:tableStyleId>
              </a:tblPr>
              <a:tblGrid>
                <a:gridCol w="2919490">
                  <a:extLst>
                    <a:ext uri="{9D8B030D-6E8A-4147-A177-3AD203B41FA5}">
                      <a16:colId xmlns:a16="http://schemas.microsoft.com/office/drawing/2014/main" val="2822350773"/>
                    </a:ext>
                  </a:extLst>
                </a:gridCol>
                <a:gridCol w="2919490">
                  <a:extLst>
                    <a:ext uri="{9D8B030D-6E8A-4147-A177-3AD203B41FA5}">
                      <a16:colId xmlns:a16="http://schemas.microsoft.com/office/drawing/2014/main" val="2043345236"/>
                    </a:ext>
                  </a:extLst>
                </a:gridCol>
                <a:gridCol w="4846718">
                  <a:extLst>
                    <a:ext uri="{9D8B030D-6E8A-4147-A177-3AD203B41FA5}">
                      <a16:colId xmlns:a16="http://schemas.microsoft.com/office/drawing/2014/main" val="99588705"/>
                    </a:ext>
                  </a:extLst>
                </a:gridCol>
              </a:tblGrid>
              <a:tr h="530670">
                <a:tc>
                  <a:txBody>
                    <a:bodyPr/>
                    <a:lstStyle/>
                    <a:p>
                      <a:pPr marL="0" lvl="0" indent="0" algn="ctr" defTabSz="914400" rtl="0">
                        <a:lnSpc>
                          <a:spcPct val="100000"/>
                        </a:lnSpc>
                        <a:buFont typeface="Arial" panose="020B0604020202020204" pitchFamily="34" charset="0"/>
                        <a:buNone/>
                      </a:pPr>
                      <a:r>
                        <a:rPr lang="en-IN" sz="1100" b="1" kern="1200">
                          <a:solidFill>
                            <a:schemeClr val="bg1"/>
                          </a:solidFill>
                          <a:latin typeface="+mn-lt"/>
                          <a:ea typeface="+mn-ea"/>
                          <a:cs typeface="+mn-cs"/>
                        </a:rPr>
                        <a:t>Initiatives</a:t>
                      </a:r>
                      <a:endParaRPr lang="en-US" sz="1100" b="1"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tc>
                  <a:txBody>
                    <a:bodyPr/>
                    <a:lstStyle/>
                    <a:p>
                      <a:pPr marL="0" lvl="0" indent="0" algn="ctr" defTabSz="914400">
                        <a:lnSpc>
                          <a:spcPct val="100000"/>
                        </a:lnSpc>
                        <a:buNone/>
                      </a:pPr>
                      <a:r>
                        <a:rPr lang="en-IN" sz="1100" b="1" i="0" u="none" strike="noStrike" kern="1200" noProof="0">
                          <a:solidFill>
                            <a:schemeClr val="bg1"/>
                          </a:solidFill>
                          <a:latin typeface="Nunito Sans"/>
                          <a:ea typeface="+mn-ea"/>
                          <a:cs typeface="+mn-cs"/>
                        </a:rPr>
                        <a:t>Programs/Projects</a:t>
                      </a:r>
                      <a:endParaRPr lang="en-US"/>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solidFill>
                      <a:schemeClr val="accent3">
                        <a:lumMod val="90000"/>
                        <a:lumOff val="10000"/>
                      </a:schemeClr>
                    </a:solidFill>
                  </a:tcPr>
                </a:tc>
                <a:tc>
                  <a:txBody>
                    <a:bodyPr/>
                    <a:lstStyle/>
                    <a:p>
                      <a:pPr marL="0" lvl="0" indent="0" algn="ctr">
                        <a:lnSpc>
                          <a:spcPct val="100000"/>
                        </a:lnSpc>
                        <a:buNone/>
                      </a:pPr>
                      <a:endParaRPr lang="en-IN" sz="1100" b="1" i="0" u="none" strike="noStrike" kern="1200" baseline="0" noProof="0">
                        <a:solidFill>
                          <a:srgbClr val="FFFFFF"/>
                        </a:solidFill>
                        <a:latin typeface="Nunito Sans"/>
                      </a:endParaRPr>
                    </a:p>
                    <a:p>
                      <a:pPr marL="0" lvl="0" indent="0" algn="ctr">
                        <a:lnSpc>
                          <a:spcPct val="100000"/>
                        </a:lnSpc>
                        <a:buNone/>
                      </a:pPr>
                      <a:r>
                        <a:rPr lang="en-IN" sz="1100" b="1" i="0" u="none" strike="noStrike" kern="1200" baseline="0" noProof="0">
                          <a:solidFill>
                            <a:srgbClr val="FFFFFF"/>
                          </a:solidFill>
                          <a:latin typeface="Nunito Sans"/>
                        </a:rPr>
                        <a:t>Value Justification/Realization</a:t>
                      </a:r>
                    </a:p>
                    <a:p>
                      <a:pPr marL="0" lvl="0" indent="0" algn="ctr" defTabSz="914400">
                        <a:buFont typeface="Arial" panose="020B0604020202020204" pitchFamily="34" charset="0"/>
                        <a:buNone/>
                      </a:pPr>
                      <a:endParaRPr lang="en-IN" sz="1100"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extLst>
                  <a:ext uri="{0D108BD9-81ED-4DB2-BD59-A6C34878D82A}">
                    <a16:rowId xmlns:a16="http://schemas.microsoft.com/office/drawing/2014/main" val="844450115"/>
                  </a:ext>
                </a:extLst>
              </a:tr>
              <a:tr h="1270000">
                <a:tc>
                  <a:txBody>
                    <a:bodyPr/>
                    <a:lstStyle/>
                    <a:p>
                      <a:pPr marL="0" lvl="0" indent="0" algn="l">
                        <a:lnSpc>
                          <a:spcPct val="100000"/>
                        </a:lnSpc>
                        <a:spcBef>
                          <a:spcPts val="0"/>
                        </a:spcBef>
                        <a:spcAft>
                          <a:spcPts val="0"/>
                        </a:spcAft>
                        <a:buNone/>
                      </a:pPr>
                      <a:r>
                        <a:rPr lang="en-US" sz="1100" b="1" i="0" u="none" strike="noStrike" kern="1200" noProof="0">
                          <a:solidFill>
                            <a:srgbClr val="FFC000"/>
                          </a:solidFill>
                          <a:effectLst/>
                          <a:latin typeface="Nunito Sans"/>
                          <a:ea typeface="+mn-ea"/>
                          <a:cs typeface="+mn-cs"/>
                        </a:rPr>
                        <a:t>AiMeE Mx History</a:t>
                      </a:r>
                    </a:p>
                    <a:p>
                      <a:pPr marL="0" lvl="0" indent="0" algn="l">
                        <a:lnSpc>
                          <a:spcPct val="100000"/>
                        </a:lnSpc>
                        <a:spcBef>
                          <a:spcPts val="0"/>
                        </a:spcBef>
                        <a:spcAft>
                          <a:spcPts val="0"/>
                        </a:spcAft>
                        <a:buNone/>
                      </a:pPr>
                      <a:r>
                        <a:rPr lang="en-US" sz="1100" b="1" i="0" u="none" strike="noStrike" kern="1200" noProof="0">
                          <a:solidFill>
                            <a:srgbClr val="FFC000"/>
                          </a:solidFill>
                          <a:effectLst/>
                          <a:latin typeface="Nunito Sans"/>
                          <a:ea typeface="+mn-ea"/>
                          <a:cs typeface="+mn-cs"/>
                        </a:rPr>
                        <a:t>Planned Go Live : May 14, 2026</a:t>
                      </a:r>
                      <a:br>
                        <a:rPr lang="en-US" sz="1100" b="1" i="0" u="none" strike="noStrike" kern="1200" noProof="0">
                          <a:solidFill>
                            <a:srgbClr val="00B050"/>
                          </a:solidFill>
                          <a:effectLst/>
                          <a:latin typeface="Nunito Sans"/>
                          <a:ea typeface="+mn-ea"/>
                          <a:cs typeface="+mn-cs"/>
                        </a:rPr>
                      </a:br>
                      <a:endParaRPr lang="en-US" sz="1100" b="1" i="0" u="none" strike="noStrike" kern="1200" noProof="0">
                        <a:solidFill>
                          <a:srgbClr val="00B050"/>
                        </a:solidFill>
                        <a:effectLst/>
                        <a:latin typeface="Nunito Sans"/>
                      </a:endParaRPr>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marL="228600" lvl="0" indent="-228600" algn="l">
                        <a:lnSpc>
                          <a:spcPct val="100000"/>
                        </a:lnSpc>
                        <a:spcBef>
                          <a:spcPts val="0"/>
                        </a:spcBef>
                        <a:spcAft>
                          <a:spcPts val="0"/>
                        </a:spcAft>
                        <a:buAutoNum type="arabicPeriod"/>
                      </a:pPr>
                      <a:endParaRPr lang="en-US" sz="1100" b="1" i="0" u="none" strike="noStrike" kern="1200" noProof="0">
                        <a:solidFill>
                          <a:srgbClr val="0070C0"/>
                        </a:solidFill>
                        <a:latin typeface="Nunito Sans"/>
                      </a:endParaRPr>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marL="0" lvl="0" indent="0" algn="l">
                        <a:lnSpc>
                          <a:spcPct val="100000"/>
                        </a:lnSpc>
                        <a:spcBef>
                          <a:spcPts val="0"/>
                        </a:spcBef>
                        <a:spcAft>
                          <a:spcPts val="0"/>
                        </a:spcAft>
                        <a:buNone/>
                      </a:pPr>
                      <a:r>
                        <a:rPr lang="en-US" sz="1000" b="0" i="0" u="none" strike="noStrike" kern="1200" baseline="0" noProof="0">
                          <a:solidFill>
                            <a:srgbClr val="000000"/>
                          </a:solidFill>
                          <a:latin typeface="Nunito Sans"/>
                        </a:rPr>
                        <a:t>This feature enhances the Aimee Chatbot by adding insights from real maintenance history to complement AMM/TSM guidance. It analyses past fixes, operating conditions, and outcomes to recommend solutions proven effective in actual scenarios. </a:t>
                      </a:r>
                      <a:endParaRPr lang="en-US"/>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443371065"/>
                  </a:ext>
                </a:extLst>
              </a:tr>
              <a:tr h="1270000">
                <a:tc>
                  <a:txBody>
                    <a:bodyPr/>
                    <a:lstStyle/>
                    <a:p>
                      <a:pPr marL="0" lvl="0" indent="0" algn="l">
                        <a:lnSpc>
                          <a:spcPct val="100000"/>
                        </a:lnSpc>
                        <a:spcBef>
                          <a:spcPts val="0"/>
                        </a:spcBef>
                        <a:spcAft>
                          <a:spcPts val="0"/>
                        </a:spcAft>
                        <a:buNone/>
                      </a:pPr>
                      <a:r>
                        <a:rPr lang="en-IN" sz="1100" b="1" i="0" u="none" strike="noStrike" kern="1200" noProof="0">
                          <a:solidFill>
                            <a:srgbClr val="0070C0"/>
                          </a:solidFill>
                          <a:effectLst/>
                          <a:latin typeface="Nunito Sans"/>
                          <a:ea typeface="+mn-ea"/>
                          <a:cs typeface="+mn-cs"/>
                        </a:rPr>
                        <a:t>AHM Alerts Status &amp; Prioritization</a:t>
                      </a:r>
                    </a:p>
                    <a:p>
                      <a:pPr marL="0" lvl="0" indent="0" algn="l">
                        <a:lnSpc>
                          <a:spcPct val="100000"/>
                        </a:lnSpc>
                        <a:spcBef>
                          <a:spcPts val="0"/>
                        </a:spcBef>
                        <a:spcAft>
                          <a:spcPts val="0"/>
                        </a:spcAft>
                        <a:buNone/>
                      </a:pPr>
                      <a:r>
                        <a:rPr lang="en-US" sz="1100" b="1" i="0" u="none" strike="noStrike" kern="1200" noProof="0">
                          <a:solidFill>
                            <a:srgbClr val="0070C0"/>
                          </a:solidFill>
                          <a:effectLst/>
                          <a:latin typeface="Nunito Sans"/>
                          <a:ea typeface="+mn-ea"/>
                          <a:cs typeface="+mn-cs"/>
                        </a:rPr>
                        <a:t>Planned Go Live : May 27, 2026</a:t>
                      </a:r>
                      <a:br>
                        <a:rPr lang="en-US" sz="1100" b="1" i="0" u="none" strike="noStrike" kern="1200" noProof="0">
                          <a:solidFill>
                            <a:srgbClr val="0070C0"/>
                          </a:solidFill>
                          <a:effectLst/>
                          <a:latin typeface="Nunito Sans"/>
                          <a:ea typeface="+mn-ea"/>
                          <a:cs typeface="+mn-cs"/>
                        </a:rPr>
                      </a:br>
                      <a:r>
                        <a:rPr lang="en-US" sz="1100" b="1" i="0" u="none" strike="noStrike" kern="1200" noProof="0">
                          <a:solidFill>
                            <a:srgbClr val="0070C0"/>
                          </a:solidFill>
                          <a:effectLst/>
                          <a:latin typeface="Nunito Sans"/>
                        </a:rPr>
                        <a:t>Planned Go Live : May 27, 2026</a:t>
                      </a:r>
                      <a:endParaRPr lang="en-IN">
                        <a:solidFill>
                          <a:srgbClr val="0070C0"/>
                        </a:solidFill>
                      </a:endParaRPr>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marL="228600" lvl="0" indent="-228600" algn="l">
                        <a:lnSpc>
                          <a:spcPct val="100000"/>
                        </a:lnSpc>
                        <a:spcBef>
                          <a:spcPts val="0"/>
                        </a:spcBef>
                        <a:spcAft>
                          <a:spcPts val="0"/>
                        </a:spcAft>
                        <a:buAutoNum type="arabicPeriod"/>
                      </a:pPr>
                      <a:endParaRPr lang="en-US" sz="1100" b="1" i="0" u="none" strike="noStrike" kern="1200" noProof="0">
                        <a:solidFill>
                          <a:srgbClr val="0070C0"/>
                        </a:solidFill>
                        <a:latin typeface="Nunito Sans"/>
                      </a:endParaRPr>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marL="0" lvl="0" indent="0" algn="l">
                        <a:lnSpc>
                          <a:spcPct val="100000"/>
                        </a:lnSpc>
                        <a:spcBef>
                          <a:spcPts val="0"/>
                        </a:spcBef>
                        <a:spcAft>
                          <a:spcPts val="0"/>
                        </a:spcAft>
                        <a:buNone/>
                      </a:pPr>
                      <a:r>
                        <a:rPr lang="en-US" sz="1000" b="0" i="0" u="none" strike="noStrike" kern="1200" baseline="0" noProof="0">
                          <a:solidFill>
                            <a:srgbClr val="000000"/>
                          </a:solidFill>
                          <a:latin typeface="Nunito Sans"/>
                        </a:rPr>
                        <a:t>To find unactioned alerts and prioritize them effectively to help improve OTP.</a:t>
                      </a:r>
                      <a:endParaRPr lang="en-US"/>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561915397"/>
                  </a:ext>
                </a:extLst>
              </a:tr>
              <a:tr h="1270000">
                <a:tc>
                  <a:txBody>
                    <a:bodyPr/>
                    <a:lstStyle/>
                    <a:p>
                      <a:pPr marL="0" lvl="0" indent="0" algn="l">
                        <a:lnSpc>
                          <a:spcPct val="100000"/>
                        </a:lnSpc>
                        <a:spcBef>
                          <a:spcPts val="0"/>
                        </a:spcBef>
                        <a:spcAft>
                          <a:spcPts val="0"/>
                        </a:spcAft>
                        <a:buNone/>
                      </a:pPr>
                      <a:r>
                        <a:rPr lang="en-US" sz="1100" b="1" i="0" u="none" strike="noStrike" kern="1200" noProof="0">
                          <a:solidFill>
                            <a:srgbClr val="0070C0"/>
                          </a:solidFill>
                          <a:effectLst/>
                          <a:latin typeface="Nunito Sans"/>
                          <a:ea typeface="+mn-ea"/>
                          <a:cs typeface="+mn-cs"/>
                        </a:rPr>
                        <a:t>PPM WO Compliance Report – Phase 3 Dashboard</a:t>
                      </a:r>
                    </a:p>
                    <a:p>
                      <a:pPr marL="0" lvl="0" indent="0" algn="l">
                        <a:lnSpc>
                          <a:spcPct val="100000"/>
                        </a:lnSpc>
                        <a:spcBef>
                          <a:spcPts val="0"/>
                        </a:spcBef>
                        <a:spcAft>
                          <a:spcPts val="0"/>
                        </a:spcAft>
                        <a:buNone/>
                      </a:pPr>
                      <a:r>
                        <a:rPr lang="en-US" sz="1100" b="1" i="0" u="none" strike="noStrike" kern="1200" noProof="0">
                          <a:solidFill>
                            <a:srgbClr val="0070C0"/>
                          </a:solidFill>
                          <a:effectLst/>
                          <a:latin typeface="Nunito Sans"/>
                          <a:ea typeface="+mn-ea"/>
                          <a:cs typeface="+mn-cs"/>
                        </a:rPr>
                        <a:t>Planned Go Live : May 27, 2026</a:t>
                      </a:r>
                      <a:br>
                        <a:rPr lang="en-US" sz="1100" b="1" i="0" u="none" strike="noStrike" kern="1200" noProof="0">
                          <a:solidFill>
                            <a:srgbClr val="0070C0"/>
                          </a:solidFill>
                          <a:effectLst/>
                          <a:latin typeface="Nunito Sans"/>
                          <a:ea typeface="+mn-ea"/>
                          <a:cs typeface="+mn-cs"/>
                        </a:rPr>
                      </a:br>
                      <a:r>
                        <a:rPr lang="en-US" sz="1100" b="1" i="0" u="none" strike="noStrike" kern="1200" noProof="0">
                          <a:solidFill>
                            <a:srgbClr val="0070C0"/>
                          </a:solidFill>
                          <a:effectLst/>
                          <a:latin typeface="Nunito Sans"/>
                        </a:rPr>
                        <a:t>Actual Go Live : May 25, 2026</a:t>
                      </a:r>
                      <a:endParaRPr lang="en-US">
                        <a:solidFill>
                          <a:srgbClr val="0070C0"/>
                        </a:solidFill>
                      </a:endParaRPr>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tc>
                  <a:txBody>
                    <a:bodyPr/>
                    <a:lstStyle/>
                    <a:p>
                      <a:pPr marL="0" lvl="0" indent="0" algn="l">
                        <a:lnSpc>
                          <a:spcPct val="100000"/>
                        </a:lnSpc>
                        <a:spcBef>
                          <a:spcPts val="0"/>
                        </a:spcBef>
                        <a:spcAft>
                          <a:spcPts val="0"/>
                        </a:spcAft>
                        <a:buNone/>
                      </a:pPr>
                      <a:r>
                        <a:rPr lang="en-US" sz="1100" b="1" i="0" u="none" strike="noStrike" kern="1200" noProof="0">
                          <a:solidFill>
                            <a:srgbClr val="0070C0"/>
                          </a:solidFill>
                          <a:latin typeface="Nunito Sans"/>
                        </a:rPr>
                        <a:t>PPM WO Compliance Project</a:t>
                      </a:r>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tc>
                  <a:txBody>
                    <a:bodyPr/>
                    <a:lstStyle/>
                    <a:p>
                      <a:pPr marL="0" lvl="0" indent="0" algn="l">
                        <a:lnSpc>
                          <a:spcPct val="100000"/>
                        </a:lnSpc>
                        <a:spcBef>
                          <a:spcPts val="0"/>
                        </a:spcBef>
                        <a:spcAft>
                          <a:spcPts val="0"/>
                        </a:spcAft>
                        <a:buNone/>
                      </a:pPr>
                      <a:r>
                        <a:rPr lang="en-US" sz="1000" b="0" i="0" u="none" strike="noStrike" kern="1200" baseline="0" noProof="0">
                          <a:solidFill>
                            <a:srgbClr val="000000"/>
                          </a:solidFill>
                          <a:latin typeface="Nunito Sans"/>
                        </a:rPr>
                        <a:t>The enhanced WO Compliance dashboard will give a single, real‑time view of maintenance performance, deferments, workforce, and material bottlenecks. To improve compliance &amp; reduce ground time.</a:t>
                      </a:r>
                      <a:endParaRPr lang="en-US"/>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extLst>
                  <a:ext uri="{0D108BD9-81ED-4DB2-BD59-A6C34878D82A}">
                    <a16:rowId xmlns:a16="http://schemas.microsoft.com/office/drawing/2014/main" val="975013969"/>
                  </a:ext>
                </a:extLst>
              </a:tr>
            </a:tbl>
          </a:graphicData>
        </a:graphic>
      </p:graphicFrame>
      <p:sp>
        <p:nvSpPr>
          <p:cNvPr id="4" name="Rectangle 3">
            <a:extLst>
              <a:ext uri="{FF2B5EF4-FFF2-40B4-BE49-F238E27FC236}">
                <a16:creationId xmlns:a16="http://schemas.microsoft.com/office/drawing/2014/main" id="{221B6C9A-8EA1-75F9-8DF1-65A196D46092}"/>
              </a:ext>
            </a:extLst>
          </p:cNvPr>
          <p:cNvSpPr/>
          <p:nvPr/>
        </p:nvSpPr>
        <p:spPr>
          <a:xfrm>
            <a:off x="1188132" y="6671592"/>
            <a:ext cx="90000" cy="90000"/>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5" name="Rectangle 4">
            <a:extLst>
              <a:ext uri="{FF2B5EF4-FFF2-40B4-BE49-F238E27FC236}">
                <a16:creationId xmlns:a16="http://schemas.microsoft.com/office/drawing/2014/main" id="{DA6D99BD-0378-9318-091B-C33C1C28E90B}"/>
              </a:ext>
            </a:extLst>
          </p:cNvPr>
          <p:cNvSpPr/>
          <p:nvPr/>
        </p:nvSpPr>
        <p:spPr>
          <a:xfrm>
            <a:off x="2265818" y="6670554"/>
            <a:ext cx="90000" cy="90000"/>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7" name="Rectangle 6">
            <a:extLst>
              <a:ext uri="{FF2B5EF4-FFF2-40B4-BE49-F238E27FC236}">
                <a16:creationId xmlns:a16="http://schemas.microsoft.com/office/drawing/2014/main" id="{4345DC5D-5604-715A-5012-A8D6B6A2221F}"/>
              </a:ext>
            </a:extLst>
          </p:cNvPr>
          <p:cNvSpPr/>
          <p:nvPr/>
        </p:nvSpPr>
        <p:spPr>
          <a:xfrm>
            <a:off x="3443423" y="6671592"/>
            <a:ext cx="90000" cy="90000"/>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8" name="Rectangle 7">
            <a:extLst>
              <a:ext uri="{FF2B5EF4-FFF2-40B4-BE49-F238E27FC236}">
                <a16:creationId xmlns:a16="http://schemas.microsoft.com/office/drawing/2014/main" id="{CE65B399-7A1D-D516-15D6-CF6B34D0F3C5}"/>
              </a:ext>
            </a:extLst>
          </p:cNvPr>
          <p:cNvSpPr/>
          <p:nvPr/>
        </p:nvSpPr>
        <p:spPr>
          <a:xfrm>
            <a:off x="8146052" y="6714097"/>
            <a:ext cx="90000" cy="90000"/>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9" name="TextBox 15">
            <a:extLst>
              <a:ext uri="{FF2B5EF4-FFF2-40B4-BE49-F238E27FC236}">
                <a16:creationId xmlns:a16="http://schemas.microsoft.com/office/drawing/2014/main" id="{80930C55-952C-7826-7E4A-4FAE2ADFB128}"/>
              </a:ext>
            </a:extLst>
          </p:cNvPr>
          <p:cNvSpPr txBox="1"/>
          <p:nvPr/>
        </p:nvSpPr>
        <p:spPr>
          <a:xfrm>
            <a:off x="1288983" y="6614743"/>
            <a:ext cx="857245"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0070C0"/>
                </a:solidFill>
                <a:effectLst/>
                <a:uLnTx/>
                <a:uFillTx/>
                <a:latin typeface="Nunito Sans"/>
                <a:ea typeface="+mn-ea"/>
                <a:cs typeface="+mn-cs"/>
              </a:rPr>
              <a:t>Delivered</a:t>
            </a:r>
            <a:endParaRPr kumimoji="0" lang="en-IN" sz="1000" b="0" i="0" u="none" strike="noStrike" kern="1200" cap="none" spc="0" normalizeH="0" baseline="0" noProof="0">
              <a:ln>
                <a:noFill/>
              </a:ln>
              <a:solidFill>
                <a:srgbClr val="000000"/>
              </a:solidFill>
              <a:effectLst/>
              <a:uLnTx/>
              <a:uFillTx/>
              <a:latin typeface="Nunito Sans"/>
              <a:ea typeface="+mn-ea"/>
              <a:cs typeface="+mn-cs"/>
            </a:endParaRPr>
          </a:p>
        </p:txBody>
      </p:sp>
      <p:sp>
        <p:nvSpPr>
          <p:cNvPr id="10" name="TextBox 18">
            <a:extLst>
              <a:ext uri="{FF2B5EF4-FFF2-40B4-BE49-F238E27FC236}">
                <a16:creationId xmlns:a16="http://schemas.microsoft.com/office/drawing/2014/main" id="{822DC21B-9D78-9577-629E-74A1656637A4}"/>
              </a:ext>
            </a:extLst>
          </p:cNvPr>
          <p:cNvSpPr txBox="1"/>
          <p:nvPr/>
        </p:nvSpPr>
        <p:spPr>
          <a:xfrm>
            <a:off x="2310642" y="6611102"/>
            <a:ext cx="1032881"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00B050"/>
                </a:solidFill>
                <a:effectLst/>
                <a:uLnTx/>
                <a:uFillTx/>
                <a:latin typeface="Nunito Sans"/>
                <a:ea typeface="+mn-ea"/>
                <a:cs typeface="+mn-cs"/>
              </a:rPr>
              <a:t>Ontrack</a:t>
            </a:r>
            <a:endParaRPr kumimoji="0" lang="en-IN" sz="1000" b="0" i="0" u="none" strike="noStrike" kern="1200" cap="none" spc="0" normalizeH="0" baseline="0" noProof="0">
              <a:ln>
                <a:noFill/>
              </a:ln>
              <a:solidFill>
                <a:srgbClr val="000000"/>
              </a:solidFill>
              <a:effectLst/>
              <a:uLnTx/>
              <a:uFillTx/>
              <a:latin typeface="Nunito Sans"/>
              <a:ea typeface="+mn-ea"/>
              <a:cs typeface="+mn-cs"/>
            </a:endParaRPr>
          </a:p>
        </p:txBody>
      </p:sp>
      <p:sp>
        <p:nvSpPr>
          <p:cNvPr id="11" name="TextBox 20">
            <a:extLst>
              <a:ext uri="{FF2B5EF4-FFF2-40B4-BE49-F238E27FC236}">
                <a16:creationId xmlns:a16="http://schemas.microsoft.com/office/drawing/2014/main" id="{D9ABE084-9722-A4FB-EB94-584E155A8400}"/>
              </a:ext>
            </a:extLst>
          </p:cNvPr>
          <p:cNvSpPr txBox="1"/>
          <p:nvPr/>
        </p:nvSpPr>
        <p:spPr>
          <a:xfrm>
            <a:off x="3539606" y="6608370"/>
            <a:ext cx="2257628"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FED9A0">
                    <a:lumMod val="75000"/>
                  </a:srgbClr>
                </a:solidFill>
                <a:effectLst/>
                <a:uLnTx/>
                <a:uFillTx/>
                <a:latin typeface="Nunito Sans"/>
                <a:ea typeface="+mn-ea"/>
                <a:cs typeface="+mn-cs"/>
              </a:rPr>
              <a:t>Under delay and can be recovered</a:t>
            </a:r>
            <a:endParaRPr kumimoji="0" lang="en-IN" sz="1000" b="0" i="0" u="none" strike="noStrike" kern="1200" cap="none" spc="0" normalizeH="0" baseline="0" noProof="0">
              <a:ln>
                <a:noFill/>
              </a:ln>
              <a:solidFill>
                <a:srgbClr val="000000"/>
              </a:solidFill>
              <a:effectLst/>
              <a:uLnTx/>
              <a:uFillTx/>
              <a:latin typeface="Nunito Sans"/>
              <a:ea typeface="+mn-ea"/>
              <a:cs typeface="+mn-cs"/>
            </a:endParaRPr>
          </a:p>
        </p:txBody>
      </p:sp>
      <p:sp>
        <p:nvSpPr>
          <p:cNvPr id="13" name="TextBox 22">
            <a:extLst>
              <a:ext uri="{FF2B5EF4-FFF2-40B4-BE49-F238E27FC236}">
                <a16:creationId xmlns:a16="http://schemas.microsoft.com/office/drawing/2014/main" id="{707F4DDD-F9B8-938A-87A7-4B3767AA232E}"/>
              </a:ext>
            </a:extLst>
          </p:cNvPr>
          <p:cNvSpPr txBox="1"/>
          <p:nvPr/>
        </p:nvSpPr>
        <p:spPr>
          <a:xfrm>
            <a:off x="8246937" y="6618126"/>
            <a:ext cx="2338222"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FF0000"/>
                </a:solidFill>
                <a:effectLst/>
                <a:uLnTx/>
                <a:uFillTx/>
                <a:latin typeface="Nunito Sans"/>
                <a:ea typeface="+mn-ea"/>
                <a:cs typeface="+mn-cs"/>
              </a:rPr>
              <a:t>Delayed and pushed to next release</a:t>
            </a:r>
          </a:p>
        </p:txBody>
      </p:sp>
      <p:sp>
        <p:nvSpPr>
          <p:cNvPr id="15" name="TextBox 14">
            <a:extLst>
              <a:ext uri="{FF2B5EF4-FFF2-40B4-BE49-F238E27FC236}">
                <a16:creationId xmlns:a16="http://schemas.microsoft.com/office/drawing/2014/main" id="{B44ED6D6-3D81-CBF5-5076-98615DF2654F}"/>
              </a:ext>
            </a:extLst>
          </p:cNvPr>
          <p:cNvSpPr txBox="1"/>
          <p:nvPr/>
        </p:nvSpPr>
        <p:spPr>
          <a:xfrm>
            <a:off x="6454369" y="6611638"/>
            <a:ext cx="2743200"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IN" sz="1000">
                <a:solidFill>
                  <a:srgbClr val="7D7D7D"/>
                </a:solidFill>
              </a:rPr>
              <a:t>Descoped</a:t>
            </a:r>
            <a:endParaRPr lang="en-US"/>
          </a:p>
        </p:txBody>
      </p:sp>
      <p:sp>
        <p:nvSpPr>
          <p:cNvPr id="16" name="Rectangle 15">
            <a:extLst>
              <a:ext uri="{FF2B5EF4-FFF2-40B4-BE49-F238E27FC236}">
                <a16:creationId xmlns:a16="http://schemas.microsoft.com/office/drawing/2014/main" id="{22F63850-3AA2-C5A6-13FF-545864541107}"/>
              </a:ext>
            </a:extLst>
          </p:cNvPr>
          <p:cNvSpPr/>
          <p:nvPr/>
        </p:nvSpPr>
        <p:spPr>
          <a:xfrm>
            <a:off x="6360794" y="6681439"/>
            <a:ext cx="90000" cy="90000"/>
          </a:xfrm>
          <a:prstGeom prst="rect">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Tree>
    <p:extLst>
      <p:ext uri="{BB962C8B-B14F-4D97-AF65-F5344CB8AC3E}">
        <p14:creationId xmlns:p14="http://schemas.microsoft.com/office/powerpoint/2010/main" val="386395831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D10013-A153-8C4B-2CD6-B6ACA1A14DF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C96F207-61AE-8114-E67A-E47BD4C135C4}"/>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3A41A254-7326-714E-AF55-4C213D6394DE}" type="slidenum">
              <a:rPr kumimoji="0" lang="en-US" sz="1200" b="0" i="0" u="none" strike="noStrike" kern="1200" cap="none" spc="0" normalizeH="0" baseline="0" noProof="0" smtClean="0">
                <a:ln>
                  <a:noFill/>
                </a:ln>
                <a:solidFill>
                  <a:srgbClr val="DA0E28"/>
                </a:solidFill>
                <a:effectLst/>
                <a:uLnTx/>
                <a:uFillTx/>
                <a:latin typeface="Nunito Sans"/>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30</a:t>
            </a:fld>
            <a:endParaRPr kumimoji="0" lang="en-US" sz="1200" b="0" i="0" u="none" strike="noStrike" kern="1200" cap="none" spc="0" normalizeH="0" baseline="0" noProof="0">
              <a:ln>
                <a:noFill/>
              </a:ln>
              <a:solidFill>
                <a:srgbClr val="DA0E28"/>
              </a:solidFill>
              <a:effectLst/>
              <a:uLnTx/>
              <a:uFillTx/>
              <a:latin typeface="Nunito Sans"/>
              <a:ea typeface="+mn-ea"/>
              <a:cs typeface="+mn-cs"/>
            </a:endParaRPr>
          </a:p>
        </p:txBody>
      </p:sp>
      <p:sp>
        <p:nvSpPr>
          <p:cNvPr id="3" name="Rectangle 2">
            <a:extLst>
              <a:ext uri="{FF2B5EF4-FFF2-40B4-BE49-F238E27FC236}">
                <a16:creationId xmlns:a16="http://schemas.microsoft.com/office/drawing/2014/main" id="{5348E383-BED1-F07A-D9BF-C4C71FE2A602}"/>
              </a:ext>
            </a:extLst>
          </p:cNvPr>
          <p:cNvSpPr/>
          <p:nvPr/>
        </p:nvSpPr>
        <p:spPr>
          <a:xfrm>
            <a:off x="129077" y="610471"/>
            <a:ext cx="1170432" cy="42234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400" b="1">
                <a:solidFill>
                  <a:srgbClr val="FFFFFF"/>
                </a:solidFill>
                <a:latin typeface="AirIndia"/>
              </a:rPr>
              <a:t>June</a:t>
            </a:r>
            <a:r>
              <a:rPr kumimoji="0" lang="en-IN" sz="1400" b="1" i="0" u="none" strike="noStrike" kern="1200" cap="none" spc="0" normalizeH="0" baseline="0" noProof="0">
                <a:ln>
                  <a:noFill/>
                </a:ln>
                <a:solidFill>
                  <a:srgbClr val="FFFFFF"/>
                </a:solidFill>
                <a:effectLst/>
                <a:uLnTx/>
                <a:uFillTx/>
                <a:latin typeface="AirIndia"/>
                <a:ea typeface="+mn-ea"/>
                <a:cs typeface="+mn-cs"/>
              </a:rPr>
              <a:t> ‘</a:t>
            </a:r>
            <a:r>
              <a:rPr lang="en-IN" sz="1400" b="1">
                <a:solidFill>
                  <a:srgbClr val="FFFFFF"/>
                </a:solidFill>
                <a:latin typeface="AirIndia"/>
              </a:rPr>
              <a:t>26</a:t>
            </a:r>
            <a:endParaRPr kumimoji="0" lang="en-US" sz="1400" b="1" i="0" u="none" strike="noStrike" kern="1200" cap="none" spc="0" normalizeH="0" baseline="0" noProof="0">
              <a:ln>
                <a:noFill/>
              </a:ln>
              <a:solidFill>
                <a:srgbClr val="FFFFFF"/>
              </a:solidFill>
              <a:effectLst/>
              <a:uLnTx/>
              <a:uFillTx/>
              <a:latin typeface="AirIndia"/>
              <a:ea typeface="+mn-ea"/>
              <a:cs typeface="+mn-cs"/>
            </a:endParaRPr>
          </a:p>
        </p:txBody>
      </p:sp>
      <p:sp>
        <p:nvSpPr>
          <p:cNvPr id="6" name="Title 11">
            <a:extLst>
              <a:ext uri="{FF2B5EF4-FFF2-40B4-BE49-F238E27FC236}">
                <a16:creationId xmlns:a16="http://schemas.microsoft.com/office/drawing/2014/main" id="{F036A068-B26B-9DA6-6222-549AB7CF057E}"/>
              </a:ext>
            </a:extLst>
          </p:cNvPr>
          <p:cNvSpPr txBox="1">
            <a:spLocks/>
          </p:cNvSpPr>
          <p:nvPr/>
        </p:nvSpPr>
        <p:spPr>
          <a:xfrm>
            <a:off x="253743" y="182023"/>
            <a:ext cx="7702602" cy="430255"/>
          </a:xfrm>
          <a:prstGeom prst="rect">
            <a:avLst/>
          </a:prstGeom>
        </p:spPr>
        <p:txBody>
          <a:bodyPr lIns="91440" tIns="45720" rIns="91440" bIns="45720" anchor="t">
            <a:noAutofit/>
          </a:bodyPr>
          <a:lstStyle>
            <a:lvl1pPr algn="l" defTabSz="914400" rtl="0" eaLnBrk="1" latinLnBrk="0" hangingPunct="1">
              <a:lnSpc>
                <a:spcPct val="90000"/>
              </a:lnSpc>
              <a:spcBef>
                <a:spcPct val="0"/>
              </a:spcBef>
              <a:buNone/>
              <a:defRPr sz="4400" b="1" i="0" kern="1200">
                <a:solidFill>
                  <a:schemeClr val="tx1"/>
                </a:solidFill>
                <a:latin typeface="AirIndia" pitchFamily="82" charset="77"/>
                <a:ea typeface="+mj-ea"/>
                <a:cs typeface="+mj-cs"/>
              </a:defRPr>
            </a:lvl1pPr>
          </a:lstStyle>
          <a:p>
            <a:pPr>
              <a:defRPr/>
            </a:pPr>
            <a:r>
              <a:rPr lang="en-US" sz="1800">
                <a:solidFill>
                  <a:srgbClr val="DA0E28"/>
                </a:solidFill>
                <a:latin typeface="AirIndia"/>
              </a:rPr>
              <a:t>Engineering Tech -</a:t>
            </a:r>
            <a:r>
              <a:rPr kumimoji="0" lang="en-US" sz="1800" b="1" i="0" u="none" strike="noStrike" kern="1200" cap="none" spc="0" normalizeH="0" baseline="0" noProof="0">
                <a:ln>
                  <a:noFill/>
                </a:ln>
                <a:solidFill>
                  <a:srgbClr val="DA0E28"/>
                </a:solidFill>
                <a:effectLst/>
                <a:uLnTx/>
                <a:uFillTx/>
                <a:latin typeface="AirIndia"/>
                <a:ea typeface="+mj-ea"/>
                <a:cs typeface="+mj-cs"/>
              </a:rPr>
              <a:t> </a:t>
            </a:r>
            <a:r>
              <a:rPr lang="en-US" sz="1800">
                <a:solidFill>
                  <a:srgbClr val="DA0E28"/>
                </a:solidFill>
                <a:latin typeface="AirIndia"/>
              </a:rPr>
              <a:t>FY27</a:t>
            </a:r>
            <a:r>
              <a:rPr kumimoji="0" lang="en-US" sz="1800" b="1" i="0" u="none" strike="noStrike" kern="1200" cap="none" spc="0" normalizeH="0" baseline="0" noProof="0">
                <a:ln>
                  <a:noFill/>
                </a:ln>
                <a:solidFill>
                  <a:srgbClr val="DA0E28"/>
                </a:solidFill>
                <a:effectLst/>
                <a:uLnTx/>
                <a:uFillTx/>
                <a:latin typeface="AirIndia"/>
                <a:ea typeface="+mj-ea"/>
                <a:cs typeface="+mj-cs"/>
              </a:rPr>
              <a:t> Q1  Release Plan</a:t>
            </a:r>
            <a:endParaRPr lang="en-US" sz="1800" b="0" i="0" u="none" strike="noStrike" kern="1200" cap="none" spc="0" normalizeH="0" baseline="0" noProof="0">
              <a:ln>
                <a:noFill/>
              </a:ln>
              <a:solidFill>
                <a:srgbClr val="DA0E28"/>
              </a:solidFill>
              <a:effectLst/>
              <a:uLnTx/>
              <a:uFillTx/>
              <a:latin typeface="AirIndia"/>
            </a:endParaRPr>
          </a:p>
        </p:txBody>
      </p:sp>
      <p:graphicFrame>
        <p:nvGraphicFramePr>
          <p:cNvPr id="12" name="Table 11">
            <a:extLst>
              <a:ext uri="{FF2B5EF4-FFF2-40B4-BE49-F238E27FC236}">
                <a16:creationId xmlns:a16="http://schemas.microsoft.com/office/drawing/2014/main" id="{55525349-F4AA-F38D-2300-D294E7E169A4}"/>
              </a:ext>
            </a:extLst>
          </p:cNvPr>
          <p:cNvGraphicFramePr>
            <a:graphicFrameLocks noGrp="1"/>
          </p:cNvGraphicFramePr>
          <p:nvPr>
            <p:extLst>
              <p:ext uri="{D42A27DB-BD31-4B8C-83A1-F6EECF244321}">
                <p14:modId xmlns:p14="http://schemas.microsoft.com/office/powerpoint/2010/main" val="3642452726"/>
              </p:ext>
            </p:extLst>
          </p:nvPr>
        </p:nvGraphicFramePr>
        <p:xfrm>
          <a:off x="1251008" y="588627"/>
          <a:ext cx="10685695" cy="5481320"/>
        </p:xfrm>
        <a:graphic>
          <a:graphicData uri="http://schemas.openxmlformats.org/drawingml/2006/table">
            <a:tbl>
              <a:tblPr firstRow="1" bandRow="1">
                <a:tableStyleId>{5C22544A-7EE6-4342-B048-85BDC9FD1C3A}</a:tableStyleId>
              </a:tblPr>
              <a:tblGrid>
                <a:gridCol w="2733040">
                  <a:extLst>
                    <a:ext uri="{9D8B030D-6E8A-4147-A177-3AD203B41FA5}">
                      <a16:colId xmlns:a16="http://schemas.microsoft.com/office/drawing/2014/main" val="2822350773"/>
                    </a:ext>
                  </a:extLst>
                </a:gridCol>
                <a:gridCol w="2225040">
                  <a:extLst>
                    <a:ext uri="{9D8B030D-6E8A-4147-A177-3AD203B41FA5}">
                      <a16:colId xmlns:a16="http://schemas.microsoft.com/office/drawing/2014/main" val="1843387359"/>
                    </a:ext>
                  </a:extLst>
                </a:gridCol>
                <a:gridCol w="5727615">
                  <a:extLst>
                    <a:ext uri="{9D8B030D-6E8A-4147-A177-3AD203B41FA5}">
                      <a16:colId xmlns:a16="http://schemas.microsoft.com/office/drawing/2014/main" val="99588705"/>
                    </a:ext>
                  </a:extLst>
                </a:gridCol>
              </a:tblGrid>
              <a:tr h="530670">
                <a:tc>
                  <a:txBody>
                    <a:bodyPr/>
                    <a:lstStyle/>
                    <a:p>
                      <a:pPr marL="0" lvl="0" indent="0" algn="ctr" defTabSz="914400" rtl="0">
                        <a:lnSpc>
                          <a:spcPct val="100000"/>
                        </a:lnSpc>
                        <a:buFont typeface="Arial" panose="020B0604020202020204" pitchFamily="34" charset="0"/>
                        <a:buNone/>
                      </a:pPr>
                      <a:r>
                        <a:rPr lang="en-IN" sz="1100" b="1" kern="1200">
                          <a:solidFill>
                            <a:schemeClr val="bg1"/>
                          </a:solidFill>
                          <a:latin typeface="+mn-lt"/>
                          <a:ea typeface="+mn-ea"/>
                          <a:cs typeface="+mn-cs"/>
                        </a:rPr>
                        <a:t>Initiatives</a:t>
                      </a:r>
                      <a:endParaRPr lang="en-US" sz="1100" b="1"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tc>
                  <a:txBody>
                    <a:bodyPr/>
                    <a:lstStyle/>
                    <a:p>
                      <a:pPr marL="0" lvl="0" indent="0" algn="ctr" defTabSz="914400">
                        <a:lnSpc>
                          <a:spcPct val="100000"/>
                        </a:lnSpc>
                        <a:buNone/>
                      </a:pPr>
                      <a:r>
                        <a:rPr lang="en-IN" sz="1100" b="1" i="0" u="none" strike="noStrike" kern="1200" noProof="0">
                          <a:solidFill>
                            <a:schemeClr val="bg1"/>
                          </a:solidFill>
                          <a:latin typeface="Nunito Sans"/>
                          <a:ea typeface="+mn-ea"/>
                          <a:cs typeface="+mn-cs"/>
                        </a:rPr>
                        <a:t>Programs/Projects</a:t>
                      </a:r>
                      <a:endParaRPr lang="en-US"/>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solidFill>
                      <a:schemeClr val="accent3">
                        <a:lumMod val="90000"/>
                        <a:lumOff val="10000"/>
                      </a:schemeClr>
                    </a:solidFill>
                  </a:tcPr>
                </a:tc>
                <a:tc>
                  <a:txBody>
                    <a:bodyPr/>
                    <a:lstStyle/>
                    <a:p>
                      <a:pPr marL="0" lvl="0" indent="0" algn="ctr">
                        <a:lnSpc>
                          <a:spcPct val="100000"/>
                        </a:lnSpc>
                        <a:buNone/>
                      </a:pPr>
                      <a:endParaRPr lang="en-IN" sz="1100" b="1" i="0" u="none" strike="noStrike" kern="1200" baseline="0" noProof="0">
                        <a:solidFill>
                          <a:srgbClr val="FFFFFF"/>
                        </a:solidFill>
                        <a:latin typeface="Nunito Sans"/>
                      </a:endParaRPr>
                    </a:p>
                    <a:p>
                      <a:pPr marL="0" lvl="0" indent="0" algn="ctr">
                        <a:lnSpc>
                          <a:spcPct val="100000"/>
                        </a:lnSpc>
                        <a:buNone/>
                      </a:pPr>
                      <a:r>
                        <a:rPr lang="en-IN" sz="1100" b="1" i="0" u="none" strike="noStrike" kern="1200" baseline="0" noProof="0">
                          <a:solidFill>
                            <a:srgbClr val="FFFFFF"/>
                          </a:solidFill>
                          <a:latin typeface="Nunito Sans"/>
                        </a:rPr>
                        <a:t>Value Justification/Realization</a:t>
                      </a:r>
                    </a:p>
                    <a:p>
                      <a:pPr marL="0" lvl="0" indent="0" algn="ctr" defTabSz="914400">
                        <a:buFont typeface="Arial" panose="020B0604020202020204" pitchFamily="34" charset="0"/>
                        <a:buNone/>
                      </a:pPr>
                      <a:endParaRPr lang="en-IN" sz="1100"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extLst>
                  <a:ext uri="{0D108BD9-81ED-4DB2-BD59-A6C34878D82A}">
                    <a16:rowId xmlns:a16="http://schemas.microsoft.com/office/drawing/2014/main" val="844450115"/>
                  </a:ext>
                </a:extLst>
              </a:tr>
              <a:tr h="792480">
                <a:tc>
                  <a:txBody>
                    <a:bodyPr/>
                    <a:lstStyle/>
                    <a:p>
                      <a:pPr marL="0" lvl="0" indent="0" algn="l">
                        <a:lnSpc>
                          <a:spcPct val="100000"/>
                        </a:lnSpc>
                        <a:spcBef>
                          <a:spcPts val="0"/>
                        </a:spcBef>
                        <a:spcAft>
                          <a:spcPts val="0"/>
                        </a:spcAft>
                        <a:buNone/>
                      </a:pPr>
                      <a:r>
                        <a:rPr lang="en-US" sz="1100" b="1" i="0" u="none" strike="noStrike" kern="1200" noProof="0">
                          <a:solidFill>
                            <a:schemeClr val="bg1">
                              <a:lumMod val="65000"/>
                            </a:schemeClr>
                          </a:solidFill>
                          <a:effectLst/>
                          <a:latin typeface="Nunito Sans"/>
                          <a:ea typeface="+mn-ea"/>
                          <a:cs typeface="+mn-cs"/>
                        </a:rPr>
                        <a:t>ELB Crew data automation from MM</a:t>
                      </a:r>
                      <a:br>
                        <a:rPr lang="en-US" sz="1100" b="1" i="0" u="none" strike="noStrike" kern="1200" noProof="0">
                          <a:solidFill>
                            <a:srgbClr val="A6A6A6"/>
                          </a:solidFill>
                          <a:effectLst/>
                          <a:latin typeface="Nunito Sans"/>
                          <a:ea typeface="+mn-ea"/>
                          <a:cs typeface="+mn-cs"/>
                        </a:rPr>
                      </a:br>
                      <a:r>
                        <a:rPr lang="en-US" sz="1100" b="1" i="0" u="none" strike="noStrike" kern="1200" noProof="0">
                          <a:solidFill>
                            <a:schemeClr val="bg1">
                              <a:lumMod val="65000"/>
                            </a:schemeClr>
                          </a:solidFill>
                          <a:effectLst/>
                          <a:latin typeface="Nunito Sans"/>
                          <a:ea typeface="+mn-ea"/>
                          <a:cs typeface="+mn-cs"/>
                        </a:rPr>
                        <a:t>Planned Go Live : June 20, 2026 ( Descoped)</a:t>
                      </a:r>
                      <a:br>
                        <a:rPr lang="en-US" sz="1100" b="1" i="0" u="none" strike="noStrike" kern="1200" noProof="0">
                          <a:solidFill>
                            <a:srgbClr val="00B050"/>
                          </a:solidFill>
                          <a:effectLst/>
                          <a:latin typeface="Nunito Sans"/>
                          <a:ea typeface="+mn-ea"/>
                          <a:cs typeface="+mn-cs"/>
                        </a:rPr>
                      </a:br>
                      <a:endParaRPr lang="en-US" sz="1100" b="1" i="0" u="none" strike="noStrike" kern="1200" noProof="0">
                        <a:solidFill>
                          <a:srgbClr val="00B050"/>
                        </a:solidFill>
                        <a:effectLst/>
                        <a:latin typeface="Nunito Sans"/>
                        <a:ea typeface="+mn-ea"/>
                        <a:cs typeface="+mn-cs"/>
                      </a:endParaRPr>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marL="228600" lvl="0" indent="-228600" algn="l">
                        <a:lnSpc>
                          <a:spcPct val="100000"/>
                        </a:lnSpc>
                        <a:spcBef>
                          <a:spcPts val="0"/>
                        </a:spcBef>
                        <a:spcAft>
                          <a:spcPts val="0"/>
                        </a:spcAft>
                        <a:buAutoNum type="arabicPeriod"/>
                      </a:pPr>
                      <a:endParaRPr lang="en-US" sz="1100" b="1" i="0" u="none" strike="noStrike" kern="1200" noProof="0">
                        <a:solidFill>
                          <a:srgbClr val="0070C0"/>
                        </a:solidFill>
                        <a:latin typeface="Nunito Sans"/>
                      </a:endParaRPr>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marL="0" lvl="0" indent="0" algn="l">
                        <a:lnSpc>
                          <a:spcPct val="100000"/>
                        </a:lnSpc>
                        <a:spcBef>
                          <a:spcPts val="0"/>
                        </a:spcBef>
                        <a:spcAft>
                          <a:spcPts val="0"/>
                        </a:spcAft>
                        <a:buNone/>
                      </a:pPr>
                      <a:r>
                        <a:rPr lang="en-US" sz="1000" b="0" i="0" u="none" strike="noStrike" kern="1200" baseline="0" noProof="0">
                          <a:solidFill>
                            <a:schemeClr val="bg1">
                              <a:lumMod val="65000"/>
                            </a:schemeClr>
                          </a:solidFill>
                          <a:latin typeface="Nunito Sans"/>
                          <a:ea typeface="+mn-ea"/>
                          <a:cs typeface="+mn-cs"/>
                        </a:rPr>
                        <a:t>Automating the future flight data with Crew mapping</a:t>
                      </a:r>
                      <a:endParaRPr lang="en-US" sz="1000" b="0" i="0" u="none" strike="noStrike" kern="1200" baseline="0">
                        <a:solidFill>
                          <a:schemeClr val="bg1">
                            <a:lumMod val="65000"/>
                          </a:schemeClr>
                        </a:solidFill>
                        <a:latin typeface="Nunito Sans"/>
                        <a:ea typeface="+mn-ea"/>
                        <a:cs typeface="+mn-cs"/>
                      </a:endParaRPr>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443371065"/>
                  </a:ext>
                </a:extLst>
              </a:tr>
              <a:tr h="609600">
                <a:tc>
                  <a:txBody>
                    <a:bodyPr/>
                    <a:lstStyle/>
                    <a:p>
                      <a:pPr marL="0" lvl="0" indent="0" algn="l">
                        <a:lnSpc>
                          <a:spcPct val="100000"/>
                        </a:lnSpc>
                        <a:spcBef>
                          <a:spcPts val="0"/>
                        </a:spcBef>
                        <a:spcAft>
                          <a:spcPts val="0"/>
                        </a:spcAft>
                        <a:buNone/>
                      </a:pPr>
                      <a:r>
                        <a:rPr lang="en-US" sz="1100" b="1" i="0" u="none" strike="noStrike" kern="1200" noProof="0">
                          <a:solidFill>
                            <a:schemeClr val="accent1"/>
                          </a:solidFill>
                          <a:effectLst/>
                          <a:latin typeface="Nunito Sans"/>
                          <a:ea typeface="+mn-ea"/>
                          <a:cs typeface="+mn-cs"/>
                        </a:rPr>
                        <a:t>MPD &amp; AMP Automation to AMOS</a:t>
                      </a:r>
                    </a:p>
                    <a:p>
                      <a:pPr marL="0" lvl="0" indent="0" algn="l">
                        <a:lnSpc>
                          <a:spcPct val="100000"/>
                        </a:lnSpc>
                        <a:spcBef>
                          <a:spcPts val="0"/>
                        </a:spcBef>
                        <a:spcAft>
                          <a:spcPts val="0"/>
                        </a:spcAft>
                        <a:buNone/>
                      </a:pPr>
                      <a:r>
                        <a:rPr lang="en-US" sz="1100" b="1" i="0" u="none" strike="noStrike" kern="1200" noProof="0">
                          <a:solidFill>
                            <a:schemeClr val="accent1"/>
                          </a:solidFill>
                          <a:effectLst/>
                          <a:latin typeface="Nunito Sans"/>
                          <a:ea typeface="+mn-ea"/>
                          <a:cs typeface="+mn-cs"/>
                        </a:rPr>
                        <a:t>Planned Go Live : June 23, 2026 ( Pushed to Q2)</a:t>
                      </a:r>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marL="228600" lvl="0" indent="-228600" algn="l">
                        <a:lnSpc>
                          <a:spcPct val="100000"/>
                        </a:lnSpc>
                        <a:spcBef>
                          <a:spcPts val="0"/>
                        </a:spcBef>
                        <a:spcAft>
                          <a:spcPts val="0"/>
                        </a:spcAft>
                        <a:buAutoNum type="arabicPeriod"/>
                      </a:pPr>
                      <a:endParaRPr lang="en-US" sz="1100" b="1" i="0" u="none" strike="noStrike" kern="1200" noProof="0">
                        <a:solidFill>
                          <a:srgbClr val="0070C0"/>
                        </a:solidFill>
                        <a:latin typeface="Nunito Sans"/>
                      </a:endParaRPr>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marL="0" lvl="0" indent="0" algn="l">
                        <a:lnSpc>
                          <a:spcPct val="100000"/>
                        </a:lnSpc>
                        <a:spcBef>
                          <a:spcPts val="0"/>
                        </a:spcBef>
                        <a:spcAft>
                          <a:spcPts val="0"/>
                        </a:spcAft>
                        <a:buNone/>
                      </a:pPr>
                      <a:r>
                        <a:rPr lang="en-US" sz="1000" b="0" i="0" u="none" strike="noStrike" kern="1200" baseline="0" noProof="0">
                          <a:solidFill>
                            <a:srgbClr val="000000"/>
                          </a:solidFill>
                          <a:latin typeface="Nunito Sans"/>
                        </a:rPr>
                        <a:t>Eliminate manual errors and repetitive AMP tasks that are currently fed into AMOS</a:t>
                      </a:r>
                      <a:endParaRPr lang="en-US"/>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165419060"/>
                  </a:ext>
                </a:extLst>
              </a:tr>
              <a:tr h="782320">
                <a:tc>
                  <a:txBody>
                    <a:bodyPr/>
                    <a:lstStyle/>
                    <a:p>
                      <a:pPr marL="0" lvl="0" indent="0" algn="l">
                        <a:lnSpc>
                          <a:spcPct val="100000"/>
                        </a:lnSpc>
                        <a:spcBef>
                          <a:spcPts val="0"/>
                        </a:spcBef>
                        <a:spcAft>
                          <a:spcPts val="0"/>
                        </a:spcAft>
                        <a:buNone/>
                      </a:pPr>
                      <a:r>
                        <a:rPr lang="en-US" sz="1100" b="1" i="0" u="none" strike="noStrike" kern="1200" noProof="0">
                          <a:solidFill>
                            <a:srgbClr val="00B050"/>
                          </a:solidFill>
                          <a:effectLst/>
                          <a:latin typeface="Nunito Sans"/>
                          <a:ea typeface="+mn-ea"/>
                          <a:cs typeface="+mn-cs"/>
                        </a:rPr>
                        <a:t>QBank Implementation PPROD &amp; PROD</a:t>
                      </a:r>
                      <a:endParaRPr lang="en-US"/>
                    </a:p>
                    <a:p>
                      <a:pPr marL="0" lvl="0" indent="0" algn="l">
                        <a:lnSpc>
                          <a:spcPct val="100000"/>
                        </a:lnSpc>
                        <a:spcBef>
                          <a:spcPts val="0"/>
                        </a:spcBef>
                        <a:spcAft>
                          <a:spcPts val="0"/>
                        </a:spcAft>
                        <a:buNone/>
                      </a:pPr>
                      <a:r>
                        <a:rPr lang="en-US" sz="1100" b="1" i="0" u="none" strike="noStrike" kern="1200" noProof="0">
                          <a:solidFill>
                            <a:srgbClr val="00B050"/>
                          </a:solidFill>
                          <a:effectLst/>
                          <a:latin typeface="Nunito Sans"/>
                          <a:ea typeface="+mn-ea"/>
                          <a:cs typeface="+mn-cs"/>
                        </a:rPr>
                        <a:t>Planned Go Live : June 24, 2026</a:t>
                      </a:r>
                      <a:br>
                        <a:rPr lang="en-US" sz="1100" b="1" i="0" u="none" strike="noStrike" kern="1200" noProof="0">
                          <a:solidFill>
                            <a:srgbClr val="00B050"/>
                          </a:solidFill>
                          <a:effectLst/>
                          <a:latin typeface="Nunito Sans"/>
                          <a:ea typeface="+mn-ea"/>
                          <a:cs typeface="+mn-cs"/>
                        </a:rPr>
                      </a:br>
                      <a:endParaRPr lang="en-US" sz="1100" b="1" i="0" u="none" strike="noStrike" kern="1200" noProof="0">
                        <a:solidFill>
                          <a:srgbClr val="00B050"/>
                        </a:solidFill>
                        <a:effectLst/>
                        <a:latin typeface="Nunito Sans"/>
                        <a:ea typeface="+mn-ea"/>
                        <a:cs typeface="+mn-cs"/>
                      </a:endParaRPr>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marL="228600" lvl="0" indent="-228600" algn="l">
                        <a:lnSpc>
                          <a:spcPct val="100000"/>
                        </a:lnSpc>
                        <a:spcBef>
                          <a:spcPts val="0"/>
                        </a:spcBef>
                        <a:spcAft>
                          <a:spcPts val="0"/>
                        </a:spcAft>
                        <a:buAutoNum type="arabicPeriod"/>
                      </a:pPr>
                      <a:endParaRPr lang="en-US" sz="1100" b="1" i="0" u="none" strike="noStrike" kern="1200" noProof="0">
                        <a:solidFill>
                          <a:srgbClr val="0070C0"/>
                        </a:solidFill>
                        <a:latin typeface="Nunito Sans"/>
                      </a:endParaRPr>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lvl="0" algn="l">
                        <a:lnSpc>
                          <a:spcPct val="100000"/>
                        </a:lnSpc>
                        <a:spcBef>
                          <a:spcPts val="0"/>
                        </a:spcBef>
                        <a:spcAft>
                          <a:spcPts val="0"/>
                        </a:spcAft>
                        <a:buNone/>
                      </a:pPr>
                      <a:r>
                        <a:rPr lang="en-US" sz="1100" b="0" i="0" u="none" strike="noStrike" kern="1200" baseline="0" noProof="0">
                          <a:solidFill>
                            <a:srgbClr val="000000"/>
                          </a:solidFill>
                          <a:latin typeface="Segoe UI"/>
                          <a:cs typeface="Segoe UI"/>
                        </a:rPr>
                        <a:t>QBank implementation will drive faster, standardized, and compliant decision-making by centralizing engineering related mandatory testing,</a:t>
                      </a:r>
                      <a:endParaRPr lang="en-US"/>
                    </a:p>
                    <a:p>
                      <a:pPr marL="0" lvl="0" indent="0" algn="l">
                        <a:lnSpc>
                          <a:spcPct val="100000"/>
                        </a:lnSpc>
                        <a:spcBef>
                          <a:spcPts val="0"/>
                        </a:spcBef>
                        <a:spcAft>
                          <a:spcPts val="0"/>
                        </a:spcAft>
                        <a:buNone/>
                      </a:pPr>
                      <a:endParaRPr lang="en-US" sz="1000" b="0" i="0" u="none" strike="noStrike" kern="1200" baseline="0" noProof="0">
                        <a:solidFill>
                          <a:srgbClr val="000000"/>
                        </a:solidFill>
                        <a:latin typeface="Nunito Sans"/>
                      </a:endParaRPr>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912065209"/>
                  </a:ext>
                </a:extLst>
              </a:tr>
              <a:tr h="548640">
                <a:tc>
                  <a:txBody>
                    <a:bodyPr/>
                    <a:lstStyle/>
                    <a:p>
                      <a:pPr marL="0" lvl="0" indent="0" algn="l">
                        <a:lnSpc>
                          <a:spcPct val="100000"/>
                        </a:lnSpc>
                        <a:spcBef>
                          <a:spcPts val="0"/>
                        </a:spcBef>
                        <a:spcAft>
                          <a:spcPts val="0"/>
                        </a:spcAft>
                        <a:buNone/>
                      </a:pPr>
                      <a:r>
                        <a:rPr lang="en-US" sz="1100" b="1" i="0" u="none" strike="noStrike" kern="1200" noProof="0">
                          <a:solidFill>
                            <a:schemeClr val="bg1">
                              <a:lumMod val="65000"/>
                            </a:schemeClr>
                          </a:solidFill>
                          <a:effectLst/>
                          <a:latin typeface="Nunito Sans"/>
                          <a:ea typeface="+mn-ea"/>
                          <a:cs typeface="+mn-cs"/>
                        </a:rPr>
                        <a:t>eSign Integration with AMOS &amp; ELB</a:t>
                      </a:r>
                      <a:br>
                        <a:rPr lang="en-US">
                          <a:solidFill>
                            <a:srgbClr val="A6A6A6"/>
                          </a:solidFill>
                        </a:rPr>
                      </a:br>
                      <a:r>
                        <a:rPr lang="en-US" sz="1100" b="1" i="0" u="none" strike="noStrike" noProof="0">
                          <a:solidFill>
                            <a:schemeClr val="bg1">
                              <a:lumMod val="65000"/>
                            </a:schemeClr>
                          </a:solidFill>
                          <a:latin typeface="Nunito Sans"/>
                          <a:ea typeface="+mn-ea"/>
                          <a:cs typeface="+mn-cs"/>
                        </a:rPr>
                        <a:t>Go Live : June 25, 2026 (Descoped)</a:t>
                      </a:r>
                      <a:endParaRPr lang="en-US" sz="1100" b="1" i="0" u="none" strike="noStrike" kern="1200" noProof="0">
                        <a:solidFill>
                          <a:schemeClr val="bg1">
                            <a:lumMod val="65000"/>
                          </a:schemeClr>
                        </a:solidFill>
                        <a:effectLst/>
                        <a:latin typeface="Nunito Sans"/>
                        <a:ea typeface="+mn-ea"/>
                        <a:cs typeface="+mn-cs"/>
                      </a:endParaRPr>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marL="228600" lvl="0" indent="-228600" algn="l">
                        <a:lnSpc>
                          <a:spcPct val="100000"/>
                        </a:lnSpc>
                        <a:spcBef>
                          <a:spcPts val="0"/>
                        </a:spcBef>
                        <a:spcAft>
                          <a:spcPts val="0"/>
                        </a:spcAft>
                        <a:buAutoNum type="arabicPeriod"/>
                      </a:pPr>
                      <a:endParaRPr lang="en-US" sz="1100" b="1" i="0" u="none" strike="noStrike" kern="1200" noProof="0">
                        <a:solidFill>
                          <a:srgbClr val="0070C0"/>
                        </a:solidFill>
                        <a:latin typeface="Nunito Sans"/>
                      </a:endParaRPr>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marL="0" lvl="0" indent="0" algn="l">
                        <a:lnSpc>
                          <a:spcPct val="100000"/>
                        </a:lnSpc>
                        <a:spcBef>
                          <a:spcPts val="0"/>
                        </a:spcBef>
                        <a:spcAft>
                          <a:spcPts val="0"/>
                        </a:spcAft>
                        <a:buNone/>
                      </a:pPr>
                      <a:r>
                        <a:rPr lang="en-US" sz="1000" b="0" i="0" u="none" strike="noStrike" kern="1200" baseline="0" noProof="0">
                          <a:solidFill>
                            <a:schemeClr val="bg1">
                              <a:lumMod val="65000"/>
                            </a:schemeClr>
                          </a:solidFill>
                          <a:latin typeface="Nunito Sans"/>
                        </a:rPr>
                        <a:t>Enable digital signatures for maintenance tasks and operational documents within AMOS and the Electronic Logbook. Paperless compliance, faster approvals, clear audit trails, and reduced TAT for release.</a:t>
                      </a:r>
                      <a:endParaRPr lang="en-US">
                        <a:solidFill>
                          <a:schemeClr val="bg1">
                            <a:lumMod val="65000"/>
                          </a:schemeClr>
                        </a:solidFill>
                      </a:endParaRPr>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853609768"/>
                  </a:ext>
                </a:extLst>
              </a:tr>
              <a:tr h="1076960">
                <a:tc>
                  <a:txBody>
                    <a:bodyPr/>
                    <a:lstStyle/>
                    <a:p>
                      <a:pPr marL="0" lvl="0" indent="0" algn="l">
                        <a:lnSpc>
                          <a:spcPct val="100000"/>
                        </a:lnSpc>
                        <a:spcBef>
                          <a:spcPts val="0"/>
                        </a:spcBef>
                        <a:spcAft>
                          <a:spcPts val="0"/>
                        </a:spcAft>
                        <a:buNone/>
                      </a:pPr>
                      <a:r>
                        <a:rPr lang="en-US" sz="1100" b="1" i="0" u="none" strike="noStrike" noProof="0">
                          <a:solidFill>
                            <a:srgbClr val="00B050"/>
                          </a:solidFill>
                          <a:latin typeface="Nunito Sans"/>
                          <a:ea typeface="+mn-ea"/>
                          <a:cs typeface="+mn-cs"/>
                        </a:rPr>
                        <a:t>Collins VHF Coverage Trials</a:t>
                      </a:r>
                      <a:br>
                        <a:rPr lang="en-US" sz="1100" b="1" i="0" u="none" strike="noStrike" noProof="0">
                          <a:solidFill>
                            <a:srgbClr val="00B050"/>
                          </a:solidFill>
                          <a:latin typeface="Nunito Sans"/>
                          <a:ea typeface="+mn-ea"/>
                          <a:cs typeface="+mn-cs"/>
                        </a:rPr>
                      </a:br>
                      <a:r>
                        <a:rPr lang="en-US" sz="1100" b="1" i="0" u="none" strike="noStrike" noProof="0">
                          <a:solidFill>
                            <a:srgbClr val="00B050"/>
                          </a:solidFill>
                          <a:latin typeface="Nunito Sans"/>
                        </a:rPr>
                        <a:t>Planned Go Live : June 29, 2026</a:t>
                      </a:r>
                      <a:endParaRPr lang="en-US"/>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marL="228600" lvl="0" indent="-228600" algn="l">
                        <a:lnSpc>
                          <a:spcPct val="100000"/>
                        </a:lnSpc>
                        <a:spcBef>
                          <a:spcPts val="0"/>
                        </a:spcBef>
                        <a:spcAft>
                          <a:spcPts val="0"/>
                        </a:spcAft>
                        <a:buAutoNum type="arabicPeriod"/>
                      </a:pPr>
                      <a:endParaRPr lang="en-US" sz="1100" b="1" i="0" u="none" strike="noStrike" kern="1200" noProof="0">
                        <a:solidFill>
                          <a:srgbClr val="0070C0"/>
                        </a:solidFill>
                        <a:latin typeface="Nunito Sans"/>
                      </a:endParaRPr>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marL="0" lvl="0" indent="0" algn="l">
                        <a:lnSpc>
                          <a:spcPct val="100000"/>
                        </a:lnSpc>
                        <a:spcBef>
                          <a:spcPts val="0"/>
                        </a:spcBef>
                        <a:spcAft>
                          <a:spcPts val="0"/>
                        </a:spcAft>
                        <a:buNone/>
                      </a:pPr>
                      <a:r>
                        <a:rPr lang="en-US" sz="1100" b="0" i="0" u="none" strike="noStrike" kern="1200" baseline="0" noProof="0">
                          <a:solidFill>
                            <a:srgbClr val="000000"/>
                          </a:solidFill>
                          <a:latin typeface="Nunito Sans"/>
                        </a:rPr>
                        <a:t>Conducting a VHF Coverage POC with Collins to evaluate alternative communication network capabilities in regions where current SITA AIRCOM coverage is limited (e.g., China, Hong Kong, Vietnam, Thailand, and other parts of India). The initiative aims to improve communication reliability, reduce connectivity gaps, and enhance operational efficiency and flight safety.</a:t>
                      </a:r>
                      <a:endParaRPr lang="en-US"/>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504529108"/>
                  </a:ext>
                </a:extLst>
              </a:tr>
              <a:tr h="1076960">
                <a:tc>
                  <a:txBody>
                    <a:bodyPr/>
                    <a:lstStyle/>
                    <a:p>
                      <a:pPr lvl="0" algn="l">
                        <a:lnSpc>
                          <a:spcPct val="100000"/>
                        </a:lnSpc>
                        <a:spcBef>
                          <a:spcPts val="0"/>
                        </a:spcBef>
                        <a:spcAft>
                          <a:spcPts val="0"/>
                        </a:spcAft>
                        <a:buNone/>
                      </a:pPr>
                      <a:r>
                        <a:rPr lang="en-US" sz="1100" b="1" i="0" u="none" strike="noStrike" kern="1200" noProof="0">
                          <a:solidFill>
                            <a:srgbClr val="00B050"/>
                          </a:solidFill>
                          <a:latin typeface="Nunito Sans"/>
                          <a:ea typeface="+mn-ea"/>
                          <a:cs typeface="+mn-cs"/>
                        </a:rPr>
                        <a:t>AMOS MRO system configuration</a:t>
                      </a:r>
                      <a:br>
                        <a:rPr lang="en-US" sz="1100" b="0" i="0" u="none" strike="noStrike" noProof="0">
                          <a:solidFill>
                            <a:srgbClr val="00B050"/>
                          </a:solidFill>
                        </a:rPr>
                      </a:br>
                      <a:r>
                        <a:rPr lang="en-US" sz="1100" b="1" i="0" u="none" strike="noStrike" noProof="0">
                          <a:solidFill>
                            <a:srgbClr val="00B050"/>
                          </a:solidFill>
                          <a:latin typeface="Nunito Sans"/>
                        </a:rPr>
                        <a:t>Planned Go Live : June 26, 2026</a:t>
                      </a:r>
                      <a:br>
                        <a:rPr lang="en-US" sz="1100" b="1" i="0" u="none" strike="noStrike" noProof="0">
                          <a:solidFill>
                            <a:srgbClr val="00B050"/>
                          </a:solidFill>
                          <a:latin typeface="Nunito Sans"/>
                        </a:rPr>
                      </a:br>
                      <a:endParaRPr lang="en-US" sz="1100" b="1" i="0" u="none" strike="noStrike" noProof="0">
                        <a:solidFill>
                          <a:srgbClr val="00B050"/>
                        </a:solidFill>
                        <a:latin typeface="Nunito Sans"/>
                      </a:endParaRPr>
                    </a:p>
                    <a:p>
                      <a:pPr marL="0" lvl="0" indent="0" algn="l">
                        <a:lnSpc>
                          <a:spcPct val="100000"/>
                        </a:lnSpc>
                        <a:spcBef>
                          <a:spcPts val="0"/>
                        </a:spcBef>
                        <a:spcAft>
                          <a:spcPts val="0"/>
                        </a:spcAft>
                        <a:buNone/>
                      </a:pPr>
                      <a:endParaRPr lang="en-US" sz="1100" b="1" i="0" u="none" strike="noStrike" noProof="0">
                        <a:solidFill>
                          <a:srgbClr val="00B050"/>
                        </a:solidFill>
                        <a:latin typeface="Nunito Sans"/>
                      </a:endParaRPr>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tc>
                  <a:txBody>
                    <a:bodyPr/>
                    <a:lstStyle/>
                    <a:p>
                      <a:pPr marL="228600" lvl="0" indent="-228600" algn="l">
                        <a:lnSpc>
                          <a:spcPct val="100000"/>
                        </a:lnSpc>
                        <a:spcBef>
                          <a:spcPts val="0"/>
                        </a:spcBef>
                        <a:spcAft>
                          <a:spcPts val="0"/>
                        </a:spcAft>
                        <a:buAutoNum type="arabicPeriod"/>
                      </a:pPr>
                      <a:endParaRPr lang="en-US" sz="1100" b="1" i="0" u="none" strike="noStrike" kern="1200" noProof="0">
                        <a:solidFill>
                          <a:srgbClr val="0070C0"/>
                        </a:solidFill>
                        <a:latin typeface="Nunito Sans"/>
                      </a:endParaRPr>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tc>
                  <a:txBody>
                    <a:bodyPr/>
                    <a:lstStyle/>
                    <a:p>
                      <a:pPr lvl="0" algn="l">
                        <a:lnSpc>
                          <a:spcPct val="100000"/>
                        </a:lnSpc>
                        <a:spcBef>
                          <a:spcPts val="0"/>
                        </a:spcBef>
                        <a:spcAft>
                          <a:spcPts val="0"/>
                        </a:spcAft>
                        <a:buNone/>
                      </a:pPr>
                      <a:r>
                        <a:rPr lang="en-US" sz="1100" b="0" i="0" u="none" strike="noStrike" kern="1200" baseline="0" noProof="0">
                          <a:solidFill>
                            <a:srgbClr val="000000"/>
                          </a:solidFill>
                        </a:rPr>
                        <a:t>Readiness of AMOS MRO system for the end users</a:t>
                      </a:r>
                      <a:endParaRPr lang="en-US"/>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extLst>
                  <a:ext uri="{0D108BD9-81ED-4DB2-BD59-A6C34878D82A}">
                    <a16:rowId xmlns:a16="http://schemas.microsoft.com/office/drawing/2014/main" val="758743076"/>
                  </a:ext>
                </a:extLst>
              </a:tr>
            </a:tbl>
          </a:graphicData>
        </a:graphic>
      </p:graphicFrame>
      <p:sp>
        <p:nvSpPr>
          <p:cNvPr id="4" name="Rectangle 3">
            <a:extLst>
              <a:ext uri="{FF2B5EF4-FFF2-40B4-BE49-F238E27FC236}">
                <a16:creationId xmlns:a16="http://schemas.microsoft.com/office/drawing/2014/main" id="{7772B75E-D52D-44DC-94D0-125F55447936}"/>
              </a:ext>
            </a:extLst>
          </p:cNvPr>
          <p:cNvSpPr/>
          <p:nvPr/>
        </p:nvSpPr>
        <p:spPr>
          <a:xfrm>
            <a:off x="1188132" y="6671592"/>
            <a:ext cx="90000" cy="90000"/>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5" name="Rectangle 4">
            <a:extLst>
              <a:ext uri="{FF2B5EF4-FFF2-40B4-BE49-F238E27FC236}">
                <a16:creationId xmlns:a16="http://schemas.microsoft.com/office/drawing/2014/main" id="{594E4C9D-230F-C6E7-93CB-3E0F19F545FB}"/>
              </a:ext>
            </a:extLst>
          </p:cNvPr>
          <p:cNvSpPr/>
          <p:nvPr/>
        </p:nvSpPr>
        <p:spPr>
          <a:xfrm>
            <a:off x="2265818" y="6670554"/>
            <a:ext cx="90000" cy="90000"/>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7" name="Rectangle 6">
            <a:extLst>
              <a:ext uri="{FF2B5EF4-FFF2-40B4-BE49-F238E27FC236}">
                <a16:creationId xmlns:a16="http://schemas.microsoft.com/office/drawing/2014/main" id="{F5E638D0-FC63-FB56-C5D7-B6074E53132F}"/>
              </a:ext>
            </a:extLst>
          </p:cNvPr>
          <p:cNvSpPr/>
          <p:nvPr/>
        </p:nvSpPr>
        <p:spPr>
          <a:xfrm>
            <a:off x="3443423" y="6671592"/>
            <a:ext cx="90000" cy="90000"/>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8" name="Rectangle 7">
            <a:extLst>
              <a:ext uri="{FF2B5EF4-FFF2-40B4-BE49-F238E27FC236}">
                <a16:creationId xmlns:a16="http://schemas.microsoft.com/office/drawing/2014/main" id="{8C93ACA7-0550-8431-ACD6-00D1F1076D9D}"/>
              </a:ext>
            </a:extLst>
          </p:cNvPr>
          <p:cNvSpPr/>
          <p:nvPr/>
        </p:nvSpPr>
        <p:spPr>
          <a:xfrm>
            <a:off x="8146052" y="6714097"/>
            <a:ext cx="90000" cy="90000"/>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9" name="TextBox 15">
            <a:extLst>
              <a:ext uri="{FF2B5EF4-FFF2-40B4-BE49-F238E27FC236}">
                <a16:creationId xmlns:a16="http://schemas.microsoft.com/office/drawing/2014/main" id="{78A87D1F-61A4-98B2-15AD-8047A942589A}"/>
              </a:ext>
            </a:extLst>
          </p:cNvPr>
          <p:cNvSpPr txBox="1"/>
          <p:nvPr/>
        </p:nvSpPr>
        <p:spPr>
          <a:xfrm>
            <a:off x="1288983" y="6614743"/>
            <a:ext cx="857245"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0070C0"/>
                </a:solidFill>
                <a:effectLst/>
                <a:uLnTx/>
                <a:uFillTx/>
                <a:latin typeface="Nunito Sans"/>
                <a:ea typeface="+mn-ea"/>
                <a:cs typeface="+mn-cs"/>
              </a:rPr>
              <a:t>Delivered</a:t>
            </a:r>
            <a:endParaRPr kumimoji="0" lang="en-IN" sz="1000" b="0" i="0" u="none" strike="noStrike" kern="1200" cap="none" spc="0" normalizeH="0" baseline="0" noProof="0">
              <a:ln>
                <a:noFill/>
              </a:ln>
              <a:solidFill>
                <a:srgbClr val="000000"/>
              </a:solidFill>
              <a:effectLst/>
              <a:uLnTx/>
              <a:uFillTx/>
              <a:latin typeface="Nunito Sans"/>
              <a:ea typeface="+mn-ea"/>
              <a:cs typeface="+mn-cs"/>
            </a:endParaRPr>
          </a:p>
        </p:txBody>
      </p:sp>
      <p:sp>
        <p:nvSpPr>
          <p:cNvPr id="10" name="TextBox 18">
            <a:extLst>
              <a:ext uri="{FF2B5EF4-FFF2-40B4-BE49-F238E27FC236}">
                <a16:creationId xmlns:a16="http://schemas.microsoft.com/office/drawing/2014/main" id="{8F365C13-8984-41DB-FC9F-1B3C20289206}"/>
              </a:ext>
            </a:extLst>
          </p:cNvPr>
          <p:cNvSpPr txBox="1"/>
          <p:nvPr/>
        </p:nvSpPr>
        <p:spPr>
          <a:xfrm>
            <a:off x="2310642" y="6611102"/>
            <a:ext cx="1032881"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00B050"/>
                </a:solidFill>
                <a:effectLst/>
                <a:uLnTx/>
                <a:uFillTx/>
                <a:latin typeface="Nunito Sans"/>
                <a:ea typeface="+mn-ea"/>
                <a:cs typeface="+mn-cs"/>
              </a:rPr>
              <a:t>Ontrack</a:t>
            </a:r>
            <a:endParaRPr kumimoji="0" lang="en-IN" sz="1000" b="0" i="0" u="none" strike="noStrike" kern="1200" cap="none" spc="0" normalizeH="0" baseline="0" noProof="0">
              <a:ln>
                <a:noFill/>
              </a:ln>
              <a:solidFill>
                <a:srgbClr val="000000"/>
              </a:solidFill>
              <a:effectLst/>
              <a:uLnTx/>
              <a:uFillTx/>
              <a:latin typeface="Nunito Sans"/>
              <a:ea typeface="+mn-ea"/>
              <a:cs typeface="+mn-cs"/>
            </a:endParaRPr>
          </a:p>
        </p:txBody>
      </p:sp>
      <p:sp>
        <p:nvSpPr>
          <p:cNvPr id="11" name="TextBox 20">
            <a:extLst>
              <a:ext uri="{FF2B5EF4-FFF2-40B4-BE49-F238E27FC236}">
                <a16:creationId xmlns:a16="http://schemas.microsoft.com/office/drawing/2014/main" id="{23665839-4C7E-B013-883E-04FF8E2CAAB6}"/>
              </a:ext>
            </a:extLst>
          </p:cNvPr>
          <p:cNvSpPr txBox="1"/>
          <p:nvPr/>
        </p:nvSpPr>
        <p:spPr>
          <a:xfrm>
            <a:off x="3539606" y="6608370"/>
            <a:ext cx="2257628"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FED9A0">
                    <a:lumMod val="75000"/>
                  </a:srgbClr>
                </a:solidFill>
                <a:effectLst/>
                <a:uLnTx/>
                <a:uFillTx/>
                <a:latin typeface="Nunito Sans"/>
                <a:ea typeface="+mn-ea"/>
                <a:cs typeface="+mn-cs"/>
              </a:rPr>
              <a:t>Under delay and can be recovered</a:t>
            </a:r>
            <a:endParaRPr kumimoji="0" lang="en-IN" sz="1000" b="0" i="0" u="none" strike="noStrike" kern="1200" cap="none" spc="0" normalizeH="0" baseline="0" noProof="0">
              <a:ln>
                <a:noFill/>
              </a:ln>
              <a:solidFill>
                <a:srgbClr val="000000"/>
              </a:solidFill>
              <a:effectLst/>
              <a:uLnTx/>
              <a:uFillTx/>
              <a:latin typeface="Nunito Sans"/>
              <a:ea typeface="+mn-ea"/>
              <a:cs typeface="+mn-cs"/>
            </a:endParaRPr>
          </a:p>
        </p:txBody>
      </p:sp>
      <p:sp>
        <p:nvSpPr>
          <p:cNvPr id="13" name="TextBox 22">
            <a:extLst>
              <a:ext uri="{FF2B5EF4-FFF2-40B4-BE49-F238E27FC236}">
                <a16:creationId xmlns:a16="http://schemas.microsoft.com/office/drawing/2014/main" id="{D0DE8EA2-94BE-6E75-5211-E881A02C733A}"/>
              </a:ext>
            </a:extLst>
          </p:cNvPr>
          <p:cNvSpPr txBox="1"/>
          <p:nvPr/>
        </p:nvSpPr>
        <p:spPr>
          <a:xfrm>
            <a:off x="8246937" y="6618126"/>
            <a:ext cx="2338222"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FF0000"/>
                </a:solidFill>
                <a:effectLst/>
                <a:uLnTx/>
                <a:uFillTx/>
                <a:latin typeface="Nunito Sans"/>
                <a:ea typeface="+mn-ea"/>
                <a:cs typeface="+mn-cs"/>
              </a:rPr>
              <a:t>Delayed and pushed to next release</a:t>
            </a:r>
          </a:p>
        </p:txBody>
      </p:sp>
      <p:sp>
        <p:nvSpPr>
          <p:cNvPr id="15" name="TextBox 14">
            <a:extLst>
              <a:ext uri="{FF2B5EF4-FFF2-40B4-BE49-F238E27FC236}">
                <a16:creationId xmlns:a16="http://schemas.microsoft.com/office/drawing/2014/main" id="{31A7AC19-C9CA-0BB1-42D3-F86182807DB7}"/>
              </a:ext>
            </a:extLst>
          </p:cNvPr>
          <p:cNvSpPr txBox="1"/>
          <p:nvPr/>
        </p:nvSpPr>
        <p:spPr>
          <a:xfrm>
            <a:off x="6454369" y="6611638"/>
            <a:ext cx="2743200"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IN" sz="1000">
                <a:solidFill>
                  <a:srgbClr val="7D7D7D"/>
                </a:solidFill>
              </a:rPr>
              <a:t>Descoped</a:t>
            </a:r>
            <a:endParaRPr lang="en-US"/>
          </a:p>
        </p:txBody>
      </p:sp>
      <p:sp>
        <p:nvSpPr>
          <p:cNvPr id="16" name="Rectangle 15">
            <a:extLst>
              <a:ext uri="{FF2B5EF4-FFF2-40B4-BE49-F238E27FC236}">
                <a16:creationId xmlns:a16="http://schemas.microsoft.com/office/drawing/2014/main" id="{3D19037A-3B29-A139-DE56-13B48115840F}"/>
              </a:ext>
            </a:extLst>
          </p:cNvPr>
          <p:cNvSpPr/>
          <p:nvPr/>
        </p:nvSpPr>
        <p:spPr>
          <a:xfrm>
            <a:off x="6360794" y="6681439"/>
            <a:ext cx="90000" cy="90000"/>
          </a:xfrm>
          <a:prstGeom prst="rect">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Tree>
    <p:extLst>
      <p:ext uri="{BB962C8B-B14F-4D97-AF65-F5344CB8AC3E}">
        <p14:creationId xmlns:p14="http://schemas.microsoft.com/office/powerpoint/2010/main" val="221109302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175F9B-C0CF-F7B2-EC62-E4140A28C5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68D4B9-40B3-B75E-D610-830CE25CF760}"/>
              </a:ext>
            </a:extLst>
          </p:cNvPr>
          <p:cNvSpPr>
            <a:spLocks noGrp="1"/>
          </p:cNvSpPr>
          <p:nvPr>
            <p:ph type="title"/>
          </p:nvPr>
        </p:nvSpPr>
        <p:spPr>
          <a:xfrm>
            <a:off x="1919417" y="920381"/>
            <a:ext cx="10176225" cy="895041"/>
          </a:xfrm>
        </p:spPr>
        <p:txBody>
          <a:bodyPr/>
          <a:lstStyle/>
          <a:p>
            <a:r>
              <a:rPr lang="en-US" sz="3600">
                <a:latin typeface="AirIndia"/>
              </a:rPr>
              <a:t>Engineering Tech – FY26-27/Q2</a:t>
            </a:r>
            <a:endParaRPr lang="en-IN" sz="3600">
              <a:latin typeface="AirIndia"/>
            </a:endParaRPr>
          </a:p>
        </p:txBody>
      </p:sp>
    </p:spTree>
    <p:extLst>
      <p:ext uri="{BB962C8B-B14F-4D97-AF65-F5344CB8AC3E}">
        <p14:creationId xmlns:p14="http://schemas.microsoft.com/office/powerpoint/2010/main" val="173925118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D10013-A153-8C4B-2CD6-B6ACA1A14DF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C96F207-61AE-8114-E67A-E47BD4C135C4}"/>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3A41A254-7326-714E-AF55-4C213D6394DE}" type="slidenum">
              <a:rPr kumimoji="0" lang="en-US" sz="1200" b="0" i="0" u="none" strike="noStrike" kern="1200" cap="none" spc="0" normalizeH="0" baseline="0" noProof="0" smtClean="0">
                <a:ln>
                  <a:noFill/>
                </a:ln>
                <a:solidFill>
                  <a:srgbClr val="DA0E28"/>
                </a:solidFill>
                <a:effectLst/>
                <a:uLnTx/>
                <a:uFillTx/>
                <a:latin typeface="Nunito Sans"/>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32</a:t>
            </a:fld>
            <a:endParaRPr kumimoji="0" lang="en-US" sz="1200" b="0" i="0" u="none" strike="noStrike" kern="1200" cap="none" spc="0" normalizeH="0" baseline="0" noProof="0">
              <a:ln>
                <a:noFill/>
              </a:ln>
              <a:solidFill>
                <a:srgbClr val="DA0E28"/>
              </a:solidFill>
              <a:effectLst/>
              <a:uLnTx/>
              <a:uFillTx/>
              <a:latin typeface="Nunito Sans"/>
              <a:ea typeface="+mn-ea"/>
              <a:cs typeface="+mn-cs"/>
            </a:endParaRPr>
          </a:p>
        </p:txBody>
      </p:sp>
      <p:sp>
        <p:nvSpPr>
          <p:cNvPr id="3" name="Rectangle 2">
            <a:extLst>
              <a:ext uri="{FF2B5EF4-FFF2-40B4-BE49-F238E27FC236}">
                <a16:creationId xmlns:a16="http://schemas.microsoft.com/office/drawing/2014/main" id="{5348E383-BED1-F07A-D9BF-C4C71FE2A602}"/>
              </a:ext>
            </a:extLst>
          </p:cNvPr>
          <p:cNvSpPr/>
          <p:nvPr/>
        </p:nvSpPr>
        <p:spPr>
          <a:xfrm>
            <a:off x="92501" y="619615"/>
            <a:ext cx="1170432" cy="42234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400" b="1">
                <a:solidFill>
                  <a:srgbClr val="FFFFFF"/>
                </a:solidFill>
                <a:latin typeface="AirIndia"/>
              </a:rPr>
              <a:t>Jul</a:t>
            </a:r>
            <a:r>
              <a:rPr kumimoji="0" lang="en-IN" sz="1400" b="1" i="0" u="none" strike="noStrike" kern="1200" cap="none" spc="0" normalizeH="0" baseline="0" noProof="0">
                <a:ln>
                  <a:noFill/>
                </a:ln>
                <a:solidFill>
                  <a:srgbClr val="FFFFFF"/>
                </a:solidFill>
                <a:effectLst/>
                <a:uLnTx/>
                <a:uFillTx/>
                <a:latin typeface="AirIndia"/>
                <a:ea typeface="+mn-ea"/>
                <a:cs typeface="+mn-cs"/>
              </a:rPr>
              <a:t> ‘</a:t>
            </a:r>
            <a:r>
              <a:rPr lang="en-IN" sz="1400" b="1">
                <a:solidFill>
                  <a:srgbClr val="FFFFFF"/>
                </a:solidFill>
                <a:latin typeface="AirIndia"/>
              </a:rPr>
              <a:t>26</a:t>
            </a:r>
            <a:endParaRPr kumimoji="0" lang="en-US" sz="1400" b="1" i="0" u="none" strike="noStrike" kern="1200" cap="none" spc="0" normalizeH="0" baseline="0" noProof="0">
              <a:ln>
                <a:noFill/>
              </a:ln>
              <a:solidFill>
                <a:srgbClr val="FFFFFF"/>
              </a:solidFill>
              <a:effectLst/>
              <a:uLnTx/>
              <a:uFillTx/>
              <a:latin typeface="AirIndia"/>
              <a:ea typeface="+mn-ea"/>
              <a:cs typeface="+mn-cs"/>
            </a:endParaRPr>
          </a:p>
        </p:txBody>
      </p:sp>
      <p:sp>
        <p:nvSpPr>
          <p:cNvPr id="6" name="Title 11">
            <a:extLst>
              <a:ext uri="{FF2B5EF4-FFF2-40B4-BE49-F238E27FC236}">
                <a16:creationId xmlns:a16="http://schemas.microsoft.com/office/drawing/2014/main" id="{F036A068-B26B-9DA6-6222-549AB7CF057E}"/>
              </a:ext>
            </a:extLst>
          </p:cNvPr>
          <p:cNvSpPr txBox="1">
            <a:spLocks/>
          </p:cNvSpPr>
          <p:nvPr/>
        </p:nvSpPr>
        <p:spPr>
          <a:xfrm>
            <a:off x="235455" y="-28289"/>
            <a:ext cx="7702602" cy="497476"/>
          </a:xfrm>
          <a:prstGeom prst="rect">
            <a:avLst/>
          </a:prstGeom>
        </p:spPr>
        <p:txBody>
          <a:bodyPr lIns="91440" tIns="45720" rIns="91440" bIns="45720" anchor="t">
            <a:noAutofit/>
          </a:bodyPr>
          <a:lstStyle>
            <a:lvl1pPr algn="l" defTabSz="914400" rtl="0" eaLnBrk="1" latinLnBrk="0" hangingPunct="1">
              <a:lnSpc>
                <a:spcPct val="90000"/>
              </a:lnSpc>
              <a:spcBef>
                <a:spcPct val="0"/>
              </a:spcBef>
              <a:buNone/>
              <a:defRPr sz="4400" b="1" i="0" kern="1200">
                <a:solidFill>
                  <a:schemeClr val="tx1"/>
                </a:solidFill>
                <a:latin typeface="AirIndia" pitchFamily="82" charset="77"/>
                <a:ea typeface="+mj-ea"/>
                <a:cs typeface="+mj-cs"/>
              </a:defRPr>
            </a:lvl1pPr>
          </a:lstStyle>
          <a:p>
            <a:pPr>
              <a:defRPr/>
            </a:pPr>
            <a:endParaRPr lang="en-US" sz="1800">
              <a:solidFill>
                <a:srgbClr val="DA0E28"/>
              </a:solidFill>
              <a:latin typeface="AirIndia"/>
            </a:endParaRPr>
          </a:p>
          <a:p>
            <a:pPr>
              <a:defRPr/>
            </a:pPr>
            <a:r>
              <a:rPr lang="en-US" sz="1800">
                <a:solidFill>
                  <a:srgbClr val="DA0E28"/>
                </a:solidFill>
                <a:latin typeface="AirIndia"/>
              </a:rPr>
              <a:t>Engineering Tech -</a:t>
            </a:r>
            <a:r>
              <a:rPr kumimoji="0" lang="en-US" sz="1800" b="1" i="0" u="none" strike="noStrike" kern="1200" cap="none" spc="0" normalizeH="0" baseline="0" noProof="0">
                <a:ln>
                  <a:noFill/>
                </a:ln>
                <a:solidFill>
                  <a:srgbClr val="DA0E28"/>
                </a:solidFill>
                <a:effectLst/>
                <a:uLnTx/>
                <a:uFillTx/>
                <a:latin typeface="AirIndia"/>
                <a:ea typeface="+mj-ea"/>
                <a:cs typeface="+mj-cs"/>
              </a:rPr>
              <a:t> </a:t>
            </a:r>
            <a:r>
              <a:rPr lang="en-US" sz="1800">
                <a:solidFill>
                  <a:srgbClr val="DA0E28"/>
                </a:solidFill>
                <a:latin typeface="AirIndia"/>
              </a:rPr>
              <a:t>FY27</a:t>
            </a:r>
            <a:r>
              <a:rPr kumimoji="0" lang="en-US" sz="1800" b="1" i="0" u="none" strike="noStrike" kern="1200" cap="none" spc="0" normalizeH="0" baseline="0" noProof="0">
                <a:ln>
                  <a:noFill/>
                </a:ln>
                <a:solidFill>
                  <a:srgbClr val="DA0E28"/>
                </a:solidFill>
                <a:effectLst/>
                <a:uLnTx/>
                <a:uFillTx/>
                <a:latin typeface="AirIndia"/>
                <a:ea typeface="+mj-ea"/>
                <a:cs typeface="+mj-cs"/>
              </a:rPr>
              <a:t> Q2  Release Plan</a:t>
            </a:r>
            <a:endParaRPr lang="en-US" sz="1800" b="0" i="0" u="none" strike="noStrike" kern="1200" cap="none" spc="0" normalizeH="0" baseline="0" noProof="0">
              <a:ln>
                <a:noFill/>
              </a:ln>
              <a:solidFill>
                <a:srgbClr val="DA0E28"/>
              </a:solidFill>
              <a:effectLst/>
              <a:uLnTx/>
              <a:uFillTx/>
              <a:latin typeface="AirIndia"/>
            </a:endParaRPr>
          </a:p>
        </p:txBody>
      </p:sp>
      <p:graphicFrame>
        <p:nvGraphicFramePr>
          <p:cNvPr id="12" name="Table 11">
            <a:extLst>
              <a:ext uri="{FF2B5EF4-FFF2-40B4-BE49-F238E27FC236}">
                <a16:creationId xmlns:a16="http://schemas.microsoft.com/office/drawing/2014/main" id="{55525349-F4AA-F38D-2300-D294E7E169A4}"/>
              </a:ext>
            </a:extLst>
          </p:cNvPr>
          <p:cNvGraphicFramePr>
            <a:graphicFrameLocks noGrp="1"/>
          </p:cNvGraphicFramePr>
          <p:nvPr>
            <p:extLst>
              <p:ext uri="{D42A27DB-BD31-4B8C-83A1-F6EECF244321}">
                <p14:modId xmlns:p14="http://schemas.microsoft.com/office/powerpoint/2010/main" val="1201886858"/>
              </p:ext>
            </p:extLst>
          </p:nvPr>
        </p:nvGraphicFramePr>
        <p:xfrm>
          <a:off x="1262933" y="619615"/>
          <a:ext cx="10685698" cy="3088640"/>
        </p:xfrm>
        <a:graphic>
          <a:graphicData uri="http://schemas.openxmlformats.org/drawingml/2006/table">
            <a:tbl>
              <a:tblPr firstRow="1" bandRow="1">
                <a:tableStyleId>{5C22544A-7EE6-4342-B048-85BDC9FD1C3A}</a:tableStyleId>
              </a:tblPr>
              <a:tblGrid>
                <a:gridCol w="1205948">
                  <a:extLst>
                    <a:ext uri="{9D8B030D-6E8A-4147-A177-3AD203B41FA5}">
                      <a16:colId xmlns:a16="http://schemas.microsoft.com/office/drawing/2014/main" val="2822350773"/>
                    </a:ext>
                  </a:extLst>
                </a:gridCol>
                <a:gridCol w="1130417">
                  <a:extLst>
                    <a:ext uri="{9D8B030D-6E8A-4147-A177-3AD203B41FA5}">
                      <a16:colId xmlns:a16="http://schemas.microsoft.com/office/drawing/2014/main" val="1843387359"/>
                    </a:ext>
                  </a:extLst>
                </a:gridCol>
                <a:gridCol w="5745870">
                  <a:extLst>
                    <a:ext uri="{9D8B030D-6E8A-4147-A177-3AD203B41FA5}">
                      <a16:colId xmlns:a16="http://schemas.microsoft.com/office/drawing/2014/main" val="99588705"/>
                    </a:ext>
                  </a:extLst>
                </a:gridCol>
                <a:gridCol w="1380744">
                  <a:extLst>
                    <a:ext uri="{9D8B030D-6E8A-4147-A177-3AD203B41FA5}">
                      <a16:colId xmlns:a16="http://schemas.microsoft.com/office/drawing/2014/main" val="1820842599"/>
                    </a:ext>
                  </a:extLst>
                </a:gridCol>
                <a:gridCol w="1222719">
                  <a:extLst>
                    <a:ext uri="{9D8B030D-6E8A-4147-A177-3AD203B41FA5}">
                      <a16:colId xmlns:a16="http://schemas.microsoft.com/office/drawing/2014/main" val="35179751"/>
                    </a:ext>
                  </a:extLst>
                </a:gridCol>
              </a:tblGrid>
              <a:tr h="530670">
                <a:tc>
                  <a:txBody>
                    <a:bodyPr/>
                    <a:lstStyle/>
                    <a:p>
                      <a:pPr marL="0" lvl="0" indent="0" algn="ctr" defTabSz="914400" rtl="0">
                        <a:lnSpc>
                          <a:spcPct val="100000"/>
                        </a:lnSpc>
                        <a:buFont typeface="Arial" panose="020B0604020202020204" pitchFamily="34" charset="0"/>
                        <a:buNone/>
                      </a:pPr>
                      <a:r>
                        <a:rPr lang="en-IN" sz="1100" b="1" kern="1200">
                          <a:solidFill>
                            <a:schemeClr val="bg1"/>
                          </a:solidFill>
                          <a:latin typeface="+mn-lt"/>
                          <a:ea typeface="+mn-ea"/>
                          <a:cs typeface="+mn-cs"/>
                        </a:rPr>
                        <a:t>Initiatives</a:t>
                      </a:r>
                      <a:endParaRPr lang="en-US" sz="1100" b="1"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tc>
                  <a:txBody>
                    <a:bodyPr/>
                    <a:lstStyle/>
                    <a:p>
                      <a:pPr marL="0" lvl="0" indent="0" algn="ctr" defTabSz="914400">
                        <a:lnSpc>
                          <a:spcPct val="100000"/>
                        </a:lnSpc>
                        <a:buNone/>
                      </a:pPr>
                      <a:r>
                        <a:rPr lang="en-IN" sz="1100" b="1" i="0" u="none" strike="noStrike" kern="1200" noProof="0">
                          <a:solidFill>
                            <a:schemeClr val="bg1"/>
                          </a:solidFill>
                          <a:latin typeface="Nunito Sans"/>
                          <a:ea typeface="+mn-ea"/>
                          <a:cs typeface="+mn-cs"/>
                        </a:rPr>
                        <a:t>Programs/Projects</a:t>
                      </a:r>
                      <a:endParaRPr lang="en-US"/>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solidFill>
                      <a:schemeClr val="accent3">
                        <a:lumMod val="90000"/>
                        <a:lumOff val="10000"/>
                      </a:schemeClr>
                    </a:solidFill>
                  </a:tcPr>
                </a:tc>
                <a:tc>
                  <a:txBody>
                    <a:bodyPr/>
                    <a:lstStyle/>
                    <a:p>
                      <a:pPr marL="0" lvl="0" indent="0" algn="ctr">
                        <a:lnSpc>
                          <a:spcPct val="100000"/>
                        </a:lnSpc>
                        <a:buNone/>
                      </a:pPr>
                      <a:endParaRPr lang="en-IN" sz="1100" b="1" i="0" u="none" strike="noStrike" kern="1200" baseline="0" noProof="0">
                        <a:solidFill>
                          <a:srgbClr val="FFFFFF"/>
                        </a:solidFill>
                        <a:latin typeface="Nunito Sans"/>
                      </a:endParaRPr>
                    </a:p>
                    <a:p>
                      <a:pPr marL="0" lvl="0" indent="0" algn="ctr">
                        <a:lnSpc>
                          <a:spcPct val="100000"/>
                        </a:lnSpc>
                        <a:buNone/>
                      </a:pPr>
                      <a:r>
                        <a:rPr lang="en-IN" sz="1100" b="1" i="0" u="none" strike="noStrike" kern="1200" baseline="0" noProof="0">
                          <a:solidFill>
                            <a:srgbClr val="FFFFFF"/>
                          </a:solidFill>
                          <a:latin typeface="Nunito Sans"/>
                        </a:rPr>
                        <a:t>Value Justification/Realization</a:t>
                      </a:r>
                    </a:p>
                    <a:p>
                      <a:pPr marL="0" lvl="0" indent="0" algn="ctr" defTabSz="914400">
                        <a:buFont typeface="Arial" panose="020B0604020202020204" pitchFamily="34" charset="0"/>
                        <a:buNone/>
                      </a:pPr>
                      <a:endParaRPr lang="en-IN" sz="1100"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100" b="1" kern="1200">
                          <a:solidFill>
                            <a:schemeClr val="bg1"/>
                          </a:solidFill>
                          <a:latin typeface="+mn-lt"/>
                          <a:ea typeface="+mn-ea"/>
                          <a:cs typeface="+mn-cs"/>
                        </a:rPr>
                        <a:t>Planned Go-live date</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1100" b="1" kern="1200">
                          <a:solidFill>
                            <a:schemeClr val="bg1"/>
                          </a:solidFill>
                          <a:latin typeface="+mn-lt"/>
                          <a:ea typeface="+mn-ea"/>
                          <a:cs typeface="+mn-cs"/>
                        </a:rPr>
                        <a:t>EIP Integration Required (Yes/No)</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extLst>
                  <a:ext uri="{0D108BD9-81ED-4DB2-BD59-A6C34878D82A}">
                    <a16:rowId xmlns:a16="http://schemas.microsoft.com/office/drawing/2014/main" val="844450115"/>
                  </a:ext>
                </a:extLst>
              </a:tr>
              <a:tr h="955040">
                <a:tc>
                  <a:txBody>
                    <a:bodyPr/>
                    <a:lstStyle/>
                    <a:p>
                      <a:pPr marL="0" lvl="0" indent="0" algn="l">
                        <a:lnSpc>
                          <a:spcPct val="100000"/>
                        </a:lnSpc>
                        <a:spcBef>
                          <a:spcPts val="0"/>
                        </a:spcBef>
                        <a:spcAft>
                          <a:spcPts val="0"/>
                        </a:spcAft>
                        <a:buNone/>
                      </a:pPr>
                      <a:r>
                        <a:rPr lang="en-US" sz="1100" b="1" i="0" u="none" strike="noStrike" kern="1200" noProof="0">
                          <a:solidFill>
                            <a:srgbClr val="00B050"/>
                          </a:solidFill>
                          <a:effectLst/>
                          <a:latin typeface="Nunito Sans"/>
                          <a:ea typeface="+mn-ea"/>
                          <a:cs typeface="+mn-cs"/>
                        </a:rPr>
                        <a:t>Cabin Serviceability</a:t>
                      </a:r>
                    </a:p>
                  </a:txBody>
                  <a:tcP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228600" lvl="0" indent="-228600" algn="l">
                        <a:lnSpc>
                          <a:spcPct val="100000"/>
                        </a:lnSpc>
                        <a:spcBef>
                          <a:spcPts val="0"/>
                        </a:spcBef>
                        <a:spcAft>
                          <a:spcPts val="0"/>
                        </a:spcAft>
                        <a:buAutoNum type="arabicPeriod"/>
                      </a:pPr>
                      <a:endParaRPr lang="en-US" sz="1100" b="1" i="0" u="none" strike="noStrike" kern="1200" noProof="0">
                        <a:solidFill>
                          <a:srgbClr val="0070C0"/>
                        </a:solidFill>
                        <a:latin typeface="Nunito Sans"/>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lvl="0">
                        <a:buNone/>
                      </a:pPr>
                      <a:r>
                        <a:rPr lang="en-IN" sz="1100" b="0" i="0" u="none" strike="noStrike" noProof="0">
                          <a:solidFill>
                            <a:srgbClr val="000000"/>
                          </a:solidFill>
                          <a:latin typeface="Nunito Sans"/>
                        </a:rPr>
                        <a:t>Enhance the Cabin Unserviceable Seat Dashboard and related PMO reporting views to improve visibility of cabin seat defects, trends, filters, and internal validation reporting. This will include Galleys, Lavatories, Crew rest areas etc.</a:t>
                      </a:r>
                      <a:endParaRPr lang="en-US" sz="1100" b="0" i="0" u="none" strike="noStrike" noProof="0">
                        <a:solidFill>
                          <a:srgbClr val="000000"/>
                        </a:solidFill>
                        <a:latin typeface="Nunito Sans"/>
                      </a:endParaRPr>
                    </a:p>
                    <a:p>
                      <a:pPr marL="285750" lvl="0" indent="-285750" algn="l">
                        <a:spcBef>
                          <a:spcPts val="900"/>
                        </a:spcBef>
                        <a:buClr>
                          <a:srgbClr val="000000"/>
                        </a:buClr>
                        <a:buFont typeface="Arial,Sans-Serif"/>
                        <a:buChar char="•"/>
                      </a:pPr>
                      <a:r>
                        <a:rPr lang="en-IN" sz="1100" b="0" i="0" u="none" strike="noStrike" noProof="0">
                          <a:solidFill>
                            <a:srgbClr val="000000"/>
                          </a:solidFill>
                          <a:latin typeface="Nunito Sans"/>
                        </a:rPr>
                        <a:t>Improved decision-making through product-wise split of unserviceable seats and cabin issues across all relevant charts</a:t>
                      </a:r>
                      <a:endParaRPr lang="en-US" sz="1100" b="0" i="0" u="none" strike="noStrike" noProof="0">
                        <a:solidFill>
                          <a:srgbClr val="000000"/>
                        </a:solidFill>
                        <a:latin typeface="Nunito Sans"/>
                      </a:endParaRPr>
                    </a:p>
                    <a:p>
                      <a:pPr marL="285750" lvl="0" indent="-285750" algn="l">
                        <a:spcBef>
                          <a:spcPts val="300"/>
                        </a:spcBef>
                        <a:buClr>
                          <a:srgbClr val="000000"/>
                        </a:buClr>
                        <a:buFont typeface="Arial,Sans-Serif"/>
                        <a:buChar char="•"/>
                      </a:pPr>
                      <a:r>
                        <a:rPr lang="en-IN" sz="1100" b="0" i="0" u="none" strike="noStrike" noProof="0">
                          <a:solidFill>
                            <a:srgbClr val="000000"/>
                          </a:solidFill>
                          <a:latin typeface="Nunito Sans"/>
                        </a:rPr>
                        <a:t>Better leadership visibility by adding trend lines for U/S defects and comparable views on the PMO dashboard</a:t>
                      </a:r>
                      <a:endParaRPr lang="en-US"/>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lvl="0" indent="0" algn="l">
                        <a:spcBef>
                          <a:spcPts val="300"/>
                        </a:spcBef>
                        <a:buClr>
                          <a:srgbClr val="000000"/>
                        </a:buClr>
                        <a:buNone/>
                      </a:pPr>
                      <a:r>
                        <a:rPr lang="en-US" sz="1100" b="1" i="0" u="none" strike="noStrike" noProof="0">
                          <a:solidFill>
                            <a:srgbClr val="00B050"/>
                          </a:solidFill>
                          <a:latin typeface="Nunito Sans"/>
                        </a:rPr>
                        <a:t>28 July 2026</a:t>
                      </a:r>
                      <a:endParaRPr lang="en-US" sz="1100" b="0" i="0" u="none" strike="noStrike" noProof="0">
                        <a:solidFill>
                          <a:srgbClr val="000000"/>
                        </a:solidFill>
                        <a:latin typeface="Nunito Sans"/>
                      </a:endParaRPr>
                    </a:p>
                    <a:p>
                      <a:pPr marL="0" lvl="0" indent="0" algn="l">
                        <a:spcBef>
                          <a:spcPts val="300"/>
                        </a:spcBef>
                        <a:buClr>
                          <a:srgbClr val="000000"/>
                        </a:buClr>
                        <a:buNone/>
                      </a:pPr>
                      <a:endParaRPr lang="en-US"/>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lvl="0" indent="0" algn="l">
                        <a:spcBef>
                          <a:spcPts val="300"/>
                        </a:spcBef>
                        <a:buClr>
                          <a:srgbClr val="000000"/>
                        </a:buClr>
                        <a:buNone/>
                      </a:pPr>
                      <a:r>
                        <a:rPr lang="en-US" sz="1100"/>
                        <a:t>NO</a:t>
                      </a:r>
                    </a:p>
                  </a:txBody>
                  <a:tcPr>
                    <a:lnL w="6350" cap="flat" cmpd="sng" algn="ctr">
                      <a:solidFill>
                        <a:schemeClr val="bg1">
                          <a:lumMod val="75000"/>
                        </a:schemeClr>
                      </a:solidFill>
                      <a:prstDash val="solid"/>
                      <a:round/>
                      <a:headEnd type="none" w="med" len="med"/>
                      <a:tailEnd type="none" w="med" len="med"/>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912065209"/>
                  </a:ext>
                </a:extLst>
              </a:tr>
              <a:tr h="1076960">
                <a:tc>
                  <a:txBody>
                    <a:bodyPr/>
                    <a:lstStyle/>
                    <a:p>
                      <a:pPr marL="0" lvl="0" indent="0" algn="l">
                        <a:lnSpc>
                          <a:spcPct val="100000"/>
                        </a:lnSpc>
                        <a:spcBef>
                          <a:spcPts val="0"/>
                        </a:spcBef>
                        <a:spcAft>
                          <a:spcPts val="0"/>
                        </a:spcAft>
                        <a:buNone/>
                      </a:pPr>
                      <a:r>
                        <a:rPr lang="en-US" sz="1100" b="1" i="0" u="none" strike="noStrike" kern="1200" noProof="0">
                          <a:solidFill>
                            <a:srgbClr val="00B050"/>
                          </a:solidFill>
                          <a:effectLst/>
                          <a:latin typeface="Nunito Sans"/>
                          <a:ea typeface="+mn-ea"/>
                          <a:cs typeface="+mn-cs"/>
                        </a:rPr>
                        <a:t>ELB (Electronic Logbook) Integration with Airbus Skywise</a:t>
                      </a:r>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tc>
                  <a:txBody>
                    <a:bodyPr/>
                    <a:lstStyle/>
                    <a:p>
                      <a:pPr marL="228600" lvl="0" indent="-228600" algn="l">
                        <a:lnSpc>
                          <a:spcPct val="100000"/>
                        </a:lnSpc>
                        <a:spcBef>
                          <a:spcPts val="0"/>
                        </a:spcBef>
                        <a:spcAft>
                          <a:spcPts val="0"/>
                        </a:spcAft>
                        <a:buAutoNum type="arabicPeriod"/>
                      </a:pPr>
                      <a:endParaRPr lang="en-US" sz="1100" b="1" i="0" u="none" strike="noStrike" kern="1200" noProof="0">
                        <a:solidFill>
                          <a:srgbClr val="0070C0"/>
                        </a:solidFill>
                        <a:latin typeface="Nunito Sans"/>
                      </a:endParaRPr>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tc>
                  <a:txBody>
                    <a:bodyPr/>
                    <a:lstStyle/>
                    <a:p>
                      <a:pPr marL="0" lvl="0" indent="0" algn="l">
                        <a:lnSpc>
                          <a:spcPct val="100000"/>
                        </a:lnSpc>
                        <a:spcBef>
                          <a:spcPts val="0"/>
                        </a:spcBef>
                        <a:spcAft>
                          <a:spcPts val="0"/>
                        </a:spcAft>
                        <a:buNone/>
                      </a:pPr>
                      <a:r>
                        <a:rPr lang="en-IN" sz="1100" b="0" i="0" u="none" strike="noStrike" noProof="0">
                          <a:solidFill>
                            <a:srgbClr val="000000"/>
                          </a:solidFill>
                          <a:latin typeface="Nunito Sans"/>
                        </a:rPr>
                        <a:t>Enable automated transfer of aircraft technical logbook data to Skywise. Providing real-time fleet insights, predictive maintenance capabilities, improved aircraft reliability and reduced operational costs.</a:t>
                      </a:r>
                      <a:endParaRPr lang="en-US"/>
                    </a:p>
                  </a:txBody>
                  <a:tcP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a:solidFill>
                        <a:schemeClr val="bg1">
                          <a:lumMod val="75000"/>
                        </a:schemeClr>
                      </a:solidFill>
                    </a:lnB>
                    <a:noFill/>
                  </a:tcPr>
                </a:tc>
                <a:tc>
                  <a:txBody>
                    <a:bodyPr/>
                    <a:lstStyle/>
                    <a:p>
                      <a:pPr lvl="0" algn="l">
                        <a:lnSpc>
                          <a:spcPct val="100000"/>
                        </a:lnSpc>
                        <a:spcBef>
                          <a:spcPts val="0"/>
                        </a:spcBef>
                        <a:spcAft>
                          <a:spcPts val="0"/>
                        </a:spcAft>
                        <a:buNone/>
                      </a:pPr>
                      <a:r>
                        <a:rPr lang="en-US" sz="1100" b="1" i="0" u="none" strike="noStrike" noProof="0">
                          <a:solidFill>
                            <a:srgbClr val="00B050"/>
                          </a:solidFill>
                          <a:latin typeface="Nunito Sans"/>
                        </a:rPr>
                        <a:t>24 July 2026</a:t>
                      </a:r>
                      <a:endParaRPr lang="en-US" sz="1100" b="0" i="0" u="none" strike="noStrike" noProof="0">
                        <a:solidFill>
                          <a:srgbClr val="000000"/>
                        </a:solidFill>
                        <a:latin typeface="Nunito Sans"/>
                      </a:endParaRPr>
                    </a:p>
                    <a:p>
                      <a:pPr marL="0" lvl="0" indent="0" algn="l">
                        <a:lnSpc>
                          <a:spcPct val="100000"/>
                        </a:lnSpc>
                        <a:spcBef>
                          <a:spcPts val="0"/>
                        </a:spcBef>
                        <a:spcAft>
                          <a:spcPts val="0"/>
                        </a:spcAft>
                        <a:buNone/>
                      </a:pPr>
                      <a:endParaRPr lang="en-US"/>
                    </a:p>
                  </a:txBody>
                  <a:tcP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a:solidFill>
                        <a:schemeClr val="bg1">
                          <a:lumMod val="75000"/>
                        </a:schemeClr>
                      </a:solidFill>
                    </a:lnB>
                    <a:noFill/>
                  </a:tcPr>
                </a:tc>
                <a:tc>
                  <a:txBody>
                    <a:bodyPr/>
                    <a:lstStyle/>
                    <a:p>
                      <a:pPr marL="0" lvl="0" indent="0" algn="l">
                        <a:lnSpc>
                          <a:spcPct val="100000"/>
                        </a:lnSpc>
                        <a:spcBef>
                          <a:spcPts val="0"/>
                        </a:spcBef>
                        <a:spcAft>
                          <a:spcPts val="0"/>
                        </a:spcAft>
                        <a:buNone/>
                      </a:pPr>
                      <a:r>
                        <a:rPr lang="en-US" sz="1100"/>
                        <a:t>NO</a:t>
                      </a:r>
                    </a:p>
                  </a:txBody>
                  <a:tcPr>
                    <a:lnL w="6350">
                      <a:solidFill>
                        <a:schemeClr val="bg1">
                          <a:lumMod val="75000"/>
                        </a:schemeClr>
                      </a:solidFill>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a:solidFill>
                        <a:schemeClr val="bg1">
                          <a:lumMod val="75000"/>
                        </a:schemeClr>
                      </a:solidFill>
                    </a:lnB>
                    <a:noFill/>
                  </a:tcPr>
                </a:tc>
                <a:extLst>
                  <a:ext uri="{0D108BD9-81ED-4DB2-BD59-A6C34878D82A}">
                    <a16:rowId xmlns:a16="http://schemas.microsoft.com/office/drawing/2014/main" val="3853609768"/>
                  </a:ext>
                </a:extLst>
              </a:tr>
            </a:tbl>
          </a:graphicData>
        </a:graphic>
      </p:graphicFrame>
      <p:sp>
        <p:nvSpPr>
          <p:cNvPr id="4" name="Rectangle 3">
            <a:extLst>
              <a:ext uri="{FF2B5EF4-FFF2-40B4-BE49-F238E27FC236}">
                <a16:creationId xmlns:a16="http://schemas.microsoft.com/office/drawing/2014/main" id="{7772B75E-D52D-44DC-94D0-125F55447936}"/>
              </a:ext>
            </a:extLst>
          </p:cNvPr>
          <p:cNvSpPr/>
          <p:nvPr/>
        </p:nvSpPr>
        <p:spPr>
          <a:xfrm>
            <a:off x="1188132" y="6671592"/>
            <a:ext cx="90000" cy="90000"/>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5" name="Rectangle 4">
            <a:extLst>
              <a:ext uri="{FF2B5EF4-FFF2-40B4-BE49-F238E27FC236}">
                <a16:creationId xmlns:a16="http://schemas.microsoft.com/office/drawing/2014/main" id="{594E4C9D-230F-C6E7-93CB-3E0F19F545FB}"/>
              </a:ext>
            </a:extLst>
          </p:cNvPr>
          <p:cNvSpPr/>
          <p:nvPr/>
        </p:nvSpPr>
        <p:spPr>
          <a:xfrm>
            <a:off x="2265818" y="6670554"/>
            <a:ext cx="90000" cy="90000"/>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7" name="Rectangle 6">
            <a:extLst>
              <a:ext uri="{FF2B5EF4-FFF2-40B4-BE49-F238E27FC236}">
                <a16:creationId xmlns:a16="http://schemas.microsoft.com/office/drawing/2014/main" id="{F5E638D0-FC63-FB56-C5D7-B6074E53132F}"/>
              </a:ext>
            </a:extLst>
          </p:cNvPr>
          <p:cNvSpPr/>
          <p:nvPr/>
        </p:nvSpPr>
        <p:spPr>
          <a:xfrm>
            <a:off x="3443423" y="6671592"/>
            <a:ext cx="90000" cy="90000"/>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8" name="Rectangle 7">
            <a:extLst>
              <a:ext uri="{FF2B5EF4-FFF2-40B4-BE49-F238E27FC236}">
                <a16:creationId xmlns:a16="http://schemas.microsoft.com/office/drawing/2014/main" id="{8C93ACA7-0550-8431-ACD6-00D1F1076D9D}"/>
              </a:ext>
            </a:extLst>
          </p:cNvPr>
          <p:cNvSpPr/>
          <p:nvPr/>
        </p:nvSpPr>
        <p:spPr>
          <a:xfrm>
            <a:off x="8146052" y="6714097"/>
            <a:ext cx="90000" cy="90000"/>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9" name="TextBox 15">
            <a:extLst>
              <a:ext uri="{FF2B5EF4-FFF2-40B4-BE49-F238E27FC236}">
                <a16:creationId xmlns:a16="http://schemas.microsoft.com/office/drawing/2014/main" id="{78A87D1F-61A4-98B2-15AD-8047A942589A}"/>
              </a:ext>
            </a:extLst>
          </p:cNvPr>
          <p:cNvSpPr txBox="1"/>
          <p:nvPr/>
        </p:nvSpPr>
        <p:spPr>
          <a:xfrm>
            <a:off x="1288983" y="6614743"/>
            <a:ext cx="857245"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0070C0"/>
                </a:solidFill>
                <a:effectLst/>
                <a:uLnTx/>
                <a:uFillTx/>
                <a:latin typeface="Nunito Sans"/>
                <a:ea typeface="+mn-ea"/>
                <a:cs typeface="+mn-cs"/>
              </a:rPr>
              <a:t>Delivered</a:t>
            </a:r>
            <a:endParaRPr kumimoji="0" lang="en-IN" sz="1000" b="0" i="0" u="none" strike="noStrike" kern="1200" cap="none" spc="0" normalizeH="0" baseline="0" noProof="0">
              <a:ln>
                <a:noFill/>
              </a:ln>
              <a:solidFill>
                <a:srgbClr val="000000"/>
              </a:solidFill>
              <a:effectLst/>
              <a:uLnTx/>
              <a:uFillTx/>
              <a:latin typeface="Nunito Sans"/>
              <a:ea typeface="+mn-ea"/>
              <a:cs typeface="+mn-cs"/>
            </a:endParaRPr>
          </a:p>
        </p:txBody>
      </p:sp>
      <p:sp>
        <p:nvSpPr>
          <p:cNvPr id="10" name="TextBox 18">
            <a:extLst>
              <a:ext uri="{FF2B5EF4-FFF2-40B4-BE49-F238E27FC236}">
                <a16:creationId xmlns:a16="http://schemas.microsoft.com/office/drawing/2014/main" id="{8F365C13-8984-41DB-FC9F-1B3C20289206}"/>
              </a:ext>
            </a:extLst>
          </p:cNvPr>
          <p:cNvSpPr txBox="1"/>
          <p:nvPr/>
        </p:nvSpPr>
        <p:spPr>
          <a:xfrm>
            <a:off x="2310642" y="6611102"/>
            <a:ext cx="1032881"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00B050"/>
                </a:solidFill>
                <a:effectLst/>
                <a:uLnTx/>
                <a:uFillTx/>
                <a:latin typeface="Nunito Sans"/>
                <a:ea typeface="+mn-ea"/>
                <a:cs typeface="+mn-cs"/>
              </a:rPr>
              <a:t>Ontrack</a:t>
            </a:r>
            <a:endParaRPr kumimoji="0" lang="en-IN" sz="1000" b="0" i="0" u="none" strike="noStrike" kern="1200" cap="none" spc="0" normalizeH="0" baseline="0" noProof="0">
              <a:ln>
                <a:noFill/>
              </a:ln>
              <a:solidFill>
                <a:srgbClr val="000000"/>
              </a:solidFill>
              <a:effectLst/>
              <a:uLnTx/>
              <a:uFillTx/>
              <a:latin typeface="Nunito Sans"/>
              <a:ea typeface="+mn-ea"/>
              <a:cs typeface="+mn-cs"/>
            </a:endParaRPr>
          </a:p>
        </p:txBody>
      </p:sp>
      <p:sp>
        <p:nvSpPr>
          <p:cNvPr id="11" name="TextBox 20">
            <a:extLst>
              <a:ext uri="{FF2B5EF4-FFF2-40B4-BE49-F238E27FC236}">
                <a16:creationId xmlns:a16="http://schemas.microsoft.com/office/drawing/2014/main" id="{23665839-4C7E-B013-883E-04FF8E2CAAB6}"/>
              </a:ext>
            </a:extLst>
          </p:cNvPr>
          <p:cNvSpPr txBox="1"/>
          <p:nvPr/>
        </p:nvSpPr>
        <p:spPr>
          <a:xfrm>
            <a:off x="3539606" y="6608370"/>
            <a:ext cx="2257628"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FED9A0">
                    <a:lumMod val="75000"/>
                  </a:srgbClr>
                </a:solidFill>
                <a:effectLst/>
                <a:uLnTx/>
                <a:uFillTx/>
                <a:latin typeface="Nunito Sans"/>
                <a:ea typeface="+mn-ea"/>
                <a:cs typeface="+mn-cs"/>
              </a:rPr>
              <a:t>Under delay and can be recovered</a:t>
            </a:r>
            <a:endParaRPr kumimoji="0" lang="en-IN" sz="1000" b="0" i="0" u="none" strike="noStrike" kern="1200" cap="none" spc="0" normalizeH="0" baseline="0" noProof="0">
              <a:ln>
                <a:noFill/>
              </a:ln>
              <a:solidFill>
                <a:srgbClr val="000000"/>
              </a:solidFill>
              <a:effectLst/>
              <a:uLnTx/>
              <a:uFillTx/>
              <a:latin typeface="Nunito Sans"/>
              <a:ea typeface="+mn-ea"/>
              <a:cs typeface="+mn-cs"/>
            </a:endParaRPr>
          </a:p>
        </p:txBody>
      </p:sp>
      <p:sp>
        <p:nvSpPr>
          <p:cNvPr id="13" name="TextBox 22">
            <a:extLst>
              <a:ext uri="{FF2B5EF4-FFF2-40B4-BE49-F238E27FC236}">
                <a16:creationId xmlns:a16="http://schemas.microsoft.com/office/drawing/2014/main" id="{D0DE8EA2-94BE-6E75-5211-E881A02C733A}"/>
              </a:ext>
            </a:extLst>
          </p:cNvPr>
          <p:cNvSpPr txBox="1"/>
          <p:nvPr/>
        </p:nvSpPr>
        <p:spPr>
          <a:xfrm>
            <a:off x="8246937" y="6618126"/>
            <a:ext cx="2338222"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FF0000"/>
                </a:solidFill>
                <a:effectLst/>
                <a:uLnTx/>
                <a:uFillTx/>
                <a:latin typeface="Nunito Sans"/>
                <a:ea typeface="+mn-ea"/>
                <a:cs typeface="+mn-cs"/>
              </a:rPr>
              <a:t>Delayed and pushed to next release</a:t>
            </a:r>
          </a:p>
        </p:txBody>
      </p:sp>
      <p:sp>
        <p:nvSpPr>
          <p:cNvPr id="15" name="TextBox 14">
            <a:extLst>
              <a:ext uri="{FF2B5EF4-FFF2-40B4-BE49-F238E27FC236}">
                <a16:creationId xmlns:a16="http://schemas.microsoft.com/office/drawing/2014/main" id="{31A7AC19-C9CA-0BB1-42D3-F86182807DB7}"/>
              </a:ext>
            </a:extLst>
          </p:cNvPr>
          <p:cNvSpPr txBox="1"/>
          <p:nvPr/>
        </p:nvSpPr>
        <p:spPr>
          <a:xfrm>
            <a:off x="6454369" y="6611638"/>
            <a:ext cx="2743200"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IN" sz="1000">
                <a:solidFill>
                  <a:srgbClr val="7D7D7D"/>
                </a:solidFill>
              </a:rPr>
              <a:t>Descoped</a:t>
            </a:r>
            <a:endParaRPr lang="en-US"/>
          </a:p>
        </p:txBody>
      </p:sp>
      <p:sp>
        <p:nvSpPr>
          <p:cNvPr id="16" name="Rectangle 15">
            <a:extLst>
              <a:ext uri="{FF2B5EF4-FFF2-40B4-BE49-F238E27FC236}">
                <a16:creationId xmlns:a16="http://schemas.microsoft.com/office/drawing/2014/main" id="{3D19037A-3B29-A139-DE56-13B48115840F}"/>
              </a:ext>
            </a:extLst>
          </p:cNvPr>
          <p:cNvSpPr/>
          <p:nvPr/>
        </p:nvSpPr>
        <p:spPr>
          <a:xfrm>
            <a:off x="6360794" y="6681439"/>
            <a:ext cx="90000" cy="90000"/>
          </a:xfrm>
          <a:prstGeom prst="rect">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Tree>
    <p:extLst>
      <p:ext uri="{BB962C8B-B14F-4D97-AF65-F5344CB8AC3E}">
        <p14:creationId xmlns:p14="http://schemas.microsoft.com/office/powerpoint/2010/main" val="298972632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3579C6-6AB5-D7D3-8D8A-CDBB58FDF12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29D2F58-2839-A0E1-4FB4-63FBB35F2B5D}"/>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3A41A254-7326-714E-AF55-4C213D6394DE}" type="slidenum">
              <a:rPr kumimoji="0" lang="en-US" sz="1200" b="0" i="0" u="none" strike="noStrike" kern="1200" cap="none" spc="0" normalizeH="0" baseline="0" noProof="0" smtClean="0">
                <a:ln>
                  <a:noFill/>
                </a:ln>
                <a:solidFill>
                  <a:srgbClr val="DA0E28"/>
                </a:solidFill>
                <a:effectLst/>
                <a:uLnTx/>
                <a:uFillTx/>
                <a:latin typeface="Nunito Sans"/>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33</a:t>
            </a:fld>
            <a:endParaRPr kumimoji="0" lang="en-US" sz="1200" b="0" i="0" u="none" strike="noStrike" kern="1200" cap="none" spc="0" normalizeH="0" baseline="0" noProof="0">
              <a:ln>
                <a:noFill/>
              </a:ln>
              <a:solidFill>
                <a:srgbClr val="DA0E28"/>
              </a:solidFill>
              <a:effectLst/>
              <a:uLnTx/>
              <a:uFillTx/>
              <a:latin typeface="Nunito Sans"/>
              <a:ea typeface="+mn-ea"/>
              <a:cs typeface="+mn-cs"/>
            </a:endParaRPr>
          </a:p>
        </p:txBody>
      </p:sp>
      <p:sp>
        <p:nvSpPr>
          <p:cNvPr id="3" name="Rectangle 2">
            <a:extLst>
              <a:ext uri="{FF2B5EF4-FFF2-40B4-BE49-F238E27FC236}">
                <a16:creationId xmlns:a16="http://schemas.microsoft.com/office/drawing/2014/main" id="{601E4B3E-07DC-1FBA-94CE-D8FA1892E9C6}"/>
              </a:ext>
            </a:extLst>
          </p:cNvPr>
          <p:cNvSpPr/>
          <p:nvPr/>
        </p:nvSpPr>
        <p:spPr>
          <a:xfrm>
            <a:off x="92501" y="619615"/>
            <a:ext cx="1170432" cy="42234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400" b="1" i="0" u="none" strike="noStrike" kern="1200" cap="none" spc="0" normalizeH="0" baseline="0" noProof="0">
                <a:ln>
                  <a:noFill/>
                </a:ln>
                <a:solidFill>
                  <a:srgbClr val="FFFFFF"/>
                </a:solidFill>
                <a:effectLst/>
                <a:uLnTx/>
                <a:uFillTx/>
                <a:latin typeface="AirIndia"/>
                <a:ea typeface="+mn-ea"/>
                <a:cs typeface="+mn-cs"/>
              </a:rPr>
              <a:t>Aug ‘</a:t>
            </a:r>
            <a:r>
              <a:rPr lang="en-IN" sz="1400" b="1">
                <a:solidFill>
                  <a:srgbClr val="FFFFFF"/>
                </a:solidFill>
                <a:latin typeface="AirIndia"/>
              </a:rPr>
              <a:t>26</a:t>
            </a:r>
            <a:endParaRPr kumimoji="0" lang="en-US" sz="1400" b="1" i="0" u="none" strike="noStrike" kern="1200" cap="none" spc="0" normalizeH="0" baseline="0" noProof="0">
              <a:ln>
                <a:noFill/>
              </a:ln>
              <a:solidFill>
                <a:srgbClr val="FFFFFF"/>
              </a:solidFill>
              <a:effectLst/>
              <a:uLnTx/>
              <a:uFillTx/>
              <a:latin typeface="AirIndia"/>
              <a:ea typeface="+mn-ea"/>
              <a:cs typeface="+mn-cs"/>
            </a:endParaRPr>
          </a:p>
        </p:txBody>
      </p:sp>
      <p:sp>
        <p:nvSpPr>
          <p:cNvPr id="6" name="Title 11">
            <a:extLst>
              <a:ext uri="{FF2B5EF4-FFF2-40B4-BE49-F238E27FC236}">
                <a16:creationId xmlns:a16="http://schemas.microsoft.com/office/drawing/2014/main" id="{CC6B1BC2-5092-E2B5-97AB-6FC0457BE926}"/>
              </a:ext>
            </a:extLst>
          </p:cNvPr>
          <p:cNvSpPr txBox="1">
            <a:spLocks/>
          </p:cNvSpPr>
          <p:nvPr/>
        </p:nvSpPr>
        <p:spPr>
          <a:xfrm>
            <a:off x="235455" y="-28289"/>
            <a:ext cx="7702602" cy="497476"/>
          </a:xfrm>
          <a:prstGeom prst="rect">
            <a:avLst/>
          </a:prstGeom>
        </p:spPr>
        <p:txBody>
          <a:bodyPr lIns="91440" tIns="45720" rIns="91440" bIns="45720" anchor="t">
            <a:noAutofit/>
          </a:bodyPr>
          <a:lstStyle>
            <a:lvl1pPr algn="l" defTabSz="914400" rtl="0" eaLnBrk="1" latinLnBrk="0" hangingPunct="1">
              <a:lnSpc>
                <a:spcPct val="90000"/>
              </a:lnSpc>
              <a:spcBef>
                <a:spcPct val="0"/>
              </a:spcBef>
              <a:buNone/>
              <a:defRPr sz="4400" b="1" i="0" kern="1200">
                <a:solidFill>
                  <a:schemeClr val="tx1"/>
                </a:solidFill>
                <a:latin typeface="AirIndia" pitchFamily="82" charset="77"/>
                <a:ea typeface="+mj-ea"/>
                <a:cs typeface="+mj-cs"/>
              </a:defRPr>
            </a:lvl1pPr>
          </a:lstStyle>
          <a:p>
            <a:pPr>
              <a:defRPr/>
            </a:pPr>
            <a:endParaRPr lang="en-US" sz="1800">
              <a:solidFill>
                <a:srgbClr val="DA0E28"/>
              </a:solidFill>
              <a:latin typeface="AirIndia"/>
            </a:endParaRPr>
          </a:p>
          <a:p>
            <a:pPr>
              <a:defRPr/>
            </a:pPr>
            <a:r>
              <a:rPr lang="en-US" sz="1800">
                <a:solidFill>
                  <a:srgbClr val="DA0E28"/>
                </a:solidFill>
                <a:latin typeface="AirIndia"/>
              </a:rPr>
              <a:t>Engineering Tech -</a:t>
            </a:r>
            <a:r>
              <a:rPr kumimoji="0" lang="en-US" sz="1800" b="1" i="0" u="none" strike="noStrike" kern="1200" cap="none" spc="0" normalizeH="0" baseline="0" noProof="0">
                <a:ln>
                  <a:noFill/>
                </a:ln>
                <a:solidFill>
                  <a:srgbClr val="DA0E28"/>
                </a:solidFill>
                <a:effectLst/>
                <a:uLnTx/>
                <a:uFillTx/>
                <a:latin typeface="AirIndia"/>
                <a:ea typeface="+mj-ea"/>
                <a:cs typeface="+mj-cs"/>
              </a:rPr>
              <a:t> </a:t>
            </a:r>
            <a:r>
              <a:rPr lang="en-US" sz="1800">
                <a:solidFill>
                  <a:srgbClr val="DA0E28"/>
                </a:solidFill>
                <a:latin typeface="AirIndia"/>
              </a:rPr>
              <a:t>FY27</a:t>
            </a:r>
            <a:r>
              <a:rPr kumimoji="0" lang="en-US" sz="1800" b="1" i="0" u="none" strike="noStrike" kern="1200" cap="none" spc="0" normalizeH="0" baseline="0" noProof="0">
                <a:ln>
                  <a:noFill/>
                </a:ln>
                <a:solidFill>
                  <a:srgbClr val="DA0E28"/>
                </a:solidFill>
                <a:effectLst/>
                <a:uLnTx/>
                <a:uFillTx/>
                <a:latin typeface="AirIndia"/>
                <a:ea typeface="+mj-ea"/>
                <a:cs typeface="+mj-cs"/>
              </a:rPr>
              <a:t> Q2  Release Plan</a:t>
            </a:r>
            <a:endParaRPr lang="en-US" sz="1800" b="0" i="0" u="none" strike="noStrike" kern="1200" cap="none" spc="0" normalizeH="0" baseline="0" noProof="0">
              <a:ln>
                <a:noFill/>
              </a:ln>
              <a:solidFill>
                <a:srgbClr val="DA0E28"/>
              </a:solidFill>
              <a:effectLst/>
              <a:uLnTx/>
              <a:uFillTx/>
              <a:latin typeface="AirIndia"/>
            </a:endParaRPr>
          </a:p>
        </p:txBody>
      </p:sp>
      <p:graphicFrame>
        <p:nvGraphicFramePr>
          <p:cNvPr id="12" name="Table 11">
            <a:extLst>
              <a:ext uri="{FF2B5EF4-FFF2-40B4-BE49-F238E27FC236}">
                <a16:creationId xmlns:a16="http://schemas.microsoft.com/office/drawing/2014/main" id="{3442A144-AF01-077A-D9E8-4B39B93285D0}"/>
              </a:ext>
            </a:extLst>
          </p:cNvPr>
          <p:cNvGraphicFramePr>
            <a:graphicFrameLocks noGrp="1"/>
          </p:cNvGraphicFramePr>
          <p:nvPr>
            <p:extLst>
              <p:ext uri="{D42A27DB-BD31-4B8C-83A1-F6EECF244321}">
                <p14:modId xmlns:p14="http://schemas.microsoft.com/office/powerpoint/2010/main" val="412016270"/>
              </p:ext>
            </p:extLst>
          </p:nvPr>
        </p:nvGraphicFramePr>
        <p:xfrm>
          <a:off x="1262933" y="619615"/>
          <a:ext cx="10685698" cy="4373880"/>
        </p:xfrm>
        <a:graphic>
          <a:graphicData uri="http://schemas.openxmlformats.org/drawingml/2006/table">
            <a:tbl>
              <a:tblPr firstRow="1" bandRow="1">
                <a:tableStyleId>{5C22544A-7EE6-4342-B048-85BDC9FD1C3A}</a:tableStyleId>
              </a:tblPr>
              <a:tblGrid>
                <a:gridCol w="1530821">
                  <a:extLst>
                    <a:ext uri="{9D8B030D-6E8A-4147-A177-3AD203B41FA5}">
                      <a16:colId xmlns:a16="http://schemas.microsoft.com/office/drawing/2014/main" val="2822350773"/>
                    </a:ext>
                  </a:extLst>
                </a:gridCol>
                <a:gridCol w="1530821">
                  <a:extLst>
                    <a:ext uri="{9D8B030D-6E8A-4147-A177-3AD203B41FA5}">
                      <a16:colId xmlns:a16="http://schemas.microsoft.com/office/drawing/2014/main" val="1843387359"/>
                    </a:ext>
                  </a:extLst>
                </a:gridCol>
                <a:gridCol w="5221761">
                  <a:extLst>
                    <a:ext uri="{9D8B030D-6E8A-4147-A177-3AD203B41FA5}">
                      <a16:colId xmlns:a16="http://schemas.microsoft.com/office/drawing/2014/main" val="99588705"/>
                    </a:ext>
                  </a:extLst>
                </a:gridCol>
                <a:gridCol w="1207008">
                  <a:extLst>
                    <a:ext uri="{9D8B030D-6E8A-4147-A177-3AD203B41FA5}">
                      <a16:colId xmlns:a16="http://schemas.microsoft.com/office/drawing/2014/main" val="1797277046"/>
                    </a:ext>
                  </a:extLst>
                </a:gridCol>
                <a:gridCol w="1195287">
                  <a:extLst>
                    <a:ext uri="{9D8B030D-6E8A-4147-A177-3AD203B41FA5}">
                      <a16:colId xmlns:a16="http://schemas.microsoft.com/office/drawing/2014/main" val="146588273"/>
                    </a:ext>
                  </a:extLst>
                </a:gridCol>
              </a:tblGrid>
              <a:tr h="530670">
                <a:tc>
                  <a:txBody>
                    <a:bodyPr/>
                    <a:lstStyle/>
                    <a:p>
                      <a:pPr marL="0" lvl="0" indent="0" algn="ctr" defTabSz="914400" rtl="0">
                        <a:lnSpc>
                          <a:spcPct val="100000"/>
                        </a:lnSpc>
                        <a:buFont typeface="Arial" panose="020B0604020202020204" pitchFamily="34" charset="0"/>
                        <a:buNone/>
                      </a:pPr>
                      <a:r>
                        <a:rPr lang="en-IN" sz="1100" b="1" kern="1200">
                          <a:solidFill>
                            <a:schemeClr val="bg1"/>
                          </a:solidFill>
                          <a:latin typeface="+mn-lt"/>
                          <a:ea typeface="+mn-ea"/>
                          <a:cs typeface="+mn-cs"/>
                        </a:rPr>
                        <a:t>Initiatives</a:t>
                      </a:r>
                      <a:endParaRPr lang="en-US" sz="1100" b="1"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tc>
                  <a:txBody>
                    <a:bodyPr/>
                    <a:lstStyle/>
                    <a:p>
                      <a:pPr marL="0" lvl="0" indent="0" algn="ctr" defTabSz="914400">
                        <a:lnSpc>
                          <a:spcPct val="100000"/>
                        </a:lnSpc>
                        <a:buNone/>
                      </a:pPr>
                      <a:r>
                        <a:rPr lang="en-IN" sz="1100" b="1" i="0" u="none" strike="noStrike" kern="1200" noProof="0">
                          <a:solidFill>
                            <a:schemeClr val="bg1"/>
                          </a:solidFill>
                          <a:latin typeface="Nunito Sans"/>
                          <a:ea typeface="+mn-ea"/>
                          <a:cs typeface="+mn-cs"/>
                        </a:rPr>
                        <a:t>Programs/Projects</a:t>
                      </a:r>
                      <a:endParaRPr lang="en-US"/>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solidFill>
                      <a:schemeClr val="accent3">
                        <a:lumMod val="90000"/>
                        <a:lumOff val="10000"/>
                      </a:schemeClr>
                    </a:solidFill>
                  </a:tcPr>
                </a:tc>
                <a:tc>
                  <a:txBody>
                    <a:bodyPr/>
                    <a:lstStyle/>
                    <a:p>
                      <a:pPr marL="0" lvl="0" indent="0" algn="ctr">
                        <a:lnSpc>
                          <a:spcPct val="100000"/>
                        </a:lnSpc>
                        <a:buNone/>
                      </a:pPr>
                      <a:endParaRPr lang="en-IN" sz="1100" b="1" i="0" u="none" strike="noStrike" kern="1200" baseline="0" noProof="0">
                        <a:solidFill>
                          <a:srgbClr val="FFFFFF"/>
                        </a:solidFill>
                        <a:latin typeface="Nunito Sans"/>
                      </a:endParaRPr>
                    </a:p>
                    <a:p>
                      <a:pPr marL="0" lvl="0" indent="0" algn="ctr">
                        <a:lnSpc>
                          <a:spcPct val="100000"/>
                        </a:lnSpc>
                        <a:buNone/>
                      </a:pPr>
                      <a:r>
                        <a:rPr lang="en-IN" sz="1100" b="1" i="0" u="none" strike="noStrike" kern="1200" baseline="0" noProof="0">
                          <a:solidFill>
                            <a:srgbClr val="FFFFFF"/>
                          </a:solidFill>
                          <a:latin typeface="Nunito Sans"/>
                        </a:rPr>
                        <a:t>Value Justification/Realization</a:t>
                      </a:r>
                    </a:p>
                    <a:p>
                      <a:pPr marL="0" lvl="0" indent="0" algn="ctr" defTabSz="914400">
                        <a:buFont typeface="Arial" panose="020B0604020202020204" pitchFamily="34" charset="0"/>
                        <a:buNone/>
                      </a:pPr>
                      <a:endParaRPr lang="en-IN" sz="1100"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100" b="1" kern="1200">
                          <a:solidFill>
                            <a:schemeClr val="bg1"/>
                          </a:solidFill>
                          <a:latin typeface="+mn-lt"/>
                          <a:ea typeface="+mn-ea"/>
                          <a:cs typeface="+mn-cs"/>
                        </a:rPr>
                        <a:t>Planned Go-live date</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tc>
                  <a:txBody>
                    <a:bodyPr/>
                    <a:lstStyle/>
                    <a:p>
                      <a:pPr marL="0" lvl="0" indent="0" algn="ctr" defTabSz="914400">
                        <a:buFont typeface="Arial" panose="020B0604020202020204" pitchFamily="34" charset="0"/>
                        <a:buNone/>
                      </a:pPr>
                      <a:r>
                        <a:rPr lang="en-IN" sz="1100" b="1" kern="1200">
                          <a:solidFill>
                            <a:schemeClr val="bg1"/>
                          </a:solidFill>
                          <a:latin typeface="+mn-lt"/>
                          <a:ea typeface="+mn-ea"/>
                          <a:cs typeface="+mn-cs"/>
                        </a:rPr>
                        <a:t>EIP Integration Required (Yes/No)</a:t>
                      </a:r>
                      <a:endParaRPr lang="en-IN" sz="1100"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extLst>
                  <a:ext uri="{0D108BD9-81ED-4DB2-BD59-A6C34878D82A}">
                    <a16:rowId xmlns:a16="http://schemas.microsoft.com/office/drawing/2014/main" val="844450115"/>
                  </a:ext>
                </a:extLst>
              </a:tr>
              <a:tr h="782320">
                <a:tc>
                  <a:txBody>
                    <a:bodyPr/>
                    <a:lstStyle/>
                    <a:p>
                      <a:pPr marL="0" lvl="0" indent="0" algn="l">
                        <a:lnSpc>
                          <a:spcPct val="100000"/>
                        </a:lnSpc>
                        <a:spcBef>
                          <a:spcPts val="0"/>
                        </a:spcBef>
                        <a:spcAft>
                          <a:spcPts val="0"/>
                        </a:spcAft>
                        <a:buNone/>
                      </a:pPr>
                      <a:r>
                        <a:rPr lang="en-IN" sz="1100" b="1" i="0" u="none" strike="noStrike" kern="1200" noProof="0">
                          <a:solidFill>
                            <a:srgbClr val="00B050"/>
                          </a:solidFill>
                          <a:effectLst/>
                          <a:latin typeface="Nunito Sans"/>
                          <a:ea typeface="+mn-ea"/>
                          <a:cs typeface="+mn-cs"/>
                        </a:rPr>
                        <a:t>Automation of Crew Data Retrieval for eTechlog</a:t>
                      </a:r>
                      <a:endParaRPr lang="en-IN" sz="1100" b="1" i="0" u="none" strike="noStrike" kern="1200" noProof="0" err="1">
                        <a:solidFill>
                          <a:srgbClr val="00B050"/>
                        </a:solidFill>
                        <a:effectLst/>
                        <a:latin typeface="Nunito Sans"/>
                        <a:ea typeface="+mn-ea"/>
                        <a:cs typeface="+mn-cs"/>
                      </a:endParaRPr>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marL="228600" lvl="0" indent="-228600" algn="l">
                        <a:lnSpc>
                          <a:spcPct val="100000"/>
                        </a:lnSpc>
                        <a:spcBef>
                          <a:spcPts val="0"/>
                        </a:spcBef>
                        <a:spcAft>
                          <a:spcPts val="0"/>
                        </a:spcAft>
                        <a:buAutoNum type="arabicPeriod"/>
                      </a:pPr>
                      <a:endParaRPr lang="en-US" sz="1100" b="1" i="0" u="none" strike="noStrike" kern="1200" noProof="0">
                        <a:solidFill>
                          <a:srgbClr val="0070C0"/>
                        </a:solidFill>
                        <a:latin typeface="Nunito Sans"/>
                      </a:endParaRPr>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marL="0" lvl="0" indent="0" algn="l">
                        <a:lnSpc>
                          <a:spcPct val="100000"/>
                        </a:lnSpc>
                        <a:buNone/>
                      </a:pPr>
                      <a:r>
                        <a:rPr lang="en-US" sz="1100" b="0" i="0" u="none" strike="noStrike" noProof="0">
                          <a:solidFill>
                            <a:srgbClr val="000000"/>
                          </a:solidFill>
                          <a:latin typeface="Nunito Sans"/>
                        </a:rPr>
                        <a:t>Reduce manual crew data entry effort. Eliminate data discrepancies between systems (Crew Mgmt vs eTechlog)</a:t>
                      </a:r>
                    </a:p>
                    <a:p>
                      <a:pPr marL="0" lvl="0" indent="0" algn="l">
                        <a:lnSpc>
                          <a:spcPct val="100000"/>
                        </a:lnSpc>
                        <a:buNone/>
                      </a:pPr>
                      <a:r>
                        <a:rPr lang="en-US" sz="1100" b="0" i="0" u="none" strike="noStrike" noProof="0">
                          <a:solidFill>
                            <a:srgbClr val="000000"/>
                          </a:solidFill>
                          <a:latin typeface="Nunito Sans"/>
                        </a:rPr>
                        <a:t>Ensure regulatory compliance (accurate crew attribution per sector). Improve turnaround time during flight ops</a:t>
                      </a:r>
                      <a:endParaRPr lang="en-US"/>
                    </a:p>
                  </a:txBody>
                  <a:tcP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lvl="0" algn="l">
                        <a:lnSpc>
                          <a:spcPct val="100000"/>
                        </a:lnSpc>
                        <a:spcBef>
                          <a:spcPts val="0"/>
                        </a:spcBef>
                        <a:spcAft>
                          <a:spcPts val="0"/>
                        </a:spcAft>
                        <a:buNone/>
                      </a:pPr>
                      <a:r>
                        <a:rPr lang="en-IN" sz="1100" b="1" i="0" u="none" strike="noStrike" noProof="0">
                          <a:solidFill>
                            <a:srgbClr val="00B050"/>
                          </a:solidFill>
                          <a:latin typeface="Nunito Sans"/>
                        </a:rPr>
                        <a:t>20 Aug 2026</a:t>
                      </a:r>
                      <a:endParaRPr lang="en-US" sz="1100" b="0" i="0" u="none" strike="noStrike" noProof="0">
                        <a:solidFill>
                          <a:srgbClr val="000000"/>
                        </a:solidFill>
                        <a:latin typeface="Nunito Sans"/>
                      </a:endParaRPr>
                    </a:p>
                  </a:txBody>
                  <a:tcP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lvl="0" indent="0" algn="l">
                        <a:lnSpc>
                          <a:spcPct val="100000"/>
                        </a:lnSpc>
                        <a:buNone/>
                      </a:pPr>
                      <a:r>
                        <a:rPr lang="en-US" sz="1100" b="0" i="0" u="none" strike="noStrike" noProof="0">
                          <a:solidFill>
                            <a:srgbClr val="000000"/>
                          </a:solidFill>
                          <a:latin typeface="Nunito Sans"/>
                        </a:rPr>
                        <a:t>YES</a:t>
                      </a:r>
                    </a:p>
                  </a:txBody>
                  <a:tcPr>
                    <a:lnL w="6350">
                      <a:solidFill>
                        <a:schemeClr val="bg1">
                          <a:lumMod val="75000"/>
                        </a:schemeClr>
                      </a:solidFill>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443371065"/>
                  </a:ext>
                </a:extLst>
              </a:tr>
              <a:tr h="843280">
                <a:tc>
                  <a:txBody>
                    <a:bodyPr/>
                    <a:lstStyle/>
                    <a:p>
                      <a:pPr marL="0" lvl="0" indent="0" algn="l">
                        <a:lnSpc>
                          <a:spcPct val="100000"/>
                        </a:lnSpc>
                        <a:spcBef>
                          <a:spcPts val="0"/>
                        </a:spcBef>
                        <a:spcAft>
                          <a:spcPts val="0"/>
                        </a:spcAft>
                        <a:buNone/>
                      </a:pPr>
                      <a:r>
                        <a:rPr lang="en-US" sz="1100" b="1" i="0" u="none" strike="noStrike" kern="1200" noProof="0">
                          <a:solidFill>
                            <a:srgbClr val="00B050"/>
                          </a:solidFill>
                          <a:effectLst/>
                          <a:latin typeface="Nunito Sans"/>
                          <a:ea typeface="+mn-ea"/>
                          <a:cs typeface="+mn-cs"/>
                        </a:rPr>
                        <a:t>Cabin Critical Spares – Inventory</a:t>
                      </a:r>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marL="228600" lvl="0" indent="-228600" algn="l">
                        <a:lnSpc>
                          <a:spcPct val="100000"/>
                        </a:lnSpc>
                        <a:spcBef>
                          <a:spcPts val="0"/>
                        </a:spcBef>
                        <a:spcAft>
                          <a:spcPts val="0"/>
                        </a:spcAft>
                        <a:buAutoNum type="arabicPeriod"/>
                      </a:pPr>
                      <a:endParaRPr lang="en-US" sz="1100" b="1" i="0" u="none" strike="noStrike" kern="1200" noProof="0">
                        <a:solidFill>
                          <a:srgbClr val="0070C0"/>
                        </a:solidFill>
                        <a:latin typeface="Nunito Sans"/>
                      </a:endParaRPr>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marL="171450" marR="0" lvl="0" indent="-171450" algn="l">
                        <a:lnSpc>
                          <a:spcPct val="100000"/>
                        </a:lnSpc>
                        <a:spcBef>
                          <a:spcPts val="0"/>
                        </a:spcBef>
                        <a:spcAft>
                          <a:spcPts val="0"/>
                        </a:spcAft>
                        <a:buClr>
                          <a:srgbClr val="000000"/>
                        </a:buClr>
                        <a:buFont typeface="Arial,Sans-Serif"/>
                        <a:buChar char="•"/>
                      </a:pPr>
                      <a:r>
                        <a:rPr lang="en-IN" sz="1100" b="0" i="0" u="none" strike="noStrike" noProof="0">
                          <a:solidFill>
                            <a:srgbClr val="000000"/>
                          </a:solidFill>
                          <a:latin typeface="Nunito Sans"/>
                        </a:rPr>
                        <a:t>Provide real-time, fleet-wide visibility of critical cabin spares</a:t>
                      </a:r>
                      <a:endParaRPr lang="en-US" sz="1100" b="0" i="0" u="none" strike="noStrike" noProof="0">
                        <a:solidFill>
                          <a:srgbClr val="000000"/>
                        </a:solidFill>
                        <a:latin typeface="Nunito Sans"/>
                      </a:endParaRPr>
                    </a:p>
                    <a:p>
                      <a:pPr marL="171450" marR="0" lvl="0" indent="-171450" algn="l">
                        <a:lnSpc>
                          <a:spcPct val="100000"/>
                        </a:lnSpc>
                        <a:spcBef>
                          <a:spcPts val="0"/>
                        </a:spcBef>
                        <a:spcAft>
                          <a:spcPts val="0"/>
                        </a:spcAft>
                        <a:buClr>
                          <a:srgbClr val="000000"/>
                        </a:buClr>
                        <a:buFont typeface="Arial,Sans-Serif"/>
                        <a:buChar char="•"/>
                      </a:pPr>
                      <a:r>
                        <a:rPr lang="en-IN" sz="1100" b="0" i="0" u="none" strike="noStrike" noProof="0">
                          <a:solidFill>
                            <a:srgbClr val="000000"/>
                          </a:solidFill>
                          <a:latin typeface="Nunito Sans"/>
                        </a:rPr>
                        <a:t>Ensures compliance with SAFA audits</a:t>
                      </a:r>
                      <a:endParaRPr lang="en-US"/>
                    </a:p>
                  </a:txBody>
                  <a:tcP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l">
                        <a:lnSpc>
                          <a:spcPct val="100000"/>
                        </a:lnSpc>
                        <a:spcBef>
                          <a:spcPts val="0"/>
                        </a:spcBef>
                        <a:spcAft>
                          <a:spcPts val="0"/>
                        </a:spcAft>
                        <a:buClr>
                          <a:srgbClr val="000000"/>
                        </a:buClr>
                        <a:buNone/>
                      </a:pPr>
                      <a:r>
                        <a:rPr lang="en-US" sz="1100" b="1" i="0" u="none" strike="noStrike" noProof="0">
                          <a:solidFill>
                            <a:srgbClr val="00B050"/>
                          </a:solidFill>
                          <a:latin typeface="Nunito Sans"/>
                        </a:rPr>
                        <a:t>03 Aug 2026</a:t>
                      </a:r>
                      <a:endParaRPr lang="en-US" sz="1100" b="0" i="0" u="none" strike="noStrike" noProof="0">
                        <a:solidFill>
                          <a:srgbClr val="000000"/>
                        </a:solidFill>
                        <a:latin typeface="Nunito Sans"/>
                      </a:endParaRPr>
                    </a:p>
                    <a:p>
                      <a:pPr marL="171450" marR="0" lvl="0" indent="-171450" algn="l">
                        <a:lnSpc>
                          <a:spcPct val="100000"/>
                        </a:lnSpc>
                        <a:spcBef>
                          <a:spcPts val="0"/>
                        </a:spcBef>
                        <a:spcAft>
                          <a:spcPts val="0"/>
                        </a:spcAft>
                        <a:buClr>
                          <a:srgbClr val="000000"/>
                        </a:buClr>
                        <a:buFont typeface="Arial,Sans-Serif"/>
                        <a:buChar char="•"/>
                      </a:pPr>
                      <a:endParaRPr lang="en-US"/>
                    </a:p>
                  </a:txBody>
                  <a:tcP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l">
                        <a:lnSpc>
                          <a:spcPct val="100000"/>
                        </a:lnSpc>
                        <a:spcBef>
                          <a:spcPts val="0"/>
                        </a:spcBef>
                        <a:spcAft>
                          <a:spcPts val="0"/>
                        </a:spcAft>
                        <a:buNone/>
                      </a:pPr>
                      <a:r>
                        <a:rPr lang="en-US" sz="1100" b="0" i="0" u="none" strike="noStrike" noProof="0">
                          <a:solidFill>
                            <a:srgbClr val="000000"/>
                          </a:solidFill>
                          <a:latin typeface="Nunito Sans"/>
                        </a:rPr>
                        <a:t>NO</a:t>
                      </a:r>
                      <a:endParaRPr lang="en-US"/>
                    </a:p>
                  </a:txBody>
                  <a:tcPr>
                    <a:lnL w="6350">
                      <a:solidFill>
                        <a:schemeClr val="bg1">
                          <a:lumMod val="75000"/>
                        </a:schemeClr>
                      </a:solidFill>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165419060"/>
                  </a:ext>
                </a:extLst>
              </a:tr>
              <a:tr h="1076960">
                <a:tc>
                  <a:txBody>
                    <a:bodyPr/>
                    <a:lstStyle/>
                    <a:p>
                      <a:pPr marL="0" lvl="0" indent="0" algn="l">
                        <a:lnSpc>
                          <a:spcPct val="100000"/>
                        </a:lnSpc>
                        <a:spcBef>
                          <a:spcPts val="0"/>
                        </a:spcBef>
                        <a:spcAft>
                          <a:spcPts val="0"/>
                        </a:spcAft>
                        <a:buNone/>
                      </a:pPr>
                      <a:r>
                        <a:rPr lang="en-US" sz="1100" b="1" i="0" u="none" strike="noStrike" kern="1200" noProof="0">
                          <a:solidFill>
                            <a:srgbClr val="00B050"/>
                          </a:solidFill>
                          <a:effectLst/>
                          <a:latin typeface="Nunito Sans"/>
                          <a:ea typeface="+mn-ea"/>
                          <a:cs typeface="+mn-cs"/>
                        </a:rPr>
                        <a:t>AHM Prognostic Alert Dashboard</a:t>
                      </a:r>
                    </a:p>
                  </a:txBody>
                  <a:tcP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228600" lvl="0" indent="-228600" algn="l">
                        <a:lnSpc>
                          <a:spcPct val="100000"/>
                        </a:lnSpc>
                        <a:spcBef>
                          <a:spcPts val="0"/>
                        </a:spcBef>
                        <a:spcAft>
                          <a:spcPts val="0"/>
                        </a:spcAft>
                        <a:buAutoNum type="arabicPeriod"/>
                      </a:pPr>
                      <a:endParaRPr lang="en-US" sz="1100" b="1" i="0" u="none" strike="noStrike" kern="1200" noProof="0">
                        <a:solidFill>
                          <a:srgbClr val="0070C0"/>
                        </a:solidFill>
                        <a:latin typeface="Nunito Sans"/>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171450" marR="0" lvl="0" indent="-171450" algn="l">
                        <a:lnSpc>
                          <a:spcPct val="100000"/>
                        </a:lnSpc>
                        <a:spcBef>
                          <a:spcPts val="0"/>
                        </a:spcBef>
                        <a:spcAft>
                          <a:spcPts val="0"/>
                        </a:spcAft>
                        <a:buClr>
                          <a:srgbClr val="000000"/>
                        </a:buClr>
                        <a:buFont typeface="Arial,Sans-Serif"/>
                        <a:buChar char="•"/>
                      </a:pPr>
                      <a:r>
                        <a:rPr lang="en-IN" sz="1100" b="0" i="0" u="none" strike="noStrike" noProof="0">
                          <a:solidFill>
                            <a:srgbClr val="000000"/>
                          </a:solidFill>
                          <a:latin typeface="Nunito Sans"/>
                        </a:rPr>
                        <a:t>Provide real-time, fleet-wide visibility of not actioned prognostic alerts</a:t>
                      </a:r>
                      <a:endParaRPr lang="en-US" sz="1100" b="0" i="0" u="none" strike="noStrike" noProof="0">
                        <a:solidFill>
                          <a:srgbClr val="000000"/>
                        </a:solidFill>
                        <a:latin typeface="Nunito Sans"/>
                      </a:endParaRPr>
                    </a:p>
                    <a:p>
                      <a:pPr marL="171450" marR="0" lvl="0" indent="-171450" algn="l">
                        <a:lnSpc>
                          <a:spcPct val="100000"/>
                        </a:lnSpc>
                        <a:spcBef>
                          <a:spcPts val="0"/>
                        </a:spcBef>
                        <a:spcAft>
                          <a:spcPts val="0"/>
                        </a:spcAft>
                        <a:buClr>
                          <a:srgbClr val="000000"/>
                        </a:buClr>
                        <a:buFont typeface="Arial,Sans-Serif"/>
                        <a:buChar char="•"/>
                      </a:pPr>
                      <a:r>
                        <a:rPr lang="en-IN" sz="1100" b="0" i="0" u="none" strike="noStrike" noProof="0">
                          <a:solidFill>
                            <a:srgbClr val="000000"/>
                          </a:solidFill>
                          <a:latin typeface="Nunito Sans"/>
                        </a:rPr>
                        <a:t>Reduction in delays, disruptions and AOGs </a:t>
                      </a:r>
                      <a:endParaRPr lang="en-US"/>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l">
                        <a:lnSpc>
                          <a:spcPct val="100000"/>
                        </a:lnSpc>
                        <a:spcBef>
                          <a:spcPts val="0"/>
                        </a:spcBef>
                        <a:spcAft>
                          <a:spcPts val="0"/>
                        </a:spcAft>
                        <a:buClr>
                          <a:srgbClr val="000000"/>
                        </a:buClr>
                        <a:buNone/>
                      </a:pPr>
                      <a:r>
                        <a:rPr lang="en-US" sz="1100" b="1" i="0" u="none" strike="noStrike" noProof="0">
                          <a:solidFill>
                            <a:srgbClr val="00B050"/>
                          </a:solidFill>
                          <a:latin typeface="Nunito Sans"/>
                        </a:rPr>
                        <a:t>24 Aug 2026 [BRD to be Completed]</a:t>
                      </a:r>
                      <a:endParaRPr lang="en-US" sz="1100" b="0" i="0" u="none" strike="noStrike" noProof="0">
                        <a:solidFill>
                          <a:srgbClr val="000000"/>
                        </a:solidFill>
                        <a:latin typeface="Nunito Sans"/>
                      </a:endParaRPr>
                    </a:p>
                    <a:p>
                      <a:pPr marL="171450" marR="0" lvl="0" indent="-171450" algn="l">
                        <a:lnSpc>
                          <a:spcPct val="100000"/>
                        </a:lnSpc>
                        <a:spcBef>
                          <a:spcPts val="0"/>
                        </a:spcBef>
                        <a:spcAft>
                          <a:spcPts val="0"/>
                        </a:spcAft>
                        <a:buClr>
                          <a:srgbClr val="000000"/>
                        </a:buClr>
                        <a:buFont typeface="Arial,Sans-Serif"/>
                        <a:buChar char="•"/>
                      </a:pPr>
                      <a:endParaRPr lang="en-US"/>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l">
                        <a:lnSpc>
                          <a:spcPct val="100000"/>
                        </a:lnSpc>
                        <a:spcBef>
                          <a:spcPts val="0"/>
                        </a:spcBef>
                        <a:spcAft>
                          <a:spcPts val="0"/>
                        </a:spcAft>
                        <a:buNone/>
                      </a:pPr>
                      <a:r>
                        <a:rPr lang="en-US" sz="1100" b="0" i="0" u="none" strike="noStrike" noProof="0">
                          <a:solidFill>
                            <a:srgbClr val="000000"/>
                          </a:solidFill>
                          <a:latin typeface="Nunito Sans"/>
                        </a:rPr>
                        <a:t>NO</a:t>
                      </a:r>
                      <a:endParaRPr lang="en-US"/>
                    </a:p>
                  </a:txBody>
                  <a:tcPr>
                    <a:lnL w="6350" cap="flat" cmpd="sng" algn="ctr">
                      <a:solidFill>
                        <a:schemeClr val="bg1">
                          <a:lumMod val="75000"/>
                        </a:schemeClr>
                      </a:solidFill>
                      <a:prstDash val="solid"/>
                      <a:round/>
                      <a:headEnd type="none" w="med" len="med"/>
                      <a:tailEnd type="none" w="med" len="med"/>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853609768"/>
                  </a:ext>
                </a:extLst>
              </a:tr>
              <a:tr h="1076960">
                <a:tc>
                  <a:txBody>
                    <a:bodyPr/>
                    <a:lstStyle/>
                    <a:p>
                      <a:pPr marL="0" lvl="0" indent="0" algn="l">
                        <a:lnSpc>
                          <a:spcPct val="100000"/>
                        </a:lnSpc>
                        <a:spcBef>
                          <a:spcPts val="0"/>
                        </a:spcBef>
                        <a:spcAft>
                          <a:spcPts val="0"/>
                        </a:spcAft>
                        <a:buNone/>
                      </a:pPr>
                      <a:r>
                        <a:rPr lang="en-US" sz="1100" b="1" i="0" u="none" strike="noStrike" kern="1200" noProof="0">
                          <a:solidFill>
                            <a:srgbClr val="00B050"/>
                          </a:solidFill>
                          <a:effectLst/>
                          <a:latin typeface="Nunito Sans"/>
                          <a:ea typeface="+mn-ea"/>
                          <a:cs typeface="+mn-cs"/>
                        </a:rPr>
                        <a:t>AMP – MPD Data Automation </a:t>
                      </a:r>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marL="228600" lvl="0" indent="-228600" algn="l">
                        <a:lnSpc>
                          <a:spcPct val="100000"/>
                        </a:lnSpc>
                        <a:spcBef>
                          <a:spcPts val="0"/>
                        </a:spcBef>
                        <a:spcAft>
                          <a:spcPts val="0"/>
                        </a:spcAft>
                        <a:buAutoNum type="arabicPeriod"/>
                      </a:pPr>
                      <a:endParaRPr lang="en-US" sz="1100" b="1" i="0" u="none" strike="noStrike" kern="1200" noProof="0">
                        <a:solidFill>
                          <a:srgbClr val="0070C0"/>
                        </a:solidFill>
                        <a:latin typeface="Nunito Sans"/>
                      </a:endParaRPr>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marL="0" lvl="0" indent="0" algn="l">
                        <a:lnSpc>
                          <a:spcPct val="100000"/>
                        </a:lnSpc>
                        <a:spcBef>
                          <a:spcPts val="0"/>
                        </a:spcBef>
                        <a:spcAft>
                          <a:spcPts val="0"/>
                        </a:spcAft>
                        <a:buNone/>
                      </a:pPr>
                      <a:r>
                        <a:rPr lang="en-IN" sz="1100" b="0" i="0" u="none" strike="noStrike" noProof="0">
                          <a:solidFill>
                            <a:srgbClr val="000000"/>
                          </a:solidFill>
                          <a:latin typeface="Nunito Sans"/>
                        </a:rPr>
                        <a:t>MPD and AMP tasks are entered manually into AMOS. This leads to various issues, including delays and errors due to transcription. The process lacks standardization and documentation.</a:t>
                      </a:r>
                      <a:endParaRPr lang="en-IN"/>
                    </a:p>
                  </a:txBody>
                  <a:tcP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lvl="0" algn="l">
                        <a:lnSpc>
                          <a:spcPct val="100000"/>
                        </a:lnSpc>
                        <a:spcBef>
                          <a:spcPts val="0"/>
                        </a:spcBef>
                        <a:spcAft>
                          <a:spcPts val="0"/>
                        </a:spcAft>
                        <a:buNone/>
                      </a:pPr>
                      <a:r>
                        <a:rPr lang="en-US" sz="1100" b="1" i="0" u="none" strike="noStrike" noProof="0">
                          <a:solidFill>
                            <a:srgbClr val="00B050"/>
                          </a:solidFill>
                          <a:latin typeface="Nunito Sans"/>
                        </a:rPr>
                        <a:t>23 Aug 2026</a:t>
                      </a:r>
                    </a:p>
                    <a:p>
                      <a:pPr marL="0" lvl="0" indent="0" algn="l">
                        <a:lnSpc>
                          <a:spcPct val="100000"/>
                        </a:lnSpc>
                        <a:spcBef>
                          <a:spcPts val="0"/>
                        </a:spcBef>
                        <a:spcAft>
                          <a:spcPts val="0"/>
                        </a:spcAft>
                        <a:buNone/>
                      </a:pPr>
                      <a:endParaRPr lang="en-IN"/>
                    </a:p>
                  </a:txBody>
                  <a:tcP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lvl="0" indent="0" algn="l">
                        <a:lnSpc>
                          <a:spcPct val="100000"/>
                        </a:lnSpc>
                        <a:spcBef>
                          <a:spcPts val="0"/>
                        </a:spcBef>
                        <a:spcAft>
                          <a:spcPts val="0"/>
                        </a:spcAft>
                        <a:buNone/>
                      </a:pPr>
                      <a:r>
                        <a:rPr lang="en-US" sz="1100" b="0" i="0" u="none" strike="noStrike" noProof="0">
                          <a:solidFill>
                            <a:srgbClr val="000000"/>
                          </a:solidFill>
                          <a:latin typeface="Nunito Sans"/>
                        </a:rPr>
                        <a:t>NO</a:t>
                      </a:r>
                      <a:endParaRPr lang="en-US"/>
                    </a:p>
                  </a:txBody>
                  <a:tcPr>
                    <a:lnL w="6350">
                      <a:solidFill>
                        <a:schemeClr val="bg1">
                          <a:lumMod val="75000"/>
                        </a:schemeClr>
                      </a:solidFill>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984665769"/>
                  </a:ext>
                </a:extLst>
              </a:tr>
            </a:tbl>
          </a:graphicData>
        </a:graphic>
      </p:graphicFrame>
      <p:sp>
        <p:nvSpPr>
          <p:cNvPr id="4" name="Rectangle 3">
            <a:extLst>
              <a:ext uri="{FF2B5EF4-FFF2-40B4-BE49-F238E27FC236}">
                <a16:creationId xmlns:a16="http://schemas.microsoft.com/office/drawing/2014/main" id="{4C5C225C-C3C2-BC3C-4F96-EAD4180C8AEF}"/>
              </a:ext>
            </a:extLst>
          </p:cNvPr>
          <p:cNvSpPr/>
          <p:nvPr/>
        </p:nvSpPr>
        <p:spPr>
          <a:xfrm>
            <a:off x="1188132" y="6671592"/>
            <a:ext cx="90000" cy="90000"/>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5" name="Rectangle 4">
            <a:extLst>
              <a:ext uri="{FF2B5EF4-FFF2-40B4-BE49-F238E27FC236}">
                <a16:creationId xmlns:a16="http://schemas.microsoft.com/office/drawing/2014/main" id="{DEAD75D6-96B6-4D26-BCD8-4532D27EA8CC}"/>
              </a:ext>
            </a:extLst>
          </p:cNvPr>
          <p:cNvSpPr/>
          <p:nvPr/>
        </p:nvSpPr>
        <p:spPr>
          <a:xfrm>
            <a:off x="2265818" y="6670554"/>
            <a:ext cx="90000" cy="90000"/>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7" name="Rectangle 6">
            <a:extLst>
              <a:ext uri="{FF2B5EF4-FFF2-40B4-BE49-F238E27FC236}">
                <a16:creationId xmlns:a16="http://schemas.microsoft.com/office/drawing/2014/main" id="{AF804E64-8909-1A16-D2E6-E86A7625CA7C}"/>
              </a:ext>
            </a:extLst>
          </p:cNvPr>
          <p:cNvSpPr/>
          <p:nvPr/>
        </p:nvSpPr>
        <p:spPr>
          <a:xfrm>
            <a:off x="3443423" y="6671592"/>
            <a:ext cx="90000" cy="90000"/>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8" name="Rectangle 7">
            <a:extLst>
              <a:ext uri="{FF2B5EF4-FFF2-40B4-BE49-F238E27FC236}">
                <a16:creationId xmlns:a16="http://schemas.microsoft.com/office/drawing/2014/main" id="{B2491CBF-A0B6-34BD-6E53-0C5AA292A05E}"/>
              </a:ext>
            </a:extLst>
          </p:cNvPr>
          <p:cNvSpPr/>
          <p:nvPr/>
        </p:nvSpPr>
        <p:spPr>
          <a:xfrm>
            <a:off x="8146052" y="6714097"/>
            <a:ext cx="90000" cy="90000"/>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9" name="TextBox 15">
            <a:extLst>
              <a:ext uri="{FF2B5EF4-FFF2-40B4-BE49-F238E27FC236}">
                <a16:creationId xmlns:a16="http://schemas.microsoft.com/office/drawing/2014/main" id="{22261103-C2CB-2821-1B81-DE6F203D5C5B}"/>
              </a:ext>
            </a:extLst>
          </p:cNvPr>
          <p:cNvSpPr txBox="1"/>
          <p:nvPr/>
        </p:nvSpPr>
        <p:spPr>
          <a:xfrm>
            <a:off x="1288983" y="6614743"/>
            <a:ext cx="857245"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0070C0"/>
                </a:solidFill>
                <a:effectLst/>
                <a:uLnTx/>
                <a:uFillTx/>
                <a:latin typeface="Nunito Sans"/>
                <a:ea typeface="+mn-ea"/>
                <a:cs typeface="+mn-cs"/>
              </a:rPr>
              <a:t>Delivered</a:t>
            </a:r>
            <a:endParaRPr kumimoji="0" lang="en-IN" sz="1000" b="0" i="0" u="none" strike="noStrike" kern="1200" cap="none" spc="0" normalizeH="0" baseline="0" noProof="0">
              <a:ln>
                <a:noFill/>
              </a:ln>
              <a:solidFill>
                <a:srgbClr val="000000"/>
              </a:solidFill>
              <a:effectLst/>
              <a:uLnTx/>
              <a:uFillTx/>
              <a:latin typeface="Nunito Sans"/>
              <a:ea typeface="+mn-ea"/>
              <a:cs typeface="+mn-cs"/>
            </a:endParaRPr>
          </a:p>
        </p:txBody>
      </p:sp>
      <p:sp>
        <p:nvSpPr>
          <p:cNvPr id="10" name="TextBox 18">
            <a:extLst>
              <a:ext uri="{FF2B5EF4-FFF2-40B4-BE49-F238E27FC236}">
                <a16:creationId xmlns:a16="http://schemas.microsoft.com/office/drawing/2014/main" id="{7846697F-C4E7-4777-9140-118775A1D8DA}"/>
              </a:ext>
            </a:extLst>
          </p:cNvPr>
          <p:cNvSpPr txBox="1"/>
          <p:nvPr/>
        </p:nvSpPr>
        <p:spPr>
          <a:xfrm>
            <a:off x="2310642" y="6611102"/>
            <a:ext cx="1032881"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00B050"/>
                </a:solidFill>
                <a:effectLst/>
                <a:uLnTx/>
                <a:uFillTx/>
                <a:latin typeface="Nunito Sans"/>
                <a:ea typeface="+mn-ea"/>
                <a:cs typeface="+mn-cs"/>
              </a:rPr>
              <a:t>Ontrack</a:t>
            </a:r>
            <a:endParaRPr kumimoji="0" lang="en-IN" sz="1000" b="0" i="0" u="none" strike="noStrike" kern="1200" cap="none" spc="0" normalizeH="0" baseline="0" noProof="0">
              <a:ln>
                <a:noFill/>
              </a:ln>
              <a:solidFill>
                <a:srgbClr val="000000"/>
              </a:solidFill>
              <a:effectLst/>
              <a:uLnTx/>
              <a:uFillTx/>
              <a:latin typeface="Nunito Sans"/>
              <a:ea typeface="+mn-ea"/>
              <a:cs typeface="+mn-cs"/>
            </a:endParaRPr>
          </a:p>
        </p:txBody>
      </p:sp>
      <p:sp>
        <p:nvSpPr>
          <p:cNvPr id="11" name="TextBox 20">
            <a:extLst>
              <a:ext uri="{FF2B5EF4-FFF2-40B4-BE49-F238E27FC236}">
                <a16:creationId xmlns:a16="http://schemas.microsoft.com/office/drawing/2014/main" id="{C1E91C11-D4B9-02B4-488C-9A1BCA9C75EE}"/>
              </a:ext>
            </a:extLst>
          </p:cNvPr>
          <p:cNvSpPr txBox="1"/>
          <p:nvPr/>
        </p:nvSpPr>
        <p:spPr>
          <a:xfrm>
            <a:off x="3539606" y="6608370"/>
            <a:ext cx="2257628"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FED9A0">
                    <a:lumMod val="75000"/>
                  </a:srgbClr>
                </a:solidFill>
                <a:effectLst/>
                <a:uLnTx/>
                <a:uFillTx/>
                <a:latin typeface="Nunito Sans"/>
                <a:ea typeface="+mn-ea"/>
                <a:cs typeface="+mn-cs"/>
              </a:rPr>
              <a:t>Under delay and can be recovered</a:t>
            </a:r>
            <a:endParaRPr kumimoji="0" lang="en-IN" sz="1000" b="0" i="0" u="none" strike="noStrike" kern="1200" cap="none" spc="0" normalizeH="0" baseline="0" noProof="0">
              <a:ln>
                <a:noFill/>
              </a:ln>
              <a:solidFill>
                <a:srgbClr val="000000"/>
              </a:solidFill>
              <a:effectLst/>
              <a:uLnTx/>
              <a:uFillTx/>
              <a:latin typeface="Nunito Sans"/>
              <a:ea typeface="+mn-ea"/>
              <a:cs typeface="+mn-cs"/>
            </a:endParaRPr>
          </a:p>
        </p:txBody>
      </p:sp>
      <p:sp>
        <p:nvSpPr>
          <p:cNvPr id="13" name="TextBox 22">
            <a:extLst>
              <a:ext uri="{FF2B5EF4-FFF2-40B4-BE49-F238E27FC236}">
                <a16:creationId xmlns:a16="http://schemas.microsoft.com/office/drawing/2014/main" id="{683CE7AB-4B4E-4A68-ABEF-DB596BA97309}"/>
              </a:ext>
            </a:extLst>
          </p:cNvPr>
          <p:cNvSpPr txBox="1"/>
          <p:nvPr/>
        </p:nvSpPr>
        <p:spPr>
          <a:xfrm>
            <a:off x="8246937" y="6618126"/>
            <a:ext cx="2338222"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FF0000"/>
                </a:solidFill>
                <a:effectLst/>
                <a:uLnTx/>
                <a:uFillTx/>
                <a:latin typeface="Nunito Sans"/>
                <a:ea typeface="+mn-ea"/>
                <a:cs typeface="+mn-cs"/>
              </a:rPr>
              <a:t>Delayed and pushed to next release</a:t>
            </a:r>
          </a:p>
        </p:txBody>
      </p:sp>
      <p:sp>
        <p:nvSpPr>
          <p:cNvPr id="15" name="TextBox 14">
            <a:extLst>
              <a:ext uri="{FF2B5EF4-FFF2-40B4-BE49-F238E27FC236}">
                <a16:creationId xmlns:a16="http://schemas.microsoft.com/office/drawing/2014/main" id="{263DEBE2-1264-B761-AFDE-09DF82D0601D}"/>
              </a:ext>
            </a:extLst>
          </p:cNvPr>
          <p:cNvSpPr txBox="1"/>
          <p:nvPr/>
        </p:nvSpPr>
        <p:spPr>
          <a:xfrm>
            <a:off x="6454369" y="6611638"/>
            <a:ext cx="2743200"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IN" sz="1000">
                <a:solidFill>
                  <a:srgbClr val="7D7D7D"/>
                </a:solidFill>
              </a:rPr>
              <a:t>Descoped</a:t>
            </a:r>
            <a:endParaRPr lang="en-US"/>
          </a:p>
        </p:txBody>
      </p:sp>
      <p:sp>
        <p:nvSpPr>
          <p:cNvPr id="16" name="Rectangle 15">
            <a:extLst>
              <a:ext uri="{FF2B5EF4-FFF2-40B4-BE49-F238E27FC236}">
                <a16:creationId xmlns:a16="http://schemas.microsoft.com/office/drawing/2014/main" id="{C44D8C5C-E640-53A0-E3F6-75FCDA3295DF}"/>
              </a:ext>
            </a:extLst>
          </p:cNvPr>
          <p:cNvSpPr/>
          <p:nvPr/>
        </p:nvSpPr>
        <p:spPr>
          <a:xfrm>
            <a:off x="6360794" y="6681439"/>
            <a:ext cx="90000" cy="90000"/>
          </a:xfrm>
          <a:prstGeom prst="rect">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Tree>
    <p:extLst>
      <p:ext uri="{BB962C8B-B14F-4D97-AF65-F5344CB8AC3E}">
        <p14:creationId xmlns:p14="http://schemas.microsoft.com/office/powerpoint/2010/main" val="232348877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975D7C-ACB4-F618-89DD-7756EB56FD1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B4D34BB-6306-A92C-F3AE-CBBF5D45013E}"/>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3A41A254-7326-714E-AF55-4C213D6394DE}" type="slidenum">
              <a:rPr kumimoji="0" lang="en-US" sz="1200" b="0" i="0" u="none" strike="noStrike" kern="1200" cap="none" spc="0" normalizeH="0" baseline="0" noProof="0" smtClean="0">
                <a:ln>
                  <a:noFill/>
                </a:ln>
                <a:solidFill>
                  <a:srgbClr val="DA0E28"/>
                </a:solidFill>
                <a:effectLst/>
                <a:uLnTx/>
                <a:uFillTx/>
                <a:latin typeface="Nunito Sans"/>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34</a:t>
            </a:fld>
            <a:endParaRPr kumimoji="0" lang="en-US" sz="1200" b="0" i="0" u="none" strike="noStrike" kern="1200" cap="none" spc="0" normalizeH="0" baseline="0" noProof="0">
              <a:ln>
                <a:noFill/>
              </a:ln>
              <a:solidFill>
                <a:srgbClr val="DA0E28"/>
              </a:solidFill>
              <a:effectLst/>
              <a:uLnTx/>
              <a:uFillTx/>
              <a:latin typeface="Nunito Sans"/>
              <a:ea typeface="+mn-ea"/>
              <a:cs typeface="+mn-cs"/>
            </a:endParaRPr>
          </a:p>
        </p:txBody>
      </p:sp>
      <p:sp>
        <p:nvSpPr>
          <p:cNvPr id="3" name="Rectangle 2">
            <a:extLst>
              <a:ext uri="{FF2B5EF4-FFF2-40B4-BE49-F238E27FC236}">
                <a16:creationId xmlns:a16="http://schemas.microsoft.com/office/drawing/2014/main" id="{6364CB89-5657-A9BA-4DF3-A0656531080E}"/>
              </a:ext>
            </a:extLst>
          </p:cNvPr>
          <p:cNvSpPr/>
          <p:nvPr/>
        </p:nvSpPr>
        <p:spPr>
          <a:xfrm>
            <a:off x="92501" y="619615"/>
            <a:ext cx="1170432" cy="42234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400" b="1" i="0" u="none" strike="noStrike" kern="1200" cap="none" spc="0" normalizeH="0" baseline="0" noProof="0">
                <a:ln>
                  <a:noFill/>
                </a:ln>
                <a:solidFill>
                  <a:srgbClr val="FFFFFF"/>
                </a:solidFill>
                <a:effectLst/>
                <a:uLnTx/>
                <a:uFillTx/>
                <a:latin typeface="AirIndia"/>
                <a:ea typeface="+mn-ea"/>
                <a:cs typeface="+mn-cs"/>
              </a:rPr>
              <a:t>Sep ‘</a:t>
            </a:r>
            <a:r>
              <a:rPr lang="en-IN" sz="1400" b="1">
                <a:solidFill>
                  <a:srgbClr val="FFFFFF"/>
                </a:solidFill>
                <a:latin typeface="AirIndia"/>
              </a:rPr>
              <a:t>26</a:t>
            </a:r>
            <a:endParaRPr kumimoji="0" lang="en-US" sz="1400" b="1" i="0" u="none" strike="noStrike" kern="1200" cap="none" spc="0" normalizeH="0" baseline="0" noProof="0">
              <a:ln>
                <a:noFill/>
              </a:ln>
              <a:solidFill>
                <a:srgbClr val="FFFFFF"/>
              </a:solidFill>
              <a:effectLst/>
              <a:uLnTx/>
              <a:uFillTx/>
              <a:latin typeface="AirIndia"/>
              <a:ea typeface="+mn-ea"/>
              <a:cs typeface="+mn-cs"/>
            </a:endParaRPr>
          </a:p>
        </p:txBody>
      </p:sp>
      <p:sp>
        <p:nvSpPr>
          <p:cNvPr id="6" name="Title 11">
            <a:extLst>
              <a:ext uri="{FF2B5EF4-FFF2-40B4-BE49-F238E27FC236}">
                <a16:creationId xmlns:a16="http://schemas.microsoft.com/office/drawing/2014/main" id="{078AD526-74CE-1458-DE93-D14BD5FC1CCE}"/>
              </a:ext>
            </a:extLst>
          </p:cNvPr>
          <p:cNvSpPr txBox="1">
            <a:spLocks/>
          </p:cNvSpPr>
          <p:nvPr/>
        </p:nvSpPr>
        <p:spPr>
          <a:xfrm>
            <a:off x="235455" y="-28289"/>
            <a:ext cx="7702602" cy="497476"/>
          </a:xfrm>
          <a:prstGeom prst="rect">
            <a:avLst/>
          </a:prstGeom>
        </p:spPr>
        <p:txBody>
          <a:bodyPr lIns="91440" tIns="45720" rIns="91440" bIns="45720" anchor="t">
            <a:noAutofit/>
          </a:bodyPr>
          <a:lstStyle>
            <a:lvl1pPr algn="l" defTabSz="914400" rtl="0" eaLnBrk="1" latinLnBrk="0" hangingPunct="1">
              <a:lnSpc>
                <a:spcPct val="90000"/>
              </a:lnSpc>
              <a:spcBef>
                <a:spcPct val="0"/>
              </a:spcBef>
              <a:buNone/>
              <a:defRPr sz="4400" b="1" i="0" kern="1200">
                <a:solidFill>
                  <a:schemeClr val="tx1"/>
                </a:solidFill>
                <a:latin typeface="AirIndia" pitchFamily="82" charset="77"/>
                <a:ea typeface="+mj-ea"/>
                <a:cs typeface="+mj-cs"/>
              </a:defRPr>
            </a:lvl1pPr>
          </a:lstStyle>
          <a:p>
            <a:pPr>
              <a:defRPr/>
            </a:pPr>
            <a:endParaRPr lang="en-US" sz="1800">
              <a:solidFill>
                <a:srgbClr val="DA0E28"/>
              </a:solidFill>
              <a:latin typeface="AirIndia"/>
            </a:endParaRPr>
          </a:p>
          <a:p>
            <a:pPr>
              <a:defRPr/>
            </a:pPr>
            <a:r>
              <a:rPr lang="en-US" sz="1800">
                <a:solidFill>
                  <a:srgbClr val="DA0E28"/>
                </a:solidFill>
                <a:latin typeface="AirIndia"/>
              </a:rPr>
              <a:t>Engineering Tech -</a:t>
            </a:r>
            <a:r>
              <a:rPr kumimoji="0" lang="en-US" sz="1800" b="1" i="0" u="none" strike="noStrike" kern="1200" cap="none" spc="0" normalizeH="0" baseline="0" noProof="0">
                <a:ln>
                  <a:noFill/>
                </a:ln>
                <a:solidFill>
                  <a:srgbClr val="DA0E28"/>
                </a:solidFill>
                <a:effectLst/>
                <a:uLnTx/>
                <a:uFillTx/>
                <a:latin typeface="AirIndia"/>
                <a:ea typeface="+mj-ea"/>
                <a:cs typeface="+mj-cs"/>
              </a:rPr>
              <a:t> </a:t>
            </a:r>
            <a:r>
              <a:rPr lang="en-US" sz="1800">
                <a:solidFill>
                  <a:srgbClr val="DA0E28"/>
                </a:solidFill>
                <a:latin typeface="AirIndia"/>
              </a:rPr>
              <a:t>FY27</a:t>
            </a:r>
            <a:r>
              <a:rPr kumimoji="0" lang="en-US" sz="1800" b="1" i="0" u="none" strike="noStrike" kern="1200" cap="none" spc="0" normalizeH="0" baseline="0" noProof="0">
                <a:ln>
                  <a:noFill/>
                </a:ln>
                <a:solidFill>
                  <a:srgbClr val="DA0E28"/>
                </a:solidFill>
                <a:effectLst/>
                <a:uLnTx/>
                <a:uFillTx/>
                <a:latin typeface="AirIndia"/>
                <a:ea typeface="+mj-ea"/>
                <a:cs typeface="+mj-cs"/>
              </a:rPr>
              <a:t> Q2  Release Plan</a:t>
            </a:r>
            <a:endParaRPr lang="en-US" sz="1800" b="0" i="0" u="none" strike="noStrike" kern="1200" cap="none" spc="0" normalizeH="0" baseline="0" noProof="0">
              <a:ln>
                <a:noFill/>
              </a:ln>
              <a:solidFill>
                <a:srgbClr val="DA0E28"/>
              </a:solidFill>
              <a:effectLst/>
              <a:uLnTx/>
              <a:uFillTx/>
              <a:latin typeface="AirIndia"/>
            </a:endParaRPr>
          </a:p>
        </p:txBody>
      </p:sp>
      <p:graphicFrame>
        <p:nvGraphicFramePr>
          <p:cNvPr id="12" name="Table 11">
            <a:extLst>
              <a:ext uri="{FF2B5EF4-FFF2-40B4-BE49-F238E27FC236}">
                <a16:creationId xmlns:a16="http://schemas.microsoft.com/office/drawing/2014/main" id="{4A81F4EE-67FD-900E-5663-DBD0551C0581}"/>
              </a:ext>
            </a:extLst>
          </p:cNvPr>
          <p:cNvGraphicFramePr>
            <a:graphicFrameLocks noGrp="1"/>
          </p:cNvGraphicFramePr>
          <p:nvPr>
            <p:extLst>
              <p:ext uri="{D42A27DB-BD31-4B8C-83A1-F6EECF244321}">
                <p14:modId xmlns:p14="http://schemas.microsoft.com/office/powerpoint/2010/main" val="3909802661"/>
              </p:ext>
            </p:extLst>
          </p:nvPr>
        </p:nvGraphicFramePr>
        <p:xfrm>
          <a:off x="1262933" y="619615"/>
          <a:ext cx="10685698" cy="4272280"/>
        </p:xfrm>
        <a:graphic>
          <a:graphicData uri="http://schemas.openxmlformats.org/drawingml/2006/table">
            <a:tbl>
              <a:tblPr firstRow="1" bandRow="1">
                <a:tableStyleId>{5C22544A-7EE6-4342-B048-85BDC9FD1C3A}</a:tableStyleId>
              </a:tblPr>
              <a:tblGrid>
                <a:gridCol w="1530821">
                  <a:extLst>
                    <a:ext uri="{9D8B030D-6E8A-4147-A177-3AD203B41FA5}">
                      <a16:colId xmlns:a16="http://schemas.microsoft.com/office/drawing/2014/main" val="2822350773"/>
                    </a:ext>
                  </a:extLst>
                </a:gridCol>
                <a:gridCol w="1530821">
                  <a:extLst>
                    <a:ext uri="{9D8B030D-6E8A-4147-A177-3AD203B41FA5}">
                      <a16:colId xmlns:a16="http://schemas.microsoft.com/office/drawing/2014/main" val="1843387359"/>
                    </a:ext>
                  </a:extLst>
                </a:gridCol>
                <a:gridCol w="5121177">
                  <a:extLst>
                    <a:ext uri="{9D8B030D-6E8A-4147-A177-3AD203B41FA5}">
                      <a16:colId xmlns:a16="http://schemas.microsoft.com/office/drawing/2014/main" val="99588705"/>
                    </a:ext>
                  </a:extLst>
                </a:gridCol>
                <a:gridCol w="1298448">
                  <a:extLst>
                    <a:ext uri="{9D8B030D-6E8A-4147-A177-3AD203B41FA5}">
                      <a16:colId xmlns:a16="http://schemas.microsoft.com/office/drawing/2014/main" val="2243545147"/>
                    </a:ext>
                  </a:extLst>
                </a:gridCol>
                <a:gridCol w="1204431">
                  <a:extLst>
                    <a:ext uri="{9D8B030D-6E8A-4147-A177-3AD203B41FA5}">
                      <a16:colId xmlns:a16="http://schemas.microsoft.com/office/drawing/2014/main" val="4008105104"/>
                    </a:ext>
                  </a:extLst>
                </a:gridCol>
              </a:tblGrid>
              <a:tr h="530670">
                <a:tc>
                  <a:txBody>
                    <a:bodyPr/>
                    <a:lstStyle/>
                    <a:p>
                      <a:pPr marL="0" lvl="0" indent="0" algn="ctr" defTabSz="914400" rtl="0">
                        <a:lnSpc>
                          <a:spcPct val="100000"/>
                        </a:lnSpc>
                        <a:buFont typeface="Arial" panose="020B0604020202020204" pitchFamily="34" charset="0"/>
                        <a:buNone/>
                      </a:pPr>
                      <a:r>
                        <a:rPr lang="en-IN" sz="1100" b="1" kern="1200">
                          <a:solidFill>
                            <a:schemeClr val="bg1"/>
                          </a:solidFill>
                          <a:latin typeface="+mn-lt"/>
                          <a:ea typeface="+mn-ea"/>
                          <a:cs typeface="+mn-cs"/>
                        </a:rPr>
                        <a:t>Initiatives</a:t>
                      </a:r>
                      <a:endParaRPr lang="en-US" sz="1100" b="1"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tc>
                  <a:txBody>
                    <a:bodyPr/>
                    <a:lstStyle/>
                    <a:p>
                      <a:pPr marL="0" lvl="0" indent="0" algn="ctr" defTabSz="914400">
                        <a:lnSpc>
                          <a:spcPct val="100000"/>
                        </a:lnSpc>
                        <a:buNone/>
                      </a:pPr>
                      <a:r>
                        <a:rPr lang="en-IN" sz="1100" b="1" i="0" u="none" strike="noStrike" kern="1200" noProof="0">
                          <a:solidFill>
                            <a:schemeClr val="bg1"/>
                          </a:solidFill>
                          <a:latin typeface="Nunito Sans"/>
                          <a:ea typeface="+mn-ea"/>
                          <a:cs typeface="+mn-cs"/>
                        </a:rPr>
                        <a:t>Programs/Projects</a:t>
                      </a:r>
                      <a:endParaRPr lang="en-US"/>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solidFill>
                      <a:schemeClr val="accent3">
                        <a:lumMod val="90000"/>
                        <a:lumOff val="10000"/>
                      </a:schemeClr>
                    </a:solidFill>
                  </a:tcPr>
                </a:tc>
                <a:tc>
                  <a:txBody>
                    <a:bodyPr/>
                    <a:lstStyle/>
                    <a:p>
                      <a:pPr marL="0" lvl="0" indent="0" algn="ctr">
                        <a:lnSpc>
                          <a:spcPct val="100000"/>
                        </a:lnSpc>
                        <a:buNone/>
                      </a:pPr>
                      <a:endParaRPr lang="en-IN" sz="1100" b="1" i="0" u="none" strike="noStrike" kern="1200" baseline="0" noProof="0">
                        <a:solidFill>
                          <a:srgbClr val="FFFFFF"/>
                        </a:solidFill>
                        <a:latin typeface="Nunito Sans"/>
                      </a:endParaRPr>
                    </a:p>
                    <a:p>
                      <a:pPr marL="0" lvl="0" indent="0" algn="ctr">
                        <a:lnSpc>
                          <a:spcPct val="100000"/>
                        </a:lnSpc>
                        <a:buNone/>
                      </a:pPr>
                      <a:r>
                        <a:rPr lang="en-IN" sz="1100" b="1" i="0" u="none" strike="noStrike" kern="1200" baseline="0" noProof="0">
                          <a:solidFill>
                            <a:srgbClr val="FFFFFF"/>
                          </a:solidFill>
                          <a:latin typeface="Nunito Sans"/>
                        </a:rPr>
                        <a:t>Value Justification/Realization</a:t>
                      </a:r>
                    </a:p>
                    <a:p>
                      <a:pPr marL="0" lvl="0" indent="0" algn="ctr" defTabSz="914400">
                        <a:buFont typeface="Arial" panose="020B0604020202020204" pitchFamily="34" charset="0"/>
                        <a:buNone/>
                      </a:pPr>
                      <a:endParaRPr lang="en-IN" sz="1100"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100" b="1" kern="1200">
                          <a:solidFill>
                            <a:schemeClr val="bg1"/>
                          </a:solidFill>
                          <a:latin typeface="+mn-lt"/>
                          <a:ea typeface="+mn-ea"/>
                          <a:cs typeface="+mn-cs"/>
                        </a:rPr>
                        <a:t>Planned Go-live date</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1100" b="1" kern="1200">
                          <a:solidFill>
                            <a:schemeClr val="bg1"/>
                          </a:solidFill>
                          <a:latin typeface="+mn-lt"/>
                          <a:ea typeface="+mn-ea"/>
                          <a:cs typeface="+mn-cs"/>
                        </a:rPr>
                        <a:t>EIP Integration Required (Yes/No)</a:t>
                      </a:r>
                      <a:endParaRPr lang="en-IN" sz="1100"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extLst>
                  <a:ext uri="{0D108BD9-81ED-4DB2-BD59-A6C34878D82A}">
                    <a16:rowId xmlns:a16="http://schemas.microsoft.com/office/drawing/2014/main" val="844450115"/>
                  </a:ext>
                </a:extLst>
              </a:tr>
              <a:tr h="782320">
                <a:tc>
                  <a:txBody>
                    <a:bodyPr/>
                    <a:lstStyle/>
                    <a:p>
                      <a:pPr marL="0" lvl="0" indent="0" algn="l">
                        <a:lnSpc>
                          <a:spcPct val="100000"/>
                        </a:lnSpc>
                        <a:spcBef>
                          <a:spcPts val="0"/>
                        </a:spcBef>
                        <a:spcAft>
                          <a:spcPts val="0"/>
                        </a:spcAft>
                        <a:buNone/>
                      </a:pPr>
                      <a:r>
                        <a:rPr lang="en-IN" sz="1100" b="1" i="0" u="none" strike="noStrike" kern="1200" noProof="0">
                          <a:solidFill>
                            <a:srgbClr val="00B050"/>
                          </a:solidFill>
                          <a:effectLst/>
                          <a:latin typeface="Nunito Sans"/>
                          <a:ea typeface="+mn-ea"/>
                          <a:cs typeface="+mn-cs"/>
                        </a:rPr>
                        <a:t>Cannibalisation / Robbery app</a:t>
                      </a:r>
                      <a:br>
                        <a:rPr lang="en-IN" sz="1100" b="1" i="0" u="none" strike="noStrike" kern="1200" noProof="0">
                          <a:solidFill>
                            <a:srgbClr val="00B050"/>
                          </a:solidFill>
                          <a:effectLst/>
                          <a:latin typeface="Nunito Sans"/>
                          <a:ea typeface="+mn-ea"/>
                          <a:cs typeface="+mn-cs"/>
                        </a:rPr>
                      </a:br>
                      <a:endParaRPr lang="en-IN" sz="1100" b="1" i="0" u="none" strike="noStrike" kern="1200" noProof="0">
                        <a:solidFill>
                          <a:srgbClr val="00B050"/>
                        </a:solidFill>
                        <a:effectLst/>
                        <a:latin typeface="Nunito Sans"/>
                        <a:ea typeface="+mn-ea"/>
                        <a:cs typeface="+mn-cs"/>
                      </a:endParaRPr>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marL="228600" lvl="0" indent="-228600" algn="l">
                        <a:lnSpc>
                          <a:spcPct val="100000"/>
                        </a:lnSpc>
                        <a:spcBef>
                          <a:spcPts val="0"/>
                        </a:spcBef>
                        <a:spcAft>
                          <a:spcPts val="0"/>
                        </a:spcAft>
                        <a:buAutoNum type="arabicPeriod"/>
                      </a:pPr>
                      <a:endParaRPr lang="en-US" sz="1100" b="1" i="0" u="none" strike="noStrike" kern="1200" noProof="0">
                        <a:solidFill>
                          <a:srgbClr val="0070C0"/>
                        </a:solidFill>
                        <a:latin typeface="Nunito Sans"/>
                      </a:endParaRPr>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marL="0" lvl="0" indent="0" algn="l">
                        <a:lnSpc>
                          <a:spcPct val="100000"/>
                        </a:lnSpc>
                        <a:spcBef>
                          <a:spcPts val="0"/>
                        </a:spcBef>
                        <a:spcAft>
                          <a:spcPts val="0"/>
                        </a:spcAft>
                        <a:buNone/>
                      </a:pPr>
                      <a:r>
                        <a:rPr lang="en-US" sz="1100" b="0" i="0" u="none" strike="noStrike" noProof="0">
                          <a:solidFill>
                            <a:srgbClr val="000000"/>
                          </a:solidFill>
                          <a:latin typeface="Nunito Sans"/>
                        </a:rPr>
                        <a:t>Check from the historical data on the number of cannibalizations that have been extracted from AMOS.</a:t>
                      </a:r>
                      <a:endParaRPr lang="en-US"/>
                    </a:p>
                  </a:txBody>
                  <a:tcP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marL="0" lvl="0" indent="0" algn="l">
                        <a:lnSpc>
                          <a:spcPct val="100000"/>
                        </a:lnSpc>
                        <a:spcBef>
                          <a:spcPts val="0"/>
                        </a:spcBef>
                        <a:spcAft>
                          <a:spcPts val="0"/>
                        </a:spcAft>
                        <a:buNone/>
                      </a:pPr>
                      <a:r>
                        <a:rPr lang="en-IN" sz="1100" b="1" i="0" u="none" strike="noStrike" noProof="0">
                          <a:solidFill>
                            <a:srgbClr val="00B050"/>
                          </a:solidFill>
                          <a:latin typeface="Nunito Sans"/>
                        </a:rPr>
                        <a:t>TBD [BRD to be agreed]</a:t>
                      </a:r>
                      <a:endParaRPr lang="en-US"/>
                    </a:p>
                  </a:txBody>
                  <a:tcP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lvl="0" indent="0" algn="l">
                        <a:lnSpc>
                          <a:spcPct val="100000"/>
                        </a:lnSpc>
                        <a:spcBef>
                          <a:spcPts val="0"/>
                        </a:spcBef>
                        <a:spcAft>
                          <a:spcPts val="0"/>
                        </a:spcAft>
                        <a:buNone/>
                      </a:pPr>
                      <a:r>
                        <a:rPr lang="en-US" sz="1100" b="0" i="0" u="none" strike="noStrike" noProof="0">
                          <a:solidFill>
                            <a:srgbClr val="000000"/>
                          </a:solidFill>
                          <a:latin typeface="Nunito Sans"/>
                        </a:rPr>
                        <a:t>YES</a:t>
                      </a:r>
                    </a:p>
                  </a:txBody>
                  <a:tcPr>
                    <a:lnL w="6350">
                      <a:solidFill>
                        <a:schemeClr val="bg1">
                          <a:lumMod val="75000"/>
                        </a:schemeClr>
                      </a:solidFill>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443371065"/>
                  </a:ext>
                </a:extLst>
              </a:tr>
              <a:tr h="843280">
                <a:tc>
                  <a:txBody>
                    <a:bodyPr/>
                    <a:lstStyle/>
                    <a:p>
                      <a:pPr marL="0" lvl="0" indent="0" algn="l">
                        <a:lnSpc>
                          <a:spcPct val="100000"/>
                        </a:lnSpc>
                        <a:spcBef>
                          <a:spcPts val="0"/>
                        </a:spcBef>
                        <a:spcAft>
                          <a:spcPts val="0"/>
                        </a:spcAft>
                        <a:buNone/>
                      </a:pPr>
                      <a:r>
                        <a:rPr lang="en-US" sz="1100" b="1" i="0" u="none" strike="noStrike" kern="1200" noProof="0">
                          <a:solidFill>
                            <a:srgbClr val="00B050"/>
                          </a:solidFill>
                          <a:effectLst/>
                          <a:latin typeface="Nunito Sans"/>
                          <a:ea typeface="+mn-ea"/>
                          <a:cs typeface="+mn-cs"/>
                        </a:rPr>
                        <a:t>AiMeE.Invoke v1.0 - Agentic AI Assisted MCC Process</a:t>
                      </a:r>
                      <a:br>
                        <a:rPr lang="en-US" sz="1100" b="1" i="0" u="none" strike="noStrike" kern="1200" noProof="0">
                          <a:solidFill>
                            <a:srgbClr val="00B050"/>
                          </a:solidFill>
                          <a:effectLst/>
                          <a:latin typeface="Nunito Sans"/>
                          <a:ea typeface="+mn-ea"/>
                          <a:cs typeface="+mn-cs"/>
                        </a:rPr>
                      </a:br>
                      <a:endParaRPr lang="en-US" sz="1100" b="1" i="0" u="none" strike="noStrike" kern="1200" noProof="0">
                        <a:solidFill>
                          <a:srgbClr val="00B050"/>
                        </a:solidFill>
                        <a:effectLst/>
                        <a:latin typeface="Nunito Sans"/>
                        <a:ea typeface="+mn-ea"/>
                        <a:cs typeface="+mn-cs"/>
                      </a:endParaRPr>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marL="228600" lvl="0" indent="-228600" algn="l">
                        <a:lnSpc>
                          <a:spcPct val="100000"/>
                        </a:lnSpc>
                        <a:spcBef>
                          <a:spcPts val="0"/>
                        </a:spcBef>
                        <a:spcAft>
                          <a:spcPts val="0"/>
                        </a:spcAft>
                        <a:buAutoNum type="arabicPeriod"/>
                      </a:pPr>
                      <a:endParaRPr lang="en-US" sz="1100" b="1" i="0" u="none" strike="noStrike" kern="1200" noProof="0">
                        <a:solidFill>
                          <a:srgbClr val="0070C0"/>
                        </a:solidFill>
                        <a:latin typeface="Nunito Sans"/>
                      </a:endParaRPr>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marL="0" lvl="0" indent="0" algn="l">
                        <a:lnSpc>
                          <a:spcPct val="100000"/>
                        </a:lnSpc>
                        <a:spcBef>
                          <a:spcPts val="0"/>
                        </a:spcBef>
                        <a:spcAft>
                          <a:spcPts val="0"/>
                        </a:spcAft>
                        <a:buNone/>
                      </a:pPr>
                      <a:r>
                        <a:rPr lang="en-US" sz="1100" b="0" i="0" u="none" strike="noStrike" noProof="0">
                          <a:solidFill>
                            <a:srgbClr val="000000"/>
                          </a:solidFill>
                          <a:latin typeface="Nunito Sans"/>
                        </a:rPr>
                        <a:t>Develop an intelligent system that reduces manual work and improves decision-making for invoking MELs. Improved compliance and reduction in delays and MEL evaluation time.</a:t>
                      </a:r>
                      <a:endParaRPr lang="en-US"/>
                    </a:p>
                  </a:txBody>
                  <a:tcP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marL="0" lvl="0" indent="0" algn="l">
                        <a:lnSpc>
                          <a:spcPct val="100000"/>
                        </a:lnSpc>
                        <a:spcBef>
                          <a:spcPts val="0"/>
                        </a:spcBef>
                        <a:spcAft>
                          <a:spcPts val="0"/>
                        </a:spcAft>
                        <a:buNone/>
                      </a:pPr>
                      <a:r>
                        <a:rPr lang="en-US" sz="1100" b="1" i="0" u="none" strike="noStrike" noProof="0">
                          <a:solidFill>
                            <a:srgbClr val="00B050"/>
                          </a:solidFill>
                          <a:latin typeface="Nunito Sans"/>
                        </a:rPr>
                        <a:t>15 Sep 2026</a:t>
                      </a:r>
                      <a:endParaRPr lang="en-US"/>
                    </a:p>
                  </a:txBody>
                  <a:tcP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lvl="0" indent="0" algn="l">
                        <a:lnSpc>
                          <a:spcPct val="100000"/>
                        </a:lnSpc>
                        <a:spcBef>
                          <a:spcPts val="0"/>
                        </a:spcBef>
                        <a:spcAft>
                          <a:spcPts val="0"/>
                        </a:spcAft>
                        <a:buNone/>
                      </a:pPr>
                      <a:r>
                        <a:rPr lang="en-US" sz="1100" b="0" i="0" u="none" strike="noStrike" noProof="0">
                          <a:solidFill>
                            <a:srgbClr val="000000"/>
                          </a:solidFill>
                          <a:latin typeface="Nunito Sans"/>
                        </a:rPr>
                        <a:t>YES</a:t>
                      </a:r>
                    </a:p>
                  </a:txBody>
                  <a:tcPr>
                    <a:lnL w="6350">
                      <a:solidFill>
                        <a:schemeClr val="bg1">
                          <a:lumMod val="75000"/>
                        </a:schemeClr>
                      </a:solidFill>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165419060"/>
                  </a:ext>
                </a:extLst>
              </a:tr>
              <a:tr h="955040">
                <a:tc>
                  <a:txBody>
                    <a:bodyPr/>
                    <a:lstStyle/>
                    <a:p>
                      <a:pPr marL="0" lvl="0" indent="0" algn="l">
                        <a:lnSpc>
                          <a:spcPct val="100000"/>
                        </a:lnSpc>
                        <a:spcBef>
                          <a:spcPts val="0"/>
                        </a:spcBef>
                        <a:spcAft>
                          <a:spcPts val="0"/>
                        </a:spcAft>
                        <a:buNone/>
                      </a:pPr>
                      <a:r>
                        <a:rPr lang="en-US" sz="1100" b="1" i="0" u="none" strike="noStrike" kern="1200" noProof="0">
                          <a:solidFill>
                            <a:srgbClr val="00B050"/>
                          </a:solidFill>
                          <a:effectLst/>
                          <a:latin typeface="Nunito Sans"/>
                          <a:ea typeface="+mn-ea"/>
                          <a:cs typeface="+mn-cs"/>
                        </a:rPr>
                        <a:t>Skywise VM EOL Migration</a:t>
                      </a:r>
                      <a:br>
                        <a:rPr lang="en-US" sz="1100" b="1" i="0" u="none" strike="noStrike" kern="1200" noProof="0">
                          <a:solidFill>
                            <a:srgbClr val="00B050"/>
                          </a:solidFill>
                          <a:effectLst/>
                          <a:latin typeface="Nunito Sans"/>
                          <a:ea typeface="+mn-ea"/>
                          <a:cs typeface="+mn-cs"/>
                        </a:rPr>
                      </a:br>
                      <a:endParaRPr lang="en-US" sz="1100" b="1" i="0" u="none" strike="noStrike" kern="1200" noProof="0">
                        <a:solidFill>
                          <a:srgbClr val="00B050"/>
                        </a:solidFill>
                        <a:effectLst/>
                        <a:latin typeface="Nunito Sans"/>
                        <a:ea typeface="+mn-ea"/>
                        <a:cs typeface="+mn-cs"/>
                      </a:endParaRPr>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marL="228600" lvl="0" indent="-228600" algn="l">
                        <a:lnSpc>
                          <a:spcPct val="100000"/>
                        </a:lnSpc>
                        <a:spcBef>
                          <a:spcPts val="0"/>
                        </a:spcBef>
                        <a:spcAft>
                          <a:spcPts val="0"/>
                        </a:spcAft>
                        <a:buAutoNum type="arabicPeriod"/>
                      </a:pPr>
                      <a:endParaRPr lang="en-US" sz="1100" b="1" i="0" u="none" strike="noStrike" kern="1200" noProof="0">
                        <a:solidFill>
                          <a:srgbClr val="0070C0"/>
                        </a:solidFill>
                        <a:latin typeface="Nunito Sans"/>
                      </a:endParaRPr>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marL="0" lvl="0" indent="0" algn="l">
                        <a:lnSpc>
                          <a:spcPct val="100000"/>
                        </a:lnSpc>
                        <a:spcBef>
                          <a:spcPts val="0"/>
                        </a:spcBef>
                        <a:spcAft>
                          <a:spcPts val="0"/>
                        </a:spcAft>
                        <a:buNone/>
                      </a:pPr>
                      <a:r>
                        <a:rPr lang="en-IN" sz="1100" b="0" i="0" u="none" strike="noStrike" noProof="0">
                          <a:solidFill>
                            <a:srgbClr val="000000"/>
                          </a:solidFill>
                          <a:latin typeface="Nunito Sans"/>
                        </a:rPr>
                        <a:t>Migrate the Skywise Agent VMs to a supported Red Hat Enterprise Linux version to maintain a secure and stable production environment.</a:t>
                      </a:r>
                      <a:endParaRPr lang="en-US"/>
                    </a:p>
                  </a:txBody>
                  <a:tcP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marL="0" lvl="0" indent="0" algn="l">
                        <a:lnSpc>
                          <a:spcPct val="100000"/>
                        </a:lnSpc>
                        <a:spcBef>
                          <a:spcPts val="0"/>
                        </a:spcBef>
                        <a:spcAft>
                          <a:spcPts val="0"/>
                        </a:spcAft>
                        <a:buNone/>
                      </a:pPr>
                      <a:r>
                        <a:rPr lang="en-US" sz="1100" b="1" i="0" u="none" strike="noStrike" noProof="0">
                          <a:solidFill>
                            <a:srgbClr val="00B050"/>
                          </a:solidFill>
                          <a:latin typeface="Nunito Sans"/>
                        </a:rPr>
                        <a:t>10 Sep 2026</a:t>
                      </a:r>
                      <a:endParaRPr lang="en-US"/>
                    </a:p>
                  </a:txBody>
                  <a:tcP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lvl="0" indent="0" algn="l">
                        <a:lnSpc>
                          <a:spcPct val="100000"/>
                        </a:lnSpc>
                        <a:spcBef>
                          <a:spcPts val="0"/>
                        </a:spcBef>
                        <a:spcAft>
                          <a:spcPts val="0"/>
                        </a:spcAft>
                        <a:buNone/>
                      </a:pPr>
                      <a:r>
                        <a:rPr lang="en-US" sz="1100" b="0" i="0" u="none" strike="noStrike" noProof="0">
                          <a:solidFill>
                            <a:srgbClr val="000000"/>
                          </a:solidFill>
                          <a:latin typeface="Nunito Sans"/>
                        </a:rPr>
                        <a:t>NO</a:t>
                      </a:r>
                      <a:endParaRPr lang="en-US"/>
                    </a:p>
                  </a:txBody>
                  <a:tcPr>
                    <a:lnL w="6350">
                      <a:solidFill>
                        <a:schemeClr val="bg1">
                          <a:lumMod val="75000"/>
                        </a:schemeClr>
                      </a:solidFill>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912065209"/>
                  </a:ext>
                </a:extLst>
              </a:tr>
              <a:tr h="1076960">
                <a:tc>
                  <a:txBody>
                    <a:bodyPr/>
                    <a:lstStyle/>
                    <a:p>
                      <a:pPr marL="0" lvl="0" indent="0" algn="l">
                        <a:lnSpc>
                          <a:spcPct val="100000"/>
                        </a:lnSpc>
                        <a:spcBef>
                          <a:spcPts val="0"/>
                        </a:spcBef>
                        <a:spcAft>
                          <a:spcPts val="0"/>
                        </a:spcAft>
                        <a:buNone/>
                      </a:pPr>
                      <a:r>
                        <a:rPr lang="en-US" sz="1100" b="1" i="0" u="none" strike="noStrike" kern="1200" noProof="0">
                          <a:solidFill>
                            <a:srgbClr val="00B050"/>
                          </a:solidFill>
                          <a:effectLst/>
                          <a:latin typeface="Nunito Sans"/>
                          <a:ea typeface="+mn-ea"/>
                          <a:cs typeface="+mn-cs"/>
                        </a:rPr>
                        <a:t>Inventory Management System - AMOS Integration - Phase 2</a:t>
                      </a:r>
                      <a:br>
                        <a:rPr lang="en-US" sz="1100" b="1" i="0" u="none" strike="noStrike" kern="1200" noProof="0">
                          <a:solidFill>
                            <a:srgbClr val="00B050"/>
                          </a:solidFill>
                          <a:effectLst/>
                          <a:latin typeface="Nunito Sans"/>
                          <a:ea typeface="+mn-ea"/>
                          <a:cs typeface="+mn-cs"/>
                        </a:rPr>
                      </a:br>
                      <a:endParaRPr lang="en-US" sz="1100" b="1" i="0" u="none" strike="noStrike" kern="1200" noProof="0">
                        <a:solidFill>
                          <a:srgbClr val="00B050"/>
                        </a:solidFill>
                        <a:effectLst/>
                        <a:latin typeface="Nunito Sans"/>
                        <a:ea typeface="+mn-ea"/>
                        <a:cs typeface="+mn-cs"/>
                      </a:endParaRPr>
                    </a:p>
                  </a:txBody>
                  <a:tcP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228600" lvl="0" indent="-228600" algn="l">
                        <a:lnSpc>
                          <a:spcPct val="100000"/>
                        </a:lnSpc>
                        <a:spcBef>
                          <a:spcPts val="0"/>
                        </a:spcBef>
                        <a:spcAft>
                          <a:spcPts val="0"/>
                        </a:spcAft>
                        <a:buAutoNum type="arabicPeriod"/>
                      </a:pPr>
                      <a:endParaRPr lang="en-US" sz="1100" b="1" i="0" u="none" strike="noStrike" kern="1200" noProof="0">
                        <a:solidFill>
                          <a:srgbClr val="0070C0"/>
                        </a:solidFill>
                        <a:latin typeface="Nunito Sans"/>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lvl="0" indent="0" algn="l">
                        <a:lnSpc>
                          <a:spcPct val="100000"/>
                        </a:lnSpc>
                        <a:spcBef>
                          <a:spcPts val="0"/>
                        </a:spcBef>
                        <a:spcAft>
                          <a:spcPts val="0"/>
                        </a:spcAft>
                        <a:buNone/>
                      </a:pPr>
                      <a:r>
                        <a:rPr lang="en-US" sz="1100" b="0" i="0" u="none" strike="noStrike" noProof="0">
                          <a:solidFill>
                            <a:schemeClr val="dk1"/>
                          </a:solidFill>
                          <a:latin typeface="Nunito Sans"/>
                        </a:rPr>
                        <a:t>Inventory Management Dashboard to provide centralized visibility of engineering materials and spare parts for improved tracking, monitoring, and inventory control.</a:t>
                      </a:r>
                      <a:endParaRPr lang="en-US"/>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lvl="0" indent="0" algn="l">
                        <a:lnSpc>
                          <a:spcPct val="100000"/>
                        </a:lnSpc>
                        <a:spcBef>
                          <a:spcPts val="0"/>
                        </a:spcBef>
                        <a:spcAft>
                          <a:spcPts val="0"/>
                        </a:spcAft>
                        <a:buNone/>
                      </a:pPr>
                      <a:r>
                        <a:rPr lang="en-US" sz="1100" b="1" i="0" u="none" strike="noStrike" noProof="0">
                          <a:solidFill>
                            <a:srgbClr val="00B050"/>
                          </a:solidFill>
                          <a:latin typeface="Nunito Sans"/>
                        </a:rPr>
                        <a:t>16 Sep 2026 </a:t>
                      </a:r>
                      <a:endParaRPr lang="en-US"/>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lvl="0" indent="0" algn="l">
                        <a:lnSpc>
                          <a:spcPct val="100000"/>
                        </a:lnSpc>
                        <a:spcBef>
                          <a:spcPts val="0"/>
                        </a:spcBef>
                        <a:spcAft>
                          <a:spcPts val="0"/>
                        </a:spcAft>
                        <a:buNone/>
                      </a:pPr>
                      <a:r>
                        <a:rPr lang="en-US" sz="1100" b="0" i="0" u="none" strike="noStrike" noProof="0">
                          <a:solidFill>
                            <a:srgbClr val="000000"/>
                          </a:solidFill>
                          <a:latin typeface="Nunito Sans"/>
                        </a:rPr>
                        <a:t>NO</a:t>
                      </a:r>
                      <a:endParaRPr lang="en-US"/>
                    </a:p>
                  </a:txBody>
                  <a:tcPr>
                    <a:lnL w="6350" cap="flat" cmpd="sng" algn="ctr">
                      <a:solidFill>
                        <a:schemeClr val="bg1">
                          <a:lumMod val="75000"/>
                        </a:schemeClr>
                      </a:solidFill>
                      <a:prstDash val="solid"/>
                      <a:round/>
                      <a:headEnd type="none" w="med" len="med"/>
                      <a:tailEnd type="none" w="med" len="med"/>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635177473"/>
                  </a:ext>
                </a:extLst>
              </a:tr>
            </a:tbl>
          </a:graphicData>
        </a:graphic>
      </p:graphicFrame>
      <p:sp>
        <p:nvSpPr>
          <p:cNvPr id="4" name="Rectangle 3">
            <a:extLst>
              <a:ext uri="{FF2B5EF4-FFF2-40B4-BE49-F238E27FC236}">
                <a16:creationId xmlns:a16="http://schemas.microsoft.com/office/drawing/2014/main" id="{2A1F301E-22B0-3E6A-0E69-8B41BD33B93F}"/>
              </a:ext>
            </a:extLst>
          </p:cNvPr>
          <p:cNvSpPr/>
          <p:nvPr/>
        </p:nvSpPr>
        <p:spPr>
          <a:xfrm>
            <a:off x="1188132" y="6671592"/>
            <a:ext cx="90000" cy="90000"/>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5" name="Rectangle 4">
            <a:extLst>
              <a:ext uri="{FF2B5EF4-FFF2-40B4-BE49-F238E27FC236}">
                <a16:creationId xmlns:a16="http://schemas.microsoft.com/office/drawing/2014/main" id="{97D74D71-A929-E920-865E-882093CBE9AF}"/>
              </a:ext>
            </a:extLst>
          </p:cNvPr>
          <p:cNvSpPr/>
          <p:nvPr/>
        </p:nvSpPr>
        <p:spPr>
          <a:xfrm>
            <a:off x="2265818" y="6670554"/>
            <a:ext cx="90000" cy="90000"/>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7" name="Rectangle 6">
            <a:extLst>
              <a:ext uri="{FF2B5EF4-FFF2-40B4-BE49-F238E27FC236}">
                <a16:creationId xmlns:a16="http://schemas.microsoft.com/office/drawing/2014/main" id="{9EBA1C5A-21DB-0AA9-1A7A-D1EE56B1A909}"/>
              </a:ext>
            </a:extLst>
          </p:cNvPr>
          <p:cNvSpPr/>
          <p:nvPr/>
        </p:nvSpPr>
        <p:spPr>
          <a:xfrm>
            <a:off x="3443423" y="6671592"/>
            <a:ext cx="90000" cy="90000"/>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8" name="Rectangle 7">
            <a:extLst>
              <a:ext uri="{FF2B5EF4-FFF2-40B4-BE49-F238E27FC236}">
                <a16:creationId xmlns:a16="http://schemas.microsoft.com/office/drawing/2014/main" id="{5852FB49-F789-5C38-5ED8-4A07C44CCD73}"/>
              </a:ext>
            </a:extLst>
          </p:cNvPr>
          <p:cNvSpPr/>
          <p:nvPr/>
        </p:nvSpPr>
        <p:spPr>
          <a:xfrm>
            <a:off x="8146052" y="6714097"/>
            <a:ext cx="90000" cy="90000"/>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9" name="TextBox 15">
            <a:extLst>
              <a:ext uri="{FF2B5EF4-FFF2-40B4-BE49-F238E27FC236}">
                <a16:creationId xmlns:a16="http://schemas.microsoft.com/office/drawing/2014/main" id="{6A10082E-0604-B408-0728-E88DF1C9BF06}"/>
              </a:ext>
            </a:extLst>
          </p:cNvPr>
          <p:cNvSpPr txBox="1"/>
          <p:nvPr/>
        </p:nvSpPr>
        <p:spPr>
          <a:xfrm>
            <a:off x="1288983" y="6614743"/>
            <a:ext cx="857245"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0070C0"/>
                </a:solidFill>
                <a:effectLst/>
                <a:uLnTx/>
                <a:uFillTx/>
                <a:latin typeface="Nunito Sans"/>
                <a:ea typeface="+mn-ea"/>
                <a:cs typeface="+mn-cs"/>
              </a:rPr>
              <a:t>Delivered</a:t>
            </a:r>
            <a:endParaRPr kumimoji="0" lang="en-IN" sz="1000" b="0" i="0" u="none" strike="noStrike" kern="1200" cap="none" spc="0" normalizeH="0" baseline="0" noProof="0">
              <a:ln>
                <a:noFill/>
              </a:ln>
              <a:solidFill>
                <a:srgbClr val="000000"/>
              </a:solidFill>
              <a:effectLst/>
              <a:uLnTx/>
              <a:uFillTx/>
              <a:latin typeface="Nunito Sans"/>
              <a:ea typeface="+mn-ea"/>
              <a:cs typeface="+mn-cs"/>
            </a:endParaRPr>
          </a:p>
        </p:txBody>
      </p:sp>
      <p:sp>
        <p:nvSpPr>
          <p:cNvPr id="10" name="TextBox 18">
            <a:extLst>
              <a:ext uri="{FF2B5EF4-FFF2-40B4-BE49-F238E27FC236}">
                <a16:creationId xmlns:a16="http://schemas.microsoft.com/office/drawing/2014/main" id="{374B2C2A-F889-AA3A-725B-89C85D85B42D}"/>
              </a:ext>
            </a:extLst>
          </p:cNvPr>
          <p:cNvSpPr txBox="1"/>
          <p:nvPr/>
        </p:nvSpPr>
        <p:spPr>
          <a:xfrm>
            <a:off x="2310642" y="6611102"/>
            <a:ext cx="1032881"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00B050"/>
                </a:solidFill>
                <a:effectLst/>
                <a:uLnTx/>
                <a:uFillTx/>
                <a:latin typeface="Nunito Sans"/>
                <a:ea typeface="+mn-ea"/>
                <a:cs typeface="+mn-cs"/>
              </a:rPr>
              <a:t>Ontrack</a:t>
            </a:r>
            <a:endParaRPr kumimoji="0" lang="en-IN" sz="1000" b="0" i="0" u="none" strike="noStrike" kern="1200" cap="none" spc="0" normalizeH="0" baseline="0" noProof="0">
              <a:ln>
                <a:noFill/>
              </a:ln>
              <a:solidFill>
                <a:srgbClr val="000000"/>
              </a:solidFill>
              <a:effectLst/>
              <a:uLnTx/>
              <a:uFillTx/>
              <a:latin typeface="Nunito Sans"/>
              <a:ea typeface="+mn-ea"/>
              <a:cs typeface="+mn-cs"/>
            </a:endParaRPr>
          </a:p>
        </p:txBody>
      </p:sp>
      <p:sp>
        <p:nvSpPr>
          <p:cNvPr id="11" name="TextBox 20">
            <a:extLst>
              <a:ext uri="{FF2B5EF4-FFF2-40B4-BE49-F238E27FC236}">
                <a16:creationId xmlns:a16="http://schemas.microsoft.com/office/drawing/2014/main" id="{5D2B2A91-18E7-DEB3-B48A-57C54B10B15F}"/>
              </a:ext>
            </a:extLst>
          </p:cNvPr>
          <p:cNvSpPr txBox="1"/>
          <p:nvPr/>
        </p:nvSpPr>
        <p:spPr>
          <a:xfrm>
            <a:off x="3539606" y="6608370"/>
            <a:ext cx="2257628"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FED9A0">
                    <a:lumMod val="75000"/>
                  </a:srgbClr>
                </a:solidFill>
                <a:effectLst/>
                <a:uLnTx/>
                <a:uFillTx/>
                <a:latin typeface="Nunito Sans"/>
                <a:ea typeface="+mn-ea"/>
                <a:cs typeface="+mn-cs"/>
              </a:rPr>
              <a:t>Under delay and can be recovered</a:t>
            </a:r>
            <a:endParaRPr kumimoji="0" lang="en-IN" sz="1000" b="0" i="0" u="none" strike="noStrike" kern="1200" cap="none" spc="0" normalizeH="0" baseline="0" noProof="0">
              <a:ln>
                <a:noFill/>
              </a:ln>
              <a:solidFill>
                <a:srgbClr val="000000"/>
              </a:solidFill>
              <a:effectLst/>
              <a:uLnTx/>
              <a:uFillTx/>
              <a:latin typeface="Nunito Sans"/>
              <a:ea typeface="+mn-ea"/>
              <a:cs typeface="+mn-cs"/>
            </a:endParaRPr>
          </a:p>
        </p:txBody>
      </p:sp>
      <p:sp>
        <p:nvSpPr>
          <p:cNvPr id="13" name="TextBox 22">
            <a:extLst>
              <a:ext uri="{FF2B5EF4-FFF2-40B4-BE49-F238E27FC236}">
                <a16:creationId xmlns:a16="http://schemas.microsoft.com/office/drawing/2014/main" id="{A85E5BF9-D170-F7B0-2481-748470F6350D}"/>
              </a:ext>
            </a:extLst>
          </p:cNvPr>
          <p:cNvSpPr txBox="1"/>
          <p:nvPr/>
        </p:nvSpPr>
        <p:spPr>
          <a:xfrm>
            <a:off x="8246937" y="6618126"/>
            <a:ext cx="2338222"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FF0000"/>
                </a:solidFill>
                <a:effectLst/>
                <a:uLnTx/>
                <a:uFillTx/>
                <a:latin typeface="Nunito Sans"/>
                <a:ea typeface="+mn-ea"/>
                <a:cs typeface="+mn-cs"/>
              </a:rPr>
              <a:t>Delayed and pushed to next release</a:t>
            </a:r>
          </a:p>
        </p:txBody>
      </p:sp>
      <p:sp>
        <p:nvSpPr>
          <p:cNvPr id="15" name="TextBox 14">
            <a:extLst>
              <a:ext uri="{FF2B5EF4-FFF2-40B4-BE49-F238E27FC236}">
                <a16:creationId xmlns:a16="http://schemas.microsoft.com/office/drawing/2014/main" id="{8C7F4B3A-C994-4751-7FF0-04E40281ACEE}"/>
              </a:ext>
            </a:extLst>
          </p:cNvPr>
          <p:cNvSpPr txBox="1"/>
          <p:nvPr/>
        </p:nvSpPr>
        <p:spPr>
          <a:xfrm>
            <a:off x="6454369" y="6611638"/>
            <a:ext cx="2743200"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IN" sz="1000">
                <a:solidFill>
                  <a:srgbClr val="7D7D7D"/>
                </a:solidFill>
              </a:rPr>
              <a:t>Descoped</a:t>
            </a:r>
            <a:endParaRPr lang="en-US"/>
          </a:p>
        </p:txBody>
      </p:sp>
      <p:sp>
        <p:nvSpPr>
          <p:cNvPr id="16" name="Rectangle 15">
            <a:extLst>
              <a:ext uri="{FF2B5EF4-FFF2-40B4-BE49-F238E27FC236}">
                <a16:creationId xmlns:a16="http://schemas.microsoft.com/office/drawing/2014/main" id="{280DFB1A-F798-27D9-0D5C-3C11F9D5291A}"/>
              </a:ext>
            </a:extLst>
          </p:cNvPr>
          <p:cNvSpPr/>
          <p:nvPr/>
        </p:nvSpPr>
        <p:spPr>
          <a:xfrm>
            <a:off x="6360794" y="6681439"/>
            <a:ext cx="90000" cy="90000"/>
          </a:xfrm>
          <a:prstGeom prst="rect">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Tree>
    <p:extLst>
      <p:ext uri="{BB962C8B-B14F-4D97-AF65-F5344CB8AC3E}">
        <p14:creationId xmlns:p14="http://schemas.microsoft.com/office/powerpoint/2010/main" val="34973452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D535AB-28D9-AF6C-DD38-E902B904C1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F1DC2F-5683-6201-2F83-6EF1CE79710D}"/>
              </a:ext>
            </a:extLst>
          </p:cNvPr>
          <p:cNvSpPr>
            <a:spLocks noGrp="1"/>
          </p:cNvSpPr>
          <p:nvPr>
            <p:ph type="title"/>
          </p:nvPr>
        </p:nvSpPr>
        <p:spPr>
          <a:xfrm>
            <a:off x="1919417" y="920381"/>
            <a:ext cx="10176225" cy="895041"/>
          </a:xfrm>
        </p:spPr>
        <p:txBody>
          <a:bodyPr/>
          <a:lstStyle/>
          <a:p>
            <a:r>
              <a:rPr lang="en-US" sz="3600">
                <a:latin typeface="AirIndia"/>
              </a:rPr>
              <a:t>CRM/CX – FY26-27/Q1</a:t>
            </a:r>
            <a:endParaRPr lang="en-IN" sz="3600">
              <a:latin typeface="AirIndia"/>
            </a:endParaRPr>
          </a:p>
        </p:txBody>
      </p:sp>
    </p:spTree>
    <p:extLst>
      <p:ext uri="{BB962C8B-B14F-4D97-AF65-F5344CB8AC3E}">
        <p14:creationId xmlns:p14="http://schemas.microsoft.com/office/powerpoint/2010/main" val="175680606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CBCDCC-876E-C13F-14C9-C12EFE278CD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F5A4A98-6F64-E405-8196-49356FCEEEDE}"/>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3A41A254-7326-714E-AF55-4C213D6394DE}" type="slidenum">
              <a:rPr kumimoji="0" lang="en-US" sz="1200" b="0" i="0" u="none" strike="noStrike" kern="1200" cap="none" spc="0" normalizeH="0" baseline="0" noProof="0" smtClean="0">
                <a:ln>
                  <a:noFill/>
                </a:ln>
                <a:solidFill>
                  <a:srgbClr val="DA0E28"/>
                </a:solidFill>
                <a:effectLst/>
                <a:uLnTx/>
                <a:uFillTx/>
                <a:latin typeface="Nunito Sans"/>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36</a:t>
            </a:fld>
            <a:endParaRPr kumimoji="0" lang="en-US" sz="1200" b="0" i="0" u="none" strike="noStrike" kern="1200" cap="none" spc="0" normalizeH="0" baseline="0" noProof="0">
              <a:ln>
                <a:noFill/>
              </a:ln>
              <a:solidFill>
                <a:srgbClr val="DA0E28"/>
              </a:solidFill>
              <a:effectLst/>
              <a:uLnTx/>
              <a:uFillTx/>
              <a:latin typeface="Nunito Sans"/>
              <a:ea typeface="+mn-ea"/>
              <a:cs typeface="+mn-cs"/>
            </a:endParaRPr>
          </a:p>
        </p:txBody>
      </p:sp>
      <p:sp>
        <p:nvSpPr>
          <p:cNvPr id="3" name="Rectangle 2">
            <a:extLst>
              <a:ext uri="{FF2B5EF4-FFF2-40B4-BE49-F238E27FC236}">
                <a16:creationId xmlns:a16="http://schemas.microsoft.com/office/drawing/2014/main" id="{0C409F39-7B4D-C778-0E0F-56E05BF593C8}"/>
              </a:ext>
            </a:extLst>
          </p:cNvPr>
          <p:cNvSpPr/>
          <p:nvPr/>
        </p:nvSpPr>
        <p:spPr>
          <a:xfrm>
            <a:off x="237934" y="610471"/>
            <a:ext cx="1170432" cy="42234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400" b="1" i="0" u="none" strike="noStrike" kern="1200" cap="none" spc="0" normalizeH="0" baseline="0" noProof="0">
                <a:ln>
                  <a:noFill/>
                </a:ln>
                <a:solidFill>
                  <a:srgbClr val="FFFFFF"/>
                </a:solidFill>
                <a:effectLst/>
                <a:uLnTx/>
                <a:uFillTx/>
                <a:latin typeface="AirIndia"/>
                <a:ea typeface="+mn-ea"/>
                <a:cs typeface="+mn-cs"/>
              </a:rPr>
              <a:t>April ‘</a:t>
            </a:r>
            <a:r>
              <a:rPr lang="en-IN" sz="1400" b="1">
                <a:solidFill>
                  <a:srgbClr val="FFFFFF"/>
                </a:solidFill>
                <a:latin typeface="AirIndia"/>
              </a:rPr>
              <a:t>26</a:t>
            </a:r>
            <a:endParaRPr kumimoji="0" lang="en-US" sz="1400" b="1" i="0" u="none" strike="noStrike" kern="1200" cap="none" spc="0" normalizeH="0" baseline="0" noProof="0">
              <a:ln>
                <a:noFill/>
              </a:ln>
              <a:solidFill>
                <a:srgbClr val="FFFFFF"/>
              </a:solidFill>
              <a:effectLst/>
              <a:uLnTx/>
              <a:uFillTx/>
              <a:latin typeface="AirIndia"/>
              <a:ea typeface="+mn-ea"/>
              <a:cs typeface="+mn-cs"/>
            </a:endParaRPr>
          </a:p>
        </p:txBody>
      </p:sp>
      <p:sp>
        <p:nvSpPr>
          <p:cNvPr id="6" name="Title 11">
            <a:extLst>
              <a:ext uri="{FF2B5EF4-FFF2-40B4-BE49-F238E27FC236}">
                <a16:creationId xmlns:a16="http://schemas.microsoft.com/office/drawing/2014/main" id="{5927E60E-6403-CFF8-08C7-14C21F39308C}"/>
              </a:ext>
            </a:extLst>
          </p:cNvPr>
          <p:cNvSpPr txBox="1">
            <a:spLocks/>
          </p:cNvSpPr>
          <p:nvPr/>
        </p:nvSpPr>
        <p:spPr>
          <a:xfrm>
            <a:off x="242857" y="182023"/>
            <a:ext cx="7691717" cy="430255"/>
          </a:xfrm>
          <a:prstGeom prst="rect">
            <a:avLst/>
          </a:prstGeom>
        </p:spPr>
        <p:txBody>
          <a:bodyPr lIns="91440" tIns="45720" rIns="91440" bIns="45720" anchor="t">
            <a:noAutofit/>
          </a:bodyPr>
          <a:lstStyle>
            <a:lvl1pPr algn="l" defTabSz="914400" rtl="0" eaLnBrk="1" latinLnBrk="0" hangingPunct="1">
              <a:lnSpc>
                <a:spcPct val="90000"/>
              </a:lnSpc>
              <a:spcBef>
                <a:spcPct val="0"/>
              </a:spcBef>
              <a:buNone/>
              <a:defRPr sz="4400" b="1" i="0" kern="1200">
                <a:solidFill>
                  <a:schemeClr val="tx1"/>
                </a:solidFill>
                <a:latin typeface="AirIndia" pitchFamily="82" charset="77"/>
                <a:ea typeface="+mj-ea"/>
                <a:cs typeface="+mj-cs"/>
              </a:defRPr>
            </a:lvl1pPr>
          </a:lstStyle>
          <a:p>
            <a:pPr>
              <a:defRPr/>
            </a:pPr>
            <a:r>
              <a:rPr lang="en-US" sz="1800">
                <a:solidFill>
                  <a:srgbClr val="DA0E28"/>
                </a:solidFill>
                <a:latin typeface="AirIndia"/>
              </a:rPr>
              <a:t>CRM/CX </a:t>
            </a:r>
            <a:r>
              <a:rPr kumimoji="0" lang="en-US" sz="1800" b="1" i="0" u="none" strike="noStrike" kern="1200" cap="none" spc="0" normalizeH="0" baseline="0" noProof="0">
                <a:ln>
                  <a:noFill/>
                </a:ln>
                <a:solidFill>
                  <a:srgbClr val="DA0E28"/>
                </a:solidFill>
                <a:effectLst/>
                <a:uLnTx/>
                <a:uFillTx/>
                <a:latin typeface="AirIndia"/>
                <a:ea typeface="+mj-ea"/>
                <a:cs typeface="+mj-cs"/>
              </a:rPr>
              <a:t>- </a:t>
            </a:r>
            <a:r>
              <a:rPr lang="en-US" sz="1800">
                <a:solidFill>
                  <a:srgbClr val="DA0E28"/>
                </a:solidFill>
                <a:latin typeface="AirIndia"/>
              </a:rPr>
              <a:t>FY27</a:t>
            </a:r>
            <a:r>
              <a:rPr kumimoji="0" lang="en-US" sz="1800" b="1" i="0" u="none" strike="noStrike" kern="1200" cap="none" spc="0" normalizeH="0" baseline="0" noProof="0">
                <a:ln>
                  <a:noFill/>
                </a:ln>
                <a:solidFill>
                  <a:srgbClr val="DA0E28"/>
                </a:solidFill>
                <a:effectLst/>
                <a:uLnTx/>
                <a:uFillTx/>
                <a:latin typeface="AirIndia"/>
                <a:ea typeface="+mj-ea"/>
                <a:cs typeface="+mj-cs"/>
              </a:rPr>
              <a:t> Q1  Release Plan</a:t>
            </a:r>
            <a:endParaRPr lang="en-US" sz="1800" b="0" i="0" u="none" strike="noStrike" kern="1200" cap="none" spc="0" normalizeH="0" baseline="0" noProof="0">
              <a:ln>
                <a:noFill/>
              </a:ln>
              <a:solidFill>
                <a:srgbClr val="DA0E28"/>
              </a:solidFill>
              <a:effectLst/>
              <a:uLnTx/>
              <a:uFillTx/>
              <a:latin typeface="AirIndia"/>
            </a:endParaRPr>
          </a:p>
        </p:txBody>
      </p:sp>
      <p:graphicFrame>
        <p:nvGraphicFramePr>
          <p:cNvPr id="12" name="Table 11">
            <a:extLst>
              <a:ext uri="{FF2B5EF4-FFF2-40B4-BE49-F238E27FC236}">
                <a16:creationId xmlns:a16="http://schemas.microsoft.com/office/drawing/2014/main" id="{11F1CC4C-525D-D1C1-1007-BCB62D4C004B}"/>
              </a:ext>
            </a:extLst>
          </p:cNvPr>
          <p:cNvGraphicFramePr>
            <a:graphicFrameLocks noGrp="1"/>
          </p:cNvGraphicFramePr>
          <p:nvPr>
            <p:extLst>
              <p:ext uri="{D42A27DB-BD31-4B8C-83A1-F6EECF244321}">
                <p14:modId xmlns:p14="http://schemas.microsoft.com/office/powerpoint/2010/main" val="1538180538"/>
              </p:ext>
            </p:extLst>
          </p:nvPr>
        </p:nvGraphicFramePr>
        <p:xfrm>
          <a:off x="1251008" y="588627"/>
          <a:ext cx="10685697" cy="5479244"/>
        </p:xfrm>
        <a:graphic>
          <a:graphicData uri="http://schemas.openxmlformats.org/drawingml/2006/table">
            <a:tbl>
              <a:tblPr firstRow="1" bandRow="1">
                <a:tableStyleId>{5C22544A-7EE6-4342-B048-85BDC9FD1C3A}</a:tableStyleId>
              </a:tblPr>
              <a:tblGrid>
                <a:gridCol w="2919490">
                  <a:extLst>
                    <a:ext uri="{9D8B030D-6E8A-4147-A177-3AD203B41FA5}">
                      <a16:colId xmlns:a16="http://schemas.microsoft.com/office/drawing/2014/main" val="2822350773"/>
                    </a:ext>
                  </a:extLst>
                </a:gridCol>
                <a:gridCol w="2867891">
                  <a:extLst>
                    <a:ext uri="{9D8B030D-6E8A-4147-A177-3AD203B41FA5}">
                      <a16:colId xmlns:a16="http://schemas.microsoft.com/office/drawing/2014/main" val="2318469327"/>
                    </a:ext>
                  </a:extLst>
                </a:gridCol>
                <a:gridCol w="4898316">
                  <a:extLst>
                    <a:ext uri="{9D8B030D-6E8A-4147-A177-3AD203B41FA5}">
                      <a16:colId xmlns:a16="http://schemas.microsoft.com/office/drawing/2014/main" val="99588705"/>
                    </a:ext>
                  </a:extLst>
                </a:gridCol>
              </a:tblGrid>
              <a:tr h="530670">
                <a:tc>
                  <a:txBody>
                    <a:bodyPr/>
                    <a:lstStyle/>
                    <a:p>
                      <a:pPr marL="0" lvl="0" indent="0" algn="ctr" defTabSz="914400" rtl="0" eaLnBrk="1" latinLnBrk="0" hangingPunct="1">
                        <a:lnSpc>
                          <a:spcPct val="100000"/>
                        </a:lnSpc>
                        <a:buFont typeface="Arial" panose="020B0604020202020204" pitchFamily="34" charset="0"/>
                        <a:buNone/>
                      </a:pPr>
                      <a:r>
                        <a:rPr lang="en-IN" sz="1100" b="1" kern="1200">
                          <a:solidFill>
                            <a:schemeClr val="tx1"/>
                          </a:solidFill>
                          <a:latin typeface="+mn-lt"/>
                          <a:ea typeface="+mn-ea"/>
                          <a:cs typeface="+mn-cs"/>
                        </a:rPr>
                        <a:t>Initiatives</a:t>
                      </a:r>
                      <a:endParaRPr lang="en-US" sz="1100" b="1" kern="1200">
                        <a:solidFill>
                          <a:schemeClr val="tx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tc>
                  <a:txBody>
                    <a:bodyPr/>
                    <a:lstStyle/>
                    <a:p>
                      <a:pPr marL="0" lvl="0" indent="0" algn="ctr" defTabSz="914400">
                        <a:lnSpc>
                          <a:spcPct val="100000"/>
                        </a:lnSpc>
                        <a:buNone/>
                      </a:pPr>
                      <a:r>
                        <a:rPr lang="en-IN" sz="1100" b="1" i="0" u="none" strike="noStrike" kern="1200" noProof="0">
                          <a:solidFill>
                            <a:schemeClr val="bg1"/>
                          </a:solidFill>
                          <a:latin typeface="Nunito Sans"/>
                          <a:ea typeface="+mn-ea"/>
                          <a:cs typeface="+mn-cs"/>
                        </a:rPr>
                        <a:t>Programs/Projects</a:t>
                      </a:r>
                      <a:endParaRPr lang="en-US"/>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solidFill>
                      <a:schemeClr val="accent3">
                        <a:lumMod val="90000"/>
                        <a:lumOff val="10000"/>
                      </a:schemeClr>
                    </a:solidFill>
                  </a:tcPr>
                </a:tc>
                <a:tc>
                  <a:txBody>
                    <a:bodyPr/>
                    <a:lstStyle/>
                    <a:p>
                      <a:pPr marL="0" lvl="0" indent="0" algn="ctr">
                        <a:lnSpc>
                          <a:spcPct val="100000"/>
                        </a:lnSpc>
                        <a:buNone/>
                      </a:pPr>
                      <a:endParaRPr lang="en-IN" sz="1100" b="1" i="0" u="none" strike="noStrike" kern="1200" baseline="0" noProof="0">
                        <a:solidFill>
                          <a:srgbClr val="FFFFFF"/>
                        </a:solidFill>
                        <a:latin typeface="Nunito Sans"/>
                      </a:endParaRPr>
                    </a:p>
                    <a:p>
                      <a:pPr marL="0" lvl="0" indent="0" algn="ctr">
                        <a:lnSpc>
                          <a:spcPct val="100000"/>
                        </a:lnSpc>
                        <a:buNone/>
                      </a:pPr>
                      <a:r>
                        <a:rPr lang="en-IN" sz="1100" b="1" i="0" u="none" strike="noStrike" kern="1200" baseline="0" noProof="0">
                          <a:solidFill>
                            <a:srgbClr val="FFFFFF"/>
                          </a:solidFill>
                          <a:latin typeface="Nunito Sans"/>
                        </a:rPr>
                        <a:t>Value Justification/Realization</a:t>
                      </a:r>
                    </a:p>
                    <a:p>
                      <a:pPr marL="0" lvl="0" indent="0" algn="ctr" defTabSz="914400">
                        <a:buFont typeface="Arial" panose="020B0604020202020204" pitchFamily="34" charset="0"/>
                        <a:buNone/>
                      </a:pPr>
                      <a:endParaRPr lang="en-IN" sz="1100"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extLst>
                  <a:ext uri="{0D108BD9-81ED-4DB2-BD59-A6C34878D82A}">
                    <a16:rowId xmlns:a16="http://schemas.microsoft.com/office/drawing/2014/main" val="844450115"/>
                  </a:ext>
                </a:extLst>
              </a:tr>
              <a:tr h="4884884">
                <a:tc>
                  <a:txBody>
                    <a:bodyPr/>
                    <a:lstStyle/>
                    <a:p>
                      <a:pPr marL="228600" lvl="0" indent="-228600" algn="l">
                        <a:lnSpc>
                          <a:spcPct val="100000"/>
                        </a:lnSpc>
                        <a:spcBef>
                          <a:spcPts val="0"/>
                        </a:spcBef>
                        <a:spcAft>
                          <a:spcPts val="0"/>
                        </a:spcAft>
                        <a:buAutoNum type="arabicPeriod"/>
                      </a:pPr>
                      <a:r>
                        <a:rPr lang="en-US" sz="1100" b="1" i="0" u="none" strike="noStrike" kern="1200" noProof="0">
                          <a:solidFill>
                            <a:srgbClr val="00B050"/>
                          </a:solidFill>
                          <a:latin typeface="Nunito Sans"/>
                        </a:rPr>
                        <a:t>Name change Phase-2 – Direct Non Chargeable flow. - 21 April 2026</a:t>
                      </a:r>
                    </a:p>
                    <a:p>
                      <a:pPr marL="228600" lvl="0" indent="-228600" algn="l">
                        <a:lnSpc>
                          <a:spcPct val="100000"/>
                        </a:lnSpc>
                        <a:spcBef>
                          <a:spcPts val="0"/>
                        </a:spcBef>
                        <a:spcAft>
                          <a:spcPts val="0"/>
                        </a:spcAft>
                        <a:buAutoNum type="arabicPeriod"/>
                      </a:pPr>
                      <a:endParaRPr lang="en-US" sz="1100" b="1" i="0" u="none" strike="noStrike" kern="1200" noProof="0">
                        <a:solidFill>
                          <a:srgbClr val="00B050"/>
                        </a:solidFill>
                        <a:latin typeface="Nunito Sans"/>
                      </a:endParaRPr>
                    </a:p>
                    <a:p>
                      <a:pPr marL="228600" lvl="0" indent="-228600" algn="l">
                        <a:lnSpc>
                          <a:spcPct val="100000"/>
                        </a:lnSpc>
                        <a:spcBef>
                          <a:spcPts val="0"/>
                        </a:spcBef>
                        <a:spcAft>
                          <a:spcPts val="0"/>
                        </a:spcAft>
                        <a:buAutoNum type="arabicPeriod"/>
                      </a:pPr>
                      <a:endParaRPr lang="en-US" sz="1100" b="1" i="0" u="none" strike="noStrike" kern="1200" noProof="0">
                        <a:solidFill>
                          <a:srgbClr val="00B050"/>
                        </a:solidFill>
                        <a:latin typeface="Nunito Sans"/>
                      </a:endParaRPr>
                    </a:p>
                    <a:p>
                      <a:pPr marL="228600" lvl="0" indent="-228600" algn="l">
                        <a:lnSpc>
                          <a:spcPct val="100000"/>
                        </a:lnSpc>
                        <a:spcBef>
                          <a:spcPts val="0"/>
                        </a:spcBef>
                        <a:spcAft>
                          <a:spcPts val="0"/>
                        </a:spcAft>
                        <a:buAutoNum type="arabicPeriod"/>
                      </a:pPr>
                      <a:endParaRPr lang="en-US" sz="1100" b="1" i="0" u="none" strike="noStrike" kern="1200" noProof="0">
                        <a:solidFill>
                          <a:srgbClr val="00B050"/>
                        </a:solidFill>
                        <a:latin typeface="Nunito Sans"/>
                      </a:endParaRPr>
                    </a:p>
                    <a:p>
                      <a:pPr marL="228600" lvl="0" indent="-228600" algn="l">
                        <a:lnSpc>
                          <a:spcPct val="100000"/>
                        </a:lnSpc>
                        <a:spcBef>
                          <a:spcPts val="0"/>
                        </a:spcBef>
                        <a:spcAft>
                          <a:spcPts val="0"/>
                        </a:spcAft>
                        <a:buAutoNum type="arabicPeriod"/>
                      </a:pPr>
                      <a:endParaRPr lang="en-US" sz="1100" b="1" i="0" u="none" strike="noStrike" kern="1200" noProof="0">
                        <a:solidFill>
                          <a:srgbClr val="00B050"/>
                        </a:solidFill>
                        <a:latin typeface="Nunito Sans"/>
                      </a:endParaRPr>
                    </a:p>
                    <a:p>
                      <a:pPr marL="228600" lvl="0" indent="-228600" algn="l">
                        <a:lnSpc>
                          <a:spcPct val="100000"/>
                        </a:lnSpc>
                        <a:spcBef>
                          <a:spcPts val="0"/>
                        </a:spcBef>
                        <a:spcAft>
                          <a:spcPts val="0"/>
                        </a:spcAft>
                        <a:buAutoNum type="arabicPeriod"/>
                      </a:pPr>
                      <a:endParaRPr lang="en-US" sz="1100" b="1" i="0" u="none" strike="noStrike" kern="1200" noProof="0">
                        <a:solidFill>
                          <a:srgbClr val="00B050"/>
                        </a:solidFill>
                        <a:latin typeface="Nunito Sans"/>
                      </a:endParaRPr>
                    </a:p>
                    <a:p>
                      <a:pPr marL="228600" lvl="0" indent="-228600" algn="l">
                        <a:lnSpc>
                          <a:spcPct val="100000"/>
                        </a:lnSpc>
                        <a:spcBef>
                          <a:spcPts val="0"/>
                        </a:spcBef>
                        <a:spcAft>
                          <a:spcPts val="0"/>
                        </a:spcAft>
                        <a:buAutoNum type="arabicPeriod"/>
                      </a:pPr>
                      <a:endParaRPr lang="en-US" sz="1100" b="1" i="0" u="none" strike="noStrike" kern="1200" noProof="0">
                        <a:solidFill>
                          <a:srgbClr val="00B050"/>
                        </a:solidFill>
                        <a:latin typeface="Nunito Sans"/>
                      </a:endParaRPr>
                    </a:p>
                    <a:p>
                      <a:pPr marL="228600" lvl="0" indent="-228600" algn="l">
                        <a:lnSpc>
                          <a:spcPct val="100000"/>
                        </a:lnSpc>
                        <a:spcBef>
                          <a:spcPts val="0"/>
                        </a:spcBef>
                        <a:spcAft>
                          <a:spcPts val="0"/>
                        </a:spcAft>
                        <a:buAutoNum type="arabicPeriod"/>
                      </a:pPr>
                      <a:endParaRPr lang="en-US" sz="1100" b="1" i="0" u="none" strike="noStrike" kern="1200" noProof="0">
                        <a:solidFill>
                          <a:srgbClr val="00B050"/>
                        </a:solidFill>
                        <a:latin typeface="Nunito Sans"/>
                      </a:endParaRPr>
                    </a:p>
                    <a:p>
                      <a:pPr marL="228600" lvl="0" indent="-228600" algn="l">
                        <a:lnSpc>
                          <a:spcPct val="100000"/>
                        </a:lnSpc>
                        <a:spcBef>
                          <a:spcPts val="0"/>
                        </a:spcBef>
                        <a:spcAft>
                          <a:spcPts val="0"/>
                        </a:spcAft>
                        <a:buAutoNum type="arabicPeriod"/>
                      </a:pPr>
                      <a:endParaRPr lang="en-US" sz="1100" b="1" i="0" u="none" strike="noStrike" kern="1200" noProof="0">
                        <a:solidFill>
                          <a:srgbClr val="00B050"/>
                        </a:solidFill>
                        <a:latin typeface="Nunito Sans"/>
                      </a:endParaRPr>
                    </a:p>
                    <a:p>
                      <a:pPr marL="228600" lvl="0" indent="-228600" algn="l">
                        <a:lnSpc>
                          <a:spcPct val="100000"/>
                        </a:lnSpc>
                        <a:spcBef>
                          <a:spcPts val="0"/>
                        </a:spcBef>
                        <a:spcAft>
                          <a:spcPts val="0"/>
                        </a:spcAft>
                        <a:buAutoNum type="arabicPeriod"/>
                      </a:pPr>
                      <a:endParaRPr lang="en-US" sz="1100" b="1" i="0" u="none" strike="noStrike" kern="1200" noProof="0">
                        <a:solidFill>
                          <a:srgbClr val="00B050"/>
                        </a:solidFill>
                        <a:latin typeface="Nunito Sans"/>
                      </a:endParaRPr>
                    </a:p>
                    <a:p>
                      <a:pPr marL="228600" lvl="0" indent="-228600" algn="l">
                        <a:lnSpc>
                          <a:spcPct val="100000"/>
                        </a:lnSpc>
                        <a:spcBef>
                          <a:spcPts val="0"/>
                        </a:spcBef>
                        <a:spcAft>
                          <a:spcPts val="0"/>
                        </a:spcAft>
                        <a:buAutoNum type="arabicPeriod"/>
                      </a:pPr>
                      <a:r>
                        <a:rPr lang="en-US" sz="1100" b="1" i="0" u="none" strike="noStrike" kern="1200" noProof="0">
                          <a:solidFill>
                            <a:srgbClr val="00B050"/>
                          </a:solidFill>
                          <a:latin typeface="+mn-lt"/>
                        </a:rPr>
                        <a:t>Refunds AI - Phase-1 – 22 April -2026</a:t>
                      </a:r>
                    </a:p>
                    <a:p>
                      <a:pPr marL="228600" lvl="0" indent="-228600" algn="l">
                        <a:lnSpc>
                          <a:spcPct val="100000"/>
                        </a:lnSpc>
                        <a:spcBef>
                          <a:spcPts val="0"/>
                        </a:spcBef>
                        <a:spcAft>
                          <a:spcPts val="0"/>
                        </a:spcAft>
                        <a:buAutoNum type="arabicPeriod"/>
                      </a:pPr>
                      <a:endParaRPr lang="en-US" sz="1100" b="1" i="0" u="none" strike="noStrike" kern="1200" noProof="0">
                        <a:solidFill>
                          <a:srgbClr val="00B050"/>
                        </a:solidFill>
                        <a:latin typeface="+mn-lt"/>
                      </a:endParaRPr>
                    </a:p>
                    <a:p>
                      <a:pPr marL="228600" lvl="0" indent="-228600" algn="l">
                        <a:lnSpc>
                          <a:spcPct val="100000"/>
                        </a:lnSpc>
                        <a:spcBef>
                          <a:spcPts val="0"/>
                        </a:spcBef>
                        <a:spcAft>
                          <a:spcPts val="0"/>
                        </a:spcAft>
                        <a:buAutoNum type="arabicPeriod"/>
                      </a:pPr>
                      <a:r>
                        <a:rPr lang="en-US" sz="1100" b="1" i="0" u="none" strike="noStrike" kern="1200" noProof="0">
                          <a:solidFill>
                            <a:srgbClr val="00B050"/>
                          </a:solidFill>
                          <a:latin typeface="+mn-lt"/>
                        </a:rPr>
                        <a:t>Pax Sales - Sales Org. restructure - Agency Module – 22 April 2026</a:t>
                      </a:r>
                    </a:p>
                    <a:p>
                      <a:pPr marL="228600" lvl="0" indent="-228600" algn="l">
                        <a:lnSpc>
                          <a:spcPct val="100000"/>
                        </a:lnSpc>
                        <a:spcBef>
                          <a:spcPts val="0"/>
                        </a:spcBef>
                        <a:spcAft>
                          <a:spcPts val="0"/>
                        </a:spcAft>
                        <a:buAutoNum type="arabicPeriod"/>
                      </a:pPr>
                      <a:endParaRPr lang="en-US" sz="1100" b="1" i="0" u="none" strike="noStrike" kern="1200" noProof="0">
                        <a:solidFill>
                          <a:srgbClr val="00B050"/>
                        </a:solidFill>
                      </a:endParaRPr>
                    </a:p>
                    <a:p>
                      <a:pPr marL="228600" lvl="0" indent="-228600" algn="l">
                        <a:lnSpc>
                          <a:spcPct val="100000"/>
                        </a:lnSpc>
                        <a:spcBef>
                          <a:spcPts val="0"/>
                        </a:spcBef>
                        <a:spcAft>
                          <a:spcPts val="0"/>
                        </a:spcAft>
                        <a:buAutoNum type="arabicPeriod"/>
                      </a:pPr>
                      <a:r>
                        <a:rPr lang="en-US" sz="1100" b="1" i="0" u="none" strike="noStrike" kern="1200" noProof="0">
                          <a:solidFill>
                            <a:srgbClr val="00B050"/>
                          </a:solidFill>
                        </a:rPr>
                        <a:t>AI - AIX Parent Case Transfer Process – 10 April 2026</a:t>
                      </a:r>
                      <a:endParaRPr lang="en-US" b="1">
                        <a:solidFill>
                          <a:srgbClr val="00B050"/>
                        </a:solidFill>
                      </a:endParaRPr>
                    </a:p>
                    <a:p>
                      <a:pPr marL="228600" lvl="0" indent="-228600" algn="l">
                        <a:lnSpc>
                          <a:spcPct val="100000"/>
                        </a:lnSpc>
                        <a:spcBef>
                          <a:spcPts val="0"/>
                        </a:spcBef>
                        <a:spcAft>
                          <a:spcPts val="0"/>
                        </a:spcAft>
                        <a:buAutoNum type="arabicPeriod"/>
                      </a:pPr>
                      <a:endParaRPr lang="en-US" sz="1100" b="0" i="0" u="none" strike="noStrike" kern="1200" noProof="0">
                        <a:solidFill>
                          <a:srgbClr val="00B050"/>
                        </a:solidFill>
                        <a:latin typeface="Nunito Sans"/>
                      </a:endParaRPr>
                    </a:p>
                    <a:p>
                      <a:pPr marL="228600" lvl="0" indent="-228600" algn="l">
                        <a:lnSpc>
                          <a:spcPct val="100000"/>
                        </a:lnSpc>
                        <a:spcBef>
                          <a:spcPts val="0"/>
                        </a:spcBef>
                        <a:spcAft>
                          <a:spcPts val="0"/>
                        </a:spcAft>
                        <a:buAutoNum type="arabicPeriod"/>
                      </a:pPr>
                      <a:endParaRPr lang="en-US" sz="1100" b="0" i="0" u="none" strike="noStrike" kern="1200" noProof="0">
                        <a:solidFill>
                          <a:srgbClr val="00B050"/>
                        </a:solidFill>
                        <a:latin typeface="Nunito Sans"/>
                      </a:endParaRPr>
                    </a:p>
                    <a:p>
                      <a:pPr marL="228600" lvl="0" indent="-228600" algn="l">
                        <a:lnSpc>
                          <a:spcPct val="100000"/>
                        </a:lnSpc>
                        <a:spcBef>
                          <a:spcPts val="0"/>
                        </a:spcBef>
                        <a:spcAft>
                          <a:spcPts val="0"/>
                        </a:spcAft>
                        <a:buAutoNum type="arabicPeriod"/>
                      </a:pPr>
                      <a:endParaRPr lang="en-US" sz="1100" b="0" i="0" u="none" strike="noStrike" kern="1200" noProof="0">
                        <a:solidFill>
                          <a:srgbClr val="00B050"/>
                        </a:solidFill>
                        <a:latin typeface="Nunito Sans"/>
                      </a:endParaRPr>
                    </a:p>
                    <a:p>
                      <a:pPr marL="228600" lvl="0" indent="-228600" algn="l">
                        <a:lnSpc>
                          <a:spcPct val="100000"/>
                        </a:lnSpc>
                        <a:spcBef>
                          <a:spcPts val="0"/>
                        </a:spcBef>
                        <a:spcAft>
                          <a:spcPts val="0"/>
                        </a:spcAft>
                        <a:buAutoNum type="arabicPeriod"/>
                      </a:pPr>
                      <a:endParaRPr lang="en-US" sz="1100" b="0" i="0" u="none" strike="noStrike" kern="1200" noProof="0">
                        <a:solidFill>
                          <a:srgbClr val="00B050"/>
                        </a:solidFill>
                        <a:latin typeface="Nunito Sans"/>
                      </a:endParaRPr>
                    </a:p>
                    <a:p>
                      <a:pPr marL="228600" lvl="0" indent="-228600" algn="l">
                        <a:lnSpc>
                          <a:spcPct val="100000"/>
                        </a:lnSpc>
                        <a:spcBef>
                          <a:spcPts val="0"/>
                        </a:spcBef>
                        <a:spcAft>
                          <a:spcPts val="0"/>
                        </a:spcAft>
                        <a:buAutoNum type="arabicPeriod"/>
                      </a:pPr>
                      <a:endParaRPr lang="en-US" sz="1100" b="0" i="0" u="none" strike="noStrike" kern="1200" noProof="0">
                        <a:solidFill>
                          <a:srgbClr val="00B050"/>
                        </a:solidFill>
                        <a:latin typeface="Nunito Sans"/>
                      </a:endParaRPr>
                    </a:p>
                    <a:p>
                      <a:pPr marL="228600" lvl="0" indent="-228600" algn="l">
                        <a:lnSpc>
                          <a:spcPct val="100000"/>
                        </a:lnSpc>
                        <a:spcBef>
                          <a:spcPts val="0"/>
                        </a:spcBef>
                        <a:spcAft>
                          <a:spcPts val="0"/>
                        </a:spcAft>
                        <a:buAutoNum type="arabicPeriod"/>
                      </a:pPr>
                      <a:r>
                        <a:rPr lang="en-US" sz="1100" b="1" i="0" u="none" strike="noStrike" kern="1200" noProof="0">
                          <a:solidFill>
                            <a:srgbClr val="00B050"/>
                          </a:solidFill>
                          <a:latin typeface="+mn-lt"/>
                        </a:rPr>
                        <a:t>Tagging changes – 29 April 2026</a:t>
                      </a:r>
                      <a:endParaRPr lang="en-US" sz="1100" b="1" i="0" u="none" strike="noStrike" kern="1200" noProof="0">
                        <a:solidFill>
                          <a:srgbClr val="00B050"/>
                        </a:solidFill>
                        <a:latin typeface="Nunito Sans"/>
                      </a:endParaRPr>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tc>
                  <a:txBody>
                    <a:bodyPr/>
                    <a:lstStyle/>
                    <a:p>
                      <a:pPr marL="228600" lvl="0" indent="-228600" algn="l">
                        <a:lnSpc>
                          <a:spcPct val="100000"/>
                        </a:lnSpc>
                        <a:spcBef>
                          <a:spcPts val="0"/>
                        </a:spcBef>
                        <a:spcAft>
                          <a:spcPts val="0"/>
                        </a:spcAft>
                        <a:buAutoNum type="arabicPeriod"/>
                      </a:pPr>
                      <a:r>
                        <a:rPr lang="en-US" sz="1100" b="1" i="0" u="none" strike="noStrike" kern="1200" noProof="0">
                          <a:solidFill>
                            <a:srgbClr val="00B050"/>
                          </a:solidFill>
                          <a:latin typeface="Nunito Sans"/>
                        </a:rPr>
                        <a:t>Name change</a:t>
                      </a:r>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tc>
                  <a:txBody>
                    <a:bodyPr/>
                    <a:lstStyle/>
                    <a:p>
                      <a:pPr lvl="0" algn="l">
                        <a:lnSpc>
                          <a:spcPct val="100000"/>
                        </a:lnSpc>
                        <a:spcBef>
                          <a:spcPts val="0"/>
                        </a:spcBef>
                        <a:spcAft>
                          <a:spcPts val="0"/>
                        </a:spcAft>
                        <a:buNone/>
                      </a:pPr>
                      <a:r>
                        <a:rPr lang="en-US" sz="1100" b="0" i="0" u="none" strike="noStrike" kern="1200" noProof="0">
                          <a:solidFill>
                            <a:srgbClr val="00B050"/>
                          </a:solidFill>
                          <a:latin typeface="Segoe UI"/>
                          <a:cs typeface="Segoe UI"/>
                        </a:rPr>
                        <a:t>This project streamlines a highly manual and error‑prone Name Change process by automating it end‑to‑end within Salesforce using Amadeus services. It cuts turnaround time from days to minutes, improving both operational efficiency and customer satisfaction. The automation ensures accurate updates across PNR and ticket, strengthening compliance and reducing denied boarding risks. It also lowers agent workload and helps prevent revenue leakage through consistent handling of direct non chargeable cases.</a:t>
                      </a:r>
                    </a:p>
                    <a:p>
                      <a:pPr lvl="0" algn="l">
                        <a:lnSpc>
                          <a:spcPct val="100000"/>
                        </a:lnSpc>
                        <a:spcBef>
                          <a:spcPts val="0"/>
                        </a:spcBef>
                        <a:spcAft>
                          <a:spcPts val="0"/>
                        </a:spcAft>
                        <a:buNone/>
                      </a:pPr>
                      <a:endParaRPr lang="en-US" sz="1100" b="0" i="0" u="none" strike="noStrike" kern="1200" noProof="0">
                        <a:solidFill>
                          <a:srgbClr val="00B050"/>
                        </a:solidFill>
                        <a:latin typeface="Segoe UI"/>
                        <a:cs typeface="Segoe UI"/>
                      </a:endParaRPr>
                    </a:p>
                    <a:p>
                      <a:pPr lvl="0" algn="l">
                        <a:lnSpc>
                          <a:spcPct val="100000"/>
                        </a:lnSpc>
                        <a:spcBef>
                          <a:spcPts val="0"/>
                        </a:spcBef>
                        <a:spcAft>
                          <a:spcPts val="0"/>
                        </a:spcAft>
                        <a:buNone/>
                      </a:pPr>
                      <a:endParaRPr lang="en-US" sz="1100" b="0" i="0" u="none" strike="noStrike" kern="1200" noProof="0">
                        <a:solidFill>
                          <a:srgbClr val="00B050"/>
                        </a:solidFill>
                        <a:latin typeface="Segoe UI"/>
                        <a:cs typeface="Segoe UI"/>
                      </a:endParaRPr>
                    </a:p>
                    <a:p>
                      <a:pPr lvl="0" algn="l">
                        <a:lnSpc>
                          <a:spcPct val="100000"/>
                        </a:lnSpc>
                        <a:spcBef>
                          <a:spcPts val="0"/>
                        </a:spcBef>
                        <a:spcAft>
                          <a:spcPts val="0"/>
                        </a:spcAft>
                        <a:buNone/>
                      </a:pPr>
                      <a:r>
                        <a:rPr lang="en-US" sz="1100" b="0" i="0" u="none" strike="noStrike" kern="1200" noProof="0">
                          <a:solidFill>
                            <a:srgbClr val="00B050"/>
                          </a:solidFill>
                          <a:latin typeface="Segoe UI"/>
                          <a:cs typeface="Segoe UI"/>
                        </a:rPr>
                        <a:t>Automating ATC Refunds for W2C and E2C for Disrupted flights</a:t>
                      </a:r>
                    </a:p>
                    <a:p>
                      <a:pPr lvl="0" algn="l">
                        <a:lnSpc>
                          <a:spcPct val="100000"/>
                        </a:lnSpc>
                        <a:spcBef>
                          <a:spcPts val="0"/>
                        </a:spcBef>
                        <a:spcAft>
                          <a:spcPts val="0"/>
                        </a:spcAft>
                        <a:buNone/>
                      </a:pPr>
                      <a:endParaRPr lang="en-US" sz="1100" b="0" i="0" u="none" strike="noStrike" kern="1200" noProof="0">
                        <a:solidFill>
                          <a:srgbClr val="00B050"/>
                        </a:solidFill>
                        <a:latin typeface="Segoe UI"/>
                        <a:cs typeface="Segoe UI"/>
                      </a:endParaRPr>
                    </a:p>
                    <a:p>
                      <a:pPr lvl="0" algn="l">
                        <a:lnSpc>
                          <a:spcPct val="100000"/>
                        </a:lnSpc>
                        <a:spcBef>
                          <a:spcPts val="0"/>
                        </a:spcBef>
                        <a:spcAft>
                          <a:spcPts val="0"/>
                        </a:spcAft>
                        <a:buNone/>
                      </a:pPr>
                      <a:r>
                        <a:rPr lang="en-US" sz="1100" b="0" i="0" u="none" strike="noStrike" kern="1200" noProof="0">
                          <a:solidFill>
                            <a:srgbClr val="00B050"/>
                          </a:solidFill>
                          <a:latin typeface="Segoe UI"/>
                          <a:cs typeface="Segoe UI"/>
                        </a:rPr>
                        <a:t>Integrated Sales reporting combining both AI and AIX sales team into a single AI group Sales - Only Agency</a:t>
                      </a:r>
                    </a:p>
                    <a:p>
                      <a:pPr lvl="0" algn="l">
                        <a:lnSpc>
                          <a:spcPct val="100000"/>
                        </a:lnSpc>
                        <a:spcBef>
                          <a:spcPts val="0"/>
                        </a:spcBef>
                        <a:spcAft>
                          <a:spcPts val="0"/>
                        </a:spcAft>
                        <a:buNone/>
                      </a:pPr>
                      <a:endParaRPr lang="en-US" sz="1100" b="0" i="0" u="none" strike="noStrike" kern="1200" noProof="0">
                        <a:solidFill>
                          <a:srgbClr val="00B050"/>
                        </a:solidFill>
                        <a:latin typeface="Segoe UI"/>
                        <a:cs typeface="Segoe UI"/>
                      </a:endParaRPr>
                    </a:p>
                    <a:p>
                      <a:pPr lvl="0" algn="l">
                        <a:lnSpc>
                          <a:spcPct val="100000"/>
                        </a:lnSpc>
                        <a:spcBef>
                          <a:spcPts val="0"/>
                        </a:spcBef>
                        <a:spcAft>
                          <a:spcPts val="0"/>
                        </a:spcAft>
                        <a:buNone/>
                      </a:pPr>
                      <a:r>
                        <a:rPr lang="en-US" sz="1100" b="0" i="0" u="none" strike="noStrike" kern="1200" noProof="0">
                          <a:solidFill>
                            <a:srgbClr val="00B050"/>
                          </a:solidFill>
                        </a:rPr>
                        <a:t>To design and implement a unified Standard Operating Procedure (SOP) and corresponding system capabilities that enable seamless internal case handling and bi‑directional case transfer between AI and AIX support teams.</a:t>
                      </a:r>
                    </a:p>
                    <a:p>
                      <a:pPr lvl="0" algn="l">
                        <a:lnSpc>
                          <a:spcPct val="100000"/>
                        </a:lnSpc>
                        <a:spcBef>
                          <a:spcPts val="0"/>
                        </a:spcBef>
                        <a:spcAft>
                          <a:spcPts val="0"/>
                        </a:spcAft>
                        <a:buNone/>
                      </a:pPr>
                      <a:endParaRPr lang="en-US" sz="1100" b="0" i="0" u="none" strike="noStrike" kern="1200" noProof="0">
                        <a:solidFill>
                          <a:srgbClr val="00B050"/>
                        </a:solidFill>
                      </a:endParaRPr>
                    </a:p>
                    <a:p>
                      <a:pPr lvl="0" algn="l">
                        <a:lnSpc>
                          <a:spcPct val="100000"/>
                        </a:lnSpc>
                        <a:spcBef>
                          <a:spcPts val="0"/>
                        </a:spcBef>
                        <a:spcAft>
                          <a:spcPts val="0"/>
                        </a:spcAft>
                        <a:buNone/>
                      </a:pPr>
                      <a:r>
                        <a:rPr lang="en-US" sz="1100" b="0" i="0" u="none" strike="noStrike" kern="1200">
                          <a:solidFill>
                            <a:srgbClr val="00B050"/>
                          </a:solidFill>
                          <a:latin typeface="+mn-lt"/>
                          <a:ea typeface="+mn-ea"/>
                          <a:cs typeface="+mn-cs"/>
                        </a:rPr>
                        <a:t>To revamp the tagging in salesforce based on roles &amp; permission set. This revamp will impact all the flows &amp; processes within salesforce</a:t>
                      </a:r>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extLst>
                  <a:ext uri="{0D108BD9-81ED-4DB2-BD59-A6C34878D82A}">
                    <a16:rowId xmlns:a16="http://schemas.microsoft.com/office/drawing/2014/main" val="2443371065"/>
                  </a:ext>
                </a:extLst>
              </a:tr>
            </a:tbl>
          </a:graphicData>
        </a:graphic>
      </p:graphicFrame>
      <p:sp>
        <p:nvSpPr>
          <p:cNvPr id="4" name="Rectangle 3">
            <a:extLst>
              <a:ext uri="{FF2B5EF4-FFF2-40B4-BE49-F238E27FC236}">
                <a16:creationId xmlns:a16="http://schemas.microsoft.com/office/drawing/2014/main" id="{32A731B0-648C-505A-3434-C8253AC8F9CE}"/>
              </a:ext>
            </a:extLst>
          </p:cNvPr>
          <p:cNvSpPr/>
          <p:nvPr/>
        </p:nvSpPr>
        <p:spPr>
          <a:xfrm>
            <a:off x="1188132" y="6671592"/>
            <a:ext cx="90000" cy="90000"/>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5" name="Rectangle 4">
            <a:extLst>
              <a:ext uri="{FF2B5EF4-FFF2-40B4-BE49-F238E27FC236}">
                <a16:creationId xmlns:a16="http://schemas.microsoft.com/office/drawing/2014/main" id="{E9FF8643-D852-552D-6B5C-CD404023DE24}"/>
              </a:ext>
            </a:extLst>
          </p:cNvPr>
          <p:cNvSpPr/>
          <p:nvPr/>
        </p:nvSpPr>
        <p:spPr>
          <a:xfrm>
            <a:off x="2265818" y="6670554"/>
            <a:ext cx="90000" cy="90000"/>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7" name="Rectangle 6">
            <a:extLst>
              <a:ext uri="{FF2B5EF4-FFF2-40B4-BE49-F238E27FC236}">
                <a16:creationId xmlns:a16="http://schemas.microsoft.com/office/drawing/2014/main" id="{11343C89-7E6C-A49C-55D6-FE3A3834C8E5}"/>
              </a:ext>
            </a:extLst>
          </p:cNvPr>
          <p:cNvSpPr/>
          <p:nvPr/>
        </p:nvSpPr>
        <p:spPr>
          <a:xfrm>
            <a:off x="3443423" y="6671592"/>
            <a:ext cx="90000" cy="90000"/>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8" name="Rectangle 7">
            <a:extLst>
              <a:ext uri="{FF2B5EF4-FFF2-40B4-BE49-F238E27FC236}">
                <a16:creationId xmlns:a16="http://schemas.microsoft.com/office/drawing/2014/main" id="{1356681E-8DCF-987A-888A-5590B5C57A53}"/>
              </a:ext>
            </a:extLst>
          </p:cNvPr>
          <p:cNvSpPr/>
          <p:nvPr/>
        </p:nvSpPr>
        <p:spPr>
          <a:xfrm>
            <a:off x="8146052" y="6714097"/>
            <a:ext cx="90000" cy="90000"/>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9" name="TextBox 15">
            <a:extLst>
              <a:ext uri="{FF2B5EF4-FFF2-40B4-BE49-F238E27FC236}">
                <a16:creationId xmlns:a16="http://schemas.microsoft.com/office/drawing/2014/main" id="{955DDE62-57E5-0A37-E7D8-EAC8DEEAF424}"/>
              </a:ext>
            </a:extLst>
          </p:cNvPr>
          <p:cNvSpPr txBox="1"/>
          <p:nvPr/>
        </p:nvSpPr>
        <p:spPr>
          <a:xfrm>
            <a:off x="1288983" y="6614743"/>
            <a:ext cx="857245"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0070C0"/>
                </a:solidFill>
                <a:effectLst/>
                <a:uLnTx/>
                <a:uFillTx/>
                <a:latin typeface="Nunito Sans"/>
                <a:ea typeface="+mn-ea"/>
                <a:cs typeface="+mn-cs"/>
              </a:rPr>
              <a:t>Delivered</a:t>
            </a:r>
            <a:endParaRPr kumimoji="0" lang="en-IN" sz="1000" b="0" i="0" u="none" strike="noStrike" kern="1200" cap="none" spc="0" normalizeH="0" baseline="0" noProof="0">
              <a:ln>
                <a:noFill/>
              </a:ln>
              <a:solidFill>
                <a:srgbClr val="000000"/>
              </a:solidFill>
              <a:effectLst/>
              <a:uLnTx/>
              <a:uFillTx/>
              <a:latin typeface="Nunito Sans"/>
              <a:ea typeface="+mn-ea"/>
              <a:cs typeface="+mn-cs"/>
            </a:endParaRPr>
          </a:p>
        </p:txBody>
      </p:sp>
      <p:sp>
        <p:nvSpPr>
          <p:cNvPr id="10" name="TextBox 18">
            <a:extLst>
              <a:ext uri="{FF2B5EF4-FFF2-40B4-BE49-F238E27FC236}">
                <a16:creationId xmlns:a16="http://schemas.microsoft.com/office/drawing/2014/main" id="{35C406C2-4AE4-76BE-97BC-C896DF21EC8B}"/>
              </a:ext>
            </a:extLst>
          </p:cNvPr>
          <p:cNvSpPr txBox="1"/>
          <p:nvPr/>
        </p:nvSpPr>
        <p:spPr>
          <a:xfrm>
            <a:off x="2310642" y="6611102"/>
            <a:ext cx="1032881"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00B050"/>
                </a:solidFill>
                <a:effectLst/>
                <a:uLnTx/>
                <a:uFillTx/>
                <a:latin typeface="Nunito Sans"/>
                <a:ea typeface="+mn-ea"/>
                <a:cs typeface="+mn-cs"/>
              </a:rPr>
              <a:t>Ontrack</a:t>
            </a:r>
            <a:endParaRPr kumimoji="0" lang="en-IN" sz="1000" b="0" i="0" u="none" strike="noStrike" kern="1200" cap="none" spc="0" normalizeH="0" baseline="0" noProof="0">
              <a:ln>
                <a:noFill/>
              </a:ln>
              <a:solidFill>
                <a:srgbClr val="000000"/>
              </a:solidFill>
              <a:effectLst/>
              <a:uLnTx/>
              <a:uFillTx/>
              <a:latin typeface="Nunito Sans"/>
              <a:ea typeface="+mn-ea"/>
              <a:cs typeface="+mn-cs"/>
            </a:endParaRPr>
          </a:p>
        </p:txBody>
      </p:sp>
      <p:sp>
        <p:nvSpPr>
          <p:cNvPr id="11" name="TextBox 20">
            <a:extLst>
              <a:ext uri="{FF2B5EF4-FFF2-40B4-BE49-F238E27FC236}">
                <a16:creationId xmlns:a16="http://schemas.microsoft.com/office/drawing/2014/main" id="{0B7A10D1-B8D6-596F-1746-48575828B7AE}"/>
              </a:ext>
            </a:extLst>
          </p:cNvPr>
          <p:cNvSpPr txBox="1"/>
          <p:nvPr/>
        </p:nvSpPr>
        <p:spPr>
          <a:xfrm>
            <a:off x="3539606" y="6608370"/>
            <a:ext cx="2257628"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FED9A0">
                    <a:lumMod val="75000"/>
                  </a:srgbClr>
                </a:solidFill>
                <a:effectLst/>
                <a:uLnTx/>
                <a:uFillTx/>
                <a:latin typeface="Nunito Sans"/>
                <a:ea typeface="+mn-ea"/>
                <a:cs typeface="+mn-cs"/>
              </a:rPr>
              <a:t>Under delay and can be recovered</a:t>
            </a:r>
            <a:endParaRPr kumimoji="0" lang="en-IN" sz="1000" b="0" i="0" u="none" strike="noStrike" kern="1200" cap="none" spc="0" normalizeH="0" baseline="0" noProof="0">
              <a:ln>
                <a:noFill/>
              </a:ln>
              <a:solidFill>
                <a:srgbClr val="000000"/>
              </a:solidFill>
              <a:effectLst/>
              <a:uLnTx/>
              <a:uFillTx/>
              <a:latin typeface="Nunito Sans"/>
              <a:ea typeface="+mn-ea"/>
              <a:cs typeface="+mn-cs"/>
            </a:endParaRPr>
          </a:p>
        </p:txBody>
      </p:sp>
      <p:sp>
        <p:nvSpPr>
          <p:cNvPr id="13" name="TextBox 22">
            <a:extLst>
              <a:ext uri="{FF2B5EF4-FFF2-40B4-BE49-F238E27FC236}">
                <a16:creationId xmlns:a16="http://schemas.microsoft.com/office/drawing/2014/main" id="{2219EDB2-D7C3-C8F0-EBD3-E916AB60EFF9}"/>
              </a:ext>
            </a:extLst>
          </p:cNvPr>
          <p:cNvSpPr txBox="1"/>
          <p:nvPr/>
        </p:nvSpPr>
        <p:spPr>
          <a:xfrm>
            <a:off x="8246937" y="6618126"/>
            <a:ext cx="2338222"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FF0000"/>
                </a:solidFill>
                <a:effectLst/>
                <a:uLnTx/>
                <a:uFillTx/>
                <a:latin typeface="Nunito Sans"/>
                <a:ea typeface="+mn-ea"/>
                <a:cs typeface="+mn-cs"/>
              </a:rPr>
              <a:t>Delayed and pushed to next release</a:t>
            </a:r>
          </a:p>
        </p:txBody>
      </p:sp>
      <p:sp>
        <p:nvSpPr>
          <p:cNvPr id="15" name="TextBox 14">
            <a:extLst>
              <a:ext uri="{FF2B5EF4-FFF2-40B4-BE49-F238E27FC236}">
                <a16:creationId xmlns:a16="http://schemas.microsoft.com/office/drawing/2014/main" id="{2470CC88-73B0-BD61-E8E1-C11913095384}"/>
              </a:ext>
            </a:extLst>
          </p:cNvPr>
          <p:cNvSpPr txBox="1"/>
          <p:nvPr/>
        </p:nvSpPr>
        <p:spPr>
          <a:xfrm>
            <a:off x="6454369" y="6611638"/>
            <a:ext cx="2743200"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IN" sz="1000">
                <a:solidFill>
                  <a:srgbClr val="7D7D7D"/>
                </a:solidFill>
              </a:rPr>
              <a:t>Descoped</a:t>
            </a:r>
            <a:endParaRPr lang="en-US"/>
          </a:p>
        </p:txBody>
      </p:sp>
      <p:sp>
        <p:nvSpPr>
          <p:cNvPr id="16" name="Rectangle 15">
            <a:extLst>
              <a:ext uri="{FF2B5EF4-FFF2-40B4-BE49-F238E27FC236}">
                <a16:creationId xmlns:a16="http://schemas.microsoft.com/office/drawing/2014/main" id="{9F793D43-13EA-A890-6E41-4B7C6E50A228}"/>
              </a:ext>
            </a:extLst>
          </p:cNvPr>
          <p:cNvSpPr/>
          <p:nvPr/>
        </p:nvSpPr>
        <p:spPr>
          <a:xfrm>
            <a:off x="6360794" y="6681439"/>
            <a:ext cx="90000" cy="90000"/>
          </a:xfrm>
          <a:prstGeom prst="rect">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Tree>
    <p:extLst>
      <p:ext uri="{BB962C8B-B14F-4D97-AF65-F5344CB8AC3E}">
        <p14:creationId xmlns:p14="http://schemas.microsoft.com/office/powerpoint/2010/main" val="404593927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94A1FE-8C36-0AD7-F152-35172B63322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365A6B7-7CEF-F7DB-210A-229C890E0D44}"/>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3A41A254-7326-714E-AF55-4C213D6394DE}" type="slidenum">
              <a:rPr kumimoji="0" lang="en-US" sz="1200" b="0" i="0" u="none" strike="noStrike" kern="1200" cap="none" spc="0" normalizeH="0" baseline="0" noProof="0" smtClean="0">
                <a:ln>
                  <a:noFill/>
                </a:ln>
                <a:solidFill>
                  <a:srgbClr val="DA0E28"/>
                </a:solidFill>
                <a:effectLst/>
                <a:uLnTx/>
                <a:uFillTx/>
                <a:latin typeface="Nunito Sans"/>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37</a:t>
            </a:fld>
            <a:endParaRPr kumimoji="0" lang="en-US" sz="1200" b="0" i="0" u="none" strike="noStrike" kern="1200" cap="none" spc="0" normalizeH="0" baseline="0" noProof="0">
              <a:ln>
                <a:noFill/>
              </a:ln>
              <a:solidFill>
                <a:srgbClr val="DA0E28"/>
              </a:solidFill>
              <a:effectLst/>
              <a:uLnTx/>
              <a:uFillTx/>
              <a:latin typeface="Nunito Sans"/>
              <a:ea typeface="+mn-ea"/>
              <a:cs typeface="+mn-cs"/>
            </a:endParaRPr>
          </a:p>
        </p:txBody>
      </p:sp>
      <p:sp>
        <p:nvSpPr>
          <p:cNvPr id="3" name="Rectangle 2">
            <a:extLst>
              <a:ext uri="{FF2B5EF4-FFF2-40B4-BE49-F238E27FC236}">
                <a16:creationId xmlns:a16="http://schemas.microsoft.com/office/drawing/2014/main" id="{2B5F05D3-120D-9C5D-93E3-6F7C70E89B62}"/>
              </a:ext>
            </a:extLst>
          </p:cNvPr>
          <p:cNvSpPr/>
          <p:nvPr/>
        </p:nvSpPr>
        <p:spPr>
          <a:xfrm>
            <a:off x="129077" y="610471"/>
            <a:ext cx="1170432" cy="42234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400" b="1">
                <a:solidFill>
                  <a:srgbClr val="FFFFFF"/>
                </a:solidFill>
                <a:latin typeface="AirIndia"/>
              </a:rPr>
              <a:t>May</a:t>
            </a:r>
            <a:r>
              <a:rPr kumimoji="0" lang="en-IN" sz="1400" b="1" i="0" u="none" strike="noStrike" kern="1200" cap="none" spc="0" normalizeH="0" baseline="0" noProof="0">
                <a:ln>
                  <a:noFill/>
                </a:ln>
                <a:solidFill>
                  <a:srgbClr val="FFFFFF"/>
                </a:solidFill>
                <a:effectLst/>
                <a:uLnTx/>
                <a:uFillTx/>
                <a:latin typeface="AirIndia"/>
                <a:ea typeface="+mn-ea"/>
                <a:cs typeface="+mn-cs"/>
              </a:rPr>
              <a:t> ‘</a:t>
            </a:r>
            <a:r>
              <a:rPr lang="en-IN" sz="1400" b="1">
                <a:solidFill>
                  <a:srgbClr val="FFFFFF"/>
                </a:solidFill>
                <a:latin typeface="AirIndia"/>
              </a:rPr>
              <a:t>26</a:t>
            </a:r>
            <a:endParaRPr kumimoji="0" lang="en-US" sz="1400" b="1" i="0" u="none" strike="noStrike" kern="1200" cap="none" spc="0" normalizeH="0" baseline="0" noProof="0">
              <a:ln>
                <a:noFill/>
              </a:ln>
              <a:solidFill>
                <a:srgbClr val="FFFFFF"/>
              </a:solidFill>
              <a:effectLst/>
              <a:uLnTx/>
              <a:uFillTx/>
              <a:latin typeface="AirIndia"/>
              <a:ea typeface="+mn-ea"/>
              <a:cs typeface="+mn-cs"/>
            </a:endParaRPr>
          </a:p>
        </p:txBody>
      </p:sp>
      <p:sp>
        <p:nvSpPr>
          <p:cNvPr id="6" name="Title 11">
            <a:extLst>
              <a:ext uri="{FF2B5EF4-FFF2-40B4-BE49-F238E27FC236}">
                <a16:creationId xmlns:a16="http://schemas.microsoft.com/office/drawing/2014/main" id="{F4CC0D3B-C563-72E4-B586-6D2AFDF675CE}"/>
              </a:ext>
            </a:extLst>
          </p:cNvPr>
          <p:cNvSpPr txBox="1">
            <a:spLocks/>
          </p:cNvSpPr>
          <p:nvPr/>
        </p:nvSpPr>
        <p:spPr>
          <a:xfrm>
            <a:off x="210200" y="182023"/>
            <a:ext cx="7691717" cy="430255"/>
          </a:xfrm>
          <a:prstGeom prst="rect">
            <a:avLst/>
          </a:prstGeom>
        </p:spPr>
        <p:txBody>
          <a:bodyPr lIns="91440" tIns="45720" rIns="91440" bIns="45720" anchor="t">
            <a:noAutofit/>
          </a:bodyPr>
          <a:lstStyle>
            <a:lvl1pPr algn="l" defTabSz="914400" rtl="0" eaLnBrk="1" latinLnBrk="0" hangingPunct="1">
              <a:lnSpc>
                <a:spcPct val="90000"/>
              </a:lnSpc>
              <a:spcBef>
                <a:spcPct val="0"/>
              </a:spcBef>
              <a:buNone/>
              <a:defRPr sz="4400" b="1" i="0" kern="1200">
                <a:solidFill>
                  <a:schemeClr val="tx1"/>
                </a:solidFill>
                <a:latin typeface="AirIndia" pitchFamily="82" charset="77"/>
                <a:ea typeface="+mj-ea"/>
                <a:cs typeface="+mj-cs"/>
              </a:defRPr>
            </a:lvl1pPr>
          </a:lstStyle>
          <a:p>
            <a:pPr>
              <a:defRPr/>
            </a:pPr>
            <a:r>
              <a:rPr lang="en-US" sz="1800">
                <a:solidFill>
                  <a:srgbClr val="DA0E28"/>
                </a:solidFill>
                <a:latin typeface="AirIndia"/>
              </a:rPr>
              <a:t>CRM/CX-</a:t>
            </a:r>
            <a:r>
              <a:rPr kumimoji="0" lang="en-US" sz="1800" b="1" i="0" u="none" strike="noStrike" kern="1200" cap="none" spc="0" normalizeH="0" baseline="0" noProof="0">
                <a:ln>
                  <a:noFill/>
                </a:ln>
                <a:solidFill>
                  <a:srgbClr val="DA0E28"/>
                </a:solidFill>
                <a:effectLst/>
                <a:uLnTx/>
                <a:uFillTx/>
                <a:latin typeface="AirIndia"/>
                <a:ea typeface="+mj-ea"/>
                <a:cs typeface="+mj-cs"/>
              </a:rPr>
              <a:t> </a:t>
            </a:r>
            <a:r>
              <a:rPr lang="en-US" sz="1800">
                <a:solidFill>
                  <a:srgbClr val="DA0E28"/>
                </a:solidFill>
                <a:latin typeface="AirIndia"/>
              </a:rPr>
              <a:t>FY27</a:t>
            </a:r>
            <a:r>
              <a:rPr kumimoji="0" lang="en-US" sz="1800" b="1" i="0" u="none" strike="noStrike" kern="1200" cap="none" spc="0" normalizeH="0" baseline="0" noProof="0">
                <a:ln>
                  <a:noFill/>
                </a:ln>
                <a:solidFill>
                  <a:srgbClr val="DA0E28"/>
                </a:solidFill>
                <a:effectLst/>
                <a:uLnTx/>
                <a:uFillTx/>
                <a:latin typeface="AirIndia"/>
                <a:ea typeface="+mj-ea"/>
                <a:cs typeface="+mj-cs"/>
              </a:rPr>
              <a:t> Q1  Release Plan</a:t>
            </a:r>
            <a:endParaRPr lang="en-US" sz="1800" b="0" i="0" u="none" strike="noStrike" kern="1200" cap="none" spc="0" normalizeH="0" baseline="0" noProof="0">
              <a:ln>
                <a:noFill/>
              </a:ln>
              <a:solidFill>
                <a:srgbClr val="DA0E28"/>
              </a:solidFill>
              <a:effectLst/>
              <a:uLnTx/>
              <a:uFillTx/>
              <a:latin typeface="AirIndia"/>
            </a:endParaRPr>
          </a:p>
        </p:txBody>
      </p:sp>
      <p:graphicFrame>
        <p:nvGraphicFramePr>
          <p:cNvPr id="12" name="Table 11">
            <a:extLst>
              <a:ext uri="{FF2B5EF4-FFF2-40B4-BE49-F238E27FC236}">
                <a16:creationId xmlns:a16="http://schemas.microsoft.com/office/drawing/2014/main" id="{8ED6082B-B569-7139-DBDE-4D3980040E9F}"/>
              </a:ext>
            </a:extLst>
          </p:cNvPr>
          <p:cNvGraphicFramePr>
            <a:graphicFrameLocks noGrp="1"/>
          </p:cNvGraphicFramePr>
          <p:nvPr>
            <p:extLst>
              <p:ext uri="{D42A27DB-BD31-4B8C-83A1-F6EECF244321}">
                <p14:modId xmlns:p14="http://schemas.microsoft.com/office/powerpoint/2010/main" val="4045454701"/>
              </p:ext>
            </p:extLst>
          </p:nvPr>
        </p:nvGraphicFramePr>
        <p:xfrm>
          <a:off x="1251008" y="588627"/>
          <a:ext cx="10685698" cy="5479244"/>
        </p:xfrm>
        <a:graphic>
          <a:graphicData uri="http://schemas.openxmlformats.org/drawingml/2006/table">
            <a:tbl>
              <a:tblPr firstRow="1" bandRow="1">
                <a:tableStyleId>{5C22544A-7EE6-4342-B048-85BDC9FD1C3A}</a:tableStyleId>
              </a:tblPr>
              <a:tblGrid>
                <a:gridCol w="2919490">
                  <a:extLst>
                    <a:ext uri="{9D8B030D-6E8A-4147-A177-3AD203B41FA5}">
                      <a16:colId xmlns:a16="http://schemas.microsoft.com/office/drawing/2014/main" val="2822350773"/>
                    </a:ext>
                  </a:extLst>
                </a:gridCol>
                <a:gridCol w="2919490">
                  <a:extLst>
                    <a:ext uri="{9D8B030D-6E8A-4147-A177-3AD203B41FA5}">
                      <a16:colId xmlns:a16="http://schemas.microsoft.com/office/drawing/2014/main" val="2043345236"/>
                    </a:ext>
                  </a:extLst>
                </a:gridCol>
                <a:gridCol w="4846718">
                  <a:extLst>
                    <a:ext uri="{9D8B030D-6E8A-4147-A177-3AD203B41FA5}">
                      <a16:colId xmlns:a16="http://schemas.microsoft.com/office/drawing/2014/main" val="99588705"/>
                    </a:ext>
                  </a:extLst>
                </a:gridCol>
              </a:tblGrid>
              <a:tr h="530670">
                <a:tc>
                  <a:txBody>
                    <a:bodyPr/>
                    <a:lstStyle/>
                    <a:p>
                      <a:pPr marL="0" lvl="0" indent="0" algn="ctr" defTabSz="914400" rtl="0">
                        <a:lnSpc>
                          <a:spcPct val="100000"/>
                        </a:lnSpc>
                        <a:buFont typeface="Arial" panose="020B0604020202020204" pitchFamily="34" charset="0"/>
                        <a:buNone/>
                      </a:pPr>
                      <a:r>
                        <a:rPr lang="en-IN" sz="1100" b="1" kern="1200">
                          <a:solidFill>
                            <a:schemeClr val="bg1"/>
                          </a:solidFill>
                          <a:latin typeface="+mn-lt"/>
                          <a:ea typeface="+mn-ea"/>
                          <a:cs typeface="+mn-cs"/>
                        </a:rPr>
                        <a:t>Initiatives</a:t>
                      </a:r>
                      <a:endParaRPr lang="en-US" sz="1100" b="1"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tc>
                  <a:txBody>
                    <a:bodyPr/>
                    <a:lstStyle/>
                    <a:p>
                      <a:pPr marL="0" lvl="0" indent="0" algn="ctr" defTabSz="914400">
                        <a:lnSpc>
                          <a:spcPct val="100000"/>
                        </a:lnSpc>
                        <a:buNone/>
                      </a:pPr>
                      <a:r>
                        <a:rPr lang="en-IN" sz="1100" b="1" i="0" u="none" strike="noStrike" kern="1200" noProof="0">
                          <a:solidFill>
                            <a:schemeClr val="bg1"/>
                          </a:solidFill>
                          <a:latin typeface="Nunito Sans"/>
                          <a:ea typeface="+mn-ea"/>
                          <a:cs typeface="+mn-cs"/>
                        </a:rPr>
                        <a:t>Programs/Projects</a:t>
                      </a:r>
                      <a:endParaRPr lang="en-US"/>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solidFill>
                      <a:schemeClr val="accent3">
                        <a:lumMod val="90000"/>
                        <a:lumOff val="10000"/>
                      </a:schemeClr>
                    </a:solidFill>
                  </a:tcPr>
                </a:tc>
                <a:tc>
                  <a:txBody>
                    <a:bodyPr/>
                    <a:lstStyle/>
                    <a:p>
                      <a:pPr marL="0" lvl="0" indent="0" algn="ctr">
                        <a:lnSpc>
                          <a:spcPct val="100000"/>
                        </a:lnSpc>
                        <a:buNone/>
                      </a:pPr>
                      <a:endParaRPr lang="en-IN" sz="1100" b="1" i="0" u="none" strike="noStrike" kern="1200" baseline="0" noProof="0">
                        <a:solidFill>
                          <a:srgbClr val="FFFFFF"/>
                        </a:solidFill>
                        <a:latin typeface="Nunito Sans"/>
                      </a:endParaRPr>
                    </a:p>
                    <a:p>
                      <a:pPr marL="0" lvl="0" indent="0" algn="ctr">
                        <a:lnSpc>
                          <a:spcPct val="100000"/>
                        </a:lnSpc>
                        <a:buNone/>
                      </a:pPr>
                      <a:r>
                        <a:rPr lang="en-IN" sz="1100" b="1" i="0" u="none" strike="noStrike" kern="1200" baseline="0" noProof="0">
                          <a:solidFill>
                            <a:srgbClr val="FFFFFF"/>
                          </a:solidFill>
                          <a:latin typeface="Nunito Sans"/>
                        </a:rPr>
                        <a:t>Value Justification/Realization</a:t>
                      </a:r>
                    </a:p>
                    <a:p>
                      <a:pPr marL="0" lvl="0" indent="0" algn="ctr" defTabSz="914400">
                        <a:buFont typeface="Arial" panose="020B0604020202020204" pitchFamily="34" charset="0"/>
                        <a:buNone/>
                      </a:pPr>
                      <a:endParaRPr lang="en-IN" sz="1100"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extLst>
                  <a:ext uri="{0D108BD9-81ED-4DB2-BD59-A6C34878D82A}">
                    <a16:rowId xmlns:a16="http://schemas.microsoft.com/office/drawing/2014/main" val="844450115"/>
                  </a:ext>
                </a:extLst>
              </a:tr>
              <a:tr h="4884884">
                <a:tc>
                  <a:txBody>
                    <a:bodyPr/>
                    <a:lstStyle/>
                    <a:p>
                      <a:pPr marL="228600" lvl="0" indent="-228600" algn="l">
                        <a:lnSpc>
                          <a:spcPct val="100000"/>
                        </a:lnSpc>
                        <a:spcBef>
                          <a:spcPts val="0"/>
                        </a:spcBef>
                        <a:spcAft>
                          <a:spcPts val="0"/>
                        </a:spcAft>
                        <a:buAutoNum type="arabicPeriod"/>
                      </a:pPr>
                      <a:endParaRPr lang="en-US" sz="1100" b="1" i="0" u="none" strike="noStrike" kern="1200" noProof="0">
                        <a:solidFill>
                          <a:srgbClr val="00B050"/>
                        </a:solidFill>
                        <a:latin typeface="Nunito Sans"/>
                      </a:endParaRPr>
                    </a:p>
                    <a:p>
                      <a:pPr marL="228600" lvl="0" indent="-228600" algn="l">
                        <a:lnSpc>
                          <a:spcPct val="100000"/>
                        </a:lnSpc>
                        <a:spcBef>
                          <a:spcPts val="0"/>
                        </a:spcBef>
                        <a:spcAft>
                          <a:spcPts val="0"/>
                        </a:spcAft>
                        <a:buAutoNum type="arabicPeriod"/>
                      </a:pPr>
                      <a:endParaRPr lang="en-US" sz="1100" b="1" i="0" u="none" strike="noStrike" kern="1200" noProof="0">
                        <a:solidFill>
                          <a:srgbClr val="00B050"/>
                        </a:solidFill>
                        <a:latin typeface="Nunito Sans"/>
                      </a:endParaRPr>
                    </a:p>
                    <a:p>
                      <a:pPr marL="228600" lvl="0" indent="-228600" algn="l">
                        <a:lnSpc>
                          <a:spcPct val="100000"/>
                        </a:lnSpc>
                        <a:spcBef>
                          <a:spcPts val="0"/>
                        </a:spcBef>
                        <a:spcAft>
                          <a:spcPts val="0"/>
                        </a:spcAft>
                        <a:buAutoNum type="arabicPeriod"/>
                      </a:pPr>
                      <a:r>
                        <a:rPr lang="en-US" sz="1100" b="1" i="0" u="none" strike="noStrike" kern="1200" noProof="0">
                          <a:solidFill>
                            <a:srgbClr val="00B050"/>
                          </a:solidFill>
                        </a:rPr>
                        <a:t>MEDA Phase 2 </a:t>
                      </a:r>
                    </a:p>
                    <a:p>
                      <a:pPr marL="228600" lvl="0" indent="-228600" algn="l">
                        <a:lnSpc>
                          <a:spcPct val="100000"/>
                        </a:lnSpc>
                        <a:spcBef>
                          <a:spcPts val="0"/>
                        </a:spcBef>
                        <a:spcAft>
                          <a:spcPts val="0"/>
                        </a:spcAft>
                        <a:buAutoNum type="arabicPeriod"/>
                      </a:pPr>
                      <a:endParaRPr lang="en-US" sz="1100" b="1" i="0" u="none" strike="noStrike" kern="1200" noProof="0">
                        <a:solidFill>
                          <a:srgbClr val="00B050"/>
                        </a:solidFill>
                      </a:endParaRPr>
                    </a:p>
                    <a:p>
                      <a:pPr marL="228600" lvl="0" indent="-228600" algn="l">
                        <a:lnSpc>
                          <a:spcPct val="100000"/>
                        </a:lnSpc>
                        <a:spcBef>
                          <a:spcPts val="0"/>
                        </a:spcBef>
                        <a:spcAft>
                          <a:spcPts val="0"/>
                        </a:spcAft>
                        <a:buAutoNum type="arabicPeriod"/>
                      </a:pPr>
                      <a:r>
                        <a:rPr lang="en-US" sz="1100" b="1" i="0" u="none" strike="noStrike" kern="1200" noProof="0">
                          <a:solidFill>
                            <a:srgbClr val="00B050"/>
                          </a:solidFill>
                          <a:latin typeface="Nunito Sans"/>
                        </a:rPr>
                        <a:t>Waiver Flow Enhancements (Phase1)</a:t>
                      </a:r>
                    </a:p>
                    <a:p>
                      <a:pPr marL="228600" lvl="0" indent="-228600" algn="l">
                        <a:lnSpc>
                          <a:spcPct val="100000"/>
                        </a:lnSpc>
                        <a:spcBef>
                          <a:spcPts val="0"/>
                        </a:spcBef>
                        <a:spcAft>
                          <a:spcPts val="0"/>
                        </a:spcAft>
                        <a:buAutoNum type="arabicPeriod"/>
                      </a:pPr>
                      <a:r>
                        <a:rPr lang="en-US" sz="1100" b="1" i="0" u="none" strike="noStrike" kern="1200" noProof="0">
                          <a:solidFill>
                            <a:srgbClr val="00B050"/>
                          </a:solidFill>
                        </a:rPr>
                        <a:t>Cargo Voice CSAT</a:t>
                      </a:r>
                    </a:p>
                    <a:p>
                      <a:pPr marL="228600" lvl="0" indent="-228600" algn="l">
                        <a:lnSpc>
                          <a:spcPct val="100000"/>
                        </a:lnSpc>
                        <a:spcBef>
                          <a:spcPts val="0"/>
                        </a:spcBef>
                        <a:spcAft>
                          <a:spcPts val="0"/>
                        </a:spcAft>
                        <a:buAutoNum type="arabicPeriod"/>
                      </a:pPr>
                      <a:endParaRPr lang="en-US" sz="1100" b="1" i="0" u="none" strike="noStrike" kern="1200" noProof="0">
                        <a:solidFill>
                          <a:srgbClr val="00B050"/>
                        </a:solidFill>
                      </a:endParaRPr>
                    </a:p>
                    <a:p>
                      <a:pPr marL="228600" lvl="0" indent="-228600" algn="l">
                        <a:lnSpc>
                          <a:spcPct val="100000"/>
                        </a:lnSpc>
                        <a:spcBef>
                          <a:spcPts val="0"/>
                        </a:spcBef>
                        <a:spcAft>
                          <a:spcPts val="0"/>
                        </a:spcAft>
                        <a:buAutoNum type="arabicPeriod"/>
                      </a:pPr>
                      <a:r>
                        <a:rPr lang="en-US" sz="1100" b="1" i="0" u="none" strike="noStrike" kern="1200" noProof="0">
                          <a:solidFill>
                            <a:srgbClr val="00B050"/>
                          </a:solidFill>
                        </a:rPr>
                        <a:t>Voice of the Customer</a:t>
                      </a:r>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tc>
                  <a:txBody>
                    <a:bodyPr/>
                    <a:lstStyle/>
                    <a:p>
                      <a:pPr marL="228600" lvl="0" indent="-228600" algn="l">
                        <a:lnSpc>
                          <a:spcPct val="100000"/>
                        </a:lnSpc>
                        <a:spcBef>
                          <a:spcPts val="0"/>
                        </a:spcBef>
                        <a:spcAft>
                          <a:spcPts val="0"/>
                        </a:spcAft>
                        <a:buAutoNum type="arabicPeriod"/>
                      </a:pPr>
                      <a:endParaRPr lang="en-US" sz="1100" b="1" i="0" u="none" strike="noStrike" kern="1200" noProof="0">
                        <a:solidFill>
                          <a:srgbClr val="00B050"/>
                        </a:solidFill>
                        <a:latin typeface="Nunito Sans"/>
                      </a:endParaRPr>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tc>
                  <a:txBody>
                    <a:bodyPr/>
                    <a:lstStyle/>
                    <a:p>
                      <a:pPr marL="0" lvl="0" indent="0" algn="l">
                        <a:lnSpc>
                          <a:spcPct val="100000"/>
                        </a:lnSpc>
                        <a:spcBef>
                          <a:spcPts val="0"/>
                        </a:spcBef>
                        <a:spcAft>
                          <a:spcPts val="0"/>
                        </a:spcAft>
                        <a:buNone/>
                      </a:pPr>
                      <a:endParaRPr lang="en-US" sz="1000" b="1" i="0" u="none" strike="noStrike" kern="1200" noProof="0">
                        <a:solidFill>
                          <a:srgbClr val="00B050"/>
                        </a:solidFill>
                      </a:endParaRPr>
                    </a:p>
                    <a:p>
                      <a:pPr marL="0" lvl="0" indent="0" algn="l">
                        <a:lnSpc>
                          <a:spcPct val="100000"/>
                        </a:lnSpc>
                        <a:spcBef>
                          <a:spcPts val="0"/>
                        </a:spcBef>
                        <a:spcAft>
                          <a:spcPts val="0"/>
                        </a:spcAft>
                        <a:buNone/>
                      </a:pPr>
                      <a:r>
                        <a:rPr lang="en-US" sz="1000" b="1" i="0" u="none" strike="noStrike" kern="1200" noProof="0">
                          <a:solidFill>
                            <a:srgbClr val="00B050"/>
                          </a:solidFill>
                        </a:rPr>
                        <a:t>Phase 2 of the MEDA project will enhance the Salesforce workflow with web-to-case improvements and integrate with the AMOS engineering system to provide real-time visibility of medical equipment inventory. This will enable end-to-end automation for approvals, resource allocation, and fulfillment.</a:t>
                      </a:r>
                    </a:p>
                    <a:p>
                      <a:pPr marL="0" lvl="0" indent="0" algn="l">
                        <a:lnSpc>
                          <a:spcPct val="100000"/>
                        </a:lnSpc>
                        <a:spcBef>
                          <a:spcPts val="0"/>
                        </a:spcBef>
                        <a:spcAft>
                          <a:spcPts val="0"/>
                        </a:spcAft>
                        <a:buNone/>
                      </a:pPr>
                      <a:endParaRPr lang="en-US" sz="1000" b="1" i="0" u="none" strike="noStrike" kern="1200" noProof="0">
                        <a:solidFill>
                          <a:srgbClr val="00B050"/>
                        </a:solidFill>
                      </a:endParaRPr>
                    </a:p>
                    <a:p>
                      <a:pPr marL="0" lvl="0" indent="0" algn="l">
                        <a:lnSpc>
                          <a:spcPct val="100000"/>
                        </a:lnSpc>
                        <a:spcBef>
                          <a:spcPts val="0"/>
                        </a:spcBef>
                        <a:spcAft>
                          <a:spcPts val="0"/>
                        </a:spcAft>
                        <a:buNone/>
                      </a:pPr>
                      <a:r>
                        <a:rPr lang="en-US" sz="1000" b="1" i="0" u="none" strike="noStrike" kern="1200" noProof="0">
                          <a:solidFill>
                            <a:srgbClr val="00B050"/>
                          </a:solidFill>
                          <a:latin typeface="Nunito Sans"/>
                        </a:rPr>
                        <a:t>While the compensation ‘expenses’ are now tracked and audited as it is managed through the work orders, the ‘waivers’ offered as part of the IRROP policy or exceptions are not recorded /  tracked or approved in an auditable or trackable system. This is also a constant ask from the regulators.</a:t>
                      </a:r>
                    </a:p>
                    <a:p>
                      <a:pPr marL="0" lvl="0" indent="0" algn="l">
                        <a:lnSpc>
                          <a:spcPct val="100000"/>
                        </a:lnSpc>
                        <a:spcBef>
                          <a:spcPts val="0"/>
                        </a:spcBef>
                        <a:spcAft>
                          <a:spcPts val="0"/>
                        </a:spcAft>
                        <a:buNone/>
                      </a:pPr>
                      <a:endParaRPr lang="en-US" sz="1000" b="1" i="0" u="none" strike="noStrike" kern="1200" noProof="0">
                        <a:solidFill>
                          <a:srgbClr val="00B050"/>
                        </a:solidFill>
                        <a:latin typeface="Nunito Sans"/>
                      </a:endParaRPr>
                    </a:p>
                    <a:p>
                      <a:pPr marL="0" lvl="0" indent="0" algn="l">
                        <a:lnSpc>
                          <a:spcPct val="100000"/>
                        </a:lnSpc>
                        <a:spcBef>
                          <a:spcPts val="0"/>
                        </a:spcBef>
                        <a:spcAft>
                          <a:spcPts val="0"/>
                        </a:spcAft>
                        <a:buNone/>
                      </a:pPr>
                      <a:r>
                        <a:rPr lang="en-US" sz="1000" b="1" i="0" u="none" strike="noStrike" kern="1200">
                          <a:solidFill>
                            <a:srgbClr val="00B050"/>
                          </a:solidFill>
                          <a:latin typeface="Nunito Sans"/>
                          <a:ea typeface="+mn-ea"/>
                          <a:cs typeface="+mn-cs"/>
                        </a:rPr>
                        <a:t>Cargo Voice CSAT (Customer Satisfaction) project focuses on capturing and analyzing customer feedback from voice interactions to measure satisfaction levels. This initiative helps identify service gaps, improve call center performance, and enhance overall customer experience through actionable insights</a:t>
                      </a:r>
                    </a:p>
                    <a:p>
                      <a:pPr marL="0" lvl="0" indent="0" algn="l">
                        <a:lnSpc>
                          <a:spcPct val="100000"/>
                        </a:lnSpc>
                        <a:spcBef>
                          <a:spcPts val="0"/>
                        </a:spcBef>
                        <a:spcAft>
                          <a:spcPts val="0"/>
                        </a:spcAft>
                        <a:buNone/>
                      </a:pPr>
                      <a:endParaRPr lang="en-US" sz="1000" b="1" i="0" u="none" strike="noStrike" kern="1200">
                        <a:solidFill>
                          <a:srgbClr val="00B050"/>
                        </a:solidFill>
                        <a:latin typeface="Nunito Sans"/>
                        <a:ea typeface="+mn-ea"/>
                        <a:cs typeface="+mn-cs"/>
                      </a:endParaRPr>
                    </a:p>
                    <a:p>
                      <a:pPr marL="0" lvl="0" indent="0" algn="l">
                        <a:lnSpc>
                          <a:spcPct val="100000"/>
                        </a:lnSpc>
                        <a:spcBef>
                          <a:spcPts val="0"/>
                        </a:spcBef>
                        <a:spcAft>
                          <a:spcPts val="0"/>
                        </a:spcAft>
                        <a:buNone/>
                      </a:pPr>
                      <a:r>
                        <a:rPr lang="en-US" sz="1000" b="1" i="0" u="none" strike="noStrike" kern="1200">
                          <a:solidFill>
                            <a:srgbClr val="00B050"/>
                          </a:solidFill>
                          <a:latin typeface="+mn-lt"/>
                          <a:ea typeface="+mn-ea"/>
                          <a:cs typeface="+mn-cs"/>
                        </a:rPr>
                        <a:t>Develop one consolidated view of the voice of all the customers we receive with drill downs that can generate actionables for improvements in all the customer touch points.</a:t>
                      </a:r>
                      <a:endParaRPr lang="en-US" sz="1000" b="1" i="0" u="none" strike="noStrike" kern="1200">
                        <a:solidFill>
                          <a:srgbClr val="00B050"/>
                        </a:solidFill>
                        <a:latin typeface="Nunito Sans"/>
                        <a:ea typeface="+mn-ea"/>
                        <a:cs typeface="+mn-cs"/>
                      </a:endParaRPr>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extLst>
                  <a:ext uri="{0D108BD9-81ED-4DB2-BD59-A6C34878D82A}">
                    <a16:rowId xmlns:a16="http://schemas.microsoft.com/office/drawing/2014/main" val="2443371065"/>
                  </a:ext>
                </a:extLst>
              </a:tr>
            </a:tbl>
          </a:graphicData>
        </a:graphic>
      </p:graphicFrame>
      <p:sp>
        <p:nvSpPr>
          <p:cNvPr id="4" name="Rectangle 3">
            <a:extLst>
              <a:ext uri="{FF2B5EF4-FFF2-40B4-BE49-F238E27FC236}">
                <a16:creationId xmlns:a16="http://schemas.microsoft.com/office/drawing/2014/main" id="{4389F8E9-7798-1447-E7B6-B59525DAF4D7}"/>
              </a:ext>
            </a:extLst>
          </p:cNvPr>
          <p:cNvSpPr/>
          <p:nvPr/>
        </p:nvSpPr>
        <p:spPr>
          <a:xfrm>
            <a:off x="1188132" y="6671592"/>
            <a:ext cx="90000" cy="90000"/>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5" name="Rectangle 4">
            <a:extLst>
              <a:ext uri="{FF2B5EF4-FFF2-40B4-BE49-F238E27FC236}">
                <a16:creationId xmlns:a16="http://schemas.microsoft.com/office/drawing/2014/main" id="{65FFBC77-736B-D923-A5A3-8AEDEA7B9835}"/>
              </a:ext>
            </a:extLst>
          </p:cNvPr>
          <p:cNvSpPr/>
          <p:nvPr/>
        </p:nvSpPr>
        <p:spPr>
          <a:xfrm>
            <a:off x="2265818" y="6670554"/>
            <a:ext cx="90000" cy="90000"/>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7" name="Rectangle 6">
            <a:extLst>
              <a:ext uri="{FF2B5EF4-FFF2-40B4-BE49-F238E27FC236}">
                <a16:creationId xmlns:a16="http://schemas.microsoft.com/office/drawing/2014/main" id="{20F0173A-2FDC-937C-3DEF-32E41FB278D3}"/>
              </a:ext>
            </a:extLst>
          </p:cNvPr>
          <p:cNvSpPr/>
          <p:nvPr/>
        </p:nvSpPr>
        <p:spPr>
          <a:xfrm>
            <a:off x="3443423" y="6671592"/>
            <a:ext cx="90000" cy="90000"/>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8" name="Rectangle 7">
            <a:extLst>
              <a:ext uri="{FF2B5EF4-FFF2-40B4-BE49-F238E27FC236}">
                <a16:creationId xmlns:a16="http://schemas.microsoft.com/office/drawing/2014/main" id="{DACCF652-73A6-7AF2-303A-456238785724}"/>
              </a:ext>
            </a:extLst>
          </p:cNvPr>
          <p:cNvSpPr/>
          <p:nvPr/>
        </p:nvSpPr>
        <p:spPr>
          <a:xfrm>
            <a:off x="8146052" y="6714097"/>
            <a:ext cx="90000" cy="90000"/>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9" name="TextBox 15">
            <a:extLst>
              <a:ext uri="{FF2B5EF4-FFF2-40B4-BE49-F238E27FC236}">
                <a16:creationId xmlns:a16="http://schemas.microsoft.com/office/drawing/2014/main" id="{71EDE404-F52B-B5BB-BF47-FE347830C239}"/>
              </a:ext>
            </a:extLst>
          </p:cNvPr>
          <p:cNvSpPr txBox="1"/>
          <p:nvPr/>
        </p:nvSpPr>
        <p:spPr>
          <a:xfrm>
            <a:off x="1288983" y="6614743"/>
            <a:ext cx="857245"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0070C0"/>
                </a:solidFill>
                <a:effectLst/>
                <a:uLnTx/>
                <a:uFillTx/>
                <a:latin typeface="Nunito Sans"/>
                <a:ea typeface="+mn-ea"/>
                <a:cs typeface="+mn-cs"/>
              </a:rPr>
              <a:t>Delivered</a:t>
            </a:r>
            <a:endParaRPr kumimoji="0" lang="en-IN" sz="1000" b="0" i="0" u="none" strike="noStrike" kern="1200" cap="none" spc="0" normalizeH="0" baseline="0" noProof="0">
              <a:ln>
                <a:noFill/>
              </a:ln>
              <a:solidFill>
                <a:srgbClr val="000000"/>
              </a:solidFill>
              <a:effectLst/>
              <a:uLnTx/>
              <a:uFillTx/>
              <a:latin typeface="Nunito Sans"/>
              <a:ea typeface="+mn-ea"/>
              <a:cs typeface="+mn-cs"/>
            </a:endParaRPr>
          </a:p>
        </p:txBody>
      </p:sp>
      <p:sp>
        <p:nvSpPr>
          <p:cNvPr id="10" name="TextBox 18">
            <a:extLst>
              <a:ext uri="{FF2B5EF4-FFF2-40B4-BE49-F238E27FC236}">
                <a16:creationId xmlns:a16="http://schemas.microsoft.com/office/drawing/2014/main" id="{0211ADDA-08D6-D0A6-9A61-57B71A542414}"/>
              </a:ext>
            </a:extLst>
          </p:cNvPr>
          <p:cNvSpPr txBox="1"/>
          <p:nvPr/>
        </p:nvSpPr>
        <p:spPr>
          <a:xfrm>
            <a:off x="2310642" y="6611102"/>
            <a:ext cx="1032881"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00B050"/>
                </a:solidFill>
                <a:effectLst/>
                <a:uLnTx/>
                <a:uFillTx/>
                <a:latin typeface="Nunito Sans"/>
                <a:ea typeface="+mn-ea"/>
                <a:cs typeface="+mn-cs"/>
              </a:rPr>
              <a:t>Ontrack</a:t>
            </a:r>
            <a:endParaRPr kumimoji="0" lang="en-IN" sz="1000" b="0" i="0" u="none" strike="noStrike" kern="1200" cap="none" spc="0" normalizeH="0" baseline="0" noProof="0">
              <a:ln>
                <a:noFill/>
              </a:ln>
              <a:solidFill>
                <a:srgbClr val="000000"/>
              </a:solidFill>
              <a:effectLst/>
              <a:uLnTx/>
              <a:uFillTx/>
              <a:latin typeface="Nunito Sans"/>
              <a:ea typeface="+mn-ea"/>
              <a:cs typeface="+mn-cs"/>
            </a:endParaRPr>
          </a:p>
        </p:txBody>
      </p:sp>
      <p:sp>
        <p:nvSpPr>
          <p:cNvPr id="11" name="TextBox 20">
            <a:extLst>
              <a:ext uri="{FF2B5EF4-FFF2-40B4-BE49-F238E27FC236}">
                <a16:creationId xmlns:a16="http://schemas.microsoft.com/office/drawing/2014/main" id="{05892188-9F89-C3F8-BEBD-D3F3002433E0}"/>
              </a:ext>
            </a:extLst>
          </p:cNvPr>
          <p:cNvSpPr txBox="1"/>
          <p:nvPr/>
        </p:nvSpPr>
        <p:spPr>
          <a:xfrm>
            <a:off x="3539606" y="6608370"/>
            <a:ext cx="2257628"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FED9A0">
                    <a:lumMod val="75000"/>
                  </a:srgbClr>
                </a:solidFill>
                <a:effectLst/>
                <a:uLnTx/>
                <a:uFillTx/>
                <a:latin typeface="Nunito Sans"/>
                <a:ea typeface="+mn-ea"/>
                <a:cs typeface="+mn-cs"/>
              </a:rPr>
              <a:t>Under delay and can be recovered</a:t>
            </a:r>
            <a:endParaRPr kumimoji="0" lang="en-IN" sz="1000" b="0" i="0" u="none" strike="noStrike" kern="1200" cap="none" spc="0" normalizeH="0" baseline="0" noProof="0">
              <a:ln>
                <a:noFill/>
              </a:ln>
              <a:solidFill>
                <a:srgbClr val="000000"/>
              </a:solidFill>
              <a:effectLst/>
              <a:uLnTx/>
              <a:uFillTx/>
              <a:latin typeface="Nunito Sans"/>
              <a:ea typeface="+mn-ea"/>
              <a:cs typeface="+mn-cs"/>
            </a:endParaRPr>
          </a:p>
        </p:txBody>
      </p:sp>
      <p:sp>
        <p:nvSpPr>
          <p:cNvPr id="13" name="TextBox 22">
            <a:extLst>
              <a:ext uri="{FF2B5EF4-FFF2-40B4-BE49-F238E27FC236}">
                <a16:creationId xmlns:a16="http://schemas.microsoft.com/office/drawing/2014/main" id="{F7770C93-0B08-CA5A-D011-5A727A4DAA8C}"/>
              </a:ext>
            </a:extLst>
          </p:cNvPr>
          <p:cNvSpPr txBox="1"/>
          <p:nvPr/>
        </p:nvSpPr>
        <p:spPr>
          <a:xfrm>
            <a:off x="8246937" y="6618126"/>
            <a:ext cx="2338222"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FF0000"/>
                </a:solidFill>
                <a:effectLst/>
                <a:uLnTx/>
                <a:uFillTx/>
                <a:latin typeface="Nunito Sans"/>
                <a:ea typeface="+mn-ea"/>
                <a:cs typeface="+mn-cs"/>
              </a:rPr>
              <a:t>Delayed and pushed to next release</a:t>
            </a:r>
          </a:p>
        </p:txBody>
      </p:sp>
      <p:sp>
        <p:nvSpPr>
          <p:cNvPr id="15" name="TextBox 14">
            <a:extLst>
              <a:ext uri="{FF2B5EF4-FFF2-40B4-BE49-F238E27FC236}">
                <a16:creationId xmlns:a16="http://schemas.microsoft.com/office/drawing/2014/main" id="{B15DE3BB-CB87-5D7C-21DC-9F452E9D84C4}"/>
              </a:ext>
            </a:extLst>
          </p:cNvPr>
          <p:cNvSpPr txBox="1"/>
          <p:nvPr/>
        </p:nvSpPr>
        <p:spPr>
          <a:xfrm>
            <a:off x="6454369" y="6611638"/>
            <a:ext cx="2743200"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IN" sz="1000">
                <a:solidFill>
                  <a:srgbClr val="7D7D7D"/>
                </a:solidFill>
              </a:rPr>
              <a:t>Descoped</a:t>
            </a:r>
            <a:endParaRPr lang="en-US"/>
          </a:p>
        </p:txBody>
      </p:sp>
      <p:sp>
        <p:nvSpPr>
          <p:cNvPr id="16" name="Rectangle 15">
            <a:extLst>
              <a:ext uri="{FF2B5EF4-FFF2-40B4-BE49-F238E27FC236}">
                <a16:creationId xmlns:a16="http://schemas.microsoft.com/office/drawing/2014/main" id="{9A9F8A3B-383B-3895-580A-584252E2466D}"/>
              </a:ext>
            </a:extLst>
          </p:cNvPr>
          <p:cNvSpPr/>
          <p:nvPr/>
        </p:nvSpPr>
        <p:spPr>
          <a:xfrm>
            <a:off x="6360794" y="6681439"/>
            <a:ext cx="90000" cy="90000"/>
          </a:xfrm>
          <a:prstGeom prst="rect">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Tree>
    <p:extLst>
      <p:ext uri="{BB962C8B-B14F-4D97-AF65-F5344CB8AC3E}">
        <p14:creationId xmlns:p14="http://schemas.microsoft.com/office/powerpoint/2010/main" val="773846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E540E7-98BD-66B7-41DE-082CDF25ECC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E2257E3-9795-5B24-E499-F4A2D5ECDB43}"/>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3A41A254-7326-714E-AF55-4C213D6394DE}" type="slidenum">
              <a:rPr kumimoji="0" lang="en-US" sz="1200" b="0" i="0" u="none" strike="noStrike" kern="1200" cap="none" spc="0" normalizeH="0" baseline="0" noProof="0" smtClean="0">
                <a:ln>
                  <a:noFill/>
                </a:ln>
                <a:solidFill>
                  <a:srgbClr val="DA0E28"/>
                </a:solidFill>
                <a:effectLst/>
                <a:uLnTx/>
                <a:uFillTx/>
                <a:latin typeface="Nunito Sans"/>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38</a:t>
            </a:fld>
            <a:endParaRPr kumimoji="0" lang="en-US" sz="1200" b="0" i="0" u="none" strike="noStrike" kern="1200" cap="none" spc="0" normalizeH="0" baseline="0" noProof="0">
              <a:ln>
                <a:noFill/>
              </a:ln>
              <a:solidFill>
                <a:srgbClr val="DA0E28"/>
              </a:solidFill>
              <a:effectLst/>
              <a:uLnTx/>
              <a:uFillTx/>
              <a:latin typeface="Nunito Sans"/>
              <a:ea typeface="+mn-ea"/>
              <a:cs typeface="+mn-cs"/>
            </a:endParaRPr>
          </a:p>
        </p:txBody>
      </p:sp>
      <p:sp>
        <p:nvSpPr>
          <p:cNvPr id="3" name="Rectangle 2">
            <a:extLst>
              <a:ext uri="{FF2B5EF4-FFF2-40B4-BE49-F238E27FC236}">
                <a16:creationId xmlns:a16="http://schemas.microsoft.com/office/drawing/2014/main" id="{24F36C75-90A7-6FF0-26E0-F451024B3EBF}"/>
              </a:ext>
            </a:extLst>
          </p:cNvPr>
          <p:cNvSpPr/>
          <p:nvPr/>
        </p:nvSpPr>
        <p:spPr>
          <a:xfrm>
            <a:off x="129077" y="610471"/>
            <a:ext cx="1170432" cy="42234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400" b="1">
                <a:solidFill>
                  <a:srgbClr val="FFFFFF"/>
                </a:solidFill>
                <a:latin typeface="AirIndia"/>
              </a:rPr>
              <a:t>June</a:t>
            </a:r>
            <a:r>
              <a:rPr kumimoji="0" lang="en-IN" sz="1400" b="1" i="0" u="none" strike="noStrike" kern="1200" cap="none" spc="0" normalizeH="0" baseline="0" noProof="0">
                <a:ln>
                  <a:noFill/>
                </a:ln>
                <a:solidFill>
                  <a:srgbClr val="FFFFFF"/>
                </a:solidFill>
                <a:effectLst/>
                <a:uLnTx/>
                <a:uFillTx/>
                <a:latin typeface="AirIndia"/>
                <a:ea typeface="+mn-ea"/>
                <a:cs typeface="+mn-cs"/>
              </a:rPr>
              <a:t> ‘</a:t>
            </a:r>
            <a:r>
              <a:rPr lang="en-IN" sz="1400" b="1">
                <a:solidFill>
                  <a:srgbClr val="FFFFFF"/>
                </a:solidFill>
                <a:latin typeface="AirIndia"/>
              </a:rPr>
              <a:t>26</a:t>
            </a:r>
            <a:endParaRPr kumimoji="0" lang="en-US" sz="1400" b="1" i="0" u="none" strike="noStrike" kern="1200" cap="none" spc="0" normalizeH="0" baseline="0" noProof="0">
              <a:ln>
                <a:noFill/>
              </a:ln>
              <a:solidFill>
                <a:srgbClr val="FFFFFF"/>
              </a:solidFill>
              <a:effectLst/>
              <a:uLnTx/>
              <a:uFillTx/>
              <a:latin typeface="AirIndia"/>
              <a:ea typeface="+mn-ea"/>
              <a:cs typeface="+mn-cs"/>
            </a:endParaRPr>
          </a:p>
        </p:txBody>
      </p:sp>
      <p:sp>
        <p:nvSpPr>
          <p:cNvPr id="6" name="Title 11">
            <a:extLst>
              <a:ext uri="{FF2B5EF4-FFF2-40B4-BE49-F238E27FC236}">
                <a16:creationId xmlns:a16="http://schemas.microsoft.com/office/drawing/2014/main" id="{1AF51F45-634B-E689-3E38-F5409E44CE6D}"/>
              </a:ext>
            </a:extLst>
          </p:cNvPr>
          <p:cNvSpPr txBox="1">
            <a:spLocks/>
          </p:cNvSpPr>
          <p:nvPr/>
        </p:nvSpPr>
        <p:spPr>
          <a:xfrm>
            <a:off x="253743" y="182023"/>
            <a:ext cx="7702602" cy="430255"/>
          </a:xfrm>
          <a:prstGeom prst="rect">
            <a:avLst/>
          </a:prstGeom>
        </p:spPr>
        <p:txBody>
          <a:bodyPr lIns="91440" tIns="45720" rIns="91440" bIns="45720" anchor="t">
            <a:noAutofit/>
          </a:bodyPr>
          <a:lstStyle>
            <a:lvl1pPr algn="l" defTabSz="914400" rtl="0" eaLnBrk="1" latinLnBrk="0" hangingPunct="1">
              <a:lnSpc>
                <a:spcPct val="90000"/>
              </a:lnSpc>
              <a:spcBef>
                <a:spcPct val="0"/>
              </a:spcBef>
              <a:buNone/>
              <a:defRPr sz="4400" b="1" i="0" kern="1200">
                <a:solidFill>
                  <a:schemeClr val="tx1"/>
                </a:solidFill>
                <a:latin typeface="AirIndia" pitchFamily="82" charset="77"/>
                <a:ea typeface="+mj-ea"/>
                <a:cs typeface="+mj-cs"/>
              </a:defRPr>
            </a:lvl1pPr>
          </a:lstStyle>
          <a:p>
            <a:pPr>
              <a:defRPr/>
            </a:pPr>
            <a:r>
              <a:rPr lang="en-US" sz="1800">
                <a:solidFill>
                  <a:srgbClr val="DA0E28"/>
                </a:solidFill>
                <a:latin typeface="AirIndia"/>
              </a:rPr>
              <a:t>CRM/CX-</a:t>
            </a:r>
            <a:r>
              <a:rPr kumimoji="0" lang="en-US" sz="1800" b="1" i="0" u="none" strike="noStrike" kern="1200" cap="none" spc="0" normalizeH="0" baseline="0" noProof="0">
                <a:ln>
                  <a:noFill/>
                </a:ln>
                <a:solidFill>
                  <a:srgbClr val="DA0E28"/>
                </a:solidFill>
                <a:effectLst/>
                <a:uLnTx/>
                <a:uFillTx/>
                <a:latin typeface="AirIndia"/>
                <a:ea typeface="+mj-ea"/>
                <a:cs typeface="+mj-cs"/>
              </a:rPr>
              <a:t> </a:t>
            </a:r>
            <a:r>
              <a:rPr lang="en-US" sz="1800">
                <a:solidFill>
                  <a:srgbClr val="DA0E28"/>
                </a:solidFill>
                <a:latin typeface="AirIndia"/>
              </a:rPr>
              <a:t>FY27</a:t>
            </a:r>
            <a:r>
              <a:rPr kumimoji="0" lang="en-US" sz="1800" b="1" i="0" u="none" strike="noStrike" kern="1200" cap="none" spc="0" normalizeH="0" baseline="0" noProof="0">
                <a:ln>
                  <a:noFill/>
                </a:ln>
                <a:solidFill>
                  <a:srgbClr val="DA0E28"/>
                </a:solidFill>
                <a:effectLst/>
                <a:uLnTx/>
                <a:uFillTx/>
                <a:latin typeface="AirIndia"/>
                <a:ea typeface="+mj-ea"/>
                <a:cs typeface="+mj-cs"/>
              </a:rPr>
              <a:t> Q1  Release Plan</a:t>
            </a:r>
            <a:endParaRPr lang="en-US" sz="1800" b="0" i="0" u="none" strike="noStrike" kern="1200" cap="none" spc="0" normalizeH="0" baseline="0" noProof="0">
              <a:ln>
                <a:noFill/>
              </a:ln>
              <a:solidFill>
                <a:srgbClr val="DA0E28"/>
              </a:solidFill>
              <a:effectLst/>
              <a:uLnTx/>
              <a:uFillTx/>
              <a:latin typeface="AirIndia"/>
            </a:endParaRPr>
          </a:p>
        </p:txBody>
      </p:sp>
      <p:graphicFrame>
        <p:nvGraphicFramePr>
          <p:cNvPr id="12" name="Table 11">
            <a:extLst>
              <a:ext uri="{FF2B5EF4-FFF2-40B4-BE49-F238E27FC236}">
                <a16:creationId xmlns:a16="http://schemas.microsoft.com/office/drawing/2014/main" id="{C868BDC1-0584-A98A-632E-35D5E3FAA733}"/>
              </a:ext>
            </a:extLst>
          </p:cNvPr>
          <p:cNvGraphicFramePr>
            <a:graphicFrameLocks noGrp="1"/>
          </p:cNvGraphicFramePr>
          <p:nvPr>
            <p:extLst>
              <p:ext uri="{D42A27DB-BD31-4B8C-83A1-F6EECF244321}">
                <p14:modId xmlns:p14="http://schemas.microsoft.com/office/powerpoint/2010/main" val="1222689482"/>
              </p:ext>
            </p:extLst>
          </p:nvPr>
        </p:nvGraphicFramePr>
        <p:xfrm>
          <a:off x="1251008" y="588627"/>
          <a:ext cx="10685698" cy="5985158"/>
        </p:xfrm>
        <a:graphic>
          <a:graphicData uri="http://schemas.openxmlformats.org/drawingml/2006/table">
            <a:tbl>
              <a:tblPr firstRow="1" bandRow="1">
                <a:tableStyleId>{5C22544A-7EE6-4342-B048-85BDC9FD1C3A}</a:tableStyleId>
              </a:tblPr>
              <a:tblGrid>
                <a:gridCol w="2919490">
                  <a:extLst>
                    <a:ext uri="{9D8B030D-6E8A-4147-A177-3AD203B41FA5}">
                      <a16:colId xmlns:a16="http://schemas.microsoft.com/office/drawing/2014/main" val="2822350773"/>
                    </a:ext>
                  </a:extLst>
                </a:gridCol>
                <a:gridCol w="2919490">
                  <a:extLst>
                    <a:ext uri="{9D8B030D-6E8A-4147-A177-3AD203B41FA5}">
                      <a16:colId xmlns:a16="http://schemas.microsoft.com/office/drawing/2014/main" val="1843387359"/>
                    </a:ext>
                  </a:extLst>
                </a:gridCol>
                <a:gridCol w="4846718">
                  <a:extLst>
                    <a:ext uri="{9D8B030D-6E8A-4147-A177-3AD203B41FA5}">
                      <a16:colId xmlns:a16="http://schemas.microsoft.com/office/drawing/2014/main" val="99588705"/>
                    </a:ext>
                  </a:extLst>
                </a:gridCol>
              </a:tblGrid>
              <a:tr h="649239">
                <a:tc>
                  <a:txBody>
                    <a:bodyPr/>
                    <a:lstStyle/>
                    <a:p>
                      <a:pPr marL="0" lvl="0" indent="0" algn="ctr" defTabSz="914400" rtl="0">
                        <a:lnSpc>
                          <a:spcPct val="100000"/>
                        </a:lnSpc>
                        <a:buFont typeface="Arial" panose="020B0604020202020204" pitchFamily="34" charset="0"/>
                        <a:buNone/>
                      </a:pPr>
                      <a:r>
                        <a:rPr lang="en-IN" sz="1100" b="1" kern="1200">
                          <a:solidFill>
                            <a:schemeClr val="bg1"/>
                          </a:solidFill>
                          <a:latin typeface="+mn-lt"/>
                          <a:ea typeface="+mn-ea"/>
                          <a:cs typeface="+mn-cs"/>
                        </a:rPr>
                        <a:t>Initiatives</a:t>
                      </a:r>
                      <a:endParaRPr lang="en-US" sz="1100" b="1"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tc>
                  <a:txBody>
                    <a:bodyPr/>
                    <a:lstStyle/>
                    <a:p>
                      <a:pPr marL="0" lvl="0" indent="0" algn="ctr" defTabSz="914400">
                        <a:lnSpc>
                          <a:spcPct val="100000"/>
                        </a:lnSpc>
                        <a:buNone/>
                      </a:pPr>
                      <a:r>
                        <a:rPr lang="en-IN" sz="1100" b="1" i="0" u="none" strike="noStrike" kern="1200" noProof="0">
                          <a:solidFill>
                            <a:schemeClr val="bg1"/>
                          </a:solidFill>
                          <a:latin typeface="Nunito Sans"/>
                          <a:ea typeface="+mn-ea"/>
                          <a:cs typeface="+mn-cs"/>
                        </a:rPr>
                        <a:t>Programs/Projects</a:t>
                      </a:r>
                      <a:endParaRPr lang="en-US"/>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solidFill>
                      <a:schemeClr val="accent3">
                        <a:lumMod val="90000"/>
                        <a:lumOff val="10000"/>
                      </a:schemeClr>
                    </a:solidFill>
                  </a:tcPr>
                </a:tc>
                <a:tc>
                  <a:txBody>
                    <a:bodyPr/>
                    <a:lstStyle/>
                    <a:p>
                      <a:pPr marL="0" lvl="0" indent="0" algn="ctr">
                        <a:lnSpc>
                          <a:spcPct val="100000"/>
                        </a:lnSpc>
                        <a:buNone/>
                      </a:pPr>
                      <a:endParaRPr lang="en-IN" sz="1100" b="1" i="0" u="none" strike="noStrike" kern="1200" baseline="0" noProof="0">
                        <a:solidFill>
                          <a:srgbClr val="FFFFFF"/>
                        </a:solidFill>
                        <a:latin typeface="Nunito Sans"/>
                      </a:endParaRPr>
                    </a:p>
                    <a:p>
                      <a:pPr marL="0" lvl="0" indent="0" algn="ctr">
                        <a:lnSpc>
                          <a:spcPct val="100000"/>
                        </a:lnSpc>
                        <a:buNone/>
                      </a:pPr>
                      <a:r>
                        <a:rPr lang="en-IN" sz="1100" b="1" i="0" u="none" strike="noStrike" kern="1200" baseline="0" noProof="0">
                          <a:solidFill>
                            <a:srgbClr val="FFFFFF"/>
                          </a:solidFill>
                          <a:latin typeface="Nunito Sans"/>
                        </a:rPr>
                        <a:t>Value Justification/Realization</a:t>
                      </a:r>
                    </a:p>
                    <a:p>
                      <a:pPr marL="0" lvl="0" indent="0" algn="ctr" defTabSz="914400">
                        <a:buFont typeface="Arial" panose="020B0604020202020204" pitchFamily="34" charset="0"/>
                        <a:buNone/>
                      </a:pPr>
                      <a:endParaRPr lang="en-IN" sz="1100"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extLst>
                  <a:ext uri="{0D108BD9-81ED-4DB2-BD59-A6C34878D82A}">
                    <a16:rowId xmlns:a16="http://schemas.microsoft.com/office/drawing/2014/main" val="844450115"/>
                  </a:ext>
                </a:extLst>
              </a:tr>
              <a:tr h="5335919">
                <a:tc>
                  <a:txBody>
                    <a:bodyPr/>
                    <a:lstStyle/>
                    <a:p>
                      <a:pPr marL="0" lvl="0" indent="0" algn="l">
                        <a:lnSpc>
                          <a:spcPct val="100000"/>
                        </a:lnSpc>
                        <a:spcBef>
                          <a:spcPts val="0"/>
                        </a:spcBef>
                        <a:spcAft>
                          <a:spcPts val="0"/>
                        </a:spcAft>
                        <a:buNone/>
                      </a:pPr>
                      <a:endParaRPr lang="en-US" sz="1100" b="1" i="0" u="none" strike="noStrike" kern="1200" noProof="0">
                        <a:solidFill>
                          <a:srgbClr val="00B050"/>
                        </a:solidFill>
                        <a:latin typeface="Nunito Sans"/>
                      </a:endParaRPr>
                    </a:p>
                    <a:p>
                      <a:pPr marL="228600" lvl="0" indent="-228600" algn="l">
                        <a:lnSpc>
                          <a:spcPct val="100000"/>
                        </a:lnSpc>
                        <a:spcBef>
                          <a:spcPts val="0"/>
                        </a:spcBef>
                        <a:spcAft>
                          <a:spcPts val="0"/>
                        </a:spcAft>
                        <a:buAutoNum type="arabicPeriod"/>
                      </a:pPr>
                      <a:r>
                        <a:rPr lang="en-US" sz="1100" b="1" i="0" u="none" strike="noStrike" kern="1200" noProof="0">
                          <a:solidFill>
                            <a:srgbClr val="00B050"/>
                          </a:solidFill>
                          <a:latin typeface="+mn-lt"/>
                        </a:rPr>
                        <a:t>Digitizing Crew Ops related Docs for Catering Management- with integration with Paxia</a:t>
                      </a:r>
                    </a:p>
                    <a:p>
                      <a:pPr marL="228600" lvl="0" indent="-228600" algn="l">
                        <a:lnSpc>
                          <a:spcPct val="100000"/>
                        </a:lnSpc>
                        <a:spcBef>
                          <a:spcPts val="0"/>
                        </a:spcBef>
                        <a:spcAft>
                          <a:spcPts val="0"/>
                        </a:spcAft>
                        <a:buAutoNum type="arabicPeriod"/>
                      </a:pPr>
                      <a:endParaRPr lang="en-US" sz="1100" b="1" i="0" u="none" strike="noStrike" kern="1200" noProof="0">
                        <a:solidFill>
                          <a:srgbClr val="00B050"/>
                        </a:solidFill>
                        <a:latin typeface="+mn-lt"/>
                      </a:endParaRPr>
                    </a:p>
                    <a:p>
                      <a:pPr marL="228600" lvl="0" indent="-228600" algn="l">
                        <a:lnSpc>
                          <a:spcPct val="100000"/>
                        </a:lnSpc>
                        <a:spcBef>
                          <a:spcPts val="0"/>
                        </a:spcBef>
                        <a:spcAft>
                          <a:spcPts val="0"/>
                        </a:spcAft>
                        <a:buAutoNum type="arabicPeriod"/>
                      </a:pPr>
                      <a:r>
                        <a:rPr lang="en-US" sz="1100" b="1" i="0" u="none" strike="noStrike" kern="1200" noProof="0">
                          <a:solidFill>
                            <a:srgbClr val="00B050"/>
                          </a:solidFill>
                          <a:latin typeface="+mn-lt"/>
                        </a:rPr>
                        <a:t>E-statement enhancements (Private fare performance, Total Agency Earning, etc.) - PAX Sales</a:t>
                      </a:r>
                    </a:p>
                    <a:p>
                      <a:pPr marL="228600" lvl="0" indent="-228600" algn="l">
                        <a:lnSpc>
                          <a:spcPct val="100000"/>
                        </a:lnSpc>
                        <a:spcBef>
                          <a:spcPts val="0"/>
                        </a:spcBef>
                        <a:spcAft>
                          <a:spcPts val="0"/>
                        </a:spcAft>
                        <a:buAutoNum type="arabicPeriod"/>
                      </a:pPr>
                      <a:endParaRPr lang="en-US" sz="1100" b="1" i="0" u="none" strike="noStrike" kern="1200" noProof="0">
                        <a:solidFill>
                          <a:srgbClr val="00B050"/>
                        </a:solidFill>
                        <a:latin typeface="+mn-lt"/>
                      </a:endParaRPr>
                    </a:p>
                    <a:p>
                      <a:pPr marL="228600" lvl="0" indent="-228600" algn="l">
                        <a:lnSpc>
                          <a:spcPct val="100000"/>
                        </a:lnSpc>
                        <a:spcBef>
                          <a:spcPts val="0"/>
                        </a:spcBef>
                        <a:spcAft>
                          <a:spcPts val="0"/>
                        </a:spcAft>
                        <a:buAutoNum type="arabicPeriod"/>
                      </a:pPr>
                      <a:r>
                        <a:rPr lang="en-US" sz="1100" b="1" i="0" u="none" strike="noStrike" kern="1200" noProof="0">
                          <a:solidFill>
                            <a:srgbClr val="00B050"/>
                          </a:solidFill>
                          <a:latin typeface="+mn-lt"/>
                        </a:rPr>
                        <a:t>International calling for Cargo CC</a:t>
                      </a:r>
                    </a:p>
                    <a:p>
                      <a:pPr marL="228600" lvl="0" indent="-228600" algn="l">
                        <a:lnSpc>
                          <a:spcPct val="100000"/>
                        </a:lnSpc>
                        <a:spcBef>
                          <a:spcPts val="0"/>
                        </a:spcBef>
                        <a:spcAft>
                          <a:spcPts val="0"/>
                        </a:spcAft>
                        <a:buAutoNum type="arabicPeriod"/>
                      </a:pPr>
                      <a:endParaRPr lang="en-US" sz="1100" b="1" i="0" u="none" strike="noStrike" kern="1200" noProof="0">
                        <a:solidFill>
                          <a:srgbClr val="00B050"/>
                        </a:solidFill>
                        <a:latin typeface="+mn-lt"/>
                      </a:endParaRPr>
                    </a:p>
                    <a:p>
                      <a:pPr marL="228600" lvl="0" indent="-228600" algn="l">
                        <a:lnSpc>
                          <a:spcPct val="100000"/>
                        </a:lnSpc>
                        <a:spcBef>
                          <a:spcPts val="0"/>
                        </a:spcBef>
                        <a:spcAft>
                          <a:spcPts val="0"/>
                        </a:spcAft>
                        <a:buAutoNum type="arabicPeriod"/>
                      </a:pPr>
                      <a:endParaRPr lang="en-US" sz="1100" b="1" i="0" u="none" strike="noStrike" kern="1200" noProof="0">
                        <a:solidFill>
                          <a:srgbClr val="00B050"/>
                        </a:solidFill>
                        <a:latin typeface="+mn-lt"/>
                      </a:endParaRPr>
                    </a:p>
                    <a:p>
                      <a:pPr marL="228600" lvl="0" indent="-228600" algn="l">
                        <a:lnSpc>
                          <a:spcPct val="100000"/>
                        </a:lnSpc>
                        <a:spcBef>
                          <a:spcPts val="0"/>
                        </a:spcBef>
                        <a:spcAft>
                          <a:spcPts val="0"/>
                        </a:spcAft>
                        <a:buAutoNum type="arabicPeriod"/>
                      </a:pPr>
                      <a:endParaRPr lang="en-US" sz="1100" b="1" i="0" u="none" strike="noStrike" kern="1200" noProof="0">
                        <a:solidFill>
                          <a:srgbClr val="00B050"/>
                        </a:solidFill>
                        <a:latin typeface="+mn-lt"/>
                      </a:endParaRPr>
                    </a:p>
                    <a:p>
                      <a:pPr marL="228600" lvl="0" indent="-228600" algn="l">
                        <a:lnSpc>
                          <a:spcPct val="100000"/>
                        </a:lnSpc>
                        <a:spcBef>
                          <a:spcPts val="0"/>
                        </a:spcBef>
                        <a:spcAft>
                          <a:spcPts val="0"/>
                        </a:spcAft>
                        <a:buAutoNum type="arabicPeriod"/>
                      </a:pPr>
                      <a:r>
                        <a:rPr lang="en-US" sz="1100" b="1" i="0" u="none" strike="noStrike" kern="1200" noProof="0">
                          <a:solidFill>
                            <a:srgbClr val="00B050"/>
                          </a:solidFill>
                          <a:latin typeface="+mn-lt"/>
                        </a:rPr>
                        <a:t>CJM-2</a:t>
                      </a:r>
                    </a:p>
                    <a:p>
                      <a:pPr marL="228600" lvl="0" indent="-228600" algn="l">
                        <a:lnSpc>
                          <a:spcPct val="100000"/>
                        </a:lnSpc>
                        <a:spcBef>
                          <a:spcPts val="0"/>
                        </a:spcBef>
                        <a:spcAft>
                          <a:spcPts val="0"/>
                        </a:spcAft>
                        <a:buAutoNum type="arabicPeriod"/>
                      </a:pPr>
                      <a:endParaRPr lang="en-US" sz="1100" b="1" i="0" u="none" strike="noStrike" kern="1200" noProof="0">
                        <a:solidFill>
                          <a:srgbClr val="00B050"/>
                        </a:solidFill>
                        <a:latin typeface="+mn-lt"/>
                      </a:endParaRPr>
                    </a:p>
                    <a:p>
                      <a:pPr marL="228600" lvl="0" indent="-228600" algn="l">
                        <a:lnSpc>
                          <a:spcPct val="100000"/>
                        </a:lnSpc>
                        <a:spcBef>
                          <a:spcPts val="0"/>
                        </a:spcBef>
                        <a:spcAft>
                          <a:spcPts val="0"/>
                        </a:spcAft>
                        <a:buAutoNum type="arabicPeriod"/>
                      </a:pPr>
                      <a:endParaRPr lang="en-US" sz="1100" b="1" i="0" u="none" strike="noStrike" kern="1200" noProof="0">
                        <a:solidFill>
                          <a:srgbClr val="00B050"/>
                        </a:solidFill>
                        <a:latin typeface="+mn-lt"/>
                      </a:endParaRPr>
                    </a:p>
                    <a:p>
                      <a:pPr marL="228600" lvl="0" indent="-228600" algn="l">
                        <a:lnSpc>
                          <a:spcPct val="100000"/>
                        </a:lnSpc>
                        <a:spcBef>
                          <a:spcPts val="0"/>
                        </a:spcBef>
                        <a:spcAft>
                          <a:spcPts val="0"/>
                        </a:spcAft>
                        <a:buAutoNum type="arabicPeriod"/>
                      </a:pPr>
                      <a:r>
                        <a:rPr lang="en-US" sz="1100" b="1" i="0" u="none" strike="noStrike" kern="1200" noProof="0">
                          <a:solidFill>
                            <a:srgbClr val="00B050"/>
                          </a:solidFill>
                          <a:latin typeface="+mn-lt"/>
                        </a:rPr>
                        <a:t>Pax Sales - Sales Org. restructure - Corporate Module + Approval flows + Other Components </a:t>
                      </a:r>
                      <a:endParaRPr lang="en-US" sz="1100" b="1" i="0" u="none" strike="noStrike" kern="1200" noProof="0">
                        <a:solidFill>
                          <a:srgbClr val="00B050"/>
                        </a:solidFill>
                        <a:latin typeface="Nunito Sans"/>
                      </a:endParaRPr>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tc>
                  <a:txBody>
                    <a:bodyPr/>
                    <a:lstStyle/>
                    <a:p>
                      <a:pPr marL="228600" lvl="0" indent="-228600" algn="l">
                        <a:lnSpc>
                          <a:spcPct val="100000"/>
                        </a:lnSpc>
                        <a:spcBef>
                          <a:spcPts val="0"/>
                        </a:spcBef>
                        <a:spcAft>
                          <a:spcPts val="0"/>
                        </a:spcAft>
                        <a:buAutoNum type="arabicPeriod"/>
                      </a:pPr>
                      <a:endParaRPr lang="en-US" sz="1100" b="1" i="0" u="none" strike="noStrike" kern="1200" noProof="0">
                        <a:solidFill>
                          <a:srgbClr val="00B050"/>
                        </a:solidFill>
                      </a:endParaRPr>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b="1" i="0" u="none" strike="noStrike" kern="1200">
                        <a:solidFill>
                          <a:srgbClr val="00B050"/>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i="0" u="none" strike="noStrike" kern="1200">
                          <a:solidFill>
                            <a:srgbClr val="00B050"/>
                          </a:solidFill>
                          <a:latin typeface="+mn-lt"/>
                          <a:ea typeface="+mn-ea"/>
                          <a:cs typeface="+mn-cs"/>
                        </a:rPr>
                        <a:t>Digitizing crew operations documents to simplify catering workflows, reduce manual errors, and accelerate decision-making for on-board services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b="1" i="0" u="none" strike="noStrike" kern="1200">
                        <a:solidFill>
                          <a:srgbClr val="00B050"/>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b="1" i="0" u="none" strike="noStrike" kern="1200">
                        <a:solidFill>
                          <a:srgbClr val="00B050"/>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i="0" u="none" strike="noStrike" kern="1200">
                          <a:solidFill>
                            <a:srgbClr val="00B050"/>
                          </a:solidFill>
                          <a:latin typeface="+mn-lt"/>
                          <a:ea typeface="+mn-ea"/>
                          <a:cs typeface="+mn-cs"/>
                        </a:rPr>
                        <a:t>1. Provides detailed insights into private fare utilization and revenue contribution.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i="0" u="none" strike="noStrike" kern="1200">
                          <a:solidFill>
                            <a:srgbClr val="00B050"/>
                          </a:solidFill>
                          <a:latin typeface="+mn-lt"/>
                          <a:ea typeface="+mn-ea"/>
                          <a:cs typeface="+mn-cs"/>
                        </a:rPr>
                        <a:t>2. Consolidates all earnings (commissions, incentives, overrides) into a single, easy-to-read statement.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i="0" u="none" strike="noStrike" kern="1200">
                          <a:solidFill>
                            <a:srgbClr val="00B050"/>
                          </a:solidFill>
                          <a:latin typeface="+mn-lt"/>
                          <a:ea typeface="+mn-ea"/>
                          <a:cs typeface="+mn-cs"/>
                        </a:rPr>
                        <a:t>3. Improves financial transparency and simplifies reconciliation for agencies.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b="1" i="0" u="none" strike="noStrike" kern="1200">
                        <a:solidFill>
                          <a:srgbClr val="00B050"/>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i="0" u="none" strike="noStrike" kern="1200">
                          <a:solidFill>
                            <a:srgbClr val="00B050"/>
                          </a:solidFill>
                          <a:latin typeface="+mn-lt"/>
                          <a:ea typeface="+mn-ea"/>
                          <a:cs typeface="+mn-cs"/>
                        </a:rPr>
                        <a:t>International Calling for Cargo Customer Care enables global connectivity by integrating international calling capabilities into the Cargo CC system. This ensures seamless communication with customers and partners worldwide, improving support efficiency and customer experience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b="1" i="0" u="none" strike="noStrike" kern="1200">
                        <a:solidFill>
                          <a:srgbClr val="00B050"/>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i="0" u="none" strike="noStrike" kern="1200">
                          <a:solidFill>
                            <a:srgbClr val="00B050"/>
                          </a:solidFill>
                          <a:latin typeface="+mn-lt"/>
                          <a:ea typeface="+mn-ea"/>
                          <a:cs typeface="+mn-cs"/>
                        </a:rPr>
                        <a:t> dependent tagging for agents for streamline the process. This revamp will impact all the flows &amp; processes within salesforce.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b="1" i="0" u="none" strike="noStrike" kern="1200">
                        <a:solidFill>
                          <a:srgbClr val="00B050"/>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i="0" u="none" strike="noStrike" kern="1200">
                          <a:solidFill>
                            <a:srgbClr val="00B050"/>
                          </a:solidFill>
                          <a:latin typeface="+mn-lt"/>
                          <a:ea typeface="+mn-ea"/>
                          <a:cs typeface="+mn-cs"/>
                        </a:rPr>
                        <a:t>Integrated Sales reporting combining both AI and AIX sales team into a single AI group Sales – Corporate</a:t>
                      </a:r>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extLst>
                  <a:ext uri="{0D108BD9-81ED-4DB2-BD59-A6C34878D82A}">
                    <a16:rowId xmlns:a16="http://schemas.microsoft.com/office/drawing/2014/main" val="2443371065"/>
                  </a:ext>
                </a:extLst>
              </a:tr>
            </a:tbl>
          </a:graphicData>
        </a:graphic>
      </p:graphicFrame>
      <p:sp>
        <p:nvSpPr>
          <p:cNvPr id="4" name="Rectangle 3">
            <a:extLst>
              <a:ext uri="{FF2B5EF4-FFF2-40B4-BE49-F238E27FC236}">
                <a16:creationId xmlns:a16="http://schemas.microsoft.com/office/drawing/2014/main" id="{88EB2F0F-CAD0-39B7-D96C-1F885517009F}"/>
              </a:ext>
            </a:extLst>
          </p:cNvPr>
          <p:cNvSpPr/>
          <p:nvPr/>
        </p:nvSpPr>
        <p:spPr>
          <a:xfrm>
            <a:off x="1188132" y="6671592"/>
            <a:ext cx="90000" cy="90000"/>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5" name="Rectangle 4">
            <a:extLst>
              <a:ext uri="{FF2B5EF4-FFF2-40B4-BE49-F238E27FC236}">
                <a16:creationId xmlns:a16="http://schemas.microsoft.com/office/drawing/2014/main" id="{21F98243-4677-9962-C8FB-BF428B13D4E4}"/>
              </a:ext>
            </a:extLst>
          </p:cNvPr>
          <p:cNvSpPr/>
          <p:nvPr/>
        </p:nvSpPr>
        <p:spPr>
          <a:xfrm>
            <a:off x="2265818" y="6670554"/>
            <a:ext cx="90000" cy="90000"/>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7" name="Rectangle 6">
            <a:extLst>
              <a:ext uri="{FF2B5EF4-FFF2-40B4-BE49-F238E27FC236}">
                <a16:creationId xmlns:a16="http://schemas.microsoft.com/office/drawing/2014/main" id="{0ACD1B80-5F1F-646E-54A3-E30476C33204}"/>
              </a:ext>
            </a:extLst>
          </p:cNvPr>
          <p:cNvSpPr/>
          <p:nvPr/>
        </p:nvSpPr>
        <p:spPr>
          <a:xfrm>
            <a:off x="3443423" y="6671592"/>
            <a:ext cx="90000" cy="90000"/>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8" name="Rectangle 7">
            <a:extLst>
              <a:ext uri="{FF2B5EF4-FFF2-40B4-BE49-F238E27FC236}">
                <a16:creationId xmlns:a16="http://schemas.microsoft.com/office/drawing/2014/main" id="{60004775-89D6-6B34-EE46-7E60EA1BBDF1}"/>
              </a:ext>
            </a:extLst>
          </p:cNvPr>
          <p:cNvSpPr/>
          <p:nvPr/>
        </p:nvSpPr>
        <p:spPr>
          <a:xfrm>
            <a:off x="8146052" y="6714097"/>
            <a:ext cx="90000" cy="90000"/>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9" name="TextBox 15">
            <a:extLst>
              <a:ext uri="{FF2B5EF4-FFF2-40B4-BE49-F238E27FC236}">
                <a16:creationId xmlns:a16="http://schemas.microsoft.com/office/drawing/2014/main" id="{01E577AE-8031-FEC7-06C4-E22EA0013788}"/>
              </a:ext>
            </a:extLst>
          </p:cNvPr>
          <p:cNvSpPr txBox="1"/>
          <p:nvPr/>
        </p:nvSpPr>
        <p:spPr>
          <a:xfrm>
            <a:off x="1288983" y="6614743"/>
            <a:ext cx="857245"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0070C0"/>
                </a:solidFill>
                <a:effectLst/>
                <a:uLnTx/>
                <a:uFillTx/>
                <a:latin typeface="Nunito Sans"/>
                <a:ea typeface="+mn-ea"/>
                <a:cs typeface="+mn-cs"/>
              </a:rPr>
              <a:t>Delivered</a:t>
            </a:r>
            <a:endParaRPr kumimoji="0" lang="en-IN" sz="1000" b="0" i="0" u="none" strike="noStrike" kern="1200" cap="none" spc="0" normalizeH="0" baseline="0" noProof="0">
              <a:ln>
                <a:noFill/>
              </a:ln>
              <a:solidFill>
                <a:srgbClr val="000000"/>
              </a:solidFill>
              <a:effectLst/>
              <a:uLnTx/>
              <a:uFillTx/>
              <a:latin typeface="Nunito Sans"/>
              <a:ea typeface="+mn-ea"/>
              <a:cs typeface="+mn-cs"/>
            </a:endParaRPr>
          </a:p>
        </p:txBody>
      </p:sp>
      <p:sp>
        <p:nvSpPr>
          <p:cNvPr id="10" name="TextBox 18">
            <a:extLst>
              <a:ext uri="{FF2B5EF4-FFF2-40B4-BE49-F238E27FC236}">
                <a16:creationId xmlns:a16="http://schemas.microsoft.com/office/drawing/2014/main" id="{1BFE20FA-2C10-C6DB-1CE6-3695B973E40A}"/>
              </a:ext>
            </a:extLst>
          </p:cNvPr>
          <p:cNvSpPr txBox="1"/>
          <p:nvPr/>
        </p:nvSpPr>
        <p:spPr>
          <a:xfrm>
            <a:off x="2310642" y="6611102"/>
            <a:ext cx="1032881"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00B050"/>
                </a:solidFill>
                <a:effectLst/>
                <a:uLnTx/>
                <a:uFillTx/>
                <a:latin typeface="Nunito Sans"/>
                <a:ea typeface="+mn-ea"/>
                <a:cs typeface="+mn-cs"/>
              </a:rPr>
              <a:t>Ontrack</a:t>
            </a:r>
            <a:endParaRPr kumimoji="0" lang="en-IN" sz="1000" b="0" i="0" u="none" strike="noStrike" kern="1200" cap="none" spc="0" normalizeH="0" baseline="0" noProof="0">
              <a:ln>
                <a:noFill/>
              </a:ln>
              <a:solidFill>
                <a:srgbClr val="000000"/>
              </a:solidFill>
              <a:effectLst/>
              <a:uLnTx/>
              <a:uFillTx/>
              <a:latin typeface="Nunito Sans"/>
              <a:ea typeface="+mn-ea"/>
              <a:cs typeface="+mn-cs"/>
            </a:endParaRPr>
          </a:p>
        </p:txBody>
      </p:sp>
      <p:sp>
        <p:nvSpPr>
          <p:cNvPr id="11" name="TextBox 20">
            <a:extLst>
              <a:ext uri="{FF2B5EF4-FFF2-40B4-BE49-F238E27FC236}">
                <a16:creationId xmlns:a16="http://schemas.microsoft.com/office/drawing/2014/main" id="{6992738C-BA64-0A3E-0EAB-D9352ECAB5B3}"/>
              </a:ext>
            </a:extLst>
          </p:cNvPr>
          <p:cNvSpPr txBox="1"/>
          <p:nvPr/>
        </p:nvSpPr>
        <p:spPr>
          <a:xfrm>
            <a:off x="3539606" y="6608370"/>
            <a:ext cx="2257628"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FED9A0">
                    <a:lumMod val="75000"/>
                  </a:srgbClr>
                </a:solidFill>
                <a:effectLst/>
                <a:uLnTx/>
                <a:uFillTx/>
                <a:latin typeface="Nunito Sans"/>
                <a:ea typeface="+mn-ea"/>
                <a:cs typeface="+mn-cs"/>
              </a:rPr>
              <a:t>Under delay and can be recovered</a:t>
            </a:r>
            <a:endParaRPr kumimoji="0" lang="en-IN" sz="1000" b="0" i="0" u="none" strike="noStrike" kern="1200" cap="none" spc="0" normalizeH="0" baseline="0" noProof="0">
              <a:ln>
                <a:noFill/>
              </a:ln>
              <a:solidFill>
                <a:srgbClr val="000000"/>
              </a:solidFill>
              <a:effectLst/>
              <a:uLnTx/>
              <a:uFillTx/>
              <a:latin typeface="Nunito Sans"/>
              <a:ea typeface="+mn-ea"/>
              <a:cs typeface="+mn-cs"/>
            </a:endParaRPr>
          </a:p>
        </p:txBody>
      </p:sp>
      <p:sp>
        <p:nvSpPr>
          <p:cNvPr id="13" name="TextBox 22">
            <a:extLst>
              <a:ext uri="{FF2B5EF4-FFF2-40B4-BE49-F238E27FC236}">
                <a16:creationId xmlns:a16="http://schemas.microsoft.com/office/drawing/2014/main" id="{4C57AD11-F01A-EA1A-5E5B-701C560AD0E8}"/>
              </a:ext>
            </a:extLst>
          </p:cNvPr>
          <p:cNvSpPr txBox="1"/>
          <p:nvPr/>
        </p:nvSpPr>
        <p:spPr>
          <a:xfrm>
            <a:off x="8246937" y="6618126"/>
            <a:ext cx="2338222"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FF0000"/>
                </a:solidFill>
                <a:effectLst/>
                <a:uLnTx/>
                <a:uFillTx/>
                <a:latin typeface="Nunito Sans"/>
                <a:ea typeface="+mn-ea"/>
                <a:cs typeface="+mn-cs"/>
              </a:rPr>
              <a:t>Delayed and pushed to next release</a:t>
            </a:r>
          </a:p>
        </p:txBody>
      </p:sp>
      <p:sp>
        <p:nvSpPr>
          <p:cNvPr id="15" name="TextBox 14">
            <a:extLst>
              <a:ext uri="{FF2B5EF4-FFF2-40B4-BE49-F238E27FC236}">
                <a16:creationId xmlns:a16="http://schemas.microsoft.com/office/drawing/2014/main" id="{DA519B0B-D11E-20F3-12ED-72EBE8CC15B8}"/>
              </a:ext>
            </a:extLst>
          </p:cNvPr>
          <p:cNvSpPr txBox="1"/>
          <p:nvPr/>
        </p:nvSpPr>
        <p:spPr>
          <a:xfrm>
            <a:off x="6454369" y="6611638"/>
            <a:ext cx="2743200"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IN" sz="1000">
                <a:solidFill>
                  <a:srgbClr val="7D7D7D"/>
                </a:solidFill>
              </a:rPr>
              <a:t>Descoped</a:t>
            </a:r>
            <a:endParaRPr lang="en-US"/>
          </a:p>
        </p:txBody>
      </p:sp>
      <p:sp>
        <p:nvSpPr>
          <p:cNvPr id="16" name="Rectangle 15">
            <a:extLst>
              <a:ext uri="{FF2B5EF4-FFF2-40B4-BE49-F238E27FC236}">
                <a16:creationId xmlns:a16="http://schemas.microsoft.com/office/drawing/2014/main" id="{97C45D45-B9C9-29F5-1CF2-1F2592E36E6C}"/>
              </a:ext>
            </a:extLst>
          </p:cNvPr>
          <p:cNvSpPr/>
          <p:nvPr/>
        </p:nvSpPr>
        <p:spPr>
          <a:xfrm>
            <a:off x="6360794" y="6681439"/>
            <a:ext cx="90000" cy="90000"/>
          </a:xfrm>
          <a:prstGeom prst="rect">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Tree>
    <p:extLst>
      <p:ext uri="{BB962C8B-B14F-4D97-AF65-F5344CB8AC3E}">
        <p14:creationId xmlns:p14="http://schemas.microsoft.com/office/powerpoint/2010/main" val="171169224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723405-7AAE-7B05-7EE8-3F7200F07F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E583C5-A546-6EF0-BDC5-924C4CA83642}"/>
              </a:ext>
            </a:extLst>
          </p:cNvPr>
          <p:cNvSpPr>
            <a:spLocks noGrp="1"/>
          </p:cNvSpPr>
          <p:nvPr>
            <p:ph type="title"/>
          </p:nvPr>
        </p:nvSpPr>
        <p:spPr>
          <a:xfrm>
            <a:off x="1919417" y="920381"/>
            <a:ext cx="10176225" cy="895041"/>
          </a:xfrm>
        </p:spPr>
        <p:txBody>
          <a:bodyPr/>
          <a:lstStyle/>
          <a:p>
            <a:r>
              <a:rPr lang="en-US" sz="3600">
                <a:latin typeface="AirIndia"/>
              </a:rPr>
              <a:t>CRM/CX – FY26-27/Q2</a:t>
            </a:r>
            <a:endParaRPr lang="en-IN" sz="3600">
              <a:latin typeface="AirIndia"/>
            </a:endParaRPr>
          </a:p>
        </p:txBody>
      </p:sp>
    </p:spTree>
    <p:extLst>
      <p:ext uri="{BB962C8B-B14F-4D97-AF65-F5344CB8AC3E}">
        <p14:creationId xmlns:p14="http://schemas.microsoft.com/office/powerpoint/2010/main" val="84080154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325C36-D571-9FB4-35E4-6F1C9B2B7F1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68F2790-F476-4730-A852-0B41DA533630}"/>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3A41A254-7326-714E-AF55-4C213D6394DE}" type="slidenum">
              <a:rPr kumimoji="0" lang="en-US" sz="1200" b="0" i="0" u="none" strike="noStrike" kern="1200" cap="none" spc="0" normalizeH="0" baseline="0" noProof="0" smtClean="0">
                <a:ln>
                  <a:noFill/>
                </a:ln>
                <a:solidFill>
                  <a:srgbClr val="DA0E28"/>
                </a:solidFill>
                <a:effectLst/>
                <a:uLnTx/>
                <a:uFillTx/>
                <a:latin typeface="Nunito Sans"/>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40</a:t>
            </a:fld>
            <a:endParaRPr kumimoji="0" lang="en-US" sz="1200" b="0" i="0" u="none" strike="noStrike" kern="1200" cap="none" spc="0" normalizeH="0" baseline="0" noProof="0">
              <a:ln>
                <a:noFill/>
              </a:ln>
              <a:solidFill>
                <a:srgbClr val="DA0E28"/>
              </a:solidFill>
              <a:effectLst/>
              <a:uLnTx/>
              <a:uFillTx/>
              <a:latin typeface="Nunito Sans"/>
              <a:ea typeface="+mn-ea"/>
              <a:cs typeface="+mn-cs"/>
            </a:endParaRPr>
          </a:p>
        </p:txBody>
      </p:sp>
      <p:sp>
        <p:nvSpPr>
          <p:cNvPr id="3" name="Rectangle 2">
            <a:extLst>
              <a:ext uri="{FF2B5EF4-FFF2-40B4-BE49-F238E27FC236}">
                <a16:creationId xmlns:a16="http://schemas.microsoft.com/office/drawing/2014/main" id="{BF8C76C8-6357-279D-42AA-70785202784D}"/>
              </a:ext>
            </a:extLst>
          </p:cNvPr>
          <p:cNvSpPr/>
          <p:nvPr/>
        </p:nvSpPr>
        <p:spPr>
          <a:xfrm>
            <a:off x="129077" y="594612"/>
            <a:ext cx="861523" cy="42234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400" b="1">
                <a:solidFill>
                  <a:srgbClr val="FFFFFF"/>
                </a:solidFill>
                <a:latin typeface="AirIndia"/>
              </a:rPr>
              <a:t>Jul</a:t>
            </a:r>
            <a:r>
              <a:rPr kumimoji="0" lang="en-IN" sz="1400" b="1" i="0" u="none" strike="noStrike" kern="1200" cap="none" spc="0" normalizeH="0" baseline="0" noProof="0">
                <a:ln>
                  <a:noFill/>
                </a:ln>
                <a:solidFill>
                  <a:srgbClr val="FFFFFF"/>
                </a:solidFill>
                <a:effectLst/>
                <a:uLnTx/>
                <a:uFillTx/>
                <a:latin typeface="AirIndia"/>
                <a:ea typeface="+mn-ea"/>
                <a:cs typeface="+mn-cs"/>
              </a:rPr>
              <a:t> ‘</a:t>
            </a:r>
            <a:r>
              <a:rPr lang="en-IN" sz="1400" b="1">
                <a:solidFill>
                  <a:srgbClr val="FFFFFF"/>
                </a:solidFill>
                <a:latin typeface="AirIndia"/>
              </a:rPr>
              <a:t>26</a:t>
            </a:r>
            <a:endParaRPr kumimoji="0" lang="en-US" sz="1400" b="1" i="0" u="none" strike="noStrike" kern="1200" cap="none" spc="0" normalizeH="0" baseline="0" noProof="0">
              <a:ln>
                <a:noFill/>
              </a:ln>
              <a:solidFill>
                <a:srgbClr val="FFFFFF"/>
              </a:solidFill>
              <a:effectLst/>
              <a:uLnTx/>
              <a:uFillTx/>
              <a:latin typeface="AirIndia"/>
              <a:ea typeface="+mn-ea"/>
              <a:cs typeface="+mn-cs"/>
            </a:endParaRPr>
          </a:p>
        </p:txBody>
      </p:sp>
      <p:sp>
        <p:nvSpPr>
          <p:cNvPr id="6" name="Title 11">
            <a:extLst>
              <a:ext uri="{FF2B5EF4-FFF2-40B4-BE49-F238E27FC236}">
                <a16:creationId xmlns:a16="http://schemas.microsoft.com/office/drawing/2014/main" id="{250C8CA7-CAA6-7DD6-CDC0-4B9C5139FD9F}"/>
              </a:ext>
            </a:extLst>
          </p:cNvPr>
          <p:cNvSpPr txBox="1">
            <a:spLocks/>
          </p:cNvSpPr>
          <p:nvPr/>
        </p:nvSpPr>
        <p:spPr>
          <a:xfrm>
            <a:off x="253743" y="182023"/>
            <a:ext cx="7702602" cy="430255"/>
          </a:xfrm>
          <a:prstGeom prst="rect">
            <a:avLst/>
          </a:prstGeom>
        </p:spPr>
        <p:txBody>
          <a:bodyPr lIns="91440" tIns="45720" rIns="91440" bIns="45720" anchor="t">
            <a:noAutofit/>
          </a:bodyPr>
          <a:lstStyle>
            <a:lvl1pPr algn="l" defTabSz="914400" rtl="0" eaLnBrk="1" latinLnBrk="0" hangingPunct="1">
              <a:lnSpc>
                <a:spcPct val="90000"/>
              </a:lnSpc>
              <a:spcBef>
                <a:spcPct val="0"/>
              </a:spcBef>
              <a:buNone/>
              <a:defRPr sz="4400" b="1" i="0" kern="1200">
                <a:solidFill>
                  <a:schemeClr val="tx1"/>
                </a:solidFill>
                <a:latin typeface="AirIndia" pitchFamily="82" charset="77"/>
                <a:ea typeface="+mj-ea"/>
                <a:cs typeface="+mj-cs"/>
              </a:defRPr>
            </a:lvl1pPr>
          </a:lstStyle>
          <a:p>
            <a:pPr>
              <a:defRPr/>
            </a:pPr>
            <a:r>
              <a:rPr lang="en-US" sz="1800">
                <a:solidFill>
                  <a:srgbClr val="DA0E28"/>
                </a:solidFill>
                <a:latin typeface="AirIndia"/>
              </a:rPr>
              <a:t>CRM/CX-</a:t>
            </a:r>
            <a:r>
              <a:rPr kumimoji="0" lang="en-US" sz="1800" b="1" i="0" u="none" strike="noStrike" kern="1200" cap="none" spc="0" normalizeH="0" baseline="0" noProof="0">
                <a:ln>
                  <a:noFill/>
                </a:ln>
                <a:solidFill>
                  <a:srgbClr val="DA0E28"/>
                </a:solidFill>
                <a:effectLst/>
                <a:uLnTx/>
                <a:uFillTx/>
                <a:latin typeface="AirIndia"/>
                <a:ea typeface="+mj-ea"/>
                <a:cs typeface="+mj-cs"/>
              </a:rPr>
              <a:t> </a:t>
            </a:r>
            <a:r>
              <a:rPr lang="en-US" sz="1800">
                <a:solidFill>
                  <a:srgbClr val="DA0E28"/>
                </a:solidFill>
                <a:latin typeface="AirIndia"/>
              </a:rPr>
              <a:t>FY27</a:t>
            </a:r>
            <a:r>
              <a:rPr kumimoji="0" lang="en-US" sz="1800" b="1" i="0" u="none" strike="noStrike" kern="1200" cap="none" spc="0" normalizeH="0" baseline="0" noProof="0">
                <a:ln>
                  <a:noFill/>
                </a:ln>
                <a:solidFill>
                  <a:srgbClr val="DA0E28"/>
                </a:solidFill>
                <a:effectLst/>
                <a:uLnTx/>
                <a:uFillTx/>
                <a:latin typeface="AirIndia"/>
                <a:ea typeface="+mj-ea"/>
                <a:cs typeface="+mj-cs"/>
              </a:rPr>
              <a:t> Q2  Release Plan</a:t>
            </a:r>
            <a:endParaRPr lang="en-US" sz="1800" b="0" i="0" u="none" strike="noStrike" kern="1200" cap="none" spc="0" normalizeH="0" baseline="0" noProof="0">
              <a:ln>
                <a:noFill/>
              </a:ln>
              <a:solidFill>
                <a:srgbClr val="DA0E28"/>
              </a:solidFill>
              <a:effectLst/>
              <a:uLnTx/>
              <a:uFillTx/>
              <a:latin typeface="AirIndia"/>
            </a:endParaRPr>
          </a:p>
        </p:txBody>
      </p:sp>
      <p:graphicFrame>
        <p:nvGraphicFramePr>
          <p:cNvPr id="12" name="Table 11">
            <a:extLst>
              <a:ext uri="{FF2B5EF4-FFF2-40B4-BE49-F238E27FC236}">
                <a16:creationId xmlns:a16="http://schemas.microsoft.com/office/drawing/2014/main" id="{A165283A-F302-B8EB-E1A4-D7F6E804F338}"/>
              </a:ext>
            </a:extLst>
          </p:cNvPr>
          <p:cNvGraphicFramePr>
            <a:graphicFrameLocks noGrp="1"/>
          </p:cNvGraphicFramePr>
          <p:nvPr/>
        </p:nvGraphicFramePr>
        <p:xfrm>
          <a:off x="990600" y="588627"/>
          <a:ext cx="10946107" cy="3582493"/>
        </p:xfrm>
        <a:graphic>
          <a:graphicData uri="http://schemas.openxmlformats.org/drawingml/2006/table">
            <a:tbl>
              <a:tblPr firstRow="1" bandRow="1">
                <a:tableStyleId>{5C22544A-7EE6-4342-B048-85BDC9FD1C3A}</a:tableStyleId>
              </a:tblPr>
              <a:tblGrid>
                <a:gridCol w="1172617">
                  <a:extLst>
                    <a:ext uri="{9D8B030D-6E8A-4147-A177-3AD203B41FA5}">
                      <a16:colId xmlns:a16="http://schemas.microsoft.com/office/drawing/2014/main" val="2822350773"/>
                    </a:ext>
                  </a:extLst>
                </a:gridCol>
                <a:gridCol w="1470593">
                  <a:extLst>
                    <a:ext uri="{9D8B030D-6E8A-4147-A177-3AD203B41FA5}">
                      <a16:colId xmlns:a16="http://schemas.microsoft.com/office/drawing/2014/main" val="1843387359"/>
                    </a:ext>
                  </a:extLst>
                </a:gridCol>
                <a:gridCol w="5779339">
                  <a:extLst>
                    <a:ext uri="{9D8B030D-6E8A-4147-A177-3AD203B41FA5}">
                      <a16:colId xmlns:a16="http://schemas.microsoft.com/office/drawing/2014/main" val="99588705"/>
                    </a:ext>
                  </a:extLst>
                </a:gridCol>
                <a:gridCol w="1273890">
                  <a:extLst>
                    <a:ext uri="{9D8B030D-6E8A-4147-A177-3AD203B41FA5}">
                      <a16:colId xmlns:a16="http://schemas.microsoft.com/office/drawing/2014/main" val="473620677"/>
                    </a:ext>
                  </a:extLst>
                </a:gridCol>
                <a:gridCol w="1249668">
                  <a:extLst>
                    <a:ext uri="{9D8B030D-6E8A-4147-A177-3AD203B41FA5}">
                      <a16:colId xmlns:a16="http://schemas.microsoft.com/office/drawing/2014/main" val="423747452"/>
                    </a:ext>
                  </a:extLst>
                </a:gridCol>
              </a:tblGrid>
              <a:tr h="363576">
                <a:tc>
                  <a:txBody>
                    <a:bodyPr/>
                    <a:lstStyle/>
                    <a:p>
                      <a:pPr marL="0" lvl="0" indent="0" algn="ctr" defTabSz="914400" rtl="0">
                        <a:lnSpc>
                          <a:spcPct val="100000"/>
                        </a:lnSpc>
                        <a:buFont typeface="Arial" panose="020B0604020202020204" pitchFamily="34" charset="0"/>
                        <a:buNone/>
                      </a:pPr>
                      <a:r>
                        <a:rPr lang="en-IN" sz="1100" b="1" kern="1200">
                          <a:solidFill>
                            <a:schemeClr val="bg1"/>
                          </a:solidFill>
                          <a:latin typeface="+mn-lt"/>
                          <a:ea typeface="+mn-ea"/>
                          <a:cs typeface="+mn-cs"/>
                        </a:rPr>
                        <a:t>Initiatives</a:t>
                      </a:r>
                      <a:endParaRPr lang="en-US" sz="1100" b="1"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tc>
                  <a:txBody>
                    <a:bodyPr/>
                    <a:lstStyle/>
                    <a:p>
                      <a:pPr marL="0" lvl="0" indent="0" algn="ctr" defTabSz="914400">
                        <a:lnSpc>
                          <a:spcPct val="100000"/>
                        </a:lnSpc>
                        <a:buNone/>
                      </a:pPr>
                      <a:r>
                        <a:rPr lang="en-IN" sz="1100" b="1" i="0" u="none" strike="noStrike" kern="1200" noProof="0">
                          <a:solidFill>
                            <a:schemeClr val="bg1"/>
                          </a:solidFill>
                          <a:latin typeface="Nunito Sans"/>
                          <a:ea typeface="+mn-ea"/>
                          <a:cs typeface="+mn-cs"/>
                        </a:rPr>
                        <a:t>Programs/Projects</a:t>
                      </a:r>
                      <a:endParaRPr lang="en-US"/>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solidFill>
                      <a:schemeClr val="accent3">
                        <a:lumMod val="90000"/>
                        <a:lumOff val="10000"/>
                      </a:schemeClr>
                    </a:solidFill>
                  </a:tcPr>
                </a:tc>
                <a:tc>
                  <a:txBody>
                    <a:bodyPr/>
                    <a:lstStyle/>
                    <a:p>
                      <a:pPr marL="0" lvl="0" indent="0" algn="ctr">
                        <a:lnSpc>
                          <a:spcPct val="100000"/>
                        </a:lnSpc>
                        <a:buNone/>
                      </a:pPr>
                      <a:endParaRPr lang="en-IN" sz="1100" b="1" i="0" u="none" strike="noStrike" kern="1200" baseline="0" noProof="0">
                        <a:solidFill>
                          <a:srgbClr val="FFFFFF"/>
                        </a:solidFill>
                        <a:latin typeface="Nunito Sans"/>
                      </a:endParaRPr>
                    </a:p>
                    <a:p>
                      <a:pPr marL="0" lvl="0" indent="0" algn="ctr">
                        <a:lnSpc>
                          <a:spcPct val="100000"/>
                        </a:lnSpc>
                        <a:buNone/>
                      </a:pPr>
                      <a:r>
                        <a:rPr lang="en-IN" sz="1100" b="1" i="0" u="none" strike="noStrike" kern="1200" baseline="0" noProof="0">
                          <a:solidFill>
                            <a:srgbClr val="FFFFFF"/>
                          </a:solidFill>
                          <a:latin typeface="Nunito Sans"/>
                        </a:rPr>
                        <a:t>Value Justification/Realization</a:t>
                      </a:r>
                    </a:p>
                    <a:p>
                      <a:pPr marL="0" lvl="0" indent="0" algn="ctr" defTabSz="914400">
                        <a:buFont typeface="Arial" panose="020B0604020202020204" pitchFamily="34" charset="0"/>
                        <a:buNone/>
                      </a:pPr>
                      <a:endParaRPr lang="en-IN" sz="1100"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100" b="1" kern="1200">
                          <a:solidFill>
                            <a:schemeClr val="bg1"/>
                          </a:solidFill>
                          <a:latin typeface="+mn-lt"/>
                          <a:ea typeface="+mn-ea"/>
                          <a:cs typeface="+mn-cs"/>
                        </a:rPr>
                        <a:t>Planned Go-live date</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1100" b="1" kern="1200">
                          <a:solidFill>
                            <a:schemeClr val="bg1"/>
                          </a:solidFill>
                          <a:latin typeface="+mn-lt"/>
                          <a:ea typeface="+mn-ea"/>
                          <a:cs typeface="+mn-cs"/>
                        </a:rPr>
                        <a:t>EIP Integration Required (Yes/No)</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extLst>
                  <a:ext uri="{0D108BD9-81ED-4DB2-BD59-A6C34878D82A}">
                    <a16:rowId xmlns:a16="http://schemas.microsoft.com/office/drawing/2014/main" val="844450115"/>
                  </a:ext>
                </a:extLst>
              </a:tr>
              <a:tr h="2988133">
                <a:tc>
                  <a:txBody>
                    <a:bodyPr/>
                    <a:lstStyle/>
                    <a:p>
                      <a:pPr marL="0" lvl="0" indent="0" algn="l">
                        <a:lnSpc>
                          <a:spcPct val="100000"/>
                        </a:lnSpc>
                        <a:spcBef>
                          <a:spcPts val="0"/>
                        </a:spcBef>
                        <a:spcAft>
                          <a:spcPts val="0"/>
                        </a:spcAft>
                        <a:buNone/>
                      </a:pPr>
                      <a:r>
                        <a:rPr lang="en-US" sz="1100" b="1" i="0" u="none" strike="noStrike" kern="1200" noProof="0">
                          <a:solidFill>
                            <a:srgbClr val="00B050"/>
                          </a:solidFill>
                          <a:latin typeface="Nunito Sans"/>
                        </a:rPr>
                        <a:t>VIP Management – A/B/C via Slack </a:t>
                      </a:r>
                    </a:p>
                    <a:p>
                      <a:pPr marL="0" lvl="0" indent="0" algn="l">
                        <a:lnSpc>
                          <a:spcPct val="100000"/>
                        </a:lnSpc>
                        <a:spcBef>
                          <a:spcPts val="0"/>
                        </a:spcBef>
                        <a:spcAft>
                          <a:spcPts val="0"/>
                        </a:spcAft>
                        <a:buNone/>
                      </a:pPr>
                      <a:endParaRPr lang="en-US" sz="1100" b="1" i="0" u="none" strike="noStrike" kern="1200" noProof="0">
                        <a:solidFill>
                          <a:srgbClr val="00B050"/>
                        </a:solidFill>
                        <a:latin typeface="Nunito Sans"/>
                      </a:endParaRPr>
                    </a:p>
                    <a:p>
                      <a:pPr marL="0" lvl="0" indent="0" algn="l">
                        <a:lnSpc>
                          <a:spcPct val="100000"/>
                        </a:lnSpc>
                        <a:spcBef>
                          <a:spcPts val="0"/>
                        </a:spcBef>
                        <a:spcAft>
                          <a:spcPts val="0"/>
                        </a:spcAft>
                        <a:buNone/>
                      </a:pPr>
                      <a:endParaRPr lang="en-US" sz="1100" b="1" i="0" u="none" strike="noStrike" kern="1200" noProof="0">
                        <a:solidFill>
                          <a:srgbClr val="00B050"/>
                        </a:solidFill>
                        <a:latin typeface="Nunito Sans"/>
                      </a:endParaRPr>
                    </a:p>
                    <a:p>
                      <a:pPr marL="0" lvl="0" indent="0" algn="l">
                        <a:lnSpc>
                          <a:spcPct val="100000"/>
                        </a:lnSpc>
                        <a:spcBef>
                          <a:spcPts val="0"/>
                        </a:spcBef>
                        <a:spcAft>
                          <a:spcPts val="0"/>
                        </a:spcAft>
                        <a:buNone/>
                      </a:pPr>
                      <a:endParaRPr lang="en-US" sz="1100" b="1" i="0" u="none" strike="noStrike" kern="1200" noProof="0">
                        <a:solidFill>
                          <a:srgbClr val="00B050"/>
                        </a:solidFill>
                        <a:latin typeface="+mn-lt"/>
                      </a:endParaRPr>
                    </a:p>
                    <a:p>
                      <a:pPr marL="0" lvl="0" indent="0" algn="l">
                        <a:lnSpc>
                          <a:spcPct val="100000"/>
                        </a:lnSpc>
                        <a:spcBef>
                          <a:spcPts val="0"/>
                        </a:spcBef>
                        <a:spcAft>
                          <a:spcPts val="0"/>
                        </a:spcAft>
                        <a:buNone/>
                      </a:pPr>
                      <a:r>
                        <a:rPr lang="en-US" sz="1100" b="1" i="0" u="none" strike="noStrike" kern="1200" noProof="0">
                          <a:solidFill>
                            <a:srgbClr val="00B050"/>
                          </a:solidFill>
                          <a:latin typeface="+mn-lt"/>
                        </a:rPr>
                        <a:t>Automated Email – Refunds </a:t>
                      </a:r>
                    </a:p>
                    <a:p>
                      <a:pPr marL="0" lvl="0" indent="0" algn="l">
                        <a:lnSpc>
                          <a:spcPct val="100000"/>
                        </a:lnSpc>
                        <a:spcBef>
                          <a:spcPts val="0"/>
                        </a:spcBef>
                        <a:spcAft>
                          <a:spcPts val="0"/>
                        </a:spcAft>
                        <a:buNone/>
                      </a:pPr>
                      <a:endParaRPr lang="en-US" sz="1100" b="1" i="0" u="none" strike="noStrike" kern="1200" noProof="0">
                        <a:solidFill>
                          <a:srgbClr val="00B050"/>
                        </a:solidFill>
                        <a:latin typeface="Nunito Sans"/>
                      </a:endParaRPr>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tc>
                  <a:txBody>
                    <a:bodyPr/>
                    <a:lstStyle/>
                    <a:p>
                      <a:pPr marL="228600" lvl="0" indent="-228600" algn="l">
                        <a:lnSpc>
                          <a:spcPct val="100000"/>
                        </a:lnSpc>
                        <a:spcBef>
                          <a:spcPts val="0"/>
                        </a:spcBef>
                        <a:spcAft>
                          <a:spcPts val="0"/>
                        </a:spcAft>
                        <a:buAutoNum type="arabicPeriod"/>
                      </a:pPr>
                      <a:endParaRPr lang="en-US" sz="1100" b="1" i="0" u="none" strike="noStrike" kern="1200" noProof="0">
                        <a:solidFill>
                          <a:srgbClr val="00B050"/>
                        </a:solidFill>
                      </a:endParaRPr>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tc>
                  <a:txBody>
                    <a:bodyPr/>
                    <a:lstStyle/>
                    <a:p>
                      <a:pPr lvl="0" algn="l">
                        <a:lnSpc>
                          <a:spcPct val="100000"/>
                        </a:lnSpc>
                        <a:spcBef>
                          <a:spcPts val="0"/>
                        </a:spcBef>
                        <a:spcAft>
                          <a:spcPts val="0"/>
                        </a:spcAft>
                        <a:buNone/>
                      </a:pPr>
                      <a:r>
                        <a:rPr lang="en-US" sz="1100" b="0" i="0" u="none" strike="noStrike" kern="1200" noProof="0">
                          <a:solidFill>
                            <a:srgbClr val="00B050"/>
                          </a:solidFill>
                          <a:latin typeface="Nunito Sans"/>
                        </a:rPr>
                        <a:t>We are implementing a centralized Fulfilment Tracking System for Air India to digitally manage and track end‑to‑end VIP Travel Assistance services. The solution will replace manual processes with real‑time tracking, improve GEC assignment, and centralized visibility via Slack, ensuring consistent service delivery, improved efficiency, full auditability, and enhanced premium guest experience.</a:t>
                      </a:r>
                      <a:endParaRPr lang="en-US"/>
                    </a:p>
                    <a:p>
                      <a:pPr marL="0" marR="0" lvl="0" indent="0" algn="l">
                        <a:lnSpc>
                          <a:spcPct val="100000"/>
                        </a:lnSpc>
                        <a:spcBef>
                          <a:spcPts val="0"/>
                        </a:spcBef>
                        <a:spcAft>
                          <a:spcPts val="0"/>
                        </a:spcAft>
                        <a:buNone/>
                      </a:pPr>
                      <a:r>
                        <a:rPr lang="en-US" sz="1100" b="0" i="0" u="none" strike="noStrike" kern="1200" noProof="0">
                          <a:solidFill>
                            <a:srgbClr val="00B050"/>
                          </a:solidFill>
                          <a:latin typeface="Nunito Sans"/>
                        </a:rPr>
                        <a:t> </a:t>
                      </a:r>
                      <a:r>
                        <a:rPr lang="en-US" sz="1000" b="0" i="0" u="none" strike="noStrike" kern="1200" noProof="0">
                          <a:solidFill>
                            <a:srgbClr val="00B050"/>
                          </a:solidFill>
                        </a:rPr>
                        <a:t>.</a:t>
                      </a:r>
                    </a:p>
                    <a:p>
                      <a:pPr marL="0" marR="0" lvl="0" indent="0" algn="l">
                        <a:lnSpc>
                          <a:spcPct val="100000"/>
                        </a:lnSpc>
                        <a:spcBef>
                          <a:spcPts val="0"/>
                        </a:spcBef>
                        <a:spcAft>
                          <a:spcPts val="0"/>
                        </a:spcAft>
                        <a:buNone/>
                      </a:pPr>
                      <a:endParaRPr lang="en-US" sz="1000" b="0" i="0" u="none" strike="noStrike" kern="1200" noProof="0">
                        <a:solidFill>
                          <a:srgbClr val="00B050"/>
                        </a:solidFill>
                      </a:endParaRPr>
                    </a:p>
                    <a:p>
                      <a:pPr marL="0" marR="0" lvl="0" indent="0" algn="l">
                        <a:lnSpc>
                          <a:spcPct val="100000"/>
                        </a:lnSpc>
                        <a:spcBef>
                          <a:spcPts val="0"/>
                        </a:spcBef>
                        <a:spcAft>
                          <a:spcPts val="0"/>
                        </a:spcAft>
                        <a:buNone/>
                      </a:pPr>
                      <a:r>
                        <a:rPr lang="en-IN" sz="1100" b="0" i="0" u="none" strike="noStrike" kern="1200">
                          <a:solidFill>
                            <a:srgbClr val="00B050"/>
                          </a:solidFill>
                          <a:latin typeface="Nunito Sans"/>
                          <a:ea typeface="+mn-ea"/>
                          <a:cs typeface="+mn-cs"/>
                        </a:rPr>
                        <a:t>By automating 13% of refund cases (~46,800 cases annually), Air India can eliminate approximately 6,240 hours of manual effort every year, resulting in operational savings equivalent to ~3 FTEs and direct annual cost savings of ~₹18 Lakhs.</a:t>
                      </a:r>
                      <a:endParaRPr lang="en-US" sz="1100" b="0" i="0" u="none" strike="noStrike" kern="1200">
                        <a:solidFill>
                          <a:srgbClr val="00B050"/>
                        </a:solidFill>
                        <a:latin typeface="Nunito Sans"/>
                        <a:ea typeface="+mn-ea"/>
                        <a:cs typeface="+mn-cs"/>
                      </a:endParaRPr>
                    </a:p>
                    <a:p>
                      <a:pPr marL="0" marR="0" lvl="0" indent="0" algn="l">
                        <a:lnSpc>
                          <a:spcPct val="100000"/>
                        </a:lnSpc>
                        <a:spcBef>
                          <a:spcPts val="0"/>
                        </a:spcBef>
                        <a:spcAft>
                          <a:spcPts val="0"/>
                        </a:spcAft>
                        <a:buNone/>
                      </a:pPr>
                      <a:endParaRPr lang="en-US"/>
                    </a:p>
                  </a:txBody>
                  <a:tcP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a:solidFill>
                        <a:schemeClr val="bg1">
                          <a:lumMod val="75000"/>
                        </a:schemeClr>
                      </a:solidFill>
                    </a:lnB>
                    <a:noFill/>
                  </a:tcPr>
                </a:tc>
                <a:tc>
                  <a:txBody>
                    <a:bodyPr/>
                    <a:lstStyle/>
                    <a:p>
                      <a:pPr marL="0" marR="0" lvl="0" indent="0" algn="l">
                        <a:lnSpc>
                          <a:spcPct val="100000"/>
                        </a:lnSpc>
                        <a:spcBef>
                          <a:spcPts val="0"/>
                        </a:spcBef>
                        <a:spcAft>
                          <a:spcPts val="0"/>
                        </a:spcAft>
                        <a:buNone/>
                      </a:pPr>
                      <a:r>
                        <a:rPr lang="en-US" sz="1100" b="0" i="0" u="none" strike="noStrike" kern="1200">
                          <a:solidFill>
                            <a:srgbClr val="00B050"/>
                          </a:solidFill>
                          <a:latin typeface="Nunito Sans"/>
                          <a:ea typeface="+mn-ea"/>
                          <a:cs typeface="+mn-cs"/>
                        </a:rPr>
                        <a:t>28/7/2026</a:t>
                      </a:r>
                    </a:p>
                    <a:p>
                      <a:pPr marL="0" marR="0" lvl="0" indent="0" algn="l">
                        <a:lnSpc>
                          <a:spcPct val="100000"/>
                        </a:lnSpc>
                        <a:spcBef>
                          <a:spcPts val="0"/>
                        </a:spcBef>
                        <a:spcAft>
                          <a:spcPts val="0"/>
                        </a:spcAft>
                        <a:buNone/>
                      </a:pPr>
                      <a:endParaRPr lang="en-US" sz="1100" b="0" i="0" u="none" strike="noStrike" kern="1200">
                        <a:solidFill>
                          <a:srgbClr val="00B050"/>
                        </a:solidFill>
                        <a:latin typeface="Nunito Sans"/>
                        <a:ea typeface="+mn-ea"/>
                        <a:cs typeface="+mn-cs"/>
                      </a:endParaRPr>
                    </a:p>
                    <a:p>
                      <a:pPr marL="0" marR="0" lvl="0" indent="0" algn="l">
                        <a:lnSpc>
                          <a:spcPct val="100000"/>
                        </a:lnSpc>
                        <a:spcBef>
                          <a:spcPts val="0"/>
                        </a:spcBef>
                        <a:spcAft>
                          <a:spcPts val="0"/>
                        </a:spcAft>
                        <a:buNone/>
                      </a:pPr>
                      <a:endParaRPr lang="en-US" sz="1100" b="0" i="0" u="none" strike="noStrike" kern="1200">
                        <a:solidFill>
                          <a:srgbClr val="00B050"/>
                        </a:solidFill>
                        <a:latin typeface="Nunito Sans"/>
                        <a:ea typeface="+mn-ea"/>
                        <a:cs typeface="+mn-cs"/>
                      </a:endParaRPr>
                    </a:p>
                    <a:p>
                      <a:pPr marL="0" marR="0" lvl="0" indent="0" algn="l">
                        <a:lnSpc>
                          <a:spcPct val="100000"/>
                        </a:lnSpc>
                        <a:spcBef>
                          <a:spcPts val="0"/>
                        </a:spcBef>
                        <a:spcAft>
                          <a:spcPts val="0"/>
                        </a:spcAft>
                        <a:buNone/>
                      </a:pPr>
                      <a:endParaRPr lang="en-US" sz="1100" b="0" i="0" u="none" strike="noStrike" kern="1200">
                        <a:solidFill>
                          <a:srgbClr val="00B050"/>
                        </a:solidFill>
                        <a:latin typeface="Nunito Sans"/>
                        <a:ea typeface="+mn-ea"/>
                        <a:cs typeface="+mn-cs"/>
                      </a:endParaRPr>
                    </a:p>
                    <a:p>
                      <a:pPr marL="0" marR="0" lvl="0" indent="0" algn="l">
                        <a:lnSpc>
                          <a:spcPct val="100000"/>
                        </a:lnSpc>
                        <a:spcBef>
                          <a:spcPts val="0"/>
                        </a:spcBef>
                        <a:spcAft>
                          <a:spcPts val="0"/>
                        </a:spcAft>
                        <a:buNone/>
                      </a:pPr>
                      <a:endParaRPr lang="en-US" sz="1100" b="0" i="0" u="none" strike="noStrike" kern="1200">
                        <a:solidFill>
                          <a:srgbClr val="00B050"/>
                        </a:solidFill>
                        <a:latin typeface="Nunito Sans"/>
                        <a:ea typeface="+mn-ea"/>
                        <a:cs typeface="+mn-cs"/>
                      </a:endParaRPr>
                    </a:p>
                    <a:p>
                      <a:pPr marL="0" marR="0" lvl="0" indent="0" algn="l">
                        <a:lnSpc>
                          <a:spcPct val="100000"/>
                        </a:lnSpc>
                        <a:spcBef>
                          <a:spcPts val="0"/>
                        </a:spcBef>
                        <a:spcAft>
                          <a:spcPts val="0"/>
                        </a:spcAft>
                        <a:buNone/>
                      </a:pPr>
                      <a:endParaRPr lang="en-US" sz="1100" b="0" i="0" u="none" strike="noStrike" kern="1200">
                        <a:solidFill>
                          <a:srgbClr val="00B050"/>
                        </a:solidFill>
                        <a:latin typeface="Nunito Sans"/>
                        <a:ea typeface="+mn-ea"/>
                        <a:cs typeface="+mn-cs"/>
                      </a:endParaRPr>
                    </a:p>
                    <a:p>
                      <a:pPr marL="0" marR="0" lvl="0" indent="0" algn="l">
                        <a:lnSpc>
                          <a:spcPct val="100000"/>
                        </a:lnSpc>
                        <a:spcBef>
                          <a:spcPts val="0"/>
                        </a:spcBef>
                        <a:spcAft>
                          <a:spcPts val="0"/>
                        </a:spcAft>
                        <a:buNone/>
                      </a:pPr>
                      <a:endParaRPr lang="en-US" sz="1100" b="0" i="0" u="none" strike="noStrike" kern="1200">
                        <a:solidFill>
                          <a:srgbClr val="00B050"/>
                        </a:solidFill>
                        <a:latin typeface="Nunito Sans"/>
                        <a:ea typeface="+mn-ea"/>
                        <a:cs typeface="+mn-cs"/>
                      </a:endParaRPr>
                    </a:p>
                    <a:p>
                      <a:pPr marL="0" marR="0" lvl="0" indent="0" algn="l">
                        <a:lnSpc>
                          <a:spcPct val="100000"/>
                        </a:lnSpc>
                        <a:spcBef>
                          <a:spcPts val="0"/>
                        </a:spcBef>
                        <a:spcAft>
                          <a:spcPts val="0"/>
                        </a:spcAft>
                        <a:buNone/>
                      </a:pPr>
                      <a:r>
                        <a:rPr lang="en-US" sz="1100" b="0" i="0" u="none" strike="noStrike" kern="1200">
                          <a:solidFill>
                            <a:srgbClr val="00B050"/>
                          </a:solidFill>
                          <a:latin typeface="Nunito Sans"/>
                          <a:ea typeface="+mn-ea"/>
                          <a:cs typeface="+mn-cs"/>
                        </a:rPr>
                        <a:t>15/07/2026</a:t>
                      </a:r>
                    </a:p>
                  </a:txBody>
                  <a:tcP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a:solidFill>
                        <a:schemeClr val="bg1">
                          <a:lumMod val="75000"/>
                        </a:schemeClr>
                      </a:solidFill>
                    </a:lnB>
                    <a:noFill/>
                  </a:tcPr>
                </a:tc>
                <a:tc>
                  <a:txBody>
                    <a:bodyPr/>
                    <a:lstStyle/>
                    <a:p>
                      <a:pPr marL="0" marR="0" lvl="0" indent="0" algn="l">
                        <a:lnSpc>
                          <a:spcPct val="100000"/>
                        </a:lnSpc>
                        <a:spcBef>
                          <a:spcPts val="0"/>
                        </a:spcBef>
                        <a:spcAft>
                          <a:spcPts val="0"/>
                        </a:spcAft>
                        <a:buNone/>
                      </a:pPr>
                      <a:r>
                        <a:rPr lang="en-US"/>
                        <a:t>No</a:t>
                      </a:r>
                    </a:p>
                    <a:p>
                      <a:pPr marL="0" marR="0" lvl="0" indent="0" algn="l">
                        <a:lnSpc>
                          <a:spcPct val="100000"/>
                        </a:lnSpc>
                        <a:spcBef>
                          <a:spcPts val="0"/>
                        </a:spcBef>
                        <a:spcAft>
                          <a:spcPts val="0"/>
                        </a:spcAft>
                        <a:buNone/>
                      </a:pPr>
                      <a:endParaRPr lang="en-US"/>
                    </a:p>
                    <a:p>
                      <a:pPr marL="0" marR="0" lvl="0" indent="0" algn="l">
                        <a:lnSpc>
                          <a:spcPct val="100000"/>
                        </a:lnSpc>
                        <a:spcBef>
                          <a:spcPts val="0"/>
                        </a:spcBef>
                        <a:spcAft>
                          <a:spcPts val="0"/>
                        </a:spcAft>
                        <a:buNone/>
                      </a:pPr>
                      <a:endParaRPr lang="en-US"/>
                    </a:p>
                    <a:p>
                      <a:pPr marL="0" marR="0" lvl="0" indent="0" algn="l">
                        <a:lnSpc>
                          <a:spcPct val="100000"/>
                        </a:lnSpc>
                        <a:spcBef>
                          <a:spcPts val="0"/>
                        </a:spcBef>
                        <a:spcAft>
                          <a:spcPts val="0"/>
                        </a:spcAft>
                        <a:buNone/>
                      </a:pPr>
                      <a:endParaRPr lang="en-US"/>
                    </a:p>
                    <a:p>
                      <a:pPr marL="0" marR="0" lvl="0" indent="0" algn="l" defTabSz="914400" rtl="0" eaLnBrk="1" latinLnBrk="0" hangingPunct="1">
                        <a:lnSpc>
                          <a:spcPct val="100000"/>
                        </a:lnSpc>
                        <a:spcBef>
                          <a:spcPts val="0"/>
                        </a:spcBef>
                        <a:spcAft>
                          <a:spcPts val="0"/>
                        </a:spcAft>
                        <a:buNone/>
                      </a:pPr>
                      <a:r>
                        <a:rPr lang="en-US" sz="1100" b="0" i="0" u="none" strike="noStrike" kern="1200">
                          <a:solidFill>
                            <a:srgbClr val="00B050"/>
                          </a:solidFill>
                          <a:latin typeface="Nunito Sans"/>
                          <a:ea typeface="+mn-ea"/>
                          <a:cs typeface="+mn-cs"/>
                        </a:rPr>
                        <a:t>No</a:t>
                      </a:r>
                    </a:p>
                  </a:txBody>
                  <a:tcPr>
                    <a:lnL w="6350">
                      <a:solidFill>
                        <a:schemeClr val="bg1">
                          <a:lumMod val="75000"/>
                        </a:schemeClr>
                      </a:solidFill>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a:solidFill>
                        <a:schemeClr val="bg1">
                          <a:lumMod val="75000"/>
                        </a:schemeClr>
                      </a:solidFill>
                    </a:lnB>
                    <a:noFill/>
                  </a:tcPr>
                </a:tc>
                <a:extLst>
                  <a:ext uri="{0D108BD9-81ED-4DB2-BD59-A6C34878D82A}">
                    <a16:rowId xmlns:a16="http://schemas.microsoft.com/office/drawing/2014/main" val="2443371065"/>
                  </a:ext>
                </a:extLst>
              </a:tr>
            </a:tbl>
          </a:graphicData>
        </a:graphic>
      </p:graphicFrame>
      <p:sp>
        <p:nvSpPr>
          <p:cNvPr id="4" name="Rectangle 3">
            <a:extLst>
              <a:ext uri="{FF2B5EF4-FFF2-40B4-BE49-F238E27FC236}">
                <a16:creationId xmlns:a16="http://schemas.microsoft.com/office/drawing/2014/main" id="{ECF87D95-74D7-32DD-F27C-7D2BCF02F507}"/>
              </a:ext>
            </a:extLst>
          </p:cNvPr>
          <p:cNvSpPr/>
          <p:nvPr/>
        </p:nvSpPr>
        <p:spPr>
          <a:xfrm>
            <a:off x="1188132" y="6671592"/>
            <a:ext cx="90000" cy="90000"/>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5" name="Rectangle 4">
            <a:extLst>
              <a:ext uri="{FF2B5EF4-FFF2-40B4-BE49-F238E27FC236}">
                <a16:creationId xmlns:a16="http://schemas.microsoft.com/office/drawing/2014/main" id="{14D83140-E900-5EC0-C7B2-BA30AFB2188C}"/>
              </a:ext>
            </a:extLst>
          </p:cNvPr>
          <p:cNvSpPr/>
          <p:nvPr/>
        </p:nvSpPr>
        <p:spPr>
          <a:xfrm>
            <a:off x="2265818" y="6670554"/>
            <a:ext cx="90000" cy="90000"/>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7" name="Rectangle 6">
            <a:extLst>
              <a:ext uri="{FF2B5EF4-FFF2-40B4-BE49-F238E27FC236}">
                <a16:creationId xmlns:a16="http://schemas.microsoft.com/office/drawing/2014/main" id="{8E4A5322-7315-A546-1E0E-1E8463EA5A51}"/>
              </a:ext>
            </a:extLst>
          </p:cNvPr>
          <p:cNvSpPr/>
          <p:nvPr/>
        </p:nvSpPr>
        <p:spPr>
          <a:xfrm>
            <a:off x="3443423" y="6671592"/>
            <a:ext cx="90000" cy="90000"/>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8" name="Rectangle 7">
            <a:extLst>
              <a:ext uri="{FF2B5EF4-FFF2-40B4-BE49-F238E27FC236}">
                <a16:creationId xmlns:a16="http://schemas.microsoft.com/office/drawing/2014/main" id="{7135A334-B489-4BFE-7783-3DE76BAB25D4}"/>
              </a:ext>
            </a:extLst>
          </p:cNvPr>
          <p:cNvSpPr/>
          <p:nvPr/>
        </p:nvSpPr>
        <p:spPr>
          <a:xfrm>
            <a:off x="8146052" y="6714097"/>
            <a:ext cx="90000" cy="90000"/>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9" name="TextBox 15">
            <a:extLst>
              <a:ext uri="{FF2B5EF4-FFF2-40B4-BE49-F238E27FC236}">
                <a16:creationId xmlns:a16="http://schemas.microsoft.com/office/drawing/2014/main" id="{A866FE9B-E15B-6452-D9F4-0CEFEC8A7138}"/>
              </a:ext>
            </a:extLst>
          </p:cNvPr>
          <p:cNvSpPr txBox="1"/>
          <p:nvPr/>
        </p:nvSpPr>
        <p:spPr>
          <a:xfrm>
            <a:off x="1288983" y="6614743"/>
            <a:ext cx="857245"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0070C0"/>
                </a:solidFill>
                <a:effectLst/>
                <a:uLnTx/>
                <a:uFillTx/>
                <a:latin typeface="Nunito Sans"/>
                <a:ea typeface="+mn-ea"/>
                <a:cs typeface="+mn-cs"/>
              </a:rPr>
              <a:t>Delivered</a:t>
            </a:r>
            <a:endParaRPr kumimoji="0" lang="en-IN" sz="1000" b="0" i="0" u="none" strike="noStrike" kern="1200" cap="none" spc="0" normalizeH="0" baseline="0" noProof="0">
              <a:ln>
                <a:noFill/>
              </a:ln>
              <a:solidFill>
                <a:srgbClr val="000000"/>
              </a:solidFill>
              <a:effectLst/>
              <a:uLnTx/>
              <a:uFillTx/>
              <a:latin typeface="Nunito Sans"/>
              <a:ea typeface="+mn-ea"/>
              <a:cs typeface="+mn-cs"/>
            </a:endParaRPr>
          </a:p>
        </p:txBody>
      </p:sp>
      <p:sp>
        <p:nvSpPr>
          <p:cNvPr id="10" name="TextBox 18">
            <a:extLst>
              <a:ext uri="{FF2B5EF4-FFF2-40B4-BE49-F238E27FC236}">
                <a16:creationId xmlns:a16="http://schemas.microsoft.com/office/drawing/2014/main" id="{3DEF3AB1-DFF8-37DB-1A51-8D58E5933935}"/>
              </a:ext>
            </a:extLst>
          </p:cNvPr>
          <p:cNvSpPr txBox="1"/>
          <p:nvPr/>
        </p:nvSpPr>
        <p:spPr>
          <a:xfrm>
            <a:off x="2310642" y="6611102"/>
            <a:ext cx="1032881"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00B050"/>
                </a:solidFill>
                <a:effectLst/>
                <a:uLnTx/>
                <a:uFillTx/>
                <a:latin typeface="Nunito Sans"/>
                <a:ea typeface="+mn-ea"/>
                <a:cs typeface="+mn-cs"/>
              </a:rPr>
              <a:t>Ontrack</a:t>
            </a:r>
            <a:endParaRPr kumimoji="0" lang="en-IN" sz="1000" b="0" i="0" u="none" strike="noStrike" kern="1200" cap="none" spc="0" normalizeH="0" baseline="0" noProof="0">
              <a:ln>
                <a:noFill/>
              </a:ln>
              <a:solidFill>
                <a:srgbClr val="000000"/>
              </a:solidFill>
              <a:effectLst/>
              <a:uLnTx/>
              <a:uFillTx/>
              <a:latin typeface="Nunito Sans"/>
              <a:ea typeface="+mn-ea"/>
              <a:cs typeface="+mn-cs"/>
            </a:endParaRPr>
          </a:p>
        </p:txBody>
      </p:sp>
      <p:sp>
        <p:nvSpPr>
          <p:cNvPr id="11" name="TextBox 20">
            <a:extLst>
              <a:ext uri="{FF2B5EF4-FFF2-40B4-BE49-F238E27FC236}">
                <a16:creationId xmlns:a16="http://schemas.microsoft.com/office/drawing/2014/main" id="{1AD4E651-89C2-3CB8-B9A7-6E54D9B9677E}"/>
              </a:ext>
            </a:extLst>
          </p:cNvPr>
          <p:cNvSpPr txBox="1"/>
          <p:nvPr/>
        </p:nvSpPr>
        <p:spPr>
          <a:xfrm>
            <a:off x="3539606" y="6608370"/>
            <a:ext cx="2257628"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FED9A0">
                    <a:lumMod val="75000"/>
                  </a:srgbClr>
                </a:solidFill>
                <a:effectLst/>
                <a:uLnTx/>
                <a:uFillTx/>
                <a:latin typeface="Nunito Sans"/>
                <a:ea typeface="+mn-ea"/>
                <a:cs typeface="+mn-cs"/>
              </a:rPr>
              <a:t>Under delay and can be recovered</a:t>
            </a:r>
            <a:endParaRPr kumimoji="0" lang="en-IN" sz="1000" b="0" i="0" u="none" strike="noStrike" kern="1200" cap="none" spc="0" normalizeH="0" baseline="0" noProof="0">
              <a:ln>
                <a:noFill/>
              </a:ln>
              <a:solidFill>
                <a:srgbClr val="000000"/>
              </a:solidFill>
              <a:effectLst/>
              <a:uLnTx/>
              <a:uFillTx/>
              <a:latin typeface="Nunito Sans"/>
              <a:ea typeface="+mn-ea"/>
              <a:cs typeface="+mn-cs"/>
            </a:endParaRPr>
          </a:p>
        </p:txBody>
      </p:sp>
      <p:sp>
        <p:nvSpPr>
          <p:cNvPr id="13" name="TextBox 22">
            <a:extLst>
              <a:ext uri="{FF2B5EF4-FFF2-40B4-BE49-F238E27FC236}">
                <a16:creationId xmlns:a16="http://schemas.microsoft.com/office/drawing/2014/main" id="{0A0023A0-A7F7-AB99-27D3-6766917EC9CC}"/>
              </a:ext>
            </a:extLst>
          </p:cNvPr>
          <p:cNvSpPr txBox="1"/>
          <p:nvPr/>
        </p:nvSpPr>
        <p:spPr>
          <a:xfrm>
            <a:off x="8246937" y="6618126"/>
            <a:ext cx="2338222"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FF0000"/>
                </a:solidFill>
                <a:effectLst/>
                <a:uLnTx/>
                <a:uFillTx/>
                <a:latin typeface="Nunito Sans"/>
                <a:ea typeface="+mn-ea"/>
                <a:cs typeface="+mn-cs"/>
              </a:rPr>
              <a:t>Delayed and pushed to next release</a:t>
            </a:r>
          </a:p>
        </p:txBody>
      </p:sp>
      <p:sp>
        <p:nvSpPr>
          <p:cNvPr id="15" name="TextBox 14">
            <a:extLst>
              <a:ext uri="{FF2B5EF4-FFF2-40B4-BE49-F238E27FC236}">
                <a16:creationId xmlns:a16="http://schemas.microsoft.com/office/drawing/2014/main" id="{2F7C1D9A-151D-3556-E6B9-1769FC28888A}"/>
              </a:ext>
            </a:extLst>
          </p:cNvPr>
          <p:cNvSpPr txBox="1"/>
          <p:nvPr/>
        </p:nvSpPr>
        <p:spPr>
          <a:xfrm>
            <a:off x="6454369" y="6611638"/>
            <a:ext cx="2743200"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IN" sz="1000">
                <a:solidFill>
                  <a:srgbClr val="7D7D7D"/>
                </a:solidFill>
              </a:rPr>
              <a:t>Descoped</a:t>
            </a:r>
            <a:endParaRPr lang="en-US"/>
          </a:p>
        </p:txBody>
      </p:sp>
      <p:sp>
        <p:nvSpPr>
          <p:cNvPr id="16" name="Rectangle 15">
            <a:extLst>
              <a:ext uri="{FF2B5EF4-FFF2-40B4-BE49-F238E27FC236}">
                <a16:creationId xmlns:a16="http://schemas.microsoft.com/office/drawing/2014/main" id="{C64A5945-142C-50B9-DA13-F4DA7E78C015}"/>
              </a:ext>
            </a:extLst>
          </p:cNvPr>
          <p:cNvSpPr/>
          <p:nvPr/>
        </p:nvSpPr>
        <p:spPr>
          <a:xfrm>
            <a:off x="6360794" y="6681439"/>
            <a:ext cx="90000" cy="90000"/>
          </a:xfrm>
          <a:prstGeom prst="rect">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Tree>
    <p:extLst>
      <p:ext uri="{BB962C8B-B14F-4D97-AF65-F5344CB8AC3E}">
        <p14:creationId xmlns:p14="http://schemas.microsoft.com/office/powerpoint/2010/main" val="352193616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08E21A-426A-11A3-72B9-8F6006DFA7DC}"/>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60BAF85-CB2D-A1D6-2741-8797E86152AF}"/>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3A41A254-7326-714E-AF55-4C213D6394DE}" type="slidenum">
              <a:rPr kumimoji="0" lang="en-US" sz="1200" b="0" i="0" u="none" strike="noStrike" kern="1200" cap="none" spc="0" normalizeH="0" baseline="0" noProof="0" smtClean="0">
                <a:ln>
                  <a:noFill/>
                </a:ln>
                <a:solidFill>
                  <a:srgbClr val="DA0E28"/>
                </a:solidFill>
                <a:effectLst/>
                <a:uLnTx/>
                <a:uFillTx/>
                <a:latin typeface="Nunito Sans"/>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41</a:t>
            </a:fld>
            <a:endParaRPr kumimoji="0" lang="en-US" sz="1200" b="0" i="0" u="none" strike="noStrike" kern="1200" cap="none" spc="0" normalizeH="0" baseline="0" noProof="0">
              <a:ln>
                <a:noFill/>
              </a:ln>
              <a:solidFill>
                <a:srgbClr val="DA0E28"/>
              </a:solidFill>
              <a:effectLst/>
              <a:uLnTx/>
              <a:uFillTx/>
              <a:latin typeface="Nunito Sans"/>
              <a:ea typeface="+mn-ea"/>
              <a:cs typeface="+mn-cs"/>
            </a:endParaRPr>
          </a:p>
        </p:txBody>
      </p:sp>
      <p:sp>
        <p:nvSpPr>
          <p:cNvPr id="3" name="Rectangle 2">
            <a:extLst>
              <a:ext uri="{FF2B5EF4-FFF2-40B4-BE49-F238E27FC236}">
                <a16:creationId xmlns:a16="http://schemas.microsoft.com/office/drawing/2014/main" id="{FC0C8B1C-6E7E-82FD-796B-8F521233656A}"/>
              </a:ext>
            </a:extLst>
          </p:cNvPr>
          <p:cNvSpPr/>
          <p:nvPr/>
        </p:nvSpPr>
        <p:spPr>
          <a:xfrm>
            <a:off x="129077" y="610471"/>
            <a:ext cx="913339" cy="42234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400" b="1" i="0" u="none" strike="noStrike" kern="1200" cap="none" spc="0" normalizeH="0" baseline="0" noProof="0">
                <a:ln>
                  <a:noFill/>
                </a:ln>
                <a:solidFill>
                  <a:srgbClr val="FFFFFF"/>
                </a:solidFill>
                <a:effectLst/>
                <a:uLnTx/>
                <a:uFillTx/>
                <a:latin typeface="AirIndia"/>
                <a:ea typeface="+mn-ea"/>
                <a:cs typeface="+mn-cs"/>
              </a:rPr>
              <a:t>Aug ‘</a:t>
            </a:r>
            <a:r>
              <a:rPr lang="en-IN" sz="1400" b="1">
                <a:solidFill>
                  <a:srgbClr val="FFFFFF"/>
                </a:solidFill>
                <a:latin typeface="AirIndia"/>
              </a:rPr>
              <a:t>26</a:t>
            </a:r>
            <a:endParaRPr kumimoji="0" lang="en-US" sz="1400" b="1" i="0" u="none" strike="noStrike" kern="1200" cap="none" spc="0" normalizeH="0" baseline="0" noProof="0">
              <a:ln>
                <a:noFill/>
              </a:ln>
              <a:solidFill>
                <a:srgbClr val="FFFFFF"/>
              </a:solidFill>
              <a:effectLst/>
              <a:uLnTx/>
              <a:uFillTx/>
              <a:latin typeface="AirIndia"/>
              <a:ea typeface="+mn-ea"/>
              <a:cs typeface="+mn-cs"/>
            </a:endParaRPr>
          </a:p>
        </p:txBody>
      </p:sp>
      <p:sp>
        <p:nvSpPr>
          <p:cNvPr id="6" name="Title 11">
            <a:extLst>
              <a:ext uri="{FF2B5EF4-FFF2-40B4-BE49-F238E27FC236}">
                <a16:creationId xmlns:a16="http://schemas.microsoft.com/office/drawing/2014/main" id="{29236641-5C84-FECB-9C50-8E9B7D0B2BD9}"/>
              </a:ext>
            </a:extLst>
          </p:cNvPr>
          <p:cNvSpPr txBox="1">
            <a:spLocks/>
          </p:cNvSpPr>
          <p:nvPr/>
        </p:nvSpPr>
        <p:spPr>
          <a:xfrm>
            <a:off x="253743" y="182023"/>
            <a:ext cx="7702602" cy="430255"/>
          </a:xfrm>
          <a:prstGeom prst="rect">
            <a:avLst/>
          </a:prstGeom>
        </p:spPr>
        <p:txBody>
          <a:bodyPr lIns="91440" tIns="45720" rIns="91440" bIns="45720" anchor="t">
            <a:noAutofit/>
          </a:bodyPr>
          <a:lstStyle>
            <a:lvl1pPr algn="l" defTabSz="914400" rtl="0" eaLnBrk="1" latinLnBrk="0" hangingPunct="1">
              <a:lnSpc>
                <a:spcPct val="90000"/>
              </a:lnSpc>
              <a:spcBef>
                <a:spcPct val="0"/>
              </a:spcBef>
              <a:buNone/>
              <a:defRPr sz="4400" b="1" i="0" kern="1200">
                <a:solidFill>
                  <a:schemeClr val="tx1"/>
                </a:solidFill>
                <a:latin typeface="AirIndia" pitchFamily="82" charset="77"/>
                <a:ea typeface="+mj-ea"/>
                <a:cs typeface="+mj-cs"/>
              </a:defRPr>
            </a:lvl1pPr>
          </a:lstStyle>
          <a:p>
            <a:pPr>
              <a:defRPr/>
            </a:pPr>
            <a:r>
              <a:rPr lang="en-US" sz="1800">
                <a:solidFill>
                  <a:srgbClr val="DA0E28"/>
                </a:solidFill>
                <a:latin typeface="AirIndia"/>
              </a:rPr>
              <a:t>CRM/CX-</a:t>
            </a:r>
            <a:r>
              <a:rPr kumimoji="0" lang="en-US" sz="1800" b="1" i="0" u="none" strike="noStrike" kern="1200" cap="none" spc="0" normalizeH="0" baseline="0" noProof="0">
                <a:ln>
                  <a:noFill/>
                </a:ln>
                <a:solidFill>
                  <a:srgbClr val="DA0E28"/>
                </a:solidFill>
                <a:effectLst/>
                <a:uLnTx/>
                <a:uFillTx/>
                <a:latin typeface="AirIndia"/>
                <a:ea typeface="+mj-ea"/>
                <a:cs typeface="+mj-cs"/>
              </a:rPr>
              <a:t> </a:t>
            </a:r>
            <a:r>
              <a:rPr lang="en-US" sz="1800">
                <a:solidFill>
                  <a:srgbClr val="DA0E28"/>
                </a:solidFill>
                <a:latin typeface="AirIndia"/>
              </a:rPr>
              <a:t>FY27</a:t>
            </a:r>
            <a:r>
              <a:rPr kumimoji="0" lang="en-US" sz="1800" b="1" i="0" u="none" strike="noStrike" kern="1200" cap="none" spc="0" normalizeH="0" baseline="0" noProof="0">
                <a:ln>
                  <a:noFill/>
                </a:ln>
                <a:solidFill>
                  <a:srgbClr val="DA0E28"/>
                </a:solidFill>
                <a:effectLst/>
                <a:uLnTx/>
                <a:uFillTx/>
                <a:latin typeface="AirIndia"/>
                <a:ea typeface="+mj-ea"/>
                <a:cs typeface="+mj-cs"/>
              </a:rPr>
              <a:t> Q2  Release Plan</a:t>
            </a:r>
            <a:endParaRPr lang="en-US" sz="1800" b="0" i="0" u="none" strike="noStrike" kern="1200" cap="none" spc="0" normalizeH="0" baseline="0" noProof="0">
              <a:ln>
                <a:noFill/>
              </a:ln>
              <a:solidFill>
                <a:srgbClr val="DA0E28"/>
              </a:solidFill>
              <a:effectLst/>
              <a:uLnTx/>
              <a:uFillTx/>
              <a:latin typeface="AirIndia"/>
            </a:endParaRPr>
          </a:p>
        </p:txBody>
      </p:sp>
      <p:graphicFrame>
        <p:nvGraphicFramePr>
          <p:cNvPr id="12" name="Table 11">
            <a:extLst>
              <a:ext uri="{FF2B5EF4-FFF2-40B4-BE49-F238E27FC236}">
                <a16:creationId xmlns:a16="http://schemas.microsoft.com/office/drawing/2014/main" id="{3D64943D-AB40-0F3E-93C3-9C23F4DD12FA}"/>
              </a:ext>
            </a:extLst>
          </p:cNvPr>
          <p:cNvGraphicFramePr>
            <a:graphicFrameLocks noGrp="1"/>
          </p:cNvGraphicFramePr>
          <p:nvPr/>
        </p:nvGraphicFramePr>
        <p:xfrm>
          <a:off x="1042416" y="588627"/>
          <a:ext cx="10894290" cy="5985158"/>
        </p:xfrm>
        <a:graphic>
          <a:graphicData uri="http://schemas.openxmlformats.org/drawingml/2006/table">
            <a:tbl>
              <a:tblPr firstRow="1" bandRow="1">
                <a:tableStyleId>{5C22544A-7EE6-4342-B048-85BDC9FD1C3A}</a:tableStyleId>
              </a:tblPr>
              <a:tblGrid>
                <a:gridCol w="1335024">
                  <a:extLst>
                    <a:ext uri="{9D8B030D-6E8A-4147-A177-3AD203B41FA5}">
                      <a16:colId xmlns:a16="http://schemas.microsoft.com/office/drawing/2014/main" val="2822350773"/>
                    </a:ext>
                  </a:extLst>
                </a:gridCol>
                <a:gridCol w="1252728">
                  <a:extLst>
                    <a:ext uri="{9D8B030D-6E8A-4147-A177-3AD203B41FA5}">
                      <a16:colId xmlns:a16="http://schemas.microsoft.com/office/drawing/2014/main" val="1843387359"/>
                    </a:ext>
                  </a:extLst>
                </a:gridCol>
                <a:gridCol w="6025896">
                  <a:extLst>
                    <a:ext uri="{9D8B030D-6E8A-4147-A177-3AD203B41FA5}">
                      <a16:colId xmlns:a16="http://schemas.microsoft.com/office/drawing/2014/main" val="99588705"/>
                    </a:ext>
                  </a:extLst>
                </a:gridCol>
                <a:gridCol w="1014984">
                  <a:extLst>
                    <a:ext uri="{9D8B030D-6E8A-4147-A177-3AD203B41FA5}">
                      <a16:colId xmlns:a16="http://schemas.microsoft.com/office/drawing/2014/main" val="702441923"/>
                    </a:ext>
                  </a:extLst>
                </a:gridCol>
                <a:gridCol w="1265658">
                  <a:extLst>
                    <a:ext uri="{9D8B030D-6E8A-4147-A177-3AD203B41FA5}">
                      <a16:colId xmlns:a16="http://schemas.microsoft.com/office/drawing/2014/main" val="4200117794"/>
                    </a:ext>
                  </a:extLst>
                </a:gridCol>
              </a:tblGrid>
              <a:tr h="649239">
                <a:tc>
                  <a:txBody>
                    <a:bodyPr/>
                    <a:lstStyle/>
                    <a:p>
                      <a:pPr marL="0" lvl="0" indent="0" algn="ctr" defTabSz="914400" rtl="0">
                        <a:lnSpc>
                          <a:spcPct val="100000"/>
                        </a:lnSpc>
                        <a:buFont typeface="Arial" panose="020B0604020202020204" pitchFamily="34" charset="0"/>
                        <a:buNone/>
                      </a:pPr>
                      <a:r>
                        <a:rPr lang="en-IN" sz="1100" b="1" kern="1200">
                          <a:solidFill>
                            <a:schemeClr val="bg1"/>
                          </a:solidFill>
                          <a:latin typeface="+mn-lt"/>
                          <a:ea typeface="+mn-ea"/>
                          <a:cs typeface="+mn-cs"/>
                        </a:rPr>
                        <a:t>Initiatives</a:t>
                      </a:r>
                      <a:endParaRPr lang="en-US" sz="1100" b="1"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tc>
                  <a:txBody>
                    <a:bodyPr/>
                    <a:lstStyle/>
                    <a:p>
                      <a:pPr marL="0" lvl="0" indent="0" algn="ctr">
                        <a:lnSpc>
                          <a:spcPct val="100000"/>
                        </a:lnSpc>
                        <a:buNone/>
                      </a:pPr>
                      <a:r>
                        <a:rPr lang="en-IN" sz="1100" b="1" i="0" u="none" strike="noStrike" kern="1200" noProof="0">
                          <a:solidFill>
                            <a:schemeClr val="bg1"/>
                          </a:solidFill>
                          <a:latin typeface="Nunito Sans"/>
                          <a:ea typeface="+mn-ea"/>
                          <a:cs typeface="+mn-cs"/>
                        </a:rPr>
                        <a:t>Programs/</a:t>
                      </a:r>
                      <a:endParaRPr lang="en-US"/>
                    </a:p>
                    <a:p>
                      <a:pPr marL="0" lvl="0" indent="0" algn="ctr" defTabSz="914400">
                        <a:lnSpc>
                          <a:spcPct val="100000"/>
                        </a:lnSpc>
                        <a:buNone/>
                      </a:pPr>
                      <a:r>
                        <a:rPr lang="en-IN" sz="1100" b="1" i="0" u="none" strike="noStrike" kern="1200" noProof="0">
                          <a:solidFill>
                            <a:schemeClr val="bg1"/>
                          </a:solidFill>
                          <a:latin typeface="Nunito Sans"/>
                          <a:ea typeface="+mn-ea"/>
                          <a:cs typeface="+mn-cs"/>
                        </a:rPr>
                        <a:t>Projects</a:t>
                      </a:r>
                      <a:endParaRPr lang="en-US"/>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solidFill>
                      <a:schemeClr val="accent3">
                        <a:lumMod val="90000"/>
                        <a:lumOff val="10000"/>
                      </a:schemeClr>
                    </a:solidFill>
                  </a:tcPr>
                </a:tc>
                <a:tc>
                  <a:txBody>
                    <a:bodyPr/>
                    <a:lstStyle/>
                    <a:p>
                      <a:pPr marL="0" lvl="0" indent="0" algn="ctr">
                        <a:lnSpc>
                          <a:spcPct val="100000"/>
                        </a:lnSpc>
                        <a:buNone/>
                      </a:pPr>
                      <a:endParaRPr lang="en-IN" sz="1100" b="1" i="0" u="none" strike="noStrike" kern="1200" baseline="0" noProof="0">
                        <a:solidFill>
                          <a:srgbClr val="FFFFFF"/>
                        </a:solidFill>
                        <a:latin typeface="Nunito Sans"/>
                      </a:endParaRPr>
                    </a:p>
                    <a:p>
                      <a:pPr marL="0" lvl="0" indent="0" algn="ctr">
                        <a:lnSpc>
                          <a:spcPct val="100000"/>
                        </a:lnSpc>
                        <a:buNone/>
                      </a:pPr>
                      <a:r>
                        <a:rPr lang="en-IN" sz="1100" b="1" i="0" u="none" strike="noStrike" kern="1200" baseline="0" noProof="0">
                          <a:solidFill>
                            <a:srgbClr val="FFFFFF"/>
                          </a:solidFill>
                          <a:latin typeface="Nunito Sans"/>
                        </a:rPr>
                        <a:t>Value Justification/Realization</a:t>
                      </a:r>
                    </a:p>
                    <a:p>
                      <a:pPr marL="0" lvl="0" indent="0" algn="ctr" defTabSz="914400">
                        <a:buFont typeface="Arial" panose="020B0604020202020204" pitchFamily="34" charset="0"/>
                        <a:buNone/>
                      </a:pPr>
                      <a:endParaRPr lang="en-IN" sz="1100"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tc>
                  <a:txBody>
                    <a:bodyPr/>
                    <a:lstStyle/>
                    <a:p>
                      <a:pPr marL="0" lvl="0" indent="0" algn="ctr" defTabSz="914400">
                        <a:buFont typeface="Arial" panose="020B0604020202020204" pitchFamily="34" charset="0"/>
                        <a:buNone/>
                      </a:pPr>
                      <a:r>
                        <a:rPr lang="en-IN" sz="1100" kern="1200">
                          <a:solidFill>
                            <a:schemeClr val="bg1"/>
                          </a:solidFill>
                          <a:latin typeface="+mn-lt"/>
                          <a:ea typeface="+mn-ea"/>
                          <a:cs typeface="+mn-cs"/>
                        </a:rPr>
                        <a:t>Planned Go-live date</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tc>
                  <a:txBody>
                    <a:bodyPr/>
                    <a:lstStyle/>
                    <a:p>
                      <a:pPr marL="0" lvl="0" indent="0" algn="ctr" defTabSz="914400">
                        <a:buFont typeface="Arial" panose="020B0604020202020204" pitchFamily="34" charset="0"/>
                        <a:buNone/>
                      </a:pPr>
                      <a:r>
                        <a:rPr lang="en-IN" sz="1100" kern="1200">
                          <a:solidFill>
                            <a:schemeClr val="bg1"/>
                          </a:solidFill>
                          <a:latin typeface="+mn-lt"/>
                          <a:ea typeface="+mn-ea"/>
                          <a:cs typeface="+mn-cs"/>
                        </a:rPr>
                        <a:t>EIP Integration Required (Yes/No)</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extLst>
                  <a:ext uri="{0D108BD9-81ED-4DB2-BD59-A6C34878D82A}">
                    <a16:rowId xmlns:a16="http://schemas.microsoft.com/office/drawing/2014/main" val="844450115"/>
                  </a:ext>
                </a:extLst>
              </a:tr>
              <a:tr h="5335919">
                <a:tc>
                  <a:txBody>
                    <a:bodyPr/>
                    <a:lstStyle/>
                    <a:p>
                      <a:pPr marL="0" lvl="0" indent="0" algn="l">
                        <a:lnSpc>
                          <a:spcPct val="100000"/>
                        </a:lnSpc>
                        <a:spcBef>
                          <a:spcPts val="0"/>
                        </a:spcBef>
                        <a:spcAft>
                          <a:spcPts val="0"/>
                        </a:spcAft>
                        <a:buNone/>
                      </a:pPr>
                      <a:r>
                        <a:rPr lang="en-US" sz="1100" b="1" i="0" u="none" strike="noStrike" kern="1200" noProof="0">
                          <a:solidFill>
                            <a:srgbClr val="00B050"/>
                          </a:solidFill>
                          <a:latin typeface="Nunito Sans"/>
                        </a:rPr>
                        <a:t>Automated Email – Booking </a:t>
                      </a:r>
                    </a:p>
                    <a:p>
                      <a:pPr marL="0" lvl="0" indent="0" algn="l">
                        <a:lnSpc>
                          <a:spcPct val="100000"/>
                        </a:lnSpc>
                        <a:spcBef>
                          <a:spcPts val="0"/>
                        </a:spcBef>
                        <a:spcAft>
                          <a:spcPts val="0"/>
                        </a:spcAft>
                        <a:buNone/>
                      </a:pPr>
                      <a:endParaRPr lang="en-US" sz="1100" b="1" i="0" u="none" strike="noStrike" kern="1200" noProof="0">
                        <a:solidFill>
                          <a:srgbClr val="00B050"/>
                        </a:solidFill>
                        <a:latin typeface="Nunito Sans"/>
                      </a:endParaRPr>
                    </a:p>
                    <a:p>
                      <a:pPr marL="0" lvl="0" indent="0" algn="l">
                        <a:lnSpc>
                          <a:spcPct val="100000"/>
                        </a:lnSpc>
                        <a:spcBef>
                          <a:spcPts val="0"/>
                        </a:spcBef>
                        <a:spcAft>
                          <a:spcPts val="0"/>
                        </a:spcAft>
                        <a:buNone/>
                      </a:pPr>
                      <a:endParaRPr lang="en-US" sz="1100" b="1" i="0" u="none" strike="noStrike" kern="1200" noProof="0">
                        <a:solidFill>
                          <a:srgbClr val="00B050"/>
                        </a:solidFill>
                        <a:latin typeface="Nunito Sans"/>
                      </a:endParaRPr>
                    </a:p>
                    <a:p>
                      <a:pPr marL="0" lvl="0" indent="0" algn="l">
                        <a:lnSpc>
                          <a:spcPct val="100000"/>
                        </a:lnSpc>
                        <a:spcBef>
                          <a:spcPts val="0"/>
                        </a:spcBef>
                        <a:spcAft>
                          <a:spcPts val="0"/>
                        </a:spcAft>
                        <a:buNone/>
                      </a:pPr>
                      <a:endParaRPr lang="en-US" sz="1100" b="1" i="0" u="none" strike="noStrike" kern="1200" noProof="0">
                        <a:solidFill>
                          <a:srgbClr val="00B050"/>
                        </a:solidFill>
                        <a:latin typeface="Nunito Sans"/>
                      </a:endParaRPr>
                    </a:p>
                    <a:p>
                      <a:pPr marL="0" lvl="0" indent="0" algn="l">
                        <a:lnSpc>
                          <a:spcPct val="100000"/>
                        </a:lnSpc>
                        <a:spcBef>
                          <a:spcPts val="0"/>
                        </a:spcBef>
                        <a:spcAft>
                          <a:spcPts val="0"/>
                        </a:spcAft>
                        <a:buNone/>
                      </a:pPr>
                      <a:r>
                        <a:rPr lang="en-US" sz="1100" b="1" i="0" u="none" strike="noStrike" kern="1200" noProof="0">
                          <a:solidFill>
                            <a:srgbClr val="00B050"/>
                          </a:solidFill>
                          <a:latin typeface="Nunito Sans"/>
                        </a:rPr>
                        <a:t>Automated Email – Maharaja Club – Retro Claims  </a:t>
                      </a:r>
                    </a:p>
                    <a:p>
                      <a:pPr marL="0" lvl="0" indent="0" algn="l">
                        <a:lnSpc>
                          <a:spcPct val="100000"/>
                        </a:lnSpc>
                        <a:spcBef>
                          <a:spcPts val="0"/>
                        </a:spcBef>
                        <a:spcAft>
                          <a:spcPts val="0"/>
                        </a:spcAft>
                        <a:buNone/>
                      </a:pPr>
                      <a:endParaRPr lang="en-US" sz="1100" b="1" i="0" u="none" strike="noStrike" kern="1200" noProof="0">
                        <a:solidFill>
                          <a:srgbClr val="00B050"/>
                        </a:solidFill>
                        <a:latin typeface="Nunito Sans"/>
                      </a:endParaRPr>
                    </a:p>
                    <a:p>
                      <a:pPr marL="0" lvl="0" indent="0" algn="l">
                        <a:lnSpc>
                          <a:spcPct val="100000"/>
                        </a:lnSpc>
                        <a:spcBef>
                          <a:spcPts val="0"/>
                        </a:spcBef>
                        <a:spcAft>
                          <a:spcPts val="0"/>
                        </a:spcAft>
                        <a:buNone/>
                      </a:pPr>
                      <a:endParaRPr lang="en-US" sz="1100" b="1" i="0" u="none" strike="noStrike" kern="1200" noProof="0">
                        <a:solidFill>
                          <a:srgbClr val="00B050"/>
                        </a:solidFill>
                        <a:latin typeface="Nunito Sans"/>
                      </a:endParaRPr>
                    </a:p>
                    <a:p>
                      <a:pPr marL="0" lvl="0" indent="0" algn="l">
                        <a:lnSpc>
                          <a:spcPct val="100000"/>
                        </a:lnSpc>
                        <a:spcBef>
                          <a:spcPts val="0"/>
                        </a:spcBef>
                        <a:spcAft>
                          <a:spcPts val="0"/>
                        </a:spcAft>
                        <a:buNone/>
                      </a:pPr>
                      <a:r>
                        <a:rPr lang="en-US" sz="1100" b="1" i="0" u="none" strike="noStrike" kern="1200" noProof="0">
                          <a:solidFill>
                            <a:srgbClr val="00B050"/>
                          </a:solidFill>
                          <a:latin typeface="Nunito Sans"/>
                        </a:rPr>
                        <a:t>Automated Email – Maharaja Club – Profile Updates  </a:t>
                      </a:r>
                      <a:endParaRPr lang="en-US"/>
                    </a:p>
                    <a:p>
                      <a:pPr marL="0" lvl="0" indent="0" algn="l">
                        <a:lnSpc>
                          <a:spcPct val="100000"/>
                        </a:lnSpc>
                        <a:spcBef>
                          <a:spcPts val="0"/>
                        </a:spcBef>
                        <a:spcAft>
                          <a:spcPts val="0"/>
                        </a:spcAft>
                        <a:buNone/>
                      </a:pPr>
                      <a:endParaRPr lang="en-US" sz="1100" b="1" i="0" u="none" strike="noStrike" kern="1200" noProof="0">
                        <a:solidFill>
                          <a:srgbClr val="00B050"/>
                        </a:solidFill>
                        <a:latin typeface="Nunito Sans"/>
                      </a:endParaRPr>
                    </a:p>
                    <a:p>
                      <a:pPr marL="0" lvl="0" indent="0" algn="l">
                        <a:lnSpc>
                          <a:spcPct val="100000"/>
                        </a:lnSpc>
                        <a:spcBef>
                          <a:spcPts val="0"/>
                        </a:spcBef>
                        <a:spcAft>
                          <a:spcPts val="0"/>
                        </a:spcAft>
                        <a:buNone/>
                      </a:pPr>
                      <a:endParaRPr lang="en-US" sz="1100" b="1" i="0" u="none" strike="noStrike" kern="1200" noProof="0">
                        <a:solidFill>
                          <a:srgbClr val="00B050"/>
                        </a:solidFill>
                        <a:latin typeface="Nunito Sans"/>
                      </a:endParaRPr>
                    </a:p>
                    <a:p>
                      <a:pPr marL="0" lvl="0" indent="0" algn="l">
                        <a:lnSpc>
                          <a:spcPct val="100000"/>
                        </a:lnSpc>
                        <a:spcBef>
                          <a:spcPts val="0"/>
                        </a:spcBef>
                        <a:spcAft>
                          <a:spcPts val="0"/>
                        </a:spcAft>
                        <a:buNone/>
                      </a:pPr>
                      <a:endParaRPr lang="en-US" sz="1100" b="1" i="0" u="none" strike="noStrike" kern="1200" noProof="0">
                        <a:solidFill>
                          <a:srgbClr val="00B050"/>
                        </a:solidFill>
                        <a:latin typeface="Nunito Sans"/>
                      </a:endParaRPr>
                    </a:p>
                    <a:p>
                      <a:pPr marL="0" lvl="0" indent="0" algn="l">
                        <a:lnSpc>
                          <a:spcPct val="100000"/>
                        </a:lnSpc>
                        <a:spcBef>
                          <a:spcPts val="0"/>
                        </a:spcBef>
                        <a:spcAft>
                          <a:spcPts val="0"/>
                        </a:spcAft>
                        <a:buNone/>
                      </a:pPr>
                      <a:r>
                        <a:rPr lang="en-US" sz="1100" b="1" i="0" u="none" strike="noStrike" kern="1200" noProof="0">
                          <a:solidFill>
                            <a:srgbClr val="00B050"/>
                          </a:solidFill>
                          <a:latin typeface="Nunito Sans"/>
                        </a:rPr>
                        <a:t>Automated Email – Compliments</a:t>
                      </a:r>
                    </a:p>
                    <a:p>
                      <a:pPr marL="0" lvl="0" indent="0" algn="l">
                        <a:lnSpc>
                          <a:spcPct val="100000"/>
                        </a:lnSpc>
                        <a:spcBef>
                          <a:spcPts val="0"/>
                        </a:spcBef>
                        <a:spcAft>
                          <a:spcPts val="0"/>
                        </a:spcAft>
                        <a:buNone/>
                      </a:pPr>
                      <a:endParaRPr lang="en-US" sz="1100" b="1" i="0" u="none" strike="noStrike" kern="1200" noProof="0">
                        <a:solidFill>
                          <a:srgbClr val="00B050"/>
                        </a:solidFill>
                        <a:latin typeface="Nunito San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b="1" i="0" u="none" strike="noStrike" kern="1200" noProof="0">
                          <a:solidFill>
                            <a:srgbClr val="00B050"/>
                          </a:solidFill>
                          <a:latin typeface="+mn-lt"/>
                        </a:rPr>
                        <a:t>Automated Email – Refunds Status Enquiry  </a:t>
                      </a:r>
                    </a:p>
                    <a:p>
                      <a:pPr marL="0" marR="0" lvl="0" indent="0" algn="l">
                        <a:lnSpc>
                          <a:spcPct val="100000"/>
                        </a:lnSpc>
                        <a:spcBef>
                          <a:spcPts val="0"/>
                        </a:spcBef>
                        <a:spcAft>
                          <a:spcPts val="0"/>
                        </a:spcAft>
                        <a:buClrTx/>
                        <a:buSzTx/>
                        <a:buFontTx/>
                        <a:buNone/>
                      </a:pPr>
                      <a:endParaRPr lang="en-US" sz="1100" b="1" i="0" u="none" strike="noStrike" kern="1200" noProof="0">
                        <a:solidFill>
                          <a:srgbClr val="00B050"/>
                        </a:solidFill>
                        <a:latin typeface="+mn-lt"/>
                      </a:endParaRPr>
                    </a:p>
                    <a:p>
                      <a:pPr marL="0" marR="0" lvl="0" indent="0" algn="l">
                        <a:lnSpc>
                          <a:spcPct val="100000"/>
                        </a:lnSpc>
                        <a:spcBef>
                          <a:spcPts val="0"/>
                        </a:spcBef>
                        <a:spcAft>
                          <a:spcPts val="0"/>
                        </a:spcAft>
                        <a:buNone/>
                      </a:pPr>
                      <a:r>
                        <a:rPr lang="en-US" sz="1100" b="1" i="0" u="none" strike="noStrike" kern="1200" noProof="0">
                          <a:solidFill>
                            <a:srgbClr val="00B050"/>
                          </a:solidFill>
                          <a:latin typeface="Nunito Sans"/>
                        </a:rPr>
                        <a:t>Automated Email – Disruption refund requests </a:t>
                      </a:r>
                      <a:endParaRPr lang="en-US"/>
                    </a:p>
                    <a:p>
                      <a:pPr marL="0" lvl="0" indent="0" algn="l">
                        <a:lnSpc>
                          <a:spcPct val="100000"/>
                        </a:lnSpc>
                        <a:spcBef>
                          <a:spcPts val="0"/>
                        </a:spcBef>
                        <a:spcAft>
                          <a:spcPts val="0"/>
                        </a:spcAft>
                        <a:buNone/>
                      </a:pPr>
                      <a:r>
                        <a:rPr lang="en-US" sz="1100" b="1" i="0" u="none" strike="noStrike" kern="1200" noProof="0">
                          <a:solidFill>
                            <a:srgbClr val="00B050"/>
                          </a:solidFill>
                          <a:latin typeface="Nunito Sans"/>
                        </a:rPr>
                        <a:t> </a:t>
                      </a:r>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tc>
                  <a:txBody>
                    <a:bodyPr/>
                    <a:lstStyle/>
                    <a:p>
                      <a:pPr marL="228600" lvl="0" indent="-228600" algn="l">
                        <a:lnSpc>
                          <a:spcPct val="100000"/>
                        </a:lnSpc>
                        <a:spcBef>
                          <a:spcPts val="0"/>
                        </a:spcBef>
                        <a:spcAft>
                          <a:spcPts val="0"/>
                        </a:spcAft>
                        <a:buAutoNum type="arabicPeriod"/>
                      </a:pPr>
                      <a:endParaRPr lang="en-US" sz="1100" b="1" i="0" u="none" strike="noStrike" kern="1200" noProof="0">
                        <a:solidFill>
                          <a:srgbClr val="00B050"/>
                        </a:solidFill>
                      </a:endParaRPr>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000" b="0" i="0" u="none" strike="noStrike" kern="1200">
                          <a:solidFill>
                            <a:srgbClr val="00B050"/>
                          </a:solidFill>
                          <a:latin typeface="+mn-lt"/>
                          <a:ea typeface="+mn-ea"/>
                          <a:cs typeface="+mn-cs"/>
                        </a:rPr>
                        <a:t>By automating the resolution of 30,000 cases annually, this initiative will significantly reduce operational costs, eliminate agent dependency, and enable 24/7 resolution at scale without headcount growth. This directly translates to faster customer resolution times, improved satisfaction scores, and the reallocation of human talent toward higher-value, revenue-generating activities.</a:t>
                      </a:r>
                    </a:p>
                    <a:p>
                      <a:pPr marL="0" marR="0" lvl="0" indent="0" algn="l">
                        <a:lnSpc>
                          <a:spcPct val="100000"/>
                        </a:lnSpc>
                        <a:spcBef>
                          <a:spcPts val="0"/>
                        </a:spcBef>
                        <a:spcAft>
                          <a:spcPts val="0"/>
                        </a:spcAft>
                        <a:buClrTx/>
                        <a:buSzTx/>
                        <a:buFontTx/>
                        <a:buNone/>
                      </a:pPr>
                      <a:endParaRPr lang="en-US" sz="1000" b="1" i="0" u="none" strike="noStrike" kern="1200">
                        <a:solidFill>
                          <a:srgbClr val="00B050"/>
                        </a:solidFill>
                        <a:latin typeface="+mn-lt"/>
                        <a:ea typeface="+mn-ea"/>
                        <a:cs typeface="+mn-cs"/>
                      </a:endParaRPr>
                    </a:p>
                    <a:p>
                      <a:pPr marL="0" marR="0" lvl="0" indent="0" algn="l">
                        <a:lnSpc>
                          <a:spcPct val="100000"/>
                        </a:lnSpc>
                        <a:spcBef>
                          <a:spcPts val="0"/>
                        </a:spcBef>
                        <a:spcAft>
                          <a:spcPts val="0"/>
                        </a:spcAft>
                        <a:buNone/>
                      </a:pPr>
                      <a:endParaRPr lang="en-US" sz="1000" b="0" i="0" u="none" strike="noStrike" kern="1200" noProof="0">
                        <a:solidFill>
                          <a:srgbClr val="00B050"/>
                        </a:solidFill>
                      </a:endParaRPr>
                    </a:p>
                    <a:p>
                      <a:pPr marL="0" lvl="0" indent="0" algn="l">
                        <a:lnSpc>
                          <a:spcPct val="100000"/>
                        </a:lnSpc>
                        <a:buNone/>
                      </a:pPr>
                      <a:r>
                        <a:rPr lang="en-US" sz="1000" b="0" i="0" u="none" strike="noStrike" kern="1200" baseline="0" noProof="0">
                          <a:solidFill>
                            <a:srgbClr val="00B050"/>
                          </a:solidFill>
                          <a:latin typeface="Nunito Sans"/>
                          <a:cs typeface="Segoe UI"/>
                        </a:rPr>
                        <a:t>Target automation of around 2,365 of 4,730 monthly retro claim cases by integrating Salesforce </a:t>
                      </a:r>
                      <a:r>
                        <a:rPr lang="en-US" sz="1000" b="0" i="0" u="none" strike="noStrike" kern="1200" baseline="0" noProof="0" err="1">
                          <a:solidFill>
                            <a:srgbClr val="00B050"/>
                          </a:solidFill>
                          <a:latin typeface="Nunito Sans"/>
                          <a:cs typeface="Segoe UI"/>
                        </a:rPr>
                        <a:t>Agentforce</a:t>
                      </a:r>
                      <a:r>
                        <a:rPr lang="en-US" sz="1000" b="0" i="0" u="none" strike="noStrike" kern="1200" baseline="0" noProof="0">
                          <a:solidFill>
                            <a:srgbClr val="00B050"/>
                          </a:solidFill>
                          <a:latin typeface="Nunito Sans"/>
                          <a:cs typeface="Segoe UI"/>
                        </a:rPr>
                        <a:t> , reducing advisor dependency and enabling faster, consistent, audit-ready resolution for eligible missing points claims.</a:t>
                      </a:r>
                      <a:endParaRPr lang="en-US"/>
                    </a:p>
                    <a:p>
                      <a:pPr marL="0" marR="0" lvl="0" indent="0" algn="l">
                        <a:lnSpc>
                          <a:spcPct val="100000"/>
                        </a:lnSpc>
                        <a:spcBef>
                          <a:spcPts val="0"/>
                        </a:spcBef>
                        <a:spcAft>
                          <a:spcPts val="0"/>
                        </a:spcAft>
                        <a:buNone/>
                      </a:pPr>
                      <a:endParaRPr lang="en-US" sz="1000" b="0" i="0" u="none" strike="noStrike" kern="1200" noProof="0">
                        <a:solidFill>
                          <a:srgbClr val="00B050"/>
                        </a:solidFill>
                      </a:endParaRPr>
                    </a:p>
                    <a:p>
                      <a:pPr marL="0" marR="0" lvl="0" indent="0" algn="l">
                        <a:lnSpc>
                          <a:spcPct val="100000"/>
                        </a:lnSpc>
                        <a:spcBef>
                          <a:spcPts val="0"/>
                        </a:spcBef>
                        <a:spcAft>
                          <a:spcPts val="0"/>
                        </a:spcAft>
                        <a:buClrTx/>
                        <a:buSzTx/>
                        <a:buFontTx/>
                        <a:buNone/>
                      </a:pPr>
                      <a:endParaRPr lang="en-US" sz="1000" b="1" i="0" u="none" strike="noStrike" kern="1200">
                        <a:solidFill>
                          <a:srgbClr val="00B050"/>
                        </a:solidFill>
                        <a:latin typeface="+mn-lt"/>
                        <a:ea typeface="+mn-ea"/>
                        <a:cs typeface="+mn-cs"/>
                      </a:endParaRPr>
                    </a:p>
                    <a:p>
                      <a:pPr marL="0" lvl="0" indent="0" algn="l">
                        <a:lnSpc>
                          <a:spcPct val="100000"/>
                        </a:lnSpc>
                        <a:buNone/>
                      </a:pPr>
                      <a:r>
                        <a:rPr lang="en-US" sz="1000" b="0" i="0" u="none" strike="noStrike" kern="1200" baseline="0" noProof="0">
                          <a:solidFill>
                            <a:srgbClr val="00B050"/>
                          </a:solidFill>
                          <a:latin typeface="Nunito Sans"/>
                          <a:cs typeface="Segoe UI"/>
                        </a:rPr>
                        <a:t>Target automation of around 1,114 of 2,228 monthly profile update cases by systemizing request classification, verification checks, profile update execution, and customer communication, improving TAT while ensuring compliant member data updates.</a:t>
                      </a:r>
                      <a:endParaRPr lang="en-US" sz="1000" b="0" i="0" u="none" strike="noStrike" kern="1200" noProof="0">
                        <a:solidFill>
                          <a:srgbClr val="00B050"/>
                        </a:solidFill>
                      </a:endParaRPr>
                    </a:p>
                    <a:p>
                      <a:pPr marL="0" marR="0" lvl="0" indent="0" algn="l">
                        <a:lnSpc>
                          <a:spcPct val="100000"/>
                        </a:lnSpc>
                        <a:spcBef>
                          <a:spcPts val="0"/>
                        </a:spcBef>
                        <a:spcAft>
                          <a:spcPts val="0"/>
                        </a:spcAft>
                        <a:buNone/>
                      </a:pPr>
                      <a:endParaRPr lang="en-US" sz="1000" b="0" i="0" u="none" strike="noStrike" kern="1200" noProof="0">
                        <a:solidFill>
                          <a:srgbClr val="00B050"/>
                        </a:solidFill>
                      </a:endParaRPr>
                    </a:p>
                    <a:p>
                      <a:pPr marL="0" marR="0" lvl="0" indent="0" algn="l">
                        <a:lnSpc>
                          <a:spcPct val="100000"/>
                        </a:lnSpc>
                        <a:spcBef>
                          <a:spcPts val="0"/>
                        </a:spcBef>
                        <a:spcAft>
                          <a:spcPts val="0"/>
                        </a:spcAft>
                        <a:buNone/>
                      </a:pPr>
                      <a:endParaRPr lang="en-US" sz="1000" b="0" i="0" u="none" strike="noStrike" kern="1200" noProof="0">
                        <a:solidFill>
                          <a:srgbClr val="00B050"/>
                        </a:solidFill>
                      </a:endParaRPr>
                    </a:p>
                    <a:p>
                      <a:pPr marL="0" marR="0" lvl="0" indent="0" algn="l">
                        <a:lnSpc>
                          <a:spcPct val="100000"/>
                        </a:lnSpc>
                        <a:spcBef>
                          <a:spcPts val="0"/>
                        </a:spcBef>
                        <a:spcAft>
                          <a:spcPts val="0"/>
                        </a:spcAft>
                        <a:buNone/>
                      </a:pPr>
                      <a:endParaRPr lang="en-US" sz="1000" b="0" i="0" u="none" strike="noStrike" kern="1200" noProof="0">
                        <a:solidFill>
                          <a:srgbClr val="00B050"/>
                        </a:solidFill>
                      </a:endParaRPr>
                    </a:p>
                    <a:p>
                      <a:pPr marL="0" marR="0" lvl="0" indent="0" algn="l">
                        <a:lnSpc>
                          <a:spcPct val="100000"/>
                        </a:lnSpc>
                        <a:spcBef>
                          <a:spcPts val="0"/>
                        </a:spcBef>
                        <a:spcAft>
                          <a:spcPts val="0"/>
                        </a:spcAft>
                        <a:buNone/>
                      </a:pPr>
                      <a:endParaRPr lang="en-US" sz="1000" b="0" i="0" u="none" strike="noStrike" kern="1200" noProof="0">
                        <a:solidFill>
                          <a:srgbClr val="00B050"/>
                        </a:solidFill>
                      </a:endParaRPr>
                    </a:p>
                    <a:p>
                      <a:pPr marL="0" marR="0" lvl="0" indent="0" algn="l">
                        <a:lnSpc>
                          <a:spcPct val="100000"/>
                        </a:lnSpc>
                        <a:spcBef>
                          <a:spcPts val="0"/>
                        </a:spcBef>
                        <a:spcAft>
                          <a:spcPts val="0"/>
                        </a:spcAft>
                        <a:buNone/>
                      </a:pPr>
                      <a:r>
                        <a:rPr lang="en-US" sz="1000" b="0" i="0" u="none" strike="noStrike" kern="1200" noProof="0">
                          <a:solidFill>
                            <a:srgbClr val="00B050"/>
                          </a:solidFill>
                          <a:latin typeface="Nunito Sans"/>
                        </a:rPr>
                        <a:t>Automating responses for compliments reduces manual agent handling across high-volume, process-driven cases. Improved TAT and zero-error routing enhances customer trust and compliance accuracy.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b="0" i="0" u="none" strike="noStrike" kern="1200" noProof="0">
                        <a:solidFill>
                          <a:srgbClr val="00B050"/>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b="0" i="0" u="none" strike="noStrike" kern="1200" noProof="0">
                        <a:solidFill>
                          <a:srgbClr val="00B050"/>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u="none" strike="noStrike" kern="1200" noProof="0">
                          <a:solidFill>
                            <a:srgbClr val="00B050"/>
                          </a:solidFill>
                          <a:latin typeface="+mn-lt"/>
                        </a:rPr>
                        <a:t>Automating 60% of refund status enquiries (21,600 cases annually) will eliminate approximately 1,800 hours of repetitive manual effort every year, resulting in operational savings of ~₹5.1 Lakhs annually.</a:t>
                      </a:r>
                    </a:p>
                    <a:p>
                      <a:pPr marL="0" marR="0" lvl="0" indent="0" algn="l">
                        <a:lnSpc>
                          <a:spcPct val="100000"/>
                        </a:lnSpc>
                        <a:spcBef>
                          <a:spcPts val="0"/>
                        </a:spcBef>
                        <a:spcAft>
                          <a:spcPts val="0"/>
                        </a:spcAft>
                        <a:buClrTx/>
                        <a:buSzTx/>
                        <a:buFontTx/>
                        <a:buNone/>
                      </a:pPr>
                      <a:endParaRPr lang="en-US" sz="1000" b="0" i="0" u="none" strike="noStrike" kern="1200" noProof="0">
                        <a:solidFill>
                          <a:srgbClr val="00B050"/>
                        </a:solidFill>
                        <a:latin typeface="+mn-lt"/>
                      </a:endParaRPr>
                    </a:p>
                    <a:p>
                      <a:pPr marL="0" marR="0" lvl="0" indent="0" algn="l">
                        <a:lnSpc>
                          <a:spcPct val="100000"/>
                        </a:lnSpc>
                        <a:spcBef>
                          <a:spcPts val="0"/>
                        </a:spcBef>
                        <a:spcAft>
                          <a:spcPts val="0"/>
                        </a:spcAft>
                        <a:buNone/>
                      </a:pPr>
                      <a:r>
                        <a:rPr lang="en-IN" sz="1000" b="0" i="0" u="none" strike="noStrike" kern="1200" noProof="0">
                          <a:solidFill>
                            <a:srgbClr val="00B050"/>
                          </a:solidFill>
                          <a:latin typeface="Nunito Sans"/>
                        </a:rPr>
                        <a:t>By automating 18% of refund cases (~64,800 cases annually), Air India can eliminate approximately 8,640 hours of manual effort every year, equivalent to ~4 FTEs, resulting in annual operational savings of ~₹25 Lakhs. </a:t>
                      </a:r>
                      <a:endParaRPr lang="en-US"/>
                    </a:p>
                  </a:txBody>
                  <a:tcP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a:solidFill>
                        <a:schemeClr val="bg1">
                          <a:lumMod val="75000"/>
                        </a:schemeClr>
                      </a:solidFill>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B050"/>
                          </a:solidFill>
                          <a:effectLst/>
                          <a:uLnTx/>
                          <a:uFillTx/>
                          <a:latin typeface="+mn-lt"/>
                          <a:ea typeface="+mn-ea"/>
                          <a:cs typeface="Segoe UI"/>
                        </a:rPr>
                        <a:t>28 July</a:t>
                      </a:r>
                      <a:endParaRPr kumimoji="0" lang="en-US" sz="1800" b="0" i="0" u="none" strike="noStrike" kern="1200" cap="none" spc="0" normalizeH="0" baseline="0" noProof="0">
                        <a:ln>
                          <a:noFill/>
                        </a:ln>
                        <a:solidFill>
                          <a:srgbClr val="000000"/>
                        </a:solidFill>
                        <a:effectLst/>
                        <a:uLnTx/>
                        <a:uFillTx/>
                        <a:latin typeface="+mn-lt"/>
                        <a:ea typeface="+mn-ea"/>
                        <a:cs typeface="+mn-cs"/>
                      </a:endParaRPr>
                    </a:p>
                    <a:p>
                      <a:pPr marL="0" marR="0" lvl="0" indent="0" algn="l">
                        <a:lnSpc>
                          <a:spcPct val="100000"/>
                        </a:lnSpc>
                        <a:spcBef>
                          <a:spcPts val="0"/>
                        </a:spcBef>
                        <a:spcAft>
                          <a:spcPts val="0"/>
                        </a:spcAft>
                        <a:buNone/>
                      </a:pPr>
                      <a:endParaRPr lang="en-US"/>
                    </a:p>
                    <a:p>
                      <a:pPr marL="0" marR="0" lvl="0" indent="0" algn="l">
                        <a:lnSpc>
                          <a:spcPct val="100000"/>
                        </a:lnSpc>
                        <a:spcBef>
                          <a:spcPts val="0"/>
                        </a:spcBef>
                        <a:spcAft>
                          <a:spcPts val="0"/>
                        </a:spcAft>
                        <a:buNone/>
                      </a:pPr>
                      <a:endParaRPr lang="en-US"/>
                    </a:p>
                    <a:p>
                      <a:pPr marL="0" marR="0" lvl="0" indent="0" algn="l">
                        <a:lnSpc>
                          <a:spcPct val="100000"/>
                        </a:lnSpc>
                        <a:spcBef>
                          <a:spcPts val="0"/>
                        </a:spcBef>
                        <a:spcAft>
                          <a:spcPts val="0"/>
                        </a:spcAft>
                        <a:buNone/>
                      </a:pPr>
                      <a:endParaRPr lang="en-US"/>
                    </a:p>
                    <a:p>
                      <a:pPr marL="0" marR="0" lvl="0" indent="0" algn="l">
                        <a:lnSpc>
                          <a:spcPct val="100000"/>
                        </a:lnSpc>
                        <a:spcBef>
                          <a:spcPts val="0"/>
                        </a:spcBef>
                        <a:spcAft>
                          <a:spcPts val="0"/>
                        </a:spcAft>
                        <a:buNone/>
                      </a:pPr>
                      <a:r>
                        <a:rPr lang="en-US" sz="1100" b="0" i="0" u="none" strike="noStrike" kern="1200" baseline="0">
                          <a:solidFill>
                            <a:srgbClr val="00B050"/>
                          </a:solidFill>
                          <a:latin typeface="Nunito Sans"/>
                          <a:ea typeface="+mn-ea"/>
                          <a:cs typeface="Segoe UI"/>
                        </a:rPr>
                        <a:t>28 July</a:t>
                      </a:r>
                      <a:endParaRPr lang="en-US"/>
                    </a:p>
                    <a:p>
                      <a:pPr marL="0" marR="0" lvl="0" indent="0" algn="l">
                        <a:lnSpc>
                          <a:spcPct val="100000"/>
                        </a:lnSpc>
                        <a:spcBef>
                          <a:spcPts val="0"/>
                        </a:spcBef>
                        <a:spcAft>
                          <a:spcPts val="0"/>
                        </a:spcAft>
                        <a:buNone/>
                      </a:pPr>
                      <a:endParaRPr lang="en-US"/>
                    </a:p>
                    <a:p>
                      <a:pPr marL="0" marR="0" lvl="0" indent="0" algn="l">
                        <a:lnSpc>
                          <a:spcPct val="100000"/>
                        </a:lnSpc>
                        <a:spcBef>
                          <a:spcPts val="0"/>
                        </a:spcBef>
                        <a:spcAft>
                          <a:spcPts val="0"/>
                        </a:spcAft>
                        <a:buNone/>
                      </a:pPr>
                      <a:endParaRPr lang="en-US"/>
                    </a:p>
                    <a:p>
                      <a:pPr lvl="0" algn="l">
                        <a:lnSpc>
                          <a:spcPct val="100000"/>
                        </a:lnSpc>
                        <a:spcBef>
                          <a:spcPts val="0"/>
                        </a:spcBef>
                        <a:spcAft>
                          <a:spcPts val="0"/>
                        </a:spcAft>
                        <a:buNone/>
                      </a:pPr>
                      <a:r>
                        <a:rPr lang="en-US" sz="1100" b="0" i="0" u="none" strike="noStrike" noProof="0">
                          <a:solidFill>
                            <a:srgbClr val="00B050"/>
                          </a:solidFill>
                          <a:latin typeface="Nunito Sans"/>
                        </a:rPr>
                        <a:t>28 July</a:t>
                      </a:r>
                      <a:endParaRPr lang="en-US" sz="1000" b="0" i="0" u="none" strike="noStrike" kern="1200">
                        <a:solidFill>
                          <a:srgbClr val="00B050"/>
                        </a:solidFill>
                        <a:latin typeface="Nunito Sans"/>
                        <a:ea typeface="+mn-ea"/>
                        <a:cs typeface="+mn-cs"/>
                      </a:endParaRPr>
                    </a:p>
                    <a:p>
                      <a:pPr marL="0" marR="0" lvl="0" indent="0" algn="l">
                        <a:lnSpc>
                          <a:spcPct val="100000"/>
                        </a:lnSpc>
                        <a:spcBef>
                          <a:spcPts val="0"/>
                        </a:spcBef>
                        <a:spcAft>
                          <a:spcPts val="0"/>
                        </a:spcAft>
                        <a:buNone/>
                      </a:pPr>
                      <a:endParaRPr lang="en-US" sz="1000" b="0" i="0" u="none" strike="noStrike" kern="1200">
                        <a:solidFill>
                          <a:srgbClr val="00B050"/>
                        </a:solidFill>
                        <a:latin typeface="Nunito Sans"/>
                        <a:ea typeface="+mn-ea"/>
                        <a:cs typeface="+mn-cs"/>
                      </a:endParaRPr>
                    </a:p>
                    <a:p>
                      <a:pPr marL="0" marR="0" lvl="0" indent="0" algn="l">
                        <a:lnSpc>
                          <a:spcPct val="100000"/>
                        </a:lnSpc>
                        <a:spcBef>
                          <a:spcPts val="0"/>
                        </a:spcBef>
                        <a:spcAft>
                          <a:spcPts val="0"/>
                        </a:spcAft>
                        <a:buNone/>
                      </a:pPr>
                      <a:endParaRPr lang="en-US" sz="1000" b="0" i="0" u="none" strike="noStrike" kern="1200">
                        <a:solidFill>
                          <a:srgbClr val="00B050"/>
                        </a:solidFill>
                        <a:latin typeface="Nunito Sans"/>
                        <a:ea typeface="+mn-ea"/>
                        <a:cs typeface="+mn-cs"/>
                      </a:endParaRPr>
                    </a:p>
                    <a:p>
                      <a:pPr marL="0" marR="0" lvl="0" indent="0" algn="l">
                        <a:lnSpc>
                          <a:spcPct val="100000"/>
                        </a:lnSpc>
                        <a:spcBef>
                          <a:spcPts val="0"/>
                        </a:spcBef>
                        <a:spcAft>
                          <a:spcPts val="0"/>
                        </a:spcAft>
                        <a:buNone/>
                      </a:pPr>
                      <a:endParaRPr lang="en-US" sz="1000" b="0" i="0" u="none" strike="noStrike" kern="1200">
                        <a:solidFill>
                          <a:srgbClr val="00B050"/>
                        </a:solidFill>
                        <a:latin typeface="Nunito Sans"/>
                        <a:ea typeface="+mn-ea"/>
                        <a:cs typeface="+mn-cs"/>
                      </a:endParaRPr>
                    </a:p>
                    <a:p>
                      <a:pPr marL="0" marR="0" lvl="0" indent="0" algn="l">
                        <a:lnSpc>
                          <a:spcPct val="100000"/>
                        </a:lnSpc>
                        <a:spcBef>
                          <a:spcPts val="0"/>
                        </a:spcBef>
                        <a:spcAft>
                          <a:spcPts val="0"/>
                        </a:spcAft>
                        <a:buNone/>
                      </a:pPr>
                      <a:endParaRPr lang="en-US" sz="1000" b="0" i="0" u="none" strike="noStrike" kern="1200">
                        <a:solidFill>
                          <a:srgbClr val="00B050"/>
                        </a:solidFill>
                        <a:latin typeface="Nunito Sans"/>
                        <a:ea typeface="+mn-ea"/>
                        <a:cs typeface="+mn-cs"/>
                      </a:endParaRPr>
                    </a:p>
                    <a:p>
                      <a:pPr marL="0" marR="0" lvl="0" indent="0" algn="l">
                        <a:lnSpc>
                          <a:spcPct val="100000"/>
                        </a:lnSpc>
                        <a:spcBef>
                          <a:spcPts val="0"/>
                        </a:spcBef>
                        <a:spcAft>
                          <a:spcPts val="0"/>
                        </a:spcAft>
                        <a:buNone/>
                      </a:pPr>
                      <a:endParaRPr lang="en-US" sz="1000" b="0" i="0" u="none" strike="noStrike" kern="1200">
                        <a:solidFill>
                          <a:srgbClr val="00B050"/>
                        </a:solidFill>
                        <a:latin typeface="Nunito Sans"/>
                        <a:ea typeface="+mn-ea"/>
                        <a:cs typeface="+mn-cs"/>
                      </a:endParaRPr>
                    </a:p>
                    <a:p>
                      <a:pPr marL="0" marR="0" lvl="0" indent="0" algn="l">
                        <a:lnSpc>
                          <a:spcPct val="100000"/>
                        </a:lnSpc>
                        <a:spcBef>
                          <a:spcPts val="0"/>
                        </a:spcBef>
                        <a:spcAft>
                          <a:spcPts val="0"/>
                        </a:spcAft>
                        <a:buNone/>
                      </a:pPr>
                      <a:endParaRPr lang="en-US" sz="1000" b="0" i="0" u="none" strike="noStrike" kern="1200">
                        <a:solidFill>
                          <a:srgbClr val="00B050"/>
                        </a:solidFill>
                        <a:latin typeface="Nunito Sans"/>
                        <a:ea typeface="+mn-ea"/>
                        <a:cs typeface="+mn-cs"/>
                      </a:endParaRPr>
                    </a:p>
                    <a:p>
                      <a:pPr marL="0" marR="0" lvl="0" indent="0" algn="l">
                        <a:lnSpc>
                          <a:spcPct val="100000"/>
                        </a:lnSpc>
                        <a:spcBef>
                          <a:spcPts val="0"/>
                        </a:spcBef>
                        <a:spcAft>
                          <a:spcPts val="0"/>
                        </a:spcAft>
                        <a:buNone/>
                      </a:pPr>
                      <a:r>
                        <a:rPr lang="en-US" sz="1000" b="0" i="0" u="none" strike="noStrike" kern="1200">
                          <a:solidFill>
                            <a:srgbClr val="00B050"/>
                          </a:solidFill>
                          <a:latin typeface="Nunito Sans"/>
                          <a:ea typeface="+mn-ea"/>
                          <a:cs typeface="+mn-cs"/>
                        </a:rPr>
                        <a:t>25/8/26</a:t>
                      </a:r>
                    </a:p>
                    <a:p>
                      <a:pPr marL="0" marR="0" lvl="0" indent="0" algn="l">
                        <a:lnSpc>
                          <a:spcPct val="100000"/>
                        </a:lnSpc>
                        <a:spcBef>
                          <a:spcPts val="0"/>
                        </a:spcBef>
                        <a:spcAft>
                          <a:spcPts val="0"/>
                        </a:spcAft>
                        <a:buNone/>
                      </a:pPr>
                      <a:endParaRPr lang="en-US" sz="1000" b="0" i="0" u="none" strike="noStrike" kern="1200">
                        <a:solidFill>
                          <a:srgbClr val="00B050"/>
                        </a:solidFill>
                        <a:latin typeface="Nunito Sans"/>
                        <a:ea typeface="+mn-ea"/>
                        <a:cs typeface="+mn-cs"/>
                      </a:endParaRPr>
                    </a:p>
                    <a:p>
                      <a:pPr marL="0" marR="0" lvl="0" indent="0" algn="l">
                        <a:lnSpc>
                          <a:spcPct val="100000"/>
                        </a:lnSpc>
                        <a:spcBef>
                          <a:spcPts val="0"/>
                        </a:spcBef>
                        <a:spcAft>
                          <a:spcPts val="0"/>
                        </a:spcAft>
                        <a:buNone/>
                      </a:pPr>
                      <a:endParaRPr lang="en-US" sz="1000" b="0" i="0" u="none" strike="noStrike" kern="1200">
                        <a:solidFill>
                          <a:srgbClr val="00B050"/>
                        </a:solidFill>
                        <a:latin typeface="Nunito Sans"/>
                        <a:ea typeface="+mn-ea"/>
                        <a:cs typeface="+mn-cs"/>
                      </a:endParaRPr>
                    </a:p>
                    <a:p>
                      <a:pPr marL="0" marR="0" lvl="0" indent="0" algn="l">
                        <a:lnSpc>
                          <a:spcPct val="100000"/>
                        </a:lnSpc>
                        <a:spcBef>
                          <a:spcPts val="0"/>
                        </a:spcBef>
                        <a:spcAft>
                          <a:spcPts val="0"/>
                        </a:spcAft>
                        <a:buNone/>
                      </a:pPr>
                      <a:endParaRPr lang="en-US" sz="1000" b="0" i="0" u="none" strike="noStrike" kern="1200">
                        <a:solidFill>
                          <a:srgbClr val="00B050"/>
                        </a:solidFill>
                        <a:latin typeface="Nunito Sa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u="none" strike="noStrike" kern="1200">
                          <a:solidFill>
                            <a:srgbClr val="00B050"/>
                          </a:solidFill>
                          <a:latin typeface="+mn-lt"/>
                          <a:ea typeface="+mn-ea"/>
                          <a:cs typeface="+mn-cs"/>
                        </a:rPr>
                        <a:t>25/8/26</a:t>
                      </a:r>
                    </a:p>
                    <a:p>
                      <a:pPr marL="0" marR="0" lvl="0" indent="0" algn="l">
                        <a:lnSpc>
                          <a:spcPct val="100000"/>
                        </a:lnSpc>
                        <a:spcBef>
                          <a:spcPts val="0"/>
                        </a:spcBef>
                        <a:spcAft>
                          <a:spcPts val="0"/>
                        </a:spcAft>
                        <a:buNone/>
                      </a:pPr>
                      <a:endParaRPr lang="en-US" sz="1000" b="0" i="0" u="none" strike="noStrike" kern="1200">
                        <a:solidFill>
                          <a:srgbClr val="00B050"/>
                        </a:solidFill>
                        <a:latin typeface="Nunito Sans"/>
                        <a:ea typeface="+mn-ea"/>
                        <a:cs typeface="+mn-cs"/>
                      </a:endParaRPr>
                    </a:p>
                    <a:p>
                      <a:pPr marL="0" marR="0" lvl="0" indent="0" algn="l">
                        <a:lnSpc>
                          <a:spcPct val="100000"/>
                        </a:lnSpc>
                        <a:spcBef>
                          <a:spcPts val="0"/>
                        </a:spcBef>
                        <a:spcAft>
                          <a:spcPts val="0"/>
                        </a:spcAft>
                        <a:buNone/>
                      </a:pPr>
                      <a:endParaRPr lang="en-US" sz="1000" b="0" i="0" u="none" strike="noStrike" kern="1200">
                        <a:solidFill>
                          <a:srgbClr val="00B050"/>
                        </a:solidFill>
                        <a:latin typeface="Nunito Sans"/>
                        <a:ea typeface="+mn-ea"/>
                        <a:cs typeface="+mn-cs"/>
                      </a:endParaRPr>
                    </a:p>
                    <a:p>
                      <a:pPr marL="0" marR="0" lvl="0" indent="0" algn="l">
                        <a:lnSpc>
                          <a:spcPct val="100000"/>
                        </a:lnSpc>
                        <a:spcBef>
                          <a:spcPts val="0"/>
                        </a:spcBef>
                        <a:spcAft>
                          <a:spcPts val="0"/>
                        </a:spcAft>
                        <a:buNone/>
                      </a:pPr>
                      <a:endParaRPr lang="en-US" sz="1000" b="0" i="0" u="none" strike="noStrike" kern="1200">
                        <a:solidFill>
                          <a:srgbClr val="00B050"/>
                        </a:solidFill>
                        <a:latin typeface="Nunito Sans"/>
                        <a:ea typeface="+mn-ea"/>
                        <a:cs typeface="+mn-cs"/>
                      </a:endParaRPr>
                    </a:p>
                    <a:p>
                      <a:pPr marL="0" marR="0" lvl="0" indent="0" algn="l">
                        <a:lnSpc>
                          <a:spcPct val="100000"/>
                        </a:lnSpc>
                        <a:spcBef>
                          <a:spcPts val="0"/>
                        </a:spcBef>
                        <a:spcAft>
                          <a:spcPts val="0"/>
                        </a:spcAft>
                        <a:buNone/>
                      </a:pPr>
                      <a:r>
                        <a:rPr lang="en-US" sz="1000" b="0" i="0" u="none" strike="noStrike" kern="1200">
                          <a:solidFill>
                            <a:srgbClr val="00B050"/>
                          </a:solidFill>
                          <a:latin typeface="Nunito Sans"/>
                          <a:ea typeface="+mn-ea"/>
                          <a:cs typeface="+mn-cs"/>
                        </a:rPr>
                        <a:t>25/8/26</a:t>
                      </a:r>
                    </a:p>
                  </a:txBody>
                  <a:tcP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a:solidFill>
                        <a:schemeClr val="bg1">
                          <a:lumMod val="75000"/>
                        </a:schemeClr>
                      </a:solidFill>
                    </a:lnB>
                    <a:noFill/>
                  </a:tcPr>
                </a:tc>
                <a:tc>
                  <a:txBody>
                    <a:bodyPr/>
                    <a:lstStyle/>
                    <a:p>
                      <a:pPr marL="0" marR="0" lvl="0" indent="0" algn="l">
                        <a:lnSpc>
                          <a:spcPct val="100000"/>
                        </a:lnSpc>
                        <a:spcBef>
                          <a:spcPts val="0"/>
                        </a:spcBef>
                        <a:spcAft>
                          <a:spcPts val="0"/>
                        </a:spcAft>
                        <a:buNone/>
                      </a:pPr>
                      <a:r>
                        <a:rPr kumimoji="0" lang="en-US" sz="1000" b="0" i="0" u="none" strike="noStrike" kern="1200" cap="none" spc="0" normalizeH="0" baseline="0" noProof="0">
                          <a:ln>
                            <a:noFill/>
                          </a:ln>
                          <a:solidFill>
                            <a:srgbClr val="00B050"/>
                          </a:solidFill>
                          <a:effectLst/>
                          <a:uLnTx/>
                          <a:uFillTx/>
                          <a:latin typeface="+mn-lt"/>
                          <a:ea typeface="+mn-ea"/>
                          <a:cs typeface="Segoe UI"/>
                        </a:rPr>
                        <a:t>Yes</a:t>
                      </a:r>
                      <a:endParaRPr lang="en-US"/>
                    </a:p>
                    <a:p>
                      <a:pPr marL="0" marR="0" lvl="0" indent="0" algn="l">
                        <a:lnSpc>
                          <a:spcPct val="100000"/>
                        </a:lnSpc>
                        <a:spcBef>
                          <a:spcPts val="0"/>
                        </a:spcBef>
                        <a:spcAft>
                          <a:spcPts val="0"/>
                        </a:spcAft>
                        <a:buNone/>
                      </a:pPr>
                      <a:endParaRPr lang="en-US"/>
                    </a:p>
                    <a:p>
                      <a:pPr marL="0" marR="0" lvl="0" indent="0" algn="l">
                        <a:lnSpc>
                          <a:spcPct val="100000"/>
                        </a:lnSpc>
                        <a:spcBef>
                          <a:spcPts val="0"/>
                        </a:spcBef>
                        <a:spcAft>
                          <a:spcPts val="0"/>
                        </a:spcAft>
                        <a:buNone/>
                      </a:pPr>
                      <a:endParaRPr lang="en-US"/>
                    </a:p>
                    <a:p>
                      <a:pPr marL="0" marR="0" lvl="0" indent="0" algn="l">
                        <a:lnSpc>
                          <a:spcPct val="100000"/>
                        </a:lnSpc>
                        <a:spcBef>
                          <a:spcPts val="0"/>
                        </a:spcBef>
                        <a:spcAft>
                          <a:spcPts val="0"/>
                        </a:spcAft>
                        <a:buNone/>
                      </a:pPr>
                      <a:endParaRPr lang="en-US" sz="1000" b="0" i="0" u="none" strike="noStrike" kern="1200" baseline="0">
                        <a:solidFill>
                          <a:srgbClr val="00B050"/>
                        </a:solidFill>
                        <a:latin typeface="Nunito Sans"/>
                        <a:ea typeface="+mn-ea"/>
                        <a:cs typeface="Segoe UI"/>
                      </a:endParaRPr>
                    </a:p>
                    <a:p>
                      <a:pPr marL="0" marR="0" lvl="0" indent="0" algn="l">
                        <a:lnSpc>
                          <a:spcPct val="100000"/>
                        </a:lnSpc>
                        <a:spcBef>
                          <a:spcPts val="0"/>
                        </a:spcBef>
                        <a:spcAft>
                          <a:spcPts val="0"/>
                        </a:spcAft>
                        <a:buNone/>
                      </a:pPr>
                      <a:r>
                        <a:rPr lang="en-US" sz="1000" b="0" i="0" u="none" strike="noStrike" kern="1200" baseline="0">
                          <a:solidFill>
                            <a:srgbClr val="00B050"/>
                          </a:solidFill>
                          <a:latin typeface="Nunito Sans"/>
                          <a:ea typeface="+mn-ea"/>
                          <a:cs typeface="Segoe UI"/>
                        </a:rPr>
                        <a:t>Yes</a:t>
                      </a:r>
                    </a:p>
                    <a:p>
                      <a:pPr marL="0" marR="0" lvl="0" indent="0" algn="l">
                        <a:lnSpc>
                          <a:spcPct val="100000"/>
                        </a:lnSpc>
                        <a:spcBef>
                          <a:spcPts val="0"/>
                        </a:spcBef>
                        <a:spcAft>
                          <a:spcPts val="0"/>
                        </a:spcAft>
                        <a:buNone/>
                      </a:pPr>
                      <a:endParaRPr lang="en-US"/>
                    </a:p>
                    <a:p>
                      <a:pPr marL="0" marR="0" lvl="0" indent="0" algn="l">
                        <a:lnSpc>
                          <a:spcPct val="100000"/>
                        </a:lnSpc>
                        <a:spcBef>
                          <a:spcPts val="0"/>
                        </a:spcBef>
                        <a:spcAft>
                          <a:spcPts val="0"/>
                        </a:spcAft>
                        <a:buNone/>
                      </a:pPr>
                      <a:endParaRPr lang="en-US"/>
                    </a:p>
                    <a:p>
                      <a:pPr marL="0" marR="0" lvl="0" indent="0" algn="l">
                        <a:lnSpc>
                          <a:spcPct val="100000"/>
                        </a:lnSpc>
                        <a:spcBef>
                          <a:spcPts val="0"/>
                        </a:spcBef>
                        <a:spcAft>
                          <a:spcPts val="0"/>
                        </a:spcAft>
                        <a:buNone/>
                      </a:pPr>
                      <a:r>
                        <a:rPr lang="en-US" sz="1000" b="0" i="0" u="none" strike="noStrike" noProof="0">
                          <a:solidFill>
                            <a:srgbClr val="00B050"/>
                          </a:solidFill>
                          <a:latin typeface="Nunito Sans"/>
                        </a:rPr>
                        <a:t>Yes</a:t>
                      </a:r>
                    </a:p>
                    <a:p>
                      <a:pPr marL="0" marR="0" lvl="0" indent="0" algn="l">
                        <a:lnSpc>
                          <a:spcPct val="100000"/>
                        </a:lnSpc>
                        <a:spcBef>
                          <a:spcPts val="0"/>
                        </a:spcBef>
                        <a:spcAft>
                          <a:spcPts val="0"/>
                        </a:spcAft>
                        <a:buNone/>
                      </a:pPr>
                      <a:endParaRPr lang="en-US" sz="1000" b="0" i="0" u="none" strike="noStrike" noProof="0">
                        <a:solidFill>
                          <a:srgbClr val="00B050"/>
                        </a:solidFill>
                        <a:latin typeface="Nunito Sans"/>
                      </a:endParaRPr>
                    </a:p>
                    <a:p>
                      <a:pPr marL="0" marR="0" lvl="0" indent="0" algn="l">
                        <a:lnSpc>
                          <a:spcPct val="100000"/>
                        </a:lnSpc>
                        <a:spcBef>
                          <a:spcPts val="0"/>
                        </a:spcBef>
                        <a:spcAft>
                          <a:spcPts val="0"/>
                        </a:spcAft>
                        <a:buNone/>
                      </a:pPr>
                      <a:endParaRPr lang="en-US" sz="1000" b="0" i="0" u="none" strike="noStrike" noProof="0">
                        <a:solidFill>
                          <a:srgbClr val="00B050"/>
                        </a:solidFill>
                        <a:latin typeface="Nunito Sans"/>
                      </a:endParaRPr>
                    </a:p>
                    <a:p>
                      <a:pPr marL="0" marR="0" lvl="0" indent="0" algn="l">
                        <a:lnSpc>
                          <a:spcPct val="100000"/>
                        </a:lnSpc>
                        <a:spcBef>
                          <a:spcPts val="0"/>
                        </a:spcBef>
                        <a:spcAft>
                          <a:spcPts val="0"/>
                        </a:spcAft>
                        <a:buNone/>
                      </a:pPr>
                      <a:endParaRPr lang="en-US" sz="1000" b="0" i="0" u="none" strike="noStrike" noProof="0">
                        <a:solidFill>
                          <a:srgbClr val="00B050"/>
                        </a:solidFill>
                        <a:latin typeface="Nunito Sans"/>
                      </a:endParaRPr>
                    </a:p>
                    <a:p>
                      <a:pPr marL="0" marR="0" lvl="0" indent="0" algn="l">
                        <a:lnSpc>
                          <a:spcPct val="100000"/>
                        </a:lnSpc>
                        <a:spcBef>
                          <a:spcPts val="0"/>
                        </a:spcBef>
                        <a:spcAft>
                          <a:spcPts val="0"/>
                        </a:spcAft>
                        <a:buNone/>
                      </a:pPr>
                      <a:endParaRPr lang="en-US" sz="1000" b="0" i="0" u="none" strike="noStrike" noProof="0">
                        <a:solidFill>
                          <a:srgbClr val="00B050"/>
                        </a:solidFill>
                        <a:latin typeface="Nunito Sans"/>
                      </a:endParaRPr>
                    </a:p>
                    <a:p>
                      <a:pPr marL="0" marR="0" lvl="0" indent="0" algn="l">
                        <a:lnSpc>
                          <a:spcPct val="100000"/>
                        </a:lnSpc>
                        <a:spcBef>
                          <a:spcPts val="0"/>
                        </a:spcBef>
                        <a:spcAft>
                          <a:spcPts val="0"/>
                        </a:spcAft>
                        <a:buNone/>
                      </a:pPr>
                      <a:endParaRPr lang="en-US" sz="1000" b="0" i="0" u="none" strike="noStrike" noProof="0">
                        <a:solidFill>
                          <a:srgbClr val="00B050"/>
                        </a:solidFill>
                        <a:latin typeface="Nunito Sans"/>
                      </a:endParaRPr>
                    </a:p>
                    <a:p>
                      <a:pPr marL="0" marR="0" lvl="0" indent="0" algn="l">
                        <a:lnSpc>
                          <a:spcPct val="100000"/>
                        </a:lnSpc>
                        <a:spcBef>
                          <a:spcPts val="0"/>
                        </a:spcBef>
                        <a:spcAft>
                          <a:spcPts val="0"/>
                        </a:spcAft>
                        <a:buNone/>
                      </a:pPr>
                      <a:endParaRPr lang="en-US" sz="1000" b="0" i="0" u="none" strike="noStrike" noProof="0">
                        <a:solidFill>
                          <a:srgbClr val="00B050"/>
                        </a:solidFill>
                        <a:latin typeface="Nunito Sans"/>
                      </a:endParaRPr>
                    </a:p>
                    <a:p>
                      <a:pPr marL="0" marR="0" lvl="0" indent="0" algn="l">
                        <a:lnSpc>
                          <a:spcPct val="100000"/>
                        </a:lnSpc>
                        <a:spcBef>
                          <a:spcPts val="0"/>
                        </a:spcBef>
                        <a:spcAft>
                          <a:spcPts val="0"/>
                        </a:spcAft>
                        <a:buNone/>
                      </a:pPr>
                      <a:r>
                        <a:rPr lang="en-US" sz="1000" b="0" i="0" u="none" strike="noStrike" noProof="0">
                          <a:solidFill>
                            <a:srgbClr val="00B050"/>
                          </a:solidFill>
                          <a:latin typeface="Nunito Sans"/>
                        </a:rPr>
                        <a:t>No</a:t>
                      </a:r>
                    </a:p>
                    <a:p>
                      <a:pPr marL="0" marR="0" lvl="0" indent="0" algn="l">
                        <a:lnSpc>
                          <a:spcPct val="100000"/>
                        </a:lnSpc>
                        <a:spcBef>
                          <a:spcPts val="0"/>
                        </a:spcBef>
                        <a:spcAft>
                          <a:spcPts val="0"/>
                        </a:spcAft>
                        <a:buNone/>
                      </a:pPr>
                      <a:endParaRPr lang="en-US" sz="1000" b="0" i="0" u="none" strike="noStrike" noProof="0">
                        <a:solidFill>
                          <a:srgbClr val="00B050"/>
                        </a:solidFill>
                        <a:latin typeface="Nunito Sans"/>
                      </a:endParaRPr>
                    </a:p>
                    <a:p>
                      <a:pPr marL="0" marR="0" lvl="0" indent="0" algn="l">
                        <a:lnSpc>
                          <a:spcPct val="100000"/>
                        </a:lnSpc>
                        <a:spcBef>
                          <a:spcPts val="0"/>
                        </a:spcBef>
                        <a:spcAft>
                          <a:spcPts val="0"/>
                        </a:spcAft>
                        <a:buNone/>
                      </a:pPr>
                      <a:endParaRPr lang="en-US" sz="1000" b="0" i="0" u="none" strike="noStrike" noProof="0">
                        <a:solidFill>
                          <a:srgbClr val="00B050"/>
                        </a:solidFill>
                        <a:latin typeface="Nunito Sans"/>
                      </a:endParaRPr>
                    </a:p>
                    <a:p>
                      <a:pPr marL="0" marR="0" lvl="0" indent="0" algn="l">
                        <a:lnSpc>
                          <a:spcPct val="100000"/>
                        </a:lnSpc>
                        <a:spcBef>
                          <a:spcPts val="0"/>
                        </a:spcBef>
                        <a:spcAft>
                          <a:spcPts val="0"/>
                        </a:spcAft>
                        <a:buNone/>
                      </a:pPr>
                      <a:endParaRPr lang="en-US" sz="1000" b="0" i="0" u="none" strike="noStrike" noProof="0">
                        <a:solidFill>
                          <a:srgbClr val="00B050"/>
                        </a:solidFill>
                        <a:latin typeface="Nunito Sans"/>
                      </a:endParaRPr>
                    </a:p>
                    <a:p>
                      <a:pPr marL="0" marR="0" lvl="0" indent="0" algn="l">
                        <a:lnSpc>
                          <a:spcPct val="100000"/>
                        </a:lnSpc>
                        <a:spcBef>
                          <a:spcPts val="0"/>
                        </a:spcBef>
                        <a:spcAft>
                          <a:spcPts val="0"/>
                        </a:spcAft>
                        <a:buNone/>
                      </a:pPr>
                      <a:r>
                        <a:rPr lang="en-US" sz="1000" b="0" i="0" u="none" strike="noStrike" noProof="0">
                          <a:solidFill>
                            <a:srgbClr val="00B050"/>
                          </a:solidFill>
                          <a:latin typeface="Nunito Sans"/>
                        </a:rPr>
                        <a:t>No</a:t>
                      </a:r>
                    </a:p>
                    <a:p>
                      <a:pPr marL="0" marR="0" lvl="0" indent="0" algn="l">
                        <a:lnSpc>
                          <a:spcPct val="100000"/>
                        </a:lnSpc>
                        <a:spcBef>
                          <a:spcPts val="0"/>
                        </a:spcBef>
                        <a:spcAft>
                          <a:spcPts val="0"/>
                        </a:spcAft>
                        <a:buNone/>
                      </a:pPr>
                      <a:endParaRPr lang="en-US" sz="1000" b="0" i="0" u="none" strike="noStrike" noProof="0">
                        <a:solidFill>
                          <a:srgbClr val="00B050"/>
                        </a:solidFill>
                        <a:latin typeface="Nunito Sans"/>
                      </a:endParaRPr>
                    </a:p>
                    <a:p>
                      <a:pPr marL="0" marR="0" lvl="0" indent="0" algn="l">
                        <a:lnSpc>
                          <a:spcPct val="100000"/>
                        </a:lnSpc>
                        <a:spcBef>
                          <a:spcPts val="0"/>
                        </a:spcBef>
                        <a:spcAft>
                          <a:spcPts val="0"/>
                        </a:spcAft>
                        <a:buNone/>
                      </a:pPr>
                      <a:endParaRPr lang="en-US" sz="1000" b="0" i="0" u="none" strike="noStrike" noProof="0">
                        <a:solidFill>
                          <a:srgbClr val="00B050"/>
                        </a:solidFill>
                        <a:latin typeface="Nunito Sans"/>
                      </a:endParaRPr>
                    </a:p>
                    <a:p>
                      <a:pPr marL="0" marR="0" lvl="0" indent="0" algn="l">
                        <a:lnSpc>
                          <a:spcPct val="100000"/>
                        </a:lnSpc>
                        <a:spcBef>
                          <a:spcPts val="0"/>
                        </a:spcBef>
                        <a:spcAft>
                          <a:spcPts val="0"/>
                        </a:spcAft>
                        <a:buNone/>
                      </a:pPr>
                      <a:endParaRPr lang="en-US" sz="1000" b="0" i="0" u="none" strike="noStrike" noProof="0">
                        <a:solidFill>
                          <a:srgbClr val="00B050"/>
                        </a:solidFill>
                        <a:latin typeface="Nunito Sans"/>
                      </a:endParaRPr>
                    </a:p>
                    <a:p>
                      <a:pPr marL="0" marR="0" lvl="0" indent="0" algn="l">
                        <a:lnSpc>
                          <a:spcPct val="100000"/>
                        </a:lnSpc>
                        <a:spcBef>
                          <a:spcPts val="0"/>
                        </a:spcBef>
                        <a:spcAft>
                          <a:spcPts val="0"/>
                        </a:spcAft>
                        <a:buNone/>
                      </a:pPr>
                      <a:endParaRPr lang="en-US" sz="1000" b="0" i="0" u="none" strike="noStrike" noProof="0">
                        <a:solidFill>
                          <a:srgbClr val="00B050"/>
                        </a:solidFill>
                        <a:latin typeface="Nunito Sans"/>
                      </a:endParaRPr>
                    </a:p>
                    <a:p>
                      <a:pPr marL="0" marR="0" lvl="0" indent="0" algn="l">
                        <a:lnSpc>
                          <a:spcPct val="100000"/>
                        </a:lnSpc>
                        <a:spcBef>
                          <a:spcPts val="0"/>
                        </a:spcBef>
                        <a:spcAft>
                          <a:spcPts val="0"/>
                        </a:spcAft>
                        <a:buNone/>
                      </a:pPr>
                      <a:r>
                        <a:rPr lang="en-US" sz="1000" b="0" i="0" u="none" strike="noStrike" noProof="0">
                          <a:solidFill>
                            <a:srgbClr val="00B050"/>
                          </a:solidFill>
                          <a:latin typeface="Nunito Sans"/>
                        </a:rPr>
                        <a:t>yes</a:t>
                      </a:r>
                    </a:p>
                  </a:txBody>
                  <a:tcPr>
                    <a:lnL w="6350">
                      <a:solidFill>
                        <a:schemeClr val="bg1">
                          <a:lumMod val="75000"/>
                        </a:schemeClr>
                      </a:solidFill>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a:solidFill>
                        <a:schemeClr val="bg1">
                          <a:lumMod val="75000"/>
                        </a:schemeClr>
                      </a:solidFill>
                    </a:lnB>
                    <a:noFill/>
                  </a:tcPr>
                </a:tc>
                <a:extLst>
                  <a:ext uri="{0D108BD9-81ED-4DB2-BD59-A6C34878D82A}">
                    <a16:rowId xmlns:a16="http://schemas.microsoft.com/office/drawing/2014/main" val="2443371065"/>
                  </a:ext>
                </a:extLst>
              </a:tr>
            </a:tbl>
          </a:graphicData>
        </a:graphic>
      </p:graphicFrame>
      <p:sp>
        <p:nvSpPr>
          <p:cNvPr id="4" name="Rectangle 3">
            <a:extLst>
              <a:ext uri="{FF2B5EF4-FFF2-40B4-BE49-F238E27FC236}">
                <a16:creationId xmlns:a16="http://schemas.microsoft.com/office/drawing/2014/main" id="{DBD4ECA7-FE69-4A18-3EF9-8000C45F217A}"/>
              </a:ext>
            </a:extLst>
          </p:cNvPr>
          <p:cNvSpPr/>
          <p:nvPr/>
        </p:nvSpPr>
        <p:spPr>
          <a:xfrm>
            <a:off x="1188132" y="6671592"/>
            <a:ext cx="90000" cy="90000"/>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5" name="Rectangle 4">
            <a:extLst>
              <a:ext uri="{FF2B5EF4-FFF2-40B4-BE49-F238E27FC236}">
                <a16:creationId xmlns:a16="http://schemas.microsoft.com/office/drawing/2014/main" id="{2EEBD459-FEBD-5681-E9B6-6668BDDEABED}"/>
              </a:ext>
            </a:extLst>
          </p:cNvPr>
          <p:cNvSpPr/>
          <p:nvPr/>
        </p:nvSpPr>
        <p:spPr>
          <a:xfrm>
            <a:off x="2265818" y="6670554"/>
            <a:ext cx="90000" cy="90000"/>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7" name="Rectangle 6">
            <a:extLst>
              <a:ext uri="{FF2B5EF4-FFF2-40B4-BE49-F238E27FC236}">
                <a16:creationId xmlns:a16="http://schemas.microsoft.com/office/drawing/2014/main" id="{8D6D1913-EF7C-8DD8-3367-045270757C2F}"/>
              </a:ext>
            </a:extLst>
          </p:cNvPr>
          <p:cNvSpPr/>
          <p:nvPr/>
        </p:nvSpPr>
        <p:spPr>
          <a:xfrm>
            <a:off x="3443423" y="6671592"/>
            <a:ext cx="90000" cy="90000"/>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8" name="Rectangle 7">
            <a:extLst>
              <a:ext uri="{FF2B5EF4-FFF2-40B4-BE49-F238E27FC236}">
                <a16:creationId xmlns:a16="http://schemas.microsoft.com/office/drawing/2014/main" id="{7CC4C131-FF0C-6F79-A6D3-C3CBD11A7B17}"/>
              </a:ext>
            </a:extLst>
          </p:cNvPr>
          <p:cNvSpPr/>
          <p:nvPr/>
        </p:nvSpPr>
        <p:spPr>
          <a:xfrm>
            <a:off x="8146052" y="6714097"/>
            <a:ext cx="90000" cy="90000"/>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9" name="TextBox 15">
            <a:extLst>
              <a:ext uri="{FF2B5EF4-FFF2-40B4-BE49-F238E27FC236}">
                <a16:creationId xmlns:a16="http://schemas.microsoft.com/office/drawing/2014/main" id="{939341C0-86C5-51B9-051B-DCF99637FF9D}"/>
              </a:ext>
            </a:extLst>
          </p:cNvPr>
          <p:cNvSpPr txBox="1"/>
          <p:nvPr/>
        </p:nvSpPr>
        <p:spPr>
          <a:xfrm>
            <a:off x="1288983" y="6614743"/>
            <a:ext cx="857245"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0070C0"/>
                </a:solidFill>
                <a:effectLst/>
                <a:uLnTx/>
                <a:uFillTx/>
                <a:latin typeface="Nunito Sans"/>
                <a:ea typeface="+mn-ea"/>
                <a:cs typeface="+mn-cs"/>
              </a:rPr>
              <a:t>Delivered</a:t>
            </a:r>
            <a:endParaRPr kumimoji="0" lang="en-IN" sz="1000" b="0" i="0" u="none" strike="noStrike" kern="1200" cap="none" spc="0" normalizeH="0" baseline="0" noProof="0">
              <a:ln>
                <a:noFill/>
              </a:ln>
              <a:solidFill>
                <a:srgbClr val="000000"/>
              </a:solidFill>
              <a:effectLst/>
              <a:uLnTx/>
              <a:uFillTx/>
              <a:latin typeface="Nunito Sans"/>
              <a:ea typeface="+mn-ea"/>
              <a:cs typeface="+mn-cs"/>
            </a:endParaRPr>
          </a:p>
        </p:txBody>
      </p:sp>
      <p:sp>
        <p:nvSpPr>
          <p:cNvPr id="10" name="TextBox 18">
            <a:extLst>
              <a:ext uri="{FF2B5EF4-FFF2-40B4-BE49-F238E27FC236}">
                <a16:creationId xmlns:a16="http://schemas.microsoft.com/office/drawing/2014/main" id="{D31E74B3-5A1A-9FCF-F72D-24DDED77E152}"/>
              </a:ext>
            </a:extLst>
          </p:cNvPr>
          <p:cNvSpPr txBox="1"/>
          <p:nvPr/>
        </p:nvSpPr>
        <p:spPr>
          <a:xfrm>
            <a:off x="2310642" y="6611102"/>
            <a:ext cx="1032881"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00B050"/>
                </a:solidFill>
                <a:effectLst/>
                <a:uLnTx/>
                <a:uFillTx/>
                <a:latin typeface="Nunito Sans"/>
                <a:ea typeface="+mn-ea"/>
                <a:cs typeface="+mn-cs"/>
              </a:rPr>
              <a:t>Ontrack</a:t>
            </a:r>
            <a:endParaRPr kumimoji="0" lang="en-IN" sz="1000" b="0" i="0" u="none" strike="noStrike" kern="1200" cap="none" spc="0" normalizeH="0" baseline="0" noProof="0">
              <a:ln>
                <a:noFill/>
              </a:ln>
              <a:solidFill>
                <a:srgbClr val="000000"/>
              </a:solidFill>
              <a:effectLst/>
              <a:uLnTx/>
              <a:uFillTx/>
              <a:latin typeface="Nunito Sans"/>
              <a:ea typeface="+mn-ea"/>
              <a:cs typeface="+mn-cs"/>
            </a:endParaRPr>
          </a:p>
        </p:txBody>
      </p:sp>
      <p:sp>
        <p:nvSpPr>
          <p:cNvPr id="11" name="TextBox 20">
            <a:extLst>
              <a:ext uri="{FF2B5EF4-FFF2-40B4-BE49-F238E27FC236}">
                <a16:creationId xmlns:a16="http://schemas.microsoft.com/office/drawing/2014/main" id="{585BBE48-4C50-CB6D-EA3D-71C06E87E27A}"/>
              </a:ext>
            </a:extLst>
          </p:cNvPr>
          <p:cNvSpPr txBox="1"/>
          <p:nvPr/>
        </p:nvSpPr>
        <p:spPr>
          <a:xfrm>
            <a:off x="3539606" y="6608370"/>
            <a:ext cx="2257628"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FED9A0">
                    <a:lumMod val="75000"/>
                  </a:srgbClr>
                </a:solidFill>
                <a:effectLst/>
                <a:uLnTx/>
                <a:uFillTx/>
                <a:latin typeface="Nunito Sans"/>
                <a:ea typeface="+mn-ea"/>
                <a:cs typeface="+mn-cs"/>
              </a:rPr>
              <a:t>Under delay and can be recovered</a:t>
            </a:r>
            <a:endParaRPr kumimoji="0" lang="en-IN" sz="1000" b="0" i="0" u="none" strike="noStrike" kern="1200" cap="none" spc="0" normalizeH="0" baseline="0" noProof="0">
              <a:ln>
                <a:noFill/>
              </a:ln>
              <a:solidFill>
                <a:srgbClr val="000000"/>
              </a:solidFill>
              <a:effectLst/>
              <a:uLnTx/>
              <a:uFillTx/>
              <a:latin typeface="Nunito Sans"/>
              <a:ea typeface="+mn-ea"/>
              <a:cs typeface="+mn-cs"/>
            </a:endParaRPr>
          </a:p>
        </p:txBody>
      </p:sp>
      <p:sp>
        <p:nvSpPr>
          <p:cNvPr id="13" name="TextBox 22">
            <a:extLst>
              <a:ext uri="{FF2B5EF4-FFF2-40B4-BE49-F238E27FC236}">
                <a16:creationId xmlns:a16="http://schemas.microsoft.com/office/drawing/2014/main" id="{28D8E29E-D416-4CFF-3A7A-2120CFC160C3}"/>
              </a:ext>
            </a:extLst>
          </p:cNvPr>
          <p:cNvSpPr txBox="1"/>
          <p:nvPr/>
        </p:nvSpPr>
        <p:spPr>
          <a:xfrm>
            <a:off x="8246937" y="6618126"/>
            <a:ext cx="2338222"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FF0000"/>
                </a:solidFill>
                <a:effectLst/>
                <a:uLnTx/>
                <a:uFillTx/>
                <a:latin typeface="Nunito Sans"/>
                <a:ea typeface="+mn-ea"/>
                <a:cs typeface="+mn-cs"/>
              </a:rPr>
              <a:t>Delayed and pushed to next release</a:t>
            </a:r>
          </a:p>
        </p:txBody>
      </p:sp>
      <p:sp>
        <p:nvSpPr>
          <p:cNvPr id="15" name="TextBox 14">
            <a:extLst>
              <a:ext uri="{FF2B5EF4-FFF2-40B4-BE49-F238E27FC236}">
                <a16:creationId xmlns:a16="http://schemas.microsoft.com/office/drawing/2014/main" id="{F457BB2E-2AEE-8BE9-9C34-2FF005A5EFD2}"/>
              </a:ext>
            </a:extLst>
          </p:cNvPr>
          <p:cNvSpPr txBox="1"/>
          <p:nvPr/>
        </p:nvSpPr>
        <p:spPr>
          <a:xfrm>
            <a:off x="6454369" y="6611638"/>
            <a:ext cx="2743200"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IN" sz="1000">
                <a:solidFill>
                  <a:srgbClr val="7D7D7D"/>
                </a:solidFill>
              </a:rPr>
              <a:t>Descoped</a:t>
            </a:r>
            <a:endParaRPr lang="en-US"/>
          </a:p>
        </p:txBody>
      </p:sp>
      <p:sp>
        <p:nvSpPr>
          <p:cNvPr id="16" name="Rectangle 15">
            <a:extLst>
              <a:ext uri="{FF2B5EF4-FFF2-40B4-BE49-F238E27FC236}">
                <a16:creationId xmlns:a16="http://schemas.microsoft.com/office/drawing/2014/main" id="{C54BFCB5-A35A-24A9-B4C7-DB3E7C3F790F}"/>
              </a:ext>
            </a:extLst>
          </p:cNvPr>
          <p:cNvSpPr/>
          <p:nvPr/>
        </p:nvSpPr>
        <p:spPr>
          <a:xfrm>
            <a:off x="6360794" y="6681439"/>
            <a:ext cx="90000" cy="90000"/>
          </a:xfrm>
          <a:prstGeom prst="rect">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Tree>
    <p:extLst>
      <p:ext uri="{BB962C8B-B14F-4D97-AF65-F5344CB8AC3E}">
        <p14:creationId xmlns:p14="http://schemas.microsoft.com/office/powerpoint/2010/main" val="58399139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867D00-9A3F-C2A0-D03B-7F4E68F60AC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44BB54B-806D-42D6-32C0-ABBEBFCB61B8}"/>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3A41A254-7326-714E-AF55-4C213D6394DE}" type="slidenum">
              <a:rPr kumimoji="0" lang="en-US" sz="1200" b="0" i="0" u="none" strike="noStrike" kern="1200" cap="none" spc="0" normalizeH="0" baseline="0" noProof="0" smtClean="0">
                <a:ln>
                  <a:noFill/>
                </a:ln>
                <a:solidFill>
                  <a:srgbClr val="DA0E28"/>
                </a:solidFill>
                <a:effectLst/>
                <a:uLnTx/>
                <a:uFillTx/>
                <a:latin typeface="Nunito Sans"/>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42</a:t>
            </a:fld>
            <a:endParaRPr kumimoji="0" lang="en-US" sz="1200" b="0" i="0" u="none" strike="noStrike" kern="1200" cap="none" spc="0" normalizeH="0" baseline="0" noProof="0">
              <a:ln>
                <a:noFill/>
              </a:ln>
              <a:solidFill>
                <a:srgbClr val="DA0E28"/>
              </a:solidFill>
              <a:effectLst/>
              <a:uLnTx/>
              <a:uFillTx/>
              <a:latin typeface="Nunito Sans"/>
              <a:ea typeface="+mn-ea"/>
              <a:cs typeface="+mn-cs"/>
            </a:endParaRPr>
          </a:p>
        </p:txBody>
      </p:sp>
      <p:sp>
        <p:nvSpPr>
          <p:cNvPr id="3" name="Rectangle 2">
            <a:extLst>
              <a:ext uri="{FF2B5EF4-FFF2-40B4-BE49-F238E27FC236}">
                <a16:creationId xmlns:a16="http://schemas.microsoft.com/office/drawing/2014/main" id="{CEDE90AE-96C3-EC2B-05DC-CBA8CC712048}"/>
              </a:ext>
            </a:extLst>
          </p:cNvPr>
          <p:cNvSpPr/>
          <p:nvPr/>
        </p:nvSpPr>
        <p:spPr>
          <a:xfrm>
            <a:off x="129077" y="610471"/>
            <a:ext cx="909148" cy="42234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400" b="1" i="0" u="none" strike="noStrike" kern="1200" cap="none" spc="0" normalizeH="0" baseline="0" noProof="0">
                <a:ln>
                  <a:noFill/>
                </a:ln>
                <a:solidFill>
                  <a:srgbClr val="FFFFFF"/>
                </a:solidFill>
                <a:effectLst/>
                <a:uLnTx/>
                <a:uFillTx/>
                <a:latin typeface="AirIndia"/>
                <a:ea typeface="+mn-ea"/>
                <a:cs typeface="+mn-cs"/>
              </a:rPr>
              <a:t>Sep ‘</a:t>
            </a:r>
            <a:r>
              <a:rPr lang="en-IN" sz="1400" b="1">
                <a:solidFill>
                  <a:srgbClr val="FFFFFF"/>
                </a:solidFill>
                <a:latin typeface="AirIndia"/>
              </a:rPr>
              <a:t>26</a:t>
            </a:r>
            <a:endParaRPr kumimoji="0" lang="en-US" sz="1400" b="1" i="0" u="none" strike="noStrike" kern="1200" cap="none" spc="0" normalizeH="0" baseline="0" noProof="0">
              <a:ln>
                <a:noFill/>
              </a:ln>
              <a:solidFill>
                <a:srgbClr val="FFFFFF"/>
              </a:solidFill>
              <a:effectLst/>
              <a:uLnTx/>
              <a:uFillTx/>
              <a:latin typeface="AirIndia"/>
              <a:ea typeface="+mn-ea"/>
              <a:cs typeface="+mn-cs"/>
            </a:endParaRPr>
          </a:p>
        </p:txBody>
      </p:sp>
      <p:sp>
        <p:nvSpPr>
          <p:cNvPr id="6" name="Title 11">
            <a:extLst>
              <a:ext uri="{FF2B5EF4-FFF2-40B4-BE49-F238E27FC236}">
                <a16:creationId xmlns:a16="http://schemas.microsoft.com/office/drawing/2014/main" id="{115B9095-3028-2634-2345-3DE20769894A}"/>
              </a:ext>
            </a:extLst>
          </p:cNvPr>
          <p:cNvSpPr txBox="1">
            <a:spLocks/>
          </p:cNvSpPr>
          <p:nvPr/>
        </p:nvSpPr>
        <p:spPr>
          <a:xfrm>
            <a:off x="253743" y="182023"/>
            <a:ext cx="7702602" cy="430255"/>
          </a:xfrm>
          <a:prstGeom prst="rect">
            <a:avLst/>
          </a:prstGeom>
        </p:spPr>
        <p:txBody>
          <a:bodyPr lIns="91440" tIns="45720" rIns="91440" bIns="45720" anchor="t">
            <a:noAutofit/>
          </a:bodyPr>
          <a:lstStyle>
            <a:lvl1pPr algn="l" defTabSz="914400" rtl="0" eaLnBrk="1" latinLnBrk="0" hangingPunct="1">
              <a:lnSpc>
                <a:spcPct val="90000"/>
              </a:lnSpc>
              <a:spcBef>
                <a:spcPct val="0"/>
              </a:spcBef>
              <a:buNone/>
              <a:defRPr sz="4400" b="1" i="0" kern="1200">
                <a:solidFill>
                  <a:schemeClr val="tx1"/>
                </a:solidFill>
                <a:latin typeface="AirIndia" pitchFamily="82" charset="77"/>
                <a:ea typeface="+mj-ea"/>
                <a:cs typeface="+mj-cs"/>
              </a:defRPr>
            </a:lvl1pPr>
          </a:lstStyle>
          <a:p>
            <a:pPr>
              <a:defRPr/>
            </a:pPr>
            <a:r>
              <a:rPr lang="en-US" sz="1800">
                <a:solidFill>
                  <a:srgbClr val="DA0E28"/>
                </a:solidFill>
                <a:latin typeface="AirIndia"/>
              </a:rPr>
              <a:t>CRM/CX-</a:t>
            </a:r>
            <a:r>
              <a:rPr kumimoji="0" lang="en-US" sz="1800" b="1" i="0" u="none" strike="noStrike" kern="1200" cap="none" spc="0" normalizeH="0" baseline="0" noProof="0">
                <a:ln>
                  <a:noFill/>
                </a:ln>
                <a:solidFill>
                  <a:srgbClr val="DA0E28"/>
                </a:solidFill>
                <a:effectLst/>
                <a:uLnTx/>
                <a:uFillTx/>
                <a:latin typeface="AirIndia"/>
                <a:ea typeface="+mj-ea"/>
                <a:cs typeface="+mj-cs"/>
              </a:rPr>
              <a:t> </a:t>
            </a:r>
            <a:r>
              <a:rPr lang="en-US" sz="1800">
                <a:solidFill>
                  <a:srgbClr val="DA0E28"/>
                </a:solidFill>
                <a:latin typeface="AirIndia"/>
              </a:rPr>
              <a:t>FY27</a:t>
            </a:r>
            <a:r>
              <a:rPr kumimoji="0" lang="en-US" sz="1800" b="1" i="0" u="none" strike="noStrike" kern="1200" cap="none" spc="0" normalizeH="0" baseline="0" noProof="0">
                <a:ln>
                  <a:noFill/>
                </a:ln>
                <a:solidFill>
                  <a:srgbClr val="DA0E28"/>
                </a:solidFill>
                <a:effectLst/>
                <a:uLnTx/>
                <a:uFillTx/>
                <a:latin typeface="AirIndia"/>
                <a:ea typeface="+mj-ea"/>
                <a:cs typeface="+mj-cs"/>
              </a:rPr>
              <a:t> Q2  Release Plan</a:t>
            </a:r>
            <a:endParaRPr lang="en-US" sz="1800" b="0" i="0" u="none" strike="noStrike" kern="1200" cap="none" spc="0" normalizeH="0" baseline="0" noProof="0">
              <a:ln>
                <a:noFill/>
              </a:ln>
              <a:solidFill>
                <a:srgbClr val="DA0E28"/>
              </a:solidFill>
              <a:effectLst/>
              <a:uLnTx/>
              <a:uFillTx/>
              <a:latin typeface="AirIndia"/>
            </a:endParaRPr>
          </a:p>
        </p:txBody>
      </p:sp>
      <p:graphicFrame>
        <p:nvGraphicFramePr>
          <p:cNvPr id="12" name="Table 11">
            <a:extLst>
              <a:ext uri="{FF2B5EF4-FFF2-40B4-BE49-F238E27FC236}">
                <a16:creationId xmlns:a16="http://schemas.microsoft.com/office/drawing/2014/main" id="{BC6690AD-A421-469A-F06B-6FD7BC91D0CB}"/>
              </a:ext>
            </a:extLst>
          </p:cNvPr>
          <p:cNvGraphicFramePr>
            <a:graphicFrameLocks noGrp="1"/>
          </p:cNvGraphicFramePr>
          <p:nvPr/>
        </p:nvGraphicFramePr>
        <p:xfrm>
          <a:off x="1038226" y="588627"/>
          <a:ext cx="11024698" cy="5985158"/>
        </p:xfrm>
        <a:graphic>
          <a:graphicData uri="http://schemas.openxmlformats.org/drawingml/2006/table">
            <a:tbl>
              <a:tblPr firstRow="1" bandRow="1">
                <a:tableStyleId>{5C22544A-7EE6-4342-B048-85BDC9FD1C3A}</a:tableStyleId>
              </a:tblPr>
              <a:tblGrid>
                <a:gridCol w="1314449">
                  <a:extLst>
                    <a:ext uri="{9D8B030D-6E8A-4147-A177-3AD203B41FA5}">
                      <a16:colId xmlns:a16="http://schemas.microsoft.com/office/drawing/2014/main" val="2822350773"/>
                    </a:ext>
                  </a:extLst>
                </a:gridCol>
                <a:gridCol w="1419225">
                  <a:extLst>
                    <a:ext uri="{9D8B030D-6E8A-4147-A177-3AD203B41FA5}">
                      <a16:colId xmlns:a16="http://schemas.microsoft.com/office/drawing/2014/main" val="1843387359"/>
                    </a:ext>
                  </a:extLst>
                </a:gridCol>
                <a:gridCol w="5981700">
                  <a:extLst>
                    <a:ext uri="{9D8B030D-6E8A-4147-A177-3AD203B41FA5}">
                      <a16:colId xmlns:a16="http://schemas.microsoft.com/office/drawing/2014/main" val="99588705"/>
                    </a:ext>
                  </a:extLst>
                </a:gridCol>
                <a:gridCol w="1104900">
                  <a:extLst>
                    <a:ext uri="{9D8B030D-6E8A-4147-A177-3AD203B41FA5}">
                      <a16:colId xmlns:a16="http://schemas.microsoft.com/office/drawing/2014/main" val="3291687011"/>
                    </a:ext>
                  </a:extLst>
                </a:gridCol>
                <a:gridCol w="1204424">
                  <a:extLst>
                    <a:ext uri="{9D8B030D-6E8A-4147-A177-3AD203B41FA5}">
                      <a16:colId xmlns:a16="http://schemas.microsoft.com/office/drawing/2014/main" val="3866173914"/>
                    </a:ext>
                  </a:extLst>
                </a:gridCol>
              </a:tblGrid>
              <a:tr h="649239">
                <a:tc>
                  <a:txBody>
                    <a:bodyPr/>
                    <a:lstStyle/>
                    <a:p>
                      <a:pPr marL="0" lvl="0" indent="0" algn="ctr" defTabSz="914400" rtl="0">
                        <a:lnSpc>
                          <a:spcPct val="100000"/>
                        </a:lnSpc>
                        <a:buFont typeface="Arial" panose="020B0604020202020204" pitchFamily="34" charset="0"/>
                        <a:buNone/>
                      </a:pPr>
                      <a:r>
                        <a:rPr lang="en-IN" sz="1100" b="1" kern="1200">
                          <a:solidFill>
                            <a:schemeClr val="bg1"/>
                          </a:solidFill>
                          <a:latin typeface="+mn-lt"/>
                          <a:ea typeface="+mn-ea"/>
                          <a:cs typeface="+mn-cs"/>
                        </a:rPr>
                        <a:t>Initiatives</a:t>
                      </a:r>
                      <a:endParaRPr lang="en-US" sz="1100" b="1"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tc>
                  <a:txBody>
                    <a:bodyPr/>
                    <a:lstStyle/>
                    <a:p>
                      <a:pPr marL="0" lvl="0" indent="0" algn="ctr" defTabSz="914400">
                        <a:lnSpc>
                          <a:spcPct val="100000"/>
                        </a:lnSpc>
                        <a:buNone/>
                      </a:pPr>
                      <a:r>
                        <a:rPr lang="en-IN" sz="1100" b="1" i="0" u="none" strike="noStrike" kern="1200" noProof="0">
                          <a:solidFill>
                            <a:schemeClr val="bg1"/>
                          </a:solidFill>
                          <a:latin typeface="Nunito Sans"/>
                          <a:ea typeface="+mn-ea"/>
                          <a:cs typeface="+mn-cs"/>
                        </a:rPr>
                        <a:t>Programs/Projects</a:t>
                      </a:r>
                      <a:endParaRPr lang="en-US"/>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solidFill>
                      <a:schemeClr val="accent3">
                        <a:lumMod val="90000"/>
                        <a:lumOff val="10000"/>
                      </a:schemeClr>
                    </a:solidFill>
                  </a:tcPr>
                </a:tc>
                <a:tc>
                  <a:txBody>
                    <a:bodyPr/>
                    <a:lstStyle/>
                    <a:p>
                      <a:pPr marL="0" lvl="0" indent="0" algn="ctr">
                        <a:lnSpc>
                          <a:spcPct val="100000"/>
                        </a:lnSpc>
                        <a:buNone/>
                      </a:pPr>
                      <a:endParaRPr lang="en-IN" sz="1100" b="1" i="0" u="none" strike="noStrike" kern="1200" baseline="0" noProof="0">
                        <a:solidFill>
                          <a:srgbClr val="FFFFFF"/>
                        </a:solidFill>
                        <a:latin typeface="Nunito Sans"/>
                      </a:endParaRPr>
                    </a:p>
                    <a:p>
                      <a:pPr marL="0" lvl="0" indent="0" algn="ctr">
                        <a:lnSpc>
                          <a:spcPct val="100000"/>
                        </a:lnSpc>
                        <a:buNone/>
                      </a:pPr>
                      <a:r>
                        <a:rPr lang="en-IN" sz="1100" b="1" i="0" u="none" strike="noStrike" kern="1200" baseline="0" noProof="0">
                          <a:solidFill>
                            <a:srgbClr val="FFFFFF"/>
                          </a:solidFill>
                          <a:latin typeface="Nunito Sans"/>
                        </a:rPr>
                        <a:t>Value Justification/Realization</a:t>
                      </a:r>
                    </a:p>
                    <a:p>
                      <a:pPr marL="0" lvl="0" indent="0" algn="ctr" defTabSz="914400">
                        <a:buFont typeface="Arial" panose="020B0604020202020204" pitchFamily="34" charset="0"/>
                        <a:buNone/>
                      </a:pPr>
                      <a:endParaRPr lang="en-IN" sz="1100"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tc>
                  <a:txBody>
                    <a:bodyPr/>
                    <a:lstStyle/>
                    <a:p>
                      <a:pPr marL="0" lvl="0" indent="0" algn="ctr" defTabSz="914400">
                        <a:buFont typeface="Arial" panose="020B0604020202020204" pitchFamily="34" charset="0"/>
                        <a:buNone/>
                      </a:pPr>
                      <a:r>
                        <a:rPr lang="en-IN" sz="1100" kern="1200">
                          <a:solidFill>
                            <a:schemeClr val="bg1"/>
                          </a:solidFill>
                          <a:latin typeface="+mn-lt"/>
                          <a:ea typeface="+mn-ea"/>
                          <a:cs typeface="+mn-cs"/>
                        </a:rPr>
                        <a:t>Planned Go-live date</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tc>
                  <a:txBody>
                    <a:bodyPr/>
                    <a:lstStyle/>
                    <a:p>
                      <a:pPr marL="0" lvl="0" indent="0" algn="ctr" defTabSz="914400">
                        <a:buFont typeface="Arial" panose="020B0604020202020204" pitchFamily="34" charset="0"/>
                        <a:buNone/>
                      </a:pPr>
                      <a:r>
                        <a:rPr lang="en-IN" sz="1100" kern="1200">
                          <a:solidFill>
                            <a:schemeClr val="bg1"/>
                          </a:solidFill>
                          <a:latin typeface="+mn-lt"/>
                          <a:ea typeface="+mn-ea"/>
                          <a:cs typeface="+mn-cs"/>
                        </a:rPr>
                        <a:t>EIP Integration Required (Yes/No)</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extLst>
                  <a:ext uri="{0D108BD9-81ED-4DB2-BD59-A6C34878D82A}">
                    <a16:rowId xmlns:a16="http://schemas.microsoft.com/office/drawing/2014/main" val="844450115"/>
                  </a:ext>
                </a:extLst>
              </a:tr>
              <a:tr h="5335919">
                <a:tc>
                  <a:txBody>
                    <a:bodyPr/>
                    <a:lstStyle/>
                    <a:p>
                      <a:pPr marL="0" lvl="0" indent="0" algn="l">
                        <a:lnSpc>
                          <a:spcPct val="100000"/>
                        </a:lnSpc>
                        <a:spcBef>
                          <a:spcPts val="0"/>
                        </a:spcBef>
                        <a:spcAft>
                          <a:spcPts val="0"/>
                        </a:spcAft>
                        <a:buNone/>
                      </a:pPr>
                      <a:r>
                        <a:rPr lang="en-US" sz="1100" b="1" i="0" u="none" strike="noStrike" kern="1200" noProof="0">
                          <a:solidFill>
                            <a:srgbClr val="00B050"/>
                          </a:solidFill>
                          <a:latin typeface="Nunito Sans"/>
                        </a:rPr>
                        <a:t>Integrated AOD Portal – Baggage Management ( Emails )</a:t>
                      </a:r>
                    </a:p>
                    <a:p>
                      <a:pPr marL="0" lvl="0" indent="0" algn="l">
                        <a:lnSpc>
                          <a:spcPct val="100000"/>
                        </a:lnSpc>
                        <a:spcBef>
                          <a:spcPts val="0"/>
                        </a:spcBef>
                        <a:spcAft>
                          <a:spcPts val="0"/>
                        </a:spcAft>
                        <a:buNone/>
                      </a:pPr>
                      <a:endParaRPr lang="en-US" sz="1100" b="1" i="0" u="none" strike="noStrike" kern="1200" noProof="0">
                        <a:solidFill>
                          <a:srgbClr val="00B050"/>
                        </a:solidFill>
                        <a:latin typeface="Nunito San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b="1" i="0" u="none" strike="noStrike" kern="1200" noProof="0">
                        <a:solidFill>
                          <a:srgbClr val="00B050"/>
                        </a:solidFill>
                        <a:latin typeface="+mn-lt"/>
                      </a:endParaRPr>
                    </a:p>
                    <a:p>
                      <a:pPr marL="0" lvl="0" indent="0" algn="l">
                        <a:lnSpc>
                          <a:spcPct val="100000"/>
                        </a:lnSpc>
                        <a:spcBef>
                          <a:spcPts val="0"/>
                        </a:spcBef>
                        <a:spcAft>
                          <a:spcPts val="0"/>
                        </a:spcAft>
                        <a:buNone/>
                      </a:pPr>
                      <a:endParaRPr lang="en-US" sz="1100" b="1" i="0" u="none" strike="noStrike" kern="1200" noProof="0">
                        <a:solidFill>
                          <a:srgbClr val="00B050"/>
                        </a:solidFill>
                        <a:latin typeface="Nunito Sans"/>
                      </a:endParaRPr>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tc>
                  <a:txBody>
                    <a:bodyPr/>
                    <a:lstStyle/>
                    <a:p>
                      <a:pPr marL="228600" lvl="0" indent="-228600" algn="l">
                        <a:lnSpc>
                          <a:spcPct val="100000"/>
                        </a:lnSpc>
                        <a:spcBef>
                          <a:spcPts val="0"/>
                        </a:spcBef>
                        <a:spcAft>
                          <a:spcPts val="0"/>
                        </a:spcAft>
                        <a:buAutoNum type="arabicPeriod"/>
                      </a:pPr>
                      <a:endParaRPr lang="en-US" sz="1100" b="1" i="0" u="none" strike="noStrike" kern="1200" noProof="0">
                        <a:solidFill>
                          <a:srgbClr val="00B050"/>
                        </a:solidFill>
                      </a:endParaRPr>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tc>
                  <a:txBody>
                    <a:bodyPr/>
                    <a:lstStyle/>
                    <a:p>
                      <a:pPr marL="0" marR="0" lvl="0" indent="0" algn="l">
                        <a:lnSpc>
                          <a:spcPct val="100000"/>
                        </a:lnSpc>
                        <a:spcBef>
                          <a:spcPts val="0"/>
                        </a:spcBef>
                        <a:spcAft>
                          <a:spcPts val="0"/>
                        </a:spcAft>
                        <a:buNone/>
                      </a:pPr>
                      <a:r>
                        <a:rPr lang="en-US" sz="1000" b="0" i="0" u="none" strike="noStrike" kern="1200" noProof="0">
                          <a:solidFill>
                            <a:srgbClr val="00B050"/>
                          </a:solidFill>
                        </a:rPr>
                        <a:t>This initiative establishes a centralized, Salesforce-led baggage disruption management platform to handle delayed, lost, and damaged baggage cases end-to-end. It integrates with existing systems (ABC Tool, </a:t>
                      </a:r>
                      <a:r>
                        <a:rPr lang="en-US" sz="1000" b="0" i="0" u="none" strike="noStrike" kern="1200" noProof="0" err="1">
                          <a:solidFill>
                            <a:srgbClr val="00B050"/>
                          </a:solidFill>
                        </a:rPr>
                        <a:t>WorldTracer</a:t>
                      </a:r>
                      <a:r>
                        <a:rPr lang="en-US" sz="1000" b="0" i="0" u="none" strike="noStrike" kern="1200" noProof="0">
                          <a:solidFill>
                            <a:srgbClr val="00B050"/>
                          </a:solidFill>
                        </a:rPr>
                        <a:t>) to automate case creation, communication, and compensation workflows, improving visibility and resolution for ~7,000 cases monthly. </a:t>
                      </a:r>
                    </a:p>
                    <a:p>
                      <a:pPr marL="0" marR="0" lvl="0" indent="0" algn="l">
                        <a:lnSpc>
                          <a:spcPct val="100000"/>
                        </a:lnSpc>
                        <a:spcBef>
                          <a:spcPts val="0"/>
                        </a:spcBef>
                        <a:spcAft>
                          <a:spcPts val="0"/>
                        </a:spcAft>
                        <a:buNone/>
                      </a:pPr>
                      <a:endParaRPr lang="en-IN" sz="1000">
                        <a:effectLst/>
                      </a:endParaRPr>
                    </a:p>
                    <a:p>
                      <a:pPr marL="0" marR="0" lvl="0" indent="0" algn="l">
                        <a:lnSpc>
                          <a:spcPct val="100000"/>
                        </a:lnSpc>
                        <a:spcBef>
                          <a:spcPts val="0"/>
                        </a:spcBef>
                        <a:spcAft>
                          <a:spcPts val="0"/>
                        </a:spcAft>
                        <a:buNone/>
                      </a:pPr>
                      <a:endParaRPr lang="en-IN" sz="1000">
                        <a:effectLst/>
                      </a:endParaRPr>
                    </a:p>
                    <a:p>
                      <a:pPr marL="0" marR="0" lvl="0" indent="0" algn="l">
                        <a:lnSpc>
                          <a:spcPct val="100000"/>
                        </a:lnSpc>
                        <a:spcBef>
                          <a:spcPts val="0"/>
                        </a:spcBef>
                        <a:spcAft>
                          <a:spcPts val="0"/>
                        </a:spcAft>
                        <a:buNone/>
                      </a:pPr>
                      <a:endParaRPr lang="en-IN" sz="1000" b="0" i="0" u="none" strike="noStrike" kern="1200">
                        <a:solidFill>
                          <a:srgbClr val="00B050"/>
                        </a:solidFill>
                        <a:latin typeface="+mn-lt"/>
                        <a:ea typeface="+mn-ea"/>
                        <a:cs typeface="+mn-cs"/>
                      </a:endParaRPr>
                    </a:p>
                    <a:p>
                      <a:pPr marL="0" marR="0" lvl="0" indent="0" algn="l">
                        <a:lnSpc>
                          <a:spcPct val="100000"/>
                        </a:lnSpc>
                        <a:spcBef>
                          <a:spcPts val="0"/>
                        </a:spcBef>
                        <a:spcAft>
                          <a:spcPts val="0"/>
                        </a:spcAft>
                        <a:buNone/>
                      </a:pPr>
                      <a:endParaRPr lang="en-US" sz="1000" b="0" i="0" u="none" strike="noStrike" kern="1200" noProof="0">
                        <a:solidFill>
                          <a:srgbClr val="00B050"/>
                        </a:solidFill>
                      </a:endParaRPr>
                    </a:p>
                    <a:p>
                      <a:pPr marL="0" marR="0" lvl="0" indent="0" algn="l">
                        <a:lnSpc>
                          <a:spcPct val="100000"/>
                        </a:lnSpc>
                        <a:spcBef>
                          <a:spcPts val="0"/>
                        </a:spcBef>
                        <a:spcAft>
                          <a:spcPts val="0"/>
                        </a:spcAft>
                        <a:buNone/>
                      </a:pPr>
                      <a:endParaRPr lang="en-US" sz="1000" b="0" i="0" u="none" strike="noStrike" kern="1200" noProof="0">
                        <a:solidFill>
                          <a:srgbClr val="00B050"/>
                        </a:solidFill>
                      </a:endParaRPr>
                    </a:p>
                    <a:p>
                      <a:pPr marL="0" marR="0" lvl="0" indent="0" algn="l">
                        <a:lnSpc>
                          <a:spcPct val="100000"/>
                        </a:lnSpc>
                        <a:spcBef>
                          <a:spcPts val="0"/>
                        </a:spcBef>
                        <a:spcAft>
                          <a:spcPts val="0"/>
                        </a:spcAft>
                        <a:buNone/>
                      </a:pPr>
                      <a:endParaRPr lang="en-US"/>
                    </a:p>
                  </a:txBody>
                  <a:tcP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a:solidFill>
                        <a:schemeClr val="bg1">
                          <a:lumMod val="75000"/>
                        </a:schemeClr>
                      </a:solidFill>
                    </a:lnB>
                    <a:noFill/>
                  </a:tcPr>
                </a:tc>
                <a:tc>
                  <a:txBody>
                    <a:bodyPr/>
                    <a:lstStyle/>
                    <a:p>
                      <a:pPr marL="0" marR="0" lvl="0" indent="0" algn="l">
                        <a:lnSpc>
                          <a:spcPct val="100000"/>
                        </a:lnSpc>
                        <a:spcBef>
                          <a:spcPts val="0"/>
                        </a:spcBef>
                        <a:spcAft>
                          <a:spcPts val="0"/>
                        </a:spcAft>
                        <a:buNone/>
                      </a:pPr>
                      <a:endParaRPr lang="en-US"/>
                    </a:p>
                  </a:txBody>
                  <a:tcP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a:solidFill>
                        <a:schemeClr val="bg1">
                          <a:lumMod val="75000"/>
                        </a:schemeClr>
                      </a:solidFill>
                    </a:lnB>
                    <a:noFill/>
                  </a:tcPr>
                </a:tc>
                <a:tc>
                  <a:txBody>
                    <a:bodyPr/>
                    <a:lstStyle/>
                    <a:p>
                      <a:pPr marL="0" marR="0" lvl="0" indent="0" algn="l">
                        <a:lnSpc>
                          <a:spcPct val="100000"/>
                        </a:lnSpc>
                        <a:spcBef>
                          <a:spcPts val="0"/>
                        </a:spcBef>
                        <a:spcAft>
                          <a:spcPts val="0"/>
                        </a:spcAft>
                        <a:buNone/>
                      </a:pPr>
                      <a:endParaRPr lang="en-US"/>
                    </a:p>
                  </a:txBody>
                  <a:tcPr>
                    <a:lnL w="6350">
                      <a:solidFill>
                        <a:schemeClr val="bg1">
                          <a:lumMod val="75000"/>
                        </a:schemeClr>
                      </a:solidFill>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a:solidFill>
                        <a:schemeClr val="bg1">
                          <a:lumMod val="75000"/>
                        </a:schemeClr>
                      </a:solidFill>
                    </a:lnB>
                    <a:noFill/>
                  </a:tcPr>
                </a:tc>
                <a:extLst>
                  <a:ext uri="{0D108BD9-81ED-4DB2-BD59-A6C34878D82A}">
                    <a16:rowId xmlns:a16="http://schemas.microsoft.com/office/drawing/2014/main" val="2443371065"/>
                  </a:ext>
                </a:extLst>
              </a:tr>
            </a:tbl>
          </a:graphicData>
        </a:graphic>
      </p:graphicFrame>
      <p:sp>
        <p:nvSpPr>
          <p:cNvPr id="4" name="Rectangle 3">
            <a:extLst>
              <a:ext uri="{FF2B5EF4-FFF2-40B4-BE49-F238E27FC236}">
                <a16:creationId xmlns:a16="http://schemas.microsoft.com/office/drawing/2014/main" id="{EE5D6D37-5DC0-AD96-FA3D-AF626F3A4EB6}"/>
              </a:ext>
            </a:extLst>
          </p:cNvPr>
          <p:cNvSpPr/>
          <p:nvPr/>
        </p:nvSpPr>
        <p:spPr>
          <a:xfrm>
            <a:off x="1188132" y="6671592"/>
            <a:ext cx="90000" cy="90000"/>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5" name="Rectangle 4">
            <a:extLst>
              <a:ext uri="{FF2B5EF4-FFF2-40B4-BE49-F238E27FC236}">
                <a16:creationId xmlns:a16="http://schemas.microsoft.com/office/drawing/2014/main" id="{913C8BC4-7EA5-D3F0-2277-C4C1A8CEA14E}"/>
              </a:ext>
            </a:extLst>
          </p:cNvPr>
          <p:cNvSpPr/>
          <p:nvPr/>
        </p:nvSpPr>
        <p:spPr>
          <a:xfrm>
            <a:off x="2265818" y="6670554"/>
            <a:ext cx="90000" cy="90000"/>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7" name="Rectangle 6">
            <a:extLst>
              <a:ext uri="{FF2B5EF4-FFF2-40B4-BE49-F238E27FC236}">
                <a16:creationId xmlns:a16="http://schemas.microsoft.com/office/drawing/2014/main" id="{27765F8C-1B9B-DC70-57F1-A10B42E18787}"/>
              </a:ext>
            </a:extLst>
          </p:cNvPr>
          <p:cNvSpPr/>
          <p:nvPr/>
        </p:nvSpPr>
        <p:spPr>
          <a:xfrm>
            <a:off x="3443423" y="6671592"/>
            <a:ext cx="90000" cy="90000"/>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8" name="Rectangle 7">
            <a:extLst>
              <a:ext uri="{FF2B5EF4-FFF2-40B4-BE49-F238E27FC236}">
                <a16:creationId xmlns:a16="http://schemas.microsoft.com/office/drawing/2014/main" id="{60C12DD9-D781-7EE6-9192-E42D08F84203}"/>
              </a:ext>
            </a:extLst>
          </p:cNvPr>
          <p:cNvSpPr/>
          <p:nvPr/>
        </p:nvSpPr>
        <p:spPr>
          <a:xfrm>
            <a:off x="8146052" y="6714097"/>
            <a:ext cx="90000" cy="90000"/>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9" name="TextBox 15">
            <a:extLst>
              <a:ext uri="{FF2B5EF4-FFF2-40B4-BE49-F238E27FC236}">
                <a16:creationId xmlns:a16="http://schemas.microsoft.com/office/drawing/2014/main" id="{78570917-9A57-23A9-F462-F8DAB5627A00}"/>
              </a:ext>
            </a:extLst>
          </p:cNvPr>
          <p:cNvSpPr txBox="1"/>
          <p:nvPr/>
        </p:nvSpPr>
        <p:spPr>
          <a:xfrm>
            <a:off x="1288983" y="6614743"/>
            <a:ext cx="857245"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0070C0"/>
                </a:solidFill>
                <a:effectLst/>
                <a:uLnTx/>
                <a:uFillTx/>
                <a:latin typeface="Nunito Sans"/>
                <a:ea typeface="+mn-ea"/>
                <a:cs typeface="+mn-cs"/>
              </a:rPr>
              <a:t>Delivered</a:t>
            </a:r>
            <a:endParaRPr kumimoji="0" lang="en-IN" sz="1000" b="0" i="0" u="none" strike="noStrike" kern="1200" cap="none" spc="0" normalizeH="0" baseline="0" noProof="0">
              <a:ln>
                <a:noFill/>
              </a:ln>
              <a:solidFill>
                <a:srgbClr val="000000"/>
              </a:solidFill>
              <a:effectLst/>
              <a:uLnTx/>
              <a:uFillTx/>
              <a:latin typeface="Nunito Sans"/>
              <a:ea typeface="+mn-ea"/>
              <a:cs typeface="+mn-cs"/>
            </a:endParaRPr>
          </a:p>
        </p:txBody>
      </p:sp>
      <p:sp>
        <p:nvSpPr>
          <p:cNvPr id="10" name="TextBox 18">
            <a:extLst>
              <a:ext uri="{FF2B5EF4-FFF2-40B4-BE49-F238E27FC236}">
                <a16:creationId xmlns:a16="http://schemas.microsoft.com/office/drawing/2014/main" id="{EB666A6A-54F8-1D9C-BFB0-0BEB4F7729F0}"/>
              </a:ext>
            </a:extLst>
          </p:cNvPr>
          <p:cNvSpPr txBox="1"/>
          <p:nvPr/>
        </p:nvSpPr>
        <p:spPr>
          <a:xfrm>
            <a:off x="2310642" y="6611102"/>
            <a:ext cx="1032881"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00B050"/>
                </a:solidFill>
                <a:effectLst/>
                <a:uLnTx/>
                <a:uFillTx/>
                <a:latin typeface="Nunito Sans"/>
                <a:ea typeface="+mn-ea"/>
                <a:cs typeface="+mn-cs"/>
              </a:rPr>
              <a:t>Ontrack</a:t>
            </a:r>
            <a:endParaRPr kumimoji="0" lang="en-IN" sz="1000" b="0" i="0" u="none" strike="noStrike" kern="1200" cap="none" spc="0" normalizeH="0" baseline="0" noProof="0">
              <a:ln>
                <a:noFill/>
              </a:ln>
              <a:solidFill>
                <a:srgbClr val="000000"/>
              </a:solidFill>
              <a:effectLst/>
              <a:uLnTx/>
              <a:uFillTx/>
              <a:latin typeface="Nunito Sans"/>
              <a:ea typeface="+mn-ea"/>
              <a:cs typeface="+mn-cs"/>
            </a:endParaRPr>
          </a:p>
        </p:txBody>
      </p:sp>
      <p:sp>
        <p:nvSpPr>
          <p:cNvPr id="11" name="TextBox 20">
            <a:extLst>
              <a:ext uri="{FF2B5EF4-FFF2-40B4-BE49-F238E27FC236}">
                <a16:creationId xmlns:a16="http://schemas.microsoft.com/office/drawing/2014/main" id="{1B4E32A4-FAE3-C21A-6C9D-2B363F5E2C5D}"/>
              </a:ext>
            </a:extLst>
          </p:cNvPr>
          <p:cNvSpPr txBox="1"/>
          <p:nvPr/>
        </p:nvSpPr>
        <p:spPr>
          <a:xfrm>
            <a:off x="3539606" y="6608370"/>
            <a:ext cx="2257628"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FED9A0">
                    <a:lumMod val="75000"/>
                  </a:srgbClr>
                </a:solidFill>
                <a:effectLst/>
                <a:uLnTx/>
                <a:uFillTx/>
                <a:latin typeface="Nunito Sans"/>
                <a:ea typeface="+mn-ea"/>
                <a:cs typeface="+mn-cs"/>
              </a:rPr>
              <a:t>Under delay and can be recovered</a:t>
            </a:r>
            <a:endParaRPr kumimoji="0" lang="en-IN" sz="1000" b="0" i="0" u="none" strike="noStrike" kern="1200" cap="none" spc="0" normalizeH="0" baseline="0" noProof="0">
              <a:ln>
                <a:noFill/>
              </a:ln>
              <a:solidFill>
                <a:srgbClr val="000000"/>
              </a:solidFill>
              <a:effectLst/>
              <a:uLnTx/>
              <a:uFillTx/>
              <a:latin typeface="Nunito Sans"/>
              <a:ea typeface="+mn-ea"/>
              <a:cs typeface="+mn-cs"/>
            </a:endParaRPr>
          </a:p>
        </p:txBody>
      </p:sp>
      <p:sp>
        <p:nvSpPr>
          <p:cNvPr id="13" name="TextBox 22">
            <a:extLst>
              <a:ext uri="{FF2B5EF4-FFF2-40B4-BE49-F238E27FC236}">
                <a16:creationId xmlns:a16="http://schemas.microsoft.com/office/drawing/2014/main" id="{1AB64BDF-CA14-4135-6261-E72922FF8362}"/>
              </a:ext>
            </a:extLst>
          </p:cNvPr>
          <p:cNvSpPr txBox="1"/>
          <p:nvPr/>
        </p:nvSpPr>
        <p:spPr>
          <a:xfrm>
            <a:off x="8246937" y="6618126"/>
            <a:ext cx="2338222"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FF0000"/>
                </a:solidFill>
                <a:effectLst/>
                <a:uLnTx/>
                <a:uFillTx/>
                <a:latin typeface="Nunito Sans"/>
                <a:ea typeface="+mn-ea"/>
                <a:cs typeface="+mn-cs"/>
              </a:rPr>
              <a:t>Delayed and pushed to next release</a:t>
            </a:r>
          </a:p>
        </p:txBody>
      </p:sp>
      <p:sp>
        <p:nvSpPr>
          <p:cNvPr id="15" name="TextBox 14">
            <a:extLst>
              <a:ext uri="{FF2B5EF4-FFF2-40B4-BE49-F238E27FC236}">
                <a16:creationId xmlns:a16="http://schemas.microsoft.com/office/drawing/2014/main" id="{78900F95-82F2-220C-5785-0C027BFA0798}"/>
              </a:ext>
            </a:extLst>
          </p:cNvPr>
          <p:cNvSpPr txBox="1"/>
          <p:nvPr/>
        </p:nvSpPr>
        <p:spPr>
          <a:xfrm>
            <a:off x="6454369" y="6611638"/>
            <a:ext cx="2743200"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IN" sz="1000">
                <a:solidFill>
                  <a:srgbClr val="7D7D7D"/>
                </a:solidFill>
              </a:rPr>
              <a:t>Descoped</a:t>
            </a:r>
            <a:endParaRPr lang="en-US"/>
          </a:p>
        </p:txBody>
      </p:sp>
      <p:sp>
        <p:nvSpPr>
          <p:cNvPr id="16" name="Rectangle 15">
            <a:extLst>
              <a:ext uri="{FF2B5EF4-FFF2-40B4-BE49-F238E27FC236}">
                <a16:creationId xmlns:a16="http://schemas.microsoft.com/office/drawing/2014/main" id="{DF128779-D671-CF64-D3D3-3EC91AF5B1DD}"/>
              </a:ext>
            </a:extLst>
          </p:cNvPr>
          <p:cNvSpPr/>
          <p:nvPr/>
        </p:nvSpPr>
        <p:spPr>
          <a:xfrm>
            <a:off x="6360794" y="6681439"/>
            <a:ext cx="90000" cy="90000"/>
          </a:xfrm>
          <a:prstGeom prst="rect">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Tree>
    <p:extLst>
      <p:ext uri="{BB962C8B-B14F-4D97-AF65-F5344CB8AC3E}">
        <p14:creationId xmlns:p14="http://schemas.microsoft.com/office/powerpoint/2010/main" val="233998013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3F55F6-E77D-29C2-0DB4-4649605E43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D020F0-0603-AF1F-581C-6CEAFB94F2CD}"/>
              </a:ext>
            </a:extLst>
          </p:cNvPr>
          <p:cNvSpPr>
            <a:spLocks noGrp="1"/>
          </p:cNvSpPr>
          <p:nvPr>
            <p:ph type="title"/>
          </p:nvPr>
        </p:nvSpPr>
        <p:spPr>
          <a:xfrm>
            <a:off x="2275551" y="294450"/>
            <a:ext cx="6100353" cy="1983612"/>
          </a:xfrm>
        </p:spPr>
        <p:txBody>
          <a:bodyPr/>
          <a:lstStyle/>
          <a:p>
            <a:r>
              <a:rPr lang="en-IN" sz="3600"/>
              <a:t>PSS Tech</a:t>
            </a:r>
            <a:r>
              <a:rPr lang="en-US" sz="3600">
                <a:latin typeface="AirIndia"/>
              </a:rPr>
              <a:t>– FY26-27/Q2</a:t>
            </a:r>
            <a:endParaRPr lang="en-IN" sz="3600"/>
          </a:p>
        </p:txBody>
      </p:sp>
    </p:spTree>
    <p:extLst>
      <p:ext uri="{BB962C8B-B14F-4D97-AF65-F5344CB8AC3E}">
        <p14:creationId xmlns:p14="http://schemas.microsoft.com/office/powerpoint/2010/main" val="49565357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6CF20E-54C7-3FDC-55CA-A67E0425B10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F9A6F49-334B-1BF3-52AF-1C78556613C0}"/>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3A41A254-7326-714E-AF55-4C213D6394DE}" type="slidenum">
              <a:rPr kumimoji="0" lang="en-US" sz="1200" b="0" i="0" u="none" strike="noStrike" kern="1200" cap="none" spc="0" normalizeH="0" baseline="0" noProof="0" smtClean="0">
                <a:ln>
                  <a:noFill/>
                </a:ln>
                <a:solidFill>
                  <a:srgbClr val="DA0E28"/>
                </a:solidFill>
                <a:effectLst/>
                <a:uLnTx/>
                <a:uFillTx/>
                <a:latin typeface="Nunito Sans"/>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44</a:t>
            </a:fld>
            <a:endParaRPr kumimoji="0" lang="en-US" sz="1200" b="0" i="0" u="none" strike="noStrike" kern="1200" cap="none" spc="0" normalizeH="0" baseline="0" noProof="0">
              <a:ln>
                <a:noFill/>
              </a:ln>
              <a:solidFill>
                <a:srgbClr val="DA0E28"/>
              </a:solidFill>
              <a:effectLst/>
              <a:uLnTx/>
              <a:uFillTx/>
              <a:latin typeface="Nunito Sans"/>
              <a:ea typeface="+mn-ea"/>
              <a:cs typeface="+mn-cs"/>
            </a:endParaRPr>
          </a:p>
        </p:txBody>
      </p:sp>
      <p:sp>
        <p:nvSpPr>
          <p:cNvPr id="3" name="Rectangle 2">
            <a:extLst>
              <a:ext uri="{FF2B5EF4-FFF2-40B4-BE49-F238E27FC236}">
                <a16:creationId xmlns:a16="http://schemas.microsoft.com/office/drawing/2014/main" id="{F8450FD2-C53C-5F87-463A-7C39763A54CE}"/>
              </a:ext>
            </a:extLst>
          </p:cNvPr>
          <p:cNvSpPr/>
          <p:nvPr/>
        </p:nvSpPr>
        <p:spPr>
          <a:xfrm>
            <a:off x="21921" y="926691"/>
            <a:ext cx="1256211" cy="422347"/>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400" b="1">
                <a:solidFill>
                  <a:srgbClr val="FFFFFF"/>
                </a:solidFill>
                <a:latin typeface="AirIndia"/>
              </a:rPr>
              <a:t>Jul</a:t>
            </a:r>
            <a:r>
              <a:rPr kumimoji="0" lang="en-IN" sz="1400" b="1" i="0" u="none" strike="noStrike" kern="1200" cap="none" spc="0" normalizeH="0" baseline="0" noProof="0">
                <a:ln>
                  <a:noFill/>
                </a:ln>
                <a:solidFill>
                  <a:srgbClr val="FFFFFF"/>
                </a:solidFill>
                <a:effectLst/>
                <a:uLnTx/>
                <a:uFillTx/>
                <a:latin typeface="AirIndia"/>
                <a:ea typeface="+mn-ea"/>
                <a:cs typeface="+mn-cs"/>
              </a:rPr>
              <a:t>‘</a:t>
            </a:r>
            <a:r>
              <a:rPr lang="en-IN" sz="1400" b="1">
                <a:solidFill>
                  <a:srgbClr val="FFFFFF"/>
                </a:solidFill>
                <a:latin typeface="AirIndia"/>
              </a:rPr>
              <a:t>26</a:t>
            </a:r>
            <a:endParaRPr kumimoji="0" lang="en-US" sz="1400" b="1" i="0" u="none" strike="noStrike" kern="1200" cap="none" spc="0" normalizeH="0" baseline="0" noProof="0">
              <a:ln>
                <a:noFill/>
              </a:ln>
              <a:solidFill>
                <a:srgbClr val="FFFFFF"/>
              </a:solidFill>
              <a:effectLst/>
              <a:uLnTx/>
              <a:uFillTx/>
              <a:latin typeface="AirIndia"/>
              <a:ea typeface="+mn-ea"/>
              <a:cs typeface="+mn-cs"/>
            </a:endParaRPr>
          </a:p>
        </p:txBody>
      </p:sp>
      <p:sp>
        <p:nvSpPr>
          <p:cNvPr id="6" name="Title 11">
            <a:extLst>
              <a:ext uri="{FF2B5EF4-FFF2-40B4-BE49-F238E27FC236}">
                <a16:creationId xmlns:a16="http://schemas.microsoft.com/office/drawing/2014/main" id="{961FF804-63CB-0BF7-87F2-504346C782C6}"/>
              </a:ext>
            </a:extLst>
          </p:cNvPr>
          <p:cNvSpPr txBox="1">
            <a:spLocks/>
          </p:cNvSpPr>
          <p:nvPr/>
        </p:nvSpPr>
        <p:spPr>
          <a:xfrm>
            <a:off x="253743" y="182023"/>
            <a:ext cx="7702602" cy="430255"/>
          </a:xfrm>
          <a:prstGeom prst="rect">
            <a:avLst/>
          </a:prstGeom>
        </p:spPr>
        <p:txBody>
          <a:bodyPr lIns="91440" tIns="45720" rIns="91440" bIns="45720" anchor="t">
            <a:noAutofit/>
          </a:bodyPr>
          <a:lstStyle>
            <a:lvl1pPr algn="l" defTabSz="914400" rtl="0" eaLnBrk="1" latinLnBrk="0" hangingPunct="1">
              <a:lnSpc>
                <a:spcPct val="90000"/>
              </a:lnSpc>
              <a:spcBef>
                <a:spcPct val="0"/>
              </a:spcBef>
              <a:buNone/>
              <a:defRPr sz="4400" b="1" i="0" kern="1200">
                <a:solidFill>
                  <a:schemeClr val="tx1"/>
                </a:solidFill>
                <a:latin typeface="AirIndia" pitchFamily="82" charset="77"/>
                <a:ea typeface="+mj-ea"/>
                <a:cs typeface="+mj-cs"/>
              </a:defRPr>
            </a:lvl1pPr>
          </a:lstStyle>
          <a:p>
            <a:pPr>
              <a:defRPr/>
            </a:pPr>
            <a:r>
              <a:rPr lang="en-US" sz="1800">
                <a:solidFill>
                  <a:srgbClr val="DA0E28"/>
                </a:solidFill>
                <a:latin typeface="AirIndia"/>
              </a:rPr>
              <a:t>PSS Tech-</a:t>
            </a:r>
            <a:r>
              <a:rPr kumimoji="0" lang="en-US" sz="1800" b="1" i="0" u="none" strike="noStrike" kern="1200" cap="none" spc="0" normalizeH="0" baseline="0" noProof="0">
                <a:ln>
                  <a:noFill/>
                </a:ln>
                <a:solidFill>
                  <a:srgbClr val="DA0E28"/>
                </a:solidFill>
                <a:effectLst/>
                <a:uLnTx/>
                <a:uFillTx/>
                <a:latin typeface="AirIndia"/>
                <a:ea typeface="+mj-ea"/>
                <a:cs typeface="+mj-cs"/>
              </a:rPr>
              <a:t> </a:t>
            </a:r>
            <a:r>
              <a:rPr lang="en-US" sz="1800">
                <a:solidFill>
                  <a:srgbClr val="DA0E28"/>
                </a:solidFill>
                <a:latin typeface="AirIndia"/>
              </a:rPr>
              <a:t>FY27</a:t>
            </a:r>
            <a:r>
              <a:rPr kumimoji="0" lang="en-US" sz="1800" b="1" i="0" u="none" strike="noStrike" kern="1200" cap="none" spc="0" normalizeH="0" baseline="0" noProof="0">
                <a:ln>
                  <a:noFill/>
                </a:ln>
                <a:solidFill>
                  <a:srgbClr val="DA0E28"/>
                </a:solidFill>
                <a:effectLst/>
                <a:uLnTx/>
                <a:uFillTx/>
                <a:latin typeface="AirIndia"/>
                <a:ea typeface="+mj-ea"/>
                <a:cs typeface="+mj-cs"/>
              </a:rPr>
              <a:t> Q2  Release Plan</a:t>
            </a:r>
            <a:endParaRPr lang="en-US" sz="1800" b="0" i="0" u="none" strike="noStrike" kern="1200" cap="none" spc="0" normalizeH="0" baseline="0" noProof="0">
              <a:ln>
                <a:noFill/>
              </a:ln>
              <a:solidFill>
                <a:srgbClr val="DA0E28"/>
              </a:solidFill>
              <a:effectLst/>
              <a:uLnTx/>
              <a:uFillTx/>
              <a:latin typeface="AirIndia"/>
            </a:endParaRPr>
          </a:p>
        </p:txBody>
      </p:sp>
      <p:sp>
        <p:nvSpPr>
          <p:cNvPr id="4" name="Rectangle 3">
            <a:extLst>
              <a:ext uri="{FF2B5EF4-FFF2-40B4-BE49-F238E27FC236}">
                <a16:creationId xmlns:a16="http://schemas.microsoft.com/office/drawing/2014/main" id="{AC956DA6-B834-CB3D-B556-AE4F589C4E50}"/>
              </a:ext>
            </a:extLst>
          </p:cNvPr>
          <p:cNvSpPr/>
          <p:nvPr/>
        </p:nvSpPr>
        <p:spPr>
          <a:xfrm>
            <a:off x="1188132" y="6671592"/>
            <a:ext cx="90000" cy="90000"/>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5" name="Rectangle 4">
            <a:extLst>
              <a:ext uri="{FF2B5EF4-FFF2-40B4-BE49-F238E27FC236}">
                <a16:creationId xmlns:a16="http://schemas.microsoft.com/office/drawing/2014/main" id="{7119F857-392B-FDE4-D1ED-2AED8EA8BDD1}"/>
              </a:ext>
            </a:extLst>
          </p:cNvPr>
          <p:cNvSpPr/>
          <p:nvPr/>
        </p:nvSpPr>
        <p:spPr>
          <a:xfrm>
            <a:off x="2265818" y="6670554"/>
            <a:ext cx="90000" cy="90000"/>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7" name="Rectangle 6">
            <a:extLst>
              <a:ext uri="{FF2B5EF4-FFF2-40B4-BE49-F238E27FC236}">
                <a16:creationId xmlns:a16="http://schemas.microsoft.com/office/drawing/2014/main" id="{B2A70FB8-85A1-77F7-907D-791E71402EE4}"/>
              </a:ext>
            </a:extLst>
          </p:cNvPr>
          <p:cNvSpPr/>
          <p:nvPr/>
        </p:nvSpPr>
        <p:spPr>
          <a:xfrm>
            <a:off x="3443423" y="6671592"/>
            <a:ext cx="90000" cy="90000"/>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8" name="Rectangle 7">
            <a:extLst>
              <a:ext uri="{FF2B5EF4-FFF2-40B4-BE49-F238E27FC236}">
                <a16:creationId xmlns:a16="http://schemas.microsoft.com/office/drawing/2014/main" id="{1269A17B-1FAB-97F7-0F7B-D4C92DA7026F}"/>
              </a:ext>
            </a:extLst>
          </p:cNvPr>
          <p:cNvSpPr/>
          <p:nvPr/>
        </p:nvSpPr>
        <p:spPr>
          <a:xfrm>
            <a:off x="8146052" y="6714097"/>
            <a:ext cx="90000" cy="90000"/>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9" name="TextBox 15">
            <a:extLst>
              <a:ext uri="{FF2B5EF4-FFF2-40B4-BE49-F238E27FC236}">
                <a16:creationId xmlns:a16="http://schemas.microsoft.com/office/drawing/2014/main" id="{18E982CF-E8DA-CDFB-4697-205C95D8EFC3}"/>
              </a:ext>
            </a:extLst>
          </p:cNvPr>
          <p:cNvSpPr txBox="1"/>
          <p:nvPr/>
        </p:nvSpPr>
        <p:spPr>
          <a:xfrm>
            <a:off x="1288983" y="6614743"/>
            <a:ext cx="857245"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0070C0"/>
                </a:solidFill>
                <a:effectLst/>
                <a:uLnTx/>
                <a:uFillTx/>
                <a:latin typeface="Nunito Sans"/>
                <a:ea typeface="+mn-ea"/>
                <a:cs typeface="+mn-cs"/>
              </a:rPr>
              <a:t>Delivered</a:t>
            </a:r>
            <a:endParaRPr kumimoji="0" lang="en-IN" sz="1000" b="0" i="0" u="none" strike="noStrike" kern="1200" cap="none" spc="0" normalizeH="0" baseline="0" noProof="0">
              <a:ln>
                <a:noFill/>
              </a:ln>
              <a:solidFill>
                <a:srgbClr val="000000"/>
              </a:solidFill>
              <a:effectLst/>
              <a:uLnTx/>
              <a:uFillTx/>
              <a:latin typeface="Nunito Sans"/>
              <a:ea typeface="+mn-ea"/>
              <a:cs typeface="+mn-cs"/>
            </a:endParaRPr>
          </a:p>
        </p:txBody>
      </p:sp>
      <p:sp>
        <p:nvSpPr>
          <p:cNvPr id="10" name="TextBox 18">
            <a:extLst>
              <a:ext uri="{FF2B5EF4-FFF2-40B4-BE49-F238E27FC236}">
                <a16:creationId xmlns:a16="http://schemas.microsoft.com/office/drawing/2014/main" id="{D15BF960-1AD7-8AAA-2E11-C84FC5805B1A}"/>
              </a:ext>
            </a:extLst>
          </p:cNvPr>
          <p:cNvSpPr txBox="1"/>
          <p:nvPr/>
        </p:nvSpPr>
        <p:spPr>
          <a:xfrm>
            <a:off x="2310642" y="6611102"/>
            <a:ext cx="1032881"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00B050"/>
                </a:solidFill>
                <a:effectLst/>
                <a:uLnTx/>
                <a:uFillTx/>
                <a:latin typeface="Nunito Sans"/>
                <a:ea typeface="+mn-ea"/>
                <a:cs typeface="+mn-cs"/>
              </a:rPr>
              <a:t>Ontrack</a:t>
            </a:r>
            <a:endParaRPr kumimoji="0" lang="en-IN" sz="1000" b="0" i="0" u="none" strike="noStrike" kern="1200" cap="none" spc="0" normalizeH="0" baseline="0" noProof="0">
              <a:ln>
                <a:noFill/>
              </a:ln>
              <a:solidFill>
                <a:srgbClr val="000000"/>
              </a:solidFill>
              <a:effectLst/>
              <a:uLnTx/>
              <a:uFillTx/>
              <a:latin typeface="Nunito Sans"/>
              <a:ea typeface="+mn-ea"/>
              <a:cs typeface="+mn-cs"/>
            </a:endParaRPr>
          </a:p>
        </p:txBody>
      </p:sp>
      <p:sp>
        <p:nvSpPr>
          <p:cNvPr id="11" name="TextBox 20">
            <a:extLst>
              <a:ext uri="{FF2B5EF4-FFF2-40B4-BE49-F238E27FC236}">
                <a16:creationId xmlns:a16="http://schemas.microsoft.com/office/drawing/2014/main" id="{18B660A7-4A9F-D143-967A-3EA998147352}"/>
              </a:ext>
            </a:extLst>
          </p:cNvPr>
          <p:cNvSpPr txBox="1"/>
          <p:nvPr/>
        </p:nvSpPr>
        <p:spPr>
          <a:xfrm>
            <a:off x="3539606" y="6608370"/>
            <a:ext cx="2257628"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FED9A0">
                    <a:lumMod val="75000"/>
                  </a:srgbClr>
                </a:solidFill>
                <a:effectLst/>
                <a:uLnTx/>
                <a:uFillTx/>
                <a:latin typeface="Nunito Sans"/>
                <a:ea typeface="+mn-ea"/>
                <a:cs typeface="+mn-cs"/>
              </a:rPr>
              <a:t>Under delay and can be recovered</a:t>
            </a:r>
            <a:endParaRPr kumimoji="0" lang="en-IN" sz="1000" b="0" i="0" u="none" strike="noStrike" kern="1200" cap="none" spc="0" normalizeH="0" baseline="0" noProof="0">
              <a:ln>
                <a:noFill/>
              </a:ln>
              <a:solidFill>
                <a:srgbClr val="000000"/>
              </a:solidFill>
              <a:effectLst/>
              <a:uLnTx/>
              <a:uFillTx/>
              <a:latin typeface="Nunito Sans"/>
              <a:ea typeface="+mn-ea"/>
              <a:cs typeface="+mn-cs"/>
            </a:endParaRPr>
          </a:p>
        </p:txBody>
      </p:sp>
      <p:sp>
        <p:nvSpPr>
          <p:cNvPr id="13" name="TextBox 22">
            <a:extLst>
              <a:ext uri="{FF2B5EF4-FFF2-40B4-BE49-F238E27FC236}">
                <a16:creationId xmlns:a16="http://schemas.microsoft.com/office/drawing/2014/main" id="{3939E7B8-34B3-D5E2-65E2-5830A536650A}"/>
              </a:ext>
            </a:extLst>
          </p:cNvPr>
          <p:cNvSpPr txBox="1"/>
          <p:nvPr/>
        </p:nvSpPr>
        <p:spPr>
          <a:xfrm>
            <a:off x="8246937" y="6618126"/>
            <a:ext cx="2338222"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FF0000"/>
                </a:solidFill>
                <a:effectLst/>
                <a:uLnTx/>
                <a:uFillTx/>
                <a:latin typeface="Nunito Sans"/>
                <a:ea typeface="+mn-ea"/>
                <a:cs typeface="+mn-cs"/>
              </a:rPr>
              <a:t>Delayed and pushed to next release</a:t>
            </a:r>
          </a:p>
        </p:txBody>
      </p:sp>
      <p:sp>
        <p:nvSpPr>
          <p:cNvPr id="15" name="TextBox 14">
            <a:extLst>
              <a:ext uri="{FF2B5EF4-FFF2-40B4-BE49-F238E27FC236}">
                <a16:creationId xmlns:a16="http://schemas.microsoft.com/office/drawing/2014/main" id="{E59A7C55-AEF5-7A49-FC3F-23C60E7954D1}"/>
              </a:ext>
            </a:extLst>
          </p:cNvPr>
          <p:cNvSpPr txBox="1"/>
          <p:nvPr/>
        </p:nvSpPr>
        <p:spPr>
          <a:xfrm>
            <a:off x="6454369" y="6611638"/>
            <a:ext cx="2743200"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IN" sz="1000">
                <a:solidFill>
                  <a:srgbClr val="7D7D7D"/>
                </a:solidFill>
              </a:rPr>
              <a:t>Descoped</a:t>
            </a:r>
            <a:endParaRPr lang="en-US"/>
          </a:p>
        </p:txBody>
      </p:sp>
      <p:sp>
        <p:nvSpPr>
          <p:cNvPr id="16" name="Rectangle 15">
            <a:extLst>
              <a:ext uri="{FF2B5EF4-FFF2-40B4-BE49-F238E27FC236}">
                <a16:creationId xmlns:a16="http://schemas.microsoft.com/office/drawing/2014/main" id="{03592F63-D8A0-5555-5643-8ADE8A3B99CE}"/>
              </a:ext>
            </a:extLst>
          </p:cNvPr>
          <p:cNvSpPr/>
          <p:nvPr/>
        </p:nvSpPr>
        <p:spPr>
          <a:xfrm>
            <a:off x="6360794" y="6681439"/>
            <a:ext cx="90000" cy="90000"/>
          </a:xfrm>
          <a:prstGeom prst="rect">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graphicFrame>
        <p:nvGraphicFramePr>
          <p:cNvPr id="14" name="Table 13">
            <a:extLst>
              <a:ext uri="{FF2B5EF4-FFF2-40B4-BE49-F238E27FC236}">
                <a16:creationId xmlns:a16="http://schemas.microsoft.com/office/drawing/2014/main" id="{4AD5862E-2600-59F6-ADC8-44A0522A26DA}"/>
              </a:ext>
            </a:extLst>
          </p:cNvPr>
          <p:cNvGraphicFramePr>
            <a:graphicFrameLocks noGrp="1"/>
          </p:cNvGraphicFramePr>
          <p:nvPr>
            <p:extLst>
              <p:ext uri="{D42A27DB-BD31-4B8C-83A1-F6EECF244321}">
                <p14:modId xmlns:p14="http://schemas.microsoft.com/office/powerpoint/2010/main" val="2977832828"/>
              </p:ext>
            </p:extLst>
          </p:nvPr>
        </p:nvGraphicFramePr>
        <p:xfrm>
          <a:off x="1288983" y="926691"/>
          <a:ext cx="10284191" cy="5243165"/>
        </p:xfrm>
        <a:graphic>
          <a:graphicData uri="http://schemas.openxmlformats.org/drawingml/2006/table">
            <a:tbl>
              <a:tblPr/>
              <a:tblGrid>
                <a:gridCol w="816057">
                  <a:extLst>
                    <a:ext uri="{9D8B030D-6E8A-4147-A177-3AD203B41FA5}">
                      <a16:colId xmlns:a16="http://schemas.microsoft.com/office/drawing/2014/main" val="1100456147"/>
                    </a:ext>
                  </a:extLst>
                </a:gridCol>
                <a:gridCol w="1460418">
                  <a:extLst>
                    <a:ext uri="{9D8B030D-6E8A-4147-A177-3AD203B41FA5}">
                      <a16:colId xmlns:a16="http://schemas.microsoft.com/office/drawing/2014/main" val="1312976006"/>
                    </a:ext>
                  </a:extLst>
                </a:gridCol>
                <a:gridCol w="5629275">
                  <a:extLst>
                    <a:ext uri="{9D8B030D-6E8A-4147-A177-3AD203B41FA5}">
                      <a16:colId xmlns:a16="http://schemas.microsoft.com/office/drawing/2014/main" val="2715564584"/>
                    </a:ext>
                  </a:extLst>
                </a:gridCol>
                <a:gridCol w="1190625">
                  <a:extLst>
                    <a:ext uri="{9D8B030D-6E8A-4147-A177-3AD203B41FA5}">
                      <a16:colId xmlns:a16="http://schemas.microsoft.com/office/drawing/2014/main" val="1826142297"/>
                    </a:ext>
                  </a:extLst>
                </a:gridCol>
                <a:gridCol w="1187816">
                  <a:extLst>
                    <a:ext uri="{9D8B030D-6E8A-4147-A177-3AD203B41FA5}">
                      <a16:colId xmlns:a16="http://schemas.microsoft.com/office/drawing/2014/main" val="2951667890"/>
                    </a:ext>
                  </a:extLst>
                </a:gridCol>
              </a:tblGrid>
              <a:tr h="505087">
                <a:tc>
                  <a:txBody>
                    <a:bodyPr/>
                    <a:lstStyle/>
                    <a:p>
                      <a:pPr algn="ctr" fontAlgn="ctr">
                        <a:buNone/>
                      </a:pPr>
                      <a:r>
                        <a:rPr lang="en-IN" sz="1100" b="1" i="0" u="none" strike="noStrike">
                          <a:solidFill>
                            <a:srgbClr val="FFFFFF"/>
                          </a:solidFill>
                          <a:effectLst/>
                          <a:latin typeface="Nunito Sans"/>
                        </a:rPr>
                        <a:t>LOB</a:t>
                      </a:r>
                      <a:r>
                        <a:rPr lang="en-IN" sz="1100" b="0" i="0" u="none" strike="noStrike">
                          <a:solidFill>
                            <a:srgbClr val="000000"/>
                          </a:solidFill>
                          <a:effectLst/>
                          <a:latin typeface="Nunito Sans"/>
                        </a:rPr>
                        <a:t>​</a:t>
                      </a:r>
                      <a:endParaRPr lang="en-IN" sz="1100" b="1" i="0" u="none" strike="noStrike">
                        <a:solidFill>
                          <a:srgbClr val="FFFFFF"/>
                        </a:solidFill>
                        <a:effectLst/>
                        <a:latin typeface="Nunito Sans"/>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51972"/>
                    </a:solidFill>
                  </a:tcPr>
                </a:tc>
                <a:tc>
                  <a:txBody>
                    <a:bodyPr/>
                    <a:lstStyle/>
                    <a:p>
                      <a:pPr algn="ctr" fontAlgn="ctr">
                        <a:buNone/>
                      </a:pPr>
                      <a:r>
                        <a:rPr lang="en-US" sz="1100" b="1" i="0" u="none" strike="noStrike">
                          <a:solidFill>
                            <a:srgbClr val="FFFFFF"/>
                          </a:solidFill>
                          <a:effectLst/>
                          <a:latin typeface="Nunito Sans"/>
                        </a:rPr>
                        <a:t>Initiatives</a:t>
                      </a:r>
                      <a:r>
                        <a:rPr lang="en-US" sz="1100" b="0" i="0" u="none" strike="noStrike">
                          <a:solidFill>
                            <a:srgbClr val="000000"/>
                          </a:solidFill>
                          <a:effectLst/>
                          <a:latin typeface="Nunito Sans"/>
                        </a:rPr>
                        <a:t>​</a:t>
                      </a:r>
                      <a:r>
                        <a:rPr lang="en-US" sz="1100" b="1" i="0" u="none" strike="noStrike">
                          <a:solidFill>
                            <a:srgbClr val="FFFFFF"/>
                          </a:solidFill>
                          <a:effectLst/>
                          <a:latin typeface="Nunito Sans"/>
                        </a:rPr>
                        <a:t>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51972"/>
                    </a:solidFill>
                  </a:tcPr>
                </a:tc>
                <a:tc>
                  <a:txBody>
                    <a:bodyPr/>
                    <a:lstStyle/>
                    <a:p>
                      <a:pPr algn="ctr" fontAlgn="ctr">
                        <a:buNone/>
                      </a:pPr>
                      <a:r>
                        <a:rPr lang="en-US" sz="1100" b="1" i="0" u="none" strike="noStrike">
                          <a:solidFill>
                            <a:srgbClr val="FFFFFF"/>
                          </a:solidFill>
                          <a:effectLst/>
                          <a:latin typeface="Nunito Sans"/>
                        </a:rPr>
                        <a:t>Value Justification/Realization</a:t>
                      </a:r>
                      <a:r>
                        <a:rPr lang="en-US" sz="1100" b="0" i="0" u="none" strike="noStrike">
                          <a:solidFill>
                            <a:srgbClr val="000000"/>
                          </a:solidFill>
                          <a:effectLst/>
                          <a:latin typeface="Nunito Sans"/>
                        </a:rPr>
                        <a:t>​</a:t>
                      </a:r>
                      <a:endParaRPr lang="en-US" sz="1100" b="1" i="0" u="none" strike="noStrike">
                        <a:solidFill>
                          <a:srgbClr val="FFFFFF"/>
                        </a:solidFill>
                        <a:effectLst/>
                        <a:latin typeface="Nunito Sans"/>
                      </a:endParaRPr>
                    </a:p>
                  </a:txBody>
                  <a:tcPr marL="6350" marR="6350" marT="6350" marB="0" anchor="ctr">
                    <a:lnL w="6350" cap="flat" cmpd="sng" algn="ctr">
                      <a:solidFill>
                        <a:srgbClr val="000000"/>
                      </a:solidFill>
                      <a:prstDash val="solid"/>
                      <a:round/>
                      <a:headEnd type="none" w="med" len="med"/>
                      <a:tailEnd type="none" w="med" len="med"/>
                    </a:lnL>
                    <a:solidFill>
                      <a:srgbClr val="751972"/>
                    </a:solidFill>
                  </a:tcPr>
                </a:tc>
                <a:tc>
                  <a:txBody>
                    <a:bodyPr/>
                    <a:lstStyle/>
                    <a:p>
                      <a:pPr lvl="0" algn="ctr">
                        <a:buNone/>
                      </a:pPr>
                      <a:r>
                        <a:rPr lang="en-IN" sz="1100" b="1" i="0" u="none" strike="noStrike" kern="1200">
                          <a:solidFill>
                            <a:srgbClr val="FFFFFF"/>
                          </a:solidFill>
                          <a:effectLst/>
                          <a:latin typeface="Nunito Sans"/>
                          <a:ea typeface="+mn-ea"/>
                          <a:cs typeface="+mn-cs"/>
                        </a:rPr>
                        <a:t>Planned Go-live Date</a:t>
                      </a:r>
                      <a:r>
                        <a:rPr lang="en-IN" sz="1100">
                          <a:latin typeface="Nunito Sans"/>
                        </a:rPr>
                        <a:t>​</a:t>
                      </a:r>
                    </a:p>
                  </a:txBody>
                  <a:tcPr anchor="ctr">
                    <a:solidFill>
                      <a:srgbClr val="75197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100" b="1" i="0" kern="1200">
                          <a:solidFill>
                            <a:schemeClr val="bg1"/>
                          </a:solidFill>
                          <a:latin typeface="+mn-lt"/>
                          <a:ea typeface="+mn-ea"/>
                          <a:cs typeface="+mn-cs"/>
                        </a:rPr>
                        <a:t>EIP Integration Required (Yes/No)</a:t>
                      </a:r>
                    </a:p>
                  </a:txBody>
                  <a:tcPr anchor="ctr">
                    <a:solidFill>
                      <a:srgbClr val="751972"/>
                    </a:solidFill>
                  </a:tcPr>
                </a:tc>
                <a:extLst>
                  <a:ext uri="{0D108BD9-81ED-4DB2-BD59-A6C34878D82A}">
                    <a16:rowId xmlns:a16="http://schemas.microsoft.com/office/drawing/2014/main" val="69121551"/>
                  </a:ext>
                </a:extLst>
              </a:tr>
              <a:tr h="1507583">
                <a:tc>
                  <a:txBody>
                    <a:bodyPr/>
                    <a:lstStyle/>
                    <a:p>
                      <a:pPr algn="ctr" fontAlgn="ctr">
                        <a:buNone/>
                      </a:pPr>
                      <a:r>
                        <a:rPr lang="en-IN" sz="1100" b="1" i="0" u="none" strike="noStrike">
                          <a:solidFill>
                            <a:srgbClr val="0070C0"/>
                          </a:solidFill>
                          <a:effectLst/>
                          <a:latin typeface="Nunito Sans"/>
                        </a:rPr>
                        <a:t>RM</a:t>
                      </a:r>
                    </a:p>
                  </a:txBody>
                  <a:tcPr marL="6350" marR="6350" marT="635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100" b="0" i="0" u="none" strike="noStrike" kern="1200">
                          <a:solidFill>
                            <a:srgbClr val="0070C0"/>
                          </a:solidFill>
                          <a:effectLst/>
                          <a:latin typeface="Nunito Sans"/>
                          <a:ea typeface="+mn-ea"/>
                          <a:cs typeface="+mn-cs"/>
                        </a:rPr>
                        <a:t>Dynamic Pricing</a:t>
                      </a:r>
                    </a:p>
                  </a:txBody>
                  <a:tcPr marL="6350" marR="6350" marT="635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lvl="0" algn="l">
                        <a:buNone/>
                      </a:pPr>
                      <a:r>
                        <a:rPr lang="en-US" sz="1100" b="0" i="0" u="none" strike="noStrike" kern="1200" noProof="0">
                          <a:solidFill>
                            <a:srgbClr val="0070C0"/>
                          </a:solidFill>
                          <a:effectLst/>
                          <a:latin typeface="Nunito Sans"/>
                          <a:ea typeface="+mn-ea"/>
                          <a:cs typeface="+mn-cs"/>
                        </a:rPr>
                        <a:t>1A product which dynamically changes ticket prices on AI Direct Channels (Web, Mobile &amp; NDC). Price movements in both directions may be achieved for increase or decrease of ATPCO filed fares. 69 O&amp;D routes made live.</a:t>
                      </a:r>
                      <a:endParaRPr lang="en-US" sz="1100" b="0" i="0" u="none" strike="noStrike" kern="1200">
                        <a:solidFill>
                          <a:srgbClr val="0070C0"/>
                        </a:solidFill>
                        <a:effectLst/>
                        <a:latin typeface="Nunito Sans"/>
                        <a:ea typeface="+mn-ea"/>
                        <a:cs typeface="+mn-cs"/>
                      </a:endParaRPr>
                    </a:p>
                  </a:txBody>
                  <a:tcPr marL="6350" marR="6350" marT="635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noFill/>
                  </a:tcPr>
                </a:tc>
                <a:tc>
                  <a:txBody>
                    <a:bodyPr/>
                    <a:lstStyle/>
                    <a:p>
                      <a:pPr algn="ctr" fontAlgn="ctr">
                        <a:buNone/>
                      </a:pPr>
                      <a:r>
                        <a:rPr lang="en-IN" sz="1100" b="0" i="0" u="none" strike="noStrike" kern="1200">
                          <a:solidFill>
                            <a:srgbClr val="0070C0"/>
                          </a:solidFill>
                          <a:effectLst/>
                          <a:latin typeface="Nunito Sans"/>
                          <a:ea typeface="+mn-ea"/>
                          <a:cs typeface="+mn-cs"/>
                        </a:rPr>
                        <a:t>9-Jul-2026 (Live)</a:t>
                      </a:r>
                    </a:p>
                  </a:txBody>
                  <a:tcPr marL="6350" marR="6350" marT="635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noFill/>
                  </a:tcPr>
                </a:tc>
                <a:tc>
                  <a:txBody>
                    <a:bodyPr/>
                    <a:lstStyle/>
                    <a:p>
                      <a:pPr algn="ctr" fontAlgn="b">
                        <a:buNone/>
                      </a:pPr>
                      <a:r>
                        <a:rPr lang="en-IN" sz="1100" b="0" i="0" u="none" strike="noStrike" kern="1200">
                          <a:solidFill>
                            <a:srgbClr val="0070C0"/>
                          </a:solidFill>
                          <a:effectLst/>
                          <a:latin typeface="Nunito Sans"/>
                          <a:ea typeface="+mn-ea"/>
                          <a:cs typeface="+mn-cs"/>
                        </a:rPr>
                        <a:t>No</a:t>
                      </a:r>
                    </a:p>
                  </a:txBody>
                  <a:tcPr marL="6350" marR="6350" marT="635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noFill/>
                  </a:tcPr>
                </a:tc>
                <a:extLst>
                  <a:ext uri="{0D108BD9-81ED-4DB2-BD59-A6C34878D82A}">
                    <a16:rowId xmlns:a16="http://schemas.microsoft.com/office/drawing/2014/main" val="3143229617"/>
                  </a:ext>
                </a:extLst>
              </a:tr>
              <a:tr h="938151">
                <a:tc>
                  <a:txBody>
                    <a:bodyPr/>
                    <a:lstStyle/>
                    <a:p>
                      <a:pPr algn="ctr" fontAlgn="ctr">
                        <a:buNone/>
                      </a:pPr>
                      <a:r>
                        <a:rPr lang="en-IN" sz="1100" b="0" i="0" u="none" strike="noStrike" kern="1200">
                          <a:solidFill>
                            <a:srgbClr val="05B050"/>
                          </a:solidFill>
                          <a:effectLst/>
                          <a:latin typeface="Nunito Sans"/>
                          <a:ea typeface="+mn-ea"/>
                          <a:cs typeface="+mn-cs"/>
                        </a:rPr>
                        <a:t>AOD</a:t>
                      </a:r>
                    </a:p>
                  </a:txBody>
                  <a:tcPr marL="6350" marR="6350" marT="635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100" b="0" i="0" u="none" strike="noStrike">
                          <a:solidFill>
                            <a:srgbClr val="05B050"/>
                          </a:solidFill>
                          <a:effectLst/>
                          <a:latin typeface="Nunito Sans"/>
                        </a:rPr>
                        <a:t>Hub And Spoke - Phase 2</a:t>
                      </a:r>
                    </a:p>
                  </a:txBody>
                  <a:tcPr marL="6350" marR="6350" marT="635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r>
                        <a:rPr lang="en-US" sz="1100" b="0" i="0" u="none" strike="noStrike" kern="1200">
                          <a:solidFill>
                            <a:srgbClr val="00B050"/>
                          </a:solidFill>
                          <a:effectLst/>
                          <a:latin typeface="Nunito Sans"/>
                          <a:ea typeface="+mn-ea"/>
                          <a:cs typeface="+mn-cs"/>
                        </a:rPr>
                        <a:t>Hub and spoke phase 2 focuses on below :-</a:t>
                      </a:r>
                    </a:p>
                    <a:p>
                      <a:r>
                        <a:rPr lang="en-US" sz="1100" b="0" i="0" u="none" strike="noStrike" kern="1200">
                          <a:solidFill>
                            <a:srgbClr val="00B050"/>
                          </a:solidFill>
                          <a:effectLst/>
                          <a:latin typeface="Nunito Sans"/>
                          <a:ea typeface="+mn-ea"/>
                          <a:cs typeface="+mn-cs"/>
                        </a:rPr>
                        <a:t>Error handling - 6 hourly retrigger and batch run functionality.</a:t>
                      </a:r>
                    </a:p>
                    <a:p>
                      <a:r>
                        <a:rPr lang="en-US" sz="1100" b="0" i="0" u="none" strike="noStrike" kern="1200">
                          <a:solidFill>
                            <a:srgbClr val="00B050"/>
                          </a:solidFill>
                          <a:effectLst/>
                          <a:latin typeface="Nunito Sans"/>
                          <a:ea typeface="+mn-ea"/>
                          <a:cs typeface="+mn-cs"/>
                        </a:rPr>
                        <a:t>Introduction of new cities for outbound as per AOD. (2  new Spokes – ATQ and AMD)</a:t>
                      </a:r>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noFill/>
                  </a:tcPr>
                </a:tc>
                <a:tc>
                  <a:txBody>
                    <a:bodyPr/>
                    <a:lstStyle/>
                    <a:p>
                      <a:pPr algn="ctr" fontAlgn="b">
                        <a:buNone/>
                      </a:pPr>
                      <a:r>
                        <a:rPr lang="en-IN" sz="1100" b="0" i="0" u="none" strike="noStrike">
                          <a:solidFill>
                            <a:schemeClr val="tx1"/>
                          </a:solidFill>
                          <a:effectLst/>
                          <a:latin typeface="Nunito Sans"/>
                        </a:rPr>
                        <a:t>24-Jul-2026</a:t>
                      </a:r>
                    </a:p>
                  </a:txBody>
                  <a:tcPr marL="6350" marR="6350" marT="635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noFill/>
                  </a:tcPr>
                </a:tc>
                <a:tc>
                  <a:txBody>
                    <a:bodyPr/>
                    <a:lstStyle/>
                    <a:p>
                      <a:pPr algn="ctr" fontAlgn="b">
                        <a:buNone/>
                      </a:pPr>
                      <a:r>
                        <a:rPr lang="en-IN" sz="1100" b="0" i="0" u="none" strike="noStrike">
                          <a:solidFill>
                            <a:schemeClr val="tx1"/>
                          </a:solidFill>
                          <a:effectLst/>
                          <a:latin typeface="Nunito Sans"/>
                        </a:rPr>
                        <a:t>No</a:t>
                      </a:r>
                    </a:p>
                  </a:txBody>
                  <a:tcPr marL="6350" marR="6350" marT="635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noFill/>
                  </a:tcPr>
                </a:tc>
                <a:extLst>
                  <a:ext uri="{0D108BD9-81ED-4DB2-BD59-A6C34878D82A}">
                    <a16:rowId xmlns:a16="http://schemas.microsoft.com/office/drawing/2014/main" val="92068228"/>
                  </a:ext>
                </a:extLst>
              </a:tr>
              <a:tr h="938151">
                <a:tc>
                  <a:txBody>
                    <a:bodyPr/>
                    <a:lstStyle/>
                    <a:p>
                      <a:pPr lvl="0" algn="ctr">
                        <a:buNone/>
                      </a:pPr>
                      <a:r>
                        <a:rPr lang="en-IN" sz="1100" b="0" i="0" u="none" strike="noStrike" kern="1200">
                          <a:solidFill>
                            <a:srgbClr val="05B050"/>
                          </a:solidFill>
                          <a:effectLst/>
                          <a:latin typeface="Nunito Sans"/>
                          <a:ea typeface="+mn-ea"/>
                          <a:cs typeface="+mn-cs"/>
                        </a:rPr>
                        <a:t>RM</a:t>
                      </a:r>
                      <a:endParaRPr lang="en-US"/>
                    </a:p>
                  </a:txBody>
                  <a:tcPr marL="6350" marR="6350" marT="635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l" rtl="0">
                        <a:lnSpc>
                          <a:spcPct val="100000"/>
                        </a:lnSpc>
                        <a:spcBef>
                          <a:spcPts val="0"/>
                        </a:spcBef>
                        <a:spcAft>
                          <a:spcPts val="0"/>
                        </a:spcAft>
                        <a:buClrTx/>
                        <a:buSzTx/>
                        <a:buFontTx/>
                        <a:buNone/>
                      </a:pPr>
                      <a:r>
                        <a:rPr lang="en-US" sz="1100" b="0" i="0" u="none" strike="noStrike" kern="1200">
                          <a:solidFill>
                            <a:srgbClr val="05B050"/>
                          </a:solidFill>
                          <a:effectLst/>
                          <a:latin typeface="Nunito Sans"/>
                          <a:ea typeface="+mn-ea"/>
                          <a:cs typeface="+mn-cs"/>
                        </a:rPr>
                        <a:t>Basic Fare project - Phase 2</a:t>
                      </a:r>
                      <a:endParaRPr lang="en-US"/>
                    </a:p>
                    <a:p>
                      <a:pPr lvl="0" algn="l">
                        <a:buNone/>
                      </a:pPr>
                      <a:endParaRPr lang="en-US" sz="1100" b="0" i="0" u="none" strike="noStrike">
                        <a:solidFill>
                          <a:srgbClr val="05B050"/>
                        </a:solidFill>
                        <a:effectLst/>
                        <a:latin typeface="Nunito Sans"/>
                      </a:endParaRPr>
                    </a:p>
                  </a:txBody>
                  <a:tcPr marL="6350" marR="6350" marT="635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l" rtl="0">
                        <a:lnSpc>
                          <a:spcPct val="100000"/>
                        </a:lnSpc>
                        <a:spcBef>
                          <a:spcPts val="0"/>
                        </a:spcBef>
                        <a:spcAft>
                          <a:spcPts val="0"/>
                        </a:spcAft>
                        <a:buClrTx/>
                        <a:buSzTx/>
                        <a:buFontTx/>
                        <a:buNone/>
                      </a:pPr>
                      <a:r>
                        <a:rPr lang="en-US" sz="1100" b="0" i="0" u="none" strike="noStrike" kern="1200">
                          <a:solidFill>
                            <a:srgbClr val="05B050"/>
                          </a:solidFill>
                          <a:effectLst/>
                          <a:latin typeface="Segoe UI"/>
                          <a:ea typeface="+mn-ea"/>
                          <a:cs typeface="Segoe UI"/>
                        </a:rPr>
                        <a:t>Phase 2 builds on the initial go-live scope from Phase 1. It focuses on releasing this fare on 100% DOM routes on AI.</a:t>
                      </a:r>
                      <a:endParaRPr lang="en-US"/>
                    </a:p>
                    <a:p>
                      <a:pPr lvl="0">
                        <a:buNone/>
                      </a:pPr>
                      <a:endParaRPr lang="en-US"/>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noFill/>
                  </a:tcPr>
                </a:tc>
                <a:tc>
                  <a:txBody>
                    <a:bodyPr/>
                    <a:lstStyle/>
                    <a:p>
                      <a:pPr lvl="0" algn="ctr">
                        <a:buNone/>
                      </a:pPr>
                      <a:r>
                        <a:rPr lang="en-IN" sz="1100" b="0" i="0" u="none" strike="noStrike">
                          <a:solidFill>
                            <a:schemeClr val="tx1"/>
                          </a:solidFill>
                          <a:effectLst/>
                          <a:latin typeface="Nunito Sans"/>
                        </a:rPr>
                        <a:t>24-Jul-2026</a:t>
                      </a:r>
                      <a:endParaRPr lang="en-US"/>
                    </a:p>
                  </a:txBody>
                  <a:tcPr marL="6350" marR="6350" marT="635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noFill/>
                  </a:tcPr>
                </a:tc>
                <a:tc>
                  <a:txBody>
                    <a:bodyPr/>
                    <a:lstStyle/>
                    <a:p>
                      <a:pPr lvl="0" algn="ctr">
                        <a:buNone/>
                      </a:pPr>
                      <a:r>
                        <a:rPr lang="en-IN" sz="1100" b="0" i="0" u="none" strike="noStrike">
                          <a:solidFill>
                            <a:schemeClr val="tx1"/>
                          </a:solidFill>
                          <a:effectLst/>
                          <a:latin typeface="Nunito Sans"/>
                        </a:rPr>
                        <a:t>No</a:t>
                      </a:r>
                      <a:endParaRPr lang="en-US"/>
                    </a:p>
                  </a:txBody>
                  <a:tcPr marL="6350" marR="6350" marT="635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noFill/>
                  </a:tcPr>
                </a:tc>
                <a:extLst>
                  <a:ext uri="{0D108BD9-81ED-4DB2-BD59-A6C34878D82A}">
                    <a16:rowId xmlns:a16="http://schemas.microsoft.com/office/drawing/2014/main" val="1387652776"/>
                  </a:ext>
                </a:extLst>
              </a:tr>
              <a:tr h="938151">
                <a:tc>
                  <a:txBody>
                    <a:bodyPr/>
                    <a:lstStyle/>
                    <a:p>
                      <a:pPr algn="ctr" fontAlgn="ctr">
                        <a:buNone/>
                      </a:pPr>
                      <a:r>
                        <a:rPr lang="en-IN" sz="1100" b="0" i="0" u="none" strike="noStrike" kern="1200">
                          <a:solidFill>
                            <a:srgbClr val="05B050"/>
                          </a:solidFill>
                          <a:effectLst/>
                          <a:latin typeface="Nunito Sans"/>
                          <a:ea typeface="+mn-ea"/>
                          <a:cs typeface="+mn-cs"/>
                        </a:rPr>
                        <a:t>LSS</a:t>
                      </a:r>
                    </a:p>
                  </a:txBody>
                  <a:tcPr marL="6350" marR="6350" marT="635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100" b="0" i="0" u="none" strike="noStrike" kern="1200">
                          <a:solidFill>
                            <a:srgbClr val="05B050"/>
                          </a:solidFill>
                          <a:effectLst/>
                          <a:latin typeface="Nunito Sans"/>
                          <a:ea typeface="+mn-ea"/>
                          <a:cs typeface="+mn-cs"/>
                        </a:rPr>
                        <a:t>DCS-FM Clean Up On LSS</a:t>
                      </a:r>
                    </a:p>
                    <a:p>
                      <a:pPr algn="l" fontAlgn="b">
                        <a:buNone/>
                      </a:pPr>
                      <a:endParaRPr lang="en-US" sz="1100" b="0" i="0" u="none" strike="noStrike">
                        <a:solidFill>
                          <a:srgbClr val="05B050"/>
                        </a:solidFill>
                        <a:effectLst/>
                        <a:latin typeface="Nunito Sans"/>
                      </a:endParaRPr>
                    </a:p>
                  </a:txBody>
                  <a:tcPr marL="6350" marR="6350" marT="635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fontAlgn="t"/>
                      <a:r>
                        <a:rPr lang="en-US" sz="1100" b="0" i="0" u="none" strike="noStrike" kern="1200">
                          <a:solidFill>
                            <a:srgbClr val="05B050"/>
                          </a:solidFill>
                          <a:effectLst/>
                          <a:latin typeface="Segoe UI"/>
                          <a:ea typeface="+mn-ea"/>
                          <a:cs typeface="Segoe UI"/>
                        </a:rPr>
                        <a:t>A governance-driven access cleanup was initiated to remove legacy FM access inherited through SITA migration structures (OGUs, Office IDs, and user-level roles). The initiative restricts FM access to authorized and FM-trained users, eliminates cross-organization access inheritance through dedicated AI and AIX structures, standardizes view-only access, and rationalizes administrative privileges based on business need. This enhances access governance, segregation of duties, security, and audit compliance across the FM ecosystem.</a:t>
                      </a:r>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noFill/>
                  </a:tcPr>
                </a:tc>
                <a:tc>
                  <a:txBody>
                    <a:bodyPr/>
                    <a:lstStyle/>
                    <a:p>
                      <a:pPr algn="ctr" fontAlgn="b">
                        <a:buNone/>
                      </a:pPr>
                      <a:r>
                        <a:rPr lang="en-IN" sz="1100" b="0" i="0" u="none" strike="noStrike">
                          <a:solidFill>
                            <a:schemeClr val="tx1"/>
                          </a:solidFill>
                          <a:effectLst/>
                          <a:latin typeface="Nunito Sans"/>
                        </a:rPr>
                        <a:t>25-Jul-2026</a:t>
                      </a:r>
                    </a:p>
                  </a:txBody>
                  <a:tcPr marL="6350" marR="6350" marT="635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noFill/>
                  </a:tcPr>
                </a:tc>
                <a:tc>
                  <a:txBody>
                    <a:bodyPr/>
                    <a:lstStyle/>
                    <a:p>
                      <a:pPr algn="ctr" fontAlgn="b">
                        <a:buNone/>
                      </a:pPr>
                      <a:r>
                        <a:rPr lang="en-IN" sz="1100" b="0" i="0" u="none" strike="noStrike">
                          <a:solidFill>
                            <a:schemeClr val="tx1"/>
                          </a:solidFill>
                          <a:effectLst/>
                          <a:latin typeface="Nunito Sans"/>
                        </a:rPr>
                        <a:t>No</a:t>
                      </a:r>
                    </a:p>
                  </a:txBody>
                  <a:tcPr marL="6350" marR="6350" marT="635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noFill/>
                  </a:tcPr>
                </a:tc>
                <a:extLst>
                  <a:ext uri="{0D108BD9-81ED-4DB2-BD59-A6C34878D82A}">
                    <a16:rowId xmlns:a16="http://schemas.microsoft.com/office/drawing/2014/main" val="1965014108"/>
                  </a:ext>
                </a:extLst>
              </a:tr>
            </a:tbl>
          </a:graphicData>
        </a:graphic>
      </p:graphicFrame>
    </p:spTree>
    <p:extLst>
      <p:ext uri="{BB962C8B-B14F-4D97-AF65-F5344CB8AC3E}">
        <p14:creationId xmlns:p14="http://schemas.microsoft.com/office/powerpoint/2010/main" val="218817894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996283-D5CF-25DB-962B-A87D973E028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7CA918C-2A6C-85FF-1892-8C067DBC6876}"/>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3A41A254-7326-714E-AF55-4C213D6394DE}" type="slidenum">
              <a:rPr kumimoji="0" lang="en-US" sz="1200" b="0" i="0" u="none" strike="noStrike" kern="1200" cap="none" spc="0" normalizeH="0" baseline="0" noProof="0" smtClean="0">
                <a:ln>
                  <a:noFill/>
                </a:ln>
                <a:solidFill>
                  <a:srgbClr val="DA0E28"/>
                </a:solidFill>
                <a:effectLst/>
                <a:uLnTx/>
                <a:uFillTx/>
                <a:latin typeface="Nunito Sans"/>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45</a:t>
            </a:fld>
            <a:endParaRPr kumimoji="0" lang="en-US" sz="1200" b="0" i="0" u="none" strike="noStrike" kern="1200" cap="none" spc="0" normalizeH="0" baseline="0" noProof="0">
              <a:ln>
                <a:noFill/>
              </a:ln>
              <a:solidFill>
                <a:srgbClr val="DA0E28"/>
              </a:solidFill>
              <a:effectLst/>
              <a:uLnTx/>
              <a:uFillTx/>
              <a:latin typeface="Nunito Sans"/>
              <a:ea typeface="+mn-ea"/>
              <a:cs typeface="+mn-cs"/>
            </a:endParaRPr>
          </a:p>
        </p:txBody>
      </p:sp>
      <p:sp>
        <p:nvSpPr>
          <p:cNvPr id="3" name="Rectangle 2">
            <a:extLst>
              <a:ext uri="{FF2B5EF4-FFF2-40B4-BE49-F238E27FC236}">
                <a16:creationId xmlns:a16="http://schemas.microsoft.com/office/drawing/2014/main" id="{CF6012E1-3045-B385-9A7D-DBDA16DB4CB4}"/>
              </a:ext>
            </a:extLst>
          </p:cNvPr>
          <p:cNvSpPr/>
          <p:nvPr/>
        </p:nvSpPr>
        <p:spPr>
          <a:xfrm>
            <a:off x="21921" y="610471"/>
            <a:ext cx="1256211" cy="422347"/>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400" b="1">
                <a:solidFill>
                  <a:srgbClr val="FFFFFF"/>
                </a:solidFill>
                <a:latin typeface="AirIndia"/>
              </a:rPr>
              <a:t>Aug</a:t>
            </a:r>
            <a:r>
              <a:rPr kumimoji="0" lang="en-IN" sz="1400" b="1" i="0" u="none" strike="noStrike" kern="1200" cap="none" spc="0" normalizeH="0" baseline="0" noProof="0">
                <a:ln>
                  <a:noFill/>
                </a:ln>
                <a:solidFill>
                  <a:srgbClr val="FFFFFF"/>
                </a:solidFill>
                <a:effectLst/>
                <a:uLnTx/>
                <a:uFillTx/>
                <a:latin typeface="AirIndia"/>
                <a:ea typeface="+mn-ea"/>
                <a:cs typeface="+mn-cs"/>
              </a:rPr>
              <a:t>‘</a:t>
            </a:r>
            <a:r>
              <a:rPr lang="en-IN" sz="1400" b="1">
                <a:solidFill>
                  <a:srgbClr val="FFFFFF"/>
                </a:solidFill>
                <a:latin typeface="AirIndia"/>
              </a:rPr>
              <a:t>26</a:t>
            </a:r>
            <a:endParaRPr kumimoji="0" lang="en-US" sz="1400" b="1" i="0" u="none" strike="noStrike" kern="1200" cap="none" spc="0" normalizeH="0" baseline="0" noProof="0">
              <a:ln>
                <a:noFill/>
              </a:ln>
              <a:solidFill>
                <a:srgbClr val="FFFFFF"/>
              </a:solidFill>
              <a:effectLst/>
              <a:uLnTx/>
              <a:uFillTx/>
              <a:latin typeface="AirIndia"/>
              <a:ea typeface="+mn-ea"/>
              <a:cs typeface="+mn-cs"/>
            </a:endParaRPr>
          </a:p>
        </p:txBody>
      </p:sp>
      <p:sp>
        <p:nvSpPr>
          <p:cNvPr id="6" name="Title 11">
            <a:extLst>
              <a:ext uri="{FF2B5EF4-FFF2-40B4-BE49-F238E27FC236}">
                <a16:creationId xmlns:a16="http://schemas.microsoft.com/office/drawing/2014/main" id="{0CDC15D8-A3AE-7D33-E5EB-6C420842CC8B}"/>
              </a:ext>
            </a:extLst>
          </p:cNvPr>
          <p:cNvSpPr txBox="1">
            <a:spLocks/>
          </p:cNvSpPr>
          <p:nvPr/>
        </p:nvSpPr>
        <p:spPr>
          <a:xfrm>
            <a:off x="253743" y="182023"/>
            <a:ext cx="7702602" cy="430255"/>
          </a:xfrm>
          <a:prstGeom prst="rect">
            <a:avLst/>
          </a:prstGeom>
        </p:spPr>
        <p:txBody>
          <a:bodyPr lIns="91440" tIns="45720" rIns="91440" bIns="45720" anchor="t">
            <a:noAutofit/>
          </a:bodyPr>
          <a:lstStyle>
            <a:lvl1pPr algn="l" defTabSz="914400" rtl="0" eaLnBrk="1" latinLnBrk="0" hangingPunct="1">
              <a:lnSpc>
                <a:spcPct val="90000"/>
              </a:lnSpc>
              <a:spcBef>
                <a:spcPct val="0"/>
              </a:spcBef>
              <a:buNone/>
              <a:defRPr sz="4400" b="1" i="0" kern="1200">
                <a:solidFill>
                  <a:schemeClr val="tx1"/>
                </a:solidFill>
                <a:latin typeface="AirIndia" pitchFamily="82" charset="77"/>
                <a:ea typeface="+mj-ea"/>
                <a:cs typeface="+mj-cs"/>
              </a:defRPr>
            </a:lvl1pPr>
          </a:lstStyle>
          <a:p>
            <a:pPr>
              <a:defRPr/>
            </a:pPr>
            <a:r>
              <a:rPr lang="en-US" sz="1800">
                <a:solidFill>
                  <a:srgbClr val="DA0E28"/>
                </a:solidFill>
                <a:latin typeface="AirIndia"/>
              </a:rPr>
              <a:t>PSS Tech-</a:t>
            </a:r>
            <a:r>
              <a:rPr kumimoji="0" lang="en-US" sz="1800" b="1" i="0" u="none" strike="noStrike" kern="1200" cap="none" spc="0" normalizeH="0" baseline="0" noProof="0">
                <a:ln>
                  <a:noFill/>
                </a:ln>
                <a:solidFill>
                  <a:srgbClr val="DA0E28"/>
                </a:solidFill>
                <a:effectLst/>
                <a:uLnTx/>
                <a:uFillTx/>
                <a:latin typeface="AirIndia"/>
                <a:ea typeface="+mj-ea"/>
                <a:cs typeface="+mj-cs"/>
              </a:rPr>
              <a:t> </a:t>
            </a:r>
            <a:r>
              <a:rPr lang="en-US" sz="1800">
                <a:solidFill>
                  <a:srgbClr val="DA0E28"/>
                </a:solidFill>
                <a:latin typeface="AirIndia"/>
              </a:rPr>
              <a:t>FY27</a:t>
            </a:r>
            <a:r>
              <a:rPr kumimoji="0" lang="en-US" sz="1800" b="1" i="0" u="none" strike="noStrike" kern="1200" cap="none" spc="0" normalizeH="0" baseline="0" noProof="0">
                <a:ln>
                  <a:noFill/>
                </a:ln>
                <a:solidFill>
                  <a:srgbClr val="DA0E28"/>
                </a:solidFill>
                <a:effectLst/>
                <a:uLnTx/>
                <a:uFillTx/>
                <a:latin typeface="AirIndia"/>
                <a:ea typeface="+mj-ea"/>
                <a:cs typeface="+mj-cs"/>
              </a:rPr>
              <a:t> Q2  Release Plan</a:t>
            </a:r>
            <a:endParaRPr lang="en-US" sz="1800" b="0" i="0" u="none" strike="noStrike" kern="1200" cap="none" spc="0" normalizeH="0" baseline="0" noProof="0">
              <a:ln>
                <a:noFill/>
              </a:ln>
              <a:solidFill>
                <a:srgbClr val="DA0E28"/>
              </a:solidFill>
              <a:effectLst/>
              <a:uLnTx/>
              <a:uFillTx/>
              <a:latin typeface="AirIndia"/>
            </a:endParaRPr>
          </a:p>
        </p:txBody>
      </p:sp>
      <p:sp>
        <p:nvSpPr>
          <p:cNvPr id="4" name="Rectangle 3">
            <a:extLst>
              <a:ext uri="{FF2B5EF4-FFF2-40B4-BE49-F238E27FC236}">
                <a16:creationId xmlns:a16="http://schemas.microsoft.com/office/drawing/2014/main" id="{4B4CFA95-4F43-6A63-8B83-9A41F0C62A8A}"/>
              </a:ext>
            </a:extLst>
          </p:cNvPr>
          <p:cNvSpPr/>
          <p:nvPr/>
        </p:nvSpPr>
        <p:spPr>
          <a:xfrm>
            <a:off x="1188132" y="6671592"/>
            <a:ext cx="90000" cy="90000"/>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5" name="Rectangle 4">
            <a:extLst>
              <a:ext uri="{FF2B5EF4-FFF2-40B4-BE49-F238E27FC236}">
                <a16:creationId xmlns:a16="http://schemas.microsoft.com/office/drawing/2014/main" id="{FFD0FEDB-05C1-4EC4-234B-B07AABC8BB9F}"/>
              </a:ext>
            </a:extLst>
          </p:cNvPr>
          <p:cNvSpPr/>
          <p:nvPr/>
        </p:nvSpPr>
        <p:spPr>
          <a:xfrm>
            <a:off x="2265818" y="6670554"/>
            <a:ext cx="90000" cy="90000"/>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7" name="Rectangle 6">
            <a:extLst>
              <a:ext uri="{FF2B5EF4-FFF2-40B4-BE49-F238E27FC236}">
                <a16:creationId xmlns:a16="http://schemas.microsoft.com/office/drawing/2014/main" id="{021C0C99-B309-0CA9-3E68-2832BAEC49B0}"/>
              </a:ext>
            </a:extLst>
          </p:cNvPr>
          <p:cNvSpPr/>
          <p:nvPr/>
        </p:nvSpPr>
        <p:spPr>
          <a:xfrm>
            <a:off x="3443423" y="6671592"/>
            <a:ext cx="90000" cy="90000"/>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8" name="Rectangle 7">
            <a:extLst>
              <a:ext uri="{FF2B5EF4-FFF2-40B4-BE49-F238E27FC236}">
                <a16:creationId xmlns:a16="http://schemas.microsoft.com/office/drawing/2014/main" id="{B812F337-2C8C-1E4B-0C83-F17ECB2DFF93}"/>
              </a:ext>
            </a:extLst>
          </p:cNvPr>
          <p:cNvSpPr/>
          <p:nvPr/>
        </p:nvSpPr>
        <p:spPr>
          <a:xfrm>
            <a:off x="8146052" y="6714097"/>
            <a:ext cx="90000" cy="90000"/>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9" name="TextBox 15">
            <a:extLst>
              <a:ext uri="{FF2B5EF4-FFF2-40B4-BE49-F238E27FC236}">
                <a16:creationId xmlns:a16="http://schemas.microsoft.com/office/drawing/2014/main" id="{A90866E8-4DA4-7C11-CBF8-053C71E1DD5E}"/>
              </a:ext>
            </a:extLst>
          </p:cNvPr>
          <p:cNvSpPr txBox="1"/>
          <p:nvPr/>
        </p:nvSpPr>
        <p:spPr>
          <a:xfrm>
            <a:off x="1288983" y="6614743"/>
            <a:ext cx="857245"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0070C0"/>
                </a:solidFill>
                <a:effectLst/>
                <a:uLnTx/>
                <a:uFillTx/>
                <a:latin typeface="Nunito Sans"/>
                <a:ea typeface="+mn-ea"/>
                <a:cs typeface="+mn-cs"/>
              </a:rPr>
              <a:t>Delivered</a:t>
            </a:r>
            <a:endParaRPr kumimoji="0" lang="en-IN" sz="1000" b="0" i="0" u="none" strike="noStrike" kern="1200" cap="none" spc="0" normalizeH="0" baseline="0" noProof="0">
              <a:ln>
                <a:noFill/>
              </a:ln>
              <a:solidFill>
                <a:srgbClr val="000000"/>
              </a:solidFill>
              <a:effectLst/>
              <a:uLnTx/>
              <a:uFillTx/>
              <a:latin typeface="Nunito Sans"/>
              <a:ea typeface="+mn-ea"/>
              <a:cs typeface="+mn-cs"/>
            </a:endParaRPr>
          </a:p>
        </p:txBody>
      </p:sp>
      <p:sp>
        <p:nvSpPr>
          <p:cNvPr id="10" name="TextBox 18">
            <a:extLst>
              <a:ext uri="{FF2B5EF4-FFF2-40B4-BE49-F238E27FC236}">
                <a16:creationId xmlns:a16="http://schemas.microsoft.com/office/drawing/2014/main" id="{B1B69F13-654B-747C-0894-ED4BE81175F3}"/>
              </a:ext>
            </a:extLst>
          </p:cNvPr>
          <p:cNvSpPr txBox="1"/>
          <p:nvPr/>
        </p:nvSpPr>
        <p:spPr>
          <a:xfrm>
            <a:off x="2310642" y="6611102"/>
            <a:ext cx="1032881"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00B050"/>
                </a:solidFill>
                <a:effectLst/>
                <a:uLnTx/>
                <a:uFillTx/>
                <a:latin typeface="Nunito Sans"/>
                <a:ea typeface="+mn-ea"/>
                <a:cs typeface="+mn-cs"/>
              </a:rPr>
              <a:t>Ontrack</a:t>
            </a:r>
            <a:endParaRPr kumimoji="0" lang="en-IN" sz="1000" b="0" i="0" u="none" strike="noStrike" kern="1200" cap="none" spc="0" normalizeH="0" baseline="0" noProof="0">
              <a:ln>
                <a:noFill/>
              </a:ln>
              <a:solidFill>
                <a:srgbClr val="000000"/>
              </a:solidFill>
              <a:effectLst/>
              <a:uLnTx/>
              <a:uFillTx/>
              <a:latin typeface="Nunito Sans"/>
              <a:ea typeface="+mn-ea"/>
              <a:cs typeface="+mn-cs"/>
            </a:endParaRPr>
          </a:p>
        </p:txBody>
      </p:sp>
      <p:sp>
        <p:nvSpPr>
          <p:cNvPr id="11" name="TextBox 20">
            <a:extLst>
              <a:ext uri="{FF2B5EF4-FFF2-40B4-BE49-F238E27FC236}">
                <a16:creationId xmlns:a16="http://schemas.microsoft.com/office/drawing/2014/main" id="{BF93B466-05EB-7C92-01BC-2356D8F5A86A}"/>
              </a:ext>
            </a:extLst>
          </p:cNvPr>
          <p:cNvSpPr txBox="1"/>
          <p:nvPr/>
        </p:nvSpPr>
        <p:spPr>
          <a:xfrm>
            <a:off x="3539606" y="6608370"/>
            <a:ext cx="2257628"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FED9A0">
                    <a:lumMod val="75000"/>
                  </a:srgbClr>
                </a:solidFill>
                <a:effectLst/>
                <a:uLnTx/>
                <a:uFillTx/>
                <a:latin typeface="Nunito Sans"/>
                <a:ea typeface="+mn-ea"/>
                <a:cs typeface="+mn-cs"/>
              </a:rPr>
              <a:t>Under delay and can be recovered</a:t>
            </a:r>
            <a:endParaRPr kumimoji="0" lang="en-IN" sz="1000" b="0" i="0" u="none" strike="noStrike" kern="1200" cap="none" spc="0" normalizeH="0" baseline="0" noProof="0">
              <a:ln>
                <a:noFill/>
              </a:ln>
              <a:solidFill>
                <a:srgbClr val="000000"/>
              </a:solidFill>
              <a:effectLst/>
              <a:uLnTx/>
              <a:uFillTx/>
              <a:latin typeface="Nunito Sans"/>
              <a:ea typeface="+mn-ea"/>
              <a:cs typeface="+mn-cs"/>
            </a:endParaRPr>
          </a:p>
        </p:txBody>
      </p:sp>
      <p:sp>
        <p:nvSpPr>
          <p:cNvPr id="13" name="TextBox 22">
            <a:extLst>
              <a:ext uri="{FF2B5EF4-FFF2-40B4-BE49-F238E27FC236}">
                <a16:creationId xmlns:a16="http://schemas.microsoft.com/office/drawing/2014/main" id="{F457831B-1B13-DCA8-BE57-8FF7B862218B}"/>
              </a:ext>
            </a:extLst>
          </p:cNvPr>
          <p:cNvSpPr txBox="1"/>
          <p:nvPr/>
        </p:nvSpPr>
        <p:spPr>
          <a:xfrm>
            <a:off x="8246937" y="6618126"/>
            <a:ext cx="2338222"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FF0000"/>
                </a:solidFill>
                <a:effectLst/>
                <a:uLnTx/>
                <a:uFillTx/>
                <a:latin typeface="Nunito Sans"/>
                <a:ea typeface="+mn-ea"/>
                <a:cs typeface="+mn-cs"/>
              </a:rPr>
              <a:t>Delayed and pushed to next release</a:t>
            </a:r>
          </a:p>
        </p:txBody>
      </p:sp>
      <p:sp>
        <p:nvSpPr>
          <p:cNvPr id="15" name="TextBox 14">
            <a:extLst>
              <a:ext uri="{FF2B5EF4-FFF2-40B4-BE49-F238E27FC236}">
                <a16:creationId xmlns:a16="http://schemas.microsoft.com/office/drawing/2014/main" id="{C950FF0C-B4F8-09D4-7D86-FC5D3FF16731}"/>
              </a:ext>
            </a:extLst>
          </p:cNvPr>
          <p:cNvSpPr txBox="1"/>
          <p:nvPr/>
        </p:nvSpPr>
        <p:spPr>
          <a:xfrm>
            <a:off x="6454369" y="6611638"/>
            <a:ext cx="2743200"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IN" sz="1000">
                <a:solidFill>
                  <a:srgbClr val="7D7D7D"/>
                </a:solidFill>
              </a:rPr>
              <a:t>Descoped</a:t>
            </a:r>
            <a:endParaRPr lang="en-US"/>
          </a:p>
        </p:txBody>
      </p:sp>
      <p:sp>
        <p:nvSpPr>
          <p:cNvPr id="16" name="Rectangle 15">
            <a:extLst>
              <a:ext uri="{FF2B5EF4-FFF2-40B4-BE49-F238E27FC236}">
                <a16:creationId xmlns:a16="http://schemas.microsoft.com/office/drawing/2014/main" id="{CC959D8F-2ED8-B7C3-DC67-54EE5C23CB33}"/>
              </a:ext>
            </a:extLst>
          </p:cNvPr>
          <p:cNvSpPr/>
          <p:nvPr/>
        </p:nvSpPr>
        <p:spPr>
          <a:xfrm>
            <a:off x="6360794" y="6681439"/>
            <a:ext cx="90000" cy="90000"/>
          </a:xfrm>
          <a:prstGeom prst="rect">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graphicFrame>
        <p:nvGraphicFramePr>
          <p:cNvPr id="12" name="Table 11">
            <a:extLst>
              <a:ext uri="{FF2B5EF4-FFF2-40B4-BE49-F238E27FC236}">
                <a16:creationId xmlns:a16="http://schemas.microsoft.com/office/drawing/2014/main" id="{70C18AB5-06F4-9E2E-0B7D-FC5AE6C5DE6A}"/>
              </a:ext>
            </a:extLst>
          </p:cNvPr>
          <p:cNvGraphicFramePr>
            <a:graphicFrameLocks noGrp="1"/>
          </p:cNvGraphicFramePr>
          <p:nvPr/>
        </p:nvGraphicFramePr>
        <p:xfrm>
          <a:off x="1278132" y="618766"/>
          <a:ext cx="10248365" cy="4895769"/>
        </p:xfrm>
        <a:graphic>
          <a:graphicData uri="http://schemas.openxmlformats.org/drawingml/2006/table">
            <a:tbl>
              <a:tblPr>
                <a:tableStyleId>{5C22544A-7EE6-4342-B048-85BDC9FD1C3A}</a:tableStyleId>
              </a:tblPr>
              <a:tblGrid>
                <a:gridCol w="1005629">
                  <a:extLst>
                    <a:ext uri="{9D8B030D-6E8A-4147-A177-3AD203B41FA5}">
                      <a16:colId xmlns:a16="http://schemas.microsoft.com/office/drawing/2014/main" val="285479481"/>
                    </a:ext>
                  </a:extLst>
                </a:gridCol>
                <a:gridCol w="1647995">
                  <a:extLst>
                    <a:ext uri="{9D8B030D-6E8A-4147-A177-3AD203B41FA5}">
                      <a16:colId xmlns:a16="http://schemas.microsoft.com/office/drawing/2014/main" val="1879503682"/>
                    </a:ext>
                  </a:extLst>
                </a:gridCol>
                <a:gridCol w="5249017">
                  <a:extLst>
                    <a:ext uri="{9D8B030D-6E8A-4147-A177-3AD203B41FA5}">
                      <a16:colId xmlns:a16="http://schemas.microsoft.com/office/drawing/2014/main" val="1434635918"/>
                    </a:ext>
                  </a:extLst>
                </a:gridCol>
                <a:gridCol w="1257300">
                  <a:extLst>
                    <a:ext uri="{9D8B030D-6E8A-4147-A177-3AD203B41FA5}">
                      <a16:colId xmlns:a16="http://schemas.microsoft.com/office/drawing/2014/main" val="3462311567"/>
                    </a:ext>
                  </a:extLst>
                </a:gridCol>
                <a:gridCol w="1088424">
                  <a:extLst>
                    <a:ext uri="{9D8B030D-6E8A-4147-A177-3AD203B41FA5}">
                      <a16:colId xmlns:a16="http://schemas.microsoft.com/office/drawing/2014/main" val="1373167306"/>
                    </a:ext>
                  </a:extLst>
                </a:gridCol>
              </a:tblGrid>
              <a:tr h="443552">
                <a:tc>
                  <a:txBody>
                    <a:bodyPr/>
                    <a:lstStyle/>
                    <a:p>
                      <a:pPr marL="0" lvl="0" indent="0" algn="ctr" defTabSz="914400" rtl="0" eaLnBrk="1" fontAlgn="ctr" latinLnBrk="0" hangingPunct="1">
                        <a:lnSpc>
                          <a:spcPct val="100000"/>
                        </a:lnSpc>
                        <a:buFont typeface="Arial" panose="020B0604020202020204" pitchFamily="34" charset="0"/>
                        <a:buNone/>
                      </a:pPr>
                      <a:r>
                        <a:rPr lang="en-IN" sz="1100" b="1" i="0" kern="1200">
                          <a:solidFill>
                            <a:schemeClr val="bg1"/>
                          </a:solidFill>
                          <a:highlight>
                            <a:srgbClr val="751972"/>
                          </a:highlight>
                          <a:latin typeface="Nunito Sans"/>
                          <a:ea typeface="+mn-ea"/>
                          <a:cs typeface="+mn-cs"/>
                        </a:rPr>
                        <a:t>LOB​</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51972"/>
                    </a:solidFill>
                  </a:tcPr>
                </a:tc>
                <a:tc>
                  <a:txBody>
                    <a:bodyPr/>
                    <a:lstStyle/>
                    <a:p>
                      <a:pPr marL="0" lvl="0" indent="0" algn="ctr" defTabSz="914400" rtl="0" eaLnBrk="1" fontAlgn="ctr" latinLnBrk="0" hangingPunct="1">
                        <a:lnSpc>
                          <a:spcPct val="100000"/>
                        </a:lnSpc>
                        <a:buFont typeface="Arial" panose="020B0604020202020204" pitchFamily="34" charset="0"/>
                        <a:buNone/>
                      </a:pPr>
                      <a:r>
                        <a:rPr lang="en-IN" sz="1100" b="1" i="0" kern="1200">
                          <a:solidFill>
                            <a:schemeClr val="bg1"/>
                          </a:solidFill>
                          <a:highlight>
                            <a:srgbClr val="751972"/>
                          </a:highlight>
                          <a:latin typeface="Nunito Sans"/>
                          <a:ea typeface="+mn-ea"/>
                          <a:cs typeface="+mn-cs"/>
                        </a:rPr>
                        <a:t>Initiatives​</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51972"/>
                    </a:solidFill>
                  </a:tcPr>
                </a:tc>
                <a:tc>
                  <a:txBody>
                    <a:bodyPr/>
                    <a:lstStyle/>
                    <a:p>
                      <a:pPr marL="0" lvl="0" indent="0" algn="ctr" defTabSz="914400" rtl="0" eaLnBrk="1" fontAlgn="ctr" latinLnBrk="0" hangingPunct="1">
                        <a:lnSpc>
                          <a:spcPct val="100000"/>
                        </a:lnSpc>
                        <a:buFont typeface="Arial" panose="020B0604020202020204" pitchFamily="34" charset="0"/>
                        <a:buNone/>
                      </a:pPr>
                      <a:r>
                        <a:rPr lang="en-IN" sz="1100" b="1" i="0" kern="1200">
                          <a:solidFill>
                            <a:schemeClr val="bg1"/>
                          </a:solidFill>
                          <a:highlight>
                            <a:srgbClr val="751972"/>
                          </a:highlight>
                          <a:latin typeface="Nunito Sans"/>
                          <a:ea typeface="+mn-ea"/>
                          <a:cs typeface="+mn-cs"/>
                        </a:rPr>
                        <a:t>Value Justification/Realization​</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51972"/>
                    </a:solidFill>
                  </a:tcPr>
                </a:tc>
                <a:tc>
                  <a:txBody>
                    <a:bodyPr/>
                    <a:lstStyle/>
                    <a:p>
                      <a:pPr marL="0" lvl="0" indent="0" algn="ctr" defTabSz="914400" rtl="0" eaLnBrk="1" latinLnBrk="0" hangingPunct="1">
                        <a:lnSpc>
                          <a:spcPct val="100000"/>
                        </a:lnSpc>
                        <a:buFont typeface="Arial" panose="020B0604020202020204" pitchFamily="34" charset="0"/>
                        <a:buNone/>
                      </a:pPr>
                      <a:r>
                        <a:rPr lang="en-US" sz="1100" b="1" i="0" kern="1200">
                          <a:solidFill>
                            <a:schemeClr val="bg1"/>
                          </a:solidFill>
                          <a:highlight>
                            <a:srgbClr val="751972"/>
                          </a:highlight>
                          <a:latin typeface="Nunito Sans"/>
                          <a:ea typeface="+mn-ea"/>
                          <a:cs typeface="+mn-cs"/>
                        </a:rPr>
                        <a:t>Planned Go-live Date​ </a:t>
                      </a:r>
                      <a:endParaRPr lang="en-IN" sz="1100" b="1" i="0" kern="1200">
                        <a:solidFill>
                          <a:schemeClr val="bg1"/>
                        </a:solidFill>
                        <a:highlight>
                          <a:srgbClr val="751972"/>
                        </a:highlight>
                        <a:latin typeface="Nunito Sans"/>
                        <a:ea typeface="+mn-ea"/>
                        <a:cs typeface="+mn-cs"/>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51972"/>
                    </a:solidFill>
                  </a:tcPr>
                </a:tc>
                <a:tc>
                  <a:txBody>
                    <a:bodyPr/>
                    <a:lstStyle/>
                    <a:p>
                      <a:pPr marL="0" lvl="0" indent="0" algn="ctr" defTabSz="914400" rtl="0" eaLnBrk="1" latinLnBrk="0" hangingPunct="1">
                        <a:lnSpc>
                          <a:spcPct val="100000"/>
                        </a:lnSpc>
                        <a:buFont typeface="Arial" panose="020B0604020202020204" pitchFamily="34" charset="0"/>
                        <a:buNone/>
                      </a:pPr>
                      <a:r>
                        <a:rPr lang="en-IN" sz="1100" b="1" i="0" kern="1200">
                          <a:solidFill>
                            <a:schemeClr val="bg1"/>
                          </a:solidFill>
                          <a:latin typeface="+mn-lt"/>
                          <a:ea typeface="+mn-ea"/>
                          <a:cs typeface="+mn-cs"/>
                        </a:rPr>
                        <a:t>EIP Integration Required (Yes/No)</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51972"/>
                    </a:solidFill>
                  </a:tcPr>
                </a:tc>
                <a:extLst>
                  <a:ext uri="{0D108BD9-81ED-4DB2-BD59-A6C34878D82A}">
                    <a16:rowId xmlns:a16="http://schemas.microsoft.com/office/drawing/2014/main" val="653747167"/>
                  </a:ext>
                </a:extLst>
              </a:tr>
              <a:tr h="834072">
                <a:tc>
                  <a:txBody>
                    <a:bodyPr/>
                    <a:lstStyle/>
                    <a:p>
                      <a:pPr algn="ctr" fontAlgn="ctr">
                        <a:buNone/>
                      </a:pPr>
                      <a:r>
                        <a:rPr lang="en-IN" sz="1100" i="0" u="none" strike="noStrike" kern="1200">
                          <a:solidFill>
                            <a:srgbClr val="05B050"/>
                          </a:solidFill>
                          <a:effectLst/>
                          <a:latin typeface="Nunito Sans"/>
                          <a:ea typeface="+mn-ea"/>
                          <a:cs typeface="Arial"/>
                        </a:rPr>
                        <a:t>Group projects</a:t>
                      </a:r>
                    </a:p>
                  </a:txBody>
                  <a:tcPr marL="6350" marR="6350" marT="6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buNone/>
                      </a:pPr>
                      <a:r>
                        <a:rPr lang="fr-FR" sz="1100" i="0" u="none" strike="noStrike">
                          <a:solidFill>
                            <a:srgbClr val="05B050"/>
                          </a:solidFill>
                          <a:effectLst/>
                          <a:latin typeface="Nunito Sans"/>
                          <a:cs typeface="Arial"/>
                        </a:rPr>
                        <a:t>IX ET issuance on Sabre GDS</a:t>
                      </a:r>
                      <a:endParaRPr lang="en-US" sz="1100" b="0" i="0" u="none" strike="noStrike">
                        <a:solidFill>
                          <a:srgbClr val="05B050"/>
                        </a:solidFill>
                        <a:effectLst/>
                        <a:latin typeface="Nunito Sans"/>
                        <a:cs typeface="Arial"/>
                      </a:endParaRPr>
                    </a:p>
                  </a:txBody>
                  <a:tcPr marL="6350" marR="6350" marT="6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t">
                        <a:buNone/>
                      </a:pPr>
                      <a:r>
                        <a:rPr lang="en-US" sz="1100" i="0" u="none" strike="noStrike">
                          <a:solidFill>
                            <a:srgbClr val="05B050"/>
                          </a:solidFill>
                          <a:effectLst/>
                          <a:latin typeface="Nunito Sans"/>
                          <a:cs typeface="Arial"/>
                        </a:rPr>
                        <a:t>Assisting IX teams for setting up GDS system rules/behaviors. </a:t>
                      </a:r>
                      <a:endParaRPr lang="en-US" sz="1100" b="0" i="0" u="none" strike="noStrike">
                        <a:solidFill>
                          <a:srgbClr val="05B050"/>
                        </a:solidFill>
                        <a:effectLst/>
                        <a:latin typeface="Nunito Sans"/>
                        <a:cs typeface="Arial"/>
                      </a:endParaRPr>
                    </a:p>
                  </a:txBody>
                  <a:tcPr marL="6350" marR="6350" marT="6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buNone/>
                      </a:pPr>
                      <a:r>
                        <a:rPr lang="en-IN" sz="1100" i="0" u="none" strike="noStrike">
                          <a:solidFill>
                            <a:schemeClr val="tx1"/>
                          </a:solidFill>
                          <a:effectLst/>
                          <a:latin typeface="Nunito Sans"/>
                          <a:cs typeface="Arial"/>
                        </a:rPr>
                        <a:t>7-Aug-2026</a:t>
                      </a:r>
                      <a:endParaRPr lang="en-IN" sz="1100" b="0" i="0" u="none" strike="noStrike">
                        <a:solidFill>
                          <a:schemeClr val="tx1"/>
                        </a:solidFill>
                        <a:effectLst/>
                        <a:latin typeface="Nunito Sans"/>
                        <a:cs typeface="Arial"/>
                      </a:endParaRPr>
                    </a:p>
                  </a:txBody>
                  <a:tcPr marL="6350" marR="6350" marT="6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buNone/>
                      </a:pPr>
                      <a:r>
                        <a:rPr lang="en-IN" sz="1100" b="0" i="0" u="none" strike="noStrike">
                          <a:solidFill>
                            <a:schemeClr val="tx1"/>
                          </a:solidFill>
                          <a:effectLst/>
                          <a:latin typeface="Nunito Sans"/>
                          <a:cs typeface="Arial"/>
                        </a:rPr>
                        <a:t>No</a:t>
                      </a:r>
                    </a:p>
                  </a:txBody>
                  <a:tcPr marL="6350" marR="6350" marT="6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23850100"/>
                  </a:ext>
                </a:extLst>
              </a:tr>
              <a:tr h="1089850">
                <a:tc>
                  <a:txBody>
                    <a:bodyPr/>
                    <a:lstStyle/>
                    <a:p>
                      <a:pPr algn="ctr" fontAlgn="ctr">
                        <a:buNone/>
                      </a:pPr>
                      <a:r>
                        <a:rPr lang="en-US" sz="1100" i="0" u="none" strike="noStrike" kern="1200">
                          <a:solidFill>
                            <a:srgbClr val="05B050"/>
                          </a:solidFill>
                          <a:effectLst/>
                          <a:latin typeface="Nunito Sans"/>
                          <a:ea typeface="+mn-ea"/>
                          <a:cs typeface="Arial"/>
                        </a:rPr>
                        <a:t>E-Comm​</a:t>
                      </a:r>
                    </a:p>
                  </a:txBody>
                  <a:tcPr marL="6350" marR="6350" marT="6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buNone/>
                      </a:pPr>
                      <a:r>
                        <a:rPr lang="en-US" sz="1100" i="0" u="none" strike="noStrike">
                          <a:solidFill>
                            <a:srgbClr val="05B050"/>
                          </a:solidFill>
                          <a:effectLst/>
                          <a:latin typeface="Nunito Sans"/>
                          <a:cs typeface="Arial"/>
                        </a:rPr>
                        <a:t>Buy Now Pay Later – Phase 2</a:t>
                      </a:r>
                      <a:endParaRPr lang="en-US" sz="1100" b="1" i="0" u="none" strike="noStrike">
                        <a:solidFill>
                          <a:srgbClr val="05B050"/>
                        </a:solidFill>
                        <a:effectLst/>
                        <a:latin typeface="Nunito Sans"/>
                        <a:cs typeface="Arial"/>
                      </a:endParaRPr>
                    </a:p>
                  </a:txBody>
                  <a:tcPr marL="6350" marR="6350" marT="6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buNone/>
                      </a:pPr>
                      <a:r>
                        <a:rPr lang="en-US" sz="1100" i="0" u="none" strike="noStrike">
                          <a:solidFill>
                            <a:srgbClr val="05B050"/>
                          </a:solidFill>
                          <a:effectLst/>
                          <a:latin typeface="Nunito Sans"/>
                          <a:cs typeface="Arial"/>
                        </a:rPr>
                        <a:t>Project to provide option to customers to block flights/issue tickets before few days of travel only by tweaking the existing Time to Think logic at the back end. Initial solutioning ​provided in June'26. Phase 2 contains knitting the solution together with various stakeholders for testing/implementation. Scoping finalized.</a:t>
                      </a:r>
                    </a:p>
                  </a:txBody>
                  <a:tcPr marL="6350" marR="6350" marT="6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en-IN" sz="1100" i="0">
                          <a:solidFill>
                            <a:schemeClr val="tx1"/>
                          </a:solidFill>
                          <a:latin typeface="Nunito Sans"/>
                          <a:cs typeface="Arial"/>
                        </a:rPr>
                        <a:t>24-Aug-2026</a:t>
                      </a:r>
                    </a:p>
                  </a:txBody>
                  <a:tcPr marL="6350" marR="6350" marT="6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b" latinLnBrk="0" hangingPunct="1">
                        <a:buNone/>
                      </a:pPr>
                      <a:r>
                        <a:rPr lang="en-IN" sz="1100" b="0" i="0" u="none" strike="noStrike" kern="1200">
                          <a:solidFill>
                            <a:schemeClr val="tx1"/>
                          </a:solidFill>
                          <a:effectLst/>
                          <a:latin typeface="Nunito Sans"/>
                          <a:ea typeface="+mn-ea"/>
                          <a:cs typeface="Arial"/>
                        </a:rPr>
                        <a:t>No</a:t>
                      </a:r>
                    </a:p>
                  </a:txBody>
                  <a:tcPr marL="6350" marR="6350" marT="6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01959575"/>
                  </a:ext>
                </a:extLst>
              </a:tr>
              <a:tr h="208656">
                <a:tc>
                  <a:txBody>
                    <a:bodyPr/>
                    <a:lstStyle/>
                    <a:p>
                      <a:pPr algn="ctr" fontAlgn="ctr">
                        <a:buNone/>
                      </a:pPr>
                      <a:r>
                        <a:rPr lang="en-IN" sz="1100" i="0" u="none" strike="noStrike" kern="1200">
                          <a:solidFill>
                            <a:srgbClr val="05B050"/>
                          </a:solidFill>
                          <a:effectLst/>
                          <a:latin typeface="Nunito Sans"/>
                          <a:ea typeface="+mn-ea"/>
                          <a:cs typeface="Arial"/>
                        </a:rPr>
                        <a:t>Customer Experience</a:t>
                      </a:r>
                    </a:p>
                  </a:txBody>
                  <a:tcPr marL="6350" marR="6350" marT="6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buNone/>
                      </a:pPr>
                      <a:r>
                        <a:rPr lang="en-US" sz="1100" b="0" i="0" u="none" strike="noStrike">
                          <a:solidFill>
                            <a:srgbClr val="05B050"/>
                          </a:solidFill>
                          <a:effectLst/>
                          <a:latin typeface="Nunito Sans"/>
                          <a:cs typeface="Arial"/>
                        </a:rPr>
                        <a:t>Tax filing for Upgrade service</a:t>
                      </a:r>
                    </a:p>
                  </a:txBody>
                  <a:tcPr marL="6350" marR="6350" marT="6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t">
                        <a:buNone/>
                      </a:pPr>
                      <a:r>
                        <a:rPr lang="en-US" sz="1100" i="0" u="none" strike="noStrike" kern="1200">
                          <a:solidFill>
                            <a:srgbClr val="05B050"/>
                          </a:solidFill>
                          <a:effectLst/>
                          <a:latin typeface="Nunito Sans"/>
                          <a:ea typeface="+mn-ea"/>
                          <a:cs typeface="Arial"/>
                        </a:rPr>
                        <a:t>Review, fill, validate and file tax obligations for Upgrade services performed at countries like UK, France, Hongkong, Mauritius etc. for airport upgrade services</a:t>
                      </a:r>
                    </a:p>
                    <a:p>
                      <a:pPr algn="l" fontAlgn="t">
                        <a:buNone/>
                      </a:pPr>
                      <a:r>
                        <a:rPr lang="en-US" sz="1100" i="0" u="none" strike="noStrike" kern="1200">
                          <a:solidFill>
                            <a:srgbClr val="05B050"/>
                          </a:solidFill>
                          <a:effectLst/>
                          <a:latin typeface="Nunito Sans"/>
                          <a:ea typeface="+mn-ea"/>
                          <a:cs typeface="Arial"/>
                        </a:rPr>
                        <a:t>To ensure revenue accuracy and eliminate tax leakage (occurring currently). Appx. tax leakage of INR 4-5 Crore per year expected to be curtailed/saved via this filing for UK market only.</a:t>
                      </a:r>
                    </a:p>
                  </a:txBody>
                  <a:tcPr marL="6350" marR="6350" marT="6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b">
                        <a:buNone/>
                      </a:pPr>
                      <a:r>
                        <a:rPr lang="en-IN" sz="1100" b="0" i="0" u="none" strike="noStrike">
                          <a:solidFill>
                            <a:schemeClr val="tx1"/>
                          </a:solidFill>
                          <a:effectLst/>
                          <a:latin typeface="Nunito Sans"/>
                          <a:cs typeface="Arial"/>
                        </a:rPr>
                        <a:t>24-Aug-2026</a:t>
                      </a:r>
                    </a:p>
                  </a:txBody>
                  <a:tcPr marL="6350" marR="6350" marT="6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fontAlgn="b" latinLnBrk="0" hangingPunct="1">
                        <a:buNone/>
                      </a:pPr>
                      <a:r>
                        <a:rPr lang="en-IN" sz="1100" b="0" i="0" u="none" strike="noStrike" kern="1200">
                          <a:solidFill>
                            <a:schemeClr val="tx1"/>
                          </a:solidFill>
                          <a:effectLst/>
                          <a:latin typeface="Nunito Sans"/>
                          <a:ea typeface="+mn-ea"/>
                          <a:cs typeface="Arial"/>
                        </a:rPr>
                        <a:t>No</a:t>
                      </a:r>
                    </a:p>
                  </a:txBody>
                  <a:tcPr marL="6350" marR="6350" marT="6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37660858"/>
                  </a:ext>
                </a:extLst>
              </a:tr>
              <a:tr h="760401">
                <a:tc>
                  <a:txBody>
                    <a:bodyPr/>
                    <a:lstStyle/>
                    <a:p>
                      <a:pPr algn="ctr" fontAlgn="ctr">
                        <a:buNone/>
                      </a:pPr>
                      <a:r>
                        <a:rPr lang="en-IN" sz="1100" i="0" u="none" strike="noStrike" kern="1200">
                          <a:solidFill>
                            <a:srgbClr val="05B050"/>
                          </a:solidFill>
                          <a:effectLst/>
                          <a:latin typeface="Nunito Sans"/>
                          <a:ea typeface="+mn-ea"/>
                          <a:cs typeface="Arial"/>
                        </a:rPr>
                        <a:t>RM</a:t>
                      </a:r>
                    </a:p>
                  </a:txBody>
                  <a:tcPr marL="6350" marR="6350" marT="6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b">
                        <a:buNone/>
                      </a:pPr>
                      <a:r>
                        <a:rPr lang="en-US" sz="1100" b="0" i="0" u="none" strike="noStrike">
                          <a:solidFill>
                            <a:srgbClr val="05B050"/>
                          </a:solidFill>
                          <a:effectLst/>
                          <a:latin typeface="Nunito Sans"/>
                        </a:rPr>
                        <a:t>Option town integration for Flight Pass</a:t>
                      </a:r>
                    </a:p>
                  </a:txBody>
                  <a:tcPr marL="6350" marR="6350" marT="6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vl="0" algn="l">
                        <a:buNone/>
                      </a:pPr>
                      <a:r>
                        <a:rPr lang="en-US" sz="1100" b="0" i="0" u="none" strike="noStrike" noProof="0">
                          <a:solidFill>
                            <a:srgbClr val="00B050"/>
                          </a:solidFill>
                          <a:effectLst/>
                          <a:latin typeface="Nunito Sans"/>
                        </a:rPr>
                        <a:t>Flight pass solution where the flight pass can be purchased and later redeemed during booking. Under review/testing/</a:t>
                      </a:r>
                      <a:r>
                        <a:rPr lang="en-US" sz="1100" b="0" i="0" u="none" strike="noStrike">
                          <a:solidFill>
                            <a:srgbClr val="05B050"/>
                          </a:solidFill>
                          <a:effectLst/>
                          <a:latin typeface="Nunito Sans"/>
                        </a:rPr>
                        <a:t>CAB approval also.</a:t>
                      </a:r>
                    </a:p>
                  </a:txBody>
                  <a:tcPr marL="6350" marR="6350" marT="6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vl="0" algn="ctr">
                        <a:buNone/>
                      </a:pPr>
                      <a:r>
                        <a:rPr lang="en-IN" sz="1100" b="0" i="0" u="none" strike="noStrike" noProof="0">
                          <a:solidFill>
                            <a:schemeClr val="tx1"/>
                          </a:solidFill>
                          <a:effectLst/>
                          <a:latin typeface="Nunito Sans"/>
                        </a:rPr>
                        <a:t>24-Aug-2026</a:t>
                      </a:r>
                      <a:endParaRPr lang="en-US"/>
                    </a:p>
                  </a:txBody>
                  <a:tcPr marL="6350" marR="6350" marT="6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lvl="0" algn="ctr" defTabSz="914400" rtl="0" eaLnBrk="1" fontAlgn="b" latinLnBrk="0" hangingPunct="1">
                        <a:buNone/>
                      </a:pPr>
                      <a:r>
                        <a:rPr lang="en-US" sz="1100" b="0" i="0" u="none" strike="noStrike" kern="1200">
                          <a:solidFill>
                            <a:schemeClr val="tx1"/>
                          </a:solidFill>
                          <a:effectLst/>
                          <a:latin typeface="Nunito Sans"/>
                          <a:ea typeface="+mn-ea"/>
                          <a:cs typeface="Arial"/>
                        </a:rPr>
                        <a:t>No</a:t>
                      </a:r>
                    </a:p>
                  </a:txBody>
                  <a:tcPr marL="6350" marR="6350" marT="6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62144235"/>
                  </a:ext>
                </a:extLst>
              </a:tr>
              <a:tr h="811906">
                <a:tc>
                  <a:txBody>
                    <a:bodyPr/>
                    <a:lstStyle/>
                    <a:p>
                      <a:pPr algn="ctr" fontAlgn="ctr">
                        <a:buNone/>
                      </a:pPr>
                      <a:r>
                        <a:rPr lang="en-IN" sz="1100" i="0" u="none" strike="noStrike" kern="1200">
                          <a:solidFill>
                            <a:srgbClr val="05B050"/>
                          </a:solidFill>
                          <a:effectLst/>
                          <a:latin typeface="Nunito Sans"/>
                          <a:ea typeface="+mn-ea"/>
                          <a:cs typeface="Arial"/>
                        </a:rPr>
                        <a:t>Finance/</a:t>
                      </a:r>
                    </a:p>
                    <a:p>
                      <a:pPr algn="ctr" fontAlgn="ctr">
                        <a:buNone/>
                      </a:pPr>
                      <a:r>
                        <a:rPr lang="en-IN" sz="1100" i="0" u="none" strike="noStrike" kern="1200">
                          <a:solidFill>
                            <a:srgbClr val="05B050"/>
                          </a:solidFill>
                          <a:effectLst/>
                          <a:latin typeface="Nunito Sans"/>
                          <a:ea typeface="+mn-ea"/>
                          <a:cs typeface="Arial"/>
                        </a:rPr>
                        <a:t>Distribution</a:t>
                      </a:r>
                    </a:p>
                    <a:p>
                      <a:endParaRPr lang="en-IN" sz="1100" i="0" u="none" strike="noStrike" kern="1200">
                        <a:solidFill>
                          <a:srgbClr val="05B050"/>
                        </a:solidFill>
                        <a:effectLst/>
                        <a:latin typeface="Nunito Sans"/>
                        <a:ea typeface="+mn-ea"/>
                        <a:cs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100" b="0" i="0" u="none" strike="noStrike" kern="1200">
                          <a:solidFill>
                            <a:srgbClr val="05B050"/>
                          </a:solidFill>
                          <a:effectLst/>
                          <a:latin typeface="Nunito Sans"/>
                          <a:ea typeface="+mn-ea"/>
                          <a:cs typeface="+mn-cs"/>
                        </a:rPr>
                        <a:t>Agent Portal Card Surcharge Collection</a:t>
                      </a:r>
                    </a:p>
                  </a:txBody>
                  <a:tcPr marL="6350" marR="6350" marT="6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vl="0" algn="l">
                        <a:buNone/>
                      </a:pPr>
                      <a:r>
                        <a:rPr lang="en-US" sz="1100" b="0" i="0" u="none" strike="noStrike" kern="1200">
                          <a:solidFill>
                            <a:srgbClr val="05B050"/>
                          </a:solidFill>
                          <a:effectLst/>
                          <a:latin typeface="Nunito Sans"/>
                          <a:ea typeface="+mn-ea"/>
                          <a:cs typeface="+mn-cs"/>
                        </a:rPr>
                        <a:t>This solution is to handle Surcharge for Card payment made in NDC Agent Portal. In addition to Card Surcharge, it provides solution to handle GST Invoice collected for Card Surcharges. Approx. monthly savings of 5L.</a:t>
                      </a:r>
                    </a:p>
                  </a:txBody>
                  <a:tcPr marL="6350" marR="6350" marT="6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lvl="0" algn="ctr" defTabSz="914400" rtl="0" eaLnBrk="1" latinLnBrk="0" hangingPunct="1">
                        <a:buNone/>
                      </a:pPr>
                      <a:r>
                        <a:rPr lang="en-IN" sz="1100" b="0" i="0" u="none" strike="noStrike" kern="1200" noProof="0">
                          <a:solidFill>
                            <a:schemeClr val="tx1"/>
                          </a:solidFill>
                          <a:effectLst/>
                          <a:latin typeface="Nunito Sans"/>
                          <a:ea typeface="+mn-ea"/>
                          <a:cs typeface="+mn-cs"/>
                        </a:rPr>
                        <a:t>25-Aug-2026</a:t>
                      </a:r>
                      <a:endParaRPr lang="en-US" sz="1100" b="0" i="0" u="none" strike="noStrike" kern="1200">
                        <a:solidFill>
                          <a:schemeClr val="tx1"/>
                        </a:solidFill>
                        <a:effectLst/>
                        <a:latin typeface="Nunito Sans"/>
                        <a:ea typeface="+mn-ea"/>
                        <a:cs typeface="+mn-cs"/>
                      </a:endParaRPr>
                    </a:p>
                  </a:txBody>
                  <a:tcPr marL="6350" marR="6350" marT="6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lvl="0" algn="ctr" defTabSz="914400" rtl="0" eaLnBrk="1" fontAlgn="b" latinLnBrk="0" hangingPunct="1">
                        <a:buNone/>
                      </a:pPr>
                      <a:r>
                        <a:rPr lang="en-US" sz="1100" b="0" i="0" u="none" strike="noStrike" kern="1200">
                          <a:solidFill>
                            <a:schemeClr val="tx1"/>
                          </a:solidFill>
                          <a:effectLst/>
                          <a:latin typeface="Nunito Sans"/>
                          <a:ea typeface="+mn-ea"/>
                          <a:cs typeface="Arial"/>
                        </a:rPr>
                        <a:t>No</a:t>
                      </a:r>
                    </a:p>
                  </a:txBody>
                  <a:tcPr marL="6350" marR="6350" marT="6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93526480"/>
                  </a:ext>
                </a:extLst>
              </a:tr>
            </a:tbl>
          </a:graphicData>
        </a:graphic>
      </p:graphicFrame>
    </p:spTree>
    <p:extLst>
      <p:ext uri="{BB962C8B-B14F-4D97-AF65-F5344CB8AC3E}">
        <p14:creationId xmlns:p14="http://schemas.microsoft.com/office/powerpoint/2010/main" val="214420051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688AC0-6146-A64B-D3A8-9A25676077B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A72C56D-2774-C0E3-E0BE-73437BC24CA2}"/>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3A41A254-7326-714E-AF55-4C213D6394DE}" type="slidenum">
              <a:rPr kumimoji="0" lang="en-US" sz="1200" b="0" i="0" u="none" strike="noStrike" kern="1200" cap="none" spc="0" normalizeH="0" baseline="0" noProof="0" smtClean="0">
                <a:ln>
                  <a:noFill/>
                </a:ln>
                <a:solidFill>
                  <a:srgbClr val="DA0E28"/>
                </a:solidFill>
                <a:effectLst/>
                <a:uLnTx/>
                <a:uFillTx/>
                <a:latin typeface="Nunito Sans"/>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46</a:t>
            </a:fld>
            <a:endParaRPr kumimoji="0" lang="en-US" sz="1200" b="0" i="0" u="none" strike="noStrike" kern="1200" cap="none" spc="0" normalizeH="0" baseline="0" noProof="0">
              <a:ln>
                <a:noFill/>
              </a:ln>
              <a:solidFill>
                <a:srgbClr val="DA0E28"/>
              </a:solidFill>
              <a:effectLst/>
              <a:uLnTx/>
              <a:uFillTx/>
              <a:latin typeface="Nunito Sans"/>
              <a:ea typeface="+mn-ea"/>
              <a:cs typeface="+mn-cs"/>
            </a:endParaRPr>
          </a:p>
        </p:txBody>
      </p:sp>
      <p:sp>
        <p:nvSpPr>
          <p:cNvPr id="3" name="Rectangle 2">
            <a:extLst>
              <a:ext uri="{FF2B5EF4-FFF2-40B4-BE49-F238E27FC236}">
                <a16:creationId xmlns:a16="http://schemas.microsoft.com/office/drawing/2014/main" id="{78C51927-BEF6-F000-7A54-1B05DD4DB5AC}"/>
              </a:ext>
            </a:extLst>
          </p:cNvPr>
          <p:cNvSpPr/>
          <p:nvPr/>
        </p:nvSpPr>
        <p:spPr>
          <a:xfrm>
            <a:off x="10015" y="610471"/>
            <a:ext cx="1289494" cy="422347"/>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400" b="1">
                <a:solidFill>
                  <a:srgbClr val="FFFFFF"/>
                </a:solidFill>
                <a:latin typeface="AirIndia"/>
              </a:rPr>
              <a:t>Sep</a:t>
            </a:r>
            <a:r>
              <a:rPr kumimoji="0" lang="en-IN" sz="1400" b="1" i="0" u="none" strike="noStrike" kern="1200" cap="none" spc="0" normalizeH="0" baseline="0" noProof="0">
                <a:ln>
                  <a:noFill/>
                </a:ln>
                <a:solidFill>
                  <a:srgbClr val="FFFFFF"/>
                </a:solidFill>
                <a:effectLst/>
                <a:uLnTx/>
                <a:uFillTx/>
                <a:latin typeface="AirIndia"/>
                <a:ea typeface="+mn-ea"/>
                <a:cs typeface="+mn-cs"/>
              </a:rPr>
              <a:t>‘</a:t>
            </a:r>
            <a:r>
              <a:rPr lang="en-IN" sz="1400" b="1">
                <a:solidFill>
                  <a:srgbClr val="FFFFFF"/>
                </a:solidFill>
                <a:latin typeface="AirIndia"/>
              </a:rPr>
              <a:t>26</a:t>
            </a:r>
            <a:endParaRPr kumimoji="0" lang="en-US" sz="1400" b="1" i="0" u="none" strike="noStrike" kern="1200" cap="none" spc="0" normalizeH="0" baseline="0" noProof="0">
              <a:ln>
                <a:noFill/>
              </a:ln>
              <a:solidFill>
                <a:srgbClr val="FFFFFF"/>
              </a:solidFill>
              <a:effectLst/>
              <a:uLnTx/>
              <a:uFillTx/>
              <a:latin typeface="AirIndia"/>
              <a:ea typeface="+mn-ea"/>
              <a:cs typeface="+mn-cs"/>
            </a:endParaRPr>
          </a:p>
        </p:txBody>
      </p:sp>
      <p:sp>
        <p:nvSpPr>
          <p:cNvPr id="6" name="Title 11">
            <a:extLst>
              <a:ext uri="{FF2B5EF4-FFF2-40B4-BE49-F238E27FC236}">
                <a16:creationId xmlns:a16="http://schemas.microsoft.com/office/drawing/2014/main" id="{B26AB882-F7A3-7771-8B85-FEB93C8C3825}"/>
              </a:ext>
            </a:extLst>
          </p:cNvPr>
          <p:cNvSpPr txBox="1">
            <a:spLocks/>
          </p:cNvSpPr>
          <p:nvPr/>
        </p:nvSpPr>
        <p:spPr>
          <a:xfrm>
            <a:off x="253743" y="182023"/>
            <a:ext cx="7702602" cy="430255"/>
          </a:xfrm>
          <a:prstGeom prst="rect">
            <a:avLst/>
          </a:prstGeom>
        </p:spPr>
        <p:txBody>
          <a:bodyPr lIns="91440" tIns="45720" rIns="91440" bIns="45720" anchor="t">
            <a:noAutofit/>
          </a:bodyPr>
          <a:lstStyle>
            <a:lvl1pPr algn="l" defTabSz="914400" rtl="0" eaLnBrk="1" latinLnBrk="0" hangingPunct="1">
              <a:lnSpc>
                <a:spcPct val="90000"/>
              </a:lnSpc>
              <a:spcBef>
                <a:spcPct val="0"/>
              </a:spcBef>
              <a:buNone/>
              <a:defRPr sz="4400" b="1" i="0" kern="1200">
                <a:solidFill>
                  <a:schemeClr val="tx1"/>
                </a:solidFill>
                <a:latin typeface="AirIndia" pitchFamily="82" charset="77"/>
                <a:ea typeface="+mj-ea"/>
                <a:cs typeface="+mj-cs"/>
              </a:defRPr>
            </a:lvl1pPr>
          </a:lstStyle>
          <a:p>
            <a:pPr>
              <a:defRPr/>
            </a:pPr>
            <a:r>
              <a:rPr lang="en-US" sz="1800">
                <a:solidFill>
                  <a:srgbClr val="DA0E28"/>
                </a:solidFill>
                <a:latin typeface="AirIndia"/>
              </a:rPr>
              <a:t>PSS Tech-</a:t>
            </a:r>
            <a:r>
              <a:rPr kumimoji="0" lang="en-US" sz="1800" b="1" i="0" u="none" strike="noStrike" kern="1200" cap="none" spc="0" normalizeH="0" baseline="0" noProof="0">
                <a:ln>
                  <a:noFill/>
                </a:ln>
                <a:solidFill>
                  <a:srgbClr val="DA0E28"/>
                </a:solidFill>
                <a:effectLst/>
                <a:uLnTx/>
                <a:uFillTx/>
                <a:latin typeface="AirIndia"/>
                <a:ea typeface="+mj-ea"/>
                <a:cs typeface="+mj-cs"/>
              </a:rPr>
              <a:t> </a:t>
            </a:r>
            <a:r>
              <a:rPr lang="en-US" sz="1800">
                <a:solidFill>
                  <a:srgbClr val="DA0E28"/>
                </a:solidFill>
                <a:latin typeface="AirIndia"/>
              </a:rPr>
              <a:t>FY27</a:t>
            </a:r>
            <a:r>
              <a:rPr kumimoji="0" lang="en-US" sz="1800" b="1" i="0" u="none" strike="noStrike" kern="1200" cap="none" spc="0" normalizeH="0" baseline="0" noProof="0">
                <a:ln>
                  <a:noFill/>
                </a:ln>
                <a:solidFill>
                  <a:srgbClr val="DA0E28"/>
                </a:solidFill>
                <a:effectLst/>
                <a:uLnTx/>
                <a:uFillTx/>
                <a:latin typeface="AirIndia"/>
                <a:ea typeface="+mj-ea"/>
                <a:cs typeface="+mj-cs"/>
              </a:rPr>
              <a:t> Q2  Release Plan</a:t>
            </a:r>
            <a:endParaRPr lang="en-US" sz="1800" b="0" i="0" u="none" strike="noStrike" kern="1200" cap="none" spc="0" normalizeH="0" baseline="0" noProof="0">
              <a:ln>
                <a:noFill/>
              </a:ln>
              <a:solidFill>
                <a:srgbClr val="DA0E28"/>
              </a:solidFill>
              <a:effectLst/>
              <a:uLnTx/>
              <a:uFillTx/>
              <a:latin typeface="AirIndia"/>
            </a:endParaRPr>
          </a:p>
        </p:txBody>
      </p:sp>
      <p:sp>
        <p:nvSpPr>
          <p:cNvPr id="4" name="Rectangle 3">
            <a:extLst>
              <a:ext uri="{FF2B5EF4-FFF2-40B4-BE49-F238E27FC236}">
                <a16:creationId xmlns:a16="http://schemas.microsoft.com/office/drawing/2014/main" id="{4B6B6EC1-3243-D60D-5355-A21F54B4E0D8}"/>
              </a:ext>
            </a:extLst>
          </p:cNvPr>
          <p:cNvSpPr/>
          <p:nvPr/>
        </p:nvSpPr>
        <p:spPr>
          <a:xfrm>
            <a:off x="1188132" y="6671592"/>
            <a:ext cx="90000" cy="90000"/>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5" name="Rectangle 4">
            <a:extLst>
              <a:ext uri="{FF2B5EF4-FFF2-40B4-BE49-F238E27FC236}">
                <a16:creationId xmlns:a16="http://schemas.microsoft.com/office/drawing/2014/main" id="{E901CFFF-AB2F-903F-16F3-B0EB983B6E5C}"/>
              </a:ext>
            </a:extLst>
          </p:cNvPr>
          <p:cNvSpPr/>
          <p:nvPr/>
        </p:nvSpPr>
        <p:spPr>
          <a:xfrm>
            <a:off x="2265818" y="6670554"/>
            <a:ext cx="90000" cy="90000"/>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7" name="Rectangle 6">
            <a:extLst>
              <a:ext uri="{FF2B5EF4-FFF2-40B4-BE49-F238E27FC236}">
                <a16:creationId xmlns:a16="http://schemas.microsoft.com/office/drawing/2014/main" id="{B607467A-43DC-31DE-FBF1-456593D7FA90}"/>
              </a:ext>
            </a:extLst>
          </p:cNvPr>
          <p:cNvSpPr/>
          <p:nvPr/>
        </p:nvSpPr>
        <p:spPr>
          <a:xfrm>
            <a:off x="3443423" y="6671592"/>
            <a:ext cx="90000" cy="90000"/>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8" name="Rectangle 7">
            <a:extLst>
              <a:ext uri="{FF2B5EF4-FFF2-40B4-BE49-F238E27FC236}">
                <a16:creationId xmlns:a16="http://schemas.microsoft.com/office/drawing/2014/main" id="{9EDEF2EB-A808-28C1-C180-71623C4EE0C1}"/>
              </a:ext>
            </a:extLst>
          </p:cNvPr>
          <p:cNvSpPr/>
          <p:nvPr/>
        </p:nvSpPr>
        <p:spPr>
          <a:xfrm>
            <a:off x="8146052" y="6714097"/>
            <a:ext cx="90000" cy="90000"/>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9" name="TextBox 15">
            <a:extLst>
              <a:ext uri="{FF2B5EF4-FFF2-40B4-BE49-F238E27FC236}">
                <a16:creationId xmlns:a16="http://schemas.microsoft.com/office/drawing/2014/main" id="{6FFECA7F-268B-5909-CE07-D538857C280C}"/>
              </a:ext>
            </a:extLst>
          </p:cNvPr>
          <p:cNvSpPr txBox="1"/>
          <p:nvPr/>
        </p:nvSpPr>
        <p:spPr>
          <a:xfrm>
            <a:off x="1288983" y="6614743"/>
            <a:ext cx="857245"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0070C0"/>
                </a:solidFill>
                <a:effectLst/>
                <a:uLnTx/>
                <a:uFillTx/>
                <a:latin typeface="Nunito Sans"/>
                <a:ea typeface="+mn-ea"/>
                <a:cs typeface="+mn-cs"/>
              </a:rPr>
              <a:t>Delivered</a:t>
            </a:r>
            <a:endParaRPr kumimoji="0" lang="en-IN" sz="1000" b="0" i="0" u="none" strike="noStrike" kern="1200" cap="none" spc="0" normalizeH="0" baseline="0" noProof="0">
              <a:ln>
                <a:noFill/>
              </a:ln>
              <a:solidFill>
                <a:srgbClr val="000000"/>
              </a:solidFill>
              <a:effectLst/>
              <a:uLnTx/>
              <a:uFillTx/>
              <a:latin typeface="Nunito Sans"/>
              <a:ea typeface="+mn-ea"/>
              <a:cs typeface="+mn-cs"/>
            </a:endParaRPr>
          </a:p>
        </p:txBody>
      </p:sp>
      <p:sp>
        <p:nvSpPr>
          <p:cNvPr id="10" name="TextBox 18">
            <a:extLst>
              <a:ext uri="{FF2B5EF4-FFF2-40B4-BE49-F238E27FC236}">
                <a16:creationId xmlns:a16="http://schemas.microsoft.com/office/drawing/2014/main" id="{2DB9DD0D-4651-3739-487D-277B284C16F1}"/>
              </a:ext>
            </a:extLst>
          </p:cNvPr>
          <p:cNvSpPr txBox="1"/>
          <p:nvPr/>
        </p:nvSpPr>
        <p:spPr>
          <a:xfrm>
            <a:off x="2310642" y="6611102"/>
            <a:ext cx="1032881"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00B050"/>
                </a:solidFill>
                <a:effectLst/>
                <a:uLnTx/>
                <a:uFillTx/>
                <a:latin typeface="Nunito Sans"/>
                <a:ea typeface="+mn-ea"/>
                <a:cs typeface="+mn-cs"/>
              </a:rPr>
              <a:t>Ontrack</a:t>
            </a:r>
            <a:endParaRPr kumimoji="0" lang="en-IN" sz="1000" b="0" i="0" u="none" strike="noStrike" kern="1200" cap="none" spc="0" normalizeH="0" baseline="0" noProof="0">
              <a:ln>
                <a:noFill/>
              </a:ln>
              <a:solidFill>
                <a:srgbClr val="000000"/>
              </a:solidFill>
              <a:effectLst/>
              <a:uLnTx/>
              <a:uFillTx/>
              <a:latin typeface="Nunito Sans"/>
              <a:ea typeface="+mn-ea"/>
              <a:cs typeface="+mn-cs"/>
            </a:endParaRPr>
          </a:p>
        </p:txBody>
      </p:sp>
      <p:sp>
        <p:nvSpPr>
          <p:cNvPr id="11" name="TextBox 20">
            <a:extLst>
              <a:ext uri="{FF2B5EF4-FFF2-40B4-BE49-F238E27FC236}">
                <a16:creationId xmlns:a16="http://schemas.microsoft.com/office/drawing/2014/main" id="{BC0F0FCF-36E5-DEE3-2DF3-51045F4C0A7C}"/>
              </a:ext>
            </a:extLst>
          </p:cNvPr>
          <p:cNvSpPr txBox="1"/>
          <p:nvPr/>
        </p:nvSpPr>
        <p:spPr>
          <a:xfrm>
            <a:off x="3539606" y="6608370"/>
            <a:ext cx="2257628"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FED9A0">
                    <a:lumMod val="75000"/>
                  </a:srgbClr>
                </a:solidFill>
                <a:effectLst/>
                <a:uLnTx/>
                <a:uFillTx/>
                <a:latin typeface="Nunito Sans"/>
                <a:ea typeface="+mn-ea"/>
                <a:cs typeface="+mn-cs"/>
              </a:rPr>
              <a:t>Under delay and can be recovered</a:t>
            </a:r>
            <a:endParaRPr kumimoji="0" lang="en-IN" sz="1000" b="0" i="0" u="none" strike="noStrike" kern="1200" cap="none" spc="0" normalizeH="0" baseline="0" noProof="0">
              <a:ln>
                <a:noFill/>
              </a:ln>
              <a:solidFill>
                <a:srgbClr val="000000"/>
              </a:solidFill>
              <a:effectLst/>
              <a:uLnTx/>
              <a:uFillTx/>
              <a:latin typeface="Nunito Sans"/>
              <a:ea typeface="+mn-ea"/>
              <a:cs typeface="+mn-cs"/>
            </a:endParaRPr>
          </a:p>
        </p:txBody>
      </p:sp>
      <p:sp>
        <p:nvSpPr>
          <p:cNvPr id="13" name="TextBox 22">
            <a:extLst>
              <a:ext uri="{FF2B5EF4-FFF2-40B4-BE49-F238E27FC236}">
                <a16:creationId xmlns:a16="http://schemas.microsoft.com/office/drawing/2014/main" id="{A9DCB27F-202C-88EC-5CAA-8FE42082E71F}"/>
              </a:ext>
            </a:extLst>
          </p:cNvPr>
          <p:cNvSpPr txBox="1"/>
          <p:nvPr/>
        </p:nvSpPr>
        <p:spPr>
          <a:xfrm>
            <a:off x="8246937" y="6618126"/>
            <a:ext cx="2338222"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FF0000"/>
                </a:solidFill>
                <a:effectLst/>
                <a:uLnTx/>
                <a:uFillTx/>
                <a:latin typeface="Nunito Sans"/>
                <a:ea typeface="+mn-ea"/>
                <a:cs typeface="+mn-cs"/>
              </a:rPr>
              <a:t>Delayed and pushed to next release</a:t>
            </a:r>
          </a:p>
        </p:txBody>
      </p:sp>
      <p:sp>
        <p:nvSpPr>
          <p:cNvPr id="15" name="TextBox 14">
            <a:extLst>
              <a:ext uri="{FF2B5EF4-FFF2-40B4-BE49-F238E27FC236}">
                <a16:creationId xmlns:a16="http://schemas.microsoft.com/office/drawing/2014/main" id="{7363304F-F966-33B6-25C4-82229A9E9AF8}"/>
              </a:ext>
            </a:extLst>
          </p:cNvPr>
          <p:cNvSpPr txBox="1"/>
          <p:nvPr/>
        </p:nvSpPr>
        <p:spPr>
          <a:xfrm>
            <a:off x="6454369" y="6611638"/>
            <a:ext cx="2743200"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IN" sz="1000">
                <a:solidFill>
                  <a:srgbClr val="7D7D7D"/>
                </a:solidFill>
              </a:rPr>
              <a:t>Descoped</a:t>
            </a:r>
            <a:endParaRPr lang="en-US"/>
          </a:p>
        </p:txBody>
      </p:sp>
      <p:sp>
        <p:nvSpPr>
          <p:cNvPr id="16" name="Rectangle 15">
            <a:extLst>
              <a:ext uri="{FF2B5EF4-FFF2-40B4-BE49-F238E27FC236}">
                <a16:creationId xmlns:a16="http://schemas.microsoft.com/office/drawing/2014/main" id="{289147A1-B39E-1CFB-5ED7-E1FEB2A98745}"/>
              </a:ext>
            </a:extLst>
          </p:cNvPr>
          <p:cNvSpPr/>
          <p:nvPr/>
        </p:nvSpPr>
        <p:spPr>
          <a:xfrm>
            <a:off x="6360794" y="6681439"/>
            <a:ext cx="90000" cy="90000"/>
          </a:xfrm>
          <a:prstGeom prst="rect">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graphicFrame>
        <p:nvGraphicFramePr>
          <p:cNvPr id="14" name="Table 13">
            <a:extLst>
              <a:ext uri="{FF2B5EF4-FFF2-40B4-BE49-F238E27FC236}">
                <a16:creationId xmlns:a16="http://schemas.microsoft.com/office/drawing/2014/main" id="{3B9B4C9D-79F5-6C93-7E3F-BC86580C1BD6}"/>
              </a:ext>
            </a:extLst>
          </p:cNvPr>
          <p:cNvGraphicFramePr>
            <a:graphicFrameLocks noGrp="1"/>
          </p:cNvGraphicFramePr>
          <p:nvPr/>
        </p:nvGraphicFramePr>
        <p:xfrm>
          <a:off x="1299509" y="603983"/>
          <a:ext cx="10249168" cy="5572547"/>
        </p:xfrm>
        <a:graphic>
          <a:graphicData uri="http://schemas.openxmlformats.org/drawingml/2006/table">
            <a:tbl>
              <a:tblPr/>
              <a:tblGrid>
                <a:gridCol w="1007440">
                  <a:extLst>
                    <a:ext uri="{9D8B030D-6E8A-4147-A177-3AD203B41FA5}">
                      <a16:colId xmlns:a16="http://schemas.microsoft.com/office/drawing/2014/main" val="1100456147"/>
                    </a:ext>
                  </a:extLst>
                </a:gridCol>
                <a:gridCol w="2137732">
                  <a:extLst>
                    <a:ext uri="{9D8B030D-6E8A-4147-A177-3AD203B41FA5}">
                      <a16:colId xmlns:a16="http://schemas.microsoft.com/office/drawing/2014/main" val="1312976006"/>
                    </a:ext>
                  </a:extLst>
                </a:gridCol>
                <a:gridCol w="4721925">
                  <a:extLst>
                    <a:ext uri="{9D8B030D-6E8A-4147-A177-3AD203B41FA5}">
                      <a16:colId xmlns:a16="http://schemas.microsoft.com/office/drawing/2014/main" val="2715564584"/>
                    </a:ext>
                  </a:extLst>
                </a:gridCol>
                <a:gridCol w="1139775">
                  <a:extLst>
                    <a:ext uri="{9D8B030D-6E8A-4147-A177-3AD203B41FA5}">
                      <a16:colId xmlns:a16="http://schemas.microsoft.com/office/drawing/2014/main" val="1826142297"/>
                    </a:ext>
                  </a:extLst>
                </a:gridCol>
                <a:gridCol w="1242296">
                  <a:extLst>
                    <a:ext uri="{9D8B030D-6E8A-4147-A177-3AD203B41FA5}">
                      <a16:colId xmlns:a16="http://schemas.microsoft.com/office/drawing/2014/main" val="1994336055"/>
                    </a:ext>
                  </a:extLst>
                </a:gridCol>
              </a:tblGrid>
              <a:tr h="618519">
                <a:tc>
                  <a:txBody>
                    <a:bodyPr/>
                    <a:lstStyle/>
                    <a:p>
                      <a:pPr algn="ctr" fontAlgn="ctr">
                        <a:buNone/>
                      </a:pPr>
                      <a:r>
                        <a:rPr lang="en-IN" sz="1100" b="1" i="0" u="none" strike="noStrike">
                          <a:solidFill>
                            <a:srgbClr val="FFFFFF"/>
                          </a:solidFill>
                          <a:effectLst/>
                          <a:latin typeface="Nunito Sans"/>
                        </a:rPr>
                        <a:t>LOB</a:t>
                      </a:r>
                      <a:r>
                        <a:rPr lang="en-IN" sz="1100" b="0" i="0" u="none" strike="noStrike">
                          <a:solidFill>
                            <a:srgbClr val="000000"/>
                          </a:solidFill>
                          <a:effectLst/>
                          <a:latin typeface="Nunito Sans"/>
                        </a:rPr>
                        <a:t>​</a:t>
                      </a:r>
                      <a:endParaRPr lang="en-IN" sz="1100" b="1" i="0" u="none" strike="noStrike">
                        <a:solidFill>
                          <a:srgbClr val="FFFFFF"/>
                        </a:solidFill>
                        <a:effectLst/>
                        <a:latin typeface="Nunito Sans"/>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51972"/>
                    </a:solidFill>
                  </a:tcPr>
                </a:tc>
                <a:tc>
                  <a:txBody>
                    <a:bodyPr/>
                    <a:lstStyle/>
                    <a:p>
                      <a:pPr algn="ctr" fontAlgn="ctr">
                        <a:buNone/>
                      </a:pPr>
                      <a:r>
                        <a:rPr lang="en-US" sz="1100" b="1" i="0" u="none" strike="noStrike">
                          <a:solidFill>
                            <a:srgbClr val="FFFFFF"/>
                          </a:solidFill>
                          <a:effectLst/>
                          <a:latin typeface="Nunito Sans"/>
                        </a:rPr>
                        <a:t>Initiatives</a:t>
                      </a:r>
                      <a:r>
                        <a:rPr lang="en-US" sz="1100" b="0" i="0" u="none" strike="noStrike">
                          <a:solidFill>
                            <a:srgbClr val="000000"/>
                          </a:solidFill>
                          <a:effectLst/>
                          <a:latin typeface="Nunito Sans"/>
                        </a:rPr>
                        <a:t>​</a:t>
                      </a:r>
                      <a:r>
                        <a:rPr lang="en-US" sz="1100" b="1" i="0" u="none" strike="noStrike">
                          <a:solidFill>
                            <a:srgbClr val="FFFFFF"/>
                          </a:solidFill>
                          <a:effectLst/>
                          <a:latin typeface="Nunito Sans"/>
                        </a:rPr>
                        <a:t>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51972"/>
                    </a:solidFill>
                  </a:tcPr>
                </a:tc>
                <a:tc>
                  <a:txBody>
                    <a:bodyPr/>
                    <a:lstStyle/>
                    <a:p>
                      <a:pPr algn="ctr" fontAlgn="ctr">
                        <a:buNone/>
                      </a:pPr>
                      <a:r>
                        <a:rPr lang="en-US" sz="1100" b="1" i="0" u="none" strike="noStrike">
                          <a:solidFill>
                            <a:srgbClr val="FFFFFF"/>
                          </a:solidFill>
                          <a:effectLst/>
                          <a:latin typeface="Nunito Sans"/>
                        </a:rPr>
                        <a:t>Value Justification/Realization</a:t>
                      </a:r>
                      <a:r>
                        <a:rPr lang="en-US" sz="1100" b="0" i="0" u="none" strike="noStrike">
                          <a:solidFill>
                            <a:srgbClr val="000000"/>
                          </a:solidFill>
                          <a:effectLst/>
                          <a:latin typeface="Nunito Sans"/>
                        </a:rPr>
                        <a:t>​</a:t>
                      </a:r>
                      <a:endParaRPr lang="en-US" sz="1100" b="1" i="0" u="none" strike="noStrike">
                        <a:solidFill>
                          <a:srgbClr val="FFFFFF"/>
                        </a:solidFill>
                        <a:effectLst/>
                        <a:latin typeface="Nunito Sans"/>
                      </a:endParaRPr>
                    </a:p>
                  </a:txBody>
                  <a:tcPr marL="6350" marR="6350" marT="6350" marB="0" anchor="ctr">
                    <a:lnL w="6350" cap="flat" cmpd="sng" algn="ctr">
                      <a:solidFill>
                        <a:srgbClr val="000000"/>
                      </a:solidFill>
                      <a:prstDash val="solid"/>
                      <a:round/>
                      <a:headEnd type="none" w="med" len="med"/>
                      <a:tailEnd type="none" w="med" len="med"/>
                    </a:lnL>
                    <a:solidFill>
                      <a:srgbClr val="751972"/>
                    </a:solidFill>
                  </a:tcPr>
                </a:tc>
                <a:tc>
                  <a:txBody>
                    <a:bodyPr/>
                    <a:lstStyle/>
                    <a:p>
                      <a:pPr marL="0" lvl="0" algn="ctr" defTabSz="914400" rtl="0" eaLnBrk="1" fontAlgn="ctr" latinLnBrk="0" hangingPunct="1">
                        <a:buNone/>
                      </a:pPr>
                      <a:r>
                        <a:rPr lang="en-IN" sz="1100" b="1" i="0" u="none" strike="noStrike" kern="1200">
                          <a:solidFill>
                            <a:srgbClr val="FFFFFF"/>
                          </a:solidFill>
                          <a:effectLst/>
                          <a:latin typeface="Nunito Sans"/>
                          <a:ea typeface="+mn-ea"/>
                          <a:cs typeface="+mn-cs"/>
                        </a:rPr>
                        <a:t>Planned Go-live Date​</a:t>
                      </a:r>
                    </a:p>
                  </a:txBody>
                  <a:tcPr anchor="ctr">
                    <a:solidFill>
                      <a:srgbClr val="75197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100" b="1" i="0" kern="1200">
                          <a:solidFill>
                            <a:schemeClr val="bg1"/>
                          </a:solidFill>
                          <a:latin typeface="+mn-lt"/>
                          <a:ea typeface="+mn-ea"/>
                          <a:cs typeface="+mn-cs"/>
                        </a:rPr>
                        <a:t>EIP Integration Required (Yes/No)</a:t>
                      </a:r>
                    </a:p>
                  </a:txBody>
                  <a:tcPr anchor="ctr">
                    <a:solidFill>
                      <a:srgbClr val="751972"/>
                    </a:solidFill>
                  </a:tcPr>
                </a:tc>
                <a:extLst>
                  <a:ext uri="{0D108BD9-81ED-4DB2-BD59-A6C34878D82A}">
                    <a16:rowId xmlns:a16="http://schemas.microsoft.com/office/drawing/2014/main" val="69121551"/>
                  </a:ext>
                </a:extLst>
              </a:tr>
              <a:tr h="599900">
                <a:tc>
                  <a:txBody>
                    <a:bodyPr/>
                    <a:lstStyle/>
                    <a:p>
                      <a:pPr algn="ctr" fontAlgn="ctr">
                        <a:buNone/>
                      </a:pPr>
                      <a:r>
                        <a:rPr lang="en-IN" sz="1100" i="0" u="none" strike="noStrike" kern="1200">
                          <a:solidFill>
                            <a:srgbClr val="05B050"/>
                          </a:solidFill>
                          <a:effectLst/>
                          <a:latin typeface="Nunito Sans"/>
                          <a:ea typeface="+mn-ea"/>
                          <a:cs typeface="Arial"/>
                        </a:rPr>
                        <a:t>Alliances</a:t>
                      </a:r>
                    </a:p>
                  </a:txBody>
                  <a:tcPr marL="6350" marR="6350" marT="635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r>
                        <a:rPr lang="en-US" sz="1100" i="0" u="none" strike="noStrike" kern="1200">
                          <a:solidFill>
                            <a:srgbClr val="05B050"/>
                          </a:solidFill>
                          <a:effectLst/>
                          <a:latin typeface="Nunito Sans"/>
                          <a:ea typeface="+mn-ea"/>
                          <a:cs typeface="Arial"/>
                        </a:rPr>
                        <a:t>Seat Ancillary project with United Airline(UA)</a:t>
                      </a:r>
                    </a:p>
                  </a:txBody>
                  <a:tcPr marL="6350" marR="6350" marT="6350" anchor="ctr">
                    <a:lnL w="6350" cap="flat" cmpd="sng" algn="ctr">
                      <a:solidFill>
                        <a:srgbClr val="000000"/>
                      </a:solidFill>
                      <a:prstDash val="solid"/>
                      <a:round/>
                      <a:headEnd type="none" w="med" len="med"/>
                      <a:tailEnd type="none" w="med" len="med"/>
                    </a:lnL>
                    <a:lnT w="6350" cap="flat" cmpd="sng" algn="ctr">
                      <a:solidFill>
                        <a:srgbClr val="000000"/>
                      </a:solidFill>
                      <a:prstDash val="solid"/>
                      <a:round/>
                      <a:headEnd type="none" w="med" len="med"/>
                      <a:tailEnd type="none" w="med" len="med"/>
                    </a:lnT>
                  </a:tcPr>
                </a:tc>
                <a:tc>
                  <a:txBody>
                    <a:bodyPr/>
                    <a:lstStyle/>
                    <a:p>
                      <a:pPr algn="l" fontAlgn="ctr">
                        <a:buNone/>
                      </a:pPr>
                      <a:r>
                        <a:rPr lang="en-IN" sz="1100" i="0" u="none" strike="noStrike">
                          <a:solidFill>
                            <a:srgbClr val="05B050"/>
                          </a:solidFill>
                          <a:effectLst/>
                          <a:latin typeface="Nunito Sans"/>
                          <a:cs typeface="Arial"/>
                        </a:rPr>
                        <a:t>To set up core system to enable UA to sell AI chargeable seats during Interline journey. ASR OPE under testing. </a:t>
                      </a:r>
                      <a:endParaRPr lang="en-IN" sz="1100" b="0" i="0" u="none" strike="noStrike">
                        <a:solidFill>
                          <a:srgbClr val="05B050"/>
                        </a:solidFill>
                        <a:effectLst/>
                        <a:latin typeface="Nunito Sans"/>
                        <a:cs typeface="Arial"/>
                      </a:endParaRPr>
                    </a:p>
                  </a:txBody>
                  <a:tcPr marL="6350" marR="6350" marT="6350" anchor="ctr"/>
                </a:tc>
                <a:tc>
                  <a:txBody>
                    <a:bodyPr/>
                    <a:lstStyle/>
                    <a:p>
                      <a:pPr algn="ctr">
                        <a:buNone/>
                      </a:pPr>
                      <a:r>
                        <a:rPr lang="en-IN" sz="1100" i="0" u="none" strike="noStrike">
                          <a:solidFill>
                            <a:schemeClr val="tx1"/>
                          </a:solidFill>
                          <a:effectLst/>
                          <a:latin typeface="Nunito Sans"/>
                          <a:cs typeface="Arial"/>
                        </a:rPr>
                        <a:t>24-Sep-2026</a:t>
                      </a:r>
                      <a:endParaRPr lang="en-IN" sz="1100" i="0">
                        <a:solidFill>
                          <a:schemeClr val="tx1"/>
                        </a:solidFill>
                        <a:latin typeface="Nunito Sans"/>
                        <a:cs typeface="Arial"/>
                      </a:endParaRPr>
                    </a:p>
                  </a:txBody>
                  <a:tcPr marL="6350" marR="6350" marT="6350" anchor="ctr"/>
                </a:tc>
                <a:tc>
                  <a:txBody>
                    <a:bodyPr/>
                    <a:lstStyle/>
                    <a:p>
                      <a:pPr algn="ctr">
                        <a:buNone/>
                      </a:pPr>
                      <a:r>
                        <a:rPr lang="en-IN" sz="1100" b="0" i="0" u="none" strike="noStrike">
                          <a:solidFill>
                            <a:schemeClr val="tx1"/>
                          </a:solidFill>
                          <a:effectLst/>
                          <a:latin typeface="Nunito Sans"/>
                          <a:cs typeface="Arial"/>
                        </a:rPr>
                        <a:t>No</a:t>
                      </a:r>
                      <a:endParaRPr lang="en-IN" sz="1100" i="0">
                        <a:solidFill>
                          <a:schemeClr val="tx1"/>
                        </a:solidFill>
                        <a:latin typeface="Nunito Sans"/>
                        <a:cs typeface="Arial"/>
                      </a:endParaRPr>
                    </a:p>
                  </a:txBody>
                  <a:tcPr marL="6350" marR="6350" marT="6350" anchor="ctr"/>
                </a:tc>
                <a:extLst>
                  <a:ext uri="{0D108BD9-81ED-4DB2-BD59-A6C34878D82A}">
                    <a16:rowId xmlns:a16="http://schemas.microsoft.com/office/drawing/2014/main" val="377592740"/>
                  </a:ext>
                </a:extLst>
              </a:tr>
              <a:tr h="740814">
                <a:tc>
                  <a:txBody>
                    <a:bodyPr/>
                    <a:lstStyle/>
                    <a:p>
                      <a:r>
                        <a:rPr lang="en-IN" sz="1100" i="0" u="none" strike="noStrike" kern="1200">
                          <a:solidFill>
                            <a:srgbClr val="05B050"/>
                          </a:solidFill>
                          <a:effectLst/>
                          <a:latin typeface="Nunito Sans"/>
                          <a:ea typeface="+mn-ea"/>
                          <a:cs typeface="Arial"/>
                        </a:rPr>
                        <a:t>Ecommerce</a:t>
                      </a:r>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r>
                        <a:rPr lang="en-US" sz="1100" i="0" u="none" strike="noStrike" kern="1200">
                          <a:solidFill>
                            <a:srgbClr val="05B050"/>
                          </a:solidFill>
                          <a:effectLst/>
                          <a:latin typeface="Nunito Sans"/>
                          <a:ea typeface="+mn-ea"/>
                          <a:cs typeface="Arial"/>
                        </a:rPr>
                        <a:t>Delayed Boarding Pass</a:t>
                      </a:r>
                    </a:p>
                  </a:txBody>
                  <a:tcPr marL="6350" marR="6350" marT="635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noFill/>
                  </a:tcPr>
                </a:tc>
                <a:tc>
                  <a:txBody>
                    <a:bodyPr/>
                    <a:lstStyle/>
                    <a:p>
                      <a:pPr algn="l" fontAlgn="ctr">
                        <a:buNone/>
                      </a:pPr>
                      <a:r>
                        <a:rPr lang="en-US" sz="1100" i="0" u="none" strike="noStrike">
                          <a:solidFill>
                            <a:srgbClr val="05B050"/>
                          </a:solidFill>
                          <a:effectLst/>
                          <a:latin typeface="Nunito Sans"/>
                          <a:cs typeface="Arial"/>
                        </a:rPr>
                        <a:t>Project to allow customers to opt for check-in later if not willing to purchase chargeable seats. System set up underway. Initial testing to commence. </a:t>
                      </a:r>
                      <a:endParaRPr lang="en-US" sz="1100" b="0" i="0" u="none" strike="noStrike">
                        <a:solidFill>
                          <a:srgbClr val="05B050"/>
                        </a:solidFill>
                        <a:effectLst/>
                        <a:latin typeface="Nunito Sans"/>
                        <a:cs typeface="Arial"/>
                      </a:endParaRPr>
                    </a:p>
                  </a:txBody>
                  <a:tcPr marL="6350" marR="6350" marT="635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noFill/>
                  </a:tcPr>
                </a:tc>
                <a:tc>
                  <a:txBody>
                    <a:bodyPr/>
                    <a:lstStyle/>
                    <a:p>
                      <a:pPr algn="ctr" fontAlgn="ctr">
                        <a:buNone/>
                      </a:pPr>
                      <a:r>
                        <a:rPr lang="en-IN" sz="1100" i="0" u="none" strike="noStrike">
                          <a:solidFill>
                            <a:schemeClr val="tx1"/>
                          </a:solidFill>
                          <a:effectLst/>
                          <a:latin typeface="Nunito Sans"/>
                          <a:cs typeface="Arial"/>
                        </a:rPr>
                        <a:t>24-Sep-2026</a:t>
                      </a:r>
                      <a:endParaRPr lang="en-IN" sz="1100" b="0" i="0" u="none" strike="noStrike">
                        <a:solidFill>
                          <a:schemeClr val="tx1"/>
                        </a:solidFill>
                        <a:effectLst/>
                        <a:latin typeface="Nunito Sans"/>
                        <a:cs typeface="Arial"/>
                      </a:endParaRPr>
                    </a:p>
                  </a:txBody>
                  <a:tcPr marL="6350" marR="6350" marT="635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noFill/>
                  </a:tcPr>
                </a:tc>
                <a:tc>
                  <a:txBody>
                    <a:bodyPr/>
                    <a:lstStyle/>
                    <a:p>
                      <a:pPr algn="ctr" fontAlgn="ctr">
                        <a:buNone/>
                      </a:pPr>
                      <a:r>
                        <a:rPr lang="en-IN" sz="1100" b="0" i="0" u="none" strike="noStrike" kern="1200">
                          <a:solidFill>
                            <a:schemeClr val="tx1"/>
                          </a:solidFill>
                          <a:effectLst/>
                          <a:latin typeface="Nunito Sans"/>
                          <a:ea typeface="+mn-ea"/>
                          <a:cs typeface="Arial"/>
                        </a:rPr>
                        <a:t>No</a:t>
                      </a:r>
                    </a:p>
                  </a:txBody>
                  <a:tcPr marL="6350" marR="6350" marT="635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noFill/>
                  </a:tcPr>
                </a:tc>
                <a:extLst>
                  <a:ext uri="{0D108BD9-81ED-4DB2-BD59-A6C34878D82A}">
                    <a16:rowId xmlns:a16="http://schemas.microsoft.com/office/drawing/2014/main" val="1308203695"/>
                  </a:ext>
                </a:extLst>
              </a:tr>
              <a:tr h="1624273">
                <a:tc>
                  <a:txBody>
                    <a:bodyPr/>
                    <a:lstStyle/>
                    <a:p>
                      <a:pPr algn="ctr" fontAlgn="ctr">
                        <a:buNone/>
                      </a:pPr>
                      <a:r>
                        <a:rPr lang="en-IN" sz="1100" i="0" u="none" strike="noStrike" kern="1200">
                          <a:solidFill>
                            <a:srgbClr val="05B050"/>
                          </a:solidFill>
                          <a:effectLst/>
                          <a:latin typeface="Nunito Sans"/>
                          <a:ea typeface="+mn-ea"/>
                          <a:cs typeface="Arial"/>
                        </a:rPr>
                        <a:t>GRC </a:t>
                      </a:r>
                    </a:p>
                  </a:txBody>
                  <a:tcPr marL="6350" marR="6350" marT="635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100" b="0" i="0" u="none" strike="noStrike">
                          <a:solidFill>
                            <a:srgbClr val="05B050"/>
                          </a:solidFill>
                          <a:effectLst/>
                          <a:latin typeface="Nunito Sans"/>
                        </a:rPr>
                        <a:t>Rajya Sabha Travel Certification</a:t>
                      </a:r>
                    </a:p>
                  </a:txBody>
                  <a:tcPr marL="6350" marR="6350" marT="635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noFill/>
                  </a:tcPr>
                </a:tc>
                <a:tc>
                  <a:txBody>
                    <a:bodyPr/>
                    <a:lstStyle/>
                    <a:p>
                      <a:pPr lvl="0" algn="l">
                        <a:lnSpc>
                          <a:spcPct val="100000"/>
                        </a:lnSpc>
                        <a:spcBef>
                          <a:spcPts val="0"/>
                        </a:spcBef>
                        <a:spcAft>
                          <a:spcPts val="0"/>
                        </a:spcAft>
                        <a:buNone/>
                      </a:pPr>
                      <a:endParaRPr lang="en-US" sz="1100" b="0" i="0" u="none" strike="noStrike" noProof="0">
                        <a:solidFill>
                          <a:srgbClr val="05B050"/>
                        </a:solidFill>
                        <a:effectLst/>
                        <a:latin typeface="Segoe UI"/>
                        <a:cs typeface="Segoe UI"/>
                      </a:endParaRPr>
                    </a:p>
                    <a:p>
                      <a:pPr lvl="0" algn="l">
                        <a:lnSpc>
                          <a:spcPct val="100000"/>
                        </a:lnSpc>
                        <a:spcBef>
                          <a:spcPts val="0"/>
                        </a:spcBef>
                        <a:spcAft>
                          <a:spcPts val="0"/>
                        </a:spcAft>
                        <a:buNone/>
                      </a:pPr>
                      <a:r>
                        <a:rPr lang="en-US" sz="1100" b="0" i="0" u="none" strike="noStrike" noProof="0">
                          <a:solidFill>
                            <a:srgbClr val="05B050"/>
                          </a:solidFill>
                          <a:effectLst/>
                          <a:latin typeface="Segoe UI"/>
                          <a:cs typeface="Segoe UI"/>
                        </a:rPr>
                        <a:t>Implementation of API-based integration with airline systems to enable real-time verification of Rajya Sabha MPs’ and authorized members’ travel details, ensuring faster, accurate, and automated claim validation and settlement.</a:t>
                      </a:r>
                      <a:endParaRPr lang="en-US" noProof="0">
                        <a:solidFill>
                          <a:srgbClr val="05B050"/>
                        </a:solidFill>
                        <a:latin typeface="Segoe UI"/>
                        <a:cs typeface="Segoe UI"/>
                      </a:endParaRPr>
                    </a:p>
                    <a:p>
                      <a:pPr lvl="0" algn="l">
                        <a:lnSpc>
                          <a:spcPct val="100000"/>
                        </a:lnSpc>
                        <a:spcBef>
                          <a:spcPts val="0"/>
                        </a:spcBef>
                        <a:spcAft>
                          <a:spcPts val="0"/>
                        </a:spcAft>
                        <a:buNone/>
                      </a:pPr>
                      <a:endParaRPr lang="en-US" sz="1100" b="0" i="0" u="none" strike="noStrike" noProof="0">
                        <a:solidFill>
                          <a:srgbClr val="05B050"/>
                        </a:solidFill>
                        <a:effectLst/>
                        <a:latin typeface="Segoe UI"/>
                        <a:cs typeface="Segoe UI"/>
                      </a:endParaRPr>
                    </a:p>
                    <a:p>
                      <a:pPr lvl="0" algn="l">
                        <a:lnSpc>
                          <a:spcPct val="100000"/>
                        </a:lnSpc>
                        <a:spcBef>
                          <a:spcPts val="0"/>
                        </a:spcBef>
                        <a:spcAft>
                          <a:spcPts val="0"/>
                        </a:spcAft>
                        <a:buNone/>
                      </a:pPr>
                      <a:r>
                        <a:rPr lang="en-IN" sz="1100" b="0" i="0" u="none" strike="noStrike" noProof="0">
                          <a:solidFill>
                            <a:srgbClr val="05B050"/>
                          </a:solidFill>
                          <a:effectLst/>
                          <a:latin typeface="Nunito Sans"/>
                          <a:cs typeface="Segoe UI"/>
                        </a:rPr>
                        <a:t>DPA and Agreement is currently under review with Air India Legal and DPA teams.</a:t>
                      </a:r>
                      <a:endParaRPr lang="en-US" sz="1100" b="0" i="0" u="none" strike="noStrike" noProof="0">
                        <a:solidFill>
                          <a:srgbClr val="000000"/>
                        </a:solidFill>
                        <a:effectLst/>
                        <a:latin typeface="Nunito Sans"/>
                        <a:cs typeface="Segoe UI"/>
                      </a:endParaRPr>
                    </a:p>
                    <a:p>
                      <a:pPr lvl="0" algn="ctr">
                        <a:lnSpc>
                          <a:spcPct val="100000"/>
                        </a:lnSpc>
                        <a:spcBef>
                          <a:spcPts val="0"/>
                        </a:spcBef>
                        <a:spcAft>
                          <a:spcPts val="0"/>
                        </a:spcAft>
                        <a:buNone/>
                      </a:pPr>
                      <a:endParaRPr lang="en-US" sz="1100" b="0" i="0" u="none" strike="noStrike" noProof="0">
                        <a:solidFill>
                          <a:srgbClr val="05B050"/>
                        </a:solidFill>
                        <a:effectLst/>
                        <a:latin typeface="Segoe UI"/>
                        <a:cs typeface="Segoe UI"/>
                      </a:endParaRPr>
                    </a:p>
                  </a:txBody>
                  <a:tcPr marL="6350" marR="6350" marT="635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noFill/>
                  </a:tcPr>
                </a:tc>
                <a:tc>
                  <a:txBody>
                    <a:bodyPr/>
                    <a:lstStyle/>
                    <a:p>
                      <a:pPr algn="ctr" fontAlgn="b">
                        <a:buNone/>
                      </a:pPr>
                      <a:r>
                        <a:rPr lang="en-IN" sz="1100" b="0" i="0" u="none" strike="noStrike">
                          <a:solidFill>
                            <a:schemeClr val="tx1"/>
                          </a:solidFill>
                          <a:effectLst/>
                          <a:latin typeface="Nunito Sans"/>
                        </a:rPr>
                        <a:t>24-Sep-2026</a:t>
                      </a:r>
                    </a:p>
                  </a:txBody>
                  <a:tcPr marL="6350" marR="6350" marT="635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noFill/>
                  </a:tcPr>
                </a:tc>
                <a:tc>
                  <a:txBody>
                    <a:bodyPr/>
                    <a:lstStyle/>
                    <a:p>
                      <a:pPr algn="ctr" fontAlgn="b">
                        <a:buNone/>
                      </a:pPr>
                      <a:r>
                        <a:rPr lang="en-IN" sz="1100" b="0" i="0" u="none" strike="noStrike" kern="1200">
                          <a:solidFill>
                            <a:schemeClr val="tx1"/>
                          </a:solidFill>
                          <a:effectLst/>
                          <a:latin typeface="Nunito Sans"/>
                          <a:ea typeface="+mn-ea"/>
                          <a:cs typeface="Arial"/>
                        </a:rPr>
                        <a:t>No</a:t>
                      </a:r>
                    </a:p>
                  </a:txBody>
                  <a:tcPr marL="6350" marR="6350" marT="635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noFill/>
                  </a:tcPr>
                </a:tc>
                <a:extLst>
                  <a:ext uri="{0D108BD9-81ED-4DB2-BD59-A6C34878D82A}">
                    <a16:rowId xmlns:a16="http://schemas.microsoft.com/office/drawing/2014/main" val="3402029455"/>
                  </a:ext>
                </a:extLst>
              </a:tr>
              <a:tr h="577549">
                <a:tc rowSpan="2">
                  <a:txBody>
                    <a:bodyPr/>
                    <a:lstStyle/>
                    <a:p>
                      <a:pPr algn="ctr" fontAlgn="ctr">
                        <a:buNone/>
                      </a:pPr>
                      <a:r>
                        <a:rPr lang="en-IN" sz="1100" i="0" u="none" strike="noStrike" kern="1200">
                          <a:solidFill>
                            <a:srgbClr val="05B050"/>
                          </a:solidFill>
                          <a:effectLst/>
                          <a:latin typeface="Nunito Sans"/>
                          <a:ea typeface="+mn-ea"/>
                          <a:cs typeface="Arial"/>
                        </a:rPr>
                        <a:t>Finance/</a:t>
                      </a:r>
                    </a:p>
                    <a:p>
                      <a:pPr algn="ctr" fontAlgn="ctr">
                        <a:buNone/>
                      </a:pPr>
                      <a:r>
                        <a:rPr lang="en-IN" sz="1100" i="0" u="none" strike="noStrike" kern="1200">
                          <a:solidFill>
                            <a:srgbClr val="05B050"/>
                          </a:solidFill>
                          <a:effectLst/>
                          <a:latin typeface="Nunito Sans"/>
                          <a:ea typeface="+mn-ea"/>
                          <a:cs typeface="Arial"/>
                        </a:rPr>
                        <a:t>Distribution</a:t>
                      </a:r>
                    </a:p>
                  </a:txBody>
                  <a:tcPr marL="6350" marR="6350" marT="635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r>
                        <a:rPr lang="en-US" sz="1100" b="0" i="0" u="none" strike="noStrike" kern="1200">
                          <a:solidFill>
                            <a:srgbClr val="05B050"/>
                          </a:solidFill>
                          <a:effectLst/>
                          <a:latin typeface="Nunito Sans"/>
                          <a:ea typeface="+mn-ea"/>
                          <a:cs typeface="+mn-cs"/>
                        </a:rPr>
                        <a:t>Introduction of CP tax code</a:t>
                      </a:r>
                    </a:p>
                  </a:txBody>
                  <a:tcPr marL="6350" marR="6350" marT="635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noFill/>
                  </a:tcPr>
                </a:tc>
                <a:tc>
                  <a:txBody>
                    <a:bodyPr/>
                    <a:lstStyle/>
                    <a:p>
                      <a:pPr algn="l" fontAlgn="ctr">
                        <a:buNone/>
                      </a:pPr>
                      <a:r>
                        <a:rPr lang="en-IN" sz="1100" b="0" i="0" u="none" strike="noStrike">
                          <a:solidFill>
                            <a:srgbClr val="05B050"/>
                          </a:solidFill>
                          <a:effectLst/>
                          <a:latin typeface="Nunito Sans"/>
                        </a:rPr>
                        <a:t>Enabling/setting up core system to collect penalty fee through introduction of new tax code rather than issuance of EMD, which will save major costs incurred by AI (on GDS channels).</a:t>
                      </a:r>
                    </a:p>
                  </a:txBody>
                  <a:tcPr marL="6350" marR="6350" marT="635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noFill/>
                  </a:tcPr>
                </a:tc>
                <a:tc>
                  <a:txBody>
                    <a:bodyPr/>
                    <a:lstStyle/>
                    <a:p>
                      <a:pPr lvl="0" algn="ctr">
                        <a:buNone/>
                      </a:pPr>
                      <a:r>
                        <a:rPr lang="en-IN" sz="1100" b="0" i="0" u="none" strike="noStrike" noProof="0">
                          <a:solidFill>
                            <a:schemeClr val="tx1"/>
                          </a:solidFill>
                          <a:effectLst/>
                          <a:latin typeface="Nunito Sans"/>
                        </a:rPr>
                        <a:t>25-Sep-2026</a:t>
                      </a:r>
                      <a:endParaRPr lang="en-US"/>
                    </a:p>
                  </a:txBody>
                  <a:tcPr marL="6350" marR="6350" marT="635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noFill/>
                  </a:tcPr>
                </a:tc>
                <a:tc>
                  <a:txBody>
                    <a:bodyPr/>
                    <a:lstStyle/>
                    <a:p>
                      <a:pPr lvl="0" algn="ctr">
                        <a:buNone/>
                      </a:pPr>
                      <a:r>
                        <a:rPr lang="en-IN" sz="1100" b="0" i="0" u="none" strike="noStrike" kern="1200">
                          <a:solidFill>
                            <a:schemeClr val="tx1"/>
                          </a:solidFill>
                          <a:effectLst/>
                          <a:latin typeface="Nunito Sans"/>
                          <a:ea typeface="+mn-ea"/>
                          <a:cs typeface="Arial"/>
                        </a:rPr>
                        <a:t>No</a:t>
                      </a:r>
                      <a:endParaRPr lang="en-US" sz="1100" b="0" i="0" u="none" strike="noStrike" kern="1200">
                        <a:solidFill>
                          <a:schemeClr val="tx1"/>
                        </a:solidFill>
                        <a:effectLst/>
                        <a:latin typeface="Nunito Sans"/>
                        <a:ea typeface="+mn-ea"/>
                        <a:cs typeface="Arial"/>
                      </a:endParaRPr>
                    </a:p>
                  </a:txBody>
                  <a:tcPr marL="6350" marR="6350" marT="635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noFill/>
                  </a:tcPr>
                </a:tc>
                <a:extLst>
                  <a:ext uri="{0D108BD9-81ED-4DB2-BD59-A6C34878D82A}">
                    <a16:rowId xmlns:a16="http://schemas.microsoft.com/office/drawing/2014/main" val="2748360959"/>
                  </a:ext>
                </a:extLst>
              </a:tr>
              <a:tr h="792973">
                <a:tc vMerge="1">
                  <a:txBody>
                    <a:bodyPr/>
                    <a:lstStyle/>
                    <a:p>
                      <a:endParaRPr/>
                    </a:p>
                  </a:txBody>
                  <a:tcPr marL="6350" marR="6350" marT="635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r>
                        <a:rPr lang="en-US" sz="1100" i="0" u="none" strike="noStrike" kern="1200">
                          <a:solidFill>
                            <a:srgbClr val="05B050"/>
                          </a:solidFill>
                          <a:effectLst/>
                          <a:latin typeface="Nunito Sans"/>
                          <a:ea typeface="+mn-ea"/>
                          <a:cs typeface="Arial"/>
                        </a:rPr>
                        <a:t>Group Booking CC Surcharge EMDs Issuance</a:t>
                      </a:r>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i="0" u="none" strike="noStrike" kern="1200">
                          <a:solidFill>
                            <a:srgbClr val="05B050"/>
                          </a:solidFill>
                          <a:effectLst/>
                          <a:latin typeface="Nunito Sans"/>
                          <a:ea typeface="+mn-ea"/>
                          <a:cs typeface="Arial"/>
                        </a:rPr>
                        <a:t>This project is for enabling Credit Card Surcharge collection through Standalone EMD through Group Booking Tool. This will also handle GST Invoicing on CC Surcharge collection through GST module. It will earn additional revenue of 6 to 7 Lakhs per month as CC Surcharge.</a:t>
                      </a:r>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noFill/>
                  </a:tcPr>
                </a:tc>
                <a:tc>
                  <a:txBody>
                    <a:bodyPr/>
                    <a:lstStyle/>
                    <a:p>
                      <a:pPr algn="ctr"/>
                      <a:r>
                        <a:rPr lang="en-US" sz="1100" i="0" u="none" strike="noStrike" kern="1200">
                          <a:solidFill>
                            <a:schemeClr val="tx1"/>
                          </a:solidFill>
                          <a:effectLst/>
                          <a:latin typeface="Nunito Sans"/>
                          <a:ea typeface="+mn-ea"/>
                          <a:cs typeface="Arial"/>
                        </a:rPr>
                        <a:t>25-Sep-2026</a:t>
                      </a:r>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noFill/>
                  </a:tcPr>
                </a:tc>
                <a:tc>
                  <a:txBody>
                    <a:bodyPr/>
                    <a:lstStyle/>
                    <a:p>
                      <a:pPr algn="ctr"/>
                      <a:r>
                        <a:rPr lang="en-IN" sz="1100" b="0" i="0" u="none" strike="noStrike" kern="1200">
                          <a:solidFill>
                            <a:schemeClr val="tx1"/>
                          </a:solidFill>
                          <a:effectLst/>
                          <a:latin typeface="Nunito Sans"/>
                          <a:ea typeface="+mn-ea"/>
                          <a:cs typeface="Arial"/>
                        </a:rPr>
                        <a:t>No</a:t>
                      </a:r>
                      <a:endParaRPr lang="en-US" sz="1100" b="0" i="0" u="none" strike="noStrike" kern="1200">
                        <a:solidFill>
                          <a:schemeClr val="tx1"/>
                        </a:solidFill>
                        <a:effectLst/>
                        <a:latin typeface="Nunito Sans"/>
                        <a:ea typeface="+mn-ea"/>
                        <a:cs typeface="Arial"/>
                      </a:endParaRPr>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noFill/>
                  </a:tcPr>
                </a:tc>
                <a:extLst>
                  <a:ext uri="{0D108BD9-81ED-4DB2-BD59-A6C34878D82A}">
                    <a16:rowId xmlns:a16="http://schemas.microsoft.com/office/drawing/2014/main" val="1267200243"/>
                  </a:ext>
                </a:extLst>
              </a:tr>
              <a:tr h="618519">
                <a:tc>
                  <a:txBody>
                    <a:bodyPr/>
                    <a:lstStyle/>
                    <a:p>
                      <a:pPr algn="ctr" fontAlgn="ctr">
                        <a:buNone/>
                      </a:pPr>
                      <a:r>
                        <a:rPr lang="en-IN" sz="1100" i="0" u="none" strike="noStrike" kern="1200">
                          <a:solidFill>
                            <a:srgbClr val="05B050"/>
                          </a:solidFill>
                          <a:effectLst/>
                          <a:latin typeface="Nunito Sans"/>
                          <a:ea typeface="+mn-ea"/>
                          <a:cs typeface="Arial"/>
                        </a:rPr>
                        <a:t>AOD</a:t>
                      </a:r>
                    </a:p>
                  </a:txBody>
                  <a:tcPr marL="6350" marR="6350" marT="635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r>
                        <a:rPr lang="en-US" sz="1100" i="0" u="none" strike="noStrike" kern="1200">
                          <a:solidFill>
                            <a:srgbClr val="05B050"/>
                          </a:solidFill>
                          <a:effectLst/>
                          <a:latin typeface="Nunito Sans"/>
                          <a:ea typeface="+mn-ea"/>
                          <a:cs typeface="Arial"/>
                        </a:rPr>
                        <a:t>Hub And Spoke - Phase 3</a:t>
                      </a:r>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B w="6350" cap="flat" cmpd="sng" algn="ctr">
                      <a:solidFill>
                        <a:srgbClr val="000000"/>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i="0" u="none" strike="noStrike" kern="1200">
                          <a:solidFill>
                            <a:srgbClr val="05B050"/>
                          </a:solidFill>
                          <a:effectLst/>
                          <a:latin typeface="Nunito Sans"/>
                          <a:ea typeface="+mn-ea"/>
                          <a:cs typeface="Arial"/>
                        </a:rPr>
                        <a:t>Introduction of Inbound flights (INTL to INDIA) only sell flights within 4 hours of connection.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i="0" u="none" strike="noStrike" kern="1200">
                        <a:solidFill>
                          <a:srgbClr val="05B050"/>
                        </a:solidFill>
                        <a:effectLst/>
                        <a:latin typeface="Nunito Sans"/>
                        <a:ea typeface="+mn-ea"/>
                        <a:cs typeface="Arial"/>
                      </a:endParaRPr>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B w="6350" cap="flat" cmpd="sng" algn="ctr">
                      <a:solidFill>
                        <a:srgbClr val="000000"/>
                      </a:solidFill>
                      <a:prstDash val="solid"/>
                      <a:round/>
                      <a:headEnd type="none" w="med" len="med"/>
                      <a:tailEnd type="none" w="med" len="med"/>
                    </a:lnB>
                    <a:noFill/>
                  </a:tcPr>
                </a:tc>
                <a:tc>
                  <a:txBody>
                    <a:bodyPr/>
                    <a:lstStyle/>
                    <a:p>
                      <a:pPr algn="ctr"/>
                      <a:r>
                        <a:rPr lang="en-US" sz="1100" i="0" u="none" strike="noStrike" kern="1200">
                          <a:solidFill>
                            <a:schemeClr val="tx1"/>
                          </a:solidFill>
                          <a:effectLst/>
                          <a:latin typeface="Nunito Sans"/>
                          <a:ea typeface="+mn-ea"/>
                          <a:cs typeface="Arial"/>
                        </a:rPr>
                        <a:t>25-Sep-2026</a:t>
                      </a:r>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B w="6350" cap="flat" cmpd="sng" algn="ctr">
                      <a:solidFill>
                        <a:srgbClr val="000000"/>
                      </a:solidFill>
                      <a:prstDash val="solid"/>
                      <a:round/>
                      <a:headEnd type="none" w="med" len="med"/>
                      <a:tailEnd type="none" w="med" len="med"/>
                    </a:lnB>
                    <a:noFill/>
                  </a:tcPr>
                </a:tc>
                <a:tc>
                  <a:txBody>
                    <a:bodyPr/>
                    <a:lstStyle/>
                    <a:p>
                      <a:pPr algn="ctr"/>
                      <a:r>
                        <a:rPr lang="en-US" sz="1100" b="0" i="0" u="none" strike="noStrike" kern="1200">
                          <a:solidFill>
                            <a:schemeClr val="tx1"/>
                          </a:solidFill>
                          <a:effectLst/>
                          <a:latin typeface="Nunito Sans"/>
                          <a:ea typeface="+mn-ea"/>
                          <a:cs typeface="Arial"/>
                        </a:rPr>
                        <a:t>No</a:t>
                      </a:r>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38732090"/>
                  </a:ext>
                </a:extLst>
              </a:tr>
            </a:tbl>
          </a:graphicData>
        </a:graphic>
      </p:graphicFrame>
    </p:spTree>
    <p:extLst>
      <p:ext uri="{BB962C8B-B14F-4D97-AF65-F5344CB8AC3E}">
        <p14:creationId xmlns:p14="http://schemas.microsoft.com/office/powerpoint/2010/main" val="305864496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E619E7-4CCB-70C0-B050-2C648890DD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A0B46C-9395-E708-C400-CFDA53248650}"/>
              </a:ext>
            </a:extLst>
          </p:cNvPr>
          <p:cNvSpPr>
            <a:spLocks noGrp="1"/>
          </p:cNvSpPr>
          <p:nvPr>
            <p:ph type="title"/>
          </p:nvPr>
        </p:nvSpPr>
        <p:spPr>
          <a:xfrm>
            <a:off x="1077687" y="303594"/>
            <a:ext cx="10023825" cy="1983612"/>
          </a:xfrm>
        </p:spPr>
        <p:txBody>
          <a:bodyPr/>
          <a:lstStyle/>
          <a:p>
            <a:r>
              <a:rPr lang="en-US" sz="3600">
                <a:latin typeface="AirIndia"/>
              </a:rPr>
              <a:t>Enterprise Platforms – FY26-27/Q1</a:t>
            </a:r>
            <a:endParaRPr lang="en-IN" sz="3600"/>
          </a:p>
        </p:txBody>
      </p:sp>
    </p:spTree>
    <p:extLst>
      <p:ext uri="{BB962C8B-B14F-4D97-AF65-F5344CB8AC3E}">
        <p14:creationId xmlns:p14="http://schemas.microsoft.com/office/powerpoint/2010/main" val="197797642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CF895B2-6371-CBEE-D467-3165C1F818A2}"/>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3A41A254-7326-714E-AF55-4C213D6394DE}" type="slidenum">
              <a:rPr kumimoji="0" lang="en-US" sz="1200" b="0" i="0" u="none" strike="noStrike" kern="1200" cap="none" spc="0" normalizeH="0" baseline="0" noProof="0" smtClean="0">
                <a:ln>
                  <a:noFill/>
                </a:ln>
                <a:solidFill>
                  <a:srgbClr val="DA0E28"/>
                </a:solidFill>
                <a:effectLst/>
                <a:uLnTx/>
                <a:uFillTx/>
                <a:latin typeface="Nunito Sans"/>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48</a:t>
            </a:fld>
            <a:endParaRPr kumimoji="0" lang="en-US" sz="1200" b="0" i="0" u="none" strike="noStrike" kern="1200" cap="none" spc="0" normalizeH="0" baseline="0" noProof="0">
              <a:ln>
                <a:noFill/>
              </a:ln>
              <a:solidFill>
                <a:srgbClr val="DA0E28"/>
              </a:solidFill>
              <a:effectLst/>
              <a:uLnTx/>
              <a:uFillTx/>
              <a:latin typeface="Nunito Sans"/>
              <a:ea typeface="+mn-ea"/>
              <a:cs typeface="+mn-cs"/>
            </a:endParaRPr>
          </a:p>
        </p:txBody>
      </p:sp>
      <p:sp>
        <p:nvSpPr>
          <p:cNvPr id="3" name="Rectangle 2">
            <a:extLst>
              <a:ext uri="{FF2B5EF4-FFF2-40B4-BE49-F238E27FC236}">
                <a16:creationId xmlns:a16="http://schemas.microsoft.com/office/drawing/2014/main" id="{33C64436-1CCC-E917-B868-7433769E6628}"/>
              </a:ext>
            </a:extLst>
          </p:cNvPr>
          <p:cNvSpPr/>
          <p:nvPr/>
        </p:nvSpPr>
        <p:spPr>
          <a:xfrm>
            <a:off x="314533" y="771094"/>
            <a:ext cx="1170432" cy="42234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400" b="1" i="0" u="none" strike="noStrike" kern="1200" cap="none" spc="0" normalizeH="0" baseline="0" noProof="0">
                <a:ln>
                  <a:noFill/>
                </a:ln>
                <a:solidFill>
                  <a:srgbClr val="FFFFFF"/>
                </a:solidFill>
                <a:effectLst/>
                <a:uLnTx/>
                <a:uFillTx/>
                <a:latin typeface="AirIndia"/>
              </a:rPr>
              <a:t>April ‘</a:t>
            </a:r>
            <a:r>
              <a:rPr lang="en-IN" sz="1400" b="1">
                <a:solidFill>
                  <a:srgbClr val="FFFFFF"/>
                </a:solidFill>
                <a:latin typeface="AirIndia"/>
              </a:rPr>
              <a:t>26</a:t>
            </a:r>
            <a:endParaRPr kumimoji="0" lang="en-US" sz="1400" b="1" i="0" u="none" strike="noStrike" kern="1200" cap="none" spc="0" normalizeH="0" baseline="0" noProof="0">
              <a:ln>
                <a:noFill/>
              </a:ln>
              <a:solidFill>
                <a:srgbClr val="FFFFFF"/>
              </a:solidFill>
              <a:effectLst/>
              <a:uLnTx/>
              <a:uFillTx/>
              <a:latin typeface="AirIndia" panose="04050608020B02020302" charset="0"/>
              <a:ea typeface="+mn-ea"/>
              <a:cs typeface="+mn-cs"/>
            </a:endParaRPr>
          </a:p>
        </p:txBody>
      </p:sp>
      <p:sp>
        <p:nvSpPr>
          <p:cNvPr id="6" name="Title 11">
            <a:extLst>
              <a:ext uri="{FF2B5EF4-FFF2-40B4-BE49-F238E27FC236}">
                <a16:creationId xmlns:a16="http://schemas.microsoft.com/office/drawing/2014/main" id="{0A7D5819-7592-1902-0E92-EAA0A2D86D94}"/>
              </a:ext>
            </a:extLst>
          </p:cNvPr>
          <p:cNvSpPr txBox="1">
            <a:spLocks/>
          </p:cNvSpPr>
          <p:nvPr/>
        </p:nvSpPr>
        <p:spPr>
          <a:xfrm>
            <a:off x="304800" y="269218"/>
            <a:ext cx="9749641" cy="480073"/>
          </a:xfrm>
          <a:prstGeom prst="rect">
            <a:avLst/>
          </a:prstGeom>
        </p:spPr>
        <p:txBody>
          <a:bodyPr lIns="91440" tIns="45720" rIns="91440" bIns="45720" anchor="t">
            <a:noAutofit/>
          </a:bodyPr>
          <a:lstStyle>
            <a:lvl1pPr algn="l" defTabSz="914400" rtl="0" eaLnBrk="1" latinLnBrk="0" hangingPunct="1">
              <a:lnSpc>
                <a:spcPct val="90000"/>
              </a:lnSpc>
              <a:spcBef>
                <a:spcPct val="0"/>
              </a:spcBef>
              <a:buNone/>
              <a:defRPr sz="4400" b="1" i="0" kern="1200">
                <a:solidFill>
                  <a:schemeClr val="tx1"/>
                </a:solidFill>
                <a:latin typeface="AirIndia" pitchFamily="82" charset="77"/>
                <a:ea typeface="+mj-ea"/>
                <a:cs typeface="+mj-cs"/>
              </a:defRPr>
            </a:lvl1pPr>
          </a:lstStyle>
          <a:p>
            <a:pPr>
              <a:defRPr/>
            </a:pPr>
            <a:r>
              <a:rPr kumimoji="0" lang="en-US" sz="1800" b="1" i="0" u="none" strike="noStrike" kern="1200" cap="none" spc="0" normalizeH="0" baseline="0" noProof="0">
                <a:ln>
                  <a:noFill/>
                </a:ln>
                <a:solidFill>
                  <a:srgbClr val="DA0E28"/>
                </a:solidFill>
                <a:effectLst/>
                <a:uLnTx/>
                <a:uFillTx/>
                <a:latin typeface="AirIndia"/>
                <a:ea typeface="+mj-ea"/>
                <a:cs typeface="+mj-cs"/>
              </a:rPr>
              <a:t>Enterprise Intelligent -</a:t>
            </a:r>
            <a:r>
              <a:rPr lang="en-US" sz="1800">
                <a:solidFill>
                  <a:srgbClr val="DA0E28"/>
                </a:solidFill>
                <a:latin typeface="AirIndia"/>
              </a:rPr>
              <a:t>FY26-27</a:t>
            </a:r>
            <a:r>
              <a:rPr kumimoji="0" lang="en-US" sz="1800" b="1" i="0" u="none" strike="noStrike" kern="1200" cap="none" spc="0" normalizeH="0" baseline="0" noProof="0">
                <a:ln>
                  <a:noFill/>
                </a:ln>
                <a:solidFill>
                  <a:srgbClr val="DA0E28"/>
                </a:solidFill>
                <a:effectLst/>
                <a:uLnTx/>
                <a:uFillTx/>
                <a:latin typeface="AirIndia"/>
                <a:ea typeface="+mj-ea"/>
                <a:cs typeface="+mj-cs"/>
              </a:rPr>
              <a:t> Q1 Release </a:t>
            </a:r>
            <a:r>
              <a:rPr lang="en-US" sz="1800">
                <a:solidFill>
                  <a:srgbClr val="DA0E28"/>
                </a:solidFill>
                <a:latin typeface="AirIndia"/>
              </a:rPr>
              <a:t>Plan</a:t>
            </a:r>
            <a:endParaRPr lang="en-US" sz="1800" b="0">
              <a:solidFill>
                <a:srgbClr val="000000"/>
              </a:solidFill>
              <a:latin typeface="AirIndia"/>
            </a:endParaRPr>
          </a:p>
          <a:p>
            <a:pPr>
              <a:defRPr/>
            </a:pPr>
            <a:endParaRPr lang="en-US" sz="1800" i="0" u="none" strike="noStrike" kern="1200" cap="none" spc="0" normalizeH="0" baseline="0" noProof="0">
              <a:ln>
                <a:noFill/>
              </a:ln>
              <a:solidFill>
                <a:srgbClr val="DA0E28"/>
              </a:solidFill>
              <a:effectLst/>
              <a:uLnTx/>
              <a:uFillTx/>
              <a:latin typeface="AirIndia"/>
            </a:endParaRPr>
          </a:p>
        </p:txBody>
      </p:sp>
      <p:graphicFrame>
        <p:nvGraphicFramePr>
          <p:cNvPr id="12" name="Table 11">
            <a:extLst>
              <a:ext uri="{FF2B5EF4-FFF2-40B4-BE49-F238E27FC236}">
                <a16:creationId xmlns:a16="http://schemas.microsoft.com/office/drawing/2014/main" id="{F6168131-DF40-0579-4805-99ACF6DAC1EC}"/>
              </a:ext>
            </a:extLst>
          </p:cNvPr>
          <p:cNvGraphicFramePr>
            <a:graphicFrameLocks noGrp="1"/>
          </p:cNvGraphicFramePr>
          <p:nvPr>
            <p:extLst>
              <p:ext uri="{D42A27DB-BD31-4B8C-83A1-F6EECF244321}">
                <p14:modId xmlns:p14="http://schemas.microsoft.com/office/powerpoint/2010/main" val="1084360553"/>
              </p:ext>
            </p:extLst>
          </p:nvPr>
        </p:nvGraphicFramePr>
        <p:xfrm>
          <a:off x="1474079" y="773376"/>
          <a:ext cx="9532282" cy="5394522"/>
        </p:xfrm>
        <a:graphic>
          <a:graphicData uri="http://schemas.openxmlformats.org/drawingml/2006/table">
            <a:tbl>
              <a:tblPr firstRow="1" bandRow="1">
                <a:tableStyleId>{5C22544A-7EE6-4342-B048-85BDC9FD1C3A}</a:tableStyleId>
              </a:tblPr>
              <a:tblGrid>
                <a:gridCol w="1162969">
                  <a:extLst>
                    <a:ext uri="{9D8B030D-6E8A-4147-A177-3AD203B41FA5}">
                      <a16:colId xmlns:a16="http://schemas.microsoft.com/office/drawing/2014/main" val="2186609487"/>
                    </a:ext>
                  </a:extLst>
                </a:gridCol>
                <a:gridCol w="2829613">
                  <a:extLst>
                    <a:ext uri="{9D8B030D-6E8A-4147-A177-3AD203B41FA5}">
                      <a16:colId xmlns:a16="http://schemas.microsoft.com/office/drawing/2014/main" val="2822350773"/>
                    </a:ext>
                  </a:extLst>
                </a:gridCol>
                <a:gridCol w="4535244">
                  <a:extLst>
                    <a:ext uri="{9D8B030D-6E8A-4147-A177-3AD203B41FA5}">
                      <a16:colId xmlns:a16="http://schemas.microsoft.com/office/drawing/2014/main" val="99588705"/>
                    </a:ext>
                  </a:extLst>
                </a:gridCol>
                <a:gridCol w="1004456">
                  <a:extLst>
                    <a:ext uri="{9D8B030D-6E8A-4147-A177-3AD203B41FA5}">
                      <a16:colId xmlns:a16="http://schemas.microsoft.com/office/drawing/2014/main" val="1739073323"/>
                    </a:ext>
                  </a:extLst>
                </a:gridCol>
              </a:tblGrid>
              <a:tr h="419846">
                <a:tc>
                  <a:txBody>
                    <a:bodyPr/>
                    <a:lstStyle/>
                    <a:p>
                      <a:pPr marL="0" lvl="0" indent="0" algn="ctr" defTabSz="914400">
                        <a:lnSpc>
                          <a:spcPct val="100000"/>
                        </a:lnSpc>
                        <a:buNone/>
                      </a:pPr>
                      <a:r>
                        <a:rPr lang="en-IN" sz="1100" b="1" kern="1200">
                          <a:solidFill>
                            <a:schemeClr val="bg1"/>
                          </a:solidFill>
                          <a:latin typeface="+mn-lt"/>
                          <a:ea typeface="+mn-ea"/>
                          <a:cs typeface="+mn-cs"/>
                        </a:rPr>
                        <a:t>LOB</a:t>
                      </a: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solidFill>
                      <a:schemeClr val="accent3">
                        <a:lumMod val="90000"/>
                        <a:lumOff val="10000"/>
                      </a:schemeClr>
                    </a:solidFill>
                  </a:tcPr>
                </a:tc>
                <a:tc>
                  <a:txBody>
                    <a:bodyPr/>
                    <a:lstStyle/>
                    <a:p>
                      <a:pPr marL="0" lvl="0" indent="0" algn="ctr" defTabSz="914400" rtl="0">
                        <a:lnSpc>
                          <a:spcPct val="100000"/>
                        </a:lnSpc>
                        <a:buFont typeface="Arial" panose="020B0604020202020204" pitchFamily="34" charset="0"/>
                        <a:buNone/>
                      </a:pPr>
                      <a:r>
                        <a:rPr lang="en-IN" sz="1100" b="1" kern="1200">
                          <a:solidFill>
                            <a:schemeClr val="bg1"/>
                          </a:solidFill>
                          <a:latin typeface="+mn-lt"/>
                          <a:ea typeface="+mn-ea"/>
                          <a:cs typeface="+mn-cs"/>
                        </a:rPr>
                        <a:t>Initiatives</a:t>
                      </a:r>
                      <a:endParaRPr lang="en-US" sz="1100" b="1"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tc>
                  <a:txBody>
                    <a:bodyPr/>
                    <a:lstStyle/>
                    <a:p>
                      <a:pPr marL="0" indent="0" algn="ctr" defTabSz="914400" rtl="0" eaLnBrk="1" latinLnBrk="0" hangingPunct="1">
                        <a:buFont typeface="Arial" panose="020B0604020202020204" pitchFamily="34" charset="0"/>
                        <a:buNone/>
                      </a:pPr>
                      <a:r>
                        <a:rPr lang="en-IN" sz="1100" kern="1200">
                          <a:solidFill>
                            <a:schemeClr val="bg1"/>
                          </a:solidFill>
                          <a:latin typeface="+mn-lt"/>
                          <a:ea typeface="+mn-ea"/>
                          <a:cs typeface="+mn-cs"/>
                        </a:rPr>
                        <a:t>Value Justification/Realization</a:t>
                      </a:r>
                      <a:endParaRPr lang="en-US" sz="1100"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tc>
                  <a:txBody>
                    <a:bodyPr/>
                    <a:lstStyle/>
                    <a:p>
                      <a:pPr marL="0" indent="0" algn="ctr" defTabSz="914400" rtl="0" eaLnBrk="1" latinLnBrk="0" hangingPunct="1">
                        <a:buFont typeface="Arial" panose="020B0604020202020204" pitchFamily="34" charset="0"/>
                        <a:buNone/>
                      </a:pPr>
                      <a:r>
                        <a:rPr lang="en-US" sz="1100" kern="1200">
                          <a:solidFill>
                            <a:schemeClr val="bg1"/>
                          </a:solidFill>
                          <a:latin typeface="+mn-lt"/>
                          <a:ea typeface="+mn-ea"/>
                          <a:cs typeface="+mn-cs"/>
                        </a:rPr>
                        <a:t>Go-live Date</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extLst>
                  <a:ext uri="{0D108BD9-81ED-4DB2-BD59-A6C34878D82A}">
                    <a16:rowId xmlns:a16="http://schemas.microsoft.com/office/drawing/2014/main" val="844450115"/>
                  </a:ext>
                </a:extLst>
              </a:tr>
              <a:tr h="907409">
                <a:tc rowSpan="2">
                  <a:txBody>
                    <a:bodyPr/>
                    <a:lstStyle/>
                    <a:p>
                      <a:pPr marL="0" lvl="0" indent="0" algn="ctr">
                        <a:lnSpc>
                          <a:spcPct val="100000"/>
                        </a:lnSpc>
                        <a:spcBef>
                          <a:spcPts val="0"/>
                        </a:spcBef>
                        <a:spcAft>
                          <a:spcPts val="0"/>
                        </a:spcAft>
                        <a:buNone/>
                      </a:pPr>
                      <a:r>
                        <a:rPr lang="en-US" sz="1100" b="1" i="0" u="none" strike="noStrike" kern="1200" noProof="0">
                          <a:solidFill>
                            <a:srgbClr val="0070C0"/>
                          </a:solidFill>
                          <a:latin typeface="+mn-lt"/>
                        </a:rPr>
                        <a:t>FIN Tech</a:t>
                      </a: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tc>
                  <a:txBody>
                    <a:bodyPr/>
                    <a:lstStyle/>
                    <a:p>
                      <a:pPr marL="0" lvl="0" indent="0" algn="l">
                        <a:lnSpc>
                          <a:spcPct val="100000"/>
                        </a:lnSpc>
                        <a:spcBef>
                          <a:spcPts val="0"/>
                        </a:spcBef>
                        <a:spcAft>
                          <a:spcPts val="0"/>
                        </a:spcAft>
                        <a:buNone/>
                      </a:pPr>
                      <a:r>
                        <a:rPr lang="en-US" sz="1100" b="1" i="0" u="none" strike="noStrike" kern="1200" noProof="0">
                          <a:solidFill>
                            <a:srgbClr val="0070C0"/>
                          </a:solidFill>
                        </a:rPr>
                        <a:t>PAX Claim Phase II – Integration with PayU</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0" i="0" u="none" strike="noStrike" kern="1200" baseline="0" noProof="0">
                          <a:solidFill>
                            <a:srgbClr val="000000"/>
                          </a:solidFill>
                          <a:latin typeface="+mn-lt"/>
                        </a:rPr>
                        <a:t>Automating the integration ensures faster processing of Pax Claim payments with reduced manual errors, leading to improved financial accuracy and timely disbursements . Direct integration with banking partners strengthens data traceability and aligns with financial governance standards </a:t>
                      </a:r>
                      <a:endParaRPr lang="en-US" sz="1100"/>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indent="0" algn="l" rtl="0" eaLnBrk="1" latinLnBrk="0" hangingPunct="1">
                        <a:buFont typeface="Arial" panose="020B0604020202020204" pitchFamily="34" charset="0"/>
                        <a:buNone/>
                      </a:pPr>
                      <a:r>
                        <a:rPr lang="en-US" sz="1100" b="0" i="0" u="none" strike="sngStrike" noProof="0">
                          <a:latin typeface="Arial"/>
                        </a:rPr>
                        <a:t>27 Apr</a:t>
                      </a:r>
                    </a:p>
                    <a:p>
                      <a:pPr marL="0" lvl="0" indent="0" algn="l">
                        <a:buFont typeface="Arial" panose="020B0604020202020204" pitchFamily="34" charset="0"/>
                        <a:buNone/>
                      </a:pPr>
                      <a:r>
                        <a:rPr lang="en-US" sz="1100" b="0" i="0" u="none" strike="noStrike" noProof="0">
                          <a:latin typeface="Arial"/>
                        </a:rPr>
                        <a:t>31 Jul</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443371065"/>
                  </a:ext>
                </a:extLst>
              </a:tr>
              <a:tr h="907409">
                <a:tc vMerge="1">
                  <a:txBody>
                    <a:bodyPr/>
                    <a:lstStyle/>
                    <a:p>
                      <a:endParaRPr lang="en-US"/>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tc>
                  <a:txBody>
                    <a:bodyPr/>
                    <a:lstStyle/>
                    <a:p>
                      <a:pPr marL="0" lvl="0" indent="0" algn="l">
                        <a:lnSpc>
                          <a:spcPct val="100000"/>
                        </a:lnSpc>
                        <a:spcBef>
                          <a:spcPts val="0"/>
                        </a:spcBef>
                        <a:spcAft>
                          <a:spcPts val="0"/>
                        </a:spcAft>
                        <a:buNone/>
                      </a:pPr>
                      <a:r>
                        <a:rPr lang="en-US" sz="1100" b="1" i="0" u="none" strike="noStrike" kern="1200" noProof="0">
                          <a:solidFill>
                            <a:srgbClr val="0070C0"/>
                          </a:solidFill>
                          <a:latin typeface="Nunito Sans"/>
                        </a:rPr>
                        <a:t>PAX Claim Phase II – Integration with HSBC</a:t>
                      </a:r>
                      <a:endParaRPr lang="en-US">
                        <a:solidFill>
                          <a:srgbClr val="0070C0"/>
                        </a:solidFill>
                      </a:endParaRPr>
                    </a:p>
                  </a:txBody>
                  <a:tcPr anchor="ctr">
                    <a:lnL w="6350">
                      <a:solidFill>
                        <a:schemeClr val="bg1">
                          <a:lumMod val="75000"/>
                        </a:schemeClr>
                      </a:solidFill>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lvl="0" indent="0" algn="l">
                        <a:lnSpc>
                          <a:spcPct val="100000"/>
                        </a:lnSpc>
                        <a:buNone/>
                      </a:pPr>
                      <a:r>
                        <a:rPr lang="en-US" sz="1100" b="0" i="0" u="none" strike="noStrike" noProof="0">
                          <a:solidFill>
                            <a:srgbClr val="000000"/>
                          </a:solidFill>
                          <a:latin typeface="Nunito Sans"/>
                        </a:rPr>
                        <a:t>Automating the integration ensures faster processing of Pax Claim payments with reduced manual errors, leading to improved financial accuracy and timely disbursements . Direct integration with banking partners strengthens data traceability and aligns with financial governance standards </a:t>
                      </a:r>
                      <a:endParaRPr lang="en-US"/>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tc>
                  <a:txBody>
                    <a:bodyPr/>
                    <a:lstStyle/>
                    <a:p>
                      <a:pPr marL="0" lvl="0" indent="0" algn="l">
                        <a:buNone/>
                      </a:pPr>
                      <a:r>
                        <a:rPr lang="en-US" sz="1100" b="0" i="0" u="none" strike="sngStrike" noProof="0">
                          <a:latin typeface="Arial"/>
                        </a:rPr>
                        <a:t>27 Apr</a:t>
                      </a:r>
                    </a:p>
                    <a:p>
                      <a:pPr marL="0" lvl="0" indent="0" algn="l">
                        <a:buNone/>
                      </a:pPr>
                      <a:r>
                        <a:rPr lang="en-US" sz="1100" b="0" i="0" u="none" strike="noStrike" noProof="0">
                          <a:latin typeface="Arial"/>
                        </a:rPr>
                        <a:t>22 May</a:t>
                      </a: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extLst>
                  <a:ext uri="{0D108BD9-81ED-4DB2-BD59-A6C34878D82A}">
                    <a16:rowId xmlns:a16="http://schemas.microsoft.com/office/drawing/2014/main" val="3063488291"/>
                  </a:ext>
                </a:extLst>
              </a:tr>
              <a:tr h="419846">
                <a:tc rowSpan="2">
                  <a:txBody>
                    <a:bodyPr/>
                    <a:lstStyle/>
                    <a:p>
                      <a:pPr marL="0" lvl="0" indent="0" algn="ctr">
                        <a:lnSpc>
                          <a:spcPct val="100000"/>
                        </a:lnSpc>
                        <a:spcBef>
                          <a:spcPts val="0"/>
                        </a:spcBef>
                        <a:spcAft>
                          <a:spcPts val="0"/>
                        </a:spcAft>
                        <a:buNone/>
                      </a:pPr>
                      <a:r>
                        <a:rPr lang="en-US" sz="1100" b="1" i="0" u="none" strike="noStrike" kern="1200" noProof="0">
                          <a:solidFill>
                            <a:srgbClr val="0070C0"/>
                          </a:solidFill>
                        </a:rPr>
                        <a:t>B2E</a:t>
                      </a: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tc>
                  <a:txBody>
                    <a:bodyPr/>
                    <a:lstStyle/>
                    <a:p>
                      <a:pPr marL="0" lvl="0" indent="0" algn="l">
                        <a:lnSpc>
                          <a:spcPct val="100000"/>
                        </a:lnSpc>
                        <a:spcBef>
                          <a:spcPts val="0"/>
                        </a:spcBef>
                        <a:spcAft>
                          <a:spcPts val="0"/>
                        </a:spcAft>
                        <a:buNone/>
                      </a:pPr>
                      <a:r>
                        <a:rPr lang="en-US" sz="1100" b="1" i="0" u="none" strike="noStrike" kern="1200" noProof="0">
                          <a:solidFill>
                            <a:schemeClr val="tx1">
                              <a:lumMod val="49000"/>
                              <a:lumOff val="51000"/>
                            </a:schemeClr>
                          </a:solidFill>
                        </a:rPr>
                        <a:t>Boarding Document Display</a:t>
                      </a:r>
                      <a:endParaRPr lang="en-US" b="1">
                        <a:solidFill>
                          <a:schemeClr val="tx1">
                            <a:lumMod val="49000"/>
                            <a:lumOff val="51000"/>
                          </a:schemeClr>
                        </a:solidFill>
                      </a:endParaRPr>
                    </a:p>
                  </a:txBody>
                  <a:tcPr anchor="ctr">
                    <a:lnL w="6350" cap="flat" cmpd="sng" algn="ctr">
                      <a:solidFill>
                        <a:schemeClr val="bg1">
                          <a:lumMod val="75000"/>
                        </a:schemeClr>
                      </a:solidFill>
                      <a:prstDash val="solid"/>
                      <a:round/>
                      <a:headEnd type="none" w="med" len="med"/>
                      <a:tailEnd type="none" w="med" len="med"/>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lvl="0" indent="0" algn="l">
                        <a:lnSpc>
                          <a:spcPct val="100000"/>
                        </a:lnSpc>
                        <a:buNone/>
                      </a:pPr>
                      <a:r>
                        <a:rPr lang="en-US" sz="1100" b="0" i="0" u="none" strike="noStrike" noProof="0">
                          <a:solidFill>
                            <a:schemeClr val="tx1"/>
                          </a:solidFill>
                          <a:latin typeface="Nunito Sans"/>
                        </a:rPr>
                        <a:t>Integrates catering data from PAXIA to show class‑wise meal types and crew meals in real time</a:t>
                      </a:r>
                      <a:endParaRPr lang="en-US"/>
                    </a:p>
                  </a:txBody>
                  <a:tcPr anchor="ctr">
                    <a:lnL w="6350" cap="flat" cmpd="sng" algn="ctr">
                      <a:solidFill>
                        <a:schemeClr val="bg1">
                          <a:lumMod val="75000"/>
                        </a:schemeClr>
                      </a:solidFill>
                      <a:prstDash val="solid"/>
                      <a:round/>
                      <a:headEnd type="none" w="med" len="med"/>
                      <a:tailEnd type="none" w="med" len="med"/>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lvl="0" indent="0" algn="l">
                        <a:buNone/>
                      </a:pPr>
                      <a:r>
                        <a:rPr lang="en-US" sz="1100" b="0" i="0" u="none" strike="noStrike" noProof="0">
                          <a:latin typeface="Arial"/>
                        </a:rPr>
                        <a:t>29 April</a:t>
                      </a: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extLst>
                  <a:ext uri="{0D108BD9-81ED-4DB2-BD59-A6C34878D82A}">
                    <a16:rowId xmlns:a16="http://schemas.microsoft.com/office/drawing/2014/main" val="1348307634"/>
                  </a:ext>
                </a:extLst>
              </a:tr>
              <a:tr h="541737">
                <a:tc vMerge="1">
                  <a:txBody>
                    <a:bodyPr/>
                    <a:lstStyle/>
                    <a:p>
                      <a:endParaRPr lang="en-US" sz="1100" b="1" kern="1200">
                        <a:solidFill>
                          <a:srgbClr val="00B050"/>
                        </a:solidFill>
                        <a:latin typeface="+mn-lt"/>
                        <a:ea typeface="+mn-ea"/>
                        <a:cs typeface="+mn-cs"/>
                      </a:endParaRP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tc>
                  <a:txBody>
                    <a:bodyPr/>
                    <a:lstStyle/>
                    <a:p>
                      <a:pPr marL="0" marR="0" lvl="0" indent="0" algn="l" rtl="0">
                        <a:lnSpc>
                          <a:spcPct val="100000"/>
                        </a:lnSpc>
                        <a:spcBef>
                          <a:spcPts val="0"/>
                        </a:spcBef>
                        <a:spcAft>
                          <a:spcPts val="0"/>
                        </a:spcAft>
                        <a:buClrTx/>
                        <a:buSzTx/>
                        <a:buFontTx/>
                        <a:buNone/>
                      </a:pPr>
                      <a:r>
                        <a:rPr lang="en-US" sz="1100" b="1" kern="1200">
                          <a:solidFill>
                            <a:srgbClr val="0070C0"/>
                          </a:solidFill>
                          <a:latin typeface="+mn-lt"/>
                          <a:ea typeface="+mn-ea"/>
                          <a:cs typeface="+mn-cs"/>
                        </a:rPr>
                        <a:t>Crew Error Report (Power Apps) </a:t>
                      </a:r>
                      <a:endParaRPr lang="en-US">
                        <a:solidFill>
                          <a:srgbClr val="0070C0"/>
                        </a:solidFill>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lvl="0" algn="l">
                        <a:lnSpc>
                          <a:spcPct val="100000"/>
                        </a:lnSpc>
                        <a:spcBef>
                          <a:spcPts val="0"/>
                        </a:spcBef>
                        <a:spcAft>
                          <a:spcPts val="0"/>
                        </a:spcAft>
                        <a:buNone/>
                      </a:pPr>
                      <a:r>
                        <a:rPr lang="en-US" sz="1100" b="0" i="0" u="none" strike="noStrike" noProof="0">
                          <a:latin typeface="Nunito Sans"/>
                        </a:rPr>
                        <a:t>Automated generation and reporting of crew‑related operational errors </a:t>
                      </a:r>
                      <a:endParaRPr lang="en-US" sz="1100" b="1" i="0" u="none" strike="noStrike" noProof="0">
                        <a:solidFill>
                          <a:schemeClr val="accent1"/>
                        </a:solidFill>
                        <a:latin typeface="Nunito San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l">
                        <a:lnSpc>
                          <a:spcPct val="100000"/>
                        </a:lnSpc>
                        <a:spcBef>
                          <a:spcPts val="0"/>
                        </a:spcBef>
                        <a:spcAft>
                          <a:spcPts val="0"/>
                        </a:spcAft>
                        <a:buNone/>
                      </a:pPr>
                      <a:r>
                        <a:rPr lang="en-US" sz="1100" b="0" i="0" u="none" strike="sngStrike" noProof="0">
                          <a:latin typeface="Arial"/>
                        </a:rPr>
                        <a:t>28 May</a:t>
                      </a:r>
                    </a:p>
                    <a:p>
                      <a:pPr marL="0" marR="0" lvl="0" indent="0" algn="l">
                        <a:lnSpc>
                          <a:spcPct val="100000"/>
                        </a:lnSpc>
                        <a:spcBef>
                          <a:spcPts val="0"/>
                        </a:spcBef>
                        <a:spcAft>
                          <a:spcPts val="0"/>
                        </a:spcAft>
                        <a:buNone/>
                      </a:pPr>
                      <a:r>
                        <a:rPr lang="en-US" sz="1100" b="0" i="0" u="none" strike="noStrike" noProof="0">
                          <a:latin typeface="Arial"/>
                        </a:rPr>
                        <a:t>25 June</a:t>
                      </a:r>
                    </a:p>
                  </a:txBody>
                  <a:tcPr anchor="ctr">
                    <a:lnL w="6350" cap="flat" cmpd="sng" algn="ctr">
                      <a:solidFill>
                        <a:schemeClr val="bg1">
                          <a:lumMod val="75000"/>
                        </a:schemeClr>
                      </a:solidFill>
                      <a:prstDash val="solid"/>
                      <a:round/>
                      <a:headEnd type="none" w="med" len="med"/>
                      <a:tailEnd type="none" w="med" len="med"/>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423749004"/>
                  </a:ext>
                </a:extLst>
              </a:tr>
              <a:tr h="419846">
                <a:tc>
                  <a:txBody>
                    <a:bodyPr/>
                    <a:lstStyle/>
                    <a:p>
                      <a:pPr marL="0" lvl="0" indent="0" algn="ctr">
                        <a:lnSpc>
                          <a:spcPct val="100000"/>
                        </a:lnSpc>
                        <a:spcBef>
                          <a:spcPts val="0"/>
                        </a:spcBef>
                        <a:spcAft>
                          <a:spcPts val="0"/>
                        </a:spcAft>
                        <a:buNone/>
                      </a:pPr>
                      <a:r>
                        <a:rPr lang="en-US" sz="1100" b="1" kern="1200">
                          <a:solidFill>
                            <a:srgbClr val="0070C0"/>
                          </a:solidFill>
                          <a:latin typeface="+mn-lt"/>
                          <a:ea typeface="+mn-ea"/>
                          <a:cs typeface="+mn-cs"/>
                        </a:rPr>
                        <a:t>OPS</a:t>
                      </a:r>
                    </a:p>
                    <a:p>
                      <a:pPr marL="0" lvl="0" indent="0" algn="ctr">
                        <a:lnSpc>
                          <a:spcPct val="100000"/>
                        </a:lnSpc>
                        <a:spcBef>
                          <a:spcPts val="0"/>
                        </a:spcBef>
                        <a:spcAft>
                          <a:spcPts val="0"/>
                        </a:spcAft>
                        <a:buNone/>
                      </a:pPr>
                      <a:endParaRPr lang="en-US" sz="1100" b="1" kern="1200">
                        <a:solidFill>
                          <a:srgbClr val="0070C0"/>
                        </a:solidFill>
                        <a:latin typeface="+mn-lt"/>
                        <a:ea typeface="+mn-ea"/>
                        <a:cs typeface="+mn-cs"/>
                      </a:endParaRP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1" kern="1200">
                          <a:solidFill>
                            <a:srgbClr val="0070C0"/>
                          </a:solidFill>
                          <a:latin typeface="+mn-lt"/>
                          <a:ea typeface="+mn-ea"/>
                          <a:cs typeface="+mn-cs"/>
                        </a:rPr>
                        <a:t>BotMinds To CAE CM Integration for flightOps</a:t>
                      </a:r>
                    </a:p>
                  </a:txBody>
                  <a:tcPr anchor="ctr">
                    <a:lnL w="6350" cap="flat" cmpd="sng" algn="ctr">
                      <a:solidFill>
                        <a:schemeClr val="bg1">
                          <a:lumMod val="75000"/>
                        </a:schemeClr>
                      </a:solidFill>
                      <a:prstDash val="solid"/>
                      <a:round/>
                      <a:headEnd type="none" w="med" len="med"/>
                      <a:tailEnd type="none" w="med" len="med"/>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a:t>Automating data extraction and updates</a:t>
                      </a:r>
                    </a:p>
                  </a:txBody>
                  <a:tcPr anchor="ctr">
                    <a:lnL w="6350" cap="flat" cmpd="sng" algn="ctr">
                      <a:solidFill>
                        <a:schemeClr val="bg1">
                          <a:lumMod val="75000"/>
                        </a:schemeClr>
                      </a:solidFill>
                      <a:prstDash val="solid"/>
                      <a:round/>
                      <a:headEnd type="none" w="med" len="med"/>
                      <a:tailEnd type="none" w="med" len="med"/>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0" i="0" u="none" strike="noStrike" noProof="0">
                          <a:latin typeface="Arial"/>
                        </a:rPr>
                        <a:t>24 Apr</a:t>
                      </a: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375834491"/>
                  </a:ext>
                </a:extLst>
              </a:tr>
              <a:tr h="419846">
                <a:tc rowSpan="2">
                  <a:txBody>
                    <a:bodyPr/>
                    <a:lstStyle/>
                    <a:p>
                      <a:pPr marL="0" lvl="0" indent="0" algn="ctr">
                        <a:lnSpc>
                          <a:spcPct val="100000"/>
                        </a:lnSpc>
                        <a:spcBef>
                          <a:spcPts val="0"/>
                        </a:spcBef>
                        <a:spcAft>
                          <a:spcPts val="0"/>
                        </a:spcAft>
                        <a:buNone/>
                      </a:pPr>
                      <a:r>
                        <a:rPr lang="en-US" sz="1100" b="1" kern="1200">
                          <a:solidFill>
                            <a:srgbClr val="0070C0"/>
                          </a:solidFill>
                          <a:latin typeface="+mn-lt"/>
                          <a:ea typeface="+mn-ea"/>
                          <a:cs typeface="+mn-cs"/>
                        </a:rPr>
                        <a:t>CRM Tech</a:t>
                      </a: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a:solidFill>
                        <a:schemeClr val="bg1">
                          <a:lumMod val="75000"/>
                        </a:schemeClr>
                      </a:solidFill>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1" kern="1200">
                          <a:solidFill>
                            <a:srgbClr val="FF0000"/>
                          </a:solidFill>
                          <a:latin typeface="+mn-lt"/>
                          <a:ea typeface="+mn-ea"/>
                          <a:cs typeface="+mn-cs"/>
                        </a:rPr>
                        <a:t>Refunds AI - Phase-1</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a:t>Automating ATC Refunds for W2C and E2C for Disrupted flights</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0" i="0" u="none" strike="noStrike" noProof="0">
                          <a:latin typeface="Arial"/>
                        </a:rPr>
                        <a:t>22 Apr</a:t>
                      </a:r>
                    </a:p>
                    <a:p>
                      <a:pPr marL="0" marR="0" lvl="0" indent="0" algn="l">
                        <a:lnSpc>
                          <a:spcPct val="100000"/>
                        </a:lnSpc>
                        <a:spcBef>
                          <a:spcPts val="0"/>
                        </a:spcBef>
                        <a:spcAft>
                          <a:spcPts val="0"/>
                        </a:spcAft>
                        <a:buClrTx/>
                        <a:buSzTx/>
                        <a:buFontTx/>
                        <a:buNone/>
                      </a:pPr>
                      <a:r>
                        <a:rPr lang="en-US" sz="1100" b="0" i="0" u="none" strike="noStrike" noProof="0">
                          <a:latin typeface="Arial"/>
                        </a:rPr>
                        <a:t>TBF</a:t>
                      </a:r>
                    </a:p>
                  </a:txBody>
                  <a:tcPr anchor="ctr">
                    <a:lnL w="6350" cap="flat" cmpd="sng" algn="ctr">
                      <a:solidFill>
                        <a:schemeClr val="bg1">
                          <a:lumMod val="75000"/>
                        </a:schemeClr>
                      </a:solidFill>
                      <a:prstDash val="solid"/>
                      <a:round/>
                      <a:headEnd type="none" w="med" len="med"/>
                      <a:tailEnd type="none" w="med" len="med"/>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131961725"/>
                  </a:ext>
                </a:extLst>
              </a:tr>
              <a:tr h="1286625">
                <a:tc vMerge="1">
                  <a:txBody>
                    <a:bodyPr/>
                    <a:lstStyle/>
                    <a:p>
                      <a:pPr defTabSz="914400">
                        <a:tabLst/>
                        <a:defRPr/>
                      </a:pPr>
                      <a:endParaRPr lang="en-US"/>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1" kern="1200">
                          <a:solidFill>
                            <a:srgbClr val="0070C0"/>
                          </a:solidFill>
                          <a:latin typeface="+mn-lt"/>
                          <a:ea typeface="+mn-ea"/>
                          <a:cs typeface="+mn-cs"/>
                        </a:rPr>
                        <a:t>Name Change Amadeus Integration - non Chargable-Direct</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a:t>This project streamlines a highly manual and error‑prone Name Change process by automating it end‑to‑end within Salesforce using Amadeus services. It cuts turnaround time from days to minutes, improving both operational efficiency and customer satisfaction. The automation ensures accurate updates across PNR and ticket, strengthening compliance and reducing denied boarding risks. </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l" rtl="0" eaLnBrk="1" fontAlgn="auto" latinLnBrk="0" hangingPunct="1">
                        <a:lnSpc>
                          <a:spcPct val="100000"/>
                        </a:lnSpc>
                        <a:spcBef>
                          <a:spcPts val="0"/>
                        </a:spcBef>
                        <a:spcAft>
                          <a:spcPts val="0"/>
                        </a:spcAft>
                        <a:buClrTx/>
                        <a:buSzTx/>
                        <a:buFontTx/>
                        <a:buNone/>
                      </a:pPr>
                      <a:r>
                        <a:rPr lang="en-US" sz="1100" b="0" i="0" u="none" strike="noStrike" noProof="0">
                          <a:latin typeface="Arial"/>
                        </a:rPr>
                        <a:t>21 Apr</a:t>
                      </a:r>
                      <a:endParaRPr lang="en-US"/>
                    </a:p>
                  </a:txBody>
                  <a:tcPr anchor="ctr">
                    <a:lnL w="6350" cap="flat" cmpd="sng" algn="ctr">
                      <a:solidFill>
                        <a:schemeClr val="bg1">
                          <a:lumMod val="75000"/>
                        </a:schemeClr>
                      </a:solidFill>
                      <a:prstDash val="solid"/>
                      <a:round/>
                      <a:headEnd type="none" w="med" len="med"/>
                      <a:tailEnd type="none" w="med" len="med"/>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800509560"/>
                  </a:ext>
                </a:extLst>
              </a:tr>
            </a:tbl>
          </a:graphicData>
        </a:graphic>
      </p:graphicFrame>
      <p:sp>
        <p:nvSpPr>
          <p:cNvPr id="4" name="Rectangle 3">
            <a:extLst>
              <a:ext uri="{FF2B5EF4-FFF2-40B4-BE49-F238E27FC236}">
                <a16:creationId xmlns:a16="http://schemas.microsoft.com/office/drawing/2014/main" id="{55B530D3-F9F3-246C-0311-01D05E67C623}"/>
              </a:ext>
            </a:extLst>
          </p:cNvPr>
          <p:cNvSpPr/>
          <p:nvPr/>
        </p:nvSpPr>
        <p:spPr>
          <a:xfrm rot="5400000">
            <a:off x="8942419" y="6655587"/>
            <a:ext cx="90000" cy="90000"/>
          </a:xfrm>
          <a:prstGeom prst="rect">
            <a:avLst/>
          </a:prstGeom>
          <a:solidFill>
            <a:schemeClr val="bg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9" name="TextBox 8">
            <a:extLst>
              <a:ext uri="{FF2B5EF4-FFF2-40B4-BE49-F238E27FC236}">
                <a16:creationId xmlns:a16="http://schemas.microsoft.com/office/drawing/2014/main" id="{F742957C-55AE-405D-2DDC-B94B886A02E8}"/>
              </a:ext>
            </a:extLst>
          </p:cNvPr>
          <p:cNvSpPr txBox="1"/>
          <p:nvPr/>
        </p:nvSpPr>
        <p:spPr>
          <a:xfrm>
            <a:off x="8986097" y="6582653"/>
            <a:ext cx="3069090" cy="246221"/>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FFFFFF">
                    <a:lumMod val="49000"/>
                  </a:srgbClr>
                </a:solidFill>
                <a:effectLst/>
                <a:uLnTx/>
                <a:uFillTx/>
                <a:latin typeface="Nunito Sans"/>
                <a:ea typeface="+mn-ea"/>
                <a:cs typeface="+mn-cs"/>
              </a:rPr>
              <a:t>Descoped</a:t>
            </a:r>
          </a:p>
        </p:txBody>
      </p:sp>
      <p:sp>
        <p:nvSpPr>
          <p:cNvPr id="18" name="Rectangle 17">
            <a:extLst>
              <a:ext uri="{FF2B5EF4-FFF2-40B4-BE49-F238E27FC236}">
                <a16:creationId xmlns:a16="http://schemas.microsoft.com/office/drawing/2014/main" id="{B663BA38-AD19-10CC-E460-E5B28DA79A11}"/>
              </a:ext>
            </a:extLst>
          </p:cNvPr>
          <p:cNvSpPr/>
          <p:nvPr/>
        </p:nvSpPr>
        <p:spPr>
          <a:xfrm>
            <a:off x="10326888" y="6653023"/>
            <a:ext cx="90000" cy="90000"/>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20" name="Rectangle 19">
            <a:extLst>
              <a:ext uri="{FF2B5EF4-FFF2-40B4-BE49-F238E27FC236}">
                <a16:creationId xmlns:a16="http://schemas.microsoft.com/office/drawing/2014/main" id="{77FAB4C1-E92A-A7CC-19DB-1127C7D1DE47}"/>
              </a:ext>
            </a:extLst>
          </p:cNvPr>
          <p:cNvSpPr/>
          <p:nvPr/>
        </p:nvSpPr>
        <p:spPr>
          <a:xfrm>
            <a:off x="1433259" y="6651985"/>
            <a:ext cx="90000" cy="90000"/>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22" name="Rectangle 21">
            <a:extLst>
              <a:ext uri="{FF2B5EF4-FFF2-40B4-BE49-F238E27FC236}">
                <a16:creationId xmlns:a16="http://schemas.microsoft.com/office/drawing/2014/main" id="{035AFA72-BD58-1634-82C1-B18E33D93588}"/>
              </a:ext>
            </a:extLst>
          </p:cNvPr>
          <p:cNvSpPr/>
          <p:nvPr/>
        </p:nvSpPr>
        <p:spPr>
          <a:xfrm>
            <a:off x="5909236" y="6676608"/>
            <a:ext cx="90000" cy="90000"/>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23" name="Rectangle 22">
            <a:extLst>
              <a:ext uri="{FF2B5EF4-FFF2-40B4-BE49-F238E27FC236}">
                <a16:creationId xmlns:a16="http://schemas.microsoft.com/office/drawing/2014/main" id="{1AF84E3C-8EAF-A052-8A8F-D0ADC3663067}"/>
              </a:ext>
            </a:extLst>
          </p:cNvPr>
          <p:cNvSpPr/>
          <p:nvPr/>
        </p:nvSpPr>
        <p:spPr>
          <a:xfrm>
            <a:off x="2752379" y="6642913"/>
            <a:ext cx="90000" cy="90000"/>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24" name="TextBox 15">
            <a:extLst>
              <a:ext uri="{FF2B5EF4-FFF2-40B4-BE49-F238E27FC236}">
                <a16:creationId xmlns:a16="http://schemas.microsoft.com/office/drawing/2014/main" id="{01F3F204-88B7-09E4-9C92-9C4129D8E503}"/>
              </a:ext>
            </a:extLst>
          </p:cNvPr>
          <p:cNvSpPr txBox="1"/>
          <p:nvPr/>
        </p:nvSpPr>
        <p:spPr>
          <a:xfrm>
            <a:off x="10416853" y="6596174"/>
            <a:ext cx="857245"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0070C0"/>
                </a:solidFill>
                <a:effectLst/>
                <a:uLnTx/>
                <a:uFillTx/>
                <a:latin typeface="Nunito Sans"/>
                <a:ea typeface="+mn-ea"/>
                <a:cs typeface="+mn-cs"/>
              </a:rPr>
              <a:t>Delivered</a:t>
            </a:r>
            <a:endParaRPr kumimoji="0" lang="en-IN" sz="1000" b="0" i="0" u="none" strike="noStrike" kern="1200" cap="none" spc="0" normalizeH="0" baseline="0" noProof="0">
              <a:ln>
                <a:noFill/>
              </a:ln>
              <a:solidFill>
                <a:srgbClr val="000000"/>
              </a:solidFill>
              <a:effectLst/>
              <a:uLnTx/>
              <a:uFillTx/>
              <a:latin typeface="Nunito Sans"/>
              <a:ea typeface="+mn-ea"/>
              <a:cs typeface="+mn-cs"/>
            </a:endParaRPr>
          </a:p>
        </p:txBody>
      </p:sp>
      <p:sp>
        <p:nvSpPr>
          <p:cNvPr id="25" name="TextBox 18">
            <a:extLst>
              <a:ext uri="{FF2B5EF4-FFF2-40B4-BE49-F238E27FC236}">
                <a16:creationId xmlns:a16="http://schemas.microsoft.com/office/drawing/2014/main" id="{BF616E3D-2C3F-18FF-1AD5-60D8CA50D5A5}"/>
              </a:ext>
            </a:extLst>
          </p:cNvPr>
          <p:cNvSpPr txBox="1"/>
          <p:nvPr/>
        </p:nvSpPr>
        <p:spPr>
          <a:xfrm>
            <a:off x="1554283" y="6592533"/>
            <a:ext cx="1032881"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00B050"/>
                </a:solidFill>
                <a:effectLst/>
                <a:uLnTx/>
                <a:uFillTx/>
                <a:latin typeface="Nunito Sans"/>
                <a:ea typeface="+mn-ea"/>
                <a:cs typeface="+mn-cs"/>
              </a:rPr>
              <a:t>Ontrack</a:t>
            </a:r>
            <a:endParaRPr kumimoji="0" lang="en-IN" sz="1000" b="0" i="0" u="none" strike="noStrike" kern="1200" cap="none" spc="0" normalizeH="0" baseline="0" noProof="0">
              <a:ln>
                <a:noFill/>
              </a:ln>
              <a:solidFill>
                <a:srgbClr val="000000"/>
              </a:solidFill>
              <a:effectLst/>
              <a:uLnTx/>
              <a:uFillTx/>
              <a:latin typeface="Nunito Sans"/>
              <a:ea typeface="+mn-ea"/>
              <a:cs typeface="+mn-cs"/>
            </a:endParaRPr>
          </a:p>
        </p:txBody>
      </p:sp>
      <p:sp>
        <p:nvSpPr>
          <p:cNvPr id="26" name="TextBox 20">
            <a:extLst>
              <a:ext uri="{FF2B5EF4-FFF2-40B4-BE49-F238E27FC236}">
                <a16:creationId xmlns:a16="http://schemas.microsoft.com/office/drawing/2014/main" id="{3F0049C3-B7FA-C5CF-5550-C605975832A7}"/>
              </a:ext>
            </a:extLst>
          </p:cNvPr>
          <p:cNvSpPr txBox="1"/>
          <p:nvPr/>
        </p:nvSpPr>
        <p:spPr>
          <a:xfrm>
            <a:off x="6092504" y="6635159"/>
            <a:ext cx="2257628"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FED9A0">
                    <a:lumMod val="75000"/>
                  </a:srgbClr>
                </a:solidFill>
                <a:effectLst/>
                <a:uLnTx/>
                <a:uFillTx/>
                <a:latin typeface="Nunito Sans"/>
                <a:ea typeface="+mn-ea"/>
                <a:cs typeface="+mn-cs"/>
              </a:rPr>
              <a:t>Under delay and can be recovered</a:t>
            </a:r>
            <a:endParaRPr kumimoji="0" lang="en-IN" sz="1000" b="0" i="0" u="none" strike="noStrike" kern="1200" cap="none" spc="0" normalizeH="0" baseline="0" noProof="0">
              <a:ln>
                <a:noFill/>
              </a:ln>
              <a:solidFill>
                <a:srgbClr val="000000"/>
              </a:solidFill>
              <a:effectLst/>
              <a:uLnTx/>
              <a:uFillTx/>
              <a:latin typeface="Nunito Sans"/>
              <a:ea typeface="+mn-ea"/>
              <a:cs typeface="+mn-cs"/>
            </a:endParaRPr>
          </a:p>
        </p:txBody>
      </p:sp>
      <p:sp>
        <p:nvSpPr>
          <p:cNvPr id="27" name="TextBox 22">
            <a:extLst>
              <a:ext uri="{FF2B5EF4-FFF2-40B4-BE49-F238E27FC236}">
                <a16:creationId xmlns:a16="http://schemas.microsoft.com/office/drawing/2014/main" id="{89AE95B8-034F-413E-557E-28C32B155894}"/>
              </a:ext>
            </a:extLst>
          </p:cNvPr>
          <p:cNvSpPr txBox="1"/>
          <p:nvPr/>
        </p:nvSpPr>
        <p:spPr>
          <a:xfrm>
            <a:off x="2842379" y="6579600"/>
            <a:ext cx="2338222"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FF0000"/>
                </a:solidFill>
                <a:effectLst/>
                <a:uLnTx/>
                <a:uFillTx/>
                <a:latin typeface="Nunito Sans"/>
                <a:ea typeface="+mn-ea"/>
                <a:cs typeface="+mn-cs"/>
              </a:rPr>
              <a:t>Delayed and pushed to next release</a:t>
            </a:r>
          </a:p>
        </p:txBody>
      </p:sp>
    </p:spTree>
    <p:extLst>
      <p:ext uri="{BB962C8B-B14F-4D97-AF65-F5344CB8AC3E}">
        <p14:creationId xmlns:p14="http://schemas.microsoft.com/office/powerpoint/2010/main" val="2174285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1C74E3-1DE8-B5DF-D537-02993618256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F8452D2-D671-F653-85C9-AE63F2744C2B}"/>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3A41A254-7326-714E-AF55-4C213D6394DE}" type="slidenum">
              <a:rPr kumimoji="0" lang="en-US" sz="1200" b="0" i="0" u="none" strike="noStrike" kern="1200" cap="none" spc="0" normalizeH="0" baseline="0" noProof="0" smtClean="0">
                <a:ln>
                  <a:noFill/>
                </a:ln>
                <a:solidFill>
                  <a:srgbClr val="DA0E28"/>
                </a:solidFill>
                <a:effectLst/>
                <a:uLnTx/>
                <a:uFillTx/>
                <a:latin typeface="Nunito Sans"/>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49</a:t>
            </a:fld>
            <a:endParaRPr kumimoji="0" lang="en-US" sz="1200" b="0" i="0" u="none" strike="noStrike" kern="1200" cap="none" spc="0" normalizeH="0" baseline="0" noProof="0">
              <a:ln>
                <a:noFill/>
              </a:ln>
              <a:solidFill>
                <a:srgbClr val="DA0E28"/>
              </a:solidFill>
              <a:effectLst/>
              <a:uLnTx/>
              <a:uFillTx/>
              <a:latin typeface="Nunito Sans"/>
              <a:ea typeface="+mn-ea"/>
              <a:cs typeface="+mn-cs"/>
            </a:endParaRPr>
          </a:p>
        </p:txBody>
      </p:sp>
      <p:sp>
        <p:nvSpPr>
          <p:cNvPr id="3" name="Rectangle 2">
            <a:extLst>
              <a:ext uri="{FF2B5EF4-FFF2-40B4-BE49-F238E27FC236}">
                <a16:creationId xmlns:a16="http://schemas.microsoft.com/office/drawing/2014/main" id="{0B2E74F7-C4CB-51F0-38C4-FA549EB921C7}"/>
              </a:ext>
            </a:extLst>
          </p:cNvPr>
          <p:cNvSpPr/>
          <p:nvPr/>
        </p:nvSpPr>
        <p:spPr>
          <a:xfrm>
            <a:off x="354209" y="1041409"/>
            <a:ext cx="1170432" cy="42234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400" b="1" i="0" u="none" strike="noStrike" kern="1200" cap="none" spc="0" normalizeH="0" baseline="0" noProof="0">
                <a:ln>
                  <a:noFill/>
                </a:ln>
                <a:solidFill>
                  <a:srgbClr val="FFFFFF"/>
                </a:solidFill>
                <a:effectLst/>
                <a:uLnTx/>
                <a:uFillTx/>
                <a:latin typeface="AirIndia"/>
              </a:rPr>
              <a:t>April ‘</a:t>
            </a:r>
            <a:r>
              <a:rPr lang="en-IN" sz="1400" b="1">
                <a:solidFill>
                  <a:srgbClr val="FFFFFF"/>
                </a:solidFill>
                <a:latin typeface="AirIndia"/>
              </a:rPr>
              <a:t>26</a:t>
            </a:r>
            <a:endParaRPr kumimoji="0" lang="en-US" sz="1400" b="1" i="0" u="none" strike="noStrike" kern="1200" cap="none" spc="0" normalizeH="0" baseline="0" noProof="0">
              <a:ln>
                <a:noFill/>
              </a:ln>
              <a:solidFill>
                <a:srgbClr val="FFFFFF"/>
              </a:solidFill>
              <a:effectLst/>
              <a:uLnTx/>
              <a:uFillTx/>
              <a:latin typeface="AirIndia" panose="04050608020B02020302" charset="0"/>
              <a:ea typeface="+mn-ea"/>
              <a:cs typeface="+mn-cs"/>
            </a:endParaRPr>
          </a:p>
        </p:txBody>
      </p:sp>
      <p:sp>
        <p:nvSpPr>
          <p:cNvPr id="6" name="Title 11">
            <a:extLst>
              <a:ext uri="{FF2B5EF4-FFF2-40B4-BE49-F238E27FC236}">
                <a16:creationId xmlns:a16="http://schemas.microsoft.com/office/drawing/2014/main" id="{B471D321-1B1A-9787-4D3B-0D7859039283}"/>
              </a:ext>
            </a:extLst>
          </p:cNvPr>
          <p:cNvSpPr txBox="1">
            <a:spLocks/>
          </p:cNvSpPr>
          <p:nvPr/>
        </p:nvSpPr>
        <p:spPr>
          <a:xfrm>
            <a:off x="304800" y="269218"/>
            <a:ext cx="9749641" cy="480073"/>
          </a:xfrm>
          <a:prstGeom prst="rect">
            <a:avLst/>
          </a:prstGeom>
        </p:spPr>
        <p:txBody>
          <a:bodyPr lIns="91440" tIns="45720" rIns="91440" bIns="45720" anchor="t">
            <a:noAutofit/>
          </a:bodyPr>
          <a:lstStyle>
            <a:lvl1pPr algn="l" defTabSz="914400" rtl="0" eaLnBrk="1" latinLnBrk="0" hangingPunct="1">
              <a:lnSpc>
                <a:spcPct val="90000"/>
              </a:lnSpc>
              <a:spcBef>
                <a:spcPct val="0"/>
              </a:spcBef>
              <a:buNone/>
              <a:defRPr sz="4400" b="1" i="0" kern="1200">
                <a:solidFill>
                  <a:schemeClr val="tx1"/>
                </a:solidFill>
                <a:latin typeface="AirIndia" pitchFamily="82" charset="77"/>
                <a:ea typeface="+mj-ea"/>
                <a:cs typeface="+mj-cs"/>
              </a:defRPr>
            </a:lvl1pPr>
          </a:lstStyle>
          <a:p>
            <a:pPr>
              <a:defRPr/>
            </a:pPr>
            <a:r>
              <a:rPr kumimoji="0" lang="en-US" sz="1800" b="1" i="0" u="none" strike="noStrike" kern="1200" cap="none" spc="0" normalizeH="0" baseline="0" noProof="0">
                <a:ln>
                  <a:noFill/>
                </a:ln>
                <a:solidFill>
                  <a:srgbClr val="DA0E28"/>
                </a:solidFill>
                <a:effectLst/>
                <a:uLnTx/>
                <a:uFillTx/>
                <a:latin typeface="AirIndia"/>
                <a:ea typeface="+mj-ea"/>
                <a:cs typeface="+mj-cs"/>
              </a:rPr>
              <a:t>Enterprise Intelligent -</a:t>
            </a:r>
            <a:r>
              <a:rPr lang="en-US" sz="1800">
                <a:solidFill>
                  <a:srgbClr val="DA0E28"/>
                </a:solidFill>
                <a:latin typeface="AirIndia"/>
              </a:rPr>
              <a:t>FY26-27</a:t>
            </a:r>
            <a:r>
              <a:rPr kumimoji="0" lang="en-US" sz="1800" b="1" i="0" u="none" strike="noStrike" kern="1200" cap="none" spc="0" normalizeH="0" baseline="0" noProof="0">
                <a:ln>
                  <a:noFill/>
                </a:ln>
                <a:solidFill>
                  <a:srgbClr val="DA0E28"/>
                </a:solidFill>
                <a:effectLst/>
                <a:uLnTx/>
                <a:uFillTx/>
                <a:latin typeface="AirIndia"/>
                <a:ea typeface="+mj-ea"/>
                <a:cs typeface="+mj-cs"/>
              </a:rPr>
              <a:t> Q1 Release </a:t>
            </a:r>
            <a:r>
              <a:rPr lang="en-US" sz="1800">
                <a:solidFill>
                  <a:srgbClr val="DA0E28"/>
                </a:solidFill>
                <a:latin typeface="AirIndia"/>
              </a:rPr>
              <a:t>Plan</a:t>
            </a:r>
            <a:endParaRPr lang="en-US" sz="1800" b="0">
              <a:solidFill>
                <a:srgbClr val="000000"/>
              </a:solidFill>
              <a:latin typeface="AirIndia"/>
            </a:endParaRPr>
          </a:p>
          <a:p>
            <a:pPr>
              <a:defRPr/>
            </a:pPr>
            <a:endParaRPr lang="en-US" sz="1800" i="0" u="none" strike="noStrike" kern="1200" cap="none" spc="0" normalizeH="0" baseline="0" noProof="0">
              <a:ln>
                <a:noFill/>
              </a:ln>
              <a:solidFill>
                <a:srgbClr val="DA0E28"/>
              </a:solidFill>
              <a:effectLst/>
              <a:uLnTx/>
              <a:uFillTx/>
              <a:latin typeface="AirIndia"/>
            </a:endParaRPr>
          </a:p>
        </p:txBody>
      </p:sp>
      <p:graphicFrame>
        <p:nvGraphicFramePr>
          <p:cNvPr id="12" name="Table 11">
            <a:extLst>
              <a:ext uri="{FF2B5EF4-FFF2-40B4-BE49-F238E27FC236}">
                <a16:creationId xmlns:a16="http://schemas.microsoft.com/office/drawing/2014/main" id="{8B417F5A-AB53-1297-5830-75B8A804B949}"/>
              </a:ext>
            </a:extLst>
          </p:cNvPr>
          <p:cNvGraphicFramePr>
            <a:graphicFrameLocks noGrp="1"/>
          </p:cNvGraphicFramePr>
          <p:nvPr>
            <p:extLst>
              <p:ext uri="{D42A27DB-BD31-4B8C-83A1-F6EECF244321}">
                <p14:modId xmlns:p14="http://schemas.microsoft.com/office/powerpoint/2010/main" val="2116952890"/>
              </p:ext>
            </p:extLst>
          </p:nvPr>
        </p:nvGraphicFramePr>
        <p:xfrm>
          <a:off x="1535124" y="995605"/>
          <a:ext cx="10088360" cy="243840"/>
        </p:xfrm>
        <a:graphic>
          <a:graphicData uri="http://schemas.openxmlformats.org/drawingml/2006/table">
            <a:tbl>
              <a:tblPr firstRow="1" bandRow="1">
                <a:tableStyleId>{5C22544A-7EE6-4342-B048-85BDC9FD1C3A}</a:tableStyleId>
              </a:tblPr>
              <a:tblGrid>
                <a:gridCol w="10088360">
                  <a:extLst>
                    <a:ext uri="{9D8B030D-6E8A-4147-A177-3AD203B41FA5}">
                      <a16:colId xmlns:a16="http://schemas.microsoft.com/office/drawing/2014/main" val="2186609487"/>
                    </a:ext>
                  </a:extLst>
                </a:gridCol>
              </a:tblGrid>
              <a:tr h="222384">
                <a:tc>
                  <a:txBody>
                    <a:bodyPr/>
                    <a:lstStyle/>
                    <a:p>
                      <a:pPr lvl="0" algn="ctr">
                        <a:lnSpc>
                          <a:spcPct val="100000"/>
                        </a:lnSpc>
                        <a:spcBef>
                          <a:spcPts val="0"/>
                        </a:spcBef>
                        <a:spcAft>
                          <a:spcPts val="0"/>
                        </a:spcAft>
                        <a:buNone/>
                      </a:pPr>
                      <a:r>
                        <a:rPr lang="en-IN" sz="1000" b="1" i="0" u="none" strike="noStrike" kern="1200" noProof="0">
                          <a:solidFill>
                            <a:schemeClr val="bg1"/>
                          </a:solidFill>
                          <a:latin typeface="Nunito Sans"/>
                          <a:ea typeface="+mn-ea"/>
                          <a:cs typeface="+mn-cs"/>
                        </a:rPr>
                        <a:t>ADHOC Projects</a:t>
                      </a:r>
                      <a:endParaRPr lang="en-IN" sz="1000" b="1" i="0" u="none" strike="noStrike" kern="1200" noProof="0">
                        <a:solidFill>
                          <a:srgbClr val="FFFFFF"/>
                        </a:solidFill>
                        <a:latin typeface="Nunito Sans"/>
                        <a:ea typeface="+mn-ea"/>
                        <a:cs typeface="+mn-cs"/>
                      </a:endParaRP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solidFill>
                      <a:schemeClr val="accent3">
                        <a:lumMod val="90000"/>
                        <a:lumOff val="10000"/>
                      </a:schemeClr>
                    </a:solidFill>
                  </a:tcPr>
                </a:tc>
                <a:extLst>
                  <a:ext uri="{0D108BD9-81ED-4DB2-BD59-A6C34878D82A}">
                    <a16:rowId xmlns:a16="http://schemas.microsoft.com/office/drawing/2014/main" val="1253140778"/>
                  </a:ext>
                </a:extLst>
              </a:tr>
            </a:tbl>
          </a:graphicData>
        </a:graphic>
      </p:graphicFrame>
      <p:sp>
        <p:nvSpPr>
          <p:cNvPr id="4" name="Rectangle 3">
            <a:extLst>
              <a:ext uri="{FF2B5EF4-FFF2-40B4-BE49-F238E27FC236}">
                <a16:creationId xmlns:a16="http://schemas.microsoft.com/office/drawing/2014/main" id="{1A0AD686-2067-8A82-F138-841BFBEE2522}"/>
              </a:ext>
            </a:extLst>
          </p:cNvPr>
          <p:cNvSpPr/>
          <p:nvPr/>
        </p:nvSpPr>
        <p:spPr>
          <a:xfrm rot="5400000">
            <a:off x="8942419" y="6655587"/>
            <a:ext cx="90000" cy="90000"/>
          </a:xfrm>
          <a:prstGeom prst="rect">
            <a:avLst/>
          </a:prstGeom>
          <a:solidFill>
            <a:schemeClr val="bg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9" name="TextBox 8">
            <a:extLst>
              <a:ext uri="{FF2B5EF4-FFF2-40B4-BE49-F238E27FC236}">
                <a16:creationId xmlns:a16="http://schemas.microsoft.com/office/drawing/2014/main" id="{9291BCC7-D07F-017C-CB4A-AEFFF4CF3998}"/>
              </a:ext>
            </a:extLst>
          </p:cNvPr>
          <p:cNvSpPr txBox="1"/>
          <p:nvPr/>
        </p:nvSpPr>
        <p:spPr>
          <a:xfrm>
            <a:off x="8986097" y="6582653"/>
            <a:ext cx="3069090" cy="246221"/>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FFFFFF">
                    <a:lumMod val="49000"/>
                  </a:srgbClr>
                </a:solidFill>
                <a:effectLst/>
                <a:uLnTx/>
                <a:uFillTx/>
                <a:latin typeface="Nunito Sans"/>
                <a:ea typeface="+mn-ea"/>
                <a:cs typeface="+mn-cs"/>
              </a:rPr>
              <a:t>Descoped</a:t>
            </a:r>
          </a:p>
        </p:txBody>
      </p:sp>
      <p:sp>
        <p:nvSpPr>
          <p:cNvPr id="18" name="Rectangle 17">
            <a:extLst>
              <a:ext uri="{FF2B5EF4-FFF2-40B4-BE49-F238E27FC236}">
                <a16:creationId xmlns:a16="http://schemas.microsoft.com/office/drawing/2014/main" id="{2895B038-EA4D-E506-4A3D-67B4F82A26C5}"/>
              </a:ext>
            </a:extLst>
          </p:cNvPr>
          <p:cNvSpPr/>
          <p:nvPr/>
        </p:nvSpPr>
        <p:spPr>
          <a:xfrm>
            <a:off x="10326888" y="6653023"/>
            <a:ext cx="90000" cy="90000"/>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20" name="Rectangle 19">
            <a:extLst>
              <a:ext uri="{FF2B5EF4-FFF2-40B4-BE49-F238E27FC236}">
                <a16:creationId xmlns:a16="http://schemas.microsoft.com/office/drawing/2014/main" id="{6BA2212D-16AE-A32E-A031-1F2482FC9FF8}"/>
              </a:ext>
            </a:extLst>
          </p:cNvPr>
          <p:cNvSpPr/>
          <p:nvPr/>
        </p:nvSpPr>
        <p:spPr>
          <a:xfrm>
            <a:off x="1433259" y="6651985"/>
            <a:ext cx="90000" cy="90000"/>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22" name="Rectangle 21">
            <a:extLst>
              <a:ext uri="{FF2B5EF4-FFF2-40B4-BE49-F238E27FC236}">
                <a16:creationId xmlns:a16="http://schemas.microsoft.com/office/drawing/2014/main" id="{7D68552F-544B-AFCE-D8F0-BFA50A331A02}"/>
              </a:ext>
            </a:extLst>
          </p:cNvPr>
          <p:cNvSpPr/>
          <p:nvPr/>
        </p:nvSpPr>
        <p:spPr>
          <a:xfrm>
            <a:off x="5909236" y="6676608"/>
            <a:ext cx="90000" cy="90000"/>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23" name="Rectangle 22">
            <a:extLst>
              <a:ext uri="{FF2B5EF4-FFF2-40B4-BE49-F238E27FC236}">
                <a16:creationId xmlns:a16="http://schemas.microsoft.com/office/drawing/2014/main" id="{3947B8E9-2021-ECB5-F5BF-0C000188BA08}"/>
              </a:ext>
            </a:extLst>
          </p:cNvPr>
          <p:cNvSpPr/>
          <p:nvPr/>
        </p:nvSpPr>
        <p:spPr>
          <a:xfrm>
            <a:off x="2752379" y="6642913"/>
            <a:ext cx="90000" cy="90000"/>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24" name="TextBox 15">
            <a:extLst>
              <a:ext uri="{FF2B5EF4-FFF2-40B4-BE49-F238E27FC236}">
                <a16:creationId xmlns:a16="http://schemas.microsoft.com/office/drawing/2014/main" id="{B2CA6106-CDE4-FFEC-05B9-141D4E42DE13}"/>
              </a:ext>
            </a:extLst>
          </p:cNvPr>
          <p:cNvSpPr txBox="1"/>
          <p:nvPr/>
        </p:nvSpPr>
        <p:spPr>
          <a:xfrm>
            <a:off x="10416853" y="6596174"/>
            <a:ext cx="857245"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0070C0"/>
                </a:solidFill>
                <a:effectLst/>
                <a:uLnTx/>
                <a:uFillTx/>
                <a:latin typeface="Nunito Sans"/>
                <a:ea typeface="+mn-ea"/>
                <a:cs typeface="+mn-cs"/>
              </a:rPr>
              <a:t>Delivered</a:t>
            </a:r>
            <a:endParaRPr kumimoji="0" lang="en-IN" sz="1000" b="0" i="0" u="none" strike="noStrike" kern="1200" cap="none" spc="0" normalizeH="0" baseline="0" noProof="0">
              <a:ln>
                <a:noFill/>
              </a:ln>
              <a:solidFill>
                <a:srgbClr val="000000"/>
              </a:solidFill>
              <a:effectLst/>
              <a:uLnTx/>
              <a:uFillTx/>
              <a:latin typeface="Nunito Sans"/>
              <a:ea typeface="+mn-ea"/>
              <a:cs typeface="+mn-cs"/>
            </a:endParaRPr>
          </a:p>
        </p:txBody>
      </p:sp>
      <p:sp>
        <p:nvSpPr>
          <p:cNvPr id="25" name="TextBox 18">
            <a:extLst>
              <a:ext uri="{FF2B5EF4-FFF2-40B4-BE49-F238E27FC236}">
                <a16:creationId xmlns:a16="http://schemas.microsoft.com/office/drawing/2014/main" id="{1157CDE5-04BA-DBC1-223F-B5B7A6E96AFC}"/>
              </a:ext>
            </a:extLst>
          </p:cNvPr>
          <p:cNvSpPr txBox="1"/>
          <p:nvPr/>
        </p:nvSpPr>
        <p:spPr>
          <a:xfrm>
            <a:off x="1554283" y="6592533"/>
            <a:ext cx="1032881"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00B050"/>
                </a:solidFill>
                <a:effectLst/>
                <a:uLnTx/>
                <a:uFillTx/>
                <a:latin typeface="Nunito Sans"/>
                <a:ea typeface="+mn-ea"/>
                <a:cs typeface="+mn-cs"/>
              </a:rPr>
              <a:t>Ontrack</a:t>
            </a:r>
            <a:endParaRPr kumimoji="0" lang="en-IN" sz="1000" b="0" i="0" u="none" strike="noStrike" kern="1200" cap="none" spc="0" normalizeH="0" baseline="0" noProof="0">
              <a:ln>
                <a:noFill/>
              </a:ln>
              <a:solidFill>
                <a:srgbClr val="000000"/>
              </a:solidFill>
              <a:effectLst/>
              <a:uLnTx/>
              <a:uFillTx/>
              <a:latin typeface="Nunito Sans"/>
              <a:ea typeface="+mn-ea"/>
              <a:cs typeface="+mn-cs"/>
            </a:endParaRPr>
          </a:p>
        </p:txBody>
      </p:sp>
      <p:sp>
        <p:nvSpPr>
          <p:cNvPr id="26" name="TextBox 20">
            <a:extLst>
              <a:ext uri="{FF2B5EF4-FFF2-40B4-BE49-F238E27FC236}">
                <a16:creationId xmlns:a16="http://schemas.microsoft.com/office/drawing/2014/main" id="{57C44F21-E67A-59DA-E3F1-0ECECF7DBD41}"/>
              </a:ext>
            </a:extLst>
          </p:cNvPr>
          <p:cNvSpPr txBox="1"/>
          <p:nvPr/>
        </p:nvSpPr>
        <p:spPr>
          <a:xfrm>
            <a:off x="6092504" y="6635159"/>
            <a:ext cx="2257628"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FED9A0">
                    <a:lumMod val="75000"/>
                  </a:srgbClr>
                </a:solidFill>
                <a:effectLst/>
                <a:uLnTx/>
                <a:uFillTx/>
                <a:latin typeface="Nunito Sans"/>
                <a:ea typeface="+mn-ea"/>
                <a:cs typeface="+mn-cs"/>
              </a:rPr>
              <a:t>Under delay and can be recovered</a:t>
            </a:r>
            <a:endParaRPr kumimoji="0" lang="en-IN" sz="1000" b="0" i="0" u="none" strike="noStrike" kern="1200" cap="none" spc="0" normalizeH="0" baseline="0" noProof="0">
              <a:ln>
                <a:noFill/>
              </a:ln>
              <a:solidFill>
                <a:srgbClr val="000000"/>
              </a:solidFill>
              <a:effectLst/>
              <a:uLnTx/>
              <a:uFillTx/>
              <a:latin typeface="Nunito Sans"/>
              <a:ea typeface="+mn-ea"/>
              <a:cs typeface="+mn-cs"/>
            </a:endParaRPr>
          </a:p>
        </p:txBody>
      </p:sp>
      <p:sp>
        <p:nvSpPr>
          <p:cNvPr id="27" name="TextBox 22">
            <a:extLst>
              <a:ext uri="{FF2B5EF4-FFF2-40B4-BE49-F238E27FC236}">
                <a16:creationId xmlns:a16="http://schemas.microsoft.com/office/drawing/2014/main" id="{29A44DA4-274D-1700-5384-11C2799854E6}"/>
              </a:ext>
            </a:extLst>
          </p:cNvPr>
          <p:cNvSpPr txBox="1"/>
          <p:nvPr/>
        </p:nvSpPr>
        <p:spPr>
          <a:xfrm>
            <a:off x="2842379" y="6579600"/>
            <a:ext cx="2338222"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FF0000"/>
                </a:solidFill>
                <a:effectLst/>
                <a:uLnTx/>
                <a:uFillTx/>
                <a:latin typeface="Nunito Sans"/>
                <a:ea typeface="+mn-ea"/>
                <a:cs typeface="+mn-cs"/>
              </a:rPr>
              <a:t>Delayed and pushed to next release</a:t>
            </a:r>
          </a:p>
        </p:txBody>
      </p:sp>
      <p:graphicFrame>
        <p:nvGraphicFramePr>
          <p:cNvPr id="7" name="Table 6">
            <a:extLst>
              <a:ext uri="{FF2B5EF4-FFF2-40B4-BE49-F238E27FC236}">
                <a16:creationId xmlns:a16="http://schemas.microsoft.com/office/drawing/2014/main" id="{E0DB2F26-9596-F60E-983A-86890B19282C}"/>
              </a:ext>
            </a:extLst>
          </p:cNvPr>
          <p:cNvGraphicFramePr>
            <a:graphicFrameLocks noGrp="1"/>
          </p:cNvGraphicFramePr>
          <p:nvPr>
            <p:extLst>
              <p:ext uri="{D42A27DB-BD31-4B8C-83A1-F6EECF244321}">
                <p14:modId xmlns:p14="http://schemas.microsoft.com/office/powerpoint/2010/main" val="3536979980"/>
              </p:ext>
            </p:extLst>
          </p:nvPr>
        </p:nvGraphicFramePr>
        <p:xfrm>
          <a:off x="1522489" y="1254241"/>
          <a:ext cx="10114817" cy="2401147"/>
        </p:xfrm>
        <a:graphic>
          <a:graphicData uri="http://schemas.openxmlformats.org/drawingml/2006/table">
            <a:tbl>
              <a:tblPr bandRow="1">
                <a:tableStyleId>{5C22544A-7EE6-4342-B048-85BDC9FD1C3A}</a:tableStyleId>
              </a:tblPr>
              <a:tblGrid>
                <a:gridCol w="1190101">
                  <a:extLst>
                    <a:ext uri="{9D8B030D-6E8A-4147-A177-3AD203B41FA5}">
                      <a16:colId xmlns:a16="http://schemas.microsoft.com/office/drawing/2014/main" val="52491639"/>
                    </a:ext>
                  </a:extLst>
                </a:gridCol>
                <a:gridCol w="2128628">
                  <a:extLst>
                    <a:ext uri="{9D8B030D-6E8A-4147-A177-3AD203B41FA5}">
                      <a16:colId xmlns:a16="http://schemas.microsoft.com/office/drawing/2014/main" val="1881896971"/>
                    </a:ext>
                  </a:extLst>
                </a:gridCol>
                <a:gridCol w="5131089">
                  <a:extLst>
                    <a:ext uri="{9D8B030D-6E8A-4147-A177-3AD203B41FA5}">
                      <a16:colId xmlns:a16="http://schemas.microsoft.com/office/drawing/2014/main" val="3550586688"/>
                    </a:ext>
                  </a:extLst>
                </a:gridCol>
                <a:gridCol w="1664999">
                  <a:extLst>
                    <a:ext uri="{9D8B030D-6E8A-4147-A177-3AD203B41FA5}">
                      <a16:colId xmlns:a16="http://schemas.microsoft.com/office/drawing/2014/main" val="396305623"/>
                    </a:ext>
                  </a:extLst>
                </a:gridCol>
              </a:tblGrid>
              <a:tr h="264195">
                <a:tc>
                  <a:txBody>
                    <a:bodyPr/>
                    <a:lstStyle/>
                    <a:p>
                      <a:pPr algn="ctr" rtl="0" fontAlgn="base">
                        <a:lnSpc>
                          <a:spcPts val="900"/>
                        </a:lnSpc>
                        <a:buNone/>
                      </a:pPr>
                      <a:r>
                        <a:rPr lang="en-IN" sz="1100" b="1" i="0">
                          <a:solidFill>
                            <a:srgbClr val="FFFFFF"/>
                          </a:solidFill>
                          <a:effectLst/>
                          <a:latin typeface="Nunito Sans" pitchFamily="2" charset="0"/>
                        </a:rPr>
                        <a:t>LOB</a:t>
                      </a:r>
                      <a:endParaRPr lang="en-US" b="1" i="0">
                        <a:solidFill>
                          <a:srgbClr val="FFFFFF"/>
                        </a:solidFill>
                        <a:effectLst/>
                      </a:endParaRPr>
                    </a:p>
                  </a:txBody>
                  <a:tcPr marL="62636" marR="62636" marT="31318" marB="31318"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751972"/>
                    </a:solidFill>
                  </a:tcPr>
                </a:tc>
                <a:tc>
                  <a:txBody>
                    <a:bodyPr/>
                    <a:lstStyle/>
                    <a:p>
                      <a:pPr algn="ctr" rtl="0" fontAlgn="base">
                        <a:lnSpc>
                          <a:spcPts val="900"/>
                        </a:lnSpc>
                        <a:buNone/>
                      </a:pPr>
                      <a:r>
                        <a:rPr lang="en-IN" sz="1100" b="1" i="0">
                          <a:solidFill>
                            <a:srgbClr val="FFFFFF"/>
                          </a:solidFill>
                          <a:effectLst/>
                          <a:latin typeface="Nunito Sans" pitchFamily="2" charset="0"/>
                        </a:rPr>
                        <a:t>Initiatives</a:t>
                      </a:r>
                      <a:endParaRPr lang="en-US" b="1" i="0">
                        <a:solidFill>
                          <a:srgbClr val="FFFFFF"/>
                        </a:solidFill>
                        <a:effectLst/>
                      </a:endParaRPr>
                    </a:p>
                  </a:txBody>
                  <a:tcPr marL="62636" marR="62636" marT="31318" marB="31318"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751972"/>
                    </a:solidFill>
                  </a:tcPr>
                </a:tc>
                <a:tc>
                  <a:txBody>
                    <a:bodyPr/>
                    <a:lstStyle/>
                    <a:p>
                      <a:pPr algn="ctr" rtl="0" fontAlgn="base">
                        <a:lnSpc>
                          <a:spcPts val="900"/>
                        </a:lnSpc>
                        <a:buNone/>
                      </a:pPr>
                      <a:r>
                        <a:rPr lang="en-IN" sz="1100" b="1" i="0">
                          <a:solidFill>
                            <a:srgbClr val="FFFFFF"/>
                          </a:solidFill>
                          <a:effectLst/>
                          <a:latin typeface="Nunito Sans" pitchFamily="2" charset="0"/>
                        </a:rPr>
                        <a:t>Value Justification/Realization</a:t>
                      </a:r>
                      <a:endParaRPr lang="en-US" b="1" i="0">
                        <a:solidFill>
                          <a:srgbClr val="FFFFFF"/>
                        </a:solidFill>
                        <a:effectLst/>
                      </a:endParaRPr>
                    </a:p>
                  </a:txBody>
                  <a:tcPr marL="62636" marR="62636" marT="31318" marB="31318"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751972"/>
                    </a:solidFill>
                  </a:tcPr>
                </a:tc>
                <a:tc>
                  <a:txBody>
                    <a:bodyPr/>
                    <a:lstStyle/>
                    <a:p>
                      <a:pPr algn="ctr" rtl="0" fontAlgn="base">
                        <a:lnSpc>
                          <a:spcPts val="900"/>
                        </a:lnSpc>
                        <a:buNone/>
                      </a:pPr>
                      <a:r>
                        <a:rPr lang="en-US" sz="1100" b="1" i="0">
                          <a:solidFill>
                            <a:srgbClr val="FFFFFF"/>
                          </a:solidFill>
                          <a:effectLst/>
                          <a:latin typeface="Nunito Sans" pitchFamily="2" charset="0"/>
                        </a:rPr>
                        <a:t>Go-live Date</a:t>
                      </a:r>
                      <a:endParaRPr lang="en-US" b="1" i="0">
                        <a:solidFill>
                          <a:srgbClr val="FFFFFF"/>
                        </a:solidFill>
                        <a:effectLst/>
                      </a:endParaRPr>
                    </a:p>
                  </a:txBody>
                  <a:tcPr marL="62636" marR="62636" marT="31318" marB="31318"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751972"/>
                    </a:solidFill>
                  </a:tcPr>
                </a:tc>
                <a:extLst>
                  <a:ext uri="{0D108BD9-81ED-4DB2-BD59-A6C34878D82A}">
                    <a16:rowId xmlns:a16="http://schemas.microsoft.com/office/drawing/2014/main" val="2819278623"/>
                  </a:ext>
                </a:extLst>
              </a:tr>
              <a:tr h="959453">
                <a:tc>
                  <a:txBody>
                    <a:bodyPr/>
                    <a:lstStyle/>
                    <a:p>
                      <a:pPr lvl="0" algn="ctr">
                        <a:lnSpc>
                          <a:spcPct val="100000"/>
                        </a:lnSpc>
                        <a:spcBef>
                          <a:spcPts val="0"/>
                        </a:spcBef>
                        <a:spcAft>
                          <a:spcPts val="0"/>
                        </a:spcAft>
                        <a:buNone/>
                      </a:pPr>
                      <a:r>
                        <a:rPr lang="en-US" sz="1200" b="1" i="0" u="none" strike="noStrike" noProof="0">
                          <a:solidFill>
                            <a:srgbClr val="0070C0"/>
                          </a:solidFill>
                          <a:effectLst/>
                          <a:latin typeface="Nunito Sans"/>
                        </a:rPr>
                        <a:t>HR Tech</a:t>
                      </a:r>
                      <a:endParaRPr lang="en-US" sz="1200" b="0" i="0" u="none" strike="noStrike" noProof="0">
                        <a:solidFill>
                          <a:srgbClr val="000000"/>
                        </a:solidFill>
                        <a:effectLst/>
                        <a:latin typeface="Nunito Sans"/>
                      </a:endParaRPr>
                    </a:p>
                  </a:txBody>
                  <a:tcPr marL="62636" marR="62636" marT="31318" marB="31318"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tc>
                  <a:txBody>
                    <a:bodyPr/>
                    <a:lstStyle/>
                    <a:p>
                      <a:pPr lvl="0" algn="l">
                        <a:lnSpc>
                          <a:spcPts val="900"/>
                        </a:lnSpc>
                        <a:buNone/>
                      </a:pPr>
                      <a:r>
                        <a:rPr lang="en-US" sz="1100" b="1" i="0" u="none" strike="noStrike" noProof="0">
                          <a:solidFill>
                            <a:srgbClr val="0070C0"/>
                          </a:solidFill>
                          <a:effectLst/>
                        </a:rPr>
                        <a:t>Life Ka Plan Integration with SuccessFactors</a:t>
                      </a:r>
                      <a:endParaRPr lang="en-US" sz="1100" b="1">
                        <a:solidFill>
                          <a:srgbClr val="0070C0"/>
                        </a:solidFill>
                      </a:endParaRPr>
                    </a:p>
                  </a:txBody>
                  <a:tcPr marL="62636" marR="62636" marT="31318" marB="31318"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tc>
                  <a:txBody>
                    <a:bodyPr/>
                    <a:lstStyle/>
                    <a:p>
                      <a:pPr lvl="0" algn="l">
                        <a:lnSpc>
                          <a:spcPct val="100000"/>
                        </a:lnSpc>
                        <a:spcBef>
                          <a:spcPts val="0"/>
                        </a:spcBef>
                        <a:spcAft>
                          <a:spcPts val="0"/>
                        </a:spcAft>
                        <a:buNone/>
                      </a:pPr>
                      <a:r>
                        <a:rPr lang="en-US" sz="1100" b="0" i="0" u="none" strike="noStrike" noProof="0">
                          <a:solidFill>
                            <a:srgbClr val="000000"/>
                          </a:solidFill>
                          <a:effectLst/>
                        </a:rPr>
                        <a:t>The Life Ka Plan–SuccessFactors integration eliminates manual employee data handling, significantly reducing errors, turnaround time, and operational overhead. By ensuring real‑time, accurate employee master and compensation data, it strengthens benefit eligibility accuracy, compliance, and audit readiness. The solution improves employee experience through timely enrolment and benefit continuity, especially during transfers and role changes. Overall, it enables scalable, governance‑driven HR operations with minimal manual intervention and lower risk to business continuity.</a:t>
                      </a:r>
                      <a:endParaRPr lang="en-US"/>
                    </a:p>
                  </a:txBody>
                  <a:tcPr marL="62636" marR="62636" marT="31318" marB="31318"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tc>
                  <a:txBody>
                    <a:bodyPr/>
                    <a:lstStyle/>
                    <a:p>
                      <a:pPr algn="l" rtl="0" fontAlgn="base">
                        <a:lnSpc>
                          <a:spcPts val="900"/>
                        </a:lnSpc>
                        <a:buNone/>
                      </a:pPr>
                      <a:r>
                        <a:rPr lang="en-US" sz="1100" b="0" i="0" u="none" strike="noStrike">
                          <a:solidFill>
                            <a:srgbClr val="000000"/>
                          </a:solidFill>
                          <a:effectLst/>
                          <a:latin typeface="Arial"/>
                        </a:rPr>
                        <a:t>Q2</a:t>
                      </a:r>
                    </a:p>
                  </a:txBody>
                  <a:tcPr marL="62636" marR="62636" marT="31318" marB="31318"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3503148906"/>
                  </a:ext>
                </a:extLst>
              </a:tr>
              <a:tr h="667445">
                <a:tc>
                  <a:txBody>
                    <a:bodyPr/>
                    <a:lstStyle/>
                    <a:p>
                      <a:pPr lvl="0" algn="ctr">
                        <a:lnSpc>
                          <a:spcPts val="975"/>
                        </a:lnSpc>
                        <a:buNone/>
                      </a:pPr>
                      <a:r>
                        <a:rPr lang="en-US" sz="1200" b="1" i="0">
                          <a:solidFill>
                            <a:srgbClr val="0070C0"/>
                          </a:solidFill>
                          <a:effectLst/>
                          <a:latin typeface="Nunito Sans"/>
                        </a:rPr>
                        <a:t>B2E</a:t>
                      </a:r>
                      <a:endParaRPr lang="en-US"/>
                    </a:p>
                  </a:txBody>
                  <a:tcPr marL="62636" marR="62636" marT="31318" marB="31318"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tc>
                  <a:txBody>
                    <a:bodyPr/>
                    <a:lstStyle/>
                    <a:p>
                      <a:pPr lvl="0" algn="l">
                        <a:lnSpc>
                          <a:spcPts val="900"/>
                        </a:lnSpc>
                        <a:buNone/>
                      </a:pPr>
                      <a:r>
                        <a:rPr lang="en-US" sz="1100" b="0" i="0" u="none" strike="noStrike" noProof="0">
                          <a:solidFill>
                            <a:srgbClr val="0070C0"/>
                          </a:solidFill>
                          <a:effectLst/>
                          <a:latin typeface="Nunito Sans"/>
                        </a:rPr>
                        <a:t>Onboarding CAE CM Crew Pairing API to EIP for AI Flight Pro Integration</a:t>
                      </a:r>
                      <a:endParaRPr lang="en-US" sz="1100">
                        <a:solidFill>
                          <a:srgbClr val="0070C0"/>
                        </a:solidFill>
                        <a:latin typeface="Nunito Sans"/>
                      </a:endParaRPr>
                    </a:p>
                  </a:txBody>
                  <a:tcPr marL="62636" marR="62636" marT="31318" marB="31318"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tc>
                  <a:txBody>
                    <a:bodyPr/>
                    <a:lstStyle/>
                    <a:p>
                      <a:pPr lvl="0" algn="l">
                        <a:lnSpc>
                          <a:spcPct val="100000"/>
                        </a:lnSpc>
                        <a:spcBef>
                          <a:spcPts val="0"/>
                        </a:spcBef>
                        <a:spcAft>
                          <a:spcPts val="0"/>
                        </a:spcAft>
                        <a:buNone/>
                      </a:pPr>
                      <a:r>
                        <a:rPr lang="en-US" sz="1100" b="0" i="0" u="none" strike="noStrike" noProof="0">
                          <a:solidFill>
                            <a:schemeClr val="tx1"/>
                          </a:solidFill>
                          <a:effectLst/>
                          <a:latin typeface="Nunito Sans"/>
                          <a:cs typeface="Segoe UI"/>
                        </a:rPr>
                        <a:t>Delivers a </a:t>
                      </a:r>
                      <a:r>
                        <a:rPr lang="en-US" sz="1100" b="1" i="0" u="none" strike="noStrike" noProof="0">
                          <a:solidFill>
                            <a:schemeClr val="tx1"/>
                          </a:solidFill>
                          <a:effectLst/>
                          <a:latin typeface="Nunito Sans"/>
                          <a:cs typeface="Segoe UI"/>
                        </a:rPr>
                        <a:t>single, real‑time roster view</a:t>
                      </a:r>
                      <a:r>
                        <a:rPr lang="en-US" sz="1100" b="0" i="0" u="none" strike="noStrike" noProof="0">
                          <a:solidFill>
                            <a:schemeClr val="tx1"/>
                          </a:solidFill>
                          <a:effectLst/>
                          <a:latin typeface="Nunito Sans"/>
                          <a:cs typeface="Segoe UI"/>
                        </a:rPr>
                        <a:t> that improves schedule visibility, accuracy, and crew planning while reducing manual effort. Seamless integrations and time‑zone intelligence enhance operational efficiency, compliance, and user confidence at scale.</a:t>
                      </a:r>
                      <a:endParaRPr lang="en-US" sz="1100">
                        <a:solidFill>
                          <a:schemeClr val="tx1"/>
                        </a:solidFill>
                        <a:latin typeface="Nunito Sans"/>
                      </a:endParaRPr>
                    </a:p>
                  </a:txBody>
                  <a:tcPr marL="62636" marR="62636" marT="31318" marB="31318"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tc>
                  <a:txBody>
                    <a:bodyPr/>
                    <a:lstStyle/>
                    <a:p>
                      <a:pPr lvl="0" algn="l">
                        <a:lnSpc>
                          <a:spcPct val="100000"/>
                        </a:lnSpc>
                        <a:spcBef>
                          <a:spcPts val="0"/>
                        </a:spcBef>
                        <a:spcAft>
                          <a:spcPts val="0"/>
                        </a:spcAft>
                        <a:buNone/>
                      </a:pPr>
                      <a:r>
                        <a:rPr lang="en-US" sz="1100" b="0" i="0" u="none" strike="noStrike" noProof="0">
                          <a:solidFill>
                            <a:srgbClr val="000000"/>
                          </a:solidFill>
                          <a:effectLst/>
                          <a:latin typeface="Arial"/>
                          <a:cs typeface="Arial"/>
                        </a:rPr>
                        <a:t>11 June</a:t>
                      </a:r>
                    </a:p>
                  </a:txBody>
                  <a:tcPr marL="62636" marR="62636" marT="31318" marB="31318"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4134609282"/>
                  </a:ext>
                </a:extLst>
              </a:tr>
            </a:tbl>
          </a:graphicData>
        </a:graphic>
      </p:graphicFrame>
    </p:spTree>
    <p:extLst>
      <p:ext uri="{BB962C8B-B14F-4D97-AF65-F5344CB8AC3E}">
        <p14:creationId xmlns:p14="http://schemas.microsoft.com/office/powerpoint/2010/main" val="313381354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80272-4B3B-7B77-CD31-7C9EDE089D8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134C3F5-5656-ACF4-E062-6EA28ED14CFC}"/>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3A41A254-7326-714E-AF55-4C213D6394DE}" type="slidenum">
              <a:rPr kumimoji="0" lang="en-US" sz="1200" b="0" i="0" u="none" strike="noStrike" kern="1200" cap="none" spc="0" normalizeH="0" baseline="0" noProof="0" smtClean="0">
                <a:ln>
                  <a:noFill/>
                </a:ln>
                <a:solidFill>
                  <a:srgbClr val="DA0E28"/>
                </a:solidFill>
                <a:effectLst/>
                <a:uLnTx/>
                <a:uFillTx/>
                <a:latin typeface="Nunito Sans"/>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50</a:t>
            </a:fld>
            <a:endParaRPr kumimoji="0" lang="en-US" sz="1200" b="0" i="0" u="none" strike="noStrike" kern="1200" cap="none" spc="0" normalizeH="0" baseline="0" noProof="0">
              <a:ln>
                <a:noFill/>
              </a:ln>
              <a:solidFill>
                <a:srgbClr val="DA0E28"/>
              </a:solidFill>
              <a:effectLst/>
              <a:uLnTx/>
              <a:uFillTx/>
              <a:latin typeface="Nunito Sans"/>
              <a:ea typeface="+mn-ea"/>
              <a:cs typeface="+mn-cs"/>
            </a:endParaRPr>
          </a:p>
        </p:txBody>
      </p:sp>
      <p:sp>
        <p:nvSpPr>
          <p:cNvPr id="6" name="Title 11">
            <a:extLst>
              <a:ext uri="{FF2B5EF4-FFF2-40B4-BE49-F238E27FC236}">
                <a16:creationId xmlns:a16="http://schemas.microsoft.com/office/drawing/2014/main" id="{C16A079C-637E-AFF6-AA50-D03A4B20C8DD}"/>
              </a:ext>
            </a:extLst>
          </p:cNvPr>
          <p:cNvSpPr txBox="1">
            <a:spLocks/>
          </p:cNvSpPr>
          <p:nvPr/>
        </p:nvSpPr>
        <p:spPr>
          <a:xfrm>
            <a:off x="304800" y="269218"/>
            <a:ext cx="9749641" cy="480073"/>
          </a:xfrm>
          <a:prstGeom prst="rect">
            <a:avLst/>
          </a:prstGeom>
        </p:spPr>
        <p:txBody>
          <a:bodyPr lIns="91440" tIns="45720" rIns="91440" bIns="45720" anchor="t">
            <a:noAutofit/>
          </a:bodyPr>
          <a:lstStyle>
            <a:lvl1pPr algn="l" defTabSz="914400" rtl="0" eaLnBrk="1" latinLnBrk="0" hangingPunct="1">
              <a:lnSpc>
                <a:spcPct val="90000"/>
              </a:lnSpc>
              <a:spcBef>
                <a:spcPct val="0"/>
              </a:spcBef>
              <a:buNone/>
              <a:defRPr sz="4400" b="1" i="0" kern="1200">
                <a:solidFill>
                  <a:schemeClr val="tx1"/>
                </a:solidFill>
                <a:latin typeface="AirIndia" pitchFamily="82" charset="77"/>
                <a:ea typeface="+mj-ea"/>
                <a:cs typeface="+mj-cs"/>
              </a:defRPr>
            </a:lvl1pPr>
          </a:lstStyle>
          <a:p>
            <a:pPr>
              <a:defRPr/>
            </a:pPr>
            <a:r>
              <a:rPr kumimoji="0" lang="en-US" sz="1800" b="1" i="0" u="none" strike="noStrike" kern="1200" cap="none" spc="0" normalizeH="0" baseline="0" noProof="0">
                <a:ln>
                  <a:noFill/>
                </a:ln>
                <a:solidFill>
                  <a:srgbClr val="DA0E28"/>
                </a:solidFill>
                <a:effectLst/>
                <a:uLnTx/>
                <a:uFillTx/>
                <a:latin typeface="AirIndia"/>
                <a:ea typeface="+mj-ea"/>
                <a:cs typeface="+mj-cs"/>
              </a:rPr>
              <a:t>Enterprise Intelligent -</a:t>
            </a:r>
            <a:r>
              <a:rPr lang="en-US" sz="1800">
                <a:solidFill>
                  <a:srgbClr val="DA0E28"/>
                </a:solidFill>
                <a:latin typeface="AirIndia"/>
              </a:rPr>
              <a:t>FY26-27</a:t>
            </a:r>
            <a:r>
              <a:rPr kumimoji="0" lang="en-US" sz="1800" b="1" i="0" u="none" strike="noStrike" kern="1200" cap="none" spc="0" normalizeH="0" baseline="0" noProof="0">
                <a:ln>
                  <a:noFill/>
                </a:ln>
                <a:solidFill>
                  <a:srgbClr val="DA0E28"/>
                </a:solidFill>
                <a:effectLst/>
                <a:uLnTx/>
                <a:uFillTx/>
                <a:latin typeface="AirIndia"/>
                <a:ea typeface="+mj-ea"/>
                <a:cs typeface="+mj-cs"/>
              </a:rPr>
              <a:t> Q1 Release </a:t>
            </a:r>
            <a:r>
              <a:rPr lang="en-US" sz="1800">
                <a:solidFill>
                  <a:srgbClr val="DA0E28"/>
                </a:solidFill>
                <a:latin typeface="AirIndia"/>
              </a:rPr>
              <a:t>Plan</a:t>
            </a:r>
            <a:endParaRPr lang="en-US" sz="1800" b="0">
              <a:solidFill>
                <a:srgbClr val="000000"/>
              </a:solidFill>
              <a:latin typeface="AirIndia"/>
            </a:endParaRPr>
          </a:p>
          <a:p>
            <a:pPr>
              <a:defRPr/>
            </a:pPr>
            <a:endParaRPr lang="en-US" sz="1800" i="0" u="none" strike="noStrike" kern="1200" cap="none" spc="0" normalizeH="0" baseline="0" noProof="0">
              <a:ln>
                <a:noFill/>
              </a:ln>
              <a:solidFill>
                <a:srgbClr val="DA0E28"/>
              </a:solidFill>
              <a:effectLst/>
              <a:uLnTx/>
              <a:uFillTx/>
              <a:latin typeface="AirIndia"/>
            </a:endParaRPr>
          </a:p>
        </p:txBody>
      </p:sp>
      <p:sp>
        <p:nvSpPr>
          <p:cNvPr id="4" name="Rectangle 3">
            <a:extLst>
              <a:ext uri="{FF2B5EF4-FFF2-40B4-BE49-F238E27FC236}">
                <a16:creationId xmlns:a16="http://schemas.microsoft.com/office/drawing/2014/main" id="{B0CDDB20-D599-5C1A-E636-0BCEA84A3E1B}"/>
              </a:ext>
            </a:extLst>
          </p:cNvPr>
          <p:cNvSpPr/>
          <p:nvPr/>
        </p:nvSpPr>
        <p:spPr>
          <a:xfrm rot="5400000">
            <a:off x="8942419" y="6655587"/>
            <a:ext cx="90000" cy="90000"/>
          </a:xfrm>
          <a:prstGeom prst="rect">
            <a:avLst/>
          </a:prstGeom>
          <a:solidFill>
            <a:schemeClr val="bg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9" name="TextBox 8">
            <a:extLst>
              <a:ext uri="{FF2B5EF4-FFF2-40B4-BE49-F238E27FC236}">
                <a16:creationId xmlns:a16="http://schemas.microsoft.com/office/drawing/2014/main" id="{0554E563-8B54-4ECC-E08C-3D307F6BAEAE}"/>
              </a:ext>
            </a:extLst>
          </p:cNvPr>
          <p:cNvSpPr txBox="1"/>
          <p:nvPr/>
        </p:nvSpPr>
        <p:spPr>
          <a:xfrm>
            <a:off x="8986097" y="6582653"/>
            <a:ext cx="3069090" cy="246221"/>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FFFFFF">
                    <a:lumMod val="49000"/>
                  </a:srgbClr>
                </a:solidFill>
                <a:effectLst/>
                <a:uLnTx/>
                <a:uFillTx/>
                <a:latin typeface="Nunito Sans"/>
                <a:ea typeface="+mn-ea"/>
                <a:cs typeface="+mn-cs"/>
              </a:rPr>
              <a:t>Descoped</a:t>
            </a:r>
          </a:p>
        </p:txBody>
      </p:sp>
      <p:sp>
        <p:nvSpPr>
          <p:cNvPr id="18" name="Rectangle 17">
            <a:extLst>
              <a:ext uri="{FF2B5EF4-FFF2-40B4-BE49-F238E27FC236}">
                <a16:creationId xmlns:a16="http://schemas.microsoft.com/office/drawing/2014/main" id="{61F4A769-0471-51F1-88E1-6536CC993711}"/>
              </a:ext>
            </a:extLst>
          </p:cNvPr>
          <p:cNvSpPr/>
          <p:nvPr/>
        </p:nvSpPr>
        <p:spPr>
          <a:xfrm>
            <a:off x="10326888" y="6653023"/>
            <a:ext cx="90000" cy="90000"/>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20" name="Rectangle 19">
            <a:extLst>
              <a:ext uri="{FF2B5EF4-FFF2-40B4-BE49-F238E27FC236}">
                <a16:creationId xmlns:a16="http://schemas.microsoft.com/office/drawing/2014/main" id="{A29DA1C1-8EEC-87C8-F44C-F96D95BE9FFF}"/>
              </a:ext>
            </a:extLst>
          </p:cNvPr>
          <p:cNvSpPr/>
          <p:nvPr/>
        </p:nvSpPr>
        <p:spPr>
          <a:xfrm>
            <a:off x="1433259" y="6651985"/>
            <a:ext cx="90000" cy="90000"/>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22" name="Rectangle 21">
            <a:extLst>
              <a:ext uri="{FF2B5EF4-FFF2-40B4-BE49-F238E27FC236}">
                <a16:creationId xmlns:a16="http://schemas.microsoft.com/office/drawing/2014/main" id="{75C4DADF-48F2-74FB-042A-0AB305EE80DE}"/>
              </a:ext>
            </a:extLst>
          </p:cNvPr>
          <p:cNvSpPr/>
          <p:nvPr/>
        </p:nvSpPr>
        <p:spPr>
          <a:xfrm>
            <a:off x="5909236" y="6676608"/>
            <a:ext cx="90000" cy="90000"/>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23" name="Rectangle 22">
            <a:extLst>
              <a:ext uri="{FF2B5EF4-FFF2-40B4-BE49-F238E27FC236}">
                <a16:creationId xmlns:a16="http://schemas.microsoft.com/office/drawing/2014/main" id="{3F7BD796-528D-8F08-1305-88770D1035FB}"/>
              </a:ext>
            </a:extLst>
          </p:cNvPr>
          <p:cNvSpPr/>
          <p:nvPr/>
        </p:nvSpPr>
        <p:spPr>
          <a:xfrm>
            <a:off x="2752379" y="6642913"/>
            <a:ext cx="90000" cy="90000"/>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24" name="TextBox 15">
            <a:extLst>
              <a:ext uri="{FF2B5EF4-FFF2-40B4-BE49-F238E27FC236}">
                <a16:creationId xmlns:a16="http://schemas.microsoft.com/office/drawing/2014/main" id="{93A05179-15CB-8416-302A-93A2C87CFD8A}"/>
              </a:ext>
            </a:extLst>
          </p:cNvPr>
          <p:cNvSpPr txBox="1"/>
          <p:nvPr/>
        </p:nvSpPr>
        <p:spPr>
          <a:xfrm>
            <a:off x="10416853" y="6596174"/>
            <a:ext cx="857245"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0070C0"/>
                </a:solidFill>
                <a:effectLst/>
                <a:uLnTx/>
                <a:uFillTx/>
                <a:latin typeface="Nunito Sans"/>
                <a:ea typeface="+mn-ea"/>
                <a:cs typeface="+mn-cs"/>
              </a:rPr>
              <a:t>Delivered</a:t>
            </a:r>
            <a:endParaRPr kumimoji="0" lang="en-IN" sz="1000" b="0" i="0" u="none" strike="noStrike" kern="1200" cap="none" spc="0" normalizeH="0" baseline="0" noProof="0">
              <a:ln>
                <a:noFill/>
              </a:ln>
              <a:solidFill>
                <a:srgbClr val="000000"/>
              </a:solidFill>
              <a:effectLst/>
              <a:uLnTx/>
              <a:uFillTx/>
              <a:latin typeface="Nunito Sans"/>
              <a:ea typeface="+mn-ea"/>
              <a:cs typeface="+mn-cs"/>
            </a:endParaRPr>
          </a:p>
        </p:txBody>
      </p:sp>
      <p:sp>
        <p:nvSpPr>
          <p:cNvPr id="25" name="TextBox 18">
            <a:extLst>
              <a:ext uri="{FF2B5EF4-FFF2-40B4-BE49-F238E27FC236}">
                <a16:creationId xmlns:a16="http://schemas.microsoft.com/office/drawing/2014/main" id="{5F3129DD-351A-9634-A693-B14AB29FC295}"/>
              </a:ext>
            </a:extLst>
          </p:cNvPr>
          <p:cNvSpPr txBox="1"/>
          <p:nvPr/>
        </p:nvSpPr>
        <p:spPr>
          <a:xfrm>
            <a:off x="1554283" y="6592533"/>
            <a:ext cx="1032881"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00B050"/>
                </a:solidFill>
                <a:effectLst/>
                <a:uLnTx/>
                <a:uFillTx/>
                <a:latin typeface="Nunito Sans"/>
                <a:ea typeface="+mn-ea"/>
                <a:cs typeface="+mn-cs"/>
              </a:rPr>
              <a:t>Ontrack</a:t>
            </a:r>
            <a:endParaRPr kumimoji="0" lang="en-IN" sz="1000" b="0" i="0" u="none" strike="noStrike" kern="1200" cap="none" spc="0" normalizeH="0" baseline="0" noProof="0">
              <a:ln>
                <a:noFill/>
              </a:ln>
              <a:solidFill>
                <a:srgbClr val="000000"/>
              </a:solidFill>
              <a:effectLst/>
              <a:uLnTx/>
              <a:uFillTx/>
              <a:latin typeface="Nunito Sans"/>
              <a:ea typeface="+mn-ea"/>
              <a:cs typeface="+mn-cs"/>
            </a:endParaRPr>
          </a:p>
        </p:txBody>
      </p:sp>
      <p:sp>
        <p:nvSpPr>
          <p:cNvPr id="26" name="TextBox 20">
            <a:extLst>
              <a:ext uri="{FF2B5EF4-FFF2-40B4-BE49-F238E27FC236}">
                <a16:creationId xmlns:a16="http://schemas.microsoft.com/office/drawing/2014/main" id="{891BD90D-685F-91DD-2BF8-58492ABDFE78}"/>
              </a:ext>
            </a:extLst>
          </p:cNvPr>
          <p:cNvSpPr txBox="1"/>
          <p:nvPr/>
        </p:nvSpPr>
        <p:spPr>
          <a:xfrm>
            <a:off x="6092504" y="6635159"/>
            <a:ext cx="2257628"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FED9A0">
                    <a:lumMod val="75000"/>
                  </a:srgbClr>
                </a:solidFill>
                <a:effectLst/>
                <a:uLnTx/>
                <a:uFillTx/>
                <a:latin typeface="Nunito Sans"/>
                <a:ea typeface="+mn-ea"/>
                <a:cs typeface="+mn-cs"/>
              </a:rPr>
              <a:t>Under delay and can be recovered</a:t>
            </a:r>
            <a:endParaRPr kumimoji="0" lang="en-IN" sz="1000" b="0" i="0" u="none" strike="noStrike" kern="1200" cap="none" spc="0" normalizeH="0" baseline="0" noProof="0">
              <a:ln>
                <a:noFill/>
              </a:ln>
              <a:solidFill>
                <a:srgbClr val="000000"/>
              </a:solidFill>
              <a:effectLst/>
              <a:uLnTx/>
              <a:uFillTx/>
              <a:latin typeface="Nunito Sans"/>
              <a:ea typeface="+mn-ea"/>
              <a:cs typeface="+mn-cs"/>
            </a:endParaRPr>
          </a:p>
        </p:txBody>
      </p:sp>
      <p:sp>
        <p:nvSpPr>
          <p:cNvPr id="27" name="TextBox 22">
            <a:extLst>
              <a:ext uri="{FF2B5EF4-FFF2-40B4-BE49-F238E27FC236}">
                <a16:creationId xmlns:a16="http://schemas.microsoft.com/office/drawing/2014/main" id="{7D1AB219-F963-9E74-41FE-0FEA687B01B5}"/>
              </a:ext>
            </a:extLst>
          </p:cNvPr>
          <p:cNvSpPr txBox="1"/>
          <p:nvPr/>
        </p:nvSpPr>
        <p:spPr>
          <a:xfrm>
            <a:off x="2842379" y="6579600"/>
            <a:ext cx="2338222"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FF0000"/>
                </a:solidFill>
                <a:effectLst/>
                <a:uLnTx/>
                <a:uFillTx/>
                <a:latin typeface="Nunito Sans"/>
                <a:ea typeface="+mn-ea"/>
                <a:cs typeface="+mn-cs"/>
              </a:rPr>
              <a:t>Delayed and pushed to next release</a:t>
            </a:r>
          </a:p>
        </p:txBody>
      </p:sp>
      <p:graphicFrame>
        <p:nvGraphicFramePr>
          <p:cNvPr id="5" name="Table 4">
            <a:extLst>
              <a:ext uri="{FF2B5EF4-FFF2-40B4-BE49-F238E27FC236}">
                <a16:creationId xmlns:a16="http://schemas.microsoft.com/office/drawing/2014/main" id="{D8142CF4-73DE-8529-18EB-FB5D32A7FA36}"/>
              </a:ext>
            </a:extLst>
          </p:cNvPr>
          <p:cNvGraphicFramePr>
            <a:graphicFrameLocks noGrp="1"/>
          </p:cNvGraphicFramePr>
          <p:nvPr>
            <p:extLst>
              <p:ext uri="{D42A27DB-BD31-4B8C-83A1-F6EECF244321}">
                <p14:modId xmlns:p14="http://schemas.microsoft.com/office/powerpoint/2010/main" val="3953435585"/>
              </p:ext>
            </p:extLst>
          </p:nvPr>
        </p:nvGraphicFramePr>
        <p:xfrm>
          <a:off x="1523259" y="678121"/>
          <a:ext cx="10114817" cy="4196712"/>
        </p:xfrm>
        <a:graphic>
          <a:graphicData uri="http://schemas.openxmlformats.org/drawingml/2006/table">
            <a:tbl>
              <a:tblPr firstRow="1" bandRow="1">
                <a:tableStyleId>{5C22544A-7EE6-4342-B048-85BDC9FD1C3A}</a:tableStyleId>
              </a:tblPr>
              <a:tblGrid>
                <a:gridCol w="1190100">
                  <a:extLst>
                    <a:ext uri="{9D8B030D-6E8A-4147-A177-3AD203B41FA5}">
                      <a16:colId xmlns:a16="http://schemas.microsoft.com/office/drawing/2014/main" val="3757020680"/>
                    </a:ext>
                  </a:extLst>
                </a:gridCol>
                <a:gridCol w="2128628">
                  <a:extLst>
                    <a:ext uri="{9D8B030D-6E8A-4147-A177-3AD203B41FA5}">
                      <a16:colId xmlns:a16="http://schemas.microsoft.com/office/drawing/2014/main" val="2822350773"/>
                    </a:ext>
                  </a:extLst>
                </a:gridCol>
                <a:gridCol w="5131093">
                  <a:extLst>
                    <a:ext uri="{9D8B030D-6E8A-4147-A177-3AD203B41FA5}">
                      <a16:colId xmlns:a16="http://schemas.microsoft.com/office/drawing/2014/main" val="99588705"/>
                    </a:ext>
                  </a:extLst>
                </a:gridCol>
                <a:gridCol w="1664996">
                  <a:extLst>
                    <a:ext uri="{9D8B030D-6E8A-4147-A177-3AD203B41FA5}">
                      <a16:colId xmlns:a16="http://schemas.microsoft.com/office/drawing/2014/main" val="1739073323"/>
                    </a:ext>
                  </a:extLst>
                </a:gridCol>
              </a:tblGrid>
              <a:tr h="231536">
                <a:tc>
                  <a:txBody>
                    <a:bodyPr/>
                    <a:lstStyle/>
                    <a:p>
                      <a:pPr marL="0" lvl="0" indent="0" algn="ctr" defTabSz="914400">
                        <a:lnSpc>
                          <a:spcPct val="100000"/>
                        </a:lnSpc>
                        <a:buNone/>
                      </a:pPr>
                      <a:r>
                        <a:rPr lang="en-IN" sz="1100" b="1" kern="1200">
                          <a:solidFill>
                            <a:schemeClr val="bg1"/>
                          </a:solidFill>
                          <a:latin typeface="+mn-lt"/>
                          <a:ea typeface="+mn-ea"/>
                          <a:cs typeface="+mn-cs"/>
                        </a:rPr>
                        <a:t>LOB</a:t>
                      </a: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solidFill>
                      <a:schemeClr val="accent3">
                        <a:lumMod val="90000"/>
                        <a:lumOff val="10000"/>
                      </a:schemeClr>
                    </a:solidFill>
                  </a:tcPr>
                </a:tc>
                <a:tc>
                  <a:txBody>
                    <a:bodyPr/>
                    <a:lstStyle/>
                    <a:p>
                      <a:pPr marL="0" lvl="0" indent="0" algn="ctr" defTabSz="914400" rtl="0">
                        <a:lnSpc>
                          <a:spcPct val="100000"/>
                        </a:lnSpc>
                        <a:buFont typeface="Arial" panose="020B0604020202020204" pitchFamily="34" charset="0"/>
                        <a:buNone/>
                      </a:pPr>
                      <a:r>
                        <a:rPr lang="en-IN" sz="1100" b="1" kern="1200">
                          <a:solidFill>
                            <a:schemeClr val="bg1"/>
                          </a:solidFill>
                          <a:latin typeface="+mn-lt"/>
                          <a:ea typeface="+mn-ea"/>
                          <a:cs typeface="+mn-cs"/>
                        </a:rPr>
                        <a:t>Initiatives</a:t>
                      </a:r>
                      <a:endParaRPr lang="en-US" sz="1100" b="1"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tc>
                  <a:txBody>
                    <a:bodyPr/>
                    <a:lstStyle/>
                    <a:p>
                      <a:pPr marL="0" indent="0" algn="ctr" defTabSz="914400" rtl="0" eaLnBrk="1" latinLnBrk="0" hangingPunct="1">
                        <a:buFont typeface="Arial" panose="020B0604020202020204" pitchFamily="34" charset="0"/>
                        <a:buNone/>
                      </a:pPr>
                      <a:r>
                        <a:rPr lang="en-IN" sz="1100" kern="1200">
                          <a:solidFill>
                            <a:schemeClr val="bg1"/>
                          </a:solidFill>
                          <a:latin typeface="+mn-lt"/>
                          <a:ea typeface="+mn-ea"/>
                          <a:cs typeface="+mn-cs"/>
                        </a:rPr>
                        <a:t>Value Justification/Realization</a:t>
                      </a:r>
                      <a:endParaRPr lang="en-US" sz="1100"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tc>
                  <a:txBody>
                    <a:bodyPr/>
                    <a:lstStyle/>
                    <a:p>
                      <a:pPr marL="0" indent="0" algn="ctr" defTabSz="914400" rtl="0" eaLnBrk="1" latinLnBrk="0" hangingPunct="1">
                        <a:buFont typeface="Arial" panose="020B0604020202020204" pitchFamily="34" charset="0"/>
                        <a:buNone/>
                      </a:pPr>
                      <a:r>
                        <a:rPr lang="en-US" sz="1100" kern="1200">
                          <a:solidFill>
                            <a:schemeClr val="bg1"/>
                          </a:solidFill>
                          <a:latin typeface="+mn-lt"/>
                          <a:ea typeface="+mn-ea"/>
                          <a:cs typeface="+mn-cs"/>
                        </a:rPr>
                        <a:t>Go-live Date</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extLst>
                  <a:ext uri="{0D108BD9-81ED-4DB2-BD59-A6C34878D82A}">
                    <a16:rowId xmlns:a16="http://schemas.microsoft.com/office/drawing/2014/main" val="844450115"/>
                  </a:ext>
                </a:extLst>
              </a:tr>
              <a:tr h="962706">
                <a:tc>
                  <a:txBody>
                    <a:bodyPr/>
                    <a:lstStyle/>
                    <a:p>
                      <a:pPr marL="0" lvl="0" indent="0" algn="ctr">
                        <a:lnSpc>
                          <a:spcPct val="100000"/>
                        </a:lnSpc>
                        <a:buNone/>
                      </a:pPr>
                      <a:r>
                        <a:rPr lang="en-US" sz="1200" b="1" i="0" u="none" strike="noStrike" kern="1200" noProof="0">
                          <a:solidFill>
                            <a:srgbClr val="0070C0"/>
                          </a:solidFill>
                          <a:latin typeface="+mn-lt"/>
                        </a:rPr>
                        <a:t>Fin Tech</a:t>
                      </a: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a:solidFill>
                        <a:schemeClr val="bg1">
                          <a:lumMod val="75000"/>
                        </a:schemeClr>
                      </a:solidFill>
                    </a:lnB>
                    <a:noFill/>
                  </a:tcPr>
                </a:tc>
                <a:tc>
                  <a:txBody>
                    <a:bodyPr/>
                    <a:lstStyle/>
                    <a:p>
                      <a:pPr marL="0" lvl="0" indent="0" algn="l" defTabSz="914400" rtl="0" eaLnBrk="1" latinLnBrk="0" hangingPunct="1">
                        <a:lnSpc>
                          <a:spcPct val="100000"/>
                        </a:lnSpc>
                        <a:buFont typeface="Arial" panose="020B0604020202020204" pitchFamily="34" charset="0"/>
                        <a:buNone/>
                      </a:pPr>
                      <a:r>
                        <a:rPr lang="en-US" sz="1100" b="1" i="0" u="none" strike="noStrike" kern="1200" noProof="0">
                          <a:solidFill>
                            <a:srgbClr val="00B050"/>
                          </a:solidFill>
                          <a:latin typeface="+mn-lt"/>
                        </a:rPr>
                        <a:t>PAX Claim - JPM Integration</a:t>
                      </a:r>
                      <a:endParaRPr lang="en-US" sz="1100" b="1" kern="1200">
                        <a:solidFill>
                          <a:srgbClr val="00B050"/>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l" rtl="0" eaLnBrk="1" fontAlgn="auto" latinLnBrk="0" hangingPunct="1">
                        <a:lnSpc>
                          <a:spcPct val="100000"/>
                        </a:lnSpc>
                        <a:spcBef>
                          <a:spcPts val="0"/>
                        </a:spcBef>
                        <a:spcAft>
                          <a:spcPts val="0"/>
                        </a:spcAft>
                        <a:buClrTx/>
                        <a:buSzTx/>
                        <a:buFont typeface="Arial" panose="020B0604020202020204" pitchFamily="34" charset="0"/>
                        <a:buNone/>
                      </a:pPr>
                      <a:r>
                        <a:rPr lang="en-US" sz="1100" b="0" i="0" u="none" strike="noStrike" kern="1200" noProof="0">
                          <a:solidFill>
                            <a:schemeClr val="tx1"/>
                          </a:solidFill>
                          <a:latin typeface="+mn-lt"/>
                        </a:rPr>
                        <a:t>Automating the integration ensures faster processing of Pax Claim payments with reduced manual errors, leading to improved financial accuracy and timely disbursements . Direct integration with banking partners strengthens data traceability and aligns with financial governance standards </a:t>
                      </a:r>
                      <a:endParaRPr lang="en-US" sz="1100" b="1" i="0" u="none" strike="noStrike" kern="1200" noProof="0">
                        <a:solidFill>
                          <a:schemeClr val="accent1"/>
                        </a:solidFill>
                        <a:latin typeface="Nunito San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lvl="0" algn="l">
                        <a:lnSpc>
                          <a:spcPct val="100000"/>
                        </a:lnSpc>
                        <a:spcBef>
                          <a:spcPts val="0"/>
                        </a:spcBef>
                        <a:spcAft>
                          <a:spcPts val="0"/>
                        </a:spcAft>
                        <a:buNone/>
                      </a:pPr>
                      <a:r>
                        <a:rPr lang="en-US" sz="1100" b="0" i="0" u="none" strike="noStrike" noProof="0">
                          <a:solidFill>
                            <a:srgbClr val="000000"/>
                          </a:solidFill>
                          <a:latin typeface="Arial"/>
                          <a:cs typeface="Arial"/>
                        </a:rPr>
                        <a:t>27 May</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443371065"/>
                  </a:ext>
                </a:extLst>
              </a:tr>
              <a:tr h="670238">
                <a:tc>
                  <a:txBody>
                    <a:bodyPr/>
                    <a:lstStyle/>
                    <a:p>
                      <a:pPr marL="0" lvl="0" indent="0" algn="ctr">
                        <a:lnSpc>
                          <a:spcPct val="100000"/>
                        </a:lnSpc>
                        <a:buNone/>
                      </a:pPr>
                      <a:r>
                        <a:rPr lang="en-US" sz="1200" b="1" kern="1200">
                          <a:solidFill>
                            <a:srgbClr val="0070C0"/>
                          </a:solidFill>
                          <a:latin typeface="+mn-lt"/>
                          <a:ea typeface="+mn-ea"/>
                          <a:cs typeface="+mn-cs"/>
                        </a:rPr>
                        <a:t>HR Tech</a:t>
                      </a: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1" i="0" u="none" strike="noStrike" kern="1200" noProof="0">
                          <a:solidFill>
                            <a:srgbClr val="0070C0"/>
                          </a:solidFill>
                          <a:latin typeface="+mn-lt"/>
                        </a:rPr>
                        <a:t>Crew Upgrade Automation</a:t>
                      </a:r>
                    </a:p>
                    <a:p>
                      <a:pPr marL="0" lvl="0" indent="0" algn="l" defTabSz="914400">
                        <a:lnSpc>
                          <a:spcPct val="100000"/>
                        </a:lnSpc>
                        <a:buNone/>
                      </a:pPr>
                      <a:endParaRPr lang="en-US" sz="1100" b="1" kern="1200">
                        <a:solidFill>
                          <a:srgbClr val="00B050"/>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marL="0" lvl="0" indent="0" algn="l">
                        <a:buNone/>
                      </a:pPr>
                      <a:r>
                        <a:rPr lang="en-US" sz="1050" b="0" i="0" u="none" strike="noStrike" noProof="0">
                          <a:solidFill>
                            <a:schemeClr val="tx1"/>
                          </a:solidFill>
                          <a:latin typeface="Nunito Sans"/>
                        </a:rPr>
                        <a:t>End‑to‑End Crew Upgrade Automation (basis tenure, certification, etc.). </a:t>
                      </a:r>
                      <a:r>
                        <a:rPr lang="en-US" sz="1050" b="0">
                          <a:solidFill>
                            <a:schemeClr val="tx1"/>
                          </a:solidFill>
                        </a:rPr>
                        <a:t>Au</a:t>
                      </a:r>
                      <a:r>
                        <a:rPr lang="en-US" sz="1100"/>
                        <a:t>tomates upgrade decisions through rule‑based logic, improving fairness, process speed, and operational efficiency.</a:t>
                      </a:r>
                      <a:r>
                        <a:rPr lang="en-US" sz="1100" b="1"/>
                        <a:t> </a:t>
                      </a:r>
                      <a:endParaRPr lang="en-US" sz="1100" b="1">
                        <a:solidFill>
                          <a:schemeClr val="accent1"/>
                        </a:solidFill>
                      </a:endParaRPr>
                    </a:p>
                  </a:txBody>
                  <a:tcPr anchor="ctr">
                    <a:lnL w="6350" cap="flat" cmpd="sng" algn="ctr">
                      <a:solidFill>
                        <a:schemeClr val="bg1">
                          <a:lumMod val="75000"/>
                        </a:schemeClr>
                      </a:solidFill>
                      <a:prstDash val="solid"/>
                      <a:round/>
                      <a:headEnd type="none" w="med" len="med"/>
                      <a:tailEnd type="none" w="med" len="med"/>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lvl="0" indent="0" algn="l">
                        <a:buNone/>
                      </a:pPr>
                      <a:r>
                        <a:rPr lang="en-US" sz="1100" b="0" i="0" u="none" strike="noStrike" noProof="0">
                          <a:latin typeface="Arial"/>
                        </a:rPr>
                        <a:t>27 May</a:t>
                      </a: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375834491"/>
                  </a:ext>
                </a:extLst>
              </a:tr>
              <a:tr h="524004">
                <a:tc rowSpan="2">
                  <a:txBody>
                    <a:bodyPr/>
                    <a:lstStyle/>
                    <a:p>
                      <a:pPr marL="0" lvl="0" indent="0" algn="ctr">
                        <a:lnSpc>
                          <a:spcPct val="100000"/>
                        </a:lnSpc>
                        <a:spcBef>
                          <a:spcPts val="0"/>
                        </a:spcBef>
                        <a:spcAft>
                          <a:spcPts val="0"/>
                        </a:spcAft>
                        <a:buNone/>
                      </a:pPr>
                      <a:r>
                        <a:rPr lang="en-US" sz="1200" b="1" i="0" u="none" strike="noStrike" kern="1200" noProof="0">
                          <a:solidFill>
                            <a:srgbClr val="0070C0"/>
                          </a:solidFill>
                          <a:latin typeface="+mn-lt"/>
                        </a:rPr>
                        <a:t>B2E</a:t>
                      </a:r>
                      <a:endParaRPr lang="en-US" sz="1200" b="1">
                        <a:solidFill>
                          <a:srgbClr val="0070C0"/>
                        </a:solidFill>
                      </a:endParaRP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tc>
                  <a:txBody>
                    <a:bodyPr/>
                    <a:lstStyle/>
                    <a:p>
                      <a:pPr marL="0" marR="0" lvl="0" indent="0" algn="l">
                        <a:lnSpc>
                          <a:spcPct val="100000"/>
                        </a:lnSpc>
                        <a:spcBef>
                          <a:spcPts val="0"/>
                        </a:spcBef>
                        <a:spcAft>
                          <a:spcPts val="0"/>
                        </a:spcAft>
                        <a:buNone/>
                      </a:pPr>
                      <a:r>
                        <a:rPr lang="en-US" sz="1100" b="1" i="0" u="none" strike="noStrike" kern="1200" noProof="0">
                          <a:solidFill>
                            <a:schemeClr val="tx2">
                              <a:lumMod val="40000"/>
                              <a:lumOff val="60000"/>
                            </a:schemeClr>
                          </a:solidFill>
                        </a:rPr>
                        <a:t>Baggage integration with Salesforce</a:t>
                      </a:r>
                      <a:endParaRPr lang="en-US" b="1">
                        <a:solidFill>
                          <a:schemeClr val="tx2">
                            <a:lumMod val="40000"/>
                            <a:lumOff val="60000"/>
                          </a:schemeClr>
                        </a:solidFill>
                      </a:endParaRPr>
                    </a:p>
                  </a:txBody>
                  <a:tcPr anchor="ctr">
                    <a:lnL w="6350" cap="flat" cmpd="sng" algn="ctr">
                      <a:solidFill>
                        <a:schemeClr val="bg1">
                          <a:lumMod val="75000"/>
                        </a:schemeClr>
                      </a:solidFill>
                      <a:prstDash val="solid"/>
                      <a:round/>
                      <a:headEnd type="none" w="med" len="med"/>
                      <a:tailEnd type="none" w="med" len="med"/>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marL="0" lvl="0" indent="0" algn="l">
                        <a:buNone/>
                      </a:pPr>
                      <a:r>
                        <a:rPr lang="en-US" sz="1100" b="0" i="0" u="none" strike="noStrike" noProof="0">
                          <a:latin typeface="Nunito Sans"/>
                        </a:rPr>
                        <a:t>Integrated baggage tracking and case data with Salesforce CRM to enable seamless compensation workflows and centralized case management for customer service teams </a:t>
                      </a:r>
                      <a:endParaRPr lang="en-US" sz="1100" b="1" i="0" u="none" strike="noStrike" noProof="0">
                        <a:solidFill>
                          <a:schemeClr val="accent1"/>
                        </a:solidFill>
                        <a:latin typeface="Nunito Sans"/>
                      </a:endParaRPr>
                    </a:p>
                  </a:txBody>
                  <a:tcPr anchor="ctr">
                    <a:lnL w="6350" cap="flat" cmpd="sng" algn="ctr">
                      <a:solidFill>
                        <a:schemeClr val="bg1">
                          <a:lumMod val="75000"/>
                        </a:schemeClr>
                      </a:solidFill>
                      <a:prstDash val="solid"/>
                      <a:round/>
                      <a:headEnd type="none" w="med" len="med"/>
                      <a:tailEnd type="none" w="med" len="med"/>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0" i="0" u="none" strike="noStrike" noProof="0">
                          <a:latin typeface="Arial"/>
                        </a:rPr>
                        <a:t>28 May</a:t>
                      </a: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959550173"/>
                  </a:ext>
                </a:extLst>
              </a:tr>
              <a:tr h="1710328">
                <a:tc vMerge="1">
                  <a:txBody>
                    <a:bodyPr/>
                    <a:lstStyle/>
                    <a:p>
                      <a:pPr defTabSz="914400">
                        <a:tabLst/>
                        <a:defRPr/>
                      </a:pPr>
                      <a:endParaRPr lang="en-US" sz="1100" b="1" i="0" u="none" strike="noStrike" kern="1200" noProof="0">
                        <a:solidFill>
                          <a:srgbClr val="00B050"/>
                        </a:solidFill>
                        <a:latin typeface="+mn-lt"/>
                      </a:endParaRP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tc>
                  <a:txBody>
                    <a:bodyPr/>
                    <a:lstStyle/>
                    <a:p>
                      <a:pPr marL="0" marR="0" lvl="0" indent="0" algn="l" rtl="0" eaLnBrk="1" fontAlgn="auto" latinLnBrk="0" hangingPunct="1">
                        <a:lnSpc>
                          <a:spcPct val="100000"/>
                        </a:lnSpc>
                        <a:spcBef>
                          <a:spcPts val="0"/>
                        </a:spcBef>
                        <a:spcAft>
                          <a:spcPts val="0"/>
                        </a:spcAft>
                        <a:buClrTx/>
                        <a:buSzTx/>
                        <a:buFontTx/>
                        <a:buNone/>
                      </a:pPr>
                      <a:r>
                        <a:rPr lang="en-US" sz="1100" b="1" i="0" u="none" strike="noStrike" kern="1200" noProof="0">
                          <a:solidFill>
                            <a:srgbClr val="0070C0"/>
                          </a:solidFill>
                          <a:latin typeface="+mn-lt"/>
                        </a:rPr>
                        <a:t>Pilot Check-in (AIFP) </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lvl="0" algn="l">
                        <a:lnSpc>
                          <a:spcPct val="100000"/>
                        </a:lnSpc>
                        <a:spcBef>
                          <a:spcPts val="0"/>
                        </a:spcBef>
                        <a:spcAft>
                          <a:spcPts val="0"/>
                        </a:spcAft>
                        <a:buNone/>
                      </a:pPr>
                      <a:endParaRPr lang="en-US"/>
                    </a:p>
                    <a:p>
                      <a:pPr lvl="0" algn="l">
                        <a:lnSpc>
                          <a:spcPct val="100000"/>
                        </a:lnSpc>
                        <a:spcBef>
                          <a:spcPts val="0"/>
                        </a:spcBef>
                        <a:spcAft>
                          <a:spcPts val="0"/>
                        </a:spcAft>
                        <a:buNone/>
                      </a:pPr>
                      <a:r>
                        <a:rPr lang="en-US" sz="1100" b="0" i="0" u="none" strike="noStrike" noProof="0">
                          <a:latin typeface="Nunito Sans"/>
                        </a:rPr>
                        <a:t>CAE CM Check-in: Capability for Pilots to check into their flight allowing a system check of their licenses and qualifications and informs them of any potential issues </a:t>
                      </a:r>
                      <a:endParaRPr lang="en-US"/>
                    </a:p>
                    <a:p>
                      <a:pPr lvl="0" algn="l">
                        <a:lnSpc>
                          <a:spcPct val="100000"/>
                        </a:lnSpc>
                        <a:spcBef>
                          <a:spcPts val="0"/>
                        </a:spcBef>
                        <a:spcAft>
                          <a:spcPts val="0"/>
                        </a:spcAft>
                        <a:buNone/>
                      </a:pPr>
                      <a:r>
                        <a:rPr lang="en-US" sz="1100" b="0" i="0" u="none" strike="noStrike" noProof="0" err="1">
                          <a:latin typeface="Nunito Sans"/>
                        </a:rPr>
                        <a:t>Docunet</a:t>
                      </a:r>
                      <a:r>
                        <a:rPr lang="en-US" sz="1100" b="0" i="0" u="none" strike="noStrike" noProof="0">
                          <a:latin typeface="Nunito Sans"/>
                        </a:rPr>
                        <a:t> Alerts: Integration with </a:t>
                      </a:r>
                      <a:r>
                        <a:rPr lang="en-US" sz="1100" b="0" i="0" u="none" strike="noStrike" noProof="0" err="1">
                          <a:latin typeface="Nunito Sans"/>
                        </a:rPr>
                        <a:t>Docunet</a:t>
                      </a:r>
                      <a:r>
                        <a:rPr lang="en-US" sz="1100" b="0" i="0" u="none" strike="noStrike" noProof="0">
                          <a:latin typeface="Nunito Sans"/>
                        </a:rPr>
                        <a:t> via APIs resulting in a hard alert preventing check-in. Alerts limited to documents updated and review and sign of mandatory documents </a:t>
                      </a:r>
                      <a:endParaRPr lang="en-US"/>
                    </a:p>
                    <a:p>
                      <a:pPr marL="0" lvl="0" indent="0" algn="l">
                        <a:buNone/>
                      </a:pPr>
                      <a:endParaRPr lang="en-US" sz="1100"/>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0" i="0" u="none" strike="sngStrike" noProof="0">
                          <a:latin typeface="Arial"/>
                        </a:rPr>
                        <a:t>28 May</a:t>
                      </a:r>
                    </a:p>
                    <a:p>
                      <a:pPr marL="0" marR="0" lvl="0" indent="0" algn="l">
                        <a:lnSpc>
                          <a:spcPct val="100000"/>
                        </a:lnSpc>
                        <a:spcBef>
                          <a:spcPts val="0"/>
                        </a:spcBef>
                        <a:spcAft>
                          <a:spcPts val="0"/>
                        </a:spcAft>
                        <a:buClrTx/>
                        <a:buSzTx/>
                        <a:buFontTx/>
                        <a:buNone/>
                      </a:pPr>
                      <a:r>
                        <a:rPr lang="en-US" sz="1100" b="0" i="0" u="none" strike="noStrike" noProof="0">
                          <a:latin typeface="Arial"/>
                        </a:rPr>
                        <a:t>26 Jun</a:t>
                      </a:r>
                    </a:p>
                  </a:txBody>
                  <a:tcPr anchor="ctr">
                    <a:lnL w="6350" cap="flat" cmpd="sng" algn="ctr">
                      <a:solidFill>
                        <a:schemeClr val="bg1">
                          <a:lumMod val="75000"/>
                        </a:schemeClr>
                      </a:solidFill>
                      <a:prstDash val="solid"/>
                      <a:round/>
                      <a:headEnd type="none" w="med" len="med"/>
                      <a:tailEnd type="none" w="med" len="med"/>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549963535"/>
                  </a:ext>
                </a:extLst>
              </a:tr>
            </a:tbl>
          </a:graphicData>
        </a:graphic>
      </p:graphicFrame>
      <p:sp>
        <p:nvSpPr>
          <p:cNvPr id="8" name="Rectangle 7">
            <a:extLst>
              <a:ext uri="{FF2B5EF4-FFF2-40B4-BE49-F238E27FC236}">
                <a16:creationId xmlns:a16="http://schemas.microsoft.com/office/drawing/2014/main" id="{2708E126-3C89-3DF0-C659-363DFE0FC4F6}"/>
              </a:ext>
            </a:extLst>
          </p:cNvPr>
          <p:cNvSpPr/>
          <p:nvPr/>
        </p:nvSpPr>
        <p:spPr>
          <a:xfrm>
            <a:off x="383851" y="678121"/>
            <a:ext cx="1170432" cy="42234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defRPr/>
            </a:pPr>
            <a:r>
              <a:rPr lang="en-IN" sz="1400" b="1">
                <a:solidFill>
                  <a:srgbClr val="FFFFFF"/>
                </a:solidFill>
                <a:latin typeface="AirIndia"/>
              </a:rPr>
              <a:t>May </a:t>
            </a:r>
            <a:r>
              <a:rPr kumimoji="0" lang="en-IN" sz="1400" b="1" i="0" u="none" strike="noStrike" kern="1200" cap="none" spc="0" normalizeH="0" baseline="0" noProof="0">
                <a:ln>
                  <a:noFill/>
                </a:ln>
                <a:solidFill>
                  <a:srgbClr val="FFFFFF"/>
                </a:solidFill>
                <a:effectLst/>
                <a:uLnTx/>
                <a:uFillTx/>
                <a:latin typeface="AirIndia"/>
              </a:rPr>
              <a:t>‘</a:t>
            </a:r>
            <a:r>
              <a:rPr lang="en-IN" sz="1400" b="1">
                <a:solidFill>
                  <a:srgbClr val="FFFFFF"/>
                </a:solidFill>
                <a:latin typeface="AirIndia"/>
              </a:rPr>
              <a:t>26</a:t>
            </a:r>
            <a:endParaRPr kumimoji="0" lang="en-US" sz="1400" b="1" i="0" u="none" strike="noStrike" kern="1200" cap="none" spc="0" normalizeH="0" baseline="0" noProof="0">
              <a:ln>
                <a:noFill/>
              </a:ln>
              <a:solidFill>
                <a:srgbClr val="FFFFFF"/>
              </a:solidFill>
              <a:effectLst/>
              <a:uLnTx/>
              <a:uFillTx/>
              <a:latin typeface="AirIndia" panose="04050608020B02020302" charset="0"/>
              <a:ea typeface="+mn-ea"/>
              <a:cs typeface="+mn-cs"/>
            </a:endParaRPr>
          </a:p>
        </p:txBody>
      </p:sp>
    </p:spTree>
    <p:extLst>
      <p:ext uri="{BB962C8B-B14F-4D97-AF65-F5344CB8AC3E}">
        <p14:creationId xmlns:p14="http://schemas.microsoft.com/office/powerpoint/2010/main" val="285920731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6BD3E4-E9BF-DE79-2066-F1AA06950D9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064AAF7-E1E4-5C7F-601C-581D503330C1}"/>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3A41A254-7326-714E-AF55-4C213D6394DE}" type="slidenum">
              <a:rPr kumimoji="0" lang="en-US" sz="1200" b="0" i="0" u="none" strike="noStrike" kern="1200" cap="none" spc="0" normalizeH="0" baseline="0" noProof="0" smtClean="0">
                <a:ln>
                  <a:noFill/>
                </a:ln>
                <a:solidFill>
                  <a:srgbClr val="DA0E28"/>
                </a:solidFill>
                <a:effectLst/>
                <a:uLnTx/>
                <a:uFillTx/>
                <a:latin typeface="Nunito Sans"/>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51</a:t>
            </a:fld>
            <a:endParaRPr kumimoji="0" lang="en-US" sz="1200" b="0" i="0" u="none" strike="noStrike" kern="1200" cap="none" spc="0" normalizeH="0" baseline="0" noProof="0">
              <a:ln>
                <a:noFill/>
              </a:ln>
              <a:solidFill>
                <a:srgbClr val="DA0E28"/>
              </a:solidFill>
              <a:effectLst/>
              <a:uLnTx/>
              <a:uFillTx/>
              <a:latin typeface="Nunito Sans"/>
              <a:ea typeface="+mn-ea"/>
              <a:cs typeface="+mn-cs"/>
            </a:endParaRPr>
          </a:p>
        </p:txBody>
      </p:sp>
      <p:sp>
        <p:nvSpPr>
          <p:cNvPr id="6" name="Title 11">
            <a:extLst>
              <a:ext uri="{FF2B5EF4-FFF2-40B4-BE49-F238E27FC236}">
                <a16:creationId xmlns:a16="http://schemas.microsoft.com/office/drawing/2014/main" id="{465EB7ED-D3A8-82E2-3690-EFF069F9CE37}"/>
              </a:ext>
            </a:extLst>
          </p:cNvPr>
          <p:cNvSpPr txBox="1">
            <a:spLocks/>
          </p:cNvSpPr>
          <p:nvPr/>
        </p:nvSpPr>
        <p:spPr>
          <a:xfrm>
            <a:off x="304800" y="269218"/>
            <a:ext cx="9749641" cy="480073"/>
          </a:xfrm>
          <a:prstGeom prst="rect">
            <a:avLst/>
          </a:prstGeom>
        </p:spPr>
        <p:txBody>
          <a:bodyPr lIns="91440" tIns="45720" rIns="91440" bIns="45720" anchor="t">
            <a:noAutofit/>
          </a:bodyPr>
          <a:lstStyle>
            <a:lvl1pPr algn="l" defTabSz="914400" rtl="0" eaLnBrk="1" latinLnBrk="0" hangingPunct="1">
              <a:lnSpc>
                <a:spcPct val="90000"/>
              </a:lnSpc>
              <a:spcBef>
                <a:spcPct val="0"/>
              </a:spcBef>
              <a:buNone/>
              <a:defRPr sz="4400" b="1" i="0" kern="1200">
                <a:solidFill>
                  <a:schemeClr val="tx1"/>
                </a:solidFill>
                <a:latin typeface="AirIndia" pitchFamily="82" charset="77"/>
                <a:ea typeface="+mj-ea"/>
                <a:cs typeface="+mj-cs"/>
              </a:defRPr>
            </a:lvl1pPr>
          </a:lstStyle>
          <a:p>
            <a:pPr>
              <a:defRPr/>
            </a:pPr>
            <a:r>
              <a:rPr kumimoji="0" lang="en-US" sz="1800" b="1" i="0" u="none" strike="noStrike" kern="1200" cap="none" spc="0" normalizeH="0" baseline="0" noProof="0">
                <a:ln>
                  <a:noFill/>
                </a:ln>
                <a:solidFill>
                  <a:srgbClr val="DA0E28"/>
                </a:solidFill>
                <a:effectLst/>
                <a:uLnTx/>
                <a:uFillTx/>
                <a:latin typeface="AirIndia"/>
                <a:ea typeface="+mj-ea"/>
                <a:cs typeface="+mj-cs"/>
              </a:rPr>
              <a:t>Enterprise </a:t>
            </a:r>
            <a:r>
              <a:rPr lang="en-US" sz="1800">
                <a:solidFill>
                  <a:srgbClr val="DA0E28"/>
                </a:solidFill>
                <a:latin typeface="AirIndia"/>
              </a:rPr>
              <a:t>Integration -FY26-27</a:t>
            </a:r>
            <a:r>
              <a:rPr kumimoji="0" lang="en-US" sz="1800" b="1" i="0" u="none" strike="noStrike" kern="1200" cap="none" spc="0" normalizeH="0" baseline="0" noProof="0">
                <a:ln>
                  <a:noFill/>
                </a:ln>
                <a:solidFill>
                  <a:srgbClr val="DA0E28"/>
                </a:solidFill>
                <a:effectLst/>
                <a:uLnTx/>
                <a:uFillTx/>
                <a:latin typeface="AirIndia"/>
                <a:ea typeface="+mj-ea"/>
                <a:cs typeface="+mj-cs"/>
              </a:rPr>
              <a:t> Q1 Release </a:t>
            </a:r>
            <a:r>
              <a:rPr lang="en-US" sz="1800">
                <a:solidFill>
                  <a:srgbClr val="DA0E28"/>
                </a:solidFill>
                <a:latin typeface="AirIndia"/>
              </a:rPr>
              <a:t>Plan</a:t>
            </a:r>
            <a:endParaRPr lang="en-US" sz="1800" b="0">
              <a:solidFill>
                <a:srgbClr val="000000"/>
              </a:solidFill>
              <a:latin typeface="AirIndia"/>
            </a:endParaRPr>
          </a:p>
          <a:p>
            <a:pPr>
              <a:defRPr/>
            </a:pPr>
            <a:endParaRPr lang="en-US" sz="1800" i="0" u="none" strike="noStrike" kern="1200" cap="none" spc="0" normalizeH="0" baseline="0" noProof="0">
              <a:ln>
                <a:noFill/>
              </a:ln>
              <a:solidFill>
                <a:srgbClr val="DA0E28"/>
              </a:solidFill>
              <a:effectLst/>
              <a:uLnTx/>
              <a:uFillTx/>
              <a:latin typeface="AirIndia"/>
            </a:endParaRPr>
          </a:p>
        </p:txBody>
      </p:sp>
      <p:sp>
        <p:nvSpPr>
          <p:cNvPr id="4" name="Rectangle 3">
            <a:extLst>
              <a:ext uri="{FF2B5EF4-FFF2-40B4-BE49-F238E27FC236}">
                <a16:creationId xmlns:a16="http://schemas.microsoft.com/office/drawing/2014/main" id="{72DFF8A9-5676-2FB1-D994-A44D7BD6EE04}"/>
              </a:ext>
            </a:extLst>
          </p:cNvPr>
          <p:cNvSpPr/>
          <p:nvPr/>
        </p:nvSpPr>
        <p:spPr>
          <a:xfrm rot="5400000">
            <a:off x="8942419" y="6655587"/>
            <a:ext cx="90000" cy="90000"/>
          </a:xfrm>
          <a:prstGeom prst="rect">
            <a:avLst/>
          </a:prstGeom>
          <a:solidFill>
            <a:schemeClr val="bg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9" name="TextBox 8">
            <a:extLst>
              <a:ext uri="{FF2B5EF4-FFF2-40B4-BE49-F238E27FC236}">
                <a16:creationId xmlns:a16="http://schemas.microsoft.com/office/drawing/2014/main" id="{33C7B42E-7F9C-79CB-AD94-8D61D877CA0E}"/>
              </a:ext>
            </a:extLst>
          </p:cNvPr>
          <p:cNvSpPr txBox="1"/>
          <p:nvPr/>
        </p:nvSpPr>
        <p:spPr>
          <a:xfrm>
            <a:off x="8986097" y="6582653"/>
            <a:ext cx="3069090" cy="246221"/>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FFFFFF">
                    <a:lumMod val="49000"/>
                  </a:srgbClr>
                </a:solidFill>
                <a:effectLst/>
                <a:uLnTx/>
                <a:uFillTx/>
                <a:latin typeface="Nunito Sans"/>
                <a:ea typeface="+mn-ea"/>
                <a:cs typeface="+mn-cs"/>
              </a:rPr>
              <a:t>Descoped</a:t>
            </a:r>
          </a:p>
        </p:txBody>
      </p:sp>
      <p:sp>
        <p:nvSpPr>
          <p:cNvPr id="18" name="Rectangle 17">
            <a:extLst>
              <a:ext uri="{FF2B5EF4-FFF2-40B4-BE49-F238E27FC236}">
                <a16:creationId xmlns:a16="http://schemas.microsoft.com/office/drawing/2014/main" id="{B1F64C05-99F2-1DD2-FB66-F61E9D8FD201}"/>
              </a:ext>
            </a:extLst>
          </p:cNvPr>
          <p:cNvSpPr/>
          <p:nvPr/>
        </p:nvSpPr>
        <p:spPr>
          <a:xfrm>
            <a:off x="10326888" y="6653023"/>
            <a:ext cx="90000" cy="90000"/>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20" name="Rectangle 19">
            <a:extLst>
              <a:ext uri="{FF2B5EF4-FFF2-40B4-BE49-F238E27FC236}">
                <a16:creationId xmlns:a16="http://schemas.microsoft.com/office/drawing/2014/main" id="{AA4B9747-48B5-10CD-242A-C2DA815AB82C}"/>
              </a:ext>
            </a:extLst>
          </p:cNvPr>
          <p:cNvSpPr/>
          <p:nvPr/>
        </p:nvSpPr>
        <p:spPr>
          <a:xfrm>
            <a:off x="1433259" y="6651985"/>
            <a:ext cx="90000" cy="90000"/>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22" name="Rectangle 21">
            <a:extLst>
              <a:ext uri="{FF2B5EF4-FFF2-40B4-BE49-F238E27FC236}">
                <a16:creationId xmlns:a16="http://schemas.microsoft.com/office/drawing/2014/main" id="{AE087859-444F-2A48-07D4-A6272C351DA7}"/>
              </a:ext>
            </a:extLst>
          </p:cNvPr>
          <p:cNvSpPr/>
          <p:nvPr/>
        </p:nvSpPr>
        <p:spPr>
          <a:xfrm>
            <a:off x="5909236" y="6676608"/>
            <a:ext cx="90000" cy="90000"/>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23" name="Rectangle 22">
            <a:extLst>
              <a:ext uri="{FF2B5EF4-FFF2-40B4-BE49-F238E27FC236}">
                <a16:creationId xmlns:a16="http://schemas.microsoft.com/office/drawing/2014/main" id="{681F7B03-5101-0C3E-2123-42EA9D61D78B}"/>
              </a:ext>
            </a:extLst>
          </p:cNvPr>
          <p:cNvSpPr/>
          <p:nvPr/>
        </p:nvSpPr>
        <p:spPr>
          <a:xfrm>
            <a:off x="2752379" y="6642913"/>
            <a:ext cx="90000" cy="90000"/>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24" name="TextBox 15">
            <a:extLst>
              <a:ext uri="{FF2B5EF4-FFF2-40B4-BE49-F238E27FC236}">
                <a16:creationId xmlns:a16="http://schemas.microsoft.com/office/drawing/2014/main" id="{3709A4D5-2377-059B-6193-E4608279B618}"/>
              </a:ext>
            </a:extLst>
          </p:cNvPr>
          <p:cNvSpPr txBox="1"/>
          <p:nvPr/>
        </p:nvSpPr>
        <p:spPr>
          <a:xfrm>
            <a:off x="10416853" y="6596174"/>
            <a:ext cx="857245"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0070C0"/>
                </a:solidFill>
                <a:effectLst/>
                <a:uLnTx/>
                <a:uFillTx/>
                <a:latin typeface="Nunito Sans"/>
                <a:ea typeface="+mn-ea"/>
                <a:cs typeface="+mn-cs"/>
              </a:rPr>
              <a:t>Delivered</a:t>
            </a:r>
            <a:endParaRPr kumimoji="0" lang="en-IN" sz="1000" b="0" i="0" u="none" strike="noStrike" kern="1200" cap="none" spc="0" normalizeH="0" baseline="0" noProof="0">
              <a:ln>
                <a:noFill/>
              </a:ln>
              <a:solidFill>
                <a:srgbClr val="000000"/>
              </a:solidFill>
              <a:effectLst/>
              <a:uLnTx/>
              <a:uFillTx/>
              <a:latin typeface="Nunito Sans"/>
              <a:ea typeface="+mn-ea"/>
              <a:cs typeface="+mn-cs"/>
            </a:endParaRPr>
          </a:p>
        </p:txBody>
      </p:sp>
      <p:sp>
        <p:nvSpPr>
          <p:cNvPr id="25" name="TextBox 18">
            <a:extLst>
              <a:ext uri="{FF2B5EF4-FFF2-40B4-BE49-F238E27FC236}">
                <a16:creationId xmlns:a16="http://schemas.microsoft.com/office/drawing/2014/main" id="{041BA5AE-D27B-EFC7-524A-33CE43917A05}"/>
              </a:ext>
            </a:extLst>
          </p:cNvPr>
          <p:cNvSpPr txBox="1"/>
          <p:nvPr/>
        </p:nvSpPr>
        <p:spPr>
          <a:xfrm>
            <a:off x="1554283" y="6592533"/>
            <a:ext cx="1032881"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00B050"/>
                </a:solidFill>
                <a:effectLst/>
                <a:uLnTx/>
                <a:uFillTx/>
                <a:latin typeface="Nunito Sans"/>
                <a:ea typeface="+mn-ea"/>
                <a:cs typeface="+mn-cs"/>
              </a:rPr>
              <a:t>Ontrack</a:t>
            </a:r>
            <a:endParaRPr kumimoji="0" lang="en-IN" sz="1000" b="0" i="0" u="none" strike="noStrike" kern="1200" cap="none" spc="0" normalizeH="0" baseline="0" noProof="0">
              <a:ln>
                <a:noFill/>
              </a:ln>
              <a:solidFill>
                <a:srgbClr val="000000"/>
              </a:solidFill>
              <a:effectLst/>
              <a:uLnTx/>
              <a:uFillTx/>
              <a:latin typeface="Nunito Sans"/>
              <a:ea typeface="+mn-ea"/>
              <a:cs typeface="+mn-cs"/>
            </a:endParaRPr>
          </a:p>
        </p:txBody>
      </p:sp>
      <p:sp>
        <p:nvSpPr>
          <p:cNvPr id="26" name="TextBox 20">
            <a:extLst>
              <a:ext uri="{FF2B5EF4-FFF2-40B4-BE49-F238E27FC236}">
                <a16:creationId xmlns:a16="http://schemas.microsoft.com/office/drawing/2014/main" id="{BE7EAA89-A378-0E8B-FB4A-3A649767DE48}"/>
              </a:ext>
            </a:extLst>
          </p:cNvPr>
          <p:cNvSpPr txBox="1"/>
          <p:nvPr/>
        </p:nvSpPr>
        <p:spPr>
          <a:xfrm>
            <a:off x="6092504" y="6635159"/>
            <a:ext cx="2257628"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FED9A0">
                    <a:lumMod val="75000"/>
                  </a:srgbClr>
                </a:solidFill>
                <a:effectLst/>
                <a:uLnTx/>
                <a:uFillTx/>
                <a:latin typeface="Nunito Sans"/>
                <a:ea typeface="+mn-ea"/>
                <a:cs typeface="+mn-cs"/>
              </a:rPr>
              <a:t>Under delay and can be recovered</a:t>
            </a:r>
            <a:endParaRPr kumimoji="0" lang="en-IN" sz="1000" b="0" i="0" u="none" strike="noStrike" kern="1200" cap="none" spc="0" normalizeH="0" baseline="0" noProof="0">
              <a:ln>
                <a:noFill/>
              </a:ln>
              <a:solidFill>
                <a:srgbClr val="000000"/>
              </a:solidFill>
              <a:effectLst/>
              <a:uLnTx/>
              <a:uFillTx/>
              <a:latin typeface="Nunito Sans"/>
              <a:ea typeface="+mn-ea"/>
              <a:cs typeface="+mn-cs"/>
            </a:endParaRPr>
          </a:p>
        </p:txBody>
      </p:sp>
      <p:sp>
        <p:nvSpPr>
          <p:cNvPr id="27" name="TextBox 22">
            <a:extLst>
              <a:ext uri="{FF2B5EF4-FFF2-40B4-BE49-F238E27FC236}">
                <a16:creationId xmlns:a16="http://schemas.microsoft.com/office/drawing/2014/main" id="{55DAD6D0-E27F-AEB4-B1FC-74D914A79794}"/>
              </a:ext>
            </a:extLst>
          </p:cNvPr>
          <p:cNvSpPr txBox="1"/>
          <p:nvPr/>
        </p:nvSpPr>
        <p:spPr>
          <a:xfrm>
            <a:off x="2842379" y="6579600"/>
            <a:ext cx="2338222"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FF0000"/>
                </a:solidFill>
                <a:effectLst/>
                <a:uLnTx/>
                <a:uFillTx/>
                <a:latin typeface="Nunito Sans"/>
                <a:ea typeface="+mn-ea"/>
                <a:cs typeface="+mn-cs"/>
              </a:rPr>
              <a:t>Delayed and pushed to next release</a:t>
            </a:r>
          </a:p>
        </p:txBody>
      </p:sp>
      <p:graphicFrame>
        <p:nvGraphicFramePr>
          <p:cNvPr id="7" name="Table 6">
            <a:extLst>
              <a:ext uri="{FF2B5EF4-FFF2-40B4-BE49-F238E27FC236}">
                <a16:creationId xmlns:a16="http://schemas.microsoft.com/office/drawing/2014/main" id="{1FB123C7-56D7-9B61-02D4-9BC71FA499F6}"/>
              </a:ext>
            </a:extLst>
          </p:cNvPr>
          <p:cNvGraphicFramePr>
            <a:graphicFrameLocks noGrp="1"/>
          </p:cNvGraphicFramePr>
          <p:nvPr>
            <p:extLst>
              <p:ext uri="{D42A27DB-BD31-4B8C-83A1-F6EECF244321}">
                <p14:modId xmlns:p14="http://schemas.microsoft.com/office/powerpoint/2010/main" val="3722676147"/>
              </p:ext>
            </p:extLst>
          </p:nvPr>
        </p:nvGraphicFramePr>
        <p:xfrm>
          <a:off x="1428749" y="845343"/>
          <a:ext cx="9904632" cy="5155671"/>
        </p:xfrm>
        <a:graphic>
          <a:graphicData uri="http://schemas.openxmlformats.org/drawingml/2006/table">
            <a:tbl>
              <a:tblPr firstRow="1" bandRow="1">
                <a:tableStyleId>{5C22544A-7EE6-4342-B048-85BDC9FD1C3A}</a:tableStyleId>
              </a:tblPr>
              <a:tblGrid>
                <a:gridCol w="1151476">
                  <a:extLst>
                    <a:ext uri="{9D8B030D-6E8A-4147-A177-3AD203B41FA5}">
                      <a16:colId xmlns:a16="http://schemas.microsoft.com/office/drawing/2014/main" val="3888568478"/>
                    </a:ext>
                  </a:extLst>
                </a:gridCol>
                <a:gridCol w="2610134">
                  <a:extLst>
                    <a:ext uri="{9D8B030D-6E8A-4147-A177-3AD203B41FA5}">
                      <a16:colId xmlns:a16="http://schemas.microsoft.com/office/drawing/2014/main" val="2822350773"/>
                    </a:ext>
                  </a:extLst>
                </a:gridCol>
                <a:gridCol w="4758582">
                  <a:extLst>
                    <a:ext uri="{9D8B030D-6E8A-4147-A177-3AD203B41FA5}">
                      <a16:colId xmlns:a16="http://schemas.microsoft.com/office/drawing/2014/main" val="99588705"/>
                    </a:ext>
                  </a:extLst>
                </a:gridCol>
                <a:gridCol w="1384440">
                  <a:extLst>
                    <a:ext uri="{9D8B030D-6E8A-4147-A177-3AD203B41FA5}">
                      <a16:colId xmlns:a16="http://schemas.microsoft.com/office/drawing/2014/main" val="1739073323"/>
                    </a:ext>
                  </a:extLst>
                </a:gridCol>
              </a:tblGrid>
              <a:tr h="255895">
                <a:tc>
                  <a:txBody>
                    <a:bodyPr/>
                    <a:lstStyle/>
                    <a:p>
                      <a:pPr marL="0" lvl="0" indent="0" algn="ctr" defTabSz="914400">
                        <a:lnSpc>
                          <a:spcPct val="100000"/>
                        </a:lnSpc>
                        <a:buNone/>
                      </a:pPr>
                      <a:r>
                        <a:rPr lang="en-IN" sz="1100" b="1" kern="1200">
                          <a:solidFill>
                            <a:schemeClr val="bg1"/>
                          </a:solidFill>
                          <a:latin typeface="+mn-lt"/>
                          <a:ea typeface="+mn-ea"/>
                          <a:cs typeface="+mn-cs"/>
                        </a:rPr>
                        <a:t>LOB</a:t>
                      </a: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solidFill>
                      <a:schemeClr val="accent3">
                        <a:lumMod val="90000"/>
                        <a:lumOff val="10000"/>
                      </a:schemeClr>
                    </a:solidFill>
                  </a:tcPr>
                </a:tc>
                <a:tc>
                  <a:txBody>
                    <a:bodyPr/>
                    <a:lstStyle/>
                    <a:p>
                      <a:pPr marL="0" lvl="0" indent="0" algn="ctr" defTabSz="914400" rtl="0">
                        <a:lnSpc>
                          <a:spcPct val="100000"/>
                        </a:lnSpc>
                        <a:buFont typeface="Arial" panose="020B0604020202020204" pitchFamily="34" charset="0"/>
                        <a:buNone/>
                      </a:pPr>
                      <a:r>
                        <a:rPr lang="en-IN" sz="1100" b="1" kern="1200">
                          <a:solidFill>
                            <a:schemeClr val="bg1"/>
                          </a:solidFill>
                          <a:latin typeface="+mn-lt"/>
                          <a:ea typeface="+mn-ea"/>
                          <a:cs typeface="+mn-cs"/>
                        </a:rPr>
                        <a:t>Initiatives</a:t>
                      </a:r>
                      <a:endParaRPr lang="en-US" sz="1100" b="1"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tc>
                  <a:txBody>
                    <a:bodyPr/>
                    <a:lstStyle/>
                    <a:p>
                      <a:pPr marL="0" indent="0" algn="ctr" defTabSz="914400" rtl="0" eaLnBrk="1" latinLnBrk="0" hangingPunct="1">
                        <a:buFont typeface="Arial" panose="020B0604020202020204" pitchFamily="34" charset="0"/>
                        <a:buNone/>
                      </a:pPr>
                      <a:r>
                        <a:rPr lang="en-IN" sz="1100" kern="1200">
                          <a:solidFill>
                            <a:schemeClr val="bg1"/>
                          </a:solidFill>
                          <a:latin typeface="+mn-lt"/>
                          <a:ea typeface="+mn-ea"/>
                          <a:cs typeface="+mn-cs"/>
                        </a:rPr>
                        <a:t>Value Justification/Realization</a:t>
                      </a:r>
                      <a:endParaRPr lang="en-US" sz="1100"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tc>
                  <a:txBody>
                    <a:bodyPr/>
                    <a:lstStyle/>
                    <a:p>
                      <a:pPr marL="0" indent="0" algn="ctr" defTabSz="914400" rtl="0" eaLnBrk="1" latinLnBrk="0" hangingPunct="1">
                        <a:buFont typeface="Arial" panose="020B0604020202020204" pitchFamily="34" charset="0"/>
                        <a:buNone/>
                      </a:pPr>
                      <a:r>
                        <a:rPr lang="en-US" sz="1100" kern="1200">
                          <a:solidFill>
                            <a:schemeClr val="bg1"/>
                          </a:solidFill>
                          <a:latin typeface="+mn-lt"/>
                          <a:ea typeface="+mn-ea"/>
                          <a:cs typeface="+mn-cs"/>
                        </a:rPr>
                        <a:t>Go-live Date</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extLst>
                  <a:ext uri="{0D108BD9-81ED-4DB2-BD59-A6C34878D82A}">
                    <a16:rowId xmlns:a16="http://schemas.microsoft.com/office/drawing/2014/main" val="844450115"/>
                  </a:ext>
                </a:extLst>
              </a:tr>
              <a:tr h="1635491">
                <a:tc>
                  <a:txBody>
                    <a:bodyPr/>
                    <a:lstStyle/>
                    <a:p>
                      <a:pPr marL="0" lvl="0" indent="0" algn="ctr" defTabSz="914400">
                        <a:lnSpc>
                          <a:spcPct val="100000"/>
                        </a:lnSpc>
                        <a:buNone/>
                      </a:pPr>
                      <a:r>
                        <a:rPr lang="en-US" sz="1100" b="1" i="0" u="none" strike="noStrike" kern="1200">
                          <a:solidFill>
                            <a:srgbClr val="0070C0"/>
                          </a:solidFill>
                          <a:latin typeface="+mn-lt"/>
                          <a:ea typeface="+mn-ea"/>
                          <a:cs typeface="+mn-cs"/>
                        </a:rPr>
                        <a:t>IVCS</a:t>
                      </a: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tc>
                  <a:txBody>
                    <a:bodyPr/>
                    <a:lstStyle/>
                    <a:p>
                      <a:pPr marL="0" lvl="0" indent="0" algn="l">
                        <a:lnSpc>
                          <a:spcPct val="100000"/>
                        </a:lnSpc>
                        <a:buNone/>
                      </a:pPr>
                      <a:r>
                        <a:rPr lang="en-US" sz="1050" b="1" i="0" u="none" strike="noStrike" kern="1200" noProof="0">
                          <a:solidFill>
                            <a:schemeClr val="bg1">
                              <a:lumMod val="65000"/>
                            </a:schemeClr>
                          </a:solidFill>
                          <a:latin typeface="Nunito Sans"/>
                        </a:rPr>
                        <a:t>IVCS / CVCS – CAE Violation Alerts Integration</a:t>
                      </a:r>
                      <a:endParaRPr lang="en-US" sz="1050" b="1" i="0" u="none" strike="noStrike" kern="1200">
                        <a:solidFill>
                          <a:schemeClr val="bg1">
                            <a:lumMod val="65000"/>
                          </a:schemeClr>
                        </a:solidFill>
                        <a:latin typeface="Nunito Sans"/>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lvl="0" indent="0" algn="l">
                        <a:buNone/>
                      </a:pPr>
                      <a:r>
                        <a:rPr lang="en-US" sz="1100" b="0" i="0" u="none" strike="noStrike" noProof="0">
                          <a:latin typeface="+mn-lt"/>
                        </a:rPr>
                        <a:t>As part of the Crew Validation Control System, we require CAE alerts generated in CAE for any violations. These alerts are needed to validate whether they are accurately captured in our systems and to identify any alerts generated by us that are not present in CAE. </a:t>
                      </a:r>
                      <a:endParaRPr lang="en-US" sz="1100"/>
                    </a:p>
                    <a:p>
                      <a:pPr marL="0" lvl="0" indent="0" algn="l">
                        <a:buNone/>
                      </a:pPr>
                      <a:r>
                        <a:rPr lang="en-US" sz="1100" b="1" i="0" u="none" strike="noStrike" noProof="0">
                          <a:latin typeface="+mn-lt"/>
                        </a:rPr>
                        <a:t>Justification </a:t>
                      </a:r>
                      <a:r>
                        <a:rPr lang="en-US" sz="1100" b="0" i="0" u="none" strike="noStrike" noProof="0">
                          <a:latin typeface="+mn-lt"/>
                        </a:rPr>
                        <a:t>: </a:t>
                      </a:r>
                      <a:r>
                        <a:rPr lang="en-US" sz="1100" b="0" i="0" u="none" strike="noStrike" noProof="0"/>
                        <a:t>The integration of CAE‑generated violation alerts into the Crew Validation Control System provides significant value by strengthening validation accuracy, compliance assurance, and operational reliability. </a:t>
                      </a:r>
                      <a:r>
                        <a:rPr lang="en-US" sz="1100" b="1" i="0" u="none" strike="noStrike" noProof="0">
                          <a:solidFill>
                            <a:schemeClr val="accent1"/>
                          </a:solidFill>
                          <a:latin typeface="Nunito Sans"/>
                        </a:rPr>
                        <a:t>NO IRD, not onboarded created on Jira) 9o trust evidence based operational excellence) </a:t>
                      </a:r>
                      <a:endParaRPr lang="en-US" sz="1100" b="0" i="0" u="none" strike="noStrike" noProof="0">
                        <a:latin typeface="+mn-lt"/>
                      </a:endParaRPr>
                    </a:p>
                    <a:p>
                      <a:pPr marL="0" indent="0" algn="l" defTabSz="914400" rtl="0" eaLnBrk="1" latinLnBrk="0" hangingPunct="1">
                        <a:buFont typeface="Arial" panose="020B0604020202020204" pitchFamily="34" charset="0"/>
                        <a:buNone/>
                      </a:pPr>
                      <a:endParaRPr lang="en-US" sz="1100"/>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indent="0" algn="l" rtl="0" eaLnBrk="1" latinLnBrk="0" hangingPunct="1">
                        <a:buFont typeface="Arial" panose="020B0604020202020204" pitchFamily="34" charset="0"/>
                        <a:buNone/>
                      </a:pPr>
                      <a:endParaRPr lang="en-US" sz="1100" b="0" i="0" u="none" strike="noStrike" noProof="0">
                        <a:latin typeface="Arial"/>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443371065"/>
                  </a:ext>
                </a:extLst>
              </a:tr>
              <a:tr h="782188">
                <a:tc>
                  <a:txBody>
                    <a:bodyPr/>
                    <a:lstStyle/>
                    <a:p>
                      <a:pPr marL="0" lvl="0" indent="0" algn="ctr">
                        <a:lnSpc>
                          <a:spcPct val="100000"/>
                        </a:lnSpc>
                        <a:buNone/>
                      </a:pPr>
                      <a:r>
                        <a:rPr lang="en-US" sz="1100" b="1" kern="1200">
                          <a:solidFill>
                            <a:srgbClr val="0070C0"/>
                          </a:solidFill>
                          <a:latin typeface="+mn-lt"/>
                          <a:ea typeface="+mn-ea"/>
                          <a:cs typeface="+mn-cs"/>
                        </a:rPr>
                        <a:t>FIN Tech</a:t>
                      </a:r>
                      <a:endParaRPr lang="en-US"/>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tc>
                  <a:txBody>
                    <a:bodyPr/>
                    <a:lstStyle/>
                    <a:p>
                      <a:pPr marL="0" marR="0" lvl="0" indent="0" algn="l" rtl="0">
                        <a:lnSpc>
                          <a:spcPct val="100000"/>
                        </a:lnSpc>
                        <a:spcBef>
                          <a:spcPts val="0"/>
                        </a:spcBef>
                        <a:spcAft>
                          <a:spcPts val="0"/>
                        </a:spcAft>
                        <a:buClrTx/>
                        <a:buSzTx/>
                        <a:buFontTx/>
                        <a:buNone/>
                      </a:pPr>
                      <a:r>
                        <a:rPr lang="en-US" sz="1100" b="1" i="0" u="none" strike="noStrike" kern="1200" noProof="0">
                          <a:solidFill>
                            <a:srgbClr val="0070C0"/>
                          </a:solidFill>
                          <a:latin typeface="+mn-lt"/>
                        </a:rPr>
                        <a:t>Automated Statement Processing (EBS) with CITI Bank</a:t>
                      </a:r>
                      <a:endParaRPr lang="en-US">
                        <a:solidFill>
                          <a:srgbClr val="0070C0"/>
                        </a:solidFill>
                      </a:endParaRPr>
                    </a:p>
                    <a:p>
                      <a:pPr marL="0" lvl="0" indent="0" algn="l" defTabSz="914400">
                        <a:lnSpc>
                          <a:spcPct val="100000"/>
                        </a:lnSpc>
                        <a:buNone/>
                        <a:tabLst/>
                        <a:defRPr/>
                      </a:pPr>
                      <a:endParaRPr lang="en-US" sz="1100" b="1" kern="1200">
                        <a:solidFill>
                          <a:srgbClr val="0070C0"/>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l" rtl="0" eaLnBrk="1" fontAlgn="auto" latinLnBrk="0" hangingPunct="1">
                        <a:lnSpc>
                          <a:spcPct val="100000"/>
                        </a:lnSpc>
                        <a:spcBef>
                          <a:spcPts val="0"/>
                        </a:spcBef>
                        <a:spcAft>
                          <a:spcPts val="0"/>
                        </a:spcAft>
                        <a:buClrTx/>
                        <a:buSzTx/>
                        <a:buFontTx/>
                        <a:buNone/>
                      </a:pPr>
                      <a:r>
                        <a:rPr lang="en-US" sz="1100" b="0" i="0" u="none" strike="noStrike" kern="1200" noProof="0">
                          <a:solidFill>
                            <a:schemeClr val="tx1"/>
                          </a:solidFill>
                          <a:latin typeface="+mn-lt"/>
                        </a:rPr>
                        <a:t>Implementing EBS logic with MT940 via FF_5 automates matching and posting of bank transactions, reducing manual intervention and reconciliation time. (Not part of Fin roadmap) </a:t>
                      </a:r>
                      <a:endParaRPr lang="en-US" sz="1100" b="1" i="0" u="none" strike="noStrike" kern="1200" noProof="0">
                        <a:solidFill>
                          <a:schemeClr val="accent1"/>
                        </a:solidFill>
                        <a:latin typeface="Nunito Sans"/>
                      </a:endParaRPr>
                    </a:p>
                  </a:txBody>
                  <a:tcPr anchor="ctr">
                    <a:lnL w="6350" cap="flat" cmpd="sng" algn="ctr">
                      <a:solidFill>
                        <a:schemeClr val="bg1">
                          <a:lumMod val="75000"/>
                        </a:schemeClr>
                      </a:solidFill>
                      <a:prstDash val="solid"/>
                      <a:round/>
                      <a:headEnd type="none" w="med" len="med"/>
                      <a:tailEnd type="none" w="med" len="med"/>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lvl="0" algn="l">
                        <a:lnSpc>
                          <a:spcPct val="100000"/>
                        </a:lnSpc>
                        <a:spcBef>
                          <a:spcPts val="0"/>
                        </a:spcBef>
                        <a:spcAft>
                          <a:spcPts val="0"/>
                        </a:spcAft>
                        <a:buNone/>
                      </a:pPr>
                      <a:r>
                        <a:rPr lang="en-US" sz="1100" b="0" i="0" u="none" strike="noStrike" noProof="0">
                          <a:solidFill>
                            <a:srgbClr val="000000"/>
                          </a:solidFill>
                          <a:latin typeface="Arial"/>
                          <a:cs typeface="Arial"/>
                        </a:rPr>
                        <a:t>30th June</a:t>
                      </a:r>
                      <a:endParaRPr lang="en-US"/>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375834491"/>
                  </a:ext>
                </a:extLst>
              </a:tr>
              <a:tr h="782188">
                <a:tc rowSpan="3">
                  <a:txBody>
                    <a:bodyPr/>
                    <a:lstStyle/>
                    <a:p>
                      <a:pPr marL="0" lvl="0" indent="0" algn="ctr">
                        <a:lnSpc>
                          <a:spcPct val="100000"/>
                        </a:lnSpc>
                        <a:buNone/>
                      </a:pPr>
                      <a:r>
                        <a:rPr lang="en-US" sz="1100" b="1" kern="1200">
                          <a:solidFill>
                            <a:srgbClr val="0070C0"/>
                          </a:solidFill>
                          <a:latin typeface="+mn-lt"/>
                          <a:ea typeface="+mn-ea"/>
                          <a:cs typeface="+mn-cs"/>
                        </a:rPr>
                        <a:t>HR Tech</a:t>
                      </a: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a:solidFill>
                        <a:schemeClr val="bg1">
                          <a:lumMod val="75000"/>
                        </a:schemeClr>
                      </a:solidFill>
                    </a:lnB>
                    <a:noFill/>
                  </a:tcPr>
                </a:tc>
                <a:tc>
                  <a:txBody>
                    <a:bodyPr/>
                    <a:lstStyle/>
                    <a:p>
                      <a:pPr marL="0" lvl="0" indent="0" algn="l">
                        <a:lnSpc>
                          <a:spcPct val="100000"/>
                        </a:lnSpc>
                        <a:spcBef>
                          <a:spcPts val="0"/>
                        </a:spcBef>
                        <a:spcAft>
                          <a:spcPts val="0"/>
                        </a:spcAft>
                        <a:buNone/>
                      </a:pPr>
                      <a:r>
                        <a:rPr lang="en-US" sz="1100" b="1" i="0" u="none" strike="noStrike" kern="1200" noProof="0">
                          <a:solidFill>
                            <a:srgbClr val="0070C0"/>
                          </a:solidFill>
                          <a:latin typeface="+mn-lt"/>
                        </a:rPr>
                        <a:t>Leave Pro‑ration on Notice Period Automation</a:t>
                      </a:r>
                    </a:p>
                    <a:p>
                      <a:pPr marL="0" lvl="0" indent="0" algn="l" defTabSz="914400">
                        <a:lnSpc>
                          <a:spcPct val="100000"/>
                        </a:lnSpc>
                        <a:buNone/>
                      </a:pPr>
                      <a:endParaRPr lang="en-US" sz="1100" b="1" kern="1200">
                        <a:solidFill>
                          <a:srgbClr val="0070C0"/>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lvl="0" indent="0" algn="l">
                        <a:lnSpc>
                          <a:spcPct val="100000"/>
                        </a:lnSpc>
                        <a:buNone/>
                      </a:pPr>
                      <a:r>
                        <a:rPr lang="en-US" sz="1100" b="0" i="0" u="none" strike="noStrike" kern="1200" baseline="0" noProof="0">
                          <a:solidFill>
                            <a:srgbClr val="000000"/>
                          </a:solidFill>
                          <a:latin typeface="+mn-lt"/>
                        </a:rPr>
                        <a:t>Eliminates manual leave calculations and ensures accurate payouts during notice period, reducing payroll errors. </a:t>
                      </a:r>
                    </a:p>
                    <a:p>
                      <a:pPr marL="0" lvl="0" indent="0" algn="l" defTabSz="914400">
                        <a:buNone/>
                      </a:pPr>
                      <a:endParaRPr lang="en-US" sz="1100"/>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lvl="0" indent="0" algn="l">
                        <a:buNone/>
                      </a:pPr>
                      <a:r>
                        <a:rPr lang="en-US" sz="1100" b="0" i="0" u="none" strike="noStrike" noProof="0">
                          <a:latin typeface="Arial"/>
                        </a:rPr>
                        <a:t>26th June</a:t>
                      </a:r>
                    </a:p>
                  </a:txBody>
                  <a:tcPr anchor="ctr">
                    <a:lnL w="6350" cap="flat" cmpd="sng" algn="ctr">
                      <a:solidFill>
                        <a:schemeClr val="bg1">
                          <a:lumMod val="75000"/>
                        </a:schemeClr>
                      </a:solidFill>
                      <a:prstDash val="solid"/>
                      <a:round/>
                      <a:headEnd type="none" w="med" len="med"/>
                      <a:tailEnd type="none" w="med" len="med"/>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959550173"/>
                  </a:ext>
                </a:extLst>
              </a:tr>
              <a:tr h="611528">
                <a:tc vMerge="1">
                  <a:txBody>
                    <a:bodyPr/>
                    <a:lstStyle/>
                    <a:p>
                      <a:pPr defTabSz="914400">
                        <a:tabLst/>
                        <a:defRPr/>
                      </a:pPr>
                      <a:endParaRPr lang="en-US"/>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tc>
                  <a:txBody>
                    <a:bodyPr/>
                    <a:lstStyle/>
                    <a:p>
                      <a:pPr marL="0" marR="0" lvl="0" indent="0" algn="l" rtl="0" eaLnBrk="1" fontAlgn="auto" latinLnBrk="0" hangingPunct="1">
                        <a:lnSpc>
                          <a:spcPct val="100000"/>
                        </a:lnSpc>
                        <a:spcBef>
                          <a:spcPts val="0"/>
                        </a:spcBef>
                        <a:spcAft>
                          <a:spcPts val="0"/>
                        </a:spcAft>
                        <a:buClrTx/>
                        <a:buSzTx/>
                        <a:buFontTx/>
                        <a:buNone/>
                      </a:pPr>
                      <a:r>
                        <a:rPr lang="en-US" sz="1100" b="1" i="0" u="none" strike="noStrike" kern="1200" noProof="0">
                          <a:solidFill>
                            <a:schemeClr val="bg1">
                              <a:lumMod val="65000"/>
                            </a:schemeClr>
                          </a:solidFill>
                          <a:latin typeface="+mn-lt"/>
                        </a:rPr>
                        <a:t>Enable LWD FNF Input on People Strong </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0" i="0" u="none" strike="noStrike" kern="1200" baseline="0" noProof="0">
                          <a:solidFill>
                            <a:srgbClr val="000000"/>
                          </a:solidFill>
                          <a:latin typeface="+mn-lt"/>
                        </a:rPr>
                        <a:t>Automates full‑and‑final settlement inputs on LWD, reducing manual dependency and speeding up settlement timelines.</a:t>
                      </a:r>
                    </a:p>
                    <a:p>
                      <a:pPr marL="0" lvl="0" indent="0" algn="l" defTabSz="914400">
                        <a:buNone/>
                      </a:pPr>
                      <a:endParaRPr lang="en-US" sz="1100"/>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lvl="0" indent="0" algn="l">
                        <a:buNone/>
                      </a:pPr>
                      <a:r>
                        <a:rPr lang="en-US" sz="1100" b="0" i="0" u="none" strike="noStrike" noProof="0">
                          <a:solidFill>
                            <a:srgbClr val="000000"/>
                          </a:solidFill>
                          <a:latin typeface="Arial"/>
                          <a:cs typeface="Arial"/>
                        </a:rPr>
                        <a:t>26th June</a:t>
                      </a:r>
                      <a:endParaRPr lang="en-US"/>
                    </a:p>
                  </a:txBody>
                  <a:tcPr anchor="ctr">
                    <a:lnL w="6350" cap="flat" cmpd="sng" algn="ctr">
                      <a:solidFill>
                        <a:schemeClr val="bg1">
                          <a:lumMod val="75000"/>
                        </a:schemeClr>
                      </a:solidFill>
                      <a:prstDash val="solid"/>
                      <a:round/>
                      <a:headEnd type="none" w="med" len="med"/>
                      <a:tailEnd type="none" w="med" len="med"/>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46026144"/>
                  </a:ext>
                </a:extLst>
              </a:tr>
              <a:tr h="952847">
                <a:tc vMerge="1">
                  <a:txBody>
                    <a:bodyPr/>
                    <a:lstStyle/>
                    <a:p>
                      <a:pPr defTabSz="914400"/>
                      <a:endParaRPr lang="en-US"/>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tc>
                  <a:txBody>
                    <a:bodyPr/>
                    <a:lstStyle/>
                    <a:p>
                      <a:pPr marL="0" marR="0" lvl="0" indent="0" algn="l" rtl="0" eaLnBrk="1" fontAlgn="auto" latinLnBrk="0" hangingPunct="1">
                        <a:lnSpc>
                          <a:spcPct val="100000"/>
                        </a:lnSpc>
                        <a:spcBef>
                          <a:spcPts val="0"/>
                        </a:spcBef>
                        <a:spcAft>
                          <a:spcPts val="0"/>
                        </a:spcAft>
                        <a:buClrTx/>
                        <a:buSzTx/>
                        <a:buFontTx/>
                        <a:buNone/>
                      </a:pPr>
                      <a:r>
                        <a:rPr lang="en-US" sz="1100" b="1" i="0" u="none" strike="noStrike" kern="1200" noProof="0">
                          <a:solidFill>
                            <a:schemeClr val="bg1">
                              <a:lumMod val="65000"/>
                            </a:schemeClr>
                          </a:solidFill>
                          <a:latin typeface="+mn-lt"/>
                        </a:rPr>
                        <a:t>AMS (Attendance Management System) Phase 1 – Linkage to Payroll </a:t>
                      </a:r>
                    </a:p>
                    <a:p>
                      <a:pPr marL="0" lvl="0" indent="0" algn="l" defTabSz="914400">
                        <a:lnSpc>
                          <a:spcPct val="100000"/>
                        </a:lnSpc>
                        <a:buNone/>
                      </a:pPr>
                      <a:endParaRPr lang="en-US" sz="1100" b="1" kern="1200">
                        <a:solidFill>
                          <a:srgbClr val="0070C0"/>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0" i="0" u="none" strike="noStrike" kern="1200" baseline="0" noProof="0">
                          <a:solidFill>
                            <a:srgbClr val="000000"/>
                          </a:solidFill>
                          <a:latin typeface="+mn-lt"/>
                        </a:rPr>
                        <a:t>Ensures accurate payouts by linking attendance directly to payroll, reducing manual reconciliations and errors.</a:t>
                      </a:r>
                    </a:p>
                    <a:p>
                      <a:pPr marL="0" lvl="0" indent="0" algn="l" defTabSz="914400">
                        <a:buNone/>
                      </a:pPr>
                      <a:endParaRPr lang="en-US" sz="1100"/>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lvl="0" indent="0" algn="l">
                        <a:buNone/>
                      </a:pPr>
                      <a:r>
                        <a:rPr lang="en-US" sz="1100" b="0" i="0" u="none" strike="noStrike" noProof="0">
                          <a:solidFill>
                            <a:srgbClr val="000000"/>
                          </a:solidFill>
                          <a:latin typeface="Arial"/>
                          <a:cs typeface="Arial"/>
                        </a:rPr>
                        <a:t>Moved to Q2</a:t>
                      </a:r>
                    </a:p>
                  </a:txBody>
                  <a:tcPr anchor="ctr">
                    <a:lnL w="6350" cap="flat" cmpd="sng" algn="ctr">
                      <a:solidFill>
                        <a:schemeClr val="bg1">
                          <a:lumMod val="75000"/>
                        </a:schemeClr>
                      </a:solidFill>
                      <a:prstDash val="solid"/>
                      <a:round/>
                      <a:headEnd type="none" w="med" len="med"/>
                      <a:tailEnd type="none" w="med" len="med"/>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68646495"/>
                  </a:ext>
                </a:extLst>
              </a:tr>
            </a:tbl>
          </a:graphicData>
        </a:graphic>
      </p:graphicFrame>
      <p:sp>
        <p:nvSpPr>
          <p:cNvPr id="10" name="Rectangle 9">
            <a:extLst>
              <a:ext uri="{FF2B5EF4-FFF2-40B4-BE49-F238E27FC236}">
                <a16:creationId xmlns:a16="http://schemas.microsoft.com/office/drawing/2014/main" id="{9F25E85F-AEA6-56AD-FA3E-2107B5018B0F}"/>
              </a:ext>
            </a:extLst>
          </p:cNvPr>
          <p:cNvSpPr/>
          <p:nvPr/>
        </p:nvSpPr>
        <p:spPr>
          <a:xfrm>
            <a:off x="307827" y="839070"/>
            <a:ext cx="1170432" cy="25821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400" b="1">
                <a:solidFill>
                  <a:srgbClr val="FFFFFF"/>
                </a:solidFill>
                <a:latin typeface="AirIndia"/>
              </a:rPr>
              <a:t>June</a:t>
            </a:r>
            <a:r>
              <a:rPr kumimoji="0" lang="en-IN" sz="1400" b="1" i="0" u="none" strike="noStrike" kern="1200" cap="none" spc="0" normalizeH="0" baseline="0" noProof="0">
                <a:ln>
                  <a:noFill/>
                </a:ln>
                <a:solidFill>
                  <a:srgbClr val="FFFFFF"/>
                </a:solidFill>
                <a:effectLst/>
                <a:uLnTx/>
                <a:uFillTx/>
                <a:latin typeface="AirIndia"/>
              </a:rPr>
              <a:t> ‘</a:t>
            </a:r>
            <a:r>
              <a:rPr lang="en-IN" sz="1400" b="1">
                <a:solidFill>
                  <a:srgbClr val="FFFFFF"/>
                </a:solidFill>
                <a:latin typeface="AirIndia"/>
              </a:rPr>
              <a:t>26</a:t>
            </a:r>
            <a:endParaRPr kumimoji="0" lang="en-US" sz="1400" b="1" i="0" u="none" strike="noStrike" kern="1200" cap="none" spc="0" normalizeH="0" baseline="0" noProof="0">
              <a:ln>
                <a:noFill/>
              </a:ln>
              <a:solidFill>
                <a:srgbClr val="FFFFFF"/>
              </a:solidFill>
              <a:effectLst/>
              <a:uLnTx/>
              <a:uFillTx/>
              <a:latin typeface="AirIndia" panose="04050608020B02020302" charset="0"/>
              <a:ea typeface="+mn-ea"/>
              <a:cs typeface="+mn-cs"/>
            </a:endParaRPr>
          </a:p>
        </p:txBody>
      </p:sp>
    </p:spTree>
    <p:extLst>
      <p:ext uri="{BB962C8B-B14F-4D97-AF65-F5344CB8AC3E}">
        <p14:creationId xmlns:p14="http://schemas.microsoft.com/office/powerpoint/2010/main" val="283008939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7EED4F-6785-3795-A237-A9E03A6964E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69C7586-2D6D-54FA-0229-64F1AE0C89E7}"/>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3A41A254-7326-714E-AF55-4C213D6394DE}" type="slidenum">
              <a:rPr kumimoji="0" lang="en-US" sz="1200" b="0" i="0" u="none" strike="noStrike" kern="1200" cap="none" spc="0" normalizeH="0" baseline="0" noProof="0" smtClean="0">
                <a:ln>
                  <a:noFill/>
                </a:ln>
                <a:solidFill>
                  <a:srgbClr val="DA0E28"/>
                </a:solidFill>
                <a:effectLst/>
                <a:uLnTx/>
                <a:uFillTx/>
                <a:latin typeface="Nunito Sans"/>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52</a:t>
            </a:fld>
            <a:endParaRPr kumimoji="0" lang="en-US" sz="1200" b="0" i="0" u="none" strike="noStrike" kern="1200" cap="none" spc="0" normalizeH="0" baseline="0" noProof="0">
              <a:ln>
                <a:noFill/>
              </a:ln>
              <a:solidFill>
                <a:srgbClr val="DA0E28"/>
              </a:solidFill>
              <a:effectLst/>
              <a:uLnTx/>
              <a:uFillTx/>
              <a:latin typeface="Nunito Sans"/>
              <a:ea typeface="+mn-ea"/>
              <a:cs typeface="+mn-cs"/>
            </a:endParaRPr>
          </a:p>
        </p:txBody>
      </p:sp>
      <p:sp>
        <p:nvSpPr>
          <p:cNvPr id="6" name="Title 11">
            <a:extLst>
              <a:ext uri="{FF2B5EF4-FFF2-40B4-BE49-F238E27FC236}">
                <a16:creationId xmlns:a16="http://schemas.microsoft.com/office/drawing/2014/main" id="{89AE516A-A319-62C1-DC5D-9E46B2825267}"/>
              </a:ext>
            </a:extLst>
          </p:cNvPr>
          <p:cNvSpPr txBox="1">
            <a:spLocks/>
          </p:cNvSpPr>
          <p:nvPr/>
        </p:nvSpPr>
        <p:spPr>
          <a:xfrm>
            <a:off x="304800" y="269218"/>
            <a:ext cx="9749641" cy="480073"/>
          </a:xfrm>
          <a:prstGeom prst="rect">
            <a:avLst/>
          </a:prstGeom>
        </p:spPr>
        <p:txBody>
          <a:bodyPr lIns="91440" tIns="45720" rIns="91440" bIns="45720" anchor="t">
            <a:noAutofit/>
          </a:bodyPr>
          <a:lstStyle>
            <a:lvl1pPr algn="l" defTabSz="914400" rtl="0" eaLnBrk="1" latinLnBrk="0" hangingPunct="1">
              <a:lnSpc>
                <a:spcPct val="90000"/>
              </a:lnSpc>
              <a:spcBef>
                <a:spcPct val="0"/>
              </a:spcBef>
              <a:buNone/>
              <a:defRPr sz="4400" b="1" i="0" kern="1200">
                <a:solidFill>
                  <a:schemeClr val="tx1"/>
                </a:solidFill>
                <a:latin typeface="AirIndia" pitchFamily="82" charset="77"/>
                <a:ea typeface="+mj-ea"/>
                <a:cs typeface="+mj-cs"/>
              </a:defRPr>
            </a:lvl1pPr>
          </a:lstStyle>
          <a:p>
            <a:pPr>
              <a:defRPr/>
            </a:pPr>
            <a:r>
              <a:rPr kumimoji="0" lang="en-US" sz="1800" b="1" i="0" u="none" strike="noStrike" kern="1200" cap="none" spc="0" normalizeH="0" baseline="0" noProof="0">
                <a:ln>
                  <a:noFill/>
                </a:ln>
                <a:solidFill>
                  <a:srgbClr val="DA0E28"/>
                </a:solidFill>
                <a:effectLst/>
                <a:uLnTx/>
                <a:uFillTx/>
                <a:latin typeface="AirIndia"/>
                <a:ea typeface="+mj-ea"/>
                <a:cs typeface="+mj-cs"/>
              </a:rPr>
              <a:t>Enterprise </a:t>
            </a:r>
            <a:r>
              <a:rPr lang="en-US" sz="1800">
                <a:solidFill>
                  <a:srgbClr val="DA0E28"/>
                </a:solidFill>
                <a:latin typeface="AirIndia"/>
              </a:rPr>
              <a:t>Integration -FY26-27</a:t>
            </a:r>
            <a:r>
              <a:rPr kumimoji="0" lang="en-US" sz="1800" b="1" i="0" u="none" strike="noStrike" kern="1200" cap="none" spc="0" normalizeH="0" baseline="0" noProof="0">
                <a:ln>
                  <a:noFill/>
                </a:ln>
                <a:solidFill>
                  <a:srgbClr val="DA0E28"/>
                </a:solidFill>
                <a:effectLst/>
                <a:uLnTx/>
                <a:uFillTx/>
                <a:latin typeface="AirIndia"/>
                <a:ea typeface="+mj-ea"/>
                <a:cs typeface="+mj-cs"/>
              </a:rPr>
              <a:t> Q1 Release </a:t>
            </a:r>
            <a:r>
              <a:rPr lang="en-US" sz="1800">
                <a:solidFill>
                  <a:srgbClr val="DA0E28"/>
                </a:solidFill>
                <a:latin typeface="AirIndia"/>
              </a:rPr>
              <a:t>Plan</a:t>
            </a:r>
            <a:endParaRPr lang="en-US" sz="1800" b="0">
              <a:solidFill>
                <a:srgbClr val="000000"/>
              </a:solidFill>
              <a:latin typeface="AirIndia"/>
            </a:endParaRPr>
          </a:p>
          <a:p>
            <a:pPr>
              <a:defRPr/>
            </a:pPr>
            <a:endParaRPr lang="en-US" sz="1800" i="0" u="none" strike="noStrike" kern="1200" cap="none" spc="0" normalizeH="0" baseline="0" noProof="0">
              <a:ln>
                <a:noFill/>
              </a:ln>
              <a:solidFill>
                <a:srgbClr val="DA0E28"/>
              </a:solidFill>
              <a:effectLst/>
              <a:uLnTx/>
              <a:uFillTx/>
              <a:latin typeface="AirIndia"/>
            </a:endParaRPr>
          </a:p>
        </p:txBody>
      </p:sp>
      <p:sp>
        <p:nvSpPr>
          <p:cNvPr id="4" name="Rectangle 3">
            <a:extLst>
              <a:ext uri="{FF2B5EF4-FFF2-40B4-BE49-F238E27FC236}">
                <a16:creationId xmlns:a16="http://schemas.microsoft.com/office/drawing/2014/main" id="{75667933-FE63-1E71-26BF-477F5A1BA56B}"/>
              </a:ext>
            </a:extLst>
          </p:cNvPr>
          <p:cNvSpPr/>
          <p:nvPr/>
        </p:nvSpPr>
        <p:spPr>
          <a:xfrm rot="5400000">
            <a:off x="8942419" y="6655587"/>
            <a:ext cx="90000" cy="90000"/>
          </a:xfrm>
          <a:prstGeom prst="rect">
            <a:avLst/>
          </a:prstGeom>
          <a:solidFill>
            <a:schemeClr val="bg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9" name="TextBox 8">
            <a:extLst>
              <a:ext uri="{FF2B5EF4-FFF2-40B4-BE49-F238E27FC236}">
                <a16:creationId xmlns:a16="http://schemas.microsoft.com/office/drawing/2014/main" id="{02533F57-14A4-CA69-C040-B81919DE3124}"/>
              </a:ext>
            </a:extLst>
          </p:cNvPr>
          <p:cNvSpPr txBox="1"/>
          <p:nvPr/>
        </p:nvSpPr>
        <p:spPr>
          <a:xfrm>
            <a:off x="8986097" y="6582653"/>
            <a:ext cx="3069090" cy="246221"/>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FFFFFF">
                    <a:lumMod val="49000"/>
                  </a:srgbClr>
                </a:solidFill>
                <a:effectLst/>
                <a:uLnTx/>
                <a:uFillTx/>
                <a:latin typeface="Nunito Sans"/>
                <a:ea typeface="+mn-ea"/>
                <a:cs typeface="+mn-cs"/>
              </a:rPr>
              <a:t>Descoped</a:t>
            </a:r>
          </a:p>
        </p:txBody>
      </p:sp>
      <p:sp>
        <p:nvSpPr>
          <p:cNvPr id="18" name="Rectangle 17">
            <a:extLst>
              <a:ext uri="{FF2B5EF4-FFF2-40B4-BE49-F238E27FC236}">
                <a16:creationId xmlns:a16="http://schemas.microsoft.com/office/drawing/2014/main" id="{931C5E3B-1C5C-C44D-A2B4-876B7130A34D}"/>
              </a:ext>
            </a:extLst>
          </p:cNvPr>
          <p:cNvSpPr/>
          <p:nvPr/>
        </p:nvSpPr>
        <p:spPr>
          <a:xfrm>
            <a:off x="10326888" y="6653023"/>
            <a:ext cx="90000" cy="90000"/>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20" name="Rectangle 19">
            <a:extLst>
              <a:ext uri="{FF2B5EF4-FFF2-40B4-BE49-F238E27FC236}">
                <a16:creationId xmlns:a16="http://schemas.microsoft.com/office/drawing/2014/main" id="{A916DA64-92B4-671E-8687-6E22CDB030D2}"/>
              </a:ext>
            </a:extLst>
          </p:cNvPr>
          <p:cNvSpPr/>
          <p:nvPr/>
        </p:nvSpPr>
        <p:spPr>
          <a:xfrm>
            <a:off x="1433259" y="6651985"/>
            <a:ext cx="90000" cy="90000"/>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22" name="Rectangle 21">
            <a:extLst>
              <a:ext uri="{FF2B5EF4-FFF2-40B4-BE49-F238E27FC236}">
                <a16:creationId xmlns:a16="http://schemas.microsoft.com/office/drawing/2014/main" id="{F983B186-E992-9EEF-A884-9EC2CC34B480}"/>
              </a:ext>
            </a:extLst>
          </p:cNvPr>
          <p:cNvSpPr/>
          <p:nvPr/>
        </p:nvSpPr>
        <p:spPr>
          <a:xfrm>
            <a:off x="5909236" y="6676608"/>
            <a:ext cx="90000" cy="90000"/>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23" name="Rectangle 22">
            <a:extLst>
              <a:ext uri="{FF2B5EF4-FFF2-40B4-BE49-F238E27FC236}">
                <a16:creationId xmlns:a16="http://schemas.microsoft.com/office/drawing/2014/main" id="{881B6AA3-0600-2571-7DA7-B94FB83D80FF}"/>
              </a:ext>
            </a:extLst>
          </p:cNvPr>
          <p:cNvSpPr/>
          <p:nvPr/>
        </p:nvSpPr>
        <p:spPr>
          <a:xfrm>
            <a:off x="2752379" y="6642913"/>
            <a:ext cx="90000" cy="90000"/>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24" name="TextBox 15">
            <a:extLst>
              <a:ext uri="{FF2B5EF4-FFF2-40B4-BE49-F238E27FC236}">
                <a16:creationId xmlns:a16="http://schemas.microsoft.com/office/drawing/2014/main" id="{A8A67E12-778C-FAA3-5794-0215C9926A6B}"/>
              </a:ext>
            </a:extLst>
          </p:cNvPr>
          <p:cNvSpPr txBox="1"/>
          <p:nvPr/>
        </p:nvSpPr>
        <p:spPr>
          <a:xfrm>
            <a:off x="10416853" y="6596174"/>
            <a:ext cx="857245"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0070C0"/>
                </a:solidFill>
                <a:effectLst/>
                <a:uLnTx/>
                <a:uFillTx/>
                <a:latin typeface="Nunito Sans"/>
                <a:ea typeface="+mn-ea"/>
                <a:cs typeface="+mn-cs"/>
              </a:rPr>
              <a:t>Delivered</a:t>
            </a:r>
            <a:endParaRPr kumimoji="0" lang="en-IN" sz="1000" b="0" i="0" u="none" strike="noStrike" kern="1200" cap="none" spc="0" normalizeH="0" baseline="0" noProof="0">
              <a:ln>
                <a:noFill/>
              </a:ln>
              <a:solidFill>
                <a:srgbClr val="000000"/>
              </a:solidFill>
              <a:effectLst/>
              <a:uLnTx/>
              <a:uFillTx/>
              <a:latin typeface="Nunito Sans"/>
              <a:ea typeface="+mn-ea"/>
              <a:cs typeface="+mn-cs"/>
            </a:endParaRPr>
          </a:p>
        </p:txBody>
      </p:sp>
      <p:sp>
        <p:nvSpPr>
          <p:cNvPr id="25" name="TextBox 18">
            <a:extLst>
              <a:ext uri="{FF2B5EF4-FFF2-40B4-BE49-F238E27FC236}">
                <a16:creationId xmlns:a16="http://schemas.microsoft.com/office/drawing/2014/main" id="{745D96F6-1680-747E-11BE-EF2EC2A384C6}"/>
              </a:ext>
            </a:extLst>
          </p:cNvPr>
          <p:cNvSpPr txBox="1"/>
          <p:nvPr/>
        </p:nvSpPr>
        <p:spPr>
          <a:xfrm>
            <a:off x="1554283" y="6592533"/>
            <a:ext cx="1032881"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00B050"/>
                </a:solidFill>
                <a:effectLst/>
                <a:uLnTx/>
                <a:uFillTx/>
                <a:latin typeface="Nunito Sans"/>
                <a:ea typeface="+mn-ea"/>
                <a:cs typeface="+mn-cs"/>
              </a:rPr>
              <a:t>Ontrack</a:t>
            </a:r>
            <a:endParaRPr kumimoji="0" lang="en-IN" sz="1000" b="0" i="0" u="none" strike="noStrike" kern="1200" cap="none" spc="0" normalizeH="0" baseline="0" noProof="0">
              <a:ln>
                <a:noFill/>
              </a:ln>
              <a:solidFill>
                <a:srgbClr val="000000"/>
              </a:solidFill>
              <a:effectLst/>
              <a:uLnTx/>
              <a:uFillTx/>
              <a:latin typeface="Nunito Sans"/>
              <a:ea typeface="+mn-ea"/>
              <a:cs typeface="+mn-cs"/>
            </a:endParaRPr>
          </a:p>
        </p:txBody>
      </p:sp>
      <p:sp>
        <p:nvSpPr>
          <p:cNvPr id="26" name="TextBox 20">
            <a:extLst>
              <a:ext uri="{FF2B5EF4-FFF2-40B4-BE49-F238E27FC236}">
                <a16:creationId xmlns:a16="http://schemas.microsoft.com/office/drawing/2014/main" id="{28F61B82-7436-04A5-7343-C6EEAFB4DD53}"/>
              </a:ext>
            </a:extLst>
          </p:cNvPr>
          <p:cNvSpPr txBox="1"/>
          <p:nvPr/>
        </p:nvSpPr>
        <p:spPr>
          <a:xfrm>
            <a:off x="6092504" y="6635159"/>
            <a:ext cx="2257628"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FED9A0">
                    <a:lumMod val="75000"/>
                  </a:srgbClr>
                </a:solidFill>
                <a:effectLst/>
                <a:uLnTx/>
                <a:uFillTx/>
                <a:latin typeface="Nunito Sans"/>
                <a:ea typeface="+mn-ea"/>
                <a:cs typeface="+mn-cs"/>
              </a:rPr>
              <a:t>Under delay and can be recovered</a:t>
            </a:r>
            <a:endParaRPr kumimoji="0" lang="en-IN" sz="1000" b="0" i="0" u="none" strike="noStrike" kern="1200" cap="none" spc="0" normalizeH="0" baseline="0" noProof="0">
              <a:ln>
                <a:noFill/>
              </a:ln>
              <a:solidFill>
                <a:srgbClr val="000000"/>
              </a:solidFill>
              <a:effectLst/>
              <a:uLnTx/>
              <a:uFillTx/>
              <a:latin typeface="Nunito Sans"/>
              <a:ea typeface="+mn-ea"/>
              <a:cs typeface="+mn-cs"/>
            </a:endParaRPr>
          </a:p>
        </p:txBody>
      </p:sp>
      <p:sp>
        <p:nvSpPr>
          <p:cNvPr id="27" name="TextBox 22">
            <a:extLst>
              <a:ext uri="{FF2B5EF4-FFF2-40B4-BE49-F238E27FC236}">
                <a16:creationId xmlns:a16="http://schemas.microsoft.com/office/drawing/2014/main" id="{8F4ACA3E-CD65-BF3E-163D-491F1E7D53BD}"/>
              </a:ext>
            </a:extLst>
          </p:cNvPr>
          <p:cNvSpPr txBox="1"/>
          <p:nvPr/>
        </p:nvSpPr>
        <p:spPr>
          <a:xfrm>
            <a:off x="2842379" y="6579600"/>
            <a:ext cx="2338222"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FF0000"/>
                </a:solidFill>
                <a:effectLst/>
                <a:uLnTx/>
                <a:uFillTx/>
                <a:latin typeface="Nunito Sans"/>
                <a:ea typeface="+mn-ea"/>
                <a:cs typeface="+mn-cs"/>
              </a:rPr>
              <a:t>Delayed and pushed to next release</a:t>
            </a:r>
          </a:p>
        </p:txBody>
      </p:sp>
      <p:graphicFrame>
        <p:nvGraphicFramePr>
          <p:cNvPr id="7" name="Table 6">
            <a:extLst>
              <a:ext uri="{FF2B5EF4-FFF2-40B4-BE49-F238E27FC236}">
                <a16:creationId xmlns:a16="http://schemas.microsoft.com/office/drawing/2014/main" id="{BA4A66AA-9CE3-1AF6-6B11-9F25DB1B8E5F}"/>
              </a:ext>
            </a:extLst>
          </p:cNvPr>
          <p:cNvGraphicFramePr>
            <a:graphicFrameLocks noGrp="1"/>
          </p:cNvGraphicFramePr>
          <p:nvPr>
            <p:extLst>
              <p:ext uri="{D42A27DB-BD31-4B8C-83A1-F6EECF244321}">
                <p14:modId xmlns:p14="http://schemas.microsoft.com/office/powerpoint/2010/main" val="1307513324"/>
              </p:ext>
            </p:extLst>
          </p:nvPr>
        </p:nvGraphicFramePr>
        <p:xfrm>
          <a:off x="1433259" y="848250"/>
          <a:ext cx="10293896" cy="3581566"/>
        </p:xfrm>
        <a:graphic>
          <a:graphicData uri="http://schemas.openxmlformats.org/drawingml/2006/table">
            <a:tbl>
              <a:tblPr firstRow="1" bandRow="1">
                <a:tableStyleId>{5C22544A-7EE6-4342-B048-85BDC9FD1C3A}</a:tableStyleId>
              </a:tblPr>
              <a:tblGrid>
                <a:gridCol w="1229973">
                  <a:extLst>
                    <a:ext uri="{9D8B030D-6E8A-4147-A177-3AD203B41FA5}">
                      <a16:colId xmlns:a16="http://schemas.microsoft.com/office/drawing/2014/main" val="1795721954"/>
                    </a:ext>
                  </a:extLst>
                </a:gridCol>
                <a:gridCol w="2147512">
                  <a:extLst>
                    <a:ext uri="{9D8B030D-6E8A-4147-A177-3AD203B41FA5}">
                      <a16:colId xmlns:a16="http://schemas.microsoft.com/office/drawing/2014/main" val="2822350773"/>
                    </a:ext>
                  </a:extLst>
                </a:gridCol>
                <a:gridCol w="5477561">
                  <a:extLst>
                    <a:ext uri="{9D8B030D-6E8A-4147-A177-3AD203B41FA5}">
                      <a16:colId xmlns:a16="http://schemas.microsoft.com/office/drawing/2014/main" val="99588705"/>
                    </a:ext>
                  </a:extLst>
                </a:gridCol>
                <a:gridCol w="1438850">
                  <a:extLst>
                    <a:ext uri="{9D8B030D-6E8A-4147-A177-3AD203B41FA5}">
                      <a16:colId xmlns:a16="http://schemas.microsoft.com/office/drawing/2014/main" val="1739073323"/>
                    </a:ext>
                  </a:extLst>
                </a:gridCol>
              </a:tblGrid>
              <a:tr h="314172">
                <a:tc>
                  <a:txBody>
                    <a:bodyPr/>
                    <a:lstStyle/>
                    <a:p>
                      <a:pPr marL="0" lvl="0" indent="0" algn="ctr" defTabSz="914400">
                        <a:lnSpc>
                          <a:spcPct val="100000"/>
                        </a:lnSpc>
                        <a:buNone/>
                      </a:pPr>
                      <a:r>
                        <a:rPr lang="en-IN" sz="1100" b="1" kern="1200">
                          <a:solidFill>
                            <a:schemeClr val="bg1"/>
                          </a:solidFill>
                          <a:latin typeface="+mn-lt"/>
                          <a:ea typeface="+mn-ea"/>
                          <a:cs typeface="+mn-cs"/>
                        </a:rPr>
                        <a:t>LOB</a:t>
                      </a: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solidFill>
                      <a:schemeClr val="accent3">
                        <a:lumMod val="90000"/>
                        <a:lumOff val="10000"/>
                      </a:schemeClr>
                    </a:solidFill>
                  </a:tcPr>
                </a:tc>
                <a:tc>
                  <a:txBody>
                    <a:bodyPr/>
                    <a:lstStyle/>
                    <a:p>
                      <a:pPr marL="0" lvl="0" indent="0" algn="ctr" defTabSz="914400" rtl="0">
                        <a:lnSpc>
                          <a:spcPct val="100000"/>
                        </a:lnSpc>
                        <a:buFont typeface="Arial" panose="020B0604020202020204" pitchFamily="34" charset="0"/>
                        <a:buNone/>
                      </a:pPr>
                      <a:r>
                        <a:rPr lang="en-IN" sz="1100" b="1" kern="1200">
                          <a:solidFill>
                            <a:schemeClr val="bg1"/>
                          </a:solidFill>
                          <a:latin typeface="+mn-lt"/>
                          <a:ea typeface="+mn-ea"/>
                          <a:cs typeface="+mn-cs"/>
                        </a:rPr>
                        <a:t>Initiatives</a:t>
                      </a:r>
                      <a:endParaRPr lang="en-US" sz="1100" b="1"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tc>
                  <a:txBody>
                    <a:bodyPr/>
                    <a:lstStyle/>
                    <a:p>
                      <a:pPr marL="0" indent="0" algn="ctr" defTabSz="914400" rtl="0" eaLnBrk="1" latinLnBrk="0" hangingPunct="1">
                        <a:buFont typeface="Arial" panose="020B0604020202020204" pitchFamily="34" charset="0"/>
                        <a:buNone/>
                      </a:pPr>
                      <a:r>
                        <a:rPr lang="en-IN" sz="1100" kern="1200">
                          <a:solidFill>
                            <a:schemeClr val="bg1"/>
                          </a:solidFill>
                          <a:latin typeface="+mn-lt"/>
                          <a:ea typeface="+mn-ea"/>
                          <a:cs typeface="+mn-cs"/>
                        </a:rPr>
                        <a:t>Value Justification/Realization</a:t>
                      </a:r>
                      <a:endParaRPr lang="en-US" sz="1100"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tc>
                  <a:txBody>
                    <a:bodyPr/>
                    <a:lstStyle/>
                    <a:p>
                      <a:pPr marL="0" indent="0" algn="ctr" defTabSz="914400" rtl="0" eaLnBrk="1" latinLnBrk="0" hangingPunct="1">
                        <a:buFont typeface="Arial" panose="020B0604020202020204" pitchFamily="34" charset="0"/>
                        <a:buNone/>
                      </a:pPr>
                      <a:r>
                        <a:rPr lang="en-US" sz="1100" kern="1200">
                          <a:solidFill>
                            <a:schemeClr val="bg1"/>
                          </a:solidFill>
                          <a:latin typeface="+mn-lt"/>
                          <a:ea typeface="+mn-ea"/>
                          <a:cs typeface="+mn-cs"/>
                        </a:rPr>
                        <a:t>Go-live Date</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extLst>
                  <a:ext uri="{0D108BD9-81ED-4DB2-BD59-A6C34878D82A}">
                    <a16:rowId xmlns:a16="http://schemas.microsoft.com/office/drawing/2014/main" val="844450115"/>
                  </a:ext>
                </a:extLst>
              </a:tr>
              <a:tr h="1115312">
                <a:tc rowSpan="3">
                  <a:txBody>
                    <a:bodyPr/>
                    <a:lstStyle/>
                    <a:p>
                      <a:pPr marL="0" lvl="0" indent="0" algn="ctr" defTabSz="914400">
                        <a:lnSpc>
                          <a:spcPct val="100000"/>
                        </a:lnSpc>
                        <a:spcBef>
                          <a:spcPts val="0"/>
                        </a:spcBef>
                        <a:spcAft>
                          <a:spcPts val="0"/>
                        </a:spcAft>
                        <a:buNone/>
                        <a:tabLst/>
                        <a:defRPr/>
                      </a:pPr>
                      <a:r>
                        <a:rPr lang="en-US" sz="1100" b="1" i="0" u="none" strike="noStrike" kern="1200">
                          <a:solidFill>
                            <a:srgbClr val="0070C0"/>
                          </a:solidFill>
                          <a:latin typeface="+mn-lt"/>
                          <a:ea typeface="+mn-ea"/>
                          <a:cs typeface="+mn-cs"/>
                        </a:rPr>
                        <a:t>Ops</a:t>
                      </a: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tc>
                  <a:txBody>
                    <a:bodyPr/>
                    <a:lstStyle/>
                    <a:p>
                      <a:pPr marL="0" marR="0" lvl="0" indent="0" algn="l">
                        <a:lnSpc>
                          <a:spcPct val="100000"/>
                        </a:lnSpc>
                        <a:spcBef>
                          <a:spcPts val="0"/>
                        </a:spcBef>
                        <a:spcAft>
                          <a:spcPts val="0"/>
                        </a:spcAft>
                        <a:buNone/>
                      </a:pPr>
                      <a:r>
                        <a:rPr lang="en-US" sz="1100" b="1" i="0" u="none" strike="noStrike" kern="1200" noProof="0">
                          <a:solidFill>
                            <a:srgbClr val="FF0000"/>
                          </a:solidFill>
                        </a:rPr>
                        <a:t>CMTS to ACE Integration  </a:t>
                      </a:r>
                      <a:endParaRPr lang="en-US" sz="1100" b="1" i="0" u="none" strike="noStrike" kern="1200">
                        <a:solidFill>
                          <a:srgbClr val="FF0000"/>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marR="0" indent="0" algn="l" rtl="0" eaLnBrk="1" fontAlgn="auto" latinLnBrk="0" hangingPunct="1">
                        <a:lnSpc>
                          <a:spcPct val="100000"/>
                        </a:lnSpc>
                        <a:spcBef>
                          <a:spcPts val="0"/>
                        </a:spcBef>
                        <a:spcAft>
                          <a:spcPts val="0"/>
                        </a:spcAft>
                        <a:buClrTx/>
                        <a:buSzTx/>
                        <a:buFont typeface="Arial" panose="020B0604020202020204" pitchFamily="34" charset="0"/>
                        <a:buNone/>
                      </a:pPr>
                      <a:r>
                        <a:rPr lang="en-US" sz="1100" err="1"/>
                        <a:t>SinceTnQ</a:t>
                      </a:r>
                      <a:r>
                        <a:rPr lang="en-US" sz="1100"/>
                        <a:t> is being decommissioned, the system needs to be updated accordingly. This change will reduce the manual effort required to add training for crew members and eliminate redundant tasks. It will also help ensure that AI remains compliant with regulatory bodies in the future, paving the way for CBTA.</a:t>
                      </a:r>
                      <a:endParaRPr lang="en-US" sz="1100" b="1" i="0" u="none" strike="noStrike" noProof="0">
                        <a:solidFill>
                          <a:schemeClr val="accent1"/>
                        </a:solidFill>
                        <a:latin typeface="Nunito San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indent="0" algn="l" rtl="0" eaLnBrk="1" latinLnBrk="0" hangingPunct="1">
                        <a:buFont typeface="Arial" panose="020B0604020202020204" pitchFamily="34" charset="0"/>
                        <a:buNone/>
                      </a:pPr>
                      <a:r>
                        <a:rPr lang="en-US" sz="1100" b="0" i="0" u="none" strike="noStrike" noProof="0">
                          <a:latin typeface="Arial"/>
                        </a:rPr>
                        <a:t>25 Jun</a:t>
                      </a:r>
                    </a:p>
                    <a:p>
                      <a:pPr marL="0" lvl="0" indent="0" algn="l">
                        <a:buFont typeface="Arial" panose="020B0604020202020204" pitchFamily="34" charset="0"/>
                        <a:buNone/>
                      </a:pPr>
                      <a:r>
                        <a:rPr lang="en-US" sz="1100" b="0" i="0" u="none" strike="noStrike" noProof="0">
                          <a:latin typeface="Arial"/>
                        </a:rPr>
                        <a:t>TBD</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443371065"/>
                  </a:ext>
                </a:extLst>
              </a:tr>
              <a:tr h="518385">
                <a:tc vMerge="1">
                  <a:txBody>
                    <a:bodyPr/>
                    <a:lstStyle/>
                    <a:p>
                      <a:pPr defTabSz="914400">
                        <a:tabLst/>
                        <a:defRPr/>
                      </a:pPr>
                      <a:endParaRPr lang="en-US"/>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a:solidFill>
                        <a:schemeClr val="bg1">
                          <a:lumMod val="75000"/>
                        </a:schemeClr>
                      </a:solidFill>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1" kern="1200">
                          <a:solidFill>
                            <a:schemeClr val="bg1">
                              <a:lumMod val="65000"/>
                            </a:schemeClr>
                          </a:solidFill>
                          <a:latin typeface="+mn-lt"/>
                          <a:ea typeface="+mn-ea"/>
                          <a:cs typeface="+mn-cs"/>
                        </a:rPr>
                        <a:t>BA Randomizer Success Factor Integration</a:t>
                      </a:r>
                    </a:p>
                  </a:txBody>
                  <a:tcPr anchor="ctr">
                    <a:lnL w="6350" cap="flat" cmpd="sng" algn="ctr">
                      <a:solidFill>
                        <a:schemeClr val="bg1">
                          <a:lumMod val="75000"/>
                        </a:schemeClr>
                      </a:solidFill>
                      <a:prstDash val="solid"/>
                      <a:round/>
                      <a:headEnd type="none" w="med" len="med"/>
                      <a:tailEnd type="none" w="med" len="med"/>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l" rtl="0" eaLnBrk="1" fontAlgn="auto" latinLnBrk="0" hangingPunct="1">
                        <a:lnSpc>
                          <a:spcPct val="100000"/>
                        </a:lnSpc>
                        <a:spcBef>
                          <a:spcPts val="0"/>
                        </a:spcBef>
                        <a:spcAft>
                          <a:spcPts val="0"/>
                        </a:spcAft>
                        <a:buClrTx/>
                        <a:buSzTx/>
                        <a:buFontTx/>
                        <a:buNone/>
                      </a:pPr>
                      <a:r>
                        <a:rPr lang="en-US" sz="1100"/>
                        <a:t>Security and Performance enhancement</a:t>
                      </a:r>
                      <a:endParaRPr lang="en-US" sz="1100" b="1" i="0" u="none" strike="noStrike" noProof="0">
                        <a:solidFill>
                          <a:schemeClr val="accent1"/>
                        </a:solidFill>
                        <a:latin typeface="Nunito San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lvl="0" algn="l">
                        <a:lnSpc>
                          <a:spcPct val="100000"/>
                        </a:lnSpc>
                        <a:spcBef>
                          <a:spcPts val="0"/>
                        </a:spcBef>
                        <a:spcAft>
                          <a:spcPts val="0"/>
                        </a:spcAft>
                        <a:buNone/>
                      </a:pPr>
                      <a:r>
                        <a:rPr lang="en-US" sz="1100" b="0" i="0" u="none" strike="noStrike" noProof="0">
                          <a:solidFill>
                            <a:srgbClr val="000000"/>
                          </a:solidFill>
                          <a:latin typeface="Arial"/>
                          <a:cs typeface="Arial"/>
                        </a:rPr>
                        <a:t>Moved to Q2</a:t>
                      </a:r>
                    </a:p>
                  </a:txBody>
                  <a:tcPr anchor="ctr">
                    <a:lnL w="6350">
                      <a:solidFill>
                        <a:schemeClr val="bg1">
                          <a:lumMod val="75000"/>
                        </a:schemeClr>
                      </a:solidFill>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959550173"/>
                  </a:ext>
                </a:extLst>
              </a:tr>
              <a:tr h="518385">
                <a:tc vMerge="1">
                  <a:txBody>
                    <a:bodyPr/>
                    <a:lstStyle/>
                    <a:p>
                      <a:pPr defTabSz="914400">
                        <a:tabLst/>
                        <a:defRPr/>
                      </a:pPr>
                      <a:endParaRPr lang="en-US"/>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tc>
                  <a:txBody>
                    <a:bodyPr/>
                    <a:lstStyle/>
                    <a:p>
                      <a:pPr lvl="0" algn="l">
                        <a:lnSpc>
                          <a:spcPct val="100000"/>
                        </a:lnSpc>
                        <a:spcBef>
                          <a:spcPts val="0"/>
                        </a:spcBef>
                        <a:spcAft>
                          <a:spcPts val="0"/>
                        </a:spcAft>
                        <a:buNone/>
                      </a:pPr>
                      <a:r>
                        <a:rPr lang="en-US" sz="1100" b="1" i="0" u="none" strike="noStrike" kern="1200" noProof="0">
                          <a:solidFill>
                            <a:schemeClr val="bg1">
                              <a:lumMod val="65000"/>
                            </a:schemeClr>
                          </a:solidFill>
                        </a:rPr>
                        <a:t>MEL from MM to FPM</a:t>
                      </a:r>
                      <a:endParaRPr lang="en-US" b="1">
                        <a:solidFill>
                          <a:schemeClr val="bg1">
                            <a:lumMod val="65000"/>
                          </a:schemeClr>
                        </a:solidFill>
                      </a:endParaRPr>
                    </a:p>
                    <a:p>
                      <a:pPr marL="0" lvl="0" indent="0" algn="l" defTabSz="914400">
                        <a:lnSpc>
                          <a:spcPct val="100000"/>
                        </a:lnSpc>
                        <a:spcBef>
                          <a:spcPts val="0"/>
                        </a:spcBef>
                        <a:spcAft>
                          <a:spcPts val="0"/>
                        </a:spcAft>
                        <a:buNone/>
                        <a:tabLst/>
                        <a:defRPr/>
                      </a:pPr>
                      <a:endParaRPr lang="en-US" sz="1100" b="1" kern="1200">
                        <a:solidFill>
                          <a:schemeClr val="bg1">
                            <a:lumMod val="65000"/>
                          </a:schemeClr>
                        </a:solidFill>
                        <a:latin typeface="+mn-lt"/>
                        <a:ea typeface="+mn-ea"/>
                        <a:cs typeface="+mn-cs"/>
                      </a:endParaRP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tc>
                  <a:txBody>
                    <a:bodyPr/>
                    <a:lstStyle/>
                    <a:p>
                      <a:pPr marL="0" lvl="0" indent="0" algn="l">
                        <a:lnSpc>
                          <a:spcPct val="100000"/>
                        </a:lnSpc>
                        <a:spcBef>
                          <a:spcPts val="0"/>
                        </a:spcBef>
                        <a:spcAft>
                          <a:spcPts val="0"/>
                        </a:spcAft>
                        <a:buNone/>
                      </a:pPr>
                      <a:r>
                        <a:rPr lang="en-US" sz="1100" b="0" i="0" u="none" strike="noStrike" noProof="0">
                          <a:solidFill>
                            <a:schemeClr val="bg1">
                              <a:lumMod val="65000"/>
                            </a:schemeClr>
                          </a:solidFill>
                          <a:latin typeface="Nunito Sans"/>
                        </a:rPr>
                        <a:t>Descoped</a:t>
                      </a:r>
                      <a:endParaRPr lang="en-US" b="0">
                        <a:solidFill>
                          <a:schemeClr val="bg1">
                            <a:lumMod val="65000"/>
                          </a:schemeClr>
                        </a:solidFill>
                      </a:endParaRP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tc>
                  <a:txBody>
                    <a:bodyPr/>
                    <a:lstStyle/>
                    <a:p>
                      <a:pPr marL="0" lvl="0" indent="0" algn="l">
                        <a:buNone/>
                      </a:pPr>
                      <a:r>
                        <a:rPr lang="en-US" sz="1100" b="0" i="0" u="none" strike="noStrike" noProof="0">
                          <a:latin typeface="Arial"/>
                        </a:rPr>
                        <a:t>25 June</a:t>
                      </a: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extLst>
                  <a:ext uri="{0D108BD9-81ED-4DB2-BD59-A6C34878D82A}">
                    <a16:rowId xmlns:a16="http://schemas.microsoft.com/office/drawing/2014/main" val="3498137884"/>
                  </a:ext>
                </a:extLst>
              </a:tr>
              <a:tr h="1115312">
                <a:tc>
                  <a:txBody>
                    <a:bodyPr/>
                    <a:lstStyle/>
                    <a:p>
                      <a:pPr marL="0" lvl="0" indent="0" algn="ctr" defTabSz="914400">
                        <a:lnSpc>
                          <a:spcPct val="100000"/>
                        </a:lnSpc>
                        <a:spcBef>
                          <a:spcPts val="0"/>
                        </a:spcBef>
                        <a:spcAft>
                          <a:spcPts val="0"/>
                        </a:spcAft>
                        <a:buNone/>
                        <a:tabLst/>
                        <a:defRPr/>
                      </a:pPr>
                      <a:r>
                        <a:rPr lang="en-US" sz="1100" b="1" kern="1200">
                          <a:solidFill>
                            <a:srgbClr val="0070C0"/>
                          </a:solidFill>
                          <a:latin typeface="+mn-lt"/>
                          <a:ea typeface="+mn-ea"/>
                          <a:cs typeface="+mn-cs"/>
                        </a:rPr>
                        <a:t>CRM</a:t>
                      </a: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1" kern="1200">
                          <a:solidFill>
                            <a:schemeClr val="bg1">
                              <a:lumMod val="65000"/>
                            </a:schemeClr>
                          </a:solidFill>
                          <a:latin typeface="+mn-lt"/>
                          <a:ea typeface="+mn-ea"/>
                          <a:cs typeface="+mn-cs"/>
                        </a:rPr>
                        <a:t>Digitizing Crew Ops related Docs for Catering Management- with integration with Paxia</a:t>
                      </a:r>
                      <a:endParaRPr lang="en-US" sz="1100" b="1" kern="1200" err="1">
                        <a:solidFill>
                          <a:schemeClr val="bg1">
                            <a:lumMod val="65000"/>
                          </a:schemeClr>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l" rtl="0" eaLnBrk="1" fontAlgn="auto" latinLnBrk="0" hangingPunct="1">
                        <a:lnSpc>
                          <a:spcPct val="100000"/>
                        </a:lnSpc>
                        <a:spcBef>
                          <a:spcPts val="0"/>
                        </a:spcBef>
                        <a:spcAft>
                          <a:spcPts val="0"/>
                        </a:spcAft>
                        <a:buClrTx/>
                        <a:buSzTx/>
                        <a:buFontTx/>
                        <a:buNone/>
                      </a:pPr>
                      <a:r>
                        <a:rPr lang="en-US" sz="1100"/>
                        <a:t>Digitizing crew operations documents to simplify catering workflows, reduce manual errors, and accelerate decision-making for on-board services </a:t>
                      </a:r>
                      <a:endParaRPr lang="en-US"/>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lvl="0" indent="0" algn="l">
                        <a:buNone/>
                      </a:pPr>
                      <a:r>
                        <a:rPr lang="en-US" sz="1100" b="0" i="0" u="none" strike="noStrike" noProof="0">
                          <a:latin typeface="Arial"/>
                        </a:rPr>
                        <a:t>05 Jun</a:t>
                      </a:r>
                    </a:p>
                  </a:txBody>
                  <a:tcPr anchor="ctr">
                    <a:lnL w="6350" cap="flat" cmpd="sng" algn="ctr">
                      <a:solidFill>
                        <a:schemeClr val="bg1">
                          <a:lumMod val="75000"/>
                        </a:schemeClr>
                      </a:solidFill>
                      <a:prstDash val="solid"/>
                      <a:round/>
                      <a:headEnd type="none" w="med" len="med"/>
                      <a:tailEnd type="none" w="med" len="med"/>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68646495"/>
                  </a:ext>
                </a:extLst>
              </a:tr>
            </a:tbl>
          </a:graphicData>
        </a:graphic>
      </p:graphicFrame>
      <p:sp>
        <p:nvSpPr>
          <p:cNvPr id="10" name="Rectangle 9">
            <a:extLst>
              <a:ext uri="{FF2B5EF4-FFF2-40B4-BE49-F238E27FC236}">
                <a16:creationId xmlns:a16="http://schemas.microsoft.com/office/drawing/2014/main" id="{25920376-BAAB-A5FB-9883-17E0E32EA579}"/>
              </a:ext>
            </a:extLst>
          </p:cNvPr>
          <p:cNvSpPr/>
          <p:nvPr/>
        </p:nvSpPr>
        <p:spPr>
          <a:xfrm>
            <a:off x="307827" y="844714"/>
            <a:ext cx="1125276" cy="32029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400" b="1">
                <a:solidFill>
                  <a:srgbClr val="FFFFFF"/>
                </a:solidFill>
                <a:latin typeface="AirIndia"/>
              </a:rPr>
              <a:t>June</a:t>
            </a:r>
            <a:r>
              <a:rPr kumimoji="0" lang="en-IN" sz="1400" b="1" i="0" u="none" strike="noStrike" kern="1200" cap="none" spc="0" normalizeH="0" baseline="0" noProof="0">
                <a:ln>
                  <a:noFill/>
                </a:ln>
                <a:solidFill>
                  <a:srgbClr val="FFFFFF"/>
                </a:solidFill>
                <a:effectLst/>
                <a:uLnTx/>
                <a:uFillTx/>
                <a:latin typeface="AirIndia"/>
              </a:rPr>
              <a:t> ‘</a:t>
            </a:r>
            <a:r>
              <a:rPr lang="en-IN" sz="1400" b="1">
                <a:solidFill>
                  <a:srgbClr val="FFFFFF"/>
                </a:solidFill>
                <a:latin typeface="AirIndia"/>
              </a:rPr>
              <a:t>26</a:t>
            </a:r>
            <a:endParaRPr kumimoji="0" lang="en-US" sz="1400" b="1" i="0" u="none" strike="noStrike" kern="1200" cap="none" spc="0" normalizeH="0" baseline="0" noProof="0">
              <a:ln>
                <a:noFill/>
              </a:ln>
              <a:solidFill>
                <a:srgbClr val="FFFFFF"/>
              </a:solidFill>
              <a:effectLst/>
              <a:uLnTx/>
              <a:uFillTx/>
              <a:latin typeface="AirIndia" panose="04050608020B02020302" charset="0"/>
              <a:ea typeface="+mn-ea"/>
              <a:cs typeface="+mn-cs"/>
            </a:endParaRPr>
          </a:p>
        </p:txBody>
      </p:sp>
    </p:spTree>
    <p:extLst>
      <p:ext uri="{BB962C8B-B14F-4D97-AF65-F5344CB8AC3E}">
        <p14:creationId xmlns:p14="http://schemas.microsoft.com/office/powerpoint/2010/main" val="427584297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435D1F-D34A-BDDC-E0A5-328BB885183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44475B1-C302-7E9C-FF40-90AE4EA575D0}"/>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3A41A254-7326-714E-AF55-4C213D6394DE}" type="slidenum">
              <a:rPr kumimoji="0" lang="en-US" sz="1200" b="0" i="0" u="none" strike="noStrike" kern="1200" cap="none" spc="0" normalizeH="0" baseline="0" noProof="0" smtClean="0">
                <a:ln>
                  <a:noFill/>
                </a:ln>
                <a:solidFill>
                  <a:srgbClr val="DA0E28"/>
                </a:solidFill>
                <a:effectLst/>
                <a:uLnTx/>
                <a:uFillTx/>
                <a:latin typeface="Nunito Sans"/>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53</a:t>
            </a:fld>
            <a:endParaRPr kumimoji="0" lang="en-US" sz="1200" b="0" i="0" u="none" strike="noStrike" kern="1200" cap="none" spc="0" normalizeH="0" baseline="0" noProof="0">
              <a:ln>
                <a:noFill/>
              </a:ln>
              <a:solidFill>
                <a:srgbClr val="DA0E28"/>
              </a:solidFill>
              <a:effectLst/>
              <a:uLnTx/>
              <a:uFillTx/>
              <a:latin typeface="Nunito Sans"/>
              <a:ea typeface="+mn-ea"/>
              <a:cs typeface="+mn-cs"/>
            </a:endParaRPr>
          </a:p>
        </p:txBody>
      </p:sp>
      <p:sp>
        <p:nvSpPr>
          <p:cNvPr id="3" name="Rectangle 2">
            <a:extLst>
              <a:ext uri="{FF2B5EF4-FFF2-40B4-BE49-F238E27FC236}">
                <a16:creationId xmlns:a16="http://schemas.microsoft.com/office/drawing/2014/main" id="{879A97DD-BEF3-29C6-2236-C74FE964F753}"/>
              </a:ext>
            </a:extLst>
          </p:cNvPr>
          <p:cNvSpPr/>
          <p:nvPr/>
        </p:nvSpPr>
        <p:spPr>
          <a:xfrm>
            <a:off x="354209" y="1041409"/>
            <a:ext cx="1170432" cy="42234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400" b="1">
                <a:solidFill>
                  <a:srgbClr val="FFFFFF"/>
                </a:solidFill>
                <a:latin typeface="AirIndia"/>
              </a:rPr>
              <a:t>June</a:t>
            </a:r>
            <a:r>
              <a:rPr kumimoji="0" lang="en-IN" sz="1400" b="1" i="0" u="none" strike="noStrike" kern="1200" cap="none" spc="0" normalizeH="0" baseline="0" noProof="0">
                <a:ln>
                  <a:noFill/>
                </a:ln>
                <a:solidFill>
                  <a:srgbClr val="FFFFFF"/>
                </a:solidFill>
                <a:effectLst/>
                <a:uLnTx/>
                <a:uFillTx/>
                <a:latin typeface="AirIndia"/>
              </a:rPr>
              <a:t> ‘</a:t>
            </a:r>
            <a:r>
              <a:rPr lang="en-IN" sz="1400" b="1">
                <a:solidFill>
                  <a:srgbClr val="FFFFFF"/>
                </a:solidFill>
                <a:latin typeface="AirIndia"/>
              </a:rPr>
              <a:t>26</a:t>
            </a:r>
            <a:endParaRPr kumimoji="0" lang="en-US" sz="1400" b="1" i="0" u="none" strike="noStrike" kern="1200" cap="none" spc="0" normalizeH="0" baseline="0" noProof="0">
              <a:ln>
                <a:noFill/>
              </a:ln>
              <a:solidFill>
                <a:srgbClr val="FFFFFF"/>
              </a:solidFill>
              <a:effectLst/>
              <a:uLnTx/>
              <a:uFillTx/>
              <a:latin typeface="AirIndia" panose="04050608020B02020302" charset="0"/>
              <a:ea typeface="+mn-ea"/>
              <a:cs typeface="+mn-cs"/>
            </a:endParaRPr>
          </a:p>
        </p:txBody>
      </p:sp>
      <p:sp>
        <p:nvSpPr>
          <p:cNvPr id="6" name="Title 11">
            <a:extLst>
              <a:ext uri="{FF2B5EF4-FFF2-40B4-BE49-F238E27FC236}">
                <a16:creationId xmlns:a16="http://schemas.microsoft.com/office/drawing/2014/main" id="{48496C87-C5AE-8662-10B8-DAFAC3B25020}"/>
              </a:ext>
            </a:extLst>
          </p:cNvPr>
          <p:cNvSpPr txBox="1">
            <a:spLocks/>
          </p:cNvSpPr>
          <p:nvPr/>
        </p:nvSpPr>
        <p:spPr>
          <a:xfrm>
            <a:off x="304800" y="269218"/>
            <a:ext cx="9749641" cy="480073"/>
          </a:xfrm>
          <a:prstGeom prst="rect">
            <a:avLst/>
          </a:prstGeom>
        </p:spPr>
        <p:txBody>
          <a:bodyPr lIns="91440" tIns="45720" rIns="91440" bIns="45720" anchor="t">
            <a:noAutofit/>
          </a:bodyPr>
          <a:lstStyle>
            <a:lvl1pPr algn="l" defTabSz="914400" rtl="0" eaLnBrk="1" latinLnBrk="0" hangingPunct="1">
              <a:lnSpc>
                <a:spcPct val="90000"/>
              </a:lnSpc>
              <a:spcBef>
                <a:spcPct val="0"/>
              </a:spcBef>
              <a:buNone/>
              <a:defRPr sz="4400" b="1" i="0" kern="1200">
                <a:solidFill>
                  <a:schemeClr val="tx1"/>
                </a:solidFill>
                <a:latin typeface="AirIndia" pitchFamily="82" charset="77"/>
                <a:ea typeface="+mj-ea"/>
                <a:cs typeface="+mj-cs"/>
              </a:defRPr>
            </a:lvl1pPr>
          </a:lstStyle>
          <a:p>
            <a:pPr>
              <a:defRPr/>
            </a:pPr>
            <a:r>
              <a:rPr kumimoji="0" lang="en-US" sz="1800" b="1" i="0" u="none" strike="noStrike" kern="1200" cap="none" spc="0" normalizeH="0" baseline="0" noProof="0">
                <a:ln>
                  <a:noFill/>
                </a:ln>
                <a:solidFill>
                  <a:srgbClr val="DA0E28"/>
                </a:solidFill>
                <a:effectLst/>
                <a:uLnTx/>
                <a:uFillTx/>
                <a:latin typeface="AirIndia"/>
                <a:ea typeface="+mj-ea"/>
                <a:cs typeface="+mj-cs"/>
              </a:rPr>
              <a:t>Enterprise Intelligent -</a:t>
            </a:r>
            <a:r>
              <a:rPr lang="en-US" sz="1800">
                <a:solidFill>
                  <a:srgbClr val="DA0E28"/>
                </a:solidFill>
                <a:latin typeface="AirIndia"/>
              </a:rPr>
              <a:t>FY26-27</a:t>
            </a:r>
            <a:r>
              <a:rPr kumimoji="0" lang="en-US" sz="1800" b="1" i="0" u="none" strike="noStrike" kern="1200" cap="none" spc="0" normalizeH="0" baseline="0" noProof="0">
                <a:ln>
                  <a:noFill/>
                </a:ln>
                <a:solidFill>
                  <a:srgbClr val="DA0E28"/>
                </a:solidFill>
                <a:effectLst/>
                <a:uLnTx/>
                <a:uFillTx/>
                <a:latin typeface="AirIndia"/>
                <a:ea typeface="+mj-ea"/>
                <a:cs typeface="+mj-cs"/>
              </a:rPr>
              <a:t> Q1 Release </a:t>
            </a:r>
            <a:r>
              <a:rPr lang="en-US" sz="1800">
                <a:solidFill>
                  <a:srgbClr val="DA0E28"/>
                </a:solidFill>
                <a:latin typeface="AirIndia"/>
              </a:rPr>
              <a:t>Plan</a:t>
            </a:r>
            <a:endParaRPr lang="en-US" sz="1800" b="0">
              <a:solidFill>
                <a:srgbClr val="000000"/>
              </a:solidFill>
              <a:latin typeface="AirIndia"/>
            </a:endParaRPr>
          </a:p>
          <a:p>
            <a:pPr>
              <a:defRPr/>
            </a:pPr>
            <a:endParaRPr lang="en-US" sz="1800" i="0" u="none" strike="noStrike" kern="1200" cap="none" spc="0" normalizeH="0" baseline="0" noProof="0">
              <a:ln>
                <a:noFill/>
              </a:ln>
              <a:solidFill>
                <a:srgbClr val="DA0E28"/>
              </a:solidFill>
              <a:effectLst/>
              <a:uLnTx/>
              <a:uFillTx/>
              <a:latin typeface="AirIndia"/>
            </a:endParaRPr>
          </a:p>
        </p:txBody>
      </p:sp>
      <p:graphicFrame>
        <p:nvGraphicFramePr>
          <p:cNvPr id="12" name="Table 11">
            <a:extLst>
              <a:ext uri="{FF2B5EF4-FFF2-40B4-BE49-F238E27FC236}">
                <a16:creationId xmlns:a16="http://schemas.microsoft.com/office/drawing/2014/main" id="{AF5E9B7F-5201-830C-682C-C22D4EFB4F40}"/>
              </a:ext>
            </a:extLst>
          </p:cNvPr>
          <p:cNvGraphicFramePr>
            <a:graphicFrameLocks noGrp="1"/>
          </p:cNvGraphicFramePr>
          <p:nvPr/>
        </p:nvGraphicFramePr>
        <p:xfrm>
          <a:off x="1535124" y="995605"/>
          <a:ext cx="10088360" cy="243840"/>
        </p:xfrm>
        <a:graphic>
          <a:graphicData uri="http://schemas.openxmlformats.org/drawingml/2006/table">
            <a:tbl>
              <a:tblPr firstRow="1" bandRow="1">
                <a:tableStyleId>{5C22544A-7EE6-4342-B048-85BDC9FD1C3A}</a:tableStyleId>
              </a:tblPr>
              <a:tblGrid>
                <a:gridCol w="10088360">
                  <a:extLst>
                    <a:ext uri="{9D8B030D-6E8A-4147-A177-3AD203B41FA5}">
                      <a16:colId xmlns:a16="http://schemas.microsoft.com/office/drawing/2014/main" val="2186609487"/>
                    </a:ext>
                  </a:extLst>
                </a:gridCol>
              </a:tblGrid>
              <a:tr h="222384">
                <a:tc>
                  <a:txBody>
                    <a:bodyPr/>
                    <a:lstStyle/>
                    <a:p>
                      <a:pPr lvl="0" algn="ctr">
                        <a:lnSpc>
                          <a:spcPct val="100000"/>
                        </a:lnSpc>
                        <a:spcBef>
                          <a:spcPts val="0"/>
                        </a:spcBef>
                        <a:spcAft>
                          <a:spcPts val="0"/>
                        </a:spcAft>
                        <a:buNone/>
                      </a:pPr>
                      <a:r>
                        <a:rPr lang="en-IN" sz="1000" b="1" i="0" u="none" strike="noStrike" kern="1200" noProof="0">
                          <a:solidFill>
                            <a:schemeClr val="bg1"/>
                          </a:solidFill>
                          <a:latin typeface="Nunito Sans"/>
                          <a:ea typeface="+mn-ea"/>
                          <a:cs typeface="+mn-cs"/>
                        </a:rPr>
                        <a:t>ADHOC Projects</a:t>
                      </a:r>
                      <a:endParaRPr lang="en-IN" sz="1000" b="1" i="0" u="none" strike="noStrike" kern="1200" noProof="0">
                        <a:solidFill>
                          <a:srgbClr val="FFFFFF"/>
                        </a:solidFill>
                        <a:latin typeface="Nunito Sans"/>
                        <a:ea typeface="+mn-ea"/>
                        <a:cs typeface="+mn-cs"/>
                      </a:endParaRP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solidFill>
                      <a:schemeClr val="accent3">
                        <a:lumMod val="90000"/>
                        <a:lumOff val="10000"/>
                      </a:schemeClr>
                    </a:solidFill>
                  </a:tcPr>
                </a:tc>
                <a:extLst>
                  <a:ext uri="{0D108BD9-81ED-4DB2-BD59-A6C34878D82A}">
                    <a16:rowId xmlns:a16="http://schemas.microsoft.com/office/drawing/2014/main" val="1253140778"/>
                  </a:ext>
                </a:extLst>
              </a:tr>
            </a:tbl>
          </a:graphicData>
        </a:graphic>
      </p:graphicFrame>
      <p:sp>
        <p:nvSpPr>
          <p:cNvPr id="4" name="Rectangle 3">
            <a:extLst>
              <a:ext uri="{FF2B5EF4-FFF2-40B4-BE49-F238E27FC236}">
                <a16:creationId xmlns:a16="http://schemas.microsoft.com/office/drawing/2014/main" id="{A0CA70F6-A991-9CFC-9B48-96B13D649A4F}"/>
              </a:ext>
            </a:extLst>
          </p:cNvPr>
          <p:cNvSpPr/>
          <p:nvPr/>
        </p:nvSpPr>
        <p:spPr>
          <a:xfrm rot="5400000">
            <a:off x="8942419" y="6655587"/>
            <a:ext cx="90000" cy="90000"/>
          </a:xfrm>
          <a:prstGeom prst="rect">
            <a:avLst/>
          </a:prstGeom>
          <a:solidFill>
            <a:schemeClr val="bg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9" name="TextBox 8">
            <a:extLst>
              <a:ext uri="{FF2B5EF4-FFF2-40B4-BE49-F238E27FC236}">
                <a16:creationId xmlns:a16="http://schemas.microsoft.com/office/drawing/2014/main" id="{BC5F981F-34C6-B213-BD30-6EBA56CCFCDB}"/>
              </a:ext>
            </a:extLst>
          </p:cNvPr>
          <p:cNvSpPr txBox="1"/>
          <p:nvPr/>
        </p:nvSpPr>
        <p:spPr>
          <a:xfrm>
            <a:off x="8986097" y="6582653"/>
            <a:ext cx="3069090" cy="246221"/>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FFFFFF">
                    <a:lumMod val="49000"/>
                  </a:srgbClr>
                </a:solidFill>
                <a:effectLst/>
                <a:uLnTx/>
                <a:uFillTx/>
                <a:latin typeface="Nunito Sans"/>
                <a:ea typeface="+mn-ea"/>
                <a:cs typeface="+mn-cs"/>
              </a:rPr>
              <a:t>Descoped</a:t>
            </a:r>
          </a:p>
        </p:txBody>
      </p:sp>
      <p:sp>
        <p:nvSpPr>
          <p:cNvPr id="18" name="Rectangle 17">
            <a:extLst>
              <a:ext uri="{FF2B5EF4-FFF2-40B4-BE49-F238E27FC236}">
                <a16:creationId xmlns:a16="http://schemas.microsoft.com/office/drawing/2014/main" id="{058A2E98-10F9-9135-79B8-B2A21C2DE3D8}"/>
              </a:ext>
            </a:extLst>
          </p:cNvPr>
          <p:cNvSpPr/>
          <p:nvPr/>
        </p:nvSpPr>
        <p:spPr>
          <a:xfrm>
            <a:off x="10326888" y="6653023"/>
            <a:ext cx="90000" cy="90000"/>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20" name="Rectangle 19">
            <a:extLst>
              <a:ext uri="{FF2B5EF4-FFF2-40B4-BE49-F238E27FC236}">
                <a16:creationId xmlns:a16="http://schemas.microsoft.com/office/drawing/2014/main" id="{B6B537CA-92B6-57EE-8AF2-7C8CCAAA8062}"/>
              </a:ext>
            </a:extLst>
          </p:cNvPr>
          <p:cNvSpPr/>
          <p:nvPr/>
        </p:nvSpPr>
        <p:spPr>
          <a:xfrm>
            <a:off x="1433259" y="6651985"/>
            <a:ext cx="90000" cy="90000"/>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22" name="Rectangle 21">
            <a:extLst>
              <a:ext uri="{FF2B5EF4-FFF2-40B4-BE49-F238E27FC236}">
                <a16:creationId xmlns:a16="http://schemas.microsoft.com/office/drawing/2014/main" id="{52395230-1217-3D65-73C5-47B41A8F65A1}"/>
              </a:ext>
            </a:extLst>
          </p:cNvPr>
          <p:cNvSpPr/>
          <p:nvPr/>
        </p:nvSpPr>
        <p:spPr>
          <a:xfrm>
            <a:off x="5909236" y="6676608"/>
            <a:ext cx="90000" cy="90000"/>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23" name="Rectangle 22">
            <a:extLst>
              <a:ext uri="{FF2B5EF4-FFF2-40B4-BE49-F238E27FC236}">
                <a16:creationId xmlns:a16="http://schemas.microsoft.com/office/drawing/2014/main" id="{F3880F13-6D48-2EA0-D432-0EE5EDE5F248}"/>
              </a:ext>
            </a:extLst>
          </p:cNvPr>
          <p:cNvSpPr/>
          <p:nvPr/>
        </p:nvSpPr>
        <p:spPr>
          <a:xfrm>
            <a:off x="2752379" y="6642913"/>
            <a:ext cx="90000" cy="90000"/>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24" name="TextBox 15">
            <a:extLst>
              <a:ext uri="{FF2B5EF4-FFF2-40B4-BE49-F238E27FC236}">
                <a16:creationId xmlns:a16="http://schemas.microsoft.com/office/drawing/2014/main" id="{B515A22C-885C-325B-E2A0-A1C4F2F20B65}"/>
              </a:ext>
            </a:extLst>
          </p:cNvPr>
          <p:cNvSpPr txBox="1"/>
          <p:nvPr/>
        </p:nvSpPr>
        <p:spPr>
          <a:xfrm>
            <a:off x="10416853" y="6596174"/>
            <a:ext cx="857245"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0070C0"/>
                </a:solidFill>
                <a:effectLst/>
                <a:uLnTx/>
                <a:uFillTx/>
                <a:latin typeface="Nunito Sans"/>
                <a:ea typeface="+mn-ea"/>
                <a:cs typeface="+mn-cs"/>
              </a:rPr>
              <a:t>Delivered</a:t>
            </a:r>
            <a:endParaRPr kumimoji="0" lang="en-IN" sz="1000" b="0" i="0" u="none" strike="noStrike" kern="1200" cap="none" spc="0" normalizeH="0" baseline="0" noProof="0">
              <a:ln>
                <a:noFill/>
              </a:ln>
              <a:solidFill>
                <a:srgbClr val="000000"/>
              </a:solidFill>
              <a:effectLst/>
              <a:uLnTx/>
              <a:uFillTx/>
              <a:latin typeface="Nunito Sans"/>
              <a:ea typeface="+mn-ea"/>
              <a:cs typeface="+mn-cs"/>
            </a:endParaRPr>
          </a:p>
        </p:txBody>
      </p:sp>
      <p:sp>
        <p:nvSpPr>
          <p:cNvPr id="25" name="TextBox 18">
            <a:extLst>
              <a:ext uri="{FF2B5EF4-FFF2-40B4-BE49-F238E27FC236}">
                <a16:creationId xmlns:a16="http://schemas.microsoft.com/office/drawing/2014/main" id="{8913BBD6-9125-E2CD-6C18-7DD31020904C}"/>
              </a:ext>
            </a:extLst>
          </p:cNvPr>
          <p:cNvSpPr txBox="1"/>
          <p:nvPr/>
        </p:nvSpPr>
        <p:spPr>
          <a:xfrm>
            <a:off x="1554283" y="6592533"/>
            <a:ext cx="1032881"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00B050"/>
                </a:solidFill>
                <a:effectLst/>
                <a:uLnTx/>
                <a:uFillTx/>
                <a:latin typeface="Nunito Sans"/>
                <a:ea typeface="+mn-ea"/>
                <a:cs typeface="+mn-cs"/>
              </a:rPr>
              <a:t>Ontrack</a:t>
            </a:r>
            <a:endParaRPr kumimoji="0" lang="en-IN" sz="1000" b="0" i="0" u="none" strike="noStrike" kern="1200" cap="none" spc="0" normalizeH="0" baseline="0" noProof="0">
              <a:ln>
                <a:noFill/>
              </a:ln>
              <a:solidFill>
                <a:srgbClr val="000000"/>
              </a:solidFill>
              <a:effectLst/>
              <a:uLnTx/>
              <a:uFillTx/>
              <a:latin typeface="Nunito Sans"/>
              <a:ea typeface="+mn-ea"/>
              <a:cs typeface="+mn-cs"/>
            </a:endParaRPr>
          </a:p>
        </p:txBody>
      </p:sp>
      <p:sp>
        <p:nvSpPr>
          <p:cNvPr id="26" name="TextBox 20">
            <a:extLst>
              <a:ext uri="{FF2B5EF4-FFF2-40B4-BE49-F238E27FC236}">
                <a16:creationId xmlns:a16="http://schemas.microsoft.com/office/drawing/2014/main" id="{DE835478-4C44-93FC-C2D9-C05F1D2D3067}"/>
              </a:ext>
            </a:extLst>
          </p:cNvPr>
          <p:cNvSpPr txBox="1"/>
          <p:nvPr/>
        </p:nvSpPr>
        <p:spPr>
          <a:xfrm>
            <a:off x="6092504" y="6635159"/>
            <a:ext cx="2257628"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FED9A0">
                    <a:lumMod val="75000"/>
                  </a:srgbClr>
                </a:solidFill>
                <a:effectLst/>
                <a:uLnTx/>
                <a:uFillTx/>
                <a:latin typeface="Nunito Sans"/>
                <a:ea typeface="+mn-ea"/>
                <a:cs typeface="+mn-cs"/>
              </a:rPr>
              <a:t>Under delay and can be recovered</a:t>
            </a:r>
            <a:endParaRPr kumimoji="0" lang="en-IN" sz="1000" b="0" i="0" u="none" strike="noStrike" kern="1200" cap="none" spc="0" normalizeH="0" baseline="0" noProof="0">
              <a:ln>
                <a:noFill/>
              </a:ln>
              <a:solidFill>
                <a:srgbClr val="000000"/>
              </a:solidFill>
              <a:effectLst/>
              <a:uLnTx/>
              <a:uFillTx/>
              <a:latin typeface="Nunito Sans"/>
              <a:ea typeface="+mn-ea"/>
              <a:cs typeface="+mn-cs"/>
            </a:endParaRPr>
          </a:p>
        </p:txBody>
      </p:sp>
      <p:sp>
        <p:nvSpPr>
          <p:cNvPr id="27" name="TextBox 22">
            <a:extLst>
              <a:ext uri="{FF2B5EF4-FFF2-40B4-BE49-F238E27FC236}">
                <a16:creationId xmlns:a16="http://schemas.microsoft.com/office/drawing/2014/main" id="{7C7F1840-3F78-8CC8-A4AA-EBFCA38ECC62}"/>
              </a:ext>
            </a:extLst>
          </p:cNvPr>
          <p:cNvSpPr txBox="1"/>
          <p:nvPr/>
        </p:nvSpPr>
        <p:spPr>
          <a:xfrm>
            <a:off x="2842379" y="6579600"/>
            <a:ext cx="2338222"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FF0000"/>
                </a:solidFill>
                <a:effectLst/>
                <a:uLnTx/>
                <a:uFillTx/>
                <a:latin typeface="Nunito Sans"/>
                <a:ea typeface="+mn-ea"/>
                <a:cs typeface="+mn-cs"/>
              </a:rPr>
              <a:t>Delayed and pushed to next release</a:t>
            </a:r>
          </a:p>
        </p:txBody>
      </p:sp>
      <p:graphicFrame>
        <p:nvGraphicFramePr>
          <p:cNvPr id="7" name="Table 6">
            <a:extLst>
              <a:ext uri="{FF2B5EF4-FFF2-40B4-BE49-F238E27FC236}">
                <a16:creationId xmlns:a16="http://schemas.microsoft.com/office/drawing/2014/main" id="{78668896-EB18-F5F2-3DDF-12CAACCE8E19}"/>
              </a:ext>
            </a:extLst>
          </p:cNvPr>
          <p:cNvGraphicFramePr>
            <a:graphicFrameLocks noGrp="1"/>
          </p:cNvGraphicFramePr>
          <p:nvPr>
            <p:extLst>
              <p:ext uri="{D42A27DB-BD31-4B8C-83A1-F6EECF244321}">
                <p14:modId xmlns:p14="http://schemas.microsoft.com/office/powerpoint/2010/main" val="3374711341"/>
              </p:ext>
            </p:extLst>
          </p:nvPr>
        </p:nvGraphicFramePr>
        <p:xfrm>
          <a:off x="1522489" y="1254241"/>
          <a:ext cx="10114817" cy="2401147"/>
        </p:xfrm>
        <a:graphic>
          <a:graphicData uri="http://schemas.openxmlformats.org/drawingml/2006/table">
            <a:tbl>
              <a:tblPr bandRow="1">
                <a:tableStyleId>{5C22544A-7EE6-4342-B048-85BDC9FD1C3A}</a:tableStyleId>
              </a:tblPr>
              <a:tblGrid>
                <a:gridCol w="1190101">
                  <a:extLst>
                    <a:ext uri="{9D8B030D-6E8A-4147-A177-3AD203B41FA5}">
                      <a16:colId xmlns:a16="http://schemas.microsoft.com/office/drawing/2014/main" val="52491639"/>
                    </a:ext>
                  </a:extLst>
                </a:gridCol>
                <a:gridCol w="2128628">
                  <a:extLst>
                    <a:ext uri="{9D8B030D-6E8A-4147-A177-3AD203B41FA5}">
                      <a16:colId xmlns:a16="http://schemas.microsoft.com/office/drawing/2014/main" val="1881896971"/>
                    </a:ext>
                  </a:extLst>
                </a:gridCol>
                <a:gridCol w="5131089">
                  <a:extLst>
                    <a:ext uri="{9D8B030D-6E8A-4147-A177-3AD203B41FA5}">
                      <a16:colId xmlns:a16="http://schemas.microsoft.com/office/drawing/2014/main" val="3550586688"/>
                    </a:ext>
                  </a:extLst>
                </a:gridCol>
                <a:gridCol w="1664999">
                  <a:extLst>
                    <a:ext uri="{9D8B030D-6E8A-4147-A177-3AD203B41FA5}">
                      <a16:colId xmlns:a16="http://schemas.microsoft.com/office/drawing/2014/main" val="396305623"/>
                    </a:ext>
                  </a:extLst>
                </a:gridCol>
              </a:tblGrid>
              <a:tr h="264195">
                <a:tc>
                  <a:txBody>
                    <a:bodyPr/>
                    <a:lstStyle/>
                    <a:p>
                      <a:pPr algn="ctr" rtl="0" fontAlgn="base">
                        <a:lnSpc>
                          <a:spcPts val="900"/>
                        </a:lnSpc>
                        <a:buNone/>
                      </a:pPr>
                      <a:r>
                        <a:rPr lang="en-IN" sz="1100" b="1" i="0">
                          <a:solidFill>
                            <a:srgbClr val="FFFFFF"/>
                          </a:solidFill>
                          <a:effectLst/>
                          <a:latin typeface="Nunito Sans" pitchFamily="2" charset="0"/>
                        </a:rPr>
                        <a:t>LOB</a:t>
                      </a:r>
                      <a:endParaRPr lang="en-US" b="1" i="0">
                        <a:solidFill>
                          <a:srgbClr val="FFFFFF"/>
                        </a:solidFill>
                        <a:effectLst/>
                      </a:endParaRPr>
                    </a:p>
                  </a:txBody>
                  <a:tcPr marL="62636" marR="62636" marT="31318" marB="31318"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751972"/>
                    </a:solidFill>
                  </a:tcPr>
                </a:tc>
                <a:tc>
                  <a:txBody>
                    <a:bodyPr/>
                    <a:lstStyle/>
                    <a:p>
                      <a:pPr algn="ctr" rtl="0" fontAlgn="base">
                        <a:lnSpc>
                          <a:spcPts val="900"/>
                        </a:lnSpc>
                        <a:buNone/>
                      </a:pPr>
                      <a:r>
                        <a:rPr lang="en-IN" sz="1100" b="1" i="0">
                          <a:solidFill>
                            <a:srgbClr val="FFFFFF"/>
                          </a:solidFill>
                          <a:effectLst/>
                          <a:latin typeface="Nunito Sans" pitchFamily="2" charset="0"/>
                        </a:rPr>
                        <a:t>Initiatives</a:t>
                      </a:r>
                      <a:endParaRPr lang="en-US" b="1" i="0">
                        <a:solidFill>
                          <a:srgbClr val="FFFFFF"/>
                        </a:solidFill>
                        <a:effectLst/>
                      </a:endParaRPr>
                    </a:p>
                  </a:txBody>
                  <a:tcPr marL="62636" marR="62636" marT="31318" marB="31318"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751972"/>
                    </a:solidFill>
                  </a:tcPr>
                </a:tc>
                <a:tc>
                  <a:txBody>
                    <a:bodyPr/>
                    <a:lstStyle/>
                    <a:p>
                      <a:pPr algn="ctr" rtl="0" fontAlgn="base">
                        <a:lnSpc>
                          <a:spcPts val="900"/>
                        </a:lnSpc>
                        <a:buNone/>
                      </a:pPr>
                      <a:r>
                        <a:rPr lang="en-IN" sz="1100" b="1" i="0">
                          <a:solidFill>
                            <a:srgbClr val="FFFFFF"/>
                          </a:solidFill>
                          <a:effectLst/>
                          <a:latin typeface="Nunito Sans" pitchFamily="2" charset="0"/>
                        </a:rPr>
                        <a:t>Value Justification/Realization</a:t>
                      </a:r>
                      <a:endParaRPr lang="en-US" b="1" i="0">
                        <a:solidFill>
                          <a:srgbClr val="FFFFFF"/>
                        </a:solidFill>
                        <a:effectLst/>
                      </a:endParaRPr>
                    </a:p>
                  </a:txBody>
                  <a:tcPr marL="62636" marR="62636" marT="31318" marB="31318"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751972"/>
                    </a:solidFill>
                  </a:tcPr>
                </a:tc>
                <a:tc>
                  <a:txBody>
                    <a:bodyPr/>
                    <a:lstStyle/>
                    <a:p>
                      <a:pPr algn="ctr" rtl="0" fontAlgn="base">
                        <a:lnSpc>
                          <a:spcPts val="900"/>
                        </a:lnSpc>
                        <a:buNone/>
                      </a:pPr>
                      <a:r>
                        <a:rPr lang="en-US" sz="1100" b="1" i="0">
                          <a:solidFill>
                            <a:srgbClr val="FFFFFF"/>
                          </a:solidFill>
                          <a:effectLst/>
                          <a:latin typeface="Nunito Sans" pitchFamily="2" charset="0"/>
                        </a:rPr>
                        <a:t>Go-live Date</a:t>
                      </a:r>
                      <a:endParaRPr lang="en-US" b="1" i="0">
                        <a:solidFill>
                          <a:srgbClr val="FFFFFF"/>
                        </a:solidFill>
                        <a:effectLst/>
                      </a:endParaRPr>
                    </a:p>
                  </a:txBody>
                  <a:tcPr marL="62636" marR="62636" marT="31318" marB="31318"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751972"/>
                    </a:solidFill>
                  </a:tcPr>
                </a:tc>
                <a:extLst>
                  <a:ext uri="{0D108BD9-81ED-4DB2-BD59-A6C34878D82A}">
                    <a16:rowId xmlns:a16="http://schemas.microsoft.com/office/drawing/2014/main" val="2819278623"/>
                  </a:ext>
                </a:extLst>
              </a:tr>
              <a:tr h="959453">
                <a:tc>
                  <a:txBody>
                    <a:bodyPr/>
                    <a:lstStyle/>
                    <a:p>
                      <a:pPr lvl="0" algn="ctr">
                        <a:lnSpc>
                          <a:spcPct val="100000"/>
                        </a:lnSpc>
                        <a:spcBef>
                          <a:spcPts val="0"/>
                        </a:spcBef>
                        <a:spcAft>
                          <a:spcPts val="0"/>
                        </a:spcAft>
                        <a:buNone/>
                      </a:pPr>
                      <a:r>
                        <a:rPr lang="en-US" sz="1200" b="1" i="0" u="none" strike="noStrike" noProof="0">
                          <a:solidFill>
                            <a:srgbClr val="0070C0"/>
                          </a:solidFill>
                          <a:effectLst/>
                          <a:latin typeface="Nunito Sans"/>
                        </a:rPr>
                        <a:t>HR Tech</a:t>
                      </a:r>
                      <a:endParaRPr lang="en-US" sz="1200" b="0" i="0" u="none" strike="noStrike" noProof="0">
                        <a:solidFill>
                          <a:srgbClr val="000000"/>
                        </a:solidFill>
                        <a:effectLst/>
                        <a:latin typeface="Nunito Sans"/>
                      </a:endParaRPr>
                    </a:p>
                  </a:txBody>
                  <a:tcPr marL="62636" marR="62636" marT="31318" marB="31318"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tc>
                  <a:txBody>
                    <a:bodyPr/>
                    <a:lstStyle/>
                    <a:p>
                      <a:pPr lvl="0" algn="l">
                        <a:lnSpc>
                          <a:spcPts val="900"/>
                        </a:lnSpc>
                        <a:buNone/>
                      </a:pPr>
                      <a:r>
                        <a:rPr lang="en-US" sz="1100" b="1" i="0" u="none" strike="noStrike" noProof="0">
                          <a:solidFill>
                            <a:srgbClr val="0070C0"/>
                          </a:solidFill>
                          <a:effectLst/>
                        </a:rPr>
                        <a:t>Life Ka Plan Integration with SuccessFactors</a:t>
                      </a:r>
                      <a:endParaRPr lang="en-US" sz="1100" b="1">
                        <a:solidFill>
                          <a:srgbClr val="0070C0"/>
                        </a:solidFill>
                      </a:endParaRPr>
                    </a:p>
                  </a:txBody>
                  <a:tcPr marL="62636" marR="62636" marT="31318" marB="31318"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tc>
                  <a:txBody>
                    <a:bodyPr/>
                    <a:lstStyle/>
                    <a:p>
                      <a:pPr lvl="0" algn="l">
                        <a:lnSpc>
                          <a:spcPct val="100000"/>
                        </a:lnSpc>
                        <a:spcBef>
                          <a:spcPts val="0"/>
                        </a:spcBef>
                        <a:spcAft>
                          <a:spcPts val="0"/>
                        </a:spcAft>
                        <a:buNone/>
                      </a:pPr>
                      <a:r>
                        <a:rPr lang="en-US" sz="1100" b="0" i="0" u="none" strike="noStrike" noProof="0">
                          <a:solidFill>
                            <a:srgbClr val="000000"/>
                          </a:solidFill>
                          <a:effectLst/>
                        </a:rPr>
                        <a:t>The Life Ka Plan–SuccessFactors integration eliminates manual employee data handling, significantly reducing errors, turnaround time, and operational overhead. By ensuring real‑time, accurate employee master and compensation data, it strengthens benefit eligibility accuracy, compliance, and audit readiness. The solution improves employee experience through timely enrolment and benefit continuity, especially during transfers and role changes. Overall, it enables scalable, governance‑driven HR operations with minimal manual intervention and lower risk to business continuity.</a:t>
                      </a:r>
                      <a:endParaRPr lang="en-US"/>
                    </a:p>
                  </a:txBody>
                  <a:tcPr marL="62636" marR="62636" marT="31318" marB="31318"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tc>
                  <a:txBody>
                    <a:bodyPr/>
                    <a:lstStyle/>
                    <a:p>
                      <a:pPr algn="l" rtl="0" fontAlgn="base">
                        <a:lnSpc>
                          <a:spcPts val="900"/>
                        </a:lnSpc>
                        <a:buNone/>
                      </a:pPr>
                      <a:r>
                        <a:rPr lang="en-US" sz="1100" b="0" i="0" u="none" strike="noStrike">
                          <a:solidFill>
                            <a:srgbClr val="000000"/>
                          </a:solidFill>
                          <a:effectLst/>
                          <a:latin typeface="Arial"/>
                        </a:rPr>
                        <a:t>2 July</a:t>
                      </a:r>
                    </a:p>
                  </a:txBody>
                  <a:tcPr marL="62636" marR="62636" marT="31318" marB="31318"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3503148906"/>
                  </a:ext>
                </a:extLst>
              </a:tr>
              <a:tr h="667445">
                <a:tc>
                  <a:txBody>
                    <a:bodyPr/>
                    <a:lstStyle/>
                    <a:p>
                      <a:pPr lvl="0" algn="ctr">
                        <a:lnSpc>
                          <a:spcPts val="975"/>
                        </a:lnSpc>
                        <a:buNone/>
                      </a:pPr>
                      <a:r>
                        <a:rPr lang="en-US" sz="1200" b="1" i="0">
                          <a:solidFill>
                            <a:srgbClr val="0070C0"/>
                          </a:solidFill>
                          <a:effectLst/>
                          <a:latin typeface="Nunito Sans"/>
                        </a:rPr>
                        <a:t>B2E</a:t>
                      </a:r>
                      <a:endParaRPr lang="en-US"/>
                    </a:p>
                  </a:txBody>
                  <a:tcPr marL="62636" marR="62636" marT="31318" marB="31318"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tc>
                  <a:txBody>
                    <a:bodyPr/>
                    <a:lstStyle/>
                    <a:p>
                      <a:pPr lvl="0" algn="l">
                        <a:lnSpc>
                          <a:spcPts val="900"/>
                        </a:lnSpc>
                        <a:buNone/>
                      </a:pPr>
                      <a:r>
                        <a:rPr lang="en-US" sz="1100" b="0" i="0" u="none" strike="noStrike" noProof="0">
                          <a:solidFill>
                            <a:srgbClr val="0070C0"/>
                          </a:solidFill>
                          <a:effectLst/>
                          <a:latin typeface="Nunito Sans"/>
                        </a:rPr>
                        <a:t>Onboarding CAE CM Crew Pairing API to EIP for AI Flight Pro Integration</a:t>
                      </a:r>
                      <a:endParaRPr lang="en-US" sz="1100">
                        <a:solidFill>
                          <a:srgbClr val="0070C0"/>
                        </a:solidFill>
                        <a:latin typeface="Nunito Sans"/>
                      </a:endParaRPr>
                    </a:p>
                  </a:txBody>
                  <a:tcPr marL="62636" marR="62636" marT="31318" marB="31318"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tc>
                  <a:txBody>
                    <a:bodyPr/>
                    <a:lstStyle/>
                    <a:p>
                      <a:pPr lvl="0" algn="l">
                        <a:lnSpc>
                          <a:spcPct val="100000"/>
                        </a:lnSpc>
                        <a:spcBef>
                          <a:spcPts val="0"/>
                        </a:spcBef>
                        <a:spcAft>
                          <a:spcPts val="0"/>
                        </a:spcAft>
                        <a:buNone/>
                      </a:pPr>
                      <a:r>
                        <a:rPr lang="en-US" sz="1100" b="0" i="0" u="none" strike="noStrike" noProof="0">
                          <a:solidFill>
                            <a:schemeClr val="tx1"/>
                          </a:solidFill>
                          <a:effectLst/>
                          <a:latin typeface="Nunito Sans"/>
                          <a:cs typeface="Segoe UI"/>
                        </a:rPr>
                        <a:t>Delivers a </a:t>
                      </a:r>
                      <a:r>
                        <a:rPr lang="en-US" sz="1100" b="1" i="0" u="none" strike="noStrike" noProof="0">
                          <a:solidFill>
                            <a:schemeClr val="tx1"/>
                          </a:solidFill>
                          <a:effectLst/>
                          <a:latin typeface="Nunito Sans"/>
                          <a:cs typeface="Segoe UI"/>
                        </a:rPr>
                        <a:t>single, real‑time roster view</a:t>
                      </a:r>
                      <a:r>
                        <a:rPr lang="en-US" sz="1100" b="0" i="0" u="none" strike="noStrike" noProof="0">
                          <a:solidFill>
                            <a:schemeClr val="tx1"/>
                          </a:solidFill>
                          <a:effectLst/>
                          <a:latin typeface="Nunito Sans"/>
                          <a:cs typeface="Segoe UI"/>
                        </a:rPr>
                        <a:t> that improves schedule visibility, accuracy, and crew planning while reducing manual effort. Seamless integrations and time‑zone intelligence enhance operational efficiency, compliance, and user confidence at scale.</a:t>
                      </a:r>
                      <a:endParaRPr lang="en-US" sz="1100">
                        <a:solidFill>
                          <a:schemeClr val="tx1"/>
                        </a:solidFill>
                        <a:latin typeface="Nunito Sans"/>
                      </a:endParaRPr>
                    </a:p>
                  </a:txBody>
                  <a:tcPr marL="62636" marR="62636" marT="31318" marB="31318"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tc>
                  <a:txBody>
                    <a:bodyPr/>
                    <a:lstStyle/>
                    <a:p>
                      <a:pPr lvl="0" algn="l">
                        <a:lnSpc>
                          <a:spcPct val="100000"/>
                        </a:lnSpc>
                        <a:spcBef>
                          <a:spcPts val="0"/>
                        </a:spcBef>
                        <a:spcAft>
                          <a:spcPts val="0"/>
                        </a:spcAft>
                        <a:buNone/>
                      </a:pPr>
                      <a:r>
                        <a:rPr lang="en-US" sz="1100" b="0" i="0" u="none" strike="noStrike" noProof="0">
                          <a:solidFill>
                            <a:srgbClr val="000000"/>
                          </a:solidFill>
                          <a:effectLst/>
                          <a:latin typeface="Arial"/>
                          <a:cs typeface="Arial"/>
                        </a:rPr>
                        <a:t>11 June</a:t>
                      </a:r>
                    </a:p>
                  </a:txBody>
                  <a:tcPr marL="62636" marR="62636" marT="31318" marB="31318"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4134609282"/>
                  </a:ext>
                </a:extLst>
              </a:tr>
            </a:tbl>
          </a:graphicData>
        </a:graphic>
      </p:graphicFrame>
    </p:spTree>
    <p:extLst>
      <p:ext uri="{BB962C8B-B14F-4D97-AF65-F5344CB8AC3E}">
        <p14:creationId xmlns:p14="http://schemas.microsoft.com/office/powerpoint/2010/main" val="318489001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A0F932-CC3A-65E5-6830-7AA47CAB289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C58511C-F4F9-1760-10EF-90A69C299E14}"/>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3A41A254-7326-714E-AF55-4C213D6394DE}" type="slidenum">
              <a:rPr kumimoji="0" lang="en-US" sz="1200" b="0" i="0" u="none" strike="noStrike" kern="1200" cap="none" spc="0" normalizeH="0" baseline="0" noProof="0" smtClean="0">
                <a:ln>
                  <a:noFill/>
                </a:ln>
                <a:solidFill>
                  <a:srgbClr val="DA0E28"/>
                </a:solidFill>
                <a:effectLst/>
                <a:uLnTx/>
                <a:uFillTx/>
                <a:latin typeface="Nunito Sans"/>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54</a:t>
            </a:fld>
            <a:endParaRPr kumimoji="0" lang="en-US" sz="1200" b="0" i="0" u="none" strike="noStrike" kern="1200" cap="none" spc="0" normalizeH="0" baseline="0" noProof="0">
              <a:ln>
                <a:noFill/>
              </a:ln>
              <a:solidFill>
                <a:srgbClr val="DA0E28"/>
              </a:solidFill>
              <a:effectLst/>
              <a:uLnTx/>
              <a:uFillTx/>
              <a:latin typeface="Nunito Sans"/>
              <a:ea typeface="+mn-ea"/>
              <a:cs typeface="+mn-cs"/>
            </a:endParaRPr>
          </a:p>
        </p:txBody>
      </p:sp>
      <p:sp>
        <p:nvSpPr>
          <p:cNvPr id="3" name="Rectangle 2">
            <a:extLst>
              <a:ext uri="{FF2B5EF4-FFF2-40B4-BE49-F238E27FC236}">
                <a16:creationId xmlns:a16="http://schemas.microsoft.com/office/drawing/2014/main" id="{30561B7C-0C12-77E9-02CC-F699AC587779}"/>
              </a:ext>
            </a:extLst>
          </p:cNvPr>
          <p:cNvSpPr/>
          <p:nvPr/>
        </p:nvSpPr>
        <p:spPr>
          <a:xfrm>
            <a:off x="303647" y="771094"/>
            <a:ext cx="1170432" cy="42234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400" b="1" i="0" u="none" strike="noStrike" kern="1200" cap="none" spc="0" normalizeH="0" baseline="0" noProof="0">
                <a:ln>
                  <a:noFill/>
                </a:ln>
                <a:solidFill>
                  <a:srgbClr val="FFFFFF"/>
                </a:solidFill>
                <a:effectLst/>
                <a:uLnTx/>
                <a:uFillTx/>
                <a:latin typeface="AirIndia"/>
              </a:rPr>
              <a:t>April ‘</a:t>
            </a:r>
            <a:r>
              <a:rPr lang="en-IN" sz="1400" b="1">
                <a:solidFill>
                  <a:srgbClr val="FFFFFF"/>
                </a:solidFill>
                <a:latin typeface="AirIndia"/>
              </a:rPr>
              <a:t>26</a:t>
            </a:r>
            <a:endParaRPr kumimoji="0" lang="en-US" sz="1400" b="1" i="0" u="none" strike="noStrike" kern="1200" cap="none" spc="0" normalizeH="0" baseline="0" noProof="0">
              <a:ln>
                <a:noFill/>
              </a:ln>
              <a:solidFill>
                <a:srgbClr val="FFFFFF"/>
              </a:solidFill>
              <a:effectLst/>
              <a:uLnTx/>
              <a:uFillTx/>
              <a:latin typeface="AirIndia" panose="04050608020B02020302" charset="0"/>
              <a:ea typeface="+mn-ea"/>
              <a:cs typeface="+mn-cs"/>
            </a:endParaRPr>
          </a:p>
        </p:txBody>
      </p:sp>
      <p:sp>
        <p:nvSpPr>
          <p:cNvPr id="6" name="Title 11">
            <a:extLst>
              <a:ext uri="{FF2B5EF4-FFF2-40B4-BE49-F238E27FC236}">
                <a16:creationId xmlns:a16="http://schemas.microsoft.com/office/drawing/2014/main" id="{91CD8F3B-468C-B80C-D996-73E4BCC39B71}"/>
              </a:ext>
            </a:extLst>
          </p:cNvPr>
          <p:cNvSpPr txBox="1">
            <a:spLocks/>
          </p:cNvSpPr>
          <p:nvPr/>
        </p:nvSpPr>
        <p:spPr>
          <a:xfrm>
            <a:off x="304800" y="269218"/>
            <a:ext cx="9749641" cy="480073"/>
          </a:xfrm>
          <a:prstGeom prst="rect">
            <a:avLst/>
          </a:prstGeom>
        </p:spPr>
        <p:txBody>
          <a:bodyPr lIns="91440" tIns="45720" rIns="91440" bIns="45720" anchor="t">
            <a:noAutofit/>
          </a:bodyPr>
          <a:lstStyle>
            <a:lvl1pPr algn="l" defTabSz="914400" rtl="0" eaLnBrk="1" latinLnBrk="0" hangingPunct="1">
              <a:lnSpc>
                <a:spcPct val="90000"/>
              </a:lnSpc>
              <a:spcBef>
                <a:spcPct val="0"/>
              </a:spcBef>
              <a:buNone/>
              <a:defRPr sz="4400" b="1" i="0" kern="1200">
                <a:solidFill>
                  <a:schemeClr val="tx1"/>
                </a:solidFill>
                <a:latin typeface="AirIndia" pitchFamily="82" charset="77"/>
                <a:ea typeface="+mj-ea"/>
                <a:cs typeface="+mj-cs"/>
              </a:defRPr>
            </a:lvl1pPr>
          </a:lstStyle>
          <a:p>
            <a:pPr>
              <a:defRPr/>
            </a:pPr>
            <a:r>
              <a:rPr kumimoji="0" lang="en-US" sz="1800" b="1" i="0" u="none" strike="noStrike" kern="1200" cap="none" spc="0" normalizeH="0" baseline="0" noProof="0">
                <a:ln>
                  <a:noFill/>
                </a:ln>
                <a:solidFill>
                  <a:srgbClr val="DA0E28"/>
                </a:solidFill>
                <a:effectLst/>
                <a:uLnTx/>
                <a:uFillTx/>
                <a:latin typeface="AirIndia"/>
                <a:ea typeface="+mj-ea"/>
                <a:cs typeface="+mj-cs"/>
              </a:rPr>
              <a:t>Enterprise </a:t>
            </a:r>
            <a:r>
              <a:rPr lang="en-US" sz="1800">
                <a:solidFill>
                  <a:srgbClr val="DA0E28"/>
                </a:solidFill>
                <a:latin typeface="AirIndia"/>
              </a:rPr>
              <a:t>Integration  Automation - FY27</a:t>
            </a:r>
            <a:r>
              <a:rPr kumimoji="0" lang="en-US" sz="1800" b="1" i="0" u="none" strike="noStrike" kern="1200" cap="none" spc="0" normalizeH="0" baseline="0" noProof="0">
                <a:ln>
                  <a:noFill/>
                </a:ln>
                <a:solidFill>
                  <a:srgbClr val="DA0E28"/>
                </a:solidFill>
                <a:effectLst/>
                <a:uLnTx/>
                <a:uFillTx/>
                <a:latin typeface="AirIndia"/>
                <a:ea typeface="+mj-ea"/>
                <a:cs typeface="+mj-cs"/>
              </a:rPr>
              <a:t> Q1  Release </a:t>
            </a:r>
            <a:r>
              <a:rPr lang="en-US" sz="1800">
                <a:solidFill>
                  <a:srgbClr val="DA0E28"/>
                </a:solidFill>
                <a:latin typeface="AirIndia"/>
              </a:rPr>
              <a:t>Plan</a:t>
            </a:r>
            <a:endParaRPr kumimoji="0" lang="en-US" sz="1800" b="0" i="0" u="none" strike="noStrike" kern="1200" cap="none" spc="0" normalizeH="0" baseline="0" noProof="0">
              <a:ln>
                <a:noFill/>
              </a:ln>
              <a:solidFill>
                <a:srgbClr val="DA0E28"/>
              </a:solidFill>
              <a:effectLst/>
              <a:uLnTx/>
              <a:uFillTx/>
              <a:latin typeface="AirIndia"/>
              <a:ea typeface="+mj-ea"/>
              <a:cs typeface="+mj-cs"/>
            </a:endParaRPr>
          </a:p>
        </p:txBody>
      </p:sp>
      <p:graphicFrame>
        <p:nvGraphicFramePr>
          <p:cNvPr id="12" name="Table 11">
            <a:extLst>
              <a:ext uri="{FF2B5EF4-FFF2-40B4-BE49-F238E27FC236}">
                <a16:creationId xmlns:a16="http://schemas.microsoft.com/office/drawing/2014/main" id="{1BB7CCF6-EC5C-8193-6429-162B01C304DD}"/>
              </a:ext>
            </a:extLst>
          </p:cNvPr>
          <p:cNvGraphicFramePr>
            <a:graphicFrameLocks noGrp="1"/>
          </p:cNvGraphicFramePr>
          <p:nvPr/>
        </p:nvGraphicFramePr>
        <p:xfrm>
          <a:off x="1474079" y="773376"/>
          <a:ext cx="10592835" cy="1036320"/>
        </p:xfrm>
        <a:graphic>
          <a:graphicData uri="http://schemas.openxmlformats.org/drawingml/2006/table">
            <a:tbl>
              <a:tblPr firstRow="1" bandRow="1">
                <a:tableStyleId>{5C22544A-7EE6-4342-B048-85BDC9FD1C3A}</a:tableStyleId>
              </a:tblPr>
              <a:tblGrid>
                <a:gridCol w="1737785">
                  <a:extLst>
                    <a:ext uri="{9D8B030D-6E8A-4147-A177-3AD203B41FA5}">
                      <a16:colId xmlns:a16="http://schemas.microsoft.com/office/drawing/2014/main" val="2822350773"/>
                    </a:ext>
                  </a:extLst>
                </a:gridCol>
                <a:gridCol w="1737785">
                  <a:extLst>
                    <a:ext uri="{9D8B030D-6E8A-4147-A177-3AD203B41FA5}">
                      <a16:colId xmlns:a16="http://schemas.microsoft.com/office/drawing/2014/main" val="2669513633"/>
                    </a:ext>
                  </a:extLst>
                </a:gridCol>
                <a:gridCol w="5373583">
                  <a:extLst>
                    <a:ext uri="{9D8B030D-6E8A-4147-A177-3AD203B41FA5}">
                      <a16:colId xmlns:a16="http://schemas.microsoft.com/office/drawing/2014/main" val="99588705"/>
                    </a:ext>
                  </a:extLst>
                </a:gridCol>
                <a:gridCol w="1743682">
                  <a:extLst>
                    <a:ext uri="{9D8B030D-6E8A-4147-A177-3AD203B41FA5}">
                      <a16:colId xmlns:a16="http://schemas.microsoft.com/office/drawing/2014/main" val="1739073323"/>
                    </a:ext>
                  </a:extLst>
                </a:gridCol>
              </a:tblGrid>
              <a:tr h="214726">
                <a:tc>
                  <a:txBody>
                    <a:bodyPr/>
                    <a:lstStyle/>
                    <a:p>
                      <a:pPr marL="0" lvl="0" indent="0" algn="ctr" defTabSz="914400" rtl="0">
                        <a:lnSpc>
                          <a:spcPct val="100000"/>
                        </a:lnSpc>
                        <a:buFont typeface="Arial" panose="020B0604020202020204" pitchFamily="34" charset="0"/>
                        <a:buNone/>
                      </a:pPr>
                      <a:r>
                        <a:rPr lang="en-IN" sz="1100" b="1" kern="1200">
                          <a:solidFill>
                            <a:schemeClr val="bg1"/>
                          </a:solidFill>
                          <a:latin typeface="+mn-lt"/>
                          <a:ea typeface="+mn-ea"/>
                          <a:cs typeface="+mn-cs"/>
                        </a:rPr>
                        <a:t>Initiatives</a:t>
                      </a:r>
                      <a:endParaRPr lang="en-US" sz="1100" b="1"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tc>
                  <a:txBody>
                    <a:bodyPr/>
                    <a:lstStyle/>
                    <a:p>
                      <a:pPr marL="0" lvl="0" indent="0" algn="ctr" defTabSz="914400">
                        <a:lnSpc>
                          <a:spcPct val="100000"/>
                        </a:lnSpc>
                        <a:buNone/>
                      </a:pPr>
                      <a:r>
                        <a:rPr lang="en-IN" sz="1100" b="1" i="0" u="none" strike="noStrike" kern="1200" noProof="0">
                          <a:solidFill>
                            <a:schemeClr val="bg1"/>
                          </a:solidFill>
                          <a:latin typeface="Nunito Sans"/>
                          <a:ea typeface="+mn-ea"/>
                          <a:cs typeface="+mn-cs"/>
                        </a:rPr>
                        <a:t>Programs/Projects</a:t>
                      </a:r>
                      <a:endParaRPr lang="en-US"/>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solidFill>
                      <a:schemeClr val="accent3">
                        <a:lumMod val="90000"/>
                        <a:lumOff val="10000"/>
                      </a:schemeClr>
                    </a:solidFill>
                  </a:tcPr>
                </a:tc>
                <a:tc>
                  <a:txBody>
                    <a:bodyPr/>
                    <a:lstStyle/>
                    <a:p>
                      <a:pPr marL="0" indent="0" algn="ctr" defTabSz="914400" rtl="0" eaLnBrk="1" latinLnBrk="0" hangingPunct="1">
                        <a:buFont typeface="Arial" panose="020B0604020202020204" pitchFamily="34" charset="0"/>
                        <a:buNone/>
                      </a:pPr>
                      <a:r>
                        <a:rPr lang="en-IN" sz="1100" kern="1200">
                          <a:solidFill>
                            <a:schemeClr val="bg1"/>
                          </a:solidFill>
                          <a:latin typeface="+mn-lt"/>
                          <a:ea typeface="+mn-ea"/>
                          <a:cs typeface="+mn-cs"/>
                        </a:rPr>
                        <a:t>Value Justification/Realization</a:t>
                      </a:r>
                      <a:endParaRPr lang="en-US" sz="1100"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tc>
                  <a:txBody>
                    <a:bodyPr/>
                    <a:lstStyle/>
                    <a:p>
                      <a:pPr marL="0" indent="0" algn="ctr" defTabSz="914400" rtl="0" eaLnBrk="1" latinLnBrk="0" hangingPunct="1">
                        <a:buFont typeface="Arial" panose="020B0604020202020204" pitchFamily="34" charset="0"/>
                        <a:buNone/>
                      </a:pPr>
                      <a:r>
                        <a:rPr lang="en-US" sz="1100" kern="1200">
                          <a:solidFill>
                            <a:schemeClr val="bg1"/>
                          </a:solidFill>
                          <a:latin typeface="+mn-lt"/>
                          <a:ea typeface="+mn-ea"/>
                          <a:cs typeface="+mn-cs"/>
                        </a:rPr>
                        <a:t>Go-live Date</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extLst>
                  <a:ext uri="{0D108BD9-81ED-4DB2-BD59-A6C34878D82A}">
                    <a16:rowId xmlns:a16="http://schemas.microsoft.com/office/drawing/2014/main" val="844450115"/>
                  </a:ext>
                </a:extLst>
              </a:tr>
              <a:tr h="157957">
                <a:tc>
                  <a:txBody>
                    <a:bodyPr/>
                    <a:lstStyle/>
                    <a:p>
                      <a:pPr marL="0" lvl="0" indent="0" algn="l" defTabSz="914400" rtl="0" eaLnBrk="1" latinLnBrk="0" hangingPunct="1">
                        <a:lnSpc>
                          <a:spcPct val="100000"/>
                        </a:lnSpc>
                        <a:buFont typeface="Arial" panose="020B0604020202020204" pitchFamily="34" charset="0"/>
                        <a:buNone/>
                      </a:pPr>
                      <a:endParaRPr lang="en-US" sz="1100" b="1" kern="1200">
                        <a:solidFill>
                          <a:srgbClr val="0070C0"/>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lvl="0" indent="0" algn="l" defTabSz="914400">
                        <a:lnSpc>
                          <a:spcPct val="100000"/>
                        </a:lnSpc>
                        <a:buNone/>
                      </a:pPr>
                      <a:endParaRPr lang="en-US" sz="1100" b="1" kern="1200">
                        <a:solidFill>
                          <a:srgbClr val="0070C0"/>
                        </a:solidFill>
                        <a:latin typeface="+mn-lt"/>
                        <a:ea typeface="+mn-ea"/>
                        <a:cs typeface="+mn-cs"/>
                      </a:endParaRP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marL="0" indent="0" algn="l" defTabSz="914400" rtl="0" eaLnBrk="1" latinLnBrk="0" hangingPunct="1">
                        <a:buFont typeface="Arial" panose="020B0604020202020204" pitchFamily="34" charset="0"/>
                        <a:buNone/>
                      </a:pPr>
                      <a:endParaRPr lang="en-US" sz="1100"/>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indent="0" algn="l" rtl="0" eaLnBrk="1" latinLnBrk="0" hangingPunct="1">
                        <a:buFont typeface="Arial" panose="020B0604020202020204" pitchFamily="34" charset="0"/>
                        <a:buNone/>
                      </a:pPr>
                      <a:endParaRPr lang="en-US" sz="1100" b="0" i="0" u="none" strike="noStrike" noProof="0">
                        <a:latin typeface="Arial"/>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443371065"/>
                  </a:ext>
                </a:extLst>
              </a:tr>
              <a:tr h="157957">
                <a:tc>
                  <a:txBody>
                    <a:bodyPr/>
                    <a:lstStyle/>
                    <a:p>
                      <a:pPr marL="0" lvl="0" indent="0" algn="l" defTabSz="914400">
                        <a:lnSpc>
                          <a:spcPct val="100000"/>
                        </a:lnSpc>
                        <a:buNone/>
                      </a:pPr>
                      <a:endParaRPr lang="en-US" sz="1100" b="1" kern="1200">
                        <a:solidFill>
                          <a:srgbClr val="0070C0"/>
                        </a:solidFill>
                        <a:latin typeface="+mn-lt"/>
                        <a:ea typeface="+mn-ea"/>
                        <a:cs typeface="+mn-cs"/>
                      </a:endParaRP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marL="0" lvl="0" indent="0" algn="l" defTabSz="914400">
                        <a:lnSpc>
                          <a:spcPct val="100000"/>
                        </a:lnSpc>
                        <a:buNone/>
                      </a:pPr>
                      <a:endParaRPr lang="en-US" sz="1100" b="1" kern="1200">
                        <a:solidFill>
                          <a:srgbClr val="0070C0"/>
                        </a:solidFill>
                        <a:latin typeface="+mn-lt"/>
                        <a:ea typeface="+mn-ea"/>
                        <a:cs typeface="+mn-cs"/>
                      </a:endParaRP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marL="0" lvl="0" indent="0" algn="l" defTabSz="914400">
                        <a:buNone/>
                      </a:pPr>
                      <a:endParaRPr lang="en-US" sz="1100"/>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marL="0" lvl="0" indent="0" algn="l">
                        <a:buNone/>
                      </a:pPr>
                      <a:endParaRPr lang="en-US" sz="1100" b="0" i="0" u="none" strike="noStrike" noProof="0">
                        <a:latin typeface="Arial"/>
                      </a:endParaRP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375834491"/>
                  </a:ext>
                </a:extLst>
              </a:tr>
              <a:tr h="157957">
                <a:tc>
                  <a:txBody>
                    <a:bodyPr/>
                    <a:lstStyle/>
                    <a:p>
                      <a:pPr marL="0" lvl="0" indent="0" algn="l" defTabSz="914400">
                        <a:lnSpc>
                          <a:spcPct val="100000"/>
                        </a:lnSpc>
                        <a:buNone/>
                      </a:pPr>
                      <a:endParaRPr lang="en-US" sz="1100" b="1" kern="1200">
                        <a:solidFill>
                          <a:srgbClr val="0070C0"/>
                        </a:solidFill>
                        <a:latin typeface="+mn-lt"/>
                        <a:ea typeface="+mn-ea"/>
                        <a:cs typeface="+mn-cs"/>
                      </a:endParaRP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tc>
                  <a:txBody>
                    <a:bodyPr/>
                    <a:lstStyle/>
                    <a:p>
                      <a:pPr marL="0" lvl="0" indent="0" algn="l" defTabSz="914400">
                        <a:lnSpc>
                          <a:spcPct val="100000"/>
                        </a:lnSpc>
                        <a:buNone/>
                      </a:pPr>
                      <a:endParaRPr lang="en-US" sz="1100" b="1" kern="1200">
                        <a:solidFill>
                          <a:srgbClr val="0070C0"/>
                        </a:solidFill>
                        <a:latin typeface="+mn-lt"/>
                        <a:ea typeface="+mn-ea"/>
                        <a:cs typeface="+mn-cs"/>
                      </a:endParaRP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tc>
                  <a:txBody>
                    <a:bodyPr/>
                    <a:lstStyle/>
                    <a:p>
                      <a:pPr marL="0" lvl="0" indent="0" algn="l" defTabSz="914400">
                        <a:buNone/>
                      </a:pPr>
                      <a:endParaRPr lang="en-US" sz="1100"/>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tc>
                  <a:txBody>
                    <a:bodyPr/>
                    <a:lstStyle/>
                    <a:p>
                      <a:pPr marL="0" lvl="0" indent="0" algn="l">
                        <a:buNone/>
                      </a:pPr>
                      <a:endParaRPr lang="en-US" sz="1100" b="0" i="0" u="none" strike="noStrike" noProof="0">
                        <a:latin typeface="Arial"/>
                      </a:endParaRP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extLst>
                  <a:ext uri="{0D108BD9-81ED-4DB2-BD59-A6C34878D82A}">
                    <a16:rowId xmlns:a16="http://schemas.microsoft.com/office/drawing/2014/main" val="3959550173"/>
                  </a:ext>
                </a:extLst>
              </a:tr>
            </a:tbl>
          </a:graphicData>
        </a:graphic>
      </p:graphicFrame>
      <p:sp>
        <p:nvSpPr>
          <p:cNvPr id="4" name="Rectangle 3">
            <a:extLst>
              <a:ext uri="{FF2B5EF4-FFF2-40B4-BE49-F238E27FC236}">
                <a16:creationId xmlns:a16="http://schemas.microsoft.com/office/drawing/2014/main" id="{795B4ADB-0D0D-9B0C-DABC-FECF28B48246}"/>
              </a:ext>
            </a:extLst>
          </p:cNvPr>
          <p:cNvSpPr/>
          <p:nvPr/>
        </p:nvSpPr>
        <p:spPr>
          <a:xfrm rot="5400000">
            <a:off x="8942419" y="6655587"/>
            <a:ext cx="90000" cy="90000"/>
          </a:xfrm>
          <a:prstGeom prst="rect">
            <a:avLst/>
          </a:prstGeom>
          <a:solidFill>
            <a:schemeClr val="bg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9" name="TextBox 8">
            <a:extLst>
              <a:ext uri="{FF2B5EF4-FFF2-40B4-BE49-F238E27FC236}">
                <a16:creationId xmlns:a16="http://schemas.microsoft.com/office/drawing/2014/main" id="{6F827E42-D7BD-353A-56EE-EAE9F009945B}"/>
              </a:ext>
            </a:extLst>
          </p:cNvPr>
          <p:cNvSpPr txBox="1"/>
          <p:nvPr/>
        </p:nvSpPr>
        <p:spPr>
          <a:xfrm>
            <a:off x="8986097" y="6582653"/>
            <a:ext cx="3069090" cy="246221"/>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FFFFFF">
                    <a:lumMod val="49000"/>
                  </a:srgbClr>
                </a:solidFill>
                <a:effectLst/>
                <a:uLnTx/>
                <a:uFillTx/>
                <a:latin typeface="Nunito Sans"/>
                <a:ea typeface="+mn-ea"/>
                <a:cs typeface="+mn-cs"/>
              </a:rPr>
              <a:t>Descoped</a:t>
            </a:r>
          </a:p>
        </p:txBody>
      </p:sp>
      <p:sp>
        <p:nvSpPr>
          <p:cNvPr id="18" name="Rectangle 17">
            <a:extLst>
              <a:ext uri="{FF2B5EF4-FFF2-40B4-BE49-F238E27FC236}">
                <a16:creationId xmlns:a16="http://schemas.microsoft.com/office/drawing/2014/main" id="{9C9E7DAB-E7F2-EC4D-AEBC-F1DCB34430FF}"/>
              </a:ext>
            </a:extLst>
          </p:cNvPr>
          <p:cNvSpPr/>
          <p:nvPr/>
        </p:nvSpPr>
        <p:spPr>
          <a:xfrm>
            <a:off x="1520345" y="6184937"/>
            <a:ext cx="90000" cy="90000"/>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20" name="Rectangle 19">
            <a:extLst>
              <a:ext uri="{FF2B5EF4-FFF2-40B4-BE49-F238E27FC236}">
                <a16:creationId xmlns:a16="http://schemas.microsoft.com/office/drawing/2014/main" id="{26FBFA5F-D480-8E55-E490-C4FF02D006C3}"/>
              </a:ext>
            </a:extLst>
          </p:cNvPr>
          <p:cNvSpPr/>
          <p:nvPr/>
        </p:nvSpPr>
        <p:spPr>
          <a:xfrm>
            <a:off x="1520345" y="6412499"/>
            <a:ext cx="90000" cy="90000"/>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22" name="Rectangle 21">
            <a:extLst>
              <a:ext uri="{FF2B5EF4-FFF2-40B4-BE49-F238E27FC236}">
                <a16:creationId xmlns:a16="http://schemas.microsoft.com/office/drawing/2014/main" id="{1DD5FEA2-9023-E00D-F8F6-BA9375444F79}"/>
              </a:ext>
            </a:extLst>
          </p:cNvPr>
          <p:cNvSpPr/>
          <p:nvPr/>
        </p:nvSpPr>
        <p:spPr>
          <a:xfrm>
            <a:off x="2708836" y="6197637"/>
            <a:ext cx="90000" cy="90000"/>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23" name="Rectangle 22">
            <a:extLst>
              <a:ext uri="{FF2B5EF4-FFF2-40B4-BE49-F238E27FC236}">
                <a16:creationId xmlns:a16="http://schemas.microsoft.com/office/drawing/2014/main" id="{EAF9AB9A-57D8-22D7-E8F9-C38A29A034EF}"/>
              </a:ext>
            </a:extLst>
          </p:cNvPr>
          <p:cNvSpPr/>
          <p:nvPr/>
        </p:nvSpPr>
        <p:spPr>
          <a:xfrm>
            <a:off x="2708836" y="6425199"/>
            <a:ext cx="90000" cy="90000"/>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24" name="TextBox 15">
            <a:extLst>
              <a:ext uri="{FF2B5EF4-FFF2-40B4-BE49-F238E27FC236}">
                <a16:creationId xmlns:a16="http://schemas.microsoft.com/office/drawing/2014/main" id="{9D311473-B507-602F-111C-84C05270757D}"/>
              </a:ext>
            </a:extLst>
          </p:cNvPr>
          <p:cNvSpPr txBox="1"/>
          <p:nvPr/>
        </p:nvSpPr>
        <p:spPr>
          <a:xfrm>
            <a:off x="1577653" y="6128088"/>
            <a:ext cx="857245"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0070C0"/>
                </a:solidFill>
                <a:effectLst/>
                <a:uLnTx/>
                <a:uFillTx/>
                <a:latin typeface="Nunito Sans"/>
                <a:ea typeface="+mn-ea"/>
                <a:cs typeface="+mn-cs"/>
              </a:rPr>
              <a:t>Delivered</a:t>
            </a:r>
            <a:endParaRPr kumimoji="0" lang="en-IN" sz="1000" b="0" i="0" u="none" strike="noStrike" kern="1200" cap="none" spc="0" normalizeH="0" baseline="0" noProof="0">
              <a:ln>
                <a:noFill/>
              </a:ln>
              <a:solidFill>
                <a:srgbClr val="000000"/>
              </a:solidFill>
              <a:effectLst/>
              <a:uLnTx/>
              <a:uFillTx/>
              <a:latin typeface="Nunito Sans"/>
              <a:ea typeface="+mn-ea"/>
              <a:cs typeface="+mn-cs"/>
            </a:endParaRPr>
          </a:p>
        </p:txBody>
      </p:sp>
      <p:sp>
        <p:nvSpPr>
          <p:cNvPr id="25" name="TextBox 18">
            <a:extLst>
              <a:ext uri="{FF2B5EF4-FFF2-40B4-BE49-F238E27FC236}">
                <a16:creationId xmlns:a16="http://schemas.microsoft.com/office/drawing/2014/main" id="{DBEFF024-852B-2DD2-EA5D-ACAFC66BD93F}"/>
              </a:ext>
            </a:extLst>
          </p:cNvPr>
          <p:cNvSpPr txBox="1"/>
          <p:nvPr/>
        </p:nvSpPr>
        <p:spPr>
          <a:xfrm>
            <a:off x="1576055" y="6353047"/>
            <a:ext cx="1032881"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00B050"/>
                </a:solidFill>
                <a:effectLst/>
                <a:uLnTx/>
                <a:uFillTx/>
                <a:latin typeface="Nunito Sans"/>
                <a:ea typeface="+mn-ea"/>
                <a:cs typeface="+mn-cs"/>
              </a:rPr>
              <a:t>Ontrack</a:t>
            </a:r>
            <a:endParaRPr kumimoji="0" lang="en-IN" sz="1000" b="0" i="0" u="none" strike="noStrike" kern="1200" cap="none" spc="0" normalizeH="0" baseline="0" noProof="0">
              <a:ln>
                <a:noFill/>
              </a:ln>
              <a:solidFill>
                <a:srgbClr val="000000"/>
              </a:solidFill>
              <a:effectLst/>
              <a:uLnTx/>
              <a:uFillTx/>
              <a:latin typeface="Nunito Sans"/>
              <a:ea typeface="+mn-ea"/>
              <a:cs typeface="+mn-cs"/>
            </a:endParaRPr>
          </a:p>
        </p:txBody>
      </p:sp>
      <p:sp>
        <p:nvSpPr>
          <p:cNvPr id="26" name="TextBox 20">
            <a:extLst>
              <a:ext uri="{FF2B5EF4-FFF2-40B4-BE49-F238E27FC236}">
                <a16:creationId xmlns:a16="http://schemas.microsoft.com/office/drawing/2014/main" id="{7AD18123-1B30-BC14-8242-48CE37951159}"/>
              </a:ext>
            </a:extLst>
          </p:cNvPr>
          <p:cNvSpPr txBox="1"/>
          <p:nvPr/>
        </p:nvSpPr>
        <p:spPr>
          <a:xfrm>
            <a:off x="2794133" y="6156187"/>
            <a:ext cx="2257628"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FED9A0">
                    <a:lumMod val="75000"/>
                  </a:srgbClr>
                </a:solidFill>
                <a:effectLst/>
                <a:uLnTx/>
                <a:uFillTx/>
                <a:latin typeface="Nunito Sans"/>
                <a:ea typeface="+mn-ea"/>
                <a:cs typeface="+mn-cs"/>
              </a:rPr>
              <a:t>Under delay and can be recovered</a:t>
            </a:r>
            <a:endParaRPr kumimoji="0" lang="en-IN" sz="1000" b="0" i="0" u="none" strike="noStrike" kern="1200" cap="none" spc="0" normalizeH="0" baseline="0" noProof="0">
              <a:ln>
                <a:noFill/>
              </a:ln>
              <a:solidFill>
                <a:srgbClr val="000000"/>
              </a:solidFill>
              <a:effectLst/>
              <a:uLnTx/>
              <a:uFillTx/>
              <a:latin typeface="Nunito Sans"/>
              <a:ea typeface="+mn-ea"/>
              <a:cs typeface="+mn-cs"/>
            </a:endParaRPr>
          </a:p>
        </p:txBody>
      </p:sp>
      <p:sp>
        <p:nvSpPr>
          <p:cNvPr id="27" name="TextBox 22">
            <a:extLst>
              <a:ext uri="{FF2B5EF4-FFF2-40B4-BE49-F238E27FC236}">
                <a16:creationId xmlns:a16="http://schemas.microsoft.com/office/drawing/2014/main" id="{E10478CF-D28C-A535-654F-DA7EFF257F4A}"/>
              </a:ext>
            </a:extLst>
          </p:cNvPr>
          <p:cNvSpPr txBox="1"/>
          <p:nvPr/>
        </p:nvSpPr>
        <p:spPr>
          <a:xfrm>
            <a:off x="2798836" y="6372771"/>
            <a:ext cx="2338222"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FF0000"/>
                </a:solidFill>
                <a:effectLst/>
                <a:uLnTx/>
                <a:uFillTx/>
                <a:latin typeface="Nunito Sans"/>
                <a:ea typeface="+mn-ea"/>
                <a:cs typeface="+mn-cs"/>
              </a:rPr>
              <a:t>Delayed and pushed to next release</a:t>
            </a:r>
          </a:p>
        </p:txBody>
      </p:sp>
      <p:graphicFrame>
        <p:nvGraphicFramePr>
          <p:cNvPr id="5" name="Table 4">
            <a:extLst>
              <a:ext uri="{FF2B5EF4-FFF2-40B4-BE49-F238E27FC236}">
                <a16:creationId xmlns:a16="http://schemas.microsoft.com/office/drawing/2014/main" id="{3CC78BA1-3FD8-6599-F726-3EE1F721523D}"/>
              </a:ext>
            </a:extLst>
          </p:cNvPr>
          <p:cNvGraphicFramePr>
            <a:graphicFrameLocks noGrp="1"/>
          </p:cNvGraphicFramePr>
          <p:nvPr/>
        </p:nvGraphicFramePr>
        <p:xfrm>
          <a:off x="1474079" y="2242947"/>
          <a:ext cx="10592835" cy="1036320"/>
        </p:xfrm>
        <a:graphic>
          <a:graphicData uri="http://schemas.openxmlformats.org/drawingml/2006/table">
            <a:tbl>
              <a:tblPr firstRow="1" bandRow="1">
                <a:tableStyleId>{5C22544A-7EE6-4342-B048-85BDC9FD1C3A}</a:tableStyleId>
              </a:tblPr>
              <a:tblGrid>
                <a:gridCol w="1737785">
                  <a:extLst>
                    <a:ext uri="{9D8B030D-6E8A-4147-A177-3AD203B41FA5}">
                      <a16:colId xmlns:a16="http://schemas.microsoft.com/office/drawing/2014/main" val="2822350773"/>
                    </a:ext>
                  </a:extLst>
                </a:gridCol>
                <a:gridCol w="1737785">
                  <a:extLst>
                    <a:ext uri="{9D8B030D-6E8A-4147-A177-3AD203B41FA5}">
                      <a16:colId xmlns:a16="http://schemas.microsoft.com/office/drawing/2014/main" val="2669513633"/>
                    </a:ext>
                  </a:extLst>
                </a:gridCol>
                <a:gridCol w="5373583">
                  <a:extLst>
                    <a:ext uri="{9D8B030D-6E8A-4147-A177-3AD203B41FA5}">
                      <a16:colId xmlns:a16="http://schemas.microsoft.com/office/drawing/2014/main" val="99588705"/>
                    </a:ext>
                  </a:extLst>
                </a:gridCol>
                <a:gridCol w="1743682">
                  <a:extLst>
                    <a:ext uri="{9D8B030D-6E8A-4147-A177-3AD203B41FA5}">
                      <a16:colId xmlns:a16="http://schemas.microsoft.com/office/drawing/2014/main" val="1739073323"/>
                    </a:ext>
                  </a:extLst>
                </a:gridCol>
              </a:tblGrid>
              <a:tr h="214726">
                <a:tc>
                  <a:txBody>
                    <a:bodyPr/>
                    <a:lstStyle/>
                    <a:p>
                      <a:pPr marL="0" lvl="0" indent="0" algn="ctr" defTabSz="914400" rtl="0">
                        <a:lnSpc>
                          <a:spcPct val="100000"/>
                        </a:lnSpc>
                        <a:buFont typeface="Arial" panose="020B0604020202020204" pitchFamily="34" charset="0"/>
                        <a:buNone/>
                      </a:pPr>
                      <a:r>
                        <a:rPr lang="en-IN" sz="1100" b="1" kern="1200">
                          <a:solidFill>
                            <a:schemeClr val="bg1"/>
                          </a:solidFill>
                          <a:latin typeface="+mn-lt"/>
                          <a:ea typeface="+mn-ea"/>
                          <a:cs typeface="+mn-cs"/>
                        </a:rPr>
                        <a:t>Initiatives</a:t>
                      </a:r>
                      <a:endParaRPr lang="en-US" sz="1100" b="1"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tc>
                  <a:txBody>
                    <a:bodyPr/>
                    <a:lstStyle/>
                    <a:p>
                      <a:pPr marL="0" lvl="0" indent="0" algn="ctr" defTabSz="914400">
                        <a:lnSpc>
                          <a:spcPct val="100000"/>
                        </a:lnSpc>
                        <a:buNone/>
                      </a:pPr>
                      <a:r>
                        <a:rPr lang="en-IN" sz="1100" b="1" i="0" u="none" strike="noStrike" kern="1200" noProof="0">
                          <a:solidFill>
                            <a:schemeClr val="bg1"/>
                          </a:solidFill>
                          <a:latin typeface="Nunito Sans"/>
                          <a:ea typeface="+mn-ea"/>
                          <a:cs typeface="+mn-cs"/>
                        </a:rPr>
                        <a:t>Programs/Projects</a:t>
                      </a:r>
                      <a:endParaRPr lang="en-US"/>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solidFill>
                      <a:schemeClr val="accent3">
                        <a:lumMod val="90000"/>
                        <a:lumOff val="10000"/>
                      </a:schemeClr>
                    </a:solidFill>
                  </a:tcPr>
                </a:tc>
                <a:tc>
                  <a:txBody>
                    <a:bodyPr/>
                    <a:lstStyle/>
                    <a:p>
                      <a:pPr marL="0" indent="0" algn="ctr" defTabSz="914400" rtl="0" eaLnBrk="1" latinLnBrk="0" hangingPunct="1">
                        <a:buFont typeface="Arial" panose="020B0604020202020204" pitchFamily="34" charset="0"/>
                        <a:buNone/>
                      </a:pPr>
                      <a:r>
                        <a:rPr lang="en-IN" sz="1100" kern="1200">
                          <a:solidFill>
                            <a:schemeClr val="bg1"/>
                          </a:solidFill>
                          <a:latin typeface="+mn-lt"/>
                          <a:ea typeface="+mn-ea"/>
                          <a:cs typeface="+mn-cs"/>
                        </a:rPr>
                        <a:t>Value Justification/Realization</a:t>
                      </a:r>
                      <a:endParaRPr lang="en-US" sz="1100"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tc>
                  <a:txBody>
                    <a:bodyPr/>
                    <a:lstStyle/>
                    <a:p>
                      <a:pPr marL="0" indent="0" algn="ctr" defTabSz="914400" rtl="0" eaLnBrk="1" latinLnBrk="0" hangingPunct="1">
                        <a:buFont typeface="Arial" panose="020B0604020202020204" pitchFamily="34" charset="0"/>
                        <a:buNone/>
                      </a:pPr>
                      <a:r>
                        <a:rPr lang="en-US" sz="1100" kern="1200">
                          <a:solidFill>
                            <a:schemeClr val="bg1"/>
                          </a:solidFill>
                          <a:latin typeface="+mn-lt"/>
                          <a:ea typeface="+mn-ea"/>
                          <a:cs typeface="+mn-cs"/>
                        </a:rPr>
                        <a:t>Go-live Date</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extLst>
                  <a:ext uri="{0D108BD9-81ED-4DB2-BD59-A6C34878D82A}">
                    <a16:rowId xmlns:a16="http://schemas.microsoft.com/office/drawing/2014/main" val="844450115"/>
                  </a:ext>
                </a:extLst>
              </a:tr>
              <a:tr h="157957">
                <a:tc>
                  <a:txBody>
                    <a:bodyPr/>
                    <a:lstStyle/>
                    <a:p>
                      <a:pPr marL="0" lvl="0" indent="0" algn="l" defTabSz="914400" rtl="0" eaLnBrk="1" latinLnBrk="0" hangingPunct="1">
                        <a:lnSpc>
                          <a:spcPct val="100000"/>
                        </a:lnSpc>
                        <a:buFont typeface="Arial" panose="020B0604020202020204" pitchFamily="34" charset="0"/>
                        <a:buNone/>
                      </a:pPr>
                      <a:endParaRPr lang="en-US" sz="1100" b="1" kern="1200">
                        <a:solidFill>
                          <a:srgbClr val="0070C0"/>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lvl="0" indent="0" algn="l" defTabSz="914400">
                        <a:lnSpc>
                          <a:spcPct val="100000"/>
                        </a:lnSpc>
                        <a:buNone/>
                      </a:pPr>
                      <a:endParaRPr lang="en-US" sz="1100" b="1" kern="1200">
                        <a:solidFill>
                          <a:srgbClr val="0070C0"/>
                        </a:solidFill>
                        <a:latin typeface="+mn-lt"/>
                        <a:ea typeface="+mn-ea"/>
                        <a:cs typeface="+mn-cs"/>
                      </a:endParaRP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marL="0" indent="0" algn="l" defTabSz="914400" rtl="0" eaLnBrk="1" latinLnBrk="0" hangingPunct="1">
                        <a:buFont typeface="Arial" panose="020B0604020202020204" pitchFamily="34" charset="0"/>
                        <a:buNone/>
                      </a:pPr>
                      <a:endParaRPr lang="en-US" sz="1100"/>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indent="0" algn="l" rtl="0" eaLnBrk="1" latinLnBrk="0" hangingPunct="1">
                        <a:buFont typeface="Arial" panose="020B0604020202020204" pitchFamily="34" charset="0"/>
                        <a:buNone/>
                      </a:pPr>
                      <a:endParaRPr lang="en-US" sz="1100" b="0" i="0" u="none" strike="noStrike" noProof="0">
                        <a:latin typeface="Arial"/>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443371065"/>
                  </a:ext>
                </a:extLst>
              </a:tr>
              <a:tr h="157957">
                <a:tc>
                  <a:txBody>
                    <a:bodyPr/>
                    <a:lstStyle/>
                    <a:p>
                      <a:pPr marL="0" lvl="0" indent="0" algn="l" defTabSz="914400">
                        <a:lnSpc>
                          <a:spcPct val="100000"/>
                        </a:lnSpc>
                        <a:buNone/>
                      </a:pPr>
                      <a:endParaRPr lang="en-US" sz="1100" b="1" kern="1200">
                        <a:solidFill>
                          <a:srgbClr val="0070C0"/>
                        </a:solidFill>
                        <a:latin typeface="+mn-lt"/>
                        <a:ea typeface="+mn-ea"/>
                        <a:cs typeface="+mn-cs"/>
                      </a:endParaRP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marL="0" lvl="0" indent="0" algn="l" defTabSz="914400">
                        <a:lnSpc>
                          <a:spcPct val="100000"/>
                        </a:lnSpc>
                        <a:buNone/>
                      </a:pPr>
                      <a:endParaRPr lang="en-US" sz="1100" b="1" kern="1200">
                        <a:solidFill>
                          <a:srgbClr val="0070C0"/>
                        </a:solidFill>
                        <a:latin typeface="+mn-lt"/>
                        <a:ea typeface="+mn-ea"/>
                        <a:cs typeface="+mn-cs"/>
                      </a:endParaRP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marL="0" lvl="0" indent="0" algn="l" defTabSz="914400">
                        <a:buNone/>
                      </a:pPr>
                      <a:endParaRPr lang="en-US" sz="1100"/>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marL="0" lvl="0" indent="0" algn="l">
                        <a:buNone/>
                      </a:pPr>
                      <a:endParaRPr lang="en-US" sz="1100" b="0" i="0" u="none" strike="noStrike" noProof="0">
                        <a:latin typeface="Arial"/>
                      </a:endParaRP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375834491"/>
                  </a:ext>
                </a:extLst>
              </a:tr>
              <a:tr h="157957">
                <a:tc>
                  <a:txBody>
                    <a:bodyPr/>
                    <a:lstStyle/>
                    <a:p>
                      <a:pPr marL="0" lvl="0" indent="0" algn="l" defTabSz="914400">
                        <a:lnSpc>
                          <a:spcPct val="100000"/>
                        </a:lnSpc>
                        <a:buNone/>
                      </a:pPr>
                      <a:endParaRPr lang="en-US" sz="1100" b="1" kern="1200">
                        <a:solidFill>
                          <a:srgbClr val="0070C0"/>
                        </a:solidFill>
                        <a:latin typeface="+mn-lt"/>
                        <a:ea typeface="+mn-ea"/>
                        <a:cs typeface="+mn-cs"/>
                      </a:endParaRP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tc>
                  <a:txBody>
                    <a:bodyPr/>
                    <a:lstStyle/>
                    <a:p>
                      <a:pPr marL="0" lvl="0" indent="0" algn="l" defTabSz="914400">
                        <a:lnSpc>
                          <a:spcPct val="100000"/>
                        </a:lnSpc>
                        <a:buNone/>
                      </a:pPr>
                      <a:endParaRPr lang="en-US" sz="1100" b="1" kern="1200">
                        <a:solidFill>
                          <a:srgbClr val="0070C0"/>
                        </a:solidFill>
                        <a:latin typeface="+mn-lt"/>
                        <a:ea typeface="+mn-ea"/>
                        <a:cs typeface="+mn-cs"/>
                      </a:endParaRP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tc>
                  <a:txBody>
                    <a:bodyPr/>
                    <a:lstStyle/>
                    <a:p>
                      <a:pPr marL="0" lvl="0" indent="0" algn="l" defTabSz="914400">
                        <a:buNone/>
                      </a:pPr>
                      <a:endParaRPr lang="en-US" sz="1100"/>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tc>
                  <a:txBody>
                    <a:bodyPr/>
                    <a:lstStyle/>
                    <a:p>
                      <a:pPr marL="0" lvl="0" indent="0" algn="l">
                        <a:buNone/>
                      </a:pPr>
                      <a:endParaRPr lang="en-US" sz="1100" b="0" i="0" u="none" strike="noStrike" noProof="0">
                        <a:latin typeface="Arial"/>
                      </a:endParaRP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extLst>
                  <a:ext uri="{0D108BD9-81ED-4DB2-BD59-A6C34878D82A}">
                    <a16:rowId xmlns:a16="http://schemas.microsoft.com/office/drawing/2014/main" val="3959550173"/>
                  </a:ext>
                </a:extLst>
              </a:tr>
            </a:tbl>
          </a:graphicData>
        </a:graphic>
      </p:graphicFrame>
      <p:graphicFrame>
        <p:nvGraphicFramePr>
          <p:cNvPr id="7" name="Table 6">
            <a:extLst>
              <a:ext uri="{FF2B5EF4-FFF2-40B4-BE49-F238E27FC236}">
                <a16:creationId xmlns:a16="http://schemas.microsoft.com/office/drawing/2014/main" id="{A580F963-991E-517A-9319-6B35C1211D39}"/>
              </a:ext>
            </a:extLst>
          </p:cNvPr>
          <p:cNvGraphicFramePr>
            <a:graphicFrameLocks noGrp="1"/>
          </p:cNvGraphicFramePr>
          <p:nvPr>
            <p:extLst>
              <p:ext uri="{D42A27DB-BD31-4B8C-83A1-F6EECF244321}">
                <p14:modId xmlns:p14="http://schemas.microsoft.com/office/powerpoint/2010/main" val="1908399482"/>
              </p:ext>
            </p:extLst>
          </p:nvPr>
        </p:nvGraphicFramePr>
        <p:xfrm>
          <a:off x="1472374" y="4013908"/>
          <a:ext cx="10592835" cy="1371600"/>
        </p:xfrm>
        <a:graphic>
          <a:graphicData uri="http://schemas.openxmlformats.org/drawingml/2006/table">
            <a:tbl>
              <a:tblPr firstRow="1" bandRow="1">
                <a:tableStyleId>{5C22544A-7EE6-4342-B048-85BDC9FD1C3A}</a:tableStyleId>
              </a:tblPr>
              <a:tblGrid>
                <a:gridCol w="1737785">
                  <a:extLst>
                    <a:ext uri="{9D8B030D-6E8A-4147-A177-3AD203B41FA5}">
                      <a16:colId xmlns:a16="http://schemas.microsoft.com/office/drawing/2014/main" val="2822350773"/>
                    </a:ext>
                  </a:extLst>
                </a:gridCol>
                <a:gridCol w="1737785">
                  <a:extLst>
                    <a:ext uri="{9D8B030D-6E8A-4147-A177-3AD203B41FA5}">
                      <a16:colId xmlns:a16="http://schemas.microsoft.com/office/drawing/2014/main" val="2669513633"/>
                    </a:ext>
                  </a:extLst>
                </a:gridCol>
                <a:gridCol w="5373583">
                  <a:extLst>
                    <a:ext uri="{9D8B030D-6E8A-4147-A177-3AD203B41FA5}">
                      <a16:colId xmlns:a16="http://schemas.microsoft.com/office/drawing/2014/main" val="99588705"/>
                    </a:ext>
                  </a:extLst>
                </a:gridCol>
                <a:gridCol w="1743682">
                  <a:extLst>
                    <a:ext uri="{9D8B030D-6E8A-4147-A177-3AD203B41FA5}">
                      <a16:colId xmlns:a16="http://schemas.microsoft.com/office/drawing/2014/main" val="1739073323"/>
                    </a:ext>
                  </a:extLst>
                </a:gridCol>
              </a:tblGrid>
              <a:tr h="214726">
                <a:tc>
                  <a:txBody>
                    <a:bodyPr/>
                    <a:lstStyle/>
                    <a:p>
                      <a:pPr marL="0" lvl="0" indent="0" algn="ctr" defTabSz="914400" rtl="0">
                        <a:lnSpc>
                          <a:spcPct val="100000"/>
                        </a:lnSpc>
                        <a:buFont typeface="Arial" panose="020B0604020202020204" pitchFamily="34" charset="0"/>
                        <a:buNone/>
                      </a:pPr>
                      <a:r>
                        <a:rPr lang="en-IN" sz="1100" b="1" kern="1200">
                          <a:solidFill>
                            <a:schemeClr val="bg1"/>
                          </a:solidFill>
                          <a:latin typeface="+mn-lt"/>
                          <a:ea typeface="+mn-ea"/>
                          <a:cs typeface="+mn-cs"/>
                        </a:rPr>
                        <a:t>Initiatives</a:t>
                      </a:r>
                      <a:endParaRPr lang="en-US" sz="1100" b="1"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tc>
                  <a:txBody>
                    <a:bodyPr/>
                    <a:lstStyle/>
                    <a:p>
                      <a:pPr marL="0" lvl="0" indent="0" algn="ctr" defTabSz="914400">
                        <a:lnSpc>
                          <a:spcPct val="100000"/>
                        </a:lnSpc>
                        <a:buNone/>
                      </a:pPr>
                      <a:r>
                        <a:rPr lang="en-IN" sz="1100" b="1" i="0" u="none" strike="noStrike" kern="1200" noProof="0">
                          <a:solidFill>
                            <a:schemeClr val="bg1"/>
                          </a:solidFill>
                          <a:latin typeface="Nunito Sans"/>
                          <a:ea typeface="+mn-ea"/>
                          <a:cs typeface="+mn-cs"/>
                        </a:rPr>
                        <a:t>Programs/Projects</a:t>
                      </a:r>
                      <a:endParaRPr lang="en-US"/>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solidFill>
                      <a:schemeClr val="accent3">
                        <a:lumMod val="90000"/>
                        <a:lumOff val="10000"/>
                      </a:schemeClr>
                    </a:solidFill>
                  </a:tcPr>
                </a:tc>
                <a:tc>
                  <a:txBody>
                    <a:bodyPr/>
                    <a:lstStyle/>
                    <a:p>
                      <a:pPr marL="0" indent="0" algn="ctr" defTabSz="914400" rtl="0" eaLnBrk="1" latinLnBrk="0" hangingPunct="1">
                        <a:buFont typeface="Arial" panose="020B0604020202020204" pitchFamily="34" charset="0"/>
                        <a:buNone/>
                      </a:pPr>
                      <a:r>
                        <a:rPr lang="en-IN" sz="1100" kern="1200">
                          <a:solidFill>
                            <a:schemeClr val="bg1"/>
                          </a:solidFill>
                          <a:latin typeface="+mn-lt"/>
                          <a:ea typeface="+mn-ea"/>
                          <a:cs typeface="+mn-cs"/>
                        </a:rPr>
                        <a:t>Value Justification/Realization</a:t>
                      </a:r>
                      <a:endParaRPr lang="en-US" sz="1100"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tc>
                  <a:txBody>
                    <a:bodyPr/>
                    <a:lstStyle/>
                    <a:p>
                      <a:pPr marL="0" indent="0" algn="ctr" defTabSz="914400" rtl="0" eaLnBrk="1" latinLnBrk="0" hangingPunct="1">
                        <a:buFont typeface="Arial" panose="020B0604020202020204" pitchFamily="34" charset="0"/>
                        <a:buNone/>
                      </a:pPr>
                      <a:r>
                        <a:rPr lang="en-US" sz="1100" kern="1200">
                          <a:solidFill>
                            <a:schemeClr val="bg1"/>
                          </a:solidFill>
                          <a:latin typeface="+mn-lt"/>
                          <a:ea typeface="+mn-ea"/>
                          <a:cs typeface="+mn-cs"/>
                        </a:rPr>
                        <a:t>Go-live Date</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extLst>
                  <a:ext uri="{0D108BD9-81ED-4DB2-BD59-A6C34878D82A}">
                    <a16:rowId xmlns:a16="http://schemas.microsoft.com/office/drawing/2014/main" val="844450115"/>
                  </a:ext>
                </a:extLst>
              </a:tr>
              <a:tr h="157957">
                <a:tc>
                  <a:txBody>
                    <a:bodyPr/>
                    <a:lstStyle/>
                    <a:p>
                      <a:pPr marL="0" lvl="0" indent="0" algn="l" rtl="0" eaLnBrk="1" latinLnBrk="0" hangingPunct="1">
                        <a:lnSpc>
                          <a:spcPct val="100000"/>
                        </a:lnSpc>
                        <a:buFont typeface="Arial" panose="020B0604020202020204" pitchFamily="34" charset="0"/>
                        <a:buNone/>
                      </a:pPr>
                      <a:r>
                        <a:rPr lang="en-US" sz="1100" b="1" kern="1200">
                          <a:solidFill>
                            <a:srgbClr val="00B050"/>
                          </a:solidFill>
                          <a:latin typeface="+mn-lt"/>
                          <a:ea typeface="+mn-ea"/>
                          <a:cs typeface="+mn-cs"/>
                        </a:rPr>
                        <a:t>HAM - Phase 1</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lvl="0" indent="0" algn="l">
                        <a:lnSpc>
                          <a:spcPct val="100000"/>
                        </a:lnSpc>
                        <a:buNone/>
                      </a:pPr>
                      <a:r>
                        <a:rPr lang="en-US" sz="1100" b="1" kern="1200">
                          <a:solidFill>
                            <a:srgbClr val="00B050"/>
                          </a:solidFill>
                          <a:latin typeface="+mn-lt"/>
                          <a:ea typeface="+mn-ea"/>
                          <a:cs typeface="+mn-cs"/>
                        </a:rPr>
                        <a:t>Hardware asset management system</a:t>
                      </a: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lvl="0" algn="l">
                        <a:lnSpc>
                          <a:spcPct val="100000"/>
                        </a:lnSpc>
                        <a:spcBef>
                          <a:spcPts val="0"/>
                        </a:spcBef>
                        <a:spcAft>
                          <a:spcPts val="0"/>
                        </a:spcAft>
                        <a:buNone/>
                      </a:pPr>
                      <a:r>
                        <a:rPr lang="en-US" sz="1100" b="0" i="0" u="none" strike="noStrike" noProof="0">
                          <a:latin typeface="Nunito Sans"/>
                        </a:rPr>
                        <a:t>The custom HAM solution replaces ServiceNow, eliminating licensing costs while automating asset lifecycle processes and integrating with SAP and HRMS to ensure audit compliance and improved asset visibility.</a:t>
                      </a:r>
                      <a:endParaRPr lang="en-US"/>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indent="0" algn="l" rtl="0" eaLnBrk="1" latinLnBrk="0" hangingPunct="1">
                        <a:buFont typeface="Arial" panose="020B0604020202020204" pitchFamily="34" charset="0"/>
                        <a:buNone/>
                      </a:pPr>
                      <a:r>
                        <a:rPr lang="en-US" sz="1100" b="0" i="0" u="none" strike="noStrike" noProof="0">
                          <a:latin typeface="Arial"/>
                        </a:rPr>
                        <a:t>25 June 2026</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443371065"/>
                  </a:ext>
                </a:extLst>
              </a:tr>
              <a:tr h="157957">
                <a:tc>
                  <a:txBody>
                    <a:bodyPr/>
                    <a:lstStyle/>
                    <a:p>
                      <a:pPr marL="0" lvl="0" indent="0" algn="l" defTabSz="914400">
                        <a:lnSpc>
                          <a:spcPct val="100000"/>
                        </a:lnSpc>
                        <a:buNone/>
                      </a:pPr>
                      <a:endParaRPr lang="en-US" sz="1100" b="1" kern="1200">
                        <a:solidFill>
                          <a:srgbClr val="0070C0"/>
                        </a:solidFill>
                        <a:latin typeface="+mn-lt"/>
                        <a:ea typeface="+mn-ea"/>
                        <a:cs typeface="+mn-cs"/>
                      </a:endParaRP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marL="0" lvl="0" indent="0" algn="l" defTabSz="914400">
                        <a:lnSpc>
                          <a:spcPct val="100000"/>
                        </a:lnSpc>
                        <a:buNone/>
                      </a:pPr>
                      <a:endParaRPr lang="en-US" sz="1100" b="1" kern="1200">
                        <a:solidFill>
                          <a:srgbClr val="0070C0"/>
                        </a:solidFill>
                        <a:latin typeface="+mn-lt"/>
                        <a:ea typeface="+mn-ea"/>
                        <a:cs typeface="+mn-cs"/>
                      </a:endParaRP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marL="0" lvl="0" indent="0" algn="l" defTabSz="914400">
                        <a:buNone/>
                      </a:pPr>
                      <a:endParaRPr lang="en-US" sz="1100"/>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marL="0" lvl="0" indent="0" algn="l">
                        <a:buNone/>
                      </a:pPr>
                      <a:endParaRPr lang="en-US" sz="1100" b="0" i="0" u="none" strike="noStrike" noProof="0">
                        <a:latin typeface="Arial"/>
                      </a:endParaRP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375834491"/>
                  </a:ext>
                </a:extLst>
              </a:tr>
              <a:tr h="157957">
                <a:tc>
                  <a:txBody>
                    <a:bodyPr/>
                    <a:lstStyle/>
                    <a:p>
                      <a:pPr marL="0" lvl="0" indent="0" algn="l" defTabSz="914400">
                        <a:lnSpc>
                          <a:spcPct val="100000"/>
                        </a:lnSpc>
                        <a:buNone/>
                      </a:pPr>
                      <a:endParaRPr lang="en-US" sz="1100" b="1" kern="1200">
                        <a:solidFill>
                          <a:srgbClr val="0070C0"/>
                        </a:solidFill>
                        <a:latin typeface="+mn-lt"/>
                        <a:ea typeface="+mn-ea"/>
                        <a:cs typeface="+mn-cs"/>
                      </a:endParaRP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tc>
                  <a:txBody>
                    <a:bodyPr/>
                    <a:lstStyle/>
                    <a:p>
                      <a:pPr marL="0" lvl="0" indent="0" algn="l" defTabSz="914400">
                        <a:lnSpc>
                          <a:spcPct val="100000"/>
                        </a:lnSpc>
                        <a:buNone/>
                      </a:pPr>
                      <a:endParaRPr lang="en-US" sz="1100" b="1" kern="1200">
                        <a:solidFill>
                          <a:srgbClr val="0070C0"/>
                        </a:solidFill>
                        <a:latin typeface="+mn-lt"/>
                        <a:ea typeface="+mn-ea"/>
                        <a:cs typeface="+mn-cs"/>
                      </a:endParaRP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tc>
                  <a:txBody>
                    <a:bodyPr/>
                    <a:lstStyle/>
                    <a:p>
                      <a:pPr marL="0" lvl="0" indent="0" algn="l" defTabSz="914400">
                        <a:buNone/>
                      </a:pPr>
                      <a:endParaRPr lang="en-US" sz="1100"/>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tc>
                  <a:txBody>
                    <a:bodyPr/>
                    <a:lstStyle/>
                    <a:p>
                      <a:pPr marL="0" lvl="0" indent="0" algn="l">
                        <a:buNone/>
                      </a:pPr>
                      <a:endParaRPr lang="en-US" sz="1100" b="0" i="0" u="none" strike="noStrike" noProof="0">
                        <a:latin typeface="Arial"/>
                      </a:endParaRP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extLst>
                  <a:ext uri="{0D108BD9-81ED-4DB2-BD59-A6C34878D82A}">
                    <a16:rowId xmlns:a16="http://schemas.microsoft.com/office/drawing/2014/main" val="3959550173"/>
                  </a:ext>
                </a:extLst>
              </a:tr>
            </a:tbl>
          </a:graphicData>
        </a:graphic>
      </p:graphicFrame>
      <p:sp>
        <p:nvSpPr>
          <p:cNvPr id="8" name="Rectangle 7">
            <a:extLst>
              <a:ext uri="{FF2B5EF4-FFF2-40B4-BE49-F238E27FC236}">
                <a16:creationId xmlns:a16="http://schemas.microsoft.com/office/drawing/2014/main" id="{DF25792C-6A97-90A9-A041-12E6CD54ECBE}"/>
              </a:ext>
            </a:extLst>
          </p:cNvPr>
          <p:cNvSpPr/>
          <p:nvPr/>
        </p:nvSpPr>
        <p:spPr>
          <a:xfrm>
            <a:off x="303647" y="2240665"/>
            <a:ext cx="1170432" cy="42234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defRPr/>
            </a:pPr>
            <a:r>
              <a:rPr lang="en-IN" sz="1400" b="1">
                <a:solidFill>
                  <a:srgbClr val="FFFFFF"/>
                </a:solidFill>
                <a:latin typeface="AirIndia"/>
              </a:rPr>
              <a:t>May </a:t>
            </a:r>
            <a:r>
              <a:rPr kumimoji="0" lang="en-IN" sz="1400" b="1" i="0" u="none" strike="noStrike" kern="1200" cap="none" spc="0" normalizeH="0" baseline="0" noProof="0">
                <a:ln>
                  <a:noFill/>
                </a:ln>
                <a:solidFill>
                  <a:srgbClr val="FFFFFF"/>
                </a:solidFill>
                <a:effectLst/>
                <a:uLnTx/>
                <a:uFillTx/>
                <a:latin typeface="AirIndia"/>
              </a:rPr>
              <a:t>‘</a:t>
            </a:r>
            <a:r>
              <a:rPr lang="en-IN" sz="1400" b="1">
                <a:solidFill>
                  <a:srgbClr val="FFFFFF"/>
                </a:solidFill>
                <a:latin typeface="AirIndia"/>
              </a:rPr>
              <a:t>26</a:t>
            </a:r>
            <a:endParaRPr kumimoji="0" lang="en-US" sz="1400" b="1" i="0" u="none" strike="noStrike" kern="1200" cap="none" spc="0" normalizeH="0" baseline="0" noProof="0">
              <a:ln>
                <a:noFill/>
              </a:ln>
              <a:solidFill>
                <a:srgbClr val="FFFFFF"/>
              </a:solidFill>
              <a:effectLst/>
              <a:uLnTx/>
              <a:uFillTx/>
              <a:latin typeface="AirIndia" panose="04050608020B02020302" charset="0"/>
              <a:ea typeface="+mn-ea"/>
              <a:cs typeface="+mn-cs"/>
            </a:endParaRPr>
          </a:p>
        </p:txBody>
      </p:sp>
      <p:sp>
        <p:nvSpPr>
          <p:cNvPr id="10" name="Rectangle 9">
            <a:extLst>
              <a:ext uri="{FF2B5EF4-FFF2-40B4-BE49-F238E27FC236}">
                <a16:creationId xmlns:a16="http://schemas.microsoft.com/office/drawing/2014/main" id="{0C83B13D-3375-3953-BB9F-C0893F1E858A}"/>
              </a:ext>
            </a:extLst>
          </p:cNvPr>
          <p:cNvSpPr/>
          <p:nvPr/>
        </p:nvSpPr>
        <p:spPr>
          <a:xfrm>
            <a:off x="303646" y="3993265"/>
            <a:ext cx="1170432" cy="42234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400" b="1">
                <a:solidFill>
                  <a:srgbClr val="FFFFFF"/>
                </a:solidFill>
                <a:latin typeface="AirIndia"/>
              </a:rPr>
              <a:t>June</a:t>
            </a:r>
            <a:r>
              <a:rPr kumimoji="0" lang="en-IN" sz="1400" b="1" i="0" u="none" strike="noStrike" kern="1200" cap="none" spc="0" normalizeH="0" baseline="0" noProof="0">
                <a:ln>
                  <a:noFill/>
                </a:ln>
                <a:solidFill>
                  <a:srgbClr val="FFFFFF"/>
                </a:solidFill>
                <a:effectLst/>
                <a:uLnTx/>
                <a:uFillTx/>
                <a:latin typeface="AirIndia"/>
              </a:rPr>
              <a:t> ‘</a:t>
            </a:r>
            <a:r>
              <a:rPr lang="en-IN" sz="1400" b="1">
                <a:solidFill>
                  <a:srgbClr val="FFFFFF"/>
                </a:solidFill>
                <a:latin typeface="AirIndia"/>
              </a:rPr>
              <a:t>26</a:t>
            </a:r>
            <a:endParaRPr kumimoji="0" lang="en-US" sz="1400" b="1" i="0" u="none" strike="noStrike" kern="1200" cap="none" spc="0" normalizeH="0" baseline="0" noProof="0">
              <a:ln>
                <a:noFill/>
              </a:ln>
              <a:solidFill>
                <a:srgbClr val="FFFFFF"/>
              </a:solidFill>
              <a:effectLst/>
              <a:uLnTx/>
              <a:uFillTx/>
              <a:latin typeface="AirIndia" panose="04050608020B02020302" charset="0"/>
              <a:ea typeface="+mn-ea"/>
              <a:cs typeface="+mn-cs"/>
            </a:endParaRPr>
          </a:p>
        </p:txBody>
      </p:sp>
      <p:sp>
        <p:nvSpPr>
          <p:cNvPr id="11" name="TextBox 10">
            <a:extLst>
              <a:ext uri="{FF2B5EF4-FFF2-40B4-BE49-F238E27FC236}">
                <a16:creationId xmlns:a16="http://schemas.microsoft.com/office/drawing/2014/main" id="{D4F4FABB-9A55-EFCA-DBAC-14FF7D5FC07B}"/>
              </a:ext>
            </a:extLst>
          </p:cNvPr>
          <p:cNvSpPr txBox="1"/>
          <p:nvPr/>
        </p:nvSpPr>
        <p:spPr>
          <a:xfrm>
            <a:off x="3419380" y="1286033"/>
            <a:ext cx="468895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No Plan Initiatives</a:t>
            </a:r>
          </a:p>
        </p:txBody>
      </p:sp>
      <p:sp>
        <p:nvSpPr>
          <p:cNvPr id="13" name="TextBox 12">
            <a:extLst>
              <a:ext uri="{FF2B5EF4-FFF2-40B4-BE49-F238E27FC236}">
                <a16:creationId xmlns:a16="http://schemas.microsoft.com/office/drawing/2014/main" id="{676288EF-3F0B-E70D-0C5B-F755D5250CCD}"/>
              </a:ext>
            </a:extLst>
          </p:cNvPr>
          <p:cNvSpPr txBox="1"/>
          <p:nvPr/>
        </p:nvSpPr>
        <p:spPr>
          <a:xfrm>
            <a:off x="3419380" y="2755604"/>
            <a:ext cx="468895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No Plan Initiatives</a:t>
            </a:r>
          </a:p>
        </p:txBody>
      </p:sp>
    </p:spTree>
    <p:extLst>
      <p:ext uri="{BB962C8B-B14F-4D97-AF65-F5344CB8AC3E}">
        <p14:creationId xmlns:p14="http://schemas.microsoft.com/office/powerpoint/2010/main" val="56804876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F66BD3-BA3C-4B88-3ECD-49D200D744BC}"/>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DCFEAB0-8869-A84D-FC17-E6D1802B8FF8}"/>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3A41A254-7326-714E-AF55-4C213D6394DE}" type="slidenum">
              <a:rPr kumimoji="0" lang="en-US" sz="1200" b="0" i="0" u="none" strike="noStrike" kern="1200" cap="none" spc="0" normalizeH="0" baseline="0" noProof="0" smtClean="0">
                <a:ln>
                  <a:noFill/>
                </a:ln>
                <a:solidFill>
                  <a:srgbClr val="DA0E28"/>
                </a:solidFill>
                <a:effectLst/>
                <a:uLnTx/>
                <a:uFillTx/>
                <a:latin typeface="Nunito Sans"/>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55</a:t>
            </a:fld>
            <a:endParaRPr kumimoji="0" lang="en-US" sz="1200" b="0" i="0" u="none" strike="noStrike" kern="1200" cap="none" spc="0" normalizeH="0" baseline="0" noProof="0">
              <a:ln>
                <a:noFill/>
              </a:ln>
              <a:solidFill>
                <a:srgbClr val="DA0E28"/>
              </a:solidFill>
              <a:effectLst/>
              <a:uLnTx/>
              <a:uFillTx/>
              <a:latin typeface="Nunito Sans"/>
              <a:ea typeface="+mn-ea"/>
              <a:cs typeface="+mn-cs"/>
            </a:endParaRPr>
          </a:p>
        </p:txBody>
      </p:sp>
      <p:sp>
        <p:nvSpPr>
          <p:cNvPr id="3" name="Rectangle 2">
            <a:extLst>
              <a:ext uri="{FF2B5EF4-FFF2-40B4-BE49-F238E27FC236}">
                <a16:creationId xmlns:a16="http://schemas.microsoft.com/office/drawing/2014/main" id="{CF9B6D39-25DC-619D-329E-F07B152758A0}"/>
              </a:ext>
            </a:extLst>
          </p:cNvPr>
          <p:cNvSpPr/>
          <p:nvPr/>
        </p:nvSpPr>
        <p:spPr>
          <a:xfrm>
            <a:off x="281235" y="771094"/>
            <a:ext cx="1170432" cy="42234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400" b="1" i="0" u="none" strike="noStrike" kern="1200" cap="none" spc="0" normalizeH="0" baseline="0" noProof="0">
                <a:ln>
                  <a:noFill/>
                </a:ln>
                <a:solidFill>
                  <a:srgbClr val="FFFFFF"/>
                </a:solidFill>
                <a:effectLst/>
                <a:uLnTx/>
                <a:uFillTx/>
                <a:latin typeface="AirIndia"/>
              </a:rPr>
              <a:t>April ‘</a:t>
            </a:r>
            <a:r>
              <a:rPr lang="en-IN" sz="1400" b="1">
                <a:solidFill>
                  <a:srgbClr val="FFFFFF"/>
                </a:solidFill>
                <a:latin typeface="AirIndia"/>
              </a:rPr>
              <a:t>26</a:t>
            </a:r>
            <a:endParaRPr kumimoji="0" lang="en-US" sz="1400" b="1" i="0" u="none" strike="noStrike" kern="1200" cap="none" spc="0" normalizeH="0" baseline="0" noProof="0">
              <a:ln>
                <a:noFill/>
              </a:ln>
              <a:solidFill>
                <a:srgbClr val="FFFFFF"/>
              </a:solidFill>
              <a:effectLst/>
              <a:uLnTx/>
              <a:uFillTx/>
              <a:latin typeface="AirIndia" panose="04050608020B02020302" charset="0"/>
              <a:ea typeface="+mn-ea"/>
              <a:cs typeface="+mn-cs"/>
            </a:endParaRPr>
          </a:p>
        </p:txBody>
      </p:sp>
      <p:sp>
        <p:nvSpPr>
          <p:cNvPr id="6" name="Title 11">
            <a:extLst>
              <a:ext uri="{FF2B5EF4-FFF2-40B4-BE49-F238E27FC236}">
                <a16:creationId xmlns:a16="http://schemas.microsoft.com/office/drawing/2014/main" id="{1FFEEC7D-7929-6AE3-B30A-BC89F3B21F59}"/>
              </a:ext>
            </a:extLst>
          </p:cNvPr>
          <p:cNvSpPr txBox="1">
            <a:spLocks/>
          </p:cNvSpPr>
          <p:nvPr/>
        </p:nvSpPr>
        <p:spPr>
          <a:xfrm>
            <a:off x="304800" y="269218"/>
            <a:ext cx="9749641" cy="480073"/>
          </a:xfrm>
          <a:prstGeom prst="rect">
            <a:avLst/>
          </a:prstGeom>
        </p:spPr>
        <p:txBody>
          <a:bodyPr lIns="91440" tIns="45720" rIns="91440" bIns="45720" anchor="t">
            <a:noAutofit/>
          </a:bodyPr>
          <a:lstStyle>
            <a:lvl1pPr algn="l" defTabSz="914400" rtl="0" eaLnBrk="1" latinLnBrk="0" hangingPunct="1">
              <a:lnSpc>
                <a:spcPct val="90000"/>
              </a:lnSpc>
              <a:spcBef>
                <a:spcPct val="0"/>
              </a:spcBef>
              <a:buNone/>
              <a:defRPr sz="4400" b="1" i="0" kern="1200">
                <a:solidFill>
                  <a:schemeClr val="tx1"/>
                </a:solidFill>
                <a:latin typeface="AirIndia" pitchFamily="82" charset="77"/>
                <a:ea typeface="+mj-ea"/>
                <a:cs typeface="+mj-cs"/>
              </a:defRPr>
            </a:lvl1pPr>
          </a:lstStyle>
          <a:p>
            <a:pPr>
              <a:defRPr/>
            </a:pPr>
            <a:r>
              <a:rPr lang="en-US" sz="1800">
                <a:solidFill>
                  <a:srgbClr val="DA0E28"/>
                </a:solidFill>
                <a:latin typeface="AirIndia"/>
              </a:rPr>
              <a:t>ServiceNow </a:t>
            </a:r>
            <a:r>
              <a:rPr kumimoji="0" lang="en-US" sz="1800" b="1" i="0" u="none" strike="noStrike" kern="1200" cap="none" spc="0" normalizeH="0" baseline="0" noProof="0">
                <a:ln>
                  <a:noFill/>
                </a:ln>
                <a:solidFill>
                  <a:srgbClr val="DA0E28"/>
                </a:solidFill>
                <a:effectLst/>
                <a:uLnTx/>
                <a:uFillTx/>
                <a:latin typeface="AirIndia"/>
                <a:ea typeface="+mj-ea"/>
                <a:cs typeface="+mj-cs"/>
              </a:rPr>
              <a:t>- </a:t>
            </a:r>
            <a:r>
              <a:rPr lang="en-US" sz="1800">
                <a:solidFill>
                  <a:srgbClr val="DA0E28"/>
                </a:solidFill>
                <a:latin typeface="AirIndia"/>
              </a:rPr>
              <a:t>FY26-27 </a:t>
            </a:r>
            <a:r>
              <a:rPr kumimoji="0" lang="en-US" sz="1800" b="1" i="0" u="none" strike="noStrike" kern="1200" cap="none" spc="0" normalizeH="0" baseline="0" noProof="0">
                <a:ln>
                  <a:noFill/>
                </a:ln>
                <a:solidFill>
                  <a:srgbClr val="DA0E28"/>
                </a:solidFill>
                <a:effectLst/>
                <a:uLnTx/>
                <a:uFillTx/>
                <a:latin typeface="AirIndia"/>
                <a:ea typeface="+mj-ea"/>
                <a:cs typeface="+mj-cs"/>
              </a:rPr>
              <a:t>Q1 Release </a:t>
            </a:r>
            <a:r>
              <a:rPr lang="en-US" sz="1800">
                <a:solidFill>
                  <a:srgbClr val="DA0E28"/>
                </a:solidFill>
                <a:latin typeface="AirIndia"/>
              </a:rPr>
              <a:t>Plan</a:t>
            </a:r>
            <a:endParaRPr lang="en-US" sz="1800" b="0">
              <a:solidFill>
                <a:srgbClr val="000000"/>
              </a:solidFill>
              <a:latin typeface="AirIndia"/>
            </a:endParaRPr>
          </a:p>
          <a:p>
            <a:pPr>
              <a:defRPr/>
            </a:pPr>
            <a:endParaRPr lang="en-US" sz="1800" i="0" u="none" strike="noStrike" kern="1200" cap="none" spc="0" normalizeH="0" baseline="0" noProof="0">
              <a:ln>
                <a:noFill/>
              </a:ln>
              <a:solidFill>
                <a:srgbClr val="DA0E28"/>
              </a:solidFill>
              <a:effectLst/>
              <a:uLnTx/>
              <a:uFillTx/>
              <a:latin typeface="AirIndia"/>
            </a:endParaRPr>
          </a:p>
        </p:txBody>
      </p:sp>
      <p:graphicFrame>
        <p:nvGraphicFramePr>
          <p:cNvPr id="12" name="Table 11">
            <a:extLst>
              <a:ext uri="{FF2B5EF4-FFF2-40B4-BE49-F238E27FC236}">
                <a16:creationId xmlns:a16="http://schemas.microsoft.com/office/drawing/2014/main" id="{A461AA2F-E7CE-9ABE-ED91-E715BEBCCA5D}"/>
              </a:ext>
            </a:extLst>
          </p:cNvPr>
          <p:cNvGraphicFramePr>
            <a:graphicFrameLocks noGrp="1"/>
          </p:cNvGraphicFramePr>
          <p:nvPr>
            <p:extLst>
              <p:ext uri="{D42A27DB-BD31-4B8C-83A1-F6EECF244321}">
                <p14:modId xmlns:p14="http://schemas.microsoft.com/office/powerpoint/2010/main" val="1479544203"/>
              </p:ext>
            </p:extLst>
          </p:nvPr>
        </p:nvGraphicFramePr>
        <p:xfrm>
          <a:off x="1474079" y="773376"/>
          <a:ext cx="10592835" cy="1112520"/>
        </p:xfrm>
        <a:graphic>
          <a:graphicData uri="http://schemas.openxmlformats.org/drawingml/2006/table">
            <a:tbl>
              <a:tblPr firstRow="1" bandRow="1">
                <a:tableStyleId>{5C22544A-7EE6-4342-B048-85BDC9FD1C3A}</a:tableStyleId>
              </a:tblPr>
              <a:tblGrid>
                <a:gridCol w="1737785">
                  <a:extLst>
                    <a:ext uri="{9D8B030D-6E8A-4147-A177-3AD203B41FA5}">
                      <a16:colId xmlns:a16="http://schemas.microsoft.com/office/drawing/2014/main" val="2822350773"/>
                    </a:ext>
                  </a:extLst>
                </a:gridCol>
                <a:gridCol w="1737785">
                  <a:extLst>
                    <a:ext uri="{9D8B030D-6E8A-4147-A177-3AD203B41FA5}">
                      <a16:colId xmlns:a16="http://schemas.microsoft.com/office/drawing/2014/main" val="2669513633"/>
                    </a:ext>
                  </a:extLst>
                </a:gridCol>
                <a:gridCol w="5373583">
                  <a:extLst>
                    <a:ext uri="{9D8B030D-6E8A-4147-A177-3AD203B41FA5}">
                      <a16:colId xmlns:a16="http://schemas.microsoft.com/office/drawing/2014/main" val="99588705"/>
                    </a:ext>
                  </a:extLst>
                </a:gridCol>
                <a:gridCol w="1743682">
                  <a:extLst>
                    <a:ext uri="{9D8B030D-6E8A-4147-A177-3AD203B41FA5}">
                      <a16:colId xmlns:a16="http://schemas.microsoft.com/office/drawing/2014/main" val="1739073323"/>
                    </a:ext>
                  </a:extLst>
                </a:gridCol>
              </a:tblGrid>
              <a:tr h="214726">
                <a:tc>
                  <a:txBody>
                    <a:bodyPr/>
                    <a:lstStyle/>
                    <a:p>
                      <a:pPr marL="0" lvl="0" indent="0" algn="ctr" defTabSz="914400" rtl="0">
                        <a:lnSpc>
                          <a:spcPct val="100000"/>
                        </a:lnSpc>
                        <a:buFont typeface="Arial" panose="020B0604020202020204" pitchFamily="34" charset="0"/>
                        <a:buNone/>
                      </a:pPr>
                      <a:r>
                        <a:rPr lang="en-IN" sz="1100" b="1" kern="1200">
                          <a:solidFill>
                            <a:schemeClr val="bg1"/>
                          </a:solidFill>
                          <a:latin typeface="+mn-lt"/>
                          <a:ea typeface="+mn-ea"/>
                          <a:cs typeface="+mn-cs"/>
                        </a:rPr>
                        <a:t>Initiatives</a:t>
                      </a:r>
                      <a:endParaRPr lang="en-US" sz="1100" b="1"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tc>
                  <a:txBody>
                    <a:bodyPr/>
                    <a:lstStyle/>
                    <a:p>
                      <a:pPr marL="0" lvl="0" indent="0" algn="ctr" defTabSz="914400">
                        <a:lnSpc>
                          <a:spcPct val="100000"/>
                        </a:lnSpc>
                        <a:buNone/>
                      </a:pPr>
                      <a:r>
                        <a:rPr lang="en-IN" sz="1100" b="1" i="0" u="none" strike="noStrike" kern="1200" noProof="0">
                          <a:solidFill>
                            <a:schemeClr val="bg1"/>
                          </a:solidFill>
                          <a:latin typeface="Nunito Sans"/>
                          <a:ea typeface="+mn-ea"/>
                          <a:cs typeface="+mn-cs"/>
                        </a:rPr>
                        <a:t>Programs/Projects</a:t>
                      </a:r>
                      <a:endParaRPr lang="en-US"/>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solidFill>
                      <a:schemeClr val="accent3">
                        <a:lumMod val="90000"/>
                        <a:lumOff val="10000"/>
                      </a:schemeClr>
                    </a:solidFill>
                  </a:tcPr>
                </a:tc>
                <a:tc>
                  <a:txBody>
                    <a:bodyPr/>
                    <a:lstStyle/>
                    <a:p>
                      <a:pPr marL="0" indent="0" algn="ctr" defTabSz="914400" rtl="0" eaLnBrk="1" latinLnBrk="0" hangingPunct="1">
                        <a:buFont typeface="Arial" panose="020B0604020202020204" pitchFamily="34" charset="0"/>
                        <a:buNone/>
                      </a:pPr>
                      <a:r>
                        <a:rPr lang="en-IN" sz="1100" kern="1200">
                          <a:solidFill>
                            <a:schemeClr val="bg1"/>
                          </a:solidFill>
                          <a:latin typeface="+mn-lt"/>
                          <a:ea typeface="+mn-ea"/>
                          <a:cs typeface="+mn-cs"/>
                        </a:rPr>
                        <a:t>Value Justification/Realization</a:t>
                      </a:r>
                      <a:endParaRPr lang="en-US" sz="1100"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tc>
                  <a:txBody>
                    <a:bodyPr/>
                    <a:lstStyle/>
                    <a:p>
                      <a:pPr marL="0" indent="0" algn="ctr" defTabSz="914400" rtl="0" eaLnBrk="1" latinLnBrk="0" hangingPunct="1">
                        <a:buFont typeface="Arial" panose="020B0604020202020204" pitchFamily="34" charset="0"/>
                        <a:buNone/>
                      </a:pPr>
                      <a:r>
                        <a:rPr lang="en-US" sz="1100" kern="1200">
                          <a:solidFill>
                            <a:schemeClr val="bg1"/>
                          </a:solidFill>
                          <a:latin typeface="+mn-lt"/>
                          <a:ea typeface="+mn-ea"/>
                          <a:cs typeface="+mn-cs"/>
                        </a:rPr>
                        <a:t>Go-live Date</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extLst>
                  <a:ext uri="{0D108BD9-81ED-4DB2-BD59-A6C34878D82A}">
                    <a16:rowId xmlns:a16="http://schemas.microsoft.com/office/drawing/2014/main" val="844450115"/>
                  </a:ext>
                </a:extLst>
              </a:tr>
              <a:tr h="214725">
                <a:tc>
                  <a:txBody>
                    <a:bodyPr/>
                    <a:lstStyle/>
                    <a:p>
                      <a:pPr marL="0" lvl="0" indent="0" algn="ctr" defTabSz="914400">
                        <a:lnSpc>
                          <a:spcPct val="100000"/>
                        </a:lnSpc>
                        <a:buNone/>
                      </a:pPr>
                      <a:endParaRPr lang="en-IN" sz="1100" b="1" kern="1200">
                        <a:solidFill>
                          <a:schemeClr val="bg1"/>
                        </a:solidFill>
                        <a:latin typeface="+mn-lt"/>
                        <a:ea typeface="+mn-ea"/>
                        <a:cs typeface="+mn-cs"/>
                      </a:endParaRP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solidFill>
                      <a:schemeClr val="accent3">
                        <a:lumMod val="90000"/>
                        <a:lumOff val="10000"/>
                      </a:schemeClr>
                    </a:solidFill>
                  </a:tcPr>
                </a:tc>
                <a:tc>
                  <a:txBody>
                    <a:bodyPr/>
                    <a:lstStyle/>
                    <a:p>
                      <a:pPr marL="0" lvl="0" indent="0" algn="ctr" defTabSz="914400">
                        <a:lnSpc>
                          <a:spcPct val="100000"/>
                        </a:lnSpc>
                        <a:buNone/>
                      </a:pPr>
                      <a:endParaRPr lang="en-IN" sz="1100" b="1" i="0" u="none" strike="noStrike" kern="1200" noProof="0">
                        <a:solidFill>
                          <a:schemeClr val="bg1"/>
                        </a:solidFill>
                        <a:latin typeface="Nunito Sans"/>
                        <a:ea typeface="+mn-ea"/>
                        <a:cs typeface="+mn-cs"/>
                      </a:endParaRP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solidFill>
                      <a:schemeClr val="accent3">
                        <a:lumMod val="90000"/>
                        <a:lumOff val="10000"/>
                      </a:schemeClr>
                    </a:solidFill>
                  </a:tcPr>
                </a:tc>
                <a:tc>
                  <a:txBody>
                    <a:bodyPr/>
                    <a:lstStyle/>
                    <a:p>
                      <a:pPr marL="0" lvl="0" indent="0" algn="ctr" defTabSz="914400">
                        <a:buNone/>
                      </a:pPr>
                      <a:endParaRPr lang="en-IN" sz="1100" kern="1200">
                        <a:solidFill>
                          <a:schemeClr val="bg1"/>
                        </a:solidFill>
                        <a:latin typeface="+mn-lt"/>
                        <a:ea typeface="+mn-ea"/>
                        <a:cs typeface="+mn-cs"/>
                      </a:endParaRP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solidFill>
                      <a:schemeClr val="accent3">
                        <a:lumMod val="90000"/>
                        <a:lumOff val="10000"/>
                      </a:schemeClr>
                    </a:solidFill>
                  </a:tcPr>
                </a:tc>
                <a:tc>
                  <a:txBody>
                    <a:bodyPr/>
                    <a:lstStyle/>
                    <a:p>
                      <a:pPr marL="0" lvl="0" indent="0" algn="ctr" defTabSz="914400">
                        <a:buNone/>
                      </a:pPr>
                      <a:endParaRPr lang="en-US" sz="1100" kern="1200">
                        <a:solidFill>
                          <a:schemeClr val="bg1"/>
                        </a:solidFill>
                        <a:latin typeface="+mn-lt"/>
                        <a:ea typeface="+mn-ea"/>
                        <a:cs typeface="+mn-cs"/>
                      </a:endParaRP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solidFill>
                      <a:schemeClr val="accent3">
                        <a:lumMod val="90000"/>
                        <a:lumOff val="10000"/>
                      </a:schemeClr>
                    </a:solidFill>
                  </a:tcPr>
                </a:tc>
                <a:extLst>
                  <a:ext uri="{0D108BD9-81ED-4DB2-BD59-A6C34878D82A}">
                    <a16:rowId xmlns:a16="http://schemas.microsoft.com/office/drawing/2014/main" val="4072543570"/>
                  </a:ext>
                </a:extLst>
              </a:tr>
              <a:tr h="157957">
                <a:tc>
                  <a:txBody>
                    <a:bodyPr/>
                    <a:lstStyle/>
                    <a:p>
                      <a:pPr marL="0" lvl="0" indent="0" algn="l">
                        <a:lnSpc>
                          <a:spcPct val="100000"/>
                        </a:lnSpc>
                        <a:buNone/>
                      </a:pPr>
                      <a:r>
                        <a:rPr lang="en-US" sz="1100" b="1" i="0" u="none" strike="noStrike" kern="1200" baseline="0" noProof="0">
                          <a:solidFill>
                            <a:srgbClr val="0070C0"/>
                          </a:solidFill>
                          <a:latin typeface="Nunito Sans"/>
                          <a:ea typeface="+mn-ea"/>
                          <a:cs typeface="Segoe UI"/>
                        </a:rPr>
                        <a:t>RPA User Auto Creation Requirement For Amadeus FM</a:t>
                      </a:r>
                      <a:endParaRPr lang="en-US"/>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lvl="0" indent="0" algn="l">
                        <a:lnSpc>
                          <a:spcPct val="100000"/>
                        </a:lnSpc>
                        <a:buNone/>
                      </a:pPr>
                      <a:r>
                        <a:rPr lang="en-US" sz="1100" b="1" kern="1200">
                          <a:solidFill>
                            <a:srgbClr val="0070C0"/>
                          </a:solidFill>
                          <a:latin typeface="+mn-lt"/>
                          <a:ea typeface="+mn-ea"/>
                          <a:cs typeface="+mn-cs"/>
                        </a:rPr>
                        <a:t>Access Management</a:t>
                      </a:r>
                    </a:p>
                  </a:txBody>
                  <a:tcPr anchor="ctr">
                    <a:lnL w="6350">
                      <a:solidFill>
                        <a:schemeClr val="bg1">
                          <a:lumMod val="75000"/>
                        </a:schemeClr>
                      </a:solidFill>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indent="0" algn="l" rtl="0" eaLnBrk="1" latinLnBrk="0" hangingPunct="1">
                        <a:buFont typeface="Arial" panose="020B0604020202020204" pitchFamily="34" charset="0"/>
                        <a:buNone/>
                      </a:pPr>
                      <a:r>
                        <a:rPr lang="en-US" sz="1100"/>
                        <a:t>Automation of access management of Amadeus FM application through RPA</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indent="0" algn="l" rtl="0" eaLnBrk="1" latinLnBrk="0" hangingPunct="1">
                        <a:buFont typeface="Arial" panose="020B0604020202020204" pitchFamily="34" charset="0"/>
                        <a:buNone/>
                      </a:pPr>
                      <a:r>
                        <a:rPr lang="en-US" sz="1100" b="0" i="0" u="none" strike="noStrike" noProof="0">
                          <a:latin typeface="Arial"/>
                        </a:rPr>
                        <a:t>23-Apr-26</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443371065"/>
                  </a:ext>
                </a:extLst>
              </a:tr>
            </a:tbl>
          </a:graphicData>
        </a:graphic>
      </p:graphicFrame>
      <p:sp>
        <p:nvSpPr>
          <p:cNvPr id="4" name="Rectangle 3">
            <a:extLst>
              <a:ext uri="{FF2B5EF4-FFF2-40B4-BE49-F238E27FC236}">
                <a16:creationId xmlns:a16="http://schemas.microsoft.com/office/drawing/2014/main" id="{CCAF8575-010A-98DC-39C8-691FAADBDFD6}"/>
              </a:ext>
            </a:extLst>
          </p:cNvPr>
          <p:cNvSpPr/>
          <p:nvPr/>
        </p:nvSpPr>
        <p:spPr>
          <a:xfrm rot="5400000">
            <a:off x="8942419" y="6655587"/>
            <a:ext cx="90000" cy="90000"/>
          </a:xfrm>
          <a:prstGeom prst="rect">
            <a:avLst/>
          </a:prstGeom>
          <a:solidFill>
            <a:schemeClr val="bg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9" name="TextBox 8">
            <a:extLst>
              <a:ext uri="{FF2B5EF4-FFF2-40B4-BE49-F238E27FC236}">
                <a16:creationId xmlns:a16="http://schemas.microsoft.com/office/drawing/2014/main" id="{772DFDB5-0B8C-02BE-38BA-8499DBF29ED5}"/>
              </a:ext>
            </a:extLst>
          </p:cNvPr>
          <p:cNvSpPr txBox="1"/>
          <p:nvPr/>
        </p:nvSpPr>
        <p:spPr>
          <a:xfrm>
            <a:off x="8986097" y="6582653"/>
            <a:ext cx="3069090" cy="246221"/>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FFFFFF">
                    <a:lumMod val="49000"/>
                  </a:srgbClr>
                </a:solidFill>
                <a:effectLst/>
                <a:uLnTx/>
                <a:uFillTx/>
                <a:latin typeface="Nunito Sans"/>
                <a:ea typeface="+mn-ea"/>
                <a:cs typeface="+mn-cs"/>
              </a:rPr>
              <a:t>Descoped</a:t>
            </a:r>
          </a:p>
        </p:txBody>
      </p:sp>
      <p:sp>
        <p:nvSpPr>
          <p:cNvPr id="18" name="Rectangle 17">
            <a:extLst>
              <a:ext uri="{FF2B5EF4-FFF2-40B4-BE49-F238E27FC236}">
                <a16:creationId xmlns:a16="http://schemas.microsoft.com/office/drawing/2014/main" id="{3EFAD993-4F8F-9235-9078-92C3F998FDB4}"/>
              </a:ext>
            </a:extLst>
          </p:cNvPr>
          <p:cNvSpPr/>
          <p:nvPr/>
        </p:nvSpPr>
        <p:spPr>
          <a:xfrm>
            <a:off x="1520345" y="6184937"/>
            <a:ext cx="90000" cy="90000"/>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20" name="Rectangle 19">
            <a:extLst>
              <a:ext uri="{FF2B5EF4-FFF2-40B4-BE49-F238E27FC236}">
                <a16:creationId xmlns:a16="http://schemas.microsoft.com/office/drawing/2014/main" id="{7D01F127-029E-7575-1E67-2462D82BC53A}"/>
              </a:ext>
            </a:extLst>
          </p:cNvPr>
          <p:cNvSpPr/>
          <p:nvPr/>
        </p:nvSpPr>
        <p:spPr>
          <a:xfrm>
            <a:off x="1520345" y="6412499"/>
            <a:ext cx="90000" cy="90000"/>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22" name="Rectangle 21">
            <a:extLst>
              <a:ext uri="{FF2B5EF4-FFF2-40B4-BE49-F238E27FC236}">
                <a16:creationId xmlns:a16="http://schemas.microsoft.com/office/drawing/2014/main" id="{78A8F2EC-7BB9-3139-CE0B-8A385AB5BD26}"/>
              </a:ext>
            </a:extLst>
          </p:cNvPr>
          <p:cNvSpPr/>
          <p:nvPr/>
        </p:nvSpPr>
        <p:spPr>
          <a:xfrm>
            <a:off x="2708836" y="6197637"/>
            <a:ext cx="90000" cy="90000"/>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23" name="Rectangle 22">
            <a:extLst>
              <a:ext uri="{FF2B5EF4-FFF2-40B4-BE49-F238E27FC236}">
                <a16:creationId xmlns:a16="http://schemas.microsoft.com/office/drawing/2014/main" id="{16A9FE03-F071-1E85-F831-CA6EB8515130}"/>
              </a:ext>
            </a:extLst>
          </p:cNvPr>
          <p:cNvSpPr/>
          <p:nvPr/>
        </p:nvSpPr>
        <p:spPr>
          <a:xfrm>
            <a:off x="2708836" y="6425199"/>
            <a:ext cx="90000" cy="90000"/>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24" name="TextBox 15">
            <a:extLst>
              <a:ext uri="{FF2B5EF4-FFF2-40B4-BE49-F238E27FC236}">
                <a16:creationId xmlns:a16="http://schemas.microsoft.com/office/drawing/2014/main" id="{B73288FB-3D35-C3DC-C175-A433360B80CC}"/>
              </a:ext>
            </a:extLst>
          </p:cNvPr>
          <p:cNvSpPr txBox="1"/>
          <p:nvPr/>
        </p:nvSpPr>
        <p:spPr>
          <a:xfrm>
            <a:off x="1577653" y="6128088"/>
            <a:ext cx="857245"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0070C0"/>
                </a:solidFill>
                <a:effectLst/>
                <a:uLnTx/>
                <a:uFillTx/>
                <a:latin typeface="Nunito Sans"/>
                <a:ea typeface="+mn-ea"/>
                <a:cs typeface="+mn-cs"/>
              </a:rPr>
              <a:t>Delivered</a:t>
            </a:r>
            <a:endParaRPr kumimoji="0" lang="en-IN" sz="1000" b="0" i="0" u="none" strike="noStrike" kern="1200" cap="none" spc="0" normalizeH="0" baseline="0" noProof="0">
              <a:ln>
                <a:noFill/>
              </a:ln>
              <a:solidFill>
                <a:srgbClr val="000000"/>
              </a:solidFill>
              <a:effectLst/>
              <a:uLnTx/>
              <a:uFillTx/>
              <a:latin typeface="Nunito Sans"/>
              <a:ea typeface="+mn-ea"/>
              <a:cs typeface="+mn-cs"/>
            </a:endParaRPr>
          </a:p>
        </p:txBody>
      </p:sp>
      <p:sp>
        <p:nvSpPr>
          <p:cNvPr id="25" name="TextBox 18">
            <a:extLst>
              <a:ext uri="{FF2B5EF4-FFF2-40B4-BE49-F238E27FC236}">
                <a16:creationId xmlns:a16="http://schemas.microsoft.com/office/drawing/2014/main" id="{9C03DD70-B688-6518-C991-21112B7E8195}"/>
              </a:ext>
            </a:extLst>
          </p:cNvPr>
          <p:cNvSpPr txBox="1"/>
          <p:nvPr/>
        </p:nvSpPr>
        <p:spPr>
          <a:xfrm>
            <a:off x="1576055" y="6353047"/>
            <a:ext cx="1032881"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00B050"/>
                </a:solidFill>
                <a:effectLst/>
                <a:uLnTx/>
                <a:uFillTx/>
                <a:latin typeface="Nunito Sans"/>
                <a:ea typeface="+mn-ea"/>
                <a:cs typeface="+mn-cs"/>
              </a:rPr>
              <a:t>Ontrack</a:t>
            </a:r>
            <a:endParaRPr kumimoji="0" lang="en-IN" sz="1000" b="0" i="0" u="none" strike="noStrike" kern="1200" cap="none" spc="0" normalizeH="0" baseline="0" noProof="0">
              <a:ln>
                <a:noFill/>
              </a:ln>
              <a:solidFill>
                <a:srgbClr val="000000"/>
              </a:solidFill>
              <a:effectLst/>
              <a:uLnTx/>
              <a:uFillTx/>
              <a:latin typeface="Nunito Sans"/>
              <a:ea typeface="+mn-ea"/>
              <a:cs typeface="+mn-cs"/>
            </a:endParaRPr>
          </a:p>
        </p:txBody>
      </p:sp>
      <p:sp>
        <p:nvSpPr>
          <p:cNvPr id="26" name="TextBox 20">
            <a:extLst>
              <a:ext uri="{FF2B5EF4-FFF2-40B4-BE49-F238E27FC236}">
                <a16:creationId xmlns:a16="http://schemas.microsoft.com/office/drawing/2014/main" id="{1F3001C2-6E92-B2BB-D510-0DDB4551FCCE}"/>
              </a:ext>
            </a:extLst>
          </p:cNvPr>
          <p:cNvSpPr txBox="1"/>
          <p:nvPr/>
        </p:nvSpPr>
        <p:spPr>
          <a:xfrm>
            <a:off x="2794133" y="6156187"/>
            <a:ext cx="2257628"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FED9A0">
                    <a:lumMod val="75000"/>
                  </a:srgbClr>
                </a:solidFill>
                <a:effectLst/>
                <a:uLnTx/>
                <a:uFillTx/>
                <a:latin typeface="Nunito Sans"/>
                <a:ea typeface="+mn-ea"/>
                <a:cs typeface="+mn-cs"/>
              </a:rPr>
              <a:t>Under delay and can be recovered</a:t>
            </a:r>
            <a:endParaRPr kumimoji="0" lang="en-IN" sz="1000" b="0" i="0" u="none" strike="noStrike" kern="1200" cap="none" spc="0" normalizeH="0" baseline="0" noProof="0">
              <a:ln>
                <a:noFill/>
              </a:ln>
              <a:solidFill>
                <a:srgbClr val="000000"/>
              </a:solidFill>
              <a:effectLst/>
              <a:uLnTx/>
              <a:uFillTx/>
              <a:latin typeface="Nunito Sans"/>
              <a:ea typeface="+mn-ea"/>
              <a:cs typeface="+mn-cs"/>
            </a:endParaRPr>
          </a:p>
        </p:txBody>
      </p:sp>
      <p:sp>
        <p:nvSpPr>
          <p:cNvPr id="27" name="TextBox 22">
            <a:extLst>
              <a:ext uri="{FF2B5EF4-FFF2-40B4-BE49-F238E27FC236}">
                <a16:creationId xmlns:a16="http://schemas.microsoft.com/office/drawing/2014/main" id="{97A70376-9207-E51F-8887-C21065883372}"/>
              </a:ext>
            </a:extLst>
          </p:cNvPr>
          <p:cNvSpPr txBox="1"/>
          <p:nvPr/>
        </p:nvSpPr>
        <p:spPr>
          <a:xfrm>
            <a:off x="2798836" y="6372771"/>
            <a:ext cx="2338222"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FF0000"/>
                </a:solidFill>
                <a:effectLst/>
                <a:uLnTx/>
                <a:uFillTx/>
                <a:latin typeface="Nunito Sans"/>
                <a:ea typeface="+mn-ea"/>
                <a:cs typeface="+mn-cs"/>
              </a:rPr>
              <a:t>Delayed and pushed to next release</a:t>
            </a:r>
          </a:p>
        </p:txBody>
      </p:sp>
      <p:graphicFrame>
        <p:nvGraphicFramePr>
          <p:cNvPr id="5" name="Table 4">
            <a:extLst>
              <a:ext uri="{FF2B5EF4-FFF2-40B4-BE49-F238E27FC236}">
                <a16:creationId xmlns:a16="http://schemas.microsoft.com/office/drawing/2014/main" id="{99B43E8A-6E5E-D5AE-DD5E-FD22DF4F28AD}"/>
              </a:ext>
            </a:extLst>
          </p:cNvPr>
          <p:cNvGraphicFramePr>
            <a:graphicFrameLocks noGrp="1"/>
          </p:cNvGraphicFramePr>
          <p:nvPr>
            <p:extLst>
              <p:ext uri="{D42A27DB-BD31-4B8C-83A1-F6EECF244321}">
                <p14:modId xmlns:p14="http://schemas.microsoft.com/office/powerpoint/2010/main" val="4061684740"/>
              </p:ext>
            </p:extLst>
          </p:nvPr>
        </p:nvGraphicFramePr>
        <p:xfrm>
          <a:off x="1474079" y="1949870"/>
          <a:ext cx="10592835" cy="1615440"/>
        </p:xfrm>
        <a:graphic>
          <a:graphicData uri="http://schemas.openxmlformats.org/drawingml/2006/table">
            <a:tbl>
              <a:tblPr firstRow="1" bandRow="1">
                <a:tableStyleId>{5C22544A-7EE6-4342-B048-85BDC9FD1C3A}</a:tableStyleId>
              </a:tblPr>
              <a:tblGrid>
                <a:gridCol w="1737785">
                  <a:extLst>
                    <a:ext uri="{9D8B030D-6E8A-4147-A177-3AD203B41FA5}">
                      <a16:colId xmlns:a16="http://schemas.microsoft.com/office/drawing/2014/main" val="2822350773"/>
                    </a:ext>
                  </a:extLst>
                </a:gridCol>
                <a:gridCol w="1737785">
                  <a:extLst>
                    <a:ext uri="{9D8B030D-6E8A-4147-A177-3AD203B41FA5}">
                      <a16:colId xmlns:a16="http://schemas.microsoft.com/office/drawing/2014/main" val="2669513633"/>
                    </a:ext>
                  </a:extLst>
                </a:gridCol>
                <a:gridCol w="5373583">
                  <a:extLst>
                    <a:ext uri="{9D8B030D-6E8A-4147-A177-3AD203B41FA5}">
                      <a16:colId xmlns:a16="http://schemas.microsoft.com/office/drawing/2014/main" val="99588705"/>
                    </a:ext>
                  </a:extLst>
                </a:gridCol>
                <a:gridCol w="1743682">
                  <a:extLst>
                    <a:ext uri="{9D8B030D-6E8A-4147-A177-3AD203B41FA5}">
                      <a16:colId xmlns:a16="http://schemas.microsoft.com/office/drawing/2014/main" val="1739073323"/>
                    </a:ext>
                  </a:extLst>
                </a:gridCol>
              </a:tblGrid>
              <a:tr h="214726">
                <a:tc>
                  <a:txBody>
                    <a:bodyPr/>
                    <a:lstStyle/>
                    <a:p>
                      <a:pPr marL="0" lvl="0" indent="0" algn="ctr" defTabSz="914400" rtl="0">
                        <a:lnSpc>
                          <a:spcPct val="100000"/>
                        </a:lnSpc>
                        <a:buFont typeface="Arial" panose="020B0604020202020204" pitchFamily="34" charset="0"/>
                        <a:buNone/>
                      </a:pPr>
                      <a:r>
                        <a:rPr lang="en-IN" sz="1100" b="1" kern="1200">
                          <a:solidFill>
                            <a:schemeClr val="bg1"/>
                          </a:solidFill>
                          <a:latin typeface="+mn-lt"/>
                          <a:ea typeface="+mn-ea"/>
                          <a:cs typeface="+mn-cs"/>
                        </a:rPr>
                        <a:t>Initiatives</a:t>
                      </a:r>
                      <a:endParaRPr lang="en-US" sz="1100" b="1"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tc>
                  <a:txBody>
                    <a:bodyPr/>
                    <a:lstStyle/>
                    <a:p>
                      <a:pPr marL="0" lvl="0" indent="0" algn="ctr" defTabSz="914400">
                        <a:lnSpc>
                          <a:spcPct val="100000"/>
                        </a:lnSpc>
                        <a:buNone/>
                      </a:pPr>
                      <a:r>
                        <a:rPr lang="en-IN" sz="1100" b="1" i="0" u="none" strike="noStrike" kern="1200" noProof="0">
                          <a:solidFill>
                            <a:schemeClr val="bg1"/>
                          </a:solidFill>
                          <a:latin typeface="Nunito Sans"/>
                          <a:ea typeface="+mn-ea"/>
                          <a:cs typeface="+mn-cs"/>
                        </a:rPr>
                        <a:t>Programs/Projects</a:t>
                      </a:r>
                      <a:endParaRPr lang="en-US"/>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solidFill>
                      <a:schemeClr val="accent3">
                        <a:lumMod val="90000"/>
                        <a:lumOff val="10000"/>
                      </a:schemeClr>
                    </a:solidFill>
                  </a:tcPr>
                </a:tc>
                <a:tc>
                  <a:txBody>
                    <a:bodyPr/>
                    <a:lstStyle/>
                    <a:p>
                      <a:pPr marL="0" indent="0" algn="ctr" defTabSz="914400" rtl="0" eaLnBrk="1" latinLnBrk="0" hangingPunct="1">
                        <a:buFont typeface="Arial" panose="020B0604020202020204" pitchFamily="34" charset="0"/>
                        <a:buNone/>
                      </a:pPr>
                      <a:r>
                        <a:rPr lang="en-IN" sz="1100" kern="1200">
                          <a:solidFill>
                            <a:schemeClr val="bg1"/>
                          </a:solidFill>
                          <a:latin typeface="+mn-lt"/>
                          <a:ea typeface="+mn-ea"/>
                          <a:cs typeface="+mn-cs"/>
                        </a:rPr>
                        <a:t>Value Justification/Realization</a:t>
                      </a:r>
                      <a:endParaRPr lang="en-US" sz="1100"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tc>
                  <a:txBody>
                    <a:bodyPr/>
                    <a:lstStyle/>
                    <a:p>
                      <a:pPr marL="0" indent="0" algn="ctr" defTabSz="914400" rtl="0" eaLnBrk="1" latinLnBrk="0" hangingPunct="1">
                        <a:buFont typeface="Arial" panose="020B0604020202020204" pitchFamily="34" charset="0"/>
                        <a:buNone/>
                      </a:pPr>
                      <a:r>
                        <a:rPr lang="en-US" sz="1100" kern="1200">
                          <a:solidFill>
                            <a:schemeClr val="bg1"/>
                          </a:solidFill>
                          <a:latin typeface="+mn-lt"/>
                          <a:ea typeface="+mn-ea"/>
                          <a:cs typeface="+mn-cs"/>
                        </a:rPr>
                        <a:t>Go-live Date</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extLst>
                  <a:ext uri="{0D108BD9-81ED-4DB2-BD59-A6C34878D82A}">
                    <a16:rowId xmlns:a16="http://schemas.microsoft.com/office/drawing/2014/main" val="844450115"/>
                  </a:ext>
                </a:extLst>
              </a:tr>
              <a:tr h="157957">
                <a:tc>
                  <a:txBody>
                    <a:bodyPr/>
                    <a:lstStyle/>
                    <a:p>
                      <a:pPr lvl="0">
                        <a:buNone/>
                      </a:pPr>
                      <a:r>
                        <a:rPr lang="en-US" sz="1100" b="1" i="0" u="none" strike="noStrike" kern="1200" noProof="0">
                          <a:solidFill>
                            <a:srgbClr val="0070C0"/>
                          </a:solidFill>
                          <a:latin typeface="Aptos"/>
                          <a:ea typeface="+mn-ea"/>
                          <a:cs typeface="+mn-cs"/>
                        </a:rPr>
                        <a:t>ITOM Discovery Replacement</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lvl="0" indent="0" algn="l">
                        <a:lnSpc>
                          <a:spcPct val="100000"/>
                        </a:lnSpc>
                        <a:buNone/>
                      </a:pPr>
                      <a:r>
                        <a:rPr lang="en-US" sz="1100" b="1" kern="1200">
                          <a:solidFill>
                            <a:srgbClr val="0070C0"/>
                          </a:solidFill>
                          <a:latin typeface="+mn-lt"/>
                          <a:ea typeface="+mn-ea"/>
                          <a:cs typeface="+mn-cs"/>
                        </a:rPr>
                        <a:t>ServiceNow Licence Optimization</a:t>
                      </a: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marL="0" lvl="0" indent="0" algn="l">
                        <a:buNone/>
                      </a:pPr>
                      <a:r>
                        <a:rPr lang="en-US" sz="1100" b="0" i="0" u="none" strike="noStrike" noProof="0">
                          <a:solidFill>
                            <a:srgbClr val="0070C0"/>
                          </a:solidFill>
                          <a:latin typeface="Aptos"/>
                        </a:rPr>
                        <a:t>Release 1 : Network Resources</a:t>
                      </a:r>
                      <a:endParaRPr lang="en-US"/>
                    </a:p>
                    <a:p>
                      <a:pPr marL="0" lvl="0" indent="0" algn="l">
                        <a:buFont typeface="Arial" panose="020B0604020202020204" pitchFamily="34" charset="0"/>
                        <a:buNone/>
                      </a:pPr>
                      <a:r>
                        <a:rPr lang="en-US" sz="1100"/>
                        <a:t>ServiceNow ITOM Discovery Replacememt with API Integration as part of ITOM Licenses Cost Optimization.</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lvl="0" indent="0" algn="l">
                        <a:buNone/>
                      </a:pPr>
                      <a:r>
                        <a:rPr lang="en-US" sz="1100" b="0" i="0" u="none" strike="sngStrike" noProof="0">
                          <a:solidFill>
                            <a:srgbClr val="000000"/>
                          </a:solidFill>
                          <a:latin typeface="Arial"/>
                          <a:cs typeface="Arial"/>
                        </a:rPr>
                        <a:t>14-May-26 </a:t>
                      </a:r>
                      <a:r>
                        <a:rPr lang="en-US" sz="1100" b="0" i="0" u="none" strike="noStrike" noProof="0">
                          <a:solidFill>
                            <a:srgbClr val="000000"/>
                          </a:solidFill>
                          <a:latin typeface="Arial"/>
                          <a:cs typeface="Arial"/>
                        </a:rPr>
                        <a:t>        </a:t>
                      </a:r>
                      <a:r>
                        <a:rPr lang="en-US" sz="1100" b="0" i="0" u="none" strike="noStrike" noProof="0">
                          <a:solidFill>
                            <a:srgbClr val="0070C0"/>
                          </a:solidFill>
                          <a:latin typeface="Arial"/>
                          <a:cs typeface="Arial"/>
                        </a:rPr>
                        <a:t>Business Go-Live        11-May-26</a:t>
                      </a:r>
                      <a:endParaRPr lang="en-US" strike="noStrike" err="1">
                        <a:solidFill>
                          <a:srgbClr val="0070C0"/>
                        </a:solidFill>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443371065"/>
                  </a:ext>
                </a:extLst>
              </a:tr>
              <a:tr h="157957">
                <a:tc>
                  <a:txBody>
                    <a:bodyPr/>
                    <a:lstStyle/>
                    <a:p>
                      <a:pPr lvl="0">
                        <a:buNone/>
                      </a:pPr>
                      <a:r>
                        <a:rPr lang="en-US" sz="1100" b="1" i="0" u="none" strike="noStrike" kern="1200" noProof="0">
                          <a:solidFill>
                            <a:srgbClr val="0070C0"/>
                          </a:solidFill>
                          <a:latin typeface="Aptos"/>
                          <a:ea typeface="+mn-ea"/>
                          <a:cs typeface="+mn-cs"/>
                        </a:rPr>
                        <a:t>ITOM Discovery Replacement</a:t>
                      </a:r>
                      <a:endParaRPr lang="en-US" b="1">
                        <a:solidFill>
                          <a:srgbClr val="0070C0"/>
                        </a:solidFill>
                      </a:endParaRP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tc>
                  <a:txBody>
                    <a:bodyPr/>
                    <a:lstStyle/>
                    <a:p>
                      <a:pPr marL="0" lvl="0" indent="0" algn="l">
                        <a:lnSpc>
                          <a:spcPct val="100000"/>
                        </a:lnSpc>
                        <a:buNone/>
                      </a:pPr>
                      <a:r>
                        <a:rPr lang="en-US" sz="1100" b="1" i="0" u="none" strike="noStrike" kern="1200" noProof="0">
                          <a:solidFill>
                            <a:srgbClr val="0070C0"/>
                          </a:solidFill>
                          <a:latin typeface="Nunito Sans"/>
                          <a:ea typeface="+mn-ea"/>
                          <a:cs typeface="+mn-cs"/>
                        </a:rPr>
                        <a:t>ServiceNow Licence Optimization</a:t>
                      </a:r>
                      <a:endParaRPr lang="en-US"/>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tc>
                  <a:txBody>
                    <a:bodyPr/>
                    <a:lstStyle/>
                    <a:p>
                      <a:pPr marL="0" lvl="0" indent="0" algn="l">
                        <a:buNone/>
                      </a:pPr>
                      <a:r>
                        <a:rPr lang="en-US" sz="1100" b="0" i="0" u="none" strike="noStrike" noProof="0">
                          <a:solidFill>
                            <a:srgbClr val="0070C0"/>
                          </a:solidFill>
                          <a:latin typeface="Aptos"/>
                        </a:rPr>
                        <a:t>Release 2 : Cloud Resources</a:t>
                      </a:r>
                      <a:endParaRPr lang="en-US" sz="1100" b="0" i="0" u="none" strike="noStrike" noProof="0">
                        <a:solidFill>
                          <a:srgbClr val="000000"/>
                        </a:solidFill>
                        <a:latin typeface="Aptos"/>
                      </a:endParaRPr>
                    </a:p>
                    <a:p>
                      <a:pPr marL="0" lvl="0" indent="0" algn="l">
                        <a:buNone/>
                      </a:pPr>
                      <a:r>
                        <a:rPr lang="en-US" sz="1100" b="0" i="0" u="none" strike="noStrike" noProof="0">
                          <a:solidFill>
                            <a:srgbClr val="0070C0"/>
                          </a:solidFill>
                          <a:latin typeface="Aptos"/>
                        </a:rPr>
                        <a:t>(Cloud : Azure Integration through API)</a:t>
                      </a:r>
                      <a:endParaRPr lang="en-US" b="0"/>
                    </a:p>
                    <a:p>
                      <a:pPr marL="0" lvl="0" indent="0" algn="l">
                        <a:buNone/>
                      </a:pPr>
                      <a:r>
                        <a:rPr lang="en-US" sz="1100" b="0" i="0" u="none" strike="noStrike" noProof="0">
                          <a:solidFill>
                            <a:srgbClr val="000000"/>
                          </a:solidFill>
                          <a:latin typeface="Nunito Sans"/>
                        </a:rPr>
                        <a:t>ServiceNow ITOM Discovery Replacememt with API Integration as part of ITOM Licenses Cost Optimization.(Azure, AWS, GCP)</a:t>
                      </a:r>
                      <a:endParaRPr lang="en-US" b="1">
                        <a:solidFill>
                          <a:srgbClr val="0070C0"/>
                        </a:solidFill>
                        <a:latin typeface="Aptos"/>
                      </a:endParaRP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tc>
                  <a:txBody>
                    <a:bodyPr/>
                    <a:lstStyle/>
                    <a:p>
                      <a:pPr marL="0" lvl="0" indent="0" algn="l">
                        <a:buNone/>
                      </a:pPr>
                      <a:r>
                        <a:rPr lang="en-US" sz="1100" b="0" i="0" u="none" strike="sngStrike" noProof="0">
                          <a:solidFill>
                            <a:srgbClr val="000000"/>
                          </a:solidFill>
                          <a:latin typeface="Arial"/>
                          <a:cs typeface="Arial"/>
                        </a:rPr>
                        <a:t>28-May-26</a:t>
                      </a:r>
                    </a:p>
                    <a:p>
                      <a:pPr marL="0" lvl="0" indent="0" algn="l">
                        <a:buNone/>
                      </a:pPr>
                      <a:r>
                        <a:rPr lang="en-US" sz="1100" b="0" i="0" u="none" strike="noStrike" noProof="0">
                          <a:solidFill>
                            <a:srgbClr val="0070C0"/>
                          </a:solidFill>
                          <a:latin typeface="Arial"/>
                          <a:cs typeface="Arial"/>
                        </a:rPr>
                        <a:t>Business Go-Live </a:t>
                      </a:r>
                      <a:endParaRPr lang="en-US"/>
                    </a:p>
                    <a:p>
                      <a:pPr marL="0" lvl="0" indent="0" algn="l">
                        <a:buNone/>
                      </a:pPr>
                      <a:r>
                        <a:rPr lang="en-US" sz="1100" b="0" i="0" u="none" strike="noStrike" noProof="0">
                          <a:solidFill>
                            <a:srgbClr val="0070C0"/>
                          </a:solidFill>
                          <a:latin typeface="Arial"/>
                          <a:cs typeface="Arial"/>
                        </a:rPr>
                        <a:t>21-May-26</a:t>
                      </a:r>
                      <a:endParaRPr lang="en-US"/>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extLst>
                  <a:ext uri="{0D108BD9-81ED-4DB2-BD59-A6C34878D82A}">
                    <a16:rowId xmlns:a16="http://schemas.microsoft.com/office/drawing/2014/main" val="1035243468"/>
                  </a:ext>
                </a:extLst>
              </a:tr>
            </a:tbl>
          </a:graphicData>
        </a:graphic>
      </p:graphicFrame>
      <p:graphicFrame>
        <p:nvGraphicFramePr>
          <p:cNvPr id="7" name="Table 6">
            <a:extLst>
              <a:ext uri="{FF2B5EF4-FFF2-40B4-BE49-F238E27FC236}">
                <a16:creationId xmlns:a16="http://schemas.microsoft.com/office/drawing/2014/main" id="{B68E185E-13A4-FEB3-6CBA-C90BF6E60544}"/>
              </a:ext>
            </a:extLst>
          </p:cNvPr>
          <p:cNvGraphicFramePr>
            <a:graphicFrameLocks noGrp="1"/>
          </p:cNvGraphicFramePr>
          <p:nvPr>
            <p:extLst>
              <p:ext uri="{D42A27DB-BD31-4B8C-83A1-F6EECF244321}">
                <p14:modId xmlns:p14="http://schemas.microsoft.com/office/powerpoint/2010/main" val="2897720625"/>
              </p:ext>
            </p:extLst>
          </p:nvPr>
        </p:nvGraphicFramePr>
        <p:xfrm>
          <a:off x="1463193" y="3761487"/>
          <a:ext cx="10592835" cy="1447800"/>
        </p:xfrm>
        <a:graphic>
          <a:graphicData uri="http://schemas.openxmlformats.org/drawingml/2006/table">
            <a:tbl>
              <a:tblPr firstRow="1" bandRow="1">
                <a:tableStyleId>{5C22544A-7EE6-4342-B048-85BDC9FD1C3A}</a:tableStyleId>
              </a:tblPr>
              <a:tblGrid>
                <a:gridCol w="1737785">
                  <a:extLst>
                    <a:ext uri="{9D8B030D-6E8A-4147-A177-3AD203B41FA5}">
                      <a16:colId xmlns:a16="http://schemas.microsoft.com/office/drawing/2014/main" val="2822350773"/>
                    </a:ext>
                  </a:extLst>
                </a:gridCol>
                <a:gridCol w="1737785">
                  <a:extLst>
                    <a:ext uri="{9D8B030D-6E8A-4147-A177-3AD203B41FA5}">
                      <a16:colId xmlns:a16="http://schemas.microsoft.com/office/drawing/2014/main" val="2669513633"/>
                    </a:ext>
                  </a:extLst>
                </a:gridCol>
                <a:gridCol w="5373583">
                  <a:extLst>
                    <a:ext uri="{9D8B030D-6E8A-4147-A177-3AD203B41FA5}">
                      <a16:colId xmlns:a16="http://schemas.microsoft.com/office/drawing/2014/main" val="99588705"/>
                    </a:ext>
                  </a:extLst>
                </a:gridCol>
                <a:gridCol w="1743682">
                  <a:extLst>
                    <a:ext uri="{9D8B030D-6E8A-4147-A177-3AD203B41FA5}">
                      <a16:colId xmlns:a16="http://schemas.microsoft.com/office/drawing/2014/main" val="1739073323"/>
                    </a:ext>
                  </a:extLst>
                </a:gridCol>
              </a:tblGrid>
              <a:tr h="214726">
                <a:tc>
                  <a:txBody>
                    <a:bodyPr/>
                    <a:lstStyle/>
                    <a:p>
                      <a:pPr marL="0" lvl="0" indent="0" algn="ctr" defTabSz="914400" rtl="0">
                        <a:lnSpc>
                          <a:spcPct val="100000"/>
                        </a:lnSpc>
                        <a:buFont typeface="Arial" panose="020B0604020202020204" pitchFamily="34" charset="0"/>
                        <a:buNone/>
                      </a:pPr>
                      <a:r>
                        <a:rPr lang="en-IN" sz="1100" b="1" kern="1200">
                          <a:solidFill>
                            <a:schemeClr val="bg1"/>
                          </a:solidFill>
                          <a:latin typeface="+mn-lt"/>
                          <a:ea typeface="+mn-ea"/>
                          <a:cs typeface="+mn-cs"/>
                        </a:rPr>
                        <a:t>Initiatives</a:t>
                      </a:r>
                      <a:endParaRPr lang="en-US" sz="1100" b="1"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tc>
                  <a:txBody>
                    <a:bodyPr/>
                    <a:lstStyle/>
                    <a:p>
                      <a:pPr marL="0" lvl="0" indent="0" algn="ctr" defTabSz="914400">
                        <a:lnSpc>
                          <a:spcPct val="100000"/>
                        </a:lnSpc>
                        <a:buNone/>
                      </a:pPr>
                      <a:r>
                        <a:rPr lang="en-IN" sz="1100" b="1" i="0" u="none" strike="noStrike" kern="1200" noProof="0">
                          <a:solidFill>
                            <a:schemeClr val="bg1"/>
                          </a:solidFill>
                          <a:latin typeface="Nunito Sans"/>
                          <a:ea typeface="+mn-ea"/>
                          <a:cs typeface="+mn-cs"/>
                        </a:rPr>
                        <a:t>Programs/Projects</a:t>
                      </a:r>
                      <a:endParaRPr lang="en-US"/>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solidFill>
                      <a:schemeClr val="accent3">
                        <a:lumMod val="90000"/>
                        <a:lumOff val="10000"/>
                      </a:schemeClr>
                    </a:solidFill>
                  </a:tcPr>
                </a:tc>
                <a:tc>
                  <a:txBody>
                    <a:bodyPr/>
                    <a:lstStyle/>
                    <a:p>
                      <a:pPr marL="0" indent="0" algn="ctr" defTabSz="914400" rtl="0" eaLnBrk="1" latinLnBrk="0" hangingPunct="1">
                        <a:buFont typeface="Arial" panose="020B0604020202020204" pitchFamily="34" charset="0"/>
                        <a:buNone/>
                      </a:pPr>
                      <a:r>
                        <a:rPr lang="en-IN" sz="1100" kern="1200">
                          <a:solidFill>
                            <a:schemeClr val="bg1"/>
                          </a:solidFill>
                          <a:latin typeface="+mn-lt"/>
                          <a:ea typeface="+mn-ea"/>
                          <a:cs typeface="+mn-cs"/>
                        </a:rPr>
                        <a:t>Value Justification/Realization</a:t>
                      </a:r>
                      <a:endParaRPr lang="en-US" sz="1100"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tc>
                  <a:txBody>
                    <a:bodyPr/>
                    <a:lstStyle/>
                    <a:p>
                      <a:pPr marL="0" indent="0" algn="ctr" defTabSz="914400" rtl="0" eaLnBrk="1" latinLnBrk="0" hangingPunct="1">
                        <a:buFont typeface="Arial" panose="020B0604020202020204" pitchFamily="34" charset="0"/>
                        <a:buNone/>
                      </a:pPr>
                      <a:r>
                        <a:rPr lang="en-US" sz="1100" kern="1200">
                          <a:solidFill>
                            <a:schemeClr val="bg1"/>
                          </a:solidFill>
                          <a:latin typeface="+mn-lt"/>
                          <a:ea typeface="+mn-ea"/>
                          <a:cs typeface="+mn-cs"/>
                        </a:rPr>
                        <a:t>Go-live Date</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extLst>
                  <a:ext uri="{0D108BD9-81ED-4DB2-BD59-A6C34878D82A}">
                    <a16:rowId xmlns:a16="http://schemas.microsoft.com/office/drawing/2014/main" val="844450115"/>
                  </a:ext>
                </a:extLst>
              </a:tr>
              <a:tr h="157957">
                <a:tc>
                  <a:txBody>
                    <a:bodyPr/>
                    <a:lstStyle/>
                    <a:p>
                      <a:pPr lvl="0" algn="l">
                        <a:lnSpc>
                          <a:spcPct val="100000"/>
                        </a:lnSpc>
                        <a:spcBef>
                          <a:spcPts val="0"/>
                        </a:spcBef>
                        <a:spcAft>
                          <a:spcPts val="0"/>
                        </a:spcAft>
                        <a:buNone/>
                      </a:pPr>
                      <a:r>
                        <a:rPr lang="en-US" sz="1100" b="1" i="0" u="none" strike="noStrike" kern="1200" noProof="0">
                          <a:solidFill>
                            <a:srgbClr val="016FBC"/>
                          </a:solidFill>
                          <a:latin typeface="Aptos"/>
                          <a:ea typeface="+mn-ea"/>
                          <a:cs typeface="+mn-cs"/>
                        </a:rPr>
                        <a:t>IOCC System Request Categorization (Email to Case)  - Adhoc</a:t>
                      </a:r>
                      <a:endParaRPr lang="en-US" err="1">
                        <a:solidFill>
                          <a:srgbClr val="016FBC"/>
                        </a:solidFill>
                      </a:endParaRP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lvl="0" indent="0" algn="l">
                        <a:lnSpc>
                          <a:spcPct val="100000"/>
                        </a:lnSpc>
                        <a:buNone/>
                      </a:pPr>
                      <a:r>
                        <a:rPr lang="en-US" sz="1100" b="0" kern="1200">
                          <a:solidFill>
                            <a:schemeClr val="tx1"/>
                          </a:solidFill>
                          <a:latin typeface="+mn-lt"/>
                          <a:ea typeface="+mn-ea"/>
                          <a:cs typeface="+mn-cs"/>
                        </a:rPr>
                        <a:t>IOCC Compliance</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lvl="0" indent="0" algn="l">
                        <a:buNone/>
                      </a:pPr>
                      <a:r>
                        <a:rPr lang="en-US" sz="1100" b="0" i="0" u="none" strike="noStrike" noProof="0">
                          <a:latin typeface="Nunito Sans"/>
                        </a:rPr>
                        <a:t>To raise operational issues or grievances by emailing the Systems team, which in turn automatically generates an incident/ticket for easy tracking and resolution. </a:t>
                      </a:r>
                      <a:endParaRPr lang="en-US"/>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lvl="0" indent="0" algn="l">
                        <a:buNone/>
                      </a:pPr>
                      <a:r>
                        <a:rPr lang="en-US" sz="1100" b="0" i="0" u="none" strike="noStrike" noProof="0">
                          <a:solidFill>
                            <a:srgbClr val="0070C0"/>
                          </a:solidFill>
                          <a:latin typeface="Arial"/>
                          <a:cs typeface="Arial"/>
                        </a:rPr>
                        <a:t>Business Go-Live </a:t>
                      </a:r>
                      <a:br>
                        <a:rPr lang="en-US" sz="1100" b="0" i="0" u="none" strike="noStrike" noProof="0">
                          <a:solidFill>
                            <a:srgbClr val="0070C0"/>
                          </a:solidFill>
                          <a:latin typeface="Arial"/>
                          <a:cs typeface="Arial"/>
                        </a:rPr>
                      </a:br>
                      <a:r>
                        <a:rPr lang="en-US" sz="1100" b="0" i="0" u="none" strike="noStrike" noProof="0">
                          <a:solidFill>
                            <a:srgbClr val="016FBC"/>
                          </a:solidFill>
                          <a:latin typeface="Arial"/>
                        </a:rPr>
                        <a:t>11-Jun-26</a:t>
                      </a:r>
                    </a:p>
                  </a:txBody>
                  <a:tcPr anchor="ctr">
                    <a:lnL w="6350" cap="flat" cmpd="sng" algn="ctr">
                      <a:solidFill>
                        <a:schemeClr val="bg1">
                          <a:lumMod val="75000"/>
                        </a:schemeClr>
                      </a:solidFill>
                      <a:prstDash val="solid"/>
                      <a:round/>
                      <a:headEnd type="none" w="med" len="med"/>
                      <a:tailEnd type="none" w="med" len="med"/>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959550173"/>
                  </a:ext>
                </a:extLst>
              </a:tr>
              <a:tr h="157957">
                <a:tc>
                  <a:txBody>
                    <a:bodyPr/>
                    <a:lstStyle/>
                    <a:p>
                      <a:pPr marL="0" lvl="0" indent="0" algn="l">
                        <a:lnSpc>
                          <a:spcPct val="100000"/>
                        </a:lnSpc>
                        <a:buNone/>
                      </a:pPr>
                      <a:r>
                        <a:rPr lang="en-US" sz="1100" b="1" kern="1200">
                          <a:solidFill>
                            <a:srgbClr val="016FBC"/>
                          </a:solidFill>
                          <a:latin typeface="+mn-lt"/>
                          <a:ea typeface="+mn-ea"/>
                          <a:cs typeface="+mn-cs"/>
                        </a:rPr>
                        <a:t>SRE Bot Incidents Integration - Adhoc</a:t>
                      </a:r>
                      <a:endParaRPr lang="en-US" err="1">
                        <a:solidFill>
                          <a:srgbClr val="016FBC"/>
                        </a:solidFill>
                      </a:endParaRPr>
                    </a:p>
                  </a:txBody>
                  <a:tcPr anchor="ctr">
                    <a:lnL w="6350">
                      <a:solidFill>
                        <a:schemeClr val="bg1">
                          <a:lumMod val="75000"/>
                        </a:schemeClr>
                      </a:solidFill>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a:solidFill>
                        <a:schemeClr val="bg1">
                          <a:lumMod val="75000"/>
                        </a:schemeClr>
                      </a:solidFill>
                    </a:lnB>
                    <a:noFill/>
                  </a:tcPr>
                </a:tc>
                <a:tc>
                  <a:txBody>
                    <a:bodyPr/>
                    <a:lstStyle/>
                    <a:p>
                      <a:pPr marL="0" lvl="0" indent="0" algn="l">
                        <a:lnSpc>
                          <a:spcPct val="100000"/>
                        </a:lnSpc>
                        <a:buNone/>
                      </a:pPr>
                      <a:r>
                        <a:rPr lang="en-US" sz="1100" b="0" i="0" u="none" strike="noStrike" kern="1200" noProof="0">
                          <a:solidFill>
                            <a:schemeClr val="tx1"/>
                          </a:solidFill>
                          <a:latin typeface="Nunito Sans"/>
                          <a:ea typeface="+mn-ea"/>
                          <a:cs typeface="+mn-cs"/>
                        </a:rPr>
                        <a:t>Incident Reporting Integration – Agentic Initiative</a:t>
                      </a:r>
                      <a:endParaRPr lang="en-US"/>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lvl="0" indent="0" algn="l">
                        <a:buNone/>
                      </a:pPr>
                      <a:r>
                        <a:rPr lang="en-US" sz="1100"/>
                        <a:t>SRE Bot to create Incidents in ServiceNow for More than 25 Enterprise Applications. UAT Sign-Off Completed.</a:t>
                      </a:r>
                      <a:endParaRPr lang="en-US" sz="1100" b="0" i="0" u="none" strike="noStrike" noProof="0">
                        <a:solidFill>
                          <a:srgbClr val="000000"/>
                        </a:solidFill>
                        <a:latin typeface="Nunito Sans"/>
                      </a:endParaRPr>
                    </a:p>
                  </a:txBody>
                  <a:tcPr anchor="ctr">
                    <a:lnL w="6350">
                      <a:solidFill>
                        <a:schemeClr val="bg1">
                          <a:lumMod val="75000"/>
                        </a:schemeClr>
                      </a:solidFill>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a:solidFill>
                        <a:schemeClr val="bg1">
                          <a:lumMod val="75000"/>
                        </a:schemeClr>
                      </a:solidFill>
                    </a:lnB>
                    <a:noFill/>
                  </a:tcPr>
                </a:tc>
                <a:tc>
                  <a:txBody>
                    <a:bodyPr/>
                    <a:lstStyle/>
                    <a:p>
                      <a:pPr marL="0" lvl="0" indent="0" algn="l">
                        <a:buNone/>
                      </a:pPr>
                      <a:r>
                        <a:rPr lang="en-US" sz="1100" b="0" i="0" u="none" strike="noStrike" noProof="0">
                          <a:solidFill>
                            <a:srgbClr val="0070C0"/>
                          </a:solidFill>
                          <a:latin typeface="Arial"/>
                          <a:cs typeface="Arial"/>
                        </a:rPr>
                        <a:t>Business Go-Live </a:t>
                      </a:r>
                      <a:endParaRPr lang="en-US"/>
                    </a:p>
                    <a:p>
                      <a:pPr marL="0" lvl="0" indent="0" algn="l">
                        <a:buNone/>
                      </a:pPr>
                      <a:r>
                        <a:rPr lang="en-US" sz="1100" b="0" i="0" u="none" strike="noStrike" noProof="0">
                          <a:solidFill>
                            <a:srgbClr val="016FBC"/>
                          </a:solidFill>
                          <a:latin typeface="Arial"/>
                          <a:cs typeface="Arial"/>
                        </a:rPr>
                        <a:t>26-Jun-26</a:t>
                      </a:r>
                      <a:r>
                        <a:rPr lang="en-US" sz="1100" b="0" i="0" u="none" strike="noStrike" noProof="0">
                          <a:latin typeface="Arial"/>
                        </a:rPr>
                        <a:t> </a:t>
                      </a:r>
                      <a:endParaRPr lang="en-US"/>
                    </a:p>
                    <a:p>
                      <a:pPr marL="0" lvl="0" indent="0" algn="l">
                        <a:buNone/>
                      </a:pPr>
                      <a:endParaRPr lang="en-US" sz="1100" b="0" i="0" u="none" strike="noStrike" noProof="0">
                        <a:solidFill>
                          <a:srgbClr val="000000"/>
                        </a:solidFill>
                        <a:latin typeface="Arial"/>
                        <a:cs typeface="Arial"/>
                      </a:endParaRPr>
                    </a:p>
                  </a:txBody>
                  <a:tcPr anchor="ctr">
                    <a:lnL w="6350">
                      <a:solidFill>
                        <a:schemeClr val="bg1">
                          <a:lumMod val="75000"/>
                        </a:schemeClr>
                      </a:solidFill>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088972275"/>
                  </a:ext>
                </a:extLst>
              </a:tr>
            </a:tbl>
          </a:graphicData>
        </a:graphic>
      </p:graphicFrame>
      <p:sp>
        <p:nvSpPr>
          <p:cNvPr id="8" name="Rectangle 7">
            <a:extLst>
              <a:ext uri="{FF2B5EF4-FFF2-40B4-BE49-F238E27FC236}">
                <a16:creationId xmlns:a16="http://schemas.microsoft.com/office/drawing/2014/main" id="{87679CE0-E9C4-BC60-AFBA-43566B78BF13}"/>
              </a:ext>
            </a:extLst>
          </p:cNvPr>
          <p:cNvSpPr/>
          <p:nvPr/>
        </p:nvSpPr>
        <p:spPr>
          <a:xfrm>
            <a:off x="299057" y="1950379"/>
            <a:ext cx="1170432" cy="42234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defRPr/>
            </a:pPr>
            <a:r>
              <a:rPr lang="en-IN" sz="1400" b="1">
                <a:solidFill>
                  <a:srgbClr val="FFFFFF"/>
                </a:solidFill>
                <a:latin typeface="AirIndia"/>
              </a:rPr>
              <a:t>May </a:t>
            </a:r>
            <a:r>
              <a:rPr kumimoji="0" lang="en-IN" sz="1400" b="1" i="0" u="none" strike="noStrike" kern="1200" cap="none" spc="0" normalizeH="0" baseline="0" noProof="0">
                <a:ln>
                  <a:noFill/>
                </a:ln>
                <a:solidFill>
                  <a:srgbClr val="FFFFFF"/>
                </a:solidFill>
                <a:effectLst/>
                <a:uLnTx/>
                <a:uFillTx/>
                <a:latin typeface="AirIndia"/>
              </a:rPr>
              <a:t>‘</a:t>
            </a:r>
            <a:r>
              <a:rPr lang="en-IN" sz="1400" b="1">
                <a:solidFill>
                  <a:srgbClr val="FFFFFF"/>
                </a:solidFill>
                <a:latin typeface="AirIndia"/>
              </a:rPr>
              <a:t>26</a:t>
            </a:r>
            <a:endParaRPr kumimoji="0" lang="en-US" sz="1400" b="1" i="0" u="none" strike="noStrike" kern="1200" cap="none" spc="0" normalizeH="0" baseline="0" noProof="0">
              <a:ln>
                <a:noFill/>
              </a:ln>
              <a:solidFill>
                <a:srgbClr val="FFFFFF"/>
              </a:solidFill>
              <a:effectLst/>
              <a:uLnTx/>
              <a:uFillTx/>
              <a:latin typeface="AirIndia" panose="04050608020B02020302" charset="0"/>
              <a:ea typeface="+mn-ea"/>
              <a:cs typeface="+mn-cs"/>
            </a:endParaRPr>
          </a:p>
        </p:txBody>
      </p:sp>
      <p:sp>
        <p:nvSpPr>
          <p:cNvPr id="10" name="Rectangle 9">
            <a:extLst>
              <a:ext uri="{FF2B5EF4-FFF2-40B4-BE49-F238E27FC236}">
                <a16:creationId xmlns:a16="http://schemas.microsoft.com/office/drawing/2014/main" id="{EB7BC11E-C16E-FAA6-90F0-1699F7611673}"/>
              </a:ext>
            </a:extLst>
          </p:cNvPr>
          <p:cNvSpPr/>
          <p:nvPr/>
        </p:nvSpPr>
        <p:spPr>
          <a:xfrm>
            <a:off x="273336" y="3759148"/>
            <a:ext cx="1170432" cy="42234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400" b="1">
                <a:solidFill>
                  <a:srgbClr val="FFFFFF"/>
                </a:solidFill>
                <a:latin typeface="AirIndia"/>
              </a:rPr>
              <a:t>June</a:t>
            </a:r>
            <a:r>
              <a:rPr kumimoji="0" lang="en-IN" sz="1400" b="1" i="0" u="none" strike="noStrike" kern="1200" cap="none" spc="0" normalizeH="0" baseline="0" noProof="0">
                <a:ln>
                  <a:noFill/>
                </a:ln>
                <a:solidFill>
                  <a:srgbClr val="FFFFFF"/>
                </a:solidFill>
                <a:effectLst/>
                <a:uLnTx/>
                <a:uFillTx/>
                <a:latin typeface="AirIndia"/>
              </a:rPr>
              <a:t> ‘</a:t>
            </a:r>
            <a:r>
              <a:rPr lang="en-IN" sz="1400" b="1">
                <a:solidFill>
                  <a:srgbClr val="FFFFFF"/>
                </a:solidFill>
                <a:latin typeface="AirIndia"/>
              </a:rPr>
              <a:t>26</a:t>
            </a:r>
            <a:endParaRPr kumimoji="0" lang="en-US" sz="1400" b="1" i="0" u="none" strike="noStrike" kern="1200" cap="none" spc="0" normalizeH="0" baseline="0" noProof="0">
              <a:ln>
                <a:noFill/>
              </a:ln>
              <a:solidFill>
                <a:srgbClr val="FFFFFF"/>
              </a:solidFill>
              <a:effectLst/>
              <a:uLnTx/>
              <a:uFillTx/>
              <a:latin typeface="AirIndia" panose="04050608020B02020302" charset="0"/>
              <a:ea typeface="+mn-ea"/>
              <a:cs typeface="+mn-cs"/>
            </a:endParaRPr>
          </a:p>
        </p:txBody>
      </p:sp>
    </p:spTree>
    <p:extLst>
      <p:ext uri="{BB962C8B-B14F-4D97-AF65-F5344CB8AC3E}">
        <p14:creationId xmlns:p14="http://schemas.microsoft.com/office/powerpoint/2010/main" val="71475092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8DEDEC-6114-E434-F165-D1097968D4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CCD865-0E23-CF16-597B-35945BA4D3CC}"/>
              </a:ext>
            </a:extLst>
          </p:cNvPr>
          <p:cNvSpPr>
            <a:spLocks noGrp="1"/>
          </p:cNvSpPr>
          <p:nvPr>
            <p:ph type="title"/>
          </p:nvPr>
        </p:nvSpPr>
        <p:spPr>
          <a:xfrm>
            <a:off x="1077687" y="303594"/>
            <a:ext cx="10023825" cy="1983612"/>
          </a:xfrm>
        </p:spPr>
        <p:txBody>
          <a:bodyPr/>
          <a:lstStyle/>
          <a:p>
            <a:r>
              <a:rPr lang="en-US" sz="3600">
                <a:latin typeface="AirIndia"/>
              </a:rPr>
              <a:t>Enterprise Platforms – FY26-27/Q2</a:t>
            </a:r>
            <a:endParaRPr lang="en-IN" sz="3600"/>
          </a:p>
        </p:txBody>
      </p:sp>
    </p:spTree>
    <p:extLst>
      <p:ext uri="{BB962C8B-B14F-4D97-AF65-F5344CB8AC3E}">
        <p14:creationId xmlns:p14="http://schemas.microsoft.com/office/powerpoint/2010/main" val="241689524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6D3644-464E-0BAA-5B02-05452E60ACDC}"/>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43B4B61-2B21-7CE6-8187-26E994ED54E2}"/>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3A41A254-7326-714E-AF55-4C213D6394DE}" type="slidenum">
              <a:rPr kumimoji="0" lang="en-US" sz="1200" b="0" i="0" u="none" strike="noStrike" kern="1200" cap="none" spc="0" normalizeH="0" baseline="0" noProof="0" smtClean="0">
                <a:ln>
                  <a:noFill/>
                </a:ln>
                <a:solidFill>
                  <a:srgbClr val="DA0E28"/>
                </a:solidFill>
                <a:effectLst/>
                <a:uLnTx/>
                <a:uFillTx/>
                <a:latin typeface="Nunito Sans"/>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57</a:t>
            </a:fld>
            <a:endParaRPr kumimoji="0" lang="en-US" sz="1200" b="0" i="0" u="none" strike="noStrike" kern="1200" cap="none" spc="0" normalizeH="0" baseline="0" noProof="0">
              <a:ln>
                <a:noFill/>
              </a:ln>
              <a:solidFill>
                <a:srgbClr val="DA0E28"/>
              </a:solidFill>
              <a:effectLst/>
              <a:uLnTx/>
              <a:uFillTx/>
              <a:latin typeface="Nunito Sans"/>
              <a:ea typeface="+mn-ea"/>
              <a:cs typeface="+mn-cs"/>
            </a:endParaRPr>
          </a:p>
        </p:txBody>
      </p:sp>
      <p:sp>
        <p:nvSpPr>
          <p:cNvPr id="6" name="Title 11">
            <a:extLst>
              <a:ext uri="{FF2B5EF4-FFF2-40B4-BE49-F238E27FC236}">
                <a16:creationId xmlns:a16="http://schemas.microsoft.com/office/drawing/2014/main" id="{A7CC221C-4245-512A-BD5A-50696528441A}"/>
              </a:ext>
            </a:extLst>
          </p:cNvPr>
          <p:cNvSpPr txBox="1">
            <a:spLocks/>
          </p:cNvSpPr>
          <p:nvPr/>
        </p:nvSpPr>
        <p:spPr>
          <a:xfrm>
            <a:off x="304800" y="269218"/>
            <a:ext cx="9749641" cy="480073"/>
          </a:xfrm>
          <a:prstGeom prst="rect">
            <a:avLst/>
          </a:prstGeom>
        </p:spPr>
        <p:txBody>
          <a:bodyPr lIns="91440" tIns="45720" rIns="91440" bIns="45720" anchor="t">
            <a:noAutofit/>
          </a:bodyPr>
          <a:lstStyle>
            <a:lvl1pPr algn="l" defTabSz="914400" rtl="0" eaLnBrk="1" latinLnBrk="0" hangingPunct="1">
              <a:lnSpc>
                <a:spcPct val="90000"/>
              </a:lnSpc>
              <a:spcBef>
                <a:spcPct val="0"/>
              </a:spcBef>
              <a:buNone/>
              <a:defRPr sz="4400" b="1" i="0" kern="1200">
                <a:solidFill>
                  <a:schemeClr val="tx1"/>
                </a:solidFill>
                <a:latin typeface="AirIndia" pitchFamily="82" charset="77"/>
                <a:ea typeface="+mj-ea"/>
                <a:cs typeface="+mj-cs"/>
              </a:defRPr>
            </a:lvl1pPr>
          </a:lstStyle>
          <a:p>
            <a:pPr>
              <a:defRPr/>
            </a:pPr>
            <a:r>
              <a:rPr kumimoji="0" lang="en-US" sz="1800" b="1" i="0" u="none" strike="noStrike" kern="1200" cap="none" spc="0" normalizeH="0" baseline="0" noProof="0">
                <a:ln>
                  <a:noFill/>
                </a:ln>
                <a:solidFill>
                  <a:srgbClr val="DA0E28"/>
                </a:solidFill>
                <a:effectLst/>
                <a:uLnTx/>
                <a:uFillTx/>
                <a:latin typeface="AirIndia"/>
                <a:ea typeface="+mj-ea"/>
                <a:cs typeface="+mj-cs"/>
              </a:rPr>
              <a:t>Enterprise </a:t>
            </a:r>
            <a:r>
              <a:rPr lang="en-US" sz="1800">
                <a:solidFill>
                  <a:srgbClr val="DA0E28"/>
                </a:solidFill>
                <a:latin typeface="AirIndia"/>
              </a:rPr>
              <a:t>Integration -FY26-27</a:t>
            </a:r>
            <a:r>
              <a:rPr kumimoji="0" lang="en-US" sz="1800" b="1" i="0" u="none" strike="noStrike" kern="1200" cap="none" spc="0" normalizeH="0" baseline="0" noProof="0">
                <a:ln>
                  <a:noFill/>
                </a:ln>
                <a:solidFill>
                  <a:srgbClr val="DA0E28"/>
                </a:solidFill>
                <a:effectLst/>
                <a:uLnTx/>
                <a:uFillTx/>
                <a:latin typeface="AirIndia"/>
                <a:ea typeface="+mj-ea"/>
                <a:cs typeface="+mj-cs"/>
              </a:rPr>
              <a:t> </a:t>
            </a:r>
            <a:r>
              <a:rPr lang="en-US" sz="1800">
                <a:solidFill>
                  <a:srgbClr val="DA0E28"/>
                </a:solidFill>
                <a:latin typeface="AirIndia"/>
              </a:rPr>
              <a:t>Q2</a:t>
            </a:r>
            <a:r>
              <a:rPr kumimoji="0" lang="en-US" sz="1800" b="1" i="0" u="none" strike="noStrike" kern="1200" cap="none" spc="0" normalizeH="0" baseline="0" noProof="0">
                <a:ln>
                  <a:noFill/>
                </a:ln>
                <a:solidFill>
                  <a:srgbClr val="DA0E28"/>
                </a:solidFill>
                <a:effectLst/>
                <a:uLnTx/>
                <a:uFillTx/>
                <a:latin typeface="AirIndia"/>
                <a:ea typeface="+mj-ea"/>
                <a:cs typeface="+mj-cs"/>
              </a:rPr>
              <a:t> Release </a:t>
            </a:r>
            <a:r>
              <a:rPr lang="en-US" sz="1800">
                <a:solidFill>
                  <a:srgbClr val="DA0E28"/>
                </a:solidFill>
                <a:latin typeface="AirIndia"/>
              </a:rPr>
              <a:t>Plan</a:t>
            </a:r>
            <a:endParaRPr lang="en-US" sz="1800" b="0">
              <a:solidFill>
                <a:srgbClr val="000000"/>
              </a:solidFill>
              <a:latin typeface="AirIndia"/>
            </a:endParaRPr>
          </a:p>
          <a:p>
            <a:pPr>
              <a:defRPr/>
            </a:pPr>
            <a:endParaRPr lang="en-US" sz="1800" i="0" u="none" strike="noStrike" kern="1200" cap="none" spc="0" normalizeH="0" baseline="0" noProof="0">
              <a:ln>
                <a:noFill/>
              </a:ln>
              <a:solidFill>
                <a:srgbClr val="DA0E28"/>
              </a:solidFill>
              <a:effectLst/>
              <a:uLnTx/>
              <a:uFillTx/>
              <a:latin typeface="AirIndia"/>
            </a:endParaRPr>
          </a:p>
        </p:txBody>
      </p:sp>
      <p:sp>
        <p:nvSpPr>
          <p:cNvPr id="4" name="Rectangle 3">
            <a:extLst>
              <a:ext uri="{FF2B5EF4-FFF2-40B4-BE49-F238E27FC236}">
                <a16:creationId xmlns:a16="http://schemas.microsoft.com/office/drawing/2014/main" id="{69ECB35F-2B4E-0183-09DE-2F650389719B}"/>
              </a:ext>
            </a:extLst>
          </p:cNvPr>
          <p:cNvSpPr/>
          <p:nvPr/>
        </p:nvSpPr>
        <p:spPr>
          <a:xfrm rot="5400000">
            <a:off x="8942419" y="6655587"/>
            <a:ext cx="90000" cy="90000"/>
          </a:xfrm>
          <a:prstGeom prst="rect">
            <a:avLst/>
          </a:prstGeom>
          <a:solidFill>
            <a:schemeClr val="bg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9" name="TextBox 8">
            <a:extLst>
              <a:ext uri="{FF2B5EF4-FFF2-40B4-BE49-F238E27FC236}">
                <a16:creationId xmlns:a16="http://schemas.microsoft.com/office/drawing/2014/main" id="{4967399A-ED1E-7709-FCD8-05B3A342F4A8}"/>
              </a:ext>
            </a:extLst>
          </p:cNvPr>
          <p:cNvSpPr txBox="1"/>
          <p:nvPr/>
        </p:nvSpPr>
        <p:spPr>
          <a:xfrm>
            <a:off x="8986097" y="6582653"/>
            <a:ext cx="3069090" cy="246221"/>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FFFFFF">
                    <a:lumMod val="49000"/>
                  </a:srgbClr>
                </a:solidFill>
                <a:effectLst/>
                <a:uLnTx/>
                <a:uFillTx/>
                <a:latin typeface="Nunito Sans"/>
                <a:ea typeface="+mn-ea"/>
                <a:cs typeface="+mn-cs"/>
              </a:rPr>
              <a:t>Descoped</a:t>
            </a:r>
          </a:p>
        </p:txBody>
      </p:sp>
      <p:sp>
        <p:nvSpPr>
          <p:cNvPr id="18" name="Rectangle 17">
            <a:extLst>
              <a:ext uri="{FF2B5EF4-FFF2-40B4-BE49-F238E27FC236}">
                <a16:creationId xmlns:a16="http://schemas.microsoft.com/office/drawing/2014/main" id="{7C1146A8-CC7D-FE1B-43E7-8424B957C157}"/>
              </a:ext>
            </a:extLst>
          </p:cNvPr>
          <p:cNvSpPr/>
          <p:nvPr/>
        </p:nvSpPr>
        <p:spPr>
          <a:xfrm>
            <a:off x="10326888" y="6653023"/>
            <a:ext cx="90000" cy="90000"/>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20" name="Rectangle 19">
            <a:extLst>
              <a:ext uri="{FF2B5EF4-FFF2-40B4-BE49-F238E27FC236}">
                <a16:creationId xmlns:a16="http://schemas.microsoft.com/office/drawing/2014/main" id="{F203AE6E-7CF1-2DF5-EB92-B7854B70426F}"/>
              </a:ext>
            </a:extLst>
          </p:cNvPr>
          <p:cNvSpPr/>
          <p:nvPr/>
        </p:nvSpPr>
        <p:spPr>
          <a:xfrm>
            <a:off x="1433259" y="6651985"/>
            <a:ext cx="90000" cy="90000"/>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22" name="Rectangle 21">
            <a:extLst>
              <a:ext uri="{FF2B5EF4-FFF2-40B4-BE49-F238E27FC236}">
                <a16:creationId xmlns:a16="http://schemas.microsoft.com/office/drawing/2014/main" id="{6B0C814F-9449-9BAE-EA6F-33164B8E16BA}"/>
              </a:ext>
            </a:extLst>
          </p:cNvPr>
          <p:cNvSpPr/>
          <p:nvPr/>
        </p:nvSpPr>
        <p:spPr>
          <a:xfrm>
            <a:off x="5909236" y="6676608"/>
            <a:ext cx="90000" cy="90000"/>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23" name="Rectangle 22">
            <a:extLst>
              <a:ext uri="{FF2B5EF4-FFF2-40B4-BE49-F238E27FC236}">
                <a16:creationId xmlns:a16="http://schemas.microsoft.com/office/drawing/2014/main" id="{D41BDBA7-FE59-6A7A-03EF-7EE3B8D11C0C}"/>
              </a:ext>
            </a:extLst>
          </p:cNvPr>
          <p:cNvSpPr/>
          <p:nvPr/>
        </p:nvSpPr>
        <p:spPr>
          <a:xfrm>
            <a:off x="2752379" y="6642913"/>
            <a:ext cx="90000" cy="90000"/>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24" name="TextBox 15">
            <a:extLst>
              <a:ext uri="{FF2B5EF4-FFF2-40B4-BE49-F238E27FC236}">
                <a16:creationId xmlns:a16="http://schemas.microsoft.com/office/drawing/2014/main" id="{0D51AED2-7B7C-D097-05C0-5E829A666A4C}"/>
              </a:ext>
            </a:extLst>
          </p:cNvPr>
          <p:cNvSpPr txBox="1"/>
          <p:nvPr/>
        </p:nvSpPr>
        <p:spPr>
          <a:xfrm>
            <a:off x="10416853" y="6596174"/>
            <a:ext cx="857245"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0070C0"/>
                </a:solidFill>
                <a:effectLst/>
                <a:uLnTx/>
                <a:uFillTx/>
                <a:latin typeface="Nunito Sans"/>
                <a:ea typeface="+mn-ea"/>
                <a:cs typeface="+mn-cs"/>
              </a:rPr>
              <a:t>Delivered</a:t>
            </a:r>
            <a:endParaRPr kumimoji="0" lang="en-IN" sz="1000" b="0" i="0" u="none" strike="noStrike" kern="1200" cap="none" spc="0" normalizeH="0" baseline="0" noProof="0">
              <a:ln>
                <a:noFill/>
              </a:ln>
              <a:solidFill>
                <a:srgbClr val="000000"/>
              </a:solidFill>
              <a:effectLst/>
              <a:uLnTx/>
              <a:uFillTx/>
              <a:latin typeface="Nunito Sans"/>
              <a:ea typeface="+mn-ea"/>
              <a:cs typeface="+mn-cs"/>
            </a:endParaRPr>
          </a:p>
        </p:txBody>
      </p:sp>
      <p:sp>
        <p:nvSpPr>
          <p:cNvPr id="25" name="TextBox 18">
            <a:extLst>
              <a:ext uri="{FF2B5EF4-FFF2-40B4-BE49-F238E27FC236}">
                <a16:creationId xmlns:a16="http://schemas.microsoft.com/office/drawing/2014/main" id="{C2AEF34F-AB8C-A46E-95ED-28E06DACDDED}"/>
              </a:ext>
            </a:extLst>
          </p:cNvPr>
          <p:cNvSpPr txBox="1"/>
          <p:nvPr/>
        </p:nvSpPr>
        <p:spPr>
          <a:xfrm>
            <a:off x="1554283" y="6592533"/>
            <a:ext cx="1032881"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00B050"/>
                </a:solidFill>
                <a:effectLst/>
                <a:uLnTx/>
                <a:uFillTx/>
                <a:latin typeface="Nunito Sans"/>
                <a:ea typeface="+mn-ea"/>
                <a:cs typeface="+mn-cs"/>
              </a:rPr>
              <a:t>Ontrack</a:t>
            </a:r>
            <a:endParaRPr kumimoji="0" lang="en-IN" sz="1000" b="0" i="0" u="none" strike="noStrike" kern="1200" cap="none" spc="0" normalizeH="0" baseline="0" noProof="0">
              <a:ln>
                <a:noFill/>
              </a:ln>
              <a:solidFill>
                <a:srgbClr val="000000"/>
              </a:solidFill>
              <a:effectLst/>
              <a:uLnTx/>
              <a:uFillTx/>
              <a:latin typeface="Nunito Sans"/>
              <a:ea typeface="+mn-ea"/>
              <a:cs typeface="+mn-cs"/>
            </a:endParaRPr>
          </a:p>
        </p:txBody>
      </p:sp>
      <p:sp>
        <p:nvSpPr>
          <p:cNvPr id="26" name="TextBox 20">
            <a:extLst>
              <a:ext uri="{FF2B5EF4-FFF2-40B4-BE49-F238E27FC236}">
                <a16:creationId xmlns:a16="http://schemas.microsoft.com/office/drawing/2014/main" id="{0D1AAC2F-966A-6668-E1D0-58E48E81FCBB}"/>
              </a:ext>
            </a:extLst>
          </p:cNvPr>
          <p:cNvSpPr txBox="1"/>
          <p:nvPr/>
        </p:nvSpPr>
        <p:spPr>
          <a:xfrm>
            <a:off x="6092504" y="6635159"/>
            <a:ext cx="2257628"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FED9A0">
                    <a:lumMod val="75000"/>
                  </a:srgbClr>
                </a:solidFill>
                <a:effectLst/>
                <a:uLnTx/>
                <a:uFillTx/>
                <a:latin typeface="Nunito Sans"/>
                <a:ea typeface="+mn-ea"/>
                <a:cs typeface="+mn-cs"/>
              </a:rPr>
              <a:t>Under delay and can be recovered</a:t>
            </a:r>
            <a:endParaRPr kumimoji="0" lang="en-IN" sz="1000" b="0" i="0" u="none" strike="noStrike" kern="1200" cap="none" spc="0" normalizeH="0" baseline="0" noProof="0">
              <a:ln>
                <a:noFill/>
              </a:ln>
              <a:solidFill>
                <a:srgbClr val="000000"/>
              </a:solidFill>
              <a:effectLst/>
              <a:uLnTx/>
              <a:uFillTx/>
              <a:latin typeface="Nunito Sans"/>
              <a:ea typeface="+mn-ea"/>
              <a:cs typeface="+mn-cs"/>
            </a:endParaRPr>
          </a:p>
        </p:txBody>
      </p:sp>
      <p:sp>
        <p:nvSpPr>
          <p:cNvPr id="27" name="TextBox 22">
            <a:extLst>
              <a:ext uri="{FF2B5EF4-FFF2-40B4-BE49-F238E27FC236}">
                <a16:creationId xmlns:a16="http://schemas.microsoft.com/office/drawing/2014/main" id="{0D36FF78-5AEC-53B0-81E1-CBF950DA6B05}"/>
              </a:ext>
            </a:extLst>
          </p:cNvPr>
          <p:cNvSpPr txBox="1"/>
          <p:nvPr/>
        </p:nvSpPr>
        <p:spPr>
          <a:xfrm>
            <a:off x="2842379" y="6579600"/>
            <a:ext cx="2338222"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FF0000"/>
                </a:solidFill>
                <a:effectLst/>
                <a:uLnTx/>
                <a:uFillTx/>
                <a:latin typeface="Nunito Sans"/>
                <a:ea typeface="+mn-ea"/>
                <a:cs typeface="+mn-cs"/>
              </a:rPr>
              <a:t>Delayed and pushed to next release</a:t>
            </a:r>
          </a:p>
        </p:txBody>
      </p:sp>
      <p:graphicFrame>
        <p:nvGraphicFramePr>
          <p:cNvPr id="7" name="Table 6">
            <a:extLst>
              <a:ext uri="{FF2B5EF4-FFF2-40B4-BE49-F238E27FC236}">
                <a16:creationId xmlns:a16="http://schemas.microsoft.com/office/drawing/2014/main" id="{31A41B3B-1F04-22D6-20A0-8A30D6B0D80D}"/>
              </a:ext>
            </a:extLst>
          </p:cNvPr>
          <p:cNvGraphicFramePr>
            <a:graphicFrameLocks noGrp="1"/>
          </p:cNvGraphicFramePr>
          <p:nvPr>
            <p:extLst>
              <p:ext uri="{D42A27DB-BD31-4B8C-83A1-F6EECF244321}">
                <p14:modId xmlns:p14="http://schemas.microsoft.com/office/powerpoint/2010/main" val="46573495"/>
              </p:ext>
            </p:extLst>
          </p:nvPr>
        </p:nvGraphicFramePr>
        <p:xfrm>
          <a:off x="1181100" y="848250"/>
          <a:ext cx="9300198" cy="4516623"/>
        </p:xfrm>
        <a:graphic>
          <a:graphicData uri="http://schemas.openxmlformats.org/drawingml/2006/table">
            <a:tbl>
              <a:tblPr firstRow="1" bandRow="1">
                <a:tableStyleId>{5C22544A-7EE6-4342-B048-85BDC9FD1C3A}</a:tableStyleId>
              </a:tblPr>
              <a:tblGrid>
                <a:gridCol w="939112">
                  <a:extLst>
                    <a:ext uri="{9D8B030D-6E8A-4147-A177-3AD203B41FA5}">
                      <a16:colId xmlns:a16="http://schemas.microsoft.com/office/drawing/2014/main" val="1795721954"/>
                    </a:ext>
                  </a:extLst>
                </a:gridCol>
                <a:gridCol w="1844075">
                  <a:extLst>
                    <a:ext uri="{9D8B030D-6E8A-4147-A177-3AD203B41FA5}">
                      <a16:colId xmlns:a16="http://schemas.microsoft.com/office/drawing/2014/main" val="2822350773"/>
                    </a:ext>
                  </a:extLst>
                </a:gridCol>
                <a:gridCol w="5427363">
                  <a:extLst>
                    <a:ext uri="{9D8B030D-6E8A-4147-A177-3AD203B41FA5}">
                      <a16:colId xmlns:a16="http://schemas.microsoft.com/office/drawing/2014/main" val="99588705"/>
                    </a:ext>
                  </a:extLst>
                </a:gridCol>
                <a:gridCol w="1089648">
                  <a:extLst>
                    <a:ext uri="{9D8B030D-6E8A-4147-A177-3AD203B41FA5}">
                      <a16:colId xmlns:a16="http://schemas.microsoft.com/office/drawing/2014/main" val="1739073323"/>
                    </a:ext>
                  </a:extLst>
                </a:gridCol>
              </a:tblGrid>
              <a:tr h="314172">
                <a:tc>
                  <a:txBody>
                    <a:bodyPr/>
                    <a:lstStyle/>
                    <a:p>
                      <a:pPr marL="0" lvl="0" indent="0" algn="ctr" defTabSz="914400">
                        <a:lnSpc>
                          <a:spcPct val="100000"/>
                        </a:lnSpc>
                        <a:buNone/>
                      </a:pPr>
                      <a:r>
                        <a:rPr lang="en-IN" sz="1100" b="1" kern="1200">
                          <a:solidFill>
                            <a:schemeClr val="bg1"/>
                          </a:solidFill>
                          <a:latin typeface="+mn-lt"/>
                          <a:ea typeface="+mn-ea"/>
                          <a:cs typeface="+mn-cs"/>
                        </a:rPr>
                        <a:t>LOB</a:t>
                      </a: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12700">
                      <a:solidFill>
                        <a:schemeClr val="tx1"/>
                      </a:solidFill>
                    </a:lnB>
                    <a:solidFill>
                      <a:schemeClr val="accent3">
                        <a:lumMod val="90000"/>
                        <a:lumOff val="10000"/>
                      </a:schemeClr>
                    </a:solidFill>
                  </a:tcPr>
                </a:tc>
                <a:tc>
                  <a:txBody>
                    <a:bodyPr/>
                    <a:lstStyle/>
                    <a:p>
                      <a:pPr marL="0" lvl="0" indent="0" algn="ctr" defTabSz="914400" rtl="0">
                        <a:lnSpc>
                          <a:spcPct val="100000"/>
                        </a:lnSpc>
                        <a:buFont typeface="Arial" panose="020B0604020202020204" pitchFamily="34" charset="0"/>
                        <a:buNone/>
                      </a:pPr>
                      <a:r>
                        <a:rPr lang="en-IN" sz="1100" b="1" kern="1200">
                          <a:solidFill>
                            <a:schemeClr val="bg1"/>
                          </a:solidFill>
                          <a:latin typeface="+mn-lt"/>
                          <a:ea typeface="+mn-ea"/>
                          <a:cs typeface="+mn-cs"/>
                        </a:rPr>
                        <a:t>Initiatives</a:t>
                      </a:r>
                      <a:endParaRPr lang="en-US" sz="1100" b="1"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90000"/>
                        <a:lumOff val="10000"/>
                      </a:schemeClr>
                    </a:solidFill>
                  </a:tcPr>
                </a:tc>
                <a:tc>
                  <a:txBody>
                    <a:bodyPr/>
                    <a:lstStyle/>
                    <a:p>
                      <a:pPr marL="0" indent="0" algn="ctr" defTabSz="914400" rtl="0" eaLnBrk="1" latinLnBrk="0" hangingPunct="1">
                        <a:buFont typeface="Arial" panose="020B0604020202020204" pitchFamily="34" charset="0"/>
                        <a:buNone/>
                      </a:pPr>
                      <a:r>
                        <a:rPr lang="en-IN" sz="1100" kern="1200">
                          <a:solidFill>
                            <a:schemeClr val="bg1"/>
                          </a:solidFill>
                          <a:latin typeface="+mn-lt"/>
                          <a:ea typeface="+mn-ea"/>
                          <a:cs typeface="+mn-cs"/>
                        </a:rPr>
                        <a:t>Value Justification/Realization</a:t>
                      </a:r>
                      <a:endParaRPr lang="en-US" sz="1100"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90000"/>
                        <a:lumOff val="10000"/>
                      </a:schemeClr>
                    </a:solidFill>
                  </a:tcPr>
                </a:tc>
                <a:tc>
                  <a:txBody>
                    <a:bodyPr/>
                    <a:lstStyle/>
                    <a:p>
                      <a:pPr marL="0" indent="0" algn="ctr" defTabSz="914400" rtl="0" eaLnBrk="1" latinLnBrk="0" hangingPunct="1">
                        <a:buFont typeface="Arial" panose="020B0604020202020204" pitchFamily="34" charset="0"/>
                        <a:buNone/>
                      </a:pPr>
                      <a:r>
                        <a:rPr lang="en-US" sz="1100" kern="1200">
                          <a:solidFill>
                            <a:schemeClr val="bg1"/>
                          </a:solidFill>
                          <a:latin typeface="+mn-lt"/>
                          <a:ea typeface="+mn-ea"/>
                          <a:cs typeface="+mn-cs"/>
                        </a:rPr>
                        <a:t>Planned Go-live date</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90000"/>
                        <a:lumOff val="10000"/>
                      </a:schemeClr>
                    </a:solidFill>
                  </a:tcPr>
                </a:tc>
                <a:extLst>
                  <a:ext uri="{0D108BD9-81ED-4DB2-BD59-A6C34878D82A}">
                    <a16:rowId xmlns:a16="http://schemas.microsoft.com/office/drawing/2014/main" val="844450115"/>
                  </a:ext>
                </a:extLst>
              </a:tr>
              <a:tr h="518385">
                <a:tc rowSpan="2">
                  <a:txBody>
                    <a:bodyPr/>
                    <a:lstStyle/>
                    <a:p>
                      <a:pPr lvl="0" algn="ctr">
                        <a:lnSpc>
                          <a:spcPct val="100000"/>
                        </a:lnSpc>
                        <a:spcBef>
                          <a:spcPts val="0"/>
                        </a:spcBef>
                        <a:spcAft>
                          <a:spcPts val="0"/>
                        </a:spcAft>
                        <a:buNone/>
                      </a:pPr>
                      <a:r>
                        <a:rPr lang="en-US" sz="1100" b="1" i="0" u="none" strike="noStrike" noProof="0">
                          <a:solidFill>
                            <a:srgbClr val="0070C0"/>
                          </a:solidFill>
                          <a:latin typeface="Nunito Sans"/>
                        </a:rPr>
                        <a:t>HR Tech</a:t>
                      </a:r>
                      <a:endParaRPr lang="en-US" sz="1100" b="0" i="0" u="none" strike="noStrike" noProof="0">
                        <a:solidFill>
                          <a:srgbClr val="000000"/>
                        </a:solidFill>
                        <a:latin typeface="Nunito Sans"/>
                      </a:endParaRPr>
                    </a:p>
                    <a:p>
                      <a:pPr lvl="0" defTabSz="914400">
                        <a:buNone/>
                        <a:tabLst/>
                        <a:defRPr/>
                      </a:pPr>
                      <a:endParaRPr lang="en-US"/>
                    </a:p>
                  </a:txBody>
                  <a:tcPr marL="0" marR="0" marT="0" marB="0" anchor="ctr" horzOverflow="overflow">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marL="0" marR="0" lvl="0" indent="0" algn="l">
                        <a:lnSpc>
                          <a:spcPct val="100000"/>
                        </a:lnSpc>
                        <a:spcBef>
                          <a:spcPts val="0"/>
                        </a:spcBef>
                        <a:spcAft>
                          <a:spcPts val="0"/>
                        </a:spcAft>
                        <a:buNone/>
                      </a:pPr>
                      <a:r>
                        <a:rPr lang="en-US" sz="1100" b="1" i="0" u="none" strike="noStrike" kern="1200" noProof="0">
                          <a:solidFill>
                            <a:schemeClr val="bg1">
                              <a:lumMod val="65000"/>
                            </a:schemeClr>
                          </a:solidFill>
                        </a:rPr>
                        <a:t>Leave Pro‑ration on Notice Period Automation</a:t>
                      </a:r>
                      <a:endParaRPr lang="en-US" b="1">
                        <a:solidFill>
                          <a:schemeClr val="bg1">
                            <a:lumMod val="65000"/>
                          </a:schemeClr>
                        </a:solidFill>
                      </a:endParaRPr>
                    </a:p>
                  </a:txBody>
                  <a:tcPr anchor="ctr">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vl="0" algn="l">
                        <a:lnSpc>
                          <a:spcPct val="100000"/>
                        </a:lnSpc>
                        <a:spcBef>
                          <a:spcPts val="0"/>
                        </a:spcBef>
                        <a:spcAft>
                          <a:spcPts val="0"/>
                        </a:spcAft>
                        <a:buNone/>
                      </a:pPr>
                      <a:r>
                        <a:rPr lang="en-US" sz="1100" b="0" i="0" u="none" strike="noStrike" noProof="0">
                          <a:solidFill>
                            <a:schemeClr val="tx1"/>
                          </a:solidFill>
                          <a:latin typeface="Segoe UI"/>
                          <a:cs typeface="Segoe UI"/>
                        </a:rPr>
                        <a:t>Leave proration for notice period employees ensures accurate, tenure-based leave balance recalculation through a dedicated SuccessFactors time profile.</a:t>
                      </a:r>
                      <a:endParaRPr lang="en-US">
                        <a:solidFill>
                          <a:schemeClr val="tx1"/>
                        </a:solidFill>
                      </a:endParaRPr>
                    </a:p>
                    <a:p>
                      <a:pPr lvl="0" algn="l">
                        <a:lnSpc>
                          <a:spcPct val="100000"/>
                        </a:lnSpc>
                        <a:spcBef>
                          <a:spcPts val="0"/>
                        </a:spcBef>
                        <a:spcAft>
                          <a:spcPts val="0"/>
                        </a:spcAft>
                        <a:buNone/>
                      </a:pPr>
                      <a:r>
                        <a:rPr lang="en-US" sz="1100" b="0" i="0" u="none" strike="noStrike" noProof="0">
                          <a:solidFill>
                            <a:schemeClr val="tx1"/>
                          </a:solidFill>
                          <a:latin typeface="Segoe UI"/>
                          <a:cs typeface="Segoe UI"/>
                        </a:rPr>
                        <a:t>It reduces manual intervention, prevents leave/payroll discrepancies, and strengthens compliance during employee exit processing.</a:t>
                      </a:r>
                      <a:endParaRPr lang="en-US">
                        <a:solidFill>
                          <a:schemeClr val="tx1"/>
                        </a:solidFill>
                      </a:endParaRPr>
                    </a:p>
                    <a:p>
                      <a:pPr marL="0" marR="0" lvl="0" indent="0" algn="l">
                        <a:lnSpc>
                          <a:spcPct val="100000"/>
                        </a:lnSpc>
                        <a:spcBef>
                          <a:spcPts val="0"/>
                        </a:spcBef>
                        <a:spcAft>
                          <a:spcPts val="0"/>
                        </a:spcAft>
                        <a:buClrTx/>
                        <a:buSzTx/>
                        <a:buFontTx/>
                        <a:buNone/>
                      </a:pPr>
                      <a:endParaRPr lang="en-US" sz="11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vl="0" algn="l">
                        <a:lnSpc>
                          <a:spcPct val="100000"/>
                        </a:lnSpc>
                        <a:spcBef>
                          <a:spcPts val="0"/>
                        </a:spcBef>
                        <a:spcAft>
                          <a:spcPts val="0"/>
                        </a:spcAft>
                        <a:buNone/>
                      </a:pPr>
                      <a:r>
                        <a:rPr lang="en-US" sz="1100" b="0" i="0" u="none" strike="noStrike" noProof="0">
                          <a:solidFill>
                            <a:srgbClr val="000000"/>
                          </a:solidFill>
                          <a:latin typeface="Arial"/>
                          <a:cs typeface="Arial"/>
                        </a:rPr>
                        <a:t>27 July</a:t>
                      </a:r>
                    </a:p>
                    <a:p>
                      <a:pPr marL="0" lvl="0" indent="0" algn="l">
                        <a:buNone/>
                      </a:pPr>
                      <a:endParaRPr lang="en-US" sz="1100" b="0" i="0" u="none" strike="noStrike" noProof="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59550173"/>
                  </a:ext>
                </a:extLst>
              </a:tr>
              <a:tr h="518385">
                <a:tc vMerge="1">
                  <a:txBody>
                    <a:bodyPr/>
                    <a:lstStyle/>
                    <a:p>
                      <a:pPr defTabSz="914400">
                        <a:tabLst/>
                        <a:defRPr/>
                      </a:pPr>
                      <a:endParaRPr lang="en-US"/>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tc>
                  <a:txBody>
                    <a:bodyPr/>
                    <a:lstStyle/>
                    <a:p>
                      <a:pPr marL="0" lvl="0" indent="0" algn="l">
                        <a:lnSpc>
                          <a:spcPct val="100000"/>
                        </a:lnSpc>
                        <a:spcBef>
                          <a:spcPts val="0"/>
                        </a:spcBef>
                        <a:spcAft>
                          <a:spcPts val="0"/>
                        </a:spcAft>
                        <a:buNone/>
                      </a:pPr>
                      <a:r>
                        <a:rPr lang="en-US" sz="1100" b="1" i="0" u="none" strike="noStrike" kern="1200" noProof="0">
                          <a:solidFill>
                            <a:srgbClr val="0070C0"/>
                          </a:solidFill>
                        </a:rPr>
                        <a:t>Crew Upgrade phase 2 for Pilots</a:t>
                      </a:r>
                      <a:endParaRPr lang="en-US" b="1">
                        <a:solidFill>
                          <a:srgbClr val="0070C0"/>
                        </a:solidFill>
                      </a:endParaRP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lvl="0" algn="l">
                        <a:lnSpc>
                          <a:spcPct val="100000"/>
                        </a:lnSpc>
                        <a:spcBef>
                          <a:spcPts val="0"/>
                        </a:spcBef>
                        <a:spcAft>
                          <a:spcPts val="0"/>
                        </a:spcAft>
                        <a:buNone/>
                      </a:pPr>
                      <a:r>
                        <a:rPr lang="en-US" sz="1100" b="0" i="0" u="none" strike="noStrike" noProof="0">
                          <a:solidFill>
                            <a:schemeClr val="tx1"/>
                          </a:solidFill>
                          <a:latin typeface="Segoe UI"/>
                          <a:cs typeface="Segoe UI"/>
                        </a:rPr>
                        <a:t>The automated compensation letter integration eliminates manual HR effort by automatically generating and dispatching approved compensation letters, ensuring timely, accurate, and consistent employee communication. It enhances auditability, compliance, and process governance while improving employee experience and enabling scalable, reliable operations.</a:t>
                      </a:r>
                      <a:endParaRPr lang="en-US">
                        <a:solidFill>
                          <a:schemeClr val="tx1"/>
                        </a:solidFill>
                      </a:endParaRP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marL="0" lvl="0" indent="0" algn="l">
                        <a:buNone/>
                      </a:pPr>
                      <a:r>
                        <a:rPr lang="en-US" sz="1100" b="0" i="0" u="none" strike="noStrike" noProof="0">
                          <a:solidFill>
                            <a:srgbClr val="0070C0"/>
                          </a:solidFill>
                          <a:latin typeface="Arial"/>
                        </a:rPr>
                        <a:t>13 July</a:t>
                      </a:r>
                    </a:p>
                  </a:txBody>
                  <a:tcPr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noFill/>
                  </a:tcPr>
                </a:tc>
                <a:extLst>
                  <a:ext uri="{0D108BD9-81ED-4DB2-BD59-A6C34878D82A}">
                    <a16:rowId xmlns:a16="http://schemas.microsoft.com/office/drawing/2014/main" val="3498137884"/>
                  </a:ext>
                </a:extLst>
              </a:tr>
              <a:tr h="1115312">
                <a:tc>
                  <a:txBody>
                    <a:bodyPr/>
                    <a:lstStyle/>
                    <a:p>
                      <a:pPr marL="0" lvl="0" indent="0" algn="ctr">
                        <a:lnSpc>
                          <a:spcPct val="100000"/>
                        </a:lnSpc>
                        <a:spcBef>
                          <a:spcPts val="0"/>
                        </a:spcBef>
                        <a:spcAft>
                          <a:spcPts val="0"/>
                        </a:spcAft>
                        <a:buNone/>
                      </a:pPr>
                      <a:r>
                        <a:rPr lang="en-US" sz="1100" b="1" kern="1200" err="1">
                          <a:solidFill>
                            <a:srgbClr val="0070C0"/>
                          </a:solidFill>
                          <a:latin typeface="+mn-lt"/>
                          <a:ea typeface="+mn-ea"/>
                          <a:cs typeface="+mn-cs"/>
                        </a:rPr>
                        <a:t>Engg</a:t>
                      </a:r>
                      <a:r>
                        <a:rPr lang="en-US" sz="1100" b="1" kern="1200">
                          <a:solidFill>
                            <a:srgbClr val="0070C0"/>
                          </a:solidFill>
                          <a:latin typeface="+mn-lt"/>
                          <a:ea typeface="+mn-ea"/>
                          <a:cs typeface="+mn-cs"/>
                        </a:rPr>
                        <a:t> Tech</a:t>
                      </a:r>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noFill/>
                  </a:tcPr>
                </a:tc>
                <a:tc>
                  <a:txBody>
                    <a:bodyPr/>
                    <a:lstStyle/>
                    <a:p>
                      <a:pPr marL="0" marR="0" lvl="0" indent="0" algn="l">
                        <a:lnSpc>
                          <a:spcPct val="100000"/>
                        </a:lnSpc>
                        <a:spcBef>
                          <a:spcPts val="0"/>
                        </a:spcBef>
                        <a:spcAft>
                          <a:spcPts val="0"/>
                        </a:spcAft>
                        <a:buNone/>
                      </a:pPr>
                      <a:r>
                        <a:rPr lang="en-US" sz="1100" b="1" i="0" u="none" strike="noStrike" kern="1200" noProof="0">
                          <a:solidFill>
                            <a:srgbClr val="0070C0"/>
                          </a:solidFill>
                        </a:rPr>
                        <a:t>Crew Data Retrieval( ELB &lt;&gt; CAE)</a:t>
                      </a:r>
                      <a:endParaRPr lang="en-US" b="1">
                        <a:solidFill>
                          <a:srgbClr val="0070C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vl="0" algn="l">
                        <a:lnSpc>
                          <a:spcPct val="100000"/>
                        </a:lnSpc>
                        <a:spcBef>
                          <a:spcPts val="0"/>
                        </a:spcBef>
                        <a:spcAft>
                          <a:spcPts val="0"/>
                        </a:spcAft>
                        <a:buNone/>
                      </a:pPr>
                      <a:r>
                        <a:rPr lang="en-US" sz="1100" b="0" i="0" u="none" strike="noStrike" noProof="0">
                          <a:latin typeface="Nunito Sans"/>
                        </a:rPr>
                        <a:t>Automates crew data synchronization between ELB and CAE systems, eliminating manual dependency and reducing data latency/errors. </a:t>
                      </a:r>
                      <a:endParaRPr lang="en-US"/>
                    </a:p>
                    <a:p>
                      <a:pPr marL="0" marR="0" lvl="0" indent="0" algn="l">
                        <a:lnSpc>
                          <a:spcPct val="100000"/>
                        </a:lnSpc>
                        <a:spcBef>
                          <a:spcPts val="0"/>
                        </a:spcBef>
                        <a:spcAft>
                          <a:spcPts val="0"/>
                        </a:spcAft>
                        <a:buClrTx/>
                        <a:buSzTx/>
                        <a:buFontTx/>
                        <a:buNone/>
                      </a:pPr>
                      <a:endParaRPr lang="en-US" sz="11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lvl="0" indent="0" algn="l">
                        <a:buNone/>
                      </a:pPr>
                      <a:r>
                        <a:rPr lang="en-US" sz="1100" b="0" i="0" u="none" strike="noStrike" noProof="0">
                          <a:solidFill>
                            <a:srgbClr val="0070C0"/>
                          </a:solidFill>
                          <a:latin typeface="Arial"/>
                        </a:rPr>
                        <a:t>12 July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8646495"/>
                  </a:ext>
                </a:extLst>
              </a:tr>
              <a:tr h="1115311">
                <a:tc>
                  <a:txBody>
                    <a:bodyPr/>
                    <a:lstStyle/>
                    <a:p>
                      <a:pPr marL="0" lvl="0" indent="0" algn="ctr">
                        <a:lnSpc>
                          <a:spcPct val="100000"/>
                        </a:lnSpc>
                        <a:spcBef>
                          <a:spcPts val="0"/>
                        </a:spcBef>
                        <a:spcAft>
                          <a:spcPts val="0"/>
                        </a:spcAft>
                        <a:buNone/>
                      </a:pPr>
                      <a:r>
                        <a:rPr lang="en-US" sz="1100" b="1" kern="1200">
                          <a:solidFill>
                            <a:srgbClr val="0070C0"/>
                          </a:solidFill>
                          <a:latin typeface="+mn-lt"/>
                          <a:ea typeface="+mn-ea"/>
                          <a:cs typeface="+mn-cs"/>
                        </a:rPr>
                        <a:t>AI Smart</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marL="0" lvl="0" indent="0" algn="l">
                        <a:lnSpc>
                          <a:spcPct val="100000"/>
                        </a:lnSpc>
                        <a:spcBef>
                          <a:spcPts val="0"/>
                        </a:spcBef>
                        <a:spcAft>
                          <a:spcPts val="0"/>
                        </a:spcAft>
                        <a:buNone/>
                      </a:pPr>
                      <a:r>
                        <a:rPr lang="en-US" sz="1100" b="1" i="0" u="none" strike="noStrike" kern="1200" noProof="0">
                          <a:solidFill>
                            <a:srgbClr val="00B050"/>
                          </a:solidFill>
                          <a:latin typeface="Nunito Sans"/>
                        </a:rPr>
                        <a:t>PTS Improvements - Analysis and onboarding for </a:t>
                      </a:r>
                      <a:r>
                        <a:rPr lang="en-US" sz="1100" b="1" i="0" u="none" strike="noStrike" kern="1200" noProof="0" err="1">
                          <a:solidFill>
                            <a:srgbClr val="00B050"/>
                          </a:solidFill>
                          <a:latin typeface="Nunito Sans"/>
                        </a:rPr>
                        <a:t>BaggageHub</a:t>
                      </a:r>
                      <a:r>
                        <a:rPr lang="en-US" sz="1100" b="1" i="0" u="none" strike="noStrike" kern="1200" noProof="0">
                          <a:solidFill>
                            <a:srgbClr val="00B050"/>
                          </a:solidFill>
                          <a:latin typeface="Nunito Sans"/>
                        </a:rPr>
                        <a:t> APIs on EIP (AI Smart) </a:t>
                      </a:r>
                      <a:endParaRPr lang="en-US" b="1">
                        <a:solidFill>
                          <a:srgbClr val="00B050"/>
                        </a:solidFill>
                      </a:endParaRP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lvl="0" algn="l">
                        <a:lnSpc>
                          <a:spcPct val="100000"/>
                        </a:lnSpc>
                        <a:spcBef>
                          <a:spcPts val="0"/>
                        </a:spcBef>
                        <a:spcAft>
                          <a:spcPts val="0"/>
                        </a:spcAft>
                        <a:buNone/>
                      </a:pPr>
                      <a:r>
                        <a:rPr lang="en-US" sz="1100" b="0" i="0" u="none" strike="noStrike" noProof="0">
                          <a:latin typeface="Segoe UI"/>
                          <a:cs typeface="Segoe UI"/>
                        </a:rPr>
                        <a:t>The </a:t>
                      </a:r>
                      <a:r>
                        <a:rPr lang="en-US" sz="1100" b="0" i="0" u="none" strike="noStrike" noProof="0" err="1">
                          <a:latin typeface="Segoe UI"/>
                          <a:cs typeface="Segoe UI"/>
                        </a:rPr>
                        <a:t>BaggageHub</a:t>
                      </a:r>
                      <a:r>
                        <a:rPr lang="en-US" sz="1100" b="0" i="0" u="none" strike="noStrike" noProof="0">
                          <a:latin typeface="Segoe UI"/>
                          <a:cs typeface="Segoe UI"/>
                        </a:rPr>
                        <a:t> integration with </a:t>
                      </a:r>
                      <a:r>
                        <a:rPr lang="en-US" sz="1100" b="0" i="0" u="none" strike="noStrike" noProof="0" err="1">
                          <a:latin typeface="Segoe UI"/>
                          <a:cs typeface="Segoe UI"/>
                        </a:rPr>
                        <a:t>AISmart</a:t>
                      </a:r>
                      <a:r>
                        <a:rPr lang="en-US" sz="1100" b="0" i="0" u="none" strike="noStrike" noProof="0">
                          <a:latin typeface="Segoe UI"/>
                          <a:cs typeface="Segoe UI"/>
                        </a:rPr>
                        <a:t> will provide real-time visibility of baggage summaries, special baggage categories, and ULD details through a centralized platform. This will improve operational efficiency, enhance decision-making, and streamline baggage handling processes for airport and ground operations teams.</a:t>
                      </a:r>
                      <a:endParaRPr lang="en-US"/>
                    </a:p>
                    <a:p>
                      <a:pPr marL="0" lvl="0" indent="0" algn="l">
                        <a:lnSpc>
                          <a:spcPct val="100000"/>
                        </a:lnSpc>
                        <a:spcBef>
                          <a:spcPts val="0"/>
                        </a:spcBef>
                        <a:spcAft>
                          <a:spcPts val="0"/>
                        </a:spcAft>
                        <a:buNone/>
                      </a:pPr>
                      <a:endParaRPr lang="en-US" sz="1100"/>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marL="0" lvl="0" indent="0" algn="l">
                        <a:buNone/>
                      </a:pPr>
                      <a:r>
                        <a:rPr lang="en-US" sz="1100" b="0" i="0" u="none" strike="noStrike" noProof="0">
                          <a:solidFill>
                            <a:schemeClr val="tx1"/>
                          </a:solidFill>
                          <a:latin typeface="Arial"/>
                        </a:rPr>
                        <a:t>29 July</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1451874667"/>
                  </a:ext>
                </a:extLst>
              </a:tr>
            </a:tbl>
          </a:graphicData>
        </a:graphic>
      </p:graphicFrame>
      <p:sp>
        <p:nvSpPr>
          <p:cNvPr id="10" name="Rectangle 9">
            <a:extLst>
              <a:ext uri="{FF2B5EF4-FFF2-40B4-BE49-F238E27FC236}">
                <a16:creationId xmlns:a16="http://schemas.microsoft.com/office/drawing/2014/main" id="{69FD236D-342F-7B82-CD71-6EA23ECAC807}"/>
              </a:ext>
            </a:extLst>
          </p:cNvPr>
          <p:cNvSpPr/>
          <p:nvPr/>
        </p:nvSpPr>
        <p:spPr>
          <a:xfrm>
            <a:off x="262827" y="848250"/>
            <a:ext cx="918273" cy="29475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400" b="1">
                <a:solidFill>
                  <a:srgbClr val="FFFFFF"/>
                </a:solidFill>
                <a:latin typeface="AirIndia"/>
              </a:rPr>
              <a:t>Jul</a:t>
            </a:r>
            <a:r>
              <a:rPr kumimoji="0" lang="en-IN" sz="1400" b="1" i="0" u="none" strike="noStrike" kern="1200" cap="none" spc="0" normalizeH="0" baseline="0" noProof="0">
                <a:ln>
                  <a:noFill/>
                </a:ln>
                <a:solidFill>
                  <a:srgbClr val="FFFFFF"/>
                </a:solidFill>
                <a:effectLst/>
                <a:uLnTx/>
                <a:uFillTx/>
                <a:latin typeface="AirIndia"/>
              </a:rPr>
              <a:t> ‘</a:t>
            </a:r>
            <a:r>
              <a:rPr lang="en-IN" sz="1400" b="1">
                <a:solidFill>
                  <a:srgbClr val="FFFFFF"/>
                </a:solidFill>
                <a:latin typeface="AirIndia"/>
              </a:rPr>
              <a:t>26</a:t>
            </a:r>
            <a:endParaRPr kumimoji="0" lang="en-US" sz="1400" b="1" i="0" u="none" strike="noStrike" kern="1200" cap="none" spc="0" normalizeH="0" baseline="0" noProof="0">
              <a:ln>
                <a:noFill/>
              </a:ln>
              <a:solidFill>
                <a:srgbClr val="FFFFFF"/>
              </a:solidFill>
              <a:effectLst/>
              <a:uLnTx/>
              <a:uFillTx/>
              <a:latin typeface="AirIndia" panose="04050608020B02020302" charset="0"/>
              <a:ea typeface="+mn-ea"/>
              <a:cs typeface="+mn-cs"/>
            </a:endParaRPr>
          </a:p>
        </p:txBody>
      </p:sp>
    </p:spTree>
    <p:extLst>
      <p:ext uri="{BB962C8B-B14F-4D97-AF65-F5344CB8AC3E}">
        <p14:creationId xmlns:p14="http://schemas.microsoft.com/office/powerpoint/2010/main" val="235181094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2DFDFA-15AE-E2FE-BD2E-EA2A2A6AE91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DB8B03E-DED2-C45B-9A55-35FFC859F33A}"/>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3A41A254-7326-714E-AF55-4C213D6394DE}" type="slidenum">
              <a:rPr kumimoji="0" lang="en-US" sz="1200" b="0" i="0" u="none" strike="noStrike" kern="1200" cap="none" spc="0" normalizeH="0" baseline="0" noProof="0" smtClean="0">
                <a:ln>
                  <a:noFill/>
                </a:ln>
                <a:solidFill>
                  <a:srgbClr val="DA0E28"/>
                </a:solidFill>
                <a:effectLst/>
                <a:uLnTx/>
                <a:uFillTx/>
                <a:latin typeface="Nunito Sans"/>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58</a:t>
            </a:fld>
            <a:endParaRPr kumimoji="0" lang="en-US" sz="1200" b="0" i="0" u="none" strike="noStrike" kern="1200" cap="none" spc="0" normalizeH="0" baseline="0" noProof="0">
              <a:ln>
                <a:noFill/>
              </a:ln>
              <a:solidFill>
                <a:srgbClr val="DA0E28"/>
              </a:solidFill>
              <a:effectLst/>
              <a:uLnTx/>
              <a:uFillTx/>
              <a:latin typeface="Nunito Sans"/>
              <a:ea typeface="+mn-ea"/>
              <a:cs typeface="+mn-cs"/>
            </a:endParaRPr>
          </a:p>
        </p:txBody>
      </p:sp>
      <p:sp>
        <p:nvSpPr>
          <p:cNvPr id="6" name="Title 11">
            <a:extLst>
              <a:ext uri="{FF2B5EF4-FFF2-40B4-BE49-F238E27FC236}">
                <a16:creationId xmlns:a16="http://schemas.microsoft.com/office/drawing/2014/main" id="{85D7E19D-4E9B-C3FD-84E8-83C71E6755D5}"/>
              </a:ext>
            </a:extLst>
          </p:cNvPr>
          <p:cNvSpPr txBox="1">
            <a:spLocks/>
          </p:cNvSpPr>
          <p:nvPr/>
        </p:nvSpPr>
        <p:spPr>
          <a:xfrm>
            <a:off x="304800" y="269218"/>
            <a:ext cx="9749641" cy="480073"/>
          </a:xfrm>
          <a:prstGeom prst="rect">
            <a:avLst/>
          </a:prstGeom>
        </p:spPr>
        <p:txBody>
          <a:bodyPr lIns="91440" tIns="45720" rIns="91440" bIns="45720" anchor="t">
            <a:noAutofit/>
          </a:bodyPr>
          <a:lstStyle>
            <a:lvl1pPr algn="l" defTabSz="914400" rtl="0" eaLnBrk="1" latinLnBrk="0" hangingPunct="1">
              <a:lnSpc>
                <a:spcPct val="90000"/>
              </a:lnSpc>
              <a:spcBef>
                <a:spcPct val="0"/>
              </a:spcBef>
              <a:buNone/>
              <a:defRPr sz="4400" b="1" i="0" kern="1200">
                <a:solidFill>
                  <a:schemeClr val="tx1"/>
                </a:solidFill>
                <a:latin typeface="AirIndia" pitchFamily="82" charset="77"/>
                <a:ea typeface="+mj-ea"/>
                <a:cs typeface="+mj-cs"/>
              </a:defRPr>
            </a:lvl1pPr>
          </a:lstStyle>
          <a:p>
            <a:pPr>
              <a:defRPr/>
            </a:pPr>
            <a:r>
              <a:rPr kumimoji="0" lang="en-US" sz="1800" b="1" i="0" u="none" strike="noStrike" kern="1200" cap="none" spc="0" normalizeH="0" baseline="0" noProof="0">
                <a:ln>
                  <a:noFill/>
                </a:ln>
                <a:solidFill>
                  <a:srgbClr val="DA0E28"/>
                </a:solidFill>
                <a:effectLst/>
                <a:uLnTx/>
                <a:uFillTx/>
                <a:latin typeface="AirIndia"/>
                <a:ea typeface="+mj-ea"/>
                <a:cs typeface="+mj-cs"/>
              </a:rPr>
              <a:t>Enterprise </a:t>
            </a:r>
            <a:r>
              <a:rPr lang="en-US" sz="1800">
                <a:solidFill>
                  <a:srgbClr val="DA0E28"/>
                </a:solidFill>
                <a:latin typeface="AirIndia"/>
              </a:rPr>
              <a:t>Integration -FY26-27</a:t>
            </a:r>
            <a:r>
              <a:rPr kumimoji="0" lang="en-US" sz="1800" b="1" i="0" u="none" strike="noStrike" kern="1200" cap="none" spc="0" normalizeH="0" baseline="0" noProof="0">
                <a:ln>
                  <a:noFill/>
                </a:ln>
                <a:solidFill>
                  <a:srgbClr val="DA0E28"/>
                </a:solidFill>
                <a:effectLst/>
                <a:uLnTx/>
                <a:uFillTx/>
                <a:latin typeface="AirIndia"/>
                <a:ea typeface="+mj-ea"/>
                <a:cs typeface="+mj-cs"/>
              </a:rPr>
              <a:t> </a:t>
            </a:r>
            <a:r>
              <a:rPr lang="en-US" sz="1800">
                <a:solidFill>
                  <a:srgbClr val="DA0E28"/>
                </a:solidFill>
                <a:latin typeface="AirIndia"/>
              </a:rPr>
              <a:t>Q2</a:t>
            </a:r>
            <a:r>
              <a:rPr kumimoji="0" lang="en-US" sz="1800" b="1" i="0" u="none" strike="noStrike" kern="1200" cap="none" spc="0" normalizeH="0" baseline="0" noProof="0">
                <a:ln>
                  <a:noFill/>
                </a:ln>
                <a:solidFill>
                  <a:srgbClr val="DA0E28"/>
                </a:solidFill>
                <a:effectLst/>
                <a:uLnTx/>
                <a:uFillTx/>
                <a:latin typeface="AirIndia"/>
                <a:ea typeface="+mj-ea"/>
                <a:cs typeface="+mj-cs"/>
              </a:rPr>
              <a:t> Release </a:t>
            </a:r>
            <a:r>
              <a:rPr lang="en-US" sz="1800">
                <a:solidFill>
                  <a:srgbClr val="DA0E28"/>
                </a:solidFill>
                <a:latin typeface="AirIndia"/>
              </a:rPr>
              <a:t>Plan</a:t>
            </a:r>
            <a:endParaRPr lang="en-US" sz="1800" b="0">
              <a:solidFill>
                <a:srgbClr val="000000"/>
              </a:solidFill>
              <a:latin typeface="AirIndia"/>
            </a:endParaRPr>
          </a:p>
          <a:p>
            <a:pPr>
              <a:defRPr/>
            </a:pPr>
            <a:endParaRPr lang="en-US" sz="1800" i="0" u="none" strike="noStrike" kern="1200" cap="none" spc="0" normalizeH="0" baseline="0" noProof="0">
              <a:ln>
                <a:noFill/>
              </a:ln>
              <a:solidFill>
                <a:srgbClr val="DA0E28"/>
              </a:solidFill>
              <a:effectLst/>
              <a:uLnTx/>
              <a:uFillTx/>
              <a:latin typeface="AirIndia"/>
            </a:endParaRPr>
          </a:p>
        </p:txBody>
      </p:sp>
      <p:sp>
        <p:nvSpPr>
          <p:cNvPr id="4" name="Rectangle 3">
            <a:extLst>
              <a:ext uri="{FF2B5EF4-FFF2-40B4-BE49-F238E27FC236}">
                <a16:creationId xmlns:a16="http://schemas.microsoft.com/office/drawing/2014/main" id="{9BD447C1-EBE7-FAF1-AC09-DCCBFB0264BA}"/>
              </a:ext>
            </a:extLst>
          </p:cNvPr>
          <p:cNvSpPr/>
          <p:nvPr/>
        </p:nvSpPr>
        <p:spPr>
          <a:xfrm rot="5400000">
            <a:off x="8942419" y="6655587"/>
            <a:ext cx="90000" cy="90000"/>
          </a:xfrm>
          <a:prstGeom prst="rect">
            <a:avLst/>
          </a:prstGeom>
          <a:solidFill>
            <a:schemeClr val="bg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9" name="TextBox 8">
            <a:extLst>
              <a:ext uri="{FF2B5EF4-FFF2-40B4-BE49-F238E27FC236}">
                <a16:creationId xmlns:a16="http://schemas.microsoft.com/office/drawing/2014/main" id="{9344C9B8-1114-7146-627E-0A565AEE4C73}"/>
              </a:ext>
            </a:extLst>
          </p:cNvPr>
          <p:cNvSpPr txBox="1"/>
          <p:nvPr/>
        </p:nvSpPr>
        <p:spPr>
          <a:xfrm>
            <a:off x="8986097" y="6582653"/>
            <a:ext cx="3069090" cy="246221"/>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FFFFFF">
                    <a:lumMod val="49000"/>
                  </a:srgbClr>
                </a:solidFill>
                <a:effectLst/>
                <a:uLnTx/>
                <a:uFillTx/>
                <a:latin typeface="Nunito Sans"/>
                <a:ea typeface="+mn-ea"/>
                <a:cs typeface="+mn-cs"/>
              </a:rPr>
              <a:t>Descoped</a:t>
            </a:r>
          </a:p>
        </p:txBody>
      </p:sp>
      <p:sp>
        <p:nvSpPr>
          <p:cNvPr id="18" name="Rectangle 17">
            <a:extLst>
              <a:ext uri="{FF2B5EF4-FFF2-40B4-BE49-F238E27FC236}">
                <a16:creationId xmlns:a16="http://schemas.microsoft.com/office/drawing/2014/main" id="{980AFD13-9F0A-EE06-1222-713B6FAE4876}"/>
              </a:ext>
            </a:extLst>
          </p:cNvPr>
          <p:cNvSpPr/>
          <p:nvPr/>
        </p:nvSpPr>
        <p:spPr>
          <a:xfrm>
            <a:off x="10326888" y="6653023"/>
            <a:ext cx="90000" cy="90000"/>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20" name="Rectangle 19">
            <a:extLst>
              <a:ext uri="{FF2B5EF4-FFF2-40B4-BE49-F238E27FC236}">
                <a16:creationId xmlns:a16="http://schemas.microsoft.com/office/drawing/2014/main" id="{F96D084A-8C95-AAE5-A01B-733BE5CF8CC5}"/>
              </a:ext>
            </a:extLst>
          </p:cNvPr>
          <p:cNvSpPr/>
          <p:nvPr/>
        </p:nvSpPr>
        <p:spPr>
          <a:xfrm>
            <a:off x="1433259" y="6651985"/>
            <a:ext cx="90000" cy="90000"/>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22" name="Rectangle 21">
            <a:extLst>
              <a:ext uri="{FF2B5EF4-FFF2-40B4-BE49-F238E27FC236}">
                <a16:creationId xmlns:a16="http://schemas.microsoft.com/office/drawing/2014/main" id="{F6CB3CB6-D21F-F447-74DD-AAEC1A183F65}"/>
              </a:ext>
            </a:extLst>
          </p:cNvPr>
          <p:cNvSpPr/>
          <p:nvPr/>
        </p:nvSpPr>
        <p:spPr>
          <a:xfrm>
            <a:off x="5909236" y="6676608"/>
            <a:ext cx="90000" cy="90000"/>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23" name="Rectangle 22">
            <a:extLst>
              <a:ext uri="{FF2B5EF4-FFF2-40B4-BE49-F238E27FC236}">
                <a16:creationId xmlns:a16="http://schemas.microsoft.com/office/drawing/2014/main" id="{7207DED7-8DB8-1CA3-8B15-ADE2BECED648}"/>
              </a:ext>
            </a:extLst>
          </p:cNvPr>
          <p:cNvSpPr/>
          <p:nvPr/>
        </p:nvSpPr>
        <p:spPr>
          <a:xfrm>
            <a:off x="2752379" y="6642913"/>
            <a:ext cx="90000" cy="90000"/>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24" name="TextBox 15">
            <a:extLst>
              <a:ext uri="{FF2B5EF4-FFF2-40B4-BE49-F238E27FC236}">
                <a16:creationId xmlns:a16="http://schemas.microsoft.com/office/drawing/2014/main" id="{B10D4397-0A89-C2D3-D322-B4DB967811CB}"/>
              </a:ext>
            </a:extLst>
          </p:cNvPr>
          <p:cNvSpPr txBox="1"/>
          <p:nvPr/>
        </p:nvSpPr>
        <p:spPr>
          <a:xfrm>
            <a:off x="10416853" y="6596174"/>
            <a:ext cx="857245"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0070C0"/>
                </a:solidFill>
                <a:effectLst/>
                <a:uLnTx/>
                <a:uFillTx/>
                <a:latin typeface="Nunito Sans"/>
                <a:ea typeface="+mn-ea"/>
                <a:cs typeface="+mn-cs"/>
              </a:rPr>
              <a:t>Delivered</a:t>
            </a:r>
            <a:endParaRPr kumimoji="0" lang="en-IN" sz="1000" b="0" i="0" u="none" strike="noStrike" kern="1200" cap="none" spc="0" normalizeH="0" baseline="0" noProof="0">
              <a:ln>
                <a:noFill/>
              </a:ln>
              <a:solidFill>
                <a:srgbClr val="000000"/>
              </a:solidFill>
              <a:effectLst/>
              <a:uLnTx/>
              <a:uFillTx/>
              <a:latin typeface="Nunito Sans"/>
              <a:ea typeface="+mn-ea"/>
              <a:cs typeface="+mn-cs"/>
            </a:endParaRPr>
          </a:p>
        </p:txBody>
      </p:sp>
      <p:sp>
        <p:nvSpPr>
          <p:cNvPr id="25" name="TextBox 18">
            <a:extLst>
              <a:ext uri="{FF2B5EF4-FFF2-40B4-BE49-F238E27FC236}">
                <a16:creationId xmlns:a16="http://schemas.microsoft.com/office/drawing/2014/main" id="{4B83A2AF-824B-267A-2897-CA0FBF0E707C}"/>
              </a:ext>
            </a:extLst>
          </p:cNvPr>
          <p:cNvSpPr txBox="1"/>
          <p:nvPr/>
        </p:nvSpPr>
        <p:spPr>
          <a:xfrm>
            <a:off x="1554283" y="6592533"/>
            <a:ext cx="1032881"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00B050"/>
                </a:solidFill>
                <a:effectLst/>
                <a:uLnTx/>
                <a:uFillTx/>
                <a:latin typeface="Nunito Sans"/>
                <a:ea typeface="+mn-ea"/>
                <a:cs typeface="+mn-cs"/>
              </a:rPr>
              <a:t>Ontrack</a:t>
            </a:r>
            <a:endParaRPr kumimoji="0" lang="en-IN" sz="1000" b="0" i="0" u="none" strike="noStrike" kern="1200" cap="none" spc="0" normalizeH="0" baseline="0" noProof="0">
              <a:ln>
                <a:noFill/>
              </a:ln>
              <a:solidFill>
                <a:srgbClr val="000000"/>
              </a:solidFill>
              <a:effectLst/>
              <a:uLnTx/>
              <a:uFillTx/>
              <a:latin typeface="Nunito Sans"/>
              <a:ea typeface="+mn-ea"/>
              <a:cs typeface="+mn-cs"/>
            </a:endParaRPr>
          </a:p>
        </p:txBody>
      </p:sp>
      <p:sp>
        <p:nvSpPr>
          <p:cNvPr id="26" name="TextBox 20">
            <a:extLst>
              <a:ext uri="{FF2B5EF4-FFF2-40B4-BE49-F238E27FC236}">
                <a16:creationId xmlns:a16="http://schemas.microsoft.com/office/drawing/2014/main" id="{BBD1AA5A-2059-08AD-9221-263F0AA20DE4}"/>
              </a:ext>
            </a:extLst>
          </p:cNvPr>
          <p:cNvSpPr txBox="1"/>
          <p:nvPr/>
        </p:nvSpPr>
        <p:spPr>
          <a:xfrm>
            <a:off x="6092504" y="6635159"/>
            <a:ext cx="2257628"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FED9A0">
                    <a:lumMod val="75000"/>
                  </a:srgbClr>
                </a:solidFill>
                <a:effectLst/>
                <a:uLnTx/>
                <a:uFillTx/>
                <a:latin typeface="Nunito Sans"/>
                <a:ea typeface="+mn-ea"/>
                <a:cs typeface="+mn-cs"/>
              </a:rPr>
              <a:t>Under delay and can be recovered</a:t>
            </a:r>
            <a:endParaRPr kumimoji="0" lang="en-IN" sz="1000" b="0" i="0" u="none" strike="noStrike" kern="1200" cap="none" spc="0" normalizeH="0" baseline="0" noProof="0">
              <a:ln>
                <a:noFill/>
              </a:ln>
              <a:solidFill>
                <a:srgbClr val="000000"/>
              </a:solidFill>
              <a:effectLst/>
              <a:uLnTx/>
              <a:uFillTx/>
              <a:latin typeface="Nunito Sans"/>
              <a:ea typeface="+mn-ea"/>
              <a:cs typeface="+mn-cs"/>
            </a:endParaRPr>
          </a:p>
        </p:txBody>
      </p:sp>
      <p:sp>
        <p:nvSpPr>
          <p:cNvPr id="27" name="TextBox 22">
            <a:extLst>
              <a:ext uri="{FF2B5EF4-FFF2-40B4-BE49-F238E27FC236}">
                <a16:creationId xmlns:a16="http://schemas.microsoft.com/office/drawing/2014/main" id="{DF2089D2-05A8-1469-D00C-D5EF4433EB4E}"/>
              </a:ext>
            </a:extLst>
          </p:cNvPr>
          <p:cNvSpPr txBox="1"/>
          <p:nvPr/>
        </p:nvSpPr>
        <p:spPr>
          <a:xfrm>
            <a:off x="2842379" y="6579600"/>
            <a:ext cx="2338222"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FF0000"/>
                </a:solidFill>
                <a:effectLst/>
                <a:uLnTx/>
                <a:uFillTx/>
                <a:latin typeface="Nunito Sans"/>
                <a:ea typeface="+mn-ea"/>
                <a:cs typeface="+mn-cs"/>
              </a:rPr>
              <a:t>Delayed and pushed to next release</a:t>
            </a:r>
          </a:p>
        </p:txBody>
      </p:sp>
      <p:graphicFrame>
        <p:nvGraphicFramePr>
          <p:cNvPr id="7" name="Table 6">
            <a:extLst>
              <a:ext uri="{FF2B5EF4-FFF2-40B4-BE49-F238E27FC236}">
                <a16:creationId xmlns:a16="http://schemas.microsoft.com/office/drawing/2014/main" id="{8547A2C7-BFA0-790E-DAA8-CE8FB8D912C8}"/>
              </a:ext>
            </a:extLst>
          </p:cNvPr>
          <p:cNvGraphicFramePr>
            <a:graphicFrameLocks noGrp="1"/>
          </p:cNvGraphicFramePr>
          <p:nvPr>
            <p:extLst>
              <p:ext uri="{D42A27DB-BD31-4B8C-83A1-F6EECF244321}">
                <p14:modId xmlns:p14="http://schemas.microsoft.com/office/powerpoint/2010/main" val="2553237285"/>
              </p:ext>
            </p:extLst>
          </p:nvPr>
        </p:nvGraphicFramePr>
        <p:xfrm>
          <a:off x="1181100" y="848250"/>
          <a:ext cx="10704320" cy="5082927"/>
        </p:xfrm>
        <a:graphic>
          <a:graphicData uri="http://schemas.openxmlformats.org/drawingml/2006/table">
            <a:tbl>
              <a:tblPr firstRow="1" bandRow="1">
                <a:tableStyleId>{5C22544A-7EE6-4342-B048-85BDC9FD1C3A}</a:tableStyleId>
              </a:tblPr>
              <a:tblGrid>
                <a:gridCol w="1080897">
                  <a:extLst>
                    <a:ext uri="{9D8B030D-6E8A-4147-A177-3AD203B41FA5}">
                      <a16:colId xmlns:a16="http://schemas.microsoft.com/office/drawing/2014/main" val="1795721954"/>
                    </a:ext>
                  </a:extLst>
                </a:gridCol>
                <a:gridCol w="2308248">
                  <a:extLst>
                    <a:ext uri="{9D8B030D-6E8A-4147-A177-3AD203B41FA5}">
                      <a16:colId xmlns:a16="http://schemas.microsoft.com/office/drawing/2014/main" val="2822350773"/>
                    </a:ext>
                  </a:extLst>
                </a:gridCol>
                <a:gridCol w="6061015">
                  <a:extLst>
                    <a:ext uri="{9D8B030D-6E8A-4147-A177-3AD203B41FA5}">
                      <a16:colId xmlns:a16="http://schemas.microsoft.com/office/drawing/2014/main" val="99588705"/>
                    </a:ext>
                  </a:extLst>
                </a:gridCol>
                <a:gridCol w="1254160">
                  <a:extLst>
                    <a:ext uri="{9D8B030D-6E8A-4147-A177-3AD203B41FA5}">
                      <a16:colId xmlns:a16="http://schemas.microsoft.com/office/drawing/2014/main" val="1739073323"/>
                    </a:ext>
                  </a:extLst>
                </a:gridCol>
              </a:tblGrid>
              <a:tr h="314172">
                <a:tc>
                  <a:txBody>
                    <a:bodyPr/>
                    <a:lstStyle/>
                    <a:p>
                      <a:pPr marL="0" lvl="0" indent="0" algn="ctr" defTabSz="914400">
                        <a:lnSpc>
                          <a:spcPct val="100000"/>
                        </a:lnSpc>
                        <a:buNone/>
                      </a:pPr>
                      <a:r>
                        <a:rPr lang="en-IN" sz="1100" b="1" kern="1200">
                          <a:solidFill>
                            <a:schemeClr val="bg1"/>
                          </a:solidFill>
                          <a:latin typeface="+mn-lt"/>
                          <a:ea typeface="+mn-ea"/>
                          <a:cs typeface="+mn-cs"/>
                        </a:rPr>
                        <a:t>LOB</a:t>
                      </a: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solidFill>
                      <a:schemeClr val="accent3">
                        <a:lumMod val="90000"/>
                        <a:lumOff val="10000"/>
                      </a:schemeClr>
                    </a:solidFill>
                  </a:tcPr>
                </a:tc>
                <a:tc>
                  <a:txBody>
                    <a:bodyPr/>
                    <a:lstStyle/>
                    <a:p>
                      <a:pPr marL="0" lvl="0" indent="0" algn="ctr" defTabSz="914400" rtl="0">
                        <a:lnSpc>
                          <a:spcPct val="100000"/>
                        </a:lnSpc>
                        <a:buFont typeface="Arial" panose="020B0604020202020204" pitchFamily="34" charset="0"/>
                        <a:buNone/>
                      </a:pPr>
                      <a:r>
                        <a:rPr lang="en-IN" sz="1100" b="1" kern="1200">
                          <a:solidFill>
                            <a:schemeClr val="bg1"/>
                          </a:solidFill>
                          <a:latin typeface="+mn-lt"/>
                          <a:ea typeface="+mn-ea"/>
                          <a:cs typeface="+mn-cs"/>
                        </a:rPr>
                        <a:t>Initiatives</a:t>
                      </a:r>
                      <a:endParaRPr lang="en-US" sz="1100" b="1"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tc>
                  <a:txBody>
                    <a:bodyPr/>
                    <a:lstStyle/>
                    <a:p>
                      <a:pPr marL="0" indent="0" algn="ctr" defTabSz="914400" rtl="0" eaLnBrk="1" latinLnBrk="0" hangingPunct="1">
                        <a:buFont typeface="Arial" panose="020B0604020202020204" pitchFamily="34" charset="0"/>
                        <a:buNone/>
                      </a:pPr>
                      <a:r>
                        <a:rPr lang="en-IN" sz="1100" kern="1200">
                          <a:solidFill>
                            <a:schemeClr val="bg1"/>
                          </a:solidFill>
                          <a:latin typeface="+mn-lt"/>
                          <a:ea typeface="+mn-ea"/>
                          <a:cs typeface="+mn-cs"/>
                        </a:rPr>
                        <a:t>Value Justification/Realization</a:t>
                      </a:r>
                      <a:endParaRPr lang="en-US" sz="1100"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tc>
                  <a:txBody>
                    <a:bodyPr/>
                    <a:lstStyle/>
                    <a:p>
                      <a:pPr marL="0" indent="0" algn="ctr" defTabSz="914400" rtl="0" eaLnBrk="1" latinLnBrk="0" hangingPunct="1">
                        <a:buFont typeface="Arial" panose="020B0604020202020204" pitchFamily="34" charset="0"/>
                        <a:buNone/>
                      </a:pPr>
                      <a:r>
                        <a:rPr lang="en-US" sz="1100" kern="1200">
                          <a:solidFill>
                            <a:schemeClr val="bg1"/>
                          </a:solidFill>
                          <a:latin typeface="+mn-lt"/>
                          <a:ea typeface="+mn-ea"/>
                          <a:cs typeface="+mn-cs"/>
                        </a:rPr>
                        <a:t>Planned Go-live date</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extLst>
                  <a:ext uri="{0D108BD9-81ED-4DB2-BD59-A6C34878D82A}">
                    <a16:rowId xmlns:a16="http://schemas.microsoft.com/office/drawing/2014/main" val="844450115"/>
                  </a:ext>
                </a:extLst>
              </a:tr>
              <a:tr h="764781">
                <a:tc rowSpan="2">
                  <a:txBody>
                    <a:bodyPr/>
                    <a:lstStyle/>
                    <a:p>
                      <a:pPr marL="0" lvl="0" indent="0" algn="ctr">
                        <a:lnSpc>
                          <a:spcPct val="100000"/>
                        </a:lnSpc>
                        <a:spcBef>
                          <a:spcPts val="0"/>
                        </a:spcBef>
                        <a:spcAft>
                          <a:spcPts val="0"/>
                        </a:spcAft>
                        <a:buNone/>
                      </a:pPr>
                      <a:r>
                        <a:rPr lang="en-US" sz="1100" b="1" i="0" u="none" strike="noStrike" kern="1200">
                          <a:solidFill>
                            <a:srgbClr val="0070C0"/>
                          </a:solidFill>
                          <a:latin typeface="+mn-lt"/>
                          <a:ea typeface="+mn-ea"/>
                          <a:cs typeface="+mn-cs"/>
                        </a:rPr>
                        <a:t>HR Tech</a:t>
                      </a: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tc>
                  <a:txBody>
                    <a:bodyPr/>
                    <a:lstStyle/>
                    <a:p>
                      <a:pPr marL="0" marR="0" lvl="0" indent="0" algn="l">
                        <a:lnSpc>
                          <a:spcPct val="100000"/>
                        </a:lnSpc>
                        <a:spcBef>
                          <a:spcPts val="0"/>
                        </a:spcBef>
                        <a:spcAft>
                          <a:spcPts val="0"/>
                        </a:spcAft>
                        <a:buNone/>
                      </a:pPr>
                      <a:r>
                        <a:rPr lang="en-US" sz="1100" b="1" i="0" u="none" strike="noStrike" kern="1200" noProof="0">
                          <a:solidFill>
                            <a:srgbClr val="00B050"/>
                          </a:solidFill>
                          <a:latin typeface="Nunito Sans"/>
                        </a:rPr>
                        <a:t>[</a:t>
                      </a:r>
                      <a:r>
                        <a:rPr lang="en-US" sz="1100" b="1" i="0" u="none" strike="noStrike" kern="1200" noProof="0" err="1">
                          <a:solidFill>
                            <a:srgbClr val="00B050"/>
                          </a:solidFill>
                          <a:latin typeface="Nunito Sans"/>
                        </a:rPr>
                        <a:t>Adhoc</a:t>
                      </a:r>
                      <a:r>
                        <a:rPr lang="en-US" sz="1100" b="1" i="0" u="none" strike="noStrike" kern="1200" noProof="0">
                          <a:solidFill>
                            <a:srgbClr val="00B050"/>
                          </a:solidFill>
                          <a:latin typeface="Nunito Sans"/>
                        </a:rPr>
                        <a:t>] Event-Driven Transfer Letter Generation, Approval &amp; Distribution – SuccessFactors Employee Central</a:t>
                      </a:r>
                      <a:endParaRPr lang="en-US" b="1"/>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l">
                        <a:lnSpc>
                          <a:spcPct val="100000"/>
                        </a:lnSpc>
                        <a:spcBef>
                          <a:spcPts val="0"/>
                        </a:spcBef>
                        <a:spcAft>
                          <a:spcPts val="0"/>
                        </a:spcAft>
                        <a:buNone/>
                      </a:pPr>
                      <a:r>
                        <a:rPr lang="en-US" sz="1100" b="0" i="0" u="none" strike="noStrike" noProof="0">
                          <a:solidFill>
                            <a:srgbClr val="292A2E"/>
                          </a:solidFill>
                          <a:highlight>
                            <a:srgbClr val="FFFFFF"/>
                          </a:highlight>
                        </a:rPr>
                        <a:t>The event-driven transfer letter automation removes manual steps for generating, reviewing, and distributing employee transfer letters by triggering letter creation from SuccessFactors employee events. It improves employee experience with timely, consistent communication, </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indent="0" algn="l" rtl="0" eaLnBrk="1" latinLnBrk="0" hangingPunct="1">
                        <a:buFont typeface="Arial" panose="020B0604020202020204" pitchFamily="34" charset="0"/>
                        <a:buNone/>
                      </a:pPr>
                      <a:r>
                        <a:rPr lang="en-US" sz="1100" b="0" i="0" u="none" strike="noStrike" noProof="0">
                          <a:latin typeface="Arial"/>
                        </a:rPr>
                        <a:t>28 Aug</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443371065"/>
                  </a:ext>
                </a:extLst>
              </a:tr>
              <a:tr h="834306">
                <a:tc vMerge="1">
                  <a:txBody>
                    <a:bodyPr/>
                    <a:lstStyle/>
                    <a:p>
                      <a:pPr defTabSz="914400">
                        <a:tabLst/>
                        <a:defRPr/>
                      </a:pPr>
                      <a:endParaRPr lang="en-US"/>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a:solidFill>
                        <a:schemeClr val="bg1">
                          <a:lumMod val="75000"/>
                        </a:schemeClr>
                      </a:solidFill>
                    </a:lnB>
                    <a:noFill/>
                  </a:tcPr>
                </a:tc>
                <a:tc>
                  <a:txBody>
                    <a:bodyPr/>
                    <a:lstStyle/>
                    <a:p>
                      <a:pPr marL="0" marR="0" lvl="0" indent="0" algn="l">
                        <a:lnSpc>
                          <a:spcPct val="100000"/>
                        </a:lnSpc>
                        <a:spcBef>
                          <a:spcPts val="0"/>
                        </a:spcBef>
                        <a:spcAft>
                          <a:spcPts val="0"/>
                        </a:spcAft>
                        <a:buNone/>
                      </a:pPr>
                      <a:r>
                        <a:rPr lang="en-US" sz="1100" b="1" i="0" u="none" strike="noStrike" kern="1200" noProof="0">
                          <a:solidFill>
                            <a:srgbClr val="00B050"/>
                          </a:solidFill>
                          <a:latin typeface="Nunito Sans"/>
                        </a:rPr>
                        <a:t>Life Ka Plan Integration with SuccessFactors- Phase 2</a:t>
                      </a:r>
                      <a:endParaRPr lang="en-US" b="1"/>
                    </a:p>
                  </a:txBody>
                  <a:tcPr anchor="ctr">
                    <a:lnL w="6350" cap="flat" cmpd="sng" algn="ctr">
                      <a:solidFill>
                        <a:schemeClr val="bg1">
                          <a:lumMod val="75000"/>
                        </a:schemeClr>
                      </a:solidFill>
                      <a:prstDash val="solid"/>
                      <a:round/>
                      <a:headEnd type="none" w="med" len="med"/>
                      <a:tailEnd type="none" w="med" len="med"/>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lvl="0" algn="l">
                        <a:lnSpc>
                          <a:spcPct val="100000"/>
                        </a:lnSpc>
                        <a:spcBef>
                          <a:spcPts val="0"/>
                        </a:spcBef>
                        <a:spcAft>
                          <a:spcPts val="0"/>
                        </a:spcAft>
                        <a:buNone/>
                      </a:pPr>
                      <a:r>
                        <a:rPr lang="en-US" sz="1100" b="0" i="0" u="none" strike="noStrike" noProof="0">
                          <a:solidFill>
                            <a:srgbClr val="292A2E"/>
                          </a:solidFill>
                          <a:highlight>
                            <a:srgbClr val="FFFFFF"/>
                          </a:highlight>
                        </a:rPr>
                        <a:t>The Life Ka Plan–SuccessFactors integration eliminates manual employee data handling, significantly reducing errors, turnaround time, and operational overhead. By ensuring real‑time, accurate employee master and compensation data, it strengthens benefit eligibility accuracy, compliance, and audit readiness.</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lvl="0" algn="l">
                        <a:lnSpc>
                          <a:spcPct val="100000"/>
                        </a:lnSpc>
                        <a:spcBef>
                          <a:spcPts val="0"/>
                        </a:spcBef>
                        <a:spcAft>
                          <a:spcPts val="0"/>
                        </a:spcAft>
                        <a:buNone/>
                      </a:pPr>
                      <a:r>
                        <a:rPr lang="en-US" sz="1100" b="0" i="0" u="none" strike="noStrike" noProof="0">
                          <a:solidFill>
                            <a:srgbClr val="000000"/>
                          </a:solidFill>
                          <a:latin typeface="Arial"/>
                          <a:cs typeface="Arial"/>
                        </a:rPr>
                        <a:t>28 Aug</a:t>
                      </a:r>
                    </a:p>
                    <a:p>
                      <a:pPr lvl="0" algn="l">
                        <a:lnSpc>
                          <a:spcPct val="100000"/>
                        </a:lnSpc>
                        <a:spcBef>
                          <a:spcPts val="0"/>
                        </a:spcBef>
                        <a:spcAft>
                          <a:spcPts val="0"/>
                        </a:spcAft>
                        <a:buNone/>
                      </a:pPr>
                      <a:endParaRPr lang="en-US" sz="1100" b="0" i="0" u="none" strike="noStrike" noProof="0">
                        <a:solidFill>
                          <a:srgbClr val="000000"/>
                        </a:solidFill>
                        <a:latin typeface="Arial"/>
                        <a:cs typeface="Arial"/>
                      </a:endParaRP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959550173"/>
                  </a:ext>
                </a:extLst>
              </a:tr>
              <a:tr h="518385">
                <a:tc rowSpan="2">
                  <a:txBody>
                    <a:bodyPr/>
                    <a:lstStyle/>
                    <a:p>
                      <a:pPr marL="0" lvl="0" indent="0" algn="ctr">
                        <a:lnSpc>
                          <a:spcPct val="100000"/>
                        </a:lnSpc>
                        <a:spcBef>
                          <a:spcPts val="0"/>
                        </a:spcBef>
                        <a:spcAft>
                          <a:spcPts val="0"/>
                        </a:spcAft>
                        <a:buNone/>
                      </a:pPr>
                      <a:r>
                        <a:rPr lang="en-US" sz="1100" b="1" i="0" u="none" strike="noStrike" kern="1200" err="1">
                          <a:solidFill>
                            <a:srgbClr val="0070C0"/>
                          </a:solidFill>
                          <a:latin typeface="+mn-lt"/>
                          <a:ea typeface="+mn-ea"/>
                          <a:cs typeface="+mn-cs"/>
                        </a:rPr>
                        <a:t>Engg</a:t>
                      </a:r>
                      <a:r>
                        <a:rPr lang="en-US" sz="1100" b="1" i="0" u="none" strike="noStrike" kern="1200">
                          <a:solidFill>
                            <a:srgbClr val="0070C0"/>
                          </a:solidFill>
                          <a:latin typeface="+mn-lt"/>
                          <a:ea typeface="+mn-ea"/>
                          <a:cs typeface="+mn-cs"/>
                        </a:rPr>
                        <a:t> Tech</a:t>
                      </a: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marL="0" lvl="0" indent="0" algn="l">
                        <a:lnSpc>
                          <a:spcPct val="100000"/>
                        </a:lnSpc>
                        <a:spcBef>
                          <a:spcPts val="0"/>
                        </a:spcBef>
                        <a:spcAft>
                          <a:spcPts val="0"/>
                        </a:spcAft>
                        <a:buNone/>
                      </a:pPr>
                      <a:r>
                        <a:rPr lang="en-US" sz="1100" b="1" i="0" u="none" strike="noStrike" kern="1200" noProof="0">
                          <a:solidFill>
                            <a:srgbClr val="0070C0"/>
                          </a:solidFill>
                          <a:latin typeface="Nunito Sans"/>
                        </a:rPr>
                        <a:t>CAE-MM to AMOS – Delay and Cancellation Flight - 2</a:t>
                      </a:r>
                      <a:endParaRPr lang="en-US" b="1">
                        <a:solidFill>
                          <a:srgbClr val="0070C0"/>
                        </a:solidFill>
                      </a:endParaRPr>
                    </a:p>
                  </a:txBody>
                  <a:tcPr anchor="ctr">
                    <a:lnL w="6350">
                      <a:solidFill>
                        <a:schemeClr val="bg1">
                          <a:lumMod val="75000"/>
                        </a:schemeClr>
                      </a:solidFill>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a:solidFill>
                        <a:schemeClr val="bg1">
                          <a:lumMod val="75000"/>
                        </a:schemeClr>
                      </a:solidFill>
                    </a:lnB>
                    <a:noFill/>
                  </a:tcPr>
                </a:tc>
                <a:tc>
                  <a:txBody>
                    <a:bodyPr/>
                    <a:lstStyle/>
                    <a:p>
                      <a:pPr lvl="0" algn="l">
                        <a:lnSpc>
                          <a:spcPct val="100000"/>
                        </a:lnSpc>
                        <a:spcBef>
                          <a:spcPts val="0"/>
                        </a:spcBef>
                        <a:spcAft>
                          <a:spcPts val="0"/>
                        </a:spcAft>
                        <a:buNone/>
                      </a:pPr>
                      <a:r>
                        <a:rPr lang="en-US" sz="1100" b="0" i="0" u="none" strike="noStrike" noProof="0">
                          <a:solidFill>
                            <a:schemeClr val="tx1"/>
                          </a:solidFill>
                        </a:rPr>
                        <a:t>The CAE-MM to AMOS Delay &amp; Cancellation integration enables real-time visibility of flight disruptions, ensuring maintenance planning is always based on the latest operational status. By eliminating manual updates and data gaps, it improves aircraft availability planning, enhances decision-making, and increases operational efficiency while reducing the risk of maintenance scheduling errors.</a:t>
                      </a:r>
                      <a:endParaRPr lang="en-US"/>
                    </a:p>
                  </a:txBody>
                  <a:tcPr anchor="ctr">
                    <a:lnL w="6350">
                      <a:solidFill>
                        <a:schemeClr val="bg1">
                          <a:lumMod val="75000"/>
                        </a:schemeClr>
                      </a:solidFill>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a:solidFill>
                        <a:schemeClr val="bg1">
                          <a:lumMod val="75000"/>
                        </a:schemeClr>
                      </a:solidFill>
                    </a:lnB>
                    <a:noFill/>
                  </a:tcPr>
                </a:tc>
                <a:tc>
                  <a:txBody>
                    <a:bodyPr/>
                    <a:lstStyle/>
                    <a:p>
                      <a:pPr marL="0" lvl="0" indent="0" algn="l">
                        <a:buNone/>
                      </a:pPr>
                      <a:r>
                        <a:rPr lang="en-US" sz="1100" b="0" i="0" u="none" strike="noStrike" noProof="0">
                          <a:latin typeface="Arial"/>
                        </a:rPr>
                        <a:t>28 Aug</a:t>
                      </a: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a:solidFill>
                        <a:schemeClr val="bg1">
                          <a:lumMod val="75000"/>
                        </a:schemeClr>
                      </a:solidFill>
                    </a:lnB>
                    <a:noFill/>
                  </a:tcPr>
                </a:tc>
                <a:extLst>
                  <a:ext uri="{0D108BD9-81ED-4DB2-BD59-A6C34878D82A}">
                    <a16:rowId xmlns:a16="http://schemas.microsoft.com/office/drawing/2014/main" val="3498137884"/>
                  </a:ext>
                </a:extLst>
              </a:tr>
              <a:tr h="931642">
                <a:tc vMerge="1">
                  <a:txBody>
                    <a:bodyPr/>
                    <a:lstStyle/>
                    <a:p>
                      <a:pPr defTabSz="914400">
                        <a:tabLst/>
                        <a:defRPr/>
                      </a:pPr>
                      <a:endParaRPr lang="en-US"/>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tc>
                  <a:txBody>
                    <a:bodyPr/>
                    <a:lstStyle/>
                    <a:p>
                      <a:pPr marL="0" marR="0" lvl="0" indent="0" algn="l">
                        <a:lnSpc>
                          <a:spcPct val="100000"/>
                        </a:lnSpc>
                        <a:spcBef>
                          <a:spcPts val="0"/>
                        </a:spcBef>
                        <a:spcAft>
                          <a:spcPts val="0"/>
                        </a:spcAft>
                        <a:buNone/>
                      </a:pPr>
                      <a:r>
                        <a:rPr lang="en-US" sz="1100" b="1" i="0" u="none" strike="noStrike" kern="1200" noProof="0">
                          <a:solidFill>
                            <a:srgbClr val="00B050"/>
                          </a:solidFill>
                        </a:rPr>
                        <a:t>AMOS to CAE MM integration for Maintenance messages - Maintenance PUKs Closed &amp; Cancellation (AMOS → CAE)</a:t>
                      </a:r>
                      <a:endParaRPr lang="en-US" b="1">
                        <a:solidFill>
                          <a:srgbClr val="00B050"/>
                        </a:solidFill>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l">
                        <a:lnSpc>
                          <a:spcPct val="100000"/>
                        </a:lnSpc>
                        <a:spcBef>
                          <a:spcPts val="0"/>
                        </a:spcBef>
                        <a:spcAft>
                          <a:spcPts val="0"/>
                        </a:spcAft>
                        <a:buNone/>
                      </a:pPr>
                      <a:r>
                        <a:rPr lang="en-US" sz="1100" b="0" i="0" u="none" strike="noStrike" noProof="0">
                          <a:solidFill>
                            <a:srgbClr val="292A2E"/>
                          </a:solidFill>
                          <a:highlight>
                            <a:srgbClr val="FFFFFF"/>
                          </a:highlight>
                          <a:latin typeface="Nunito Sans"/>
                        </a:rPr>
                        <a:t>The integration of AMOS with CAE’s Movement Manager enables real‑time flow of maintenance (MX) messages, eliminating manual data transfers and reducing operational delays. By ensuring that critical aircraft maintenance information is instantly available in MM, the solution strengthens flight planning accuracy and enhances IOCC decision‑making.</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lvl="0" indent="0" algn="l">
                        <a:buNone/>
                      </a:pPr>
                      <a:r>
                        <a:rPr lang="en-US" sz="1100" b="0" i="0" u="none" strike="noStrike" noProof="0">
                          <a:latin typeface="Arial"/>
                        </a:rPr>
                        <a:t>28 Aug</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68646495"/>
                  </a:ext>
                </a:extLst>
              </a:tr>
              <a:tr h="597919">
                <a:tc rowSpan="2">
                  <a:txBody>
                    <a:bodyPr/>
                    <a:lstStyle/>
                    <a:p>
                      <a:pPr marL="0" lvl="0" indent="0" algn="ctr">
                        <a:lnSpc>
                          <a:spcPct val="100000"/>
                        </a:lnSpc>
                        <a:spcBef>
                          <a:spcPts val="0"/>
                        </a:spcBef>
                        <a:spcAft>
                          <a:spcPts val="0"/>
                        </a:spcAft>
                        <a:buNone/>
                      </a:pPr>
                      <a:r>
                        <a:rPr lang="en-US" sz="1100" b="1" i="0" u="none" strike="noStrike" kern="1200">
                          <a:solidFill>
                            <a:srgbClr val="0070C0"/>
                          </a:solidFill>
                          <a:latin typeface="+mn-lt"/>
                          <a:ea typeface="+mn-ea"/>
                          <a:cs typeface="+mn-cs"/>
                        </a:rPr>
                        <a:t>B2E</a:t>
                      </a: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tc>
                  <a:txBody>
                    <a:bodyPr/>
                    <a:lstStyle/>
                    <a:p>
                      <a:pPr marL="0" lvl="0" indent="0" algn="l">
                        <a:lnSpc>
                          <a:spcPct val="100000"/>
                        </a:lnSpc>
                        <a:spcBef>
                          <a:spcPts val="0"/>
                        </a:spcBef>
                        <a:spcAft>
                          <a:spcPts val="0"/>
                        </a:spcAft>
                        <a:buNone/>
                      </a:pPr>
                      <a:r>
                        <a:rPr lang="en-US" sz="1100" b="1" i="0" u="none" strike="noStrike" kern="1200" noProof="0">
                          <a:solidFill>
                            <a:srgbClr val="00B050"/>
                          </a:solidFill>
                          <a:latin typeface="Nunito Sans"/>
                        </a:rPr>
                        <a:t>[</a:t>
                      </a:r>
                      <a:r>
                        <a:rPr lang="en-US" sz="1100" b="1" i="0" u="none" strike="noStrike" kern="1200" noProof="0" err="1">
                          <a:solidFill>
                            <a:srgbClr val="00B050"/>
                          </a:solidFill>
                          <a:latin typeface="Nunito Sans"/>
                        </a:rPr>
                        <a:t>Adhoc</a:t>
                      </a:r>
                      <a:r>
                        <a:rPr lang="en-US" sz="1100" b="1" i="0" u="none" strike="noStrike" kern="1200" noProof="0">
                          <a:solidFill>
                            <a:srgbClr val="00B050"/>
                          </a:solidFill>
                          <a:latin typeface="Nunito Sans"/>
                        </a:rPr>
                        <a:t>] </a:t>
                      </a:r>
                      <a:r>
                        <a:rPr lang="en-US" sz="1100" b="1" i="0" u="none" strike="noStrike" kern="1200" noProof="0" err="1">
                          <a:solidFill>
                            <a:srgbClr val="00B050"/>
                          </a:solidFill>
                          <a:latin typeface="Nunito Sans"/>
                        </a:rPr>
                        <a:t>myAI</a:t>
                      </a:r>
                      <a:r>
                        <a:rPr lang="en-US" sz="1100" b="1" i="0" u="none" strike="noStrike" kern="1200" noProof="0">
                          <a:solidFill>
                            <a:srgbClr val="00B050"/>
                          </a:solidFill>
                          <a:latin typeface="Nunito Sans"/>
                        </a:rPr>
                        <a:t> Profile Picture EIP Onboarding (SF &lt;--&gt; </a:t>
                      </a:r>
                      <a:r>
                        <a:rPr lang="en-US" sz="1100" b="1" i="0" u="none" strike="noStrike" kern="1200" noProof="0" err="1">
                          <a:solidFill>
                            <a:srgbClr val="00B050"/>
                          </a:solidFill>
                          <a:latin typeface="Nunito Sans"/>
                        </a:rPr>
                        <a:t>myAI</a:t>
                      </a:r>
                      <a:r>
                        <a:rPr lang="en-US" sz="1100" b="1" i="0" u="none" strike="noStrike" kern="1200" noProof="0">
                          <a:solidFill>
                            <a:srgbClr val="00B050"/>
                          </a:solidFill>
                          <a:latin typeface="Nunito Sans"/>
                        </a:rPr>
                        <a:t>)</a:t>
                      </a:r>
                      <a:endParaRPr lang="en-US" b="1"/>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marL="0" lvl="0" indent="0" algn="l">
                        <a:lnSpc>
                          <a:spcPct val="100000"/>
                        </a:lnSpc>
                        <a:spcBef>
                          <a:spcPts val="0"/>
                        </a:spcBef>
                        <a:spcAft>
                          <a:spcPts val="0"/>
                        </a:spcAft>
                        <a:buNone/>
                      </a:pPr>
                      <a:r>
                        <a:rPr lang="en-US" sz="1100" b="0" i="0" u="none" strike="noStrike" noProof="0">
                          <a:solidFill>
                            <a:srgbClr val="292A2E"/>
                          </a:solidFill>
                          <a:highlight>
                            <a:srgbClr val="FFFFFF"/>
                          </a:highlight>
                        </a:rPr>
                        <a:t>Enables </a:t>
                      </a:r>
                      <a:r>
                        <a:rPr lang="en-US" sz="1100" b="1" i="0" u="none" strike="noStrike" noProof="0">
                          <a:solidFill>
                            <a:srgbClr val="292A2E"/>
                          </a:solidFill>
                          <a:highlight>
                            <a:srgbClr val="FFFFFF"/>
                          </a:highlight>
                        </a:rPr>
                        <a:t>direct profile picture updates from </a:t>
                      </a:r>
                      <a:r>
                        <a:rPr lang="en-US" sz="1100" b="1" i="0" u="none" strike="noStrike" noProof="0" err="1">
                          <a:solidFill>
                            <a:srgbClr val="292A2E"/>
                          </a:solidFill>
                          <a:highlight>
                            <a:srgbClr val="FFFFFF"/>
                          </a:highlight>
                        </a:rPr>
                        <a:t>myAI</a:t>
                      </a:r>
                      <a:r>
                        <a:rPr lang="en-US" sz="1100" b="1" i="0" u="none" strike="noStrike" noProof="0">
                          <a:solidFill>
                            <a:srgbClr val="292A2E"/>
                          </a:solidFill>
                          <a:highlight>
                            <a:srgbClr val="FFFFFF"/>
                          </a:highlight>
                        </a:rPr>
                        <a:t> into SuccessFactors</a:t>
                      </a:r>
                      <a:r>
                        <a:rPr lang="en-US" sz="1100" b="0" i="0" u="none" strike="noStrike" noProof="0">
                          <a:solidFill>
                            <a:srgbClr val="292A2E"/>
                          </a:solidFill>
                          <a:highlight>
                            <a:srgbClr val="FFFFFF"/>
                          </a:highlight>
                        </a:rPr>
                        <a:t>, ensuring a single, consistent employee identity across systems.</a:t>
                      </a:r>
                      <a:endParaRPr lang="en-US"/>
                    </a:p>
                    <a:p>
                      <a:pPr marL="0" lvl="0" indent="0" algn="l">
                        <a:lnSpc>
                          <a:spcPct val="100000"/>
                        </a:lnSpc>
                        <a:spcBef>
                          <a:spcPts val="0"/>
                        </a:spcBef>
                        <a:spcAft>
                          <a:spcPts val="0"/>
                        </a:spcAft>
                        <a:buNone/>
                      </a:pPr>
                      <a:endParaRPr lang="en-US" sz="1100" b="0" i="0" u="none" strike="noStrike" noProof="0">
                        <a:solidFill>
                          <a:srgbClr val="292A2E"/>
                        </a:solidFill>
                        <a:highlight>
                          <a:srgbClr val="FFFFFF"/>
                        </a:highlight>
                        <a:latin typeface="Nunito Sans"/>
                      </a:endParaRP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marL="0" lvl="0" indent="0" algn="l">
                        <a:buNone/>
                      </a:pPr>
                      <a:r>
                        <a:rPr lang="en-US" sz="1100" b="0" i="0" u="none" strike="noStrike" noProof="0">
                          <a:latin typeface="Arial"/>
                        </a:rPr>
                        <a:t>31 Aug</a:t>
                      </a: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288029985"/>
                  </a:ext>
                </a:extLst>
              </a:tr>
              <a:tr h="597919">
                <a:tc vMerge="1">
                  <a:txBody>
                    <a:bodyPr/>
                    <a:lstStyle/>
                    <a:p>
                      <a:endParaRPr lang="en-US"/>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tc>
                  <a:txBody>
                    <a:bodyPr/>
                    <a:lstStyle/>
                    <a:p>
                      <a:pPr marL="0" lvl="0" indent="0" algn="l">
                        <a:lnSpc>
                          <a:spcPct val="100000"/>
                        </a:lnSpc>
                        <a:spcBef>
                          <a:spcPts val="0"/>
                        </a:spcBef>
                        <a:spcAft>
                          <a:spcPts val="0"/>
                        </a:spcAft>
                        <a:buNone/>
                      </a:pPr>
                      <a:r>
                        <a:rPr lang="en-US" sz="1100" b="1" i="0" u="none" strike="noStrike" kern="1200" noProof="0">
                          <a:solidFill>
                            <a:srgbClr val="00B050"/>
                          </a:solidFill>
                        </a:rPr>
                        <a:t>[</a:t>
                      </a:r>
                      <a:r>
                        <a:rPr lang="en-US" sz="1100" b="1" i="0" u="none" strike="noStrike" kern="1200" noProof="0" err="1">
                          <a:solidFill>
                            <a:srgbClr val="00B050"/>
                          </a:solidFill>
                        </a:rPr>
                        <a:t>Adhoc</a:t>
                      </a:r>
                      <a:r>
                        <a:rPr lang="en-US" sz="1100" b="1" i="0" u="none" strike="noStrike" kern="1200" noProof="0">
                          <a:solidFill>
                            <a:srgbClr val="00B050"/>
                          </a:solidFill>
                        </a:rPr>
                        <a:t>] Service Now </a:t>
                      </a:r>
                      <a:r>
                        <a:rPr lang="en-US" sz="1100" b="1" i="0" u="none" strike="noStrike" kern="1200" noProof="0" err="1">
                          <a:solidFill>
                            <a:srgbClr val="00B050"/>
                          </a:solidFill>
                        </a:rPr>
                        <a:t>myAI</a:t>
                      </a:r>
                      <a:r>
                        <a:rPr lang="en-US" sz="1100" b="1" i="0" u="none" strike="noStrike" kern="1200" noProof="0">
                          <a:solidFill>
                            <a:srgbClr val="00B050"/>
                          </a:solidFill>
                        </a:rPr>
                        <a:t> security approval</a:t>
                      </a:r>
                      <a:endParaRPr lang="en-US" b="1"/>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tc>
                  <a:txBody>
                    <a:bodyPr/>
                    <a:lstStyle/>
                    <a:p>
                      <a:pPr marL="0" lvl="0" indent="0" algn="l">
                        <a:lnSpc>
                          <a:spcPct val="100000"/>
                        </a:lnSpc>
                        <a:spcBef>
                          <a:spcPts val="0"/>
                        </a:spcBef>
                        <a:spcAft>
                          <a:spcPts val="0"/>
                        </a:spcAft>
                        <a:buNone/>
                      </a:pPr>
                      <a:r>
                        <a:rPr lang="en-US" sz="1100" b="0" i="0" u="none" strike="noStrike" noProof="0">
                          <a:solidFill>
                            <a:srgbClr val="292A2E"/>
                          </a:solidFill>
                          <a:highlight>
                            <a:srgbClr val="FFFFFF"/>
                          </a:highlight>
                        </a:rPr>
                        <a:t>Integrating </a:t>
                      </a:r>
                      <a:r>
                        <a:rPr lang="en-US" sz="1100" b="0" i="0" u="none" strike="noStrike" noProof="0" err="1">
                          <a:solidFill>
                            <a:srgbClr val="292A2E"/>
                          </a:solidFill>
                          <a:highlight>
                            <a:srgbClr val="FFFFFF"/>
                          </a:highlight>
                        </a:rPr>
                        <a:t>myAI</a:t>
                      </a:r>
                      <a:r>
                        <a:rPr lang="en-US" sz="1100" b="0" i="0" u="none" strike="noStrike" noProof="0">
                          <a:solidFill>
                            <a:srgbClr val="292A2E"/>
                          </a:solidFill>
                          <a:highlight>
                            <a:srgbClr val="FFFFFF"/>
                          </a:highlight>
                        </a:rPr>
                        <a:t> with ServiceNow will streamline the Security Exception approval process by enabling approvers to review, approve, or reject requests directly within </a:t>
                      </a:r>
                      <a:r>
                        <a:rPr lang="en-US" sz="1100" b="0" i="0" u="none" strike="noStrike" noProof="0" err="1">
                          <a:solidFill>
                            <a:srgbClr val="292A2E"/>
                          </a:solidFill>
                          <a:highlight>
                            <a:srgbClr val="FFFFFF"/>
                          </a:highlight>
                        </a:rPr>
                        <a:t>myAI</a:t>
                      </a:r>
                      <a:r>
                        <a:rPr lang="en-US" sz="1100" b="0" i="0" u="none" strike="noStrike" noProof="0">
                          <a:solidFill>
                            <a:srgbClr val="292A2E"/>
                          </a:solidFill>
                          <a:highlight>
                            <a:srgbClr val="FFFFFF"/>
                          </a:highlight>
                        </a:rPr>
                        <a:t>. </a:t>
                      </a: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tc>
                  <a:txBody>
                    <a:bodyPr/>
                    <a:lstStyle/>
                    <a:p>
                      <a:pPr lvl="0" algn="l">
                        <a:lnSpc>
                          <a:spcPct val="100000"/>
                        </a:lnSpc>
                        <a:spcBef>
                          <a:spcPts val="0"/>
                        </a:spcBef>
                        <a:spcAft>
                          <a:spcPts val="0"/>
                        </a:spcAft>
                        <a:buNone/>
                      </a:pPr>
                      <a:r>
                        <a:rPr lang="en-US" sz="1100" b="0" i="0" u="none" strike="noStrike" noProof="0">
                          <a:solidFill>
                            <a:srgbClr val="000000"/>
                          </a:solidFill>
                          <a:latin typeface="Arial"/>
                          <a:cs typeface="Arial"/>
                        </a:rPr>
                        <a:t>28 Aug</a:t>
                      </a:r>
                    </a:p>
                    <a:p>
                      <a:pPr marL="0" lvl="0" indent="0" algn="l">
                        <a:buNone/>
                      </a:pPr>
                      <a:endParaRPr lang="en-US" sz="1100" b="0" i="0" u="none" strike="noStrike" noProof="0">
                        <a:latin typeface="Arial"/>
                      </a:endParaRP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extLst>
                  <a:ext uri="{0D108BD9-81ED-4DB2-BD59-A6C34878D82A}">
                    <a16:rowId xmlns:a16="http://schemas.microsoft.com/office/drawing/2014/main" val="2254940701"/>
                  </a:ext>
                </a:extLst>
              </a:tr>
            </a:tbl>
          </a:graphicData>
        </a:graphic>
      </p:graphicFrame>
      <p:sp>
        <p:nvSpPr>
          <p:cNvPr id="10" name="Rectangle 9">
            <a:extLst>
              <a:ext uri="{FF2B5EF4-FFF2-40B4-BE49-F238E27FC236}">
                <a16:creationId xmlns:a16="http://schemas.microsoft.com/office/drawing/2014/main" id="{C853EFE9-4342-363E-1E3C-0B50DBCC685E}"/>
              </a:ext>
            </a:extLst>
          </p:cNvPr>
          <p:cNvSpPr/>
          <p:nvPr/>
        </p:nvSpPr>
        <p:spPr>
          <a:xfrm>
            <a:off x="262827" y="848250"/>
            <a:ext cx="918273" cy="29475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400" b="1">
                <a:solidFill>
                  <a:srgbClr val="FFFFFF"/>
                </a:solidFill>
                <a:latin typeface="AirIndia"/>
              </a:rPr>
              <a:t>Aug</a:t>
            </a:r>
            <a:r>
              <a:rPr kumimoji="0" lang="en-IN" sz="1400" b="1" i="0" u="none" strike="noStrike" kern="1200" cap="none" spc="0" normalizeH="0" baseline="0" noProof="0">
                <a:ln>
                  <a:noFill/>
                </a:ln>
                <a:solidFill>
                  <a:srgbClr val="FFFFFF"/>
                </a:solidFill>
                <a:effectLst/>
                <a:uLnTx/>
                <a:uFillTx/>
                <a:latin typeface="AirIndia"/>
              </a:rPr>
              <a:t> ‘</a:t>
            </a:r>
            <a:r>
              <a:rPr lang="en-IN" sz="1400" b="1">
                <a:solidFill>
                  <a:srgbClr val="FFFFFF"/>
                </a:solidFill>
                <a:latin typeface="AirIndia"/>
              </a:rPr>
              <a:t>26</a:t>
            </a:r>
            <a:endParaRPr kumimoji="0" lang="en-US" sz="1400" b="1" i="0" u="none" strike="noStrike" kern="1200" cap="none" spc="0" normalizeH="0" baseline="0" noProof="0">
              <a:ln>
                <a:noFill/>
              </a:ln>
              <a:solidFill>
                <a:srgbClr val="FFFFFF"/>
              </a:solidFill>
              <a:effectLst/>
              <a:uLnTx/>
              <a:uFillTx/>
              <a:latin typeface="AirIndia" panose="04050608020B02020302" charset="0"/>
              <a:ea typeface="+mn-ea"/>
              <a:cs typeface="+mn-cs"/>
            </a:endParaRPr>
          </a:p>
        </p:txBody>
      </p:sp>
    </p:spTree>
    <p:extLst>
      <p:ext uri="{BB962C8B-B14F-4D97-AF65-F5344CB8AC3E}">
        <p14:creationId xmlns:p14="http://schemas.microsoft.com/office/powerpoint/2010/main" val="350127545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DFF5D4-4EEF-5ED4-B42D-4D57DB9DA32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858823B-CBB3-C1AF-A61F-CCB19EECC3F5}"/>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3A41A254-7326-714E-AF55-4C213D6394DE}" type="slidenum">
              <a:rPr kumimoji="0" lang="en-US" sz="1200" b="0" i="0" u="none" strike="noStrike" kern="1200" cap="none" spc="0" normalizeH="0" baseline="0" noProof="0" smtClean="0">
                <a:ln>
                  <a:noFill/>
                </a:ln>
                <a:solidFill>
                  <a:srgbClr val="DA0E28"/>
                </a:solidFill>
                <a:effectLst/>
                <a:uLnTx/>
                <a:uFillTx/>
                <a:latin typeface="Nunito Sans"/>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59</a:t>
            </a:fld>
            <a:endParaRPr kumimoji="0" lang="en-US" sz="1200" b="0" i="0" u="none" strike="noStrike" kern="1200" cap="none" spc="0" normalizeH="0" baseline="0" noProof="0">
              <a:ln>
                <a:noFill/>
              </a:ln>
              <a:solidFill>
                <a:srgbClr val="DA0E28"/>
              </a:solidFill>
              <a:effectLst/>
              <a:uLnTx/>
              <a:uFillTx/>
              <a:latin typeface="Nunito Sans"/>
              <a:ea typeface="+mn-ea"/>
              <a:cs typeface="+mn-cs"/>
            </a:endParaRPr>
          </a:p>
        </p:txBody>
      </p:sp>
      <p:sp>
        <p:nvSpPr>
          <p:cNvPr id="6" name="Title 11">
            <a:extLst>
              <a:ext uri="{FF2B5EF4-FFF2-40B4-BE49-F238E27FC236}">
                <a16:creationId xmlns:a16="http://schemas.microsoft.com/office/drawing/2014/main" id="{B55B4A00-31E7-8B0D-3FE6-F01A33ABAE0D}"/>
              </a:ext>
            </a:extLst>
          </p:cNvPr>
          <p:cNvSpPr txBox="1">
            <a:spLocks/>
          </p:cNvSpPr>
          <p:nvPr/>
        </p:nvSpPr>
        <p:spPr>
          <a:xfrm>
            <a:off x="304800" y="269218"/>
            <a:ext cx="9749641" cy="480073"/>
          </a:xfrm>
          <a:prstGeom prst="rect">
            <a:avLst/>
          </a:prstGeom>
        </p:spPr>
        <p:txBody>
          <a:bodyPr lIns="91440" tIns="45720" rIns="91440" bIns="45720" anchor="t">
            <a:noAutofit/>
          </a:bodyPr>
          <a:lstStyle>
            <a:lvl1pPr algn="l" defTabSz="914400" rtl="0" eaLnBrk="1" latinLnBrk="0" hangingPunct="1">
              <a:lnSpc>
                <a:spcPct val="90000"/>
              </a:lnSpc>
              <a:spcBef>
                <a:spcPct val="0"/>
              </a:spcBef>
              <a:buNone/>
              <a:defRPr sz="4400" b="1" i="0" kern="1200">
                <a:solidFill>
                  <a:schemeClr val="tx1"/>
                </a:solidFill>
                <a:latin typeface="AirIndia" pitchFamily="82" charset="77"/>
                <a:ea typeface="+mj-ea"/>
                <a:cs typeface="+mj-cs"/>
              </a:defRPr>
            </a:lvl1pPr>
          </a:lstStyle>
          <a:p>
            <a:pPr>
              <a:defRPr/>
            </a:pPr>
            <a:r>
              <a:rPr kumimoji="0" lang="en-US" sz="1800" b="1" i="0" u="none" strike="noStrike" kern="1200" cap="none" spc="0" normalizeH="0" baseline="0" noProof="0">
                <a:ln>
                  <a:noFill/>
                </a:ln>
                <a:solidFill>
                  <a:srgbClr val="DA0E28"/>
                </a:solidFill>
                <a:effectLst/>
                <a:uLnTx/>
                <a:uFillTx/>
                <a:latin typeface="AirIndia"/>
                <a:ea typeface="+mj-ea"/>
                <a:cs typeface="+mj-cs"/>
              </a:rPr>
              <a:t>Enterprise </a:t>
            </a:r>
            <a:r>
              <a:rPr lang="en-US" sz="1800">
                <a:solidFill>
                  <a:srgbClr val="DA0E28"/>
                </a:solidFill>
                <a:latin typeface="AirIndia"/>
              </a:rPr>
              <a:t>Integration -FY26-27</a:t>
            </a:r>
            <a:r>
              <a:rPr kumimoji="0" lang="en-US" sz="1800" b="1" i="0" u="none" strike="noStrike" kern="1200" cap="none" spc="0" normalizeH="0" baseline="0" noProof="0">
                <a:ln>
                  <a:noFill/>
                </a:ln>
                <a:solidFill>
                  <a:srgbClr val="DA0E28"/>
                </a:solidFill>
                <a:effectLst/>
                <a:uLnTx/>
                <a:uFillTx/>
                <a:latin typeface="AirIndia"/>
                <a:ea typeface="+mj-ea"/>
                <a:cs typeface="+mj-cs"/>
              </a:rPr>
              <a:t> </a:t>
            </a:r>
            <a:r>
              <a:rPr lang="en-US" sz="1800">
                <a:solidFill>
                  <a:srgbClr val="DA0E28"/>
                </a:solidFill>
                <a:latin typeface="AirIndia"/>
              </a:rPr>
              <a:t>Q2</a:t>
            </a:r>
            <a:r>
              <a:rPr kumimoji="0" lang="en-US" sz="1800" b="1" i="0" u="none" strike="noStrike" kern="1200" cap="none" spc="0" normalizeH="0" baseline="0" noProof="0">
                <a:ln>
                  <a:noFill/>
                </a:ln>
                <a:solidFill>
                  <a:srgbClr val="DA0E28"/>
                </a:solidFill>
                <a:effectLst/>
                <a:uLnTx/>
                <a:uFillTx/>
                <a:latin typeface="AirIndia"/>
                <a:ea typeface="+mj-ea"/>
                <a:cs typeface="+mj-cs"/>
              </a:rPr>
              <a:t> Release </a:t>
            </a:r>
            <a:r>
              <a:rPr lang="en-US" sz="1800">
                <a:solidFill>
                  <a:srgbClr val="DA0E28"/>
                </a:solidFill>
                <a:latin typeface="AirIndia"/>
              </a:rPr>
              <a:t>Plan</a:t>
            </a:r>
            <a:endParaRPr lang="en-US" sz="1800" b="0">
              <a:solidFill>
                <a:srgbClr val="000000"/>
              </a:solidFill>
              <a:latin typeface="AirIndia"/>
            </a:endParaRPr>
          </a:p>
          <a:p>
            <a:pPr>
              <a:defRPr/>
            </a:pPr>
            <a:endParaRPr lang="en-US" sz="1800" i="0" u="none" strike="noStrike" kern="1200" cap="none" spc="0" normalizeH="0" baseline="0" noProof="0">
              <a:ln>
                <a:noFill/>
              </a:ln>
              <a:solidFill>
                <a:srgbClr val="DA0E28"/>
              </a:solidFill>
              <a:effectLst/>
              <a:uLnTx/>
              <a:uFillTx/>
              <a:latin typeface="AirIndia"/>
            </a:endParaRPr>
          </a:p>
        </p:txBody>
      </p:sp>
      <p:sp>
        <p:nvSpPr>
          <p:cNvPr id="4" name="Rectangle 3">
            <a:extLst>
              <a:ext uri="{FF2B5EF4-FFF2-40B4-BE49-F238E27FC236}">
                <a16:creationId xmlns:a16="http://schemas.microsoft.com/office/drawing/2014/main" id="{9F1D9C96-2F9C-0A45-579B-59306FAD9217}"/>
              </a:ext>
            </a:extLst>
          </p:cNvPr>
          <p:cNvSpPr/>
          <p:nvPr/>
        </p:nvSpPr>
        <p:spPr>
          <a:xfrm rot="5400000">
            <a:off x="8942419" y="6655587"/>
            <a:ext cx="90000" cy="90000"/>
          </a:xfrm>
          <a:prstGeom prst="rect">
            <a:avLst/>
          </a:prstGeom>
          <a:solidFill>
            <a:schemeClr val="bg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9" name="TextBox 8">
            <a:extLst>
              <a:ext uri="{FF2B5EF4-FFF2-40B4-BE49-F238E27FC236}">
                <a16:creationId xmlns:a16="http://schemas.microsoft.com/office/drawing/2014/main" id="{AEEC5C00-5414-F394-0FDD-56D9070492DB}"/>
              </a:ext>
            </a:extLst>
          </p:cNvPr>
          <p:cNvSpPr txBox="1"/>
          <p:nvPr/>
        </p:nvSpPr>
        <p:spPr>
          <a:xfrm>
            <a:off x="8986097" y="6582653"/>
            <a:ext cx="3069090" cy="246221"/>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FFFFFF">
                    <a:lumMod val="49000"/>
                  </a:srgbClr>
                </a:solidFill>
                <a:effectLst/>
                <a:uLnTx/>
                <a:uFillTx/>
                <a:latin typeface="Nunito Sans"/>
                <a:ea typeface="+mn-ea"/>
                <a:cs typeface="+mn-cs"/>
              </a:rPr>
              <a:t>Descoped</a:t>
            </a:r>
          </a:p>
        </p:txBody>
      </p:sp>
      <p:sp>
        <p:nvSpPr>
          <p:cNvPr id="18" name="Rectangle 17">
            <a:extLst>
              <a:ext uri="{FF2B5EF4-FFF2-40B4-BE49-F238E27FC236}">
                <a16:creationId xmlns:a16="http://schemas.microsoft.com/office/drawing/2014/main" id="{40AEAD76-3430-7993-2594-9DA439044889}"/>
              </a:ext>
            </a:extLst>
          </p:cNvPr>
          <p:cNvSpPr/>
          <p:nvPr/>
        </p:nvSpPr>
        <p:spPr>
          <a:xfrm>
            <a:off x="10326888" y="6653023"/>
            <a:ext cx="90000" cy="90000"/>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20" name="Rectangle 19">
            <a:extLst>
              <a:ext uri="{FF2B5EF4-FFF2-40B4-BE49-F238E27FC236}">
                <a16:creationId xmlns:a16="http://schemas.microsoft.com/office/drawing/2014/main" id="{B788AFC0-B3B0-EEB4-6461-907BE358EBCF}"/>
              </a:ext>
            </a:extLst>
          </p:cNvPr>
          <p:cNvSpPr/>
          <p:nvPr/>
        </p:nvSpPr>
        <p:spPr>
          <a:xfrm>
            <a:off x="1433259" y="6651985"/>
            <a:ext cx="90000" cy="90000"/>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22" name="Rectangle 21">
            <a:extLst>
              <a:ext uri="{FF2B5EF4-FFF2-40B4-BE49-F238E27FC236}">
                <a16:creationId xmlns:a16="http://schemas.microsoft.com/office/drawing/2014/main" id="{DEC34DA8-7C9D-E274-A63F-4B7921931897}"/>
              </a:ext>
            </a:extLst>
          </p:cNvPr>
          <p:cNvSpPr/>
          <p:nvPr/>
        </p:nvSpPr>
        <p:spPr>
          <a:xfrm>
            <a:off x="5909236" y="6676608"/>
            <a:ext cx="90000" cy="90000"/>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23" name="Rectangle 22">
            <a:extLst>
              <a:ext uri="{FF2B5EF4-FFF2-40B4-BE49-F238E27FC236}">
                <a16:creationId xmlns:a16="http://schemas.microsoft.com/office/drawing/2014/main" id="{05BC1D54-968C-CC32-E745-7EF3224C75CB}"/>
              </a:ext>
            </a:extLst>
          </p:cNvPr>
          <p:cNvSpPr/>
          <p:nvPr/>
        </p:nvSpPr>
        <p:spPr>
          <a:xfrm>
            <a:off x="2752379" y="6642913"/>
            <a:ext cx="90000" cy="90000"/>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24" name="TextBox 15">
            <a:extLst>
              <a:ext uri="{FF2B5EF4-FFF2-40B4-BE49-F238E27FC236}">
                <a16:creationId xmlns:a16="http://schemas.microsoft.com/office/drawing/2014/main" id="{48AE0264-6A08-8784-B64D-F47055E46BCC}"/>
              </a:ext>
            </a:extLst>
          </p:cNvPr>
          <p:cNvSpPr txBox="1"/>
          <p:nvPr/>
        </p:nvSpPr>
        <p:spPr>
          <a:xfrm>
            <a:off x="10416853" y="6596174"/>
            <a:ext cx="857245"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0070C0"/>
                </a:solidFill>
                <a:effectLst/>
                <a:uLnTx/>
                <a:uFillTx/>
                <a:latin typeface="Nunito Sans"/>
                <a:ea typeface="+mn-ea"/>
                <a:cs typeface="+mn-cs"/>
              </a:rPr>
              <a:t>Delivered</a:t>
            </a:r>
            <a:endParaRPr kumimoji="0" lang="en-IN" sz="1000" b="0" i="0" u="none" strike="noStrike" kern="1200" cap="none" spc="0" normalizeH="0" baseline="0" noProof="0">
              <a:ln>
                <a:noFill/>
              </a:ln>
              <a:solidFill>
                <a:srgbClr val="000000"/>
              </a:solidFill>
              <a:effectLst/>
              <a:uLnTx/>
              <a:uFillTx/>
              <a:latin typeface="Nunito Sans"/>
              <a:ea typeface="+mn-ea"/>
              <a:cs typeface="+mn-cs"/>
            </a:endParaRPr>
          </a:p>
        </p:txBody>
      </p:sp>
      <p:sp>
        <p:nvSpPr>
          <p:cNvPr id="25" name="TextBox 18">
            <a:extLst>
              <a:ext uri="{FF2B5EF4-FFF2-40B4-BE49-F238E27FC236}">
                <a16:creationId xmlns:a16="http://schemas.microsoft.com/office/drawing/2014/main" id="{22489842-94DC-D842-021A-B9E63BAAB0C0}"/>
              </a:ext>
            </a:extLst>
          </p:cNvPr>
          <p:cNvSpPr txBox="1"/>
          <p:nvPr/>
        </p:nvSpPr>
        <p:spPr>
          <a:xfrm>
            <a:off x="1554283" y="6592533"/>
            <a:ext cx="1032881"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00B050"/>
                </a:solidFill>
                <a:effectLst/>
                <a:uLnTx/>
                <a:uFillTx/>
                <a:latin typeface="Nunito Sans"/>
                <a:ea typeface="+mn-ea"/>
                <a:cs typeface="+mn-cs"/>
              </a:rPr>
              <a:t>Ontrack</a:t>
            </a:r>
            <a:endParaRPr kumimoji="0" lang="en-IN" sz="1000" b="0" i="0" u="none" strike="noStrike" kern="1200" cap="none" spc="0" normalizeH="0" baseline="0" noProof="0">
              <a:ln>
                <a:noFill/>
              </a:ln>
              <a:solidFill>
                <a:srgbClr val="000000"/>
              </a:solidFill>
              <a:effectLst/>
              <a:uLnTx/>
              <a:uFillTx/>
              <a:latin typeface="Nunito Sans"/>
              <a:ea typeface="+mn-ea"/>
              <a:cs typeface="+mn-cs"/>
            </a:endParaRPr>
          </a:p>
        </p:txBody>
      </p:sp>
      <p:sp>
        <p:nvSpPr>
          <p:cNvPr id="26" name="TextBox 20">
            <a:extLst>
              <a:ext uri="{FF2B5EF4-FFF2-40B4-BE49-F238E27FC236}">
                <a16:creationId xmlns:a16="http://schemas.microsoft.com/office/drawing/2014/main" id="{1A267536-1A95-5A6C-43D0-BBDB0B139FB7}"/>
              </a:ext>
            </a:extLst>
          </p:cNvPr>
          <p:cNvSpPr txBox="1"/>
          <p:nvPr/>
        </p:nvSpPr>
        <p:spPr>
          <a:xfrm>
            <a:off x="6092504" y="6635159"/>
            <a:ext cx="2257628"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FED9A0">
                    <a:lumMod val="75000"/>
                  </a:srgbClr>
                </a:solidFill>
                <a:effectLst/>
                <a:uLnTx/>
                <a:uFillTx/>
                <a:latin typeface="Nunito Sans"/>
                <a:ea typeface="+mn-ea"/>
                <a:cs typeface="+mn-cs"/>
              </a:rPr>
              <a:t>Under delay and can be recovered</a:t>
            </a:r>
            <a:endParaRPr kumimoji="0" lang="en-IN" sz="1000" b="0" i="0" u="none" strike="noStrike" kern="1200" cap="none" spc="0" normalizeH="0" baseline="0" noProof="0">
              <a:ln>
                <a:noFill/>
              </a:ln>
              <a:solidFill>
                <a:srgbClr val="000000"/>
              </a:solidFill>
              <a:effectLst/>
              <a:uLnTx/>
              <a:uFillTx/>
              <a:latin typeface="Nunito Sans"/>
              <a:ea typeface="+mn-ea"/>
              <a:cs typeface="+mn-cs"/>
            </a:endParaRPr>
          </a:p>
        </p:txBody>
      </p:sp>
      <p:sp>
        <p:nvSpPr>
          <p:cNvPr id="27" name="TextBox 22">
            <a:extLst>
              <a:ext uri="{FF2B5EF4-FFF2-40B4-BE49-F238E27FC236}">
                <a16:creationId xmlns:a16="http://schemas.microsoft.com/office/drawing/2014/main" id="{D19CD43B-CBDF-1F89-9D3A-7D2D7582AC47}"/>
              </a:ext>
            </a:extLst>
          </p:cNvPr>
          <p:cNvSpPr txBox="1"/>
          <p:nvPr/>
        </p:nvSpPr>
        <p:spPr>
          <a:xfrm>
            <a:off x="2842379" y="6579600"/>
            <a:ext cx="2338222"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FF0000"/>
                </a:solidFill>
                <a:effectLst/>
                <a:uLnTx/>
                <a:uFillTx/>
                <a:latin typeface="Nunito Sans"/>
                <a:ea typeface="+mn-ea"/>
                <a:cs typeface="+mn-cs"/>
              </a:rPr>
              <a:t>Delayed and pushed to next release</a:t>
            </a:r>
          </a:p>
        </p:txBody>
      </p:sp>
      <p:graphicFrame>
        <p:nvGraphicFramePr>
          <p:cNvPr id="7" name="Table 6">
            <a:extLst>
              <a:ext uri="{FF2B5EF4-FFF2-40B4-BE49-F238E27FC236}">
                <a16:creationId xmlns:a16="http://schemas.microsoft.com/office/drawing/2014/main" id="{97DCBB55-C1D4-F195-F98A-ED74023D1988}"/>
              </a:ext>
            </a:extLst>
          </p:cNvPr>
          <p:cNvGraphicFramePr>
            <a:graphicFrameLocks noGrp="1"/>
          </p:cNvGraphicFramePr>
          <p:nvPr>
            <p:extLst>
              <p:ext uri="{D42A27DB-BD31-4B8C-83A1-F6EECF244321}">
                <p14:modId xmlns:p14="http://schemas.microsoft.com/office/powerpoint/2010/main" val="3691046432"/>
              </p:ext>
            </p:extLst>
          </p:nvPr>
        </p:nvGraphicFramePr>
        <p:xfrm>
          <a:off x="1181100" y="848250"/>
          <a:ext cx="10704320" cy="2885920"/>
        </p:xfrm>
        <a:graphic>
          <a:graphicData uri="http://schemas.openxmlformats.org/drawingml/2006/table">
            <a:tbl>
              <a:tblPr firstRow="1" bandRow="1">
                <a:tableStyleId>{5C22544A-7EE6-4342-B048-85BDC9FD1C3A}</a:tableStyleId>
              </a:tblPr>
              <a:tblGrid>
                <a:gridCol w="1080897">
                  <a:extLst>
                    <a:ext uri="{9D8B030D-6E8A-4147-A177-3AD203B41FA5}">
                      <a16:colId xmlns:a16="http://schemas.microsoft.com/office/drawing/2014/main" val="1795721954"/>
                    </a:ext>
                  </a:extLst>
                </a:gridCol>
                <a:gridCol w="2308248">
                  <a:extLst>
                    <a:ext uri="{9D8B030D-6E8A-4147-A177-3AD203B41FA5}">
                      <a16:colId xmlns:a16="http://schemas.microsoft.com/office/drawing/2014/main" val="2822350773"/>
                    </a:ext>
                  </a:extLst>
                </a:gridCol>
                <a:gridCol w="6061015">
                  <a:extLst>
                    <a:ext uri="{9D8B030D-6E8A-4147-A177-3AD203B41FA5}">
                      <a16:colId xmlns:a16="http://schemas.microsoft.com/office/drawing/2014/main" val="99588705"/>
                    </a:ext>
                  </a:extLst>
                </a:gridCol>
                <a:gridCol w="1254160">
                  <a:extLst>
                    <a:ext uri="{9D8B030D-6E8A-4147-A177-3AD203B41FA5}">
                      <a16:colId xmlns:a16="http://schemas.microsoft.com/office/drawing/2014/main" val="1739073323"/>
                    </a:ext>
                  </a:extLst>
                </a:gridCol>
              </a:tblGrid>
              <a:tr h="314172">
                <a:tc>
                  <a:txBody>
                    <a:bodyPr/>
                    <a:lstStyle/>
                    <a:p>
                      <a:pPr marL="0" lvl="0" indent="0" algn="ctr" defTabSz="914400">
                        <a:lnSpc>
                          <a:spcPct val="100000"/>
                        </a:lnSpc>
                        <a:buNone/>
                      </a:pPr>
                      <a:r>
                        <a:rPr lang="en-IN" sz="1100" b="1" kern="1200">
                          <a:solidFill>
                            <a:schemeClr val="bg1"/>
                          </a:solidFill>
                          <a:latin typeface="+mn-lt"/>
                          <a:ea typeface="+mn-ea"/>
                          <a:cs typeface="+mn-cs"/>
                        </a:rPr>
                        <a:t>LOB</a:t>
                      </a: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solidFill>
                      <a:schemeClr val="accent3">
                        <a:lumMod val="90000"/>
                        <a:lumOff val="10000"/>
                      </a:schemeClr>
                    </a:solidFill>
                  </a:tcPr>
                </a:tc>
                <a:tc>
                  <a:txBody>
                    <a:bodyPr/>
                    <a:lstStyle/>
                    <a:p>
                      <a:pPr marL="0" lvl="0" indent="0" algn="ctr" defTabSz="914400" rtl="0">
                        <a:lnSpc>
                          <a:spcPct val="100000"/>
                        </a:lnSpc>
                        <a:buFont typeface="Arial" panose="020B0604020202020204" pitchFamily="34" charset="0"/>
                        <a:buNone/>
                      </a:pPr>
                      <a:r>
                        <a:rPr lang="en-IN" sz="1100" b="1" kern="1200">
                          <a:solidFill>
                            <a:schemeClr val="bg1"/>
                          </a:solidFill>
                          <a:latin typeface="+mn-lt"/>
                          <a:ea typeface="+mn-ea"/>
                          <a:cs typeface="+mn-cs"/>
                        </a:rPr>
                        <a:t>Initiatives</a:t>
                      </a:r>
                      <a:endParaRPr lang="en-US" sz="1100" b="1"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tc>
                  <a:txBody>
                    <a:bodyPr/>
                    <a:lstStyle/>
                    <a:p>
                      <a:pPr marL="0" indent="0" algn="ctr" defTabSz="914400" rtl="0" eaLnBrk="1" latinLnBrk="0" hangingPunct="1">
                        <a:buFont typeface="Arial" panose="020B0604020202020204" pitchFamily="34" charset="0"/>
                        <a:buNone/>
                      </a:pPr>
                      <a:r>
                        <a:rPr lang="en-IN" sz="1100" kern="1200">
                          <a:solidFill>
                            <a:schemeClr val="bg1"/>
                          </a:solidFill>
                          <a:latin typeface="+mn-lt"/>
                          <a:ea typeface="+mn-ea"/>
                          <a:cs typeface="+mn-cs"/>
                        </a:rPr>
                        <a:t>Value Justification/Realization</a:t>
                      </a:r>
                      <a:endParaRPr lang="en-US" sz="1100"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tc>
                  <a:txBody>
                    <a:bodyPr/>
                    <a:lstStyle/>
                    <a:p>
                      <a:pPr marL="0" indent="0" algn="ctr" defTabSz="914400" rtl="0" eaLnBrk="1" latinLnBrk="0" hangingPunct="1">
                        <a:buFont typeface="Arial" panose="020B0604020202020204" pitchFamily="34" charset="0"/>
                        <a:buNone/>
                      </a:pPr>
                      <a:r>
                        <a:rPr lang="en-US" sz="1100" kern="1200">
                          <a:solidFill>
                            <a:schemeClr val="bg1"/>
                          </a:solidFill>
                          <a:latin typeface="+mn-lt"/>
                          <a:ea typeface="+mn-ea"/>
                          <a:cs typeface="+mn-cs"/>
                        </a:rPr>
                        <a:t>Planned Go-live date</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extLst>
                  <a:ext uri="{0D108BD9-81ED-4DB2-BD59-A6C34878D82A}">
                    <a16:rowId xmlns:a16="http://schemas.microsoft.com/office/drawing/2014/main" val="844450115"/>
                  </a:ext>
                </a:extLst>
              </a:tr>
              <a:tr h="764781">
                <a:tc rowSpan="2">
                  <a:txBody>
                    <a:bodyPr/>
                    <a:lstStyle/>
                    <a:p>
                      <a:pPr marL="0" lvl="0" indent="0" algn="ctr">
                        <a:lnSpc>
                          <a:spcPct val="100000"/>
                        </a:lnSpc>
                        <a:spcBef>
                          <a:spcPts val="0"/>
                        </a:spcBef>
                        <a:spcAft>
                          <a:spcPts val="0"/>
                        </a:spcAft>
                        <a:buNone/>
                      </a:pPr>
                      <a:r>
                        <a:rPr lang="en-US" sz="1100" b="1" i="0" u="none" strike="noStrike" kern="1200">
                          <a:solidFill>
                            <a:srgbClr val="0070C0"/>
                          </a:solidFill>
                          <a:latin typeface="+mn-lt"/>
                          <a:ea typeface="+mn-ea"/>
                          <a:cs typeface="+mn-cs"/>
                        </a:rPr>
                        <a:t>CRM Tech</a:t>
                      </a: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l">
                        <a:lnSpc>
                          <a:spcPct val="100000"/>
                        </a:lnSpc>
                        <a:spcBef>
                          <a:spcPts val="0"/>
                        </a:spcBef>
                        <a:spcAft>
                          <a:spcPts val="0"/>
                        </a:spcAft>
                        <a:buNone/>
                      </a:pPr>
                      <a:r>
                        <a:rPr lang="en-US" sz="1100" b="1" i="0" u="none" strike="noStrike" kern="1200" noProof="0">
                          <a:solidFill>
                            <a:srgbClr val="00B050"/>
                          </a:solidFill>
                        </a:rPr>
                        <a:t>Automated Email :: Resend eTicket W2C</a:t>
                      </a:r>
                      <a:endParaRPr lang="en-US" b="1"/>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lvl="0" algn="l">
                        <a:lnSpc>
                          <a:spcPct val="100000"/>
                        </a:lnSpc>
                        <a:spcBef>
                          <a:spcPts val="0"/>
                        </a:spcBef>
                        <a:spcAft>
                          <a:spcPts val="0"/>
                        </a:spcAft>
                        <a:buNone/>
                      </a:pPr>
                      <a:r>
                        <a:rPr lang="en-US" sz="1100" b="0" i="0" u="none" strike="noStrike" noProof="0">
                          <a:solidFill>
                            <a:srgbClr val="292A2E"/>
                          </a:solidFill>
                          <a:highlight>
                            <a:srgbClr val="FFFFFF"/>
                          </a:highlight>
                          <a:latin typeface="Nunito Sans"/>
                        </a:rPr>
                        <a:t>The automation covers detection of e-ticket request intent, extraction and validation of PNR and passenger name, email verification against the PNR, retrieval of the e-ticket document from Amadeus, and dispatch of the document to the customer via email. Failure scenarios are routed to an agent queue for manual resolution.</a:t>
                      </a:r>
                      <a:endParaRPr lang="en-US"/>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indent="0" algn="l" rtl="0" eaLnBrk="1" latinLnBrk="0" hangingPunct="1">
                        <a:buFont typeface="Arial" panose="020B0604020202020204" pitchFamily="34" charset="0"/>
                        <a:buNone/>
                      </a:pPr>
                      <a:r>
                        <a:rPr lang="en-US" sz="1100" b="0" i="0" u="none" strike="noStrike" noProof="0">
                          <a:latin typeface="Arial"/>
                        </a:rPr>
                        <a:t>28 Aug</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443371065"/>
                  </a:ext>
                </a:extLst>
              </a:tr>
              <a:tr h="764780">
                <a:tc vMerge="1">
                  <a:txBody>
                    <a:bodyPr/>
                    <a:lstStyle/>
                    <a:p>
                      <a:endParaRPr lang="en-US"/>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tc>
                  <a:txBody>
                    <a:bodyPr/>
                    <a:lstStyle/>
                    <a:p>
                      <a:pPr marL="0" lvl="0" indent="0" algn="l">
                        <a:lnSpc>
                          <a:spcPct val="100000"/>
                        </a:lnSpc>
                        <a:spcBef>
                          <a:spcPts val="0"/>
                        </a:spcBef>
                        <a:spcAft>
                          <a:spcPts val="0"/>
                        </a:spcAft>
                        <a:buNone/>
                      </a:pPr>
                      <a:r>
                        <a:rPr lang="en-US" sz="1100" b="1" i="0" u="none" strike="noStrike" kern="1200" noProof="0">
                          <a:solidFill>
                            <a:srgbClr val="00B050"/>
                          </a:solidFill>
                          <a:latin typeface="Nunito Sans"/>
                        </a:rPr>
                        <a:t>IRROPS- Disruption Refund Requests Automation</a:t>
                      </a:r>
                      <a:endParaRPr lang="en-US" b="1"/>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lvl="0" algn="l">
                        <a:lnSpc>
                          <a:spcPct val="100000"/>
                        </a:lnSpc>
                        <a:spcBef>
                          <a:spcPts val="0"/>
                        </a:spcBef>
                        <a:spcAft>
                          <a:spcPts val="0"/>
                        </a:spcAft>
                        <a:buNone/>
                      </a:pPr>
                      <a:r>
                        <a:rPr lang="en-US" sz="1100" b="0" i="0" u="none" strike="noStrike" noProof="0">
                          <a:solidFill>
                            <a:srgbClr val="292A2E"/>
                          </a:solidFill>
                          <a:highlight>
                            <a:srgbClr val="FFFFFF"/>
                          </a:highlight>
                        </a:rPr>
                        <a:t>The Disruption Refund Automation solution will significantly reduce manual effort by automating refund eligibility validation, calculation, and processing for disruption-related cases. By enabling straight-through processing for 60-70% of refund requests, the solution will reduce average handling time from 8 minutes to under 1 minute, resulting in improved operational efficiency and lower support costs.</a:t>
                      </a: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marL="0" lvl="0" indent="0" algn="l">
                        <a:buNone/>
                      </a:pPr>
                      <a:r>
                        <a:rPr lang="en-US" sz="1100" b="0" i="0" u="none" strike="noStrike" noProof="0">
                          <a:latin typeface="Arial"/>
                        </a:rPr>
                        <a:t>24 Aug</a:t>
                      </a: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11547024"/>
                  </a:ext>
                </a:extLst>
              </a:tr>
              <a:tr h="764779">
                <a:tc>
                  <a:txBody>
                    <a:bodyPr/>
                    <a:lstStyle/>
                    <a:p>
                      <a:pPr marL="0" lvl="0" indent="0" algn="ctr">
                        <a:lnSpc>
                          <a:spcPct val="100000"/>
                        </a:lnSpc>
                        <a:spcBef>
                          <a:spcPts val="0"/>
                        </a:spcBef>
                        <a:spcAft>
                          <a:spcPts val="0"/>
                        </a:spcAft>
                        <a:buNone/>
                      </a:pPr>
                      <a:r>
                        <a:rPr lang="en-US" sz="1100" b="1" i="0" u="none" strike="noStrike" kern="1200">
                          <a:solidFill>
                            <a:srgbClr val="0070C0"/>
                          </a:solidFill>
                          <a:latin typeface="+mn-lt"/>
                          <a:ea typeface="+mn-ea"/>
                          <a:cs typeface="+mn-cs"/>
                        </a:rPr>
                        <a:t>Security</a:t>
                      </a: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tc>
                  <a:txBody>
                    <a:bodyPr/>
                    <a:lstStyle/>
                    <a:p>
                      <a:pPr marL="0" lvl="0" indent="0" algn="l">
                        <a:lnSpc>
                          <a:spcPct val="100000"/>
                        </a:lnSpc>
                        <a:spcBef>
                          <a:spcPts val="0"/>
                        </a:spcBef>
                        <a:spcAft>
                          <a:spcPts val="0"/>
                        </a:spcAft>
                        <a:buNone/>
                      </a:pPr>
                      <a:r>
                        <a:rPr lang="en-US" sz="1100" b="1" i="0" u="none" strike="noStrike" kern="1200" noProof="0">
                          <a:solidFill>
                            <a:srgbClr val="00B050"/>
                          </a:solidFill>
                        </a:rPr>
                        <a:t>Cyber Defense – DLP Monitoring for Employees on Notice Period</a:t>
                      </a:r>
                      <a:endParaRPr lang="en-US" b="1"/>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tc>
                  <a:txBody>
                    <a:bodyPr/>
                    <a:lstStyle/>
                    <a:p>
                      <a:pPr lvl="0" algn="l">
                        <a:lnSpc>
                          <a:spcPct val="100000"/>
                        </a:lnSpc>
                        <a:spcBef>
                          <a:spcPts val="0"/>
                        </a:spcBef>
                        <a:spcAft>
                          <a:spcPts val="0"/>
                        </a:spcAft>
                        <a:buNone/>
                      </a:pPr>
                      <a:r>
                        <a:rPr lang="en-US" sz="1100" b="0" i="0" u="none" strike="noStrike" noProof="0">
                          <a:solidFill>
                            <a:srgbClr val="292A2E"/>
                          </a:solidFill>
                          <a:highlight>
                            <a:srgbClr val="FFFFFF"/>
                          </a:highlight>
                          <a:latin typeface="Nunito Sans"/>
                        </a:rPr>
                        <a:t>To improve visibility into potential data exfiltration risks during the notice period and enable the Cyber Defense team to proactively monitor and investigate suspicious data transfer activities.</a:t>
                      </a:r>
                      <a:endParaRPr lang="en-US"/>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tc>
                  <a:txBody>
                    <a:bodyPr/>
                    <a:lstStyle/>
                    <a:p>
                      <a:pPr marL="0" lvl="0" indent="0" algn="l">
                        <a:buNone/>
                      </a:pPr>
                      <a:r>
                        <a:rPr lang="en-US" sz="1100" b="0" i="0" u="none" strike="noStrike" noProof="0">
                          <a:latin typeface="Arial"/>
                        </a:rPr>
                        <a:t>31 Aug</a:t>
                      </a: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extLst>
                  <a:ext uri="{0D108BD9-81ED-4DB2-BD59-A6C34878D82A}">
                    <a16:rowId xmlns:a16="http://schemas.microsoft.com/office/drawing/2014/main" val="1757477425"/>
                  </a:ext>
                </a:extLst>
              </a:tr>
            </a:tbl>
          </a:graphicData>
        </a:graphic>
      </p:graphicFrame>
      <p:sp>
        <p:nvSpPr>
          <p:cNvPr id="10" name="Rectangle 9">
            <a:extLst>
              <a:ext uri="{FF2B5EF4-FFF2-40B4-BE49-F238E27FC236}">
                <a16:creationId xmlns:a16="http://schemas.microsoft.com/office/drawing/2014/main" id="{D92B4B65-91F4-BD47-1131-017DC1409F3B}"/>
              </a:ext>
            </a:extLst>
          </p:cNvPr>
          <p:cNvSpPr/>
          <p:nvPr/>
        </p:nvSpPr>
        <p:spPr>
          <a:xfrm>
            <a:off x="262827" y="848250"/>
            <a:ext cx="918273" cy="29475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400" b="1">
                <a:solidFill>
                  <a:srgbClr val="FFFFFF"/>
                </a:solidFill>
                <a:latin typeface="AirIndia"/>
              </a:rPr>
              <a:t>Aug</a:t>
            </a:r>
            <a:r>
              <a:rPr kumimoji="0" lang="en-IN" sz="1400" b="1" i="0" u="none" strike="noStrike" kern="1200" cap="none" spc="0" normalizeH="0" baseline="0" noProof="0">
                <a:ln>
                  <a:noFill/>
                </a:ln>
                <a:solidFill>
                  <a:srgbClr val="FFFFFF"/>
                </a:solidFill>
                <a:effectLst/>
                <a:uLnTx/>
                <a:uFillTx/>
                <a:latin typeface="AirIndia"/>
              </a:rPr>
              <a:t> ‘</a:t>
            </a:r>
            <a:r>
              <a:rPr lang="en-IN" sz="1400" b="1">
                <a:solidFill>
                  <a:srgbClr val="FFFFFF"/>
                </a:solidFill>
                <a:latin typeface="AirIndia"/>
              </a:rPr>
              <a:t>26</a:t>
            </a:r>
            <a:endParaRPr kumimoji="0" lang="en-US" sz="1400" b="1" i="0" u="none" strike="noStrike" kern="1200" cap="none" spc="0" normalizeH="0" baseline="0" noProof="0">
              <a:ln>
                <a:noFill/>
              </a:ln>
              <a:solidFill>
                <a:srgbClr val="FFFFFF"/>
              </a:solidFill>
              <a:effectLst/>
              <a:uLnTx/>
              <a:uFillTx/>
              <a:latin typeface="AirIndia" panose="04050608020B02020302" charset="0"/>
              <a:ea typeface="+mn-ea"/>
              <a:cs typeface="+mn-cs"/>
            </a:endParaRPr>
          </a:p>
        </p:txBody>
      </p:sp>
    </p:spTree>
    <p:extLst>
      <p:ext uri="{BB962C8B-B14F-4D97-AF65-F5344CB8AC3E}">
        <p14:creationId xmlns:p14="http://schemas.microsoft.com/office/powerpoint/2010/main" val="414932681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29F0B1-CDE1-6AB9-7A32-A6AB5FF1799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CD4BF89-202A-8676-F0A3-6B68E5392400}"/>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3A41A254-7326-714E-AF55-4C213D6394DE}" type="slidenum">
              <a:rPr kumimoji="0" lang="en-US" sz="1200" b="0" i="0" u="none" strike="noStrike" kern="1200" cap="none" spc="0" normalizeH="0" baseline="0" noProof="0" smtClean="0">
                <a:ln>
                  <a:noFill/>
                </a:ln>
                <a:solidFill>
                  <a:srgbClr val="DA0E28"/>
                </a:solidFill>
                <a:effectLst/>
                <a:uLnTx/>
                <a:uFillTx/>
                <a:latin typeface="Nunito Sans"/>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60</a:t>
            </a:fld>
            <a:endParaRPr kumimoji="0" lang="en-US" sz="1200" b="0" i="0" u="none" strike="noStrike" kern="1200" cap="none" spc="0" normalizeH="0" baseline="0" noProof="0">
              <a:ln>
                <a:noFill/>
              </a:ln>
              <a:solidFill>
                <a:srgbClr val="DA0E28"/>
              </a:solidFill>
              <a:effectLst/>
              <a:uLnTx/>
              <a:uFillTx/>
              <a:latin typeface="Nunito Sans"/>
              <a:ea typeface="+mn-ea"/>
              <a:cs typeface="+mn-cs"/>
            </a:endParaRPr>
          </a:p>
        </p:txBody>
      </p:sp>
      <p:sp>
        <p:nvSpPr>
          <p:cNvPr id="6" name="Title 11">
            <a:extLst>
              <a:ext uri="{FF2B5EF4-FFF2-40B4-BE49-F238E27FC236}">
                <a16:creationId xmlns:a16="http://schemas.microsoft.com/office/drawing/2014/main" id="{4DBDDC44-BF77-3F8D-2A00-CCC0B1036CCB}"/>
              </a:ext>
            </a:extLst>
          </p:cNvPr>
          <p:cNvSpPr txBox="1">
            <a:spLocks/>
          </p:cNvSpPr>
          <p:nvPr/>
        </p:nvSpPr>
        <p:spPr>
          <a:xfrm>
            <a:off x="304800" y="269218"/>
            <a:ext cx="9749641" cy="480073"/>
          </a:xfrm>
          <a:prstGeom prst="rect">
            <a:avLst/>
          </a:prstGeom>
        </p:spPr>
        <p:txBody>
          <a:bodyPr lIns="91440" tIns="45720" rIns="91440" bIns="45720" anchor="t">
            <a:noAutofit/>
          </a:bodyPr>
          <a:lstStyle>
            <a:lvl1pPr algn="l" defTabSz="914400" rtl="0" eaLnBrk="1" latinLnBrk="0" hangingPunct="1">
              <a:lnSpc>
                <a:spcPct val="90000"/>
              </a:lnSpc>
              <a:spcBef>
                <a:spcPct val="0"/>
              </a:spcBef>
              <a:buNone/>
              <a:defRPr sz="4400" b="1" i="0" kern="1200">
                <a:solidFill>
                  <a:schemeClr val="tx1"/>
                </a:solidFill>
                <a:latin typeface="AirIndia" pitchFamily="82" charset="77"/>
                <a:ea typeface="+mj-ea"/>
                <a:cs typeface="+mj-cs"/>
              </a:defRPr>
            </a:lvl1pPr>
          </a:lstStyle>
          <a:p>
            <a:pPr>
              <a:defRPr/>
            </a:pPr>
            <a:r>
              <a:rPr kumimoji="0" lang="en-US" sz="1800" b="1" i="0" u="none" strike="noStrike" kern="1200" cap="none" spc="0" normalizeH="0" baseline="0" noProof="0">
                <a:ln>
                  <a:noFill/>
                </a:ln>
                <a:solidFill>
                  <a:srgbClr val="DA0E28"/>
                </a:solidFill>
                <a:effectLst/>
                <a:uLnTx/>
                <a:uFillTx/>
                <a:latin typeface="AirIndia"/>
                <a:ea typeface="+mj-ea"/>
                <a:cs typeface="+mj-cs"/>
              </a:rPr>
              <a:t>Enterprise </a:t>
            </a:r>
            <a:r>
              <a:rPr lang="en-US" sz="1800">
                <a:solidFill>
                  <a:srgbClr val="DA0E28"/>
                </a:solidFill>
                <a:latin typeface="AirIndia"/>
              </a:rPr>
              <a:t>Integration -FY26-27</a:t>
            </a:r>
            <a:r>
              <a:rPr kumimoji="0" lang="en-US" sz="1800" b="1" i="0" u="none" strike="noStrike" kern="1200" cap="none" spc="0" normalizeH="0" baseline="0" noProof="0">
                <a:ln>
                  <a:noFill/>
                </a:ln>
                <a:solidFill>
                  <a:srgbClr val="DA0E28"/>
                </a:solidFill>
                <a:effectLst/>
                <a:uLnTx/>
                <a:uFillTx/>
                <a:latin typeface="AirIndia"/>
                <a:ea typeface="+mj-ea"/>
                <a:cs typeface="+mj-cs"/>
              </a:rPr>
              <a:t> </a:t>
            </a:r>
            <a:r>
              <a:rPr lang="en-US" sz="1800">
                <a:solidFill>
                  <a:srgbClr val="DA0E28"/>
                </a:solidFill>
                <a:latin typeface="AirIndia"/>
              </a:rPr>
              <a:t>Q2</a:t>
            </a:r>
            <a:r>
              <a:rPr kumimoji="0" lang="en-US" sz="1800" b="1" i="0" u="none" strike="noStrike" kern="1200" cap="none" spc="0" normalizeH="0" baseline="0" noProof="0">
                <a:ln>
                  <a:noFill/>
                </a:ln>
                <a:solidFill>
                  <a:srgbClr val="DA0E28"/>
                </a:solidFill>
                <a:effectLst/>
                <a:uLnTx/>
                <a:uFillTx/>
                <a:latin typeface="AirIndia"/>
                <a:ea typeface="+mj-ea"/>
                <a:cs typeface="+mj-cs"/>
              </a:rPr>
              <a:t> Release </a:t>
            </a:r>
            <a:r>
              <a:rPr lang="en-US" sz="1800">
                <a:solidFill>
                  <a:srgbClr val="DA0E28"/>
                </a:solidFill>
                <a:latin typeface="AirIndia"/>
              </a:rPr>
              <a:t>Plan</a:t>
            </a:r>
            <a:endParaRPr lang="en-US" sz="1800" b="0">
              <a:solidFill>
                <a:srgbClr val="000000"/>
              </a:solidFill>
              <a:latin typeface="AirIndia"/>
            </a:endParaRPr>
          </a:p>
          <a:p>
            <a:pPr>
              <a:defRPr/>
            </a:pPr>
            <a:endParaRPr lang="en-US" sz="1800" i="0" u="none" strike="noStrike" kern="1200" cap="none" spc="0" normalizeH="0" baseline="0" noProof="0">
              <a:ln>
                <a:noFill/>
              </a:ln>
              <a:solidFill>
                <a:srgbClr val="DA0E28"/>
              </a:solidFill>
              <a:effectLst/>
              <a:uLnTx/>
              <a:uFillTx/>
              <a:latin typeface="AirIndia"/>
            </a:endParaRPr>
          </a:p>
        </p:txBody>
      </p:sp>
      <p:sp>
        <p:nvSpPr>
          <p:cNvPr id="4" name="Rectangle 3">
            <a:extLst>
              <a:ext uri="{FF2B5EF4-FFF2-40B4-BE49-F238E27FC236}">
                <a16:creationId xmlns:a16="http://schemas.microsoft.com/office/drawing/2014/main" id="{80617BD6-5DED-D46D-62CD-95EB80DC03FE}"/>
              </a:ext>
            </a:extLst>
          </p:cNvPr>
          <p:cNvSpPr/>
          <p:nvPr/>
        </p:nvSpPr>
        <p:spPr>
          <a:xfrm rot="5400000">
            <a:off x="8942419" y="6655587"/>
            <a:ext cx="90000" cy="90000"/>
          </a:xfrm>
          <a:prstGeom prst="rect">
            <a:avLst/>
          </a:prstGeom>
          <a:solidFill>
            <a:schemeClr val="bg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9" name="TextBox 8">
            <a:extLst>
              <a:ext uri="{FF2B5EF4-FFF2-40B4-BE49-F238E27FC236}">
                <a16:creationId xmlns:a16="http://schemas.microsoft.com/office/drawing/2014/main" id="{5F106BB3-CBB2-89B5-C056-DE0BF4A7C3B4}"/>
              </a:ext>
            </a:extLst>
          </p:cNvPr>
          <p:cNvSpPr txBox="1"/>
          <p:nvPr/>
        </p:nvSpPr>
        <p:spPr>
          <a:xfrm>
            <a:off x="8986097" y="6582653"/>
            <a:ext cx="3069090" cy="246221"/>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FFFFFF">
                    <a:lumMod val="49000"/>
                  </a:srgbClr>
                </a:solidFill>
                <a:effectLst/>
                <a:uLnTx/>
                <a:uFillTx/>
                <a:latin typeface="Nunito Sans"/>
                <a:ea typeface="+mn-ea"/>
                <a:cs typeface="+mn-cs"/>
              </a:rPr>
              <a:t>Descoped</a:t>
            </a:r>
          </a:p>
        </p:txBody>
      </p:sp>
      <p:sp>
        <p:nvSpPr>
          <p:cNvPr id="18" name="Rectangle 17">
            <a:extLst>
              <a:ext uri="{FF2B5EF4-FFF2-40B4-BE49-F238E27FC236}">
                <a16:creationId xmlns:a16="http://schemas.microsoft.com/office/drawing/2014/main" id="{E256BA7C-CEB1-A04C-1FCE-6C4EE3643FF8}"/>
              </a:ext>
            </a:extLst>
          </p:cNvPr>
          <p:cNvSpPr/>
          <p:nvPr/>
        </p:nvSpPr>
        <p:spPr>
          <a:xfrm>
            <a:off x="10326888" y="6653023"/>
            <a:ext cx="90000" cy="90000"/>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20" name="Rectangle 19">
            <a:extLst>
              <a:ext uri="{FF2B5EF4-FFF2-40B4-BE49-F238E27FC236}">
                <a16:creationId xmlns:a16="http://schemas.microsoft.com/office/drawing/2014/main" id="{7160B909-76DA-1956-17AB-A1C35AAFD3D7}"/>
              </a:ext>
            </a:extLst>
          </p:cNvPr>
          <p:cNvSpPr/>
          <p:nvPr/>
        </p:nvSpPr>
        <p:spPr>
          <a:xfrm>
            <a:off x="1433259" y="6651985"/>
            <a:ext cx="90000" cy="90000"/>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22" name="Rectangle 21">
            <a:extLst>
              <a:ext uri="{FF2B5EF4-FFF2-40B4-BE49-F238E27FC236}">
                <a16:creationId xmlns:a16="http://schemas.microsoft.com/office/drawing/2014/main" id="{DB3E7DFC-AE0C-EAA2-7EA1-944A4F2E28C7}"/>
              </a:ext>
            </a:extLst>
          </p:cNvPr>
          <p:cNvSpPr/>
          <p:nvPr/>
        </p:nvSpPr>
        <p:spPr>
          <a:xfrm>
            <a:off x="5909236" y="6676608"/>
            <a:ext cx="90000" cy="90000"/>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23" name="Rectangle 22">
            <a:extLst>
              <a:ext uri="{FF2B5EF4-FFF2-40B4-BE49-F238E27FC236}">
                <a16:creationId xmlns:a16="http://schemas.microsoft.com/office/drawing/2014/main" id="{73A73CE3-60EE-3530-FF19-8B9F2DCB3477}"/>
              </a:ext>
            </a:extLst>
          </p:cNvPr>
          <p:cNvSpPr/>
          <p:nvPr/>
        </p:nvSpPr>
        <p:spPr>
          <a:xfrm>
            <a:off x="2752379" y="6642913"/>
            <a:ext cx="90000" cy="90000"/>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24" name="TextBox 15">
            <a:extLst>
              <a:ext uri="{FF2B5EF4-FFF2-40B4-BE49-F238E27FC236}">
                <a16:creationId xmlns:a16="http://schemas.microsoft.com/office/drawing/2014/main" id="{C4DC331E-B5CF-6DFC-6F80-69E29B994F4A}"/>
              </a:ext>
            </a:extLst>
          </p:cNvPr>
          <p:cNvSpPr txBox="1"/>
          <p:nvPr/>
        </p:nvSpPr>
        <p:spPr>
          <a:xfrm>
            <a:off x="10416853" y="6596174"/>
            <a:ext cx="857245"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0070C0"/>
                </a:solidFill>
                <a:effectLst/>
                <a:uLnTx/>
                <a:uFillTx/>
                <a:latin typeface="Nunito Sans"/>
                <a:ea typeface="+mn-ea"/>
                <a:cs typeface="+mn-cs"/>
              </a:rPr>
              <a:t>Delivered</a:t>
            </a:r>
            <a:endParaRPr kumimoji="0" lang="en-IN" sz="1000" b="0" i="0" u="none" strike="noStrike" kern="1200" cap="none" spc="0" normalizeH="0" baseline="0" noProof="0">
              <a:ln>
                <a:noFill/>
              </a:ln>
              <a:solidFill>
                <a:srgbClr val="000000"/>
              </a:solidFill>
              <a:effectLst/>
              <a:uLnTx/>
              <a:uFillTx/>
              <a:latin typeface="Nunito Sans"/>
              <a:ea typeface="+mn-ea"/>
              <a:cs typeface="+mn-cs"/>
            </a:endParaRPr>
          </a:p>
        </p:txBody>
      </p:sp>
      <p:sp>
        <p:nvSpPr>
          <p:cNvPr id="25" name="TextBox 18">
            <a:extLst>
              <a:ext uri="{FF2B5EF4-FFF2-40B4-BE49-F238E27FC236}">
                <a16:creationId xmlns:a16="http://schemas.microsoft.com/office/drawing/2014/main" id="{388354AE-4A0C-9359-8C2F-648A1B7434E1}"/>
              </a:ext>
            </a:extLst>
          </p:cNvPr>
          <p:cNvSpPr txBox="1"/>
          <p:nvPr/>
        </p:nvSpPr>
        <p:spPr>
          <a:xfrm>
            <a:off x="1554283" y="6592533"/>
            <a:ext cx="1032881"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00B050"/>
                </a:solidFill>
                <a:effectLst/>
                <a:uLnTx/>
                <a:uFillTx/>
                <a:latin typeface="Nunito Sans"/>
                <a:ea typeface="+mn-ea"/>
                <a:cs typeface="+mn-cs"/>
              </a:rPr>
              <a:t>Ontrack</a:t>
            </a:r>
            <a:endParaRPr kumimoji="0" lang="en-IN" sz="1000" b="0" i="0" u="none" strike="noStrike" kern="1200" cap="none" spc="0" normalizeH="0" baseline="0" noProof="0">
              <a:ln>
                <a:noFill/>
              </a:ln>
              <a:solidFill>
                <a:srgbClr val="000000"/>
              </a:solidFill>
              <a:effectLst/>
              <a:uLnTx/>
              <a:uFillTx/>
              <a:latin typeface="Nunito Sans"/>
              <a:ea typeface="+mn-ea"/>
              <a:cs typeface="+mn-cs"/>
            </a:endParaRPr>
          </a:p>
        </p:txBody>
      </p:sp>
      <p:sp>
        <p:nvSpPr>
          <p:cNvPr id="26" name="TextBox 20">
            <a:extLst>
              <a:ext uri="{FF2B5EF4-FFF2-40B4-BE49-F238E27FC236}">
                <a16:creationId xmlns:a16="http://schemas.microsoft.com/office/drawing/2014/main" id="{59616E64-B2BD-7C73-62C3-D5A1BE47C2C9}"/>
              </a:ext>
            </a:extLst>
          </p:cNvPr>
          <p:cNvSpPr txBox="1"/>
          <p:nvPr/>
        </p:nvSpPr>
        <p:spPr>
          <a:xfrm>
            <a:off x="6092504" y="6635159"/>
            <a:ext cx="2257628"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FED9A0">
                    <a:lumMod val="75000"/>
                  </a:srgbClr>
                </a:solidFill>
                <a:effectLst/>
                <a:uLnTx/>
                <a:uFillTx/>
                <a:latin typeface="Nunito Sans"/>
                <a:ea typeface="+mn-ea"/>
                <a:cs typeface="+mn-cs"/>
              </a:rPr>
              <a:t>Under delay and can be recovered</a:t>
            </a:r>
            <a:endParaRPr kumimoji="0" lang="en-IN" sz="1000" b="0" i="0" u="none" strike="noStrike" kern="1200" cap="none" spc="0" normalizeH="0" baseline="0" noProof="0">
              <a:ln>
                <a:noFill/>
              </a:ln>
              <a:solidFill>
                <a:srgbClr val="000000"/>
              </a:solidFill>
              <a:effectLst/>
              <a:uLnTx/>
              <a:uFillTx/>
              <a:latin typeface="Nunito Sans"/>
              <a:ea typeface="+mn-ea"/>
              <a:cs typeface="+mn-cs"/>
            </a:endParaRPr>
          </a:p>
        </p:txBody>
      </p:sp>
      <p:sp>
        <p:nvSpPr>
          <p:cNvPr id="27" name="TextBox 22">
            <a:extLst>
              <a:ext uri="{FF2B5EF4-FFF2-40B4-BE49-F238E27FC236}">
                <a16:creationId xmlns:a16="http://schemas.microsoft.com/office/drawing/2014/main" id="{518216B2-F12D-2262-23EE-60861660B143}"/>
              </a:ext>
            </a:extLst>
          </p:cNvPr>
          <p:cNvSpPr txBox="1"/>
          <p:nvPr/>
        </p:nvSpPr>
        <p:spPr>
          <a:xfrm>
            <a:off x="2842379" y="6579600"/>
            <a:ext cx="2338222"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FF0000"/>
                </a:solidFill>
                <a:effectLst/>
                <a:uLnTx/>
                <a:uFillTx/>
                <a:latin typeface="Nunito Sans"/>
                <a:ea typeface="+mn-ea"/>
                <a:cs typeface="+mn-cs"/>
              </a:rPr>
              <a:t>Delayed and pushed to next release</a:t>
            </a:r>
          </a:p>
        </p:txBody>
      </p:sp>
      <p:graphicFrame>
        <p:nvGraphicFramePr>
          <p:cNvPr id="7" name="Table 6">
            <a:extLst>
              <a:ext uri="{FF2B5EF4-FFF2-40B4-BE49-F238E27FC236}">
                <a16:creationId xmlns:a16="http://schemas.microsoft.com/office/drawing/2014/main" id="{74BC24D6-5ECF-B050-AB24-7791724C6C91}"/>
              </a:ext>
            </a:extLst>
          </p:cNvPr>
          <p:cNvGraphicFramePr>
            <a:graphicFrameLocks noGrp="1"/>
          </p:cNvGraphicFramePr>
          <p:nvPr>
            <p:extLst>
              <p:ext uri="{D42A27DB-BD31-4B8C-83A1-F6EECF244321}">
                <p14:modId xmlns:p14="http://schemas.microsoft.com/office/powerpoint/2010/main" val="3737494485"/>
              </p:ext>
            </p:extLst>
          </p:nvPr>
        </p:nvGraphicFramePr>
        <p:xfrm>
          <a:off x="1433259" y="848250"/>
          <a:ext cx="10486686" cy="5538026"/>
        </p:xfrm>
        <a:graphic>
          <a:graphicData uri="http://schemas.openxmlformats.org/drawingml/2006/table">
            <a:tbl>
              <a:tblPr firstRow="1" bandRow="1">
                <a:tableStyleId>{5C22544A-7EE6-4342-B048-85BDC9FD1C3A}</a:tableStyleId>
              </a:tblPr>
              <a:tblGrid>
                <a:gridCol w="1107893">
                  <a:extLst>
                    <a:ext uri="{9D8B030D-6E8A-4147-A177-3AD203B41FA5}">
                      <a16:colId xmlns:a16="http://schemas.microsoft.com/office/drawing/2014/main" val="1795721954"/>
                    </a:ext>
                  </a:extLst>
                </a:gridCol>
                <a:gridCol w="2193161">
                  <a:extLst>
                    <a:ext uri="{9D8B030D-6E8A-4147-A177-3AD203B41FA5}">
                      <a16:colId xmlns:a16="http://schemas.microsoft.com/office/drawing/2014/main" val="2822350773"/>
                    </a:ext>
                  </a:extLst>
                </a:gridCol>
                <a:gridCol w="5874145">
                  <a:extLst>
                    <a:ext uri="{9D8B030D-6E8A-4147-A177-3AD203B41FA5}">
                      <a16:colId xmlns:a16="http://schemas.microsoft.com/office/drawing/2014/main" val="99588705"/>
                    </a:ext>
                  </a:extLst>
                </a:gridCol>
                <a:gridCol w="1311487">
                  <a:extLst>
                    <a:ext uri="{9D8B030D-6E8A-4147-A177-3AD203B41FA5}">
                      <a16:colId xmlns:a16="http://schemas.microsoft.com/office/drawing/2014/main" val="1739073323"/>
                    </a:ext>
                  </a:extLst>
                </a:gridCol>
              </a:tblGrid>
              <a:tr h="441193">
                <a:tc>
                  <a:txBody>
                    <a:bodyPr/>
                    <a:lstStyle/>
                    <a:p>
                      <a:pPr marL="0" lvl="0" indent="0" algn="ctr" defTabSz="914400">
                        <a:lnSpc>
                          <a:spcPct val="100000"/>
                        </a:lnSpc>
                        <a:buNone/>
                      </a:pPr>
                      <a:r>
                        <a:rPr lang="en-IN" sz="1100" b="1" kern="1200">
                          <a:solidFill>
                            <a:schemeClr val="bg1"/>
                          </a:solidFill>
                          <a:latin typeface="+mn-lt"/>
                          <a:ea typeface="+mn-ea"/>
                          <a:cs typeface="+mn-cs"/>
                        </a:rPr>
                        <a:t>LOB</a:t>
                      </a: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12700">
                      <a:solidFill>
                        <a:schemeClr val="tx1"/>
                      </a:solidFill>
                    </a:lnB>
                    <a:solidFill>
                      <a:schemeClr val="accent3">
                        <a:lumMod val="90000"/>
                        <a:lumOff val="10000"/>
                      </a:schemeClr>
                    </a:solidFill>
                  </a:tcPr>
                </a:tc>
                <a:tc>
                  <a:txBody>
                    <a:bodyPr/>
                    <a:lstStyle/>
                    <a:p>
                      <a:pPr marL="0" lvl="0" indent="0" algn="ctr" defTabSz="914400" rtl="0">
                        <a:lnSpc>
                          <a:spcPct val="100000"/>
                        </a:lnSpc>
                        <a:buFont typeface="Arial" panose="020B0604020202020204" pitchFamily="34" charset="0"/>
                        <a:buNone/>
                      </a:pPr>
                      <a:r>
                        <a:rPr lang="en-IN" sz="1100" b="1" kern="1200">
                          <a:solidFill>
                            <a:schemeClr val="bg1"/>
                          </a:solidFill>
                          <a:latin typeface="+mn-lt"/>
                          <a:ea typeface="+mn-ea"/>
                          <a:cs typeface="+mn-cs"/>
                        </a:rPr>
                        <a:t>Initiatives</a:t>
                      </a:r>
                      <a:endParaRPr lang="en-US" sz="1100" b="1"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90000"/>
                        <a:lumOff val="10000"/>
                      </a:schemeClr>
                    </a:solidFill>
                  </a:tcPr>
                </a:tc>
                <a:tc>
                  <a:txBody>
                    <a:bodyPr/>
                    <a:lstStyle/>
                    <a:p>
                      <a:pPr marL="0" indent="0" algn="ctr" defTabSz="914400" rtl="0" eaLnBrk="1" latinLnBrk="0" hangingPunct="1">
                        <a:buFont typeface="Arial" panose="020B0604020202020204" pitchFamily="34" charset="0"/>
                        <a:buNone/>
                      </a:pPr>
                      <a:r>
                        <a:rPr lang="en-IN" sz="1100" kern="1200">
                          <a:solidFill>
                            <a:schemeClr val="bg1"/>
                          </a:solidFill>
                          <a:latin typeface="+mn-lt"/>
                          <a:ea typeface="+mn-ea"/>
                          <a:cs typeface="+mn-cs"/>
                        </a:rPr>
                        <a:t>Value Justification/Realization</a:t>
                      </a:r>
                      <a:endParaRPr lang="en-US" sz="1100"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90000"/>
                        <a:lumOff val="10000"/>
                      </a:schemeClr>
                    </a:solidFill>
                  </a:tcPr>
                </a:tc>
                <a:tc>
                  <a:txBody>
                    <a:bodyPr/>
                    <a:lstStyle/>
                    <a:p>
                      <a:pPr marL="0" indent="0" algn="ctr" defTabSz="914400" rtl="0" eaLnBrk="1" latinLnBrk="0" hangingPunct="1">
                        <a:buFont typeface="Arial" panose="020B0604020202020204" pitchFamily="34" charset="0"/>
                        <a:buNone/>
                      </a:pPr>
                      <a:r>
                        <a:rPr lang="en-US" sz="1100" kern="1200">
                          <a:solidFill>
                            <a:schemeClr val="bg1"/>
                          </a:solidFill>
                          <a:latin typeface="+mn-lt"/>
                          <a:ea typeface="+mn-ea"/>
                          <a:cs typeface="+mn-cs"/>
                        </a:rPr>
                        <a:t>Planned Go-live date</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90000"/>
                        <a:lumOff val="10000"/>
                      </a:schemeClr>
                    </a:solidFill>
                  </a:tcPr>
                </a:tc>
                <a:extLst>
                  <a:ext uri="{0D108BD9-81ED-4DB2-BD59-A6C34878D82A}">
                    <a16:rowId xmlns:a16="http://schemas.microsoft.com/office/drawing/2014/main" val="844450115"/>
                  </a:ext>
                </a:extLst>
              </a:tr>
              <a:tr h="945547">
                <a:tc rowSpan="2">
                  <a:txBody>
                    <a:bodyPr/>
                    <a:lstStyle/>
                    <a:p>
                      <a:pPr lvl="0" algn="ctr">
                        <a:lnSpc>
                          <a:spcPct val="100000"/>
                        </a:lnSpc>
                        <a:spcBef>
                          <a:spcPts val="0"/>
                        </a:spcBef>
                        <a:spcAft>
                          <a:spcPts val="0"/>
                        </a:spcAft>
                        <a:buNone/>
                      </a:pPr>
                      <a:r>
                        <a:rPr lang="en-US" sz="1100" b="1" i="0" u="none" strike="noStrike" noProof="0">
                          <a:solidFill>
                            <a:srgbClr val="0070C0"/>
                          </a:solidFill>
                          <a:latin typeface="Nunito Sans"/>
                        </a:rPr>
                        <a:t>HR Tech</a:t>
                      </a:r>
                      <a:endParaRPr lang="en-US" sz="1100" b="0" i="0" u="none" strike="noStrike" noProof="0">
                        <a:solidFill>
                          <a:srgbClr val="000000"/>
                        </a:solidFill>
                        <a:latin typeface="Nunito Sans"/>
                      </a:endParaRPr>
                    </a:p>
                    <a:p>
                      <a:pPr lvl="0" algn="ctr">
                        <a:buNone/>
                      </a:pPr>
                      <a:endParaRPr lang="en-US"/>
                    </a:p>
                  </a:txBody>
                  <a:tcPr marL="0" marR="0" marT="0" marB="0" anchor="ctr" horzOverflow="overflow">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lvl="0" algn="l">
                        <a:lnSpc>
                          <a:spcPct val="100000"/>
                        </a:lnSpc>
                        <a:spcBef>
                          <a:spcPts val="0"/>
                        </a:spcBef>
                        <a:spcAft>
                          <a:spcPts val="0"/>
                        </a:spcAft>
                        <a:buNone/>
                      </a:pPr>
                      <a:r>
                        <a:rPr lang="en-US" sz="1100" b="1" i="0" u="none" strike="noStrike" kern="1200" noProof="0">
                          <a:solidFill>
                            <a:srgbClr val="00B050"/>
                          </a:solidFill>
                          <a:latin typeface="Nunito Sans"/>
                          <a:ea typeface="+mn-ea"/>
                          <a:cs typeface="+mn-cs"/>
                        </a:rPr>
                        <a:t>AMS (Attendance Management System) Phase 2</a:t>
                      </a:r>
                      <a:endParaRPr lang="en-US" sz="1100" b="0" i="0" u="none" strike="noStrike" kern="1200" noProof="0">
                        <a:solidFill>
                          <a:srgbClr val="000000"/>
                        </a:solidFill>
                        <a:latin typeface="Nunito Sans"/>
                        <a:ea typeface="+mn-ea"/>
                        <a:cs typeface="+mn-cs"/>
                      </a:endParaRPr>
                    </a:p>
                    <a:p>
                      <a:pPr marL="0" marR="0" lvl="0" indent="0" algn="l">
                        <a:lnSpc>
                          <a:spcPct val="100000"/>
                        </a:lnSpc>
                        <a:spcBef>
                          <a:spcPts val="0"/>
                        </a:spcBef>
                        <a:spcAft>
                          <a:spcPts val="0"/>
                        </a:spcAft>
                        <a:buNone/>
                      </a:pPr>
                      <a:endParaRPr lang="en-US" sz="1100" b="1" i="0" u="none" strike="noStrike" kern="1200" noProof="0">
                        <a:solidFill>
                          <a:srgbClr val="00B050"/>
                        </a:solidFill>
                        <a:latin typeface="Nunito Sans"/>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vl="0" algn="l">
                        <a:lnSpc>
                          <a:spcPct val="100000"/>
                        </a:lnSpc>
                        <a:spcBef>
                          <a:spcPts val="0"/>
                        </a:spcBef>
                        <a:spcAft>
                          <a:spcPts val="0"/>
                        </a:spcAft>
                        <a:buNone/>
                      </a:pPr>
                      <a:r>
                        <a:rPr lang="en-US" sz="1100" b="0" i="0" u="none" strike="noStrike" noProof="0">
                          <a:solidFill>
                            <a:schemeClr val="tx1"/>
                          </a:solidFill>
                          <a:latin typeface="Segoe UI"/>
                          <a:cs typeface="Segoe UI"/>
                        </a:rPr>
                        <a:t>Phase II of AMS enables a governed, system-of-record attendance platform that improves data accuracy, compliance, and employee trust across HR, payroll, and analytics.</a:t>
                      </a:r>
                      <a:endParaRPr lang="en-US" sz="1100" b="0" i="0" u="none" strike="noStrike" noProof="0">
                        <a:solidFill>
                          <a:srgbClr val="000000"/>
                        </a:solidFill>
                        <a:latin typeface="Segoe UI"/>
                        <a:cs typeface="Segoe UI"/>
                      </a:endParaRPr>
                    </a:p>
                    <a:p>
                      <a:pPr lvl="0" algn="l">
                        <a:lnSpc>
                          <a:spcPct val="100000"/>
                        </a:lnSpc>
                        <a:spcBef>
                          <a:spcPts val="0"/>
                        </a:spcBef>
                        <a:spcAft>
                          <a:spcPts val="0"/>
                        </a:spcAft>
                        <a:buNone/>
                      </a:pPr>
                      <a:r>
                        <a:rPr lang="en-US" sz="1100" b="0" i="0" u="none" strike="noStrike" noProof="0">
                          <a:solidFill>
                            <a:schemeClr val="tx1"/>
                          </a:solidFill>
                          <a:latin typeface="Segoe UI"/>
                          <a:cs typeface="Segoe UI"/>
                        </a:rPr>
                        <a:t>It reduces manual payroll reconciliation effort and operational risk while enabling scalable, audit-ready integrations and leadership-ready insights.</a:t>
                      </a:r>
                      <a:endParaRPr lang="en-US" sz="1100" b="0" i="0" u="none" strike="noStrike" noProof="0">
                        <a:solidFill>
                          <a:srgbClr val="000000"/>
                        </a:solidFill>
                        <a:latin typeface="Segoe UI"/>
                        <a:cs typeface="Segoe UI"/>
                      </a:endParaRPr>
                    </a:p>
                    <a:p>
                      <a:pPr lvl="0" algn="l">
                        <a:lnSpc>
                          <a:spcPct val="100000"/>
                        </a:lnSpc>
                        <a:spcBef>
                          <a:spcPts val="0"/>
                        </a:spcBef>
                        <a:spcAft>
                          <a:spcPts val="0"/>
                        </a:spcAft>
                        <a:buNone/>
                      </a:pPr>
                      <a:endParaRPr lang="en-US" sz="1200" b="0" i="0" u="none" strike="noStrike" noProof="0">
                        <a:solidFill>
                          <a:srgbClr val="FF0000"/>
                        </a:solidFill>
                        <a:latin typeface="Nunito San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vl="0" algn="ctr">
                        <a:lnSpc>
                          <a:spcPct val="100000"/>
                        </a:lnSpc>
                        <a:spcBef>
                          <a:spcPts val="0"/>
                        </a:spcBef>
                        <a:spcAft>
                          <a:spcPts val="0"/>
                        </a:spcAft>
                        <a:buNone/>
                      </a:pPr>
                      <a:r>
                        <a:rPr lang="en-US" sz="1100" b="0" i="0" u="none" strike="noStrike" noProof="0">
                          <a:solidFill>
                            <a:srgbClr val="000000"/>
                          </a:solidFill>
                          <a:latin typeface="Arial"/>
                          <a:cs typeface="Arial"/>
                        </a:rPr>
                        <a:t>25 Sep</a:t>
                      </a:r>
                    </a:p>
                    <a:p>
                      <a:pPr lvl="0" algn="ctr">
                        <a:buNone/>
                      </a:pPr>
                      <a:endParaRPr lang="en-US"/>
                    </a:p>
                  </a:txBody>
                  <a:tcPr marL="0" marR="0" marT="0" marB="0" anchor="ctr" horzOverflow="overflow">
                    <a:lnL w="12700">
                      <a:solidFill>
                        <a:schemeClr val="tx1"/>
                      </a:solidFill>
                    </a:lnL>
                    <a:lnR w="12700">
                      <a:solidFill>
                        <a:schemeClr val="tx1"/>
                      </a:solidFill>
                    </a:lnR>
                    <a:lnT w="12700" cap="flat" cmpd="sng" algn="ctr">
                      <a:solidFill>
                        <a:schemeClr val="tx1"/>
                      </a:solidFill>
                      <a:prstDash val="solid"/>
                      <a:round/>
                      <a:headEnd type="none" w="med" len="med"/>
                      <a:tailEnd type="none" w="med" len="med"/>
                    </a:lnT>
                    <a:lnB w="12700">
                      <a:solidFill>
                        <a:schemeClr val="tx1"/>
                      </a:solidFill>
                    </a:lnB>
                    <a:solidFill>
                      <a:schemeClr val="bg1"/>
                    </a:solidFill>
                  </a:tcPr>
                </a:tc>
                <a:extLst>
                  <a:ext uri="{0D108BD9-81ED-4DB2-BD59-A6C34878D82A}">
                    <a16:rowId xmlns:a16="http://schemas.microsoft.com/office/drawing/2014/main" val="68646495"/>
                  </a:ext>
                </a:extLst>
              </a:tr>
              <a:tr h="931642">
                <a:tc vMerge="1">
                  <a:txBody>
                    <a:bodyPr/>
                    <a:lstStyle/>
                    <a:p>
                      <a:endParaRPr lang="en-US"/>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marL="0" lvl="0" indent="0" algn="l">
                        <a:lnSpc>
                          <a:spcPct val="100000"/>
                        </a:lnSpc>
                        <a:spcBef>
                          <a:spcPts val="0"/>
                        </a:spcBef>
                        <a:spcAft>
                          <a:spcPts val="0"/>
                        </a:spcAft>
                        <a:buNone/>
                      </a:pPr>
                      <a:r>
                        <a:rPr lang="en-US" sz="1100" b="1" i="0" u="none" strike="noStrike" kern="1200" noProof="0">
                          <a:solidFill>
                            <a:srgbClr val="00B050"/>
                          </a:solidFill>
                        </a:rPr>
                        <a:t>Leave Pro‑ration on Notice Period Automation (HRBP </a:t>
                      </a:r>
                      <a:r>
                        <a:rPr lang="en-US" sz="1100" b="1" i="0" u="none" strike="noStrike" kern="1200" noProof="0" err="1">
                          <a:solidFill>
                            <a:srgbClr val="00B050"/>
                          </a:solidFill>
                        </a:rPr>
                        <a:t>intiated</a:t>
                      </a:r>
                      <a:r>
                        <a:rPr lang="en-US" sz="1100" b="1" i="0" u="none" strike="noStrike" kern="1200" noProof="0">
                          <a:solidFill>
                            <a:srgbClr val="00B050"/>
                          </a:solidFill>
                        </a:rPr>
                        <a:t> </a:t>
                      </a:r>
                      <a:r>
                        <a:rPr lang="en-US" sz="1100" b="1" i="0" u="none" strike="noStrike" kern="1200" noProof="0" err="1">
                          <a:solidFill>
                            <a:srgbClr val="00B050"/>
                          </a:solidFill>
                        </a:rPr>
                        <a:t>seperation</a:t>
                      </a:r>
                      <a:r>
                        <a:rPr lang="en-US" sz="1100" b="1" i="0" u="none" strike="noStrike" kern="1200" noProof="0">
                          <a:solidFill>
                            <a:srgbClr val="00B050"/>
                          </a:solidFill>
                        </a:rPr>
                        <a:t>)</a:t>
                      </a:r>
                      <a:endParaRPr lang="en-US" b="1"/>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noFill/>
                  </a:tcPr>
                </a:tc>
                <a:tc>
                  <a:txBody>
                    <a:bodyPr/>
                    <a:lstStyle/>
                    <a:p>
                      <a:pPr lvl="0" algn="l">
                        <a:lnSpc>
                          <a:spcPct val="100000"/>
                        </a:lnSpc>
                        <a:spcBef>
                          <a:spcPts val="0"/>
                        </a:spcBef>
                        <a:spcAft>
                          <a:spcPts val="0"/>
                        </a:spcAft>
                        <a:buNone/>
                      </a:pPr>
                      <a:r>
                        <a:rPr lang="en-US" sz="1100" b="0" i="0" u="none" strike="noStrike" noProof="0"/>
                        <a:t>To implement leave proration for notice period employees, administrators must create a new time profile in SuccessFactors specifically designed for employees serving notice periods. This profile will automatically re calculate and update leave balances based on the employee's tenure within the current fiscal year, ensuring accurate leave availability when an employee enters their notice period.</a:t>
                      </a:r>
                      <a:endParaRPr lang="en-US"/>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noFill/>
                  </a:tcPr>
                </a:tc>
                <a:tc>
                  <a:txBody>
                    <a:bodyPr/>
                    <a:lstStyle/>
                    <a:p>
                      <a:pPr lvl="0" algn="ctr">
                        <a:lnSpc>
                          <a:spcPct val="100000"/>
                        </a:lnSpc>
                        <a:spcBef>
                          <a:spcPts val="0"/>
                        </a:spcBef>
                        <a:spcAft>
                          <a:spcPts val="0"/>
                        </a:spcAft>
                        <a:buNone/>
                      </a:pPr>
                      <a:r>
                        <a:rPr lang="en-US" sz="1100" b="0" i="0" u="none" strike="noStrike" noProof="0">
                          <a:solidFill>
                            <a:srgbClr val="000000"/>
                          </a:solidFill>
                          <a:latin typeface="Arial"/>
                          <a:cs typeface="Arial"/>
                        </a:rPr>
                        <a:t>25 Sep</a:t>
                      </a:r>
                    </a:p>
                    <a:p>
                      <a:pPr marL="0" lvl="0" indent="0" algn="ctr">
                        <a:buNone/>
                      </a:pPr>
                      <a:endParaRPr lang="en-US" sz="1100" b="0" i="0" u="none" strike="noStrike" noProof="0"/>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72257391"/>
                  </a:ext>
                </a:extLst>
              </a:tr>
              <a:tr h="333722">
                <a:tc rowSpan="3">
                  <a:txBody>
                    <a:bodyPr/>
                    <a:lstStyle/>
                    <a:p>
                      <a:pPr lvl="0" algn="ctr">
                        <a:lnSpc>
                          <a:spcPct val="100000"/>
                        </a:lnSpc>
                        <a:spcBef>
                          <a:spcPts val="0"/>
                        </a:spcBef>
                        <a:spcAft>
                          <a:spcPts val="0"/>
                        </a:spcAft>
                        <a:buNone/>
                      </a:pPr>
                      <a:r>
                        <a:rPr lang="en-US" sz="1100" b="1" i="0" u="none" strike="noStrike" noProof="0">
                          <a:solidFill>
                            <a:srgbClr val="0070C0"/>
                          </a:solidFill>
                          <a:latin typeface="Nunito Sans"/>
                        </a:rPr>
                        <a:t>OPS Tech</a:t>
                      </a:r>
                      <a:endParaRPr lang="en-US" sz="1100" b="0" i="0" u="none" strike="noStrike" noProof="0">
                        <a:solidFill>
                          <a:srgbClr val="000000"/>
                        </a:solidFill>
                        <a:latin typeface="Nunito Sans"/>
                      </a:endParaRPr>
                    </a:p>
                    <a:p>
                      <a:pPr lvl="0" algn="ctr">
                        <a:buNone/>
                      </a:pPr>
                      <a:endParaRPr lang="en-US"/>
                    </a:p>
                  </a:txBody>
                  <a:tcPr marL="0" marR="0" marT="0" marB="0"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marL="0" lvl="0" indent="0" algn="l">
                        <a:lnSpc>
                          <a:spcPct val="100000"/>
                        </a:lnSpc>
                        <a:spcBef>
                          <a:spcPts val="0"/>
                        </a:spcBef>
                        <a:spcAft>
                          <a:spcPts val="0"/>
                        </a:spcAft>
                        <a:buNone/>
                      </a:pPr>
                      <a:r>
                        <a:rPr lang="en-US" sz="1100" b="1" i="0" u="none" strike="noStrike" kern="1200" noProof="0">
                          <a:solidFill>
                            <a:srgbClr val="00B050"/>
                          </a:solidFill>
                          <a:latin typeface="Nunito Sans"/>
                        </a:rPr>
                        <a:t>Automated Schedule Reconciliation between CAE MM and Amadeus Altéa CM</a:t>
                      </a:r>
                      <a:endParaRPr lang="en-US" b="1"/>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noFill/>
                  </a:tcPr>
                </a:tc>
                <a:tc>
                  <a:txBody>
                    <a:bodyPr/>
                    <a:lstStyle/>
                    <a:p>
                      <a:pPr lvl="0" algn="l">
                        <a:lnSpc>
                          <a:spcPct val="100000"/>
                        </a:lnSpc>
                        <a:spcBef>
                          <a:spcPts val="0"/>
                        </a:spcBef>
                        <a:spcAft>
                          <a:spcPts val="0"/>
                        </a:spcAft>
                        <a:buNone/>
                      </a:pPr>
                      <a:r>
                        <a:rPr lang="en-US" sz="1100" b="0" i="0" u="none" strike="noStrike" noProof="0">
                          <a:latin typeface="Nunito Sans"/>
                        </a:rPr>
                        <a:t>This integration establishes a </a:t>
                      </a:r>
                      <a:r>
                        <a:rPr lang="en-US" sz="1100" b="1" i="0" u="none" strike="noStrike" noProof="0">
                          <a:latin typeface="Nunito Sans"/>
                        </a:rPr>
                        <a:t>single source of truth for flight schedule data</a:t>
                      </a:r>
                      <a:r>
                        <a:rPr lang="en-US" sz="1100" b="0" i="0" u="none" strike="noStrike" noProof="0">
                          <a:latin typeface="Nunito Sans"/>
                        </a:rPr>
                        <a:t> by automating reconciliation between </a:t>
                      </a:r>
                      <a:r>
                        <a:rPr lang="en-US" sz="1100" b="1" i="0" u="none" strike="noStrike" noProof="0">
                          <a:latin typeface="Nunito Sans"/>
                        </a:rPr>
                        <a:t>CAE Movement Manager (MM) and Amadeus Altéa CM</a:t>
                      </a:r>
                      <a:r>
                        <a:rPr lang="en-US" sz="1100" b="0" i="0" u="none" strike="noStrike" noProof="0">
                          <a:latin typeface="Nunito Sans"/>
                        </a:rPr>
                        <a:t>, eliminating manual comparisons and reducing operational risk.</a:t>
                      </a:r>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noFill/>
                  </a:tcPr>
                </a:tc>
                <a:tc>
                  <a:txBody>
                    <a:bodyPr/>
                    <a:lstStyle/>
                    <a:p>
                      <a:pPr marL="0" lvl="0" indent="0" algn="ctr">
                        <a:buNone/>
                      </a:pPr>
                      <a:r>
                        <a:rPr lang="en-US" sz="1100" b="0" i="0" u="none" strike="noStrike" noProof="0"/>
                        <a:t>20 Sep</a:t>
                      </a:r>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17553879"/>
                  </a:ext>
                </a:extLst>
              </a:tr>
              <a:tr h="750875">
                <a:tc vMerge="1">
                  <a:txBody>
                    <a:bodyPr/>
                    <a:lstStyle/>
                    <a:p>
                      <a:endParaRPr lang="en-US"/>
                    </a:p>
                  </a:txBody>
                  <a:tcPr marL="0" marR="0" marT="0" marB="0"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marL="0" lvl="0" indent="0" algn="l">
                        <a:lnSpc>
                          <a:spcPct val="100000"/>
                        </a:lnSpc>
                        <a:spcBef>
                          <a:spcPts val="0"/>
                        </a:spcBef>
                        <a:spcAft>
                          <a:spcPts val="0"/>
                        </a:spcAft>
                        <a:buNone/>
                      </a:pPr>
                      <a:r>
                        <a:rPr lang="en-US" sz="1100" b="1" i="0" u="none" strike="noStrike" kern="1200" noProof="0">
                          <a:solidFill>
                            <a:srgbClr val="00B050"/>
                          </a:solidFill>
                          <a:latin typeface="Nunito Sans"/>
                        </a:rPr>
                        <a:t>BA Randomizer – SuccessFactors Integration  </a:t>
                      </a:r>
                      <a:endParaRPr lang="en-US" b="1"/>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noFill/>
                  </a:tcPr>
                </a:tc>
                <a:tc>
                  <a:txBody>
                    <a:bodyPr/>
                    <a:lstStyle/>
                    <a:p>
                      <a:pPr lvl="0" algn="l">
                        <a:lnSpc>
                          <a:spcPct val="100000"/>
                        </a:lnSpc>
                        <a:spcBef>
                          <a:spcPts val="0"/>
                        </a:spcBef>
                        <a:spcAft>
                          <a:spcPts val="0"/>
                        </a:spcAft>
                        <a:buNone/>
                      </a:pPr>
                      <a:r>
                        <a:rPr lang="en-US" sz="1100" b="0" i="0" u="none" strike="noStrike" noProof="0">
                          <a:solidFill>
                            <a:srgbClr val="292A2E"/>
                          </a:solidFill>
                          <a:highlight>
                            <a:srgbClr val="FFFFFF"/>
                          </a:highlight>
                          <a:latin typeface="Nunito Sans"/>
                        </a:rPr>
                        <a:t>Currently, significant effort is spent validating and updating employee records before they can be used for operational </a:t>
                      </a:r>
                      <a:r>
                        <a:rPr lang="en-US" sz="1100" b="0" i="0" u="none" strike="noStrike" noProof="0" err="1">
                          <a:solidFill>
                            <a:srgbClr val="292A2E"/>
                          </a:solidFill>
                          <a:highlight>
                            <a:srgbClr val="FFFFFF"/>
                          </a:highlight>
                          <a:latin typeface="Nunito Sans"/>
                        </a:rPr>
                        <a:t>randomisation</a:t>
                      </a:r>
                      <a:r>
                        <a:rPr lang="en-US" sz="1100" b="0" i="0" u="none" strike="noStrike" noProof="0">
                          <a:solidFill>
                            <a:srgbClr val="292A2E"/>
                          </a:solidFill>
                          <a:highlight>
                            <a:srgbClr val="FFFFFF"/>
                          </a:highlight>
                          <a:latin typeface="Nunito Sans"/>
                        </a:rPr>
                        <a:t> activities. By automating employee data synchronization from SuccessFactors, the solution will remove manual maintenance effort, reduce data discrepancies, and improve the accuracy of </a:t>
                      </a:r>
                      <a:r>
                        <a:rPr lang="en-US" sz="1100" b="0" i="0" u="none" strike="noStrike" noProof="0" err="1">
                          <a:solidFill>
                            <a:srgbClr val="292A2E"/>
                          </a:solidFill>
                          <a:highlight>
                            <a:srgbClr val="FFFFFF"/>
                          </a:highlight>
                          <a:latin typeface="Nunito Sans"/>
                        </a:rPr>
                        <a:t>randomisation</a:t>
                      </a:r>
                      <a:r>
                        <a:rPr lang="en-US" sz="1100" b="0" i="0" u="none" strike="noStrike" noProof="0">
                          <a:solidFill>
                            <a:srgbClr val="292A2E"/>
                          </a:solidFill>
                          <a:highlight>
                            <a:srgbClr val="FFFFFF"/>
                          </a:highlight>
                          <a:latin typeface="Nunito Sans"/>
                        </a:rPr>
                        <a:t> results.</a:t>
                      </a:r>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noFill/>
                  </a:tcPr>
                </a:tc>
                <a:tc>
                  <a:txBody>
                    <a:bodyPr/>
                    <a:lstStyle/>
                    <a:p>
                      <a:pPr lvl="0" algn="ctr">
                        <a:lnSpc>
                          <a:spcPct val="100000"/>
                        </a:lnSpc>
                        <a:spcBef>
                          <a:spcPts val="0"/>
                        </a:spcBef>
                        <a:spcAft>
                          <a:spcPts val="0"/>
                        </a:spcAft>
                        <a:buNone/>
                      </a:pPr>
                      <a:r>
                        <a:rPr lang="en-US" sz="1100" b="0" i="0" u="none" strike="noStrike" noProof="0">
                          <a:solidFill>
                            <a:srgbClr val="000000"/>
                          </a:solidFill>
                          <a:latin typeface="Nunito Sans"/>
                        </a:rPr>
                        <a:t>18 Sep</a:t>
                      </a:r>
                    </a:p>
                    <a:p>
                      <a:pPr marL="0" lvl="0" indent="0" algn="ctr">
                        <a:buNone/>
                      </a:pPr>
                      <a:endParaRPr lang="en-US" sz="1100" b="0" i="0" u="none" strike="noStrike" noProof="0"/>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02757103"/>
                  </a:ext>
                </a:extLst>
              </a:tr>
              <a:tr h="931642">
                <a:tc vMerge="1">
                  <a:txBody>
                    <a:bodyPr/>
                    <a:lstStyle/>
                    <a:p>
                      <a:endParaRPr lang="en-US"/>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marL="0" lvl="0" indent="0" algn="l">
                        <a:lnSpc>
                          <a:spcPct val="100000"/>
                        </a:lnSpc>
                        <a:spcBef>
                          <a:spcPts val="0"/>
                        </a:spcBef>
                        <a:spcAft>
                          <a:spcPts val="0"/>
                        </a:spcAft>
                        <a:buNone/>
                      </a:pPr>
                      <a:r>
                        <a:rPr lang="en-US" sz="1100" b="1" i="0" u="none" strike="noStrike" kern="1200" noProof="0">
                          <a:solidFill>
                            <a:srgbClr val="00B050"/>
                          </a:solidFill>
                          <a:latin typeface="Nunito Sans"/>
                        </a:rPr>
                        <a:t>AI/AIX UAE Crew APIS integration from CAE to UAE NAIC System </a:t>
                      </a:r>
                      <a:endParaRPr lang="en-US" b="1"/>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noFill/>
                  </a:tcPr>
                </a:tc>
                <a:tc>
                  <a:txBody>
                    <a:bodyPr/>
                    <a:lstStyle/>
                    <a:p>
                      <a:pPr lvl="0" algn="l">
                        <a:lnSpc>
                          <a:spcPct val="100000"/>
                        </a:lnSpc>
                        <a:spcBef>
                          <a:spcPts val="0"/>
                        </a:spcBef>
                        <a:spcAft>
                          <a:spcPts val="0"/>
                        </a:spcAft>
                        <a:buNone/>
                      </a:pPr>
                      <a:r>
                        <a:rPr lang="en-US" sz="1100" b="0" i="0" u="none" strike="noStrike" noProof="0">
                          <a:latin typeface="Nunito Sans"/>
                        </a:rPr>
                        <a:t>The UAE Crew APIS integration modernizes regulatory data exchange by replacing legacy SFTP-based file transfers with a secure, scalable Azure Blob and MQ-based architecture. It improves the reliability and timeliness of passenger and crew data submissions to UAE border authorities, reducing operational disruptions and compliance risks.</a:t>
                      </a:r>
                    </a:p>
                    <a:p>
                      <a:pPr lvl="0" algn="l">
                        <a:lnSpc>
                          <a:spcPct val="100000"/>
                        </a:lnSpc>
                        <a:spcBef>
                          <a:spcPts val="0"/>
                        </a:spcBef>
                        <a:spcAft>
                          <a:spcPts val="0"/>
                        </a:spcAft>
                        <a:buNone/>
                      </a:pPr>
                      <a:endParaRPr lang="en-US" sz="1100" b="0" i="0" u="none" strike="noStrike" noProof="0"/>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noFill/>
                  </a:tcPr>
                </a:tc>
                <a:tc>
                  <a:txBody>
                    <a:bodyPr/>
                    <a:lstStyle/>
                    <a:p>
                      <a:pPr marL="0" lvl="0" indent="0" algn="ctr">
                        <a:buNone/>
                      </a:pPr>
                      <a:r>
                        <a:rPr lang="en-US" sz="1100" b="0" i="0" u="none" strike="noStrike" noProof="0"/>
                        <a:t>15 Sep</a:t>
                      </a:r>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05273127"/>
                  </a:ext>
                </a:extLst>
              </a:tr>
              <a:tr h="931642">
                <a:tc>
                  <a:txBody>
                    <a:bodyPr/>
                    <a:lstStyle/>
                    <a:p>
                      <a:pPr lvl="0" algn="ctr">
                        <a:lnSpc>
                          <a:spcPct val="100000"/>
                        </a:lnSpc>
                        <a:spcBef>
                          <a:spcPts val="0"/>
                        </a:spcBef>
                        <a:spcAft>
                          <a:spcPts val="0"/>
                        </a:spcAft>
                        <a:buNone/>
                      </a:pPr>
                      <a:r>
                        <a:rPr lang="en-US" sz="1100" b="1" i="0" u="none" strike="noStrike" noProof="0">
                          <a:solidFill>
                            <a:srgbClr val="0070C0"/>
                          </a:solidFill>
                          <a:latin typeface="Nunito Sans"/>
                        </a:rPr>
                        <a:t>IVCS</a:t>
                      </a:r>
                      <a:endParaRPr lang="en-US" sz="1100" b="0" i="0" u="none" strike="noStrike" noProof="0">
                        <a:solidFill>
                          <a:srgbClr val="000000"/>
                        </a:solidFill>
                        <a:latin typeface="Nunito Sans"/>
                      </a:endParaRPr>
                    </a:p>
                    <a:p>
                      <a:pPr lvl="0" algn="ctr">
                        <a:buNone/>
                      </a:pPr>
                      <a:endParaRPr lang="en-US"/>
                    </a:p>
                  </a:txBody>
                  <a:tcPr marL="0" marR="0" marT="0" marB="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marL="0" lvl="0" indent="0" algn="l">
                        <a:lnSpc>
                          <a:spcPct val="100000"/>
                        </a:lnSpc>
                        <a:spcBef>
                          <a:spcPts val="0"/>
                        </a:spcBef>
                        <a:spcAft>
                          <a:spcPts val="0"/>
                        </a:spcAft>
                        <a:buNone/>
                      </a:pPr>
                      <a:r>
                        <a:rPr lang="en-US" sz="1100" b="1" i="0" u="none" strike="noStrike" kern="1200" noProof="0">
                          <a:solidFill>
                            <a:srgbClr val="00B050"/>
                          </a:solidFill>
                        </a:rPr>
                        <a:t>AMOS–MM MEL Compliance &amp; Control Monitoring System</a:t>
                      </a:r>
                      <a:endParaRPr lang="en-US" b="1"/>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lvl="0" algn="l">
                        <a:lnSpc>
                          <a:spcPct val="100000"/>
                        </a:lnSpc>
                        <a:spcBef>
                          <a:spcPts val="0"/>
                        </a:spcBef>
                        <a:spcAft>
                          <a:spcPts val="0"/>
                        </a:spcAft>
                        <a:buNone/>
                      </a:pPr>
                      <a:r>
                        <a:rPr lang="en-US" sz="1100" b="0" i="0" u="none" strike="noStrike" noProof="0">
                          <a:solidFill>
                            <a:srgbClr val="292A2E"/>
                          </a:solidFill>
                          <a:highlight>
                            <a:srgbClr val="FFFFFF"/>
                          </a:highlight>
                          <a:latin typeface="Nunito Sans"/>
                        </a:rPr>
                        <a:t>This initiative establishes a </a:t>
                      </a:r>
                      <a:r>
                        <a:rPr lang="en-US" sz="1100" b="1" i="0" u="none" strike="noStrike" noProof="0">
                          <a:solidFill>
                            <a:srgbClr val="292A2E"/>
                          </a:solidFill>
                          <a:highlight>
                            <a:srgbClr val="FFFFFF"/>
                          </a:highlight>
                          <a:latin typeface="Nunito Sans"/>
                        </a:rPr>
                        <a:t>single, trusted view of MEL workorder compliance</a:t>
                      </a:r>
                      <a:r>
                        <a:rPr lang="en-US" sz="1100" b="0" i="0" u="none" strike="noStrike" noProof="0">
                          <a:solidFill>
                            <a:srgbClr val="292A2E"/>
                          </a:solidFill>
                          <a:highlight>
                            <a:srgbClr val="FFFFFF"/>
                          </a:highlight>
                          <a:latin typeface="Nunito Sans"/>
                        </a:rPr>
                        <a:t> by integrating AMOS and MM, ensuring critical maintenance records remain synchronized across operational systems.</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marL="0" lvl="0" indent="0" algn="ctr">
                        <a:buNone/>
                      </a:pPr>
                      <a:r>
                        <a:rPr lang="en-US" sz="1100" b="0" i="0" u="none" strike="noStrike" noProof="0"/>
                        <a:t>01 Sep</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2825868725"/>
                  </a:ext>
                </a:extLst>
              </a:tr>
            </a:tbl>
          </a:graphicData>
        </a:graphic>
      </p:graphicFrame>
      <p:sp>
        <p:nvSpPr>
          <p:cNvPr id="10" name="Rectangle 9">
            <a:extLst>
              <a:ext uri="{FF2B5EF4-FFF2-40B4-BE49-F238E27FC236}">
                <a16:creationId xmlns:a16="http://schemas.microsoft.com/office/drawing/2014/main" id="{8CF71E82-E17C-F4E4-8F54-0ECA71211DEE}"/>
              </a:ext>
            </a:extLst>
          </p:cNvPr>
          <p:cNvSpPr/>
          <p:nvPr/>
        </p:nvSpPr>
        <p:spPr>
          <a:xfrm>
            <a:off x="307827" y="839070"/>
            <a:ext cx="1125432" cy="32298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400" b="1">
                <a:solidFill>
                  <a:srgbClr val="FFFFFF"/>
                </a:solidFill>
                <a:latin typeface="AirIndia"/>
              </a:rPr>
              <a:t>Sep</a:t>
            </a:r>
            <a:r>
              <a:rPr kumimoji="0" lang="en-IN" sz="1400" b="1" i="0" u="none" strike="noStrike" kern="1200" cap="none" spc="0" normalizeH="0" baseline="0" noProof="0">
                <a:ln>
                  <a:noFill/>
                </a:ln>
                <a:solidFill>
                  <a:srgbClr val="FFFFFF"/>
                </a:solidFill>
                <a:effectLst/>
                <a:uLnTx/>
                <a:uFillTx/>
                <a:latin typeface="AirIndia"/>
              </a:rPr>
              <a:t> ‘</a:t>
            </a:r>
            <a:r>
              <a:rPr lang="en-IN" sz="1400" b="1">
                <a:solidFill>
                  <a:srgbClr val="FFFFFF"/>
                </a:solidFill>
                <a:latin typeface="AirIndia"/>
              </a:rPr>
              <a:t>26</a:t>
            </a:r>
            <a:endParaRPr kumimoji="0" lang="en-US" sz="1400" b="1" i="0" u="none" strike="noStrike" kern="1200" cap="none" spc="0" normalizeH="0" baseline="0" noProof="0">
              <a:ln>
                <a:noFill/>
              </a:ln>
              <a:solidFill>
                <a:srgbClr val="FFFFFF"/>
              </a:solidFill>
              <a:effectLst/>
              <a:uLnTx/>
              <a:uFillTx/>
              <a:latin typeface="AirIndia" panose="04050608020B02020302" charset="0"/>
              <a:ea typeface="+mn-ea"/>
              <a:cs typeface="+mn-cs"/>
            </a:endParaRPr>
          </a:p>
        </p:txBody>
      </p:sp>
    </p:spTree>
    <p:extLst>
      <p:ext uri="{BB962C8B-B14F-4D97-AF65-F5344CB8AC3E}">
        <p14:creationId xmlns:p14="http://schemas.microsoft.com/office/powerpoint/2010/main" val="185294415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BD862E-FD44-4CD9-1BE7-E29023B1B46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2E2F477-6F4B-C688-AA6E-6FECD6AFC71B}"/>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3A41A254-7326-714E-AF55-4C213D6394DE}" type="slidenum">
              <a:rPr kumimoji="0" lang="en-US" sz="1200" b="0" i="0" u="none" strike="noStrike" kern="1200" cap="none" spc="0" normalizeH="0" baseline="0" noProof="0" smtClean="0">
                <a:ln>
                  <a:noFill/>
                </a:ln>
                <a:solidFill>
                  <a:srgbClr val="DA0E28"/>
                </a:solidFill>
                <a:effectLst/>
                <a:uLnTx/>
                <a:uFillTx/>
                <a:latin typeface="Nunito Sans"/>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61</a:t>
            </a:fld>
            <a:endParaRPr kumimoji="0" lang="en-US" sz="1200" b="0" i="0" u="none" strike="noStrike" kern="1200" cap="none" spc="0" normalizeH="0" baseline="0" noProof="0">
              <a:ln>
                <a:noFill/>
              </a:ln>
              <a:solidFill>
                <a:srgbClr val="DA0E28"/>
              </a:solidFill>
              <a:effectLst/>
              <a:uLnTx/>
              <a:uFillTx/>
              <a:latin typeface="Nunito Sans"/>
              <a:ea typeface="+mn-ea"/>
              <a:cs typeface="+mn-cs"/>
            </a:endParaRPr>
          </a:p>
        </p:txBody>
      </p:sp>
      <p:sp>
        <p:nvSpPr>
          <p:cNvPr id="6" name="Title 11">
            <a:extLst>
              <a:ext uri="{FF2B5EF4-FFF2-40B4-BE49-F238E27FC236}">
                <a16:creationId xmlns:a16="http://schemas.microsoft.com/office/drawing/2014/main" id="{F29CA26A-340D-F771-91EE-29E9F614B8E3}"/>
              </a:ext>
            </a:extLst>
          </p:cNvPr>
          <p:cNvSpPr txBox="1">
            <a:spLocks/>
          </p:cNvSpPr>
          <p:nvPr/>
        </p:nvSpPr>
        <p:spPr>
          <a:xfrm>
            <a:off x="304800" y="269218"/>
            <a:ext cx="9749641" cy="480073"/>
          </a:xfrm>
          <a:prstGeom prst="rect">
            <a:avLst/>
          </a:prstGeom>
        </p:spPr>
        <p:txBody>
          <a:bodyPr lIns="91440" tIns="45720" rIns="91440" bIns="45720" anchor="t">
            <a:noAutofit/>
          </a:bodyPr>
          <a:lstStyle>
            <a:lvl1pPr algn="l" defTabSz="914400" rtl="0" eaLnBrk="1" latinLnBrk="0" hangingPunct="1">
              <a:lnSpc>
                <a:spcPct val="90000"/>
              </a:lnSpc>
              <a:spcBef>
                <a:spcPct val="0"/>
              </a:spcBef>
              <a:buNone/>
              <a:defRPr sz="4400" b="1" i="0" kern="1200">
                <a:solidFill>
                  <a:schemeClr val="tx1"/>
                </a:solidFill>
                <a:latin typeface="AirIndia" pitchFamily="82" charset="77"/>
                <a:ea typeface="+mj-ea"/>
                <a:cs typeface="+mj-cs"/>
              </a:defRPr>
            </a:lvl1pPr>
          </a:lstStyle>
          <a:p>
            <a:pPr>
              <a:defRPr/>
            </a:pPr>
            <a:r>
              <a:rPr kumimoji="0" lang="en-US" sz="1800" b="1" i="0" u="none" strike="noStrike" kern="1200" cap="none" spc="0" normalizeH="0" baseline="0" noProof="0">
                <a:ln>
                  <a:noFill/>
                </a:ln>
                <a:solidFill>
                  <a:srgbClr val="DA0E28"/>
                </a:solidFill>
                <a:effectLst/>
                <a:uLnTx/>
                <a:uFillTx/>
                <a:latin typeface="AirIndia"/>
                <a:ea typeface="+mj-ea"/>
                <a:cs typeface="+mj-cs"/>
              </a:rPr>
              <a:t>Enterprise </a:t>
            </a:r>
            <a:r>
              <a:rPr lang="en-US" sz="1800">
                <a:solidFill>
                  <a:srgbClr val="DA0E28"/>
                </a:solidFill>
                <a:latin typeface="AirIndia"/>
              </a:rPr>
              <a:t>Automation-FY26-27</a:t>
            </a:r>
            <a:r>
              <a:rPr kumimoji="0" lang="en-US" sz="1800" b="1" i="0" u="none" strike="noStrike" kern="1200" cap="none" spc="0" normalizeH="0" baseline="0" noProof="0">
                <a:ln>
                  <a:noFill/>
                </a:ln>
                <a:solidFill>
                  <a:srgbClr val="DA0E28"/>
                </a:solidFill>
                <a:effectLst/>
                <a:uLnTx/>
                <a:uFillTx/>
                <a:latin typeface="AirIndia"/>
                <a:ea typeface="+mj-ea"/>
                <a:cs typeface="+mj-cs"/>
              </a:rPr>
              <a:t> </a:t>
            </a:r>
            <a:r>
              <a:rPr lang="en-US" sz="1800">
                <a:solidFill>
                  <a:srgbClr val="DA0E28"/>
                </a:solidFill>
                <a:latin typeface="AirIndia"/>
              </a:rPr>
              <a:t>Q2</a:t>
            </a:r>
            <a:r>
              <a:rPr kumimoji="0" lang="en-US" sz="1800" b="1" i="0" u="none" strike="noStrike" kern="1200" cap="none" spc="0" normalizeH="0" baseline="0" noProof="0">
                <a:ln>
                  <a:noFill/>
                </a:ln>
                <a:solidFill>
                  <a:srgbClr val="DA0E28"/>
                </a:solidFill>
                <a:effectLst/>
                <a:uLnTx/>
                <a:uFillTx/>
                <a:latin typeface="AirIndia"/>
                <a:ea typeface="+mj-ea"/>
                <a:cs typeface="+mj-cs"/>
              </a:rPr>
              <a:t> Release </a:t>
            </a:r>
            <a:r>
              <a:rPr lang="en-US" sz="1800">
                <a:solidFill>
                  <a:srgbClr val="DA0E28"/>
                </a:solidFill>
                <a:latin typeface="AirIndia"/>
              </a:rPr>
              <a:t>Plan</a:t>
            </a:r>
            <a:endParaRPr lang="en-US" sz="1800" b="0">
              <a:solidFill>
                <a:srgbClr val="000000"/>
              </a:solidFill>
              <a:latin typeface="AirIndia"/>
            </a:endParaRPr>
          </a:p>
          <a:p>
            <a:pPr>
              <a:defRPr/>
            </a:pPr>
            <a:endParaRPr lang="en-US" sz="1800" i="0" u="none" strike="noStrike" kern="1200" cap="none" spc="0" normalizeH="0" baseline="0" noProof="0">
              <a:ln>
                <a:noFill/>
              </a:ln>
              <a:solidFill>
                <a:srgbClr val="DA0E28"/>
              </a:solidFill>
              <a:effectLst/>
              <a:uLnTx/>
              <a:uFillTx/>
              <a:latin typeface="AirIndia"/>
            </a:endParaRPr>
          </a:p>
        </p:txBody>
      </p:sp>
      <p:sp>
        <p:nvSpPr>
          <p:cNvPr id="4" name="Rectangle 3">
            <a:extLst>
              <a:ext uri="{FF2B5EF4-FFF2-40B4-BE49-F238E27FC236}">
                <a16:creationId xmlns:a16="http://schemas.microsoft.com/office/drawing/2014/main" id="{529E4864-0B66-7151-C0EB-3423D16974BB}"/>
              </a:ext>
            </a:extLst>
          </p:cNvPr>
          <p:cNvSpPr/>
          <p:nvPr/>
        </p:nvSpPr>
        <p:spPr>
          <a:xfrm rot="5400000">
            <a:off x="8942419" y="6655587"/>
            <a:ext cx="90000" cy="90000"/>
          </a:xfrm>
          <a:prstGeom prst="rect">
            <a:avLst/>
          </a:prstGeom>
          <a:solidFill>
            <a:schemeClr val="bg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9" name="TextBox 8">
            <a:extLst>
              <a:ext uri="{FF2B5EF4-FFF2-40B4-BE49-F238E27FC236}">
                <a16:creationId xmlns:a16="http://schemas.microsoft.com/office/drawing/2014/main" id="{7ADF2C4C-D427-0776-B9FF-7BDAE3D56AFC}"/>
              </a:ext>
            </a:extLst>
          </p:cNvPr>
          <p:cNvSpPr txBox="1"/>
          <p:nvPr/>
        </p:nvSpPr>
        <p:spPr>
          <a:xfrm>
            <a:off x="8986097" y="6582653"/>
            <a:ext cx="3069090" cy="246221"/>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FFFFFF">
                    <a:lumMod val="49000"/>
                  </a:srgbClr>
                </a:solidFill>
                <a:effectLst/>
                <a:uLnTx/>
                <a:uFillTx/>
                <a:latin typeface="Nunito Sans"/>
                <a:ea typeface="+mn-ea"/>
                <a:cs typeface="+mn-cs"/>
              </a:rPr>
              <a:t>Descoped</a:t>
            </a:r>
          </a:p>
        </p:txBody>
      </p:sp>
      <p:sp>
        <p:nvSpPr>
          <p:cNvPr id="18" name="Rectangle 17">
            <a:extLst>
              <a:ext uri="{FF2B5EF4-FFF2-40B4-BE49-F238E27FC236}">
                <a16:creationId xmlns:a16="http://schemas.microsoft.com/office/drawing/2014/main" id="{AC53BB39-A815-5410-4098-3374C53AED6D}"/>
              </a:ext>
            </a:extLst>
          </p:cNvPr>
          <p:cNvSpPr/>
          <p:nvPr/>
        </p:nvSpPr>
        <p:spPr>
          <a:xfrm>
            <a:off x="10326888" y="6653023"/>
            <a:ext cx="90000" cy="90000"/>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20" name="Rectangle 19">
            <a:extLst>
              <a:ext uri="{FF2B5EF4-FFF2-40B4-BE49-F238E27FC236}">
                <a16:creationId xmlns:a16="http://schemas.microsoft.com/office/drawing/2014/main" id="{3A98150A-8736-D2AA-BB70-1DBC06366825}"/>
              </a:ext>
            </a:extLst>
          </p:cNvPr>
          <p:cNvSpPr/>
          <p:nvPr/>
        </p:nvSpPr>
        <p:spPr>
          <a:xfrm>
            <a:off x="1433259" y="6651985"/>
            <a:ext cx="90000" cy="90000"/>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22" name="Rectangle 21">
            <a:extLst>
              <a:ext uri="{FF2B5EF4-FFF2-40B4-BE49-F238E27FC236}">
                <a16:creationId xmlns:a16="http://schemas.microsoft.com/office/drawing/2014/main" id="{E76CDDB2-DB72-678D-727C-DA1FAD6FA5BD}"/>
              </a:ext>
            </a:extLst>
          </p:cNvPr>
          <p:cNvSpPr/>
          <p:nvPr/>
        </p:nvSpPr>
        <p:spPr>
          <a:xfrm>
            <a:off x="5909236" y="6676608"/>
            <a:ext cx="90000" cy="90000"/>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23" name="Rectangle 22">
            <a:extLst>
              <a:ext uri="{FF2B5EF4-FFF2-40B4-BE49-F238E27FC236}">
                <a16:creationId xmlns:a16="http://schemas.microsoft.com/office/drawing/2014/main" id="{07D11D79-B315-D993-CBCC-4BC5C76A4655}"/>
              </a:ext>
            </a:extLst>
          </p:cNvPr>
          <p:cNvSpPr/>
          <p:nvPr/>
        </p:nvSpPr>
        <p:spPr>
          <a:xfrm>
            <a:off x="2752379" y="6642913"/>
            <a:ext cx="90000" cy="90000"/>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24" name="TextBox 15">
            <a:extLst>
              <a:ext uri="{FF2B5EF4-FFF2-40B4-BE49-F238E27FC236}">
                <a16:creationId xmlns:a16="http://schemas.microsoft.com/office/drawing/2014/main" id="{4E4FD8E5-EB4F-D365-0D94-E6E3BE733A93}"/>
              </a:ext>
            </a:extLst>
          </p:cNvPr>
          <p:cNvSpPr txBox="1"/>
          <p:nvPr/>
        </p:nvSpPr>
        <p:spPr>
          <a:xfrm>
            <a:off x="10416853" y="6596174"/>
            <a:ext cx="857245"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0070C0"/>
                </a:solidFill>
                <a:effectLst/>
                <a:uLnTx/>
                <a:uFillTx/>
                <a:latin typeface="Nunito Sans"/>
                <a:ea typeface="+mn-ea"/>
                <a:cs typeface="+mn-cs"/>
              </a:rPr>
              <a:t>Delivered</a:t>
            </a:r>
            <a:endParaRPr kumimoji="0" lang="en-IN" sz="1000" b="0" i="0" u="none" strike="noStrike" kern="1200" cap="none" spc="0" normalizeH="0" baseline="0" noProof="0">
              <a:ln>
                <a:noFill/>
              </a:ln>
              <a:solidFill>
                <a:srgbClr val="000000"/>
              </a:solidFill>
              <a:effectLst/>
              <a:uLnTx/>
              <a:uFillTx/>
              <a:latin typeface="Nunito Sans"/>
              <a:ea typeface="+mn-ea"/>
              <a:cs typeface="+mn-cs"/>
            </a:endParaRPr>
          </a:p>
        </p:txBody>
      </p:sp>
      <p:sp>
        <p:nvSpPr>
          <p:cNvPr id="25" name="TextBox 18">
            <a:extLst>
              <a:ext uri="{FF2B5EF4-FFF2-40B4-BE49-F238E27FC236}">
                <a16:creationId xmlns:a16="http://schemas.microsoft.com/office/drawing/2014/main" id="{E81DC169-B500-69D9-9DE6-48759715332A}"/>
              </a:ext>
            </a:extLst>
          </p:cNvPr>
          <p:cNvSpPr txBox="1"/>
          <p:nvPr/>
        </p:nvSpPr>
        <p:spPr>
          <a:xfrm>
            <a:off x="1554283" y="6592533"/>
            <a:ext cx="1032881"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00B050"/>
                </a:solidFill>
                <a:effectLst/>
                <a:uLnTx/>
                <a:uFillTx/>
                <a:latin typeface="Nunito Sans"/>
                <a:ea typeface="+mn-ea"/>
                <a:cs typeface="+mn-cs"/>
              </a:rPr>
              <a:t>Ontrack</a:t>
            </a:r>
            <a:endParaRPr kumimoji="0" lang="en-IN" sz="1000" b="0" i="0" u="none" strike="noStrike" kern="1200" cap="none" spc="0" normalizeH="0" baseline="0" noProof="0">
              <a:ln>
                <a:noFill/>
              </a:ln>
              <a:solidFill>
                <a:srgbClr val="000000"/>
              </a:solidFill>
              <a:effectLst/>
              <a:uLnTx/>
              <a:uFillTx/>
              <a:latin typeface="Nunito Sans"/>
              <a:ea typeface="+mn-ea"/>
              <a:cs typeface="+mn-cs"/>
            </a:endParaRPr>
          </a:p>
        </p:txBody>
      </p:sp>
      <p:sp>
        <p:nvSpPr>
          <p:cNvPr id="26" name="TextBox 20">
            <a:extLst>
              <a:ext uri="{FF2B5EF4-FFF2-40B4-BE49-F238E27FC236}">
                <a16:creationId xmlns:a16="http://schemas.microsoft.com/office/drawing/2014/main" id="{D79F95BF-BF17-F664-E681-18FA8D0F9515}"/>
              </a:ext>
            </a:extLst>
          </p:cNvPr>
          <p:cNvSpPr txBox="1"/>
          <p:nvPr/>
        </p:nvSpPr>
        <p:spPr>
          <a:xfrm>
            <a:off x="6092504" y="6635159"/>
            <a:ext cx="2257628"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FED9A0">
                    <a:lumMod val="75000"/>
                  </a:srgbClr>
                </a:solidFill>
                <a:effectLst/>
                <a:uLnTx/>
                <a:uFillTx/>
                <a:latin typeface="Nunito Sans"/>
                <a:ea typeface="+mn-ea"/>
                <a:cs typeface="+mn-cs"/>
              </a:rPr>
              <a:t>Under delay and can be recovered</a:t>
            </a:r>
            <a:endParaRPr kumimoji="0" lang="en-IN" sz="1000" b="0" i="0" u="none" strike="noStrike" kern="1200" cap="none" spc="0" normalizeH="0" baseline="0" noProof="0">
              <a:ln>
                <a:noFill/>
              </a:ln>
              <a:solidFill>
                <a:srgbClr val="000000"/>
              </a:solidFill>
              <a:effectLst/>
              <a:uLnTx/>
              <a:uFillTx/>
              <a:latin typeface="Nunito Sans"/>
              <a:ea typeface="+mn-ea"/>
              <a:cs typeface="+mn-cs"/>
            </a:endParaRPr>
          </a:p>
        </p:txBody>
      </p:sp>
      <p:sp>
        <p:nvSpPr>
          <p:cNvPr id="27" name="TextBox 22">
            <a:extLst>
              <a:ext uri="{FF2B5EF4-FFF2-40B4-BE49-F238E27FC236}">
                <a16:creationId xmlns:a16="http://schemas.microsoft.com/office/drawing/2014/main" id="{99ADAACD-8522-9C8F-0604-85867A4C3332}"/>
              </a:ext>
            </a:extLst>
          </p:cNvPr>
          <p:cNvSpPr txBox="1"/>
          <p:nvPr/>
        </p:nvSpPr>
        <p:spPr>
          <a:xfrm>
            <a:off x="2842379" y="6579600"/>
            <a:ext cx="2338222"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FF0000"/>
                </a:solidFill>
                <a:effectLst/>
                <a:uLnTx/>
                <a:uFillTx/>
                <a:latin typeface="Nunito Sans"/>
                <a:ea typeface="+mn-ea"/>
                <a:cs typeface="+mn-cs"/>
              </a:rPr>
              <a:t>Delayed and pushed to next release</a:t>
            </a:r>
          </a:p>
        </p:txBody>
      </p:sp>
      <p:graphicFrame>
        <p:nvGraphicFramePr>
          <p:cNvPr id="7" name="Table 6">
            <a:extLst>
              <a:ext uri="{FF2B5EF4-FFF2-40B4-BE49-F238E27FC236}">
                <a16:creationId xmlns:a16="http://schemas.microsoft.com/office/drawing/2014/main" id="{93C54BC2-DDA2-66B3-CA04-577ED70466A5}"/>
              </a:ext>
            </a:extLst>
          </p:cNvPr>
          <p:cNvGraphicFramePr>
            <a:graphicFrameLocks noGrp="1"/>
          </p:cNvGraphicFramePr>
          <p:nvPr>
            <p:extLst>
              <p:ext uri="{D42A27DB-BD31-4B8C-83A1-F6EECF244321}">
                <p14:modId xmlns:p14="http://schemas.microsoft.com/office/powerpoint/2010/main" val="2561484829"/>
              </p:ext>
            </p:extLst>
          </p:nvPr>
        </p:nvGraphicFramePr>
        <p:xfrm>
          <a:off x="1433688" y="846666"/>
          <a:ext cx="10334045" cy="2722664"/>
        </p:xfrm>
        <a:graphic>
          <a:graphicData uri="http://schemas.openxmlformats.org/drawingml/2006/table">
            <a:tbl>
              <a:tblPr firstRow="1" bandRow="1">
                <a:tableStyleId>{5C22544A-7EE6-4342-B048-85BDC9FD1C3A}</a:tableStyleId>
              </a:tblPr>
              <a:tblGrid>
                <a:gridCol w="2510272">
                  <a:extLst>
                    <a:ext uri="{9D8B030D-6E8A-4147-A177-3AD203B41FA5}">
                      <a16:colId xmlns:a16="http://schemas.microsoft.com/office/drawing/2014/main" val="2822350773"/>
                    </a:ext>
                  </a:extLst>
                </a:gridCol>
                <a:gridCol w="6622303">
                  <a:extLst>
                    <a:ext uri="{9D8B030D-6E8A-4147-A177-3AD203B41FA5}">
                      <a16:colId xmlns:a16="http://schemas.microsoft.com/office/drawing/2014/main" val="99588705"/>
                    </a:ext>
                  </a:extLst>
                </a:gridCol>
                <a:gridCol w="1201470">
                  <a:extLst>
                    <a:ext uri="{9D8B030D-6E8A-4147-A177-3AD203B41FA5}">
                      <a16:colId xmlns:a16="http://schemas.microsoft.com/office/drawing/2014/main" val="1739073323"/>
                    </a:ext>
                  </a:extLst>
                </a:gridCol>
              </a:tblGrid>
              <a:tr h="427878">
                <a:tc>
                  <a:txBody>
                    <a:bodyPr/>
                    <a:lstStyle/>
                    <a:p>
                      <a:pPr marL="0" lvl="0" indent="0" algn="ctr" defTabSz="914400" rtl="0">
                        <a:lnSpc>
                          <a:spcPct val="100000"/>
                        </a:lnSpc>
                        <a:buFont typeface="Arial" panose="020B0604020202020204" pitchFamily="34" charset="0"/>
                        <a:buNone/>
                      </a:pPr>
                      <a:r>
                        <a:rPr lang="en-IN" sz="1100" b="1" kern="1200">
                          <a:solidFill>
                            <a:schemeClr val="bg1"/>
                          </a:solidFill>
                          <a:latin typeface="+mn-lt"/>
                          <a:ea typeface="+mn-ea"/>
                          <a:cs typeface="+mn-cs"/>
                        </a:rPr>
                        <a:t>Initiatives</a:t>
                      </a:r>
                      <a:endParaRPr lang="en-US" sz="1100" b="1"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tc>
                  <a:txBody>
                    <a:bodyPr/>
                    <a:lstStyle/>
                    <a:p>
                      <a:pPr marL="0" indent="0" algn="ctr" defTabSz="914400" rtl="0" eaLnBrk="1" latinLnBrk="0" hangingPunct="1">
                        <a:buFont typeface="Arial" panose="020B0604020202020204" pitchFamily="34" charset="0"/>
                        <a:buNone/>
                      </a:pPr>
                      <a:r>
                        <a:rPr lang="en-IN" sz="1100" kern="1200">
                          <a:solidFill>
                            <a:schemeClr val="bg1"/>
                          </a:solidFill>
                          <a:latin typeface="+mn-lt"/>
                          <a:ea typeface="+mn-ea"/>
                          <a:cs typeface="+mn-cs"/>
                        </a:rPr>
                        <a:t>Value Justification/Realization</a:t>
                      </a:r>
                      <a:endParaRPr lang="en-US" sz="1100"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tc>
                  <a:txBody>
                    <a:bodyPr/>
                    <a:lstStyle/>
                    <a:p>
                      <a:pPr marL="0" indent="0" algn="ctr" defTabSz="914400" rtl="0" eaLnBrk="1" latinLnBrk="0" hangingPunct="1">
                        <a:buFont typeface="Arial" panose="020B0604020202020204" pitchFamily="34" charset="0"/>
                        <a:buNone/>
                      </a:pPr>
                      <a:r>
                        <a:rPr lang="en-US" sz="1100" kern="1200">
                          <a:solidFill>
                            <a:schemeClr val="bg1"/>
                          </a:solidFill>
                          <a:latin typeface="+mn-lt"/>
                          <a:ea typeface="+mn-ea"/>
                          <a:cs typeface="+mn-cs"/>
                        </a:rPr>
                        <a:t>Planned Go-live Date</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extLst>
                  <a:ext uri="{0D108BD9-81ED-4DB2-BD59-A6C34878D82A}">
                    <a16:rowId xmlns:a16="http://schemas.microsoft.com/office/drawing/2014/main" val="844450115"/>
                  </a:ext>
                </a:extLst>
              </a:tr>
              <a:tr h="639635">
                <a:tc>
                  <a:txBody>
                    <a:bodyPr/>
                    <a:lstStyle/>
                    <a:p>
                      <a:pPr marL="0" lvl="0" indent="0" algn="l">
                        <a:lnSpc>
                          <a:spcPct val="100000"/>
                        </a:lnSpc>
                        <a:spcBef>
                          <a:spcPts val="0"/>
                        </a:spcBef>
                        <a:spcAft>
                          <a:spcPts val="0"/>
                        </a:spcAft>
                        <a:buNone/>
                      </a:pPr>
                      <a:r>
                        <a:rPr lang="en-US" sz="1100" b="1" i="0" u="none" strike="noStrike" kern="1200" noProof="0">
                          <a:solidFill>
                            <a:srgbClr val="00B050"/>
                          </a:solidFill>
                        </a:rPr>
                        <a:t>Zero Trust Evidence Based Operations- Aircraft (DMS Extraction)</a:t>
                      </a:r>
                      <a:endParaRPr lang="en-US" b="1">
                        <a:solidFill>
                          <a:srgbClr val="00B050"/>
                        </a:solidFill>
                      </a:endParaRP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tc>
                  <a:txBody>
                    <a:bodyPr/>
                    <a:lstStyle/>
                    <a:p>
                      <a:pPr lvl="0" algn="l">
                        <a:lnSpc>
                          <a:spcPct val="100000"/>
                        </a:lnSpc>
                        <a:spcBef>
                          <a:spcPts val="0"/>
                        </a:spcBef>
                        <a:spcAft>
                          <a:spcPts val="0"/>
                        </a:spcAft>
                        <a:buNone/>
                      </a:pPr>
                      <a:r>
                        <a:rPr lang="en-US" sz="1200" b="0" i="0" u="none" strike="noStrike" noProof="0">
                          <a:solidFill>
                            <a:schemeClr val="tx1"/>
                          </a:solidFill>
                        </a:rPr>
                        <a:t>Every action and data point supported by underlying evidence in the form of authenticated documents or data from systems with authenticated data</a:t>
                      </a:r>
                      <a:endParaRPr lang="en-US" b="0">
                        <a:solidFill>
                          <a:schemeClr val="tx1"/>
                        </a:solidFill>
                      </a:endParaRPr>
                    </a:p>
                    <a:p>
                      <a:pPr marL="0" lvl="0" indent="0" algn="l">
                        <a:lnSpc>
                          <a:spcPct val="100000"/>
                        </a:lnSpc>
                        <a:spcBef>
                          <a:spcPts val="0"/>
                        </a:spcBef>
                        <a:spcAft>
                          <a:spcPts val="0"/>
                        </a:spcAft>
                        <a:buNone/>
                      </a:pPr>
                      <a:endParaRPr lang="en-US" sz="1200" b="0" i="0" u="none" strike="noStrike" noProof="0">
                        <a:solidFill>
                          <a:srgbClr val="FF0000"/>
                        </a:solidFill>
                        <a:latin typeface="Nunito Sans"/>
                      </a:endParaRP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tc>
                  <a:txBody>
                    <a:bodyPr/>
                    <a:lstStyle/>
                    <a:p>
                      <a:pPr marL="0" lvl="0" indent="0" algn="l">
                        <a:buNone/>
                      </a:pPr>
                      <a:r>
                        <a:rPr lang="en-US" sz="1100" b="0" i="0" u="none" strike="noStrike" noProof="0"/>
                        <a:t>25 Sep</a:t>
                      </a: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extLst>
                  <a:ext uri="{0D108BD9-81ED-4DB2-BD59-A6C34878D82A}">
                    <a16:rowId xmlns:a16="http://schemas.microsoft.com/office/drawing/2014/main" val="406198518"/>
                  </a:ext>
                </a:extLst>
              </a:tr>
              <a:tr h="597919">
                <a:tc>
                  <a:txBody>
                    <a:bodyPr/>
                    <a:lstStyle/>
                    <a:p>
                      <a:pPr marL="0" lvl="0" indent="0" algn="l">
                        <a:lnSpc>
                          <a:spcPct val="100000"/>
                        </a:lnSpc>
                        <a:spcBef>
                          <a:spcPts val="0"/>
                        </a:spcBef>
                        <a:spcAft>
                          <a:spcPts val="0"/>
                        </a:spcAft>
                        <a:buNone/>
                      </a:pPr>
                      <a:r>
                        <a:rPr lang="en-US" sz="1100" b="1" i="0" u="none" strike="noStrike" kern="1200" noProof="0">
                          <a:solidFill>
                            <a:srgbClr val="00B050"/>
                          </a:solidFill>
                        </a:rPr>
                        <a:t>[Ad Hoc] Aircraft Restriction Process (Excel Change Tracker)</a:t>
                      </a:r>
                      <a:endParaRPr lang="en-US" b="1">
                        <a:solidFill>
                          <a:srgbClr val="00B050"/>
                        </a:solidFill>
                      </a:endParaRP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tc>
                  <a:txBody>
                    <a:bodyPr/>
                    <a:lstStyle/>
                    <a:p>
                      <a:pPr lvl="0" algn="l">
                        <a:lnSpc>
                          <a:spcPct val="100000"/>
                        </a:lnSpc>
                        <a:spcBef>
                          <a:spcPts val="0"/>
                        </a:spcBef>
                        <a:spcAft>
                          <a:spcPts val="0"/>
                        </a:spcAft>
                        <a:buNone/>
                      </a:pPr>
                      <a:r>
                        <a:rPr lang="en-US" sz="1200" b="0" i="0" u="none" strike="noStrike" noProof="0">
                          <a:solidFill>
                            <a:schemeClr val="tx1"/>
                          </a:solidFill>
                        </a:rPr>
                        <a:t>Aircraft restriction process (Excel change tracker). Adding a maker‑checker step before updating the tracker.</a:t>
                      </a:r>
                      <a:endParaRPr lang="en-US">
                        <a:solidFill>
                          <a:schemeClr val="tx1"/>
                        </a:solidFill>
                      </a:endParaRP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tc>
                  <a:txBody>
                    <a:bodyPr/>
                    <a:lstStyle/>
                    <a:p>
                      <a:pPr marL="0" lvl="0" indent="0" algn="l">
                        <a:buNone/>
                      </a:pPr>
                      <a:r>
                        <a:rPr lang="en-US" sz="1100" b="0" i="0" u="none" strike="noStrike" noProof="0"/>
                        <a:t>28 Aug</a:t>
                      </a: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extLst>
                  <a:ext uri="{0D108BD9-81ED-4DB2-BD59-A6C34878D82A}">
                    <a16:rowId xmlns:a16="http://schemas.microsoft.com/office/drawing/2014/main" val="3889526485"/>
                  </a:ext>
                </a:extLst>
              </a:tr>
              <a:tr h="597919">
                <a:tc>
                  <a:txBody>
                    <a:bodyPr/>
                    <a:lstStyle/>
                    <a:p>
                      <a:pPr marL="0" marR="0" lvl="0" indent="0" algn="l">
                        <a:lnSpc>
                          <a:spcPct val="100000"/>
                        </a:lnSpc>
                        <a:spcBef>
                          <a:spcPts val="0"/>
                        </a:spcBef>
                        <a:spcAft>
                          <a:spcPts val="0"/>
                        </a:spcAft>
                        <a:buNone/>
                      </a:pPr>
                      <a:r>
                        <a:rPr lang="en-US" sz="1100" b="1" i="0" u="none" strike="noStrike" kern="1200" noProof="0">
                          <a:solidFill>
                            <a:srgbClr val="00B050"/>
                          </a:solidFill>
                          <a:latin typeface="Nunito Sans"/>
                        </a:rPr>
                        <a:t>HAM Phase 2</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l">
                        <a:lnSpc>
                          <a:spcPct val="100000"/>
                        </a:lnSpc>
                        <a:spcBef>
                          <a:spcPts val="0"/>
                        </a:spcBef>
                        <a:spcAft>
                          <a:spcPts val="0"/>
                        </a:spcAft>
                        <a:buNone/>
                      </a:pPr>
                      <a:r>
                        <a:rPr lang="en-US" sz="1200" b="0" i="0" u="none" strike="noStrike" noProof="0">
                          <a:solidFill>
                            <a:srgbClr val="FF0000"/>
                          </a:solidFill>
                          <a:latin typeface="Nunito Sans"/>
                        </a:rPr>
                        <a:t>Requirement yet not finalized. </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l">
                        <a:lnSpc>
                          <a:spcPct val="100000"/>
                        </a:lnSpc>
                        <a:spcBef>
                          <a:spcPts val="0"/>
                        </a:spcBef>
                        <a:spcAft>
                          <a:spcPts val="0"/>
                        </a:spcAft>
                        <a:buNone/>
                      </a:pPr>
                      <a:endParaRPr lang="en-US" sz="1100" b="0" i="0" u="none" strike="noStrike" noProof="0">
                        <a:solidFill>
                          <a:srgbClr val="000000"/>
                        </a:solidFill>
                        <a:latin typeface="Nunito Sans"/>
                      </a:endParaRPr>
                    </a:p>
                    <a:p>
                      <a:pPr marL="0" lvl="0" indent="0" algn="l">
                        <a:buFont typeface="Arial" panose="020B0604020202020204" pitchFamily="34" charset="0"/>
                        <a:buNone/>
                      </a:pPr>
                      <a:endParaRPr lang="en-US" sz="1100" b="0" i="0" u="none" strike="noStrike" noProof="0">
                        <a:latin typeface="Arial"/>
                      </a:endParaRPr>
                    </a:p>
                    <a:p>
                      <a:pPr marL="0" lvl="0" indent="0" algn="l">
                        <a:buNone/>
                      </a:pPr>
                      <a:endParaRPr lang="en-US" sz="1100" b="0" i="0" u="none" strike="noStrike" noProof="0"/>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443371065"/>
                  </a:ext>
                </a:extLst>
              </a:tr>
              <a:tr h="458868">
                <a:tc>
                  <a:txBody>
                    <a:bodyPr/>
                    <a:lstStyle/>
                    <a:p>
                      <a:pPr marL="0" lvl="0" indent="0" algn="l">
                        <a:lnSpc>
                          <a:spcPct val="100000"/>
                        </a:lnSpc>
                        <a:spcBef>
                          <a:spcPts val="0"/>
                        </a:spcBef>
                        <a:spcAft>
                          <a:spcPts val="0"/>
                        </a:spcAft>
                        <a:buNone/>
                      </a:pPr>
                      <a:r>
                        <a:rPr lang="en-US" sz="1100" b="1" i="0" u="none" strike="noStrike" kern="1200" noProof="0">
                          <a:solidFill>
                            <a:srgbClr val="00B050"/>
                          </a:solidFill>
                          <a:latin typeface="Nunito Sans"/>
                        </a:rPr>
                        <a:t>EWS Phase 2</a:t>
                      </a: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lvl="0" algn="l">
                        <a:lnSpc>
                          <a:spcPct val="100000"/>
                        </a:lnSpc>
                        <a:spcBef>
                          <a:spcPts val="0"/>
                        </a:spcBef>
                        <a:spcAft>
                          <a:spcPts val="0"/>
                        </a:spcAft>
                        <a:buNone/>
                      </a:pPr>
                      <a:r>
                        <a:rPr lang="en-US" sz="1200" b="0" i="0" u="none" strike="noStrike" noProof="0">
                          <a:solidFill>
                            <a:srgbClr val="FF0000"/>
                          </a:solidFill>
                          <a:latin typeface="Nunito Sans"/>
                        </a:rPr>
                        <a:t>Requirement yet not finalized. </a:t>
                      </a:r>
                      <a:endParaRPr lang="en-US" sz="1200" b="0" i="0" u="none" strike="noStrike" noProof="0">
                        <a:solidFill>
                          <a:srgbClr val="000000"/>
                        </a:solidFill>
                        <a:latin typeface="Nunito Sans"/>
                      </a:endParaRPr>
                    </a:p>
                    <a:p>
                      <a:pPr marL="0" lvl="0" indent="0" algn="l">
                        <a:lnSpc>
                          <a:spcPct val="100000"/>
                        </a:lnSpc>
                        <a:spcBef>
                          <a:spcPts val="0"/>
                        </a:spcBef>
                        <a:spcAft>
                          <a:spcPts val="0"/>
                        </a:spcAft>
                        <a:buNone/>
                      </a:pPr>
                      <a:endParaRPr lang="en-US" sz="1200" b="0" i="0" u="none" strike="noStrike" noProof="0">
                        <a:solidFill>
                          <a:srgbClr val="FF0000"/>
                        </a:solidFill>
                        <a:latin typeface="Nunito Sans"/>
                      </a:endParaRP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marL="0" lvl="0" indent="0" algn="l">
                        <a:buNone/>
                      </a:pPr>
                      <a:endParaRPr lang="en-US" sz="1100" b="0" i="0" u="none" strike="noStrike" noProof="0"/>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083677575"/>
                  </a:ext>
                </a:extLst>
              </a:tr>
            </a:tbl>
          </a:graphicData>
        </a:graphic>
      </p:graphicFrame>
      <p:sp>
        <p:nvSpPr>
          <p:cNvPr id="10" name="Rectangle 9">
            <a:extLst>
              <a:ext uri="{FF2B5EF4-FFF2-40B4-BE49-F238E27FC236}">
                <a16:creationId xmlns:a16="http://schemas.microsoft.com/office/drawing/2014/main" id="{79EE3300-E593-E7EB-35F9-B8367EE95893}"/>
              </a:ext>
            </a:extLst>
          </p:cNvPr>
          <p:cNvSpPr/>
          <p:nvPr/>
        </p:nvSpPr>
        <p:spPr>
          <a:xfrm>
            <a:off x="307827" y="848250"/>
            <a:ext cx="1125432" cy="3138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400" b="1">
                <a:solidFill>
                  <a:srgbClr val="FFFFFF"/>
                </a:solidFill>
                <a:latin typeface="AirIndia"/>
              </a:rPr>
              <a:t>Sep</a:t>
            </a:r>
            <a:r>
              <a:rPr kumimoji="0" lang="en-IN" sz="1400" b="1" i="0" u="none" strike="noStrike" kern="1200" cap="none" spc="0" normalizeH="0" baseline="0" noProof="0">
                <a:ln>
                  <a:noFill/>
                </a:ln>
                <a:solidFill>
                  <a:srgbClr val="FFFFFF"/>
                </a:solidFill>
                <a:effectLst/>
                <a:uLnTx/>
                <a:uFillTx/>
                <a:latin typeface="AirIndia"/>
              </a:rPr>
              <a:t> ‘</a:t>
            </a:r>
            <a:r>
              <a:rPr lang="en-IN" sz="1400" b="1">
                <a:solidFill>
                  <a:srgbClr val="FFFFFF"/>
                </a:solidFill>
                <a:latin typeface="AirIndia"/>
              </a:rPr>
              <a:t>26</a:t>
            </a:r>
            <a:endParaRPr kumimoji="0" lang="en-US" sz="1400" b="1" i="0" u="none" strike="noStrike" kern="1200" cap="none" spc="0" normalizeH="0" baseline="0" noProof="0">
              <a:ln>
                <a:noFill/>
              </a:ln>
              <a:solidFill>
                <a:srgbClr val="FFFFFF"/>
              </a:solidFill>
              <a:effectLst/>
              <a:uLnTx/>
              <a:uFillTx/>
              <a:latin typeface="AirIndia" panose="04050608020B02020302" charset="0"/>
              <a:ea typeface="+mn-ea"/>
              <a:cs typeface="+mn-cs"/>
            </a:endParaRPr>
          </a:p>
        </p:txBody>
      </p:sp>
    </p:spTree>
    <p:extLst>
      <p:ext uri="{BB962C8B-B14F-4D97-AF65-F5344CB8AC3E}">
        <p14:creationId xmlns:p14="http://schemas.microsoft.com/office/powerpoint/2010/main" val="428596105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AE9711-AAA7-83CA-9037-D3C3F05343C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4EB7E90-C70C-A85C-D6F3-3A97C866AF5B}"/>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3A41A254-7326-714E-AF55-4C213D6394DE}" type="slidenum">
              <a:rPr kumimoji="0" lang="en-US" sz="1200" b="0" i="0" u="none" strike="noStrike" kern="1200" cap="none" spc="0" normalizeH="0" baseline="0" noProof="0" smtClean="0">
                <a:ln>
                  <a:noFill/>
                </a:ln>
                <a:solidFill>
                  <a:srgbClr val="DA0E28"/>
                </a:solidFill>
                <a:effectLst/>
                <a:uLnTx/>
                <a:uFillTx/>
                <a:latin typeface="Nunito Sans"/>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62</a:t>
            </a:fld>
            <a:endParaRPr kumimoji="0" lang="en-US" sz="1200" b="0" i="0" u="none" strike="noStrike" kern="1200" cap="none" spc="0" normalizeH="0" baseline="0" noProof="0">
              <a:ln>
                <a:noFill/>
              </a:ln>
              <a:solidFill>
                <a:srgbClr val="DA0E28"/>
              </a:solidFill>
              <a:effectLst/>
              <a:uLnTx/>
              <a:uFillTx/>
              <a:latin typeface="Nunito Sans"/>
              <a:ea typeface="+mn-ea"/>
              <a:cs typeface="+mn-cs"/>
            </a:endParaRPr>
          </a:p>
        </p:txBody>
      </p:sp>
      <p:sp>
        <p:nvSpPr>
          <p:cNvPr id="3" name="Rectangle 2">
            <a:extLst>
              <a:ext uri="{FF2B5EF4-FFF2-40B4-BE49-F238E27FC236}">
                <a16:creationId xmlns:a16="http://schemas.microsoft.com/office/drawing/2014/main" id="{517B07C1-D32D-A358-897F-2B14305AC511}"/>
              </a:ext>
            </a:extLst>
          </p:cNvPr>
          <p:cNvSpPr/>
          <p:nvPr/>
        </p:nvSpPr>
        <p:spPr>
          <a:xfrm>
            <a:off x="310264" y="785609"/>
            <a:ext cx="1170432" cy="42234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400" b="1">
                <a:solidFill>
                  <a:srgbClr val="FFFFFF"/>
                </a:solidFill>
                <a:latin typeface="AirIndia"/>
              </a:rPr>
              <a:t>Jul</a:t>
            </a:r>
            <a:r>
              <a:rPr kumimoji="0" lang="en-IN" sz="1400" b="1" i="0" u="none" strike="noStrike" kern="1200" cap="none" spc="0" normalizeH="0" baseline="0" noProof="0">
                <a:ln>
                  <a:noFill/>
                </a:ln>
                <a:solidFill>
                  <a:srgbClr val="FFFFFF"/>
                </a:solidFill>
                <a:effectLst/>
                <a:uLnTx/>
                <a:uFillTx/>
                <a:latin typeface="AirIndia"/>
              </a:rPr>
              <a:t> ‘</a:t>
            </a:r>
            <a:r>
              <a:rPr lang="en-IN" sz="1400" b="1">
                <a:solidFill>
                  <a:srgbClr val="FFFFFF"/>
                </a:solidFill>
                <a:latin typeface="AirIndia"/>
              </a:rPr>
              <a:t>26</a:t>
            </a:r>
            <a:endParaRPr kumimoji="0" lang="en-US" sz="1400" b="1" i="0" u="none" strike="noStrike" kern="1200" cap="none" spc="0" normalizeH="0" baseline="0" noProof="0">
              <a:ln>
                <a:noFill/>
              </a:ln>
              <a:solidFill>
                <a:srgbClr val="FFFFFF"/>
              </a:solidFill>
              <a:effectLst/>
              <a:uLnTx/>
              <a:uFillTx/>
              <a:latin typeface="AirIndia" panose="04050608020B02020302" charset="0"/>
              <a:ea typeface="+mn-ea"/>
              <a:cs typeface="+mn-cs"/>
            </a:endParaRPr>
          </a:p>
        </p:txBody>
      </p:sp>
      <p:sp>
        <p:nvSpPr>
          <p:cNvPr id="6" name="Title 11">
            <a:extLst>
              <a:ext uri="{FF2B5EF4-FFF2-40B4-BE49-F238E27FC236}">
                <a16:creationId xmlns:a16="http://schemas.microsoft.com/office/drawing/2014/main" id="{0D217241-5448-C4C9-24E5-8CA3ACF60DE4}"/>
              </a:ext>
            </a:extLst>
          </p:cNvPr>
          <p:cNvSpPr txBox="1">
            <a:spLocks/>
          </p:cNvSpPr>
          <p:nvPr/>
        </p:nvSpPr>
        <p:spPr>
          <a:xfrm>
            <a:off x="304800" y="269218"/>
            <a:ext cx="9749641" cy="480073"/>
          </a:xfrm>
          <a:prstGeom prst="rect">
            <a:avLst/>
          </a:prstGeom>
        </p:spPr>
        <p:txBody>
          <a:bodyPr lIns="91440" tIns="45720" rIns="91440" bIns="45720" anchor="t">
            <a:noAutofit/>
          </a:bodyPr>
          <a:lstStyle>
            <a:lvl1pPr algn="l" defTabSz="914400" rtl="0" eaLnBrk="1" latinLnBrk="0" hangingPunct="1">
              <a:lnSpc>
                <a:spcPct val="90000"/>
              </a:lnSpc>
              <a:spcBef>
                <a:spcPct val="0"/>
              </a:spcBef>
              <a:buNone/>
              <a:defRPr sz="4400" b="1" i="0" kern="1200">
                <a:solidFill>
                  <a:schemeClr val="tx1"/>
                </a:solidFill>
                <a:latin typeface="AirIndia" pitchFamily="82" charset="77"/>
                <a:ea typeface="+mj-ea"/>
                <a:cs typeface="+mj-cs"/>
              </a:defRPr>
            </a:lvl1pPr>
          </a:lstStyle>
          <a:p>
            <a:pPr>
              <a:defRPr/>
            </a:pPr>
            <a:r>
              <a:rPr lang="en-US" sz="1800">
                <a:solidFill>
                  <a:srgbClr val="DA0E28"/>
                </a:solidFill>
                <a:latin typeface="AirIndia"/>
              </a:rPr>
              <a:t>ServiceNow </a:t>
            </a:r>
            <a:r>
              <a:rPr kumimoji="0" lang="en-US" sz="1800" b="1" i="0" u="none" strike="noStrike" kern="1200" cap="none" spc="0" normalizeH="0" baseline="0" noProof="0">
                <a:ln>
                  <a:noFill/>
                </a:ln>
                <a:solidFill>
                  <a:srgbClr val="DA0E28"/>
                </a:solidFill>
                <a:effectLst/>
                <a:uLnTx/>
                <a:uFillTx/>
                <a:latin typeface="AirIndia"/>
                <a:ea typeface="+mj-ea"/>
                <a:cs typeface="+mj-cs"/>
              </a:rPr>
              <a:t>- </a:t>
            </a:r>
            <a:r>
              <a:rPr lang="en-US" sz="1800">
                <a:solidFill>
                  <a:srgbClr val="DA0E28"/>
                </a:solidFill>
                <a:latin typeface="AirIndia"/>
              </a:rPr>
              <a:t>FY26-27 Q2 Release</a:t>
            </a:r>
            <a:r>
              <a:rPr kumimoji="0" lang="en-US" sz="1800" b="1" i="0" u="none" strike="noStrike" kern="1200" cap="none" spc="0" normalizeH="0" baseline="0" noProof="0">
                <a:ln>
                  <a:noFill/>
                </a:ln>
                <a:solidFill>
                  <a:srgbClr val="DA0E28"/>
                </a:solidFill>
                <a:effectLst/>
                <a:uLnTx/>
                <a:uFillTx/>
                <a:latin typeface="AirIndia"/>
                <a:ea typeface="+mj-ea"/>
                <a:cs typeface="+mj-cs"/>
              </a:rPr>
              <a:t> </a:t>
            </a:r>
            <a:r>
              <a:rPr lang="en-US" sz="1800">
                <a:solidFill>
                  <a:srgbClr val="DA0E28"/>
                </a:solidFill>
                <a:latin typeface="AirIndia"/>
              </a:rPr>
              <a:t>Plan</a:t>
            </a:r>
            <a:endParaRPr lang="en-US" sz="1800" b="0">
              <a:solidFill>
                <a:srgbClr val="000000"/>
              </a:solidFill>
              <a:latin typeface="AirIndia"/>
            </a:endParaRPr>
          </a:p>
          <a:p>
            <a:pPr>
              <a:defRPr/>
            </a:pPr>
            <a:endParaRPr lang="en-US" sz="1800" i="0" u="none" strike="noStrike" kern="1200" cap="none" spc="0" normalizeH="0" baseline="0" noProof="0">
              <a:ln>
                <a:noFill/>
              </a:ln>
              <a:solidFill>
                <a:srgbClr val="DA0E28"/>
              </a:solidFill>
              <a:effectLst/>
              <a:uLnTx/>
              <a:uFillTx/>
              <a:latin typeface="AirIndia"/>
            </a:endParaRPr>
          </a:p>
        </p:txBody>
      </p:sp>
      <p:graphicFrame>
        <p:nvGraphicFramePr>
          <p:cNvPr id="12" name="Table 11">
            <a:extLst>
              <a:ext uri="{FF2B5EF4-FFF2-40B4-BE49-F238E27FC236}">
                <a16:creationId xmlns:a16="http://schemas.microsoft.com/office/drawing/2014/main" id="{07565B82-52E7-0EC1-7D10-675028D9AFDB}"/>
              </a:ext>
            </a:extLst>
          </p:cNvPr>
          <p:cNvGraphicFramePr>
            <a:graphicFrameLocks noGrp="1"/>
          </p:cNvGraphicFramePr>
          <p:nvPr>
            <p:extLst>
              <p:ext uri="{D42A27DB-BD31-4B8C-83A1-F6EECF244321}">
                <p14:modId xmlns:p14="http://schemas.microsoft.com/office/powerpoint/2010/main" val="521036851"/>
              </p:ext>
            </p:extLst>
          </p:nvPr>
        </p:nvGraphicFramePr>
        <p:xfrm>
          <a:off x="1474079" y="773376"/>
          <a:ext cx="10592835" cy="1405279"/>
        </p:xfrm>
        <a:graphic>
          <a:graphicData uri="http://schemas.openxmlformats.org/drawingml/2006/table">
            <a:tbl>
              <a:tblPr firstRow="1" bandRow="1">
                <a:tableStyleId>{5C22544A-7EE6-4342-B048-85BDC9FD1C3A}</a:tableStyleId>
              </a:tblPr>
              <a:tblGrid>
                <a:gridCol w="1737785">
                  <a:extLst>
                    <a:ext uri="{9D8B030D-6E8A-4147-A177-3AD203B41FA5}">
                      <a16:colId xmlns:a16="http://schemas.microsoft.com/office/drawing/2014/main" val="2822350773"/>
                    </a:ext>
                  </a:extLst>
                </a:gridCol>
                <a:gridCol w="1737785">
                  <a:extLst>
                    <a:ext uri="{9D8B030D-6E8A-4147-A177-3AD203B41FA5}">
                      <a16:colId xmlns:a16="http://schemas.microsoft.com/office/drawing/2014/main" val="2669513633"/>
                    </a:ext>
                  </a:extLst>
                </a:gridCol>
                <a:gridCol w="5373583">
                  <a:extLst>
                    <a:ext uri="{9D8B030D-6E8A-4147-A177-3AD203B41FA5}">
                      <a16:colId xmlns:a16="http://schemas.microsoft.com/office/drawing/2014/main" val="99588705"/>
                    </a:ext>
                  </a:extLst>
                </a:gridCol>
                <a:gridCol w="1743682">
                  <a:extLst>
                    <a:ext uri="{9D8B030D-6E8A-4147-A177-3AD203B41FA5}">
                      <a16:colId xmlns:a16="http://schemas.microsoft.com/office/drawing/2014/main" val="1739073323"/>
                    </a:ext>
                  </a:extLst>
                </a:gridCol>
              </a:tblGrid>
              <a:tr h="329633">
                <a:tc>
                  <a:txBody>
                    <a:bodyPr/>
                    <a:lstStyle/>
                    <a:p>
                      <a:pPr marL="0" lvl="0" indent="0" algn="ctr" defTabSz="914400" rtl="0">
                        <a:lnSpc>
                          <a:spcPct val="100000"/>
                        </a:lnSpc>
                        <a:buFont typeface="Arial" panose="020B0604020202020204" pitchFamily="34" charset="0"/>
                        <a:buNone/>
                      </a:pPr>
                      <a:r>
                        <a:rPr lang="en-IN" sz="1100" b="1" kern="1200">
                          <a:solidFill>
                            <a:schemeClr val="bg1"/>
                          </a:solidFill>
                          <a:latin typeface="+mn-lt"/>
                          <a:ea typeface="+mn-ea"/>
                          <a:cs typeface="+mn-cs"/>
                        </a:rPr>
                        <a:t>Initiatives</a:t>
                      </a:r>
                      <a:endParaRPr lang="en-US" sz="1100" b="1"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tc>
                  <a:txBody>
                    <a:bodyPr/>
                    <a:lstStyle/>
                    <a:p>
                      <a:pPr marL="0" lvl="0" indent="0" algn="ctr" defTabSz="914400">
                        <a:lnSpc>
                          <a:spcPct val="100000"/>
                        </a:lnSpc>
                        <a:buNone/>
                      </a:pPr>
                      <a:r>
                        <a:rPr lang="en-IN" sz="1100" b="1" i="0" u="none" strike="noStrike" kern="1200" noProof="0">
                          <a:solidFill>
                            <a:schemeClr val="bg1"/>
                          </a:solidFill>
                          <a:latin typeface="Nunito Sans"/>
                          <a:ea typeface="+mn-ea"/>
                          <a:cs typeface="+mn-cs"/>
                        </a:rPr>
                        <a:t>Programs/Projects</a:t>
                      </a:r>
                      <a:endParaRPr lang="en-US"/>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solidFill>
                      <a:schemeClr val="accent3">
                        <a:lumMod val="90000"/>
                        <a:lumOff val="10000"/>
                      </a:schemeClr>
                    </a:solidFill>
                  </a:tcPr>
                </a:tc>
                <a:tc>
                  <a:txBody>
                    <a:bodyPr/>
                    <a:lstStyle/>
                    <a:p>
                      <a:pPr marL="0" indent="0" algn="ctr" defTabSz="914400" rtl="0" eaLnBrk="1" latinLnBrk="0" hangingPunct="1">
                        <a:buFont typeface="Arial" panose="020B0604020202020204" pitchFamily="34" charset="0"/>
                        <a:buNone/>
                      </a:pPr>
                      <a:r>
                        <a:rPr lang="en-IN" sz="1100" kern="1200">
                          <a:solidFill>
                            <a:schemeClr val="bg1"/>
                          </a:solidFill>
                          <a:latin typeface="+mn-lt"/>
                          <a:ea typeface="+mn-ea"/>
                          <a:cs typeface="+mn-cs"/>
                        </a:rPr>
                        <a:t>Value Justification/Realization</a:t>
                      </a:r>
                      <a:endParaRPr lang="en-US" sz="1100"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tc>
                  <a:txBody>
                    <a:bodyPr/>
                    <a:lstStyle/>
                    <a:p>
                      <a:pPr marL="0" indent="0" algn="ctr" defTabSz="914400" rtl="0" eaLnBrk="1" latinLnBrk="0" hangingPunct="1">
                        <a:buFont typeface="Arial" panose="020B0604020202020204" pitchFamily="34" charset="0"/>
                        <a:buNone/>
                      </a:pPr>
                      <a:r>
                        <a:rPr lang="en-US" sz="1100" kern="1200">
                          <a:solidFill>
                            <a:schemeClr val="bg1"/>
                          </a:solidFill>
                          <a:latin typeface="+mn-lt"/>
                          <a:ea typeface="+mn-ea"/>
                          <a:cs typeface="+mn-cs"/>
                        </a:rPr>
                        <a:t>Go-live Date</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extLst>
                  <a:ext uri="{0D108BD9-81ED-4DB2-BD59-A6C34878D82A}">
                    <a16:rowId xmlns:a16="http://schemas.microsoft.com/office/drawing/2014/main" val="844450115"/>
                  </a:ext>
                </a:extLst>
              </a:tr>
              <a:tr h="746013">
                <a:tc>
                  <a:txBody>
                    <a:bodyPr/>
                    <a:lstStyle/>
                    <a:p>
                      <a:pPr marL="0" lvl="0" indent="0" algn="l">
                        <a:lnSpc>
                          <a:spcPct val="100000"/>
                        </a:lnSpc>
                        <a:buNone/>
                      </a:pPr>
                      <a:r>
                        <a:rPr lang="en-US" sz="1100" b="1" i="0" u="none" strike="noStrike" kern="1200" baseline="0" noProof="0">
                          <a:solidFill>
                            <a:srgbClr val="05B050"/>
                          </a:solidFill>
                          <a:latin typeface="Nunito Sans"/>
                          <a:ea typeface="+mn-ea"/>
                          <a:cs typeface="Segoe UI"/>
                        </a:rPr>
                        <a:t>Security Exception-Enabling on SNOW and myAI : Phase 1 &amp;2 </a:t>
                      </a:r>
                      <a:endParaRPr lang="en-US" sz="1100" b="1" i="0" u="none" strike="noStrike" kern="1200" baseline="0" noProof="0" err="1">
                        <a:solidFill>
                          <a:srgbClr val="05B050"/>
                        </a:solidFill>
                        <a:latin typeface="Nunito Sans"/>
                        <a:ea typeface="+mn-ea"/>
                        <a:cs typeface="Segoe UI"/>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lvl="0" indent="0" algn="l">
                        <a:lnSpc>
                          <a:spcPct val="100000"/>
                        </a:lnSpc>
                        <a:buNone/>
                      </a:pPr>
                      <a:r>
                        <a:rPr lang="en-US" sz="1100" b="0" kern="1200">
                          <a:solidFill>
                            <a:schemeClr val="tx1"/>
                          </a:solidFill>
                          <a:latin typeface="+mn-lt"/>
                          <a:ea typeface="+mn-ea"/>
                          <a:cs typeface="+mn-cs"/>
                        </a:rPr>
                        <a:t>Digital and Technoloy Automation</a:t>
                      </a: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tc>
                  <a:txBody>
                    <a:bodyPr/>
                    <a:lstStyle/>
                    <a:p>
                      <a:pPr marL="0" lvl="0" indent="0" algn="l">
                        <a:buNone/>
                      </a:pPr>
                      <a:r>
                        <a:rPr lang="en-US" sz="1100" b="0" i="0" u="none" strike="noStrike" noProof="0">
                          <a:solidFill>
                            <a:srgbClr val="000000"/>
                          </a:solidFill>
                          <a:latin typeface="Nunito Sans"/>
                        </a:rPr>
                        <a:t>Phase 1 - </a:t>
                      </a:r>
                      <a:r>
                        <a:rPr lang="en-US" sz="1100"/>
                        <a:t>CXO Approvals for Security Exceptions on ServiceNow.</a:t>
                      </a:r>
                    </a:p>
                    <a:p>
                      <a:pPr marL="0" lvl="0" indent="0" algn="l">
                        <a:buNone/>
                      </a:pPr>
                      <a:r>
                        <a:rPr lang="en-US" sz="1100" b="0" i="0" u="none" strike="noStrike" noProof="0">
                          <a:solidFill>
                            <a:srgbClr val="000000"/>
                          </a:solidFill>
                          <a:latin typeface="Nunito Sans"/>
                        </a:rPr>
                        <a:t>Phase 2 – Changes in Security Approvals and other form level changes.</a:t>
                      </a:r>
                    </a:p>
                    <a:p>
                      <a:pPr marL="0" lvl="0" indent="0" algn="l">
                        <a:buNone/>
                      </a:pPr>
                      <a:r>
                        <a:rPr lang="en-US" sz="1100" b="0" i="0" u="none" strike="noStrike" noProof="0">
                          <a:solidFill>
                            <a:srgbClr val="000000"/>
                          </a:solidFill>
                          <a:latin typeface="Nunito Sans"/>
                        </a:rPr>
                        <a:t> &amp; CXO Approvals on myAI (Manager/Security/CXO-1/CXO)</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lvl="0" indent="0" algn="l">
                        <a:buNone/>
                      </a:pPr>
                      <a:r>
                        <a:rPr lang="en-US" sz="1100" b="0" i="0" u="none" strike="noStrike" noProof="0">
                          <a:solidFill>
                            <a:schemeClr val="tx1"/>
                          </a:solidFill>
                          <a:latin typeface="Arial"/>
                          <a:cs typeface="Arial"/>
                        </a:rPr>
                        <a:t>     30-JUL-2026</a:t>
                      </a:r>
                      <a:endParaRPr lang="en-US"/>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443371065"/>
                  </a:ext>
                </a:extLst>
              </a:tr>
              <a:tr h="329633">
                <a:tc>
                  <a:txBody>
                    <a:bodyPr/>
                    <a:lstStyle/>
                    <a:p>
                      <a:pPr marL="0" lvl="0" indent="0" algn="l">
                        <a:lnSpc>
                          <a:spcPct val="100000"/>
                        </a:lnSpc>
                        <a:buNone/>
                      </a:pPr>
                      <a:endParaRPr lang="en-US" sz="1100" b="1" i="0" u="none" strike="noStrike" kern="1200" baseline="0" noProof="0">
                        <a:solidFill>
                          <a:srgbClr val="0070C0"/>
                        </a:solidFill>
                        <a:latin typeface="Nunito Sans"/>
                        <a:ea typeface="+mn-ea"/>
                        <a:cs typeface="Segoe UI"/>
                      </a:endParaRP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tc>
                  <a:txBody>
                    <a:bodyPr/>
                    <a:lstStyle/>
                    <a:p>
                      <a:pPr marL="0" lvl="0" indent="0" algn="l">
                        <a:lnSpc>
                          <a:spcPct val="100000"/>
                        </a:lnSpc>
                        <a:buNone/>
                      </a:pPr>
                      <a:endParaRPr lang="en-US" sz="1100" b="1" kern="1200">
                        <a:solidFill>
                          <a:srgbClr val="0070C0"/>
                        </a:solidFill>
                        <a:latin typeface="+mn-lt"/>
                        <a:ea typeface="+mn-ea"/>
                        <a:cs typeface="+mn-cs"/>
                      </a:endParaRP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tc>
                  <a:txBody>
                    <a:bodyPr/>
                    <a:lstStyle/>
                    <a:p>
                      <a:pPr marL="0" lvl="0" indent="0" algn="l">
                        <a:buNone/>
                      </a:pPr>
                      <a:endParaRPr lang="en-US" sz="1100"/>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tc>
                  <a:txBody>
                    <a:bodyPr/>
                    <a:lstStyle/>
                    <a:p>
                      <a:pPr marL="0" lvl="0" indent="0" algn="l">
                        <a:buNone/>
                      </a:pPr>
                      <a:endParaRPr lang="en-US" sz="1100" b="0" i="0" u="none" strike="noStrike" noProof="0">
                        <a:latin typeface="Arial"/>
                      </a:endParaRP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extLst>
                  <a:ext uri="{0D108BD9-81ED-4DB2-BD59-A6C34878D82A}">
                    <a16:rowId xmlns:a16="http://schemas.microsoft.com/office/drawing/2014/main" val="4004933021"/>
                  </a:ext>
                </a:extLst>
              </a:tr>
            </a:tbl>
          </a:graphicData>
        </a:graphic>
      </p:graphicFrame>
      <p:sp>
        <p:nvSpPr>
          <p:cNvPr id="4" name="Rectangle 3">
            <a:extLst>
              <a:ext uri="{FF2B5EF4-FFF2-40B4-BE49-F238E27FC236}">
                <a16:creationId xmlns:a16="http://schemas.microsoft.com/office/drawing/2014/main" id="{7B0C983D-90AB-9B50-AED5-D8D6E3520F45}"/>
              </a:ext>
            </a:extLst>
          </p:cNvPr>
          <p:cNvSpPr/>
          <p:nvPr/>
        </p:nvSpPr>
        <p:spPr>
          <a:xfrm rot="5400000">
            <a:off x="8942419" y="6655587"/>
            <a:ext cx="90000" cy="90000"/>
          </a:xfrm>
          <a:prstGeom prst="rect">
            <a:avLst/>
          </a:prstGeom>
          <a:solidFill>
            <a:schemeClr val="bg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9" name="TextBox 8">
            <a:extLst>
              <a:ext uri="{FF2B5EF4-FFF2-40B4-BE49-F238E27FC236}">
                <a16:creationId xmlns:a16="http://schemas.microsoft.com/office/drawing/2014/main" id="{87558B5D-418D-DBDE-4F50-531283C51E5A}"/>
              </a:ext>
            </a:extLst>
          </p:cNvPr>
          <p:cNvSpPr txBox="1"/>
          <p:nvPr/>
        </p:nvSpPr>
        <p:spPr>
          <a:xfrm>
            <a:off x="8986097" y="6582653"/>
            <a:ext cx="3069090" cy="246221"/>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FFFFFF">
                    <a:lumMod val="49000"/>
                  </a:srgbClr>
                </a:solidFill>
                <a:effectLst/>
                <a:uLnTx/>
                <a:uFillTx/>
                <a:latin typeface="Nunito Sans"/>
                <a:ea typeface="+mn-ea"/>
                <a:cs typeface="+mn-cs"/>
              </a:rPr>
              <a:t>Descoped</a:t>
            </a:r>
          </a:p>
        </p:txBody>
      </p:sp>
      <p:sp>
        <p:nvSpPr>
          <p:cNvPr id="18" name="Rectangle 17">
            <a:extLst>
              <a:ext uri="{FF2B5EF4-FFF2-40B4-BE49-F238E27FC236}">
                <a16:creationId xmlns:a16="http://schemas.microsoft.com/office/drawing/2014/main" id="{2F740EBD-E90D-D254-434D-E23A002511F6}"/>
              </a:ext>
            </a:extLst>
          </p:cNvPr>
          <p:cNvSpPr/>
          <p:nvPr/>
        </p:nvSpPr>
        <p:spPr>
          <a:xfrm>
            <a:off x="1520345" y="6184937"/>
            <a:ext cx="90000" cy="90000"/>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20" name="Rectangle 19">
            <a:extLst>
              <a:ext uri="{FF2B5EF4-FFF2-40B4-BE49-F238E27FC236}">
                <a16:creationId xmlns:a16="http://schemas.microsoft.com/office/drawing/2014/main" id="{A7ADD88F-C537-C291-8417-D8EDFEDDE246}"/>
              </a:ext>
            </a:extLst>
          </p:cNvPr>
          <p:cNvSpPr/>
          <p:nvPr/>
        </p:nvSpPr>
        <p:spPr>
          <a:xfrm>
            <a:off x="1520345" y="6412499"/>
            <a:ext cx="90000" cy="90000"/>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22" name="Rectangle 21">
            <a:extLst>
              <a:ext uri="{FF2B5EF4-FFF2-40B4-BE49-F238E27FC236}">
                <a16:creationId xmlns:a16="http://schemas.microsoft.com/office/drawing/2014/main" id="{CE4D6161-A20A-B843-0981-310FA1C1267A}"/>
              </a:ext>
            </a:extLst>
          </p:cNvPr>
          <p:cNvSpPr/>
          <p:nvPr/>
        </p:nvSpPr>
        <p:spPr>
          <a:xfrm>
            <a:off x="2708836" y="6197637"/>
            <a:ext cx="90000" cy="90000"/>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23" name="Rectangle 22">
            <a:extLst>
              <a:ext uri="{FF2B5EF4-FFF2-40B4-BE49-F238E27FC236}">
                <a16:creationId xmlns:a16="http://schemas.microsoft.com/office/drawing/2014/main" id="{73DBE1F7-C505-4E99-1AED-BD45F0742CD3}"/>
              </a:ext>
            </a:extLst>
          </p:cNvPr>
          <p:cNvSpPr/>
          <p:nvPr/>
        </p:nvSpPr>
        <p:spPr>
          <a:xfrm>
            <a:off x="2708836" y="6425199"/>
            <a:ext cx="90000" cy="90000"/>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Nunito Sans"/>
              <a:ea typeface="+mn-ea"/>
              <a:cs typeface="+mn-cs"/>
            </a:endParaRPr>
          </a:p>
        </p:txBody>
      </p:sp>
      <p:sp>
        <p:nvSpPr>
          <p:cNvPr id="24" name="TextBox 15">
            <a:extLst>
              <a:ext uri="{FF2B5EF4-FFF2-40B4-BE49-F238E27FC236}">
                <a16:creationId xmlns:a16="http://schemas.microsoft.com/office/drawing/2014/main" id="{F3EFF6C1-0011-26B1-EDDA-48ADCCF42456}"/>
              </a:ext>
            </a:extLst>
          </p:cNvPr>
          <p:cNvSpPr txBox="1"/>
          <p:nvPr/>
        </p:nvSpPr>
        <p:spPr>
          <a:xfrm>
            <a:off x="1577653" y="6128088"/>
            <a:ext cx="857245"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0070C0"/>
                </a:solidFill>
                <a:effectLst/>
                <a:uLnTx/>
                <a:uFillTx/>
                <a:latin typeface="Nunito Sans"/>
                <a:ea typeface="+mn-ea"/>
                <a:cs typeface="+mn-cs"/>
              </a:rPr>
              <a:t>Delivered</a:t>
            </a:r>
            <a:endParaRPr kumimoji="0" lang="en-IN" sz="1000" b="0" i="0" u="none" strike="noStrike" kern="1200" cap="none" spc="0" normalizeH="0" baseline="0" noProof="0">
              <a:ln>
                <a:noFill/>
              </a:ln>
              <a:solidFill>
                <a:srgbClr val="000000"/>
              </a:solidFill>
              <a:effectLst/>
              <a:uLnTx/>
              <a:uFillTx/>
              <a:latin typeface="Nunito Sans"/>
              <a:ea typeface="+mn-ea"/>
              <a:cs typeface="+mn-cs"/>
            </a:endParaRPr>
          </a:p>
        </p:txBody>
      </p:sp>
      <p:sp>
        <p:nvSpPr>
          <p:cNvPr id="25" name="TextBox 18">
            <a:extLst>
              <a:ext uri="{FF2B5EF4-FFF2-40B4-BE49-F238E27FC236}">
                <a16:creationId xmlns:a16="http://schemas.microsoft.com/office/drawing/2014/main" id="{243661C4-2F0F-4188-2612-E8D3C8E92B6F}"/>
              </a:ext>
            </a:extLst>
          </p:cNvPr>
          <p:cNvSpPr txBox="1"/>
          <p:nvPr/>
        </p:nvSpPr>
        <p:spPr>
          <a:xfrm>
            <a:off x="1576055" y="6353047"/>
            <a:ext cx="1032881"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00B050"/>
                </a:solidFill>
                <a:effectLst/>
                <a:uLnTx/>
                <a:uFillTx/>
                <a:latin typeface="Nunito Sans"/>
                <a:ea typeface="+mn-ea"/>
                <a:cs typeface="+mn-cs"/>
              </a:rPr>
              <a:t>Ontrack</a:t>
            </a:r>
            <a:endParaRPr kumimoji="0" lang="en-IN" sz="1000" b="0" i="0" u="none" strike="noStrike" kern="1200" cap="none" spc="0" normalizeH="0" baseline="0" noProof="0">
              <a:ln>
                <a:noFill/>
              </a:ln>
              <a:solidFill>
                <a:srgbClr val="000000"/>
              </a:solidFill>
              <a:effectLst/>
              <a:uLnTx/>
              <a:uFillTx/>
              <a:latin typeface="Nunito Sans"/>
              <a:ea typeface="+mn-ea"/>
              <a:cs typeface="+mn-cs"/>
            </a:endParaRPr>
          </a:p>
        </p:txBody>
      </p:sp>
      <p:sp>
        <p:nvSpPr>
          <p:cNvPr id="26" name="TextBox 20">
            <a:extLst>
              <a:ext uri="{FF2B5EF4-FFF2-40B4-BE49-F238E27FC236}">
                <a16:creationId xmlns:a16="http://schemas.microsoft.com/office/drawing/2014/main" id="{4F91B4D7-144F-3D7C-37D9-39E716FDD08D}"/>
              </a:ext>
            </a:extLst>
          </p:cNvPr>
          <p:cNvSpPr txBox="1"/>
          <p:nvPr/>
        </p:nvSpPr>
        <p:spPr>
          <a:xfrm>
            <a:off x="2794133" y="6156187"/>
            <a:ext cx="2257628"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FED9A0">
                    <a:lumMod val="75000"/>
                  </a:srgbClr>
                </a:solidFill>
                <a:effectLst/>
                <a:uLnTx/>
                <a:uFillTx/>
                <a:latin typeface="Nunito Sans"/>
                <a:ea typeface="+mn-ea"/>
                <a:cs typeface="+mn-cs"/>
              </a:rPr>
              <a:t>Under delay and can be recovered</a:t>
            </a:r>
            <a:endParaRPr kumimoji="0" lang="en-IN" sz="1000" b="0" i="0" u="none" strike="noStrike" kern="1200" cap="none" spc="0" normalizeH="0" baseline="0" noProof="0">
              <a:ln>
                <a:noFill/>
              </a:ln>
              <a:solidFill>
                <a:srgbClr val="000000"/>
              </a:solidFill>
              <a:effectLst/>
              <a:uLnTx/>
              <a:uFillTx/>
              <a:latin typeface="Nunito Sans"/>
              <a:ea typeface="+mn-ea"/>
              <a:cs typeface="+mn-cs"/>
            </a:endParaRPr>
          </a:p>
        </p:txBody>
      </p:sp>
      <p:sp>
        <p:nvSpPr>
          <p:cNvPr id="27" name="TextBox 22">
            <a:extLst>
              <a:ext uri="{FF2B5EF4-FFF2-40B4-BE49-F238E27FC236}">
                <a16:creationId xmlns:a16="http://schemas.microsoft.com/office/drawing/2014/main" id="{1DB4BBC0-F3CE-4330-E67C-B02881D77119}"/>
              </a:ext>
            </a:extLst>
          </p:cNvPr>
          <p:cNvSpPr txBox="1"/>
          <p:nvPr/>
        </p:nvSpPr>
        <p:spPr>
          <a:xfrm>
            <a:off x="2798836" y="6372771"/>
            <a:ext cx="2338222"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FF0000"/>
                </a:solidFill>
                <a:effectLst/>
                <a:uLnTx/>
                <a:uFillTx/>
                <a:latin typeface="Nunito Sans"/>
                <a:ea typeface="+mn-ea"/>
                <a:cs typeface="+mn-cs"/>
              </a:rPr>
              <a:t>Delayed and pushed to next release</a:t>
            </a:r>
          </a:p>
        </p:txBody>
      </p:sp>
      <p:graphicFrame>
        <p:nvGraphicFramePr>
          <p:cNvPr id="5" name="Table 4">
            <a:extLst>
              <a:ext uri="{FF2B5EF4-FFF2-40B4-BE49-F238E27FC236}">
                <a16:creationId xmlns:a16="http://schemas.microsoft.com/office/drawing/2014/main" id="{248C913B-33C7-B142-9459-BBD40F7A539F}"/>
              </a:ext>
            </a:extLst>
          </p:cNvPr>
          <p:cNvGraphicFramePr>
            <a:graphicFrameLocks noGrp="1"/>
          </p:cNvGraphicFramePr>
          <p:nvPr>
            <p:extLst>
              <p:ext uri="{D42A27DB-BD31-4B8C-83A1-F6EECF244321}">
                <p14:modId xmlns:p14="http://schemas.microsoft.com/office/powerpoint/2010/main" val="2902542661"/>
              </p:ext>
            </p:extLst>
          </p:nvPr>
        </p:nvGraphicFramePr>
        <p:xfrm>
          <a:off x="1474079" y="2646556"/>
          <a:ext cx="10592835" cy="1280160"/>
        </p:xfrm>
        <a:graphic>
          <a:graphicData uri="http://schemas.openxmlformats.org/drawingml/2006/table">
            <a:tbl>
              <a:tblPr firstRow="1" bandRow="1">
                <a:tableStyleId>{5C22544A-7EE6-4342-B048-85BDC9FD1C3A}</a:tableStyleId>
              </a:tblPr>
              <a:tblGrid>
                <a:gridCol w="1737785">
                  <a:extLst>
                    <a:ext uri="{9D8B030D-6E8A-4147-A177-3AD203B41FA5}">
                      <a16:colId xmlns:a16="http://schemas.microsoft.com/office/drawing/2014/main" val="2822350773"/>
                    </a:ext>
                  </a:extLst>
                </a:gridCol>
                <a:gridCol w="1737785">
                  <a:extLst>
                    <a:ext uri="{9D8B030D-6E8A-4147-A177-3AD203B41FA5}">
                      <a16:colId xmlns:a16="http://schemas.microsoft.com/office/drawing/2014/main" val="2669513633"/>
                    </a:ext>
                  </a:extLst>
                </a:gridCol>
                <a:gridCol w="5373583">
                  <a:extLst>
                    <a:ext uri="{9D8B030D-6E8A-4147-A177-3AD203B41FA5}">
                      <a16:colId xmlns:a16="http://schemas.microsoft.com/office/drawing/2014/main" val="99588705"/>
                    </a:ext>
                  </a:extLst>
                </a:gridCol>
                <a:gridCol w="1743682">
                  <a:extLst>
                    <a:ext uri="{9D8B030D-6E8A-4147-A177-3AD203B41FA5}">
                      <a16:colId xmlns:a16="http://schemas.microsoft.com/office/drawing/2014/main" val="1739073323"/>
                    </a:ext>
                  </a:extLst>
                </a:gridCol>
              </a:tblGrid>
              <a:tr h="214726">
                <a:tc>
                  <a:txBody>
                    <a:bodyPr/>
                    <a:lstStyle/>
                    <a:p>
                      <a:pPr marL="0" lvl="0" indent="0" algn="ctr" defTabSz="914400" rtl="0">
                        <a:lnSpc>
                          <a:spcPct val="100000"/>
                        </a:lnSpc>
                        <a:buFont typeface="Arial" panose="020B0604020202020204" pitchFamily="34" charset="0"/>
                        <a:buNone/>
                      </a:pPr>
                      <a:r>
                        <a:rPr lang="en-IN" sz="1100" b="1" kern="1200">
                          <a:solidFill>
                            <a:schemeClr val="bg1"/>
                          </a:solidFill>
                          <a:latin typeface="+mn-lt"/>
                          <a:ea typeface="+mn-ea"/>
                          <a:cs typeface="+mn-cs"/>
                        </a:rPr>
                        <a:t>Initiatives</a:t>
                      </a:r>
                      <a:endParaRPr lang="en-US" sz="1100" b="1"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tc>
                  <a:txBody>
                    <a:bodyPr/>
                    <a:lstStyle/>
                    <a:p>
                      <a:pPr marL="0" lvl="0" indent="0" algn="ctr" defTabSz="914400">
                        <a:lnSpc>
                          <a:spcPct val="100000"/>
                        </a:lnSpc>
                        <a:buNone/>
                      </a:pPr>
                      <a:r>
                        <a:rPr lang="en-IN" sz="1100" b="1" i="0" u="none" strike="noStrike" kern="1200" noProof="0">
                          <a:solidFill>
                            <a:schemeClr val="bg1"/>
                          </a:solidFill>
                          <a:latin typeface="Nunito Sans"/>
                          <a:ea typeface="+mn-ea"/>
                          <a:cs typeface="+mn-cs"/>
                        </a:rPr>
                        <a:t>Programs/Projects</a:t>
                      </a:r>
                      <a:endParaRPr lang="en-US"/>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solidFill>
                      <a:schemeClr val="accent3">
                        <a:lumMod val="90000"/>
                        <a:lumOff val="10000"/>
                      </a:schemeClr>
                    </a:solidFill>
                  </a:tcPr>
                </a:tc>
                <a:tc>
                  <a:txBody>
                    <a:bodyPr/>
                    <a:lstStyle/>
                    <a:p>
                      <a:pPr marL="0" indent="0" algn="ctr" defTabSz="914400" rtl="0" eaLnBrk="1" latinLnBrk="0" hangingPunct="1">
                        <a:buFont typeface="Arial" panose="020B0604020202020204" pitchFamily="34" charset="0"/>
                        <a:buNone/>
                      </a:pPr>
                      <a:r>
                        <a:rPr lang="en-IN" sz="1100" kern="1200">
                          <a:solidFill>
                            <a:schemeClr val="bg1"/>
                          </a:solidFill>
                          <a:latin typeface="+mn-lt"/>
                          <a:ea typeface="+mn-ea"/>
                          <a:cs typeface="+mn-cs"/>
                        </a:rPr>
                        <a:t>Value Justification/Realization</a:t>
                      </a:r>
                      <a:endParaRPr lang="en-US" sz="1100"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tc>
                  <a:txBody>
                    <a:bodyPr/>
                    <a:lstStyle/>
                    <a:p>
                      <a:pPr marL="0" indent="0" algn="ctr" defTabSz="914400" rtl="0" eaLnBrk="1" latinLnBrk="0" hangingPunct="1">
                        <a:buFont typeface="Arial" panose="020B0604020202020204" pitchFamily="34" charset="0"/>
                        <a:buNone/>
                      </a:pPr>
                      <a:r>
                        <a:rPr lang="en-US" sz="1100" kern="1200">
                          <a:solidFill>
                            <a:schemeClr val="bg1"/>
                          </a:solidFill>
                          <a:latin typeface="+mn-lt"/>
                          <a:ea typeface="+mn-ea"/>
                          <a:cs typeface="+mn-cs"/>
                        </a:rPr>
                        <a:t>Go-live Date</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extLst>
                  <a:ext uri="{0D108BD9-81ED-4DB2-BD59-A6C34878D82A}">
                    <a16:rowId xmlns:a16="http://schemas.microsoft.com/office/drawing/2014/main" val="844450115"/>
                  </a:ext>
                </a:extLst>
              </a:tr>
              <a:tr h="157957">
                <a:tc>
                  <a:txBody>
                    <a:bodyPr/>
                    <a:lstStyle/>
                    <a:p>
                      <a:pPr lvl="0">
                        <a:buNone/>
                      </a:pPr>
                      <a:r>
                        <a:rPr lang="en-US" sz="1100" b="1" i="0" u="none" strike="noStrike" kern="1200" noProof="0">
                          <a:solidFill>
                            <a:srgbClr val="05B050"/>
                          </a:solidFill>
                          <a:latin typeface="Aptos"/>
                          <a:ea typeface="+mn-ea"/>
                          <a:cs typeface="+mn-cs"/>
                        </a:rPr>
                        <a:t>Hard Alert De-assignment Enhancement</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lvl="0" indent="0" algn="l">
                        <a:lnSpc>
                          <a:spcPct val="100000"/>
                        </a:lnSpc>
                        <a:buNone/>
                      </a:pPr>
                      <a:r>
                        <a:rPr lang="en-US" sz="1100" b="0" kern="1200">
                          <a:solidFill>
                            <a:schemeClr val="tx1"/>
                          </a:solidFill>
                          <a:latin typeface="+mn-lt"/>
                          <a:ea typeface="+mn-ea"/>
                          <a:cs typeface="+mn-cs"/>
                        </a:rPr>
                        <a:t>IOCC Automation</a:t>
                      </a: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marL="0" lvl="0" indent="0" algn="l">
                        <a:buNone/>
                      </a:pPr>
                      <a:r>
                        <a:rPr lang="en-US" sz="1100" b="0" i="0" u="none" strike="noStrike" noProof="0">
                          <a:solidFill>
                            <a:schemeClr val="tx1"/>
                          </a:solidFill>
                          <a:latin typeface="Aptos"/>
                        </a:rPr>
                        <a:t>Auto De-assignment of Hard Alerts after 3hrs for Flying Duty and after 6 hrs for Training Duty if the IOCC controller doesnot take action through human in the loop action.</a:t>
                      </a:r>
                    </a:p>
                    <a:p>
                      <a:pPr marL="0" lvl="0" indent="0" algn="l">
                        <a:buNone/>
                      </a:pPr>
                      <a:r>
                        <a:rPr lang="en-US" sz="1100" b="0" i="0" u="none" strike="noStrike" noProof="0">
                          <a:solidFill>
                            <a:schemeClr val="tx1"/>
                          </a:solidFill>
                          <a:latin typeface="Aptos"/>
                        </a:rPr>
                        <a:t>16 hrs rolling window for Hard Alerts , Notification changes , Category addition etc.</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lvl="0" indent="0" algn="l">
                        <a:buNone/>
                      </a:pPr>
                      <a:r>
                        <a:rPr lang="en-US" sz="1100" b="0" i="0" u="none" strike="noStrike" noProof="0">
                          <a:solidFill>
                            <a:schemeClr val="tx1"/>
                          </a:solidFill>
                          <a:latin typeface="Arial"/>
                          <a:cs typeface="Arial"/>
                        </a:rPr>
                        <a:t>23-AUG-2026</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443371065"/>
                  </a:ext>
                </a:extLst>
              </a:tr>
              <a:tr h="157957">
                <a:tc>
                  <a:txBody>
                    <a:bodyPr/>
                    <a:lstStyle/>
                    <a:p>
                      <a:pPr marL="0" lvl="0" indent="0" algn="l">
                        <a:lnSpc>
                          <a:spcPct val="100000"/>
                        </a:lnSpc>
                        <a:buNone/>
                      </a:pPr>
                      <a:r>
                        <a:rPr lang="en-US" sz="1100" b="1" i="0" u="none" strike="noStrike" kern="1200" noProof="0" err="1">
                          <a:solidFill>
                            <a:srgbClr val="00B050"/>
                          </a:solidFill>
                          <a:latin typeface="Nunito Sans"/>
                          <a:ea typeface="+mn-ea"/>
                          <a:cs typeface="+mn-cs"/>
                        </a:rPr>
                        <a:t>SkyFam</a:t>
                      </a:r>
                      <a:r>
                        <a:rPr lang="en-US" sz="1100" b="1" i="0" u="none" strike="noStrike" kern="1200" noProof="0">
                          <a:solidFill>
                            <a:srgbClr val="00B050"/>
                          </a:solidFill>
                          <a:latin typeface="Nunito Sans"/>
                          <a:ea typeface="+mn-ea"/>
                          <a:cs typeface="+mn-cs"/>
                        </a:rPr>
                        <a:t> RPA Automation</a:t>
                      </a:r>
                      <a:endParaRPr lang="en-US" b="1">
                        <a:solidFill>
                          <a:srgbClr val="00B050"/>
                        </a:solidFill>
                      </a:endParaRP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marL="0" lvl="0" indent="0" algn="l">
                        <a:lnSpc>
                          <a:spcPct val="100000"/>
                        </a:lnSpc>
                        <a:buNone/>
                      </a:pPr>
                      <a:r>
                        <a:rPr lang="en-US" sz="1100" b="0" i="0" u="none" strike="noStrike" kern="1200" noProof="0">
                          <a:solidFill>
                            <a:schemeClr val="tx1"/>
                          </a:solidFill>
                          <a:latin typeface="Nunito Sans"/>
                          <a:ea typeface="+mn-ea"/>
                          <a:cs typeface="+mn-cs"/>
                        </a:rPr>
                        <a:t>RPA Automation</a:t>
                      </a:r>
                      <a:endParaRPr lang="en-US" b="0">
                        <a:solidFill>
                          <a:schemeClr val="tx1"/>
                        </a:solidFill>
                      </a:endParaRP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marL="0" lvl="0" indent="0" algn="l">
                        <a:buNone/>
                      </a:pPr>
                      <a:r>
                        <a:rPr lang="en-US" sz="1100" b="0" i="0" u="none" strike="noStrike" noProof="0">
                          <a:solidFill>
                            <a:srgbClr val="000000"/>
                          </a:solidFill>
                          <a:latin typeface="Nunito Sans"/>
                        </a:rPr>
                        <a:t>New Admin Screen and Non-Admin Screen changes in RPA Automation flow. </a:t>
                      </a:r>
                      <a:endParaRPr lang="en-US"/>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marL="0" lvl="0" indent="0" algn="l">
                        <a:buNone/>
                      </a:pPr>
                      <a:r>
                        <a:rPr lang="en-US" sz="1100" b="0" i="0" u="none" strike="noStrike" noProof="0">
                          <a:solidFill>
                            <a:srgbClr val="000000"/>
                          </a:solidFill>
                          <a:latin typeface="Arial"/>
                          <a:cs typeface="Arial"/>
                        </a:rPr>
                        <a:t>TBD  (To be given by HR Tech)</a:t>
                      </a:r>
                      <a:endParaRPr lang="en-US"/>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35243468"/>
                  </a:ext>
                </a:extLst>
              </a:tr>
            </a:tbl>
          </a:graphicData>
        </a:graphic>
      </p:graphicFrame>
      <p:graphicFrame>
        <p:nvGraphicFramePr>
          <p:cNvPr id="7" name="Table 6">
            <a:extLst>
              <a:ext uri="{FF2B5EF4-FFF2-40B4-BE49-F238E27FC236}">
                <a16:creationId xmlns:a16="http://schemas.microsoft.com/office/drawing/2014/main" id="{D3BAFD31-DA11-6E58-5233-B2376A121793}"/>
              </a:ext>
            </a:extLst>
          </p:cNvPr>
          <p:cNvGraphicFramePr>
            <a:graphicFrameLocks noGrp="1"/>
          </p:cNvGraphicFramePr>
          <p:nvPr>
            <p:extLst>
              <p:ext uri="{D42A27DB-BD31-4B8C-83A1-F6EECF244321}">
                <p14:modId xmlns:p14="http://schemas.microsoft.com/office/powerpoint/2010/main" val="217108781"/>
              </p:ext>
            </p:extLst>
          </p:nvPr>
        </p:nvGraphicFramePr>
        <p:xfrm>
          <a:off x="1463193" y="4037258"/>
          <a:ext cx="10592835" cy="1630680"/>
        </p:xfrm>
        <a:graphic>
          <a:graphicData uri="http://schemas.openxmlformats.org/drawingml/2006/table">
            <a:tbl>
              <a:tblPr firstRow="1" bandRow="1">
                <a:tableStyleId>{5C22544A-7EE6-4342-B048-85BDC9FD1C3A}</a:tableStyleId>
              </a:tblPr>
              <a:tblGrid>
                <a:gridCol w="1737785">
                  <a:extLst>
                    <a:ext uri="{9D8B030D-6E8A-4147-A177-3AD203B41FA5}">
                      <a16:colId xmlns:a16="http://schemas.microsoft.com/office/drawing/2014/main" val="2822350773"/>
                    </a:ext>
                  </a:extLst>
                </a:gridCol>
                <a:gridCol w="1737785">
                  <a:extLst>
                    <a:ext uri="{9D8B030D-6E8A-4147-A177-3AD203B41FA5}">
                      <a16:colId xmlns:a16="http://schemas.microsoft.com/office/drawing/2014/main" val="2669513633"/>
                    </a:ext>
                  </a:extLst>
                </a:gridCol>
                <a:gridCol w="5373583">
                  <a:extLst>
                    <a:ext uri="{9D8B030D-6E8A-4147-A177-3AD203B41FA5}">
                      <a16:colId xmlns:a16="http://schemas.microsoft.com/office/drawing/2014/main" val="99588705"/>
                    </a:ext>
                  </a:extLst>
                </a:gridCol>
                <a:gridCol w="1743682">
                  <a:extLst>
                    <a:ext uri="{9D8B030D-6E8A-4147-A177-3AD203B41FA5}">
                      <a16:colId xmlns:a16="http://schemas.microsoft.com/office/drawing/2014/main" val="1739073323"/>
                    </a:ext>
                  </a:extLst>
                </a:gridCol>
              </a:tblGrid>
              <a:tr h="214726">
                <a:tc>
                  <a:txBody>
                    <a:bodyPr/>
                    <a:lstStyle/>
                    <a:p>
                      <a:pPr marL="0" lvl="0" indent="0" algn="ctr" defTabSz="914400" rtl="0">
                        <a:lnSpc>
                          <a:spcPct val="100000"/>
                        </a:lnSpc>
                        <a:buFont typeface="Arial" panose="020B0604020202020204" pitchFamily="34" charset="0"/>
                        <a:buNone/>
                      </a:pPr>
                      <a:r>
                        <a:rPr lang="en-IN" sz="1100" b="1" kern="1200">
                          <a:solidFill>
                            <a:schemeClr val="bg1"/>
                          </a:solidFill>
                          <a:latin typeface="+mn-lt"/>
                          <a:ea typeface="+mn-ea"/>
                          <a:cs typeface="+mn-cs"/>
                        </a:rPr>
                        <a:t>Initiatives</a:t>
                      </a:r>
                      <a:endParaRPr lang="en-US" sz="1100" b="1"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tc>
                  <a:txBody>
                    <a:bodyPr/>
                    <a:lstStyle/>
                    <a:p>
                      <a:pPr marL="0" lvl="0" indent="0" algn="ctr" defTabSz="914400">
                        <a:lnSpc>
                          <a:spcPct val="100000"/>
                        </a:lnSpc>
                        <a:buNone/>
                      </a:pPr>
                      <a:r>
                        <a:rPr lang="en-IN" sz="1100" b="1" i="0" u="none" strike="noStrike" kern="1200" noProof="0">
                          <a:solidFill>
                            <a:schemeClr val="bg1"/>
                          </a:solidFill>
                          <a:latin typeface="Nunito Sans"/>
                          <a:ea typeface="+mn-ea"/>
                          <a:cs typeface="+mn-cs"/>
                        </a:rPr>
                        <a:t>Programs/Projects</a:t>
                      </a:r>
                      <a:endParaRPr lang="en-US"/>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solidFill>
                      <a:schemeClr val="accent3">
                        <a:lumMod val="90000"/>
                        <a:lumOff val="10000"/>
                      </a:schemeClr>
                    </a:solidFill>
                  </a:tcPr>
                </a:tc>
                <a:tc>
                  <a:txBody>
                    <a:bodyPr/>
                    <a:lstStyle/>
                    <a:p>
                      <a:pPr marL="0" indent="0" algn="ctr" defTabSz="914400" rtl="0" eaLnBrk="1" latinLnBrk="0" hangingPunct="1">
                        <a:buFont typeface="Arial" panose="020B0604020202020204" pitchFamily="34" charset="0"/>
                        <a:buNone/>
                      </a:pPr>
                      <a:r>
                        <a:rPr lang="en-IN" sz="1100" kern="1200">
                          <a:solidFill>
                            <a:schemeClr val="bg1"/>
                          </a:solidFill>
                          <a:latin typeface="+mn-lt"/>
                          <a:ea typeface="+mn-ea"/>
                          <a:cs typeface="+mn-cs"/>
                        </a:rPr>
                        <a:t>Value Justification/Realization</a:t>
                      </a:r>
                      <a:endParaRPr lang="en-US" sz="1100"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tc>
                  <a:txBody>
                    <a:bodyPr/>
                    <a:lstStyle/>
                    <a:p>
                      <a:pPr marL="0" indent="0" algn="ctr" defTabSz="914400" rtl="0" eaLnBrk="1" latinLnBrk="0" hangingPunct="1">
                        <a:buFont typeface="Arial" panose="020B0604020202020204" pitchFamily="34" charset="0"/>
                        <a:buNone/>
                      </a:pPr>
                      <a:r>
                        <a:rPr lang="en-US" sz="1100" kern="1200">
                          <a:solidFill>
                            <a:schemeClr val="bg1"/>
                          </a:solidFill>
                          <a:latin typeface="+mn-lt"/>
                          <a:ea typeface="+mn-ea"/>
                          <a:cs typeface="+mn-cs"/>
                        </a:rPr>
                        <a:t>Go-live Date</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extLst>
                  <a:ext uri="{0D108BD9-81ED-4DB2-BD59-A6C34878D82A}">
                    <a16:rowId xmlns:a16="http://schemas.microsoft.com/office/drawing/2014/main" val="844450115"/>
                  </a:ext>
                </a:extLst>
              </a:tr>
              <a:tr h="157957">
                <a:tc>
                  <a:txBody>
                    <a:bodyPr/>
                    <a:lstStyle/>
                    <a:p>
                      <a:pPr lvl="0" algn="l">
                        <a:lnSpc>
                          <a:spcPct val="100000"/>
                        </a:lnSpc>
                        <a:spcBef>
                          <a:spcPts val="0"/>
                        </a:spcBef>
                        <a:spcAft>
                          <a:spcPts val="0"/>
                        </a:spcAft>
                        <a:buNone/>
                      </a:pPr>
                      <a:r>
                        <a:rPr lang="en-US" sz="1100" b="1" i="0" u="none" strike="noStrike" kern="1200" noProof="0">
                          <a:solidFill>
                            <a:srgbClr val="05B050"/>
                          </a:solidFill>
                          <a:latin typeface="Nunito Sans"/>
                          <a:ea typeface="+mn-ea"/>
                          <a:cs typeface="+mn-cs"/>
                        </a:rPr>
                        <a:t>Security Exception-Enabling on SNOW and myAI : Phase 3</a:t>
                      </a:r>
                      <a:endParaRPr lang="en-US"/>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lvl="0" indent="0" algn="l">
                        <a:lnSpc>
                          <a:spcPct val="100000"/>
                        </a:lnSpc>
                        <a:buNone/>
                      </a:pPr>
                      <a:endParaRPr lang="en-US" sz="1100" b="0" kern="1200">
                        <a:solidFill>
                          <a:schemeClr val="tx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lvl="0" indent="0" algn="l">
                        <a:buNone/>
                      </a:pPr>
                      <a:r>
                        <a:rPr lang="en-US" sz="1100" b="0" i="0" u="none" strike="noStrike" noProof="0">
                          <a:solidFill>
                            <a:srgbClr val="000000"/>
                          </a:solidFill>
                          <a:latin typeface="Nunito Sans"/>
                        </a:rPr>
                        <a:t>Phase 3 – Security Exceptions SR from myAI + DG</a:t>
                      </a:r>
                      <a:endParaRPr lang="en-US"/>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lvl="0" indent="0" algn="l">
                        <a:buNone/>
                      </a:pPr>
                      <a:r>
                        <a:rPr lang="en-US" sz="1100" b="0" i="0" u="none" strike="noStrike" noProof="0">
                          <a:solidFill>
                            <a:schemeClr val="tx1"/>
                          </a:solidFill>
                          <a:latin typeface="Arial"/>
                          <a:cs typeface="Arial"/>
                        </a:rPr>
                        <a:t>29-SEP-2026</a:t>
                      </a:r>
                      <a:endParaRPr lang="en-US"/>
                    </a:p>
                  </a:txBody>
                  <a:tcPr anchor="ctr">
                    <a:lnL w="6350" cap="flat" cmpd="sng" algn="ctr">
                      <a:solidFill>
                        <a:schemeClr val="bg1">
                          <a:lumMod val="75000"/>
                        </a:schemeClr>
                      </a:solidFill>
                      <a:prstDash val="solid"/>
                      <a:round/>
                      <a:headEnd type="none" w="med" len="med"/>
                      <a:tailEnd type="none" w="med" len="med"/>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959550173"/>
                  </a:ext>
                </a:extLst>
              </a:tr>
              <a:tr h="157957">
                <a:tc>
                  <a:txBody>
                    <a:bodyPr/>
                    <a:lstStyle/>
                    <a:p>
                      <a:pPr marL="0" lvl="0" indent="0" algn="l">
                        <a:lnSpc>
                          <a:spcPct val="100000"/>
                        </a:lnSpc>
                        <a:buNone/>
                      </a:pPr>
                      <a:endParaRPr lang="en-US" sz="1100" b="1" kern="1200">
                        <a:solidFill>
                          <a:srgbClr val="016FBC"/>
                        </a:solidFill>
                        <a:latin typeface="+mn-lt"/>
                        <a:ea typeface="+mn-ea"/>
                        <a:cs typeface="+mn-cs"/>
                      </a:endParaRPr>
                    </a:p>
                  </a:txBody>
                  <a:tcPr anchor="ctr">
                    <a:lnL w="6350">
                      <a:solidFill>
                        <a:schemeClr val="bg1">
                          <a:lumMod val="75000"/>
                        </a:schemeClr>
                      </a:solidFill>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a:solidFill>
                        <a:schemeClr val="bg1">
                          <a:lumMod val="75000"/>
                        </a:schemeClr>
                      </a:solidFill>
                    </a:lnB>
                    <a:noFill/>
                  </a:tcPr>
                </a:tc>
                <a:tc>
                  <a:txBody>
                    <a:bodyPr/>
                    <a:lstStyle/>
                    <a:p>
                      <a:pPr marL="0" lvl="0" indent="0" algn="l">
                        <a:lnSpc>
                          <a:spcPct val="100000"/>
                        </a:lnSpc>
                        <a:buNone/>
                      </a:pPr>
                      <a:endParaRPr lang="en-US" sz="1100" b="0" i="0" u="none" strike="noStrike" kern="1200" noProof="0">
                        <a:solidFill>
                          <a:schemeClr val="tx1"/>
                        </a:solidFill>
                        <a:latin typeface="Nunito Sans"/>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lvl="0" indent="0" algn="l">
                        <a:buNone/>
                      </a:pPr>
                      <a:endParaRPr lang="en-US" sz="1100"/>
                    </a:p>
                  </a:txBody>
                  <a:tcPr anchor="ctr">
                    <a:lnL w="6350">
                      <a:solidFill>
                        <a:schemeClr val="bg1">
                          <a:lumMod val="75000"/>
                        </a:schemeClr>
                      </a:solidFill>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a:solidFill>
                        <a:schemeClr val="bg1">
                          <a:lumMod val="75000"/>
                        </a:schemeClr>
                      </a:solidFill>
                    </a:lnB>
                    <a:noFill/>
                  </a:tcPr>
                </a:tc>
                <a:tc>
                  <a:txBody>
                    <a:bodyPr/>
                    <a:lstStyle/>
                    <a:p>
                      <a:pPr marL="0" lvl="0" indent="0" algn="l">
                        <a:buNone/>
                      </a:pPr>
                      <a:endParaRPr lang="en-US" sz="1100" b="0" i="0" u="none" strike="noStrike" noProof="0">
                        <a:solidFill>
                          <a:srgbClr val="0070C0"/>
                        </a:solidFill>
                        <a:latin typeface="Arial"/>
                        <a:cs typeface="Arial"/>
                      </a:endParaRPr>
                    </a:p>
                  </a:txBody>
                  <a:tcPr anchor="ctr">
                    <a:lnL w="6350">
                      <a:solidFill>
                        <a:schemeClr val="bg1">
                          <a:lumMod val="75000"/>
                        </a:schemeClr>
                      </a:solidFill>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088972275"/>
                  </a:ext>
                </a:extLst>
              </a:tr>
              <a:tr h="157957">
                <a:tc>
                  <a:txBody>
                    <a:bodyPr/>
                    <a:lstStyle/>
                    <a:p>
                      <a:pPr marL="0" lvl="0" indent="0" algn="l">
                        <a:lnSpc>
                          <a:spcPct val="100000"/>
                        </a:lnSpc>
                        <a:buNone/>
                      </a:pPr>
                      <a:endParaRPr lang="en-US" sz="1100" b="1" i="0" u="none" strike="noStrike" kern="1200" noProof="0">
                        <a:solidFill>
                          <a:srgbClr val="00B050"/>
                        </a:solidFill>
                        <a:latin typeface="Nunito Sans"/>
                        <a:ea typeface="+mn-ea"/>
                        <a:cs typeface="+mn-cs"/>
                      </a:endParaRP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marL="0" lvl="0" indent="0" algn="l">
                        <a:lnSpc>
                          <a:spcPct val="100000"/>
                        </a:lnSpc>
                        <a:buNone/>
                      </a:pPr>
                      <a:endParaRPr lang="en-US" sz="1100" b="0" i="0" u="none" strike="noStrike" kern="1200" noProof="0">
                        <a:solidFill>
                          <a:schemeClr val="tx1"/>
                        </a:solidFill>
                        <a:latin typeface="Nunito Sans"/>
                        <a:ea typeface="+mn-ea"/>
                        <a:cs typeface="+mn-cs"/>
                      </a:endParaRP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marL="0" lvl="0" indent="0" algn="l">
                        <a:buNone/>
                      </a:pPr>
                      <a:endParaRPr lang="en-US" sz="1100" b="0" i="0" u="none" strike="noStrike" noProof="0">
                        <a:solidFill>
                          <a:srgbClr val="000000"/>
                        </a:solidFill>
                        <a:latin typeface="Nunito Sans"/>
                      </a:endParaRP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marL="0" lvl="0" indent="0" algn="l">
                        <a:buNone/>
                      </a:pPr>
                      <a:endParaRPr lang="en-US" sz="1100" b="0" i="0" u="none" strike="noStrike" noProof="0">
                        <a:solidFill>
                          <a:srgbClr val="000000"/>
                        </a:solidFill>
                        <a:latin typeface="Arial"/>
                        <a:cs typeface="Arial"/>
                      </a:endParaRP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069997494"/>
                  </a:ext>
                </a:extLst>
              </a:tr>
              <a:tr h="157957">
                <a:tc>
                  <a:txBody>
                    <a:bodyPr/>
                    <a:lstStyle/>
                    <a:p>
                      <a:pPr marL="0" lvl="0" indent="0" algn="l">
                        <a:lnSpc>
                          <a:spcPct val="100000"/>
                        </a:lnSpc>
                        <a:buNone/>
                      </a:pPr>
                      <a:endParaRPr lang="en-US" sz="1100" b="1" kern="1200">
                        <a:solidFill>
                          <a:srgbClr val="00B050"/>
                        </a:solidFill>
                        <a:latin typeface="+mn-lt"/>
                        <a:ea typeface="+mn-ea"/>
                        <a:cs typeface="+mn-cs"/>
                      </a:endParaRP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marL="0" lvl="0" indent="0" algn="l">
                        <a:lnSpc>
                          <a:spcPct val="100000"/>
                        </a:lnSpc>
                        <a:buNone/>
                      </a:pPr>
                      <a:endParaRPr lang="en-US" sz="1100" b="0" kern="1200">
                        <a:solidFill>
                          <a:schemeClr val="tx1"/>
                        </a:solidFill>
                        <a:latin typeface="+mn-lt"/>
                        <a:ea typeface="+mn-ea"/>
                        <a:cs typeface="+mn-cs"/>
                      </a:endParaRP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marL="0" lvl="0" indent="0" algn="l">
                        <a:buNone/>
                      </a:pPr>
                      <a:endParaRPr lang="en-US" sz="1100"/>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marL="0" lvl="0" indent="0" algn="l" rtl="0">
                        <a:buFont typeface="Arial" panose="020B0604020202020204" pitchFamily="34" charset="0"/>
                        <a:buNone/>
                      </a:pPr>
                      <a:endParaRPr lang="en-US" sz="1100" b="0" i="0" u="none" strike="noStrike" noProof="0">
                        <a:latin typeface="Arial"/>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599387848"/>
                  </a:ext>
                </a:extLst>
              </a:tr>
            </a:tbl>
          </a:graphicData>
        </a:graphic>
      </p:graphicFrame>
      <p:sp>
        <p:nvSpPr>
          <p:cNvPr id="8" name="Rectangle 7">
            <a:extLst>
              <a:ext uri="{FF2B5EF4-FFF2-40B4-BE49-F238E27FC236}">
                <a16:creationId xmlns:a16="http://schemas.microsoft.com/office/drawing/2014/main" id="{DC9704D6-B49B-C7B5-BBD4-65BB692E040C}"/>
              </a:ext>
            </a:extLst>
          </p:cNvPr>
          <p:cNvSpPr/>
          <p:nvPr/>
        </p:nvSpPr>
        <p:spPr>
          <a:xfrm>
            <a:off x="299058" y="2647065"/>
            <a:ext cx="1170432" cy="42234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defRPr/>
            </a:pPr>
            <a:r>
              <a:rPr lang="en-IN" sz="1400" b="1">
                <a:solidFill>
                  <a:srgbClr val="FFFFFF"/>
                </a:solidFill>
                <a:latin typeface="AirIndia"/>
              </a:rPr>
              <a:t>Aug </a:t>
            </a:r>
            <a:r>
              <a:rPr kumimoji="0" lang="en-IN" sz="1400" b="1" i="0" u="none" strike="noStrike" kern="1200" cap="none" spc="0" normalizeH="0" baseline="0" noProof="0">
                <a:ln>
                  <a:noFill/>
                </a:ln>
                <a:solidFill>
                  <a:srgbClr val="FFFFFF"/>
                </a:solidFill>
                <a:effectLst/>
                <a:uLnTx/>
                <a:uFillTx/>
                <a:latin typeface="AirIndia"/>
              </a:rPr>
              <a:t>‘</a:t>
            </a:r>
            <a:r>
              <a:rPr lang="en-IN" sz="1400" b="1">
                <a:solidFill>
                  <a:srgbClr val="FFFFFF"/>
                </a:solidFill>
                <a:latin typeface="AirIndia"/>
              </a:rPr>
              <a:t>26</a:t>
            </a:r>
            <a:endParaRPr kumimoji="0" lang="en-US" sz="1400" b="1" i="0" u="none" strike="noStrike" kern="1200" cap="none" spc="0" normalizeH="0" baseline="0" noProof="0">
              <a:ln>
                <a:noFill/>
              </a:ln>
              <a:solidFill>
                <a:srgbClr val="FFFFFF"/>
              </a:solidFill>
              <a:effectLst/>
              <a:uLnTx/>
              <a:uFillTx/>
              <a:latin typeface="AirIndia" panose="04050608020B02020302" charset="0"/>
              <a:ea typeface="+mn-ea"/>
              <a:cs typeface="+mn-cs"/>
            </a:endParaRPr>
          </a:p>
        </p:txBody>
      </p:sp>
      <p:sp>
        <p:nvSpPr>
          <p:cNvPr id="10" name="Rectangle 9">
            <a:extLst>
              <a:ext uri="{FF2B5EF4-FFF2-40B4-BE49-F238E27FC236}">
                <a16:creationId xmlns:a16="http://schemas.microsoft.com/office/drawing/2014/main" id="{BAFAB989-AB65-EAC3-57E0-51A6A7934BB3}"/>
              </a:ext>
            </a:extLst>
          </p:cNvPr>
          <p:cNvSpPr/>
          <p:nvPr/>
        </p:nvSpPr>
        <p:spPr>
          <a:xfrm>
            <a:off x="287851" y="4020406"/>
            <a:ext cx="1170432" cy="42234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400" b="1">
                <a:solidFill>
                  <a:srgbClr val="FFFFFF"/>
                </a:solidFill>
                <a:latin typeface="AirIndia"/>
              </a:rPr>
              <a:t>Sep</a:t>
            </a:r>
            <a:r>
              <a:rPr kumimoji="0" lang="en-IN" sz="1400" b="1" i="0" u="none" strike="noStrike" kern="1200" cap="none" spc="0" normalizeH="0" baseline="0" noProof="0">
                <a:ln>
                  <a:noFill/>
                </a:ln>
                <a:solidFill>
                  <a:srgbClr val="FFFFFF"/>
                </a:solidFill>
                <a:effectLst/>
                <a:uLnTx/>
                <a:uFillTx/>
                <a:latin typeface="AirIndia"/>
              </a:rPr>
              <a:t> ‘</a:t>
            </a:r>
            <a:r>
              <a:rPr lang="en-IN" sz="1400" b="1">
                <a:solidFill>
                  <a:srgbClr val="FFFFFF"/>
                </a:solidFill>
                <a:latin typeface="AirIndia"/>
              </a:rPr>
              <a:t>26</a:t>
            </a:r>
            <a:endParaRPr kumimoji="0" lang="en-US" sz="1400" b="1" i="0" u="none" strike="noStrike" kern="1200" cap="none" spc="0" normalizeH="0" baseline="0" noProof="0">
              <a:ln>
                <a:noFill/>
              </a:ln>
              <a:solidFill>
                <a:srgbClr val="FFFFFF"/>
              </a:solidFill>
              <a:effectLst/>
              <a:uLnTx/>
              <a:uFillTx/>
              <a:latin typeface="AirIndia" panose="04050608020B02020302" charset="0"/>
              <a:ea typeface="+mn-ea"/>
              <a:cs typeface="+mn-cs"/>
            </a:endParaRPr>
          </a:p>
        </p:txBody>
      </p:sp>
    </p:spTree>
    <p:extLst>
      <p:ext uri="{BB962C8B-B14F-4D97-AF65-F5344CB8AC3E}">
        <p14:creationId xmlns:p14="http://schemas.microsoft.com/office/powerpoint/2010/main" val="259088633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4E39DF-8024-C0C6-BC46-FF79138292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599E92-6642-CB2E-0B4C-9A0736866FD5}"/>
              </a:ext>
            </a:extLst>
          </p:cNvPr>
          <p:cNvSpPr>
            <a:spLocks noGrp="1"/>
          </p:cNvSpPr>
          <p:nvPr>
            <p:ph type="title"/>
          </p:nvPr>
        </p:nvSpPr>
        <p:spPr>
          <a:xfrm>
            <a:off x="1838597" y="1225296"/>
            <a:ext cx="8514805" cy="757110"/>
          </a:xfrm>
        </p:spPr>
        <p:txBody>
          <a:bodyPr/>
          <a:lstStyle/>
          <a:p>
            <a:r>
              <a:rPr lang="en-US" sz="3200">
                <a:latin typeface="AirIndia"/>
              </a:rPr>
              <a:t>B2E Apps &amp; Channel – FY26-27/Q1</a:t>
            </a:r>
            <a:endParaRPr lang="en-IN" sz="3200"/>
          </a:p>
        </p:txBody>
      </p:sp>
    </p:spTree>
    <p:extLst>
      <p:ext uri="{BB962C8B-B14F-4D97-AF65-F5344CB8AC3E}">
        <p14:creationId xmlns:p14="http://schemas.microsoft.com/office/powerpoint/2010/main" val="59128079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D5E902-6F71-E224-2AD0-08BACBD25265}"/>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F40F1B4-EF1C-40D4-73A2-E8064DD44910}"/>
              </a:ext>
            </a:extLst>
          </p:cNvPr>
          <p:cNvSpPr>
            <a:spLocks noGrp="1"/>
          </p:cNvSpPr>
          <p:nvPr>
            <p:ph type="sldNum" sz="quarter" idx="12"/>
          </p:nvPr>
        </p:nvSpPr>
        <p:spPr/>
        <p:txBody>
          <a:bodyPr/>
          <a:lstStyle/>
          <a:p>
            <a:fld id="{3A41A254-7326-714E-AF55-4C213D6394DE}" type="slidenum">
              <a:rPr lang="en-US" sz="900" smtClean="0">
                <a:latin typeface="Montserrat Light" pitchFamily="2" charset="0"/>
              </a:rPr>
              <a:pPr/>
              <a:t>64</a:t>
            </a:fld>
            <a:endParaRPr lang="en-US" sz="900">
              <a:latin typeface="Montserrat Light" pitchFamily="2" charset="0"/>
            </a:endParaRPr>
          </a:p>
        </p:txBody>
      </p:sp>
      <p:sp>
        <p:nvSpPr>
          <p:cNvPr id="6" name="Title 11">
            <a:extLst>
              <a:ext uri="{FF2B5EF4-FFF2-40B4-BE49-F238E27FC236}">
                <a16:creationId xmlns:a16="http://schemas.microsoft.com/office/drawing/2014/main" id="{E1D2BAF7-6C7D-EB9A-3F16-8BEE856DDDAE}"/>
              </a:ext>
            </a:extLst>
          </p:cNvPr>
          <p:cNvSpPr txBox="1">
            <a:spLocks/>
          </p:cNvSpPr>
          <p:nvPr/>
        </p:nvSpPr>
        <p:spPr>
          <a:xfrm>
            <a:off x="304800" y="269218"/>
            <a:ext cx="8420100" cy="396638"/>
          </a:xfrm>
          <a:prstGeom prst="rect">
            <a:avLst/>
          </a:prstGeom>
        </p:spPr>
        <p:txBody>
          <a:bodyPr lIns="91440" tIns="45720" rIns="91440" bIns="45720" anchor="t">
            <a:noAutofit/>
          </a:bodyPr>
          <a:lstStyle>
            <a:lvl1pPr algn="l" defTabSz="914400" rtl="0" eaLnBrk="1" latinLnBrk="0" hangingPunct="1">
              <a:lnSpc>
                <a:spcPct val="90000"/>
              </a:lnSpc>
              <a:spcBef>
                <a:spcPct val="0"/>
              </a:spcBef>
              <a:buNone/>
              <a:defRPr sz="4400" b="1" i="0" kern="1200">
                <a:solidFill>
                  <a:schemeClr val="tx1"/>
                </a:solidFill>
                <a:latin typeface="AirIndia" pitchFamily="82" charset="77"/>
                <a:ea typeface="+mj-ea"/>
                <a:cs typeface="+mj-cs"/>
              </a:defRPr>
            </a:lvl1pPr>
          </a:lstStyle>
          <a:p>
            <a:r>
              <a:rPr lang="en-US" sz="1800" err="1">
                <a:solidFill>
                  <a:srgbClr val="C00000"/>
                </a:solidFill>
                <a:latin typeface="AirIndia"/>
              </a:rPr>
              <a:t>myAI</a:t>
            </a:r>
            <a:r>
              <a:rPr lang="en-US" sz="1800">
                <a:solidFill>
                  <a:srgbClr val="C00000"/>
                </a:solidFill>
                <a:latin typeface="AirIndia"/>
              </a:rPr>
              <a:t> - </a:t>
            </a:r>
            <a:r>
              <a:rPr lang="en-US" sz="1800">
                <a:solidFill>
                  <a:srgbClr val="DA0E28"/>
                </a:solidFill>
                <a:latin typeface="AirIndia"/>
              </a:rPr>
              <a:t>FY26-27 Q1 Release Plan</a:t>
            </a:r>
            <a:endParaRPr lang="en-US" sz="1800" b="0">
              <a:solidFill>
                <a:srgbClr val="000000"/>
              </a:solidFill>
              <a:latin typeface="AirIndia"/>
            </a:endParaRPr>
          </a:p>
          <a:p>
            <a:endParaRPr lang="en-US" sz="1800">
              <a:solidFill>
                <a:srgbClr val="C00000"/>
              </a:solidFill>
              <a:latin typeface="AirIndia"/>
            </a:endParaRPr>
          </a:p>
        </p:txBody>
      </p:sp>
      <p:graphicFrame>
        <p:nvGraphicFramePr>
          <p:cNvPr id="4" name="Table 3">
            <a:extLst>
              <a:ext uri="{FF2B5EF4-FFF2-40B4-BE49-F238E27FC236}">
                <a16:creationId xmlns:a16="http://schemas.microsoft.com/office/drawing/2014/main" id="{B08A4709-FE67-0C6A-9D3D-1F21443EF71F}"/>
              </a:ext>
            </a:extLst>
          </p:cNvPr>
          <p:cNvGraphicFramePr>
            <a:graphicFrameLocks noGrp="1"/>
          </p:cNvGraphicFramePr>
          <p:nvPr>
            <p:extLst>
              <p:ext uri="{D42A27DB-BD31-4B8C-83A1-F6EECF244321}">
                <p14:modId xmlns:p14="http://schemas.microsoft.com/office/powerpoint/2010/main" val="2333082041"/>
              </p:ext>
            </p:extLst>
          </p:nvPr>
        </p:nvGraphicFramePr>
        <p:xfrm>
          <a:off x="1090849" y="792699"/>
          <a:ext cx="10895339" cy="5646420"/>
        </p:xfrm>
        <a:graphic>
          <a:graphicData uri="http://schemas.openxmlformats.org/drawingml/2006/table">
            <a:tbl>
              <a:tblPr firstRow="1" bandRow="1">
                <a:tableStyleId>{5C22544A-7EE6-4342-B048-85BDC9FD1C3A}</a:tableStyleId>
              </a:tblPr>
              <a:tblGrid>
                <a:gridCol w="1715558">
                  <a:extLst>
                    <a:ext uri="{9D8B030D-6E8A-4147-A177-3AD203B41FA5}">
                      <a16:colId xmlns:a16="http://schemas.microsoft.com/office/drawing/2014/main" val="1118630623"/>
                    </a:ext>
                  </a:extLst>
                </a:gridCol>
                <a:gridCol w="7410173">
                  <a:extLst>
                    <a:ext uri="{9D8B030D-6E8A-4147-A177-3AD203B41FA5}">
                      <a16:colId xmlns:a16="http://schemas.microsoft.com/office/drawing/2014/main" val="99588705"/>
                    </a:ext>
                  </a:extLst>
                </a:gridCol>
                <a:gridCol w="479502">
                  <a:extLst>
                    <a:ext uri="{9D8B030D-6E8A-4147-A177-3AD203B41FA5}">
                      <a16:colId xmlns:a16="http://schemas.microsoft.com/office/drawing/2014/main" val="1136596785"/>
                    </a:ext>
                  </a:extLst>
                </a:gridCol>
                <a:gridCol w="615256">
                  <a:extLst>
                    <a:ext uri="{9D8B030D-6E8A-4147-A177-3AD203B41FA5}">
                      <a16:colId xmlns:a16="http://schemas.microsoft.com/office/drawing/2014/main" val="2674722935"/>
                    </a:ext>
                  </a:extLst>
                </a:gridCol>
                <a:gridCol w="674850">
                  <a:extLst>
                    <a:ext uri="{9D8B030D-6E8A-4147-A177-3AD203B41FA5}">
                      <a16:colId xmlns:a16="http://schemas.microsoft.com/office/drawing/2014/main" val="1883815041"/>
                    </a:ext>
                  </a:extLst>
                </a:gridCol>
              </a:tblGrid>
              <a:tr h="383416">
                <a:tc>
                  <a:txBody>
                    <a:bodyPr/>
                    <a:lstStyle/>
                    <a:p>
                      <a:pPr marL="0" lvl="0" indent="0" algn="ctr" defTabSz="914400">
                        <a:lnSpc>
                          <a:spcPct val="100000"/>
                        </a:lnSpc>
                        <a:buNone/>
                      </a:pPr>
                      <a:r>
                        <a:rPr lang="en-IN" sz="1100" b="1" i="0" u="none" strike="noStrike" kern="1200" noProof="0">
                          <a:solidFill>
                            <a:schemeClr val="bg1"/>
                          </a:solidFill>
                          <a:latin typeface="Avenir Next LT Pro Light"/>
                          <a:ea typeface="+mn-ea"/>
                          <a:cs typeface="+mn-cs"/>
                        </a:rPr>
                        <a:t>Projects</a:t>
                      </a:r>
                      <a:endParaRPr lang="en-US"/>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12700" cap="flat" cmpd="sng" algn="ctr">
                      <a:solidFill>
                        <a:schemeClr val="tx1"/>
                      </a:solidFill>
                      <a:prstDash val="solid"/>
                      <a:round/>
                      <a:headEnd type="none" w="med" len="med"/>
                      <a:tailEnd type="none" w="med" len="med"/>
                    </a:lnB>
                    <a:solidFill>
                      <a:srgbClr val="002060"/>
                    </a:solidFill>
                  </a:tcPr>
                </a:tc>
                <a:tc>
                  <a:txBody>
                    <a:bodyPr/>
                    <a:lstStyle/>
                    <a:p>
                      <a:pPr lvl="0" algn="ctr">
                        <a:lnSpc>
                          <a:spcPct val="100000"/>
                        </a:lnSpc>
                        <a:spcBef>
                          <a:spcPts val="0"/>
                        </a:spcBef>
                        <a:spcAft>
                          <a:spcPts val="0"/>
                        </a:spcAft>
                        <a:buNone/>
                      </a:pPr>
                      <a:r>
                        <a:rPr lang="en-IN" sz="1100" b="1" i="0" u="none" strike="noStrike" kern="1200" noProof="0">
                          <a:solidFill>
                            <a:srgbClr val="FFFFFF"/>
                          </a:solidFill>
                          <a:latin typeface="Nunito Sans"/>
                          <a:ea typeface="+mn-ea"/>
                          <a:cs typeface="+mn-cs"/>
                        </a:rPr>
                        <a:t>Value Justification/Realization</a:t>
                      </a:r>
                    </a:p>
                    <a:p>
                      <a:pPr marL="0" lvl="0" indent="0" algn="l" defTabSz="914400">
                        <a:buFont typeface="Arial" panose="020B0604020202020204" pitchFamily="34" charset="0"/>
                        <a:buNone/>
                      </a:pPr>
                      <a:endParaRPr lang="en-IN" sz="1050" kern="1200">
                        <a:solidFill>
                          <a:schemeClr val="bg1"/>
                        </a:solidFill>
                        <a:latin typeface="Avenir Next LT Pro Ligh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a:txBody>
                    <a:bodyPr/>
                    <a:lstStyle/>
                    <a:p>
                      <a:pPr marL="0" indent="0" algn="ctr" defTabSz="914400" rtl="0" eaLnBrk="1" latinLnBrk="0" hangingPunct="1">
                        <a:buFont typeface="Arial" panose="020B0604020202020204" pitchFamily="34" charset="0"/>
                        <a:buNone/>
                      </a:pPr>
                      <a:r>
                        <a:rPr lang="en-US" sz="1050" kern="1200">
                          <a:solidFill>
                            <a:schemeClr val="bg1"/>
                          </a:solidFill>
                          <a:latin typeface="Avenir Next LT Pro Light"/>
                          <a:ea typeface="+mn-ea"/>
                          <a:cs typeface="+mn-cs"/>
                        </a:rPr>
                        <a:t>Web</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a:txBody>
                    <a:bodyPr/>
                    <a:lstStyle/>
                    <a:p>
                      <a:pPr marL="0" indent="0" algn="ctr" defTabSz="914400" rtl="0" eaLnBrk="1" latinLnBrk="0" hangingPunct="1">
                        <a:buFont typeface="Arial" panose="020B0604020202020204" pitchFamily="34" charset="0"/>
                        <a:buNone/>
                      </a:pPr>
                      <a:r>
                        <a:rPr lang="en-US" sz="1050" kern="1200">
                          <a:solidFill>
                            <a:schemeClr val="bg1"/>
                          </a:solidFill>
                          <a:latin typeface="Avenir Next LT Pro Light"/>
                          <a:ea typeface="+mn-ea"/>
                          <a:cs typeface="+mn-cs"/>
                        </a:rPr>
                        <a:t>Mobile Native</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a:txBody>
                    <a:bodyPr/>
                    <a:lstStyle/>
                    <a:p>
                      <a:pPr marL="0" lvl="0" indent="0" algn="ctr">
                        <a:buNone/>
                      </a:pPr>
                      <a:r>
                        <a:rPr lang="en-US" sz="1050" kern="1200">
                          <a:solidFill>
                            <a:schemeClr val="bg1"/>
                          </a:solidFill>
                          <a:latin typeface="Avenir Next LT Pro Light"/>
                          <a:ea typeface="+mn-ea"/>
                          <a:cs typeface="+mn-cs"/>
                        </a:rPr>
                        <a:t>Go Live Date</a:t>
                      </a: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12700">
                      <a:solidFill>
                        <a:schemeClr val="tx1"/>
                      </a:solidFill>
                    </a:lnB>
                    <a:solidFill>
                      <a:srgbClr val="002060"/>
                    </a:solidFill>
                  </a:tcPr>
                </a:tc>
                <a:extLst>
                  <a:ext uri="{0D108BD9-81ED-4DB2-BD59-A6C34878D82A}">
                    <a16:rowId xmlns:a16="http://schemas.microsoft.com/office/drawing/2014/main" val="844450115"/>
                  </a:ext>
                </a:extLst>
              </a:tr>
              <a:tr h="2241826">
                <a:tc>
                  <a:txBody>
                    <a:bodyPr/>
                    <a:lstStyle/>
                    <a:p>
                      <a:pPr lvl="0" algn="l">
                        <a:lnSpc>
                          <a:spcPct val="100000"/>
                        </a:lnSpc>
                        <a:spcBef>
                          <a:spcPts val="0"/>
                        </a:spcBef>
                        <a:spcAft>
                          <a:spcPts val="0"/>
                        </a:spcAft>
                        <a:buNone/>
                      </a:pPr>
                      <a:r>
                        <a:rPr lang="en-US" sz="1100" b="1" i="0" u="none" strike="noStrike" kern="1200" noProof="0">
                          <a:solidFill>
                            <a:schemeClr val="bg1">
                              <a:lumMod val="76000"/>
                            </a:schemeClr>
                          </a:solidFill>
                          <a:latin typeface="Nunito Sans"/>
                          <a:ea typeface="+mn-ea"/>
                          <a:cs typeface="+mn-cs"/>
                        </a:rPr>
                        <a:t>Digitizing Pilot and Crew Records</a:t>
                      </a:r>
                      <a:endParaRPr lang="en-IN" sz="1100" b="0" i="0" u="none" strike="noStrike" kern="1200" noProof="0">
                        <a:solidFill>
                          <a:schemeClr val="bg1">
                            <a:lumMod val="76000"/>
                          </a:schemeClr>
                        </a:solidFill>
                        <a:latin typeface="Nunito Sans"/>
                        <a:ea typeface="+mn-ea"/>
                        <a:cs typeface="+mn-cs"/>
                      </a:endParaRPr>
                    </a:p>
                  </a:txBody>
                  <a:tcPr anchor="ctr">
                    <a:lnL w="12700">
                      <a:solidFill>
                        <a:schemeClr val="tx1"/>
                      </a:solidFill>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171450" marR="0" lvl="0" indent="-171450" algn="l" rtl="0">
                        <a:lnSpc>
                          <a:spcPct val="100000"/>
                        </a:lnSpc>
                        <a:buClr>
                          <a:srgbClr val="000000"/>
                        </a:buClr>
                        <a:buSzTx/>
                        <a:buFont typeface="Arial,Sans-Serif"/>
                        <a:buChar char="•"/>
                      </a:pPr>
                      <a:r>
                        <a:rPr lang="en-IN" sz="1100" b="1" i="0" u="none" strike="noStrike" kern="1200" noProof="0">
                          <a:solidFill>
                            <a:srgbClr val="000000"/>
                          </a:solidFill>
                          <a:effectLst/>
                          <a:latin typeface="Nunito Sans"/>
                          <a:ea typeface="+mn-ea"/>
                          <a:cs typeface="+mn-cs"/>
                        </a:rPr>
                        <a:t>Pilot and Crew Document Management </a:t>
                      </a:r>
                      <a:r>
                        <a:rPr lang="en-IN" sz="1100" b="0" i="0" u="none" strike="noStrike" kern="1200" noProof="0">
                          <a:solidFill>
                            <a:srgbClr val="000000"/>
                          </a:solidFill>
                          <a:effectLst/>
                          <a:latin typeface="Nunito Sans"/>
                          <a:ea typeface="+mn-ea"/>
                          <a:cs typeface="+mn-cs"/>
                        </a:rPr>
                        <a:t>flows for pilots to manage their digital license/qualifications with OCR-based data integration for data extraction</a:t>
                      </a:r>
                      <a:endParaRPr lang="en-US" sz="1100" b="0" i="0" u="none" strike="noStrike" kern="1200" noProof="0">
                        <a:solidFill>
                          <a:srgbClr val="000000"/>
                        </a:solidFill>
                        <a:effectLst/>
                        <a:latin typeface="Nunito Sans"/>
                        <a:ea typeface="+mn-ea"/>
                        <a:cs typeface="+mn-cs"/>
                      </a:endParaRPr>
                    </a:p>
                    <a:p>
                      <a:pPr marL="171450" lvl="0" indent="-171450">
                        <a:lnSpc>
                          <a:spcPct val="100000"/>
                        </a:lnSpc>
                        <a:spcBef>
                          <a:spcPts val="0"/>
                        </a:spcBef>
                        <a:spcAft>
                          <a:spcPts val="0"/>
                        </a:spcAft>
                        <a:buClr>
                          <a:srgbClr val="000000"/>
                        </a:buClr>
                        <a:buSzTx/>
                        <a:buFont typeface="Arial,Sans-Serif"/>
                        <a:buChar char="•"/>
                      </a:pPr>
                      <a:r>
                        <a:rPr lang="en-IN" sz="1100" b="1" i="0" u="none" strike="noStrike" kern="1200" noProof="0">
                          <a:solidFill>
                            <a:srgbClr val="000000"/>
                          </a:solidFill>
                          <a:effectLst/>
                          <a:latin typeface="Nunito Sans"/>
                          <a:ea typeface="+mn-ea"/>
                          <a:cs typeface="+mn-cs"/>
                        </a:rPr>
                        <a:t>Admin approval </a:t>
                      </a:r>
                      <a:r>
                        <a:rPr lang="en-IN" sz="1100" b="0" i="0" u="none" strike="noStrike" kern="1200" noProof="0">
                          <a:solidFill>
                            <a:srgbClr val="000000"/>
                          </a:solidFill>
                          <a:effectLst/>
                          <a:latin typeface="Nunito Sans"/>
                          <a:ea typeface="+mn-ea"/>
                          <a:cs typeface="+mn-cs"/>
                        </a:rPr>
                        <a:t>flows based on document type for compliance and accuracy </a:t>
                      </a:r>
                      <a:endParaRPr lang="en-US" sz="1100" b="0" i="0" u="none" strike="noStrike" kern="1200" noProof="0">
                        <a:solidFill>
                          <a:srgbClr val="000000"/>
                        </a:solidFill>
                        <a:effectLst/>
                        <a:latin typeface="Nunito Sans"/>
                        <a:ea typeface="+mn-ea"/>
                        <a:cs typeface="+mn-cs"/>
                      </a:endParaRPr>
                    </a:p>
                    <a:p>
                      <a:pPr marL="171450" lvl="0" indent="-171450">
                        <a:lnSpc>
                          <a:spcPct val="100000"/>
                        </a:lnSpc>
                        <a:spcBef>
                          <a:spcPts val="0"/>
                        </a:spcBef>
                        <a:spcAft>
                          <a:spcPts val="0"/>
                        </a:spcAft>
                        <a:buClr>
                          <a:srgbClr val="000000"/>
                        </a:buClr>
                        <a:buSzTx/>
                        <a:buFont typeface="Arial,Sans-Serif"/>
                        <a:buChar char="•"/>
                      </a:pPr>
                      <a:r>
                        <a:rPr lang="en-IN" sz="1100" b="1" i="0" u="none" strike="noStrike" kern="1200" noProof="0">
                          <a:solidFill>
                            <a:srgbClr val="000000"/>
                          </a:solidFill>
                          <a:effectLst/>
                          <a:latin typeface="Nunito Sans"/>
                          <a:ea typeface="+mn-ea"/>
                          <a:cs typeface="+mn-cs"/>
                        </a:rPr>
                        <a:t>Rule-based Business Engine</a:t>
                      </a:r>
                      <a:r>
                        <a:rPr lang="en-IN" sz="1100" b="0" i="0" u="none" strike="noStrike" kern="1200" noProof="0">
                          <a:solidFill>
                            <a:srgbClr val="000000"/>
                          </a:solidFill>
                          <a:effectLst/>
                          <a:latin typeface="Nunito Sans"/>
                          <a:ea typeface="+mn-ea"/>
                          <a:cs typeface="+mn-cs"/>
                        </a:rPr>
                        <a:t> for updates required in related license/qualification records to ensure regulatory compliance</a:t>
                      </a:r>
                      <a:endParaRPr lang="en-US" sz="1100" b="0" i="0" u="none" strike="noStrike" kern="1200" noProof="0">
                        <a:solidFill>
                          <a:srgbClr val="000000"/>
                        </a:solidFill>
                        <a:effectLst/>
                        <a:latin typeface="Nunito Sans"/>
                        <a:ea typeface="+mn-ea"/>
                        <a:cs typeface="+mn-cs"/>
                      </a:endParaRPr>
                    </a:p>
                    <a:p>
                      <a:pPr marL="171450" lvl="0" indent="-171450">
                        <a:lnSpc>
                          <a:spcPct val="100000"/>
                        </a:lnSpc>
                        <a:spcBef>
                          <a:spcPts val="0"/>
                        </a:spcBef>
                        <a:spcAft>
                          <a:spcPts val="0"/>
                        </a:spcAft>
                        <a:buClr>
                          <a:srgbClr val="000000"/>
                        </a:buClr>
                        <a:buSzTx/>
                        <a:buFont typeface="Arial,Sans-Serif"/>
                        <a:buChar char="•"/>
                      </a:pPr>
                      <a:r>
                        <a:rPr lang="en-IN" sz="1100" b="1" i="0" u="none" strike="noStrike" kern="1200" noProof="0">
                          <a:solidFill>
                            <a:srgbClr val="000000"/>
                          </a:solidFill>
                          <a:effectLst/>
                          <a:latin typeface="Nunito Sans"/>
                          <a:ea typeface="+mn-ea"/>
                          <a:cs typeface="+mn-cs"/>
                        </a:rPr>
                        <a:t>Notifications</a:t>
                      </a:r>
                      <a:r>
                        <a:rPr lang="en-IN" sz="1100" b="0" i="0" u="none" strike="noStrike" kern="1200" noProof="0">
                          <a:solidFill>
                            <a:srgbClr val="000000"/>
                          </a:solidFill>
                          <a:effectLst/>
                          <a:latin typeface="Nunito Sans"/>
                          <a:ea typeface="+mn-ea"/>
                          <a:cs typeface="+mn-cs"/>
                        </a:rPr>
                        <a:t>: Notifications to pilots for expiry, approval flow notifications etc. Admin team notifications for approval management</a:t>
                      </a:r>
                      <a:endParaRPr lang="en-US" sz="1100" b="0" i="0" u="none" strike="noStrike" kern="1200" noProof="0">
                        <a:solidFill>
                          <a:srgbClr val="000000"/>
                        </a:solidFill>
                        <a:effectLst/>
                        <a:latin typeface="Nunito Sans"/>
                        <a:ea typeface="+mn-ea"/>
                        <a:cs typeface="+mn-cs"/>
                      </a:endParaRPr>
                    </a:p>
                    <a:p>
                      <a:pPr marL="171450" marR="0" lvl="0" indent="-171450" algn="l">
                        <a:lnSpc>
                          <a:spcPct val="100000"/>
                        </a:lnSpc>
                        <a:spcBef>
                          <a:spcPts val="0"/>
                        </a:spcBef>
                        <a:spcAft>
                          <a:spcPts val="0"/>
                        </a:spcAft>
                        <a:buClr>
                          <a:srgbClr val="000000"/>
                        </a:buClr>
                        <a:buSzTx/>
                        <a:buFont typeface="Arial,Sans-Serif"/>
                        <a:buChar char="•"/>
                      </a:pPr>
                      <a:r>
                        <a:rPr lang="en-IN" sz="1100" b="1" i="0" u="none" strike="noStrike" kern="1200" noProof="0">
                          <a:solidFill>
                            <a:srgbClr val="000000"/>
                          </a:solidFill>
                          <a:effectLst/>
                          <a:latin typeface="Nunito Sans"/>
                          <a:ea typeface="+mn-ea"/>
                          <a:cs typeface="+mn-cs"/>
                        </a:rPr>
                        <a:t>System Integrations</a:t>
                      </a:r>
                      <a:r>
                        <a:rPr lang="en-IN" sz="1100" b="0" i="0" u="none" strike="noStrike" kern="1200" noProof="0">
                          <a:solidFill>
                            <a:srgbClr val="000000"/>
                          </a:solidFill>
                          <a:effectLst/>
                          <a:latin typeface="Nunito Sans"/>
                          <a:ea typeface="+mn-ea"/>
                          <a:cs typeface="+mn-cs"/>
                        </a:rPr>
                        <a:t>: with BotMinds (record management) and Crew Management systems (rostering updates)</a:t>
                      </a:r>
                      <a:endParaRPr lang="en-US" sz="1100" b="0" i="0" u="none" strike="noStrike" kern="1200" noProof="0">
                        <a:solidFill>
                          <a:srgbClr val="000000"/>
                        </a:solidFill>
                        <a:effectLst/>
                        <a:latin typeface="Nunito Sans"/>
                        <a:ea typeface="+mn-ea"/>
                        <a:cs typeface="+mn-cs"/>
                      </a:endParaRPr>
                    </a:p>
                    <a:p>
                      <a:pPr marL="171450" lvl="0" indent="-171450">
                        <a:lnSpc>
                          <a:spcPct val="100000"/>
                        </a:lnSpc>
                        <a:spcBef>
                          <a:spcPts val="0"/>
                        </a:spcBef>
                        <a:spcAft>
                          <a:spcPts val="0"/>
                        </a:spcAft>
                        <a:buClr>
                          <a:srgbClr val="000000"/>
                        </a:buClr>
                        <a:buSzTx/>
                        <a:buFont typeface="Arial,Sans-Serif"/>
                        <a:buChar char="•"/>
                      </a:pPr>
                      <a:r>
                        <a:rPr lang="en-IN" sz="1100" b="0" i="0" u="none" strike="noStrike" kern="1200" noProof="0">
                          <a:solidFill>
                            <a:srgbClr val="000000"/>
                          </a:solidFill>
                          <a:effectLst/>
                          <a:latin typeface="Nunito Sans"/>
                          <a:ea typeface="+mn-ea"/>
                          <a:cs typeface="+mn-cs"/>
                        </a:rPr>
                        <a:t>At launch capability will serve the following with separate flows for each :</a:t>
                      </a:r>
                      <a:endParaRPr lang="en-US" sz="1100" b="0" i="0" u="none" strike="noStrike" kern="1200" noProof="0">
                        <a:solidFill>
                          <a:srgbClr val="000000"/>
                        </a:solidFill>
                        <a:effectLst/>
                        <a:latin typeface="Nunito Sans"/>
                        <a:ea typeface="+mn-ea"/>
                        <a:cs typeface="+mn-cs"/>
                      </a:endParaRPr>
                    </a:p>
                    <a:p>
                      <a:pPr marL="628650" lvl="1" indent="-171450">
                        <a:lnSpc>
                          <a:spcPct val="100000"/>
                        </a:lnSpc>
                        <a:spcBef>
                          <a:spcPts val="0"/>
                        </a:spcBef>
                        <a:spcAft>
                          <a:spcPts val="0"/>
                        </a:spcAft>
                        <a:buClr>
                          <a:srgbClr val="000000"/>
                        </a:buClr>
                        <a:buSzTx/>
                        <a:buFont typeface="Arial,Sans-Serif"/>
                        <a:buChar char="•"/>
                      </a:pPr>
                      <a:r>
                        <a:rPr lang="en-IN" sz="1100" b="0" i="0" u="none" strike="noStrike" kern="1200" noProof="0">
                          <a:solidFill>
                            <a:srgbClr val="000000"/>
                          </a:solidFill>
                          <a:effectLst/>
                          <a:latin typeface="Nunito Sans"/>
                          <a:ea typeface="+mn-ea"/>
                          <a:cs typeface="+mn-cs"/>
                        </a:rPr>
                        <a:t>Licenses: 6 Types including Pilot and Crew License, Instrument Rating and Medical Record</a:t>
                      </a:r>
                      <a:endParaRPr lang="en-US" sz="1100" b="0" i="0" u="none" strike="noStrike" kern="1200" noProof="0">
                        <a:solidFill>
                          <a:srgbClr val="000000"/>
                        </a:solidFill>
                        <a:effectLst/>
                        <a:latin typeface="Nunito Sans"/>
                        <a:ea typeface="+mn-ea"/>
                        <a:cs typeface="+mn-cs"/>
                      </a:endParaRPr>
                    </a:p>
                    <a:p>
                      <a:pPr marL="628650" lvl="1" indent="-171450">
                        <a:lnSpc>
                          <a:spcPct val="100000"/>
                        </a:lnSpc>
                        <a:spcBef>
                          <a:spcPts val="0"/>
                        </a:spcBef>
                        <a:spcAft>
                          <a:spcPts val="0"/>
                        </a:spcAft>
                        <a:buClr>
                          <a:srgbClr val="000000"/>
                        </a:buClr>
                        <a:buSzTx/>
                        <a:buFont typeface="Arial,Sans-Serif"/>
                        <a:buChar char="•"/>
                      </a:pPr>
                      <a:r>
                        <a:rPr lang="en-IN" sz="1100" b="0" i="0" u="none" strike="noStrike" kern="1200" noProof="0">
                          <a:solidFill>
                            <a:srgbClr val="000000"/>
                          </a:solidFill>
                          <a:effectLst/>
                          <a:latin typeface="Nunito Sans"/>
                          <a:ea typeface="+mn-ea"/>
                          <a:cs typeface="+mn-cs"/>
                        </a:rPr>
                        <a:t>Document: 9 Types including Passport, Visa, AEP and Company ID</a:t>
                      </a:r>
                      <a:endParaRPr lang="en-US" sz="1100" b="0" i="0" u="none" strike="noStrike" kern="1200" noProof="0">
                        <a:solidFill>
                          <a:srgbClr val="000000"/>
                        </a:solidFill>
                        <a:effectLst/>
                        <a:latin typeface="Nunito Sans"/>
                        <a:ea typeface="+mn-ea"/>
                        <a:cs typeface="+mn-cs"/>
                      </a:endParaRPr>
                    </a:p>
                    <a:p>
                      <a:pPr marL="628650" lvl="1" indent="-171450">
                        <a:lnSpc>
                          <a:spcPct val="100000"/>
                        </a:lnSpc>
                        <a:spcBef>
                          <a:spcPts val="0"/>
                        </a:spcBef>
                        <a:spcAft>
                          <a:spcPts val="0"/>
                        </a:spcAft>
                        <a:buClr>
                          <a:srgbClr val="000000"/>
                        </a:buClr>
                        <a:buSzTx/>
                        <a:buFont typeface="Arial,Sans-Serif"/>
                        <a:buChar char="•"/>
                      </a:pPr>
                      <a:r>
                        <a:rPr lang="en-IN" sz="1100" b="0" i="0" u="none" strike="noStrike" kern="1200" noProof="0">
                          <a:solidFill>
                            <a:srgbClr val="000000"/>
                          </a:solidFill>
                          <a:effectLst/>
                          <a:latin typeface="Nunito Sans"/>
                          <a:ea typeface="+mn-ea"/>
                          <a:cs typeface="+mn-cs"/>
                        </a:rPr>
                        <a:t>Qualifications: ELP and 2 Medical Related</a:t>
                      </a:r>
                      <a:endParaRPr lang="en-US" sz="1100" b="0" i="0" u="none" strike="noStrike" kern="1200" noProof="0">
                        <a:solidFill>
                          <a:srgbClr val="000000"/>
                        </a:solidFill>
                        <a:effectLst/>
                        <a:latin typeface="Nunito Sans"/>
                        <a:ea typeface="+mn-ea"/>
                        <a:cs typeface="+mn-cs"/>
                      </a:endParaRPr>
                    </a:p>
                    <a:p>
                      <a:pPr marL="171450" marR="0" lvl="0" indent="-171450" algn="l">
                        <a:lnSpc>
                          <a:spcPct val="100000"/>
                        </a:lnSpc>
                        <a:spcBef>
                          <a:spcPts val="0"/>
                        </a:spcBef>
                        <a:spcAft>
                          <a:spcPts val="0"/>
                        </a:spcAft>
                        <a:buClr>
                          <a:srgbClr val="000000"/>
                        </a:buClr>
                        <a:buSzTx/>
                        <a:buFont typeface="Arial"/>
                        <a:buChar char="•"/>
                      </a:pPr>
                      <a:endParaRPr lang="en-GB" sz="1100" b="0" i="0" u="none" strike="noStrike" kern="1200" noProof="0">
                        <a:solidFill>
                          <a:schemeClr val="tx1"/>
                        </a:solidFill>
                        <a:effectLst/>
                        <a:latin typeface="Nunito Sans"/>
                        <a:ea typeface="+mn-ea"/>
                        <a:cs typeface="+mn-cs"/>
                      </a:endParaRPr>
                    </a:p>
                  </a:txBody>
                  <a:tcPr anchor="ctr">
                    <a:lnL w="12700" cap="flat" cmpd="sng" algn="ctr">
                      <a:solidFill>
                        <a:schemeClr val="tx1"/>
                      </a:solidFill>
                      <a:prstDash val="solid"/>
                      <a:round/>
                      <a:headEnd type="none" w="med" len="med"/>
                      <a:tailEnd type="none" w="med" len="med"/>
                    </a:lnL>
                    <a:lnR w="12700">
                      <a:solidFill>
                        <a:schemeClr val="tx1"/>
                      </a:solidFill>
                    </a:lnR>
                    <a:lnT w="12700">
                      <a:solidFill>
                        <a:schemeClr val="tx1"/>
                      </a:solidFill>
                    </a:lnT>
                    <a:lnB w="12700">
                      <a:solidFill>
                        <a:schemeClr val="tx1"/>
                      </a:solidFill>
                    </a:lnB>
                    <a:solidFill>
                      <a:schemeClr val="bg1"/>
                    </a:solidFill>
                  </a:tcPr>
                </a:tc>
                <a:tc>
                  <a:txBody>
                    <a:bodyPr/>
                    <a:lstStyle/>
                    <a:p>
                      <a:pPr marL="0" lvl="0" indent="0" algn="ctr" defTabSz="914400">
                        <a:lnSpc>
                          <a:spcPct val="100000"/>
                        </a:lnSpc>
                        <a:buFont typeface="Arial"/>
                        <a:buNone/>
                      </a:pPr>
                      <a:r>
                        <a:rPr lang="en-IN" sz="1100" b="0" i="0" u="none" strike="noStrike" noProof="0">
                          <a:solidFill>
                            <a:schemeClr val="tx1"/>
                          </a:solidFill>
                          <a:effectLst/>
                          <a:latin typeface="Nunito Sans"/>
                        </a:rPr>
                        <a:t>Y</a:t>
                      </a:r>
                    </a:p>
                  </a:txBody>
                  <a:tcPr marL="45720" marR="4572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marL="0" lvl="0" indent="0" algn="ctr" defTabSz="914400">
                        <a:lnSpc>
                          <a:spcPct val="100000"/>
                        </a:lnSpc>
                        <a:buFont typeface="Arial"/>
                        <a:buNone/>
                      </a:pPr>
                      <a:r>
                        <a:rPr lang="en-IN" sz="1100" b="0" i="0" u="none" strike="noStrike" noProof="0">
                          <a:solidFill>
                            <a:schemeClr val="tx1"/>
                          </a:solidFill>
                          <a:effectLst/>
                          <a:latin typeface="Nunito Sans"/>
                        </a:rPr>
                        <a:t>Y</a:t>
                      </a:r>
                    </a:p>
                  </a:txBody>
                  <a:tcPr marL="45720" marR="4572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marL="0" lvl="0" indent="0" algn="ctr">
                        <a:lnSpc>
                          <a:spcPct val="100000"/>
                        </a:lnSpc>
                        <a:buNone/>
                      </a:pPr>
                      <a:r>
                        <a:rPr lang="en-IN" sz="1100" b="0" i="0" u="none" strike="noStrike" noProof="0">
                          <a:solidFill>
                            <a:schemeClr val="tx1"/>
                          </a:solidFill>
                          <a:effectLst/>
                          <a:latin typeface="Nunito Sans"/>
                        </a:rPr>
                        <a:t>29th April</a:t>
                      </a:r>
                    </a:p>
                  </a:txBody>
                  <a:tcPr marL="45720" marR="4572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3951168155"/>
                  </a:ext>
                </a:extLst>
              </a:tr>
              <a:tr h="393779">
                <a:tc>
                  <a:txBody>
                    <a:bodyPr/>
                    <a:lstStyle/>
                    <a:p>
                      <a:pPr lvl="0" algn="l">
                        <a:lnSpc>
                          <a:spcPct val="100000"/>
                        </a:lnSpc>
                        <a:spcBef>
                          <a:spcPts val="0"/>
                        </a:spcBef>
                        <a:spcAft>
                          <a:spcPts val="0"/>
                        </a:spcAft>
                        <a:buNone/>
                      </a:pPr>
                      <a:r>
                        <a:rPr lang="en-US" sz="1100" b="1" i="0" u="none" strike="noStrike" kern="1200" noProof="0">
                          <a:solidFill>
                            <a:srgbClr val="000000"/>
                          </a:solidFill>
                          <a:latin typeface="Nunito Sans"/>
                          <a:ea typeface="+mn-ea"/>
                          <a:cs typeface="+mn-cs"/>
                        </a:rPr>
                        <a:t>Mobile Device Access for ABC Tool</a:t>
                      </a:r>
                      <a:endParaRPr lang="en-IN" sz="1100" b="0" i="0" u="none" strike="noStrike" kern="1200" noProof="0">
                        <a:solidFill>
                          <a:srgbClr val="000000"/>
                        </a:solidFill>
                        <a:latin typeface="Nunito Sans"/>
                        <a:ea typeface="+mn-ea"/>
                        <a:cs typeface="+mn-cs"/>
                      </a:endParaRPr>
                    </a:p>
                  </a:txBody>
                  <a:tcPr anchor="ctr">
                    <a:lnL w="12700">
                      <a:solidFill>
                        <a:schemeClr val="tx1"/>
                      </a:solidFill>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171450" marR="0" lvl="0" indent="-171450" algn="l" rtl="0">
                        <a:lnSpc>
                          <a:spcPts val="900"/>
                        </a:lnSpc>
                        <a:buClr>
                          <a:srgbClr val="000000"/>
                        </a:buClr>
                        <a:buSzTx/>
                        <a:buFont typeface="Arial,Sans-Serif"/>
                        <a:buChar char="•"/>
                      </a:pPr>
                      <a:r>
                        <a:rPr lang="en-IN" sz="1100" b="0" i="0" u="none" strike="noStrike" kern="1200" noProof="0">
                          <a:solidFill>
                            <a:srgbClr val="000000"/>
                          </a:solidFill>
                          <a:effectLst/>
                          <a:latin typeface="Nunito Sans"/>
                          <a:ea typeface="+mn-ea"/>
                          <a:cs typeface="+mn-cs"/>
                        </a:rPr>
                        <a:t>Allow access to ABC tool from mobile devices to enable on the go management of left behind baggage cases by the security team</a:t>
                      </a:r>
                      <a:endParaRPr lang="en-US" sz="1100" b="0" i="0" u="none" strike="noStrike" kern="1200" noProof="0">
                        <a:solidFill>
                          <a:srgbClr val="000000"/>
                        </a:solidFill>
                        <a:effectLst/>
                        <a:latin typeface="Nunito Sans"/>
                        <a:ea typeface="+mn-ea"/>
                        <a:cs typeface="+mn-cs"/>
                      </a:endParaRPr>
                    </a:p>
                  </a:txBody>
                  <a:tcPr anchor="ctr">
                    <a:lnL w="12700" cap="flat" cmpd="sng" algn="ctr">
                      <a:solidFill>
                        <a:schemeClr val="tx1"/>
                      </a:solidFill>
                      <a:prstDash val="solid"/>
                      <a:round/>
                      <a:headEnd type="none" w="med" len="med"/>
                      <a:tailEnd type="none" w="med" len="med"/>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marL="0" lvl="0" indent="0" algn="ctr">
                        <a:lnSpc>
                          <a:spcPct val="100000"/>
                        </a:lnSpc>
                        <a:spcBef>
                          <a:spcPts val="0"/>
                        </a:spcBef>
                        <a:spcAft>
                          <a:spcPts val="0"/>
                        </a:spcAft>
                        <a:buFont typeface="Arial" panose="020B0604020202020204" pitchFamily="34" charset="0"/>
                        <a:buNone/>
                      </a:pPr>
                      <a:r>
                        <a:rPr lang="en-GB" sz="1100" b="0" i="0" u="none" strike="noStrike" noProof="0">
                          <a:solidFill>
                            <a:srgbClr val="000000"/>
                          </a:solidFill>
                          <a:latin typeface="Nunito Sans"/>
                        </a:rPr>
                        <a:t>Y</a:t>
                      </a:r>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marL="0" lvl="0" indent="0" algn="ctr" defTabSz="914400">
                        <a:lnSpc>
                          <a:spcPct val="100000"/>
                        </a:lnSpc>
                        <a:buFont typeface="Arial"/>
                        <a:buNone/>
                      </a:pPr>
                      <a:r>
                        <a:rPr lang="en-IN" sz="1100" b="0" i="0" u="none" strike="noStrike" noProof="0">
                          <a:solidFill>
                            <a:schemeClr val="tx1"/>
                          </a:solidFill>
                          <a:effectLst/>
                          <a:latin typeface="Nunito Sans"/>
                        </a:rPr>
                        <a:t>N</a:t>
                      </a:r>
                    </a:p>
                  </a:txBody>
                  <a:tcPr marL="45720" marR="4572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lvl="0" algn="ctr">
                        <a:lnSpc>
                          <a:spcPct val="100000"/>
                        </a:lnSpc>
                        <a:spcBef>
                          <a:spcPts val="0"/>
                        </a:spcBef>
                        <a:spcAft>
                          <a:spcPts val="0"/>
                        </a:spcAft>
                        <a:buNone/>
                      </a:pPr>
                      <a:r>
                        <a:rPr lang="en-IN" sz="1100" b="0" i="0" u="none" strike="noStrike" noProof="0">
                          <a:solidFill>
                            <a:schemeClr val="tx1"/>
                          </a:solidFill>
                          <a:effectLst/>
                          <a:latin typeface="Nunito Sans"/>
                        </a:rPr>
                        <a:t>29th April</a:t>
                      </a:r>
                      <a:endParaRPr lang="en-IN" sz="1100" b="0" i="0" u="none" strike="noStrike" noProof="0">
                        <a:solidFill>
                          <a:srgbClr val="000000"/>
                        </a:solidFill>
                        <a:effectLst/>
                        <a:latin typeface="Nunito Sans"/>
                      </a:endParaRPr>
                    </a:p>
                  </a:txBody>
                  <a:tcPr marL="45720" marR="4572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3158025952"/>
                  </a:ext>
                </a:extLst>
              </a:tr>
              <a:tr h="393779">
                <a:tc>
                  <a:txBody>
                    <a:bodyPr/>
                    <a:lstStyle/>
                    <a:p>
                      <a:pPr lvl="0" algn="l">
                        <a:lnSpc>
                          <a:spcPct val="100000"/>
                        </a:lnSpc>
                        <a:spcBef>
                          <a:spcPts val="0"/>
                        </a:spcBef>
                        <a:spcAft>
                          <a:spcPts val="0"/>
                        </a:spcAft>
                        <a:buNone/>
                      </a:pPr>
                      <a:r>
                        <a:rPr lang="en-US" sz="1100" b="1" i="0" u="none" strike="noStrike" kern="1200" noProof="0">
                          <a:solidFill>
                            <a:schemeClr val="tx1"/>
                          </a:solidFill>
                          <a:latin typeface="Nunito Sans"/>
                          <a:ea typeface="+mn-ea"/>
                          <a:cs typeface="+mn-cs"/>
                        </a:rPr>
                        <a:t>QR based immigration for Crew</a:t>
                      </a:r>
                      <a:endParaRPr lang="en-IN" sz="1100" b="0" i="0" u="none" strike="noStrike" kern="1200" noProof="0">
                        <a:solidFill>
                          <a:srgbClr val="000000"/>
                        </a:solidFill>
                        <a:latin typeface="Nunito Sans"/>
                        <a:ea typeface="+mn-ea"/>
                        <a:cs typeface="+mn-cs"/>
                      </a:endParaRPr>
                    </a:p>
                  </a:txBody>
                  <a:tcPr anchor="ctr">
                    <a:lnL w="12700">
                      <a:solidFill>
                        <a:schemeClr val="tx1"/>
                      </a:solidFill>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171450" marR="0" lvl="0" indent="-171450" algn="l">
                        <a:lnSpc>
                          <a:spcPct val="100000"/>
                        </a:lnSpc>
                        <a:spcBef>
                          <a:spcPts val="0"/>
                        </a:spcBef>
                        <a:spcAft>
                          <a:spcPts val="0"/>
                        </a:spcAft>
                        <a:buClr>
                          <a:srgbClr val="000000"/>
                        </a:buClr>
                        <a:buFont typeface="Arial,Sans-Serif"/>
                        <a:buChar char="•"/>
                      </a:pPr>
                      <a:r>
                        <a:rPr lang="en-US" sz="1100" b="0" i="0" u="none" strike="noStrike" kern="1200" noProof="0">
                          <a:solidFill>
                            <a:schemeClr val="tx1"/>
                          </a:solidFill>
                          <a:effectLst/>
                          <a:latin typeface="Nunito Sans"/>
                          <a:ea typeface="+mn-ea"/>
                          <a:cs typeface="+mn-cs"/>
                        </a:rPr>
                        <a:t>Introducing QR code for faster immigration for crew from FTI – TTP Gates , eliminating need for manual processes and long wait time in queues</a:t>
                      </a:r>
                      <a:endParaRPr lang="en-US" sz="1100" b="0" i="0" u="none" strike="noStrike" kern="1200" noProof="0">
                        <a:solidFill>
                          <a:srgbClr val="000000"/>
                        </a:solidFill>
                        <a:effectLst/>
                        <a:latin typeface="Nunito Sans"/>
                        <a:ea typeface="+mn-ea"/>
                        <a:cs typeface="+mn-cs"/>
                      </a:endParaRPr>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marL="0" lvl="0" indent="0" algn="ctr">
                        <a:lnSpc>
                          <a:spcPct val="100000"/>
                        </a:lnSpc>
                        <a:spcBef>
                          <a:spcPts val="0"/>
                        </a:spcBef>
                        <a:spcAft>
                          <a:spcPts val="0"/>
                        </a:spcAft>
                        <a:buNone/>
                      </a:pPr>
                      <a:r>
                        <a:rPr lang="en-GB" sz="1100" b="0" i="0" u="none" strike="noStrike" noProof="0">
                          <a:solidFill>
                            <a:srgbClr val="000000"/>
                          </a:solidFill>
                          <a:latin typeface="Nunito Sans"/>
                        </a:rPr>
                        <a:t>Y</a:t>
                      </a:r>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marL="0" lvl="0" indent="0" algn="ctr" defTabSz="914400">
                        <a:lnSpc>
                          <a:spcPct val="100000"/>
                        </a:lnSpc>
                        <a:buNone/>
                      </a:pPr>
                      <a:r>
                        <a:rPr lang="en-IN" sz="1100" b="0" i="0" u="none" strike="noStrike" noProof="0">
                          <a:solidFill>
                            <a:schemeClr val="tx1"/>
                          </a:solidFill>
                          <a:effectLst/>
                          <a:latin typeface="Nunito Sans"/>
                        </a:rPr>
                        <a:t>Y</a:t>
                      </a:r>
                    </a:p>
                  </a:txBody>
                  <a:tcPr marL="45720" marR="4572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lvl="0" algn="ctr">
                        <a:lnSpc>
                          <a:spcPct val="100000"/>
                        </a:lnSpc>
                        <a:spcBef>
                          <a:spcPts val="0"/>
                        </a:spcBef>
                        <a:spcAft>
                          <a:spcPts val="0"/>
                        </a:spcAft>
                        <a:buNone/>
                      </a:pPr>
                      <a:r>
                        <a:rPr lang="en-IN" sz="1100" b="0" i="0" u="none" strike="noStrike" noProof="0">
                          <a:solidFill>
                            <a:schemeClr val="tx1"/>
                          </a:solidFill>
                          <a:effectLst/>
                          <a:latin typeface="Nunito Sans"/>
                        </a:rPr>
                        <a:t>29th April</a:t>
                      </a:r>
                      <a:endParaRPr lang="en-IN" sz="1100" b="0" i="0" u="none" strike="noStrike" noProof="0">
                        <a:solidFill>
                          <a:srgbClr val="000000"/>
                        </a:solidFill>
                        <a:effectLst/>
                        <a:latin typeface="Nunito Sans"/>
                      </a:endParaRPr>
                    </a:p>
                  </a:txBody>
                  <a:tcPr marL="45720" marR="4572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3554321325"/>
                  </a:ext>
                </a:extLst>
              </a:tr>
              <a:tr h="1948168">
                <a:tc>
                  <a:txBody>
                    <a:bodyPr/>
                    <a:lstStyle/>
                    <a:p>
                      <a:pPr lvl="0" algn="l">
                        <a:lnSpc>
                          <a:spcPct val="100000"/>
                        </a:lnSpc>
                        <a:spcBef>
                          <a:spcPts val="0"/>
                        </a:spcBef>
                        <a:spcAft>
                          <a:spcPts val="0"/>
                        </a:spcAft>
                        <a:buNone/>
                      </a:pPr>
                      <a:r>
                        <a:rPr lang="en-US" sz="1100" b="1" i="0" u="none" strike="noStrike" kern="1200" noProof="0">
                          <a:solidFill>
                            <a:schemeClr val="tx1"/>
                          </a:solidFill>
                          <a:latin typeface="Nunito Sans"/>
                          <a:ea typeface="+mn-ea"/>
                          <a:cs typeface="+mn-cs"/>
                        </a:rPr>
                        <a:t>Beneficiary and Nomination Enhancements and bug fixes</a:t>
                      </a:r>
                      <a:endParaRPr lang="en-IN" sz="1100" b="0" i="0" u="none" strike="noStrike" kern="1200" noProof="0">
                        <a:solidFill>
                          <a:schemeClr val="tx1"/>
                        </a:solidFill>
                        <a:latin typeface="Nunito Sans"/>
                        <a:ea typeface="+mn-ea"/>
                        <a:cs typeface="+mn-cs"/>
                      </a:endParaRPr>
                    </a:p>
                    <a:p>
                      <a:pPr marL="0" lvl="0" indent="0" algn="l" defTabSz="914400">
                        <a:lnSpc>
                          <a:spcPct val="100000"/>
                        </a:lnSpc>
                        <a:spcBef>
                          <a:spcPts val="0"/>
                        </a:spcBef>
                        <a:spcAft>
                          <a:spcPts val="0"/>
                        </a:spcAft>
                        <a:buNone/>
                      </a:pPr>
                      <a:endParaRPr lang="en-IN" sz="1100" b="1" i="0" u="none" strike="noStrike" kern="1200" noProof="0">
                        <a:solidFill>
                          <a:schemeClr val="tx1"/>
                        </a:solidFill>
                        <a:latin typeface="Nunito Sans"/>
                        <a:ea typeface="+mn-ea"/>
                        <a:cs typeface="+mn-cs"/>
                      </a:endParaRPr>
                    </a:p>
                  </a:txBody>
                  <a:tcPr anchor="ctr">
                    <a:lnL w="12700">
                      <a:solidFill>
                        <a:schemeClr val="tx1"/>
                      </a:solidFill>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171450" marR="0" lvl="0" indent="-171450" algn="l">
                        <a:lnSpc>
                          <a:spcPct val="100000"/>
                        </a:lnSpc>
                        <a:spcBef>
                          <a:spcPts val="0"/>
                        </a:spcBef>
                        <a:spcAft>
                          <a:spcPts val="0"/>
                        </a:spcAft>
                        <a:buClr>
                          <a:srgbClr val="000000"/>
                        </a:buClr>
                        <a:buFont typeface="Arial,Sans-Serif"/>
                        <a:buChar char="•"/>
                      </a:pPr>
                      <a:r>
                        <a:rPr lang="en-IN" sz="1100" b="0" i="0" u="none" strike="noStrike" kern="1200" noProof="0">
                          <a:solidFill>
                            <a:schemeClr val="tx1"/>
                          </a:solidFill>
                          <a:effectLst/>
                          <a:latin typeface="Nunito Sans"/>
                          <a:ea typeface="+mn-ea"/>
                          <a:cs typeface="+mn-cs"/>
                        </a:rPr>
                        <a:t>Handling for OCR failure scenarios with fallback/manual validation flow</a:t>
                      </a:r>
                      <a:endParaRPr lang="en-US" sz="1100" b="0" i="0" u="none" strike="noStrike" kern="1200" noProof="0">
                        <a:solidFill>
                          <a:srgbClr val="000000"/>
                        </a:solidFill>
                        <a:effectLst/>
                        <a:latin typeface="Nunito Sans"/>
                        <a:ea typeface="+mn-ea"/>
                        <a:cs typeface="+mn-cs"/>
                      </a:endParaRPr>
                    </a:p>
                    <a:p>
                      <a:pPr marL="171450" marR="0" lvl="0" indent="-171450" algn="l">
                        <a:lnSpc>
                          <a:spcPct val="100000"/>
                        </a:lnSpc>
                        <a:spcBef>
                          <a:spcPts val="0"/>
                        </a:spcBef>
                        <a:spcAft>
                          <a:spcPts val="0"/>
                        </a:spcAft>
                        <a:buClr>
                          <a:srgbClr val="000000"/>
                        </a:buClr>
                        <a:buFont typeface="Arial,Sans-Serif"/>
                        <a:buChar char="•"/>
                      </a:pPr>
                      <a:r>
                        <a:rPr lang="en-IN" sz="1100" b="0" i="0" u="none" strike="noStrike" kern="1200" noProof="0">
                          <a:solidFill>
                            <a:schemeClr val="tx1"/>
                          </a:solidFill>
                          <a:effectLst/>
                          <a:latin typeface="Nunito Sans"/>
                          <a:ea typeface="+mn-ea"/>
                          <a:cs typeface="+mn-cs"/>
                        </a:rPr>
                        <a:t>Reuse existing documents to eliminate redundant uploads: Employee self docs matching criteria to be selected and reuse of beneficiary docs added</a:t>
                      </a:r>
                      <a:endParaRPr lang="en-US" sz="1100" b="0" i="0" u="none" strike="noStrike" kern="1200" noProof="0">
                        <a:solidFill>
                          <a:srgbClr val="000000"/>
                        </a:solidFill>
                        <a:effectLst/>
                        <a:latin typeface="Nunito Sans"/>
                        <a:ea typeface="+mn-ea"/>
                        <a:cs typeface="+mn-cs"/>
                      </a:endParaRPr>
                    </a:p>
                    <a:p>
                      <a:pPr marL="285750" marR="0" lvl="0" indent="-285750" algn="l">
                        <a:lnSpc>
                          <a:spcPct val="100000"/>
                        </a:lnSpc>
                        <a:spcBef>
                          <a:spcPts val="0"/>
                        </a:spcBef>
                        <a:spcAft>
                          <a:spcPts val="0"/>
                        </a:spcAft>
                        <a:buClr>
                          <a:srgbClr val="000000"/>
                        </a:buClr>
                        <a:buFont typeface="Arial"/>
                        <a:buChar char="•"/>
                      </a:pPr>
                      <a:endParaRPr lang="en-IN" sz="1100" b="0" i="0" u="none" strike="noStrike" kern="1200" noProof="0">
                        <a:solidFill>
                          <a:srgbClr val="000000"/>
                        </a:solidFill>
                        <a:effectLst/>
                        <a:latin typeface="Nunito Sans"/>
                        <a:ea typeface="+mn-ea"/>
                        <a:cs typeface="+mn-cs"/>
                      </a:endParaRPr>
                    </a:p>
                    <a:p>
                      <a:pPr marL="285750" marR="0" lvl="0" indent="-285750" algn="l">
                        <a:lnSpc>
                          <a:spcPct val="100000"/>
                        </a:lnSpc>
                        <a:spcBef>
                          <a:spcPts val="0"/>
                        </a:spcBef>
                        <a:spcAft>
                          <a:spcPts val="0"/>
                        </a:spcAft>
                        <a:buClr>
                          <a:srgbClr val="000000"/>
                        </a:buClr>
                        <a:buFont typeface="Arial"/>
                        <a:buChar char="•"/>
                      </a:pPr>
                      <a:r>
                        <a:rPr lang="en-IN" sz="1100" b="1" i="0" u="none" strike="noStrike" kern="1200" noProof="0">
                          <a:solidFill>
                            <a:schemeClr val="tx1"/>
                          </a:solidFill>
                          <a:effectLst/>
                          <a:latin typeface="Nunito Sans"/>
                          <a:ea typeface="+mn-ea"/>
                          <a:cs typeface="+mn-cs"/>
                        </a:rPr>
                        <a:t>Minor changes</a:t>
                      </a:r>
                      <a:endParaRPr lang="en-US" sz="1100" b="0" i="0" u="none" strike="noStrike" kern="1200" noProof="0">
                        <a:solidFill>
                          <a:srgbClr val="000000"/>
                        </a:solidFill>
                        <a:effectLst/>
                        <a:latin typeface="Nunito Sans"/>
                        <a:ea typeface="+mn-ea"/>
                        <a:cs typeface="+mn-cs"/>
                      </a:endParaRPr>
                    </a:p>
                    <a:p>
                      <a:pPr marL="171450" marR="0" lvl="0" indent="-171450" algn="l">
                        <a:lnSpc>
                          <a:spcPct val="100000"/>
                        </a:lnSpc>
                        <a:spcBef>
                          <a:spcPts val="0"/>
                        </a:spcBef>
                        <a:spcAft>
                          <a:spcPts val="0"/>
                        </a:spcAft>
                        <a:buClr>
                          <a:srgbClr val="000000"/>
                        </a:buClr>
                        <a:buFont typeface="Arial,Sans-Serif"/>
                        <a:buChar char="•"/>
                      </a:pPr>
                      <a:r>
                        <a:rPr lang="en-IN" sz="1100" b="0" i="0" u="none" strike="noStrike" kern="1200" noProof="0">
                          <a:solidFill>
                            <a:srgbClr val="CECECE"/>
                          </a:solidFill>
                          <a:effectLst/>
                          <a:latin typeface="Nunito Sans"/>
                          <a:ea typeface="+mn-ea"/>
                          <a:cs typeface="+mn-cs"/>
                        </a:rPr>
                        <a:t>Building capability to select next FY for beneficiary nomination for Skyfam thus enabling proactive nominations for upcoming FY </a:t>
                      </a:r>
                      <a:endParaRPr lang="en-US" sz="1100" b="0" i="0" u="none" strike="noStrike" kern="1200" noProof="0">
                        <a:solidFill>
                          <a:srgbClr val="CECECE"/>
                        </a:solidFill>
                        <a:effectLst/>
                        <a:latin typeface="Nunito Sans"/>
                        <a:ea typeface="+mn-ea"/>
                        <a:cs typeface="+mn-cs"/>
                      </a:endParaRPr>
                    </a:p>
                    <a:p>
                      <a:pPr marL="171450" marR="0" lvl="0" indent="-171450" algn="l">
                        <a:lnSpc>
                          <a:spcPct val="100000"/>
                        </a:lnSpc>
                        <a:spcBef>
                          <a:spcPts val="0"/>
                        </a:spcBef>
                        <a:spcAft>
                          <a:spcPts val="0"/>
                        </a:spcAft>
                        <a:buClr>
                          <a:srgbClr val="000000"/>
                        </a:buClr>
                        <a:buFont typeface="Arial,Sans-Serif"/>
                        <a:buChar char="•"/>
                      </a:pPr>
                      <a:r>
                        <a:rPr lang="en-IN" sz="1100" b="0" i="0" u="none" strike="noStrike" kern="1200" noProof="0">
                          <a:solidFill>
                            <a:schemeClr val="tx1"/>
                          </a:solidFill>
                          <a:effectLst/>
                          <a:latin typeface="Nunito Sans"/>
                          <a:ea typeface="+mn-ea"/>
                          <a:cs typeface="+mn-cs"/>
                        </a:rPr>
                        <a:t>Beneficiary – auto selection of gender as per beneficiary type, status change as per HR policy</a:t>
                      </a:r>
                      <a:endParaRPr lang="en-US" sz="1100" b="0" i="0" u="none" strike="noStrike" kern="1200" noProof="0">
                        <a:solidFill>
                          <a:srgbClr val="000000"/>
                        </a:solidFill>
                        <a:effectLst/>
                        <a:latin typeface="Nunito Sans"/>
                        <a:ea typeface="+mn-ea"/>
                        <a:cs typeface="+mn-cs"/>
                      </a:endParaRPr>
                    </a:p>
                    <a:p>
                      <a:pPr marL="171450" marR="0" lvl="0" indent="-171450" algn="l">
                        <a:lnSpc>
                          <a:spcPct val="100000"/>
                        </a:lnSpc>
                        <a:spcBef>
                          <a:spcPts val="0"/>
                        </a:spcBef>
                        <a:spcAft>
                          <a:spcPts val="0"/>
                        </a:spcAft>
                        <a:buClr>
                          <a:srgbClr val="000000"/>
                        </a:buClr>
                        <a:buFont typeface="Arial,Sans-Serif"/>
                        <a:buChar char="•"/>
                      </a:pPr>
                      <a:r>
                        <a:rPr lang="en-IN" sz="1100" b="0" i="0" u="none" strike="noStrike" kern="1200" noProof="0">
                          <a:solidFill>
                            <a:schemeClr val="tx1"/>
                          </a:solidFill>
                          <a:effectLst/>
                          <a:latin typeface="Nunito Sans"/>
                          <a:ea typeface="+mn-ea"/>
                          <a:cs typeface="+mn-cs"/>
                        </a:rPr>
                        <a:t>Pre-fill spouse as type when beneficiary is spouse</a:t>
                      </a:r>
                      <a:endParaRPr lang="en-US" sz="1100" b="0" i="0" u="none" strike="noStrike" kern="1200" noProof="0">
                        <a:solidFill>
                          <a:srgbClr val="000000"/>
                        </a:solidFill>
                        <a:effectLst/>
                        <a:latin typeface="Nunito Sans"/>
                        <a:ea typeface="+mn-ea"/>
                        <a:cs typeface="+mn-cs"/>
                      </a:endParaRPr>
                    </a:p>
                    <a:p>
                      <a:pPr marL="171450" marR="0" lvl="0" indent="-171450" algn="l">
                        <a:lnSpc>
                          <a:spcPct val="100000"/>
                        </a:lnSpc>
                        <a:spcBef>
                          <a:spcPts val="0"/>
                        </a:spcBef>
                        <a:spcAft>
                          <a:spcPts val="0"/>
                        </a:spcAft>
                        <a:buClr>
                          <a:srgbClr val="000000"/>
                        </a:buClr>
                        <a:buFont typeface="Arial,Sans-Serif"/>
                        <a:buChar char="•"/>
                      </a:pPr>
                      <a:r>
                        <a:rPr lang="en-IN" sz="1100" b="0" i="0" u="none" strike="noStrike" kern="1200" noProof="0">
                          <a:solidFill>
                            <a:schemeClr val="tx1"/>
                          </a:solidFill>
                          <a:effectLst/>
                          <a:latin typeface="Nunito Sans"/>
                          <a:ea typeface="+mn-ea"/>
                          <a:cs typeface="+mn-cs"/>
                        </a:rPr>
                        <a:t>Sorting of title list in beneficiary addition</a:t>
                      </a:r>
                      <a:endParaRPr lang="en-US" sz="1100" b="0" i="0" u="none" strike="noStrike" kern="1200" noProof="0">
                        <a:solidFill>
                          <a:srgbClr val="000000"/>
                        </a:solidFill>
                        <a:effectLst/>
                        <a:latin typeface="Nunito Sans"/>
                        <a:ea typeface="+mn-ea"/>
                        <a:cs typeface="+mn-cs"/>
                      </a:endParaRPr>
                    </a:p>
                    <a:p>
                      <a:pPr marL="171450" marR="0" lvl="0" indent="-171450" algn="l">
                        <a:lnSpc>
                          <a:spcPct val="100000"/>
                        </a:lnSpc>
                        <a:spcBef>
                          <a:spcPts val="0"/>
                        </a:spcBef>
                        <a:spcAft>
                          <a:spcPts val="0"/>
                        </a:spcAft>
                        <a:buClr>
                          <a:srgbClr val="000000"/>
                        </a:buClr>
                        <a:buFont typeface="Arial,Sans-Serif"/>
                        <a:buChar char="•"/>
                      </a:pPr>
                      <a:r>
                        <a:rPr lang="en-IN" sz="1100" b="0" i="0" u="none" strike="noStrike" kern="1200" noProof="0">
                          <a:solidFill>
                            <a:schemeClr val="tx1"/>
                          </a:solidFill>
                          <a:effectLst/>
                          <a:latin typeface="Nunito Sans"/>
                          <a:ea typeface="+mn-ea"/>
                          <a:cs typeface="+mn-cs"/>
                        </a:rPr>
                        <a:t>Enabling consistent logging for 15 backend services</a:t>
                      </a:r>
                      <a:endParaRPr lang="en-US" sz="1100" b="0" i="0" u="none" strike="noStrike" kern="1200" noProof="0">
                        <a:solidFill>
                          <a:srgbClr val="000000"/>
                        </a:solidFill>
                        <a:effectLst/>
                        <a:latin typeface="Nunito Sans"/>
                        <a:ea typeface="+mn-ea"/>
                        <a:cs typeface="+mn-cs"/>
                      </a:endParaRPr>
                    </a:p>
                    <a:p>
                      <a:pPr marL="171450" lvl="0" indent="-171450" algn="l">
                        <a:lnSpc>
                          <a:spcPct val="100000"/>
                        </a:lnSpc>
                        <a:spcBef>
                          <a:spcPts val="0"/>
                        </a:spcBef>
                        <a:spcAft>
                          <a:spcPts val="0"/>
                        </a:spcAft>
                        <a:buFont typeface="Arial"/>
                        <a:buChar char="•"/>
                      </a:pPr>
                      <a:endParaRPr lang="en-GB" sz="1100" b="0" i="0" u="none" strike="noStrike" kern="1200" noProof="0">
                        <a:solidFill>
                          <a:schemeClr val="tx1"/>
                        </a:solidFill>
                        <a:effectLst/>
                        <a:latin typeface="Nunito Sans"/>
                        <a:ea typeface="+mn-ea"/>
                        <a:cs typeface="+mn-cs"/>
                      </a:endParaRPr>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marL="0" lvl="0" indent="0" algn="ctr">
                        <a:lnSpc>
                          <a:spcPct val="100000"/>
                        </a:lnSpc>
                        <a:spcBef>
                          <a:spcPts val="0"/>
                        </a:spcBef>
                        <a:spcAft>
                          <a:spcPts val="0"/>
                        </a:spcAft>
                        <a:buNone/>
                      </a:pPr>
                      <a:r>
                        <a:rPr lang="en-GB" sz="1100" b="0" i="0" u="none" strike="noStrike" noProof="0">
                          <a:solidFill>
                            <a:srgbClr val="000000"/>
                          </a:solidFill>
                          <a:latin typeface="Nunito Sans"/>
                        </a:rPr>
                        <a:t>Y</a:t>
                      </a:r>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marL="0" lvl="0" indent="0" algn="ctr" defTabSz="914400">
                        <a:lnSpc>
                          <a:spcPct val="100000"/>
                        </a:lnSpc>
                        <a:buNone/>
                      </a:pPr>
                      <a:r>
                        <a:rPr lang="en-IN" sz="1100" b="0" i="0" u="none" strike="noStrike" noProof="0">
                          <a:solidFill>
                            <a:schemeClr val="tx1"/>
                          </a:solidFill>
                          <a:effectLst/>
                          <a:latin typeface="Nunito Sans"/>
                        </a:rPr>
                        <a:t>Y</a:t>
                      </a:r>
                    </a:p>
                  </a:txBody>
                  <a:tcPr marL="45720" marR="45720"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lvl="0" algn="ctr">
                        <a:lnSpc>
                          <a:spcPct val="100000"/>
                        </a:lnSpc>
                        <a:spcBef>
                          <a:spcPts val="0"/>
                        </a:spcBef>
                        <a:spcAft>
                          <a:spcPts val="0"/>
                        </a:spcAft>
                        <a:buNone/>
                      </a:pPr>
                      <a:r>
                        <a:rPr lang="en-IN" sz="1100" b="0" i="0" u="none" strike="noStrike" noProof="0">
                          <a:solidFill>
                            <a:schemeClr val="tx1"/>
                          </a:solidFill>
                          <a:effectLst/>
                          <a:latin typeface="Nunito Sans"/>
                        </a:rPr>
                        <a:t>29th April</a:t>
                      </a:r>
                      <a:endParaRPr lang="en-IN" sz="1100" b="0" i="0" u="none" strike="noStrike" noProof="0">
                        <a:solidFill>
                          <a:srgbClr val="000000"/>
                        </a:solidFill>
                        <a:effectLst/>
                        <a:latin typeface="Nunito Sans"/>
                      </a:endParaRPr>
                    </a:p>
                  </a:txBody>
                  <a:tcPr marL="45720" marR="4572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2093460414"/>
                  </a:ext>
                </a:extLst>
              </a:tr>
            </a:tbl>
          </a:graphicData>
        </a:graphic>
      </p:graphicFrame>
      <p:sp>
        <p:nvSpPr>
          <p:cNvPr id="26" name="TextBox 25">
            <a:extLst>
              <a:ext uri="{FF2B5EF4-FFF2-40B4-BE49-F238E27FC236}">
                <a16:creationId xmlns:a16="http://schemas.microsoft.com/office/drawing/2014/main" id="{5A211EB3-3ACF-BC12-B4A9-B45732A5379C}"/>
              </a:ext>
            </a:extLst>
          </p:cNvPr>
          <p:cNvSpPr txBox="1"/>
          <p:nvPr/>
        </p:nvSpPr>
        <p:spPr>
          <a:xfrm>
            <a:off x="343955" y="3897931"/>
            <a:ext cx="417102" cy="253916"/>
          </a:xfrm>
          <a:prstGeom prst="rect">
            <a:avLst/>
          </a:prstGeom>
          <a:noFill/>
        </p:spPr>
        <p:txBody>
          <a:bodyPr wrap="none" lIns="91440" tIns="45720" rIns="91440" bIns="45720" rtlCol="0" anchor="t">
            <a:spAutoFit/>
          </a:bodyPr>
          <a:lstStyle/>
          <a:p>
            <a:r>
              <a:rPr lang="en-IN" sz="1050" b="1">
                <a:solidFill>
                  <a:schemeClr val="bg1"/>
                </a:solidFill>
                <a:latin typeface="Montserrat Light"/>
              </a:rPr>
              <a:t>Jan</a:t>
            </a:r>
            <a:endParaRPr lang="en-IN" sz="1050" b="1">
              <a:solidFill>
                <a:schemeClr val="bg1"/>
              </a:solidFill>
              <a:latin typeface="Montserrat Light" pitchFamily="2" charset="0"/>
            </a:endParaRPr>
          </a:p>
        </p:txBody>
      </p:sp>
      <p:sp>
        <p:nvSpPr>
          <p:cNvPr id="27" name="TextBox 15">
            <a:extLst>
              <a:ext uri="{FF2B5EF4-FFF2-40B4-BE49-F238E27FC236}">
                <a16:creationId xmlns:a16="http://schemas.microsoft.com/office/drawing/2014/main" id="{DD603E8F-E759-2B7F-A163-76F0C71A5E74}"/>
              </a:ext>
            </a:extLst>
          </p:cNvPr>
          <p:cNvSpPr txBox="1"/>
          <p:nvPr/>
        </p:nvSpPr>
        <p:spPr>
          <a:xfrm>
            <a:off x="398384" y="817274"/>
            <a:ext cx="417102" cy="253916"/>
          </a:xfrm>
          <a:prstGeom prst="rect">
            <a:avLst/>
          </a:prstGeom>
          <a:noFill/>
        </p:spPr>
        <p:txBody>
          <a:bodyPr wrap="non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050" b="1">
                <a:solidFill>
                  <a:schemeClr val="bg1"/>
                </a:solidFill>
                <a:latin typeface="Montserrat Light"/>
              </a:rPr>
              <a:t>Jan</a:t>
            </a:r>
            <a:endParaRPr lang="en-IN" sz="1050" b="1">
              <a:solidFill>
                <a:schemeClr val="bg1"/>
              </a:solidFill>
              <a:latin typeface="Montserrat Light" pitchFamily="2" charset="0"/>
            </a:endParaRPr>
          </a:p>
        </p:txBody>
      </p:sp>
      <p:sp>
        <p:nvSpPr>
          <p:cNvPr id="29" name="Rectangle 28">
            <a:extLst>
              <a:ext uri="{FF2B5EF4-FFF2-40B4-BE49-F238E27FC236}">
                <a16:creationId xmlns:a16="http://schemas.microsoft.com/office/drawing/2014/main" id="{28FD9AB8-2B96-E226-2338-FE8398B7CF8C}"/>
              </a:ext>
            </a:extLst>
          </p:cNvPr>
          <p:cNvSpPr/>
          <p:nvPr/>
        </p:nvSpPr>
        <p:spPr>
          <a:xfrm>
            <a:off x="-4474" y="793560"/>
            <a:ext cx="1067526" cy="42234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IN" sz="1400" b="1">
                <a:latin typeface="AirIndia"/>
              </a:rPr>
              <a:t>Apr ‘26</a:t>
            </a:r>
          </a:p>
        </p:txBody>
      </p:sp>
      <p:pic>
        <p:nvPicPr>
          <p:cNvPr id="34" name="Picture 33">
            <a:extLst>
              <a:ext uri="{FF2B5EF4-FFF2-40B4-BE49-F238E27FC236}">
                <a16:creationId xmlns:a16="http://schemas.microsoft.com/office/drawing/2014/main" id="{9B90C580-EC5C-4501-8B0D-68E30BB69E32}"/>
              </a:ext>
            </a:extLst>
          </p:cNvPr>
          <p:cNvPicPr>
            <a:picLocks noChangeAspect="1"/>
          </p:cNvPicPr>
          <p:nvPr/>
        </p:nvPicPr>
        <p:blipFill>
          <a:blip r:embed="rId4"/>
          <a:stretch>
            <a:fillRect/>
          </a:stretch>
        </p:blipFill>
        <p:spPr>
          <a:xfrm>
            <a:off x="306161" y="6532789"/>
            <a:ext cx="8248650" cy="323850"/>
          </a:xfrm>
          <a:prstGeom prst="rect">
            <a:avLst/>
          </a:prstGeom>
        </p:spPr>
      </p:pic>
    </p:spTree>
    <p:extLst>
      <p:ext uri="{BB962C8B-B14F-4D97-AF65-F5344CB8AC3E}">
        <p14:creationId xmlns:p14="http://schemas.microsoft.com/office/powerpoint/2010/main" val="2242305201"/>
      </p:ext>
    </p:extLst>
  </p:cSld>
  <p:clrMapOvr>
    <a:masterClrMapping/>
  </p:clrMapOvr>
  <p:extLst>
    <p:ext uri="{6950BFC3-D8DA-4A85-94F7-54DA5524770B}">
      <p188:commentRel xmlns:p188="http://schemas.microsoft.com/office/powerpoint/2018/8/main" r:id="rId3"/>
    </p:ext>
  </p:extLs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786507-24C4-F7F5-4326-42365D57748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FFA391B-B892-D931-A009-937E50A72BE4}"/>
              </a:ext>
            </a:extLst>
          </p:cNvPr>
          <p:cNvSpPr>
            <a:spLocks noGrp="1"/>
          </p:cNvSpPr>
          <p:nvPr>
            <p:ph type="sldNum" sz="quarter" idx="12"/>
          </p:nvPr>
        </p:nvSpPr>
        <p:spPr/>
        <p:txBody>
          <a:bodyPr/>
          <a:lstStyle/>
          <a:p>
            <a:fld id="{3A41A254-7326-714E-AF55-4C213D6394DE}" type="slidenum">
              <a:rPr lang="en-US" sz="900" smtClean="0">
                <a:latin typeface="Montserrat Light" pitchFamily="2" charset="0"/>
              </a:rPr>
              <a:pPr/>
              <a:t>65</a:t>
            </a:fld>
            <a:endParaRPr lang="en-US" sz="900">
              <a:latin typeface="Montserrat Light" pitchFamily="2" charset="0"/>
            </a:endParaRPr>
          </a:p>
        </p:txBody>
      </p:sp>
      <p:sp>
        <p:nvSpPr>
          <p:cNvPr id="6" name="Title 11">
            <a:extLst>
              <a:ext uri="{FF2B5EF4-FFF2-40B4-BE49-F238E27FC236}">
                <a16:creationId xmlns:a16="http://schemas.microsoft.com/office/drawing/2014/main" id="{6F03D9BF-4F48-5B0B-D02C-7ADF7C380C2D}"/>
              </a:ext>
            </a:extLst>
          </p:cNvPr>
          <p:cNvSpPr txBox="1">
            <a:spLocks/>
          </p:cNvSpPr>
          <p:nvPr/>
        </p:nvSpPr>
        <p:spPr>
          <a:xfrm>
            <a:off x="304800" y="269218"/>
            <a:ext cx="8420100" cy="396638"/>
          </a:xfrm>
          <a:prstGeom prst="rect">
            <a:avLst/>
          </a:prstGeom>
        </p:spPr>
        <p:txBody>
          <a:bodyPr lIns="91440" tIns="45720" rIns="91440" bIns="45720" anchor="t">
            <a:noAutofit/>
          </a:bodyPr>
          <a:lstStyle>
            <a:lvl1pPr algn="l" defTabSz="914400" rtl="0" eaLnBrk="1" latinLnBrk="0" hangingPunct="1">
              <a:lnSpc>
                <a:spcPct val="90000"/>
              </a:lnSpc>
              <a:spcBef>
                <a:spcPct val="0"/>
              </a:spcBef>
              <a:buNone/>
              <a:defRPr sz="4400" b="1" i="0" kern="1200">
                <a:solidFill>
                  <a:schemeClr val="tx1"/>
                </a:solidFill>
                <a:latin typeface="AirIndia" pitchFamily="82" charset="77"/>
                <a:ea typeface="+mj-ea"/>
                <a:cs typeface="+mj-cs"/>
              </a:defRPr>
            </a:lvl1pPr>
          </a:lstStyle>
          <a:p>
            <a:r>
              <a:rPr lang="en-US" sz="1800" err="1">
                <a:solidFill>
                  <a:srgbClr val="C00000"/>
                </a:solidFill>
                <a:latin typeface="AirIndia"/>
              </a:rPr>
              <a:t>myAI</a:t>
            </a:r>
            <a:r>
              <a:rPr lang="en-US" sz="1800">
                <a:solidFill>
                  <a:srgbClr val="C00000"/>
                </a:solidFill>
                <a:latin typeface="AirIndia"/>
              </a:rPr>
              <a:t> - </a:t>
            </a:r>
            <a:r>
              <a:rPr lang="en-US" sz="1800">
                <a:solidFill>
                  <a:srgbClr val="DA0E28"/>
                </a:solidFill>
                <a:latin typeface="AirIndia"/>
              </a:rPr>
              <a:t>FY26-27 Q1 Release Plan</a:t>
            </a:r>
            <a:endParaRPr lang="en-US" sz="1800" b="0">
              <a:solidFill>
                <a:srgbClr val="000000"/>
              </a:solidFill>
              <a:latin typeface="AirIndia"/>
            </a:endParaRPr>
          </a:p>
          <a:p>
            <a:endParaRPr lang="en-US" sz="1800">
              <a:solidFill>
                <a:srgbClr val="C00000"/>
              </a:solidFill>
              <a:latin typeface="AirIndia"/>
            </a:endParaRPr>
          </a:p>
        </p:txBody>
      </p:sp>
      <p:graphicFrame>
        <p:nvGraphicFramePr>
          <p:cNvPr id="4" name="Table 3">
            <a:extLst>
              <a:ext uri="{FF2B5EF4-FFF2-40B4-BE49-F238E27FC236}">
                <a16:creationId xmlns:a16="http://schemas.microsoft.com/office/drawing/2014/main" id="{C285C447-D834-C5C0-7082-BC5A6F32AF29}"/>
              </a:ext>
            </a:extLst>
          </p:cNvPr>
          <p:cNvGraphicFramePr>
            <a:graphicFrameLocks noGrp="1"/>
          </p:cNvGraphicFramePr>
          <p:nvPr>
            <p:extLst>
              <p:ext uri="{D42A27DB-BD31-4B8C-83A1-F6EECF244321}">
                <p14:modId xmlns:p14="http://schemas.microsoft.com/office/powerpoint/2010/main" val="1288783765"/>
              </p:ext>
            </p:extLst>
          </p:nvPr>
        </p:nvGraphicFramePr>
        <p:xfrm>
          <a:off x="1090849" y="792699"/>
          <a:ext cx="10540667" cy="5239579"/>
        </p:xfrm>
        <a:graphic>
          <a:graphicData uri="http://schemas.openxmlformats.org/drawingml/2006/table">
            <a:tbl>
              <a:tblPr firstRow="1" bandRow="1">
                <a:tableStyleId>{5C22544A-7EE6-4342-B048-85BDC9FD1C3A}</a:tableStyleId>
              </a:tblPr>
              <a:tblGrid>
                <a:gridCol w="1469891">
                  <a:extLst>
                    <a:ext uri="{9D8B030D-6E8A-4147-A177-3AD203B41FA5}">
                      <a16:colId xmlns:a16="http://schemas.microsoft.com/office/drawing/2014/main" val="2822350773"/>
                    </a:ext>
                  </a:extLst>
                </a:gridCol>
                <a:gridCol w="5567657">
                  <a:extLst>
                    <a:ext uri="{9D8B030D-6E8A-4147-A177-3AD203B41FA5}">
                      <a16:colId xmlns:a16="http://schemas.microsoft.com/office/drawing/2014/main" val="99588705"/>
                    </a:ext>
                  </a:extLst>
                </a:gridCol>
                <a:gridCol w="583927">
                  <a:extLst>
                    <a:ext uri="{9D8B030D-6E8A-4147-A177-3AD203B41FA5}">
                      <a16:colId xmlns:a16="http://schemas.microsoft.com/office/drawing/2014/main" val="1136596785"/>
                    </a:ext>
                  </a:extLst>
                </a:gridCol>
                <a:gridCol w="856830">
                  <a:extLst>
                    <a:ext uri="{9D8B030D-6E8A-4147-A177-3AD203B41FA5}">
                      <a16:colId xmlns:a16="http://schemas.microsoft.com/office/drawing/2014/main" val="2674722935"/>
                    </a:ext>
                  </a:extLst>
                </a:gridCol>
                <a:gridCol w="1031181">
                  <a:extLst>
                    <a:ext uri="{9D8B030D-6E8A-4147-A177-3AD203B41FA5}">
                      <a16:colId xmlns:a16="http://schemas.microsoft.com/office/drawing/2014/main" val="335832140"/>
                    </a:ext>
                  </a:extLst>
                </a:gridCol>
                <a:gridCol w="1031181">
                  <a:extLst>
                    <a:ext uri="{9D8B030D-6E8A-4147-A177-3AD203B41FA5}">
                      <a16:colId xmlns:a16="http://schemas.microsoft.com/office/drawing/2014/main" val="966297794"/>
                    </a:ext>
                  </a:extLst>
                </a:gridCol>
              </a:tblGrid>
              <a:tr h="409222">
                <a:tc>
                  <a:txBody>
                    <a:bodyPr/>
                    <a:lstStyle/>
                    <a:p>
                      <a:pPr marL="0" lvl="0" indent="0" algn="ctr" defTabSz="914400">
                        <a:lnSpc>
                          <a:spcPct val="100000"/>
                        </a:lnSpc>
                        <a:buNone/>
                      </a:pPr>
                      <a:r>
                        <a:rPr lang="en-IN" sz="1050" kern="1200">
                          <a:solidFill>
                            <a:schemeClr val="bg1"/>
                          </a:solidFill>
                          <a:latin typeface="Avenir Next LT Pro Light"/>
                          <a:ea typeface="+mn-ea"/>
                          <a:cs typeface="+mn-cs"/>
                        </a:rPr>
                        <a:t>Initiatives</a:t>
                      </a:r>
                      <a:endParaRPr lang="en-US" sz="1050" kern="1200" err="1">
                        <a:solidFill>
                          <a:schemeClr val="bg1"/>
                        </a:solidFill>
                        <a:latin typeface="Avenir Next LT Pro Ligh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002060"/>
                    </a:solidFill>
                  </a:tcPr>
                </a:tc>
                <a:tc>
                  <a:txBody>
                    <a:bodyPr/>
                    <a:lstStyle/>
                    <a:p>
                      <a:pPr lvl="0" algn="ctr">
                        <a:lnSpc>
                          <a:spcPct val="100000"/>
                        </a:lnSpc>
                        <a:spcBef>
                          <a:spcPts val="0"/>
                        </a:spcBef>
                        <a:spcAft>
                          <a:spcPts val="0"/>
                        </a:spcAft>
                        <a:buNone/>
                      </a:pPr>
                      <a:r>
                        <a:rPr lang="en-IN" sz="1100" b="1" i="0" u="none" strike="noStrike" kern="1200" noProof="0">
                          <a:solidFill>
                            <a:srgbClr val="FFFFFF"/>
                          </a:solidFill>
                          <a:latin typeface="Nunito Sans"/>
                          <a:ea typeface="+mn-ea"/>
                          <a:cs typeface="+mn-cs"/>
                        </a:rPr>
                        <a:t>Value Justification/Realization</a:t>
                      </a:r>
                    </a:p>
                    <a:p>
                      <a:pPr marL="0" lvl="0" indent="0" algn="l" defTabSz="914400">
                        <a:buFont typeface="Arial" panose="020B0604020202020204" pitchFamily="34" charset="0"/>
                        <a:buNone/>
                      </a:pPr>
                      <a:endParaRPr lang="en-IN" sz="1050" kern="1200">
                        <a:solidFill>
                          <a:schemeClr val="bg1"/>
                        </a:solidFill>
                        <a:latin typeface="Avenir Next LT Pro Ligh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002060"/>
                    </a:solidFill>
                  </a:tcPr>
                </a:tc>
                <a:tc>
                  <a:txBody>
                    <a:bodyPr/>
                    <a:lstStyle/>
                    <a:p>
                      <a:pPr marL="0" indent="0" algn="ctr" defTabSz="914400" rtl="0" eaLnBrk="1" latinLnBrk="0" hangingPunct="1">
                        <a:buFont typeface="Arial" panose="020B0604020202020204" pitchFamily="34" charset="0"/>
                        <a:buNone/>
                      </a:pPr>
                      <a:r>
                        <a:rPr lang="en-US" sz="1050" kern="1200">
                          <a:solidFill>
                            <a:schemeClr val="bg1"/>
                          </a:solidFill>
                          <a:latin typeface="Avenir Next LT Pro Light"/>
                          <a:ea typeface="+mn-ea"/>
                          <a:cs typeface="+mn-cs"/>
                        </a:rPr>
                        <a:t>Web</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002060"/>
                    </a:solidFill>
                  </a:tcPr>
                </a:tc>
                <a:tc>
                  <a:txBody>
                    <a:bodyPr/>
                    <a:lstStyle/>
                    <a:p>
                      <a:pPr marL="0" indent="0" algn="ctr" defTabSz="914400" rtl="0" eaLnBrk="1" latinLnBrk="0" hangingPunct="1">
                        <a:buFont typeface="Arial" panose="020B0604020202020204" pitchFamily="34" charset="0"/>
                        <a:buNone/>
                      </a:pPr>
                      <a:r>
                        <a:rPr lang="en-US" sz="1050" kern="1200">
                          <a:solidFill>
                            <a:schemeClr val="bg1"/>
                          </a:solidFill>
                          <a:latin typeface="Avenir Next LT Pro Light"/>
                          <a:ea typeface="+mn-ea"/>
                          <a:cs typeface="+mn-cs"/>
                        </a:rPr>
                        <a:t>Mobile Native</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002060"/>
                    </a:solidFill>
                  </a:tcPr>
                </a:tc>
                <a:tc>
                  <a:txBody>
                    <a:bodyPr/>
                    <a:lstStyle/>
                    <a:p>
                      <a:pPr marL="0" lvl="0" indent="0" algn="ctr">
                        <a:buNone/>
                      </a:pPr>
                      <a:r>
                        <a:rPr lang="en-US" sz="1050" kern="1200">
                          <a:solidFill>
                            <a:schemeClr val="bg1"/>
                          </a:solidFill>
                          <a:latin typeface="Avenir Next LT Pro Light"/>
                          <a:ea typeface="+mn-ea"/>
                          <a:cs typeface="+mn-cs"/>
                        </a:rPr>
                        <a:t>Go Live Date</a:t>
                      </a: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a:solidFill>
                        <a:schemeClr val="bg1">
                          <a:lumMod val="75000"/>
                        </a:schemeClr>
                      </a:solidFill>
                    </a:lnB>
                    <a:solidFill>
                      <a:srgbClr val="002060"/>
                    </a:solidFill>
                  </a:tcPr>
                </a:tc>
                <a:tc>
                  <a:txBody>
                    <a:bodyPr/>
                    <a:lstStyle/>
                    <a:p>
                      <a:pPr marL="0" lvl="0" indent="0" algn="ctr">
                        <a:buNone/>
                      </a:pPr>
                      <a:r>
                        <a:rPr lang="en-US" sz="1050" kern="1200">
                          <a:solidFill>
                            <a:schemeClr val="bg1"/>
                          </a:solidFill>
                          <a:latin typeface="Avenir Next LT Pro Light"/>
                          <a:ea typeface="+mn-ea"/>
                          <a:cs typeface="+mn-cs"/>
                        </a:rPr>
                        <a:t>JIRA</a:t>
                      </a: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solidFill>
                      <a:srgbClr val="002060"/>
                    </a:solidFill>
                  </a:tcPr>
                </a:tc>
                <a:extLst>
                  <a:ext uri="{0D108BD9-81ED-4DB2-BD59-A6C34878D82A}">
                    <a16:rowId xmlns:a16="http://schemas.microsoft.com/office/drawing/2014/main" val="844450115"/>
                  </a:ext>
                </a:extLst>
              </a:tr>
              <a:tr h="507559">
                <a:tc>
                  <a:txBody>
                    <a:bodyPr/>
                    <a:lstStyle/>
                    <a:p>
                      <a:pPr lvl="0" algn="l">
                        <a:lnSpc>
                          <a:spcPct val="100000"/>
                        </a:lnSpc>
                        <a:spcBef>
                          <a:spcPts val="0"/>
                        </a:spcBef>
                        <a:spcAft>
                          <a:spcPts val="0"/>
                        </a:spcAft>
                        <a:buNone/>
                      </a:pPr>
                      <a:r>
                        <a:rPr lang="en-US" sz="1100" b="1" i="0" u="none" strike="noStrike" kern="1200" noProof="0">
                          <a:solidFill>
                            <a:schemeClr val="tx1"/>
                          </a:solidFill>
                          <a:latin typeface="Nunito Sans"/>
                          <a:ea typeface="+mn-ea"/>
                          <a:cs typeface="+mn-cs"/>
                        </a:rPr>
                        <a:t>AMS phase 2: Geo fenced attendance</a:t>
                      </a:r>
                      <a:endParaRPr lang="en-IN" sz="1100" b="0" i="0" u="none" strike="noStrike" kern="1200" noProof="0">
                        <a:solidFill>
                          <a:srgbClr val="000000"/>
                        </a:solidFill>
                        <a:latin typeface="Nunito Sans"/>
                        <a:ea typeface="+mn-ea"/>
                        <a:cs typeface="+mn-cs"/>
                      </a:endParaRP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solidFill>
                      <a:schemeClr val="bg1"/>
                    </a:solidFill>
                  </a:tcPr>
                </a:tc>
                <a:tc>
                  <a:txBody>
                    <a:bodyPr/>
                    <a:lstStyle/>
                    <a:p>
                      <a:pPr marL="171450" marR="0" lvl="0" indent="-171450" algn="l" rtl="0">
                        <a:lnSpc>
                          <a:spcPct val="100000"/>
                        </a:lnSpc>
                        <a:spcBef>
                          <a:spcPts val="0"/>
                        </a:spcBef>
                        <a:spcAft>
                          <a:spcPts val="0"/>
                        </a:spcAft>
                        <a:buClr>
                          <a:srgbClr val="000000"/>
                        </a:buClr>
                        <a:buSzTx/>
                        <a:buFont typeface="Arial,Sans-Serif"/>
                        <a:buChar char="•"/>
                      </a:pPr>
                      <a:r>
                        <a:rPr lang="en-IN" sz="1100" b="1" i="0" u="none" strike="noStrike" kern="1200" noProof="0">
                          <a:solidFill>
                            <a:schemeClr val="tx1"/>
                          </a:solidFill>
                          <a:effectLst/>
                          <a:latin typeface="Nunito Sans"/>
                          <a:ea typeface="+mn-ea"/>
                          <a:cs typeface="+mn-cs"/>
                        </a:rPr>
                        <a:t>Geo-fencing capabilities</a:t>
                      </a:r>
                      <a:r>
                        <a:rPr lang="en-IN" sz="1100" b="0" i="0" u="none" strike="noStrike" kern="1200" noProof="0">
                          <a:solidFill>
                            <a:schemeClr val="tx1"/>
                          </a:solidFill>
                          <a:effectLst/>
                          <a:latin typeface="Nunito Sans"/>
                          <a:ea typeface="+mn-ea"/>
                          <a:cs typeface="+mn-cs"/>
                        </a:rPr>
                        <a:t> in </a:t>
                      </a:r>
                      <a:r>
                        <a:rPr lang="en-IN" sz="1100" b="0" i="0" u="none" strike="noStrike" kern="1200" noProof="0" err="1">
                          <a:solidFill>
                            <a:schemeClr val="tx1"/>
                          </a:solidFill>
                          <a:effectLst/>
                          <a:latin typeface="Nunito Sans"/>
                          <a:ea typeface="+mn-ea"/>
                          <a:cs typeface="+mn-cs"/>
                        </a:rPr>
                        <a:t>myAI</a:t>
                      </a:r>
                      <a:r>
                        <a:rPr lang="en-IN" sz="1100" b="0" i="0" u="none" strike="noStrike" kern="1200" noProof="0">
                          <a:solidFill>
                            <a:schemeClr val="tx1"/>
                          </a:solidFill>
                          <a:effectLst/>
                          <a:latin typeface="Nunito Sans"/>
                          <a:ea typeface="+mn-ea"/>
                          <a:cs typeface="+mn-cs"/>
                        </a:rPr>
                        <a:t> app to provide real-time location based clock-in and clock-out</a:t>
                      </a:r>
                      <a:endParaRPr lang="en-US" sz="1100" b="0" i="0" u="none" strike="noStrike" kern="1200" noProof="0">
                        <a:solidFill>
                          <a:srgbClr val="000000"/>
                        </a:solidFill>
                        <a:effectLst/>
                        <a:latin typeface="Nunito Sans"/>
                        <a:ea typeface="+mn-ea"/>
                        <a:cs typeface="+mn-cs"/>
                      </a:endParaRPr>
                    </a:p>
                    <a:p>
                      <a:pPr marL="171450" marR="0" lvl="0" indent="-171450" algn="l">
                        <a:lnSpc>
                          <a:spcPct val="100000"/>
                        </a:lnSpc>
                        <a:spcBef>
                          <a:spcPts val="0"/>
                        </a:spcBef>
                        <a:spcAft>
                          <a:spcPts val="0"/>
                        </a:spcAft>
                        <a:buClr>
                          <a:srgbClr val="000000"/>
                        </a:buClr>
                        <a:buSzTx/>
                        <a:buFont typeface="Arial,Sans-Serif"/>
                        <a:buChar char="•"/>
                      </a:pPr>
                      <a:r>
                        <a:rPr lang="en-IN" sz="1100" b="1" i="0" u="none" strike="noStrike" kern="1200" noProof="0">
                          <a:solidFill>
                            <a:schemeClr val="tx1"/>
                          </a:solidFill>
                          <a:effectLst/>
                          <a:latin typeface="Nunito Sans"/>
                          <a:ea typeface="+mn-ea"/>
                          <a:cs typeface="+mn-cs"/>
                        </a:rPr>
                        <a:t>Visibility of attendance</a:t>
                      </a:r>
                      <a:r>
                        <a:rPr lang="en-IN" sz="1100" b="0" i="0" u="none" strike="noStrike" kern="1200" noProof="0">
                          <a:solidFill>
                            <a:schemeClr val="tx1"/>
                          </a:solidFill>
                          <a:effectLst/>
                          <a:latin typeface="Nunito Sans"/>
                          <a:ea typeface="+mn-ea"/>
                          <a:cs typeface="+mn-cs"/>
                        </a:rPr>
                        <a:t> status including c</a:t>
                      </a:r>
                      <a:r>
                        <a:rPr lang="en-US" sz="1100" b="0" i="0" u="none" strike="noStrike" kern="1200" noProof="0">
                          <a:solidFill>
                            <a:srgbClr val="000000"/>
                          </a:solidFill>
                          <a:effectLst/>
                          <a:latin typeface="Nunito Sans"/>
                          <a:ea typeface="+mn-ea"/>
                          <a:cs typeface="+mn-cs"/>
                        </a:rPr>
                        <a:t>lock-in/out, absenteeism, late arrivals, early exits, shift swaps, overtime requests, and duty irregularities to</a:t>
                      </a:r>
                      <a:r>
                        <a:rPr lang="en-IN" sz="1100" b="0" i="0" u="none" strike="noStrike" kern="1200" noProof="0">
                          <a:solidFill>
                            <a:schemeClr val="tx1"/>
                          </a:solidFill>
                          <a:effectLst/>
                          <a:latin typeface="Nunito Sans"/>
                          <a:ea typeface="+mn-ea"/>
                          <a:cs typeface="+mn-cs"/>
                        </a:rPr>
                        <a:t> managers and rostering team </a:t>
                      </a:r>
                      <a:endParaRPr lang="en-US" sz="1100" b="0" i="0" u="none" strike="noStrike" kern="1200" noProof="0">
                        <a:solidFill>
                          <a:srgbClr val="000000"/>
                        </a:solidFill>
                        <a:effectLst/>
                        <a:latin typeface="Nunito Sans"/>
                        <a:ea typeface="+mn-ea"/>
                        <a:cs typeface="+mn-cs"/>
                      </a:endParaRPr>
                    </a:p>
                    <a:p>
                      <a:pPr marL="171450" marR="0" lvl="0" indent="-171450" algn="l">
                        <a:lnSpc>
                          <a:spcPct val="100000"/>
                        </a:lnSpc>
                        <a:spcBef>
                          <a:spcPts val="0"/>
                        </a:spcBef>
                        <a:spcAft>
                          <a:spcPts val="0"/>
                        </a:spcAft>
                        <a:buClr>
                          <a:srgbClr val="000000"/>
                        </a:buClr>
                        <a:buSzTx/>
                        <a:buFont typeface="Arial,Sans-Serif"/>
                        <a:buChar char="•"/>
                      </a:pPr>
                      <a:r>
                        <a:rPr lang="en-IN" sz="1100" b="0" i="0" u="none" strike="noStrike" kern="1200" noProof="0">
                          <a:solidFill>
                            <a:schemeClr val="tx1"/>
                          </a:solidFill>
                          <a:effectLst/>
                          <a:latin typeface="Nunito Sans"/>
                          <a:ea typeface="+mn-ea"/>
                          <a:cs typeface="+mn-cs"/>
                        </a:rPr>
                        <a:t>POC/ API review with AMS tool to be conducted</a:t>
                      </a:r>
                      <a:endParaRPr lang="en-GB" sz="1100">
                        <a:latin typeface="Nunito Sans"/>
                      </a:endParaRPr>
                    </a:p>
                  </a:txBody>
                  <a:tcPr anchor="ctr">
                    <a:lnL w="6350" cap="flat" cmpd="sng" algn="ctr">
                      <a:solidFill>
                        <a:schemeClr val="bg1">
                          <a:lumMod val="75000"/>
                        </a:schemeClr>
                      </a:solidFill>
                      <a:prstDash val="solid"/>
                      <a:round/>
                      <a:headEnd type="none" w="med" len="med"/>
                      <a:tailEnd type="none" w="med" len="med"/>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lvl="0" indent="0" algn="ctr" defTabSz="914400">
                        <a:lnSpc>
                          <a:spcPct val="100000"/>
                        </a:lnSpc>
                        <a:buFont typeface="Arial"/>
                        <a:buNone/>
                      </a:pPr>
                      <a:r>
                        <a:rPr lang="en-IN" sz="1100" b="0" i="0" u="none" strike="noStrike" noProof="0">
                          <a:solidFill>
                            <a:schemeClr val="tx1"/>
                          </a:solidFill>
                          <a:effectLst/>
                          <a:latin typeface="Nunito Sans"/>
                        </a:rPr>
                        <a:t>Y</a:t>
                      </a:r>
                    </a:p>
                  </a:txBody>
                  <a:tcPr marL="45720" marR="45720"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solidFill>
                      <a:schemeClr val="bg1"/>
                    </a:solidFill>
                  </a:tcPr>
                </a:tc>
                <a:tc>
                  <a:txBody>
                    <a:bodyPr/>
                    <a:lstStyle/>
                    <a:p>
                      <a:pPr marL="0" lvl="0" indent="0" algn="ctr" defTabSz="914400">
                        <a:lnSpc>
                          <a:spcPct val="100000"/>
                        </a:lnSpc>
                        <a:buFont typeface="Arial"/>
                        <a:buNone/>
                      </a:pPr>
                      <a:r>
                        <a:rPr lang="en-IN" sz="1100" b="0" i="0" u="none" strike="noStrike" noProof="0">
                          <a:solidFill>
                            <a:schemeClr val="tx1"/>
                          </a:solidFill>
                          <a:effectLst/>
                          <a:latin typeface="Nunito Sans"/>
                        </a:rPr>
                        <a:t>Y</a:t>
                      </a:r>
                    </a:p>
                  </a:txBody>
                  <a:tcPr marL="45720" marR="45720"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solidFill>
                      <a:schemeClr val="bg1"/>
                    </a:solidFill>
                  </a:tcPr>
                </a:tc>
                <a:tc>
                  <a:txBody>
                    <a:bodyPr/>
                    <a:lstStyle/>
                    <a:p>
                      <a:pPr marL="0" lvl="0" indent="0" algn="ctr">
                        <a:lnSpc>
                          <a:spcPct val="100000"/>
                        </a:lnSpc>
                        <a:buNone/>
                      </a:pPr>
                      <a:r>
                        <a:rPr lang="en-IN" sz="1100" b="0" i="0" u="none" strike="noStrike" noProof="0">
                          <a:solidFill>
                            <a:schemeClr val="tx1"/>
                          </a:solidFill>
                          <a:effectLst/>
                          <a:latin typeface="Nunito Sans"/>
                        </a:rPr>
                        <a:t>28th May</a:t>
                      </a:r>
                    </a:p>
                  </a:txBody>
                  <a:tcPr marL="45720" marR="45720"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a:solidFill>
                        <a:schemeClr val="bg1">
                          <a:lumMod val="75000"/>
                        </a:schemeClr>
                      </a:solidFill>
                    </a:lnB>
                    <a:solidFill>
                      <a:schemeClr val="bg1"/>
                    </a:solidFill>
                  </a:tcPr>
                </a:tc>
                <a:tc>
                  <a:txBody>
                    <a:bodyPr/>
                    <a:lstStyle/>
                    <a:p>
                      <a:pPr marL="0" lvl="0" indent="0" algn="ctr">
                        <a:lnSpc>
                          <a:spcPct val="100000"/>
                        </a:lnSpc>
                        <a:buNone/>
                      </a:pPr>
                      <a:r>
                        <a:rPr lang="en-IN" sz="1100" b="0" i="0" u="none" strike="noStrike" noProof="0">
                          <a:solidFill>
                            <a:schemeClr val="tx1"/>
                          </a:solidFill>
                          <a:effectLst/>
                          <a:hlinkClick r:id="rId3"/>
                        </a:rPr>
                        <a:t>MC-112</a:t>
                      </a:r>
                      <a:endParaRPr lang="en-IN" sz="1100" b="0" i="0" u="none" strike="noStrike" noProof="0">
                        <a:solidFill>
                          <a:schemeClr val="tx1"/>
                        </a:solidFill>
                        <a:effectLst/>
                      </a:endParaRPr>
                    </a:p>
                  </a:txBody>
                  <a:tcPr marL="45720" marR="45720"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solidFill>
                      <a:schemeClr val="bg1"/>
                    </a:solidFill>
                  </a:tcPr>
                </a:tc>
                <a:extLst>
                  <a:ext uri="{0D108BD9-81ED-4DB2-BD59-A6C34878D82A}">
                    <a16:rowId xmlns:a16="http://schemas.microsoft.com/office/drawing/2014/main" val="3951168155"/>
                  </a:ext>
                </a:extLst>
              </a:tr>
              <a:tr h="507559">
                <a:tc>
                  <a:txBody>
                    <a:bodyPr/>
                    <a:lstStyle/>
                    <a:p>
                      <a:pPr lvl="0" algn="l">
                        <a:lnSpc>
                          <a:spcPct val="100000"/>
                        </a:lnSpc>
                        <a:spcBef>
                          <a:spcPts val="0"/>
                        </a:spcBef>
                        <a:spcAft>
                          <a:spcPts val="0"/>
                        </a:spcAft>
                        <a:buNone/>
                      </a:pPr>
                      <a:r>
                        <a:rPr lang="en-US" sz="1100" b="1" i="0" u="none" strike="noStrike" kern="1200" noProof="0">
                          <a:solidFill>
                            <a:schemeClr val="tx1"/>
                          </a:solidFill>
                          <a:latin typeface="Nunito Sans"/>
                          <a:ea typeface="+mn-ea"/>
                          <a:cs typeface="+mn-cs"/>
                        </a:rPr>
                        <a:t>Leave auto approval</a:t>
                      </a:r>
                      <a:endParaRPr lang="en-IN" sz="1100" b="0" i="0" u="none" strike="noStrike" kern="1200" noProof="0">
                        <a:solidFill>
                          <a:srgbClr val="000000"/>
                        </a:solidFill>
                        <a:latin typeface="Nunito Sans"/>
                        <a:ea typeface="+mn-ea"/>
                        <a:cs typeface="+mn-cs"/>
                      </a:endParaRP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171450" marR="0" lvl="0" indent="-171450" algn="l">
                        <a:lnSpc>
                          <a:spcPct val="100000"/>
                        </a:lnSpc>
                        <a:spcBef>
                          <a:spcPts val="0"/>
                        </a:spcBef>
                        <a:spcAft>
                          <a:spcPts val="0"/>
                        </a:spcAft>
                        <a:buClr>
                          <a:srgbClr val="000000"/>
                        </a:buClr>
                        <a:buFont typeface="Arial,Sans-Serif"/>
                        <a:buChar char="•"/>
                      </a:pPr>
                      <a:r>
                        <a:rPr lang="en-IN" sz="1100" b="0" i="0" u="none" strike="noStrike" kern="1200" noProof="0">
                          <a:solidFill>
                            <a:schemeClr val="tx1"/>
                          </a:solidFill>
                          <a:effectLst/>
                          <a:latin typeface="Nunito Sans"/>
                          <a:ea typeface="+mn-ea"/>
                          <a:cs typeface="+mn-cs"/>
                        </a:rPr>
                        <a:t>Automatically approving leave request that stays in a “Pending Manager Approval” state for 5 calendar days from the original submission date thus cutting uncertainty and backlog</a:t>
                      </a:r>
                      <a:endParaRPr lang="en-US" sz="1100" b="0" i="0" u="none" strike="noStrike" kern="1200" noProof="0">
                        <a:solidFill>
                          <a:srgbClr val="000000"/>
                        </a:solidFill>
                        <a:effectLst/>
                        <a:latin typeface="Nunito Sans"/>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lvl="0" indent="0" algn="ctr">
                        <a:lnSpc>
                          <a:spcPct val="100000"/>
                        </a:lnSpc>
                        <a:spcBef>
                          <a:spcPts val="0"/>
                        </a:spcBef>
                        <a:spcAft>
                          <a:spcPts val="0"/>
                        </a:spcAft>
                        <a:buNone/>
                      </a:pPr>
                      <a:r>
                        <a:rPr lang="en-GB" sz="1100" b="0" i="0" u="none" strike="noStrike" noProof="0">
                          <a:solidFill>
                            <a:srgbClr val="000000"/>
                          </a:solidFill>
                          <a:latin typeface="Nunito Sans"/>
                        </a:rPr>
                        <a:t>Y</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lvl="0" indent="0" algn="ctr" defTabSz="914400">
                        <a:lnSpc>
                          <a:spcPct val="100000"/>
                        </a:lnSpc>
                        <a:buNone/>
                      </a:pPr>
                      <a:r>
                        <a:rPr lang="en-IN" sz="1100" b="0" i="0" u="none" strike="noStrike" noProof="0">
                          <a:solidFill>
                            <a:schemeClr val="tx1"/>
                          </a:solidFill>
                          <a:effectLst/>
                          <a:latin typeface="Nunito Sans"/>
                        </a:rPr>
                        <a:t>Y</a:t>
                      </a:r>
                    </a:p>
                  </a:txBody>
                  <a:tcPr marL="45720" marR="4572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lvl="0" algn="ctr">
                        <a:lnSpc>
                          <a:spcPct val="100000"/>
                        </a:lnSpc>
                        <a:spcBef>
                          <a:spcPts val="0"/>
                        </a:spcBef>
                        <a:spcAft>
                          <a:spcPts val="0"/>
                        </a:spcAft>
                        <a:buNone/>
                      </a:pPr>
                      <a:r>
                        <a:rPr lang="en-IN" sz="1100" b="0" i="0" u="none" strike="noStrike" noProof="0">
                          <a:solidFill>
                            <a:schemeClr val="tx1"/>
                          </a:solidFill>
                          <a:effectLst/>
                          <a:latin typeface="Nunito Sans"/>
                        </a:rPr>
                        <a:t>28th May</a:t>
                      </a:r>
                      <a:endParaRPr lang="en-IN" sz="1100" b="0" i="0" u="none" strike="noStrike" noProof="0">
                        <a:solidFill>
                          <a:srgbClr val="000000"/>
                        </a:solidFill>
                        <a:effectLst/>
                        <a:latin typeface="Nunito Sans"/>
                      </a:endParaRPr>
                    </a:p>
                  </a:txBody>
                  <a:tcPr marL="45720" marR="4572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a:solidFill>
                        <a:schemeClr val="bg1">
                          <a:lumMod val="75000"/>
                        </a:schemeClr>
                      </a:solidFill>
                    </a:lnB>
                    <a:solidFill>
                      <a:schemeClr val="bg1"/>
                    </a:solidFill>
                  </a:tcPr>
                </a:tc>
                <a:tc>
                  <a:txBody>
                    <a:bodyPr/>
                    <a:lstStyle/>
                    <a:p>
                      <a:pPr lvl="0" algn="ctr">
                        <a:lnSpc>
                          <a:spcPct val="100000"/>
                        </a:lnSpc>
                        <a:spcBef>
                          <a:spcPts val="0"/>
                        </a:spcBef>
                        <a:spcAft>
                          <a:spcPts val="0"/>
                        </a:spcAft>
                        <a:buNone/>
                      </a:pPr>
                      <a:r>
                        <a:rPr lang="en-IN" sz="1100" b="0" i="0" u="none" strike="noStrike" noProof="0">
                          <a:solidFill>
                            <a:schemeClr val="tx1"/>
                          </a:solidFill>
                          <a:effectLst/>
                          <a:hlinkClick r:id="rId4"/>
                        </a:rPr>
                        <a:t>MC-811</a:t>
                      </a:r>
                      <a:endParaRPr lang="en-IN" sz="1100" b="0" i="0" u="none" strike="noStrike" noProof="0">
                        <a:solidFill>
                          <a:schemeClr val="tx1"/>
                        </a:solidFill>
                        <a:effectLst/>
                      </a:endParaRPr>
                    </a:p>
                  </a:txBody>
                  <a:tcPr marL="45720" marR="45720"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solidFill>
                      <a:schemeClr val="bg1"/>
                    </a:solidFill>
                  </a:tcPr>
                </a:tc>
                <a:extLst>
                  <a:ext uri="{0D108BD9-81ED-4DB2-BD59-A6C34878D82A}">
                    <a16:rowId xmlns:a16="http://schemas.microsoft.com/office/drawing/2014/main" val="1679942686"/>
                  </a:ext>
                </a:extLst>
              </a:tr>
              <a:tr h="507559">
                <a:tc>
                  <a:txBody>
                    <a:bodyPr/>
                    <a:lstStyle/>
                    <a:p>
                      <a:pPr lvl="0" algn="l">
                        <a:lnSpc>
                          <a:spcPct val="100000"/>
                        </a:lnSpc>
                        <a:spcBef>
                          <a:spcPts val="0"/>
                        </a:spcBef>
                        <a:spcAft>
                          <a:spcPts val="0"/>
                        </a:spcAft>
                        <a:buNone/>
                      </a:pPr>
                      <a:r>
                        <a:rPr lang="en-US" sz="1100" b="1" i="0" u="none" strike="noStrike" kern="1200" noProof="0">
                          <a:solidFill>
                            <a:schemeClr val="tx1"/>
                          </a:solidFill>
                          <a:latin typeface="Nunito Sans"/>
                          <a:ea typeface="+mn-ea"/>
                          <a:cs typeface="+mn-cs"/>
                        </a:rPr>
                        <a:t>Hardware Asset Management</a:t>
                      </a: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solidFill>
                      <a:schemeClr val="bg1"/>
                    </a:solidFill>
                  </a:tcPr>
                </a:tc>
                <a:tc>
                  <a:txBody>
                    <a:bodyPr/>
                    <a:lstStyle/>
                    <a:p>
                      <a:pPr marL="171450" lvl="0" indent="-171450" algn="l">
                        <a:lnSpc>
                          <a:spcPct val="100000"/>
                        </a:lnSpc>
                        <a:spcBef>
                          <a:spcPts val="0"/>
                        </a:spcBef>
                        <a:spcAft>
                          <a:spcPts val="0"/>
                        </a:spcAft>
                        <a:buFont typeface="Arial"/>
                        <a:buChar char="•"/>
                      </a:pPr>
                      <a:r>
                        <a:rPr lang="en-GB" sz="1100" b="0" i="0" u="none" strike="noStrike" kern="1200" noProof="0">
                          <a:solidFill>
                            <a:schemeClr val="tx1"/>
                          </a:solidFill>
                          <a:effectLst/>
                          <a:latin typeface="Nunito Sans"/>
                          <a:ea typeface="+mn-ea"/>
                          <a:cs typeface="+mn-cs"/>
                        </a:rPr>
                        <a:t>Platform to manage hardware assets provided to employees with the ability to record approvals for audit purposes. </a:t>
                      </a: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solidFill>
                      <a:schemeClr val="bg1"/>
                    </a:solidFill>
                  </a:tcPr>
                </a:tc>
                <a:tc>
                  <a:txBody>
                    <a:bodyPr/>
                    <a:lstStyle/>
                    <a:p>
                      <a:pPr marL="0" lvl="0" indent="0" algn="ctr">
                        <a:lnSpc>
                          <a:spcPct val="100000"/>
                        </a:lnSpc>
                        <a:spcBef>
                          <a:spcPts val="0"/>
                        </a:spcBef>
                        <a:spcAft>
                          <a:spcPts val="0"/>
                        </a:spcAft>
                        <a:buNone/>
                      </a:pPr>
                      <a:r>
                        <a:rPr lang="en-GB" sz="1100" b="0" i="0" u="none" strike="noStrike" noProof="0">
                          <a:solidFill>
                            <a:srgbClr val="000000"/>
                          </a:solidFill>
                          <a:latin typeface="Nunito Sans"/>
                        </a:rPr>
                        <a:t>Y</a:t>
                      </a: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solidFill>
                      <a:schemeClr val="bg1"/>
                    </a:solidFill>
                  </a:tcPr>
                </a:tc>
                <a:tc>
                  <a:txBody>
                    <a:bodyPr/>
                    <a:lstStyle/>
                    <a:p>
                      <a:pPr marL="0" lvl="0" indent="0" algn="ctr" defTabSz="914400">
                        <a:lnSpc>
                          <a:spcPct val="100000"/>
                        </a:lnSpc>
                        <a:buNone/>
                      </a:pPr>
                      <a:r>
                        <a:rPr lang="en-IN" sz="1100" b="0" i="0" u="none" strike="noStrike" noProof="0">
                          <a:solidFill>
                            <a:schemeClr val="tx1"/>
                          </a:solidFill>
                          <a:effectLst/>
                          <a:latin typeface="Nunito Sans"/>
                        </a:rPr>
                        <a:t>Y</a:t>
                      </a:r>
                    </a:p>
                  </a:txBody>
                  <a:tcPr marL="45720" marR="45720"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solidFill>
                      <a:schemeClr val="bg1"/>
                    </a:solidFill>
                  </a:tcPr>
                </a:tc>
                <a:tc>
                  <a:txBody>
                    <a:bodyPr/>
                    <a:lstStyle/>
                    <a:p>
                      <a:pPr lvl="0" algn="ctr">
                        <a:lnSpc>
                          <a:spcPct val="100000"/>
                        </a:lnSpc>
                        <a:spcBef>
                          <a:spcPts val="0"/>
                        </a:spcBef>
                        <a:spcAft>
                          <a:spcPts val="0"/>
                        </a:spcAft>
                        <a:buNone/>
                      </a:pPr>
                      <a:r>
                        <a:rPr lang="en-IN" sz="1100" b="0" i="0" u="none" strike="noStrike" noProof="0">
                          <a:solidFill>
                            <a:schemeClr val="tx1"/>
                          </a:solidFill>
                          <a:effectLst/>
                          <a:latin typeface="Nunito Sans"/>
                        </a:rPr>
                        <a:t>28th May</a:t>
                      </a:r>
                    </a:p>
                  </a:txBody>
                  <a:tcPr marL="45720" marR="45720"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a:solidFill>
                        <a:schemeClr val="bg1">
                          <a:lumMod val="75000"/>
                        </a:schemeClr>
                      </a:solidFill>
                    </a:lnB>
                    <a:solidFill>
                      <a:schemeClr val="bg1"/>
                    </a:solidFill>
                  </a:tcPr>
                </a:tc>
                <a:tc>
                  <a:txBody>
                    <a:bodyPr/>
                    <a:lstStyle/>
                    <a:p>
                      <a:pPr lvl="0" algn="ctr">
                        <a:lnSpc>
                          <a:spcPct val="100000"/>
                        </a:lnSpc>
                        <a:spcBef>
                          <a:spcPts val="0"/>
                        </a:spcBef>
                        <a:spcAft>
                          <a:spcPts val="0"/>
                        </a:spcAft>
                        <a:buNone/>
                      </a:pPr>
                      <a:r>
                        <a:rPr lang="en-IN" sz="1100" b="0" i="0" u="none" strike="noStrike" noProof="0">
                          <a:solidFill>
                            <a:schemeClr val="tx1"/>
                          </a:solidFill>
                          <a:effectLst/>
                          <a:hlinkClick r:id="rId5"/>
                        </a:rPr>
                        <a:t>MC-499</a:t>
                      </a:r>
                      <a:endParaRPr lang="en-IN" sz="1100" b="0" i="0" u="none" strike="noStrike" noProof="0">
                        <a:solidFill>
                          <a:schemeClr val="tx1"/>
                        </a:solidFill>
                        <a:effectLst/>
                      </a:endParaRPr>
                    </a:p>
                  </a:txBody>
                  <a:tcPr marL="45720" marR="45720"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solidFill>
                      <a:schemeClr val="bg1"/>
                    </a:solidFill>
                  </a:tcPr>
                </a:tc>
                <a:extLst>
                  <a:ext uri="{0D108BD9-81ED-4DB2-BD59-A6C34878D82A}">
                    <a16:rowId xmlns:a16="http://schemas.microsoft.com/office/drawing/2014/main" val="937107970"/>
                  </a:ext>
                </a:extLst>
              </a:tr>
              <a:tr h="507559">
                <a:tc>
                  <a:txBody>
                    <a:bodyPr/>
                    <a:lstStyle/>
                    <a:p>
                      <a:pPr lvl="0" algn="l">
                        <a:lnSpc>
                          <a:spcPct val="100000"/>
                        </a:lnSpc>
                        <a:spcBef>
                          <a:spcPts val="0"/>
                        </a:spcBef>
                        <a:spcAft>
                          <a:spcPts val="0"/>
                        </a:spcAft>
                        <a:buNone/>
                      </a:pPr>
                      <a:r>
                        <a:rPr lang="en-US" sz="1100" b="1" i="0" u="none" strike="noStrike" kern="1200" noProof="0">
                          <a:solidFill>
                            <a:schemeClr val="tx1"/>
                          </a:solidFill>
                          <a:latin typeface="Nunito Sans"/>
                          <a:ea typeface="+mn-ea"/>
                          <a:cs typeface="+mn-cs"/>
                        </a:rPr>
                        <a:t>Auto approval of regularizations</a:t>
                      </a:r>
                      <a:endParaRPr lang="en-IN" sz="1100" b="0" i="0" u="none" strike="noStrike" kern="1200" noProof="0">
                        <a:solidFill>
                          <a:srgbClr val="000000"/>
                        </a:solidFill>
                        <a:latin typeface="Nunito Sans"/>
                        <a:ea typeface="+mn-ea"/>
                        <a:cs typeface="+mn-cs"/>
                      </a:endParaRP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171450" lvl="0" indent="-171450" algn="l">
                        <a:lnSpc>
                          <a:spcPct val="100000"/>
                        </a:lnSpc>
                        <a:spcBef>
                          <a:spcPts val="0"/>
                        </a:spcBef>
                        <a:spcAft>
                          <a:spcPts val="0"/>
                        </a:spcAft>
                        <a:buClr>
                          <a:srgbClr val="000000"/>
                        </a:buClr>
                        <a:buFont typeface="Arial,Sans-Serif"/>
                        <a:buChar char="•"/>
                      </a:pPr>
                      <a:r>
                        <a:rPr lang="en-IN" sz="1100" b="0" i="0" u="none" strike="noStrike" kern="1200" noProof="0">
                          <a:solidFill>
                            <a:schemeClr val="tx1"/>
                          </a:solidFill>
                          <a:effectLst/>
                          <a:latin typeface="Nunito Sans"/>
                          <a:ea typeface="+mn-ea"/>
                          <a:cs typeface="+mn-cs"/>
                        </a:rPr>
                        <a:t>Auto approval of regularization requests ensuring timely attendance/payroll closure</a:t>
                      </a:r>
                      <a:endParaRPr lang="en-US" sz="1100" b="0" i="0" u="none" strike="noStrike" kern="1200" noProof="0">
                        <a:solidFill>
                          <a:srgbClr val="000000"/>
                        </a:solidFill>
                        <a:effectLst/>
                        <a:latin typeface="Nunito Sans"/>
                        <a:ea typeface="+mn-ea"/>
                        <a:cs typeface="+mn-cs"/>
                      </a:endParaRPr>
                    </a:p>
                    <a:p>
                      <a:pPr marL="171450" lvl="0" indent="-171450" algn="l">
                        <a:lnSpc>
                          <a:spcPct val="100000"/>
                        </a:lnSpc>
                        <a:spcBef>
                          <a:spcPts val="0"/>
                        </a:spcBef>
                        <a:spcAft>
                          <a:spcPts val="0"/>
                        </a:spcAft>
                        <a:buClr>
                          <a:srgbClr val="000000"/>
                        </a:buClr>
                        <a:buFont typeface="Arial"/>
                        <a:buChar char="•"/>
                      </a:pPr>
                      <a:r>
                        <a:rPr lang="en-US" sz="1100" b="0" i="0" u="none" strike="noStrike" kern="1200" noProof="0">
                          <a:solidFill>
                            <a:schemeClr val="tx1"/>
                          </a:solidFill>
                          <a:effectLst/>
                          <a:latin typeface="Nunito Sans"/>
                          <a:ea typeface="+mn-ea"/>
                          <a:cs typeface="+mn-cs"/>
                        </a:rPr>
                        <a:t>Regularization reason updates basis HR requirements</a:t>
                      </a:r>
                      <a:endParaRPr lang="en-GB" sz="1100">
                        <a:latin typeface="Nunito Sans"/>
                      </a:endParaRPr>
                    </a:p>
                  </a:txBody>
                  <a:tcPr anchor="ctr">
                    <a:lnL w="6350" cap="flat" cmpd="sng" algn="ctr">
                      <a:solidFill>
                        <a:schemeClr val="bg1">
                          <a:lumMod val="75000"/>
                        </a:schemeClr>
                      </a:solidFill>
                      <a:prstDash val="solid"/>
                      <a:round/>
                      <a:headEnd type="none" w="med" len="med"/>
                      <a:tailEnd type="none" w="med" len="med"/>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lvl="0" indent="0" algn="ctr">
                        <a:lnSpc>
                          <a:spcPct val="100000"/>
                        </a:lnSpc>
                        <a:spcBef>
                          <a:spcPts val="0"/>
                        </a:spcBef>
                        <a:spcAft>
                          <a:spcPts val="0"/>
                        </a:spcAft>
                        <a:buNone/>
                      </a:pPr>
                      <a:r>
                        <a:rPr lang="en-GB" sz="1100" b="0" i="0" u="none" strike="noStrike" noProof="0">
                          <a:solidFill>
                            <a:srgbClr val="000000"/>
                          </a:solidFill>
                          <a:latin typeface="Nunito Sans"/>
                        </a:rPr>
                        <a:t>Y</a:t>
                      </a: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lvl="0" indent="0" algn="ctr" defTabSz="914400">
                        <a:lnSpc>
                          <a:spcPct val="100000"/>
                        </a:lnSpc>
                        <a:buNone/>
                      </a:pPr>
                      <a:r>
                        <a:rPr lang="en-IN" sz="1100" b="0" i="0" u="none" strike="noStrike" noProof="0">
                          <a:solidFill>
                            <a:schemeClr val="tx1"/>
                          </a:solidFill>
                          <a:effectLst/>
                          <a:latin typeface="Nunito Sans"/>
                        </a:rPr>
                        <a:t>Y</a:t>
                      </a:r>
                    </a:p>
                  </a:txBody>
                  <a:tcPr marL="45720" marR="45720"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lvl="0" algn="ctr">
                        <a:lnSpc>
                          <a:spcPct val="100000"/>
                        </a:lnSpc>
                        <a:spcBef>
                          <a:spcPts val="0"/>
                        </a:spcBef>
                        <a:spcAft>
                          <a:spcPts val="0"/>
                        </a:spcAft>
                        <a:buNone/>
                      </a:pPr>
                      <a:r>
                        <a:rPr lang="en-IN" sz="1100" b="0" i="0" u="none" strike="noStrike" noProof="0">
                          <a:solidFill>
                            <a:schemeClr val="tx1"/>
                          </a:solidFill>
                          <a:effectLst/>
                          <a:latin typeface="Nunito Sans"/>
                        </a:rPr>
                        <a:t>28th May</a:t>
                      </a:r>
                      <a:endParaRPr lang="en-IN" sz="1100" b="0" i="0" u="none" strike="noStrike" noProof="0">
                        <a:solidFill>
                          <a:srgbClr val="000000"/>
                        </a:solidFill>
                        <a:effectLst/>
                        <a:latin typeface="Nunito Sans"/>
                      </a:endParaRPr>
                    </a:p>
                  </a:txBody>
                  <a:tcPr marL="45720" marR="45720"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a:solidFill>
                        <a:schemeClr val="bg1">
                          <a:lumMod val="75000"/>
                        </a:schemeClr>
                      </a:solidFill>
                    </a:lnB>
                    <a:solidFill>
                      <a:schemeClr val="bg1"/>
                    </a:solidFill>
                  </a:tcPr>
                </a:tc>
                <a:tc>
                  <a:txBody>
                    <a:bodyPr/>
                    <a:lstStyle/>
                    <a:p>
                      <a:pPr lvl="0" algn="ctr">
                        <a:lnSpc>
                          <a:spcPct val="100000"/>
                        </a:lnSpc>
                        <a:spcBef>
                          <a:spcPts val="0"/>
                        </a:spcBef>
                        <a:spcAft>
                          <a:spcPts val="0"/>
                        </a:spcAft>
                        <a:buNone/>
                      </a:pPr>
                      <a:r>
                        <a:rPr lang="en-IN" sz="1100" b="0" i="0" u="none" strike="noStrike" noProof="0">
                          <a:solidFill>
                            <a:schemeClr val="tx1"/>
                          </a:solidFill>
                          <a:effectLst/>
                          <a:hlinkClick r:id="rId6"/>
                        </a:rPr>
                        <a:t>MC-148</a:t>
                      </a:r>
                      <a:endParaRPr lang="en-IN" sz="1100" b="0" i="0" u="none" strike="noStrike" noProof="0">
                        <a:solidFill>
                          <a:schemeClr val="tx1"/>
                        </a:solidFill>
                        <a:effectLst/>
                      </a:endParaRPr>
                    </a:p>
                  </a:txBody>
                  <a:tcPr marL="45720" marR="45720"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solidFill>
                      <a:schemeClr val="bg1"/>
                    </a:solidFill>
                  </a:tcPr>
                </a:tc>
                <a:extLst>
                  <a:ext uri="{0D108BD9-81ED-4DB2-BD59-A6C34878D82A}">
                    <a16:rowId xmlns:a16="http://schemas.microsoft.com/office/drawing/2014/main" val="232805594"/>
                  </a:ext>
                </a:extLst>
              </a:tr>
              <a:tr h="507559">
                <a:tc>
                  <a:txBody>
                    <a:bodyPr/>
                    <a:lstStyle/>
                    <a:p>
                      <a:pPr lvl="0" algn="l">
                        <a:lnSpc>
                          <a:spcPct val="100000"/>
                        </a:lnSpc>
                        <a:spcBef>
                          <a:spcPts val="0"/>
                        </a:spcBef>
                        <a:spcAft>
                          <a:spcPts val="0"/>
                        </a:spcAft>
                        <a:buNone/>
                      </a:pPr>
                      <a:r>
                        <a:rPr lang="en-US" sz="1100" b="1" i="0" u="none" strike="noStrike" kern="1200" noProof="0">
                          <a:solidFill>
                            <a:schemeClr val="tx1"/>
                          </a:solidFill>
                          <a:latin typeface="Nunito Sans"/>
                          <a:ea typeface="+mn-ea"/>
                          <a:cs typeface="+mn-cs"/>
                        </a:rPr>
                        <a:t>Uniform issuance for Pilots and other non-crew dept</a:t>
                      </a:r>
                      <a:endParaRPr lang="en-US" sz="1100" b="0" i="0" u="none" strike="noStrike" kern="1200" noProof="0">
                        <a:solidFill>
                          <a:srgbClr val="000000"/>
                        </a:solidFill>
                        <a:latin typeface="Nunito Sans"/>
                        <a:ea typeface="+mn-ea"/>
                        <a:cs typeface="+mn-cs"/>
                      </a:endParaRP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lvl="0" indent="0" algn="l">
                        <a:lnSpc>
                          <a:spcPct val="100000"/>
                        </a:lnSpc>
                        <a:spcBef>
                          <a:spcPts val="0"/>
                        </a:spcBef>
                        <a:spcAft>
                          <a:spcPts val="0"/>
                        </a:spcAft>
                        <a:buNone/>
                      </a:pPr>
                      <a:r>
                        <a:rPr lang="en-US" sz="1100" b="1" i="0" u="none" strike="noStrike" kern="1200" noProof="0">
                          <a:solidFill>
                            <a:schemeClr val="tx1"/>
                          </a:solidFill>
                          <a:effectLst/>
                          <a:latin typeface="Nunito Sans"/>
                          <a:ea typeface="+mn-ea"/>
                          <a:cs typeface="+mn-cs"/>
                        </a:rPr>
                        <a:t>Digital end-to-end uniform ordering and exchange for all eligible employee departments </a:t>
                      </a:r>
                      <a:endParaRPr lang="en-US" sz="1100" b="0" i="0" u="none" strike="noStrike" kern="1200" noProof="0">
                        <a:solidFill>
                          <a:srgbClr val="000000"/>
                        </a:solidFill>
                        <a:effectLst/>
                        <a:latin typeface="Nunito Sans"/>
                        <a:ea typeface="+mn-ea"/>
                        <a:cs typeface="+mn-cs"/>
                      </a:endParaRPr>
                    </a:p>
                    <a:p>
                      <a:pPr marL="171450" lvl="0" indent="-171450" algn="l">
                        <a:lnSpc>
                          <a:spcPct val="100000"/>
                        </a:lnSpc>
                        <a:spcBef>
                          <a:spcPts val="0"/>
                        </a:spcBef>
                        <a:spcAft>
                          <a:spcPts val="0"/>
                        </a:spcAft>
                        <a:buClr>
                          <a:srgbClr val="000000"/>
                        </a:buClr>
                        <a:buFont typeface="Arial,Sans-Serif"/>
                        <a:buChar char="•"/>
                      </a:pPr>
                      <a:r>
                        <a:rPr lang="en-US" sz="1100" b="0" i="0" u="none" strike="noStrike" kern="1200" noProof="0">
                          <a:solidFill>
                            <a:schemeClr val="tx1"/>
                          </a:solidFill>
                          <a:effectLst/>
                          <a:latin typeface="Nunito Sans"/>
                          <a:ea typeface="+mn-ea"/>
                          <a:cs typeface="+mn-cs"/>
                        </a:rPr>
                        <a:t>Entitlement, product and description visibility</a:t>
                      </a:r>
                      <a:endParaRPr lang="en-US" sz="1100" b="0" i="0" u="none" strike="noStrike" kern="1200" noProof="0">
                        <a:solidFill>
                          <a:srgbClr val="000000"/>
                        </a:solidFill>
                        <a:effectLst/>
                        <a:latin typeface="Nunito Sans"/>
                        <a:ea typeface="+mn-ea"/>
                        <a:cs typeface="+mn-cs"/>
                      </a:endParaRPr>
                    </a:p>
                    <a:p>
                      <a:pPr marL="171450" lvl="0" indent="-171450" algn="l">
                        <a:lnSpc>
                          <a:spcPct val="100000"/>
                        </a:lnSpc>
                        <a:spcBef>
                          <a:spcPts val="0"/>
                        </a:spcBef>
                        <a:spcAft>
                          <a:spcPts val="0"/>
                        </a:spcAft>
                        <a:buClr>
                          <a:srgbClr val="000000"/>
                        </a:buClr>
                        <a:buFont typeface="Arial,Sans-Serif"/>
                        <a:buChar char="•"/>
                      </a:pPr>
                      <a:r>
                        <a:rPr lang="en-US" sz="1100" b="0" i="0" u="none" strike="noStrike" kern="1200" noProof="0">
                          <a:solidFill>
                            <a:schemeClr val="tx1"/>
                          </a:solidFill>
                          <a:effectLst/>
                          <a:latin typeface="Nunito Sans"/>
                          <a:ea typeface="+mn-ea"/>
                          <a:cs typeface="+mn-cs"/>
                        </a:rPr>
                        <a:t>Self-service ordering with size exchange requests</a:t>
                      </a:r>
                      <a:endParaRPr lang="en-US" sz="1100" b="0" i="0" u="none" strike="noStrike" kern="1200" noProof="0">
                        <a:solidFill>
                          <a:srgbClr val="000000"/>
                        </a:solidFill>
                        <a:effectLst/>
                        <a:latin typeface="Nunito Sans"/>
                        <a:ea typeface="+mn-ea"/>
                        <a:cs typeface="+mn-cs"/>
                      </a:endParaRPr>
                    </a:p>
                    <a:p>
                      <a:pPr marL="171450" lvl="0" indent="-171450" algn="l">
                        <a:lnSpc>
                          <a:spcPct val="100000"/>
                        </a:lnSpc>
                        <a:spcBef>
                          <a:spcPts val="0"/>
                        </a:spcBef>
                        <a:spcAft>
                          <a:spcPts val="0"/>
                        </a:spcAft>
                        <a:buClr>
                          <a:srgbClr val="000000"/>
                        </a:buClr>
                        <a:buFont typeface="Arial,Sans-Serif"/>
                        <a:buChar char="•"/>
                      </a:pPr>
                      <a:r>
                        <a:rPr lang="en-US" sz="1100" b="0" i="0" u="none" strike="noStrike" kern="1200" noProof="0">
                          <a:solidFill>
                            <a:schemeClr val="tx1"/>
                          </a:solidFill>
                          <a:effectLst/>
                          <a:latin typeface="Nunito Sans"/>
                          <a:ea typeface="+mn-ea"/>
                          <a:cs typeface="+mn-cs"/>
                        </a:rPr>
                        <a:t>Notification on order collection and completion milestones</a:t>
                      </a:r>
                      <a:endParaRPr lang="en-US" sz="1100">
                        <a:latin typeface="Nunito Sans"/>
                      </a:endParaRPr>
                    </a:p>
                  </a:txBody>
                  <a:tcPr anchor="ctr">
                    <a:lnL w="6350" cap="flat" cmpd="sng" algn="ctr">
                      <a:solidFill>
                        <a:schemeClr val="bg1">
                          <a:lumMod val="75000"/>
                        </a:schemeClr>
                      </a:solidFill>
                      <a:prstDash val="solid"/>
                      <a:round/>
                      <a:headEnd type="none" w="med" len="med"/>
                      <a:tailEnd type="none" w="med" len="med"/>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lvl="0" indent="0" algn="ctr">
                        <a:lnSpc>
                          <a:spcPct val="100000"/>
                        </a:lnSpc>
                        <a:spcBef>
                          <a:spcPts val="0"/>
                        </a:spcBef>
                        <a:spcAft>
                          <a:spcPts val="0"/>
                        </a:spcAft>
                        <a:buNone/>
                      </a:pPr>
                      <a:r>
                        <a:rPr lang="en-GB" sz="1100" b="0" i="0" u="none" strike="noStrike" noProof="0">
                          <a:solidFill>
                            <a:srgbClr val="000000"/>
                          </a:solidFill>
                          <a:latin typeface="Nunito Sans"/>
                        </a:rPr>
                        <a:t>Y</a:t>
                      </a: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lvl="0" indent="0" algn="ctr" defTabSz="914400">
                        <a:lnSpc>
                          <a:spcPct val="100000"/>
                        </a:lnSpc>
                        <a:buNone/>
                      </a:pPr>
                      <a:r>
                        <a:rPr lang="en-IN" sz="1100" b="0" i="0" u="none" strike="noStrike" noProof="0">
                          <a:solidFill>
                            <a:schemeClr val="tx1"/>
                          </a:solidFill>
                          <a:effectLst/>
                          <a:latin typeface="Nunito Sans"/>
                        </a:rPr>
                        <a:t>Y</a:t>
                      </a:r>
                    </a:p>
                  </a:txBody>
                  <a:tcPr marL="45720" marR="45720"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lvl="0" algn="ctr">
                        <a:lnSpc>
                          <a:spcPct val="100000"/>
                        </a:lnSpc>
                        <a:spcBef>
                          <a:spcPts val="0"/>
                        </a:spcBef>
                        <a:spcAft>
                          <a:spcPts val="0"/>
                        </a:spcAft>
                        <a:buNone/>
                      </a:pPr>
                      <a:r>
                        <a:rPr lang="en-IN" sz="1100" b="0" i="0" u="none" strike="noStrike" noProof="0">
                          <a:solidFill>
                            <a:schemeClr val="tx1"/>
                          </a:solidFill>
                          <a:effectLst/>
                          <a:latin typeface="Nunito Sans"/>
                        </a:rPr>
                        <a:t>28th May</a:t>
                      </a:r>
                      <a:endParaRPr lang="en-IN" sz="1100" b="0" i="0" u="none" strike="noStrike" noProof="0">
                        <a:solidFill>
                          <a:srgbClr val="000000"/>
                        </a:solidFill>
                        <a:effectLst/>
                        <a:latin typeface="Nunito Sans"/>
                      </a:endParaRPr>
                    </a:p>
                  </a:txBody>
                  <a:tcPr marL="45720" marR="45720"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a:solidFill>
                        <a:schemeClr val="bg1">
                          <a:lumMod val="75000"/>
                        </a:schemeClr>
                      </a:solidFill>
                    </a:lnB>
                    <a:solidFill>
                      <a:schemeClr val="bg1"/>
                    </a:solidFill>
                  </a:tcPr>
                </a:tc>
                <a:tc>
                  <a:txBody>
                    <a:bodyPr/>
                    <a:lstStyle/>
                    <a:p>
                      <a:pPr lvl="0" algn="ctr">
                        <a:lnSpc>
                          <a:spcPct val="100000"/>
                        </a:lnSpc>
                        <a:spcBef>
                          <a:spcPts val="0"/>
                        </a:spcBef>
                        <a:spcAft>
                          <a:spcPts val="0"/>
                        </a:spcAft>
                        <a:buNone/>
                      </a:pPr>
                      <a:endParaRPr lang="en-IN" sz="1100" b="0" i="0" u="none" strike="noStrike" noProof="0">
                        <a:solidFill>
                          <a:schemeClr val="tx1"/>
                        </a:solidFill>
                        <a:effectLst/>
                        <a:latin typeface="Nunito Sans"/>
                      </a:endParaRPr>
                    </a:p>
                  </a:txBody>
                  <a:tcPr marL="45720" marR="45720"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solidFill>
                      <a:schemeClr val="bg1"/>
                    </a:solidFill>
                  </a:tcPr>
                </a:tc>
                <a:extLst>
                  <a:ext uri="{0D108BD9-81ED-4DB2-BD59-A6C34878D82A}">
                    <a16:rowId xmlns:a16="http://schemas.microsoft.com/office/drawing/2014/main" val="3091727988"/>
                  </a:ext>
                </a:extLst>
              </a:tr>
              <a:tr h="507559">
                <a:tc>
                  <a:txBody>
                    <a:bodyPr/>
                    <a:lstStyle/>
                    <a:p>
                      <a:pPr lvl="0" algn="l">
                        <a:lnSpc>
                          <a:spcPct val="100000"/>
                        </a:lnSpc>
                        <a:spcBef>
                          <a:spcPts val="0"/>
                        </a:spcBef>
                        <a:spcAft>
                          <a:spcPts val="0"/>
                        </a:spcAft>
                        <a:buNone/>
                      </a:pPr>
                      <a:r>
                        <a:rPr lang="en-US" sz="1100" b="1" i="0" u="none" strike="noStrike" kern="1200" noProof="0">
                          <a:solidFill>
                            <a:schemeClr val="tx1"/>
                          </a:solidFill>
                          <a:latin typeface="Nunito Sans"/>
                          <a:ea typeface="+mn-ea"/>
                          <a:cs typeface="+mn-cs"/>
                        </a:rPr>
                        <a:t>Tech/UI UX debt</a:t>
                      </a:r>
                      <a:endParaRPr lang="en-US" sz="1100" b="0" i="0" u="none" strike="noStrike" kern="1200" noProof="0">
                        <a:solidFill>
                          <a:srgbClr val="000000"/>
                        </a:solidFill>
                        <a:latin typeface="Nunito Sans"/>
                        <a:ea typeface="+mn-ea"/>
                        <a:cs typeface="+mn-cs"/>
                      </a:endParaRP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solidFill>
                      <a:schemeClr val="bg1"/>
                    </a:solidFill>
                  </a:tcPr>
                </a:tc>
                <a:tc>
                  <a:txBody>
                    <a:bodyPr/>
                    <a:lstStyle/>
                    <a:p>
                      <a:pPr marL="171450" lvl="0" indent="-171450" algn="l">
                        <a:lnSpc>
                          <a:spcPct val="100000"/>
                        </a:lnSpc>
                        <a:spcBef>
                          <a:spcPts val="0"/>
                        </a:spcBef>
                        <a:spcAft>
                          <a:spcPts val="0"/>
                        </a:spcAft>
                        <a:buClr>
                          <a:srgbClr val="000000"/>
                        </a:buClr>
                        <a:buFont typeface="Arial,Sans-Serif"/>
                        <a:buChar char="•"/>
                      </a:pPr>
                      <a:r>
                        <a:rPr lang="en-IN" sz="1100" b="0" i="0" u="none" strike="noStrike" kern="1200" noProof="0">
                          <a:solidFill>
                            <a:srgbClr val="000000"/>
                          </a:solidFill>
                          <a:effectLst/>
                          <a:latin typeface="Nunito Sans"/>
                          <a:ea typeface="+mn-ea"/>
                          <a:cs typeface="+mn-cs"/>
                        </a:rPr>
                        <a:t>Attendance – auto-scroll to date for the day and merging of legends</a:t>
                      </a:r>
                      <a:endParaRPr lang="en-US" sz="1100" b="0" i="0" u="none" strike="noStrike" kern="1200" noProof="0">
                        <a:solidFill>
                          <a:srgbClr val="000000"/>
                        </a:solidFill>
                        <a:effectLst/>
                        <a:latin typeface="Nunito Sans"/>
                        <a:ea typeface="+mn-ea"/>
                        <a:cs typeface="+mn-cs"/>
                      </a:endParaRPr>
                    </a:p>
                    <a:p>
                      <a:pPr marL="171450" lvl="0" indent="-171450" algn="l">
                        <a:lnSpc>
                          <a:spcPct val="100000"/>
                        </a:lnSpc>
                        <a:spcBef>
                          <a:spcPts val="0"/>
                        </a:spcBef>
                        <a:spcAft>
                          <a:spcPts val="0"/>
                        </a:spcAft>
                        <a:buClr>
                          <a:srgbClr val="000000"/>
                        </a:buClr>
                        <a:buFont typeface="Arial,Sans-Serif"/>
                        <a:buChar char="•"/>
                      </a:pPr>
                      <a:r>
                        <a:rPr lang="en-IN" sz="1100" b="0" i="0" u="none" strike="noStrike" kern="1200" noProof="0">
                          <a:solidFill>
                            <a:srgbClr val="000000"/>
                          </a:solidFill>
                          <a:effectLst/>
                          <a:latin typeface="Nunito Sans"/>
                          <a:ea typeface="+mn-ea"/>
                          <a:cs typeface="+mn-cs"/>
                        </a:rPr>
                        <a:t>Notification centre- read all message functionality</a:t>
                      </a:r>
                      <a:endParaRPr lang="en-US" sz="1100" b="0" i="0" u="none" strike="noStrike" kern="1200" noProof="0">
                        <a:solidFill>
                          <a:srgbClr val="000000"/>
                        </a:solidFill>
                        <a:effectLst/>
                        <a:latin typeface="Nunito Sans"/>
                        <a:ea typeface="+mn-ea"/>
                        <a:cs typeface="+mn-cs"/>
                      </a:endParaRPr>
                    </a:p>
                    <a:p>
                      <a:pPr marL="171450" marR="0" lvl="0" indent="-171450" algn="l">
                        <a:lnSpc>
                          <a:spcPct val="100000"/>
                        </a:lnSpc>
                        <a:spcBef>
                          <a:spcPts val="0"/>
                        </a:spcBef>
                        <a:spcAft>
                          <a:spcPts val="0"/>
                        </a:spcAft>
                        <a:buClr>
                          <a:srgbClr val="000000"/>
                        </a:buClr>
                        <a:buFont typeface="Arial,Sans-Serif"/>
                        <a:buChar char="•"/>
                      </a:pPr>
                      <a:r>
                        <a:rPr lang="en-IN" sz="1100" b="0" i="0" u="none" strike="noStrike" kern="1200" noProof="0">
                          <a:solidFill>
                            <a:schemeClr val="tx1"/>
                          </a:solidFill>
                          <a:effectLst/>
                          <a:latin typeface="Nunito Sans"/>
                          <a:ea typeface="+mn-ea"/>
                          <a:cs typeface="+mn-cs"/>
                        </a:rPr>
                        <a:t>Leave visibility outside FY for non-balance leave types</a:t>
                      </a:r>
                      <a:endParaRPr lang="en-US" sz="1100" b="0" i="0" u="none" strike="noStrike" kern="1200" noProof="0">
                        <a:solidFill>
                          <a:srgbClr val="000000"/>
                        </a:solidFill>
                        <a:effectLst/>
                        <a:latin typeface="Nunito Sans"/>
                        <a:ea typeface="+mn-ea"/>
                        <a:cs typeface="+mn-cs"/>
                      </a:endParaRPr>
                    </a:p>
                    <a:p>
                      <a:pPr marL="171450" marR="0" lvl="0" indent="-171450" algn="l">
                        <a:lnSpc>
                          <a:spcPct val="100000"/>
                        </a:lnSpc>
                        <a:spcBef>
                          <a:spcPts val="0"/>
                        </a:spcBef>
                        <a:spcAft>
                          <a:spcPts val="0"/>
                        </a:spcAft>
                        <a:buClr>
                          <a:srgbClr val="000000"/>
                        </a:buClr>
                        <a:buFont typeface="Arial,Sans-Serif"/>
                        <a:buChar char="•"/>
                      </a:pPr>
                      <a:r>
                        <a:rPr lang="en-IN" sz="1100" b="0" i="0" u="none" strike="noStrike" kern="1200" noProof="0">
                          <a:solidFill>
                            <a:schemeClr val="tx1"/>
                          </a:solidFill>
                          <a:effectLst/>
                          <a:latin typeface="Nunito Sans"/>
                          <a:ea typeface="+mn-ea"/>
                          <a:cs typeface="+mn-cs"/>
                        </a:rPr>
                        <a:t>Trips-formatting changes</a:t>
                      </a:r>
                      <a:endParaRPr lang="en-US" sz="1100" b="0" i="0" u="none" strike="noStrike" kern="1200" noProof="0">
                        <a:solidFill>
                          <a:srgbClr val="000000"/>
                        </a:solidFill>
                        <a:effectLst/>
                        <a:latin typeface="Nunito Sans"/>
                        <a:ea typeface="+mn-ea"/>
                        <a:cs typeface="+mn-cs"/>
                      </a:endParaRPr>
                    </a:p>
                    <a:p>
                      <a:pPr marL="171450" marR="0" lvl="0" indent="-171450" algn="l">
                        <a:lnSpc>
                          <a:spcPct val="100000"/>
                        </a:lnSpc>
                        <a:spcBef>
                          <a:spcPts val="0"/>
                        </a:spcBef>
                        <a:spcAft>
                          <a:spcPts val="0"/>
                        </a:spcAft>
                        <a:buClr>
                          <a:srgbClr val="000000"/>
                        </a:buClr>
                        <a:buFont typeface="Arial,Sans-Serif"/>
                        <a:buChar char="•"/>
                      </a:pPr>
                      <a:r>
                        <a:rPr lang="en-IN" sz="1100" b="0" i="0" u="none" strike="noStrike" kern="1200" noProof="0">
                          <a:solidFill>
                            <a:schemeClr val="tx1"/>
                          </a:solidFill>
                          <a:effectLst/>
                          <a:latin typeface="Nunito Sans"/>
                          <a:ea typeface="+mn-ea"/>
                          <a:cs typeface="+mn-cs"/>
                        </a:rPr>
                        <a:t>App – introduce quick links in bottom nav</a:t>
                      </a:r>
                      <a:endParaRPr lang="en-US" sz="1100" b="0" i="0" u="none" strike="noStrike" kern="1200" noProof="0">
                        <a:solidFill>
                          <a:srgbClr val="000000"/>
                        </a:solidFill>
                        <a:effectLst/>
                        <a:latin typeface="Nunito Sans"/>
                        <a:ea typeface="+mn-ea"/>
                        <a:cs typeface="+mn-cs"/>
                      </a:endParaRPr>
                    </a:p>
                    <a:p>
                      <a:pPr marL="171450" marR="0" lvl="0" indent="-171450" algn="l">
                        <a:lnSpc>
                          <a:spcPct val="100000"/>
                        </a:lnSpc>
                        <a:spcBef>
                          <a:spcPts val="0"/>
                        </a:spcBef>
                        <a:spcAft>
                          <a:spcPts val="0"/>
                        </a:spcAft>
                        <a:buClr>
                          <a:srgbClr val="000000"/>
                        </a:buClr>
                        <a:buFont typeface="Arial,Sans-Serif"/>
                        <a:buChar char="•"/>
                      </a:pPr>
                      <a:r>
                        <a:rPr lang="en-IN" sz="1100" b="0" i="0" u="none" strike="noStrike" kern="1200" noProof="0">
                          <a:solidFill>
                            <a:schemeClr val="tx1"/>
                          </a:solidFill>
                          <a:effectLst/>
                          <a:latin typeface="Nunito Sans"/>
                          <a:ea typeface="+mn-ea"/>
                          <a:cs typeface="+mn-cs"/>
                        </a:rPr>
                        <a:t>Enabling consistent logging for 15 backend services</a:t>
                      </a:r>
                      <a:endParaRPr lang="en-US" sz="1100">
                        <a:latin typeface="Nunito Sans"/>
                      </a:endParaRPr>
                    </a:p>
                  </a:txBody>
                  <a:tcPr anchor="ctr">
                    <a:lnL w="6350" cap="flat" cmpd="sng" algn="ctr">
                      <a:solidFill>
                        <a:schemeClr val="bg1">
                          <a:lumMod val="75000"/>
                        </a:schemeClr>
                      </a:solidFill>
                      <a:prstDash val="solid"/>
                      <a:round/>
                      <a:headEnd type="none" w="med" len="med"/>
                      <a:tailEnd type="none" w="med" len="med"/>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a:solidFill>
                        <a:schemeClr val="bg1">
                          <a:lumMod val="75000"/>
                        </a:schemeClr>
                      </a:solidFill>
                    </a:lnB>
                    <a:solidFill>
                      <a:schemeClr val="bg1"/>
                    </a:solidFill>
                  </a:tcPr>
                </a:tc>
                <a:tc>
                  <a:txBody>
                    <a:bodyPr/>
                    <a:lstStyle/>
                    <a:p>
                      <a:pPr marL="0" lvl="0" indent="0" algn="ctr">
                        <a:lnSpc>
                          <a:spcPct val="100000"/>
                        </a:lnSpc>
                        <a:spcBef>
                          <a:spcPts val="0"/>
                        </a:spcBef>
                        <a:spcAft>
                          <a:spcPts val="0"/>
                        </a:spcAft>
                        <a:buNone/>
                      </a:pPr>
                      <a:r>
                        <a:rPr lang="en-GB" sz="1100" b="0" i="0" u="none" strike="noStrike" noProof="0">
                          <a:solidFill>
                            <a:srgbClr val="000000"/>
                          </a:solidFill>
                          <a:latin typeface="Nunito Sans"/>
                        </a:rPr>
                        <a:t>Y</a:t>
                      </a: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solidFill>
                      <a:schemeClr val="bg1"/>
                    </a:solidFill>
                  </a:tcPr>
                </a:tc>
                <a:tc>
                  <a:txBody>
                    <a:bodyPr/>
                    <a:lstStyle/>
                    <a:p>
                      <a:pPr marL="0" lvl="0" indent="0" algn="ctr" defTabSz="914400">
                        <a:lnSpc>
                          <a:spcPct val="100000"/>
                        </a:lnSpc>
                        <a:buNone/>
                      </a:pPr>
                      <a:r>
                        <a:rPr lang="en-IN" sz="1100" b="0" i="0" u="none" strike="noStrike" noProof="0">
                          <a:solidFill>
                            <a:schemeClr val="tx1"/>
                          </a:solidFill>
                          <a:effectLst/>
                          <a:latin typeface="Nunito Sans"/>
                        </a:rPr>
                        <a:t>Y</a:t>
                      </a:r>
                    </a:p>
                  </a:txBody>
                  <a:tcPr marL="45720" marR="45720"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a:solidFill>
                        <a:schemeClr val="bg1">
                          <a:lumMod val="75000"/>
                        </a:schemeClr>
                      </a:solidFill>
                    </a:lnB>
                    <a:solidFill>
                      <a:schemeClr val="bg1"/>
                    </a:solidFill>
                  </a:tcPr>
                </a:tc>
                <a:tc>
                  <a:txBody>
                    <a:bodyPr/>
                    <a:lstStyle/>
                    <a:p>
                      <a:pPr lvl="0" algn="ctr">
                        <a:lnSpc>
                          <a:spcPct val="100000"/>
                        </a:lnSpc>
                        <a:spcBef>
                          <a:spcPts val="0"/>
                        </a:spcBef>
                        <a:spcAft>
                          <a:spcPts val="0"/>
                        </a:spcAft>
                        <a:buNone/>
                      </a:pPr>
                      <a:r>
                        <a:rPr lang="en-IN" sz="1100" b="0" i="0" u="none" strike="noStrike" noProof="0">
                          <a:solidFill>
                            <a:schemeClr val="tx1"/>
                          </a:solidFill>
                          <a:effectLst/>
                          <a:latin typeface="Nunito Sans"/>
                        </a:rPr>
                        <a:t>28th May</a:t>
                      </a:r>
                      <a:endParaRPr lang="en-IN" sz="1100" b="0" i="0" u="none" strike="noStrike" noProof="0">
                        <a:solidFill>
                          <a:srgbClr val="000000"/>
                        </a:solidFill>
                        <a:effectLst/>
                        <a:latin typeface="Nunito Sans"/>
                      </a:endParaRPr>
                    </a:p>
                  </a:txBody>
                  <a:tcPr marL="45720" marR="45720"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a:solidFill>
                        <a:schemeClr val="bg1">
                          <a:lumMod val="75000"/>
                        </a:schemeClr>
                      </a:solidFill>
                    </a:lnB>
                    <a:solidFill>
                      <a:schemeClr val="bg1"/>
                    </a:solidFill>
                  </a:tcPr>
                </a:tc>
                <a:tc>
                  <a:txBody>
                    <a:bodyPr/>
                    <a:lstStyle/>
                    <a:p>
                      <a:pPr lvl="0" algn="ctr">
                        <a:lnSpc>
                          <a:spcPct val="100000"/>
                        </a:lnSpc>
                        <a:spcBef>
                          <a:spcPts val="0"/>
                        </a:spcBef>
                        <a:spcAft>
                          <a:spcPts val="0"/>
                        </a:spcAft>
                        <a:buNone/>
                      </a:pPr>
                      <a:endParaRPr lang="en-IN" sz="1100" b="0" i="0" u="none" strike="noStrike" noProof="0">
                        <a:solidFill>
                          <a:schemeClr val="tx1"/>
                        </a:solidFill>
                        <a:effectLst/>
                        <a:latin typeface="Nunito Sans"/>
                      </a:endParaRPr>
                    </a:p>
                  </a:txBody>
                  <a:tcPr marL="45720" marR="45720"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solidFill>
                      <a:schemeClr val="bg1"/>
                    </a:solidFill>
                  </a:tcPr>
                </a:tc>
                <a:extLst>
                  <a:ext uri="{0D108BD9-81ED-4DB2-BD59-A6C34878D82A}">
                    <a16:rowId xmlns:a16="http://schemas.microsoft.com/office/drawing/2014/main" val="2708440075"/>
                  </a:ext>
                </a:extLst>
              </a:tr>
            </a:tbl>
          </a:graphicData>
        </a:graphic>
      </p:graphicFrame>
      <p:sp>
        <p:nvSpPr>
          <p:cNvPr id="26" name="TextBox 25">
            <a:extLst>
              <a:ext uri="{FF2B5EF4-FFF2-40B4-BE49-F238E27FC236}">
                <a16:creationId xmlns:a16="http://schemas.microsoft.com/office/drawing/2014/main" id="{46CFC5A3-6670-C1E3-5A8E-7E0E6A381523}"/>
              </a:ext>
            </a:extLst>
          </p:cNvPr>
          <p:cNvSpPr txBox="1"/>
          <p:nvPr/>
        </p:nvSpPr>
        <p:spPr>
          <a:xfrm>
            <a:off x="343955" y="3897931"/>
            <a:ext cx="417102" cy="253916"/>
          </a:xfrm>
          <a:prstGeom prst="rect">
            <a:avLst/>
          </a:prstGeom>
          <a:noFill/>
        </p:spPr>
        <p:txBody>
          <a:bodyPr wrap="none" lIns="91440" tIns="45720" rIns="91440" bIns="45720" rtlCol="0" anchor="t">
            <a:spAutoFit/>
          </a:bodyPr>
          <a:lstStyle/>
          <a:p>
            <a:r>
              <a:rPr lang="en-IN" sz="1050" b="1">
                <a:solidFill>
                  <a:schemeClr val="bg1"/>
                </a:solidFill>
                <a:latin typeface="Montserrat Light"/>
              </a:rPr>
              <a:t>Jan</a:t>
            </a:r>
            <a:endParaRPr lang="en-IN" sz="1050" b="1">
              <a:solidFill>
                <a:schemeClr val="bg1"/>
              </a:solidFill>
              <a:latin typeface="Montserrat Light" pitchFamily="2" charset="0"/>
            </a:endParaRPr>
          </a:p>
        </p:txBody>
      </p:sp>
      <p:sp>
        <p:nvSpPr>
          <p:cNvPr id="27" name="TextBox 15">
            <a:extLst>
              <a:ext uri="{FF2B5EF4-FFF2-40B4-BE49-F238E27FC236}">
                <a16:creationId xmlns:a16="http://schemas.microsoft.com/office/drawing/2014/main" id="{BF75E1CE-D72C-3292-5891-DDB8BC4F40F5}"/>
              </a:ext>
            </a:extLst>
          </p:cNvPr>
          <p:cNvSpPr txBox="1"/>
          <p:nvPr/>
        </p:nvSpPr>
        <p:spPr>
          <a:xfrm>
            <a:off x="398384" y="817274"/>
            <a:ext cx="417102" cy="253916"/>
          </a:xfrm>
          <a:prstGeom prst="rect">
            <a:avLst/>
          </a:prstGeom>
          <a:noFill/>
        </p:spPr>
        <p:txBody>
          <a:bodyPr wrap="non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050" b="1">
                <a:solidFill>
                  <a:schemeClr val="bg1"/>
                </a:solidFill>
                <a:latin typeface="Montserrat Light"/>
              </a:rPr>
              <a:t>Jan</a:t>
            </a:r>
            <a:endParaRPr lang="en-IN" sz="1050" b="1">
              <a:solidFill>
                <a:schemeClr val="bg1"/>
              </a:solidFill>
              <a:latin typeface="Montserrat Light" pitchFamily="2" charset="0"/>
            </a:endParaRPr>
          </a:p>
        </p:txBody>
      </p:sp>
      <p:sp>
        <p:nvSpPr>
          <p:cNvPr id="29" name="Rectangle 28">
            <a:extLst>
              <a:ext uri="{FF2B5EF4-FFF2-40B4-BE49-F238E27FC236}">
                <a16:creationId xmlns:a16="http://schemas.microsoft.com/office/drawing/2014/main" id="{D6F9481A-1BDE-4D7E-BAD5-7729443603DE}"/>
              </a:ext>
            </a:extLst>
          </p:cNvPr>
          <p:cNvSpPr/>
          <p:nvPr/>
        </p:nvSpPr>
        <p:spPr>
          <a:xfrm>
            <a:off x="-4474" y="793560"/>
            <a:ext cx="1067526" cy="42234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IN" sz="1400" b="1">
                <a:latin typeface="AirIndia"/>
              </a:rPr>
              <a:t>May ‘26</a:t>
            </a:r>
          </a:p>
        </p:txBody>
      </p:sp>
      <p:pic>
        <p:nvPicPr>
          <p:cNvPr id="34" name="Picture 33">
            <a:extLst>
              <a:ext uri="{FF2B5EF4-FFF2-40B4-BE49-F238E27FC236}">
                <a16:creationId xmlns:a16="http://schemas.microsoft.com/office/drawing/2014/main" id="{291806EB-E07C-43FC-99D6-EF8A602AEA26}"/>
              </a:ext>
            </a:extLst>
          </p:cNvPr>
          <p:cNvPicPr>
            <a:picLocks noChangeAspect="1"/>
          </p:cNvPicPr>
          <p:nvPr/>
        </p:nvPicPr>
        <p:blipFill>
          <a:blip r:embed="rId7"/>
          <a:stretch>
            <a:fillRect/>
          </a:stretch>
        </p:blipFill>
        <p:spPr>
          <a:xfrm>
            <a:off x="306161" y="6532789"/>
            <a:ext cx="8248650" cy="323850"/>
          </a:xfrm>
          <a:prstGeom prst="rect">
            <a:avLst/>
          </a:prstGeom>
        </p:spPr>
      </p:pic>
    </p:spTree>
    <p:extLst>
      <p:ext uri="{BB962C8B-B14F-4D97-AF65-F5344CB8AC3E}">
        <p14:creationId xmlns:p14="http://schemas.microsoft.com/office/powerpoint/2010/main" val="265946167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9DBAFF-E14F-23CD-6E7F-0035C230883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06CC056-A031-0E88-25A0-D35479B786B9}"/>
              </a:ext>
            </a:extLst>
          </p:cNvPr>
          <p:cNvSpPr>
            <a:spLocks noGrp="1"/>
          </p:cNvSpPr>
          <p:nvPr>
            <p:ph type="sldNum" sz="quarter" idx="12"/>
          </p:nvPr>
        </p:nvSpPr>
        <p:spPr/>
        <p:txBody>
          <a:bodyPr/>
          <a:lstStyle/>
          <a:p>
            <a:fld id="{3A41A254-7326-714E-AF55-4C213D6394DE}" type="slidenum">
              <a:rPr lang="en-US" sz="900" smtClean="0">
                <a:latin typeface="Montserrat Light" pitchFamily="2" charset="0"/>
              </a:rPr>
              <a:pPr/>
              <a:t>66</a:t>
            </a:fld>
            <a:endParaRPr lang="en-US" sz="900">
              <a:latin typeface="Montserrat Light" pitchFamily="2" charset="0"/>
            </a:endParaRPr>
          </a:p>
        </p:txBody>
      </p:sp>
      <p:sp>
        <p:nvSpPr>
          <p:cNvPr id="6" name="Title 11">
            <a:extLst>
              <a:ext uri="{FF2B5EF4-FFF2-40B4-BE49-F238E27FC236}">
                <a16:creationId xmlns:a16="http://schemas.microsoft.com/office/drawing/2014/main" id="{D70D2D0C-3E6A-8B50-3A5A-EED9E3B459FB}"/>
              </a:ext>
            </a:extLst>
          </p:cNvPr>
          <p:cNvSpPr txBox="1">
            <a:spLocks/>
          </p:cNvSpPr>
          <p:nvPr/>
        </p:nvSpPr>
        <p:spPr>
          <a:xfrm>
            <a:off x="304800" y="269218"/>
            <a:ext cx="8420100" cy="396638"/>
          </a:xfrm>
          <a:prstGeom prst="rect">
            <a:avLst/>
          </a:prstGeom>
        </p:spPr>
        <p:txBody>
          <a:bodyPr lIns="91440" tIns="45720" rIns="91440" bIns="45720" anchor="t">
            <a:noAutofit/>
          </a:bodyPr>
          <a:lstStyle>
            <a:lvl1pPr algn="l" defTabSz="914400" rtl="0" eaLnBrk="1" latinLnBrk="0" hangingPunct="1">
              <a:lnSpc>
                <a:spcPct val="90000"/>
              </a:lnSpc>
              <a:spcBef>
                <a:spcPct val="0"/>
              </a:spcBef>
              <a:buNone/>
              <a:defRPr sz="4400" b="1" i="0" kern="1200">
                <a:solidFill>
                  <a:schemeClr val="tx1"/>
                </a:solidFill>
                <a:latin typeface="AirIndia" pitchFamily="82" charset="77"/>
                <a:ea typeface="+mj-ea"/>
                <a:cs typeface="+mj-cs"/>
              </a:defRPr>
            </a:lvl1pPr>
          </a:lstStyle>
          <a:p>
            <a:r>
              <a:rPr lang="en-US" sz="1800" err="1">
                <a:solidFill>
                  <a:srgbClr val="C00000"/>
                </a:solidFill>
                <a:latin typeface="AirIndia"/>
              </a:rPr>
              <a:t>myAI</a:t>
            </a:r>
            <a:r>
              <a:rPr lang="en-US" sz="1800">
                <a:solidFill>
                  <a:srgbClr val="C00000"/>
                </a:solidFill>
                <a:latin typeface="AirIndia"/>
              </a:rPr>
              <a:t> - </a:t>
            </a:r>
            <a:r>
              <a:rPr lang="en-US" sz="1800">
                <a:solidFill>
                  <a:srgbClr val="DA0E28"/>
                </a:solidFill>
                <a:latin typeface="AirIndia"/>
              </a:rPr>
              <a:t>FY26-27 Q1 Release Plan</a:t>
            </a:r>
            <a:endParaRPr lang="en-US" sz="1800" b="0">
              <a:solidFill>
                <a:srgbClr val="000000"/>
              </a:solidFill>
              <a:latin typeface="AirIndia"/>
            </a:endParaRPr>
          </a:p>
          <a:p>
            <a:endParaRPr lang="en-US" sz="1800">
              <a:solidFill>
                <a:srgbClr val="C00000"/>
              </a:solidFill>
              <a:latin typeface="AirIndia"/>
            </a:endParaRPr>
          </a:p>
        </p:txBody>
      </p:sp>
      <p:graphicFrame>
        <p:nvGraphicFramePr>
          <p:cNvPr id="4" name="Table 3">
            <a:extLst>
              <a:ext uri="{FF2B5EF4-FFF2-40B4-BE49-F238E27FC236}">
                <a16:creationId xmlns:a16="http://schemas.microsoft.com/office/drawing/2014/main" id="{B27555AB-63F7-EF22-53DB-2267481F0994}"/>
              </a:ext>
            </a:extLst>
          </p:cNvPr>
          <p:cNvGraphicFramePr>
            <a:graphicFrameLocks noGrp="1"/>
          </p:cNvGraphicFramePr>
          <p:nvPr>
            <p:extLst>
              <p:ext uri="{D42A27DB-BD31-4B8C-83A1-F6EECF244321}">
                <p14:modId xmlns:p14="http://schemas.microsoft.com/office/powerpoint/2010/main" val="1598528527"/>
              </p:ext>
            </p:extLst>
          </p:nvPr>
        </p:nvGraphicFramePr>
        <p:xfrm>
          <a:off x="1090849" y="792699"/>
          <a:ext cx="10665277" cy="4227777"/>
        </p:xfrm>
        <a:graphic>
          <a:graphicData uri="http://schemas.openxmlformats.org/drawingml/2006/table">
            <a:tbl>
              <a:tblPr firstRow="1" bandRow="1">
                <a:tableStyleId>{5C22544A-7EE6-4342-B048-85BDC9FD1C3A}</a:tableStyleId>
              </a:tblPr>
              <a:tblGrid>
                <a:gridCol w="1679334">
                  <a:extLst>
                    <a:ext uri="{9D8B030D-6E8A-4147-A177-3AD203B41FA5}">
                      <a16:colId xmlns:a16="http://schemas.microsoft.com/office/drawing/2014/main" val="2822350773"/>
                    </a:ext>
                  </a:extLst>
                </a:gridCol>
                <a:gridCol w="6360976">
                  <a:extLst>
                    <a:ext uri="{9D8B030D-6E8A-4147-A177-3AD203B41FA5}">
                      <a16:colId xmlns:a16="http://schemas.microsoft.com/office/drawing/2014/main" val="99588705"/>
                    </a:ext>
                  </a:extLst>
                </a:gridCol>
                <a:gridCol w="667129">
                  <a:extLst>
                    <a:ext uri="{9D8B030D-6E8A-4147-A177-3AD203B41FA5}">
                      <a16:colId xmlns:a16="http://schemas.microsoft.com/office/drawing/2014/main" val="1136596785"/>
                    </a:ext>
                  </a:extLst>
                </a:gridCol>
                <a:gridCol w="978919">
                  <a:extLst>
                    <a:ext uri="{9D8B030D-6E8A-4147-A177-3AD203B41FA5}">
                      <a16:colId xmlns:a16="http://schemas.microsoft.com/office/drawing/2014/main" val="2674722935"/>
                    </a:ext>
                  </a:extLst>
                </a:gridCol>
                <a:gridCol w="978919">
                  <a:extLst>
                    <a:ext uri="{9D8B030D-6E8A-4147-A177-3AD203B41FA5}">
                      <a16:colId xmlns:a16="http://schemas.microsoft.com/office/drawing/2014/main" val="1054889278"/>
                    </a:ext>
                  </a:extLst>
                </a:gridCol>
              </a:tblGrid>
              <a:tr h="286112">
                <a:tc>
                  <a:txBody>
                    <a:bodyPr/>
                    <a:lstStyle/>
                    <a:p>
                      <a:pPr marL="0" lvl="0" indent="0" algn="ctr" defTabSz="914400">
                        <a:lnSpc>
                          <a:spcPct val="100000"/>
                        </a:lnSpc>
                        <a:buNone/>
                      </a:pPr>
                      <a:r>
                        <a:rPr lang="en-IN" sz="1050" kern="1200">
                          <a:solidFill>
                            <a:schemeClr val="bg1"/>
                          </a:solidFill>
                          <a:latin typeface="Avenir Next LT Pro Light"/>
                          <a:ea typeface="+mn-ea"/>
                          <a:cs typeface="+mn-cs"/>
                        </a:rPr>
                        <a:t>Initiatives</a:t>
                      </a:r>
                      <a:endParaRPr lang="en-US" sz="1050" kern="1200" err="1">
                        <a:solidFill>
                          <a:schemeClr val="bg1"/>
                        </a:solidFill>
                        <a:latin typeface="Avenir Next LT Pro Ligh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002060"/>
                    </a:solidFill>
                  </a:tcPr>
                </a:tc>
                <a:tc>
                  <a:txBody>
                    <a:bodyPr/>
                    <a:lstStyle/>
                    <a:p>
                      <a:pPr lvl="0" algn="ctr">
                        <a:lnSpc>
                          <a:spcPct val="100000"/>
                        </a:lnSpc>
                        <a:spcBef>
                          <a:spcPts val="0"/>
                        </a:spcBef>
                        <a:spcAft>
                          <a:spcPts val="0"/>
                        </a:spcAft>
                        <a:buNone/>
                      </a:pPr>
                      <a:r>
                        <a:rPr lang="en-IN" sz="1100" b="1" i="0" u="none" strike="noStrike" kern="1200" noProof="0">
                          <a:solidFill>
                            <a:srgbClr val="FFFFFF"/>
                          </a:solidFill>
                          <a:latin typeface="Nunito Sans"/>
                          <a:ea typeface="+mn-ea"/>
                          <a:cs typeface="+mn-cs"/>
                        </a:rPr>
                        <a:t>Value Justification/Realization</a:t>
                      </a:r>
                    </a:p>
                    <a:p>
                      <a:pPr marL="0" lvl="0" indent="0" algn="l" defTabSz="914400">
                        <a:buFont typeface="Arial" panose="020B0604020202020204" pitchFamily="34" charset="0"/>
                        <a:buNone/>
                      </a:pPr>
                      <a:endParaRPr lang="en-IN" sz="1050" kern="1200">
                        <a:solidFill>
                          <a:schemeClr val="bg1"/>
                        </a:solidFill>
                        <a:latin typeface="Avenir Next LT Pro Ligh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002060"/>
                    </a:solidFill>
                  </a:tcPr>
                </a:tc>
                <a:tc>
                  <a:txBody>
                    <a:bodyPr/>
                    <a:lstStyle/>
                    <a:p>
                      <a:pPr marL="0" indent="0" algn="ctr" defTabSz="914400" rtl="0" eaLnBrk="1" latinLnBrk="0" hangingPunct="1">
                        <a:buFont typeface="Arial" panose="020B0604020202020204" pitchFamily="34" charset="0"/>
                        <a:buNone/>
                      </a:pPr>
                      <a:r>
                        <a:rPr lang="en-US" sz="1050" kern="1200">
                          <a:solidFill>
                            <a:schemeClr val="bg1"/>
                          </a:solidFill>
                          <a:latin typeface="Avenir Next LT Pro Light"/>
                          <a:ea typeface="+mn-ea"/>
                          <a:cs typeface="+mn-cs"/>
                        </a:rPr>
                        <a:t>Web</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002060"/>
                    </a:solidFill>
                  </a:tcPr>
                </a:tc>
                <a:tc>
                  <a:txBody>
                    <a:bodyPr/>
                    <a:lstStyle/>
                    <a:p>
                      <a:pPr marL="0" indent="0" algn="ctr" defTabSz="914400" rtl="0" eaLnBrk="1" latinLnBrk="0" hangingPunct="1">
                        <a:buFont typeface="Arial" panose="020B0604020202020204" pitchFamily="34" charset="0"/>
                        <a:buNone/>
                      </a:pPr>
                      <a:r>
                        <a:rPr lang="en-US" sz="1050" kern="1200">
                          <a:solidFill>
                            <a:schemeClr val="bg1"/>
                          </a:solidFill>
                          <a:latin typeface="Avenir Next LT Pro Light"/>
                          <a:ea typeface="+mn-ea"/>
                          <a:cs typeface="+mn-cs"/>
                        </a:rPr>
                        <a:t>Mobile Native</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002060"/>
                    </a:solidFill>
                  </a:tcPr>
                </a:tc>
                <a:tc>
                  <a:txBody>
                    <a:bodyPr/>
                    <a:lstStyle/>
                    <a:p>
                      <a:pPr marL="0" lvl="0" indent="0" algn="ctr">
                        <a:buNone/>
                      </a:pPr>
                      <a:r>
                        <a:rPr lang="en-US" sz="1050" kern="1200">
                          <a:solidFill>
                            <a:schemeClr val="bg1"/>
                          </a:solidFill>
                          <a:latin typeface="Avenir Next LT Pro Light"/>
                          <a:ea typeface="+mn-ea"/>
                          <a:cs typeface="+mn-cs"/>
                        </a:rPr>
                        <a:t>Go Live Date</a:t>
                      </a: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solidFill>
                      <a:srgbClr val="002060"/>
                    </a:solidFill>
                  </a:tcPr>
                </a:tc>
                <a:extLst>
                  <a:ext uri="{0D108BD9-81ED-4DB2-BD59-A6C34878D82A}">
                    <a16:rowId xmlns:a16="http://schemas.microsoft.com/office/drawing/2014/main" val="844450115"/>
                  </a:ext>
                </a:extLst>
              </a:tr>
              <a:tr h="507559">
                <a:tc>
                  <a:txBody>
                    <a:bodyPr/>
                    <a:lstStyle/>
                    <a:p>
                      <a:pPr lvl="0" algn="l">
                        <a:lnSpc>
                          <a:spcPct val="100000"/>
                        </a:lnSpc>
                        <a:spcBef>
                          <a:spcPts val="0"/>
                        </a:spcBef>
                        <a:spcAft>
                          <a:spcPts val="0"/>
                        </a:spcAft>
                        <a:buNone/>
                      </a:pPr>
                      <a:r>
                        <a:rPr lang="en-US" sz="1100" b="1" i="0" u="none" strike="noStrike" kern="1200" noProof="0">
                          <a:solidFill>
                            <a:schemeClr val="tx1"/>
                          </a:solidFill>
                          <a:latin typeface="Nunito Sans"/>
                          <a:ea typeface="+mn-ea"/>
                          <a:cs typeface="+mn-cs"/>
                        </a:rPr>
                        <a:t>AMS phase 2: Geo fencing integration</a:t>
                      </a:r>
                      <a:endParaRPr lang="en-IN" sz="1100" b="0" i="0" u="none" strike="noStrike" kern="1200" noProof="0">
                        <a:solidFill>
                          <a:srgbClr val="000000"/>
                        </a:solidFill>
                        <a:latin typeface="Nunito Sans"/>
                        <a:ea typeface="+mn-ea"/>
                        <a:cs typeface="+mn-cs"/>
                      </a:endParaRP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solidFill>
                      <a:schemeClr val="bg1"/>
                    </a:solidFill>
                  </a:tcPr>
                </a:tc>
                <a:tc>
                  <a:txBody>
                    <a:bodyPr/>
                    <a:lstStyle/>
                    <a:p>
                      <a:pPr marL="171450" marR="0" lvl="0" indent="-171450" algn="l" rtl="0">
                        <a:lnSpc>
                          <a:spcPct val="100000"/>
                        </a:lnSpc>
                        <a:spcBef>
                          <a:spcPts val="0"/>
                        </a:spcBef>
                        <a:spcAft>
                          <a:spcPts val="0"/>
                        </a:spcAft>
                        <a:buClr>
                          <a:srgbClr val="000000"/>
                        </a:buClr>
                        <a:buSzTx/>
                        <a:buFont typeface="Arial,Sans-Serif"/>
                        <a:buChar char="•"/>
                      </a:pPr>
                      <a:r>
                        <a:rPr lang="en-US" sz="1100" b="1" i="0" u="none" strike="noStrike" kern="1200" noProof="0">
                          <a:solidFill>
                            <a:srgbClr val="000000"/>
                          </a:solidFill>
                          <a:effectLst/>
                          <a:latin typeface="Nunito Sans"/>
                          <a:ea typeface="+mn-ea"/>
                          <a:cs typeface="+mn-cs"/>
                        </a:rPr>
                        <a:t>System integration</a:t>
                      </a:r>
                      <a:r>
                        <a:rPr lang="en-US" sz="1100" b="0" i="0" u="none" strike="noStrike" kern="1200" noProof="0">
                          <a:solidFill>
                            <a:srgbClr val="000000"/>
                          </a:solidFill>
                          <a:effectLst/>
                          <a:latin typeface="Nunito Sans"/>
                          <a:ea typeface="+mn-ea"/>
                          <a:cs typeface="+mn-cs"/>
                        </a:rPr>
                        <a:t> with AMS tool to submit and provide attendance information based on geo-fencing capabilities</a:t>
                      </a:r>
                    </a:p>
                  </a:txBody>
                  <a:tcPr anchor="ctr">
                    <a:lnL w="6350" cap="flat" cmpd="sng" algn="ctr">
                      <a:solidFill>
                        <a:schemeClr val="bg1">
                          <a:lumMod val="75000"/>
                        </a:schemeClr>
                      </a:solidFill>
                      <a:prstDash val="solid"/>
                      <a:round/>
                      <a:headEnd type="none" w="med" len="med"/>
                      <a:tailEnd type="none" w="med" len="med"/>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lvl="0" indent="0" algn="ctr" defTabSz="914400">
                        <a:lnSpc>
                          <a:spcPct val="100000"/>
                        </a:lnSpc>
                        <a:buFont typeface="Arial"/>
                        <a:buNone/>
                      </a:pPr>
                      <a:r>
                        <a:rPr lang="en-IN" sz="1100" b="0" i="0" u="none" strike="noStrike" noProof="0">
                          <a:solidFill>
                            <a:schemeClr val="tx1"/>
                          </a:solidFill>
                          <a:effectLst/>
                          <a:latin typeface="Nunito Sans"/>
                        </a:rPr>
                        <a:t>Y</a:t>
                      </a:r>
                    </a:p>
                  </a:txBody>
                  <a:tcPr marL="45720" marR="45720"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solidFill>
                      <a:schemeClr val="bg1"/>
                    </a:solidFill>
                  </a:tcPr>
                </a:tc>
                <a:tc>
                  <a:txBody>
                    <a:bodyPr/>
                    <a:lstStyle/>
                    <a:p>
                      <a:pPr marL="0" lvl="0" indent="0" algn="ctr" defTabSz="914400">
                        <a:lnSpc>
                          <a:spcPct val="100000"/>
                        </a:lnSpc>
                        <a:buFont typeface="Arial"/>
                        <a:buNone/>
                      </a:pPr>
                      <a:r>
                        <a:rPr lang="en-IN" sz="1100" b="0" i="0" u="none" strike="noStrike" noProof="0">
                          <a:solidFill>
                            <a:schemeClr val="tx1"/>
                          </a:solidFill>
                          <a:effectLst/>
                          <a:latin typeface="Nunito Sans"/>
                        </a:rPr>
                        <a:t>Y</a:t>
                      </a:r>
                    </a:p>
                  </a:txBody>
                  <a:tcPr marL="45720" marR="45720"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a:solidFill>
                        <a:schemeClr val="bg1">
                          <a:lumMod val="75000"/>
                        </a:schemeClr>
                      </a:solidFill>
                    </a:lnB>
                    <a:solidFill>
                      <a:schemeClr val="bg1"/>
                    </a:solidFill>
                  </a:tcPr>
                </a:tc>
                <a:tc>
                  <a:txBody>
                    <a:bodyPr/>
                    <a:lstStyle/>
                    <a:p>
                      <a:pPr marL="0" lvl="0" indent="0" algn="ctr">
                        <a:lnSpc>
                          <a:spcPct val="100000"/>
                        </a:lnSpc>
                        <a:buNone/>
                      </a:pPr>
                      <a:r>
                        <a:rPr lang="en-IN" sz="1100" b="0" i="0" u="none" strike="noStrike" noProof="0">
                          <a:solidFill>
                            <a:schemeClr val="tx1"/>
                          </a:solidFill>
                          <a:effectLst/>
                          <a:latin typeface="Nunito Sans"/>
                        </a:rPr>
                        <a:t>29th June</a:t>
                      </a:r>
                    </a:p>
                  </a:txBody>
                  <a:tcPr marL="45720" marR="45720"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solidFill>
                      <a:schemeClr val="bg1"/>
                    </a:solidFill>
                  </a:tcPr>
                </a:tc>
                <a:extLst>
                  <a:ext uri="{0D108BD9-81ED-4DB2-BD59-A6C34878D82A}">
                    <a16:rowId xmlns:a16="http://schemas.microsoft.com/office/drawing/2014/main" val="3951168155"/>
                  </a:ext>
                </a:extLst>
              </a:tr>
              <a:tr h="507559">
                <a:tc>
                  <a:txBody>
                    <a:bodyPr/>
                    <a:lstStyle/>
                    <a:p>
                      <a:pPr lvl="0" algn="l">
                        <a:lnSpc>
                          <a:spcPct val="100000"/>
                        </a:lnSpc>
                        <a:spcBef>
                          <a:spcPts val="0"/>
                        </a:spcBef>
                        <a:spcAft>
                          <a:spcPts val="0"/>
                        </a:spcAft>
                        <a:buNone/>
                      </a:pPr>
                      <a:r>
                        <a:rPr lang="en-US" sz="1100" b="1" i="0" u="none" strike="noStrike" kern="1200" noProof="0">
                          <a:solidFill>
                            <a:schemeClr val="tx1"/>
                          </a:solidFill>
                          <a:latin typeface="Nunito Sans"/>
                          <a:ea typeface="+mn-ea"/>
                          <a:cs typeface="+mn-cs"/>
                        </a:rPr>
                        <a:t>AMS phase 2: Shift and Rostering</a:t>
                      </a:r>
                      <a:endParaRPr lang="en-IN" sz="1100" b="0" i="0" u="none" strike="noStrike" kern="1200" noProof="0">
                        <a:solidFill>
                          <a:srgbClr val="000000"/>
                        </a:solidFill>
                        <a:latin typeface="Nunito Sans"/>
                        <a:ea typeface="+mn-ea"/>
                        <a:cs typeface="+mn-cs"/>
                      </a:endParaRP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171450" marR="0" lvl="0" indent="-171450" algn="l" rtl="0">
                        <a:lnSpc>
                          <a:spcPct val="100000"/>
                        </a:lnSpc>
                        <a:spcBef>
                          <a:spcPts val="0"/>
                        </a:spcBef>
                        <a:spcAft>
                          <a:spcPts val="0"/>
                        </a:spcAft>
                        <a:buClr>
                          <a:srgbClr val="000000"/>
                        </a:buClr>
                        <a:buSzTx/>
                        <a:buFont typeface="Arial,Sans-Serif"/>
                        <a:buChar char="•"/>
                      </a:pPr>
                      <a:r>
                        <a:rPr lang="en-US" sz="1100" b="1" i="0" u="none" strike="noStrike" kern="1200" noProof="0">
                          <a:solidFill>
                            <a:srgbClr val="000000"/>
                          </a:solidFill>
                          <a:effectLst/>
                          <a:latin typeface="Nunito Sans"/>
                          <a:ea typeface="+mn-ea"/>
                          <a:cs typeface="+mn-cs"/>
                        </a:rPr>
                        <a:t>Shift Employees </a:t>
                      </a:r>
                      <a:r>
                        <a:rPr lang="en-US" sz="1100" b="0" i="0" u="none" strike="noStrike" kern="1200" noProof="0">
                          <a:solidFill>
                            <a:srgbClr val="000000"/>
                          </a:solidFill>
                          <a:effectLst/>
                          <a:latin typeface="Nunito Sans"/>
                          <a:ea typeface="+mn-ea"/>
                          <a:cs typeface="+mn-cs"/>
                        </a:rPr>
                        <a:t>to be provided clear visibility of assigned shifts and planned roster information</a:t>
                      </a:r>
                      <a:endParaRPr lang="en-IN" sz="1100" b="0" i="0" u="none" strike="noStrike" kern="1200" noProof="0">
                        <a:solidFill>
                          <a:srgbClr val="000000"/>
                        </a:solidFill>
                        <a:effectLst/>
                        <a:latin typeface="Nunito Sans"/>
                        <a:ea typeface="+mn-ea"/>
                        <a:cs typeface="+mn-cs"/>
                      </a:endParaRPr>
                    </a:p>
                    <a:p>
                      <a:pPr marL="171450" marR="0" lvl="0" indent="-171450" algn="l">
                        <a:lnSpc>
                          <a:spcPct val="100000"/>
                        </a:lnSpc>
                        <a:spcBef>
                          <a:spcPts val="0"/>
                        </a:spcBef>
                        <a:spcAft>
                          <a:spcPts val="0"/>
                        </a:spcAft>
                        <a:buClr>
                          <a:srgbClr val="000000"/>
                        </a:buClr>
                        <a:buSzTx/>
                        <a:buFont typeface="Arial,Sans-Serif"/>
                        <a:buChar char="•"/>
                      </a:pPr>
                      <a:r>
                        <a:rPr lang="en-US" sz="1100" b="1" i="0" u="none" strike="noStrike" kern="1200" noProof="0">
                          <a:solidFill>
                            <a:srgbClr val="000000"/>
                          </a:solidFill>
                          <a:effectLst/>
                          <a:latin typeface="Nunito Sans"/>
                          <a:ea typeface="+mn-ea"/>
                          <a:cs typeface="+mn-cs"/>
                        </a:rPr>
                        <a:t>Employee managers </a:t>
                      </a:r>
                      <a:r>
                        <a:rPr lang="en-US" sz="1100" b="0" i="0" u="none" strike="noStrike" kern="1200" noProof="0">
                          <a:solidFill>
                            <a:srgbClr val="000000"/>
                          </a:solidFill>
                          <a:effectLst/>
                          <a:latin typeface="Nunito Sans"/>
                          <a:ea typeface="+mn-ea"/>
                          <a:cs typeface="+mn-cs"/>
                        </a:rPr>
                        <a:t>obtain view of team roster and attendance in real time</a:t>
                      </a:r>
                      <a:endParaRPr lang="en-IN" sz="1100" b="0" i="0" u="none" strike="noStrike" kern="1200" noProof="0">
                        <a:solidFill>
                          <a:srgbClr val="000000"/>
                        </a:solidFill>
                        <a:effectLst/>
                        <a:latin typeface="Nunito Sans"/>
                        <a:ea typeface="+mn-ea"/>
                        <a:cs typeface="+mn-cs"/>
                      </a:endParaRPr>
                    </a:p>
                    <a:p>
                      <a:pPr marL="171450" marR="0" lvl="0" indent="-171450" algn="l">
                        <a:lnSpc>
                          <a:spcPct val="100000"/>
                        </a:lnSpc>
                        <a:spcBef>
                          <a:spcPts val="0"/>
                        </a:spcBef>
                        <a:spcAft>
                          <a:spcPts val="0"/>
                        </a:spcAft>
                        <a:buClr>
                          <a:srgbClr val="000000"/>
                        </a:buClr>
                        <a:buSzTx/>
                        <a:buFont typeface="Arial,Sans-Serif"/>
                        <a:buChar char="•"/>
                      </a:pPr>
                      <a:r>
                        <a:rPr lang="en-US" sz="1100" b="1" i="0" u="none" strike="noStrike" kern="1200" noProof="0">
                          <a:solidFill>
                            <a:srgbClr val="000000"/>
                          </a:solidFill>
                          <a:effectLst/>
                          <a:latin typeface="Nunito Sans"/>
                          <a:ea typeface="+mn-ea"/>
                          <a:cs typeface="+mn-cs"/>
                        </a:rPr>
                        <a:t>System integration</a:t>
                      </a:r>
                      <a:r>
                        <a:rPr lang="en-US" sz="1100" b="0" i="0" u="none" strike="noStrike" kern="1200" noProof="0">
                          <a:solidFill>
                            <a:srgbClr val="000000"/>
                          </a:solidFill>
                          <a:effectLst/>
                          <a:latin typeface="Nunito Sans"/>
                          <a:ea typeface="+mn-ea"/>
                          <a:cs typeface="+mn-cs"/>
                        </a:rPr>
                        <a:t> with AMS tool for pulling relevant information in real time</a:t>
                      </a:r>
                      <a:endParaRPr lang="en-IN" sz="1100" b="0" i="0" u="none" strike="noStrike" kern="1200" noProof="0">
                        <a:solidFill>
                          <a:srgbClr val="000000"/>
                        </a:solidFill>
                        <a:effectLst/>
                        <a:latin typeface="Nunito Sans"/>
                        <a:ea typeface="+mn-ea"/>
                        <a:cs typeface="+mn-cs"/>
                      </a:endParaRPr>
                    </a:p>
                    <a:p>
                      <a:pPr marL="171450" marR="0" lvl="0" indent="-171450" algn="l">
                        <a:lnSpc>
                          <a:spcPct val="100000"/>
                        </a:lnSpc>
                        <a:spcBef>
                          <a:spcPts val="0"/>
                        </a:spcBef>
                        <a:spcAft>
                          <a:spcPts val="0"/>
                        </a:spcAft>
                        <a:buClr>
                          <a:srgbClr val="000000"/>
                        </a:buClr>
                        <a:buSzTx/>
                        <a:buFont typeface="Arial,Sans-Serif"/>
                        <a:buChar char="•"/>
                      </a:pPr>
                      <a:r>
                        <a:rPr lang="en-US" sz="1100" b="0" i="0" u="none" strike="noStrike" kern="1200" noProof="0">
                          <a:solidFill>
                            <a:srgbClr val="000000"/>
                          </a:solidFill>
                          <a:effectLst/>
                          <a:latin typeface="Nunito Sans"/>
                          <a:ea typeface="+mn-ea"/>
                          <a:cs typeface="+mn-cs"/>
                        </a:rPr>
                        <a:t>Currently available for </a:t>
                      </a:r>
                      <a:r>
                        <a:rPr lang="en-IN" sz="1100" b="0" i="0" u="none" strike="noStrike" kern="1200" noProof="0">
                          <a:solidFill>
                            <a:schemeClr val="tx1"/>
                          </a:solidFill>
                          <a:effectLst/>
                          <a:latin typeface="Nunito Sans"/>
                          <a:ea typeface="+mn-ea"/>
                          <a:cs typeface="+mn-cs"/>
                        </a:rPr>
                        <a:t>shift teams from the following depts: AOD, Security, CS, IOCC</a:t>
                      </a:r>
                      <a:endParaRPr lang="en-GB" sz="1100">
                        <a:latin typeface="Nunito Sans"/>
                      </a:endParaRPr>
                    </a:p>
                  </a:txBody>
                  <a:tcPr anchor="ctr">
                    <a:lnL w="6350" cap="flat" cmpd="sng" algn="ctr">
                      <a:solidFill>
                        <a:schemeClr val="bg1">
                          <a:lumMod val="75000"/>
                        </a:schemeClr>
                      </a:solidFill>
                      <a:prstDash val="solid"/>
                      <a:round/>
                      <a:headEnd type="none" w="med" len="med"/>
                      <a:tailEnd type="none" w="med" len="med"/>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lvl="0" indent="0" algn="ctr">
                        <a:lnSpc>
                          <a:spcPct val="100000"/>
                        </a:lnSpc>
                        <a:spcBef>
                          <a:spcPts val="0"/>
                        </a:spcBef>
                        <a:spcAft>
                          <a:spcPts val="0"/>
                        </a:spcAft>
                        <a:buFont typeface="Arial" panose="020B0604020202020204" pitchFamily="34" charset="0"/>
                        <a:buNone/>
                      </a:pPr>
                      <a:r>
                        <a:rPr lang="en-GB" sz="1100" b="0" i="0" u="none" strike="noStrike" noProof="0">
                          <a:solidFill>
                            <a:srgbClr val="000000"/>
                          </a:solidFill>
                          <a:latin typeface="Nunito Sans"/>
                        </a:rPr>
                        <a:t>Y</a:t>
                      </a: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lvl="0" indent="0" algn="ctr" defTabSz="914400">
                        <a:lnSpc>
                          <a:spcPct val="100000"/>
                        </a:lnSpc>
                        <a:buFont typeface="Arial"/>
                        <a:buNone/>
                      </a:pPr>
                      <a:r>
                        <a:rPr lang="en-IN" sz="1100" b="0" i="0" u="none" strike="noStrike" noProof="0">
                          <a:solidFill>
                            <a:schemeClr val="tx1"/>
                          </a:solidFill>
                          <a:effectLst/>
                          <a:latin typeface="Nunito Sans"/>
                        </a:rPr>
                        <a:t>Y</a:t>
                      </a:r>
                    </a:p>
                  </a:txBody>
                  <a:tcPr marL="45720" marR="45720"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lvl="0" algn="ctr">
                        <a:lnSpc>
                          <a:spcPct val="100000"/>
                        </a:lnSpc>
                        <a:spcBef>
                          <a:spcPts val="0"/>
                        </a:spcBef>
                        <a:spcAft>
                          <a:spcPts val="0"/>
                        </a:spcAft>
                        <a:buNone/>
                      </a:pPr>
                      <a:r>
                        <a:rPr lang="en-IN" sz="1100" b="0" i="0" u="none" strike="noStrike" noProof="0">
                          <a:solidFill>
                            <a:schemeClr val="tx1"/>
                          </a:solidFill>
                          <a:effectLst/>
                          <a:latin typeface="Nunito Sans"/>
                        </a:rPr>
                        <a:t>29th June</a:t>
                      </a:r>
                      <a:endParaRPr lang="en-IN" sz="1100" b="0" i="0" u="none" strike="noStrike" noProof="0">
                        <a:solidFill>
                          <a:srgbClr val="000000"/>
                        </a:solidFill>
                        <a:effectLst/>
                        <a:latin typeface="Nunito Sans"/>
                      </a:endParaRPr>
                    </a:p>
                  </a:txBody>
                  <a:tcPr marL="45720" marR="45720"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solidFill>
                      <a:schemeClr val="bg1"/>
                    </a:solidFill>
                  </a:tcPr>
                </a:tc>
                <a:extLst>
                  <a:ext uri="{0D108BD9-81ED-4DB2-BD59-A6C34878D82A}">
                    <a16:rowId xmlns:a16="http://schemas.microsoft.com/office/drawing/2014/main" val="3158025952"/>
                  </a:ext>
                </a:extLst>
              </a:tr>
              <a:tr h="507559">
                <a:tc>
                  <a:txBody>
                    <a:bodyPr/>
                    <a:lstStyle/>
                    <a:p>
                      <a:pPr marL="0" lvl="0" indent="0" algn="l">
                        <a:lnSpc>
                          <a:spcPct val="100000"/>
                        </a:lnSpc>
                        <a:spcBef>
                          <a:spcPts val="0"/>
                        </a:spcBef>
                        <a:spcAft>
                          <a:spcPts val="0"/>
                        </a:spcAft>
                        <a:buNone/>
                      </a:pPr>
                      <a:r>
                        <a:rPr lang="en-US" sz="1100" b="1" i="0" u="none" strike="noStrike" kern="1200" noProof="0">
                          <a:solidFill>
                            <a:schemeClr val="tx1"/>
                          </a:solidFill>
                          <a:latin typeface="Nunito Sans"/>
                          <a:ea typeface="+mn-ea"/>
                          <a:cs typeface="+mn-cs"/>
                        </a:rPr>
                        <a:t>AMS phase 2: Regularization/ Swap/OT Handling</a:t>
                      </a:r>
                      <a:endParaRPr lang="en-US" sz="1100">
                        <a:latin typeface="Nunito Sans"/>
                      </a:endParaRP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171450" marR="0" lvl="0" indent="-171450" algn="l">
                        <a:lnSpc>
                          <a:spcPct val="100000"/>
                        </a:lnSpc>
                        <a:spcBef>
                          <a:spcPts val="0"/>
                        </a:spcBef>
                        <a:spcAft>
                          <a:spcPts val="0"/>
                        </a:spcAft>
                        <a:buClr>
                          <a:srgbClr val="000000"/>
                        </a:buClr>
                        <a:buFont typeface="Arial,Sans-Serif"/>
                        <a:buChar char="•"/>
                      </a:pPr>
                      <a:r>
                        <a:rPr lang="en-IN" sz="1100" b="1" i="0" u="none" strike="noStrike" kern="1200" noProof="0">
                          <a:solidFill>
                            <a:schemeClr val="tx1"/>
                          </a:solidFill>
                          <a:effectLst/>
                          <a:latin typeface="Nunito Sans"/>
                          <a:ea typeface="+mn-ea"/>
                          <a:cs typeface="+mn-cs"/>
                        </a:rPr>
                        <a:t>Employees</a:t>
                      </a:r>
                      <a:r>
                        <a:rPr lang="en-IN" sz="1100" b="0" i="0" u="none" strike="noStrike" kern="1200" noProof="0">
                          <a:solidFill>
                            <a:schemeClr val="tx1"/>
                          </a:solidFill>
                          <a:effectLst/>
                          <a:latin typeface="Nunito Sans"/>
                          <a:ea typeface="+mn-ea"/>
                          <a:cs typeface="+mn-cs"/>
                        </a:rPr>
                        <a:t> to submit regularization, OT and shift swap requests based on system defined policy rules reducing manual workflows</a:t>
                      </a:r>
                      <a:endParaRPr lang="en-US" sz="1100" b="0" i="0" u="none" strike="noStrike" kern="1200" noProof="0">
                        <a:solidFill>
                          <a:srgbClr val="000000"/>
                        </a:solidFill>
                        <a:effectLst/>
                        <a:latin typeface="Nunito Sans"/>
                        <a:ea typeface="+mn-ea"/>
                        <a:cs typeface="+mn-cs"/>
                      </a:endParaRPr>
                    </a:p>
                    <a:p>
                      <a:pPr marL="171450" marR="0" lvl="0" indent="-171450" algn="l">
                        <a:lnSpc>
                          <a:spcPct val="100000"/>
                        </a:lnSpc>
                        <a:spcBef>
                          <a:spcPts val="0"/>
                        </a:spcBef>
                        <a:spcAft>
                          <a:spcPts val="0"/>
                        </a:spcAft>
                        <a:buClr>
                          <a:srgbClr val="000000"/>
                        </a:buClr>
                        <a:buFont typeface="Arial,Sans-Serif"/>
                        <a:buChar char="•"/>
                      </a:pPr>
                      <a:r>
                        <a:rPr lang="en-US" sz="1100" b="1" i="0" u="none" strike="noStrike" kern="1200" noProof="0">
                          <a:solidFill>
                            <a:srgbClr val="000000"/>
                          </a:solidFill>
                          <a:effectLst/>
                          <a:latin typeface="Nunito Sans"/>
                          <a:ea typeface="+mn-ea"/>
                          <a:cs typeface="+mn-cs"/>
                        </a:rPr>
                        <a:t>System integration</a:t>
                      </a:r>
                      <a:r>
                        <a:rPr lang="en-US" sz="1100" b="0" i="0" u="none" strike="noStrike" kern="1200" noProof="0">
                          <a:solidFill>
                            <a:srgbClr val="000000"/>
                          </a:solidFill>
                          <a:effectLst/>
                          <a:latin typeface="Nunito Sans"/>
                          <a:ea typeface="+mn-ea"/>
                          <a:cs typeface="+mn-cs"/>
                        </a:rPr>
                        <a:t> with AMS tool to provide attendance information</a:t>
                      </a:r>
                      <a:endParaRPr lang="en-IN" sz="1100" b="0" i="0" u="none" strike="noStrike" kern="1200" noProof="0">
                        <a:solidFill>
                          <a:srgbClr val="000000"/>
                        </a:solidFill>
                        <a:effectLst/>
                        <a:latin typeface="Nunito Sans"/>
                        <a:ea typeface="+mn-ea"/>
                        <a:cs typeface="+mn-cs"/>
                      </a:endParaRPr>
                    </a:p>
                  </a:txBody>
                  <a:tcPr anchor="ctr">
                    <a:lnL w="6350" cap="flat" cmpd="sng" algn="ctr">
                      <a:solidFill>
                        <a:schemeClr val="bg1">
                          <a:lumMod val="75000"/>
                        </a:schemeClr>
                      </a:solidFill>
                      <a:prstDash val="solid"/>
                      <a:round/>
                      <a:headEnd type="none" w="med" len="med"/>
                      <a:tailEnd type="none" w="med" len="med"/>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lvl="0" indent="0" algn="ctr">
                        <a:lnSpc>
                          <a:spcPct val="100000"/>
                        </a:lnSpc>
                        <a:spcBef>
                          <a:spcPts val="0"/>
                        </a:spcBef>
                        <a:spcAft>
                          <a:spcPts val="0"/>
                        </a:spcAft>
                        <a:buNone/>
                      </a:pPr>
                      <a:r>
                        <a:rPr lang="en-GB" sz="1100" b="0" i="0" u="none" strike="noStrike" noProof="0">
                          <a:solidFill>
                            <a:srgbClr val="000000"/>
                          </a:solidFill>
                          <a:latin typeface="Nunito Sans"/>
                        </a:rPr>
                        <a:t>Y</a:t>
                      </a: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lvl="0" indent="0" algn="ctr" defTabSz="914400">
                        <a:lnSpc>
                          <a:spcPct val="100000"/>
                        </a:lnSpc>
                        <a:buNone/>
                      </a:pPr>
                      <a:r>
                        <a:rPr lang="en-IN" sz="1100" b="0" i="0" u="none" strike="noStrike" noProof="0">
                          <a:solidFill>
                            <a:schemeClr val="tx1"/>
                          </a:solidFill>
                          <a:effectLst/>
                          <a:latin typeface="Nunito Sans"/>
                        </a:rPr>
                        <a:t>Y</a:t>
                      </a:r>
                    </a:p>
                  </a:txBody>
                  <a:tcPr marL="45720" marR="45720"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lvl="0" algn="ctr">
                        <a:lnSpc>
                          <a:spcPct val="100000"/>
                        </a:lnSpc>
                        <a:spcBef>
                          <a:spcPts val="0"/>
                        </a:spcBef>
                        <a:spcAft>
                          <a:spcPts val="0"/>
                        </a:spcAft>
                        <a:buNone/>
                      </a:pPr>
                      <a:r>
                        <a:rPr lang="en-IN" sz="1100" b="0" i="0" u="none" strike="noStrike" noProof="0">
                          <a:solidFill>
                            <a:schemeClr val="tx1"/>
                          </a:solidFill>
                          <a:effectLst/>
                          <a:latin typeface="Nunito Sans"/>
                        </a:rPr>
                        <a:t>29th June</a:t>
                      </a:r>
                      <a:endParaRPr lang="en-IN" sz="1100" b="0" i="0" u="none" strike="noStrike" noProof="0">
                        <a:solidFill>
                          <a:srgbClr val="000000"/>
                        </a:solidFill>
                        <a:effectLst/>
                        <a:latin typeface="Nunito Sans"/>
                      </a:endParaRPr>
                    </a:p>
                  </a:txBody>
                  <a:tcPr marL="45720" marR="45720"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solidFill>
                      <a:schemeClr val="bg1"/>
                    </a:solidFill>
                  </a:tcPr>
                </a:tc>
                <a:extLst>
                  <a:ext uri="{0D108BD9-81ED-4DB2-BD59-A6C34878D82A}">
                    <a16:rowId xmlns:a16="http://schemas.microsoft.com/office/drawing/2014/main" val="3330296821"/>
                  </a:ext>
                </a:extLst>
              </a:tr>
              <a:tr h="507559">
                <a:tc>
                  <a:txBody>
                    <a:bodyPr/>
                    <a:lstStyle/>
                    <a:p>
                      <a:pPr marL="0" marR="0" lvl="0" indent="0" algn="l">
                        <a:lnSpc>
                          <a:spcPct val="100000"/>
                        </a:lnSpc>
                        <a:spcBef>
                          <a:spcPts val="0"/>
                        </a:spcBef>
                        <a:spcAft>
                          <a:spcPts val="0"/>
                        </a:spcAft>
                        <a:buNone/>
                      </a:pPr>
                      <a:r>
                        <a:rPr lang="en-US" sz="1100" b="1" i="0" u="none" strike="noStrike" kern="1200" noProof="0">
                          <a:solidFill>
                            <a:schemeClr val="tx1"/>
                          </a:solidFill>
                          <a:latin typeface="Nunito Sans"/>
                          <a:ea typeface="+mn-ea"/>
                          <a:cs typeface="+mn-cs"/>
                        </a:rPr>
                        <a:t>AMS phase 2:</a:t>
                      </a:r>
                      <a:endParaRPr lang="en-US" sz="1100" b="0" i="0" u="none" strike="noStrike" kern="1200" noProof="0">
                        <a:solidFill>
                          <a:srgbClr val="000000"/>
                        </a:solidFill>
                        <a:latin typeface="Nunito Sans"/>
                        <a:ea typeface="+mn-ea"/>
                        <a:cs typeface="+mn-cs"/>
                      </a:endParaRPr>
                    </a:p>
                    <a:p>
                      <a:pPr marL="0" marR="0" lvl="0" indent="0" algn="l">
                        <a:lnSpc>
                          <a:spcPct val="100000"/>
                        </a:lnSpc>
                        <a:spcBef>
                          <a:spcPts val="0"/>
                        </a:spcBef>
                        <a:spcAft>
                          <a:spcPts val="0"/>
                        </a:spcAft>
                        <a:buNone/>
                      </a:pPr>
                      <a:r>
                        <a:rPr lang="en-US" sz="1100" b="1" i="0" u="none" strike="noStrike" kern="1200" noProof="0">
                          <a:solidFill>
                            <a:schemeClr val="tx1"/>
                          </a:solidFill>
                          <a:latin typeface="Nunito Sans"/>
                          <a:ea typeface="+mn-ea"/>
                          <a:cs typeface="+mn-cs"/>
                        </a:rPr>
                        <a:t>Approver flow</a:t>
                      </a:r>
                      <a:endParaRPr lang="en-IN" sz="1100">
                        <a:latin typeface="Nunito Sans"/>
                      </a:endParaRP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171450" marR="0" lvl="0" indent="-171450" algn="l">
                        <a:lnSpc>
                          <a:spcPct val="100000"/>
                        </a:lnSpc>
                        <a:spcBef>
                          <a:spcPts val="0"/>
                        </a:spcBef>
                        <a:spcAft>
                          <a:spcPts val="0"/>
                        </a:spcAft>
                        <a:buClr>
                          <a:srgbClr val="000000"/>
                        </a:buClr>
                        <a:buFont typeface="Arial,Sans-Serif"/>
                        <a:buChar char="•"/>
                      </a:pPr>
                      <a:r>
                        <a:rPr lang="en-IN" sz="1100" b="1" i="0" u="none" strike="noStrike" kern="1200" noProof="0">
                          <a:solidFill>
                            <a:schemeClr val="tx1"/>
                          </a:solidFill>
                          <a:effectLst/>
                          <a:latin typeface="Nunito Sans"/>
                          <a:ea typeface="+mn-ea"/>
                          <a:cs typeface="+mn-cs"/>
                        </a:rPr>
                        <a:t>Unified approval workflow </a:t>
                      </a:r>
                      <a:r>
                        <a:rPr lang="en-IN" sz="1100" b="0" i="0" u="none" strike="noStrike" kern="1200" noProof="0">
                          <a:solidFill>
                            <a:schemeClr val="tx1"/>
                          </a:solidFill>
                          <a:effectLst/>
                          <a:latin typeface="Nunito Sans"/>
                          <a:ea typeface="+mn-ea"/>
                          <a:cs typeface="+mn-cs"/>
                        </a:rPr>
                        <a:t>for OT, shift swap and regularization requests for shift employees on myAI, thus eliminating manual process</a:t>
                      </a:r>
                      <a:endParaRPr lang="en-US" sz="1100" b="0" i="0" u="none" strike="noStrike" kern="1200" noProof="0">
                        <a:solidFill>
                          <a:srgbClr val="000000"/>
                        </a:solidFill>
                        <a:effectLst/>
                        <a:latin typeface="Nunito Sans"/>
                        <a:ea typeface="+mn-ea"/>
                        <a:cs typeface="+mn-cs"/>
                      </a:endParaRPr>
                    </a:p>
                    <a:p>
                      <a:pPr marL="171450" marR="0" lvl="0" indent="-171450" algn="l">
                        <a:lnSpc>
                          <a:spcPct val="100000"/>
                        </a:lnSpc>
                        <a:spcBef>
                          <a:spcPts val="0"/>
                        </a:spcBef>
                        <a:spcAft>
                          <a:spcPts val="0"/>
                        </a:spcAft>
                        <a:buClr>
                          <a:srgbClr val="000000"/>
                        </a:buClr>
                        <a:buFont typeface="Arial,Sans-Serif"/>
                        <a:buChar char="•"/>
                      </a:pPr>
                      <a:r>
                        <a:rPr lang="en-IN" sz="1100" b="1" i="0" u="none" strike="noStrike" kern="1200" noProof="0">
                          <a:solidFill>
                            <a:schemeClr val="tx1"/>
                          </a:solidFill>
                          <a:effectLst/>
                          <a:latin typeface="Nunito Sans"/>
                          <a:ea typeface="+mn-ea"/>
                          <a:cs typeface="+mn-cs"/>
                        </a:rPr>
                        <a:t>Personalised notifications</a:t>
                      </a:r>
                      <a:r>
                        <a:rPr lang="en-IN" sz="1100" b="0" i="0" u="none" strike="noStrike" kern="1200" noProof="0">
                          <a:solidFill>
                            <a:schemeClr val="tx1"/>
                          </a:solidFill>
                          <a:effectLst/>
                          <a:latin typeface="Nunito Sans"/>
                          <a:ea typeface="+mn-ea"/>
                          <a:cs typeface="+mn-cs"/>
                        </a:rPr>
                        <a:t>-location based alerts to employees when a clock-in or clock-out event is missing for the day/shift reducing attendance gaps proactively</a:t>
                      </a:r>
                      <a:endParaRPr lang="en-US" sz="1100" b="0" i="0" u="none" strike="noStrike" kern="1200" noProof="0">
                        <a:solidFill>
                          <a:srgbClr val="000000"/>
                        </a:solidFill>
                        <a:effectLst/>
                        <a:latin typeface="Nunito Sans"/>
                        <a:ea typeface="+mn-ea"/>
                        <a:cs typeface="+mn-cs"/>
                      </a:endParaRPr>
                    </a:p>
                    <a:p>
                      <a:pPr marL="171450" marR="0" lvl="0" indent="-171450" algn="l">
                        <a:lnSpc>
                          <a:spcPct val="100000"/>
                        </a:lnSpc>
                        <a:spcBef>
                          <a:spcPts val="0"/>
                        </a:spcBef>
                        <a:spcAft>
                          <a:spcPts val="0"/>
                        </a:spcAft>
                        <a:buClr>
                          <a:srgbClr val="000000"/>
                        </a:buClr>
                        <a:buFont typeface="Arial,Sans-Serif"/>
                        <a:buChar char="•"/>
                      </a:pPr>
                      <a:r>
                        <a:rPr lang="en-IN" sz="1100" b="0" i="0" u="none" strike="noStrike" kern="1200" noProof="0">
                          <a:solidFill>
                            <a:schemeClr val="tx1"/>
                          </a:solidFill>
                          <a:effectLst/>
                          <a:latin typeface="Nunito Sans"/>
                          <a:ea typeface="+mn-ea"/>
                          <a:cs typeface="+mn-cs"/>
                        </a:rPr>
                        <a:t>Notifications to managers for pending leave and regularization approvals</a:t>
                      </a:r>
                      <a:endParaRPr lang="en-GB" sz="1100">
                        <a:latin typeface="Nunito Sans"/>
                      </a:endParaRPr>
                    </a:p>
                  </a:txBody>
                  <a:tcPr anchor="ctr">
                    <a:lnL w="6350" cap="flat" cmpd="sng" algn="ctr">
                      <a:solidFill>
                        <a:schemeClr val="bg1">
                          <a:lumMod val="75000"/>
                        </a:schemeClr>
                      </a:solidFill>
                      <a:prstDash val="solid"/>
                      <a:round/>
                      <a:headEnd type="none" w="med" len="med"/>
                      <a:tailEnd type="none" w="med" len="med"/>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lvl="0" indent="0" algn="ctr">
                        <a:lnSpc>
                          <a:spcPct val="100000"/>
                        </a:lnSpc>
                        <a:spcBef>
                          <a:spcPts val="0"/>
                        </a:spcBef>
                        <a:spcAft>
                          <a:spcPts val="0"/>
                        </a:spcAft>
                        <a:buNone/>
                      </a:pPr>
                      <a:r>
                        <a:rPr lang="en-GB" sz="1100" b="0" i="0" u="none" strike="noStrike" noProof="0">
                          <a:solidFill>
                            <a:srgbClr val="000000"/>
                          </a:solidFill>
                          <a:latin typeface="Nunito Sans"/>
                        </a:rPr>
                        <a:t>Y</a:t>
                      </a: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lvl="0" indent="0" algn="ctr" defTabSz="914400">
                        <a:lnSpc>
                          <a:spcPct val="100000"/>
                        </a:lnSpc>
                        <a:buNone/>
                      </a:pPr>
                      <a:r>
                        <a:rPr lang="en-IN" sz="1100" b="0" i="0" u="none" strike="noStrike" noProof="0">
                          <a:solidFill>
                            <a:schemeClr val="tx1"/>
                          </a:solidFill>
                          <a:effectLst/>
                          <a:latin typeface="Nunito Sans"/>
                        </a:rPr>
                        <a:t>Y</a:t>
                      </a:r>
                    </a:p>
                  </a:txBody>
                  <a:tcPr marL="45720" marR="45720"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lvl="0" algn="ctr">
                        <a:lnSpc>
                          <a:spcPct val="100000"/>
                        </a:lnSpc>
                        <a:spcBef>
                          <a:spcPts val="0"/>
                        </a:spcBef>
                        <a:spcAft>
                          <a:spcPts val="0"/>
                        </a:spcAft>
                        <a:buNone/>
                      </a:pPr>
                      <a:r>
                        <a:rPr lang="en-IN" sz="1100" b="0" i="0" u="none" strike="noStrike" noProof="0">
                          <a:solidFill>
                            <a:schemeClr val="tx1"/>
                          </a:solidFill>
                          <a:effectLst/>
                          <a:latin typeface="Nunito Sans"/>
                        </a:rPr>
                        <a:t>29th June</a:t>
                      </a:r>
                      <a:endParaRPr lang="en-IN" sz="1100" b="0" i="0" u="none" strike="noStrike" noProof="0">
                        <a:solidFill>
                          <a:srgbClr val="000000"/>
                        </a:solidFill>
                        <a:effectLst/>
                        <a:latin typeface="Nunito Sans"/>
                      </a:endParaRPr>
                    </a:p>
                  </a:txBody>
                  <a:tcPr marL="45720" marR="45720"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solidFill>
                      <a:schemeClr val="bg1"/>
                    </a:solidFill>
                  </a:tcPr>
                </a:tc>
                <a:extLst>
                  <a:ext uri="{0D108BD9-81ED-4DB2-BD59-A6C34878D82A}">
                    <a16:rowId xmlns:a16="http://schemas.microsoft.com/office/drawing/2014/main" val="708825012"/>
                  </a:ext>
                </a:extLst>
              </a:tr>
              <a:tr h="507559">
                <a:tc>
                  <a:txBody>
                    <a:bodyPr/>
                    <a:lstStyle/>
                    <a:p>
                      <a:pPr lvl="0" algn="l">
                        <a:lnSpc>
                          <a:spcPct val="100000"/>
                        </a:lnSpc>
                        <a:spcBef>
                          <a:spcPts val="0"/>
                        </a:spcBef>
                        <a:spcAft>
                          <a:spcPts val="0"/>
                        </a:spcAft>
                        <a:buNone/>
                      </a:pPr>
                      <a:r>
                        <a:rPr lang="en-US" sz="1100" b="1" i="0" u="none" strike="noStrike" kern="1200" noProof="0">
                          <a:solidFill>
                            <a:schemeClr val="tx1"/>
                          </a:solidFill>
                          <a:latin typeface="Nunito Sans"/>
                          <a:ea typeface="+mn-ea"/>
                          <a:cs typeface="+mn-cs"/>
                        </a:rPr>
                        <a:t>AMS phase 2: Payroll sync</a:t>
                      </a:r>
                      <a:endParaRPr lang="en-IN" sz="1100" b="0" i="0" u="none" strike="noStrike" kern="1200" noProof="0">
                        <a:solidFill>
                          <a:srgbClr val="000000"/>
                        </a:solidFill>
                        <a:latin typeface="Nunito Sans"/>
                        <a:ea typeface="+mn-ea"/>
                        <a:cs typeface="+mn-cs"/>
                      </a:endParaRP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171450" marR="0" lvl="0" indent="-171450" algn="l">
                        <a:lnSpc>
                          <a:spcPct val="100000"/>
                        </a:lnSpc>
                        <a:spcBef>
                          <a:spcPts val="0"/>
                        </a:spcBef>
                        <a:spcAft>
                          <a:spcPts val="0"/>
                        </a:spcAft>
                        <a:buClr>
                          <a:srgbClr val="000000"/>
                        </a:buClr>
                        <a:buFont typeface="Arial,Sans-Serif"/>
                        <a:buChar char="•"/>
                      </a:pPr>
                      <a:r>
                        <a:rPr lang="en-IN" sz="1100" b="1" i="0" u="none" strike="noStrike" kern="1200" noProof="0">
                          <a:solidFill>
                            <a:schemeClr val="tx1"/>
                          </a:solidFill>
                          <a:effectLst/>
                          <a:latin typeface="Nunito Sans"/>
                          <a:ea typeface="+mn-ea"/>
                          <a:cs typeface="+mn-cs"/>
                        </a:rPr>
                        <a:t>System integration with payroll</a:t>
                      </a:r>
                      <a:r>
                        <a:rPr lang="en-IN" sz="1100" b="0" i="0" u="none" strike="noStrike" kern="1200" noProof="0">
                          <a:solidFill>
                            <a:schemeClr val="tx1"/>
                          </a:solidFill>
                          <a:effectLst/>
                          <a:latin typeface="Nunito Sans"/>
                          <a:ea typeface="+mn-ea"/>
                          <a:cs typeface="+mn-cs"/>
                        </a:rPr>
                        <a:t> for final attendance status sync with payroll processing, with visible status indicators for employees</a:t>
                      </a:r>
                      <a:endParaRPr lang="en-US" sz="1100" b="0" i="0" u="none" strike="noStrike" kern="1200" noProof="0">
                        <a:solidFill>
                          <a:srgbClr val="000000"/>
                        </a:solidFill>
                        <a:effectLst/>
                        <a:latin typeface="Nunito Sans"/>
                        <a:ea typeface="+mn-ea"/>
                        <a:cs typeface="+mn-cs"/>
                      </a:endParaRPr>
                    </a:p>
                  </a:txBody>
                  <a:tcPr anchor="ctr">
                    <a:lnL w="6350" cap="flat" cmpd="sng" algn="ctr">
                      <a:solidFill>
                        <a:schemeClr val="bg1">
                          <a:lumMod val="75000"/>
                        </a:schemeClr>
                      </a:solidFill>
                      <a:prstDash val="solid"/>
                      <a:round/>
                      <a:headEnd type="none" w="med" len="med"/>
                      <a:tailEnd type="none" w="med" len="med"/>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lvl="0" indent="0" algn="ctr">
                        <a:lnSpc>
                          <a:spcPct val="100000"/>
                        </a:lnSpc>
                        <a:spcBef>
                          <a:spcPts val="0"/>
                        </a:spcBef>
                        <a:spcAft>
                          <a:spcPts val="0"/>
                        </a:spcAft>
                        <a:buNone/>
                      </a:pPr>
                      <a:r>
                        <a:rPr lang="en-GB" sz="1100" b="0" i="0" u="none" strike="noStrike" noProof="0">
                          <a:solidFill>
                            <a:srgbClr val="000000"/>
                          </a:solidFill>
                          <a:latin typeface="Nunito Sans"/>
                        </a:rPr>
                        <a:t>Y</a:t>
                      </a: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lvl="0" indent="0" algn="ctr" defTabSz="914400">
                        <a:lnSpc>
                          <a:spcPct val="100000"/>
                        </a:lnSpc>
                        <a:buNone/>
                      </a:pPr>
                      <a:r>
                        <a:rPr lang="en-IN" sz="1100" b="0" i="0" u="none" strike="noStrike" noProof="0">
                          <a:solidFill>
                            <a:schemeClr val="tx1"/>
                          </a:solidFill>
                          <a:effectLst/>
                          <a:latin typeface="Nunito Sans"/>
                        </a:rPr>
                        <a:t>Y</a:t>
                      </a:r>
                    </a:p>
                  </a:txBody>
                  <a:tcPr marL="45720" marR="45720"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lvl="0" algn="ctr">
                        <a:lnSpc>
                          <a:spcPct val="100000"/>
                        </a:lnSpc>
                        <a:spcBef>
                          <a:spcPts val="0"/>
                        </a:spcBef>
                        <a:spcAft>
                          <a:spcPts val="0"/>
                        </a:spcAft>
                        <a:buNone/>
                      </a:pPr>
                      <a:r>
                        <a:rPr lang="en-IN" sz="1100" b="0" i="0" u="none" strike="noStrike" noProof="0">
                          <a:solidFill>
                            <a:schemeClr val="tx1"/>
                          </a:solidFill>
                          <a:effectLst/>
                          <a:latin typeface="Nunito Sans"/>
                        </a:rPr>
                        <a:t>29th June</a:t>
                      </a:r>
                      <a:endParaRPr lang="en-IN" sz="1100" b="0" i="0" u="none" strike="noStrike" noProof="0">
                        <a:solidFill>
                          <a:srgbClr val="000000"/>
                        </a:solidFill>
                        <a:effectLst/>
                        <a:latin typeface="Nunito Sans"/>
                      </a:endParaRPr>
                    </a:p>
                  </a:txBody>
                  <a:tcPr marL="45720" marR="45720"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solidFill>
                      <a:schemeClr val="bg1"/>
                    </a:solidFill>
                  </a:tcPr>
                </a:tc>
                <a:extLst>
                  <a:ext uri="{0D108BD9-81ED-4DB2-BD59-A6C34878D82A}">
                    <a16:rowId xmlns:a16="http://schemas.microsoft.com/office/drawing/2014/main" val="3098739159"/>
                  </a:ext>
                </a:extLst>
              </a:tr>
              <a:tr h="507559">
                <a:tc>
                  <a:txBody>
                    <a:bodyPr/>
                    <a:lstStyle/>
                    <a:p>
                      <a:pPr lvl="0" algn="l">
                        <a:lnSpc>
                          <a:spcPct val="100000"/>
                        </a:lnSpc>
                        <a:spcBef>
                          <a:spcPts val="0"/>
                        </a:spcBef>
                        <a:spcAft>
                          <a:spcPts val="0"/>
                        </a:spcAft>
                        <a:buNone/>
                      </a:pPr>
                      <a:r>
                        <a:rPr lang="en-US" sz="1100" b="1" i="0" u="none" strike="noStrike" kern="1200" noProof="0">
                          <a:solidFill>
                            <a:schemeClr val="tx1"/>
                          </a:solidFill>
                          <a:latin typeface="Nunito Sans"/>
                          <a:ea typeface="+mn-ea"/>
                          <a:cs typeface="+mn-cs"/>
                        </a:rPr>
                        <a:t>Tech debt</a:t>
                      </a:r>
                      <a:endParaRPr lang="en-IN" sz="1100" b="0" i="0" u="none" strike="noStrike" kern="1200" noProof="0">
                        <a:solidFill>
                          <a:srgbClr val="000000"/>
                        </a:solidFill>
                        <a:latin typeface="Nunito Sans"/>
                        <a:ea typeface="+mn-ea"/>
                        <a:cs typeface="+mn-cs"/>
                      </a:endParaRP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solidFill>
                      <a:schemeClr val="bg1"/>
                    </a:solidFill>
                  </a:tcPr>
                </a:tc>
                <a:tc>
                  <a:txBody>
                    <a:bodyPr/>
                    <a:lstStyle/>
                    <a:p>
                      <a:pPr marL="171450" marR="0" lvl="0" indent="-171450" algn="l">
                        <a:lnSpc>
                          <a:spcPct val="100000"/>
                        </a:lnSpc>
                        <a:spcBef>
                          <a:spcPts val="0"/>
                        </a:spcBef>
                        <a:spcAft>
                          <a:spcPts val="0"/>
                        </a:spcAft>
                        <a:buClr>
                          <a:srgbClr val="000000"/>
                        </a:buClr>
                        <a:buFont typeface="Arial,Sans-Serif"/>
                        <a:buChar char="•"/>
                      </a:pPr>
                      <a:r>
                        <a:rPr lang="en-IN" sz="1100" b="0" i="0" u="none" strike="noStrike" kern="1200" noProof="0">
                          <a:solidFill>
                            <a:schemeClr val="tx1"/>
                          </a:solidFill>
                          <a:effectLst/>
                          <a:latin typeface="Nunito Sans"/>
                          <a:ea typeface="+mn-ea"/>
                          <a:cs typeface="+mn-cs"/>
                        </a:rPr>
                        <a:t>Enabling consistent logging for 20 backend services</a:t>
                      </a:r>
                      <a:endParaRPr lang="en-IN" sz="1100" b="0" i="0" u="none" strike="noStrike" kern="1200" noProof="0">
                        <a:solidFill>
                          <a:srgbClr val="000000"/>
                        </a:solidFill>
                        <a:effectLst/>
                        <a:latin typeface="Nunito Sans"/>
                        <a:ea typeface="+mn-ea"/>
                        <a:cs typeface="+mn-cs"/>
                      </a:endParaRPr>
                    </a:p>
                  </a:txBody>
                  <a:tcPr anchor="ctr">
                    <a:lnL w="6350" cap="flat" cmpd="sng" algn="ctr">
                      <a:solidFill>
                        <a:schemeClr val="bg1">
                          <a:lumMod val="75000"/>
                        </a:schemeClr>
                      </a:solidFill>
                      <a:prstDash val="solid"/>
                      <a:round/>
                      <a:headEnd type="none" w="med" len="med"/>
                      <a:tailEnd type="none" w="med" len="med"/>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a:solidFill>
                        <a:schemeClr val="bg1">
                          <a:lumMod val="75000"/>
                        </a:schemeClr>
                      </a:solidFill>
                    </a:lnB>
                    <a:solidFill>
                      <a:schemeClr val="bg1"/>
                    </a:solidFill>
                  </a:tcPr>
                </a:tc>
                <a:tc>
                  <a:txBody>
                    <a:bodyPr/>
                    <a:lstStyle/>
                    <a:p>
                      <a:pPr marL="0" lvl="0" indent="0" algn="ctr">
                        <a:lnSpc>
                          <a:spcPct val="100000"/>
                        </a:lnSpc>
                        <a:spcBef>
                          <a:spcPts val="0"/>
                        </a:spcBef>
                        <a:spcAft>
                          <a:spcPts val="0"/>
                        </a:spcAft>
                        <a:buNone/>
                      </a:pPr>
                      <a:r>
                        <a:rPr lang="en-GB" sz="1100" b="0" i="0" u="none" strike="noStrike" noProof="0">
                          <a:solidFill>
                            <a:srgbClr val="000000"/>
                          </a:solidFill>
                          <a:latin typeface="Nunito Sans"/>
                        </a:rPr>
                        <a:t>N</a:t>
                      </a: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solidFill>
                      <a:schemeClr val="bg1"/>
                    </a:solidFill>
                  </a:tcPr>
                </a:tc>
                <a:tc>
                  <a:txBody>
                    <a:bodyPr/>
                    <a:lstStyle/>
                    <a:p>
                      <a:pPr marL="0" lvl="0" indent="0" algn="ctr" defTabSz="914400">
                        <a:lnSpc>
                          <a:spcPct val="100000"/>
                        </a:lnSpc>
                        <a:buNone/>
                      </a:pPr>
                      <a:r>
                        <a:rPr lang="en-IN" sz="1100" b="0" i="0" u="none" strike="noStrike" noProof="0">
                          <a:solidFill>
                            <a:schemeClr val="tx1"/>
                          </a:solidFill>
                          <a:effectLst/>
                          <a:latin typeface="Nunito Sans"/>
                        </a:rPr>
                        <a:t>N</a:t>
                      </a:r>
                    </a:p>
                  </a:txBody>
                  <a:tcPr marL="45720" marR="45720"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a:solidFill>
                        <a:schemeClr val="bg1">
                          <a:lumMod val="75000"/>
                        </a:schemeClr>
                      </a:solidFill>
                    </a:lnB>
                    <a:solidFill>
                      <a:schemeClr val="bg1"/>
                    </a:solidFill>
                  </a:tcPr>
                </a:tc>
                <a:tc>
                  <a:txBody>
                    <a:bodyPr/>
                    <a:lstStyle/>
                    <a:p>
                      <a:pPr lvl="0" algn="ctr">
                        <a:lnSpc>
                          <a:spcPct val="100000"/>
                        </a:lnSpc>
                        <a:spcBef>
                          <a:spcPts val="0"/>
                        </a:spcBef>
                        <a:spcAft>
                          <a:spcPts val="0"/>
                        </a:spcAft>
                        <a:buNone/>
                      </a:pPr>
                      <a:r>
                        <a:rPr lang="en-IN" sz="1100" b="0" i="0" u="none" strike="noStrike" noProof="0">
                          <a:solidFill>
                            <a:schemeClr val="tx1"/>
                          </a:solidFill>
                          <a:effectLst/>
                          <a:latin typeface="Nunito Sans"/>
                        </a:rPr>
                        <a:t>29th June</a:t>
                      </a:r>
                      <a:endParaRPr lang="en-IN" sz="1100" b="0" i="0" u="none" strike="noStrike" noProof="0">
                        <a:solidFill>
                          <a:srgbClr val="000000"/>
                        </a:solidFill>
                        <a:effectLst/>
                        <a:latin typeface="Nunito Sans"/>
                      </a:endParaRPr>
                    </a:p>
                  </a:txBody>
                  <a:tcPr marL="45720" marR="45720"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solidFill>
                      <a:schemeClr val="bg1"/>
                    </a:solidFill>
                  </a:tcPr>
                </a:tc>
                <a:extLst>
                  <a:ext uri="{0D108BD9-81ED-4DB2-BD59-A6C34878D82A}">
                    <a16:rowId xmlns:a16="http://schemas.microsoft.com/office/drawing/2014/main" val="954396307"/>
                  </a:ext>
                </a:extLst>
              </a:tr>
            </a:tbl>
          </a:graphicData>
        </a:graphic>
      </p:graphicFrame>
      <p:sp>
        <p:nvSpPr>
          <p:cNvPr id="26" name="TextBox 25">
            <a:extLst>
              <a:ext uri="{FF2B5EF4-FFF2-40B4-BE49-F238E27FC236}">
                <a16:creationId xmlns:a16="http://schemas.microsoft.com/office/drawing/2014/main" id="{67AF3C97-2C0F-15ED-C137-EFCE1E6C9070}"/>
              </a:ext>
            </a:extLst>
          </p:cNvPr>
          <p:cNvSpPr txBox="1"/>
          <p:nvPr/>
        </p:nvSpPr>
        <p:spPr>
          <a:xfrm>
            <a:off x="343955" y="3897931"/>
            <a:ext cx="417102" cy="253916"/>
          </a:xfrm>
          <a:prstGeom prst="rect">
            <a:avLst/>
          </a:prstGeom>
          <a:noFill/>
        </p:spPr>
        <p:txBody>
          <a:bodyPr wrap="none" lIns="91440" tIns="45720" rIns="91440" bIns="45720" rtlCol="0" anchor="t">
            <a:spAutoFit/>
          </a:bodyPr>
          <a:lstStyle/>
          <a:p>
            <a:r>
              <a:rPr lang="en-IN" sz="1050" b="1">
                <a:solidFill>
                  <a:schemeClr val="bg1"/>
                </a:solidFill>
                <a:latin typeface="Montserrat Light"/>
              </a:rPr>
              <a:t>Jan</a:t>
            </a:r>
            <a:endParaRPr lang="en-IN" sz="1050" b="1">
              <a:solidFill>
                <a:schemeClr val="bg1"/>
              </a:solidFill>
              <a:latin typeface="Montserrat Light" pitchFamily="2" charset="0"/>
            </a:endParaRPr>
          </a:p>
        </p:txBody>
      </p:sp>
      <p:sp>
        <p:nvSpPr>
          <p:cNvPr id="27" name="TextBox 15">
            <a:extLst>
              <a:ext uri="{FF2B5EF4-FFF2-40B4-BE49-F238E27FC236}">
                <a16:creationId xmlns:a16="http://schemas.microsoft.com/office/drawing/2014/main" id="{CBB99660-4E49-38FE-3273-2D6E45501C67}"/>
              </a:ext>
            </a:extLst>
          </p:cNvPr>
          <p:cNvSpPr txBox="1"/>
          <p:nvPr/>
        </p:nvSpPr>
        <p:spPr>
          <a:xfrm>
            <a:off x="398384" y="817274"/>
            <a:ext cx="417102" cy="253916"/>
          </a:xfrm>
          <a:prstGeom prst="rect">
            <a:avLst/>
          </a:prstGeom>
          <a:noFill/>
        </p:spPr>
        <p:txBody>
          <a:bodyPr wrap="non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050" b="1">
                <a:solidFill>
                  <a:schemeClr val="bg1"/>
                </a:solidFill>
                <a:latin typeface="Montserrat Light"/>
              </a:rPr>
              <a:t>Jan</a:t>
            </a:r>
            <a:endParaRPr lang="en-IN" sz="1050" b="1">
              <a:solidFill>
                <a:schemeClr val="bg1"/>
              </a:solidFill>
              <a:latin typeface="Montserrat Light" pitchFamily="2" charset="0"/>
            </a:endParaRPr>
          </a:p>
        </p:txBody>
      </p:sp>
      <p:sp>
        <p:nvSpPr>
          <p:cNvPr id="29" name="Rectangle 28">
            <a:extLst>
              <a:ext uri="{FF2B5EF4-FFF2-40B4-BE49-F238E27FC236}">
                <a16:creationId xmlns:a16="http://schemas.microsoft.com/office/drawing/2014/main" id="{015F3AD8-48E9-5AA8-ECDE-140367592601}"/>
              </a:ext>
            </a:extLst>
          </p:cNvPr>
          <p:cNvSpPr/>
          <p:nvPr/>
        </p:nvSpPr>
        <p:spPr>
          <a:xfrm>
            <a:off x="-4474" y="793560"/>
            <a:ext cx="1067526" cy="42234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IN" sz="1400" b="1">
                <a:latin typeface="AirIndia"/>
              </a:rPr>
              <a:t>Jun ‘26</a:t>
            </a:r>
          </a:p>
        </p:txBody>
      </p:sp>
      <p:pic>
        <p:nvPicPr>
          <p:cNvPr id="34" name="Picture 33">
            <a:extLst>
              <a:ext uri="{FF2B5EF4-FFF2-40B4-BE49-F238E27FC236}">
                <a16:creationId xmlns:a16="http://schemas.microsoft.com/office/drawing/2014/main" id="{2C1AE450-4111-D782-6BC2-ED98B95C7DC8}"/>
              </a:ext>
            </a:extLst>
          </p:cNvPr>
          <p:cNvPicPr>
            <a:picLocks noChangeAspect="1"/>
          </p:cNvPicPr>
          <p:nvPr/>
        </p:nvPicPr>
        <p:blipFill>
          <a:blip r:embed="rId3"/>
          <a:stretch>
            <a:fillRect/>
          </a:stretch>
        </p:blipFill>
        <p:spPr>
          <a:xfrm>
            <a:off x="306161" y="6532789"/>
            <a:ext cx="8248650" cy="323850"/>
          </a:xfrm>
          <a:prstGeom prst="rect">
            <a:avLst/>
          </a:prstGeom>
        </p:spPr>
      </p:pic>
    </p:spTree>
    <p:extLst>
      <p:ext uri="{BB962C8B-B14F-4D97-AF65-F5344CB8AC3E}">
        <p14:creationId xmlns:p14="http://schemas.microsoft.com/office/powerpoint/2010/main" val="179925969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0AF28B-34B2-256F-4598-B3AFD309DB4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734A6CB-F97E-3CAA-9776-15D2F41151D2}"/>
              </a:ext>
            </a:extLst>
          </p:cNvPr>
          <p:cNvSpPr>
            <a:spLocks noGrp="1"/>
          </p:cNvSpPr>
          <p:nvPr>
            <p:ph type="sldNum" sz="quarter" idx="12"/>
          </p:nvPr>
        </p:nvSpPr>
        <p:spPr/>
        <p:txBody>
          <a:bodyPr/>
          <a:lstStyle/>
          <a:p>
            <a:fld id="{3A41A254-7326-714E-AF55-4C213D6394DE}" type="slidenum">
              <a:rPr lang="en-US" sz="900" smtClean="0">
                <a:latin typeface="Montserrat Light" pitchFamily="2" charset="0"/>
              </a:rPr>
              <a:pPr/>
              <a:t>67</a:t>
            </a:fld>
            <a:endParaRPr lang="en-US" sz="900">
              <a:latin typeface="Montserrat Light" pitchFamily="2" charset="0"/>
            </a:endParaRPr>
          </a:p>
        </p:txBody>
      </p:sp>
      <p:sp>
        <p:nvSpPr>
          <p:cNvPr id="6" name="Title 11">
            <a:extLst>
              <a:ext uri="{FF2B5EF4-FFF2-40B4-BE49-F238E27FC236}">
                <a16:creationId xmlns:a16="http://schemas.microsoft.com/office/drawing/2014/main" id="{E5CBDA2B-82FD-E84D-2C01-20274A670F87}"/>
              </a:ext>
            </a:extLst>
          </p:cNvPr>
          <p:cNvSpPr txBox="1">
            <a:spLocks/>
          </p:cNvSpPr>
          <p:nvPr/>
        </p:nvSpPr>
        <p:spPr>
          <a:xfrm>
            <a:off x="304800" y="269218"/>
            <a:ext cx="8420100" cy="396638"/>
          </a:xfrm>
          <a:prstGeom prst="rect">
            <a:avLst/>
          </a:prstGeom>
        </p:spPr>
        <p:txBody>
          <a:bodyPr lIns="91440" tIns="45720" rIns="91440" bIns="45720" anchor="t">
            <a:noAutofit/>
          </a:bodyPr>
          <a:lstStyle>
            <a:lvl1pPr algn="l" defTabSz="914400" rtl="0" eaLnBrk="1" latinLnBrk="0" hangingPunct="1">
              <a:lnSpc>
                <a:spcPct val="90000"/>
              </a:lnSpc>
              <a:spcBef>
                <a:spcPct val="0"/>
              </a:spcBef>
              <a:buNone/>
              <a:defRPr sz="4400" b="1" i="0" kern="1200">
                <a:solidFill>
                  <a:schemeClr val="tx1"/>
                </a:solidFill>
                <a:latin typeface="AirIndia" pitchFamily="82" charset="77"/>
                <a:ea typeface="+mj-ea"/>
                <a:cs typeface="+mj-cs"/>
              </a:defRPr>
            </a:lvl1pPr>
          </a:lstStyle>
          <a:p>
            <a:r>
              <a:rPr lang="en-US" sz="1800">
                <a:solidFill>
                  <a:srgbClr val="C00000"/>
                </a:solidFill>
                <a:latin typeface="AirIndia"/>
              </a:rPr>
              <a:t>CE Plus - FY27 Q1  Release Plan </a:t>
            </a:r>
            <a:endParaRPr lang="en-US" sz="1800" b="0">
              <a:solidFill>
                <a:srgbClr val="C00000"/>
              </a:solidFill>
              <a:latin typeface="AirIndia"/>
            </a:endParaRPr>
          </a:p>
        </p:txBody>
      </p:sp>
      <p:graphicFrame>
        <p:nvGraphicFramePr>
          <p:cNvPr id="4" name="Table 3">
            <a:extLst>
              <a:ext uri="{FF2B5EF4-FFF2-40B4-BE49-F238E27FC236}">
                <a16:creationId xmlns:a16="http://schemas.microsoft.com/office/drawing/2014/main" id="{1A5647AF-8473-CDB0-C59B-87D6A7499994}"/>
              </a:ext>
            </a:extLst>
          </p:cNvPr>
          <p:cNvGraphicFramePr>
            <a:graphicFrameLocks noGrp="1"/>
          </p:cNvGraphicFramePr>
          <p:nvPr>
            <p:extLst>
              <p:ext uri="{D42A27DB-BD31-4B8C-83A1-F6EECF244321}">
                <p14:modId xmlns:p14="http://schemas.microsoft.com/office/powerpoint/2010/main" val="507674943"/>
              </p:ext>
            </p:extLst>
          </p:nvPr>
        </p:nvGraphicFramePr>
        <p:xfrm>
          <a:off x="1090849" y="792699"/>
          <a:ext cx="9926993" cy="2384995"/>
        </p:xfrm>
        <a:graphic>
          <a:graphicData uri="http://schemas.openxmlformats.org/drawingml/2006/table">
            <a:tbl>
              <a:tblPr firstRow="1" bandRow="1">
                <a:tableStyleId>{5C22544A-7EE6-4342-B048-85BDC9FD1C3A}</a:tableStyleId>
              </a:tblPr>
              <a:tblGrid>
                <a:gridCol w="1032932">
                  <a:extLst>
                    <a:ext uri="{9D8B030D-6E8A-4147-A177-3AD203B41FA5}">
                      <a16:colId xmlns:a16="http://schemas.microsoft.com/office/drawing/2014/main" val="1118630623"/>
                    </a:ext>
                  </a:extLst>
                </a:gridCol>
                <a:gridCol w="6756129">
                  <a:extLst>
                    <a:ext uri="{9D8B030D-6E8A-4147-A177-3AD203B41FA5}">
                      <a16:colId xmlns:a16="http://schemas.microsoft.com/office/drawing/2014/main" val="99588705"/>
                    </a:ext>
                  </a:extLst>
                </a:gridCol>
                <a:gridCol w="1068966">
                  <a:extLst>
                    <a:ext uri="{9D8B030D-6E8A-4147-A177-3AD203B41FA5}">
                      <a16:colId xmlns:a16="http://schemas.microsoft.com/office/drawing/2014/main" val="2861017114"/>
                    </a:ext>
                  </a:extLst>
                </a:gridCol>
                <a:gridCol w="1068966">
                  <a:extLst>
                    <a:ext uri="{9D8B030D-6E8A-4147-A177-3AD203B41FA5}">
                      <a16:colId xmlns:a16="http://schemas.microsoft.com/office/drawing/2014/main" val="1864746400"/>
                    </a:ext>
                  </a:extLst>
                </a:gridCol>
              </a:tblGrid>
              <a:tr h="601915">
                <a:tc>
                  <a:txBody>
                    <a:bodyPr/>
                    <a:lstStyle/>
                    <a:p>
                      <a:pPr marL="0" lvl="0" indent="0" algn="ctr" defTabSz="914400">
                        <a:lnSpc>
                          <a:spcPct val="100000"/>
                        </a:lnSpc>
                        <a:buNone/>
                      </a:pPr>
                      <a:r>
                        <a:rPr lang="en-IN" sz="1100" b="1" i="0" u="none" strike="noStrike" kern="1200" noProof="0">
                          <a:solidFill>
                            <a:schemeClr val="bg1"/>
                          </a:solidFill>
                          <a:latin typeface="Avenir Next LT Pro Light"/>
                          <a:ea typeface="+mn-ea"/>
                          <a:cs typeface="+mn-cs"/>
                        </a:rPr>
                        <a:t>Projects</a:t>
                      </a:r>
                      <a:endParaRPr lang="en-US"/>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solidFill>
                      <a:srgbClr val="002060"/>
                    </a:solidFill>
                  </a:tcPr>
                </a:tc>
                <a:tc>
                  <a:txBody>
                    <a:bodyPr/>
                    <a:lstStyle/>
                    <a:p>
                      <a:pPr lvl="0" algn="ctr">
                        <a:lnSpc>
                          <a:spcPct val="100000"/>
                        </a:lnSpc>
                        <a:spcBef>
                          <a:spcPts val="0"/>
                        </a:spcBef>
                        <a:spcAft>
                          <a:spcPts val="0"/>
                        </a:spcAft>
                        <a:buNone/>
                      </a:pPr>
                      <a:r>
                        <a:rPr lang="en-IN" sz="1100" b="1" i="0" u="none" strike="noStrike" kern="1200" noProof="0">
                          <a:solidFill>
                            <a:srgbClr val="FFFFFF"/>
                          </a:solidFill>
                          <a:latin typeface="Nunito Sans"/>
                          <a:ea typeface="+mn-ea"/>
                          <a:cs typeface="+mn-cs"/>
                        </a:rPr>
                        <a:t>Value Justification/Realization</a:t>
                      </a:r>
                    </a:p>
                    <a:p>
                      <a:pPr marL="0" lvl="0" indent="0" algn="l" defTabSz="914400">
                        <a:buFont typeface="Arial" panose="020B0604020202020204" pitchFamily="34" charset="0"/>
                        <a:buNone/>
                      </a:pPr>
                      <a:endParaRPr lang="en-IN" sz="1050" kern="1200">
                        <a:solidFill>
                          <a:schemeClr val="bg1"/>
                        </a:solidFill>
                        <a:latin typeface="Avenir Next LT Pro Ligh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002060"/>
                    </a:solidFill>
                  </a:tcPr>
                </a:tc>
                <a:tc>
                  <a:txBody>
                    <a:bodyPr/>
                    <a:lstStyle/>
                    <a:p>
                      <a:pPr marL="0" lvl="0" indent="0" algn="l">
                        <a:buNone/>
                      </a:pPr>
                      <a:r>
                        <a:rPr lang="en-IN" sz="1050" kern="1200">
                          <a:solidFill>
                            <a:schemeClr val="bg1"/>
                          </a:solidFill>
                          <a:latin typeface="Avenir Next LT Pro Light"/>
                          <a:ea typeface="+mn-ea"/>
                          <a:cs typeface="+mn-cs"/>
                        </a:rPr>
                        <a:t>Go Live Date</a:t>
                      </a: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a:solidFill>
                        <a:schemeClr val="bg1">
                          <a:lumMod val="75000"/>
                        </a:schemeClr>
                      </a:solidFill>
                    </a:lnB>
                    <a:solidFill>
                      <a:srgbClr val="002060"/>
                    </a:solidFill>
                  </a:tcPr>
                </a:tc>
                <a:tc>
                  <a:txBody>
                    <a:bodyPr/>
                    <a:lstStyle/>
                    <a:p>
                      <a:pPr marL="0" lvl="0" indent="0" algn="l">
                        <a:buNone/>
                      </a:pPr>
                      <a:r>
                        <a:rPr lang="en-IN" sz="1050" kern="1200">
                          <a:solidFill>
                            <a:schemeClr val="bg1"/>
                          </a:solidFill>
                          <a:latin typeface="Avenir Next LT Pro Light"/>
                          <a:ea typeface="+mn-ea"/>
                          <a:cs typeface="+mn-cs"/>
                        </a:rPr>
                        <a:t>JIRA</a:t>
                      </a: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solidFill>
                      <a:srgbClr val="002060"/>
                    </a:solidFill>
                  </a:tcPr>
                </a:tc>
                <a:extLst>
                  <a:ext uri="{0D108BD9-81ED-4DB2-BD59-A6C34878D82A}">
                    <a16:rowId xmlns:a16="http://schemas.microsoft.com/office/drawing/2014/main" val="844450115"/>
                  </a:ext>
                </a:extLst>
              </a:tr>
              <a:tr h="507559">
                <a:tc>
                  <a:txBody>
                    <a:bodyPr/>
                    <a:lstStyle/>
                    <a:p>
                      <a:pPr lvl="0" algn="l">
                        <a:lnSpc>
                          <a:spcPct val="100000"/>
                        </a:lnSpc>
                        <a:spcBef>
                          <a:spcPts val="0"/>
                        </a:spcBef>
                        <a:spcAft>
                          <a:spcPts val="0"/>
                        </a:spcAft>
                        <a:buNone/>
                      </a:pPr>
                      <a:r>
                        <a:rPr lang="en-IN" sz="1100" b="1" i="0" u="none" strike="noStrike" kern="1200" noProof="0">
                          <a:solidFill>
                            <a:schemeClr val="bg1">
                              <a:lumMod val="76000"/>
                            </a:schemeClr>
                          </a:solidFill>
                          <a:latin typeface="Nunito Sans"/>
                          <a:ea typeface="+mn-ea"/>
                          <a:cs typeface="+mn-cs"/>
                        </a:rPr>
                        <a:t>Boarding Document display </a:t>
                      </a:r>
                      <a:endParaRPr lang="en-IN" sz="1100" b="0" i="0" u="none" strike="noStrike" kern="1200" noProof="0">
                        <a:solidFill>
                          <a:schemeClr val="bg1">
                            <a:lumMod val="76000"/>
                          </a:schemeClr>
                        </a:solidFill>
                        <a:latin typeface="Nunito Sans"/>
                        <a:ea typeface="+mn-ea"/>
                        <a:cs typeface="+mn-cs"/>
                      </a:endParaRPr>
                    </a:p>
                  </a:txBody>
                  <a:tcPr anchor="ctr">
                    <a:lnL w="6350">
                      <a:solidFill>
                        <a:schemeClr val="bg1">
                          <a:lumMod val="75000"/>
                        </a:schemeClr>
                      </a:solidFill>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171450" marR="0" lvl="0" indent="-171450" algn="l" rtl="0">
                        <a:lnSpc>
                          <a:spcPct val="100000"/>
                        </a:lnSpc>
                        <a:spcBef>
                          <a:spcPts val="0"/>
                        </a:spcBef>
                        <a:spcAft>
                          <a:spcPts val="0"/>
                        </a:spcAft>
                        <a:buClr>
                          <a:srgbClr val="000000"/>
                        </a:buClr>
                        <a:buSzTx/>
                        <a:buFont typeface="Arial,Sans-Serif"/>
                        <a:buChar char="•"/>
                      </a:pPr>
                      <a:r>
                        <a:rPr lang="en-US" sz="1100" b="0" i="0" u="none" strike="noStrike" kern="1200" noProof="0">
                          <a:solidFill>
                            <a:schemeClr val="tx1"/>
                          </a:solidFill>
                          <a:effectLst/>
                          <a:latin typeface="Nunito Sans"/>
                          <a:ea typeface="+mn-ea"/>
                          <a:cs typeface="+mn-cs"/>
                        </a:rPr>
                        <a:t>Integrates catering data from PAXIA to show class‑wise meal types and crew meals in real time</a:t>
                      </a:r>
                      <a:endParaRPr lang="en-US" sz="1100" b="0" i="0" u="none" strike="noStrike" kern="1200" noProof="0">
                        <a:solidFill>
                          <a:srgbClr val="000000"/>
                        </a:solidFill>
                        <a:effectLst/>
                        <a:latin typeface="Nunito Sans"/>
                        <a:ea typeface="+mn-ea"/>
                        <a:cs typeface="+mn-cs"/>
                      </a:endParaRP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a:solidFill>
                        <a:schemeClr val="bg1">
                          <a:lumMod val="75000"/>
                        </a:schemeClr>
                      </a:solidFill>
                    </a:lnB>
                    <a:solidFill>
                      <a:schemeClr val="bg1"/>
                    </a:solidFill>
                  </a:tcPr>
                </a:tc>
                <a:tc>
                  <a:txBody>
                    <a:bodyPr/>
                    <a:lstStyle/>
                    <a:p>
                      <a:pPr marL="0" lvl="0" indent="0" algn="l">
                        <a:lnSpc>
                          <a:spcPct val="100000"/>
                        </a:lnSpc>
                        <a:spcBef>
                          <a:spcPts val="0"/>
                        </a:spcBef>
                        <a:spcAft>
                          <a:spcPts val="0"/>
                        </a:spcAft>
                        <a:buNone/>
                      </a:pPr>
                      <a:r>
                        <a:rPr lang="en-US" sz="1100" b="0" i="0" u="none" strike="noStrike" kern="1200" noProof="0">
                          <a:solidFill>
                            <a:schemeClr val="tx1"/>
                          </a:solidFill>
                          <a:effectLst/>
                          <a:latin typeface="Nunito Sans"/>
                          <a:ea typeface="+mn-ea"/>
                          <a:cs typeface="+mn-cs"/>
                        </a:rPr>
                        <a:t>29th April</a:t>
                      </a: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a:solidFill>
                        <a:schemeClr val="bg1">
                          <a:lumMod val="75000"/>
                        </a:schemeClr>
                      </a:solidFill>
                    </a:lnB>
                    <a:solidFill>
                      <a:schemeClr val="bg1"/>
                    </a:solidFill>
                  </a:tcPr>
                </a:tc>
                <a:tc>
                  <a:txBody>
                    <a:bodyPr/>
                    <a:lstStyle/>
                    <a:p>
                      <a:pPr marL="0" lvl="0" indent="0" algn="l">
                        <a:lnSpc>
                          <a:spcPct val="100000"/>
                        </a:lnSpc>
                        <a:spcBef>
                          <a:spcPts val="0"/>
                        </a:spcBef>
                        <a:spcAft>
                          <a:spcPts val="0"/>
                        </a:spcAft>
                        <a:buNone/>
                      </a:pPr>
                      <a:r>
                        <a:rPr lang="en-US" sz="1100" b="0" i="0" u="none" strike="noStrike" kern="1200" noProof="0">
                          <a:solidFill>
                            <a:srgbClr val="000000"/>
                          </a:solidFill>
                          <a:effectLst/>
                          <a:latin typeface="Nunito Sans"/>
                          <a:ea typeface="+mn-ea"/>
                          <a:cs typeface="+mn-cs"/>
                        </a:rPr>
                        <a:t>TBD (Budget Approvals)</a:t>
                      </a:r>
                      <a:endParaRPr lang="en-US"/>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solidFill>
                      <a:schemeClr val="bg1"/>
                    </a:solidFill>
                  </a:tcPr>
                </a:tc>
                <a:extLst>
                  <a:ext uri="{0D108BD9-81ED-4DB2-BD59-A6C34878D82A}">
                    <a16:rowId xmlns:a16="http://schemas.microsoft.com/office/drawing/2014/main" val="3951168155"/>
                  </a:ext>
                </a:extLst>
              </a:tr>
              <a:tr h="507559">
                <a:tc>
                  <a:txBody>
                    <a:bodyPr/>
                    <a:lstStyle/>
                    <a:p>
                      <a:pPr lvl="0" algn="l">
                        <a:lnSpc>
                          <a:spcPct val="100000"/>
                        </a:lnSpc>
                        <a:spcBef>
                          <a:spcPts val="0"/>
                        </a:spcBef>
                        <a:spcAft>
                          <a:spcPts val="0"/>
                        </a:spcAft>
                        <a:buNone/>
                      </a:pPr>
                      <a:r>
                        <a:rPr lang="en-IN" sz="1100" b="1" i="0" u="none" strike="noStrike" kern="1200" noProof="0">
                          <a:solidFill>
                            <a:schemeClr val="tx1"/>
                          </a:solidFill>
                          <a:latin typeface="Nunito Sans"/>
                          <a:ea typeface="+mn-ea"/>
                          <a:cs typeface="+mn-cs"/>
                        </a:rPr>
                        <a:t>Crew Competency Information</a:t>
                      </a:r>
                      <a:endParaRPr lang="en-IN" sz="1100" b="0" i="0" u="none" strike="noStrike" kern="1200" noProof="0">
                        <a:solidFill>
                          <a:srgbClr val="000000"/>
                        </a:solidFill>
                        <a:latin typeface="Nunito Sans"/>
                        <a:ea typeface="+mn-ea"/>
                        <a:cs typeface="+mn-cs"/>
                      </a:endParaRPr>
                    </a:p>
                  </a:txBody>
                  <a:tcPr anchor="ctr">
                    <a:lnL w="6350">
                      <a:solidFill>
                        <a:schemeClr val="bg1">
                          <a:lumMod val="75000"/>
                        </a:schemeClr>
                      </a:solidFill>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171450" marR="0" lvl="0" indent="-171450" algn="l" rtl="0">
                        <a:lnSpc>
                          <a:spcPct val="100000"/>
                        </a:lnSpc>
                        <a:spcBef>
                          <a:spcPts val="0"/>
                        </a:spcBef>
                        <a:spcAft>
                          <a:spcPts val="0"/>
                        </a:spcAft>
                        <a:buClr>
                          <a:srgbClr val="000000"/>
                        </a:buClr>
                        <a:buSzTx/>
                        <a:buFont typeface="Arial,Sans-Serif"/>
                        <a:buChar char="•"/>
                      </a:pPr>
                      <a:r>
                        <a:rPr lang="en-US" sz="1100" b="0" i="0" u="none" strike="noStrike" kern="1200" noProof="0">
                          <a:solidFill>
                            <a:schemeClr val="tx1"/>
                          </a:solidFill>
                          <a:effectLst/>
                          <a:latin typeface="Nunito Sans"/>
                          <a:ea typeface="+mn-ea"/>
                          <a:cs typeface="+mn-cs"/>
                        </a:rPr>
                        <a:t>Presents the CE with CAR‑mandated competencies for all crew assigned on the flight in a single location for pre‑flight checks</a:t>
                      </a:r>
                      <a:endParaRPr lang="en-US" sz="1100" b="0" i="0" u="none" strike="noStrike" kern="1200" noProof="0">
                        <a:solidFill>
                          <a:srgbClr val="000000"/>
                        </a:solidFill>
                        <a:effectLst/>
                        <a:latin typeface="Nunito Sans"/>
                        <a:ea typeface="+mn-ea"/>
                        <a:cs typeface="+mn-cs"/>
                      </a:endParaRP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lvl="0" indent="0" algn="l">
                        <a:lnSpc>
                          <a:spcPct val="100000"/>
                        </a:lnSpc>
                        <a:spcBef>
                          <a:spcPts val="0"/>
                        </a:spcBef>
                        <a:spcAft>
                          <a:spcPts val="0"/>
                        </a:spcAft>
                        <a:buNone/>
                      </a:pPr>
                      <a:r>
                        <a:rPr lang="en-US" sz="1100" b="0" i="0" u="none" strike="noStrike" kern="1200" noProof="0">
                          <a:solidFill>
                            <a:schemeClr val="tx1"/>
                          </a:solidFill>
                          <a:effectLst/>
                          <a:latin typeface="Nunito Sans"/>
                          <a:ea typeface="+mn-ea"/>
                          <a:cs typeface="+mn-cs"/>
                        </a:rPr>
                        <a:t>29th April</a:t>
                      </a:r>
                      <a:endParaRPr lang="en-US" sz="1100" b="0" i="0" u="none" strike="noStrike" kern="1200" noProof="0">
                        <a:solidFill>
                          <a:srgbClr val="000000"/>
                        </a:solidFill>
                        <a:effectLst/>
                        <a:latin typeface="Nunito Sans"/>
                        <a:ea typeface="+mn-ea"/>
                        <a:cs typeface="+mn-cs"/>
                      </a:endParaRP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a:solidFill>
                        <a:schemeClr val="bg1">
                          <a:lumMod val="75000"/>
                        </a:schemeClr>
                      </a:solidFill>
                    </a:lnB>
                    <a:solidFill>
                      <a:schemeClr val="bg1"/>
                    </a:solidFill>
                  </a:tcPr>
                </a:tc>
                <a:tc>
                  <a:txBody>
                    <a:bodyPr/>
                    <a:lstStyle/>
                    <a:p>
                      <a:pPr marL="0" lvl="0" indent="0" algn="l">
                        <a:lnSpc>
                          <a:spcPct val="100000"/>
                        </a:lnSpc>
                        <a:spcBef>
                          <a:spcPts val="0"/>
                        </a:spcBef>
                        <a:spcAft>
                          <a:spcPts val="0"/>
                        </a:spcAft>
                        <a:buNone/>
                      </a:pPr>
                      <a:r>
                        <a:rPr lang="en-US" sz="1100" b="0" i="0" u="none" strike="noStrike" kern="1200" noProof="0">
                          <a:solidFill>
                            <a:schemeClr val="tx1"/>
                          </a:solidFill>
                          <a:effectLst/>
                          <a:latin typeface="Nunito Sans"/>
                          <a:ea typeface="+mn-ea"/>
                          <a:cs typeface="+mn-cs"/>
                          <a:hlinkClick r:id="rId4"/>
                        </a:rPr>
                        <a:t>CP-2086</a:t>
                      </a:r>
                      <a:endParaRPr lang="en-US" sz="1100" b="0" i="0" u="none" strike="noStrike" kern="1200" noProof="0">
                        <a:solidFill>
                          <a:schemeClr val="tx1"/>
                        </a:solidFill>
                        <a:effectLst/>
                        <a:latin typeface="Nunito Sans"/>
                        <a:ea typeface="+mn-ea"/>
                        <a:cs typeface="+mn-cs"/>
                      </a:endParaRP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solidFill>
                      <a:schemeClr val="bg1"/>
                    </a:solidFill>
                  </a:tcPr>
                </a:tc>
                <a:extLst>
                  <a:ext uri="{0D108BD9-81ED-4DB2-BD59-A6C34878D82A}">
                    <a16:rowId xmlns:a16="http://schemas.microsoft.com/office/drawing/2014/main" val="3158025952"/>
                  </a:ext>
                </a:extLst>
              </a:tr>
              <a:tr h="507559">
                <a:tc>
                  <a:txBody>
                    <a:bodyPr/>
                    <a:lstStyle/>
                    <a:p>
                      <a:pPr lvl="0" algn="l">
                        <a:lnSpc>
                          <a:spcPct val="100000"/>
                        </a:lnSpc>
                        <a:spcBef>
                          <a:spcPts val="0"/>
                        </a:spcBef>
                        <a:spcAft>
                          <a:spcPts val="0"/>
                        </a:spcAft>
                        <a:buNone/>
                      </a:pPr>
                      <a:r>
                        <a:rPr lang="en-IN" sz="1100" b="1" i="0" u="none" strike="noStrike" kern="1200" noProof="0">
                          <a:solidFill>
                            <a:schemeClr val="bg1">
                              <a:lumMod val="76000"/>
                            </a:schemeClr>
                          </a:solidFill>
                          <a:latin typeface="Nunito Sans"/>
                          <a:ea typeface="+mn-ea"/>
                          <a:cs typeface="+mn-cs"/>
                        </a:rPr>
                        <a:t>Service Sequence Guide</a:t>
                      </a:r>
                      <a:endParaRPr lang="en-IN" sz="1100" b="0" i="0" u="none" strike="noStrike" kern="1200" noProof="0">
                        <a:solidFill>
                          <a:schemeClr val="bg1">
                            <a:lumMod val="76000"/>
                          </a:schemeClr>
                        </a:solidFill>
                        <a:latin typeface="Nunito Sans"/>
                        <a:ea typeface="+mn-ea"/>
                        <a:cs typeface="+mn-cs"/>
                      </a:endParaRPr>
                    </a:p>
                  </a:txBody>
                  <a:tcPr anchor="ctr">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a:solidFill>
                        <a:schemeClr val="bg1">
                          <a:lumMod val="75000"/>
                        </a:schemeClr>
                      </a:solidFill>
                    </a:lnB>
                    <a:solidFill>
                      <a:schemeClr val="bg1"/>
                    </a:solidFill>
                  </a:tcPr>
                </a:tc>
                <a:tc>
                  <a:txBody>
                    <a:bodyPr/>
                    <a:lstStyle/>
                    <a:p>
                      <a:pPr marL="171450" lvl="0" indent="-171450" algn="l">
                        <a:lnSpc>
                          <a:spcPct val="100000"/>
                        </a:lnSpc>
                        <a:spcBef>
                          <a:spcPts val="0"/>
                        </a:spcBef>
                        <a:spcAft>
                          <a:spcPts val="0"/>
                        </a:spcAft>
                        <a:buClr>
                          <a:srgbClr val="000000"/>
                        </a:buClr>
                        <a:buFont typeface="Arial,Sans-Serif"/>
                        <a:buChar char="•"/>
                      </a:pPr>
                      <a:r>
                        <a:rPr lang="en-US" sz="1100" b="0" i="0" u="none" strike="noStrike" kern="1200" noProof="0">
                          <a:solidFill>
                            <a:schemeClr val="tx1"/>
                          </a:solidFill>
                          <a:effectLst/>
                          <a:latin typeface="Nunito Sans"/>
                          <a:ea typeface="+mn-ea"/>
                          <a:cs typeface="+mn-cs"/>
                        </a:rPr>
                        <a:t>Provides a visual minute‑by‑minute, flight‑specific service guide that standardizes workflows based on flight type (ULH, LH etc.) and departure time</a:t>
                      </a:r>
                      <a:endParaRPr lang="en-US" sz="1100" b="0" i="0" u="none" strike="noStrike" kern="1200" noProof="0">
                        <a:solidFill>
                          <a:srgbClr val="000000"/>
                        </a:solidFill>
                        <a:effectLst/>
                        <a:latin typeface="Nunito Sans"/>
                        <a:ea typeface="+mn-ea"/>
                        <a:cs typeface="+mn-cs"/>
                      </a:endParaRP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a:solidFill>
                        <a:schemeClr val="bg1">
                          <a:lumMod val="75000"/>
                        </a:schemeClr>
                      </a:solidFill>
                    </a:lnB>
                    <a:solidFill>
                      <a:schemeClr val="bg1"/>
                    </a:solidFill>
                  </a:tcPr>
                </a:tc>
                <a:tc>
                  <a:txBody>
                    <a:bodyPr/>
                    <a:lstStyle/>
                    <a:p>
                      <a:pPr marL="0" lvl="0" indent="0" algn="l">
                        <a:lnSpc>
                          <a:spcPct val="100000"/>
                        </a:lnSpc>
                        <a:spcBef>
                          <a:spcPts val="0"/>
                        </a:spcBef>
                        <a:spcAft>
                          <a:spcPts val="0"/>
                        </a:spcAft>
                        <a:buNone/>
                      </a:pPr>
                      <a:r>
                        <a:rPr lang="en-US" sz="1100" b="0" i="0" u="none" strike="noStrike" kern="1200" noProof="0">
                          <a:solidFill>
                            <a:schemeClr val="tx1"/>
                          </a:solidFill>
                          <a:effectLst/>
                          <a:latin typeface="Nunito Sans"/>
                          <a:ea typeface="+mn-ea"/>
                          <a:cs typeface="+mn-cs"/>
                        </a:rPr>
                        <a:t>29th April</a:t>
                      </a:r>
                      <a:endParaRPr lang="en-US" sz="1100" b="0" i="0" u="none" strike="noStrike" kern="1200" noProof="0">
                        <a:solidFill>
                          <a:srgbClr val="000000"/>
                        </a:solidFill>
                        <a:effectLst/>
                        <a:latin typeface="Nunito Sans"/>
                        <a:ea typeface="+mn-ea"/>
                        <a:cs typeface="+mn-cs"/>
                      </a:endParaRPr>
                    </a:p>
                    <a:p>
                      <a:pPr marL="171450" lvl="0" indent="-171450" algn="l">
                        <a:lnSpc>
                          <a:spcPct val="100000"/>
                        </a:lnSpc>
                        <a:spcBef>
                          <a:spcPts val="0"/>
                        </a:spcBef>
                        <a:spcAft>
                          <a:spcPts val="0"/>
                        </a:spcAft>
                        <a:buFont typeface="Arial,Sans-Serif"/>
                        <a:buChar char="•"/>
                      </a:pPr>
                      <a:endParaRPr lang="en-US" sz="1100" b="0" i="0" u="none" strike="noStrike" kern="1200" noProof="0">
                        <a:solidFill>
                          <a:schemeClr val="tx1"/>
                        </a:solidFill>
                        <a:effectLst/>
                        <a:latin typeface="Nunito Sans"/>
                        <a:ea typeface="+mn-ea"/>
                        <a:cs typeface="+mn-cs"/>
                      </a:endParaRP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a:solidFill>
                        <a:schemeClr val="bg1">
                          <a:lumMod val="75000"/>
                        </a:schemeClr>
                      </a:solidFill>
                    </a:lnB>
                    <a:solidFill>
                      <a:schemeClr val="bg1"/>
                    </a:solidFill>
                  </a:tcPr>
                </a:tc>
                <a:tc>
                  <a:txBody>
                    <a:bodyPr/>
                    <a:lstStyle/>
                    <a:p>
                      <a:pPr marL="0" lvl="0" indent="0" algn="l">
                        <a:lnSpc>
                          <a:spcPct val="100000"/>
                        </a:lnSpc>
                        <a:spcBef>
                          <a:spcPts val="0"/>
                        </a:spcBef>
                        <a:spcAft>
                          <a:spcPts val="0"/>
                        </a:spcAft>
                        <a:buNone/>
                      </a:pPr>
                      <a:r>
                        <a:rPr lang="en-US" sz="1100" b="0" i="0" u="none" strike="noStrike" kern="1200" noProof="0">
                          <a:solidFill>
                            <a:srgbClr val="000000"/>
                          </a:solidFill>
                          <a:effectLst/>
                          <a:latin typeface="Nunito Sans"/>
                          <a:ea typeface="+mn-ea"/>
                          <a:cs typeface="+mn-cs"/>
                        </a:rPr>
                        <a:t>TBD (Budget Approvals)</a:t>
                      </a:r>
                      <a:endParaRPr lang="en-US" sz="1100" b="0" i="0" u="none" strike="noStrike" kern="1200" noProof="0">
                        <a:solidFill>
                          <a:schemeClr val="tx1"/>
                        </a:solidFill>
                        <a:effectLst/>
                        <a:latin typeface="Nunito Sans"/>
                        <a:ea typeface="+mn-ea"/>
                        <a:cs typeface="+mn-cs"/>
                      </a:endParaRP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solidFill>
                      <a:schemeClr val="bg1"/>
                    </a:solidFill>
                  </a:tcPr>
                </a:tc>
                <a:extLst>
                  <a:ext uri="{0D108BD9-81ED-4DB2-BD59-A6C34878D82A}">
                    <a16:rowId xmlns:a16="http://schemas.microsoft.com/office/drawing/2014/main" val="1443685966"/>
                  </a:ext>
                </a:extLst>
              </a:tr>
            </a:tbl>
          </a:graphicData>
        </a:graphic>
      </p:graphicFrame>
      <p:sp>
        <p:nvSpPr>
          <p:cNvPr id="26" name="TextBox 25">
            <a:extLst>
              <a:ext uri="{FF2B5EF4-FFF2-40B4-BE49-F238E27FC236}">
                <a16:creationId xmlns:a16="http://schemas.microsoft.com/office/drawing/2014/main" id="{C6F6BB31-B301-F914-702D-961FE4350298}"/>
              </a:ext>
            </a:extLst>
          </p:cNvPr>
          <p:cNvSpPr txBox="1"/>
          <p:nvPr/>
        </p:nvSpPr>
        <p:spPr>
          <a:xfrm>
            <a:off x="343955" y="3897931"/>
            <a:ext cx="417102" cy="253916"/>
          </a:xfrm>
          <a:prstGeom prst="rect">
            <a:avLst/>
          </a:prstGeom>
          <a:noFill/>
        </p:spPr>
        <p:txBody>
          <a:bodyPr wrap="none" lIns="91440" tIns="45720" rIns="91440" bIns="45720" rtlCol="0" anchor="t">
            <a:spAutoFit/>
          </a:bodyPr>
          <a:lstStyle/>
          <a:p>
            <a:r>
              <a:rPr lang="en-IN" sz="1050" b="1">
                <a:solidFill>
                  <a:schemeClr val="bg1"/>
                </a:solidFill>
                <a:latin typeface="Montserrat Light"/>
              </a:rPr>
              <a:t>Jan</a:t>
            </a:r>
            <a:endParaRPr lang="en-IN" sz="1050" b="1">
              <a:solidFill>
                <a:schemeClr val="bg1"/>
              </a:solidFill>
              <a:latin typeface="Montserrat Light" pitchFamily="2" charset="0"/>
            </a:endParaRPr>
          </a:p>
        </p:txBody>
      </p:sp>
      <p:sp>
        <p:nvSpPr>
          <p:cNvPr id="27" name="TextBox 15">
            <a:extLst>
              <a:ext uri="{FF2B5EF4-FFF2-40B4-BE49-F238E27FC236}">
                <a16:creationId xmlns:a16="http://schemas.microsoft.com/office/drawing/2014/main" id="{99B0644D-D026-0877-D470-1F78F980797C}"/>
              </a:ext>
            </a:extLst>
          </p:cNvPr>
          <p:cNvSpPr txBox="1"/>
          <p:nvPr/>
        </p:nvSpPr>
        <p:spPr>
          <a:xfrm>
            <a:off x="398384" y="817274"/>
            <a:ext cx="417102" cy="253916"/>
          </a:xfrm>
          <a:prstGeom prst="rect">
            <a:avLst/>
          </a:prstGeom>
          <a:noFill/>
        </p:spPr>
        <p:txBody>
          <a:bodyPr wrap="non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050" b="1">
                <a:solidFill>
                  <a:schemeClr val="bg1"/>
                </a:solidFill>
                <a:latin typeface="Montserrat Light"/>
              </a:rPr>
              <a:t>Jan</a:t>
            </a:r>
            <a:endParaRPr lang="en-IN" sz="1050" b="1">
              <a:solidFill>
                <a:schemeClr val="bg1"/>
              </a:solidFill>
              <a:latin typeface="Montserrat Light" pitchFamily="2" charset="0"/>
            </a:endParaRPr>
          </a:p>
        </p:txBody>
      </p:sp>
      <p:sp>
        <p:nvSpPr>
          <p:cNvPr id="29" name="Rectangle 28">
            <a:extLst>
              <a:ext uri="{FF2B5EF4-FFF2-40B4-BE49-F238E27FC236}">
                <a16:creationId xmlns:a16="http://schemas.microsoft.com/office/drawing/2014/main" id="{AB360565-8352-E7EF-6BB1-A9A2684AF163}"/>
              </a:ext>
            </a:extLst>
          </p:cNvPr>
          <p:cNvSpPr/>
          <p:nvPr/>
        </p:nvSpPr>
        <p:spPr>
          <a:xfrm>
            <a:off x="-4474" y="793560"/>
            <a:ext cx="1067526" cy="42234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IN" sz="1400" b="1">
                <a:latin typeface="AirIndia"/>
              </a:rPr>
              <a:t>Apr ‘26</a:t>
            </a:r>
          </a:p>
        </p:txBody>
      </p:sp>
      <p:pic>
        <p:nvPicPr>
          <p:cNvPr id="34" name="Picture 33">
            <a:extLst>
              <a:ext uri="{FF2B5EF4-FFF2-40B4-BE49-F238E27FC236}">
                <a16:creationId xmlns:a16="http://schemas.microsoft.com/office/drawing/2014/main" id="{EB143B73-43FA-EA46-B5B4-6FEF9B0F3033}"/>
              </a:ext>
            </a:extLst>
          </p:cNvPr>
          <p:cNvPicPr>
            <a:picLocks noChangeAspect="1"/>
          </p:cNvPicPr>
          <p:nvPr/>
        </p:nvPicPr>
        <p:blipFill>
          <a:blip r:embed="rId5"/>
          <a:stretch>
            <a:fillRect/>
          </a:stretch>
        </p:blipFill>
        <p:spPr>
          <a:xfrm>
            <a:off x="306161" y="6532789"/>
            <a:ext cx="8248650" cy="323850"/>
          </a:xfrm>
          <a:prstGeom prst="rect">
            <a:avLst/>
          </a:prstGeom>
        </p:spPr>
      </p:pic>
    </p:spTree>
    <p:extLst>
      <p:ext uri="{BB962C8B-B14F-4D97-AF65-F5344CB8AC3E}">
        <p14:creationId xmlns:p14="http://schemas.microsoft.com/office/powerpoint/2010/main" val="379724728"/>
      </p:ext>
    </p:extLst>
  </p:cSld>
  <p:clrMapOvr>
    <a:masterClrMapping/>
  </p:clrMapOvr>
  <p:extLst>
    <p:ext uri="{6950BFC3-D8DA-4A85-94F7-54DA5524770B}">
      <p188:commentRel xmlns:p188="http://schemas.microsoft.com/office/powerpoint/2018/8/main" r:id="rId3"/>
    </p:ext>
  </p:extLs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4976D1-8C19-92DF-8BFC-69B77027F7B5}"/>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606C4CF-0392-B252-DDD5-DBF77D6ACD34}"/>
              </a:ext>
            </a:extLst>
          </p:cNvPr>
          <p:cNvSpPr>
            <a:spLocks noGrp="1"/>
          </p:cNvSpPr>
          <p:nvPr>
            <p:ph type="sldNum" sz="quarter" idx="12"/>
          </p:nvPr>
        </p:nvSpPr>
        <p:spPr/>
        <p:txBody>
          <a:bodyPr/>
          <a:lstStyle/>
          <a:p>
            <a:fld id="{3A41A254-7326-714E-AF55-4C213D6394DE}" type="slidenum">
              <a:rPr lang="en-US" sz="900" smtClean="0">
                <a:latin typeface="Montserrat Light" pitchFamily="2" charset="0"/>
              </a:rPr>
              <a:pPr/>
              <a:t>68</a:t>
            </a:fld>
            <a:endParaRPr lang="en-US" sz="900">
              <a:latin typeface="Montserrat Light" pitchFamily="2" charset="0"/>
            </a:endParaRPr>
          </a:p>
        </p:txBody>
      </p:sp>
      <p:sp>
        <p:nvSpPr>
          <p:cNvPr id="6" name="Title 11">
            <a:extLst>
              <a:ext uri="{FF2B5EF4-FFF2-40B4-BE49-F238E27FC236}">
                <a16:creationId xmlns:a16="http://schemas.microsoft.com/office/drawing/2014/main" id="{F284F5B1-F094-B595-C00A-87ED31CBF235}"/>
              </a:ext>
            </a:extLst>
          </p:cNvPr>
          <p:cNvSpPr txBox="1">
            <a:spLocks/>
          </p:cNvSpPr>
          <p:nvPr/>
        </p:nvSpPr>
        <p:spPr>
          <a:xfrm>
            <a:off x="304800" y="269218"/>
            <a:ext cx="8420100" cy="396638"/>
          </a:xfrm>
          <a:prstGeom prst="rect">
            <a:avLst/>
          </a:prstGeom>
        </p:spPr>
        <p:txBody>
          <a:bodyPr lIns="91440" tIns="45720" rIns="91440" bIns="45720" anchor="t">
            <a:noAutofit/>
          </a:bodyPr>
          <a:lstStyle>
            <a:lvl1pPr algn="l" defTabSz="914400" rtl="0" eaLnBrk="1" latinLnBrk="0" hangingPunct="1">
              <a:lnSpc>
                <a:spcPct val="90000"/>
              </a:lnSpc>
              <a:spcBef>
                <a:spcPct val="0"/>
              </a:spcBef>
              <a:buNone/>
              <a:defRPr sz="4400" b="1" i="0" kern="1200">
                <a:solidFill>
                  <a:schemeClr val="tx1"/>
                </a:solidFill>
                <a:latin typeface="AirIndia" pitchFamily="82" charset="77"/>
                <a:ea typeface="+mj-ea"/>
                <a:cs typeface="+mj-cs"/>
              </a:defRPr>
            </a:lvl1pPr>
          </a:lstStyle>
          <a:p>
            <a:r>
              <a:rPr lang="en-US" sz="1800">
                <a:solidFill>
                  <a:srgbClr val="C00000"/>
                </a:solidFill>
                <a:latin typeface="AirIndia"/>
              </a:rPr>
              <a:t>CE Plus - FY27 Q1  Release Plan </a:t>
            </a:r>
            <a:endParaRPr lang="en-US" sz="1800" b="0">
              <a:solidFill>
                <a:srgbClr val="C00000"/>
              </a:solidFill>
              <a:latin typeface="AirIndia"/>
            </a:endParaRPr>
          </a:p>
        </p:txBody>
      </p:sp>
      <p:graphicFrame>
        <p:nvGraphicFramePr>
          <p:cNvPr id="4" name="Table 3">
            <a:extLst>
              <a:ext uri="{FF2B5EF4-FFF2-40B4-BE49-F238E27FC236}">
                <a16:creationId xmlns:a16="http://schemas.microsoft.com/office/drawing/2014/main" id="{F836E54B-55E0-3A4F-AD94-38DF51A9ADD8}"/>
              </a:ext>
            </a:extLst>
          </p:cNvPr>
          <p:cNvGraphicFramePr>
            <a:graphicFrameLocks noGrp="1"/>
          </p:cNvGraphicFramePr>
          <p:nvPr>
            <p:extLst>
              <p:ext uri="{D42A27DB-BD31-4B8C-83A1-F6EECF244321}">
                <p14:modId xmlns:p14="http://schemas.microsoft.com/office/powerpoint/2010/main" val="2322670699"/>
              </p:ext>
            </p:extLst>
          </p:nvPr>
        </p:nvGraphicFramePr>
        <p:xfrm>
          <a:off x="1090849" y="792699"/>
          <a:ext cx="9855416" cy="2115379"/>
        </p:xfrm>
        <a:graphic>
          <a:graphicData uri="http://schemas.openxmlformats.org/drawingml/2006/table">
            <a:tbl>
              <a:tblPr firstRow="1" bandRow="1">
                <a:tableStyleId>{5C22544A-7EE6-4342-B048-85BDC9FD1C3A}</a:tableStyleId>
              </a:tblPr>
              <a:tblGrid>
                <a:gridCol w="1149237">
                  <a:extLst>
                    <a:ext uri="{9D8B030D-6E8A-4147-A177-3AD203B41FA5}">
                      <a16:colId xmlns:a16="http://schemas.microsoft.com/office/drawing/2014/main" val="1118630623"/>
                    </a:ext>
                  </a:extLst>
                </a:gridCol>
                <a:gridCol w="7691574">
                  <a:extLst>
                    <a:ext uri="{9D8B030D-6E8A-4147-A177-3AD203B41FA5}">
                      <a16:colId xmlns:a16="http://schemas.microsoft.com/office/drawing/2014/main" val="99588705"/>
                    </a:ext>
                  </a:extLst>
                </a:gridCol>
                <a:gridCol w="1014605">
                  <a:extLst>
                    <a:ext uri="{9D8B030D-6E8A-4147-A177-3AD203B41FA5}">
                      <a16:colId xmlns:a16="http://schemas.microsoft.com/office/drawing/2014/main" val="2748412214"/>
                    </a:ext>
                  </a:extLst>
                </a:gridCol>
              </a:tblGrid>
              <a:tr h="286112">
                <a:tc>
                  <a:txBody>
                    <a:bodyPr/>
                    <a:lstStyle/>
                    <a:p>
                      <a:pPr marL="0" lvl="0" indent="0" algn="ctr" defTabSz="914400">
                        <a:lnSpc>
                          <a:spcPct val="100000"/>
                        </a:lnSpc>
                        <a:buNone/>
                      </a:pPr>
                      <a:r>
                        <a:rPr lang="en-IN" sz="1100" b="1" i="0" u="none" strike="noStrike" kern="1200" noProof="0">
                          <a:solidFill>
                            <a:schemeClr val="bg1"/>
                          </a:solidFill>
                          <a:latin typeface="Avenir Next LT Pro Light"/>
                          <a:ea typeface="+mn-ea"/>
                          <a:cs typeface="+mn-cs"/>
                        </a:rPr>
                        <a:t>Projects</a:t>
                      </a:r>
                      <a:endParaRPr lang="en-US"/>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solidFill>
                      <a:srgbClr val="002060"/>
                    </a:solidFill>
                  </a:tcPr>
                </a:tc>
                <a:tc>
                  <a:txBody>
                    <a:bodyPr/>
                    <a:lstStyle/>
                    <a:p>
                      <a:pPr lvl="0" algn="ctr">
                        <a:lnSpc>
                          <a:spcPct val="100000"/>
                        </a:lnSpc>
                        <a:spcBef>
                          <a:spcPts val="0"/>
                        </a:spcBef>
                        <a:spcAft>
                          <a:spcPts val="0"/>
                        </a:spcAft>
                        <a:buNone/>
                      </a:pPr>
                      <a:r>
                        <a:rPr lang="en-IN" sz="1100" b="1" i="0" u="none" strike="noStrike" kern="1200" noProof="0">
                          <a:solidFill>
                            <a:srgbClr val="FFFFFF"/>
                          </a:solidFill>
                          <a:latin typeface="Nunito Sans"/>
                          <a:ea typeface="+mn-ea"/>
                          <a:cs typeface="+mn-cs"/>
                        </a:rPr>
                        <a:t>Value Justification/Realization</a:t>
                      </a:r>
                    </a:p>
                    <a:p>
                      <a:pPr marL="0" lvl="0" indent="0" algn="l" defTabSz="914400">
                        <a:buFont typeface="Arial" panose="020B0604020202020204" pitchFamily="34" charset="0"/>
                        <a:buNone/>
                      </a:pPr>
                      <a:endParaRPr lang="en-IN" sz="1050" kern="1200">
                        <a:solidFill>
                          <a:schemeClr val="bg1"/>
                        </a:solidFill>
                        <a:latin typeface="Avenir Next LT Pro Ligh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002060"/>
                    </a:solidFill>
                  </a:tcPr>
                </a:tc>
                <a:tc>
                  <a:txBody>
                    <a:bodyPr/>
                    <a:lstStyle/>
                    <a:p>
                      <a:pPr marL="0" lvl="0" indent="0" algn="l">
                        <a:buNone/>
                      </a:pPr>
                      <a:r>
                        <a:rPr lang="en-IN" sz="1050" kern="1200">
                          <a:solidFill>
                            <a:schemeClr val="bg1"/>
                          </a:solidFill>
                          <a:latin typeface="Avenir Next LT Pro Light"/>
                          <a:ea typeface="+mn-ea"/>
                          <a:cs typeface="+mn-cs"/>
                        </a:rPr>
                        <a:t>Go Live Date</a:t>
                      </a: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solidFill>
                      <a:srgbClr val="002060"/>
                    </a:solidFill>
                  </a:tcPr>
                </a:tc>
                <a:extLst>
                  <a:ext uri="{0D108BD9-81ED-4DB2-BD59-A6C34878D82A}">
                    <a16:rowId xmlns:a16="http://schemas.microsoft.com/office/drawing/2014/main" val="844450115"/>
                  </a:ext>
                </a:extLst>
              </a:tr>
              <a:tr h="507559">
                <a:tc>
                  <a:txBody>
                    <a:bodyPr/>
                    <a:lstStyle/>
                    <a:p>
                      <a:pPr lvl="0" algn="l">
                        <a:lnSpc>
                          <a:spcPct val="100000"/>
                        </a:lnSpc>
                        <a:spcBef>
                          <a:spcPts val="0"/>
                        </a:spcBef>
                        <a:spcAft>
                          <a:spcPts val="0"/>
                        </a:spcAft>
                        <a:buNone/>
                      </a:pPr>
                      <a:r>
                        <a:rPr lang="en-IN" sz="1100" b="1" i="0" u="none" strike="noStrike" kern="1200" noProof="0">
                          <a:solidFill>
                            <a:schemeClr val="tx1"/>
                          </a:solidFill>
                          <a:latin typeface="Nunito Sans"/>
                          <a:ea typeface="+mn-ea"/>
                          <a:cs typeface="+mn-cs"/>
                        </a:rPr>
                        <a:t>Meal Order Digitization</a:t>
                      </a:r>
                      <a:endParaRPr lang="en-IN" sz="1100" b="0" i="0" u="none" strike="noStrike" kern="1200" noProof="0">
                        <a:solidFill>
                          <a:srgbClr val="000000"/>
                        </a:solidFill>
                        <a:latin typeface="Nunito Sans"/>
                        <a:ea typeface="+mn-ea"/>
                        <a:cs typeface="+mn-cs"/>
                      </a:endParaRPr>
                    </a:p>
                    <a:p>
                      <a:pPr marL="0" lvl="0" indent="0" algn="l" defTabSz="914400">
                        <a:lnSpc>
                          <a:spcPct val="100000"/>
                        </a:lnSpc>
                        <a:spcBef>
                          <a:spcPts val="0"/>
                        </a:spcBef>
                        <a:spcAft>
                          <a:spcPts val="0"/>
                        </a:spcAft>
                        <a:buNone/>
                      </a:pPr>
                      <a:endParaRPr lang="en-IN" sz="1100" b="1" i="0" u="none" strike="noStrike" kern="1200" noProof="0">
                        <a:solidFill>
                          <a:schemeClr val="tx1"/>
                        </a:solidFill>
                        <a:latin typeface="Nunito Sans"/>
                        <a:ea typeface="+mn-ea"/>
                        <a:cs typeface="+mn-cs"/>
                      </a:endParaRPr>
                    </a:p>
                  </a:txBody>
                  <a:tcPr anchor="ctr">
                    <a:lnL w="6350">
                      <a:solidFill>
                        <a:schemeClr val="bg1">
                          <a:lumMod val="75000"/>
                        </a:schemeClr>
                      </a:solidFill>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171450" marR="0" lvl="0" indent="-171450" algn="l" rtl="0">
                        <a:lnSpc>
                          <a:spcPct val="100000"/>
                        </a:lnSpc>
                        <a:spcBef>
                          <a:spcPts val="0"/>
                        </a:spcBef>
                        <a:spcAft>
                          <a:spcPts val="0"/>
                        </a:spcAft>
                        <a:buClr>
                          <a:srgbClr val="000000"/>
                        </a:buClr>
                        <a:buSzTx/>
                        <a:buFont typeface="Arial,Sans-Serif"/>
                        <a:buChar char="•"/>
                      </a:pPr>
                      <a:r>
                        <a:rPr lang="en-US" sz="1100" b="0" i="0" u="none" strike="noStrike" kern="1200" noProof="0">
                          <a:solidFill>
                            <a:schemeClr val="tx1"/>
                          </a:solidFill>
                          <a:effectLst/>
                          <a:latin typeface="Nunito Sans"/>
                          <a:ea typeface="+mn-ea"/>
                          <a:cs typeface="+mn-cs"/>
                        </a:rPr>
                        <a:t>Enables Cabin Executives to capture First/Business Class meal selections via real time updated menu digitally on the platform </a:t>
                      </a:r>
                      <a:endParaRPr lang="en-US" sz="1100" b="0" i="0" u="none" strike="noStrike" kern="1200" noProof="0">
                        <a:solidFill>
                          <a:srgbClr val="000000"/>
                        </a:solidFill>
                        <a:effectLst/>
                        <a:latin typeface="Nunito Sans"/>
                        <a:ea typeface="+mn-ea"/>
                        <a:cs typeface="+mn-cs"/>
                      </a:endParaRP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a:solidFill>
                        <a:schemeClr val="bg1">
                          <a:lumMod val="75000"/>
                        </a:schemeClr>
                      </a:solidFill>
                    </a:lnB>
                    <a:solidFill>
                      <a:schemeClr val="bg1"/>
                    </a:solidFill>
                  </a:tcPr>
                </a:tc>
                <a:tc>
                  <a:txBody>
                    <a:bodyPr/>
                    <a:lstStyle/>
                    <a:p>
                      <a:pPr marL="0" lvl="0" indent="0" algn="l">
                        <a:lnSpc>
                          <a:spcPct val="100000"/>
                        </a:lnSpc>
                        <a:spcBef>
                          <a:spcPts val="0"/>
                        </a:spcBef>
                        <a:spcAft>
                          <a:spcPts val="0"/>
                        </a:spcAft>
                        <a:buNone/>
                      </a:pPr>
                      <a:r>
                        <a:rPr lang="en-US" sz="1100" b="0" i="0" u="none" strike="noStrike" kern="1200" noProof="0">
                          <a:solidFill>
                            <a:srgbClr val="000000"/>
                          </a:solidFill>
                          <a:effectLst/>
                          <a:latin typeface="Nunito Sans"/>
                          <a:ea typeface="+mn-ea"/>
                          <a:cs typeface="+mn-cs"/>
                        </a:rPr>
                        <a:t>TBD (Budget Approvals)</a:t>
                      </a:r>
                      <a:endParaRPr lang="en-US"/>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solidFill>
                      <a:schemeClr val="bg1"/>
                    </a:solidFill>
                  </a:tcPr>
                </a:tc>
                <a:extLst>
                  <a:ext uri="{0D108BD9-81ED-4DB2-BD59-A6C34878D82A}">
                    <a16:rowId xmlns:a16="http://schemas.microsoft.com/office/drawing/2014/main" val="3951168155"/>
                  </a:ext>
                </a:extLst>
              </a:tr>
              <a:tr h="507559">
                <a:tc>
                  <a:txBody>
                    <a:bodyPr/>
                    <a:lstStyle/>
                    <a:p>
                      <a:pPr lvl="0" algn="l">
                        <a:lnSpc>
                          <a:spcPct val="100000"/>
                        </a:lnSpc>
                        <a:spcBef>
                          <a:spcPts val="0"/>
                        </a:spcBef>
                        <a:spcAft>
                          <a:spcPts val="0"/>
                        </a:spcAft>
                        <a:buNone/>
                      </a:pPr>
                      <a:r>
                        <a:rPr lang="en-IN" sz="1100" b="1" i="0" u="none" strike="noStrike" kern="1200" noProof="0">
                          <a:solidFill>
                            <a:schemeClr val="tx1"/>
                          </a:solidFill>
                          <a:latin typeface="Nunito Sans"/>
                          <a:ea typeface="+mn-ea"/>
                          <a:cs typeface="+mn-cs"/>
                        </a:rPr>
                        <a:t>Loyalty Platform Enrolment</a:t>
                      </a:r>
                      <a:endParaRPr lang="en-IN" sz="1100" b="0" i="0" u="none" strike="noStrike" kern="1200" noProof="0">
                        <a:solidFill>
                          <a:srgbClr val="000000"/>
                        </a:solidFill>
                        <a:latin typeface="Nunito Sans"/>
                        <a:ea typeface="+mn-ea"/>
                        <a:cs typeface="+mn-cs"/>
                      </a:endParaRPr>
                    </a:p>
                  </a:txBody>
                  <a:tcPr anchor="ctr">
                    <a:lnL w="6350">
                      <a:solidFill>
                        <a:schemeClr val="bg1">
                          <a:lumMod val="75000"/>
                        </a:schemeClr>
                      </a:solidFill>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171450" marR="0" lvl="0" indent="-171450" algn="l" rtl="0">
                        <a:lnSpc>
                          <a:spcPct val="100000"/>
                        </a:lnSpc>
                        <a:spcBef>
                          <a:spcPts val="0"/>
                        </a:spcBef>
                        <a:spcAft>
                          <a:spcPts val="0"/>
                        </a:spcAft>
                        <a:buClr>
                          <a:srgbClr val="000000"/>
                        </a:buClr>
                        <a:buSzTx/>
                        <a:buFont typeface="Arial,Sans-Serif"/>
                        <a:buChar char="•"/>
                      </a:pPr>
                      <a:r>
                        <a:rPr lang="en-US" sz="1100" b="0" i="0" u="none" strike="noStrike" kern="1200" noProof="0">
                          <a:solidFill>
                            <a:schemeClr val="tx1"/>
                          </a:solidFill>
                          <a:effectLst/>
                          <a:latin typeface="Nunito Sans"/>
                          <a:ea typeface="+mn-ea"/>
                          <a:cs typeface="+mn-cs"/>
                        </a:rPr>
                        <a:t>Allows inflight enrollment of passengers into the Maharaja Club through crew iPads</a:t>
                      </a:r>
                      <a:endParaRPr lang="en-US" sz="1100" b="0" i="0" u="none" strike="noStrike" kern="1200" noProof="0">
                        <a:solidFill>
                          <a:srgbClr val="000000"/>
                        </a:solidFill>
                        <a:effectLst/>
                        <a:latin typeface="Nunito Sans"/>
                        <a:ea typeface="+mn-ea"/>
                        <a:cs typeface="+mn-cs"/>
                      </a:endParaRP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lvl="0" indent="0" algn="l">
                        <a:lnSpc>
                          <a:spcPct val="100000"/>
                        </a:lnSpc>
                        <a:spcBef>
                          <a:spcPts val="0"/>
                        </a:spcBef>
                        <a:spcAft>
                          <a:spcPts val="0"/>
                        </a:spcAft>
                        <a:buNone/>
                      </a:pPr>
                      <a:r>
                        <a:rPr lang="en-US" sz="1100" b="0" i="0" u="none" strike="noStrike" kern="1200" noProof="0">
                          <a:solidFill>
                            <a:srgbClr val="000000"/>
                          </a:solidFill>
                          <a:effectLst/>
                          <a:latin typeface="Nunito Sans"/>
                          <a:ea typeface="+mn-ea"/>
                          <a:cs typeface="+mn-cs"/>
                        </a:rPr>
                        <a:t>TBD (Budget Approvals)</a:t>
                      </a:r>
                      <a:endParaRPr lang="en-US"/>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solidFill>
                      <a:schemeClr val="bg1"/>
                    </a:solidFill>
                  </a:tcPr>
                </a:tc>
                <a:extLst>
                  <a:ext uri="{0D108BD9-81ED-4DB2-BD59-A6C34878D82A}">
                    <a16:rowId xmlns:a16="http://schemas.microsoft.com/office/drawing/2014/main" val="3158025952"/>
                  </a:ext>
                </a:extLst>
              </a:tr>
              <a:tr h="507559">
                <a:tc>
                  <a:txBody>
                    <a:bodyPr/>
                    <a:lstStyle/>
                    <a:p>
                      <a:pPr lvl="0" algn="l">
                        <a:lnSpc>
                          <a:spcPct val="100000"/>
                        </a:lnSpc>
                        <a:spcBef>
                          <a:spcPts val="0"/>
                        </a:spcBef>
                        <a:spcAft>
                          <a:spcPts val="0"/>
                        </a:spcAft>
                        <a:buNone/>
                      </a:pPr>
                      <a:r>
                        <a:rPr lang="en-IN" sz="1100" b="1" i="0" u="none" strike="noStrike" kern="1200" noProof="0">
                          <a:solidFill>
                            <a:schemeClr val="tx1"/>
                          </a:solidFill>
                          <a:latin typeface="Nunito Sans"/>
                          <a:ea typeface="+mn-ea"/>
                          <a:cs typeface="+mn-cs"/>
                        </a:rPr>
                        <a:t>My Flight View </a:t>
                      </a:r>
                      <a:endParaRPr lang="en-IN" sz="1100" b="0" i="0" u="none" strike="noStrike" kern="1200" noProof="0">
                        <a:solidFill>
                          <a:srgbClr val="000000"/>
                        </a:solidFill>
                        <a:latin typeface="Nunito Sans"/>
                        <a:ea typeface="+mn-ea"/>
                        <a:cs typeface="+mn-cs"/>
                      </a:endParaRP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solidFill>
                      <a:schemeClr val="bg1"/>
                    </a:solidFill>
                  </a:tcPr>
                </a:tc>
                <a:tc>
                  <a:txBody>
                    <a:bodyPr/>
                    <a:lstStyle/>
                    <a:p>
                      <a:pPr marL="171450" marR="0" lvl="0" indent="-171450" algn="l">
                        <a:lnSpc>
                          <a:spcPct val="100000"/>
                        </a:lnSpc>
                        <a:spcBef>
                          <a:spcPts val="0"/>
                        </a:spcBef>
                        <a:spcAft>
                          <a:spcPts val="0"/>
                        </a:spcAft>
                        <a:buClr>
                          <a:srgbClr val="000000"/>
                        </a:buClr>
                        <a:buFont typeface="Arial,Sans-Serif"/>
                        <a:buChar char="•"/>
                      </a:pPr>
                      <a:r>
                        <a:rPr lang="en-US" sz="1100" b="0" i="0" u="none" strike="noStrike" kern="1200" noProof="0">
                          <a:solidFill>
                            <a:schemeClr val="tx1"/>
                          </a:solidFill>
                          <a:effectLst/>
                          <a:latin typeface="Nunito Sans"/>
                          <a:ea typeface="+mn-ea"/>
                          <a:cs typeface="+mn-cs"/>
                        </a:rPr>
                        <a:t>Offers a persistent “Guest Summary” widget inside CCVR to quickly access key guest details, reducing navigation time and enabling faster interactions</a:t>
                      </a:r>
                      <a:endParaRPr lang="en-US" sz="1100" b="0" i="0" u="none" strike="noStrike" kern="1200" noProof="0">
                        <a:solidFill>
                          <a:srgbClr val="000000"/>
                        </a:solidFill>
                        <a:effectLst/>
                        <a:latin typeface="Nunito Sans"/>
                        <a:ea typeface="+mn-ea"/>
                        <a:cs typeface="+mn-cs"/>
                      </a:endParaRP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a:solidFill>
                        <a:schemeClr val="bg1">
                          <a:lumMod val="75000"/>
                        </a:schemeClr>
                      </a:solidFill>
                    </a:lnB>
                    <a:solidFill>
                      <a:schemeClr val="bg1"/>
                    </a:solidFill>
                  </a:tcPr>
                </a:tc>
                <a:tc>
                  <a:txBody>
                    <a:bodyPr/>
                    <a:lstStyle/>
                    <a:p>
                      <a:pPr marL="0" lvl="0" indent="0" algn="l">
                        <a:lnSpc>
                          <a:spcPct val="100000"/>
                        </a:lnSpc>
                        <a:spcBef>
                          <a:spcPts val="0"/>
                        </a:spcBef>
                        <a:spcAft>
                          <a:spcPts val="0"/>
                        </a:spcAft>
                        <a:buNone/>
                      </a:pPr>
                      <a:r>
                        <a:rPr lang="en-US" sz="1100" b="0" i="0" u="none" strike="noStrike" kern="1200" noProof="0">
                          <a:solidFill>
                            <a:srgbClr val="000000"/>
                          </a:solidFill>
                          <a:effectLst/>
                          <a:latin typeface="Nunito Sans"/>
                          <a:ea typeface="+mn-ea"/>
                          <a:cs typeface="+mn-cs"/>
                        </a:rPr>
                        <a:t>TBD (Budget Approvals)</a:t>
                      </a:r>
                      <a:endParaRPr lang="en-US"/>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solidFill>
                      <a:schemeClr val="bg1"/>
                    </a:solidFill>
                  </a:tcPr>
                </a:tc>
                <a:extLst>
                  <a:ext uri="{0D108BD9-81ED-4DB2-BD59-A6C34878D82A}">
                    <a16:rowId xmlns:a16="http://schemas.microsoft.com/office/drawing/2014/main" val="3343524960"/>
                  </a:ext>
                </a:extLst>
              </a:tr>
            </a:tbl>
          </a:graphicData>
        </a:graphic>
      </p:graphicFrame>
      <p:sp>
        <p:nvSpPr>
          <p:cNvPr id="26" name="TextBox 25">
            <a:extLst>
              <a:ext uri="{FF2B5EF4-FFF2-40B4-BE49-F238E27FC236}">
                <a16:creationId xmlns:a16="http://schemas.microsoft.com/office/drawing/2014/main" id="{EB266EEF-C36A-11D2-D68A-176B2D274001}"/>
              </a:ext>
            </a:extLst>
          </p:cNvPr>
          <p:cNvSpPr txBox="1"/>
          <p:nvPr/>
        </p:nvSpPr>
        <p:spPr>
          <a:xfrm>
            <a:off x="343955" y="3897931"/>
            <a:ext cx="417102" cy="253916"/>
          </a:xfrm>
          <a:prstGeom prst="rect">
            <a:avLst/>
          </a:prstGeom>
          <a:noFill/>
        </p:spPr>
        <p:txBody>
          <a:bodyPr wrap="none" lIns="91440" tIns="45720" rIns="91440" bIns="45720" rtlCol="0" anchor="t">
            <a:spAutoFit/>
          </a:bodyPr>
          <a:lstStyle/>
          <a:p>
            <a:r>
              <a:rPr lang="en-IN" sz="1050" b="1">
                <a:solidFill>
                  <a:schemeClr val="bg1"/>
                </a:solidFill>
                <a:latin typeface="Montserrat Light"/>
              </a:rPr>
              <a:t>Jan</a:t>
            </a:r>
            <a:endParaRPr lang="en-IN" sz="1050" b="1">
              <a:solidFill>
                <a:schemeClr val="bg1"/>
              </a:solidFill>
              <a:latin typeface="Montserrat Light" pitchFamily="2" charset="0"/>
            </a:endParaRPr>
          </a:p>
        </p:txBody>
      </p:sp>
      <p:sp>
        <p:nvSpPr>
          <p:cNvPr id="27" name="TextBox 15">
            <a:extLst>
              <a:ext uri="{FF2B5EF4-FFF2-40B4-BE49-F238E27FC236}">
                <a16:creationId xmlns:a16="http://schemas.microsoft.com/office/drawing/2014/main" id="{27774A58-03D7-A973-166A-5D20DAD41BEA}"/>
              </a:ext>
            </a:extLst>
          </p:cNvPr>
          <p:cNvSpPr txBox="1"/>
          <p:nvPr/>
        </p:nvSpPr>
        <p:spPr>
          <a:xfrm>
            <a:off x="398384" y="817274"/>
            <a:ext cx="417102" cy="253916"/>
          </a:xfrm>
          <a:prstGeom prst="rect">
            <a:avLst/>
          </a:prstGeom>
          <a:noFill/>
        </p:spPr>
        <p:txBody>
          <a:bodyPr wrap="non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050" b="1">
                <a:solidFill>
                  <a:schemeClr val="bg1"/>
                </a:solidFill>
                <a:latin typeface="Montserrat Light"/>
              </a:rPr>
              <a:t>Jan</a:t>
            </a:r>
            <a:endParaRPr lang="en-IN" sz="1050" b="1">
              <a:solidFill>
                <a:schemeClr val="bg1"/>
              </a:solidFill>
              <a:latin typeface="Montserrat Light" pitchFamily="2" charset="0"/>
            </a:endParaRPr>
          </a:p>
        </p:txBody>
      </p:sp>
      <p:sp>
        <p:nvSpPr>
          <p:cNvPr id="29" name="Rectangle 28">
            <a:extLst>
              <a:ext uri="{FF2B5EF4-FFF2-40B4-BE49-F238E27FC236}">
                <a16:creationId xmlns:a16="http://schemas.microsoft.com/office/drawing/2014/main" id="{73072CC8-8725-374D-1AA4-6ADEADEC64B3}"/>
              </a:ext>
            </a:extLst>
          </p:cNvPr>
          <p:cNvSpPr/>
          <p:nvPr/>
        </p:nvSpPr>
        <p:spPr>
          <a:xfrm>
            <a:off x="-4474" y="793560"/>
            <a:ext cx="1067526" cy="42234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IN" sz="1400" b="1">
                <a:latin typeface="AirIndia"/>
              </a:rPr>
              <a:t>May ‘26</a:t>
            </a:r>
          </a:p>
        </p:txBody>
      </p:sp>
      <p:pic>
        <p:nvPicPr>
          <p:cNvPr id="34" name="Picture 33">
            <a:extLst>
              <a:ext uri="{FF2B5EF4-FFF2-40B4-BE49-F238E27FC236}">
                <a16:creationId xmlns:a16="http://schemas.microsoft.com/office/drawing/2014/main" id="{B480454D-C9AD-8E3C-5850-C75AFF452C2D}"/>
              </a:ext>
            </a:extLst>
          </p:cNvPr>
          <p:cNvPicPr>
            <a:picLocks noChangeAspect="1"/>
          </p:cNvPicPr>
          <p:nvPr/>
        </p:nvPicPr>
        <p:blipFill>
          <a:blip r:embed="rId3"/>
          <a:stretch>
            <a:fillRect/>
          </a:stretch>
        </p:blipFill>
        <p:spPr>
          <a:xfrm>
            <a:off x="306161" y="6532789"/>
            <a:ext cx="8248650" cy="323850"/>
          </a:xfrm>
          <a:prstGeom prst="rect">
            <a:avLst/>
          </a:prstGeom>
        </p:spPr>
      </p:pic>
    </p:spTree>
    <p:extLst>
      <p:ext uri="{BB962C8B-B14F-4D97-AF65-F5344CB8AC3E}">
        <p14:creationId xmlns:p14="http://schemas.microsoft.com/office/powerpoint/2010/main" val="384904185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7D8CB9-4250-2651-2263-C6003209CEE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1DD1C71-2BA1-148A-29C6-42EB644AD56F}"/>
              </a:ext>
            </a:extLst>
          </p:cNvPr>
          <p:cNvSpPr>
            <a:spLocks noGrp="1"/>
          </p:cNvSpPr>
          <p:nvPr>
            <p:ph type="sldNum" sz="quarter" idx="12"/>
          </p:nvPr>
        </p:nvSpPr>
        <p:spPr/>
        <p:txBody>
          <a:bodyPr/>
          <a:lstStyle/>
          <a:p>
            <a:fld id="{3A41A254-7326-714E-AF55-4C213D6394DE}" type="slidenum">
              <a:rPr lang="en-US" sz="900" smtClean="0">
                <a:latin typeface="Montserrat Light" pitchFamily="2" charset="0"/>
              </a:rPr>
              <a:pPr/>
              <a:t>69</a:t>
            </a:fld>
            <a:endParaRPr lang="en-US" sz="900">
              <a:latin typeface="Montserrat Light" pitchFamily="2" charset="0"/>
            </a:endParaRPr>
          </a:p>
        </p:txBody>
      </p:sp>
      <p:sp>
        <p:nvSpPr>
          <p:cNvPr id="6" name="Title 11">
            <a:extLst>
              <a:ext uri="{FF2B5EF4-FFF2-40B4-BE49-F238E27FC236}">
                <a16:creationId xmlns:a16="http://schemas.microsoft.com/office/drawing/2014/main" id="{DE350008-A95E-2CCB-A54A-32343D4A70E1}"/>
              </a:ext>
            </a:extLst>
          </p:cNvPr>
          <p:cNvSpPr txBox="1">
            <a:spLocks/>
          </p:cNvSpPr>
          <p:nvPr/>
        </p:nvSpPr>
        <p:spPr>
          <a:xfrm>
            <a:off x="304800" y="269218"/>
            <a:ext cx="8420100" cy="396638"/>
          </a:xfrm>
          <a:prstGeom prst="rect">
            <a:avLst/>
          </a:prstGeom>
        </p:spPr>
        <p:txBody>
          <a:bodyPr lIns="91440" tIns="45720" rIns="91440" bIns="45720" anchor="t">
            <a:noAutofit/>
          </a:bodyPr>
          <a:lstStyle>
            <a:lvl1pPr algn="l" defTabSz="914400" rtl="0" eaLnBrk="1" latinLnBrk="0" hangingPunct="1">
              <a:lnSpc>
                <a:spcPct val="90000"/>
              </a:lnSpc>
              <a:spcBef>
                <a:spcPct val="0"/>
              </a:spcBef>
              <a:buNone/>
              <a:defRPr sz="4400" b="1" i="0" kern="1200">
                <a:solidFill>
                  <a:schemeClr val="tx1"/>
                </a:solidFill>
                <a:latin typeface="AirIndia" pitchFamily="82" charset="77"/>
                <a:ea typeface="+mj-ea"/>
                <a:cs typeface="+mj-cs"/>
              </a:defRPr>
            </a:lvl1pPr>
          </a:lstStyle>
          <a:p>
            <a:r>
              <a:rPr lang="en-US" sz="1800">
                <a:solidFill>
                  <a:srgbClr val="C00000"/>
                </a:solidFill>
                <a:latin typeface="AirIndia"/>
              </a:rPr>
              <a:t>CE Plus - FY27 Q1  Release Plan </a:t>
            </a:r>
            <a:endParaRPr lang="en-US" sz="1800" b="0">
              <a:solidFill>
                <a:srgbClr val="C00000"/>
              </a:solidFill>
              <a:latin typeface="AirIndia"/>
            </a:endParaRPr>
          </a:p>
        </p:txBody>
      </p:sp>
      <p:graphicFrame>
        <p:nvGraphicFramePr>
          <p:cNvPr id="4" name="Table 3">
            <a:extLst>
              <a:ext uri="{FF2B5EF4-FFF2-40B4-BE49-F238E27FC236}">
                <a16:creationId xmlns:a16="http://schemas.microsoft.com/office/drawing/2014/main" id="{2703B6C4-5F27-7BF1-5008-EC39B6CCABEA}"/>
              </a:ext>
            </a:extLst>
          </p:cNvPr>
          <p:cNvGraphicFramePr>
            <a:graphicFrameLocks noGrp="1"/>
          </p:cNvGraphicFramePr>
          <p:nvPr>
            <p:extLst>
              <p:ext uri="{D42A27DB-BD31-4B8C-83A1-F6EECF244321}">
                <p14:modId xmlns:p14="http://schemas.microsoft.com/office/powerpoint/2010/main" val="3050442938"/>
              </p:ext>
            </p:extLst>
          </p:nvPr>
        </p:nvGraphicFramePr>
        <p:xfrm>
          <a:off x="1090849" y="792699"/>
          <a:ext cx="9772961" cy="2115379"/>
        </p:xfrm>
        <a:graphic>
          <a:graphicData uri="http://schemas.openxmlformats.org/drawingml/2006/table">
            <a:tbl>
              <a:tblPr firstRow="1" bandRow="1">
                <a:tableStyleId>{5C22544A-7EE6-4342-B048-85BDC9FD1C3A}</a:tableStyleId>
              </a:tblPr>
              <a:tblGrid>
                <a:gridCol w="1139624">
                  <a:extLst>
                    <a:ext uri="{9D8B030D-6E8A-4147-A177-3AD203B41FA5}">
                      <a16:colId xmlns:a16="http://schemas.microsoft.com/office/drawing/2014/main" val="1118630623"/>
                    </a:ext>
                  </a:extLst>
                </a:gridCol>
                <a:gridCol w="7281333">
                  <a:extLst>
                    <a:ext uri="{9D8B030D-6E8A-4147-A177-3AD203B41FA5}">
                      <a16:colId xmlns:a16="http://schemas.microsoft.com/office/drawing/2014/main" val="99588705"/>
                    </a:ext>
                  </a:extLst>
                </a:gridCol>
                <a:gridCol w="1352004">
                  <a:extLst>
                    <a:ext uri="{9D8B030D-6E8A-4147-A177-3AD203B41FA5}">
                      <a16:colId xmlns:a16="http://schemas.microsoft.com/office/drawing/2014/main" val="3072812035"/>
                    </a:ext>
                  </a:extLst>
                </a:gridCol>
              </a:tblGrid>
              <a:tr h="286112">
                <a:tc>
                  <a:txBody>
                    <a:bodyPr/>
                    <a:lstStyle/>
                    <a:p>
                      <a:pPr marL="0" lvl="0" indent="0" algn="ctr" defTabSz="914400">
                        <a:lnSpc>
                          <a:spcPct val="100000"/>
                        </a:lnSpc>
                        <a:buNone/>
                      </a:pPr>
                      <a:r>
                        <a:rPr lang="en-IN" sz="1100" b="1" i="0" u="none" strike="noStrike" kern="1200" noProof="0">
                          <a:solidFill>
                            <a:schemeClr val="bg1"/>
                          </a:solidFill>
                          <a:latin typeface="Avenir Next LT Pro Light"/>
                          <a:ea typeface="+mn-ea"/>
                          <a:cs typeface="+mn-cs"/>
                        </a:rPr>
                        <a:t>Projects</a:t>
                      </a:r>
                      <a:endParaRPr lang="en-US"/>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solidFill>
                      <a:srgbClr val="002060"/>
                    </a:solidFill>
                  </a:tcPr>
                </a:tc>
                <a:tc>
                  <a:txBody>
                    <a:bodyPr/>
                    <a:lstStyle/>
                    <a:p>
                      <a:pPr lvl="0" algn="ctr">
                        <a:lnSpc>
                          <a:spcPct val="100000"/>
                        </a:lnSpc>
                        <a:spcBef>
                          <a:spcPts val="0"/>
                        </a:spcBef>
                        <a:spcAft>
                          <a:spcPts val="0"/>
                        </a:spcAft>
                        <a:buNone/>
                      </a:pPr>
                      <a:r>
                        <a:rPr lang="en-IN" sz="1100" b="1" i="0" u="none" strike="noStrike" kern="1200" noProof="0">
                          <a:solidFill>
                            <a:srgbClr val="FFFFFF"/>
                          </a:solidFill>
                          <a:latin typeface="Nunito Sans"/>
                          <a:ea typeface="+mn-ea"/>
                          <a:cs typeface="+mn-cs"/>
                        </a:rPr>
                        <a:t>Value Justification/Realization</a:t>
                      </a:r>
                    </a:p>
                    <a:p>
                      <a:pPr marL="0" lvl="0" indent="0" algn="l" defTabSz="914400">
                        <a:buFont typeface="Arial" panose="020B0604020202020204" pitchFamily="34" charset="0"/>
                        <a:buNone/>
                      </a:pPr>
                      <a:endParaRPr lang="en-IN" sz="1050" kern="1200">
                        <a:solidFill>
                          <a:schemeClr val="bg1"/>
                        </a:solidFill>
                        <a:latin typeface="Avenir Next LT Pro Ligh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002060"/>
                    </a:solidFill>
                  </a:tcPr>
                </a:tc>
                <a:tc>
                  <a:txBody>
                    <a:bodyPr/>
                    <a:lstStyle/>
                    <a:p>
                      <a:pPr marL="0" lvl="0" indent="0" algn="l">
                        <a:buNone/>
                      </a:pPr>
                      <a:r>
                        <a:rPr lang="en-IN" sz="1050" kern="1200">
                          <a:solidFill>
                            <a:schemeClr val="bg1"/>
                          </a:solidFill>
                          <a:latin typeface="Avenir Next LT Pro Light"/>
                          <a:ea typeface="+mn-ea"/>
                          <a:cs typeface="+mn-cs"/>
                        </a:rPr>
                        <a:t>Go Live Date</a:t>
                      </a: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solidFill>
                      <a:srgbClr val="002060"/>
                    </a:solidFill>
                  </a:tcPr>
                </a:tc>
                <a:extLst>
                  <a:ext uri="{0D108BD9-81ED-4DB2-BD59-A6C34878D82A}">
                    <a16:rowId xmlns:a16="http://schemas.microsoft.com/office/drawing/2014/main" val="844450115"/>
                  </a:ext>
                </a:extLst>
              </a:tr>
              <a:tr h="507559">
                <a:tc>
                  <a:txBody>
                    <a:bodyPr/>
                    <a:lstStyle/>
                    <a:p>
                      <a:pPr lvl="0" algn="l">
                        <a:lnSpc>
                          <a:spcPct val="100000"/>
                        </a:lnSpc>
                        <a:spcBef>
                          <a:spcPts val="0"/>
                        </a:spcBef>
                        <a:spcAft>
                          <a:spcPts val="0"/>
                        </a:spcAft>
                        <a:buNone/>
                      </a:pPr>
                      <a:r>
                        <a:rPr lang="en-IN" sz="1100" b="1" i="0" u="none" strike="noStrike" kern="1200" noProof="0">
                          <a:solidFill>
                            <a:schemeClr val="tx1"/>
                          </a:solidFill>
                          <a:latin typeface="Nunito Sans"/>
                          <a:ea typeface="+mn-ea"/>
                          <a:cs typeface="+mn-cs"/>
                        </a:rPr>
                        <a:t>Guest Preferences</a:t>
                      </a:r>
                      <a:endParaRPr lang="en-IN" sz="1100" b="0" i="0" u="none" strike="noStrike" kern="1200" noProof="0">
                        <a:solidFill>
                          <a:srgbClr val="000000"/>
                        </a:solidFill>
                        <a:latin typeface="Nunito Sans"/>
                        <a:ea typeface="+mn-ea"/>
                        <a:cs typeface="+mn-cs"/>
                      </a:endParaRPr>
                    </a:p>
                    <a:p>
                      <a:pPr marL="0" lvl="0" indent="0" algn="l" defTabSz="914400">
                        <a:lnSpc>
                          <a:spcPct val="100000"/>
                        </a:lnSpc>
                        <a:spcBef>
                          <a:spcPts val="0"/>
                        </a:spcBef>
                        <a:spcAft>
                          <a:spcPts val="0"/>
                        </a:spcAft>
                        <a:buNone/>
                      </a:pPr>
                      <a:endParaRPr lang="en-IN" sz="1100" b="1" i="0" u="none" strike="noStrike" kern="1200" noProof="0">
                        <a:solidFill>
                          <a:schemeClr val="tx1"/>
                        </a:solidFill>
                        <a:latin typeface="Nunito Sans"/>
                        <a:ea typeface="+mn-ea"/>
                        <a:cs typeface="+mn-cs"/>
                      </a:endParaRPr>
                    </a:p>
                  </a:txBody>
                  <a:tcPr anchor="ctr">
                    <a:lnL w="6350">
                      <a:solidFill>
                        <a:schemeClr val="bg1">
                          <a:lumMod val="75000"/>
                        </a:schemeClr>
                      </a:solidFill>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171450" marR="0" lvl="0" indent="-171450" algn="l" rtl="0">
                        <a:lnSpc>
                          <a:spcPct val="100000"/>
                        </a:lnSpc>
                        <a:spcBef>
                          <a:spcPts val="0"/>
                        </a:spcBef>
                        <a:spcAft>
                          <a:spcPts val="0"/>
                        </a:spcAft>
                        <a:buClr>
                          <a:srgbClr val="000000"/>
                        </a:buClr>
                        <a:buSzTx/>
                        <a:buFont typeface="Arial,Sans-Serif"/>
                        <a:buChar char="•"/>
                      </a:pPr>
                      <a:r>
                        <a:rPr lang="en-US" sz="1100" b="0" i="0" u="none" strike="noStrike" kern="1200" noProof="0">
                          <a:solidFill>
                            <a:srgbClr val="000000"/>
                          </a:solidFill>
                          <a:effectLst/>
                          <a:latin typeface="Nunito Sans"/>
                          <a:ea typeface="+mn-ea"/>
                          <a:cs typeface="+mn-cs"/>
                        </a:rPr>
                        <a:t>Displays historical preferences and favorites of premium class guests and favorites based on past selection on app</a:t>
                      </a: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a:solidFill>
                        <a:schemeClr val="bg1">
                          <a:lumMod val="75000"/>
                        </a:schemeClr>
                      </a:solidFill>
                    </a:lnB>
                    <a:solidFill>
                      <a:schemeClr val="bg1"/>
                    </a:solidFill>
                  </a:tcPr>
                </a:tc>
                <a:tc>
                  <a:txBody>
                    <a:bodyPr/>
                    <a:lstStyle/>
                    <a:p>
                      <a:pPr marL="0" lvl="0" indent="0" algn="l">
                        <a:lnSpc>
                          <a:spcPct val="100000"/>
                        </a:lnSpc>
                        <a:spcBef>
                          <a:spcPts val="0"/>
                        </a:spcBef>
                        <a:spcAft>
                          <a:spcPts val="0"/>
                        </a:spcAft>
                        <a:buNone/>
                      </a:pPr>
                      <a:r>
                        <a:rPr lang="en-US" sz="1100" b="0" i="0" u="none" strike="noStrike" kern="1200" noProof="0">
                          <a:solidFill>
                            <a:srgbClr val="000000"/>
                          </a:solidFill>
                          <a:effectLst/>
                          <a:latin typeface="Nunito Sans"/>
                          <a:ea typeface="+mn-ea"/>
                          <a:cs typeface="+mn-cs"/>
                        </a:rPr>
                        <a:t>TBD (Budget Approvals)</a:t>
                      </a: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solidFill>
                      <a:schemeClr val="bg1"/>
                    </a:solidFill>
                  </a:tcPr>
                </a:tc>
                <a:extLst>
                  <a:ext uri="{0D108BD9-81ED-4DB2-BD59-A6C34878D82A}">
                    <a16:rowId xmlns:a16="http://schemas.microsoft.com/office/drawing/2014/main" val="3951168155"/>
                  </a:ext>
                </a:extLst>
              </a:tr>
              <a:tr h="507559">
                <a:tc>
                  <a:txBody>
                    <a:bodyPr/>
                    <a:lstStyle/>
                    <a:p>
                      <a:pPr lvl="0" algn="l">
                        <a:lnSpc>
                          <a:spcPct val="100000"/>
                        </a:lnSpc>
                        <a:spcBef>
                          <a:spcPts val="0"/>
                        </a:spcBef>
                        <a:spcAft>
                          <a:spcPts val="0"/>
                        </a:spcAft>
                        <a:buNone/>
                      </a:pPr>
                      <a:r>
                        <a:rPr lang="en-US" sz="1100" b="1" i="0" u="none" strike="noStrike" kern="1200" noProof="0">
                          <a:solidFill>
                            <a:schemeClr val="tx1"/>
                          </a:solidFill>
                          <a:latin typeface="Nunito Sans"/>
                          <a:ea typeface="+mn-ea"/>
                          <a:cs typeface="+mn-cs"/>
                        </a:rPr>
                        <a:t>Galley Loading Plan</a:t>
                      </a:r>
                      <a:endParaRPr lang="en-IN" sz="1100" b="0" i="0" u="none" strike="noStrike" kern="1200" noProof="0">
                        <a:solidFill>
                          <a:srgbClr val="000000"/>
                        </a:solidFill>
                        <a:latin typeface="Nunito Sans"/>
                        <a:ea typeface="+mn-ea"/>
                        <a:cs typeface="+mn-cs"/>
                      </a:endParaRPr>
                    </a:p>
                  </a:txBody>
                  <a:tcPr anchor="ctr">
                    <a:lnL w="6350">
                      <a:solidFill>
                        <a:schemeClr val="bg1">
                          <a:lumMod val="75000"/>
                        </a:schemeClr>
                      </a:solidFill>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171450" marR="0" lvl="0" indent="-171450" algn="l" rtl="0">
                        <a:lnSpc>
                          <a:spcPct val="100000"/>
                        </a:lnSpc>
                        <a:spcBef>
                          <a:spcPts val="0"/>
                        </a:spcBef>
                        <a:spcAft>
                          <a:spcPts val="0"/>
                        </a:spcAft>
                        <a:buClr>
                          <a:srgbClr val="000000"/>
                        </a:buClr>
                        <a:buSzTx/>
                        <a:buFont typeface="Arial,Sans-Serif"/>
                        <a:buChar char="•"/>
                      </a:pPr>
                      <a:r>
                        <a:rPr lang="en-IN" sz="1100" b="0" i="0" u="none" strike="noStrike" kern="1200" noProof="0">
                          <a:solidFill>
                            <a:schemeClr val="dk1"/>
                          </a:solidFill>
                          <a:effectLst/>
                          <a:latin typeface="Nunito Sans"/>
                          <a:ea typeface="+mn-ea"/>
                          <a:cs typeface="+mn-cs"/>
                        </a:rPr>
                        <a:t>Provides a flight‑specific galley setup plan including cabin zone served, beverage cart configuration, equipment and service items and dry store items</a:t>
                      </a:r>
                      <a:endParaRPr lang="en-US" sz="1100" b="0" i="0" u="none" strike="noStrike" kern="1200" noProof="0">
                        <a:solidFill>
                          <a:srgbClr val="000000"/>
                        </a:solidFill>
                        <a:effectLst/>
                        <a:latin typeface="Nunito Sans"/>
                        <a:ea typeface="+mn-ea"/>
                        <a:cs typeface="+mn-cs"/>
                      </a:endParaRP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lvl="0" indent="0" algn="l">
                        <a:lnSpc>
                          <a:spcPct val="100000"/>
                        </a:lnSpc>
                        <a:spcBef>
                          <a:spcPts val="0"/>
                        </a:spcBef>
                        <a:spcAft>
                          <a:spcPts val="0"/>
                        </a:spcAft>
                        <a:buNone/>
                      </a:pPr>
                      <a:r>
                        <a:rPr lang="en-US" sz="1100" b="0" i="0" u="none" strike="noStrike" kern="1200" noProof="0">
                          <a:solidFill>
                            <a:srgbClr val="000000"/>
                          </a:solidFill>
                          <a:effectLst/>
                          <a:latin typeface="Nunito Sans"/>
                          <a:ea typeface="+mn-ea"/>
                          <a:cs typeface="+mn-cs"/>
                        </a:rPr>
                        <a:t>TBD (Budget Approvals)</a:t>
                      </a:r>
                      <a:endParaRPr lang="en-US"/>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solidFill>
                      <a:schemeClr val="bg1"/>
                    </a:solidFill>
                  </a:tcPr>
                </a:tc>
                <a:extLst>
                  <a:ext uri="{0D108BD9-81ED-4DB2-BD59-A6C34878D82A}">
                    <a16:rowId xmlns:a16="http://schemas.microsoft.com/office/drawing/2014/main" val="3158025952"/>
                  </a:ext>
                </a:extLst>
              </a:tr>
              <a:tr h="507559">
                <a:tc>
                  <a:txBody>
                    <a:bodyPr/>
                    <a:lstStyle/>
                    <a:p>
                      <a:pPr lvl="0" algn="l">
                        <a:lnSpc>
                          <a:spcPct val="100000"/>
                        </a:lnSpc>
                        <a:spcBef>
                          <a:spcPts val="0"/>
                        </a:spcBef>
                        <a:spcAft>
                          <a:spcPts val="0"/>
                        </a:spcAft>
                        <a:buNone/>
                      </a:pPr>
                      <a:r>
                        <a:rPr lang="en-US" sz="1100" b="1" i="0" u="none" strike="noStrike" kern="1200" noProof="0">
                          <a:solidFill>
                            <a:schemeClr val="tx1"/>
                          </a:solidFill>
                          <a:latin typeface="Nunito Sans"/>
                          <a:ea typeface="+mn-ea"/>
                          <a:cs typeface="+mn-cs"/>
                        </a:rPr>
                        <a:t>Multiple SCCs Onboard Capabilities</a:t>
                      </a:r>
                      <a:endParaRPr lang="en-US" sz="1100" b="0" i="0" u="none" strike="noStrike" kern="1200" noProof="0">
                        <a:solidFill>
                          <a:srgbClr val="000000"/>
                        </a:solidFill>
                        <a:latin typeface="Nunito Sans"/>
                        <a:ea typeface="+mn-ea"/>
                        <a:cs typeface="+mn-cs"/>
                      </a:endParaRP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solidFill>
                      <a:schemeClr val="bg1"/>
                    </a:solidFill>
                  </a:tcPr>
                </a:tc>
                <a:tc>
                  <a:txBody>
                    <a:bodyPr/>
                    <a:lstStyle/>
                    <a:p>
                      <a:pPr marL="171450" lvl="0" indent="-171450" algn="l">
                        <a:lnSpc>
                          <a:spcPct val="100000"/>
                        </a:lnSpc>
                        <a:spcBef>
                          <a:spcPts val="0"/>
                        </a:spcBef>
                        <a:spcAft>
                          <a:spcPts val="0"/>
                        </a:spcAft>
                        <a:buClr>
                          <a:srgbClr val="000000"/>
                        </a:buClr>
                        <a:buFont typeface="Arial,Sans-Serif"/>
                        <a:buChar char="•"/>
                      </a:pPr>
                      <a:r>
                        <a:rPr lang="en-US" sz="1100" b="0" i="0" u="none" strike="noStrike" kern="1200" noProof="0">
                          <a:solidFill>
                            <a:schemeClr val="dk1"/>
                          </a:solidFill>
                          <a:effectLst/>
                          <a:latin typeface="Nunito Sans"/>
                          <a:ea typeface="+mn-ea"/>
                          <a:cs typeface="+mn-cs"/>
                        </a:rPr>
                        <a:t>Enables iPad‑to‑iPad connectivity between forward and aft SCCs for coordinated reporting, issue resolution, and service recovery</a:t>
                      </a:r>
                      <a:endParaRPr lang="en-US" sz="1100" b="0" i="0" u="none" strike="noStrike" kern="1200" noProof="0">
                        <a:solidFill>
                          <a:srgbClr val="000000"/>
                        </a:solidFill>
                        <a:effectLst/>
                        <a:latin typeface="Nunito Sans"/>
                        <a:ea typeface="+mn-ea"/>
                        <a:cs typeface="+mn-cs"/>
                      </a:endParaRP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a:solidFill>
                        <a:schemeClr val="bg1">
                          <a:lumMod val="75000"/>
                        </a:schemeClr>
                      </a:solidFill>
                    </a:lnB>
                    <a:solidFill>
                      <a:schemeClr val="bg1"/>
                    </a:solidFill>
                  </a:tcPr>
                </a:tc>
                <a:tc>
                  <a:txBody>
                    <a:bodyPr/>
                    <a:lstStyle/>
                    <a:p>
                      <a:pPr marL="0" lvl="0" indent="0" algn="l">
                        <a:lnSpc>
                          <a:spcPct val="100000"/>
                        </a:lnSpc>
                        <a:spcBef>
                          <a:spcPts val="0"/>
                        </a:spcBef>
                        <a:spcAft>
                          <a:spcPts val="0"/>
                        </a:spcAft>
                        <a:buNone/>
                      </a:pPr>
                      <a:r>
                        <a:rPr lang="en-US" sz="1100" b="0" i="0" u="none" strike="noStrike" kern="1200" noProof="0">
                          <a:solidFill>
                            <a:srgbClr val="000000"/>
                          </a:solidFill>
                          <a:effectLst/>
                          <a:latin typeface="Nunito Sans"/>
                          <a:ea typeface="+mn-ea"/>
                          <a:cs typeface="+mn-cs"/>
                        </a:rPr>
                        <a:t>TBD (Budget Approvals)</a:t>
                      </a:r>
                      <a:endParaRPr lang="en-US"/>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solidFill>
                      <a:schemeClr val="bg1"/>
                    </a:solidFill>
                  </a:tcPr>
                </a:tc>
                <a:extLst>
                  <a:ext uri="{0D108BD9-81ED-4DB2-BD59-A6C34878D82A}">
                    <a16:rowId xmlns:a16="http://schemas.microsoft.com/office/drawing/2014/main" val="3332773387"/>
                  </a:ext>
                </a:extLst>
              </a:tr>
            </a:tbl>
          </a:graphicData>
        </a:graphic>
      </p:graphicFrame>
      <p:sp>
        <p:nvSpPr>
          <p:cNvPr id="26" name="TextBox 25">
            <a:extLst>
              <a:ext uri="{FF2B5EF4-FFF2-40B4-BE49-F238E27FC236}">
                <a16:creationId xmlns:a16="http://schemas.microsoft.com/office/drawing/2014/main" id="{E7A702EF-FF6A-6A38-84FF-4ED811DCC92E}"/>
              </a:ext>
            </a:extLst>
          </p:cNvPr>
          <p:cNvSpPr txBox="1"/>
          <p:nvPr/>
        </p:nvSpPr>
        <p:spPr>
          <a:xfrm>
            <a:off x="343955" y="3897931"/>
            <a:ext cx="417102" cy="253916"/>
          </a:xfrm>
          <a:prstGeom prst="rect">
            <a:avLst/>
          </a:prstGeom>
          <a:noFill/>
        </p:spPr>
        <p:txBody>
          <a:bodyPr wrap="none" lIns="91440" tIns="45720" rIns="91440" bIns="45720" rtlCol="0" anchor="t">
            <a:spAutoFit/>
          </a:bodyPr>
          <a:lstStyle/>
          <a:p>
            <a:r>
              <a:rPr lang="en-IN" sz="1050" b="1">
                <a:solidFill>
                  <a:schemeClr val="bg1"/>
                </a:solidFill>
                <a:latin typeface="Montserrat Light"/>
              </a:rPr>
              <a:t>Jan</a:t>
            </a:r>
            <a:endParaRPr lang="en-IN" sz="1050" b="1">
              <a:solidFill>
                <a:schemeClr val="bg1"/>
              </a:solidFill>
              <a:latin typeface="Montserrat Light" pitchFamily="2" charset="0"/>
            </a:endParaRPr>
          </a:p>
        </p:txBody>
      </p:sp>
      <p:sp>
        <p:nvSpPr>
          <p:cNvPr id="27" name="TextBox 15">
            <a:extLst>
              <a:ext uri="{FF2B5EF4-FFF2-40B4-BE49-F238E27FC236}">
                <a16:creationId xmlns:a16="http://schemas.microsoft.com/office/drawing/2014/main" id="{F59AECDF-E6F8-8F9D-ACED-F2F2F3732866}"/>
              </a:ext>
            </a:extLst>
          </p:cNvPr>
          <p:cNvSpPr txBox="1"/>
          <p:nvPr/>
        </p:nvSpPr>
        <p:spPr>
          <a:xfrm>
            <a:off x="398384" y="817274"/>
            <a:ext cx="417102" cy="253916"/>
          </a:xfrm>
          <a:prstGeom prst="rect">
            <a:avLst/>
          </a:prstGeom>
          <a:noFill/>
        </p:spPr>
        <p:txBody>
          <a:bodyPr wrap="non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050" b="1">
                <a:solidFill>
                  <a:schemeClr val="bg1"/>
                </a:solidFill>
                <a:latin typeface="Montserrat Light"/>
              </a:rPr>
              <a:t>Jan</a:t>
            </a:r>
            <a:endParaRPr lang="en-IN" sz="1050" b="1">
              <a:solidFill>
                <a:schemeClr val="bg1"/>
              </a:solidFill>
              <a:latin typeface="Montserrat Light" pitchFamily="2" charset="0"/>
            </a:endParaRPr>
          </a:p>
        </p:txBody>
      </p:sp>
      <p:sp>
        <p:nvSpPr>
          <p:cNvPr id="29" name="Rectangle 28">
            <a:extLst>
              <a:ext uri="{FF2B5EF4-FFF2-40B4-BE49-F238E27FC236}">
                <a16:creationId xmlns:a16="http://schemas.microsoft.com/office/drawing/2014/main" id="{058CA8A5-790B-9FFE-2380-4365C1F17A91}"/>
              </a:ext>
            </a:extLst>
          </p:cNvPr>
          <p:cNvSpPr/>
          <p:nvPr/>
        </p:nvSpPr>
        <p:spPr>
          <a:xfrm>
            <a:off x="-4474" y="793560"/>
            <a:ext cx="1067526" cy="42234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IN" sz="1400" b="1">
                <a:latin typeface="AirIndia"/>
              </a:rPr>
              <a:t>Jun ‘26</a:t>
            </a:r>
          </a:p>
        </p:txBody>
      </p:sp>
      <p:pic>
        <p:nvPicPr>
          <p:cNvPr id="34" name="Picture 33">
            <a:extLst>
              <a:ext uri="{FF2B5EF4-FFF2-40B4-BE49-F238E27FC236}">
                <a16:creationId xmlns:a16="http://schemas.microsoft.com/office/drawing/2014/main" id="{CC526E7F-84D8-8436-1079-F76DC0070ADA}"/>
              </a:ext>
            </a:extLst>
          </p:cNvPr>
          <p:cNvPicPr>
            <a:picLocks noChangeAspect="1"/>
          </p:cNvPicPr>
          <p:nvPr/>
        </p:nvPicPr>
        <p:blipFill>
          <a:blip r:embed="rId3"/>
          <a:stretch>
            <a:fillRect/>
          </a:stretch>
        </p:blipFill>
        <p:spPr>
          <a:xfrm>
            <a:off x="306161" y="6532789"/>
            <a:ext cx="8248650" cy="323850"/>
          </a:xfrm>
          <a:prstGeom prst="rect">
            <a:avLst/>
          </a:prstGeom>
        </p:spPr>
      </p:pic>
    </p:spTree>
    <p:extLst>
      <p:ext uri="{BB962C8B-B14F-4D97-AF65-F5344CB8AC3E}">
        <p14:creationId xmlns:p14="http://schemas.microsoft.com/office/powerpoint/2010/main" val="1772586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3CBF44-7F6F-2387-2FEB-3D457063B49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03C5ED1-1812-FED6-D704-1C99D899256E}"/>
              </a:ext>
            </a:extLst>
          </p:cNvPr>
          <p:cNvSpPr>
            <a:spLocks noGrp="1"/>
          </p:cNvSpPr>
          <p:nvPr>
            <p:ph type="sldNum" sz="quarter" idx="12"/>
          </p:nvPr>
        </p:nvSpPr>
        <p:spPr/>
        <p:txBody>
          <a:bodyPr/>
          <a:lstStyle/>
          <a:p>
            <a:fld id="{3A41A254-7326-714E-AF55-4C213D6394DE}" type="slidenum">
              <a:rPr lang="en-US" sz="900" smtClean="0">
                <a:latin typeface="Montserrat Light" pitchFamily="2" charset="0"/>
              </a:rPr>
              <a:pPr/>
              <a:t>70</a:t>
            </a:fld>
            <a:endParaRPr lang="en-US" sz="900">
              <a:latin typeface="Montserrat Light" pitchFamily="2" charset="0"/>
            </a:endParaRPr>
          </a:p>
        </p:txBody>
      </p:sp>
      <p:sp>
        <p:nvSpPr>
          <p:cNvPr id="6" name="Title 11">
            <a:extLst>
              <a:ext uri="{FF2B5EF4-FFF2-40B4-BE49-F238E27FC236}">
                <a16:creationId xmlns:a16="http://schemas.microsoft.com/office/drawing/2014/main" id="{14B2E815-EF67-D075-0622-C8606D3FDEB4}"/>
              </a:ext>
            </a:extLst>
          </p:cNvPr>
          <p:cNvSpPr txBox="1">
            <a:spLocks/>
          </p:cNvSpPr>
          <p:nvPr/>
        </p:nvSpPr>
        <p:spPr>
          <a:xfrm>
            <a:off x="304800" y="269218"/>
            <a:ext cx="8420100" cy="396638"/>
          </a:xfrm>
          <a:prstGeom prst="rect">
            <a:avLst/>
          </a:prstGeom>
        </p:spPr>
        <p:txBody>
          <a:bodyPr lIns="91440" tIns="45720" rIns="91440" bIns="45720" anchor="t">
            <a:noAutofit/>
          </a:bodyPr>
          <a:lstStyle>
            <a:lvl1pPr algn="l" defTabSz="914400" rtl="0" eaLnBrk="1" latinLnBrk="0" hangingPunct="1">
              <a:lnSpc>
                <a:spcPct val="90000"/>
              </a:lnSpc>
              <a:spcBef>
                <a:spcPct val="0"/>
              </a:spcBef>
              <a:buNone/>
              <a:defRPr sz="4400" b="1" i="0" kern="1200">
                <a:solidFill>
                  <a:schemeClr val="tx1"/>
                </a:solidFill>
                <a:latin typeface="AirIndia" pitchFamily="82" charset="77"/>
                <a:ea typeface="+mj-ea"/>
                <a:cs typeface="+mj-cs"/>
              </a:defRPr>
            </a:lvl1pPr>
          </a:lstStyle>
          <a:p>
            <a:r>
              <a:rPr lang="en-US" sz="1800">
                <a:solidFill>
                  <a:srgbClr val="C00000"/>
                </a:solidFill>
                <a:latin typeface="AirIndia"/>
              </a:rPr>
              <a:t>AI Smart - FY27 Q1  Release Plan </a:t>
            </a:r>
            <a:endParaRPr lang="en-US" sz="1800" b="0">
              <a:solidFill>
                <a:srgbClr val="C00000"/>
              </a:solidFill>
              <a:latin typeface="AirIndia"/>
            </a:endParaRPr>
          </a:p>
        </p:txBody>
      </p:sp>
      <p:graphicFrame>
        <p:nvGraphicFramePr>
          <p:cNvPr id="4" name="Table 3">
            <a:extLst>
              <a:ext uri="{FF2B5EF4-FFF2-40B4-BE49-F238E27FC236}">
                <a16:creationId xmlns:a16="http://schemas.microsoft.com/office/drawing/2014/main" id="{0427A2D9-6DAE-B4AA-DDB3-AEE918B083C8}"/>
              </a:ext>
            </a:extLst>
          </p:cNvPr>
          <p:cNvGraphicFramePr>
            <a:graphicFrameLocks noGrp="1"/>
          </p:cNvGraphicFramePr>
          <p:nvPr>
            <p:extLst>
              <p:ext uri="{D42A27DB-BD31-4B8C-83A1-F6EECF244321}">
                <p14:modId xmlns:p14="http://schemas.microsoft.com/office/powerpoint/2010/main" val="2471298088"/>
              </p:ext>
            </p:extLst>
          </p:nvPr>
        </p:nvGraphicFramePr>
        <p:xfrm>
          <a:off x="960328" y="793314"/>
          <a:ext cx="10271546" cy="5002266"/>
        </p:xfrm>
        <a:graphic>
          <a:graphicData uri="http://schemas.openxmlformats.org/drawingml/2006/table">
            <a:tbl>
              <a:tblPr firstRow="1" bandRow="1">
                <a:tableStyleId>{5C22544A-7EE6-4342-B048-85BDC9FD1C3A}</a:tableStyleId>
              </a:tblPr>
              <a:tblGrid>
                <a:gridCol w="1505979">
                  <a:extLst>
                    <a:ext uri="{9D8B030D-6E8A-4147-A177-3AD203B41FA5}">
                      <a16:colId xmlns:a16="http://schemas.microsoft.com/office/drawing/2014/main" val="1118630623"/>
                    </a:ext>
                  </a:extLst>
                </a:gridCol>
                <a:gridCol w="6023915">
                  <a:extLst>
                    <a:ext uri="{9D8B030D-6E8A-4147-A177-3AD203B41FA5}">
                      <a16:colId xmlns:a16="http://schemas.microsoft.com/office/drawing/2014/main" val="99588705"/>
                    </a:ext>
                  </a:extLst>
                </a:gridCol>
                <a:gridCol w="1699053">
                  <a:extLst>
                    <a:ext uri="{9D8B030D-6E8A-4147-A177-3AD203B41FA5}">
                      <a16:colId xmlns:a16="http://schemas.microsoft.com/office/drawing/2014/main" val="718537358"/>
                    </a:ext>
                  </a:extLst>
                </a:gridCol>
                <a:gridCol w="1042599">
                  <a:extLst>
                    <a:ext uri="{9D8B030D-6E8A-4147-A177-3AD203B41FA5}">
                      <a16:colId xmlns:a16="http://schemas.microsoft.com/office/drawing/2014/main" val="898631821"/>
                    </a:ext>
                  </a:extLst>
                </a:gridCol>
              </a:tblGrid>
              <a:tr h="429490">
                <a:tc>
                  <a:txBody>
                    <a:bodyPr/>
                    <a:lstStyle/>
                    <a:p>
                      <a:pPr marL="0" lvl="0" indent="0" algn="ctr" defTabSz="914400">
                        <a:lnSpc>
                          <a:spcPct val="100000"/>
                        </a:lnSpc>
                        <a:buNone/>
                      </a:pPr>
                      <a:r>
                        <a:rPr lang="en-IN" sz="1100" b="1" i="0" u="none" strike="noStrike" kern="1200" noProof="0">
                          <a:solidFill>
                            <a:schemeClr val="bg1"/>
                          </a:solidFill>
                          <a:latin typeface="Avenir Next LT Pro Light"/>
                          <a:ea typeface="+mn-ea"/>
                          <a:cs typeface="+mn-cs"/>
                        </a:rPr>
                        <a:t>Projects</a:t>
                      </a:r>
                      <a:endParaRPr lang="en-US"/>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rgbClr val="002060"/>
                    </a:solidFill>
                  </a:tcPr>
                </a:tc>
                <a:tc>
                  <a:txBody>
                    <a:bodyPr/>
                    <a:lstStyle/>
                    <a:p>
                      <a:pPr lvl="0" algn="ctr">
                        <a:lnSpc>
                          <a:spcPct val="100000"/>
                        </a:lnSpc>
                        <a:spcBef>
                          <a:spcPts val="0"/>
                        </a:spcBef>
                        <a:spcAft>
                          <a:spcPts val="0"/>
                        </a:spcAft>
                        <a:buNone/>
                      </a:pPr>
                      <a:r>
                        <a:rPr lang="en-IN" sz="1100" b="1" i="0" u="none" strike="noStrike" kern="1200" noProof="0">
                          <a:solidFill>
                            <a:srgbClr val="FFFFFF"/>
                          </a:solidFill>
                          <a:latin typeface="Nunito Sans"/>
                          <a:ea typeface="+mn-ea"/>
                          <a:cs typeface="+mn-cs"/>
                        </a:rPr>
                        <a:t>Value Justification/Realization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a:txBody>
                    <a:bodyPr/>
                    <a:lstStyle/>
                    <a:p>
                      <a:pPr marL="0" lvl="0" indent="0" algn="ctr">
                        <a:buNone/>
                      </a:pPr>
                      <a:r>
                        <a:rPr lang="en-IN" sz="1050" kern="1200">
                          <a:solidFill>
                            <a:schemeClr val="bg1"/>
                          </a:solidFill>
                          <a:latin typeface="Avenir Next LT Pro Light"/>
                          <a:ea typeface="+mn-ea"/>
                          <a:cs typeface="+mn-cs"/>
                        </a:rPr>
                        <a:t>Go Live Date</a:t>
                      </a:r>
                    </a:p>
                  </a:txBody>
                  <a:tcPr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rgbClr val="002060"/>
                    </a:solidFill>
                  </a:tcPr>
                </a:tc>
                <a:tc>
                  <a:txBody>
                    <a:bodyPr/>
                    <a:lstStyle/>
                    <a:p>
                      <a:pPr marL="0" lvl="0" indent="0" algn="ctr">
                        <a:buNone/>
                      </a:pPr>
                      <a:r>
                        <a:rPr lang="en-IN" sz="1050" kern="1200">
                          <a:solidFill>
                            <a:schemeClr val="bg1"/>
                          </a:solidFill>
                          <a:latin typeface="Avenir Next LT Pro Light"/>
                          <a:ea typeface="+mn-ea"/>
                          <a:cs typeface="+mn-cs"/>
                        </a:rPr>
                        <a:t>JIRA</a:t>
                      </a:r>
                    </a:p>
                  </a:txBody>
                  <a:tcPr anchor="ctr">
                    <a:lnL w="12700">
                      <a:solidFill>
                        <a:schemeClr val="tx1"/>
                      </a:solidFill>
                    </a:lnL>
                    <a:lnR w="12700">
                      <a:solidFill>
                        <a:schemeClr val="tx1"/>
                      </a:solidFill>
                    </a:lnR>
                    <a:lnT w="12700">
                      <a:solidFill>
                        <a:schemeClr val="tx1"/>
                      </a:solidFill>
                    </a:lnT>
                    <a:lnB w="12700">
                      <a:solidFill>
                        <a:schemeClr val="tx1"/>
                      </a:solidFill>
                    </a:lnB>
                    <a:solidFill>
                      <a:srgbClr val="002060"/>
                    </a:solidFill>
                  </a:tcPr>
                </a:tc>
                <a:extLst>
                  <a:ext uri="{0D108BD9-81ED-4DB2-BD59-A6C34878D82A}">
                    <a16:rowId xmlns:a16="http://schemas.microsoft.com/office/drawing/2014/main" val="844450115"/>
                  </a:ext>
                </a:extLst>
              </a:tr>
              <a:tr h="507559">
                <a:tc>
                  <a:txBody>
                    <a:bodyPr/>
                    <a:lstStyle/>
                    <a:p>
                      <a:pPr lvl="0" algn="l">
                        <a:lnSpc>
                          <a:spcPct val="100000"/>
                        </a:lnSpc>
                        <a:spcBef>
                          <a:spcPts val="0"/>
                        </a:spcBef>
                        <a:spcAft>
                          <a:spcPts val="0"/>
                        </a:spcAft>
                        <a:buNone/>
                      </a:pPr>
                      <a:r>
                        <a:rPr lang="en-US" sz="1100" b="1" i="0" u="none" strike="noStrike" kern="1200" noProof="0">
                          <a:solidFill>
                            <a:srgbClr val="0070C0"/>
                          </a:solidFill>
                          <a:latin typeface="Nunito Sans"/>
                          <a:ea typeface="+mn-ea"/>
                          <a:cs typeface="+mn-cs"/>
                        </a:rPr>
                        <a:t>EDTO information for Dispatch</a:t>
                      </a:r>
                    </a:p>
                  </a:txBody>
                  <a:tcPr anchor="ctr">
                    <a:lnL w="12700">
                      <a:solidFill>
                        <a:schemeClr val="tx1"/>
                      </a:solid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171450" marR="0" lvl="0" indent="-171450" algn="l" rtl="0">
                        <a:lnSpc>
                          <a:spcPts val="1425"/>
                        </a:lnSpc>
                        <a:spcBef>
                          <a:spcPts val="0"/>
                        </a:spcBef>
                        <a:spcAft>
                          <a:spcPts val="0"/>
                        </a:spcAft>
                        <a:buClr>
                          <a:srgbClr val="000000"/>
                        </a:buClr>
                        <a:buSzTx/>
                        <a:buFont typeface="Arial,Sans-Serif"/>
                        <a:buChar char="•"/>
                      </a:pPr>
                      <a:r>
                        <a:rPr lang="en-IN" sz="1100" b="0" i="0" u="none" strike="noStrike" kern="1200" noProof="0">
                          <a:solidFill>
                            <a:schemeClr val="tx1"/>
                          </a:solidFill>
                          <a:effectLst/>
                          <a:latin typeface="Nunito Sans"/>
                          <a:ea typeface="+mn-ea"/>
                          <a:cs typeface="+mn-cs"/>
                        </a:rPr>
                        <a:t>Dispatch team requires the availability of EDTO information including time information and alternate airports for flight planning</a:t>
                      </a:r>
                      <a:endParaRPr lang="en-US" sz="1100" b="0" i="0" u="none" strike="noStrike" kern="1200" noProof="0">
                        <a:solidFill>
                          <a:srgbClr val="000000"/>
                        </a:solidFill>
                        <a:effectLst/>
                        <a:latin typeface="Nunito Sans"/>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lvl="0" indent="0" algn="l">
                        <a:lnSpc>
                          <a:spcPts val="1425"/>
                        </a:lnSpc>
                        <a:spcBef>
                          <a:spcPts val="0"/>
                        </a:spcBef>
                        <a:spcAft>
                          <a:spcPts val="0"/>
                        </a:spcAft>
                        <a:buNone/>
                      </a:pPr>
                      <a:r>
                        <a:rPr lang="en-IN" sz="1100" b="0" i="0" u="none" strike="sngStrike" kern="1200" noProof="0">
                          <a:solidFill>
                            <a:schemeClr val="tx1"/>
                          </a:solidFill>
                          <a:effectLst/>
                          <a:latin typeface="Nunito Sans"/>
                          <a:ea typeface="+mn-ea"/>
                          <a:cs typeface="+mn-cs"/>
                        </a:rPr>
                        <a:t>29th April</a:t>
                      </a:r>
                      <a:br>
                        <a:rPr lang="en-IN" sz="1100" b="0" i="0" u="none" strike="sngStrike" kern="1200" noProof="0">
                          <a:solidFill>
                            <a:srgbClr val="000000"/>
                          </a:solidFill>
                          <a:effectLst/>
                          <a:latin typeface="Nunito Sans"/>
                          <a:ea typeface="+mn-ea"/>
                          <a:cs typeface="+mn-cs"/>
                        </a:rPr>
                      </a:br>
                      <a:r>
                        <a:rPr lang="en-IN" sz="1100" b="0" i="0" u="none" strike="noStrike" kern="1200" noProof="0">
                          <a:solidFill>
                            <a:schemeClr val="tx1"/>
                          </a:solidFill>
                          <a:effectLst/>
                          <a:latin typeface="Nunito Sans"/>
                          <a:ea typeface="+mn-ea"/>
                          <a:cs typeface="+mn-cs"/>
                        </a:rPr>
                        <a:t>14-May</a:t>
                      </a:r>
                    </a:p>
                  </a:txBody>
                  <a:tcPr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marL="0" lvl="0" indent="0" algn="l">
                        <a:lnSpc>
                          <a:spcPts val="1425"/>
                        </a:lnSpc>
                        <a:spcBef>
                          <a:spcPts val="0"/>
                        </a:spcBef>
                        <a:spcAft>
                          <a:spcPts val="0"/>
                        </a:spcAft>
                        <a:buNone/>
                      </a:pPr>
                      <a:r>
                        <a:rPr lang="en-IN" sz="1100" b="0" i="0" u="none" strike="noStrike" kern="1200" noProof="0">
                          <a:solidFill>
                            <a:schemeClr val="tx1"/>
                          </a:solidFill>
                          <a:effectLst/>
                          <a:hlinkClick r:id="rId4"/>
                        </a:rPr>
                        <a:t>E-5986</a:t>
                      </a:r>
                      <a:endParaRPr lang="en-IN" sz="1100" b="0" i="0" u="none" strike="noStrike" kern="1200" noProof="0">
                        <a:solidFill>
                          <a:schemeClr val="tx1"/>
                        </a:solidFill>
                        <a:effectLst/>
                      </a:endParaRP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3158025952"/>
                  </a:ext>
                </a:extLst>
              </a:tr>
              <a:tr h="507559">
                <a:tc>
                  <a:txBody>
                    <a:bodyPr/>
                    <a:lstStyle/>
                    <a:p>
                      <a:pPr lvl="0" algn="l">
                        <a:lnSpc>
                          <a:spcPct val="100000"/>
                        </a:lnSpc>
                        <a:spcBef>
                          <a:spcPts val="0"/>
                        </a:spcBef>
                        <a:spcAft>
                          <a:spcPts val="0"/>
                        </a:spcAft>
                        <a:buNone/>
                      </a:pPr>
                      <a:r>
                        <a:rPr lang="en-US" sz="1100" b="1" i="0" u="none" strike="noStrike" kern="1200" noProof="0">
                          <a:solidFill>
                            <a:schemeClr val="tx1"/>
                          </a:solidFill>
                          <a:latin typeface="Nunito Sans"/>
                          <a:ea typeface="+mn-ea"/>
                          <a:cs typeface="+mn-cs"/>
                        </a:rPr>
                        <a:t>NOTAM Flight Ops workflow</a:t>
                      </a:r>
                      <a:endParaRPr lang="en-IN" sz="1100" b="0" i="0" u="none" strike="noStrike" kern="1200" noProof="0">
                        <a:solidFill>
                          <a:srgbClr val="000000"/>
                        </a:solidFill>
                        <a:latin typeface="Nunito Sans"/>
                        <a:ea typeface="+mn-ea"/>
                        <a:cs typeface="+mn-cs"/>
                      </a:endParaRPr>
                    </a:p>
                  </a:txBody>
                  <a:tcPr anchor="ctr">
                    <a:lnL w="12700">
                      <a:solidFill>
                        <a:schemeClr val="tx1"/>
                      </a:solidFill>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171450" lvl="0" indent="-171450" algn="l">
                        <a:lnSpc>
                          <a:spcPct val="100000"/>
                        </a:lnSpc>
                        <a:spcBef>
                          <a:spcPts val="0"/>
                        </a:spcBef>
                        <a:spcAft>
                          <a:spcPts val="0"/>
                        </a:spcAft>
                        <a:buFont typeface="Arial"/>
                        <a:buChar char="•"/>
                      </a:pPr>
                      <a:r>
                        <a:rPr lang="en-IN" sz="1100" b="0" i="0" u="none" strike="noStrike" kern="1200" noProof="0">
                          <a:solidFill>
                            <a:schemeClr val="tx1"/>
                          </a:solidFill>
                          <a:effectLst/>
                          <a:latin typeface="Nunito Sans"/>
                          <a:ea typeface="+mn-ea"/>
                          <a:cs typeface="+mn-cs"/>
                        </a:rPr>
                        <a:t>Flight Ops team manually reviews NOTAMs and categorizes and actions the same recording it over excel sheets. Selection of NOTAMs, automation of categorization and generation of GPS waypoint links for obstacles to be performed via AI Smart</a:t>
                      </a:r>
                      <a:endParaRPr lang="en-GB" sz="1100" b="0" i="0" u="none" strike="noStrike" kern="1200" noProof="0">
                        <a:solidFill>
                          <a:schemeClr val="tx1"/>
                        </a:solidFill>
                        <a:effectLst/>
                        <a:latin typeface="Nunito Sans"/>
                        <a:ea typeface="+mn-ea"/>
                        <a:cs typeface="+mn-cs"/>
                      </a:endParaRPr>
                    </a:p>
                  </a:txBody>
                  <a:tcPr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marL="0" lvl="0" indent="0" algn="l">
                        <a:lnSpc>
                          <a:spcPct val="100000"/>
                        </a:lnSpc>
                        <a:spcBef>
                          <a:spcPts val="0"/>
                        </a:spcBef>
                        <a:spcAft>
                          <a:spcPts val="0"/>
                        </a:spcAft>
                        <a:buNone/>
                      </a:pPr>
                      <a:r>
                        <a:rPr lang="en-IN" sz="1100" b="0" i="0" u="none" strike="sngStrike" kern="1200" noProof="0">
                          <a:solidFill>
                            <a:schemeClr val="tx1"/>
                          </a:solidFill>
                          <a:effectLst/>
                          <a:latin typeface="Nunito Sans"/>
                          <a:ea typeface="+mn-ea"/>
                          <a:cs typeface="+mn-cs"/>
                        </a:rPr>
                        <a:t>28th May</a:t>
                      </a:r>
                      <a:endParaRPr lang="en-IN" sz="1100" b="0" i="0" u="none" strike="sngStrike" kern="1200" noProof="0">
                        <a:solidFill>
                          <a:srgbClr val="000000"/>
                        </a:solidFill>
                        <a:effectLst/>
                        <a:latin typeface="Nunito Sans"/>
                        <a:ea typeface="+mn-ea"/>
                        <a:cs typeface="+mn-cs"/>
                      </a:endParaRPr>
                    </a:p>
                    <a:p>
                      <a:pPr marL="0" lvl="0" indent="0" algn="l">
                        <a:lnSpc>
                          <a:spcPts val="1425"/>
                        </a:lnSpc>
                        <a:buNone/>
                      </a:pPr>
                      <a:r>
                        <a:rPr lang="en-IN" sz="1100" b="0" i="0" u="none" strike="noStrike" kern="1200" noProof="0">
                          <a:solidFill>
                            <a:schemeClr val="tx1"/>
                          </a:solidFill>
                          <a:effectLst/>
                          <a:latin typeface="Nunito Sans"/>
                          <a:ea typeface="+mn-ea"/>
                          <a:cs typeface="+mn-cs"/>
                        </a:rPr>
                        <a:t>Moved To May Release</a:t>
                      </a:r>
                      <a:endParaRPr lang="en-IN"/>
                    </a:p>
                  </a:txBody>
                  <a:tcPr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marL="0" lvl="0" indent="0" algn="l">
                        <a:lnSpc>
                          <a:spcPct val="100000"/>
                        </a:lnSpc>
                        <a:spcBef>
                          <a:spcPts val="0"/>
                        </a:spcBef>
                        <a:spcAft>
                          <a:spcPts val="0"/>
                        </a:spcAft>
                        <a:buNone/>
                      </a:pPr>
                      <a:r>
                        <a:rPr lang="en-IN" sz="1100" b="0" i="0" u="none" strike="noStrike" kern="1200" noProof="0">
                          <a:solidFill>
                            <a:schemeClr val="tx1"/>
                          </a:solidFill>
                          <a:effectLst/>
                          <a:hlinkClick r:id="rId5"/>
                        </a:rPr>
                        <a:t>E-6092</a:t>
                      </a:r>
                      <a:endParaRPr lang="en-IN" sz="1100" b="0" i="0" u="none" strike="noStrike" kern="1200" noProof="0">
                        <a:solidFill>
                          <a:schemeClr val="tx1"/>
                        </a:solidFill>
                        <a:effectLst/>
                      </a:endParaRP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4022253449"/>
                  </a:ext>
                </a:extLst>
              </a:tr>
              <a:tr h="507559">
                <a:tc>
                  <a:txBody>
                    <a:bodyPr/>
                    <a:lstStyle/>
                    <a:p>
                      <a:pPr lvl="0" algn="l">
                        <a:lnSpc>
                          <a:spcPct val="100000"/>
                        </a:lnSpc>
                        <a:spcBef>
                          <a:spcPts val="0"/>
                        </a:spcBef>
                        <a:spcAft>
                          <a:spcPts val="0"/>
                        </a:spcAft>
                        <a:buNone/>
                      </a:pPr>
                      <a:r>
                        <a:rPr lang="en-IN" sz="1100" b="1" i="0" u="none" strike="noStrike" kern="1200" noProof="0">
                          <a:solidFill>
                            <a:schemeClr val="tx1"/>
                          </a:solidFill>
                          <a:latin typeface="Nunito Sans"/>
                          <a:ea typeface="+mn-ea"/>
                          <a:cs typeface="+mn-cs"/>
                        </a:rPr>
                        <a:t>AKS Migration</a:t>
                      </a:r>
                      <a:endParaRPr lang="en-IN" sz="1100" b="0" i="0" u="none" strike="noStrike" kern="1200" noProof="0">
                        <a:solidFill>
                          <a:srgbClr val="000000"/>
                        </a:solidFill>
                        <a:latin typeface="Nunito Sans"/>
                        <a:ea typeface="+mn-ea"/>
                        <a:cs typeface="+mn-cs"/>
                      </a:endParaRPr>
                    </a:p>
                  </a:txBody>
                  <a:tcPr anchor="ctr">
                    <a:lnL w="12700">
                      <a:solidFill>
                        <a:schemeClr val="tx1"/>
                      </a:solidFill>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171450" lvl="0" indent="-171450" algn="l">
                        <a:lnSpc>
                          <a:spcPts val="1425"/>
                        </a:lnSpc>
                        <a:buClr>
                          <a:srgbClr val="000000"/>
                        </a:buClr>
                        <a:buFont typeface="Arial,Sans-Serif"/>
                        <a:buChar char="•"/>
                      </a:pPr>
                      <a:r>
                        <a:rPr lang="en-IN" sz="1100" b="0" i="0" u="none" strike="noStrike" kern="1200" noProof="0">
                          <a:solidFill>
                            <a:schemeClr val="tx1"/>
                          </a:solidFill>
                          <a:effectLst/>
                          <a:latin typeface="Nunito Sans"/>
                          <a:ea typeface="+mn-ea"/>
                          <a:cs typeface="+mn-cs"/>
                        </a:rPr>
                        <a:t>Migration of Control board module to AKS to improve system performance as current platform performance issues have been highlighted by user group</a:t>
                      </a:r>
                      <a:endParaRPr lang="en-US" sz="1100" b="0" i="0" u="none" strike="noStrike" kern="1200" noProof="0">
                        <a:solidFill>
                          <a:srgbClr val="000000"/>
                        </a:solidFill>
                        <a:effectLst/>
                        <a:latin typeface="Nunito Sans"/>
                        <a:ea typeface="+mn-ea"/>
                        <a:cs typeface="+mn-cs"/>
                      </a:endParaRPr>
                    </a:p>
                  </a:txBody>
                  <a:tcPr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marL="0" lvl="0" indent="0" algn="l">
                        <a:lnSpc>
                          <a:spcPts val="1425"/>
                        </a:lnSpc>
                        <a:buNone/>
                      </a:pPr>
                      <a:r>
                        <a:rPr lang="en-IN" sz="1100" b="0" i="0" u="none" strike="sngStrike" kern="1200" noProof="0">
                          <a:solidFill>
                            <a:schemeClr val="tx1"/>
                          </a:solidFill>
                          <a:effectLst/>
                          <a:latin typeface="Nunito Sans"/>
                          <a:ea typeface="+mn-ea"/>
                          <a:cs typeface="+mn-cs"/>
                        </a:rPr>
                        <a:t>28th May</a:t>
                      </a:r>
                    </a:p>
                    <a:p>
                      <a:pPr marL="0" lvl="0" indent="0" algn="l">
                        <a:lnSpc>
                          <a:spcPts val="1425"/>
                        </a:lnSpc>
                        <a:buNone/>
                      </a:pPr>
                      <a:r>
                        <a:rPr lang="en-IN" sz="1100" b="0" i="0" u="none" strike="noStrike" kern="1200" noProof="0">
                          <a:solidFill>
                            <a:schemeClr val="tx1"/>
                          </a:solidFill>
                          <a:effectLst/>
                          <a:latin typeface="Nunito Sans"/>
                          <a:ea typeface="+mn-ea"/>
                          <a:cs typeface="+mn-cs"/>
                        </a:rPr>
                        <a:t>Moved To May Release</a:t>
                      </a:r>
                    </a:p>
                  </a:txBody>
                  <a:tcPr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marL="0" lvl="0" indent="0" algn="l">
                        <a:lnSpc>
                          <a:spcPts val="1425"/>
                        </a:lnSpc>
                        <a:buNone/>
                      </a:pPr>
                      <a:r>
                        <a:rPr lang="en-IN" sz="1100" b="0" i="0" u="none" strike="noStrike" kern="1200" noProof="0">
                          <a:solidFill>
                            <a:schemeClr val="tx1"/>
                          </a:solidFill>
                          <a:effectLst/>
                          <a:latin typeface="Nunito Sans"/>
                          <a:ea typeface="+mn-ea"/>
                          <a:cs typeface="+mn-cs"/>
                          <a:hlinkClick r:id="rId6"/>
                        </a:rPr>
                        <a:t>S-972</a:t>
                      </a:r>
                      <a:endParaRPr lang="en-IN" sz="1100" b="0" i="0" u="none" strike="noStrike" kern="1200" noProof="0">
                        <a:solidFill>
                          <a:schemeClr val="tx1"/>
                        </a:solidFill>
                        <a:effectLst/>
                        <a:latin typeface="Nunito Sans"/>
                        <a:ea typeface="+mn-ea"/>
                        <a:cs typeface="+mn-cs"/>
                      </a:endParaRP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346805530"/>
                  </a:ext>
                </a:extLst>
              </a:tr>
              <a:tr h="507559">
                <a:tc>
                  <a:txBody>
                    <a:bodyPr/>
                    <a:lstStyle/>
                    <a:p>
                      <a:pPr lvl="0" algn="l">
                        <a:lnSpc>
                          <a:spcPct val="100000"/>
                        </a:lnSpc>
                        <a:spcBef>
                          <a:spcPts val="0"/>
                        </a:spcBef>
                        <a:spcAft>
                          <a:spcPts val="0"/>
                        </a:spcAft>
                        <a:buNone/>
                      </a:pPr>
                      <a:r>
                        <a:rPr lang="en-US" sz="1100" b="1" i="0" u="none" strike="noStrike" kern="1200" noProof="0">
                          <a:solidFill>
                            <a:schemeClr val="bg1">
                              <a:lumMod val="76000"/>
                            </a:schemeClr>
                          </a:solidFill>
                          <a:latin typeface="Nunito Sans"/>
                          <a:ea typeface="+mn-ea"/>
                          <a:cs typeface="+mn-cs"/>
                        </a:rPr>
                        <a:t>iCargo Integration</a:t>
                      </a:r>
                    </a:p>
                  </a:txBody>
                  <a:tcPr anchor="ctr">
                    <a:lnL w="12700">
                      <a:solidFill>
                        <a:schemeClr val="tx1"/>
                      </a:solidFill>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171450" marR="0" lvl="0" indent="-171450" algn="l">
                        <a:lnSpc>
                          <a:spcPts val="1425"/>
                        </a:lnSpc>
                        <a:spcBef>
                          <a:spcPts val="0"/>
                        </a:spcBef>
                        <a:spcAft>
                          <a:spcPts val="0"/>
                        </a:spcAft>
                        <a:buClr>
                          <a:srgbClr val="000000"/>
                        </a:buClr>
                        <a:buFont typeface="Arial,Sans-Serif"/>
                        <a:buChar char="•"/>
                      </a:pPr>
                      <a:r>
                        <a:rPr lang="en-IN" sz="1100" b="0" i="0" u="none" strike="noStrike" kern="1200" noProof="0">
                          <a:solidFill>
                            <a:schemeClr val="tx1"/>
                          </a:solidFill>
                          <a:effectLst/>
                          <a:latin typeface="Nunito Sans"/>
                          <a:ea typeface="+mn-ea"/>
                          <a:cs typeface="+mn-cs"/>
                        </a:rPr>
                        <a:t>Integration of Cargo load value from </a:t>
                      </a:r>
                      <a:r>
                        <a:rPr lang="en-IN" sz="1100" b="0" i="0" u="none" strike="noStrike" kern="1200" noProof="0" err="1">
                          <a:solidFill>
                            <a:schemeClr val="tx1"/>
                          </a:solidFill>
                          <a:effectLst/>
                          <a:latin typeface="Nunito Sans"/>
                          <a:ea typeface="+mn-ea"/>
                          <a:cs typeface="+mn-cs"/>
                        </a:rPr>
                        <a:t>i</a:t>
                      </a:r>
                      <a:r>
                        <a:rPr lang="en-IN" sz="1100" b="0" i="0" u="none" strike="noStrike" kern="1200" noProof="0">
                          <a:solidFill>
                            <a:schemeClr val="tx1"/>
                          </a:solidFill>
                          <a:effectLst/>
                          <a:latin typeface="Nunito Sans"/>
                          <a:ea typeface="+mn-ea"/>
                          <a:cs typeface="+mn-cs"/>
                        </a:rPr>
                        <a:t>-Cargo application in the fuel compliance module for international stations.</a:t>
                      </a:r>
                      <a:endParaRPr lang="en-US" sz="1100" b="0" i="0" u="none" strike="noStrike" kern="1200" noProof="0">
                        <a:solidFill>
                          <a:srgbClr val="000000"/>
                        </a:solidFill>
                        <a:effectLst/>
                        <a:latin typeface="Nunito Sans"/>
                        <a:ea typeface="+mn-ea"/>
                        <a:cs typeface="+mn-cs"/>
                      </a:endParaRPr>
                    </a:p>
                  </a:txBody>
                  <a:tcPr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marL="0" lvl="0" indent="0" algn="l">
                        <a:lnSpc>
                          <a:spcPts val="1425"/>
                        </a:lnSpc>
                        <a:spcBef>
                          <a:spcPts val="0"/>
                        </a:spcBef>
                        <a:spcAft>
                          <a:spcPts val="0"/>
                        </a:spcAft>
                        <a:buNone/>
                      </a:pPr>
                      <a:r>
                        <a:rPr lang="en-IN" sz="1100" b="0" i="0" u="none" strike="noStrike" kern="1200" noProof="0">
                          <a:solidFill>
                            <a:schemeClr val="tx1"/>
                          </a:solidFill>
                          <a:effectLst/>
                          <a:latin typeface="Nunito Sans"/>
                          <a:ea typeface="+mn-ea"/>
                          <a:cs typeface="+mn-cs"/>
                        </a:rPr>
                        <a:t>29th April</a:t>
                      </a:r>
                      <a:endParaRPr lang="en-US" sz="1100" b="0" i="0" u="none" strike="noStrike" kern="1200" noProof="0">
                        <a:solidFill>
                          <a:srgbClr val="000000"/>
                        </a:solidFill>
                        <a:effectLst/>
                        <a:latin typeface="Nunito Sans"/>
                        <a:ea typeface="+mn-ea"/>
                        <a:cs typeface="+mn-cs"/>
                      </a:endParaRPr>
                    </a:p>
                  </a:txBody>
                  <a:tcPr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marL="0" lvl="0" indent="0" algn="l">
                        <a:lnSpc>
                          <a:spcPts val="1425"/>
                        </a:lnSpc>
                        <a:spcBef>
                          <a:spcPts val="0"/>
                        </a:spcBef>
                        <a:spcAft>
                          <a:spcPts val="0"/>
                        </a:spcAft>
                        <a:buNone/>
                      </a:pPr>
                      <a:r>
                        <a:rPr lang="en-IN" sz="1100" b="0" i="0" u="none" strike="noStrike" kern="1200" noProof="0">
                          <a:solidFill>
                            <a:schemeClr val="tx1"/>
                          </a:solidFill>
                          <a:effectLst/>
                          <a:hlinkClick r:id="rId7"/>
                        </a:rPr>
                        <a:t>S-3647</a:t>
                      </a:r>
                      <a:br>
                        <a:rPr lang="en-IN" sz="1100" b="0" i="0" u="none" strike="noStrike" kern="1200" noProof="0">
                          <a:solidFill>
                            <a:srgbClr val="000000"/>
                          </a:solidFill>
                          <a:effectLst/>
                        </a:rPr>
                      </a:br>
                      <a:r>
                        <a:rPr lang="en-IN" sz="1100" b="0" i="0" u="none" strike="noStrike" kern="1200" noProof="0">
                          <a:solidFill>
                            <a:schemeClr val="tx1"/>
                          </a:solidFill>
                          <a:effectLst/>
                          <a:latin typeface="Nunito Sans"/>
                        </a:rPr>
                        <a:t>Descoped due to Prod - API availability</a:t>
                      </a:r>
                      <a:endParaRPr lang="en-US"/>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4016301788"/>
                  </a:ext>
                </a:extLst>
              </a:tr>
              <a:tr h="507559">
                <a:tc>
                  <a:txBody>
                    <a:bodyPr/>
                    <a:lstStyle/>
                    <a:p>
                      <a:pPr lvl="0">
                        <a:lnSpc>
                          <a:spcPts val="1425"/>
                        </a:lnSpc>
                        <a:buNone/>
                      </a:pPr>
                      <a:r>
                        <a:rPr lang="en-IN" sz="1100" b="1" i="0" u="none" strike="noStrike" kern="1200" noProof="0">
                          <a:solidFill>
                            <a:schemeClr val="bg1">
                              <a:lumMod val="76000"/>
                            </a:schemeClr>
                          </a:solidFill>
                          <a:latin typeface="Nunito Sans"/>
                          <a:ea typeface="+mn-ea"/>
                          <a:cs typeface="+mn-cs"/>
                        </a:rPr>
                        <a:t>PTS Task Automation</a:t>
                      </a:r>
                      <a:endParaRPr lang="en-US" sz="1100" b="0" i="0" u="none" strike="noStrike" kern="1200" noProof="0">
                        <a:solidFill>
                          <a:schemeClr val="bg1">
                            <a:lumMod val="76000"/>
                          </a:schemeClr>
                        </a:solidFill>
                        <a:latin typeface="Nunito Sans"/>
                        <a:ea typeface="+mn-ea"/>
                        <a:cs typeface="+mn-cs"/>
                      </a:endParaRPr>
                    </a:p>
                    <a:p>
                      <a:pPr lvl="0">
                        <a:lnSpc>
                          <a:spcPts val="1425"/>
                        </a:lnSpc>
                        <a:buNone/>
                      </a:pPr>
                      <a:r>
                        <a:rPr lang="en-IN" sz="1100" b="1" i="0" u="none" strike="noStrike" kern="1200" noProof="0">
                          <a:solidFill>
                            <a:schemeClr val="bg1">
                              <a:lumMod val="76000"/>
                            </a:schemeClr>
                          </a:solidFill>
                          <a:latin typeface="Nunito Sans"/>
                          <a:ea typeface="+mn-ea"/>
                          <a:cs typeface="+mn-cs"/>
                        </a:rPr>
                        <a:t>– Mobile FM Device (Ad hoc)</a:t>
                      </a:r>
                    </a:p>
                  </a:txBody>
                  <a:tcPr anchor="ctr">
                    <a:lnL w="12700">
                      <a:solidFill>
                        <a:schemeClr val="tx1"/>
                      </a:solidFill>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171450" marR="0" lvl="0" indent="-171450" algn="l" rtl="0">
                        <a:lnSpc>
                          <a:spcPts val="1425"/>
                        </a:lnSpc>
                        <a:buClr>
                          <a:srgbClr val="000000"/>
                        </a:buClr>
                        <a:buSzTx/>
                        <a:buFont typeface="Arial,Sans-Serif"/>
                        <a:buChar char="•"/>
                      </a:pPr>
                      <a:r>
                        <a:rPr lang="en-IN" sz="1100" b="0" i="0" u="none" strike="noStrike" kern="1200" noProof="0">
                          <a:solidFill>
                            <a:schemeClr val="tx1"/>
                          </a:solidFill>
                          <a:effectLst/>
                          <a:latin typeface="Nunito Sans"/>
                          <a:ea typeface="+mn-ea"/>
                          <a:cs typeface="+mn-cs"/>
                        </a:rPr>
                        <a:t>Automation of PTS worklist by integrating data from Mobile FM devices via API. 6 out of 30 manual tasks to be automated (Bag/Cargo offload start; Bag/Cargo offload end; Bag/Cargo loading start; Bag/Cargo loading end; GNS bag offload start; GNS bag offload end)</a:t>
                      </a:r>
                      <a:endParaRPr lang="en-US" sz="1100" b="0" i="0" u="none" strike="noStrike" kern="1200" noProof="0">
                        <a:solidFill>
                          <a:srgbClr val="000000"/>
                        </a:solidFill>
                        <a:effectLst/>
                        <a:latin typeface="Nunito Sans"/>
                        <a:ea typeface="+mn-ea"/>
                        <a:cs typeface="+mn-cs"/>
                      </a:endParaRPr>
                    </a:p>
                    <a:p>
                      <a:pPr marL="171450" marR="0" lvl="0" indent="-171450" algn="l">
                        <a:lnSpc>
                          <a:spcPct val="100000"/>
                        </a:lnSpc>
                        <a:spcBef>
                          <a:spcPts val="0"/>
                        </a:spcBef>
                        <a:spcAft>
                          <a:spcPts val="0"/>
                        </a:spcAft>
                        <a:buClr>
                          <a:srgbClr val="000000"/>
                        </a:buClr>
                        <a:buSzTx/>
                        <a:buFont typeface="Arial"/>
                        <a:buChar char="•"/>
                      </a:pPr>
                      <a:endParaRPr lang="en-GB" sz="1100" b="0" i="0" u="none" strike="noStrike" kern="1200" noProof="0">
                        <a:solidFill>
                          <a:schemeClr val="tx1"/>
                        </a:solidFill>
                        <a:effectLst/>
                        <a:latin typeface="Nunito Sans"/>
                        <a:ea typeface="+mn-ea"/>
                        <a:cs typeface="+mn-cs"/>
                      </a:endParaRPr>
                    </a:p>
                  </a:txBody>
                  <a:tcPr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marL="0" lvl="0" indent="0" algn="l">
                        <a:lnSpc>
                          <a:spcPct val="100000"/>
                        </a:lnSpc>
                        <a:spcBef>
                          <a:spcPts val="0"/>
                        </a:spcBef>
                        <a:spcAft>
                          <a:spcPts val="0"/>
                        </a:spcAft>
                        <a:buNone/>
                      </a:pPr>
                      <a:r>
                        <a:rPr lang="en-IN" sz="1100" b="0" i="0" u="none" strike="noStrike" kern="1200" noProof="0">
                          <a:solidFill>
                            <a:schemeClr val="tx1"/>
                          </a:solidFill>
                          <a:effectLst/>
                          <a:latin typeface="Nunito Sans"/>
                          <a:ea typeface="+mn-ea"/>
                          <a:cs typeface="+mn-cs"/>
                        </a:rPr>
                        <a:t>29th April</a:t>
                      </a:r>
                      <a:endParaRPr lang="en-GB" sz="1100" b="0" i="0" u="none" strike="noStrike" kern="1200" noProof="0">
                        <a:solidFill>
                          <a:srgbClr val="000000"/>
                        </a:solidFill>
                        <a:effectLst/>
                        <a:latin typeface="Nunito Sans"/>
                        <a:ea typeface="+mn-ea"/>
                        <a:cs typeface="+mn-cs"/>
                      </a:endParaRPr>
                    </a:p>
                  </a:txBody>
                  <a:tcPr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marL="0" lvl="0" indent="0" algn="l">
                        <a:lnSpc>
                          <a:spcPct val="100000"/>
                        </a:lnSpc>
                        <a:spcBef>
                          <a:spcPts val="0"/>
                        </a:spcBef>
                        <a:spcAft>
                          <a:spcPts val="0"/>
                        </a:spcAft>
                        <a:buNone/>
                      </a:pPr>
                      <a:r>
                        <a:rPr lang="en-IN" sz="1100" b="0" i="0" u="none" strike="noStrike" kern="1200" noProof="0">
                          <a:solidFill>
                            <a:schemeClr val="tx1"/>
                          </a:solidFill>
                          <a:effectLst/>
                          <a:hlinkClick r:id="rId8"/>
                        </a:rPr>
                        <a:t>E-5456</a:t>
                      </a:r>
                    </a:p>
                    <a:p>
                      <a:pPr marL="0" lvl="0" indent="0" algn="l">
                        <a:lnSpc>
                          <a:spcPct val="100000"/>
                        </a:lnSpc>
                        <a:spcBef>
                          <a:spcPts val="0"/>
                        </a:spcBef>
                        <a:spcAft>
                          <a:spcPts val="0"/>
                        </a:spcAft>
                        <a:buNone/>
                      </a:pPr>
                      <a:r>
                        <a:rPr lang="en-IN" sz="1100" b="0" i="0" u="none" strike="noStrike" kern="1200" noProof="0">
                          <a:solidFill>
                            <a:schemeClr val="tx1"/>
                          </a:solidFill>
                          <a:effectLst/>
                        </a:rPr>
                        <a:t>Descoped due to API availability </a:t>
                      </a:r>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81114052"/>
                  </a:ext>
                </a:extLst>
              </a:tr>
              <a:tr h="507559">
                <a:tc>
                  <a:txBody>
                    <a:bodyPr/>
                    <a:lstStyle/>
                    <a:p>
                      <a:pPr lvl="0">
                        <a:lnSpc>
                          <a:spcPts val="1425"/>
                        </a:lnSpc>
                        <a:buNone/>
                      </a:pPr>
                      <a:r>
                        <a:rPr lang="en-IN" sz="1100" b="1" i="0" u="none" strike="noStrike" kern="1200" noProof="0">
                          <a:solidFill>
                            <a:srgbClr val="0070C0"/>
                          </a:solidFill>
                          <a:latin typeface="Nunito Sans"/>
                          <a:ea typeface="+mn-ea"/>
                          <a:cs typeface="+mn-cs"/>
                        </a:rPr>
                        <a:t>Adhoc – PTS Optimization</a:t>
                      </a:r>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marL="171450" lvl="0" indent="-171450" algn="l">
                        <a:lnSpc>
                          <a:spcPct val="100000"/>
                        </a:lnSpc>
                        <a:spcBef>
                          <a:spcPts val="0"/>
                        </a:spcBef>
                        <a:spcAft>
                          <a:spcPts val="0"/>
                        </a:spcAft>
                        <a:buFont typeface="Arial"/>
                        <a:buChar char="•"/>
                      </a:pPr>
                      <a:r>
                        <a:rPr lang="en-GB" sz="1100" b="0" i="0" u="none" strike="noStrike" kern="1200" noProof="0">
                          <a:solidFill>
                            <a:schemeClr val="tx1"/>
                          </a:solidFill>
                          <a:effectLst/>
                          <a:latin typeface="Nunito Sans"/>
                          <a:ea typeface="+mn-ea"/>
                          <a:cs typeface="+mn-cs"/>
                        </a:rPr>
                        <a:t>Performance Optimization on PTS Detail Module for better user experience</a:t>
                      </a:r>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marL="0" lvl="0" indent="0" algn="l">
                        <a:lnSpc>
                          <a:spcPct val="100000"/>
                        </a:lnSpc>
                        <a:spcBef>
                          <a:spcPts val="0"/>
                        </a:spcBef>
                        <a:spcAft>
                          <a:spcPts val="0"/>
                        </a:spcAft>
                        <a:buNone/>
                      </a:pPr>
                      <a:r>
                        <a:rPr lang="en-IN" sz="1100" b="0" i="0" u="none" strike="noStrike" kern="1200" noProof="0">
                          <a:solidFill>
                            <a:schemeClr val="tx1"/>
                          </a:solidFill>
                          <a:effectLst/>
                          <a:latin typeface="Nunito Sans"/>
                          <a:ea typeface="+mn-ea"/>
                          <a:cs typeface="+mn-cs"/>
                        </a:rPr>
                        <a:t>14-May</a:t>
                      </a:r>
                      <a:endParaRPr lang="en-US" strike="noStrike"/>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marL="0" lvl="0" indent="0" algn="l">
                        <a:lnSpc>
                          <a:spcPct val="100000"/>
                        </a:lnSpc>
                        <a:spcBef>
                          <a:spcPts val="0"/>
                        </a:spcBef>
                        <a:spcAft>
                          <a:spcPts val="0"/>
                        </a:spcAft>
                        <a:buNone/>
                      </a:pPr>
                      <a:r>
                        <a:rPr lang="en-IN" sz="1100" b="0" i="0" u="none" strike="noStrike" kern="1200" noProof="0">
                          <a:solidFill>
                            <a:schemeClr val="tx1"/>
                          </a:solidFill>
                          <a:effectLst/>
                          <a:latin typeface="Nunito Sans"/>
                          <a:hlinkClick r:id="rId9"/>
                        </a:rPr>
                        <a:t>S-6040</a:t>
                      </a:r>
                      <a:endParaRPr lang="en-IN" sz="1100" b="0" i="0" u="none" strike="noStrike" kern="1200" noProof="0">
                        <a:solidFill>
                          <a:schemeClr val="tx1"/>
                        </a:solidFill>
                        <a:effectLst/>
                        <a:latin typeface="Nunito Sans"/>
                      </a:endParaRPr>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93759474"/>
                  </a:ext>
                </a:extLst>
              </a:tr>
              <a:tr h="507559">
                <a:tc>
                  <a:txBody>
                    <a:bodyPr/>
                    <a:lstStyle/>
                    <a:p>
                      <a:pPr lvl="0">
                        <a:lnSpc>
                          <a:spcPts val="1425"/>
                        </a:lnSpc>
                        <a:buNone/>
                      </a:pPr>
                      <a:r>
                        <a:rPr lang="en-IN" sz="1100" b="1" i="0" u="none" strike="noStrike" kern="1200" noProof="0">
                          <a:solidFill>
                            <a:srgbClr val="0070C0"/>
                          </a:solidFill>
                          <a:latin typeface="Nunito Sans"/>
                          <a:ea typeface="+mn-ea"/>
                          <a:cs typeface="+mn-cs"/>
                        </a:rPr>
                        <a:t>Adhoc – Dispatch Optimization</a:t>
                      </a:r>
                      <a:endParaRPr lang="en-US">
                        <a:solidFill>
                          <a:srgbClr val="0070C0"/>
                        </a:solidFill>
                      </a:endParaRP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marL="171450" lvl="0" indent="-171450" algn="l">
                        <a:lnSpc>
                          <a:spcPct val="100000"/>
                        </a:lnSpc>
                        <a:spcBef>
                          <a:spcPts val="0"/>
                        </a:spcBef>
                        <a:spcAft>
                          <a:spcPts val="0"/>
                        </a:spcAft>
                        <a:buFont typeface="Arial"/>
                        <a:buChar char="•"/>
                      </a:pPr>
                      <a:r>
                        <a:rPr lang="en-GB" sz="1100" b="0" i="0" u="none" strike="noStrike" kern="1200" noProof="0">
                          <a:solidFill>
                            <a:schemeClr val="tx1"/>
                          </a:solidFill>
                          <a:effectLst/>
                          <a:latin typeface="Nunito Sans"/>
                          <a:ea typeface="+mn-ea"/>
                          <a:cs typeface="+mn-cs"/>
                        </a:rPr>
                        <a:t>Performance Optimization on Dispatch Module for better user experience</a:t>
                      </a:r>
                      <a:endParaRPr lang="en-GB" sz="1100" b="0" i="0" u="none" strike="noStrike" kern="1200" noProof="0" err="1">
                        <a:solidFill>
                          <a:schemeClr val="tx1"/>
                        </a:solidFill>
                        <a:effectLst/>
                        <a:latin typeface="Nunito Sans"/>
                        <a:ea typeface="+mn-ea"/>
                        <a:cs typeface="+mn-cs"/>
                      </a:endParaRP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lvl="0" algn="l">
                        <a:lnSpc>
                          <a:spcPct val="100000"/>
                        </a:lnSpc>
                        <a:spcBef>
                          <a:spcPts val="0"/>
                        </a:spcBef>
                        <a:spcAft>
                          <a:spcPts val="0"/>
                        </a:spcAft>
                        <a:buNone/>
                      </a:pPr>
                      <a:r>
                        <a:rPr lang="en-IN" sz="1100" b="0" i="0" u="none" strike="noStrike" kern="1200" noProof="0">
                          <a:solidFill>
                            <a:schemeClr val="tx1"/>
                          </a:solidFill>
                          <a:effectLst/>
                          <a:latin typeface="Nunito Sans"/>
                          <a:ea typeface="+mn-ea"/>
                          <a:cs typeface="+mn-cs"/>
                        </a:rPr>
                        <a:t>14-May</a:t>
                      </a:r>
                      <a:endParaRPr lang="en-IN" sz="1100" b="0" i="0" u="none" strike="noStrike" kern="1200" noProof="0">
                        <a:solidFill>
                          <a:srgbClr val="000000"/>
                        </a:solidFill>
                        <a:effectLst/>
                        <a:latin typeface="Nunito Sans"/>
                        <a:ea typeface="+mn-ea"/>
                        <a:cs typeface="+mn-cs"/>
                      </a:endParaRP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marL="0" lvl="0" indent="0" algn="l">
                        <a:lnSpc>
                          <a:spcPct val="100000"/>
                        </a:lnSpc>
                        <a:spcBef>
                          <a:spcPts val="0"/>
                        </a:spcBef>
                        <a:spcAft>
                          <a:spcPts val="0"/>
                        </a:spcAft>
                        <a:buNone/>
                      </a:pPr>
                      <a:r>
                        <a:rPr lang="en-IN" sz="1100" b="0" i="0" u="none" strike="noStrike" kern="1200" noProof="0">
                          <a:solidFill>
                            <a:schemeClr val="tx1"/>
                          </a:solidFill>
                          <a:effectLst/>
                          <a:latin typeface="Nunito Sans"/>
                          <a:hlinkClick r:id="rId10"/>
                        </a:rPr>
                        <a:t>S-6028</a:t>
                      </a:r>
                      <a:endParaRPr lang="en-IN" sz="1100" b="0" i="0" u="none" strike="noStrike" kern="1200" noProof="0">
                        <a:solidFill>
                          <a:schemeClr val="tx1"/>
                        </a:solidFill>
                        <a:effectLst/>
                        <a:latin typeface="Nunito Sans"/>
                      </a:endParaRP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579772535"/>
                  </a:ext>
                </a:extLst>
              </a:tr>
            </a:tbl>
          </a:graphicData>
        </a:graphic>
      </p:graphicFrame>
      <p:sp>
        <p:nvSpPr>
          <p:cNvPr id="27" name="TextBox 15">
            <a:extLst>
              <a:ext uri="{FF2B5EF4-FFF2-40B4-BE49-F238E27FC236}">
                <a16:creationId xmlns:a16="http://schemas.microsoft.com/office/drawing/2014/main" id="{E83F3330-F524-566A-CE3E-4A19F96B844D}"/>
              </a:ext>
            </a:extLst>
          </p:cNvPr>
          <p:cNvSpPr txBox="1"/>
          <p:nvPr/>
        </p:nvSpPr>
        <p:spPr>
          <a:xfrm>
            <a:off x="398384" y="817274"/>
            <a:ext cx="417102" cy="253916"/>
          </a:xfrm>
          <a:prstGeom prst="rect">
            <a:avLst/>
          </a:prstGeom>
          <a:noFill/>
        </p:spPr>
        <p:txBody>
          <a:bodyPr wrap="non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050" b="1">
                <a:solidFill>
                  <a:schemeClr val="bg1"/>
                </a:solidFill>
                <a:latin typeface="Montserrat Light"/>
              </a:rPr>
              <a:t>Jan</a:t>
            </a:r>
            <a:endParaRPr lang="en-IN" sz="1050" b="1">
              <a:solidFill>
                <a:schemeClr val="bg1"/>
              </a:solidFill>
              <a:latin typeface="Montserrat Light" pitchFamily="2" charset="0"/>
            </a:endParaRPr>
          </a:p>
        </p:txBody>
      </p:sp>
      <p:sp>
        <p:nvSpPr>
          <p:cNvPr id="29" name="Rectangle 28">
            <a:extLst>
              <a:ext uri="{FF2B5EF4-FFF2-40B4-BE49-F238E27FC236}">
                <a16:creationId xmlns:a16="http://schemas.microsoft.com/office/drawing/2014/main" id="{EAFEC5B7-1AD7-87A4-540A-1442581434AC}"/>
              </a:ext>
            </a:extLst>
          </p:cNvPr>
          <p:cNvSpPr/>
          <p:nvPr/>
        </p:nvSpPr>
        <p:spPr>
          <a:xfrm>
            <a:off x="-4474" y="793559"/>
            <a:ext cx="963143" cy="4119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IN" sz="1400" b="1">
                <a:latin typeface="AirIndia"/>
              </a:rPr>
              <a:t>Apr ‘26</a:t>
            </a:r>
          </a:p>
        </p:txBody>
      </p:sp>
      <p:pic>
        <p:nvPicPr>
          <p:cNvPr id="34" name="Picture 33">
            <a:extLst>
              <a:ext uri="{FF2B5EF4-FFF2-40B4-BE49-F238E27FC236}">
                <a16:creationId xmlns:a16="http://schemas.microsoft.com/office/drawing/2014/main" id="{26D9FEDD-CE58-67C1-6139-0C064C5282BF}"/>
              </a:ext>
            </a:extLst>
          </p:cNvPr>
          <p:cNvPicPr>
            <a:picLocks noChangeAspect="1"/>
          </p:cNvPicPr>
          <p:nvPr/>
        </p:nvPicPr>
        <p:blipFill>
          <a:blip r:embed="rId11"/>
          <a:stretch>
            <a:fillRect/>
          </a:stretch>
        </p:blipFill>
        <p:spPr>
          <a:xfrm>
            <a:off x="306161" y="6365775"/>
            <a:ext cx="8248650" cy="323850"/>
          </a:xfrm>
          <a:prstGeom prst="rect">
            <a:avLst/>
          </a:prstGeom>
        </p:spPr>
      </p:pic>
    </p:spTree>
    <p:extLst>
      <p:ext uri="{BB962C8B-B14F-4D97-AF65-F5344CB8AC3E}">
        <p14:creationId xmlns:p14="http://schemas.microsoft.com/office/powerpoint/2010/main" val="3845482089"/>
      </p:ext>
    </p:extLst>
  </p:cSld>
  <p:clrMapOvr>
    <a:masterClrMapping/>
  </p:clrMapOvr>
  <p:extLst>
    <p:ext uri="{6950BFC3-D8DA-4A85-94F7-54DA5524770B}">
      <p188:commentRel xmlns:p188="http://schemas.microsoft.com/office/powerpoint/2018/8/main" r:id="rId3"/>
    </p:ext>
  </p:extLs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E04390-F25A-9371-44B7-8A179AF82C8C}"/>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D92452C-6506-86E8-19E9-E56C5B02A06B}"/>
              </a:ext>
            </a:extLst>
          </p:cNvPr>
          <p:cNvSpPr>
            <a:spLocks noGrp="1"/>
          </p:cNvSpPr>
          <p:nvPr>
            <p:ph type="sldNum" sz="quarter" idx="12"/>
          </p:nvPr>
        </p:nvSpPr>
        <p:spPr/>
        <p:txBody>
          <a:bodyPr/>
          <a:lstStyle/>
          <a:p>
            <a:fld id="{3A41A254-7326-714E-AF55-4C213D6394DE}" type="slidenum">
              <a:rPr lang="en-US" sz="900" smtClean="0">
                <a:latin typeface="Montserrat Light" pitchFamily="2" charset="0"/>
              </a:rPr>
              <a:pPr/>
              <a:t>71</a:t>
            </a:fld>
            <a:endParaRPr lang="en-US" sz="900">
              <a:latin typeface="Montserrat Light" pitchFamily="2" charset="0"/>
            </a:endParaRPr>
          </a:p>
        </p:txBody>
      </p:sp>
      <p:sp>
        <p:nvSpPr>
          <p:cNvPr id="6" name="Title 11">
            <a:extLst>
              <a:ext uri="{FF2B5EF4-FFF2-40B4-BE49-F238E27FC236}">
                <a16:creationId xmlns:a16="http://schemas.microsoft.com/office/drawing/2014/main" id="{3BCC1C8A-BF91-AB2B-A06F-6FB664758AFD}"/>
              </a:ext>
            </a:extLst>
          </p:cNvPr>
          <p:cNvSpPr txBox="1">
            <a:spLocks/>
          </p:cNvSpPr>
          <p:nvPr/>
        </p:nvSpPr>
        <p:spPr>
          <a:xfrm>
            <a:off x="137786" y="8259"/>
            <a:ext cx="8420100" cy="396638"/>
          </a:xfrm>
          <a:prstGeom prst="rect">
            <a:avLst/>
          </a:prstGeom>
        </p:spPr>
        <p:txBody>
          <a:bodyPr lIns="91440" tIns="45720" rIns="91440" bIns="45720" anchor="t">
            <a:noAutofit/>
          </a:bodyPr>
          <a:lstStyle>
            <a:lvl1pPr algn="l" defTabSz="914400" rtl="0" eaLnBrk="1" latinLnBrk="0" hangingPunct="1">
              <a:lnSpc>
                <a:spcPct val="90000"/>
              </a:lnSpc>
              <a:spcBef>
                <a:spcPct val="0"/>
              </a:spcBef>
              <a:buNone/>
              <a:defRPr sz="4400" b="1" i="0" kern="1200">
                <a:solidFill>
                  <a:schemeClr val="tx1"/>
                </a:solidFill>
                <a:latin typeface="AirIndia" pitchFamily="82" charset="77"/>
                <a:ea typeface="+mj-ea"/>
                <a:cs typeface="+mj-cs"/>
              </a:defRPr>
            </a:lvl1pPr>
          </a:lstStyle>
          <a:p>
            <a:r>
              <a:rPr lang="en-US" sz="1800">
                <a:solidFill>
                  <a:srgbClr val="C00000"/>
                </a:solidFill>
                <a:latin typeface="AirIndia"/>
              </a:rPr>
              <a:t>AI Smart - FY27 Q1  Release Plan </a:t>
            </a:r>
            <a:endParaRPr lang="en-US" sz="1800" b="0">
              <a:solidFill>
                <a:srgbClr val="C00000"/>
              </a:solidFill>
              <a:latin typeface="AirIndia"/>
            </a:endParaRPr>
          </a:p>
        </p:txBody>
      </p:sp>
      <p:graphicFrame>
        <p:nvGraphicFramePr>
          <p:cNvPr id="4" name="Table 3">
            <a:extLst>
              <a:ext uri="{FF2B5EF4-FFF2-40B4-BE49-F238E27FC236}">
                <a16:creationId xmlns:a16="http://schemas.microsoft.com/office/drawing/2014/main" id="{75325F81-6FC0-830B-19FB-2038E8405A42}"/>
              </a:ext>
            </a:extLst>
          </p:cNvPr>
          <p:cNvGraphicFramePr>
            <a:graphicFrameLocks noGrp="1"/>
          </p:cNvGraphicFramePr>
          <p:nvPr>
            <p:extLst>
              <p:ext uri="{D42A27DB-BD31-4B8C-83A1-F6EECF244321}">
                <p14:modId xmlns:p14="http://schemas.microsoft.com/office/powerpoint/2010/main" val="1674559819"/>
              </p:ext>
            </p:extLst>
          </p:nvPr>
        </p:nvGraphicFramePr>
        <p:xfrm>
          <a:off x="1075150" y="344466"/>
          <a:ext cx="10303336" cy="5977390"/>
        </p:xfrm>
        <a:graphic>
          <a:graphicData uri="http://schemas.openxmlformats.org/drawingml/2006/table">
            <a:tbl>
              <a:tblPr firstRow="1" bandRow="1">
                <a:tableStyleId>{5C22544A-7EE6-4342-B048-85BDC9FD1C3A}</a:tableStyleId>
              </a:tblPr>
              <a:tblGrid>
                <a:gridCol w="1514971">
                  <a:extLst>
                    <a:ext uri="{9D8B030D-6E8A-4147-A177-3AD203B41FA5}">
                      <a16:colId xmlns:a16="http://schemas.microsoft.com/office/drawing/2014/main" val="1118630623"/>
                    </a:ext>
                  </a:extLst>
                </a:gridCol>
                <a:gridCol w="6792004">
                  <a:extLst>
                    <a:ext uri="{9D8B030D-6E8A-4147-A177-3AD203B41FA5}">
                      <a16:colId xmlns:a16="http://schemas.microsoft.com/office/drawing/2014/main" val="99588705"/>
                    </a:ext>
                  </a:extLst>
                </a:gridCol>
                <a:gridCol w="1159706">
                  <a:extLst>
                    <a:ext uri="{9D8B030D-6E8A-4147-A177-3AD203B41FA5}">
                      <a16:colId xmlns:a16="http://schemas.microsoft.com/office/drawing/2014/main" val="1159714911"/>
                    </a:ext>
                  </a:extLst>
                </a:gridCol>
                <a:gridCol w="836655">
                  <a:extLst>
                    <a:ext uri="{9D8B030D-6E8A-4147-A177-3AD203B41FA5}">
                      <a16:colId xmlns:a16="http://schemas.microsoft.com/office/drawing/2014/main" val="1482799619"/>
                    </a:ext>
                  </a:extLst>
                </a:gridCol>
              </a:tblGrid>
              <a:tr h="286112">
                <a:tc>
                  <a:txBody>
                    <a:bodyPr/>
                    <a:lstStyle/>
                    <a:p>
                      <a:pPr marL="0" lvl="0" indent="0" algn="ctr" defTabSz="914400">
                        <a:lnSpc>
                          <a:spcPct val="100000"/>
                        </a:lnSpc>
                        <a:buNone/>
                      </a:pPr>
                      <a:r>
                        <a:rPr lang="en-IN" sz="1100" b="1" i="0" u="none" strike="noStrike" kern="1200" noProof="0">
                          <a:solidFill>
                            <a:schemeClr val="bg1"/>
                          </a:solidFill>
                          <a:latin typeface="Avenir Next LT Pro Light"/>
                          <a:ea typeface="+mn-ea"/>
                          <a:cs typeface="+mn-cs"/>
                        </a:rPr>
                        <a:t>Projects</a:t>
                      </a:r>
                      <a:endParaRPr lang="en-US"/>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12700" cap="flat" cmpd="sng" algn="ctr">
                      <a:solidFill>
                        <a:schemeClr val="tx1"/>
                      </a:solidFill>
                      <a:prstDash val="solid"/>
                      <a:round/>
                      <a:headEnd type="none" w="med" len="med"/>
                      <a:tailEnd type="none" w="med" len="med"/>
                    </a:lnB>
                    <a:solidFill>
                      <a:srgbClr val="002060"/>
                    </a:solidFill>
                  </a:tcPr>
                </a:tc>
                <a:tc>
                  <a:txBody>
                    <a:bodyPr/>
                    <a:lstStyle/>
                    <a:p>
                      <a:pPr lvl="0" algn="ctr">
                        <a:lnSpc>
                          <a:spcPct val="100000"/>
                        </a:lnSpc>
                        <a:spcBef>
                          <a:spcPts val="0"/>
                        </a:spcBef>
                        <a:spcAft>
                          <a:spcPts val="0"/>
                        </a:spcAft>
                        <a:buNone/>
                      </a:pPr>
                      <a:r>
                        <a:rPr lang="en-IN" sz="1100" b="1" i="0" u="none" strike="noStrike" kern="1200" noProof="0">
                          <a:solidFill>
                            <a:srgbClr val="FFFFFF"/>
                          </a:solidFill>
                          <a:latin typeface="Nunito Sans"/>
                          <a:ea typeface="+mn-ea"/>
                          <a:cs typeface="+mn-cs"/>
                        </a:rPr>
                        <a:t>Value Justification/Realization</a:t>
                      </a:r>
                    </a:p>
                    <a:p>
                      <a:pPr marL="0" lvl="0" indent="0" algn="l" defTabSz="914400">
                        <a:buFont typeface="Arial" panose="020B0604020202020204" pitchFamily="34" charset="0"/>
                        <a:buNone/>
                      </a:pPr>
                      <a:endParaRPr lang="en-IN" sz="1050" kern="1200">
                        <a:solidFill>
                          <a:schemeClr val="bg1"/>
                        </a:solidFill>
                        <a:latin typeface="Avenir Next LT Pro Ligh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a:txBody>
                    <a:bodyPr/>
                    <a:lstStyle/>
                    <a:p>
                      <a:pPr marL="0" lvl="0" indent="0" algn="l">
                        <a:buNone/>
                      </a:pPr>
                      <a:r>
                        <a:rPr lang="en-IN" sz="1050" kern="1200">
                          <a:solidFill>
                            <a:schemeClr val="bg1"/>
                          </a:solidFill>
                          <a:latin typeface="Avenir Next LT Pro Light"/>
                          <a:ea typeface="+mn-ea"/>
                          <a:cs typeface="+mn-cs"/>
                        </a:rPr>
                        <a:t>Go Live Date</a:t>
                      </a: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12700">
                      <a:solidFill>
                        <a:schemeClr val="tx1"/>
                      </a:solidFill>
                    </a:lnB>
                    <a:solidFill>
                      <a:srgbClr val="002060"/>
                    </a:solidFill>
                  </a:tcPr>
                </a:tc>
                <a:tc>
                  <a:txBody>
                    <a:bodyPr/>
                    <a:lstStyle/>
                    <a:p>
                      <a:pPr marL="0" lvl="0" indent="0" algn="l">
                        <a:buNone/>
                      </a:pPr>
                      <a:r>
                        <a:rPr lang="en-IN" sz="1050" kern="1200">
                          <a:solidFill>
                            <a:schemeClr val="bg1"/>
                          </a:solidFill>
                          <a:latin typeface="Avenir Next LT Pro Light"/>
                          <a:ea typeface="+mn-ea"/>
                          <a:cs typeface="+mn-cs"/>
                        </a:rPr>
                        <a:t>JIRA</a:t>
                      </a: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12700">
                      <a:solidFill>
                        <a:schemeClr val="tx1"/>
                      </a:solidFill>
                    </a:lnB>
                    <a:solidFill>
                      <a:srgbClr val="002060"/>
                    </a:solidFill>
                  </a:tcPr>
                </a:tc>
                <a:extLst>
                  <a:ext uri="{0D108BD9-81ED-4DB2-BD59-A6C34878D82A}">
                    <a16:rowId xmlns:a16="http://schemas.microsoft.com/office/drawing/2014/main" val="844450115"/>
                  </a:ext>
                </a:extLst>
              </a:tr>
              <a:tr h="507559">
                <a:tc>
                  <a:txBody>
                    <a:bodyPr/>
                    <a:lstStyle/>
                    <a:p>
                      <a:pPr lvl="0" algn="l">
                        <a:lnSpc>
                          <a:spcPct val="100000"/>
                        </a:lnSpc>
                        <a:spcBef>
                          <a:spcPts val="0"/>
                        </a:spcBef>
                        <a:spcAft>
                          <a:spcPts val="0"/>
                        </a:spcAft>
                        <a:buNone/>
                      </a:pPr>
                      <a:r>
                        <a:rPr lang="en-IN" sz="1100" b="1" i="0" u="none" strike="noStrike" kern="1200" noProof="0">
                          <a:solidFill>
                            <a:srgbClr val="CECECE"/>
                          </a:solidFill>
                          <a:latin typeface="Nunito Sans"/>
                          <a:ea typeface="+mn-ea"/>
                          <a:cs typeface="+mn-cs"/>
                        </a:rPr>
                        <a:t>PTS Task Enhancement – PRS Devices</a:t>
                      </a:r>
                      <a:endParaRPr lang="en-IN" sz="1100" b="0" i="0" u="none" strike="noStrike" kern="1200" noProof="0">
                        <a:solidFill>
                          <a:srgbClr val="CECECE"/>
                        </a:solidFill>
                        <a:latin typeface="Nunito Sans"/>
                        <a:ea typeface="+mn-ea"/>
                        <a:cs typeface="+mn-cs"/>
                      </a:endParaRPr>
                    </a:p>
                  </a:txBody>
                  <a:tcPr anchor="ctr">
                    <a:lnL w="12700">
                      <a:solidFill>
                        <a:schemeClr val="tx1"/>
                      </a:solidFill>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171450" marR="0" lvl="0" indent="-171450" algn="l" rtl="0">
                        <a:lnSpc>
                          <a:spcPts val="1425"/>
                        </a:lnSpc>
                        <a:buClr>
                          <a:srgbClr val="000000"/>
                        </a:buClr>
                        <a:buSzTx/>
                        <a:buFont typeface="Arial,Sans-Serif"/>
                        <a:buChar char="•"/>
                      </a:pPr>
                      <a:r>
                        <a:rPr lang="en-IN" sz="1100" b="0" i="0" u="none" strike="noStrike" kern="1200" noProof="0">
                          <a:solidFill>
                            <a:schemeClr val="tx1"/>
                          </a:solidFill>
                          <a:effectLst/>
                          <a:latin typeface="Nunito Sans"/>
                          <a:ea typeface="+mn-ea"/>
                          <a:cs typeface="+mn-cs"/>
                        </a:rPr>
                        <a:t>Automation of PTS worklist by integrating data from PRS devices. 12 manual tasks to be automated. (Security Check Start; Security Check End; Crew reported at aircraft; Catering Start; Catering End; Pilots Onboard, etc.)</a:t>
                      </a:r>
                      <a:endParaRPr lang="en-US" sz="1100" b="0" i="0" u="none" strike="noStrike" kern="1200" noProof="0">
                        <a:solidFill>
                          <a:srgbClr val="000000"/>
                        </a:solidFill>
                        <a:effectLst/>
                        <a:latin typeface="Nunito Sans"/>
                        <a:ea typeface="+mn-ea"/>
                        <a:cs typeface="+mn-cs"/>
                      </a:endParaRPr>
                    </a:p>
                  </a:txBody>
                  <a:tcPr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marL="0" lvl="0" indent="0" algn="l">
                        <a:lnSpc>
                          <a:spcPts val="1425"/>
                        </a:lnSpc>
                        <a:buNone/>
                      </a:pPr>
                      <a:r>
                        <a:rPr lang="en-US" sz="1100" b="0" i="0" u="none" strike="noStrike" kern="1200" noProof="0">
                          <a:solidFill>
                            <a:srgbClr val="000000"/>
                          </a:solidFill>
                          <a:effectLst/>
                          <a:latin typeface="Nunito Sans"/>
                          <a:ea typeface="+mn-ea"/>
                          <a:cs typeface="+mn-cs"/>
                        </a:rPr>
                        <a:t>Descoped due to API unavailability</a:t>
                      </a:r>
                    </a:p>
                  </a:txBody>
                  <a:tcPr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marL="0" lvl="0" indent="0" algn="l">
                        <a:lnSpc>
                          <a:spcPts val="1425"/>
                        </a:lnSpc>
                        <a:buNone/>
                      </a:pPr>
                      <a:r>
                        <a:rPr lang="en-US" sz="1100" b="0" i="0" u="none" strike="noStrike" kern="1200" noProof="0">
                          <a:solidFill>
                            <a:srgbClr val="000000"/>
                          </a:solidFill>
                          <a:effectLst/>
                          <a:hlinkClick r:id="rId3"/>
                        </a:rPr>
                        <a:t>E-6093</a:t>
                      </a:r>
                      <a:endParaRPr lang="en-US" sz="1100" b="0" i="0" u="none" strike="noStrike" kern="1200" noProof="0">
                        <a:solidFill>
                          <a:srgbClr val="000000"/>
                        </a:solidFill>
                        <a:effectLst/>
                      </a:endParaRP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3951168155"/>
                  </a:ext>
                </a:extLst>
              </a:tr>
              <a:tr h="507559">
                <a:tc>
                  <a:txBody>
                    <a:bodyPr/>
                    <a:lstStyle/>
                    <a:p>
                      <a:pPr lvl="0" algn="l">
                        <a:lnSpc>
                          <a:spcPct val="100000"/>
                        </a:lnSpc>
                        <a:spcBef>
                          <a:spcPts val="0"/>
                        </a:spcBef>
                        <a:spcAft>
                          <a:spcPts val="0"/>
                        </a:spcAft>
                        <a:buNone/>
                      </a:pPr>
                      <a:r>
                        <a:rPr lang="en-US" sz="1100" b="1" i="0" u="none" strike="noStrike" kern="1200" noProof="0">
                          <a:solidFill>
                            <a:srgbClr val="CECECE"/>
                          </a:solidFill>
                          <a:latin typeface="Nunito Sans"/>
                          <a:ea typeface="+mn-ea"/>
                          <a:cs typeface="+mn-cs"/>
                        </a:rPr>
                        <a:t>Auto allocation of Dispatchers</a:t>
                      </a:r>
                      <a:endParaRPr lang="en-IN" sz="1100" b="0" i="0" u="none" strike="noStrike" kern="1200" noProof="0">
                        <a:solidFill>
                          <a:srgbClr val="CECECE"/>
                        </a:solidFill>
                        <a:latin typeface="Nunito Sans"/>
                        <a:ea typeface="+mn-ea"/>
                        <a:cs typeface="+mn-cs"/>
                      </a:endParaRPr>
                    </a:p>
                  </a:txBody>
                  <a:tcPr anchor="ctr">
                    <a:lnL w="12700">
                      <a:solidFill>
                        <a:schemeClr val="tx1"/>
                      </a:solidFill>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171450" marR="0" lvl="0" indent="-171450" algn="l" rtl="0">
                        <a:lnSpc>
                          <a:spcPts val="1425"/>
                        </a:lnSpc>
                        <a:spcBef>
                          <a:spcPts val="0"/>
                        </a:spcBef>
                        <a:spcAft>
                          <a:spcPts val="0"/>
                        </a:spcAft>
                        <a:buClr>
                          <a:srgbClr val="000000"/>
                        </a:buClr>
                        <a:buSzTx/>
                        <a:buFont typeface="Arial,Sans-Serif"/>
                        <a:buChar char="•"/>
                      </a:pPr>
                      <a:r>
                        <a:rPr lang="en-IN" sz="1100" b="0" i="0" u="none" strike="noStrike" kern="1200" noProof="0">
                          <a:solidFill>
                            <a:schemeClr val="tx1"/>
                          </a:solidFill>
                          <a:effectLst/>
                          <a:latin typeface="Nunito Sans"/>
                          <a:ea typeface="+mn-ea"/>
                          <a:cs typeface="+mn-cs"/>
                        </a:rPr>
                        <a:t>Allocation of dispatchers across the flights based on rules defined</a:t>
                      </a:r>
                      <a:endParaRPr lang="en-US" sz="1100" b="0" i="0" u="none" strike="noStrike" kern="1200" noProof="0">
                        <a:solidFill>
                          <a:srgbClr val="000000"/>
                        </a:solidFill>
                        <a:effectLst/>
                        <a:latin typeface="Nunito Sans"/>
                        <a:ea typeface="+mn-ea"/>
                        <a:cs typeface="+mn-cs"/>
                      </a:endParaRPr>
                    </a:p>
                  </a:txBody>
                  <a:tcPr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marL="0" lvl="0" indent="0" algn="l">
                        <a:lnSpc>
                          <a:spcPts val="1425"/>
                        </a:lnSpc>
                        <a:spcBef>
                          <a:spcPts val="0"/>
                        </a:spcBef>
                        <a:spcAft>
                          <a:spcPts val="0"/>
                        </a:spcAft>
                        <a:buNone/>
                      </a:pPr>
                      <a:r>
                        <a:rPr lang="en-US" sz="1100" b="0" i="0" u="none" strike="noStrike" kern="1200" noProof="0">
                          <a:solidFill>
                            <a:srgbClr val="000000"/>
                          </a:solidFill>
                          <a:effectLst/>
                          <a:latin typeface="Nunito Sans"/>
                          <a:ea typeface="+mn-ea"/>
                          <a:cs typeface="+mn-cs"/>
                        </a:rPr>
                        <a:t>Descoped from Business</a:t>
                      </a:r>
                      <a:endParaRPr lang="en-IN" sz="1100" b="0" i="0" u="none" strike="noStrike" kern="1200" noProof="0">
                        <a:solidFill>
                          <a:srgbClr val="000000"/>
                        </a:solidFill>
                        <a:effectLst/>
                        <a:latin typeface="Nunito Sans"/>
                        <a:ea typeface="+mn-ea"/>
                        <a:cs typeface="+mn-cs"/>
                      </a:endParaRPr>
                    </a:p>
                  </a:txBody>
                  <a:tcPr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marL="0" lvl="0" indent="0" algn="l">
                        <a:lnSpc>
                          <a:spcPts val="1425"/>
                        </a:lnSpc>
                        <a:spcBef>
                          <a:spcPts val="0"/>
                        </a:spcBef>
                        <a:spcAft>
                          <a:spcPts val="0"/>
                        </a:spcAft>
                        <a:buNone/>
                      </a:pPr>
                      <a:r>
                        <a:rPr lang="en-US" sz="1100" b="0" i="0" u="none" strike="noStrike" kern="1200" noProof="0">
                          <a:solidFill>
                            <a:srgbClr val="000000"/>
                          </a:solidFill>
                          <a:effectLst/>
                          <a:hlinkClick r:id="rId4"/>
                        </a:rPr>
                        <a:t>E-6096</a:t>
                      </a:r>
                      <a:endParaRPr lang="en-US" sz="1100" b="0" i="0" u="none" strike="noStrike" kern="1200" noProof="0">
                        <a:solidFill>
                          <a:srgbClr val="000000"/>
                        </a:solidFill>
                        <a:effectLst/>
                      </a:endParaRP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3158025952"/>
                  </a:ext>
                </a:extLst>
              </a:tr>
              <a:tr h="507559">
                <a:tc>
                  <a:txBody>
                    <a:bodyPr/>
                    <a:lstStyle/>
                    <a:p>
                      <a:pPr lvl="0" algn="l">
                        <a:lnSpc>
                          <a:spcPct val="100000"/>
                        </a:lnSpc>
                        <a:spcBef>
                          <a:spcPts val="0"/>
                        </a:spcBef>
                        <a:spcAft>
                          <a:spcPts val="0"/>
                        </a:spcAft>
                        <a:buNone/>
                      </a:pPr>
                      <a:r>
                        <a:rPr lang="en-US" sz="1100" b="1" i="0" u="none" strike="noStrike" kern="1200" noProof="0">
                          <a:solidFill>
                            <a:srgbClr val="CECECE"/>
                          </a:solidFill>
                          <a:latin typeface="Nunito Sans"/>
                          <a:ea typeface="+mn-ea"/>
                          <a:cs typeface="+mn-cs"/>
                        </a:rPr>
                        <a:t>Tail approval - Country and PBCS</a:t>
                      </a:r>
                      <a:endParaRPr lang="en-US" sz="1100" b="1" i="0" u="none" strike="noStrike" kern="1200">
                        <a:solidFill>
                          <a:srgbClr val="CECECE"/>
                        </a:solidFill>
                        <a:latin typeface="Nunito Sans"/>
                        <a:ea typeface="+mn-ea"/>
                        <a:cs typeface="+mn-cs"/>
                      </a:endParaRPr>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marL="171450" lvl="0" indent="-171450" algn="l">
                        <a:lnSpc>
                          <a:spcPct val="100000"/>
                        </a:lnSpc>
                        <a:spcBef>
                          <a:spcPts val="0"/>
                        </a:spcBef>
                        <a:spcAft>
                          <a:spcPts val="0"/>
                        </a:spcAft>
                        <a:buFont typeface="Arial"/>
                        <a:buChar char="•"/>
                      </a:pPr>
                      <a:r>
                        <a:rPr lang="en-IN" sz="1100" b="0" i="0" u="none" strike="noStrike" kern="1200" noProof="0">
                          <a:solidFill>
                            <a:schemeClr val="tx1"/>
                          </a:solidFill>
                          <a:effectLst/>
                          <a:latin typeface="Segoe UI"/>
                          <a:ea typeface="+mn-ea"/>
                          <a:cs typeface="Segoe UI"/>
                        </a:rPr>
                        <a:t>Prevent dispatch of unauthorized aircraft by validating tail-wise country approvals and ocean (PBCS) clearances</a:t>
                      </a:r>
                      <a:endParaRPr lang="en-US" b="0"/>
                    </a:p>
                  </a:txBody>
                  <a:tcPr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marL="0" lvl="0" indent="0" algn="l">
                        <a:lnSpc>
                          <a:spcPts val="1425"/>
                        </a:lnSpc>
                        <a:spcBef>
                          <a:spcPts val="0"/>
                        </a:spcBef>
                        <a:spcAft>
                          <a:spcPts val="0"/>
                        </a:spcAft>
                        <a:buNone/>
                      </a:pPr>
                      <a:r>
                        <a:rPr lang="en-US" sz="1100" b="0" i="0" u="none" strike="noStrike" kern="1200" noProof="0">
                          <a:solidFill>
                            <a:srgbClr val="000000"/>
                          </a:solidFill>
                          <a:effectLst/>
                          <a:latin typeface="Nunito Sans"/>
                          <a:ea typeface="+mn-ea"/>
                          <a:cs typeface="+mn-cs"/>
                        </a:rPr>
                        <a:t>BRD under review</a:t>
                      </a:r>
                      <a:endParaRPr lang="en-IN" sz="1100" b="0" i="0" u="none" strike="noStrike" kern="1200" noProof="0">
                        <a:solidFill>
                          <a:srgbClr val="000000"/>
                        </a:solidFill>
                        <a:effectLst/>
                        <a:latin typeface="Nunito Sans"/>
                        <a:ea typeface="+mn-ea"/>
                        <a:cs typeface="+mn-cs"/>
                      </a:endParaRPr>
                    </a:p>
                    <a:p>
                      <a:pPr marL="0" lvl="0" indent="0" algn="l">
                        <a:lnSpc>
                          <a:spcPts val="1425"/>
                        </a:lnSpc>
                        <a:spcBef>
                          <a:spcPts val="0"/>
                        </a:spcBef>
                        <a:spcAft>
                          <a:spcPts val="0"/>
                        </a:spcAft>
                        <a:buNone/>
                      </a:pPr>
                      <a:endParaRPr lang="en-IN" sz="1100" b="0" i="0" u="none" strike="noStrike" kern="1200" noProof="0">
                        <a:solidFill>
                          <a:schemeClr val="tx1"/>
                        </a:solidFill>
                        <a:effectLst/>
                        <a:latin typeface="Nunito Sans"/>
                        <a:ea typeface="+mn-ea"/>
                        <a:cs typeface="+mn-cs"/>
                      </a:endParaRPr>
                    </a:p>
                  </a:txBody>
                  <a:tcPr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marL="0" lvl="0" indent="0" algn="l">
                        <a:lnSpc>
                          <a:spcPts val="1425"/>
                        </a:lnSpc>
                        <a:spcBef>
                          <a:spcPts val="0"/>
                        </a:spcBef>
                        <a:spcAft>
                          <a:spcPts val="0"/>
                        </a:spcAft>
                        <a:buNone/>
                      </a:pPr>
                      <a:r>
                        <a:rPr lang="en-IN" sz="1100" b="0" i="0" u="none" strike="noStrike" kern="1200" noProof="0">
                          <a:solidFill>
                            <a:schemeClr val="tx1"/>
                          </a:solidFill>
                          <a:effectLst/>
                          <a:hlinkClick r:id="rId5"/>
                        </a:rPr>
                        <a:t>Link</a:t>
                      </a:r>
                      <a:endParaRPr lang="en-IN" sz="1100" b="0" i="0" u="none" strike="noStrike" kern="1200" noProof="0">
                        <a:solidFill>
                          <a:schemeClr val="tx1"/>
                        </a:solidFill>
                        <a:effectLst/>
                      </a:endParaRP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3849756210"/>
                  </a:ext>
                </a:extLst>
              </a:tr>
              <a:tr h="507559">
                <a:tc>
                  <a:txBody>
                    <a:bodyPr/>
                    <a:lstStyle/>
                    <a:p>
                      <a:pPr lvl="0" algn="l">
                        <a:lnSpc>
                          <a:spcPct val="100000"/>
                        </a:lnSpc>
                        <a:spcBef>
                          <a:spcPts val="0"/>
                        </a:spcBef>
                        <a:spcAft>
                          <a:spcPts val="0"/>
                        </a:spcAft>
                        <a:buNone/>
                      </a:pPr>
                      <a:r>
                        <a:rPr lang="en-US" sz="1100" b="1" i="0" u="none" strike="noStrike" kern="1200" noProof="0">
                          <a:solidFill>
                            <a:srgbClr val="CECECE"/>
                          </a:solidFill>
                          <a:latin typeface="Nunito Sans"/>
                          <a:ea typeface="+mn-ea"/>
                          <a:cs typeface="+mn-cs"/>
                        </a:rPr>
                        <a:t>Notifications</a:t>
                      </a:r>
                      <a:endParaRPr lang="en-US" sz="1100" b="0" i="0" u="none" strike="noStrike" kern="1200" noProof="0">
                        <a:solidFill>
                          <a:srgbClr val="CECECE"/>
                        </a:solidFill>
                        <a:latin typeface="Nunito Sans"/>
                        <a:ea typeface="+mn-ea"/>
                        <a:cs typeface="+mn-cs"/>
                      </a:endParaRPr>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marL="171450" marR="0" lvl="0" indent="-171450" algn="l">
                        <a:lnSpc>
                          <a:spcPts val="1425"/>
                        </a:lnSpc>
                        <a:spcBef>
                          <a:spcPts val="0"/>
                        </a:spcBef>
                        <a:spcAft>
                          <a:spcPts val="0"/>
                        </a:spcAft>
                        <a:buClr>
                          <a:srgbClr val="000000"/>
                        </a:buClr>
                        <a:buFont typeface="Arial,Sans-Serif"/>
                        <a:buChar char="•"/>
                      </a:pPr>
                      <a:r>
                        <a:rPr lang="en-IN" sz="1100" b="0" i="0" u="none" strike="noStrike" kern="1200" noProof="0">
                          <a:solidFill>
                            <a:schemeClr val="tx1"/>
                          </a:solidFill>
                          <a:effectLst/>
                          <a:latin typeface="Nunito Sans"/>
                          <a:ea typeface="+mn-ea"/>
                          <a:cs typeface="+mn-cs"/>
                        </a:rPr>
                        <a:t>Multiple use cases across modules (e.g. MEL additions, early arrivals, new NOTAM assignment, PTS delays) with the requirements for notifications with acknowledgement capabilities</a:t>
                      </a:r>
                      <a:endParaRPr lang="en-US" sz="1100" b="0" i="0" u="none" strike="noStrike" kern="1200" noProof="0">
                        <a:solidFill>
                          <a:srgbClr val="000000"/>
                        </a:solidFill>
                        <a:effectLst/>
                        <a:latin typeface="Nunito Sans"/>
                        <a:ea typeface="+mn-ea"/>
                        <a:cs typeface="+mn-cs"/>
                      </a:endParaRPr>
                    </a:p>
                  </a:txBody>
                  <a:tcPr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marL="0" lvl="0" indent="0" algn="l">
                        <a:lnSpc>
                          <a:spcPts val="1425"/>
                        </a:lnSpc>
                        <a:spcBef>
                          <a:spcPts val="0"/>
                        </a:spcBef>
                        <a:spcAft>
                          <a:spcPts val="0"/>
                        </a:spcAft>
                        <a:buNone/>
                      </a:pPr>
                      <a:r>
                        <a:rPr lang="en-US" sz="1100" b="0" i="0" u="none" strike="noStrike" kern="1200" noProof="0">
                          <a:solidFill>
                            <a:srgbClr val="000000"/>
                          </a:solidFill>
                          <a:effectLst/>
                          <a:latin typeface="Nunito Sans"/>
                          <a:ea typeface="+mn-ea"/>
                          <a:cs typeface="+mn-cs"/>
                        </a:rPr>
                        <a:t>BRD under development</a:t>
                      </a:r>
                      <a:endParaRPr lang="en-IN" sz="1100" b="0" i="0" u="none" strike="noStrike" kern="1200" noProof="0">
                        <a:solidFill>
                          <a:srgbClr val="000000"/>
                        </a:solidFill>
                        <a:effectLst/>
                        <a:latin typeface="Nunito Sans"/>
                        <a:ea typeface="+mn-ea"/>
                        <a:cs typeface="+mn-cs"/>
                      </a:endParaRPr>
                    </a:p>
                  </a:txBody>
                  <a:tcPr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marL="0" lvl="0" indent="0" algn="l">
                        <a:lnSpc>
                          <a:spcPts val="1425"/>
                        </a:lnSpc>
                        <a:spcBef>
                          <a:spcPts val="0"/>
                        </a:spcBef>
                        <a:spcAft>
                          <a:spcPts val="0"/>
                        </a:spcAft>
                        <a:buNone/>
                      </a:pPr>
                      <a:r>
                        <a:rPr lang="en-US" sz="1100" b="0" i="0" u="none" strike="noStrike" kern="1200" noProof="0">
                          <a:solidFill>
                            <a:srgbClr val="000000"/>
                          </a:solidFill>
                          <a:effectLst/>
                          <a:hlinkClick r:id="rId6"/>
                        </a:rPr>
                        <a:t>Link</a:t>
                      </a:r>
                      <a:endParaRPr lang="en-US" sz="1100" b="0" i="0" u="none" strike="noStrike" kern="1200" noProof="0">
                        <a:solidFill>
                          <a:srgbClr val="000000"/>
                        </a:solidFill>
                        <a:effectLst/>
                      </a:endParaRP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1921457457"/>
                  </a:ext>
                </a:extLst>
              </a:tr>
              <a:tr h="507559">
                <a:tc>
                  <a:txBody>
                    <a:bodyPr/>
                    <a:lstStyle/>
                    <a:p>
                      <a:pPr lvl="0" algn="l">
                        <a:lnSpc>
                          <a:spcPct val="100000"/>
                        </a:lnSpc>
                        <a:spcBef>
                          <a:spcPts val="0"/>
                        </a:spcBef>
                        <a:spcAft>
                          <a:spcPts val="0"/>
                        </a:spcAft>
                        <a:buNone/>
                      </a:pPr>
                      <a:r>
                        <a:rPr lang="en-IN" sz="1100" b="1" i="0" u="none" strike="noStrike" kern="1200" noProof="0">
                          <a:solidFill>
                            <a:schemeClr val="tx1"/>
                          </a:solidFill>
                          <a:latin typeface="Nunito Sans"/>
                          <a:ea typeface="+mn-ea"/>
                          <a:cs typeface="+mn-cs"/>
                        </a:rPr>
                        <a:t>AKS Migration</a:t>
                      </a:r>
                      <a:endParaRPr lang="en-US" sz="1100" b="0" i="0" u="none" strike="noStrike" kern="1200" noProof="0">
                        <a:solidFill>
                          <a:srgbClr val="000000"/>
                        </a:solidFill>
                        <a:latin typeface="Nunito Sans"/>
                        <a:ea typeface="+mn-ea"/>
                        <a:cs typeface="+mn-cs"/>
                      </a:endParaRPr>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marL="171450" marR="0" lvl="0" indent="-171450" algn="l">
                        <a:lnSpc>
                          <a:spcPts val="1425"/>
                        </a:lnSpc>
                        <a:spcBef>
                          <a:spcPts val="0"/>
                        </a:spcBef>
                        <a:spcAft>
                          <a:spcPts val="0"/>
                        </a:spcAft>
                        <a:buClr>
                          <a:srgbClr val="000000"/>
                        </a:buClr>
                        <a:buFont typeface="Arial,Sans-Serif"/>
                        <a:buChar char="•"/>
                      </a:pPr>
                      <a:r>
                        <a:rPr lang="en-IN" sz="1100" b="0" i="0" u="none" strike="noStrike" kern="1200" noProof="0">
                          <a:solidFill>
                            <a:schemeClr val="tx1"/>
                          </a:solidFill>
                          <a:effectLst/>
                          <a:latin typeface="Nunito Sans"/>
                          <a:ea typeface="+mn-ea"/>
                          <a:cs typeface="+mn-cs"/>
                        </a:rPr>
                        <a:t>Migration of Dispatch module to AKS to improve system performance as current platform performance issues have been highlighted by user group</a:t>
                      </a:r>
                      <a:endParaRPr lang="en-US" sz="1100" b="0" i="0" u="none" strike="noStrike" kern="1200" noProof="0">
                        <a:solidFill>
                          <a:srgbClr val="000000"/>
                        </a:solidFill>
                        <a:effectLst/>
                        <a:latin typeface="Nunito Sans"/>
                        <a:ea typeface="+mn-ea"/>
                        <a:cs typeface="+mn-cs"/>
                      </a:endParaRPr>
                    </a:p>
                    <a:p>
                      <a:pPr marL="171450" lvl="0" indent="-171450" algn="l">
                        <a:lnSpc>
                          <a:spcPct val="100000"/>
                        </a:lnSpc>
                        <a:spcBef>
                          <a:spcPts val="0"/>
                        </a:spcBef>
                        <a:spcAft>
                          <a:spcPts val="0"/>
                        </a:spcAft>
                        <a:buFont typeface="Arial"/>
                        <a:buChar char="•"/>
                      </a:pPr>
                      <a:endParaRPr lang="en-GB" sz="1100" b="0" i="0" u="none" strike="noStrike" kern="1200" noProof="0">
                        <a:solidFill>
                          <a:schemeClr val="tx1"/>
                        </a:solidFill>
                        <a:effectLst/>
                        <a:latin typeface="Nunito Sans"/>
                        <a:ea typeface="+mn-ea"/>
                        <a:cs typeface="+mn-cs"/>
                      </a:endParaRPr>
                    </a:p>
                  </a:txBody>
                  <a:tcPr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marL="0" lvl="0" indent="0" algn="l">
                        <a:lnSpc>
                          <a:spcPct val="100000"/>
                        </a:lnSpc>
                        <a:spcBef>
                          <a:spcPts val="0"/>
                        </a:spcBef>
                        <a:spcAft>
                          <a:spcPts val="0"/>
                        </a:spcAft>
                        <a:buNone/>
                      </a:pPr>
                      <a:r>
                        <a:rPr lang="en-US" sz="1100" b="0" i="0" u="none" strike="noStrike" kern="1200" noProof="0">
                          <a:solidFill>
                            <a:srgbClr val="000000"/>
                          </a:solidFill>
                          <a:effectLst/>
                          <a:latin typeface="Nunito Sans"/>
                          <a:ea typeface="+mn-ea"/>
                          <a:cs typeface="+mn-cs"/>
                        </a:rPr>
                        <a:t>29th May</a:t>
                      </a:r>
                      <a:endParaRPr lang="en-GB" sz="1100" b="0" i="0" u="none" strike="noStrike" kern="1200" noProof="0">
                        <a:solidFill>
                          <a:srgbClr val="000000"/>
                        </a:solidFill>
                        <a:effectLst/>
                        <a:latin typeface="Nunito Sans"/>
                        <a:ea typeface="+mn-ea"/>
                        <a:cs typeface="+mn-cs"/>
                      </a:endParaRPr>
                    </a:p>
                    <a:p>
                      <a:pPr marL="171450" lvl="0" indent="-171450" algn="l">
                        <a:lnSpc>
                          <a:spcPct val="100000"/>
                        </a:lnSpc>
                        <a:spcBef>
                          <a:spcPts val="0"/>
                        </a:spcBef>
                        <a:spcAft>
                          <a:spcPts val="0"/>
                        </a:spcAft>
                        <a:buFont typeface="Arial"/>
                        <a:buChar char="•"/>
                      </a:pPr>
                      <a:endParaRPr lang="en-GB" sz="1100" b="0" i="0" u="none" strike="noStrike" kern="1200" noProof="0">
                        <a:solidFill>
                          <a:schemeClr val="tx1"/>
                        </a:solidFill>
                        <a:effectLst/>
                        <a:latin typeface="Nunito Sans"/>
                        <a:ea typeface="+mn-ea"/>
                        <a:cs typeface="+mn-cs"/>
                      </a:endParaRPr>
                    </a:p>
                  </a:txBody>
                  <a:tcPr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marL="0" lvl="0" indent="0" algn="l">
                        <a:lnSpc>
                          <a:spcPct val="100000"/>
                        </a:lnSpc>
                        <a:spcBef>
                          <a:spcPts val="0"/>
                        </a:spcBef>
                        <a:spcAft>
                          <a:spcPts val="0"/>
                        </a:spcAft>
                        <a:buNone/>
                      </a:pPr>
                      <a:r>
                        <a:rPr lang="en-GB" sz="1100" b="0" i="0" u="none" strike="noStrike" kern="1200" noProof="0">
                          <a:solidFill>
                            <a:schemeClr val="tx1"/>
                          </a:solidFill>
                          <a:effectLst/>
                          <a:latin typeface="Nunito Sans"/>
                          <a:ea typeface="+mn-ea"/>
                          <a:cs typeface="+mn-cs"/>
                          <a:hlinkClick r:id="rId7"/>
                        </a:rPr>
                        <a:t>S-1374</a:t>
                      </a:r>
                      <a:endParaRPr lang="en-GB" sz="1100" b="0" i="0" u="none" strike="noStrike" kern="1200" noProof="0">
                        <a:solidFill>
                          <a:schemeClr val="tx1"/>
                        </a:solidFill>
                        <a:effectLst/>
                        <a:latin typeface="Nunito Sans"/>
                        <a:ea typeface="+mn-ea"/>
                        <a:cs typeface="+mn-cs"/>
                      </a:endParaRPr>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88647118"/>
                  </a:ext>
                </a:extLst>
              </a:tr>
              <a:tr h="507559">
                <a:tc>
                  <a:txBody>
                    <a:bodyPr/>
                    <a:lstStyle/>
                    <a:p>
                      <a:pPr lvl="0" algn="l">
                        <a:lnSpc>
                          <a:spcPct val="100000"/>
                        </a:lnSpc>
                        <a:spcBef>
                          <a:spcPts val="0"/>
                        </a:spcBef>
                        <a:spcAft>
                          <a:spcPts val="0"/>
                        </a:spcAft>
                        <a:buNone/>
                      </a:pPr>
                      <a:r>
                        <a:rPr lang="en-IN" sz="1100" b="1" i="0" u="none" strike="noStrike" kern="1200" noProof="0">
                          <a:solidFill>
                            <a:schemeClr val="tx1"/>
                          </a:solidFill>
                          <a:latin typeface="Nunito Sans"/>
                          <a:ea typeface="+mn-ea"/>
                          <a:cs typeface="+mn-cs"/>
                        </a:rPr>
                        <a:t>AKS Migration</a:t>
                      </a:r>
                      <a:endParaRPr lang="en-IN" sz="1100" b="0" i="0" u="none" strike="noStrike" kern="1200" noProof="0">
                        <a:solidFill>
                          <a:srgbClr val="000000"/>
                        </a:solidFill>
                        <a:latin typeface="Nunito Sans"/>
                        <a:ea typeface="+mn-ea"/>
                        <a:cs typeface="+mn-cs"/>
                      </a:endParaRPr>
                    </a:p>
                  </a:txBody>
                  <a:tcPr anchor="ctr">
                    <a:lnL w="12700">
                      <a:solidFill>
                        <a:schemeClr val="tx1"/>
                      </a:solidFill>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171450" lvl="0" indent="-171450" algn="l">
                        <a:lnSpc>
                          <a:spcPts val="1425"/>
                        </a:lnSpc>
                        <a:buClr>
                          <a:srgbClr val="000000"/>
                        </a:buClr>
                        <a:buFont typeface="Arial,Sans-Serif"/>
                        <a:buChar char="•"/>
                      </a:pPr>
                      <a:r>
                        <a:rPr lang="en-IN" sz="1100" b="0" i="0" u="none" strike="noStrike" kern="1200" noProof="0">
                          <a:solidFill>
                            <a:schemeClr val="tx1"/>
                          </a:solidFill>
                          <a:effectLst/>
                          <a:latin typeface="Nunito Sans"/>
                          <a:ea typeface="+mn-ea"/>
                          <a:cs typeface="+mn-cs"/>
                        </a:rPr>
                        <a:t>Migration of Control board module to AKS to improve system performance as current platform performance issues have been highlighted by user group</a:t>
                      </a:r>
                      <a:endParaRPr lang="en-US" sz="1100" b="0" i="0" u="none" strike="noStrike" kern="1200" noProof="0">
                        <a:solidFill>
                          <a:srgbClr val="000000"/>
                        </a:solidFill>
                        <a:effectLst/>
                        <a:latin typeface="Nunito Sans"/>
                        <a:ea typeface="+mn-ea"/>
                        <a:cs typeface="+mn-cs"/>
                      </a:endParaRPr>
                    </a:p>
                  </a:txBody>
                  <a:tcPr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marL="0" lvl="0" indent="0" algn="l">
                        <a:lnSpc>
                          <a:spcPts val="1425"/>
                        </a:lnSpc>
                        <a:buNone/>
                      </a:pPr>
                      <a:r>
                        <a:rPr lang="en-IN" sz="1100" b="0" i="0" u="none" strike="noStrike" kern="1200" noProof="0">
                          <a:solidFill>
                            <a:schemeClr val="tx1"/>
                          </a:solidFill>
                          <a:effectLst/>
                          <a:latin typeface="Nunito Sans"/>
                          <a:ea typeface="+mn-ea"/>
                          <a:cs typeface="+mn-cs"/>
                        </a:rPr>
                        <a:t>29th May</a:t>
                      </a:r>
                    </a:p>
                    <a:p>
                      <a:pPr marL="0" lvl="0" indent="0" algn="l">
                        <a:lnSpc>
                          <a:spcPts val="1425"/>
                        </a:lnSpc>
                        <a:buNone/>
                      </a:pPr>
                      <a:r>
                        <a:rPr lang="en-IN" sz="1100" b="0" i="0" u="none" strike="noStrike" kern="1200" noProof="0">
                          <a:solidFill>
                            <a:schemeClr val="tx1"/>
                          </a:solidFill>
                          <a:effectLst/>
                          <a:latin typeface="Nunito Sans"/>
                          <a:ea typeface="+mn-ea"/>
                          <a:cs typeface="+mn-cs"/>
                        </a:rPr>
                        <a:t>Moved from Apr Release</a:t>
                      </a:r>
                    </a:p>
                  </a:txBody>
                  <a:tcPr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marL="0" lvl="0" indent="0" algn="l">
                        <a:lnSpc>
                          <a:spcPts val="1425"/>
                        </a:lnSpc>
                        <a:buNone/>
                      </a:pPr>
                      <a:r>
                        <a:rPr lang="en-IN" sz="1100" b="0" i="0" u="none" strike="noStrike" kern="1200" noProof="0">
                          <a:solidFill>
                            <a:schemeClr val="tx1"/>
                          </a:solidFill>
                          <a:effectLst/>
                          <a:latin typeface="Nunito Sans"/>
                          <a:ea typeface="+mn-ea"/>
                          <a:cs typeface="+mn-cs"/>
                          <a:hlinkClick r:id="rId8"/>
                        </a:rPr>
                        <a:t>S-972</a:t>
                      </a:r>
                      <a:endParaRPr lang="en-IN" sz="1100" b="0" i="0" u="none" strike="noStrike" kern="1200" noProof="0">
                        <a:solidFill>
                          <a:schemeClr val="tx1"/>
                        </a:solidFill>
                        <a:effectLst/>
                        <a:latin typeface="Nunito Sans"/>
                        <a:ea typeface="+mn-ea"/>
                        <a:cs typeface="+mn-cs"/>
                      </a:endParaRPr>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74186148"/>
                  </a:ext>
                </a:extLst>
              </a:tr>
              <a:tr h="507559">
                <a:tc>
                  <a:txBody>
                    <a:bodyPr/>
                    <a:lstStyle/>
                    <a:p>
                      <a:pPr lvl="0" algn="l">
                        <a:lnSpc>
                          <a:spcPct val="100000"/>
                        </a:lnSpc>
                        <a:spcBef>
                          <a:spcPts val="0"/>
                        </a:spcBef>
                        <a:spcAft>
                          <a:spcPts val="0"/>
                        </a:spcAft>
                        <a:buNone/>
                      </a:pPr>
                      <a:r>
                        <a:rPr lang="en-US" sz="1100" b="1" i="0" u="none" strike="noStrike" kern="1200" noProof="0">
                          <a:solidFill>
                            <a:schemeClr val="tx1"/>
                          </a:solidFill>
                          <a:latin typeface="Nunito Sans"/>
                          <a:ea typeface="+mn-ea"/>
                          <a:cs typeface="+mn-cs"/>
                        </a:rPr>
                        <a:t>NOTAM Flight Ops workflow</a:t>
                      </a:r>
                      <a:endParaRPr lang="en-IN" sz="1100" b="0" i="0" u="none" strike="noStrike" kern="1200" noProof="0">
                        <a:solidFill>
                          <a:srgbClr val="000000"/>
                        </a:solidFill>
                        <a:latin typeface="Nunito Sans"/>
                        <a:ea typeface="+mn-ea"/>
                        <a:cs typeface="+mn-cs"/>
                      </a:endParaRPr>
                    </a:p>
                  </a:txBody>
                  <a:tcPr anchor="ctr">
                    <a:lnL w="12700">
                      <a:solidFill>
                        <a:schemeClr val="tx1"/>
                      </a:solidFill>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171450" lvl="0" indent="-171450" algn="l">
                        <a:lnSpc>
                          <a:spcPct val="100000"/>
                        </a:lnSpc>
                        <a:spcBef>
                          <a:spcPts val="0"/>
                        </a:spcBef>
                        <a:spcAft>
                          <a:spcPts val="0"/>
                        </a:spcAft>
                        <a:buFont typeface="Arial"/>
                        <a:buChar char="•"/>
                      </a:pPr>
                      <a:r>
                        <a:rPr lang="en-IN" sz="1100" b="0" i="0" u="none" strike="noStrike" kern="1200" noProof="0">
                          <a:solidFill>
                            <a:schemeClr val="tx1"/>
                          </a:solidFill>
                          <a:effectLst/>
                          <a:latin typeface="Nunito Sans"/>
                          <a:ea typeface="+mn-ea"/>
                          <a:cs typeface="+mn-cs"/>
                        </a:rPr>
                        <a:t>Flight Ops team manually reviews NOTAMs and categorizes and actions the same recording it over excel sheets. Selection of NOTAMs, automation of categorization and generation of GPS waypoint links for obstacles to be performed via AI Smart</a:t>
                      </a:r>
                      <a:endParaRPr lang="en-GB" sz="1100" b="0" i="0" u="none" strike="noStrike" kern="1200" noProof="0">
                        <a:solidFill>
                          <a:schemeClr val="tx1"/>
                        </a:solidFill>
                        <a:effectLst/>
                        <a:latin typeface="Nunito Sans"/>
                        <a:ea typeface="+mn-ea"/>
                        <a:cs typeface="+mn-cs"/>
                      </a:endParaRPr>
                    </a:p>
                  </a:txBody>
                  <a:tcPr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marL="0" lvl="0" indent="0" algn="l">
                        <a:lnSpc>
                          <a:spcPct val="100000"/>
                        </a:lnSpc>
                        <a:spcBef>
                          <a:spcPts val="0"/>
                        </a:spcBef>
                        <a:spcAft>
                          <a:spcPts val="0"/>
                        </a:spcAft>
                        <a:buNone/>
                      </a:pPr>
                      <a:r>
                        <a:rPr lang="en-IN" sz="1100" b="0" i="0" u="none" strike="noStrike" kern="1200" noProof="0">
                          <a:solidFill>
                            <a:schemeClr val="tx1"/>
                          </a:solidFill>
                          <a:effectLst/>
                          <a:latin typeface="Nunito Sans"/>
                          <a:ea typeface="+mn-ea"/>
                          <a:cs typeface="+mn-cs"/>
                        </a:rPr>
                        <a:t>12th Jun</a:t>
                      </a:r>
                      <a:endParaRPr lang="en-IN" sz="1100" b="0" i="0" u="none" strike="noStrike" kern="1200" noProof="0">
                        <a:solidFill>
                          <a:srgbClr val="000000"/>
                        </a:solidFill>
                        <a:effectLst/>
                        <a:latin typeface="Nunito Sans"/>
                        <a:ea typeface="+mn-ea"/>
                        <a:cs typeface="+mn-cs"/>
                      </a:endParaRPr>
                    </a:p>
                    <a:p>
                      <a:pPr marL="0" lvl="0" indent="0" algn="l">
                        <a:lnSpc>
                          <a:spcPts val="1425"/>
                        </a:lnSpc>
                        <a:buNone/>
                      </a:pPr>
                      <a:r>
                        <a:rPr lang="en-IN" sz="1100" b="0" i="0" u="none" strike="noStrike" kern="1200" noProof="0">
                          <a:solidFill>
                            <a:schemeClr val="tx1"/>
                          </a:solidFill>
                          <a:effectLst/>
                          <a:latin typeface="Nunito Sans"/>
                          <a:ea typeface="+mn-ea"/>
                          <a:cs typeface="+mn-cs"/>
                        </a:rPr>
                        <a:t>Moved from Apr Release</a:t>
                      </a:r>
                      <a:endParaRPr lang="en-IN"/>
                    </a:p>
                  </a:txBody>
                  <a:tcPr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marL="0" lvl="0" indent="0" algn="l">
                        <a:lnSpc>
                          <a:spcPct val="100000"/>
                        </a:lnSpc>
                        <a:spcBef>
                          <a:spcPts val="0"/>
                        </a:spcBef>
                        <a:spcAft>
                          <a:spcPts val="0"/>
                        </a:spcAft>
                        <a:buNone/>
                      </a:pPr>
                      <a:r>
                        <a:rPr lang="en-IN" sz="1100" b="0" i="0" u="none" strike="noStrike" kern="1200" noProof="0">
                          <a:solidFill>
                            <a:schemeClr val="tx1"/>
                          </a:solidFill>
                          <a:effectLst/>
                          <a:hlinkClick r:id="rId9"/>
                        </a:rPr>
                        <a:t>E-6092</a:t>
                      </a:r>
                      <a:endParaRPr lang="en-IN" sz="1100" b="0" i="0" u="none" strike="noStrike" kern="1200" noProof="0">
                        <a:solidFill>
                          <a:schemeClr val="tx1"/>
                        </a:solidFill>
                        <a:effectLst/>
                      </a:endParaRPr>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38872751"/>
                  </a:ext>
                </a:extLst>
              </a:tr>
              <a:tr h="507559">
                <a:tc>
                  <a:txBody>
                    <a:bodyPr/>
                    <a:lstStyle/>
                    <a:p>
                      <a:pPr lvl="0" algn="l">
                        <a:lnSpc>
                          <a:spcPct val="100000"/>
                        </a:lnSpc>
                        <a:spcBef>
                          <a:spcPts val="0"/>
                        </a:spcBef>
                        <a:spcAft>
                          <a:spcPts val="0"/>
                        </a:spcAft>
                        <a:buNone/>
                      </a:pPr>
                      <a:r>
                        <a:rPr lang="en-US" sz="1100" b="1" i="0" u="none" strike="noStrike" kern="1200" noProof="0" err="1">
                          <a:solidFill>
                            <a:schemeClr val="tx1"/>
                          </a:solidFill>
                          <a:latin typeface="Nunito Sans"/>
                          <a:ea typeface="+mn-ea"/>
                          <a:cs typeface="+mn-cs"/>
                        </a:rPr>
                        <a:t>Adhoc</a:t>
                      </a:r>
                      <a:r>
                        <a:rPr lang="en-US" sz="1100" b="1" i="0" u="none" strike="noStrike" kern="1200" noProof="0">
                          <a:solidFill>
                            <a:schemeClr val="tx1"/>
                          </a:solidFill>
                          <a:latin typeface="Nunito Sans"/>
                          <a:ea typeface="+mn-ea"/>
                          <a:cs typeface="+mn-cs"/>
                        </a:rPr>
                        <a:t> - NOTAM Manager : Logic change</a:t>
                      </a: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marL="171450" lvl="0" indent="-171450" algn="l">
                        <a:lnSpc>
                          <a:spcPct val="100000"/>
                        </a:lnSpc>
                        <a:spcBef>
                          <a:spcPts val="0"/>
                        </a:spcBef>
                        <a:spcAft>
                          <a:spcPts val="0"/>
                        </a:spcAft>
                        <a:buFont typeface="Arial"/>
                        <a:buChar char="•"/>
                      </a:pPr>
                      <a:r>
                        <a:rPr lang="en-IN" sz="1100" b="0" i="0" u="none" strike="noStrike" kern="1200" noProof="0">
                          <a:solidFill>
                            <a:srgbClr val="292A2E"/>
                          </a:solidFill>
                          <a:effectLst/>
                        </a:rPr>
                        <a:t>See all NOTAMs which have any of </a:t>
                      </a:r>
                      <a:r>
                        <a:rPr lang="en-IN" sz="1100" b="0" i="0" u="none" strike="noStrike" kern="1200" noProof="0" err="1">
                          <a:solidFill>
                            <a:srgbClr val="292A2E"/>
                          </a:solidFill>
                          <a:effectLst/>
                        </a:rPr>
                        <a:t>AIsmart’s</a:t>
                      </a:r>
                      <a:r>
                        <a:rPr lang="en-IN" sz="1100" b="0" i="0" u="none" strike="noStrike" kern="1200" noProof="0">
                          <a:solidFill>
                            <a:srgbClr val="292A2E"/>
                          </a:solidFill>
                          <a:effectLst/>
                        </a:rPr>
                        <a:t> predefined stations present in Q-line or A-line.</a:t>
                      </a:r>
                      <a:endParaRPr lang="en-IN" sz="1100" b="0" i="0" u="none" strike="noStrike" kern="1200" noProof="0">
                        <a:solidFill>
                          <a:schemeClr val="tx1"/>
                        </a:solidFill>
                        <a:effectLst/>
                        <a:latin typeface="Nunito Sans"/>
                        <a:ea typeface="+mn-ea"/>
                        <a:cs typeface="+mn-cs"/>
                      </a:endParaRP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marL="0" lvl="0" indent="0" algn="l">
                        <a:lnSpc>
                          <a:spcPts val="1425"/>
                        </a:lnSpc>
                        <a:buNone/>
                      </a:pPr>
                      <a:r>
                        <a:rPr lang="en-US" sz="1100" b="0" i="0" u="none" strike="noStrike" kern="1200" noProof="0">
                          <a:solidFill>
                            <a:srgbClr val="000000"/>
                          </a:solidFill>
                          <a:effectLst/>
                          <a:latin typeface="Nunito Sans"/>
                          <a:ea typeface="+mn-ea"/>
                          <a:cs typeface="+mn-cs"/>
                        </a:rPr>
                        <a:t>29th May</a:t>
                      </a:r>
                      <a:endParaRPr lang="en-US"/>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marL="0" lvl="0" indent="0" algn="l">
                        <a:lnSpc>
                          <a:spcPct val="100000"/>
                        </a:lnSpc>
                        <a:spcBef>
                          <a:spcPts val="0"/>
                        </a:spcBef>
                        <a:spcAft>
                          <a:spcPts val="0"/>
                        </a:spcAft>
                        <a:buNone/>
                      </a:pPr>
                      <a:r>
                        <a:rPr lang="en-IN" sz="1100" b="0" i="0" u="none" strike="noStrike" kern="1200" noProof="0">
                          <a:solidFill>
                            <a:schemeClr val="tx1"/>
                          </a:solidFill>
                          <a:effectLst/>
                          <a:latin typeface="Nunito Sans"/>
                          <a:hlinkClick r:id="rId10"/>
                        </a:rPr>
                        <a:t>S-6475</a:t>
                      </a:r>
                      <a:endParaRPr lang="en-IN" sz="1100" b="0" i="0" u="none" strike="noStrike" kern="1200" noProof="0">
                        <a:solidFill>
                          <a:schemeClr val="tx1"/>
                        </a:solidFill>
                        <a:effectLst/>
                        <a:latin typeface="Nunito Sans"/>
                      </a:endParaRP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3828108465"/>
                  </a:ext>
                </a:extLst>
              </a:tr>
              <a:tr h="507559">
                <a:tc>
                  <a:txBody>
                    <a:bodyPr/>
                    <a:lstStyle/>
                    <a:p>
                      <a:pPr lvl="0" algn="l">
                        <a:lnSpc>
                          <a:spcPct val="100000"/>
                        </a:lnSpc>
                        <a:spcBef>
                          <a:spcPts val="0"/>
                        </a:spcBef>
                        <a:spcAft>
                          <a:spcPts val="0"/>
                        </a:spcAft>
                        <a:buNone/>
                      </a:pPr>
                      <a:r>
                        <a:rPr lang="en-US" sz="1100" b="1" i="0" u="none" strike="noStrike" kern="1200" noProof="0" err="1">
                          <a:solidFill>
                            <a:schemeClr val="tx1"/>
                          </a:solidFill>
                          <a:latin typeface="Nunito Sans"/>
                          <a:ea typeface="+mn-ea"/>
                          <a:cs typeface="+mn-cs"/>
                        </a:rPr>
                        <a:t>Adhoc</a:t>
                      </a:r>
                      <a:r>
                        <a:rPr lang="en-US" sz="1100" b="1" i="0" u="none" strike="noStrike" kern="1200" noProof="0">
                          <a:solidFill>
                            <a:schemeClr val="tx1"/>
                          </a:solidFill>
                          <a:latin typeface="Nunito Sans"/>
                          <a:ea typeface="+mn-ea"/>
                          <a:cs typeface="+mn-cs"/>
                        </a:rPr>
                        <a:t> - SCR/SMA Changes</a:t>
                      </a:r>
                      <a:endParaRPr lang="en-US"/>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marL="171450" lvl="0" indent="-171450" algn="l">
                        <a:lnSpc>
                          <a:spcPct val="100000"/>
                        </a:lnSpc>
                        <a:spcBef>
                          <a:spcPts val="0"/>
                        </a:spcBef>
                        <a:spcAft>
                          <a:spcPts val="0"/>
                        </a:spcAft>
                        <a:buFont typeface="Arial"/>
                        <a:buChar char="•"/>
                      </a:pPr>
                      <a:r>
                        <a:rPr lang="en-IN" sz="1100" b="0" i="0" u="none" strike="noStrike" kern="1200" noProof="0">
                          <a:solidFill>
                            <a:schemeClr val="tx1"/>
                          </a:solidFill>
                          <a:effectLst/>
                          <a:latin typeface="Nunito Sans"/>
                          <a:ea typeface="+mn-ea"/>
                          <a:cs typeface="+mn-cs"/>
                        </a:rPr>
                        <a:t>Logic change for Paris Airport</a:t>
                      </a:r>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marL="0" lvl="0" indent="0" algn="l">
                        <a:lnSpc>
                          <a:spcPts val="1425"/>
                        </a:lnSpc>
                        <a:buNone/>
                      </a:pPr>
                      <a:r>
                        <a:rPr lang="en-US" sz="1100" b="0" i="0" u="none" strike="noStrike" kern="1200" noProof="0">
                          <a:solidFill>
                            <a:srgbClr val="000000"/>
                          </a:solidFill>
                          <a:effectLst/>
                          <a:latin typeface="Nunito Sans"/>
                          <a:ea typeface="+mn-ea"/>
                          <a:cs typeface="+mn-cs"/>
                        </a:rPr>
                        <a:t>29th May</a:t>
                      </a:r>
                      <a:endParaRPr lang="en-US"/>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tc>
                  <a:txBody>
                    <a:bodyPr/>
                    <a:lstStyle/>
                    <a:p>
                      <a:pPr marL="0" lvl="0" indent="0" algn="l">
                        <a:lnSpc>
                          <a:spcPct val="100000"/>
                        </a:lnSpc>
                        <a:spcBef>
                          <a:spcPts val="0"/>
                        </a:spcBef>
                        <a:spcAft>
                          <a:spcPts val="0"/>
                        </a:spcAft>
                        <a:buNone/>
                      </a:pPr>
                      <a:r>
                        <a:rPr lang="en-IN" sz="1100" b="0" i="0" u="none" strike="noStrike" kern="1200" noProof="0">
                          <a:solidFill>
                            <a:schemeClr val="tx1"/>
                          </a:solidFill>
                          <a:effectLst/>
                          <a:latin typeface="Nunito Sans"/>
                          <a:hlinkClick r:id="rId11"/>
                        </a:rPr>
                        <a:t>S-6330</a:t>
                      </a:r>
                      <a:endParaRPr lang="en-IN" sz="1100" b="0" i="0" u="none" strike="noStrike" kern="1200" noProof="0">
                        <a:solidFill>
                          <a:schemeClr val="tx1"/>
                        </a:solidFill>
                        <a:effectLst/>
                        <a:latin typeface="Nunito Sans"/>
                      </a:endParaRPr>
                    </a:p>
                  </a:txBody>
                  <a:tcPr anchor="ctr">
                    <a:lnL w="12700">
                      <a:solidFill>
                        <a:schemeClr val="tx1"/>
                      </a:solidFill>
                    </a:lnL>
                    <a:lnR w="12700">
                      <a:solidFill>
                        <a:schemeClr val="tx1"/>
                      </a:solidFill>
                    </a:lnR>
                    <a:lnT w="12700">
                      <a:solidFill>
                        <a:schemeClr val="tx1"/>
                      </a:solidFill>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91609830"/>
                  </a:ext>
                </a:extLst>
              </a:tr>
              <a:tr h="347533">
                <a:tc>
                  <a:txBody>
                    <a:bodyPr/>
                    <a:lstStyle/>
                    <a:p>
                      <a:pPr lvl="0" algn="l">
                        <a:lnSpc>
                          <a:spcPct val="100000"/>
                        </a:lnSpc>
                        <a:spcBef>
                          <a:spcPts val="0"/>
                        </a:spcBef>
                        <a:spcAft>
                          <a:spcPts val="0"/>
                        </a:spcAft>
                        <a:buNone/>
                      </a:pPr>
                      <a:r>
                        <a:rPr lang="en-IN" sz="1100" b="1" i="0" u="none" strike="noStrike" kern="1200" noProof="0">
                          <a:solidFill>
                            <a:schemeClr val="tx1"/>
                          </a:solidFill>
                          <a:latin typeface="Nunito Sans"/>
                          <a:ea typeface="+mn-ea"/>
                          <a:cs typeface="+mn-cs"/>
                        </a:rPr>
                        <a:t>AKS Migration</a:t>
                      </a:r>
                      <a:endParaRPr lang="en-IN" sz="1100" b="0" i="0" u="none" strike="noStrike" kern="1200" noProof="0">
                        <a:solidFill>
                          <a:srgbClr val="000000"/>
                        </a:solidFill>
                        <a:latin typeface="Nunito Sans"/>
                        <a:ea typeface="+mn-ea"/>
                        <a:cs typeface="+mn-cs"/>
                      </a:endParaRPr>
                    </a:p>
                  </a:txBody>
                  <a:tcPr anchor="ctr">
                    <a:lnL w="12700">
                      <a:solidFill>
                        <a:schemeClr val="tx1"/>
                      </a:solidFill>
                    </a:lnL>
                    <a:lnR w="12700">
                      <a:solidFill>
                        <a:schemeClr val="tx1"/>
                      </a:solid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171450" lvl="0" indent="-171450" algn="l">
                        <a:lnSpc>
                          <a:spcPts val="1425"/>
                        </a:lnSpc>
                        <a:buClr>
                          <a:srgbClr val="000000"/>
                        </a:buClr>
                        <a:buFont typeface="Arial,Sans-Serif"/>
                        <a:buChar char="•"/>
                      </a:pPr>
                      <a:r>
                        <a:rPr lang="en-IN" sz="1100" b="0" i="0" u="none" strike="noStrike" kern="1200" noProof="0">
                          <a:solidFill>
                            <a:schemeClr val="tx1"/>
                          </a:solidFill>
                          <a:effectLst/>
                          <a:latin typeface="Nunito Sans"/>
                          <a:ea typeface="+mn-ea"/>
                          <a:cs typeface="+mn-cs"/>
                        </a:rPr>
                        <a:t>Migration of Engr Control board module to AKS to improve system performance </a:t>
                      </a:r>
                    </a:p>
                  </a:txBody>
                  <a:tcPr anchor="ct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chemeClr val="bg1"/>
                    </a:solidFill>
                  </a:tcPr>
                </a:tc>
                <a:tc>
                  <a:txBody>
                    <a:bodyPr/>
                    <a:lstStyle/>
                    <a:p>
                      <a:pPr marL="0" lvl="0" indent="0" algn="l">
                        <a:lnSpc>
                          <a:spcPts val="1425"/>
                        </a:lnSpc>
                        <a:buNone/>
                      </a:pPr>
                      <a:r>
                        <a:rPr lang="en-US" sz="1100" b="0" i="0" u="none" strike="noStrike" kern="1200" noProof="0">
                          <a:solidFill>
                            <a:srgbClr val="000000"/>
                          </a:solidFill>
                          <a:effectLst/>
                          <a:latin typeface="Nunito Sans"/>
                          <a:ea typeface="+mn-ea"/>
                          <a:cs typeface="+mn-cs"/>
                        </a:rPr>
                        <a:t>29th May</a:t>
                      </a:r>
                      <a:endParaRPr lang="en-US"/>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marL="0" lvl="0" indent="0" algn="l">
                        <a:lnSpc>
                          <a:spcPct val="100000"/>
                        </a:lnSpc>
                        <a:spcBef>
                          <a:spcPts val="0"/>
                        </a:spcBef>
                        <a:spcAft>
                          <a:spcPts val="0"/>
                        </a:spcAft>
                        <a:buNone/>
                      </a:pPr>
                      <a:r>
                        <a:rPr lang="en-IN" sz="1100" b="0" i="0" u="none" strike="noStrike" kern="1200" noProof="0">
                          <a:solidFill>
                            <a:schemeClr val="tx1"/>
                          </a:solidFill>
                          <a:effectLst/>
                          <a:hlinkClick r:id="rId12"/>
                        </a:rPr>
                        <a:t>S-6630</a:t>
                      </a:r>
                      <a:endParaRPr lang="en-IN" sz="1100" b="0" i="0" u="none" strike="noStrike" kern="1200" noProof="0">
                        <a:solidFill>
                          <a:schemeClr val="tx1"/>
                        </a:solidFill>
                        <a:effectLst/>
                      </a:endParaRPr>
                    </a:p>
                  </a:txBody>
                  <a:tcPr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2526053856"/>
                  </a:ext>
                </a:extLst>
              </a:tr>
            </a:tbl>
          </a:graphicData>
        </a:graphic>
      </p:graphicFrame>
      <p:sp>
        <p:nvSpPr>
          <p:cNvPr id="26" name="TextBox 25">
            <a:extLst>
              <a:ext uri="{FF2B5EF4-FFF2-40B4-BE49-F238E27FC236}">
                <a16:creationId xmlns:a16="http://schemas.microsoft.com/office/drawing/2014/main" id="{C5D367E6-7DF3-9B5C-F1EA-9B5F5703B654}"/>
              </a:ext>
            </a:extLst>
          </p:cNvPr>
          <p:cNvSpPr txBox="1"/>
          <p:nvPr/>
        </p:nvSpPr>
        <p:spPr>
          <a:xfrm>
            <a:off x="343955" y="3897931"/>
            <a:ext cx="417102" cy="253916"/>
          </a:xfrm>
          <a:prstGeom prst="rect">
            <a:avLst/>
          </a:prstGeom>
          <a:noFill/>
        </p:spPr>
        <p:txBody>
          <a:bodyPr wrap="none" lIns="91440" tIns="45720" rIns="91440" bIns="45720" rtlCol="0" anchor="t">
            <a:spAutoFit/>
          </a:bodyPr>
          <a:lstStyle/>
          <a:p>
            <a:r>
              <a:rPr lang="en-IN" sz="1050" b="1">
                <a:solidFill>
                  <a:schemeClr val="bg1"/>
                </a:solidFill>
                <a:latin typeface="Montserrat Light"/>
              </a:rPr>
              <a:t>Jan</a:t>
            </a:r>
            <a:endParaRPr lang="en-IN" sz="1050" b="1">
              <a:solidFill>
                <a:schemeClr val="bg1"/>
              </a:solidFill>
              <a:latin typeface="Montserrat Light" pitchFamily="2" charset="0"/>
            </a:endParaRPr>
          </a:p>
        </p:txBody>
      </p:sp>
      <p:sp>
        <p:nvSpPr>
          <p:cNvPr id="27" name="TextBox 15">
            <a:extLst>
              <a:ext uri="{FF2B5EF4-FFF2-40B4-BE49-F238E27FC236}">
                <a16:creationId xmlns:a16="http://schemas.microsoft.com/office/drawing/2014/main" id="{E90374F8-6EFF-EC95-213B-752708A3A862}"/>
              </a:ext>
            </a:extLst>
          </p:cNvPr>
          <p:cNvSpPr txBox="1"/>
          <p:nvPr/>
        </p:nvSpPr>
        <p:spPr>
          <a:xfrm>
            <a:off x="398384" y="817274"/>
            <a:ext cx="417102" cy="253916"/>
          </a:xfrm>
          <a:prstGeom prst="rect">
            <a:avLst/>
          </a:prstGeom>
          <a:noFill/>
        </p:spPr>
        <p:txBody>
          <a:bodyPr wrap="non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050" b="1">
                <a:solidFill>
                  <a:schemeClr val="bg1"/>
                </a:solidFill>
                <a:latin typeface="Montserrat Light"/>
              </a:rPr>
              <a:t>Jan</a:t>
            </a:r>
            <a:endParaRPr lang="en-IN" sz="1050" b="1">
              <a:solidFill>
                <a:schemeClr val="bg1"/>
              </a:solidFill>
              <a:latin typeface="Montserrat Light" pitchFamily="2" charset="0"/>
            </a:endParaRPr>
          </a:p>
        </p:txBody>
      </p:sp>
      <p:sp>
        <p:nvSpPr>
          <p:cNvPr id="29" name="Rectangle 28">
            <a:extLst>
              <a:ext uri="{FF2B5EF4-FFF2-40B4-BE49-F238E27FC236}">
                <a16:creationId xmlns:a16="http://schemas.microsoft.com/office/drawing/2014/main" id="{00E67CDF-B2F0-FA47-A300-0AB7335568CD}"/>
              </a:ext>
            </a:extLst>
          </p:cNvPr>
          <p:cNvSpPr/>
          <p:nvPr/>
        </p:nvSpPr>
        <p:spPr>
          <a:xfrm>
            <a:off x="-4474" y="344711"/>
            <a:ext cx="1067526" cy="42234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IN" sz="1400" b="1">
                <a:latin typeface="AirIndia"/>
              </a:rPr>
              <a:t>May ‘26</a:t>
            </a:r>
          </a:p>
        </p:txBody>
      </p:sp>
      <p:pic>
        <p:nvPicPr>
          <p:cNvPr id="34" name="Picture 33">
            <a:extLst>
              <a:ext uri="{FF2B5EF4-FFF2-40B4-BE49-F238E27FC236}">
                <a16:creationId xmlns:a16="http://schemas.microsoft.com/office/drawing/2014/main" id="{D1D5785F-ADDE-55A3-EF21-FAAD6A77C6F8}"/>
              </a:ext>
            </a:extLst>
          </p:cNvPr>
          <p:cNvPicPr>
            <a:picLocks noChangeAspect="1"/>
          </p:cNvPicPr>
          <p:nvPr/>
        </p:nvPicPr>
        <p:blipFill>
          <a:blip r:embed="rId13"/>
          <a:stretch>
            <a:fillRect/>
          </a:stretch>
        </p:blipFill>
        <p:spPr>
          <a:xfrm>
            <a:off x="306161" y="6532789"/>
            <a:ext cx="8248650" cy="323850"/>
          </a:xfrm>
          <a:prstGeom prst="rect">
            <a:avLst/>
          </a:prstGeom>
        </p:spPr>
      </p:pic>
    </p:spTree>
    <p:extLst>
      <p:ext uri="{BB962C8B-B14F-4D97-AF65-F5344CB8AC3E}">
        <p14:creationId xmlns:p14="http://schemas.microsoft.com/office/powerpoint/2010/main" val="105107641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F05048-A975-90AE-1A9E-64F2DBAD2BA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6237C71-6CEE-7008-4465-CBF5BBD39467}"/>
              </a:ext>
            </a:extLst>
          </p:cNvPr>
          <p:cNvSpPr>
            <a:spLocks noGrp="1"/>
          </p:cNvSpPr>
          <p:nvPr>
            <p:ph type="sldNum" sz="quarter" idx="12"/>
          </p:nvPr>
        </p:nvSpPr>
        <p:spPr/>
        <p:txBody>
          <a:bodyPr/>
          <a:lstStyle/>
          <a:p>
            <a:fld id="{3A41A254-7326-714E-AF55-4C213D6394DE}" type="slidenum">
              <a:rPr lang="en-US" sz="900" smtClean="0">
                <a:latin typeface="Montserrat Light" pitchFamily="2" charset="0"/>
              </a:rPr>
              <a:pPr/>
              <a:t>72</a:t>
            </a:fld>
            <a:endParaRPr lang="en-US" sz="900">
              <a:latin typeface="Montserrat Light" pitchFamily="2" charset="0"/>
            </a:endParaRPr>
          </a:p>
        </p:txBody>
      </p:sp>
      <p:sp>
        <p:nvSpPr>
          <p:cNvPr id="6" name="Title 11">
            <a:extLst>
              <a:ext uri="{FF2B5EF4-FFF2-40B4-BE49-F238E27FC236}">
                <a16:creationId xmlns:a16="http://schemas.microsoft.com/office/drawing/2014/main" id="{B9B0B837-24A8-FC08-60EF-A765A3110011}"/>
              </a:ext>
            </a:extLst>
          </p:cNvPr>
          <p:cNvSpPr txBox="1">
            <a:spLocks/>
          </p:cNvSpPr>
          <p:nvPr/>
        </p:nvSpPr>
        <p:spPr>
          <a:xfrm>
            <a:off x="304800" y="269218"/>
            <a:ext cx="8420100" cy="396638"/>
          </a:xfrm>
          <a:prstGeom prst="rect">
            <a:avLst/>
          </a:prstGeom>
        </p:spPr>
        <p:txBody>
          <a:bodyPr lIns="91440" tIns="45720" rIns="91440" bIns="45720" anchor="t">
            <a:noAutofit/>
          </a:bodyPr>
          <a:lstStyle>
            <a:lvl1pPr algn="l" defTabSz="914400" rtl="0" eaLnBrk="1" latinLnBrk="0" hangingPunct="1">
              <a:lnSpc>
                <a:spcPct val="90000"/>
              </a:lnSpc>
              <a:spcBef>
                <a:spcPct val="0"/>
              </a:spcBef>
              <a:buNone/>
              <a:defRPr sz="4400" b="1" i="0" kern="1200">
                <a:solidFill>
                  <a:schemeClr val="tx1"/>
                </a:solidFill>
                <a:latin typeface="AirIndia" pitchFamily="82" charset="77"/>
                <a:ea typeface="+mj-ea"/>
                <a:cs typeface="+mj-cs"/>
              </a:defRPr>
            </a:lvl1pPr>
          </a:lstStyle>
          <a:p>
            <a:r>
              <a:rPr lang="en-US" sz="1800">
                <a:solidFill>
                  <a:srgbClr val="C00000"/>
                </a:solidFill>
                <a:latin typeface="AirIndia"/>
              </a:rPr>
              <a:t>AI Smart - FY27 Q1  Release Plan </a:t>
            </a:r>
            <a:endParaRPr lang="en-US" sz="1800" b="0">
              <a:solidFill>
                <a:srgbClr val="C00000"/>
              </a:solidFill>
              <a:latin typeface="AirIndia"/>
            </a:endParaRPr>
          </a:p>
        </p:txBody>
      </p:sp>
      <p:graphicFrame>
        <p:nvGraphicFramePr>
          <p:cNvPr id="4" name="Table 3">
            <a:extLst>
              <a:ext uri="{FF2B5EF4-FFF2-40B4-BE49-F238E27FC236}">
                <a16:creationId xmlns:a16="http://schemas.microsoft.com/office/drawing/2014/main" id="{A993F212-3385-6775-0242-537A784C039C}"/>
              </a:ext>
            </a:extLst>
          </p:cNvPr>
          <p:cNvGraphicFramePr>
            <a:graphicFrameLocks noGrp="1"/>
          </p:cNvGraphicFramePr>
          <p:nvPr>
            <p:extLst>
              <p:ext uri="{D42A27DB-BD31-4B8C-83A1-F6EECF244321}">
                <p14:modId xmlns:p14="http://schemas.microsoft.com/office/powerpoint/2010/main" val="421677499"/>
              </p:ext>
            </p:extLst>
          </p:nvPr>
        </p:nvGraphicFramePr>
        <p:xfrm>
          <a:off x="1090849" y="792699"/>
          <a:ext cx="9547176" cy="2964180"/>
        </p:xfrm>
        <a:graphic>
          <a:graphicData uri="http://schemas.openxmlformats.org/drawingml/2006/table">
            <a:tbl>
              <a:tblPr firstRow="1" bandRow="1">
                <a:tableStyleId>{5C22544A-7EE6-4342-B048-85BDC9FD1C3A}</a:tableStyleId>
              </a:tblPr>
              <a:tblGrid>
                <a:gridCol w="984286">
                  <a:extLst>
                    <a:ext uri="{9D8B030D-6E8A-4147-A177-3AD203B41FA5}">
                      <a16:colId xmlns:a16="http://schemas.microsoft.com/office/drawing/2014/main" val="1118630623"/>
                    </a:ext>
                  </a:extLst>
                </a:gridCol>
                <a:gridCol w="6350242">
                  <a:extLst>
                    <a:ext uri="{9D8B030D-6E8A-4147-A177-3AD203B41FA5}">
                      <a16:colId xmlns:a16="http://schemas.microsoft.com/office/drawing/2014/main" val="99588705"/>
                    </a:ext>
                  </a:extLst>
                </a:gridCol>
                <a:gridCol w="1106324">
                  <a:extLst>
                    <a:ext uri="{9D8B030D-6E8A-4147-A177-3AD203B41FA5}">
                      <a16:colId xmlns:a16="http://schemas.microsoft.com/office/drawing/2014/main" val="2937452057"/>
                    </a:ext>
                  </a:extLst>
                </a:gridCol>
                <a:gridCol w="1106324">
                  <a:extLst>
                    <a:ext uri="{9D8B030D-6E8A-4147-A177-3AD203B41FA5}">
                      <a16:colId xmlns:a16="http://schemas.microsoft.com/office/drawing/2014/main" val="1978163384"/>
                    </a:ext>
                  </a:extLst>
                </a:gridCol>
              </a:tblGrid>
              <a:tr h="286112">
                <a:tc>
                  <a:txBody>
                    <a:bodyPr/>
                    <a:lstStyle/>
                    <a:p>
                      <a:pPr marL="0" lvl="0" indent="0" algn="ctr" defTabSz="914400">
                        <a:lnSpc>
                          <a:spcPct val="100000"/>
                        </a:lnSpc>
                        <a:buNone/>
                      </a:pPr>
                      <a:r>
                        <a:rPr lang="en-IN" sz="1100" b="1" i="0" u="none" strike="noStrike" kern="1200" noProof="0">
                          <a:solidFill>
                            <a:schemeClr val="bg1"/>
                          </a:solidFill>
                          <a:latin typeface="Avenir Next LT Pro Light"/>
                          <a:ea typeface="+mn-ea"/>
                          <a:cs typeface="+mn-cs"/>
                        </a:rPr>
                        <a:t>Projects</a:t>
                      </a:r>
                      <a:endParaRPr lang="en-US"/>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solidFill>
                      <a:srgbClr val="002060"/>
                    </a:solidFill>
                  </a:tcPr>
                </a:tc>
                <a:tc>
                  <a:txBody>
                    <a:bodyPr/>
                    <a:lstStyle/>
                    <a:p>
                      <a:pPr lvl="0" algn="ctr">
                        <a:lnSpc>
                          <a:spcPct val="100000"/>
                        </a:lnSpc>
                        <a:spcBef>
                          <a:spcPts val="0"/>
                        </a:spcBef>
                        <a:spcAft>
                          <a:spcPts val="0"/>
                        </a:spcAft>
                        <a:buNone/>
                      </a:pPr>
                      <a:r>
                        <a:rPr lang="en-IN" sz="1100" b="1" i="0" u="none" strike="noStrike" kern="1200" noProof="0">
                          <a:solidFill>
                            <a:srgbClr val="FFFFFF"/>
                          </a:solidFill>
                          <a:latin typeface="Nunito Sans"/>
                          <a:ea typeface="+mn-ea"/>
                          <a:cs typeface="+mn-cs"/>
                        </a:rPr>
                        <a:t>Value Justification/Realization</a:t>
                      </a:r>
                    </a:p>
                    <a:p>
                      <a:pPr marL="0" lvl="0" indent="0" algn="l" defTabSz="914400">
                        <a:buFont typeface="Arial" panose="020B0604020202020204" pitchFamily="34" charset="0"/>
                        <a:buNone/>
                      </a:pPr>
                      <a:endParaRPr lang="en-IN" sz="1050" kern="1200">
                        <a:solidFill>
                          <a:schemeClr val="bg1"/>
                        </a:solidFill>
                        <a:latin typeface="Avenir Next LT Pro Ligh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002060"/>
                    </a:solidFill>
                  </a:tcPr>
                </a:tc>
                <a:tc>
                  <a:txBody>
                    <a:bodyPr/>
                    <a:lstStyle/>
                    <a:p>
                      <a:pPr marL="0" lvl="0" indent="0" algn="l">
                        <a:buNone/>
                      </a:pPr>
                      <a:r>
                        <a:rPr lang="en-IN" sz="1050" kern="1200">
                          <a:solidFill>
                            <a:schemeClr val="bg1"/>
                          </a:solidFill>
                          <a:latin typeface="Avenir Next LT Pro Light"/>
                          <a:ea typeface="+mn-ea"/>
                          <a:cs typeface="+mn-cs"/>
                        </a:rPr>
                        <a:t>Go Live Date</a:t>
                      </a: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a:solidFill>
                        <a:schemeClr val="bg1">
                          <a:lumMod val="75000"/>
                        </a:schemeClr>
                      </a:solidFill>
                    </a:lnB>
                    <a:solidFill>
                      <a:srgbClr val="002060"/>
                    </a:solidFill>
                  </a:tcPr>
                </a:tc>
                <a:tc>
                  <a:txBody>
                    <a:bodyPr/>
                    <a:lstStyle/>
                    <a:p>
                      <a:pPr marL="0" lvl="0" indent="0" algn="l">
                        <a:buNone/>
                      </a:pPr>
                      <a:r>
                        <a:rPr lang="en-IN" sz="1050" kern="1200">
                          <a:solidFill>
                            <a:schemeClr val="bg1"/>
                          </a:solidFill>
                          <a:latin typeface="Avenir Next LT Pro Light"/>
                          <a:ea typeface="+mn-ea"/>
                          <a:cs typeface="+mn-cs"/>
                        </a:rPr>
                        <a:t>JIRA</a:t>
                      </a: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solidFill>
                      <a:srgbClr val="002060"/>
                    </a:solidFill>
                  </a:tcPr>
                </a:tc>
                <a:extLst>
                  <a:ext uri="{0D108BD9-81ED-4DB2-BD59-A6C34878D82A}">
                    <a16:rowId xmlns:a16="http://schemas.microsoft.com/office/drawing/2014/main" val="844450115"/>
                  </a:ext>
                </a:extLst>
              </a:tr>
              <a:tr h="507559">
                <a:tc>
                  <a:txBody>
                    <a:bodyPr/>
                    <a:lstStyle/>
                    <a:p>
                      <a:pPr lvl="0" algn="l">
                        <a:lnSpc>
                          <a:spcPct val="100000"/>
                        </a:lnSpc>
                        <a:spcBef>
                          <a:spcPts val="0"/>
                        </a:spcBef>
                        <a:spcAft>
                          <a:spcPts val="0"/>
                        </a:spcAft>
                        <a:buNone/>
                      </a:pPr>
                      <a:r>
                        <a:rPr lang="en-US" sz="1100" b="1" i="0" u="none" strike="noStrike" kern="1200" noProof="0">
                          <a:solidFill>
                            <a:schemeClr val="tx1"/>
                          </a:solidFill>
                          <a:latin typeface="Nunito Sans"/>
                          <a:ea typeface="+mn-ea"/>
                          <a:cs typeface="+mn-cs"/>
                        </a:rPr>
                        <a:t>Stop Boarding toggle</a:t>
                      </a:r>
                      <a:endParaRPr lang="en-IN" sz="1100" b="0" i="0" u="none" strike="noStrike" kern="1200" noProof="0">
                        <a:solidFill>
                          <a:srgbClr val="000000"/>
                        </a:solidFill>
                        <a:latin typeface="Nunito Sans"/>
                        <a:ea typeface="+mn-ea"/>
                        <a:cs typeface="+mn-cs"/>
                      </a:endParaRPr>
                    </a:p>
                    <a:p>
                      <a:pPr marL="0" lvl="0" indent="0" algn="l" defTabSz="914400">
                        <a:lnSpc>
                          <a:spcPct val="100000"/>
                        </a:lnSpc>
                        <a:spcBef>
                          <a:spcPts val="0"/>
                        </a:spcBef>
                        <a:spcAft>
                          <a:spcPts val="0"/>
                        </a:spcAft>
                        <a:buNone/>
                      </a:pPr>
                      <a:endParaRPr lang="en-IN" sz="1100" b="1" i="0" u="none" strike="noStrike" kern="1200" noProof="0">
                        <a:solidFill>
                          <a:schemeClr val="tx1"/>
                        </a:solidFill>
                        <a:latin typeface="Nunito Sans"/>
                        <a:ea typeface="+mn-ea"/>
                        <a:cs typeface="+mn-cs"/>
                      </a:endParaRPr>
                    </a:p>
                  </a:txBody>
                  <a:tcPr anchor="ctr">
                    <a:lnL w="6350">
                      <a:solidFill>
                        <a:schemeClr val="bg1">
                          <a:lumMod val="75000"/>
                        </a:schemeClr>
                      </a:solidFill>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171450" marR="0" lvl="0" indent="-171450" algn="l" rtl="0">
                        <a:lnSpc>
                          <a:spcPts val="1425"/>
                        </a:lnSpc>
                        <a:buClr>
                          <a:srgbClr val="000000"/>
                        </a:buClr>
                        <a:buSzTx/>
                        <a:buFont typeface="Arial,Sans-Serif"/>
                        <a:buChar char="•"/>
                      </a:pPr>
                      <a:r>
                        <a:rPr lang="en-US" sz="1100" b="0" i="0" u="none" strike="noStrike" kern="1200" noProof="0">
                          <a:solidFill>
                            <a:schemeClr val="tx1"/>
                          </a:solidFill>
                          <a:effectLst/>
                          <a:latin typeface="Nunito Sans"/>
                          <a:ea typeface="+mn-ea"/>
                          <a:cs typeface="+mn-cs"/>
                        </a:rPr>
                        <a:t>Functionality to stop the boarding of passengers in case of any unforeseen event utilizing a set of events </a:t>
                      </a:r>
                      <a:endParaRPr lang="en-IN" sz="1100" b="0" i="0" u="none" strike="noStrike" kern="1200" noProof="0">
                        <a:solidFill>
                          <a:srgbClr val="000000"/>
                        </a:solidFill>
                        <a:effectLst/>
                        <a:latin typeface="Nunito Sans"/>
                        <a:ea typeface="+mn-ea"/>
                        <a:cs typeface="+mn-cs"/>
                      </a:endParaRPr>
                    </a:p>
                    <a:p>
                      <a:pPr marL="171450" marR="0" lvl="0" indent="-171450" algn="l">
                        <a:lnSpc>
                          <a:spcPct val="100000"/>
                        </a:lnSpc>
                        <a:spcBef>
                          <a:spcPts val="0"/>
                        </a:spcBef>
                        <a:spcAft>
                          <a:spcPts val="0"/>
                        </a:spcAft>
                        <a:buClr>
                          <a:srgbClr val="000000"/>
                        </a:buClr>
                        <a:buSzTx/>
                        <a:buFont typeface="Arial"/>
                        <a:buChar char="•"/>
                      </a:pPr>
                      <a:endParaRPr lang="en-GB" sz="1100" b="0" i="0" u="none" strike="noStrike" kern="1200" noProof="0">
                        <a:solidFill>
                          <a:schemeClr val="tx1"/>
                        </a:solidFill>
                        <a:effectLst/>
                        <a:latin typeface="Nunito Sans"/>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lvl="0" indent="0" algn="l">
                        <a:lnSpc>
                          <a:spcPct val="100000"/>
                        </a:lnSpc>
                        <a:spcBef>
                          <a:spcPts val="0"/>
                        </a:spcBef>
                        <a:spcAft>
                          <a:spcPts val="0"/>
                        </a:spcAft>
                        <a:buNone/>
                      </a:pPr>
                      <a:r>
                        <a:rPr lang="en-GB" sz="1100" b="0" i="0" u="none" strike="noStrike" kern="1200" noProof="0">
                          <a:solidFill>
                            <a:schemeClr val="tx1"/>
                          </a:solidFill>
                          <a:effectLst/>
                          <a:latin typeface="Nunito Sans"/>
                          <a:ea typeface="+mn-ea"/>
                          <a:cs typeface="+mn-cs"/>
                        </a:rPr>
                        <a:t>29th June</a:t>
                      </a: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a:solidFill>
                        <a:schemeClr val="bg1">
                          <a:lumMod val="75000"/>
                        </a:schemeClr>
                      </a:solidFill>
                    </a:lnB>
                    <a:solidFill>
                      <a:schemeClr val="bg1"/>
                    </a:solidFill>
                  </a:tcPr>
                </a:tc>
                <a:tc>
                  <a:txBody>
                    <a:bodyPr/>
                    <a:lstStyle/>
                    <a:p>
                      <a:pPr marL="0" lvl="0" indent="0" algn="l">
                        <a:lnSpc>
                          <a:spcPct val="100000"/>
                        </a:lnSpc>
                        <a:spcBef>
                          <a:spcPts val="0"/>
                        </a:spcBef>
                        <a:spcAft>
                          <a:spcPts val="0"/>
                        </a:spcAft>
                        <a:buNone/>
                      </a:pPr>
                      <a:r>
                        <a:rPr lang="en-GB" sz="1100" b="0" i="0" u="none" strike="noStrike" kern="1200" noProof="0">
                          <a:solidFill>
                            <a:schemeClr val="tx1"/>
                          </a:solidFill>
                          <a:effectLst/>
                          <a:hlinkClick r:id="rId3"/>
                        </a:rPr>
                        <a:t>Link</a:t>
                      </a:r>
                      <a:endParaRPr lang="en-GB" sz="1100" b="0" i="0" u="none" strike="noStrike" kern="1200" noProof="0">
                        <a:solidFill>
                          <a:schemeClr val="tx1"/>
                        </a:solidFill>
                        <a:effectLst/>
                      </a:endParaRP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solidFill>
                      <a:schemeClr val="bg1"/>
                    </a:solidFill>
                  </a:tcPr>
                </a:tc>
                <a:extLst>
                  <a:ext uri="{0D108BD9-81ED-4DB2-BD59-A6C34878D82A}">
                    <a16:rowId xmlns:a16="http://schemas.microsoft.com/office/drawing/2014/main" val="3951168155"/>
                  </a:ext>
                </a:extLst>
              </a:tr>
              <a:tr h="507559">
                <a:tc>
                  <a:txBody>
                    <a:bodyPr/>
                    <a:lstStyle/>
                    <a:p>
                      <a:pPr lvl="0" algn="l">
                        <a:lnSpc>
                          <a:spcPct val="100000"/>
                        </a:lnSpc>
                        <a:spcBef>
                          <a:spcPts val="0"/>
                        </a:spcBef>
                        <a:spcAft>
                          <a:spcPts val="0"/>
                        </a:spcAft>
                        <a:buNone/>
                      </a:pPr>
                      <a:r>
                        <a:rPr lang="en-US" sz="1100" b="1" i="0" u="none" strike="noStrike" kern="1200" noProof="0">
                          <a:solidFill>
                            <a:schemeClr val="tx1"/>
                          </a:solidFill>
                          <a:latin typeface="Nunito Sans"/>
                          <a:ea typeface="+mn-ea"/>
                          <a:cs typeface="+mn-cs"/>
                        </a:rPr>
                        <a:t>TRC Support Information</a:t>
                      </a:r>
                      <a:endParaRPr lang="en-IN" sz="1100" b="0" i="0" u="none" strike="noStrike" kern="1200" noProof="0">
                        <a:solidFill>
                          <a:srgbClr val="000000"/>
                        </a:solidFill>
                        <a:latin typeface="Nunito Sans"/>
                        <a:ea typeface="+mn-ea"/>
                        <a:cs typeface="+mn-cs"/>
                      </a:endParaRPr>
                    </a:p>
                  </a:txBody>
                  <a:tcPr anchor="ctr">
                    <a:lnL w="6350">
                      <a:solidFill>
                        <a:schemeClr val="bg1">
                          <a:lumMod val="75000"/>
                        </a:schemeClr>
                      </a:solidFill>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171450" marR="0" lvl="0" indent="-171450" algn="l" rtl="0">
                        <a:lnSpc>
                          <a:spcPts val="1425"/>
                        </a:lnSpc>
                        <a:spcBef>
                          <a:spcPts val="0"/>
                        </a:spcBef>
                        <a:spcAft>
                          <a:spcPts val="0"/>
                        </a:spcAft>
                        <a:buClr>
                          <a:srgbClr val="000000"/>
                        </a:buClr>
                        <a:buSzTx/>
                        <a:buFont typeface="Arial,Sans-Serif"/>
                        <a:buChar char="•"/>
                      </a:pPr>
                      <a:r>
                        <a:rPr lang="en-IN" sz="1100" b="0" i="0" u="none" strike="noStrike" kern="1200" noProof="0">
                          <a:solidFill>
                            <a:schemeClr val="tx1"/>
                          </a:solidFill>
                          <a:effectLst/>
                          <a:latin typeface="Nunito Sans"/>
                          <a:ea typeface="+mn-ea"/>
                          <a:cs typeface="+mn-cs"/>
                        </a:rPr>
                        <a:t>Additional information required in PTS Module including Load and Trim sheet related tasks, gate, live baggage count etc.</a:t>
                      </a:r>
                      <a:endParaRPr lang="en-US" sz="1100" b="0" i="0" u="none" strike="noStrike" kern="1200" noProof="0">
                        <a:solidFill>
                          <a:srgbClr val="000000"/>
                        </a:solidFill>
                        <a:effectLst/>
                        <a:latin typeface="Nunito Sans"/>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lvl="0" indent="0" algn="l">
                        <a:lnSpc>
                          <a:spcPts val="1425"/>
                        </a:lnSpc>
                        <a:spcBef>
                          <a:spcPts val="0"/>
                        </a:spcBef>
                        <a:spcAft>
                          <a:spcPts val="0"/>
                        </a:spcAft>
                        <a:buNone/>
                      </a:pPr>
                      <a:r>
                        <a:rPr lang="en-GB" sz="1100" b="0" i="0" u="none" strike="noStrike" kern="1200" noProof="0">
                          <a:solidFill>
                            <a:schemeClr val="tx1"/>
                          </a:solidFill>
                          <a:effectLst/>
                          <a:latin typeface="Nunito Sans"/>
                          <a:ea typeface="+mn-ea"/>
                          <a:cs typeface="+mn-cs"/>
                        </a:rPr>
                        <a:t>29th June</a:t>
                      </a:r>
                      <a:endParaRPr lang="en-IN" sz="1100" b="0" i="0" u="none" strike="noStrike" kern="1200" noProof="0">
                        <a:solidFill>
                          <a:srgbClr val="000000"/>
                        </a:solidFill>
                        <a:effectLst/>
                        <a:latin typeface="Nunito Sans"/>
                        <a:ea typeface="+mn-ea"/>
                        <a:cs typeface="+mn-cs"/>
                      </a:endParaRP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a:solidFill>
                        <a:schemeClr val="bg1">
                          <a:lumMod val="75000"/>
                        </a:schemeClr>
                      </a:solidFill>
                    </a:lnB>
                    <a:solidFill>
                      <a:schemeClr val="bg1"/>
                    </a:solidFill>
                  </a:tcPr>
                </a:tc>
                <a:tc>
                  <a:txBody>
                    <a:bodyPr/>
                    <a:lstStyle/>
                    <a:p>
                      <a:pPr marL="0" lvl="0" indent="0" algn="l">
                        <a:lnSpc>
                          <a:spcPts val="1425"/>
                        </a:lnSpc>
                        <a:spcBef>
                          <a:spcPts val="0"/>
                        </a:spcBef>
                        <a:spcAft>
                          <a:spcPts val="0"/>
                        </a:spcAft>
                        <a:buNone/>
                      </a:pPr>
                      <a:r>
                        <a:rPr lang="en-GB" sz="1100" b="0" i="0" u="none" strike="noStrike" kern="1200" noProof="0">
                          <a:solidFill>
                            <a:schemeClr val="tx1"/>
                          </a:solidFill>
                          <a:effectLst/>
                          <a:hlinkClick r:id="rId4"/>
                        </a:rPr>
                        <a:t>Link</a:t>
                      </a:r>
                      <a:endParaRPr lang="en-GB" sz="1100" b="0" i="0" u="none" strike="noStrike" kern="1200" noProof="0">
                        <a:solidFill>
                          <a:schemeClr val="tx1"/>
                        </a:solidFill>
                        <a:effectLst/>
                      </a:endParaRP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solidFill>
                      <a:schemeClr val="bg1"/>
                    </a:solidFill>
                  </a:tcPr>
                </a:tc>
                <a:extLst>
                  <a:ext uri="{0D108BD9-81ED-4DB2-BD59-A6C34878D82A}">
                    <a16:rowId xmlns:a16="http://schemas.microsoft.com/office/drawing/2014/main" val="3158025952"/>
                  </a:ext>
                </a:extLst>
              </a:tr>
              <a:tr h="507559">
                <a:tc>
                  <a:txBody>
                    <a:bodyPr/>
                    <a:lstStyle/>
                    <a:p>
                      <a:pPr lvl="0" algn="l">
                        <a:lnSpc>
                          <a:spcPct val="100000"/>
                        </a:lnSpc>
                        <a:spcBef>
                          <a:spcPts val="0"/>
                        </a:spcBef>
                        <a:spcAft>
                          <a:spcPts val="0"/>
                        </a:spcAft>
                        <a:buNone/>
                      </a:pPr>
                      <a:r>
                        <a:rPr lang="en-US" sz="1100" b="1" i="0" u="none" strike="noStrike" kern="1200" noProof="0">
                          <a:solidFill>
                            <a:schemeClr val="tx1"/>
                          </a:solidFill>
                          <a:latin typeface="Nunito Sans"/>
                          <a:ea typeface="+mn-ea"/>
                          <a:cs typeface="+mn-cs"/>
                        </a:rPr>
                        <a:t>Live Operations Dashboard</a:t>
                      </a:r>
                      <a:endParaRPr lang="en-US" sz="1100" b="0" i="0" u="none" strike="noStrike" kern="1200" noProof="0">
                        <a:solidFill>
                          <a:srgbClr val="000000"/>
                        </a:solidFill>
                        <a:latin typeface="Nunito Sans"/>
                        <a:ea typeface="+mn-ea"/>
                        <a:cs typeface="+mn-cs"/>
                      </a:endParaRP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171450" marR="0" lvl="0" indent="-171450" algn="l">
                        <a:lnSpc>
                          <a:spcPts val="1425"/>
                        </a:lnSpc>
                        <a:spcBef>
                          <a:spcPts val="0"/>
                        </a:spcBef>
                        <a:spcAft>
                          <a:spcPts val="0"/>
                        </a:spcAft>
                        <a:buClr>
                          <a:srgbClr val="000000"/>
                        </a:buClr>
                        <a:buFont typeface="Arial,Sans-Serif"/>
                        <a:buChar char="•"/>
                      </a:pPr>
                      <a:r>
                        <a:rPr lang="en-IN" sz="1100" b="0" i="0" u="none" strike="noStrike" kern="1200" noProof="0">
                          <a:solidFill>
                            <a:schemeClr val="tx1"/>
                          </a:solidFill>
                          <a:effectLst/>
                          <a:latin typeface="Nunito Sans"/>
                          <a:ea typeface="+mn-ea"/>
                          <a:cs typeface="+mn-cs"/>
                        </a:rPr>
                        <a:t>Operations to define a live dashboard with key information for day to day activities</a:t>
                      </a:r>
                      <a:endParaRPr lang="en-US" sz="1100" b="0" i="0" u="none" strike="noStrike" kern="1200" noProof="0">
                        <a:solidFill>
                          <a:srgbClr val="000000"/>
                        </a:solidFill>
                        <a:effectLst/>
                        <a:latin typeface="Nunito Sans"/>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lvl="0" indent="0" algn="l">
                        <a:lnSpc>
                          <a:spcPts val="1425"/>
                        </a:lnSpc>
                        <a:spcBef>
                          <a:spcPts val="0"/>
                        </a:spcBef>
                        <a:spcAft>
                          <a:spcPts val="0"/>
                        </a:spcAft>
                        <a:buNone/>
                      </a:pPr>
                      <a:r>
                        <a:rPr lang="en-GB" sz="1100" b="0" i="0" u="none" strike="noStrike" kern="1200" noProof="0">
                          <a:solidFill>
                            <a:schemeClr val="tx1"/>
                          </a:solidFill>
                          <a:effectLst/>
                          <a:latin typeface="Nunito Sans"/>
                          <a:ea typeface="+mn-ea"/>
                          <a:cs typeface="+mn-cs"/>
                        </a:rPr>
                        <a:t>29th June</a:t>
                      </a:r>
                      <a:endParaRPr lang="en-US" sz="1100" b="0" i="0" u="none" strike="noStrike" kern="1200" noProof="0">
                        <a:solidFill>
                          <a:srgbClr val="000000"/>
                        </a:solidFill>
                        <a:effectLst/>
                        <a:latin typeface="Nunito Sans"/>
                        <a:ea typeface="+mn-ea"/>
                        <a:cs typeface="+mn-cs"/>
                      </a:endParaRP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a:solidFill>
                        <a:schemeClr val="bg1">
                          <a:lumMod val="75000"/>
                        </a:schemeClr>
                      </a:solidFill>
                    </a:lnB>
                    <a:solidFill>
                      <a:schemeClr val="bg1"/>
                    </a:solidFill>
                  </a:tcPr>
                </a:tc>
                <a:tc>
                  <a:txBody>
                    <a:bodyPr/>
                    <a:lstStyle/>
                    <a:p>
                      <a:pPr marL="0" lvl="0" indent="0" algn="l">
                        <a:lnSpc>
                          <a:spcPts val="1425"/>
                        </a:lnSpc>
                        <a:spcBef>
                          <a:spcPts val="0"/>
                        </a:spcBef>
                        <a:spcAft>
                          <a:spcPts val="0"/>
                        </a:spcAft>
                        <a:buNone/>
                      </a:pPr>
                      <a:r>
                        <a:rPr lang="en-GB" sz="1100" b="0" i="0" u="none" strike="noStrike" kern="1200" noProof="0">
                          <a:solidFill>
                            <a:schemeClr val="tx1"/>
                          </a:solidFill>
                          <a:effectLst/>
                          <a:latin typeface="Nunito Sans"/>
                          <a:ea typeface="+mn-ea"/>
                          <a:cs typeface="+mn-cs"/>
                          <a:hlinkClick r:id="rId5"/>
                        </a:rPr>
                        <a:t>Link</a:t>
                      </a:r>
                      <a:endParaRPr lang="en-GB" sz="1100" b="0" i="0" u="none" strike="noStrike" kern="1200" noProof="0">
                        <a:solidFill>
                          <a:schemeClr val="tx1"/>
                        </a:solidFill>
                        <a:effectLst/>
                        <a:latin typeface="Nunito Sans"/>
                        <a:ea typeface="+mn-ea"/>
                        <a:cs typeface="+mn-cs"/>
                      </a:endParaRP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solidFill>
                      <a:schemeClr val="bg1"/>
                    </a:solidFill>
                  </a:tcPr>
                </a:tc>
                <a:extLst>
                  <a:ext uri="{0D108BD9-81ED-4DB2-BD59-A6C34878D82A}">
                    <a16:rowId xmlns:a16="http://schemas.microsoft.com/office/drawing/2014/main" val="3137591102"/>
                  </a:ext>
                </a:extLst>
              </a:tr>
              <a:tr h="507559">
                <a:tc>
                  <a:txBody>
                    <a:bodyPr/>
                    <a:lstStyle/>
                    <a:p>
                      <a:pPr lvl="0" algn="l">
                        <a:lnSpc>
                          <a:spcPct val="100000"/>
                        </a:lnSpc>
                        <a:spcBef>
                          <a:spcPts val="0"/>
                        </a:spcBef>
                        <a:spcAft>
                          <a:spcPts val="0"/>
                        </a:spcAft>
                        <a:buNone/>
                      </a:pPr>
                      <a:r>
                        <a:rPr lang="en-US" sz="1100" b="1" i="0" u="none" strike="noStrike" kern="1200" noProof="0">
                          <a:solidFill>
                            <a:schemeClr val="tx1"/>
                          </a:solidFill>
                          <a:latin typeface="Nunito Sans"/>
                          <a:ea typeface="+mn-ea"/>
                          <a:cs typeface="+mn-cs"/>
                        </a:rPr>
                        <a:t>Chat &amp; Task Assignment Capabilities</a:t>
                      </a:r>
                      <a:endParaRPr lang="en-US" sz="1100" b="0" i="0" u="none" strike="noStrike" kern="1200" noProof="0">
                        <a:solidFill>
                          <a:srgbClr val="000000"/>
                        </a:solidFill>
                        <a:latin typeface="Nunito Sans"/>
                        <a:ea typeface="+mn-ea"/>
                        <a:cs typeface="+mn-cs"/>
                      </a:endParaRP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solidFill>
                      <a:schemeClr val="bg1"/>
                    </a:solidFill>
                  </a:tcPr>
                </a:tc>
                <a:tc>
                  <a:txBody>
                    <a:bodyPr/>
                    <a:lstStyle/>
                    <a:p>
                      <a:pPr marL="171450" marR="0" lvl="0" indent="-171450" algn="l">
                        <a:lnSpc>
                          <a:spcPts val="1425"/>
                        </a:lnSpc>
                        <a:spcBef>
                          <a:spcPts val="0"/>
                        </a:spcBef>
                        <a:spcAft>
                          <a:spcPts val="0"/>
                        </a:spcAft>
                        <a:buClr>
                          <a:srgbClr val="000000"/>
                        </a:buClr>
                        <a:buFont typeface="Arial,Sans-Serif"/>
                        <a:buChar char="•"/>
                      </a:pPr>
                      <a:r>
                        <a:rPr lang="en-IN" sz="1100" b="0" i="0" u="none" strike="noStrike" kern="1200" noProof="0">
                          <a:solidFill>
                            <a:schemeClr val="tx1"/>
                          </a:solidFill>
                          <a:effectLst/>
                          <a:latin typeface="Nunito Sans"/>
                          <a:ea typeface="+mn-ea"/>
                          <a:cs typeface="+mn-cs"/>
                        </a:rPr>
                        <a:t>Role based chat and task assignment capabilities for audit and assignment of critical tasks currently being performed ad-hoc and on non Air India systems</a:t>
                      </a:r>
                      <a:endParaRPr lang="en-US" sz="1100" b="0" i="0" u="none" strike="noStrike" kern="1200" noProof="0">
                        <a:solidFill>
                          <a:srgbClr val="000000"/>
                        </a:solidFill>
                        <a:effectLst/>
                        <a:latin typeface="Nunito Sans"/>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a:solidFill>
                        <a:schemeClr val="bg1">
                          <a:lumMod val="75000"/>
                        </a:schemeClr>
                      </a:solidFill>
                    </a:lnB>
                    <a:solidFill>
                      <a:schemeClr val="bg1"/>
                    </a:solidFill>
                  </a:tcPr>
                </a:tc>
                <a:tc>
                  <a:txBody>
                    <a:bodyPr/>
                    <a:lstStyle/>
                    <a:p>
                      <a:pPr marL="0" lvl="0" indent="0" algn="l">
                        <a:lnSpc>
                          <a:spcPts val="1425"/>
                        </a:lnSpc>
                        <a:spcBef>
                          <a:spcPts val="0"/>
                        </a:spcBef>
                        <a:spcAft>
                          <a:spcPts val="0"/>
                        </a:spcAft>
                        <a:buNone/>
                      </a:pPr>
                      <a:r>
                        <a:rPr lang="en-GB" sz="1100" b="0" i="0" u="none" strike="noStrike" kern="1200" noProof="0">
                          <a:solidFill>
                            <a:schemeClr val="tx1"/>
                          </a:solidFill>
                          <a:effectLst/>
                          <a:latin typeface="Nunito Sans"/>
                          <a:ea typeface="+mn-ea"/>
                          <a:cs typeface="+mn-cs"/>
                        </a:rPr>
                        <a:t>29th June</a:t>
                      </a:r>
                      <a:endParaRPr lang="en-US" sz="1100" b="0" i="0" u="none" strike="noStrike" kern="1200" noProof="0">
                        <a:solidFill>
                          <a:srgbClr val="000000"/>
                        </a:solidFill>
                        <a:effectLst/>
                        <a:latin typeface="Nunito Sans"/>
                        <a:ea typeface="+mn-ea"/>
                        <a:cs typeface="+mn-cs"/>
                      </a:endParaRP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a:solidFill>
                        <a:schemeClr val="bg1">
                          <a:lumMod val="75000"/>
                        </a:schemeClr>
                      </a:solidFill>
                    </a:lnB>
                    <a:solidFill>
                      <a:schemeClr val="bg1"/>
                    </a:solidFill>
                  </a:tcPr>
                </a:tc>
                <a:tc>
                  <a:txBody>
                    <a:bodyPr/>
                    <a:lstStyle/>
                    <a:p>
                      <a:pPr marL="0" lvl="0" indent="0" algn="l">
                        <a:lnSpc>
                          <a:spcPts val="1425"/>
                        </a:lnSpc>
                        <a:spcBef>
                          <a:spcPts val="0"/>
                        </a:spcBef>
                        <a:spcAft>
                          <a:spcPts val="0"/>
                        </a:spcAft>
                        <a:buNone/>
                      </a:pPr>
                      <a:r>
                        <a:rPr lang="en-GB" sz="1100" b="0" i="0" u="none" strike="noStrike" kern="1200" noProof="0">
                          <a:solidFill>
                            <a:schemeClr val="tx1"/>
                          </a:solidFill>
                          <a:effectLst/>
                          <a:latin typeface="Nunito Sans"/>
                          <a:ea typeface="+mn-ea"/>
                          <a:cs typeface="+mn-cs"/>
                          <a:hlinkClick r:id="rId6"/>
                        </a:rPr>
                        <a:t>Link</a:t>
                      </a:r>
                      <a:endParaRPr lang="en-GB" sz="1100" b="0" i="0" u="none" strike="noStrike" kern="1200" noProof="0">
                        <a:solidFill>
                          <a:schemeClr val="tx1"/>
                        </a:solidFill>
                        <a:effectLst/>
                        <a:latin typeface="Nunito Sans"/>
                        <a:ea typeface="+mn-ea"/>
                        <a:cs typeface="+mn-cs"/>
                      </a:endParaRP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solidFill>
                      <a:schemeClr val="bg1"/>
                    </a:solidFill>
                  </a:tcPr>
                </a:tc>
                <a:extLst>
                  <a:ext uri="{0D108BD9-81ED-4DB2-BD59-A6C34878D82A}">
                    <a16:rowId xmlns:a16="http://schemas.microsoft.com/office/drawing/2014/main" val="2366675274"/>
                  </a:ext>
                </a:extLst>
              </a:tr>
            </a:tbl>
          </a:graphicData>
        </a:graphic>
      </p:graphicFrame>
      <p:sp>
        <p:nvSpPr>
          <p:cNvPr id="26" name="TextBox 25">
            <a:extLst>
              <a:ext uri="{FF2B5EF4-FFF2-40B4-BE49-F238E27FC236}">
                <a16:creationId xmlns:a16="http://schemas.microsoft.com/office/drawing/2014/main" id="{BFB31422-B3CE-34B6-3CE8-7A7CC68D7BCF}"/>
              </a:ext>
            </a:extLst>
          </p:cNvPr>
          <p:cNvSpPr txBox="1"/>
          <p:nvPr/>
        </p:nvSpPr>
        <p:spPr>
          <a:xfrm>
            <a:off x="343955" y="3897931"/>
            <a:ext cx="417102" cy="253916"/>
          </a:xfrm>
          <a:prstGeom prst="rect">
            <a:avLst/>
          </a:prstGeom>
          <a:noFill/>
        </p:spPr>
        <p:txBody>
          <a:bodyPr wrap="none" lIns="91440" tIns="45720" rIns="91440" bIns="45720" rtlCol="0" anchor="t">
            <a:spAutoFit/>
          </a:bodyPr>
          <a:lstStyle/>
          <a:p>
            <a:r>
              <a:rPr lang="en-IN" sz="1050" b="1">
                <a:solidFill>
                  <a:schemeClr val="bg1"/>
                </a:solidFill>
                <a:latin typeface="Montserrat Light"/>
              </a:rPr>
              <a:t>Jan</a:t>
            </a:r>
            <a:endParaRPr lang="en-IN" sz="1050" b="1">
              <a:solidFill>
                <a:schemeClr val="bg1"/>
              </a:solidFill>
              <a:latin typeface="Montserrat Light" pitchFamily="2" charset="0"/>
            </a:endParaRPr>
          </a:p>
        </p:txBody>
      </p:sp>
      <p:sp>
        <p:nvSpPr>
          <p:cNvPr id="27" name="TextBox 15">
            <a:extLst>
              <a:ext uri="{FF2B5EF4-FFF2-40B4-BE49-F238E27FC236}">
                <a16:creationId xmlns:a16="http://schemas.microsoft.com/office/drawing/2014/main" id="{A34A16B2-0DD6-A012-7162-D61433D8CBD0}"/>
              </a:ext>
            </a:extLst>
          </p:cNvPr>
          <p:cNvSpPr txBox="1"/>
          <p:nvPr/>
        </p:nvSpPr>
        <p:spPr>
          <a:xfrm>
            <a:off x="398384" y="817274"/>
            <a:ext cx="417102" cy="253916"/>
          </a:xfrm>
          <a:prstGeom prst="rect">
            <a:avLst/>
          </a:prstGeom>
          <a:noFill/>
        </p:spPr>
        <p:txBody>
          <a:bodyPr wrap="non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050" b="1">
                <a:solidFill>
                  <a:schemeClr val="bg1"/>
                </a:solidFill>
                <a:latin typeface="Montserrat Light"/>
              </a:rPr>
              <a:t>Jan</a:t>
            </a:r>
            <a:endParaRPr lang="en-IN" sz="1050" b="1">
              <a:solidFill>
                <a:schemeClr val="bg1"/>
              </a:solidFill>
              <a:latin typeface="Montserrat Light" pitchFamily="2" charset="0"/>
            </a:endParaRPr>
          </a:p>
        </p:txBody>
      </p:sp>
      <p:sp>
        <p:nvSpPr>
          <p:cNvPr id="29" name="Rectangle 28">
            <a:extLst>
              <a:ext uri="{FF2B5EF4-FFF2-40B4-BE49-F238E27FC236}">
                <a16:creationId xmlns:a16="http://schemas.microsoft.com/office/drawing/2014/main" id="{67058735-3FC0-1FF7-AACA-94BB204E0095}"/>
              </a:ext>
            </a:extLst>
          </p:cNvPr>
          <p:cNvSpPr/>
          <p:nvPr/>
        </p:nvSpPr>
        <p:spPr>
          <a:xfrm>
            <a:off x="-4474" y="793560"/>
            <a:ext cx="1067526" cy="42234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IN" sz="1400" b="1">
                <a:latin typeface="AirIndia"/>
              </a:rPr>
              <a:t>Jun ‘26</a:t>
            </a:r>
          </a:p>
        </p:txBody>
      </p:sp>
      <p:pic>
        <p:nvPicPr>
          <p:cNvPr id="34" name="Picture 33">
            <a:extLst>
              <a:ext uri="{FF2B5EF4-FFF2-40B4-BE49-F238E27FC236}">
                <a16:creationId xmlns:a16="http://schemas.microsoft.com/office/drawing/2014/main" id="{2BEC2B2C-8118-F9C2-6C56-987EE558FD86}"/>
              </a:ext>
            </a:extLst>
          </p:cNvPr>
          <p:cNvPicPr>
            <a:picLocks noChangeAspect="1"/>
          </p:cNvPicPr>
          <p:nvPr/>
        </p:nvPicPr>
        <p:blipFill>
          <a:blip r:embed="rId7"/>
          <a:stretch>
            <a:fillRect/>
          </a:stretch>
        </p:blipFill>
        <p:spPr>
          <a:xfrm>
            <a:off x="306161" y="6532789"/>
            <a:ext cx="8248650" cy="323850"/>
          </a:xfrm>
          <a:prstGeom prst="rect">
            <a:avLst/>
          </a:prstGeom>
        </p:spPr>
      </p:pic>
    </p:spTree>
    <p:extLst>
      <p:ext uri="{BB962C8B-B14F-4D97-AF65-F5344CB8AC3E}">
        <p14:creationId xmlns:p14="http://schemas.microsoft.com/office/powerpoint/2010/main" val="255650738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F7D29C-2A77-4ADA-C4D2-6A93259DAD65}"/>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AE38CA6-C6B8-FBE0-2942-0DC96B6B667C}"/>
              </a:ext>
            </a:extLst>
          </p:cNvPr>
          <p:cNvSpPr>
            <a:spLocks noGrp="1"/>
          </p:cNvSpPr>
          <p:nvPr>
            <p:ph type="sldNum" sz="quarter" idx="12"/>
          </p:nvPr>
        </p:nvSpPr>
        <p:spPr/>
        <p:txBody>
          <a:bodyPr/>
          <a:lstStyle/>
          <a:p>
            <a:fld id="{3A41A254-7326-714E-AF55-4C213D6394DE}" type="slidenum">
              <a:rPr lang="en-US" sz="900" smtClean="0">
                <a:latin typeface="Montserrat Light" pitchFamily="2" charset="0"/>
              </a:rPr>
              <a:pPr/>
              <a:t>73</a:t>
            </a:fld>
            <a:endParaRPr lang="en-US" sz="900">
              <a:latin typeface="Montserrat Light" pitchFamily="2" charset="0"/>
            </a:endParaRPr>
          </a:p>
        </p:txBody>
      </p:sp>
      <p:sp>
        <p:nvSpPr>
          <p:cNvPr id="6" name="Title 11">
            <a:extLst>
              <a:ext uri="{FF2B5EF4-FFF2-40B4-BE49-F238E27FC236}">
                <a16:creationId xmlns:a16="http://schemas.microsoft.com/office/drawing/2014/main" id="{9C2B1B0C-DA5A-E14D-50B7-0C6A961D1DF0}"/>
              </a:ext>
            </a:extLst>
          </p:cNvPr>
          <p:cNvSpPr txBox="1">
            <a:spLocks/>
          </p:cNvSpPr>
          <p:nvPr/>
        </p:nvSpPr>
        <p:spPr>
          <a:xfrm>
            <a:off x="304800" y="269218"/>
            <a:ext cx="8420100" cy="396638"/>
          </a:xfrm>
          <a:prstGeom prst="rect">
            <a:avLst/>
          </a:prstGeom>
        </p:spPr>
        <p:txBody>
          <a:bodyPr lIns="91440" tIns="45720" rIns="91440" bIns="45720" anchor="t">
            <a:noAutofit/>
          </a:bodyPr>
          <a:lstStyle>
            <a:lvl1pPr algn="l" defTabSz="914400" rtl="0" eaLnBrk="1" latinLnBrk="0" hangingPunct="1">
              <a:lnSpc>
                <a:spcPct val="90000"/>
              </a:lnSpc>
              <a:spcBef>
                <a:spcPct val="0"/>
              </a:spcBef>
              <a:buNone/>
              <a:defRPr sz="4400" b="1" i="0" kern="1200">
                <a:solidFill>
                  <a:schemeClr val="tx1"/>
                </a:solidFill>
                <a:latin typeface="AirIndia" pitchFamily="82" charset="77"/>
                <a:ea typeface="+mj-ea"/>
                <a:cs typeface="+mj-cs"/>
              </a:defRPr>
            </a:lvl1pPr>
          </a:lstStyle>
          <a:p>
            <a:r>
              <a:rPr lang="en-US" sz="1800">
                <a:solidFill>
                  <a:srgbClr val="C00000"/>
                </a:solidFill>
                <a:latin typeface="AirIndia"/>
              </a:rPr>
              <a:t>AI Flight Pro- FY27 Q1  Release Plan </a:t>
            </a:r>
            <a:endParaRPr lang="en-US" sz="1800" b="0">
              <a:solidFill>
                <a:srgbClr val="C00000"/>
              </a:solidFill>
              <a:latin typeface="AirIndia"/>
            </a:endParaRPr>
          </a:p>
        </p:txBody>
      </p:sp>
      <p:graphicFrame>
        <p:nvGraphicFramePr>
          <p:cNvPr id="4" name="Table 3">
            <a:extLst>
              <a:ext uri="{FF2B5EF4-FFF2-40B4-BE49-F238E27FC236}">
                <a16:creationId xmlns:a16="http://schemas.microsoft.com/office/drawing/2014/main" id="{4606CEDD-D946-9856-19B4-B1F43B22CE7A}"/>
              </a:ext>
            </a:extLst>
          </p:cNvPr>
          <p:cNvGraphicFramePr>
            <a:graphicFrameLocks noGrp="1"/>
          </p:cNvGraphicFramePr>
          <p:nvPr>
            <p:extLst>
              <p:ext uri="{D42A27DB-BD31-4B8C-83A1-F6EECF244321}">
                <p14:modId xmlns:p14="http://schemas.microsoft.com/office/powerpoint/2010/main" val="439849406"/>
              </p:ext>
            </p:extLst>
          </p:nvPr>
        </p:nvGraphicFramePr>
        <p:xfrm>
          <a:off x="1090849" y="792699"/>
          <a:ext cx="9607430" cy="4145615"/>
        </p:xfrm>
        <a:graphic>
          <a:graphicData uri="http://schemas.openxmlformats.org/drawingml/2006/table">
            <a:tbl>
              <a:tblPr firstRow="1" bandRow="1">
                <a:tableStyleId>{5C22544A-7EE6-4342-B048-85BDC9FD1C3A}</a:tableStyleId>
              </a:tblPr>
              <a:tblGrid>
                <a:gridCol w="1269999">
                  <a:extLst>
                    <a:ext uri="{9D8B030D-6E8A-4147-A177-3AD203B41FA5}">
                      <a16:colId xmlns:a16="http://schemas.microsoft.com/office/drawing/2014/main" val="1118630623"/>
                    </a:ext>
                  </a:extLst>
                </a:gridCol>
                <a:gridCol w="6239457">
                  <a:extLst>
                    <a:ext uri="{9D8B030D-6E8A-4147-A177-3AD203B41FA5}">
                      <a16:colId xmlns:a16="http://schemas.microsoft.com/office/drawing/2014/main" val="99588705"/>
                    </a:ext>
                  </a:extLst>
                </a:gridCol>
                <a:gridCol w="1048987">
                  <a:extLst>
                    <a:ext uri="{9D8B030D-6E8A-4147-A177-3AD203B41FA5}">
                      <a16:colId xmlns:a16="http://schemas.microsoft.com/office/drawing/2014/main" val="2299564198"/>
                    </a:ext>
                  </a:extLst>
                </a:gridCol>
                <a:gridCol w="1048987">
                  <a:extLst>
                    <a:ext uri="{9D8B030D-6E8A-4147-A177-3AD203B41FA5}">
                      <a16:colId xmlns:a16="http://schemas.microsoft.com/office/drawing/2014/main" val="1282599402"/>
                    </a:ext>
                  </a:extLst>
                </a:gridCol>
              </a:tblGrid>
              <a:tr h="286112">
                <a:tc>
                  <a:txBody>
                    <a:bodyPr/>
                    <a:lstStyle/>
                    <a:p>
                      <a:pPr marL="0" lvl="0" indent="0" algn="ctr" defTabSz="914400">
                        <a:lnSpc>
                          <a:spcPct val="100000"/>
                        </a:lnSpc>
                        <a:buNone/>
                      </a:pPr>
                      <a:r>
                        <a:rPr lang="en-IN" sz="1100" b="1" i="0" u="none" strike="noStrike" kern="1200" noProof="0">
                          <a:solidFill>
                            <a:schemeClr val="bg1"/>
                          </a:solidFill>
                          <a:latin typeface="Avenir Next LT Pro Light"/>
                          <a:ea typeface="+mn-ea"/>
                          <a:cs typeface="+mn-cs"/>
                        </a:rPr>
                        <a:t>Projects</a:t>
                      </a:r>
                      <a:endParaRPr lang="en-US"/>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solidFill>
                      <a:srgbClr val="002060"/>
                    </a:solidFill>
                  </a:tcPr>
                </a:tc>
                <a:tc>
                  <a:txBody>
                    <a:bodyPr/>
                    <a:lstStyle/>
                    <a:p>
                      <a:pPr lvl="0" algn="ctr">
                        <a:lnSpc>
                          <a:spcPct val="100000"/>
                        </a:lnSpc>
                        <a:spcBef>
                          <a:spcPts val="0"/>
                        </a:spcBef>
                        <a:spcAft>
                          <a:spcPts val="0"/>
                        </a:spcAft>
                        <a:buNone/>
                      </a:pPr>
                      <a:r>
                        <a:rPr lang="en-IN" sz="1100" b="1" i="0" u="none" strike="noStrike" kern="1200" noProof="0">
                          <a:solidFill>
                            <a:srgbClr val="FFFFFF"/>
                          </a:solidFill>
                          <a:latin typeface="Nunito Sans"/>
                          <a:ea typeface="+mn-ea"/>
                          <a:cs typeface="+mn-cs"/>
                        </a:rPr>
                        <a:t>Value Justification/Realization</a:t>
                      </a:r>
                    </a:p>
                    <a:p>
                      <a:pPr marL="0" lvl="0" indent="0" algn="l" defTabSz="914400">
                        <a:buFont typeface="Arial" panose="020B0604020202020204" pitchFamily="34" charset="0"/>
                        <a:buNone/>
                      </a:pPr>
                      <a:endParaRPr lang="en-IN" sz="1050" kern="1200">
                        <a:solidFill>
                          <a:schemeClr val="bg1"/>
                        </a:solidFill>
                        <a:latin typeface="Avenir Next LT Pro Ligh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002060"/>
                    </a:solidFill>
                  </a:tcPr>
                </a:tc>
                <a:tc>
                  <a:txBody>
                    <a:bodyPr/>
                    <a:lstStyle/>
                    <a:p>
                      <a:pPr marL="0" lvl="0" indent="0" algn="l">
                        <a:buNone/>
                      </a:pPr>
                      <a:r>
                        <a:rPr lang="en-IN" sz="1050" kern="1200">
                          <a:solidFill>
                            <a:schemeClr val="bg1"/>
                          </a:solidFill>
                          <a:latin typeface="Avenir Next LT Pro Light"/>
                          <a:ea typeface="+mn-ea"/>
                          <a:cs typeface="+mn-cs"/>
                        </a:rPr>
                        <a:t>Go Live Date</a:t>
                      </a: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a:solidFill>
                        <a:schemeClr val="bg1">
                          <a:lumMod val="75000"/>
                        </a:schemeClr>
                      </a:solidFill>
                    </a:lnB>
                    <a:solidFill>
                      <a:srgbClr val="002060"/>
                    </a:solidFill>
                  </a:tcPr>
                </a:tc>
                <a:tc>
                  <a:txBody>
                    <a:bodyPr/>
                    <a:lstStyle/>
                    <a:p>
                      <a:pPr marL="0" lvl="0" indent="0" algn="ctr">
                        <a:buNone/>
                      </a:pPr>
                      <a:r>
                        <a:rPr lang="en-IN" sz="1050" kern="1200">
                          <a:solidFill>
                            <a:schemeClr val="bg1"/>
                          </a:solidFill>
                          <a:latin typeface="Avenir Next LT Pro Light"/>
                          <a:ea typeface="+mn-ea"/>
                          <a:cs typeface="+mn-cs"/>
                        </a:rPr>
                        <a:t>JIRA</a:t>
                      </a: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a:solidFill>
                        <a:schemeClr val="bg1">
                          <a:lumMod val="75000"/>
                        </a:schemeClr>
                      </a:solidFill>
                    </a:lnB>
                    <a:solidFill>
                      <a:srgbClr val="002060"/>
                    </a:solidFill>
                  </a:tcPr>
                </a:tc>
                <a:extLst>
                  <a:ext uri="{0D108BD9-81ED-4DB2-BD59-A6C34878D82A}">
                    <a16:rowId xmlns:a16="http://schemas.microsoft.com/office/drawing/2014/main" val="844450115"/>
                  </a:ext>
                </a:extLst>
              </a:tr>
              <a:tr h="507559">
                <a:tc>
                  <a:txBody>
                    <a:bodyPr/>
                    <a:lstStyle/>
                    <a:p>
                      <a:pPr lvl="0" algn="l">
                        <a:lnSpc>
                          <a:spcPct val="100000"/>
                        </a:lnSpc>
                        <a:spcBef>
                          <a:spcPts val="0"/>
                        </a:spcBef>
                        <a:spcAft>
                          <a:spcPts val="0"/>
                        </a:spcAft>
                        <a:buNone/>
                      </a:pPr>
                      <a:r>
                        <a:rPr lang="en-US" sz="1100" b="1" i="0" u="none" strike="noStrike" kern="1200" noProof="0">
                          <a:solidFill>
                            <a:srgbClr val="000000"/>
                          </a:solidFill>
                          <a:latin typeface="Nunito Sans"/>
                          <a:ea typeface="+mn-ea"/>
                          <a:cs typeface="+mn-cs"/>
                        </a:rPr>
                        <a:t>Roster View</a:t>
                      </a:r>
                      <a:endParaRPr lang="en-IN" sz="1100" b="0" i="0" u="none" strike="noStrike" kern="1200" noProof="0">
                        <a:solidFill>
                          <a:srgbClr val="000000"/>
                        </a:solidFill>
                        <a:latin typeface="Nunito Sans"/>
                        <a:ea typeface="+mn-ea"/>
                        <a:cs typeface="+mn-cs"/>
                      </a:endParaRPr>
                    </a:p>
                    <a:p>
                      <a:pPr marL="0" lvl="0" indent="0" algn="l" defTabSz="914400">
                        <a:lnSpc>
                          <a:spcPct val="100000"/>
                        </a:lnSpc>
                        <a:spcBef>
                          <a:spcPts val="0"/>
                        </a:spcBef>
                        <a:spcAft>
                          <a:spcPts val="0"/>
                        </a:spcAft>
                        <a:buNone/>
                      </a:pPr>
                      <a:endParaRPr lang="en-IN" sz="1100" b="1" i="0" u="none" strike="noStrike" kern="1200" noProof="0">
                        <a:solidFill>
                          <a:schemeClr val="tx1"/>
                        </a:solidFill>
                        <a:latin typeface="Nunito Sans"/>
                        <a:ea typeface="+mn-ea"/>
                        <a:cs typeface="+mn-cs"/>
                      </a:endParaRPr>
                    </a:p>
                  </a:txBody>
                  <a:tcPr anchor="ctr">
                    <a:lnL w="6350">
                      <a:solidFill>
                        <a:schemeClr val="bg1">
                          <a:lumMod val="75000"/>
                        </a:schemeClr>
                      </a:solidFill>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171450" marR="0" lvl="0" indent="-171450" algn="l" rtl="0">
                        <a:lnSpc>
                          <a:spcPct val="100000"/>
                        </a:lnSpc>
                        <a:buClr>
                          <a:srgbClr val="000000"/>
                        </a:buClr>
                        <a:buSzTx/>
                        <a:buFont typeface="Arial,Sans-Serif"/>
                        <a:buChar char="•"/>
                      </a:pPr>
                      <a:r>
                        <a:rPr lang="en-US" sz="1100" b="0" i="0" u="none" strike="noStrike" kern="1200" noProof="0">
                          <a:solidFill>
                            <a:schemeClr val="tx1"/>
                          </a:solidFill>
                          <a:effectLst/>
                          <a:latin typeface="Nunito Sans"/>
                          <a:ea typeface="+mn-ea"/>
                          <a:cs typeface="+mn-cs"/>
                        </a:rPr>
                        <a:t>Availability of 7-day roster view and 30 day download and email capability on AIFP with redesign for roster card as entry point for Pilot activities</a:t>
                      </a:r>
                      <a:endParaRPr lang="en-US" sz="1100" b="0" i="0" u="none" strike="noStrike" kern="1200" noProof="0">
                        <a:solidFill>
                          <a:srgbClr val="000000"/>
                        </a:solidFill>
                        <a:effectLst/>
                        <a:latin typeface="Nunito Sans"/>
                        <a:ea typeface="+mn-ea"/>
                        <a:cs typeface="+mn-cs"/>
                      </a:endParaRP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solidFill>
                      <a:schemeClr val="bg1"/>
                    </a:solidFill>
                  </a:tcPr>
                </a:tc>
                <a:tc>
                  <a:txBody>
                    <a:bodyPr/>
                    <a:lstStyle/>
                    <a:p>
                      <a:pPr marL="0" lvl="0" indent="0" algn="l">
                        <a:lnSpc>
                          <a:spcPct val="100000"/>
                        </a:lnSpc>
                        <a:buNone/>
                      </a:pPr>
                      <a:r>
                        <a:rPr lang="en-US" sz="1100" b="0" i="0" u="none" strike="noStrike" kern="1200" noProof="0">
                          <a:solidFill>
                            <a:schemeClr val="tx1"/>
                          </a:solidFill>
                          <a:effectLst/>
                          <a:latin typeface="Nunito Sans"/>
                          <a:ea typeface="+mn-ea"/>
                          <a:cs typeface="+mn-cs"/>
                        </a:rPr>
                        <a:t>29th April</a:t>
                      </a: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a:solidFill>
                        <a:schemeClr val="bg1">
                          <a:lumMod val="75000"/>
                        </a:schemeClr>
                      </a:solidFill>
                    </a:lnB>
                    <a:solidFill>
                      <a:schemeClr val="bg1"/>
                    </a:solidFill>
                  </a:tcPr>
                </a:tc>
                <a:tc>
                  <a:txBody>
                    <a:bodyPr/>
                    <a:lstStyle/>
                    <a:p>
                      <a:pPr marL="0" lvl="0" indent="0" algn="ctr">
                        <a:lnSpc>
                          <a:spcPct val="100000"/>
                        </a:lnSpc>
                        <a:buNone/>
                      </a:pPr>
                      <a:r>
                        <a:rPr lang="en-US" sz="1100" b="0" i="0" u="none" strike="noStrike" kern="1200" noProof="0">
                          <a:solidFill>
                            <a:schemeClr val="tx1"/>
                          </a:solidFill>
                          <a:effectLst/>
                          <a:latin typeface="Nunito Sans"/>
                          <a:ea typeface="+mn-ea"/>
                          <a:cs typeface="+mn-cs"/>
                          <a:hlinkClick r:id="rId4"/>
                        </a:rPr>
                        <a:t>Link</a:t>
                      </a:r>
                      <a:endParaRPr lang="en-US" sz="1100" b="0" i="0" u="none" strike="noStrike" kern="1200" noProof="0">
                        <a:solidFill>
                          <a:schemeClr val="tx1"/>
                        </a:solidFill>
                        <a:effectLst/>
                        <a:latin typeface="Nunito Sans"/>
                        <a:ea typeface="+mn-ea"/>
                        <a:cs typeface="+mn-cs"/>
                      </a:endParaRP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a:solidFill>
                        <a:schemeClr val="bg1">
                          <a:lumMod val="75000"/>
                        </a:schemeClr>
                      </a:solidFill>
                    </a:lnB>
                    <a:solidFill>
                      <a:schemeClr val="bg1"/>
                    </a:solidFill>
                  </a:tcPr>
                </a:tc>
                <a:extLst>
                  <a:ext uri="{0D108BD9-81ED-4DB2-BD59-A6C34878D82A}">
                    <a16:rowId xmlns:a16="http://schemas.microsoft.com/office/drawing/2014/main" val="3951168155"/>
                  </a:ext>
                </a:extLst>
              </a:tr>
              <a:tr h="507559">
                <a:tc>
                  <a:txBody>
                    <a:bodyPr/>
                    <a:lstStyle/>
                    <a:p>
                      <a:pPr lvl="0" algn="l">
                        <a:lnSpc>
                          <a:spcPct val="100000"/>
                        </a:lnSpc>
                        <a:spcBef>
                          <a:spcPts val="0"/>
                        </a:spcBef>
                        <a:spcAft>
                          <a:spcPts val="0"/>
                        </a:spcAft>
                        <a:buNone/>
                      </a:pPr>
                      <a:r>
                        <a:rPr lang="en-GB" sz="1100" b="1" i="0" u="none" strike="noStrike" kern="1200" noProof="0">
                          <a:solidFill>
                            <a:srgbClr val="000000"/>
                          </a:solidFill>
                          <a:latin typeface="Nunito Sans"/>
                          <a:ea typeface="+mn-ea"/>
                          <a:cs typeface="+mn-cs"/>
                        </a:rPr>
                        <a:t>Passenger Details </a:t>
                      </a:r>
                      <a:endParaRPr lang="en-IN" sz="1100" b="0" i="0" u="none" strike="noStrike" kern="1200" noProof="0">
                        <a:solidFill>
                          <a:srgbClr val="000000"/>
                        </a:solidFill>
                        <a:latin typeface="Nunito Sans"/>
                        <a:ea typeface="+mn-ea"/>
                        <a:cs typeface="+mn-cs"/>
                      </a:endParaRPr>
                    </a:p>
                  </a:txBody>
                  <a:tcPr anchor="ctr">
                    <a:lnL w="6350">
                      <a:solidFill>
                        <a:schemeClr val="bg1">
                          <a:lumMod val="75000"/>
                        </a:schemeClr>
                      </a:solidFill>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171450" marR="0" lvl="0" indent="-171450" algn="l" rtl="0">
                        <a:lnSpc>
                          <a:spcPct val="100000"/>
                        </a:lnSpc>
                        <a:buClr>
                          <a:srgbClr val="000000"/>
                        </a:buClr>
                        <a:buSzTx/>
                        <a:buFont typeface="Arial,Sans-Serif"/>
                        <a:buChar char="•"/>
                      </a:pPr>
                      <a:r>
                        <a:rPr lang="en-IN" sz="1100" b="0" i="0" u="none" strike="noStrike" kern="1200" noProof="0">
                          <a:solidFill>
                            <a:schemeClr val="dk1"/>
                          </a:solidFill>
                          <a:effectLst/>
                          <a:latin typeface="Nunito Sans"/>
                          <a:ea typeface="+mn-ea"/>
                          <a:cs typeface="+mn-cs"/>
                        </a:rPr>
                        <a:t>Ability to show </a:t>
                      </a:r>
                      <a:r>
                        <a:rPr lang="en-US" sz="1100" b="0" i="0" u="none" strike="noStrike" kern="1200" noProof="0">
                          <a:solidFill>
                            <a:schemeClr val="tx1"/>
                          </a:solidFill>
                          <a:effectLst/>
                          <a:latin typeface="Nunito Sans"/>
                          <a:ea typeface="+mn-ea"/>
                          <a:cs typeface="+mn-cs"/>
                        </a:rPr>
                        <a:t>PAX Booked vs Pax Boarded on AIFP for Pilots</a:t>
                      </a:r>
                      <a:endParaRPr lang="en-US" sz="1100" b="0" i="0" u="none" strike="noStrike" kern="1200" noProof="0">
                        <a:solidFill>
                          <a:srgbClr val="000000"/>
                        </a:solidFill>
                        <a:effectLst/>
                        <a:latin typeface="Nunito Sans"/>
                        <a:ea typeface="+mn-ea"/>
                        <a:cs typeface="+mn-cs"/>
                      </a:endParaRP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lvl="0" indent="0" algn="l">
                        <a:lnSpc>
                          <a:spcPct val="100000"/>
                        </a:lnSpc>
                        <a:buNone/>
                      </a:pPr>
                      <a:r>
                        <a:rPr lang="en-US" sz="1100" b="0" i="0" u="none" strike="noStrike" kern="1200" noProof="0">
                          <a:solidFill>
                            <a:schemeClr val="tx1"/>
                          </a:solidFill>
                          <a:effectLst/>
                          <a:latin typeface="Nunito Sans"/>
                          <a:ea typeface="+mn-ea"/>
                          <a:cs typeface="+mn-cs"/>
                        </a:rPr>
                        <a:t>29th April</a:t>
                      </a:r>
                      <a:endParaRPr lang="en-US" sz="1100" b="0" i="0" u="none" strike="noStrike" kern="1200" noProof="0">
                        <a:solidFill>
                          <a:srgbClr val="000000"/>
                        </a:solidFill>
                        <a:effectLst/>
                        <a:latin typeface="Nunito Sans"/>
                        <a:ea typeface="+mn-ea"/>
                        <a:cs typeface="+mn-cs"/>
                      </a:endParaRP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a:solidFill>
                        <a:schemeClr val="bg1">
                          <a:lumMod val="75000"/>
                        </a:schemeClr>
                      </a:solidFill>
                    </a:lnB>
                    <a:solidFill>
                      <a:schemeClr val="bg1"/>
                    </a:solidFill>
                  </a:tcPr>
                </a:tc>
                <a:tc>
                  <a:txBody>
                    <a:bodyPr/>
                    <a:lstStyle/>
                    <a:p>
                      <a:pPr marL="0" lvl="0" indent="0" algn="ctr">
                        <a:lnSpc>
                          <a:spcPct val="100000"/>
                        </a:lnSpc>
                        <a:buNone/>
                      </a:pPr>
                      <a:r>
                        <a:rPr lang="en-US" sz="1100" b="0" i="0" u="none" strike="noStrike" kern="1200" noProof="0">
                          <a:solidFill>
                            <a:schemeClr val="tx1"/>
                          </a:solidFill>
                          <a:effectLst/>
                          <a:latin typeface="Nunito Sans"/>
                          <a:ea typeface="+mn-ea"/>
                          <a:cs typeface="+mn-cs"/>
                          <a:hlinkClick r:id="rId5"/>
                        </a:rPr>
                        <a:t>Link</a:t>
                      </a:r>
                      <a:endParaRPr lang="en-US" sz="1100" b="0" i="0" u="none" strike="noStrike" kern="1200" noProof="0">
                        <a:solidFill>
                          <a:schemeClr val="tx1"/>
                        </a:solidFill>
                        <a:effectLst/>
                        <a:latin typeface="Nunito Sans"/>
                        <a:ea typeface="+mn-ea"/>
                        <a:cs typeface="+mn-cs"/>
                      </a:endParaRP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a:solidFill>
                        <a:schemeClr val="bg1">
                          <a:lumMod val="75000"/>
                        </a:schemeClr>
                      </a:solidFill>
                    </a:lnB>
                    <a:solidFill>
                      <a:schemeClr val="bg1"/>
                    </a:solidFill>
                  </a:tcPr>
                </a:tc>
                <a:extLst>
                  <a:ext uri="{0D108BD9-81ED-4DB2-BD59-A6C34878D82A}">
                    <a16:rowId xmlns:a16="http://schemas.microsoft.com/office/drawing/2014/main" val="3158025952"/>
                  </a:ext>
                </a:extLst>
              </a:tr>
              <a:tr h="507559">
                <a:tc>
                  <a:txBody>
                    <a:bodyPr/>
                    <a:lstStyle/>
                    <a:p>
                      <a:pPr lvl="0" algn="l">
                        <a:lnSpc>
                          <a:spcPct val="100000"/>
                        </a:lnSpc>
                        <a:spcBef>
                          <a:spcPts val="0"/>
                        </a:spcBef>
                        <a:spcAft>
                          <a:spcPts val="0"/>
                        </a:spcAft>
                        <a:buNone/>
                      </a:pPr>
                      <a:r>
                        <a:rPr lang="en-US" sz="1100" b="1" i="0" u="none" strike="noStrike" kern="1200" noProof="0">
                          <a:solidFill>
                            <a:srgbClr val="FF0000"/>
                          </a:solidFill>
                          <a:latin typeface="Nunito Sans"/>
                          <a:ea typeface="+mn-ea"/>
                          <a:cs typeface="+mn-cs"/>
                        </a:rPr>
                        <a:t>Admin Approval Flow</a:t>
                      </a:r>
                      <a:r>
                        <a:rPr lang="en-US" sz="1100" b="0" i="0" u="none" strike="noStrike" kern="1200" noProof="0">
                          <a:solidFill>
                            <a:srgbClr val="FF0000"/>
                          </a:solidFill>
                          <a:latin typeface="Nunito Sans"/>
                          <a:ea typeface="+mn-ea"/>
                          <a:cs typeface="+mn-cs"/>
                        </a:rPr>
                        <a:t> - </a:t>
                      </a:r>
                      <a:r>
                        <a:rPr lang="en-US" sz="1100" b="1" i="0" u="none" strike="noStrike" kern="1200" noProof="0">
                          <a:solidFill>
                            <a:srgbClr val="FF0000"/>
                          </a:solidFill>
                          <a:latin typeface="Nunito Sans"/>
                          <a:ea typeface="+mn-ea"/>
                          <a:cs typeface="+mn-cs"/>
                        </a:rPr>
                        <a:t>Enhancement</a:t>
                      </a:r>
                      <a:endParaRPr lang="en-IN" sz="1100" b="0" i="0" u="none" strike="noStrike" kern="1200" noProof="0">
                        <a:solidFill>
                          <a:srgbClr val="FF0000"/>
                        </a:solidFill>
                        <a:latin typeface="Nunito Sans"/>
                        <a:ea typeface="+mn-ea"/>
                        <a:cs typeface="+mn-cs"/>
                      </a:endParaRPr>
                    </a:p>
                  </a:txBody>
                  <a:tcPr anchor="ctr">
                    <a:lnL w="6350">
                      <a:solidFill>
                        <a:schemeClr val="bg1">
                          <a:lumMod val="75000"/>
                        </a:schemeClr>
                      </a:solidFill>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171450" lvl="0" indent="-171450" algn="l">
                        <a:lnSpc>
                          <a:spcPct val="100000"/>
                        </a:lnSpc>
                        <a:buClr>
                          <a:srgbClr val="000000"/>
                        </a:buClr>
                        <a:buFont typeface="Arial,Sans-Serif"/>
                        <a:buChar char="•"/>
                      </a:pPr>
                      <a:r>
                        <a:rPr lang="en-US" sz="1100" b="0" i="0" u="none" strike="noStrike" kern="1200" noProof="0">
                          <a:solidFill>
                            <a:schemeClr val="tx1"/>
                          </a:solidFill>
                          <a:effectLst/>
                          <a:latin typeface="Nunito Sans"/>
                          <a:ea typeface="+mn-ea"/>
                          <a:cs typeface="+mn-cs"/>
                        </a:rPr>
                        <a:t>Enhanced error reporting flow for both crew and operational data with actionable workflows to Admin and DOPs team </a:t>
                      </a:r>
                      <a:endParaRPr lang="en-US" sz="1100" b="0" i="0" u="none" strike="noStrike" kern="1200" noProof="0">
                        <a:solidFill>
                          <a:srgbClr val="000000"/>
                        </a:solidFill>
                        <a:effectLst/>
                        <a:latin typeface="Nunito Sans"/>
                        <a:ea typeface="+mn-ea"/>
                        <a:cs typeface="+mn-cs"/>
                      </a:endParaRP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lvl="0" indent="0" algn="l">
                        <a:lnSpc>
                          <a:spcPct val="100000"/>
                        </a:lnSpc>
                        <a:buNone/>
                      </a:pPr>
                      <a:r>
                        <a:rPr lang="en-US" sz="1100" b="0" i="0" u="none" strike="noStrike" kern="1200" noProof="0">
                          <a:solidFill>
                            <a:schemeClr val="tx1"/>
                          </a:solidFill>
                          <a:effectLst/>
                          <a:latin typeface="Nunito Sans"/>
                          <a:ea typeface="+mn-ea"/>
                          <a:cs typeface="+mn-cs"/>
                        </a:rPr>
                        <a:t>29th April</a:t>
                      </a:r>
                      <a:endParaRPr lang="en-US" sz="1100" b="0" i="0" u="none" strike="noStrike" kern="1200" noProof="0">
                        <a:solidFill>
                          <a:srgbClr val="000000"/>
                        </a:solidFill>
                        <a:effectLst/>
                        <a:latin typeface="Nunito Sans"/>
                        <a:ea typeface="+mn-ea"/>
                        <a:cs typeface="+mn-cs"/>
                      </a:endParaRP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a:solidFill>
                        <a:schemeClr val="bg1">
                          <a:lumMod val="75000"/>
                        </a:schemeClr>
                      </a:solidFill>
                    </a:lnB>
                    <a:solidFill>
                      <a:schemeClr val="bg1"/>
                    </a:solidFill>
                  </a:tcPr>
                </a:tc>
                <a:tc>
                  <a:txBody>
                    <a:bodyPr/>
                    <a:lstStyle/>
                    <a:p>
                      <a:pPr marL="0" lvl="0" indent="0" algn="ctr">
                        <a:lnSpc>
                          <a:spcPct val="100000"/>
                        </a:lnSpc>
                        <a:buNone/>
                      </a:pPr>
                      <a:r>
                        <a:rPr lang="en-US" sz="1100" b="0" i="0" u="none" strike="noStrike" kern="1200" noProof="0">
                          <a:solidFill>
                            <a:schemeClr val="tx1"/>
                          </a:solidFill>
                          <a:effectLst/>
                          <a:latin typeface="Nunito Sans"/>
                          <a:ea typeface="+mn-ea"/>
                          <a:cs typeface="+mn-cs"/>
                          <a:hlinkClick r:id="rId6"/>
                        </a:rPr>
                        <a:t>Link</a:t>
                      </a:r>
                      <a:endParaRPr lang="en-US" sz="1100" b="0" i="0" u="none" strike="noStrike" kern="1200" noProof="0">
                        <a:solidFill>
                          <a:schemeClr val="tx1"/>
                        </a:solidFill>
                        <a:effectLst/>
                        <a:latin typeface="Nunito Sans"/>
                        <a:ea typeface="+mn-ea"/>
                        <a:cs typeface="+mn-cs"/>
                      </a:endParaRP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a:solidFill>
                        <a:schemeClr val="bg1">
                          <a:lumMod val="75000"/>
                        </a:schemeClr>
                      </a:solidFill>
                    </a:lnB>
                    <a:solidFill>
                      <a:schemeClr val="bg1"/>
                    </a:solidFill>
                  </a:tcPr>
                </a:tc>
                <a:extLst>
                  <a:ext uri="{0D108BD9-81ED-4DB2-BD59-A6C34878D82A}">
                    <a16:rowId xmlns:a16="http://schemas.microsoft.com/office/drawing/2014/main" val="1987765866"/>
                  </a:ext>
                </a:extLst>
              </a:tr>
              <a:tr h="507559">
                <a:tc rowSpan="3">
                  <a:txBody>
                    <a:bodyPr/>
                    <a:lstStyle/>
                    <a:p>
                      <a:pPr lvl="0" algn="l">
                        <a:lnSpc>
                          <a:spcPct val="100000"/>
                        </a:lnSpc>
                        <a:spcBef>
                          <a:spcPts val="0"/>
                        </a:spcBef>
                        <a:spcAft>
                          <a:spcPts val="0"/>
                        </a:spcAft>
                        <a:buNone/>
                      </a:pPr>
                      <a:r>
                        <a:rPr lang="en-US" sz="1100" b="1" i="0" u="none" strike="noStrike" kern="1200" noProof="0">
                          <a:solidFill>
                            <a:srgbClr val="FF0000"/>
                          </a:solidFill>
                          <a:latin typeface="Nunito Sans"/>
                          <a:ea typeface="+mn-ea"/>
                          <a:cs typeface="+mn-cs"/>
                        </a:rPr>
                        <a:t>Crew Data &amp; Compliance Alignment</a:t>
                      </a:r>
                      <a:endParaRPr lang="en-IN" sz="1100" b="0" i="0" u="none" strike="noStrike" kern="1200" noProof="0">
                        <a:solidFill>
                          <a:srgbClr val="FF0000"/>
                        </a:solidFill>
                        <a:latin typeface="Nunito Sans"/>
                        <a:ea typeface="+mn-ea"/>
                        <a:cs typeface="+mn-cs"/>
                      </a:endParaRPr>
                    </a:p>
                    <a:p>
                      <a:pPr marL="0" lvl="0" indent="0" algn="l" defTabSz="914400">
                        <a:lnSpc>
                          <a:spcPct val="100000"/>
                        </a:lnSpc>
                        <a:spcBef>
                          <a:spcPts val="0"/>
                        </a:spcBef>
                        <a:spcAft>
                          <a:spcPts val="0"/>
                        </a:spcAft>
                        <a:buNone/>
                      </a:pPr>
                      <a:endParaRPr lang="en-IN" sz="1100" b="1" i="0" u="none" strike="noStrike" kern="1200" noProof="0">
                        <a:solidFill>
                          <a:schemeClr val="tx1"/>
                        </a:solidFill>
                        <a:latin typeface="Nunito Sans"/>
                        <a:ea typeface="+mn-ea"/>
                        <a:cs typeface="+mn-cs"/>
                      </a:endParaRPr>
                    </a:p>
                  </a:txBody>
                  <a:tcPr anchor="ctr">
                    <a:lnL w="6350">
                      <a:solidFill>
                        <a:schemeClr val="bg1">
                          <a:lumMod val="75000"/>
                        </a:schemeClr>
                      </a:solidFill>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171450" lvl="0" indent="-171450" algn="l">
                        <a:lnSpc>
                          <a:spcPct val="100000"/>
                        </a:lnSpc>
                        <a:buClr>
                          <a:srgbClr val="000000"/>
                        </a:buClr>
                        <a:buFont typeface="Arial,Sans-Serif"/>
                        <a:buChar char="•"/>
                      </a:pPr>
                      <a:r>
                        <a:rPr lang="en-US" sz="1100" b="0" i="0" u="none" strike="noStrike" kern="1200" noProof="0">
                          <a:solidFill>
                            <a:schemeClr val="tx1"/>
                          </a:solidFill>
                          <a:effectLst/>
                          <a:latin typeface="Nunito Sans"/>
                          <a:ea typeface="+mn-ea"/>
                          <a:cs typeface="+mn-cs"/>
                        </a:rPr>
                        <a:t>Automated Seat Position Mapping for Pilots improving seat‑position accuracy by fetching real‑time CM data</a:t>
                      </a:r>
                      <a:endParaRPr lang="en-US" sz="1100" b="0" i="0" u="none" strike="noStrike" kern="1200" noProof="0">
                        <a:solidFill>
                          <a:srgbClr val="000000"/>
                        </a:solidFill>
                        <a:effectLst/>
                        <a:latin typeface="Nunito Sans"/>
                        <a:ea typeface="+mn-ea"/>
                        <a:cs typeface="+mn-cs"/>
                      </a:endParaRP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solidFill>
                      <a:schemeClr val="bg1"/>
                    </a:solidFill>
                  </a:tcPr>
                </a:tc>
                <a:tc rowSpan="3">
                  <a:txBody>
                    <a:bodyPr/>
                    <a:lstStyle/>
                    <a:p>
                      <a:pPr marL="0" lvl="0" indent="0" algn="l">
                        <a:lnSpc>
                          <a:spcPct val="100000"/>
                        </a:lnSpc>
                        <a:buNone/>
                      </a:pPr>
                      <a:r>
                        <a:rPr lang="en-US" sz="1100" b="0" i="0" u="none" strike="noStrike" kern="1200" noProof="0">
                          <a:solidFill>
                            <a:schemeClr val="tx1"/>
                          </a:solidFill>
                          <a:effectLst/>
                          <a:latin typeface="Nunito Sans"/>
                          <a:ea typeface="+mn-ea"/>
                          <a:cs typeface="+mn-cs"/>
                        </a:rPr>
                        <a:t>29th April</a:t>
                      </a:r>
                      <a:endParaRPr lang="en-US" sz="1100" b="0" i="0" u="none" strike="noStrike" kern="1200" noProof="0">
                        <a:solidFill>
                          <a:srgbClr val="000000"/>
                        </a:solidFill>
                        <a:effectLst/>
                        <a:latin typeface="Nunito Sans"/>
                        <a:ea typeface="+mn-ea"/>
                        <a:cs typeface="+mn-cs"/>
                      </a:endParaRP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a:solidFill>
                        <a:schemeClr val="bg1">
                          <a:lumMod val="75000"/>
                        </a:schemeClr>
                      </a:solidFill>
                    </a:lnB>
                    <a:solidFill>
                      <a:schemeClr val="bg1"/>
                    </a:solidFill>
                  </a:tcPr>
                </a:tc>
                <a:tc>
                  <a:txBody>
                    <a:bodyPr/>
                    <a:lstStyle/>
                    <a:p>
                      <a:pPr marL="0" lvl="0" indent="0" algn="ctr">
                        <a:lnSpc>
                          <a:spcPct val="100000"/>
                        </a:lnSpc>
                        <a:buNone/>
                      </a:pPr>
                      <a:r>
                        <a:rPr lang="en-US" sz="1100" b="0" i="0" u="none" strike="noStrike" kern="1200" noProof="0">
                          <a:solidFill>
                            <a:schemeClr val="tx1"/>
                          </a:solidFill>
                          <a:effectLst/>
                          <a:latin typeface="Nunito Sans"/>
                          <a:ea typeface="+mn-ea"/>
                          <a:cs typeface="+mn-cs"/>
                          <a:hlinkClick r:id="rId7"/>
                        </a:rPr>
                        <a:t>Link</a:t>
                      </a:r>
                      <a:endParaRPr lang="en-US" sz="1100" b="0" i="0" u="none" strike="noStrike" kern="1200" noProof="0">
                        <a:solidFill>
                          <a:schemeClr val="tx1"/>
                        </a:solidFill>
                        <a:effectLst/>
                        <a:latin typeface="Nunito Sans"/>
                        <a:ea typeface="+mn-ea"/>
                        <a:cs typeface="+mn-cs"/>
                      </a:endParaRP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a:solidFill>
                        <a:schemeClr val="bg1">
                          <a:lumMod val="75000"/>
                        </a:schemeClr>
                      </a:solidFill>
                    </a:lnB>
                    <a:solidFill>
                      <a:schemeClr val="bg1"/>
                    </a:solidFill>
                  </a:tcPr>
                </a:tc>
                <a:extLst>
                  <a:ext uri="{0D108BD9-81ED-4DB2-BD59-A6C34878D82A}">
                    <a16:rowId xmlns:a16="http://schemas.microsoft.com/office/drawing/2014/main" val="3563849964"/>
                  </a:ext>
                </a:extLst>
              </a:tr>
              <a:tr h="507559">
                <a:tc vMerge="1">
                  <a:txBody>
                    <a:bodyPr/>
                    <a:lstStyle/>
                    <a:p>
                      <a:pPr defTabSz="914400"/>
                      <a:endParaRPr lang="en-US"/>
                    </a:p>
                  </a:txBody>
                  <a:tcPr anchor="ctr">
                    <a:lnL w="6350">
                      <a:solidFill>
                        <a:schemeClr val="bg1">
                          <a:lumMod val="75000"/>
                        </a:schemeClr>
                      </a:solidFill>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171450" lvl="0" indent="-171450" algn="l">
                        <a:lnSpc>
                          <a:spcPct val="100000"/>
                        </a:lnSpc>
                        <a:buClr>
                          <a:srgbClr val="000000"/>
                        </a:buClr>
                        <a:buFont typeface="Arial,Sans-Serif"/>
                        <a:buChar char="•"/>
                      </a:pPr>
                      <a:r>
                        <a:rPr lang="en-US" sz="1100" b="0" i="0" u="none" strike="noStrike" kern="1200" noProof="0">
                          <a:solidFill>
                            <a:schemeClr val="tx1"/>
                          </a:solidFill>
                          <a:effectLst/>
                          <a:latin typeface="Nunito Sans"/>
                          <a:ea typeface="+mn-ea"/>
                          <a:cs typeface="+mn-cs"/>
                        </a:rPr>
                        <a:t>Regulatory Role Mapping for PIC by Virtue &amp; P1/US - Ensures accurate identification of PIC By Virtue and P1/US roles using defined logic based on CM data.</a:t>
                      </a:r>
                      <a:endParaRPr lang="en-US" sz="1100" b="0" i="0" u="none" strike="noStrike" kern="1200" noProof="0">
                        <a:solidFill>
                          <a:srgbClr val="000000"/>
                        </a:solidFill>
                        <a:effectLst/>
                        <a:latin typeface="Nunito Sans"/>
                        <a:ea typeface="+mn-ea"/>
                        <a:cs typeface="+mn-cs"/>
                      </a:endParaRP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solidFill>
                      <a:schemeClr val="bg1"/>
                    </a:solidFill>
                  </a:tcPr>
                </a:tc>
                <a:tc vMerge="1">
                  <a:txBody>
                    <a:bodyPr/>
                    <a:lstStyle/>
                    <a:p>
                      <a:endParaRPr lang="en-US"/>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solidFill>
                      <a:schemeClr val="bg1"/>
                    </a:solidFill>
                  </a:tcPr>
                </a:tc>
                <a:tc rowSpan="2">
                  <a:txBody>
                    <a:bodyPr/>
                    <a:lstStyle/>
                    <a:p>
                      <a:pPr marL="0" lvl="0" indent="0" algn="ctr">
                        <a:lnSpc>
                          <a:spcPct val="100000"/>
                        </a:lnSpc>
                        <a:buNone/>
                      </a:pPr>
                      <a:r>
                        <a:rPr lang="en-US" sz="1100" b="0" i="0" u="none" strike="noStrike" kern="1200" noProof="0">
                          <a:solidFill>
                            <a:schemeClr val="tx1"/>
                          </a:solidFill>
                          <a:effectLst/>
                          <a:latin typeface="Nunito Sans"/>
                          <a:ea typeface="+mn-ea"/>
                          <a:cs typeface="+mn-cs"/>
                          <a:hlinkClick r:id="rId8"/>
                        </a:rPr>
                        <a:t>Link</a:t>
                      </a:r>
                      <a:endParaRPr lang="en-US" sz="1100" b="0" i="0" u="none" strike="noStrike" kern="1200" noProof="0">
                        <a:solidFill>
                          <a:schemeClr val="tx1"/>
                        </a:solidFill>
                        <a:effectLst/>
                        <a:latin typeface="Nunito Sans"/>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a:solidFill>
                        <a:schemeClr val="bg1">
                          <a:lumMod val="75000"/>
                        </a:schemeClr>
                      </a:solidFill>
                    </a:lnB>
                    <a:solidFill>
                      <a:schemeClr val="bg1"/>
                    </a:solidFill>
                  </a:tcPr>
                </a:tc>
                <a:extLst>
                  <a:ext uri="{0D108BD9-81ED-4DB2-BD59-A6C34878D82A}">
                    <a16:rowId xmlns:a16="http://schemas.microsoft.com/office/drawing/2014/main" val="3930805614"/>
                  </a:ext>
                </a:extLst>
              </a:tr>
              <a:tr h="507559">
                <a:tc vMerge="1">
                  <a:txBody>
                    <a:bodyPr/>
                    <a:lstStyle/>
                    <a:p>
                      <a:pPr defTabSz="914400"/>
                      <a:endParaRPr lang="en-US"/>
                    </a:p>
                  </a:txBody>
                  <a:tcPr anchor="ctr">
                    <a:lnL w="6350">
                      <a:solidFill>
                        <a:schemeClr val="bg1">
                          <a:lumMod val="75000"/>
                        </a:schemeClr>
                      </a:solidFill>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171450" lvl="0" indent="-171450" algn="l">
                        <a:lnSpc>
                          <a:spcPct val="100000"/>
                        </a:lnSpc>
                        <a:buClr>
                          <a:srgbClr val="000000"/>
                        </a:buClr>
                        <a:buFont typeface="Arial,Sans-Serif"/>
                        <a:buChar char="•"/>
                      </a:pPr>
                      <a:r>
                        <a:rPr lang="en-US" sz="1100" b="0" i="0" u="none" strike="noStrike" kern="1200" noProof="0">
                          <a:solidFill>
                            <a:schemeClr val="tx1"/>
                          </a:solidFill>
                          <a:effectLst/>
                          <a:latin typeface="Nunito Sans"/>
                          <a:ea typeface="+mn-ea"/>
                          <a:cs typeface="+mn-cs"/>
                        </a:rPr>
                        <a:t>Shift‑Wise PIC &amp; Co‑Pilot Role Accuracy - Provides accurate PIC and Co‑Pilot role display per shift</a:t>
                      </a:r>
                      <a:endParaRPr lang="en-US" sz="1100" b="0" i="0" u="none" strike="noStrike" kern="1200" noProof="0">
                        <a:solidFill>
                          <a:srgbClr val="000000"/>
                        </a:solidFill>
                        <a:effectLst/>
                        <a:latin typeface="Nunito Sans"/>
                        <a:ea typeface="+mn-ea"/>
                        <a:cs typeface="+mn-cs"/>
                      </a:endParaRP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solidFill>
                      <a:schemeClr val="bg1"/>
                    </a:solidFill>
                  </a:tcPr>
                </a:tc>
                <a:tc vMerge="1">
                  <a:txBody>
                    <a:bodyPr/>
                    <a:lstStyle/>
                    <a:p>
                      <a:endParaRPr lang="en-US"/>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solidFill>
                      <a:schemeClr val="bg1"/>
                    </a:solidFill>
                  </a:tcPr>
                </a:tc>
                <a:tc vMerge="1">
                  <a:txBody>
                    <a:bodyPr/>
                    <a:lstStyle/>
                    <a:p>
                      <a:endParaRPr lang="en-US"/>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a:solidFill>
                        <a:schemeClr val="bg1">
                          <a:lumMod val="75000"/>
                        </a:schemeClr>
                      </a:solidFill>
                    </a:lnB>
                    <a:solidFill>
                      <a:schemeClr val="bg1"/>
                    </a:solidFill>
                  </a:tcPr>
                </a:tc>
                <a:extLst>
                  <a:ext uri="{0D108BD9-81ED-4DB2-BD59-A6C34878D82A}">
                    <a16:rowId xmlns:a16="http://schemas.microsoft.com/office/drawing/2014/main" val="4053505090"/>
                  </a:ext>
                </a:extLst>
              </a:tr>
              <a:tr h="507559">
                <a:tc>
                  <a:txBody>
                    <a:bodyPr/>
                    <a:lstStyle/>
                    <a:p>
                      <a:pPr lvl="0" algn="l">
                        <a:lnSpc>
                          <a:spcPct val="100000"/>
                        </a:lnSpc>
                        <a:spcBef>
                          <a:spcPts val="0"/>
                        </a:spcBef>
                        <a:spcAft>
                          <a:spcPts val="0"/>
                        </a:spcAft>
                        <a:buNone/>
                      </a:pPr>
                      <a:r>
                        <a:rPr lang="en-US" sz="1100" b="1" i="0" u="none" strike="noStrike" kern="1200" noProof="0">
                          <a:solidFill>
                            <a:srgbClr val="000000"/>
                          </a:solidFill>
                          <a:latin typeface="Nunito Sans"/>
                          <a:ea typeface="+mn-ea"/>
                          <a:cs typeface="+mn-cs"/>
                        </a:rPr>
                        <a:t>Tech Debt</a:t>
                      </a:r>
                      <a:endParaRPr lang="en-IN" sz="1100" b="0" i="0" u="none" strike="noStrike" kern="1200" noProof="0">
                        <a:solidFill>
                          <a:srgbClr val="000000"/>
                        </a:solidFill>
                        <a:latin typeface="Nunito Sans"/>
                        <a:ea typeface="+mn-ea"/>
                        <a:cs typeface="+mn-cs"/>
                      </a:endParaRP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solidFill>
                      <a:schemeClr val="bg1"/>
                    </a:solidFill>
                  </a:tcPr>
                </a:tc>
                <a:tc>
                  <a:txBody>
                    <a:bodyPr/>
                    <a:lstStyle/>
                    <a:p>
                      <a:pPr marL="171450" lvl="0" indent="-171450" algn="l">
                        <a:lnSpc>
                          <a:spcPct val="100000"/>
                        </a:lnSpc>
                        <a:buClr>
                          <a:srgbClr val="000000"/>
                        </a:buClr>
                        <a:buFont typeface="Arial,Sans-Serif"/>
                        <a:buChar char="•"/>
                      </a:pPr>
                      <a:r>
                        <a:rPr lang="en-US" sz="1100" b="0" i="0" u="none" strike="noStrike" kern="1200" noProof="0">
                          <a:solidFill>
                            <a:schemeClr val="tx1"/>
                          </a:solidFill>
                          <a:effectLst/>
                          <a:latin typeface="Nunito Sans"/>
                          <a:ea typeface="+mn-ea"/>
                          <a:cs typeface="+mn-cs"/>
                        </a:rPr>
                        <a:t>DB Encryption - This activity will be done to encrypt all the PII Data from the AIFP DB as per Security Requirements</a:t>
                      </a:r>
                      <a:endParaRPr lang="en-US" sz="1100" b="0" i="0" u="none" strike="noStrike" kern="1200" noProof="0">
                        <a:solidFill>
                          <a:srgbClr val="000000"/>
                        </a:solidFill>
                        <a:effectLst/>
                        <a:latin typeface="Nunito Sans"/>
                        <a:ea typeface="+mn-ea"/>
                        <a:cs typeface="+mn-cs"/>
                      </a:endParaRPr>
                    </a:p>
                    <a:p>
                      <a:pPr marL="171450" lvl="0" indent="-171450" algn="l">
                        <a:lnSpc>
                          <a:spcPct val="100000"/>
                        </a:lnSpc>
                        <a:buFont typeface="Arial,Sans-Serif"/>
                        <a:buChar char="•"/>
                      </a:pPr>
                      <a:endParaRPr lang="en-US" sz="1100" b="0" i="0" u="none" strike="noStrike" kern="1200" noProof="0">
                        <a:solidFill>
                          <a:srgbClr val="000000"/>
                        </a:solidFill>
                        <a:effectLst/>
                        <a:latin typeface="Nunito Sans"/>
                        <a:ea typeface="+mn-ea"/>
                        <a:cs typeface="+mn-cs"/>
                      </a:endParaRP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a:solidFill>
                        <a:schemeClr val="bg1">
                          <a:lumMod val="75000"/>
                        </a:schemeClr>
                      </a:solidFill>
                    </a:lnB>
                    <a:solidFill>
                      <a:schemeClr val="bg1"/>
                    </a:solidFill>
                  </a:tcPr>
                </a:tc>
                <a:tc>
                  <a:txBody>
                    <a:bodyPr/>
                    <a:lstStyle/>
                    <a:p>
                      <a:pPr marL="0" lvl="0" indent="0" algn="l">
                        <a:lnSpc>
                          <a:spcPct val="100000"/>
                        </a:lnSpc>
                        <a:buNone/>
                      </a:pPr>
                      <a:r>
                        <a:rPr lang="en-US" sz="1100" b="0" i="0" u="none" strike="noStrike" kern="1200" noProof="0">
                          <a:solidFill>
                            <a:schemeClr val="tx1"/>
                          </a:solidFill>
                          <a:effectLst/>
                          <a:latin typeface="Nunito Sans"/>
                          <a:ea typeface="+mn-ea"/>
                          <a:cs typeface="+mn-cs"/>
                        </a:rPr>
                        <a:t>29th April</a:t>
                      </a:r>
                      <a:endParaRPr lang="en-US" sz="1100" b="0" i="0" u="none" strike="noStrike" kern="1200" noProof="0">
                        <a:solidFill>
                          <a:srgbClr val="000000"/>
                        </a:solidFill>
                        <a:effectLst/>
                        <a:latin typeface="Nunito Sans"/>
                        <a:ea typeface="+mn-ea"/>
                        <a:cs typeface="+mn-cs"/>
                      </a:endParaRPr>
                    </a:p>
                    <a:p>
                      <a:pPr marL="0" lvl="0" indent="0" algn="l">
                        <a:lnSpc>
                          <a:spcPct val="100000"/>
                        </a:lnSpc>
                        <a:buNone/>
                      </a:pPr>
                      <a:endParaRPr lang="en-US" sz="1100" b="0" i="0" u="none" strike="noStrike" kern="1200" noProof="0">
                        <a:solidFill>
                          <a:srgbClr val="000000"/>
                        </a:solidFill>
                        <a:effectLst/>
                        <a:latin typeface="Nunito Sans"/>
                        <a:ea typeface="+mn-ea"/>
                        <a:cs typeface="+mn-cs"/>
                      </a:endParaRP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a:solidFill>
                        <a:schemeClr val="bg1">
                          <a:lumMod val="75000"/>
                        </a:schemeClr>
                      </a:solidFill>
                    </a:lnB>
                    <a:solidFill>
                      <a:schemeClr val="bg1"/>
                    </a:solidFill>
                  </a:tcPr>
                </a:tc>
                <a:tc>
                  <a:txBody>
                    <a:bodyPr/>
                    <a:lstStyle/>
                    <a:p>
                      <a:pPr marL="0" lvl="0" indent="0" algn="ctr">
                        <a:lnSpc>
                          <a:spcPct val="100000"/>
                        </a:lnSpc>
                        <a:buNone/>
                      </a:pPr>
                      <a:r>
                        <a:rPr lang="en-US" sz="1100" b="0" i="0" u="none" strike="noStrike" kern="1200" noProof="0">
                          <a:solidFill>
                            <a:srgbClr val="000000"/>
                          </a:solidFill>
                          <a:effectLst/>
                          <a:latin typeface="Nunito Sans"/>
                          <a:ea typeface="+mn-ea"/>
                          <a:cs typeface="+mn-cs"/>
                          <a:hlinkClick r:id="rId9"/>
                        </a:rPr>
                        <a:t>Link</a:t>
                      </a:r>
                      <a:endParaRPr lang="en-US" sz="1100" b="0" i="0" u="none" strike="noStrike" kern="1200" noProof="0">
                        <a:solidFill>
                          <a:srgbClr val="000000"/>
                        </a:solidFill>
                        <a:effectLst/>
                        <a:latin typeface="Nunito Sans"/>
                        <a:ea typeface="+mn-ea"/>
                        <a:cs typeface="+mn-cs"/>
                      </a:endParaRP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a:solidFill>
                        <a:schemeClr val="bg1">
                          <a:lumMod val="75000"/>
                        </a:schemeClr>
                      </a:solidFill>
                    </a:lnB>
                    <a:solidFill>
                      <a:schemeClr val="bg1"/>
                    </a:solidFill>
                  </a:tcPr>
                </a:tc>
                <a:extLst>
                  <a:ext uri="{0D108BD9-81ED-4DB2-BD59-A6C34878D82A}">
                    <a16:rowId xmlns:a16="http://schemas.microsoft.com/office/drawing/2014/main" val="2076850839"/>
                  </a:ext>
                </a:extLst>
              </a:tr>
            </a:tbl>
          </a:graphicData>
        </a:graphic>
      </p:graphicFrame>
      <p:sp>
        <p:nvSpPr>
          <p:cNvPr id="26" name="TextBox 25">
            <a:extLst>
              <a:ext uri="{FF2B5EF4-FFF2-40B4-BE49-F238E27FC236}">
                <a16:creationId xmlns:a16="http://schemas.microsoft.com/office/drawing/2014/main" id="{CB6F58C2-9C3B-ADD4-7899-944E999977AD}"/>
              </a:ext>
            </a:extLst>
          </p:cNvPr>
          <p:cNvSpPr txBox="1"/>
          <p:nvPr/>
        </p:nvSpPr>
        <p:spPr>
          <a:xfrm>
            <a:off x="343955" y="3897931"/>
            <a:ext cx="417102" cy="253916"/>
          </a:xfrm>
          <a:prstGeom prst="rect">
            <a:avLst/>
          </a:prstGeom>
          <a:noFill/>
        </p:spPr>
        <p:txBody>
          <a:bodyPr wrap="none" lIns="91440" tIns="45720" rIns="91440" bIns="45720" rtlCol="0" anchor="t">
            <a:spAutoFit/>
          </a:bodyPr>
          <a:lstStyle/>
          <a:p>
            <a:r>
              <a:rPr lang="en-IN" sz="1050" b="1">
                <a:solidFill>
                  <a:schemeClr val="bg1"/>
                </a:solidFill>
                <a:latin typeface="Montserrat Light"/>
              </a:rPr>
              <a:t>Jan</a:t>
            </a:r>
            <a:endParaRPr lang="en-IN" sz="1050" b="1">
              <a:solidFill>
                <a:schemeClr val="bg1"/>
              </a:solidFill>
              <a:latin typeface="Montserrat Light" pitchFamily="2" charset="0"/>
            </a:endParaRPr>
          </a:p>
        </p:txBody>
      </p:sp>
      <p:sp>
        <p:nvSpPr>
          <p:cNvPr id="27" name="TextBox 15">
            <a:extLst>
              <a:ext uri="{FF2B5EF4-FFF2-40B4-BE49-F238E27FC236}">
                <a16:creationId xmlns:a16="http://schemas.microsoft.com/office/drawing/2014/main" id="{4344B66C-B420-1EC0-9853-C51B5E0AE91B}"/>
              </a:ext>
            </a:extLst>
          </p:cNvPr>
          <p:cNvSpPr txBox="1"/>
          <p:nvPr/>
        </p:nvSpPr>
        <p:spPr>
          <a:xfrm>
            <a:off x="398384" y="817274"/>
            <a:ext cx="417102" cy="253916"/>
          </a:xfrm>
          <a:prstGeom prst="rect">
            <a:avLst/>
          </a:prstGeom>
          <a:noFill/>
        </p:spPr>
        <p:txBody>
          <a:bodyPr wrap="non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050" b="1">
                <a:solidFill>
                  <a:schemeClr val="bg1"/>
                </a:solidFill>
                <a:latin typeface="Montserrat Light"/>
              </a:rPr>
              <a:t>Jan</a:t>
            </a:r>
            <a:endParaRPr lang="en-IN" sz="1050" b="1">
              <a:solidFill>
                <a:schemeClr val="bg1"/>
              </a:solidFill>
              <a:latin typeface="Montserrat Light" pitchFamily="2" charset="0"/>
            </a:endParaRPr>
          </a:p>
        </p:txBody>
      </p:sp>
      <p:sp>
        <p:nvSpPr>
          <p:cNvPr id="29" name="Rectangle 28">
            <a:extLst>
              <a:ext uri="{FF2B5EF4-FFF2-40B4-BE49-F238E27FC236}">
                <a16:creationId xmlns:a16="http://schemas.microsoft.com/office/drawing/2014/main" id="{775625E9-D19A-0324-E813-878410C2C595}"/>
              </a:ext>
            </a:extLst>
          </p:cNvPr>
          <p:cNvSpPr/>
          <p:nvPr/>
        </p:nvSpPr>
        <p:spPr>
          <a:xfrm>
            <a:off x="-4474" y="793560"/>
            <a:ext cx="1067526" cy="42234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IN" sz="1400" b="1">
                <a:latin typeface="AirIndia"/>
              </a:rPr>
              <a:t>Apr ‘26</a:t>
            </a:r>
          </a:p>
        </p:txBody>
      </p:sp>
      <p:pic>
        <p:nvPicPr>
          <p:cNvPr id="34" name="Picture 33">
            <a:extLst>
              <a:ext uri="{FF2B5EF4-FFF2-40B4-BE49-F238E27FC236}">
                <a16:creationId xmlns:a16="http://schemas.microsoft.com/office/drawing/2014/main" id="{A1FE6BF5-4FE8-5476-B1F3-B57F55E25DF9}"/>
              </a:ext>
            </a:extLst>
          </p:cNvPr>
          <p:cNvPicPr>
            <a:picLocks noChangeAspect="1"/>
          </p:cNvPicPr>
          <p:nvPr/>
        </p:nvPicPr>
        <p:blipFill>
          <a:blip r:embed="rId10"/>
          <a:stretch>
            <a:fillRect/>
          </a:stretch>
        </p:blipFill>
        <p:spPr>
          <a:xfrm>
            <a:off x="306161" y="6532789"/>
            <a:ext cx="8248650" cy="323850"/>
          </a:xfrm>
          <a:prstGeom prst="rect">
            <a:avLst/>
          </a:prstGeom>
        </p:spPr>
      </p:pic>
    </p:spTree>
    <p:extLst>
      <p:ext uri="{BB962C8B-B14F-4D97-AF65-F5344CB8AC3E}">
        <p14:creationId xmlns:p14="http://schemas.microsoft.com/office/powerpoint/2010/main" val="838315884"/>
      </p:ext>
    </p:extLst>
  </p:cSld>
  <p:clrMapOvr>
    <a:masterClrMapping/>
  </p:clrMapOvr>
  <p:extLst>
    <p:ext uri="{6950BFC3-D8DA-4A85-94F7-54DA5524770B}">
      <p188:commentRel xmlns:p188="http://schemas.microsoft.com/office/powerpoint/2018/8/main" r:id="rId3"/>
    </p:ext>
  </p:extLs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9B0AF6-0357-C4C7-D254-A5F7221DFCEE}"/>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3DDEE32-08FC-B984-1444-716063ADC754}"/>
              </a:ext>
            </a:extLst>
          </p:cNvPr>
          <p:cNvSpPr>
            <a:spLocks noGrp="1"/>
          </p:cNvSpPr>
          <p:nvPr>
            <p:ph type="sldNum" sz="quarter" idx="12"/>
          </p:nvPr>
        </p:nvSpPr>
        <p:spPr/>
        <p:txBody>
          <a:bodyPr/>
          <a:lstStyle/>
          <a:p>
            <a:fld id="{3A41A254-7326-714E-AF55-4C213D6394DE}" type="slidenum">
              <a:rPr lang="en-US" sz="900" smtClean="0">
                <a:latin typeface="Montserrat Light" pitchFamily="2" charset="0"/>
              </a:rPr>
              <a:pPr/>
              <a:t>74</a:t>
            </a:fld>
            <a:endParaRPr lang="en-US" sz="900">
              <a:latin typeface="Montserrat Light" pitchFamily="2" charset="0"/>
            </a:endParaRPr>
          </a:p>
        </p:txBody>
      </p:sp>
      <p:sp>
        <p:nvSpPr>
          <p:cNvPr id="6" name="Title 11">
            <a:extLst>
              <a:ext uri="{FF2B5EF4-FFF2-40B4-BE49-F238E27FC236}">
                <a16:creationId xmlns:a16="http://schemas.microsoft.com/office/drawing/2014/main" id="{11F483AB-DB53-79BE-DE07-DE1346C5E8EF}"/>
              </a:ext>
            </a:extLst>
          </p:cNvPr>
          <p:cNvSpPr txBox="1">
            <a:spLocks/>
          </p:cNvSpPr>
          <p:nvPr/>
        </p:nvSpPr>
        <p:spPr>
          <a:xfrm>
            <a:off x="304800" y="269218"/>
            <a:ext cx="8420100" cy="396638"/>
          </a:xfrm>
          <a:prstGeom prst="rect">
            <a:avLst/>
          </a:prstGeom>
        </p:spPr>
        <p:txBody>
          <a:bodyPr lIns="91440" tIns="45720" rIns="91440" bIns="45720" anchor="t">
            <a:noAutofit/>
          </a:bodyPr>
          <a:lstStyle>
            <a:lvl1pPr algn="l" defTabSz="914400" rtl="0" eaLnBrk="1" latinLnBrk="0" hangingPunct="1">
              <a:lnSpc>
                <a:spcPct val="90000"/>
              </a:lnSpc>
              <a:spcBef>
                <a:spcPct val="0"/>
              </a:spcBef>
              <a:buNone/>
              <a:defRPr sz="4400" b="1" i="0" kern="1200">
                <a:solidFill>
                  <a:schemeClr val="tx1"/>
                </a:solidFill>
                <a:latin typeface="AirIndia" pitchFamily="82" charset="77"/>
                <a:ea typeface="+mj-ea"/>
                <a:cs typeface="+mj-cs"/>
              </a:defRPr>
            </a:lvl1pPr>
          </a:lstStyle>
          <a:p>
            <a:r>
              <a:rPr lang="en-US" sz="1800">
                <a:solidFill>
                  <a:srgbClr val="C00000"/>
                </a:solidFill>
                <a:latin typeface="AirIndia"/>
              </a:rPr>
              <a:t>AI Flight Pro- FY27 Q1  Release Plan </a:t>
            </a:r>
            <a:endParaRPr lang="en-US" sz="1800" b="0">
              <a:solidFill>
                <a:srgbClr val="C00000"/>
              </a:solidFill>
              <a:latin typeface="AirIndia"/>
            </a:endParaRPr>
          </a:p>
        </p:txBody>
      </p:sp>
      <p:graphicFrame>
        <p:nvGraphicFramePr>
          <p:cNvPr id="4" name="Table 3">
            <a:extLst>
              <a:ext uri="{FF2B5EF4-FFF2-40B4-BE49-F238E27FC236}">
                <a16:creationId xmlns:a16="http://schemas.microsoft.com/office/drawing/2014/main" id="{082F2D4F-69C2-A91D-35CE-6636C88487FE}"/>
              </a:ext>
            </a:extLst>
          </p:cNvPr>
          <p:cNvGraphicFramePr>
            <a:graphicFrameLocks noGrp="1"/>
          </p:cNvGraphicFramePr>
          <p:nvPr>
            <p:extLst>
              <p:ext uri="{D42A27DB-BD31-4B8C-83A1-F6EECF244321}">
                <p14:modId xmlns:p14="http://schemas.microsoft.com/office/powerpoint/2010/main" val="1883220888"/>
              </p:ext>
            </p:extLst>
          </p:nvPr>
        </p:nvGraphicFramePr>
        <p:xfrm>
          <a:off x="1090849" y="792699"/>
          <a:ext cx="9617536" cy="4058814"/>
        </p:xfrm>
        <a:graphic>
          <a:graphicData uri="http://schemas.openxmlformats.org/drawingml/2006/table">
            <a:tbl>
              <a:tblPr firstRow="1" bandRow="1">
                <a:tableStyleId>{5C22544A-7EE6-4342-B048-85BDC9FD1C3A}</a:tableStyleId>
              </a:tblPr>
              <a:tblGrid>
                <a:gridCol w="1368581">
                  <a:extLst>
                    <a:ext uri="{9D8B030D-6E8A-4147-A177-3AD203B41FA5}">
                      <a16:colId xmlns:a16="http://schemas.microsoft.com/office/drawing/2014/main" val="1118630623"/>
                    </a:ext>
                  </a:extLst>
                </a:gridCol>
                <a:gridCol w="6248857">
                  <a:extLst>
                    <a:ext uri="{9D8B030D-6E8A-4147-A177-3AD203B41FA5}">
                      <a16:colId xmlns:a16="http://schemas.microsoft.com/office/drawing/2014/main" val="99588705"/>
                    </a:ext>
                  </a:extLst>
                </a:gridCol>
                <a:gridCol w="1000049">
                  <a:extLst>
                    <a:ext uri="{9D8B030D-6E8A-4147-A177-3AD203B41FA5}">
                      <a16:colId xmlns:a16="http://schemas.microsoft.com/office/drawing/2014/main" val="161843499"/>
                    </a:ext>
                  </a:extLst>
                </a:gridCol>
                <a:gridCol w="1000049">
                  <a:extLst>
                    <a:ext uri="{9D8B030D-6E8A-4147-A177-3AD203B41FA5}">
                      <a16:colId xmlns:a16="http://schemas.microsoft.com/office/drawing/2014/main" val="2003776594"/>
                    </a:ext>
                  </a:extLst>
                </a:gridCol>
              </a:tblGrid>
              <a:tr h="286112">
                <a:tc>
                  <a:txBody>
                    <a:bodyPr/>
                    <a:lstStyle/>
                    <a:p>
                      <a:pPr marL="0" lvl="0" indent="0" algn="ctr" defTabSz="914400">
                        <a:lnSpc>
                          <a:spcPct val="100000"/>
                        </a:lnSpc>
                        <a:buNone/>
                      </a:pPr>
                      <a:r>
                        <a:rPr lang="en-IN" sz="1100" b="1" i="0" u="none" strike="noStrike" kern="1200" noProof="0">
                          <a:solidFill>
                            <a:schemeClr val="bg1"/>
                          </a:solidFill>
                          <a:latin typeface="Avenir Next LT Pro Light"/>
                          <a:ea typeface="+mn-ea"/>
                          <a:cs typeface="+mn-cs"/>
                        </a:rPr>
                        <a:t>Projects</a:t>
                      </a:r>
                      <a:endParaRPr lang="en-US"/>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solidFill>
                      <a:srgbClr val="002060"/>
                    </a:solidFill>
                  </a:tcPr>
                </a:tc>
                <a:tc>
                  <a:txBody>
                    <a:bodyPr/>
                    <a:lstStyle/>
                    <a:p>
                      <a:pPr lvl="0" algn="ctr">
                        <a:lnSpc>
                          <a:spcPct val="100000"/>
                        </a:lnSpc>
                        <a:spcBef>
                          <a:spcPts val="0"/>
                        </a:spcBef>
                        <a:spcAft>
                          <a:spcPts val="0"/>
                        </a:spcAft>
                        <a:buNone/>
                      </a:pPr>
                      <a:r>
                        <a:rPr lang="en-IN" sz="1100" b="1" i="0" u="none" strike="noStrike" kern="1200" noProof="0">
                          <a:solidFill>
                            <a:srgbClr val="FFFFFF"/>
                          </a:solidFill>
                          <a:latin typeface="Nunito Sans"/>
                          <a:ea typeface="+mn-ea"/>
                          <a:cs typeface="+mn-cs"/>
                        </a:rPr>
                        <a:t>Value Justification/Realization</a:t>
                      </a:r>
                    </a:p>
                    <a:p>
                      <a:pPr marL="0" lvl="0" indent="0" algn="l" defTabSz="914400">
                        <a:buFont typeface="Arial" panose="020B0604020202020204" pitchFamily="34" charset="0"/>
                        <a:buNone/>
                      </a:pPr>
                      <a:endParaRPr lang="en-IN" sz="1050" kern="1200">
                        <a:solidFill>
                          <a:schemeClr val="bg1"/>
                        </a:solidFill>
                        <a:latin typeface="Avenir Next LT Pro Ligh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002060"/>
                    </a:solidFill>
                  </a:tcPr>
                </a:tc>
                <a:tc>
                  <a:txBody>
                    <a:bodyPr/>
                    <a:lstStyle/>
                    <a:p>
                      <a:pPr marL="0" lvl="0" indent="0" algn="l">
                        <a:buNone/>
                      </a:pPr>
                      <a:r>
                        <a:rPr lang="en-IN" sz="1050" kern="1200">
                          <a:solidFill>
                            <a:schemeClr val="bg1"/>
                          </a:solidFill>
                          <a:latin typeface="Avenir Next LT Pro Light"/>
                          <a:ea typeface="+mn-ea"/>
                          <a:cs typeface="+mn-cs"/>
                        </a:rPr>
                        <a:t>Go Live Date</a:t>
                      </a: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a:solidFill>
                        <a:schemeClr val="bg1">
                          <a:lumMod val="75000"/>
                        </a:schemeClr>
                      </a:solidFill>
                    </a:lnB>
                    <a:solidFill>
                      <a:srgbClr val="002060"/>
                    </a:solidFill>
                  </a:tcPr>
                </a:tc>
                <a:tc>
                  <a:txBody>
                    <a:bodyPr/>
                    <a:lstStyle/>
                    <a:p>
                      <a:pPr lvl="0" algn="ctr">
                        <a:lnSpc>
                          <a:spcPct val="100000"/>
                        </a:lnSpc>
                        <a:spcBef>
                          <a:spcPts val="0"/>
                        </a:spcBef>
                        <a:spcAft>
                          <a:spcPts val="0"/>
                        </a:spcAft>
                        <a:buNone/>
                      </a:pPr>
                      <a:r>
                        <a:rPr lang="en-IN" sz="1100" b="1" i="0" u="none" strike="noStrike" kern="1200" noProof="0">
                          <a:solidFill>
                            <a:schemeClr val="bg1"/>
                          </a:solidFill>
                          <a:latin typeface="Avenir Next LT Pro Light"/>
                          <a:ea typeface="+mn-ea"/>
                          <a:cs typeface="+mn-cs"/>
                        </a:rPr>
                        <a:t>JIRA</a:t>
                      </a:r>
                      <a:endParaRPr lang="en-IN" sz="1100" b="1" i="0" u="none" strike="noStrike" kern="1200" noProof="0">
                        <a:solidFill>
                          <a:srgbClr val="FFFFFF"/>
                        </a:solidFill>
                        <a:latin typeface="Avenir Next LT Pro Light"/>
                        <a:ea typeface="+mn-ea"/>
                        <a:cs typeface="+mn-cs"/>
                      </a:endParaRP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solidFill>
                      <a:srgbClr val="002060"/>
                    </a:solidFill>
                  </a:tcPr>
                </a:tc>
                <a:extLst>
                  <a:ext uri="{0D108BD9-81ED-4DB2-BD59-A6C34878D82A}">
                    <a16:rowId xmlns:a16="http://schemas.microsoft.com/office/drawing/2014/main" val="844450115"/>
                  </a:ext>
                </a:extLst>
              </a:tr>
              <a:tr h="507559">
                <a:tc rowSpan="3">
                  <a:txBody>
                    <a:bodyPr/>
                    <a:lstStyle/>
                    <a:p>
                      <a:pPr lvl="0" algn="l">
                        <a:lnSpc>
                          <a:spcPct val="100000"/>
                        </a:lnSpc>
                        <a:spcBef>
                          <a:spcPts val="0"/>
                        </a:spcBef>
                        <a:spcAft>
                          <a:spcPts val="0"/>
                        </a:spcAft>
                        <a:buNone/>
                      </a:pPr>
                      <a:r>
                        <a:rPr lang="en-US" sz="1100" b="1" i="0" u="none" strike="noStrike" kern="1200" noProof="0">
                          <a:solidFill>
                            <a:schemeClr val="tx1"/>
                          </a:solidFill>
                          <a:latin typeface="Nunito Sans"/>
                          <a:ea typeface="+mn-ea"/>
                          <a:cs typeface="+mn-cs"/>
                        </a:rPr>
                        <a:t>Pilot Check in</a:t>
                      </a:r>
                      <a:r>
                        <a:rPr lang="en-US" sz="1100" b="0" i="0" u="none" strike="noStrike" kern="1200" noProof="0">
                          <a:solidFill>
                            <a:schemeClr val="tx1"/>
                          </a:solidFill>
                          <a:latin typeface="Nunito Sans"/>
                          <a:ea typeface="+mn-ea"/>
                          <a:cs typeface="+mn-cs"/>
                        </a:rPr>
                        <a:t> </a:t>
                      </a:r>
                      <a:endParaRPr lang="en-IN" sz="1100" b="0" i="0" u="none" strike="noStrike" kern="1200" noProof="0">
                        <a:solidFill>
                          <a:srgbClr val="000000"/>
                        </a:solidFill>
                        <a:latin typeface="Nunito Sans"/>
                        <a:ea typeface="+mn-ea"/>
                        <a:cs typeface="+mn-cs"/>
                      </a:endParaRPr>
                    </a:p>
                    <a:p>
                      <a:pPr marL="0" lvl="0" indent="0" algn="l" defTabSz="914400">
                        <a:lnSpc>
                          <a:spcPct val="100000"/>
                        </a:lnSpc>
                        <a:spcBef>
                          <a:spcPts val="0"/>
                        </a:spcBef>
                        <a:spcAft>
                          <a:spcPts val="0"/>
                        </a:spcAft>
                        <a:buNone/>
                      </a:pPr>
                      <a:endParaRPr lang="en-IN" sz="1100" b="1" i="0" u="none" strike="noStrike" kern="1200" noProof="0">
                        <a:solidFill>
                          <a:schemeClr val="tx1"/>
                        </a:solidFill>
                        <a:latin typeface="Nunito Sans"/>
                        <a:ea typeface="+mn-ea"/>
                        <a:cs typeface="+mn-cs"/>
                      </a:endParaRPr>
                    </a:p>
                  </a:txBody>
                  <a:tcPr anchor="ctr">
                    <a:lnL w="6350">
                      <a:solidFill>
                        <a:schemeClr val="bg1">
                          <a:lumMod val="75000"/>
                        </a:schemeClr>
                      </a:solidFill>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171450" marR="0" lvl="0" indent="-171450" algn="l" rtl="0">
                        <a:lnSpc>
                          <a:spcPct val="100000"/>
                        </a:lnSpc>
                        <a:spcBef>
                          <a:spcPts val="0"/>
                        </a:spcBef>
                        <a:spcAft>
                          <a:spcPts val="0"/>
                        </a:spcAft>
                        <a:buClr>
                          <a:srgbClr val="000000"/>
                        </a:buClr>
                        <a:buSzTx/>
                        <a:buFont typeface="Arial,Sans-Serif"/>
                        <a:buChar char="•"/>
                      </a:pPr>
                      <a:r>
                        <a:rPr lang="en-US" sz="1100" b="1" i="0" u="none" strike="noStrike" kern="1200" noProof="0">
                          <a:solidFill>
                            <a:schemeClr val="tx1"/>
                          </a:solidFill>
                          <a:effectLst/>
                          <a:latin typeface="Nunito Sans"/>
                          <a:ea typeface="+mn-ea"/>
                          <a:cs typeface="+mn-cs"/>
                        </a:rPr>
                        <a:t>CAE CM Check-in</a:t>
                      </a:r>
                      <a:r>
                        <a:rPr lang="en-US" sz="1100" b="0" i="0" u="none" strike="noStrike" kern="1200" noProof="0">
                          <a:solidFill>
                            <a:schemeClr val="tx1"/>
                          </a:solidFill>
                          <a:effectLst/>
                          <a:latin typeface="Nunito Sans"/>
                          <a:ea typeface="+mn-ea"/>
                          <a:cs typeface="+mn-cs"/>
                        </a:rPr>
                        <a:t>: Capability for Pilots to check into their flight allowing a system check of their licenses and qualifications and informs them of any potential issues</a:t>
                      </a:r>
                      <a:endParaRPr lang="en-US" sz="1100" b="0" i="0" u="none" strike="noStrike" kern="1200" noProof="0">
                        <a:solidFill>
                          <a:srgbClr val="000000"/>
                        </a:solidFill>
                        <a:effectLst/>
                        <a:latin typeface="Nunito Sans"/>
                        <a:ea typeface="+mn-ea"/>
                        <a:cs typeface="+mn-cs"/>
                      </a:endParaRP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a:solidFill>
                        <a:schemeClr val="bg1">
                          <a:lumMod val="75000"/>
                        </a:schemeClr>
                      </a:solidFill>
                    </a:lnB>
                    <a:solidFill>
                      <a:schemeClr val="bg1"/>
                    </a:solidFill>
                  </a:tcPr>
                </a:tc>
                <a:tc rowSpan="3">
                  <a:txBody>
                    <a:bodyPr/>
                    <a:lstStyle/>
                    <a:p>
                      <a:pPr marL="0" lvl="0" indent="0" algn="l">
                        <a:lnSpc>
                          <a:spcPct val="100000"/>
                        </a:lnSpc>
                        <a:spcBef>
                          <a:spcPts val="0"/>
                        </a:spcBef>
                        <a:spcAft>
                          <a:spcPts val="0"/>
                        </a:spcAft>
                        <a:buNone/>
                      </a:pPr>
                      <a:r>
                        <a:rPr lang="en-US" sz="1100" b="0" i="0" u="none" strike="noStrike" kern="1200" noProof="0">
                          <a:solidFill>
                            <a:schemeClr val="tx1"/>
                          </a:solidFill>
                          <a:effectLst/>
                          <a:latin typeface="Nunito Sans"/>
                        </a:rPr>
                        <a:t>28</a:t>
                      </a:r>
                      <a:r>
                        <a:rPr lang="en-US" sz="1100" b="0" i="1" u="none" strike="noStrike" kern="1200" noProof="0">
                          <a:solidFill>
                            <a:schemeClr val="tx1"/>
                          </a:solidFill>
                          <a:effectLst/>
                          <a:latin typeface="Nunito Sans"/>
                        </a:rPr>
                        <a:t>th</a:t>
                      </a:r>
                      <a:r>
                        <a:rPr lang="en-US" sz="1100" b="0" i="0" u="none" strike="noStrike" kern="1200" noProof="0">
                          <a:solidFill>
                            <a:schemeClr val="tx1"/>
                          </a:solidFill>
                          <a:effectLst/>
                          <a:latin typeface="Nunito Sans"/>
                        </a:rPr>
                        <a:t> May </a:t>
                      </a:r>
                      <a:endParaRPr lang="en-US" sz="1100" b="0" i="0" u="none" strike="noStrike" kern="1200" noProof="0">
                        <a:solidFill>
                          <a:schemeClr val="tx1"/>
                        </a:solidFill>
                        <a:effectLst/>
                        <a:latin typeface="Nunito Sans"/>
                        <a:ea typeface="+mn-ea"/>
                        <a:cs typeface="+mn-cs"/>
                      </a:endParaRP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a:solidFill>
                        <a:schemeClr val="bg1">
                          <a:lumMod val="75000"/>
                        </a:schemeClr>
                      </a:solidFill>
                    </a:lnB>
                    <a:solidFill>
                      <a:schemeClr val="bg1"/>
                    </a:solidFill>
                  </a:tcPr>
                </a:tc>
                <a:tc rowSpan="3">
                  <a:txBody>
                    <a:bodyPr/>
                    <a:lstStyle/>
                    <a:p>
                      <a:pPr marL="0" lvl="0" indent="0" algn="l">
                        <a:lnSpc>
                          <a:spcPct val="100000"/>
                        </a:lnSpc>
                        <a:spcBef>
                          <a:spcPts val="0"/>
                        </a:spcBef>
                        <a:spcAft>
                          <a:spcPts val="0"/>
                        </a:spcAft>
                        <a:buNone/>
                      </a:pPr>
                      <a:endParaRPr lang="en-US" sz="1100" b="0" i="0" u="none" strike="noStrike" kern="1200" noProof="0">
                        <a:solidFill>
                          <a:schemeClr val="tx1"/>
                        </a:solidFill>
                        <a:effectLst/>
                        <a:latin typeface="Nunito Sans"/>
                      </a:endParaRP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solidFill>
                      <a:schemeClr val="bg1"/>
                    </a:solidFill>
                  </a:tcPr>
                </a:tc>
                <a:extLst>
                  <a:ext uri="{0D108BD9-81ED-4DB2-BD59-A6C34878D82A}">
                    <a16:rowId xmlns:a16="http://schemas.microsoft.com/office/drawing/2014/main" val="3951168155"/>
                  </a:ext>
                </a:extLst>
              </a:tr>
              <a:tr h="507559">
                <a:tc vMerge="1">
                  <a:txBody>
                    <a:bodyPr/>
                    <a:lstStyle/>
                    <a:p>
                      <a:pPr defTabSz="914400"/>
                      <a:endParaRPr lang="en-US"/>
                    </a:p>
                  </a:txBody>
                  <a:tcPr anchor="ctr">
                    <a:lnL w="6350">
                      <a:solidFill>
                        <a:schemeClr val="bg1">
                          <a:lumMod val="75000"/>
                        </a:schemeClr>
                      </a:solidFill>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171450" marR="0" lvl="0" indent="-171450" algn="l" rtl="0">
                        <a:lnSpc>
                          <a:spcPct val="100000"/>
                        </a:lnSpc>
                        <a:buClr>
                          <a:srgbClr val="000000"/>
                        </a:buClr>
                        <a:buSzTx/>
                        <a:buFont typeface="Arial,Sans-Serif"/>
                        <a:buChar char="•"/>
                      </a:pPr>
                      <a:r>
                        <a:rPr lang="en-US" sz="1100" b="1" i="0" u="none" strike="noStrike" kern="1200" noProof="0" err="1">
                          <a:solidFill>
                            <a:schemeClr val="tx1"/>
                          </a:solidFill>
                          <a:effectLst/>
                          <a:latin typeface="Nunito Sans"/>
                          <a:ea typeface="+mn-ea"/>
                          <a:cs typeface="+mn-cs"/>
                        </a:rPr>
                        <a:t>Docunet</a:t>
                      </a:r>
                      <a:r>
                        <a:rPr lang="en-US" sz="1100" b="1" i="0" u="none" strike="noStrike" kern="1200" noProof="0">
                          <a:solidFill>
                            <a:schemeClr val="tx1"/>
                          </a:solidFill>
                          <a:effectLst/>
                          <a:latin typeface="Nunito Sans"/>
                          <a:ea typeface="+mn-ea"/>
                          <a:cs typeface="+mn-cs"/>
                        </a:rPr>
                        <a:t> Alerts</a:t>
                      </a:r>
                      <a:r>
                        <a:rPr lang="en-US" sz="1100" b="0" i="0" u="none" strike="noStrike" kern="1200" noProof="0">
                          <a:solidFill>
                            <a:schemeClr val="tx1"/>
                          </a:solidFill>
                          <a:effectLst/>
                          <a:latin typeface="Nunito Sans"/>
                          <a:ea typeface="+mn-ea"/>
                          <a:cs typeface="+mn-cs"/>
                        </a:rPr>
                        <a:t>: Integration with </a:t>
                      </a:r>
                      <a:r>
                        <a:rPr lang="en-US" sz="1100" b="0" i="0" u="none" strike="noStrike" kern="1200" noProof="0" err="1">
                          <a:solidFill>
                            <a:schemeClr val="tx1"/>
                          </a:solidFill>
                          <a:effectLst/>
                          <a:latin typeface="Nunito Sans"/>
                          <a:ea typeface="+mn-ea"/>
                          <a:cs typeface="+mn-cs"/>
                        </a:rPr>
                        <a:t>Docunet</a:t>
                      </a:r>
                      <a:r>
                        <a:rPr lang="en-US" sz="1100" b="0" i="0" u="none" strike="noStrike" kern="1200" noProof="0">
                          <a:solidFill>
                            <a:schemeClr val="tx1"/>
                          </a:solidFill>
                          <a:effectLst/>
                          <a:latin typeface="Nunito Sans"/>
                          <a:ea typeface="+mn-ea"/>
                          <a:cs typeface="+mn-cs"/>
                        </a:rPr>
                        <a:t> via APIs resulting in a hard alert preventing check-in. Alerts limited to documents updated and review and sign of mandatory documents </a:t>
                      </a:r>
                      <a:endParaRPr lang="en-US" sz="1100" b="0" i="0" u="none" strike="noStrike" kern="1200" noProof="0">
                        <a:solidFill>
                          <a:srgbClr val="000000"/>
                        </a:solidFill>
                        <a:effectLst/>
                        <a:latin typeface="Nunito Sans"/>
                        <a:ea typeface="+mn-ea"/>
                        <a:cs typeface="+mn-cs"/>
                      </a:endParaRP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solidFill>
                      <a:schemeClr val="bg1"/>
                    </a:solidFill>
                  </a:tcPr>
                </a:tc>
                <a:tc vMerge="1">
                  <a:txBody>
                    <a:bodyPr/>
                    <a:lstStyle/>
                    <a:p>
                      <a:endParaRPr lang="en-US"/>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solidFill>
                      <a:schemeClr val="bg1"/>
                    </a:solidFill>
                  </a:tcPr>
                </a:tc>
                <a:tc vMerge="1">
                  <a:txBody>
                    <a:bodyPr/>
                    <a:lstStyle/>
                    <a:p>
                      <a:endParaRPr lang="en-GB"/>
                    </a:p>
                  </a:txBody>
                  <a:tcPr/>
                </a:tc>
                <a:extLst>
                  <a:ext uri="{0D108BD9-81ED-4DB2-BD59-A6C34878D82A}">
                    <a16:rowId xmlns:a16="http://schemas.microsoft.com/office/drawing/2014/main" val="3158025952"/>
                  </a:ext>
                </a:extLst>
              </a:tr>
              <a:tr h="507559">
                <a:tc vMerge="1">
                  <a:txBody>
                    <a:bodyPr/>
                    <a:lstStyle/>
                    <a:p>
                      <a:pPr defTabSz="914400"/>
                      <a:endParaRPr lang="en-US"/>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171450" lvl="0" indent="-171450" algn="l">
                        <a:lnSpc>
                          <a:spcPct val="100000"/>
                        </a:lnSpc>
                        <a:buClr>
                          <a:srgbClr val="000000"/>
                        </a:buClr>
                        <a:buFont typeface="Arial,Sans-Serif"/>
                        <a:buChar char="•"/>
                      </a:pPr>
                      <a:r>
                        <a:rPr lang="en-US" sz="1100" b="1" i="0" u="none" strike="noStrike" kern="1200" noProof="0">
                          <a:solidFill>
                            <a:schemeClr val="tx1"/>
                          </a:solidFill>
                          <a:effectLst/>
                          <a:latin typeface="Nunito Sans"/>
                          <a:ea typeface="+mn-ea"/>
                          <a:cs typeface="+mn-cs"/>
                        </a:rPr>
                        <a:t>EFB Alerts</a:t>
                      </a:r>
                      <a:r>
                        <a:rPr lang="en-US" sz="1100" b="0" i="0" u="none" strike="noStrike" kern="1200" noProof="0">
                          <a:solidFill>
                            <a:schemeClr val="tx1"/>
                          </a:solidFill>
                          <a:effectLst/>
                          <a:latin typeface="Nunito Sans"/>
                          <a:ea typeface="+mn-ea"/>
                          <a:cs typeface="+mn-cs"/>
                        </a:rPr>
                        <a:t>: Alert based on iPad battery check &gt; 70%</a:t>
                      </a:r>
                      <a:endParaRPr lang="en-US" sz="1100" b="0" i="0" u="none" strike="noStrike" kern="1200" noProof="0">
                        <a:solidFill>
                          <a:srgbClr val="000000"/>
                        </a:solidFill>
                        <a:effectLst/>
                        <a:latin typeface="Nunito Sans"/>
                        <a:ea typeface="+mn-ea"/>
                        <a:cs typeface="+mn-cs"/>
                      </a:endParaRP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solidFill>
                      <a:schemeClr val="bg1"/>
                    </a:solidFill>
                  </a:tcPr>
                </a:tc>
                <a:tc vMerge="1">
                  <a:txBody>
                    <a:bodyPr/>
                    <a:lstStyle/>
                    <a:p>
                      <a:endParaRPr lang="en-US"/>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solidFill>
                      <a:schemeClr val="bg1"/>
                    </a:solidFill>
                  </a:tcPr>
                </a:tc>
                <a:tc vMerge="1">
                  <a:txBody>
                    <a:bodyPr/>
                    <a:lstStyle/>
                    <a:p>
                      <a:endParaRPr lang="en-GB"/>
                    </a:p>
                  </a:txBody>
                  <a:tcPr/>
                </a:tc>
                <a:extLst>
                  <a:ext uri="{0D108BD9-81ED-4DB2-BD59-A6C34878D82A}">
                    <a16:rowId xmlns:a16="http://schemas.microsoft.com/office/drawing/2014/main" val="3266052473"/>
                  </a:ext>
                </a:extLst>
              </a:tr>
              <a:tr h="507559">
                <a:tc>
                  <a:txBody>
                    <a:bodyPr/>
                    <a:lstStyle/>
                    <a:p>
                      <a:pPr lvl="0" algn="l">
                        <a:lnSpc>
                          <a:spcPct val="100000"/>
                        </a:lnSpc>
                        <a:spcBef>
                          <a:spcPts val="0"/>
                        </a:spcBef>
                        <a:spcAft>
                          <a:spcPts val="0"/>
                        </a:spcAft>
                        <a:buNone/>
                      </a:pPr>
                      <a:r>
                        <a:rPr lang="en-US" sz="1100" b="1" i="0" u="none" strike="noStrike" kern="1200" noProof="0">
                          <a:solidFill>
                            <a:srgbClr val="000000"/>
                          </a:solidFill>
                          <a:latin typeface="Nunito Sans"/>
                          <a:ea typeface="+mn-ea"/>
                          <a:cs typeface="+mn-cs"/>
                        </a:rPr>
                        <a:t>Base Training</a:t>
                      </a:r>
                      <a:r>
                        <a:rPr lang="en-US" sz="1100" b="0" i="0" u="none" strike="noStrike" kern="1200" noProof="0">
                          <a:solidFill>
                            <a:srgbClr val="000000"/>
                          </a:solidFill>
                          <a:latin typeface="Nunito Sans"/>
                          <a:ea typeface="+mn-ea"/>
                          <a:cs typeface="+mn-cs"/>
                        </a:rPr>
                        <a:t> </a:t>
                      </a:r>
                      <a:endParaRPr lang="en-IN" sz="1100" b="0" i="0" u="none" strike="noStrike" kern="1200" noProof="0">
                        <a:solidFill>
                          <a:srgbClr val="000000"/>
                        </a:solidFill>
                        <a:latin typeface="Nunito Sans"/>
                        <a:ea typeface="+mn-ea"/>
                        <a:cs typeface="+mn-cs"/>
                      </a:endParaRP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171450" marR="0" lvl="0" indent="-171450" algn="l">
                        <a:lnSpc>
                          <a:spcPct val="100000"/>
                        </a:lnSpc>
                        <a:spcBef>
                          <a:spcPts val="0"/>
                        </a:spcBef>
                        <a:spcAft>
                          <a:spcPts val="0"/>
                        </a:spcAft>
                        <a:buClr>
                          <a:srgbClr val="000000"/>
                        </a:buClr>
                        <a:buFont typeface="Arial,Sans-Serif"/>
                        <a:buChar char="•"/>
                      </a:pPr>
                      <a:r>
                        <a:rPr lang="en-US" sz="1100" b="0" i="0" u="none" strike="noStrike" kern="1200" noProof="0">
                          <a:solidFill>
                            <a:schemeClr val="tx1"/>
                          </a:solidFill>
                          <a:effectLst/>
                          <a:latin typeface="Nunito Sans"/>
                          <a:ea typeface="+mn-ea"/>
                          <a:cs typeface="+mn-cs"/>
                        </a:rPr>
                        <a:t>Ability to submit PSR-based training flight reports via AIFP with submission flow and integration with </a:t>
                      </a:r>
                      <a:r>
                        <a:rPr lang="en-US" sz="1100" b="0" i="0" u="none" strike="noStrike" kern="1200" noProof="0" err="1">
                          <a:solidFill>
                            <a:schemeClr val="tx1"/>
                          </a:solidFill>
                          <a:effectLst/>
                          <a:latin typeface="Nunito Sans"/>
                          <a:ea typeface="+mn-ea"/>
                          <a:cs typeface="+mn-cs"/>
                        </a:rPr>
                        <a:t>eGCA</a:t>
                      </a:r>
                      <a:endParaRPr lang="en-US" sz="1100" b="0" i="0" u="none" strike="noStrike" kern="1200" noProof="0">
                        <a:solidFill>
                          <a:srgbClr val="000000"/>
                        </a:solidFill>
                        <a:effectLst/>
                        <a:latin typeface="Nunito Sans"/>
                        <a:ea typeface="+mn-ea"/>
                        <a:cs typeface="+mn-cs"/>
                      </a:endParaRP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lvl="0" indent="0" algn="l">
                        <a:lnSpc>
                          <a:spcPct val="100000"/>
                        </a:lnSpc>
                        <a:spcBef>
                          <a:spcPts val="0"/>
                        </a:spcBef>
                        <a:spcAft>
                          <a:spcPts val="0"/>
                        </a:spcAft>
                        <a:buNone/>
                      </a:pPr>
                      <a:r>
                        <a:rPr lang="en-US" sz="1100" b="0" i="0" u="none" strike="noStrike" kern="1200" noProof="0">
                          <a:solidFill>
                            <a:srgbClr val="000000"/>
                          </a:solidFill>
                          <a:effectLst/>
                          <a:latin typeface="Nunito Sans"/>
                        </a:rPr>
                        <a:t>28</a:t>
                      </a:r>
                      <a:r>
                        <a:rPr lang="en-US" sz="1100" b="0" i="1" u="none" strike="noStrike" kern="1200" noProof="0">
                          <a:solidFill>
                            <a:srgbClr val="000000"/>
                          </a:solidFill>
                          <a:effectLst/>
                          <a:latin typeface="Nunito Sans"/>
                        </a:rPr>
                        <a:t>th</a:t>
                      </a:r>
                      <a:r>
                        <a:rPr lang="en-US" sz="1100" b="0" i="0" u="none" strike="noStrike" kern="1200" noProof="0">
                          <a:solidFill>
                            <a:srgbClr val="000000"/>
                          </a:solidFill>
                          <a:effectLst/>
                          <a:latin typeface="Nunito Sans"/>
                        </a:rPr>
                        <a:t> May</a:t>
                      </a:r>
                      <a:endParaRPr lang="en-US" sz="1100" b="0" i="0" u="none" strike="noStrike" kern="1200" noProof="0">
                        <a:solidFill>
                          <a:srgbClr val="000000"/>
                        </a:solidFill>
                        <a:effectLst/>
                        <a:latin typeface="Nunito Sans"/>
                        <a:ea typeface="+mn-ea"/>
                        <a:cs typeface="+mn-cs"/>
                      </a:endParaRP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a:solidFill>
                        <a:schemeClr val="bg1">
                          <a:lumMod val="75000"/>
                        </a:schemeClr>
                      </a:solidFill>
                    </a:lnB>
                    <a:solidFill>
                      <a:schemeClr val="bg1"/>
                    </a:solidFill>
                  </a:tcPr>
                </a:tc>
                <a:tc>
                  <a:txBody>
                    <a:bodyPr/>
                    <a:lstStyle/>
                    <a:p>
                      <a:pPr marL="0" lvl="0" indent="0" algn="l">
                        <a:lnSpc>
                          <a:spcPct val="100000"/>
                        </a:lnSpc>
                        <a:spcBef>
                          <a:spcPts val="0"/>
                        </a:spcBef>
                        <a:spcAft>
                          <a:spcPts val="0"/>
                        </a:spcAft>
                        <a:buNone/>
                      </a:pPr>
                      <a:endParaRPr lang="en-US" sz="1100" b="0" i="0" u="none" strike="noStrike" kern="1200" noProof="0">
                        <a:solidFill>
                          <a:srgbClr val="000000"/>
                        </a:solidFill>
                        <a:effectLst/>
                        <a:latin typeface="Nunito Sans"/>
                      </a:endParaRP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solidFill>
                      <a:schemeClr val="bg1"/>
                    </a:solidFill>
                  </a:tcPr>
                </a:tc>
                <a:extLst>
                  <a:ext uri="{0D108BD9-81ED-4DB2-BD59-A6C34878D82A}">
                    <a16:rowId xmlns:a16="http://schemas.microsoft.com/office/drawing/2014/main" val="1980214999"/>
                  </a:ext>
                </a:extLst>
              </a:tr>
              <a:tr h="507559">
                <a:tc>
                  <a:txBody>
                    <a:bodyPr/>
                    <a:lstStyle/>
                    <a:p>
                      <a:pPr lvl="0" algn="l">
                        <a:lnSpc>
                          <a:spcPct val="100000"/>
                        </a:lnSpc>
                        <a:spcBef>
                          <a:spcPts val="0"/>
                        </a:spcBef>
                        <a:spcAft>
                          <a:spcPts val="0"/>
                        </a:spcAft>
                        <a:buNone/>
                      </a:pPr>
                      <a:r>
                        <a:rPr lang="en-US" sz="1100" b="1" i="0" u="none" strike="noStrike" kern="1200" noProof="0">
                          <a:solidFill>
                            <a:srgbClr val="000000"/>
                          </a:solidFill>
                          <a:latin typeface="Nunito Sans"/>
                          <a:ea typeface="+mn-ea"/>
                          <a:cs typeface="+mn-cs"/>
                        </a:rPr>
                        <a:t>Approval Flow for Pilots</a:t>
                      </a:r>
                      <a:endParaRPr lang="en-US" sz="1100" b="0" i="0" u="none" strike="noStrike" kern="1200" noProof="0">
                        <a:solidFill>
                          <a:srgbClr val="000000"/>
                        </a:solidFill>
                        <a:latin typeface="Nunito Sans"/>
                        <a:ea typeface="+mn-ea"/>
                        <a:cs typeface="+mn-cs"/>
                      </a:endParaRP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171450" marR="0" lvl="0" indent="-171450" algn="l">
                        <a:lnSpc>
                          <a:spcPct val="100000"/>
                        </a:lnSpc>
                        <a:buClr>
                          <a:srgbClr val="000000"/>
                        </a:buClr>
                        <a:buFont typeface="Arial,Sans-Serif"/>
                        <a:buChar char="•"/>
                      </a:pPr>
                      <a:r>
                        <a:rPr lang="en-US" sz="1100" b="0" i="0" u="none" strike="noStrike" kern="1200" noProof="0">
                          <a:solidFill>
                            <a:schemeClr val="tx1"/>
                          </a:solidFill>
                          <a:effectLst/>
                          <a:latin typeface="Nunito Sans"/>
                          <a:ea typeface="+mn-ea"/>
                          <a:cs typeface="+mn-cs"/>
                        </a:rPr>
                        <a:t>Allows the PSR to be submitted by one pilot and reviewed by all other pilots on the flight</a:t>
                      </a:r>
                      <a:endParaRPr lang="en-US" sz="1100" b="0" i="0" u="none" strike="noStrike" kern="1200" noProof="0">
                        <a:solidFill>
                          <a:srgbClr val="000000"/>
                        </a:solidFill>
                        <a:effectLst/>
                        <a:latin typeface="Nunito Sans"/>
                        <a:ea typeface="+mn-ea"/>
                        <a:cs typeface="+mn-cs"/>
                      </a:endParaRPr>
                    </a:p>
                    <a:p>
                      <a:pPr marL="171450" lvl="0" indent="-171450" algn="l">
                        <a:lnSpc>
                          <a:spcPct val="100000"/>
                        </a:lnSpc>
                        <a:spcBef>
                          <a:spcPts val="0"/>
                        </a:spcBef>
                        <a:spcAft>
                          <a:spcPts val="0"/>
                        </a:spcAft>
                        <a:buClr>
                          <a:srgbClr val="000000"/>
                        </a:buClr>
                        <a:buFont typeface="Arial,Sans-Serif"/>
                        <a:buChar char="•"/>
                      </a:pPr>
                      <a:r>
                        <a:rPr lang="en-US" sz="1100" b="0" i="0" u="none" strike="noStrike" kern="1200" noProof="0">
                          <a:solidFill>
                            <a:schemeClr val="tx1"/>
                          </a:solidFill>
                          <a:effectLst/>
                          <a:latin typeface="Nunito Sans"/>
                          <a:ea typeface="+mn-ea"/>
                          <a:cs typeface="+mn-cs"/>
                        </a:rPr>
                        <a:t>Providing Push and email notifications to Pilots for submission, resubmission flow and missing PSR</a:t>
                      </a:r>
                      <a:endParaRPr lang="en-US" sz="1100">
                        <a:latin typeface="Nunito Sans"/>
                      </a:endParaRP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lvl="0" indent="0" algn="l">
                        <a:lnSpc>
                          <a:spcPct val="100000"/>
                        </a:lnSpc>
                        <a:spcBef>
                          <a:spcPts val="0"/>
                        </a:spcBef>
                        <a:spcAft>
                          <a:spcPts val="0"/>
                        </a:spcAft>
                        <a:buNone/>
                      </a:pPr>
                      <a:r>
                        <a:rPr lang="en-US" sz="1100" b="0" i="0" u="none" strike="noStrike" kern="1200" noProof="0">
                          <a:solidFill>
                            <a:schemeClr val="tx1"/>
                          </a:solidFill>
                          <a:effectLst/>
                          <a:latin typeface="Nunito Sans"/>
                        </a:rPr>
                        <a:t>28</a:t>
                      </a:r>
                      <a:r>
                        <a:rPr lang="en-US" sz="1100" b="0" i="1" u="none" strike="noStrike" kern="1200" noProof="0">
                          <a:solidFill>
                            <a:schemeClr val="tx1"/>
                          </a:solidFill>
                          <a:effectLst/>
                          <a:latin typeface="Nunito Sans"/>
                        </a:rPr>
                        <a:t>th</a:t>
                      </a:r>
                      <a:r>
                        <a:rPr lang="en-US" sz="1100" b="0" i="0" u="none" strike="noStrike" kern="1200" noProof="0">
                          <a:solidFill>
                            <a:schemeClr val="tx1"/>
                          </a:solidFill>
                          <a:effectLst/>
                          <a:latin typeface="Nunito Sans"/>
                        </a:rPr>
                        <a:t> May</a:t>
                      </a:r>
                      <a:endParaRPr lang="en-US" sz="1100" b="0" i="0" u="none" strike="noStrike" kern="1200" noProof="0">
                        <a:solidFill>
                          <a:schemeClr val="tx1"/>
                        </a:solidFill>
                        <a:effectLst/>
                        <a:latin typeface="Nunito Sans"/>
                        <a:ea typeface="+mn-ea"/>
                        <a:cs typeface="+mn-cs"/>
                      </a:endParaRP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a:solidFill>
                        <a:schemeClr val="bg1">
                          <a:lumMod val="75000"/>
                        </a:schemeClr>
                      </a:solidFill>
                    </a:lnB>
                    <a:solidFill>
                      <a:schemeClr val="bg1"/>
                    </a:solidFill>
                  </a:tcPr>
                </a:tc>
                <a:tc>
                  <a:txBody>
                    <a:bodyPr/>
                    <a:lstStyle/>
                    <a:p>
                      <a:pPr marL="0" lvl="0" indent="0" algn="l">
                        <a:lnSpc>
                          <a:spcPct val="100000"/>
                        </a:lnSpc>
                        <a:spcBef>
                          <a:spcPts val="0"/>
                        </a:spcBef>
                        <a:spcAft>
                          <a:spcPts val="0"/>
                        </a:spcAft>
                        <a:buNone/>
                      </a:pPr>
                      <a:endParaRPr lang="en-US" sz="1100" b="0" i="0" u="none" strike="noStrike" kern="1200" noProof="0">
                        <a:solidFill>
                          <a:schemeClr val="tx1"/>
                        </a:solidFill>
                        <a:effectLst/>
                        <a:latin typeface="Nunito Sans"/>
                      </a:endParaRP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solidFill>
                      <a:schemeClr val="bg1"/>
                    </a:solidFill>
                  </a:tcPr>
                </a:tc>
                <a:extLst>
                  <a:ext uri="{0D108BD9-81ED-4DB2-BD59-A6C34878D82A}">
                    <a16:rowId xmlns:a16="http://schemas.microsoft.com/office/drawing/2014/main" val="872841159"/>
                  </a:ext>
                </a:extLst>
              </a:tr>
              <a:tr h="507559">
                <a:tc>
                  <a:txBody>
                    <a:bodyPr/>
                    <a:lstStyle/>
                    <a:p>
                      <a:pPr lvl="0" algn="l">
                        <a:lnSpc>
                          <a:spcPct val="100000"/>
                        </a:lnSpc>
                        <a:spcBef>
                          <a:spcPts val="0"/>
                        </a:spcBef>
                        <a:spcAft>
                          <a:spcPts val="0"/>
                        </a:spcAft>
                        <a:buNone/>
                      </a:pPr>
                      <a:r>
                        <a:rPr lang="en-US" sz="1100" b="1" i="0" u="none" strike="noStrike" kern="1200" noProof="0">
                          <a:solidFill>
                            <a:schemeClr val="tx1"/>
                          </a:solidFill>
                          <a:latin typeface="Nunito Sans"/>
                          <a:ea typeface="+mn-ea"/>
                          <a:cs typeface="+mn-cs"/>
                        </a:rPr>
                        <a:t>MEL Information </a:t>
                      </a:r>
                      <a:endParaRPr lang="en-US" sz="1100" b="0" i="0" u="none" strike="noStrike" kern="1200" noProof="0">
                        <a:solidFill>
                          <a:srgbClr val="000000"/>
                        </a:solidFill>
                        <a:latin typeface="Nunito Sans"/>
                        <a:ea typeface="+mn-ea"/>
                        <a:cs typeface="+mn-cs"/>
                      </a:endParaRP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171450" marR="0" lvl="0" indent="-171450" algn="l">
                        <a:lnSpc>
                          <a:spcPct val="100000"/>
                        </a:lnSpc>
                        <a:spcBef>
                          <a:spcPts val="0"/>
                        </a:spcBef>
                        <a:spcAft>
                          <a:spcPts val="0"/>
                        </a:spcAft>
                        <a:buClr>
                          <a:srgbClr val="000000"/>
                        </a:buClr>
                        <a:buFont typeface="Arial,Sans-Serif"/>
                        <a:buChar char="•"/>
                      </a:pPr>
                      <a:r>
                        <a:rPr lang="en-IN" sz="1100" b="0" i="0" u="none" strike="noStrike" kern="1200" noProof="0">
                          <a:solidFill>
                            <a:schemeClr val="tx1"/>
                          </a:solidFill>
                          <a:effectLst/>
                          <a:latin typeface="Nunito Sans"/>
                          <a:ea typeface="+mn-ea"/>
                          <a:cs typeface="+mn-cs"/>
                        </a:rPr>
                        <a:t>Real-time information on MELs (A-D, NEF, DD) associated with aircraft being operated by the pilots</a:t>
                      </a:r>
                      <a:endParaRPr lang="en-US" sz="1100" b="0" i="0" u="none" strike="noStrike" kern="1200" noProof="0">
                        <a:solidFill>
                          <a:srgbClr val="000000"/>
                        </a:solidFill>
                        <a:effectLst/>
                        <a:latin typeface="Nunito Sans"/>
                        <a:ea typeface="+mn-ea"/>
                        <a:cs typeface="+mn-cs"/>
                      </a:endParaRP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lvl="0" indent="0" algn="l">
                        <a:lnSpc>
                          <a:spcPct val="100000"/>
                        </a:lnSpc>
                        <a:spcBef>
                          <a:spcPts val="0"/>
                        </a:spcBef>
                        <a:spcAft>
                          <a:spcPts val="0"/>
                        </a:spcAft>
                        <a:buNone/>
                      </a:pPr>
                      <a:r>
                        <a:rPr lang="en-US" sz="1100" b="0" i="0" u="none" strike="noStrike" kern="1200" noProof="0">
                          <a:solidFill>
                            <a:srgbClr val="000000"/>
                          </a:solidFill>
                          <a:effectLst/>
                          <a:latin typeface="Nunito Sans"/>
                        </a:rPr>
                        <a:t>28</a:t>
                      </a:r>
                      <a:r>
                        <a:rPr lang="en-US" sz="1100" b="0" i="1" u="none" strike="noStrike" kern="1200" noProof="0">
                          <a:solidFill>
                            <a:srgbClr val="000000"/>
                          </a:solidFill>
                          <a:effectLst/>
                          <a:latin typeface="Nunito Sans"/>
                        </a:rPr>
                        <a:t>th</a:t>
                      </a:r>
                      <a:r>
                        <a:rPr lang="en-US" sz="1100" b="0" i="0" u="none" strike="noStrike" kern="1200" noProof="0">
                          <a:solidFill>
                            <a:srgbClr val="000000"/>
                          </a:solidFill>
                          <a:effectLst/>
                          <a:latin typeface="Nunito Sans"/>
                        </a:rPr>
                        <a:t> May</a:t>
                      </a:r>
                      <a:endParaRPr lang="en-US" sz="1100" b="0" i="0" u="none" strike="noStrike" kern="1200" noProof="0">
                        <a:solidFill>
                          <a:srgbClr val="000000"/>
                        </a:solidFill>
                        <a:effectLst/>
                        <a:latin typeface="Nunito Sans"/>
                        <a:ea typeface="+mn-ea"/>
                        <a:cs typeface="+mn-cs"/>
                      </a:endParaRP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a:solidFill>
                        <a:schemeClr val="bg1">
                          <a:lumMod val="75000"/>
                        </a:schemeClr>
                      </a:solidFill>
                    </a:lnB>
                    <a:solidFill>
                      <a:schemeClr val="bg1"/>
                    </a:solidFill>
                  </a:tcPr>
                </a:tc>
                <a:tc>
                  <a:txBody>
                    <a:bodyPr/>
                    <a:lstStyle/>
                    <a:p>
                      <a:pPr marL="0" lvl="0" indent="0" algn="l">
                        <a:lnSpc>
                          <a:spcPct val="100000"/>
                        </a:lnSpc>
                        <a:spcBef>
                          <a:spcPts val="0"/>
                        </a:spcBef>
                        <a:spcAft>
                          <a:spcPts val="0"/>
                        </a:spcAft>
                        <a:buNone/>
                      </a:pPr>
                      <a:endParaRPr lang="en-US" sz="1100" b="0" i="0" u="none" strike="noStrike" kern="1200" noProof="0">
                        <a:solidFill>
                          <a:srgbClr val="000000"/>
                        </a:solidFill>
                        <a:effectLst/>
                        <a:latin typeface="Nunito Sans"/>
                      </a:endParaRP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solidFill>
                      <a:schemeClr val="bg1"/>
                    </a:solidFill>
                  </a:tcPr>
                </a:tc>
                <a:extLst>
                  <a:ext uri="{0D108BD9-81ED-4DB2-BD59-A6C34878D82A}">
                    <a16:rowId xmlns:a16="http://schemas.microsoft.com/office/drawing/2014/main" val="644089062"/>
                  </a:ext>
                </a:extLst>
              </a:tr>
              <a:tr h="507559">
                <a:tc>
                  <a:txBody>
                    <a:bodyPr/>
                    <a:lstStyle/>
                    <a:p>
                      <a:pPr lvl="0" algn="l">
                        <a:lnSpc>
                          <a:spcPct val="100000"/>
                        </a:lnSpc>
                        <a:spcBef>
                          <a:spcPts val="0"/>
                        </a:spcBef>
                        <a:spcAft>
                          <a:spcPts val="0"/>
                        </a:spcAft>
                        <a:buNone/>
                      </a:pPr>
                      <a:r>
                        <a:rPr lang="en-US" sz="1100" b="1" i="0" u="none" strike="noStrike" kern="1200" noProof="0">
                          <a:solidFill>
                            <a:srgbClr val="000000"/>
                          </a:solidFill>
                          <a:latin typeface="Nunito Sans"/>
                          <a:ea typeface="+mn-ea"/>
                          <a:cs typeface="+mn-cs"/>
                        </a:rPr>
                        <a:t>Tech Debt</a:t>
                      </a:r>
                      <a:endParaRPr lang="en-US" sz="1100" b="0" i="0" u="none" strike="noStrike" kern="1200" noProof="0">
                        <a:solidFill>
                          <a:srgbClr val="000000"/>
                        </a:solidFill>
                        <a:latin typeface="Nunito Sans"/>
                        <a:ea typeface="+mn-ea"/>
                        <a:cs typeface="+mn-cs"/>
                      </a:endParaRP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solidFill>
                      <a:schemeClr val="bg1"/>
                    </a:solidFill>
                  </a:tcPr>
                </a:tc>
                <a:tc>
                  <a:txBody>
                    <a:bodyPr/>
                    <a:lstStyle/>
                    <a:p>
                      <a:pPr marL="171450" marR="0" lvl="0" indent="-171450" algn="l">
                        <a:lnSpc>
                          <a:spcPct val="100000"/>
                        </a:lnSpc>
                        <a:spcBef>
                          <a:spcPts val="0"/>
                        </a:spcBef>
                        <a:spcAft>
                          <a:spcPts val="0"/>
                        </a:spcAft>
                        <a:buClr>
                          <a:srgbClr val="000000"/>
                        </a:buClr>
                        <a:buFont typeface="Arial,Sans-Serif"/>
                        <a:buChar char="•"/>
                      </a:pPr>
                      <a:r>
                        <a:rPr lang="en-IN" sz="1100" b="0" i="0" u="none" strike="noStrike" kern="1200" noProof="0">
                          <a:solidFill>
                            <a:schemeClr val="tx1"/>
                          </a:solidFill>
                          <a:effectLst/>
                          <a:latin typeface="Nunito Sans"/>
                          <a:ea typeface="+mn-ea"/>
                          <a:cs typeface="+mn-cs"/>
                        </a:rPr>
                        <a:t>AIFP Upgrade with CM - Introducing the leg‑reference feature as part of the AIFP upgrade in CM Version 19</a:t>
                      </a:r>
                      <a:endParaRPr lang="en-US" sz="1100" b="0" i="0" u="none" strike="noStrike" kern="1200" noProof="0">
                        <a:solidFill>
                          <a:srgbClr val="000000"/>
                        </a:solidFill>
                        <a:effectLst/>
                        <a:latin typeface="Nunito Sans"/>
                        <a:ea typeface="+mn-ea"/>
                        <a:cs typeface="+mn-cs"/>
                      </a:endParaRP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a:solidFill>
                        <a:schemeClr val="bg1">
                          <a:lumMod val="75000"/>
                        </a:schemeClr>
                      </a:solidFill>
                    </a:lnB>
                    <a:solidFill>
                      <a:schemeClr val="bg1"/>
                    </a:solidFill>
                  </a:tcPr>
                </a:tc>
                <a:tc>
                  <a:txBody>
                    <a:bodyPr/>
                    <a:lstStyle/>
                    <a:p>
                      <a:pPr marL="0" lvl="0" indent="0" algn="l">
                        <a:lnSpc>
                          <a:spcPct val="100000"/>
                        </a:lnSpc>
                        <a:spcBef>
                          <a:spcPts val="0"/>
                        </a:spcBef>
                        <a:spcAft>
                          <a:spcPts val="0"/>
                        </a:spcAft>
                        <a:buNone/>
                      </a:pPr>
                      <a:r>
                        <a:rPr lang="en-IN" sz="1100" b="0" i="0" u="none" strike="noStrike" kern="1200" noProof="0">
                          <a:solidFill>
                            <a:schemeClr val="tx1"/>
                          </a:solidFill>
                          <a:effectLst/>
                          <a:latin typeface="Nunito Sans"/>
                        </a:rPr>
                        <a:t>28</a:t>
                      </a:r>
                      <a:r>
                        <a:rPr lang="en-IN" sz="1100" b="0" i="1" u="none" strike="noStrike" kern="1200" noProof="0">
                          <a:solidFill>
                            <a:schemeClr val="tx1"/>
                          </a:solidFill>
                          <a:effectLst/>
                          <a:latin typeface="Nunito Sans"/>
                        </a:rPr>
                        <a:t>th</a:t>
                      </a:r>
                      <a:r>
                        <a:rPr lang="en-IN" sz="1100" b="0" i="0" u="none" strike="noStrike" kern="1200" noProof="0">
                          <a:solidFill>
                            <a:schemeClr val="tx1"/>
                          </a:solidFill>
                          <a:effectLst/>
                          <a:latin typeface="Nunito Sans"/>
                        </a:rPr>
                        <a:t> May</a:t>
                      </a:r>
                      <a:endParaRPr lang="en-IN" sz="1100" b="0" i="0" u="none" strike="noStrike" kern="1200" noProof="0">
                        <a:solidFill>
                          <a:schemeClr val="tx1"/>
                        </a:solidFill>
                        <a:effectLst/>
                        <a:latin typeface="Nunito Sans"/>
                        <a:ea typeface="+mn-ea"/>
                        <a:cs typeface="+mn-cs"/>
                      </a:endParaRP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a:solidFill>
                        <a:schemeClr val="bg1">
                          <a:lumMod val="75000"/>
                        </a:schemeClr>
                      </a:solidFill>
                    </a:lnB>
                    <a:solidFill>
                      <a:schemeClr val="bg1"/>
                    </a:solidFill>
                  </a:tcPr>
                </a:tc>
                <a:tc>
                  <a:txBody>
                    <a:bodyPr/>
                    <a:lstStyle/>
                    <a:p>
                      <a:pPr marL="0" lvl="0" indent="0" algn="l">
                        <a:lnSpc>
                          <a:spcPct val="100000"/>
                        </a:lnSpc>
                        <a:spcBef>
                          <a:spcPts val="0"/>
                        </a:spcBef>
                        <a:spcAft>
                          <a:spcPts val="0"/>
                        </a:spcAft>
                        <a:buNone/>
                      </a:pPr>
                      <a:endParaRPr lang="en-IN" sz="1100" b="0" i="0" u="none" strike="noStrike" kern="1200" noProof="0">
                        <a:solidFill>
                          <a:schemeClr val="tx1"/>
                        </a:solidFill>
                        <a:effectLst/>
                        <a:latin typeface="Nunito Sans"/>
                      </a:endParaRP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solidFill>
                      <a:schemeClr val="bg1"/>
                    </a:solidFill>
                  </a:tcPr>
                </a:tc>
                <a:extLst>
                  <a:ext uri="{0D108BD9-81ED-4DB2-BD59-A6C34878D82A}">
                    <a16:rowId xmlns:a16="http://schemas.microsoft.com/office/drawing/2014/main" val="2604017709"/>
                  </a:ext>
                </a:extLst>
              </a:tr>
            </a:tbl>
          </a:graphicData>
        </a:graphic>
      </p:graphicFrame>
      <p:sp>
        <p:nvSpPr>
          <p:cNvPr id="26" name="TextBox 25">
            <a:extLst>
              <a:ext uri="{FF2B5EF4-FFF2-40B4-BE49-F238E27FC236}">
                <a16:creationId xmlns:a16="http://schemas.microsoft.com/office/drawing/2014/main" id="{109FA007-0151-8D17-0915-B62EE402273D}"/>
              </a:ext>
            </a:extLst>
          </p:cNvPr>
          <p:cNvSpPr txBox="1"/>
          <p:nvPr/>
        </p:nvSpPr>
        <p:spPr>
          <a:xfrm>
            <a:off x="343955" y="3897931"/>
            <a:ext cx="417102" cy="253916"/>
          </a:xfrm>
          <a:prstGeom prst="rect">
            <a:avLst/>
          </a:prstGeom>
          <a:noFill/>
        </p:spPr>
        <p:txBody>
          <a:bodyPr wrap="none" lIns="91440" tIns="45720" rIns="91440" bIns="45720" rtlCol="0" anchor="t">
            <a:spAutoFit/>
          </a:bodyPr>
          <a:lstStyle/>
          <a:p>
            <a:r>
              <a:rPr lang="en-IN" sz="1050" b="1">
                <a:solidFill>
                  <a:schemeClr val="bg1"/>
                </a:solidFill>
                <a:latin typeface="Montserrat Light"/>
              </a:rPr>
              <a:t>Jan</a:t>
            </a:r>
            <a:endParaRPr lang="en-IN" sz="1050" b="1">
              <a:solidFill>
                <a:schemeClr val="bg1"/>
              </a:solidFill>
              <a:latin typeface="Montserrat Light" pitchFamily="2" charset="0"/>
            </a:endParaRPr>
          </a:p>
        </p:txBody>
      </p:sp>
      <p:sp>
        <p:nvSpPr>
          <p:cNvPr id="27" name="TextBox 15">
            <a:extLst>
              <a:ext uri="{FF2B5EF4-FFF2-40B4-BE49-F238E27FC236}">
                <a16:creationId xmlns:a16="http://schemas.microsoft.com/office/drawing/2014/main" id="{FFE3DC63-3948-21B2-3DDC-B4C652287F82}"/>
              </a:ext>
            </a:extLst>
          </p:cNvPr>
          <p:cNvSpPr txBox="1"/>
          <p:nvPr/>
        </p:nvSpPr>
        <p:spPr>
          <a:xfrm>
            <a:off x="398384" y="817274"/>
            <a:ext cx="417102" cy="253916"/>
          </a:xfrm>
          <a:prstGeom prst="rect">
            <a:avLst/>
          </a:prstGeom>
          <a:noFill/>
        </p:spPr>
        <p:txBody>
          <a:bodyPr wrap="non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050" b="1">
                <a:solidFill>
                  <a:schemeClr val="bg1"/>
                </a:solidFill>
                <a:latin typeface="Montserrat Light"/>
              </a:rPr>
              <a:t>Jan</a:t>
            </a:r>
            <a:endParaRPr lang="en-IN" sz="1050" b="1">
              <a:solidFill>
                <a:schemeClr val="bg1"/>
              </a:solidFill>
              <a:latin typeface="Montserrat Light" pitchFamily="2" charset="0"/>
            </a:endParaRPr>
          </a:p>
        </p:txBody>
      </p:sp>
      <p:sp>
        <p:nvSpPr>
          <p:cNvPr id="29" name="Rectangle 28">
            <a:extLst>
              <a:ext uri="{FF2B5EF4-FFF2-40B4-BE49-F238E27FC236}">
                <a16:creationId xmlns:a16="http://schemas.microsoft.com/office/drawing/2014/main" id="{DF6CDBB7-3873-DD67-5386-8C22F11F239F}"/>
              </a:ext>
            </a:extLst>
          </p:cNvPr>
          <p:cNvSpPr/>
          <p:nvPr/>
        </p:nvSpPr>
        <p:spPr>
          <a:xfrm>
            <a:off x="-4474" y="793560"/>
            <a:ext cx="1067526" cy="42234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IN" sz="1400" b="1">
                <a:latin typeface="AirIndia"/>
              </a:rPr>
              <a:t>May ‘26</a:t>
            </a:r>
          </a:p>
        </p:txBody>
      </p:sp>
      <p:pic>
        <p:nvPicPr>
          <p:cNvPr id="34" name="Picture 33">
            <a:extLst>
              <a:ext uri="{FF2B5EF4-FFF2-40B4-BE49-F238E27FC236}">
                <a16:creationId xmlns:a16="http://schemas.microsoft.com/office/drawing/2014/main" id="{DA2BCEFC-6A98-899D-F672-E6D53A2360D4}"/>
              </a:ext>
            </a:extLst>
          </p:cNvPr>
          <p:cNvPicPr>
            <a:picLocks noChangeAspect="1"/>
          </p:cNvPicPr>
          <p:nvPr/>
        </p:nvPicPr>
        <p:blipFill>
          <a:blip r:embed="rId3"/>
          <a:stretch>
            <a:fillRect/>
          </a:stretch>
        </p:blipFill>
        <p:spPr>
          <a:xfrm>
            <a:off x="306161" y="6532789"/>
            <a:ext cx="8248650" cy="323850"/>
          </a:xfrm>
          <a:prstGeom prst="rect">
            <a:avLst/>
          </a:prstGeom>
        </p:spPr>
      </p:pic>
    </p:spTree>
    <p:extLst>
      <p:ext uri="{BB962C8B-B14F-4D97-AF65-F5344CB8AC3E}">
        <p14:creationId xmlns:p14="http://schemas.microsoft.com/office/powerpoint/2010/main" val="5373138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2E4EAF-F023-2FFD-7B73-6D9C69BAECF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18073FA-3390-595D-C750-062CB1469C30}"/>
              </a:ext>
            </a:extLst>
          </p:cNvPr>
          <p:cNvSpPr>
            <a:spLocks noGrp="1"/>
          </p:cNvSpPr>
          <p:nvPr>
            <p:ph type="sldNum" sz="quarter" idx="12"/>
          </p:nvPr>
        </p:nvSpPr>
        <p:spPr/>
        <p:txBody>
          <a:bodyPr/>
          <a:lstStyle/>
          <a:p>
            <a:fld id="{3A41A254-7326-714E-AF55-4C213D6394DE}" type="slidenum">
              <a:rPr lang="en-US" sz="900" smtClean="0">
                <a:latin typeface="Montserrat Light" pitchFamily="2" charset="0"/>
              </a:rPr>
              <a:pPr/>
              <a:t>75</a:t>
            </a:fld>
            <a:endParaRPr lang="en-US" sz="900">
              <a:latin typeface="Montserrat Light" pitchFamily="2" charset="0"/>
            </a:endParaRPr>
          </a:p>
        </p:txBody>
      </p:sp>
      <p:sp>
        <p:nvSpPr>
          <p:cNvPr id="6" name="Title 11">
            <a:extLst>
              <a:ext uri="{FF2B5EF4-FFF2-40B4-BE49-F238E27FC236}">
                <a16:creationId xmlns:a16="http://schemas.microsoft.com/office/drawing/2014/main" id="{3093CB6F-66EE-5F48-D12D-5C719735EA34}"/>
              </a:ext>
            </a:extLst>
          </p:cNvPr>
          <p:cNvSpPr txBox="1">
            <a:spLocks/>
          </p:cNvSpPr>
          <p:nvPr/>
        </p:nvSpPr>
        <p:spPr>
          <a:xfrm>
            <a:off x="304800" y="269218"/>
            <a:ext cx="8420100" cy="396638"/>
          </a:xfrm>
          <a:prstGeom prst="rect">
            <a:avLst/>
          </a:prstGeom>
        </p:spPr>
        <p:txBody>
          <a:bodyPr lIns="91440" tIns="45720" rIns="91440" bIns="45720" anchor="t">
            <a:noAutofit/>
          </a:bodyPr>
          <a:lstStyle>
            <a:lvl1pPr algn="l" defTabSz="914400" rtl="0" eaLnBrk="1" latinLnBrk="0" hangingPunct="1">
              <a:lnSpc>
                <a:spcPct val="90000"/>
              </a:lnSpc>
              <a:spcBef>
                <a:spcPct val="0"/>
              </a:spcBef>
              <a:buNone/>
              <a:defRPr sz="4400" b="1" i="0" kern="1200">
                <a:solidFill>
                  <a:schemeClr val="tx1"/>
                </a:solidFill>
                <a:latin typeface="AirIndia" pitchFamily="82" charset="77"/>
                <a:ea typeface="+mj-ea"/>
                <a:cs typeface="+mj-cs"/>
              </a:defRPr>
            </a:lvl1pPr>
          </a:lstStyle>
          <a:p>
            <a:r>
              <a:rPr lang="en-US" sz="1800">
                <a:solidFill>
                  <a:srgbClr val="C00000"/>
                </a:solidFill>
                <a:latin typeface="AirIndia"/>
              </a:rPr>
              <a:t>AI Flight Pro- FY27 Q1  Release Plan </a:t>
            </a:r>
            <a:endParaRPr lang="en-US" sz="1800" b="0">
              <a:solidFill>
                <a:srgbClr val="C00000"/>
              </a:solidFill>
              <a:latin typeface="AirIndia"/>
            </a:endParaRPr>
          </a:p>
        </p:txBody>
      </p:sp>
      <p:graphicFrame>
        <p:nvGraphicFramePr>
          <p:cNvPr id="4" name="Table 3">
            <a:extLst>
              <a:ext uri="{FF2B5EF4-FFF2-40B4-BE49-F238E27FC236}">
                <a16:creationId xmlns:a16="http://schemas.microsoft.com/office/drawing/2014/main" id="{A220A0CA-D0B8-5401-AD20-AB059FFD808E}"/>
              </a:ext>
            </a:extLst>
          </p:cNvPr>
          <p:cNvGraphicFramePr>
            <a:graphicFrameLocks noGrp="1"/>
          </p:cNvGraphicFramePr>
          <p:nvPr>
            <p:extLst>
              <p:ext uri="{D42A27DB-BD31-4B8C-83A1-F6EECF244321}">
                <p14:modId xmlns:p14="http://schemas.microsoft.com/office/powerpoint/2010/main" val="1234379659"/>
              </p:ext>
            </p:extLst>
          </p:nvPr>
        </p:nvGraphicFramePr>
        <p:xfrm>
          <a:off x="1090849" y="792699"/>
          <a:ext cx="9829398" cy="3211336"/>
        </p:xfrm>
        <a:graphic>
          <a:graphicData uri="http://schemas.openxmlformats.org/drawingml/2006/table">
            <a:tbl>
              <a:tblPr firstRow="1" bandRow="1">
                <a:tableStyleId>{5C22544A-7EE6-4342-B048-85BDC9FD1C3A}</a:tableStyleId>
              </a:tblPr>
              <a:tblGrid>
                <a:gridCol w="1227666">
                  <a:extLst>
                    <a:ext uri="{9D8B030D-6E8A-4147-A177-3AD203B41FA5}">
                      <a16:colId xmlns:a16="http://schemas.microsoft.com/office/drawing/2014/main" val="1118630623"/>
                    </a:ext>
                  </a:extLst>
                </a:gridCol>
                <a:gridCol w="6614212">
                  <a:extLst>
                    <a:ext uri="{9D8B030D-6E8A-4147-A177-3AD203B41FA5}">
                      <a16:colId xmlns:a16="http://schemas.microsoft.com/office/drawing/2014/main" val="99588705"/>
                    </a:ext>
                  </a:extLst>
                </a:gridCol>
                <a:gridCol w="993760">
                  <a:extLst>
                    <a:ext uri="{9D8B030D-6E8A-4147-A177-3AD203B41FA5}">
                      <a16:colId xmlns:a16="http://schemas.microsoft.com/office/drawing/2014/main" val="4278227373"/>
                    </a:ext>
                  </a:extLst>
                </a:gridCol>
                <a:gridCol w="993760">
                  <a:extLst>
                    <a:ext uri="{9D8B030D-6E8A-4147-A177-3AD203B41FA5}">
                      <a16:colId xmlns:a16="http://schemas.microsoft.com/office/drawing/2014/main" val="1344606147"/>
                    </a:ext>
                  </a:extLst>
                </a:gridCol>
              </a:tblGrid>
              <a:tr h="286112">
                <a:tc>
                  <a:txBody>
                    <a:bodyPr/>
                    <a:lstStyle/>
                    <a:p>
                      <a:pPr marL="0" lvl="0" indent="0" algn="ctr" defTabSz="914400">
                        <a:lnSpc>
                          <a:spcPct val="100000"/>
                        </a:lnSpc>
                        <a:buNone/>
                      </a:pPr>
                      <a:r>
                        <a:rPr lang="en-IN" sz="1100" b="1" i="0" u="none" strike="noStrike" kern="1200" noProof="0">
                          <a:solidFill>
                            <a:schemeClr val="bg1"/>
                          </a:solidFill>
                          <a:latin typeface="Avenir Next LT Pro Light"/>
                          <a:ea typeface="+mn-ea"/>
                          <a:cs typeface="+mn-cs"/>
                        </a:rPr>
                        <a:t>Projects</a:t>
                      </a:r>
                      <a:endParaRPr lang="en-US"/>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solidFill>
                      <a:srgbClr val="002060"/>
                    </a:solidFill>
                  </a:tcPr>
                </a:tc>
                <a:tc>
                  <a:txBody>
                    <a:bodyPr/>
                    <a:lstStyle/>
                    <a:p>
                      <a:pPr lvl="0" algn="ctr">
                        <a:lnSpc>
                          <a:spcPct val="100000"/>
                        </a:lnSpc>
                        <a:spcBef>
                          <a:spcPts val="0"/>
                        </a:spcBef>
                        <a:spcAft>
                          <a:spcPts val="0"/>
                        </a:spcAft>
                        <a:buNone/>
                      </a:pPr>
                      <a:r>
                        <a:rPr lang="en-IN" sz="1100" b="1" i="0" u="none" strike="noStrike" kern="1200" noProof="0">
                          <a:solidFill>
                            <a:srgbClr val="FFFFFF"/>
                          </a:solidFill>
                          <a:latin typeface="Nunito Sans"/>
                          <a:ea typeface="+mn-ea"/>
                          <a:cs typeface="+mn-cs"/>
                        </a:rPr>
                        <a:t>Value Justification/Realization</a:t>
                      </a:r>
                    </a:p>
                    <a:p>
                      <a:pPr marL="0" lvl="0" indent="0" algn="l" defTabSz="914400">
                        <a:buFont typeface="Arial" panose="020B0604020202020204" pitchFamily="34" charset="0"/>
                        <a:buNone/>
                      </a:pPr>
                      <a:endParaRPr lang="en-IN" sz="1050" kern="1200">
                        <a:solidFill>
                          <a:schemeClr val="bg1"/>
                        </a:solidFill>
                        <a:latin typeface="Avenir Next LT Pro Ligh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002060"/>
                    </a:solidFill>
                  </a:tcPr>
                </a:tc>
                <a:tc>
                  <a:txBody>
                    <a:bodyPr/>
                    <a:lstStyle/>
                    <a:p>
                      <a:pPr marL="0" lvl="0" indent="0" algn="l">
                        <a:buNone/>
                      </a:pPr>
                      <a:r>
                        <a:rPr lang="en-IN" sz="1050" kern="1200">
                          <a:solidFill>
                            <a:schemeClr val="bg1"/>
                          </a:solidFill>
                          <a:latin typeface="Avenir Next LT Pro Light"/>
                          <a:ea typeface="+mn-ea"/>
                          <a:cs typeface="+mn-cs"/>
                        </a:rPr>
                        <a:t>Go Live Date</a:t>
                      </a: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a:solidFill>
                        <a:schemeClr val="bg1">
                          <a:lumMod val="75000"/>
                        </a:schemeClr>
                      </a:solidFill>
                    </a:lnB>
                    <a:solidFill>
                      <a:srgbClr val="002060"/>
                    </a:solidFill>
                  </a:tcPr>
                </a:tc>
                <a:tc>
                  <a:txBody>
                    <a:bodyPr/>
                    <a:lstStyle/>
                    <a:p>
                      <a:pPr lvl="0" algn="ctr">
                        <a:lnSpc>
                          <a:spcPct val="100000"/>
                        </a:lnSpc>
                        <a:spcBef>
                          <a:spcPts val="0"/>
                        </a:spcBef>
                        <a:spcAft>
                          <a:spcPts val="0"/>
                        </a:spcAft>
                        <a:buNone/>
                      </a:pPr>
                      <a:r>
                        <a:rPr lang="en-IN" sz="1100" b="1" i="0" u="none" strike="noStrike" kern="1200" noProof="0">
                          <a:solidFill>
                            <a:schemeClr val="bg1"/>
                          </a:solidFill>
                          <a:latin typeface="Avenir Next LT Pro Light"/>
                          <a:ea typeface="+mn-ea"/>
                          <a:cs typeface="+mn-cs"/>
                        </a:rPr>
                        <a:t>JIRA</a:t>
                      </a:r>
                      <a:endParaRPr lang="en-IN" sz="1100" b="1" i="0" u="none" strike="noStrike" kern="1200" noProof="0">
                        <a:solidFill>
                          <a:srgbClr val="FFFFFF"/>
                        </a:solidFill>
                        <a:latin typeface="Avenir Next LT Pro Light"/>
                        <a:ea typeface="+mn-ea"/>
                        <a:cs typeface="+mn-cs"/>
                      </a:endParaRP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solidFill>
                      <a:srgbClr val="002060"/>
                    </a:solidFill>
                  </a:tcPr>
                </a:tc>
                <a:extLst>
                  <a:ext uri="{0D108BD9-81ED-4DB2-BD59-A6C34878D82A}">
                    <a16:rowId xmlns:a16="http://schemas.microsoft.com/office/drawing/2014/main" val="844450115"/>
                  </a:ext>
                </a:extLst>
              </a:tr>
              <a:tr h="507559">
                <a:tc>
                  <a:txBody>
                    <a:bodyPr/>
                    <a:lstStyle/>
                    <a:p>
                      <a:pPr lvl="0" algn="l">
                        <a:lnSpc>
                          <a:spcPct val="100000"/>
                        </a:lnSpc>
                        <a:spcBef>
                          <a:spcPts val="0"/>
                        </a:spcBef>
                        <a:spcAft>
                          <a:spcPts val="0"/>
                        </a:spcAft>
                        <a:buNone/>
                      </a:pPr>
                      <a:r>
                        <a:rPr lang="en-US" sz="1100" b="1" i="0" u="none" strike="noStrike" kern="1200" noProof="0" err="1">
                          <a:solidFill>
                            <a:srgbClr val="000000"/>
                          </a:solidFill>
                          <a:latin typeface="Nunito Sans"/>
                          <a:ea typeface="+mn-ea"/>
                          <a:cs typeface="+mn-cs"/>
                        </a:rPr>
                        <a:t>eGCA</a:t>
                      </a:r>
                      <a:r>
                        <a:rPr lang="en-US" sz="1100" b="1" i="0" u="none" strike="noStrike" kern="1200" noProof="0">
                          <a:solidFill>
                            <a:srgbClr val="000000"/>
                          </a:solidFill>
                          <a:latin typeface="Nunito Sans"/>
                          <a:ea typeface="+mn-ea"/>
                          <a:cs typeface="+mn-cs"/>
                        </a:rPr>
                        <a:t> Submission</a:t>
                      </a:r>
                      <a:endParaRPr lang="en-IN" sz="1100" b="0" i="0" u="none" strike="noStrike" kern="1200" noProof="0">
                        <a:solidFill>
                          <a:srgbClr val="000000"/>
                        </a:solidFill>
                        <a:latin typeface="Nunito Sans"/>
                        <a:ea typeface="+mn-ea"/>
                        <a:cs typeface="+mn-cs"/>
                      </a:endParaRPr>
                    </a:p>
                  </a:txBody>
                  <a:tcPr anchor="ctr">
                    <a:lnL w="6350">
                      <a:solidFill>
                        <a:schemeClr val="bg1">
                          <a:lumMod val="75000"/>
                        </a:schemeClr>
                      </a:solidFill>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171450" marR="0" lvl="0" indent="-171450" algn="l" rtl="0">
                        <a:lnSpc>
                          <a:spcPct val="100000"/>
                        </a:lnSpc>
                        <a:spcBef>
                          <a:spcPts val="0"/>
                        </a:spcBef>
                        <a:spcAft>
                          <a:spcPts val="0"/>
                        </a:spcAft>
                        <a:buClr>
                          <a:srgbClr val="000000"/>
                        </a:buClr>
                        <a:buSzTx/>
                        <a:buFont typeface="Arial,Sans-Serif"/>
                        <a:buChar char="•"/>
                      </a:pPr>
                      <a:r>
                        <a:rPr lang="en-US" sz="1100" b="0" i="0" u="none" strike="noStrike" kern="1200" noProof="0">
                          <a:solidFill>
                            <a:srgbClr val="000000"/>
                          </a:solidFill>
                          <a:effectLst/>
                          <a:latin typeface="Nunito Sans"/>
                          <a:ea typeface="+mn-ea"/>
                          <a:cs typeface="+mn-cs"/>
                        </a:rPr>
                        <a:t>Support submission of Pilot Data to eGCA via CAE CM</a:t>
                      </a:r>
                    </a:p>
                    <a:p>
                      <a:pPr marL="171450" marR="0" lvl="0" indent="-171450" algn="l">
                        <a:lnSpc>
                          <a:spcPct val="100000"/>
                        </a:lnSpc>
                        <a:spcBef>
                          <a:spcPts val="0"/>
                        </a:spcBef>
                        <a:spcAft>
                          <a:spcPts val="0"/>
                        </a:spcAft>
                        <a:buClr>
                          <a:srgbClr val="000000"/>
                        </a:buClr>
                        <a:buSzTx/>
                        <a:buFont typeface="Arial,Sans-Serif"/>
                        <a:buChar char="•"/>
                      </a:pPr>
                      <a:r>
                        <a:rPr lang="en-US" sz="1100" b="0" i="0" u="none" strike="noStrike" kern="1200" noProof="0">
                          <a:solidFill>
                            <a:schemeClr val="tx1"/>
                          </a:solidFill>
                          <a:effectLst/>
                          <a:latin typeface="Nunito Sans"/>
                          <a:ea typeface="+mn-ea"/>
                          <a:cs typeface="+mn-cs"/>
                        </a:rPr>
                        <a:t>Obtain an acknowledgement from CM system that PSR is successfully submitted to eGCA post any error related retries or issues with submission </a:t>
                      </a:r>
                      <a:endParaRPr lang="en-US" sz="1100" b="0" i="0" u="none" strike="noStrike" kern="1200" noProof="0">
                        <a:solidFill>
                          <a:srgbClr val="000000"/>
                        </a:solidFill>
                        <a:effectLst/>
                        <a:latin typeface="Nunito Sans"/>
                        <a:ea typeface="+mn-ea"/>
                        <a:cs typeface="+mn-cs"/>
                      </a:endParaRPr>
                    </a:p>
                    <a:p>
                      <a:pPr marL="171450" marR="0" lvl="0" indent="-171450" algn="l">
                        <a:lnSpc>
                          <a:spcPct val="100000"/>
                        </a:lnSpc>
                        <a:spcBef>
                          <a:spcPts val="0"/>
                        </a:spcBef>
                        <a:spcAft>
                          <a:spcPts val="0"/>
                        </a:spcAft>
                        <a:buClr>
                          <a:srgbClr val="000000"/>
                        </a:buClr>
                        <a:buSzTx/>
                        <a:buFont typeface="Arial,Sans-Serif"/>
                        <a:buChar char="•"/>
                      </a:pPr>
                      <a:r>
                        <a:rPr lang="en-US" sz="1100" b="0" i="0" u="none" strike="noStrike" kern="1200" noProof="0">
                          <a:solidFill>
                            <a:schemeClr val="tx1"/>
                          </a:solidFill>
                          <a:effectLst/>
                          <a:latin typeface="Nunito Sans"/>
                          <a:ea typeface="+mn-ea"/>
                          <a:cs typeface="+mn-cs"/>
                        </a:rPr>
                        <a:t>Notification to Admin on success/failure of submission</a:t>
                      </a:r>
                      <a:endParaRPr lang="en-GB" sz="1100">
                        <a:latin typeface="Nunito Sans"/>
                      </a:endParaRP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a:solidFill>
                        <a:schemeClr val="bg1">
                          <a:lumMod val="75000"/>
                        </a:schemeClr>
                      </a:solidFill>
                    </a:lnB>
                    <a:solidFill>
                      <a:schemeClr val="bg1"/>
                    </a:solidFill>
                  </a:tcPr>
                </a:tc>
                <a:tc>
                  <a:txBody>
                    <a:bodyPr/>
                    <a:lstStyle/>
                    <a:p>
                      <a:pPr marL="0" lvl="0" indent="0" algn="l">
                        <a:lnSpc>
                          <a:spcPct val="100000"/>
                        </a:lnSpc>
                        <a:spcBef>
                          <a:spcPts val="0"/>
                        </a:spcBef>
                        <a:spcAft>
                          <a:spcPts val="0"/>
                        </a:spcAft>
                        <a:buNone/>
                      </a:pPr>
                      <a:r>
                        <a:rPr lang="en-US" sz="1100" b="0" i="0" u="none" strike="noStrike" kern="1200" noProof="0">
                          <a:solidFill>
                            <a:schemeClr val="tx1"/>
                          </a:solidFill>
                          <a:effectLst/>
                          <a:latin typeface="Nunito Sans"/>
                          <a:ea typeface="+mn-ea"/>
                          <a:cs typeface="+mn-cs"/>
                        </a:rPr>
                        <a:t>29th June</a:t>
                      </a: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a:solidFill>
                        <a:schemeClr val="bg1">
                          <a:lumMod val="75000"/>
                        </a:schemeClr>
                      </a:solidFill>
                    </a:lnB>
                    <a:solidFill>
                      <a:schemeClr val="bg1"/>
                    </a:solidFill>
                  </a:tcPr>
                </a:tc>
                <a:tc>
                  <a:txBody>
                    <a:bodyPr/>
                    <a:lstStyle/>
                    <a:p>
                      <a:pPr marL="0" lvl="0" indent="0" algn="l">
                        <a:lnSpc>
                          <a:spcPct val="100000"/>
                        </a:lnSpc>
                        <a:spcBef>
                          <a:spcPts val="0"/>
                        </a:spcBef>
                        <a:spcAft>
                          <a:spcPts val="0"/>
                        </a:spcAft>
                        <a:buNone/>
                      </a:pPr>
                      <a:endParaRPr lang="en-US" sz="1100" b="0" i="0" u="none" strike="noStrike" kern="1200" noProof="0">
                        <a:solidFill>
                          <a:schemeClr val="tx1"/>
                        </a:solidFill>
                        <a:effectLst/>
                        <a:latin typeface="Nunito Sans"/>
                        <a:ea typeface="+mn-ea"/>
                        <a:cs typeface="+mn-cs"/>
                      </a:endParaRP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solidFill>
                      <a:schemeClr val="bg1"/>
                    </a:solidFill>
                  </a:tcPr>
                </a:tc>
                <a:extLst>
                  <a:ext uri="{0D108BD9-81ED-4DB2-BD59-A6C34878D82A}">
                    <a16:rowId xmlns:a16="http://schemas.microsoft.com/office/drawing/2014/main" val="3951168155"/>
                  </a:ext>
                </a:extLst>
              </a:tr>
              <a:tr h="507559">
                <a:tc rowSpan="2">
                  <a:txBody>
                    <a:bodyPr/>
                    <a:lstStyle/>
                    <a:p>
                      <a:pPr lvl="0" algn="l">
                        <a:lnSpc>
                          <a:spcPct val="100000"/>
                        </a:lnSpc>
                        <a:spcBef>
                          <a:spcPts val="0"/>
                        </a:spcBef>
                        <a:spcAft>
                          <a:spcPts val="0"/>
                        </a:spcAft>
                        <a:buNone/>
                      </a:pPr>
                      <a:r>
                        <a:rPr lang="en-US" sz="1100" b="1" i="0" u="none" strike="noStrike" kern="1200" noProof="0">
                          <a:solidFill>
                            <a:schemeClr val="tx1"/>
                          </a:solidFill>
                          <a:latin typeface="Nunito Sans"/>
                          <a:ea typeface="+mn-ea"/>
                          <a:cs typeface="+mn-cs"/>
                        </a:rPr>
                        <a:t>BA Management</a:t>
                      </a:r>
                      <a:endParaRPr lang="en-IN" sz="1100" b="0" i="0" u="none" strike="noStrike" kern="1200" noProof="0">
                        <a:solidFill>
                          <a:srgbClr val="000000"/>
                        </a:solidFill>
                        <a:latin typeface="Nunito Sans"/>
                        <a:ea typeface="+mn-ea"/>
                        <a:cs typeface="+mn-cs"/>
                      </a:endParaRPr>
                    </a:p>
                  </a:txBody>
                  <a:tcPr anchor="ctr">
                    <a:lnL w="6350">
                      <a:solidFill>
                        <a:schemeClr val="bg1">
                          <a:lumMod val="75000"/>
                        </a:schemeClr>
                      </a:solidFill>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171450" marR="0" lvl="0" indent="-171450" algn="l" rtl="0">
                        <a:lnSpc>
                          <a:spcPct val="100000"/>
                        </a:lnSpc>
                        <a:spcBef>
                          <a:spcPts val="0"/>
                        </a:spcBef>
                        <a:spcAft>
                          <a:spcPts val="0"/>
                        </a:spcAft>
                        <a:buClr>
                          <a:srgbClr val="000000"/>
                        </a:buClr>
                        <a:buSzTx/>
                        <a:buFont typeface="Arial,Sans-Serif"/>
                        <a:buChar char="•"/>
                      </a:pPr>
                      <a:r>
                        <a:rPr lang="en-US" sz="1100" b="0" i="0" u="none" strike="noStrike" kern="1200" noProof="0">
                          <a:solidFill>
                            <a:schemeClr val="tx1"/>
                          </a:solidFill>
                          <a:effectLst/>
                          <a:latin typeface="Nunito Sans"/>
                          <a:ea typeface="+mn-ea"/>
                          <a:cs typeface="+mn-cs"/>
                        </a:rPr>
                        <a:t>Notifications: Notifications to pilots based on roster to complete BA testing per policy for domestic and international flights</a:t>
                      </a:r>
                      <a:endParaRPr lang="en-US" sz="1100" b="0" i="0" u="none" strike="noStrike" kern="1200" noProof="0">
                        <a:solidFill>
                          <a:srgbClr val="000000"/>
                        </a:solidFill>
                        <a:effectLst/>
                        <a:latin typeface="Nunito Sans"/>
                        <a:ea typeface="+mn-ea"/>
                        <a:cs typeface="+mn-cs"/>
                      </a:endParaRP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lvl="0" indent="0" algn="l">
                        <a:lnSpc>
                          <a:spcPct val="100000"/>
                        </a:lnSpc>
                        <a:spcBef>
                          <a:spcPts val="0"/>
                        </a:spcBef>
                        <a:spcAft>
                          <a:spcPts val="0"/>
                        </a:spcAft>
                        <a:buNone/>
                      </a:pPr>
                      <a:r>
                        <a:rPr lang="en-US" sz="1100" b="0" i="0" u="none" strike="noStrike" kern="1200" noProof="0">
                          <a:solidFill>
                            <a:schemeClr val="tx1"/>
                          </a:solidFill>
                          <a:effectLst/>
                          <a:latin typeface="Nunito Sans"/>
                          <a:ea typeface="+mn-ea"/>
                          <a:cs typeface="+mn-cs"/>
                        </a:rPr>
                        <a:t>29th June</a:t>
                      </a:r>
                      <a:endParaRPr lang="en-US" sz="1100" b="0" i="0" u="none" strike="noStrike" kern="1200" noProof="0">
                        <a:solidFill>
                          <a:srgbClr val="000000"/>
                        </a:solidFill>
                        <a:effectLst/>
                        <a:latin typeface="Nunito Sans"/>
                        <a:ea typeface="+mn-ea"/>
                        <a:cs typeface="+mn-cs"/>
                      </a:endParaRP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a:solidFill>
                        <a:schemeClr val="bg1">
                          <a:lumMod val="75000"/>
                        </a:schemeClr>
                      </a:solidFill>
                    </a:lnB>
                    <a:solidFill>
                      <a:schemeClr val="bg1"/>
                    </a:solidFill>
                  </a:tcPr>
                </a:tc>
                <a:tc>
                  <a:txBody>
                    <a:bodyPr/>
                    <a:lstStyle/>
                    <a:p>
                      <a:pPr marL="0" lvl="0" indent="0" algn="l">
                        <a:lnSpc>
                          <a:spcPct val="100000"/>
                        </a:lnSpc>
                        <a:spcBef>
                          <a:spcPts val="0"/>
                        </a:spcBef>
                        <a:spcAft>
                          <a:spcPts val="0"/>
                        </a:spcAft>
                        <a:buNone/>
                      </a:pPr>
                      <a:endParaRPr lang="en-US" sz="1100" b="0" i="0" u="none" strike="noStrike" kern="1200" noProof="0">
                        <a:solidFill>
                          <a:schemeClr val="tx1"/>
                        </a:solidFill>
                        <a:effectLst/>
                        <a:latin typeface="Nunito Sans"/>
                        <a:ea typeface="+mn-ea"/>
                        <a:cs typeface="+mn-cs"/>
                      </a:endParaRP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solidFill>
                      <a:schemeClr val="bg1"/>
                    </a:solidFill>
                  </a:tcPr>
                </a:tc>
                <a:extLst>
                  <a:ext uri="{0D108BD9-81ED-4DB2-BD59-A6C34878D82A}">
                    <a16:rowId xmlns:a16="http://schemas.microsoft.com/office/drawing/2014/main" val="3158025952"/>
                  </a:ext>
                </a:extLst>
              </a:tr>
              <a:tr h="507559">
                <a:tc vMerge="1">
                  <a:txBody>
                    <a:bodyPr/>
                    <a:lstStyle/>
                    <a:p>
                      <a:endParaRPr lang="en-US"/>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171450" marR="0" lvl="0" indent="-171450" algn="l">
                        <a:lnSpc>
                          <a:spcPct val="100000"/>
                        </a:lnSpc>
                        <a:spcBef>
                          <a:spcPts val="0"/>
                        </a:spcBef>
                        <a:spcAft>
                          <a:spcPts val="0"/>
                        </a:spcAft>
                        <a:buClr>
                          <a:srgbClr val="000000"/>
                        </a:buClr>
                        <a:buFont typeface="Arial,Sans-Serif"/>
                        <a:buChar char="•"/>
                      </a:pPr>
                      <a:r>
                        <a:rPr lang="en-US" sz="1100" b="0" i="0" u="none" strike="noStrike" kern="1200" noProof="0">
                          <a:solidFill>
                            <a:schemeClr val="tx1"/>
                          </a:solidFill>
                          <a:effectLst/>
                          <a:latin typeface="Nunito Sans"/>
                          <a:ea typeface="+mn-ea"/>
                          <a:cs typeface="+mn-cs"/>
                        </a:rPr>
                        <a:t>Acknowledgement: Obtain explicit approval of completion of breath analyzer tests </a:t>
                      </a:r>
                      <a:endParaRPr lang="en-US" sz="1100" b="0" i="0" u="none" strike="noStrike" kern="1200" noProof="0">
                        <a:solidFill>
                          <a:srgbClr val="000000"/>
                        </a:solidFill>
                        <a:effectLst/>
                        <a:latin typeface="Nunito Sans"/>
                        <a:ea typeface="+mn-ea"/>
                        <a:cs typeface="+mn-cs"/>
                      </a:endParaRP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lvl="0" indent="0" algn="l">
                        <a:lnSpc>
                          <a:spcPct val="100000"/>
                        </a:lnSpc>
                        <a:spcBef>
                          <a:spcPts val="0"/>
                        </a:spcBef>
                        <a:spcAft>
                          <a:spcPts val="0"/>
                        </a:spcAft>
                        <a:buNone/>
                      </a:pPr>
                      <a:r>
                        <a:rPr lang="en-US" sz="1100" b="0" i="0" u="none" strike="noStrike" kern="1200" noProof="0">
                          <a:solidFill>
                            <a:schemeClr val="tx1"/>
                          </a:solidFill>
                          <a:effectLst/>
                          <a:latin typeface="Nunito Sans"/>
                          <a:ea typeface="+mn-ea"/>
                          <a:cs typeface="+mn-cs"/>
                        </a:rPr>
                        <a:t>29th June</a:t>
                      </a:r>
                      <a:endParaRPr lang="en-US" sz="1100" b="0" i="0" u="none" strike="noStrike" kern="1200" noProof="0">
                        <a:solidFill>
                          <a:srgbClr val="000000"/>
                        </a:solidFill>
                        <a:effectLst/>
                        <a:latin typeface="Nunito Sans"/>
                        <a:ea typeface="+mn-ea"/>
                        <a:cs typeface="+mn-cs"/>
                      </a:endParaRP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a:solidFill>
                        <a:schemeClr val="bg1">
                          <a:lumMod val="75000"/>
                        </a:schemeClr>
                      </a:solidFill>
                    </a:lnB>
                    <a:solidFill>
                      <a:schemeClr val="bg1"/>
                    </a:solidFill>
                  </a:tcPr>
                </a:tc>
                <a:tc>
                  <a:txBody>
                    <a:bodyPr/>
                    <a:lstStyle/>
                    <a:p>
                      <a:pPr marL="0" lvl="0" indent="0" algn="l">
                        <a:lnSpc>
                          <a:spcPct val="100000"/>
                        </a:lnSpc>
                        <a:spcBef>
                          <a:spcPts val="0"/>
                        </a:spcBef>
                        <a:spcAft>
                          <a:spcPts val="0"/>
                        </a:spcAft>
                        <a:buNone/>
                      </a:pPr>
                      <a:endParaRPr lang="en-US" sz="1100" b="0" i="0" u="none" strike="noStrike" kern="1200" noProof="0">
                        <a:solidFill>
                          <a:schemeClr val="tx1"/>
                        </a:solidFill>
                        <a:effectLst/>
                        <a:latin typeface="Nunito Sans"/>
                        <a:ea typeface="+mn-ea"/>
                        <a:cs typeface="+mn-cs"/>
                      </a:endParaRP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solidFill>
                      <a:schemeClr val="bg1"/>
                    </a:solidFill>
                  </a:tcPr>
                </a:tc>
                <a:extLst>
                  <a:ext uri="{0D108BD9-81ED-4DB2-BD59-A6C34878D82A}">
                    <a16:rowId xmlns:a16="http://schemas.microsoft.com/office/drawing/2014/main" val="3711801957"/>
                  </a:ext>
                </a:extLst>
              </a:tr>
              <a:tr h="507559">
                <a:tc>
                  <a:txBody>
                    <a:bodyPr/>
                    <a:lstStyle/>
                    <a:p>
                      <a:pPr lvl="0" algn="l">
                        <a:lnSpc>
                          <a:spcPct val="100000"/>
                        </a:lnSpc>
                        <a:spcBef>
                          <a:spcPts val="0"/>
                        </a:spcBef>
                        <a:spcAft>
                          <a:spcPts val="0"/>
                        </a:spcAft>
                        <a:buNone/>
                      </a:pPr>
                      <a:r>
                        <a:rPr lang="en-GB" sz="1100" b="1" i="0" u="none" strike="noStrike" kern="1200" noProof="0">
                          <a:solidFill>
                            <a:srgbClr val="000000"/>
                          </a:solidFill>
                          <a:latin typeface="Nunito Sans"/>
                          <a:ea typeface="+mn-ea"/>
                          <a:cs typeface="+mn-cs"/>
                        </a:rPr>
                        <a:t>All Flights information</a:t>
                      </a:r>
                      <a:endParaRPr lang="en-US" sz="1100" b="0" i="0" u="none" strike="noStrike" kern="1200" noProof="0">
                        <a:solidFill>
                          <a:srgbClr val="000000"/>
                        </a:solidFill>
                        <a:latin typeface="Nunito Sans"/>
                        <a:ea typeface="+mn-ea"/>
                        <a:cs typeface="+mn-cs"/>
                      </a:endParaRP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171450" marR="0" lvl="0" indent="-171450" algn="l">
                        <a:lnSpc>
                          <a:spcPct val="100000"/>
                        </a:lnSpc>
                        <a:buClr>
                          <a:srgbClr val="000000"/>
                        </a:buClr>
                        <a:buFont typeface="Arial,Sans-Serif"/>
                        <a:buChar char="•"/>
                      </a:pPr>
                      <a:r>
                        <a:rPr lang="en-IN" sz="1100" b="0" i="0" u="none" strike="noStrike" kern="1200" noProof="0">
                          <a:solidFill>
                            <a:schemeClr val="dk1"/>
                          </a:solidFill>
                          <a:effectLst/>
                          <a:latin typeface="Nunito Sans"/>
                          <a:ea typeface="+mn-ea"/>
                          <a:cs typeface="+mn-cs"/>
                        </a:rPr>
                        <a:t>Provide all flight and crew member information to pilots to support crew swap decisions when required</a:t>
                      </a:r>
                      <a:endParaRPr lang="en-IN" sz="1100" b="0" i="0" u="none" strike="noStrike" kern="1200" noProof="0">
                        <a:solidFill>
                          <a:srgbClr val="000000"/>
                        </a:solidFill>
                        <a:effectLst/>
                        <a:latin typeface="Nunito Sans"/>
                        <a:ea typeface="+mn-ea"/>
                        <a:cs typeface="+mn-cs"/>
                      </a:endParaRP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lvl="0" indent="0" algn="l">
                        <a:lnSpc>
                          <a:spcPct val="100000"/>
                        </a:lnSpc>
                        <a:buNone/>
                      </a:pPr>
                      <a:r>
                        <a:rPr lang="en-US" sz="1100" b="0" i="0" u="none" strike="noStrike" kern="1200" noProof="0">
                          <a:solidFill>
                            <a:schemeClr val="tx1"/>
                          </a:solidFill>
                          <a:effectLst/>
                          <a:latin typeface="Nunito Sans"/>
                          <a:ea typeface="+mn-ea"/>
                          <a:cs typeface="+mn-cs"/>
                        </a:rPr>
                        <a:t>29th June</a:t>
                      </a:r>
                      <a:endParaRPr lang="en-IN" sz="1100" b="0" i="0" u="none" strike="noStrike" kern="1200" noProof="0">
                        <a:solidFill>
                          <a:srgbClr val="000000"/>
                        </a:solidFill>
                        <a:effectLst/>
                        <a:latin typeface="Nunito Sans"/>
                        <a:ea typeface="+mn-ea"/>
                        <a:cs typeface="+mn-cs"/>
                      </a:endParaRP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a:solidFill>
                        <a:schemeClr val="bg1">
                          <a:lumMod val="75000"/>
                        </a:schemeClr>
                      </a:solidFill>
                    </a:lnB>
                    <a:solidFill>
                      <a:schemeClr val="bg1"/>
                    </a:solidFill>
                  </a:tcPr>
                </a:tc>
                <a:tc>
                  <a:txBody>
                    <a:bodyPr/>
                    <a:lstStyle/>
                    <a:p>
                      <a:pPr marL="0" lvl="0" indent="0" algn="l">
                        <a:lnSpc>
                          <a:spcPct val="100000"/>
                        </a:lnSpc>
                        <a:buNone/>
                      </a:pPr>
                      <a:endParaRPr lang="en-US" sz="1100" b="0" i="0" u="none" strike="noStrike" kern="1200" noProof="0">
                        <a:solidFill>
                          <a:schemeClr val="tx1"/>
                        </a:solidFill>
                        <a:effectLst/>
                        <a:latin typeface="Nunito Sans"/>
                        <a:ea typeface="+mn-ea"/>
                        <a:cs typeface="+mn-cs"/>
                      </a:endParaRP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solidFill>
                      <a:schemeClr val="bg1"/>
                    </a:solidFill>
                  </a:tcPr>
                </a:tc>
                <a:extLst>
                  <a:ext uri="{0D108BD9-81ED-4DB2-BD59-A6C34878D82A}">
                    <a16:rowId xmlns:a16="http://schemas.microsoft.com/office/drawing/2014/main" val="2542160441"/>
                  </a:ext>
                </a:extLst>
              </a:tr>
              <a:tr h="507559">
                <a:tc>
                  <a:txBody>
                    <a:bodyPr/>
                    <a:lstStyle/>
                    <a:p>
                      <a:pPr lvl="0" algn="l">
                        <a:lnSpc>
                          <a:spcPct val="100000"/>
                        </a:lnSpc>
                        <a:spcBef>
                          <a:spcPts val="0"/>
                        </a:spcBef>
                        <a:spcAft>
                          <a:spcPts val="0"/>
                        </a:spcAft>
                        <a:buNone/>
                      </a:pPr>
                      <a:r>
                        <a:rPr lang="en-US" sz="1100" b="1" i="0" u="none" strike="noStrike" kern="1200" noProof="0">
                          <a:solidFill>
                            <a:schemeClr val="tx1"/>
                          </a:solidFill>
                          <a:latin typeface="Nunito Sans"/>
                          <a:ea typeface="+mn-ea"/>
                          <a:cs typeface="+mn-cs"/>
                        </a:rPr>
                        <a:t>Final Fuel Reporting</a:t>
                      </a:r>
                      <a:endParaRPr lang="en-GB" sz="1100" b="0" i="0" u="none" strike="noStrike" kern="1200" noProof="0">
                        <a:solidFill>
                          <a:srgbClr val="000000"/>
                        </a:solidFill>
                        <a:latin typeface="Nunito Sans"/>
                        <a:ea typeface="+mn-ea"/>
                        <a:cs typeface="+mn-cs"/>
                      </a:endParaRP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solidFill>
                      <a:schemeClr val="bg1"/>
                    </a:solidFill>
                  </a:tcPr>
                </a:tc>
                <a:tc>
                  <a:txBody>
                    <a:bodyPr/>
                    <a:lstStyle/>
                    <a:p>
                      <a:pPr marL="171450" marR="0" lvl="0" indent="-171450" algn="l">
                        <a:lnSpc>
                          <a:spcPct val="100000"/>
                        </a:lnSpc>
                        <a:spcBef>
                          <a:spcPts val="0"/>
                        </a:spcBef>
                        <a:spcAft>
                          <a:spcPts val="0"/>
                        </a:spcAft>
                        <a:buClr>
                          <a:srgbClr val="000000"/>
                        </a:buClr>
                        <a:buFont typeface="Arial,Sans-Serif"/>
                        <a:buChar char="•"/>
                      </a:pPr>
                      <a:r>
                        <a:rPr lang="en-IN" sz="1100" b="0" i="0" u="none" strike="noStrike" kern="1200" noProof="0">
                          <a:solidFill>
                            <a:schemeClr val="tx1"/>
                          </a:solidFill>
                          <a:effectLst/>
                          <a:latin typeface="Nunito Sans"/>
                          <a:ea typeface="+mn-ea"/>
                          <a:cs typeface="+mn-cs"/>
                        </a:rPr>
                        <a:t>Allow pilots to report Final fuel with ability to provide fuel information including cargo load, special load, arrival fuel, EZFW etc.</a:t>
                      </a:r>
                      <a:endParaRPr lang="en-US" sz="1100" b="0" i="0" u="none" strike="noStrike" kern="1200" noProof="0">
                        <a:solidFill>
                          <a:srgbClr val="000000"/>
                        </a:solidFill>
                        <a:effectLst/>
                        <a:latin typeface="Nunito Sans"/>
                        <a:ea typeface="+mn-ea"/>
                        <a:cs typeface="+mn-cs"/>
                      </a:endParaRP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a:solidFill>
                        <a:schemeClr val="bg1">
                          <a:lumMod val="75000"/>
                        </a:schemeClr>
                      </a:solidFill>
                    </a:lnB>
                    <a:solidFill>
                      <a:schemeClr val="bg1"/>
                    </a:solidFill>
                  </a:tcPr>
                </a:tc>
                <a:tc>
                  <a:txBody>
                    <a:bodyPr/>
                    <a:lstStyle/>
                    <a:p>
                      <a:pPr marL="0" lvl="0" indent="0" algn="l">
                        <a:lnSpc>
                          <a:spcPct val="100000"/>
                        </a:lnSpc>
                        <a:spcBef>
                          <a:spcPts val="0"/>
                        </a:spcBef>
                        <a:spcAft>
                          <a:spcPts val="0"/>
                        </a:spcAft>
                        <a:buNone/>
                      </a:pPr>
                      <a:r>
                        <a:rPr lang="en-US" sz="1100" b="0" i="0" u="none" strike="noStrike" kern="1200" noProof="0">
                          <a:solidFill>
                            <a:schemeClr val="tx1"/>
                          </a:solidFill>
                          <a:effectLst/>
                          <a:latin typeface="Nunito Sans"/>
                          <a:ea typeface="+mn-ea"/>
                          <a:cs typeface="+mn-cs"/>
                        </a:rPr>
                        <a:t>29th June</a:t>
                      </a:r>
                      <a:endParaRPr lang="en-IN" sz="1100" b="0" i="0" u="none" strike="noStrike" kern="1200" noProof="0">
                        <a:solidFill>
                          <a:srgbClr val="000000"/>
                        </a:solidFill>
                        <a:effectLst/>
                        <a:latin typeface="Nunito Sans"/>
                        <a:ea typeface="+mn-ea"/>
                        <a:cs typeface="+mn-cs"/>
                      </a:endParaRP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a:solidFill>
                        <a:schemeClr val="bg1">
                          <a:lumMod val="75000"/>
                        </a:schemeClr>
                      </a:solidFill>
                    </a:lnB>
                    <a:solidFill>
                      <a:schemeClr val="bg1"/>
                    </a:solidFill>
                  </a:tcPr>
                </a:tc>
                <a:tc>
                  <a:txBody>
                    <a:bodyPr/>
                    <a:lstStyle/>
                    <a:p>
                      <a:pPr marL="0" lvl="0" indent="0" algn="l">
                        <a:lnSpc>
                          <a:spcPct val="100000"/>
                        </a:lnSpc>
                        <a:spcBef>
                          <a:spcPts val="0"/>
                        </a:spcBef>
                        <a:spcAft>
                          <a:spcPts val="0"/>
                        </a:spcAft>
                        <a:buNone/>
                      </a:pPr>
                      <a:endParaRPr lang="en-US" sz="1100" b="0" i="0" u="none" strike="noStrike" kern="1200" noProof="0">
                        <a:solidFill>
                          <a:schemeClr val="tx1"/>
                        </a:solidFill>
                        <a:effectLst/>
                        <a:latin typeface="Nunito Sans"/>
                        <a:ea typeface="+mn-ea"/>
                        <a:cs typeface="+mn-cs"/>
                      </a:endParaRP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solidFill>
                      <a:schemeClr val="bg1"/>
                    </a:solidFill>
                  </a:tcPr>
                </a:tc>
                <a:extLst>
                  <a:ext uri="{0D108BD9-81ED-4DB2-BD59-A6C34878D82A}">
                    <a16:rowId xmlns:a16="http://schemas.microsoft.com/office/drawing/2014/main" val="2520719314"/>
                  </a:ext>
                </a:extLst>
              </a:tr>
            </a:tbl>
          </a:graphicData>
        </a:graphic>
      </p:graphicFrame>
      <p:sp>
        <p:nvSpPr>
          <p:cNvPr id="26" name="TextBox 25">
            <a:extLst>
              <a:ext uri="{FF2B5EF4-FFF2-40B4-BE49-F238E27FC236}">
                <a16:creationId xmlns:a16="http://schemas.microsoft.com/office/drawing/2014/main" id="{DAE3008C-7510-8305-0ABF-DA2EC75012CC}"/>
              </a:ext>
            </a:extLst>
          </p:cNvPr>
          <p:cNvSpPr txBox="1"/>
          <p:nvPr/>
        </p:nvSpPr>
        <p:spPr>
          <a:xfrm>
            <a:off x="343955" y="3897931"/>
            <a:ext cx="417102" cy="253916"/>
          </a:xfrm>
          <a:prstGeom prst="rect">
            <a:avLst/>
          </a:prstGeom>
          <a:noFill/>
        </p:spPr>
        <p:txBody>
          <a:bodyPr wrap="none" lIns="91440" tIns="45720" rIns="91440" bIns="45720" rtlCol="0" anchor="t">
            <a:spAutoFit/>
          </a:bodyPr>
          <a:lstStyle/>
          <a:p>
            <a:r>
              <a:rPr lang="en-IN" sz="1050" b="1">
                <a:solidFill>
                  <a:schemeClr val="bg1"/>
                </a:solidFill>
                <a:latin typeface="Montserrat Light"/>
              </a:rPr>
              <a:t>Jan</a:t>
            </a:r>
            <a:endParaRPr lang="en-IN" sz="1050" b="1">
              <a:solidFill>
                <a:schemeClr val="bg1"/>
              </a:solidFill>
              <a:latin typeface="Montserrat Light" pitchFamily="2" charset="0"/>
            </a:endParaRPr>
          </a:p>
        </p:txBody>
      </p:sp>
      <p:sp>
        <p:nvSpPr>
          <p:cNvPr id="27" name="TextBox 15">
            <a:extLst>
              <a:ext uri="{FF2B5EF4-FFF2-40B4-BE49-F238E27FC236}">
                <a16:creationId xmlns:a16="http://schemas.microsoft.com/office/drawing/2014/main" id="{10D1F41A-5153-EEFA-63AA-D830A569F97E}"/>
              </a:ext>
            </a:extLst>
          </p:cNvPr>
          <p:cNvSpPr txBox="1"/>
          <p:nvPr/>
        </p:nvSpPr>
        <p:spPr>
          <a:xfrm>
            <a:off x="398384" y="817274"/>
            <a:ext cx="417102" cy="253916"/>
          </a:xfrm>
          <a:prstGeom prst="rect">
            <a:avLst/>
          </a:prstGeom>
          <a:noFill/>
        </p:spPr>
        <p:txBody>
          <a:bodyPr wrap="non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050" b="1">
                <a:solidFill>
                  <a:schemeClr val="bg1"/>
                </a:solidFill>
                <a:latin typeface="Montserrat Light"/>
              </a:rPr>
              <a:t>Jan</a:t>
            </a:r>
            <a:endParaRPr lang="en-IN" sz="1050" b="1">
              <a:solidFill>
                <a:schemeClr val="bg1"/>
              </a:solidFill>
              <a:latin typeface="Montserrat Light" pitchFamily="2" charset="0"/>
            </a:endParaRPr>
          </a:p>
        </p:txBody>
      </p:sp>
      <p:sp>
        <p:nvSpPr>
          <p:cNvPr id="29" name="Rectangle 28">
            <a:extLst>
              <a:ext uri="{FF2B5EF4-FFF2-40B4-BE49-F238E27FC236}">
                <a16:creationId xmlns:a16="http://schemas.microsoft.com/office/drawing/2014/main" id="{192B6261-EBE3-C396-E383-74C817D8AA77}"/>
              </a:ext>
            </a:extLst>
          </p:cNvPr>
          <p:cNvSpPr/>
          <p:nvPr/>
        </p:nvSpPr>
        <p:spPr>
          <a:xfrm>
            <a:off x="-4474" y="793560"/>
            <a:ext cx="1067526" cy="42234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IN" sz="1400" b="1">
                <a:latin typeface="AirIndia"/>
              </a:rPr>
              <a:t>Jun ‘26</a:t>
            </a:r>
          </a:p>
        </p:txBody>
      </p:sp>
      <p:pic>
        <p:nvPicPr>
          <p:cNvPr id="34" name="Picture 33">
            <a:extLst>
              <a:ext uri="{FF2B5EF4-FFF2-40B4-BE49-F238E27FC236}">
                <a16:creationId xmlns:a16="http://schemas.microsoft.com/office/drawing/2014/main" id="{DD88D466-8168-F910-196B-C2E15DAA8F6E}"/>
              </a:ext>
            </a:extLst>
          </p:cNvPr>
          <p:cNvPicPr>
            <a:picLocks noChangeAspect="1"/>
          </p:cNvPicPr>
          <p:nvPr/>
        </p:nvPicPr>
        <p:blipFill>
          <a:blip r:embed="rId3"/>
          <a:stretch>
            <a:fillRect/>
          </a:stretch>
        </p:blipFill>
        <p:spPr>
          <a:xfrm>
            <a:off x="306161" y="6532789"/>
            <a:ext cx="8248650" cy="323850"/>
          </a:xfrm>
          <a:prstGeom prst="rect">
            <a:avLst/>
          </a:prstGeom>
        </p:spPr>
      </p:pic>
    </p:spTree>
    <p:extLst>
      <p:ext uri="{BB962C8B-B14F-4D97-AF65-F5344CB8AC3E}">
        <p14:creationId xmlns:p14="http://schemas.microsoft.com/office/powerpoint/2010/main" val="332126327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3BDF2C-BC09-817F-E1D5-1CCDE9A784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0461AD-E1AE-385B-AC54-AA662FBE236A}"/>
              </a:ext>
            </a:extLst>
          </p:cNvPr>
          <p:cNvSpPr>
            <a:spLocks noGrp="1"/>
          </p:cNvSpPr>
          <p:nvPr>
            <p:ph type="title"/>
          </p:nvPr>
        </p:nvSpPr>
        <p:spPr>
          <a:xfrm>
            <a:off x="1838597" y="1225296"/>
            <a:ext cx="8514805" cy="757110"/>
          </a:xfrm>
        </p:spPr>
        <p:txBody>
          <a:bodyPr/>
          <a:lstStyle/>
          <a:p>
            <a:r>
              <a:rPr lang="en-US" sz="3200">
                <a:latin typeface="AirIndia"/>
              </a:rPr>
              <a:t>B2E Apps &amp; Channel – FY26-27/Q2</a:t>
            </a:r>
            <a:endParaRPr lang="en-IN" sz="3200"/>
          </a:p>
        </p:txBody>
      </p:sp>
    </p:spTree>
    <p:extLst>
      <p:ext uri="{BB962C8B-B14F-4D97-AF65-F5344CB8AC3E}">
        <p14:creationId xmlns:p14="http://schemas.microsoft.com/office/powerpoint/2010/main" val="337343931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11455E-5497-731D-850F-EA99728D48AC}"/>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CC08138-212C-8B38-F4BA-28879A4B5ED6}"/>
              </a:ext>
            </a:extLst>
          </p:cNvPr>
          <p:cNvSpPr>
            <a:spLocks noGrp="1"/>
          </p:cNvSpPr>
          <p:nvPr>
            <p:ph type="sldNum" sz="quarter" idx="12"/>
          </p:nvPr>
        </p:nvSpPr>
        <p:spPr/>
        <p:txBody>
          <a:bodyPr/>
          <a:lstStyle/>
          <a:p>
            <a:fld id="{3A41A254-7326-714E-AF55-4C213D6394DE}" type="slidenum">
              <a:rPr lang="en-US" sz="900" smtClean="0">
                <a:latin typeface="Montserrat Light" pitchFamily="2" charset="0"/>
              </a:rPr>
              <a:pPr/>
              <a:t>77</a:t>
            </a:fld>
            <a:endParaRPr lang="en-US" sz="900">
              <a:latin typeface="Montserrat Light" pitchFamily="2" charset="0"/>
            </a:endParaRPr>
          </a:p>
        </p:txBody>
      </p:sp>
      <p:sp>
        <p:nvSpPr>
          <p:cNvPr id="6" name="Title 11">
            <a:extLst>
              <a:ext uri="{FF2B5EF4-FFF2-40B4-BE49-F238E27FC236}">
                <a16:creationId xmlns:a16="http://schemas.microsoft.com/office/drawing/2014/main" id="{E3A95102-DCE2-FA8E-34D4-F578ED7F1C9E}"/>
              </a:ext>
            </a:extLst>
          </p:cNvPr>
          <p:cNvSpPr txBox="1">
            <a:spLocks/>
          </p:cNvSpPr>
          <p:nvPr/>
        </p:nvSpPr>
        <p:spPr>
          <a:xfrm>
            <a:off x="304800" y="269218"/>
            <a:ext cx="8420100" cy="396638"/>
          </a:xfrm>
          <a:prstGeom prst="rect">
            <a:avLst/>
          </a:prstGeom>
        </p:spPr>
        <p:txBody>
          <a:bodyPr lIns="91440" tIns="45720" rIns="91440" bIns="45720" anchor="t">
            <a:noAutofit/>
          </a:bodyPr>
          <a:lstStyle>
            <a:lvl1pPr algn="l" defTabSz="914400" rtl="0" eaLnBrk="1" latinLnBrk="0" hangingPunct="1">
              <a:lnSpc>
                <a:spcPct val="90000"/>
              </a:lnSpc>
              <a:spcBef>
                <a:spcPct val="0"/>
              </a:spcBef>
              <a:buNone/>
              <a:defRPr sz="4400" b="1" i="0" kern="1200">
                <a:solidFill>
                  <a:schemeClr val="tx1"/>
                </a:solidFill>
                <a:latin typeface="AirIndia" pitchFamily="82" charset="77"/>
                <a:ea typeface="+mj-ea"/>
                <a:cs typeface="+mj-cs"/>
              </a:defRPr>
            </a:lvl1pPr>
          </a:lstStyle>
          <a:p>
            <a:r>
              <a:rPr lang="en-US" sz="1800">
                <a:solidFill>
                  <a:srgbClr val="C00000"/>
                </a:solidFill>
                <a:latin typeface="AirIndia"/>
              </a:rPr>
              <a:t>AI Smart - FY27 Q2  Release Plan </a:t>
            </a:r>
          </a:p>
        </p:txBody>
      </p:sp>
      <p:graphicFrame>
        <p:nvGraphicFramePr>
          <p:cNvPr id="4" name="Table 3">
            <a:extLst>
              <a:ext uri="{FF2B5EF4-FFF2-40B4-BE49-F238E27FC236}">
                <a16:creationId xmlns:a16="http://schemas.microsoft.com/office/drawing/2014/main" id="{7C98D1B5-447C-42D1-CE7E-321200060087}"/>
              </a:ext>
            </a:extLst>
          </p:cNvPr>
          <p:cNvGraphicFramePr>
            <a:graphicFrameLocks noGrp="1"/>
          </p:cNvGraphicFramePr>
          <p:nvPr>
            <p:extLst>
              <p:ext uri="{D42A27DB-BD31-4B8C-83A1-F6EECF244321}">
                <p14:modId xmlns:p14="http://schemas.microsoft.com/office/powerpoint/2010/main" val="3669812968"/>
              </p:ext>
            </p:extLst>
          </p:nvPr>
        </p:nvGraphicFramePr>
        <p:xfrm>
          <a:off x="1063052" y="792699"/>
          <a:ext cx="10678644" cy="3852220"/>
        </p:xfrm>
        <a:graphic>
          <a:graphicData uri="http://schemas.openxmlformats.org/drawingml/2006/table">
            <a:tbl>
              <a:tblPr firstRow="1" bandRow="1">
                <a:tableStyleId>{5C22544A-7EE6-4342-B048-85BDC9FD1C3A}</a:tableStyleId>
              </a:tblPr>
              <a:tblGrid>
                <a:gridCol w="1633810">
                  <a:extLst>
                    <a:ext uri="{9D8B030D-6E8A-4147-A177-3AD203B41FA5}">
                      <a16:colId xmlns:a16="http://schemas.microsoft.com/office/drawing/2014/main" val="1118630623"/>
                    </a:ext>
                  </a:extLst>
                </a:gridCol>
                <a:gridCol w="5915099">
                  <a:extLst>
                    <a:ext uri="{9D8B030D-6E8A-4147-A177-3AD203B41FA5}">
                      <a16:colId xmlns:a16="http://schemas.microsoft.com/office/drawing/2014/main" val="99588705"/>
                    </a:ext>
                  </a:extLst>
                </a:gridCol>
                <a:gridCol w="1116469">
                  <a:extLst>
                    <a:ext uri="{9D8B030D-6E8A-4147-A177-3AD203B41FA5}">
                      <a16:colId xmlns:a16="http://schemas.microsoft.com/office/drawing/2014/main" val="4278227373"/>
                    </a:ext>
                  </a:extLst>
                </a:gridCol>
                <a:gridCol w="787170">
                  <a:extLst>
                    <a:ext uri="{9D8B030D-6E8A-4147-A177-3AD203B41FA5}">
                      <a16:colId xmlns:a16="http://schemas.microsoft.com/office/drawing/2014/main" val="1344606147"/>
                    </a:ext>
                  </a:extLst>
                </a:gridCol>
                <a:gridCol w="1226096">
                  <a:extLst>
                    <a:ext uri="{9D8B030D-6E8A-4147-A177-3AD203B41FA5}">
                      <a16:colId xmlns:a16="http://schemas.microsoft.com/office/drawing/2014/main" val="346857748"/>
                    </a:ext>
                  </a:extLst>
                </a:gridCol>
              </a:tblGrid>
              <a:tr h="439711">
                <a:tc>
                  <a:txBody>
                    <a:bodyPr/>
                    <a:lstStyle/>
                    <a:p>
                      <a:pPr marL="0" lvl="0" indent="0" algn="ctr" defTabSz="914400">
                        <a:lnSpc>
                          <a:spcPct val="100000"/>
                        </a:lnSpc>
                        <a:buNone/>
                      </a:pPr>
                      <a:r>
                        <a:rPr lang="en-IN" sz="1100" b="1" i="0" u="none" strike="noStrike" kern="1200" noProof="0">
                          <a:solidFill>
                            <a:schemeClr val="bg1"/>
                          </a:solidFill>
                          <a:latin typeface="Avenir Next LT Pro Light"/>
                          <a:ea typeface="+mn-ea"/>
                          <a:cs typeface="+mn-cs"/>
                        </a:rPr>
                        <a:t>Projects</a:t>
                      </a:r>
                      <a:endParaRPr lang="en-US"/>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solidFill>
                      <a:srgbClr val="002060"/>
                    </a:solidFill>
                  </a:tcPr>
                </a:tc>
                <a:tc>
                  <a:txBody>
                    <a:bodyPr/>
                    <a:lstStyle/>
                    <a:p>
                      <a:pPr lvl="0" algn="ctr">
                        <a:lnSpc>
                          <a:spcPct val="100000"/>
                        </a:lnSpc>
                        <a:spcBef>
                          <a:spcPts val="0"/>
                        </a:spcBef>
                        <a:spcAft>
                          <a:spcPts val="0"/>
                        </a:spcAft>
                        <a:buNone/>
                      </a:pPr>
                      <a:r>
                        <a:rPr lang="en-IN" sz="1100" b="1" i="0" u="none" strike="noStrike" kern="1200" noProof="0">
                          <a:solidFill>
                            <a:srgbClr val="FFFFFF"/>
                          </a:solidFill>
                          <a:latin typeface="Nunito Sans"/>
                          <a:ea typeface="+mn-ea"/>
                          <a:cs typeface="+mn-cs"/>
                        </a:rPr>
                        <a:t>Value Justification/Realization</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002060"/>
                    </a:solidFill>
                  </a:tcPr>
                </a:tc>
                <a:tc>
                  <a:txBody>
                    <a:bodyPr/>
                    <a:lstStyle/>
                    <a:p>
                      <a:pPr marL="0" lvl="0" indent="0" algn="ctr">
                        <a:buNone/>
                      </a:pPr>
                      <a:r>
                        <a:rPr lang="en-IN" sz="1050" kern="1200">
                          <a:solidFill>
                            <a:schemeClr val="bg1"/>
                          </a:solidFill>
                          <a:latin typeface="Avenir Next LT Pro Light"/>
                          <a:ea typeface="+mn-ea"/>
                          <a:cs typeface="+mn-cs"/>
                        </a:rPr>
                        <a:t>Planned Go Live Date</a:t>
                      </a: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a:solidFill>
                        <a:schemeClr val="bg1">
                          <a:lumMod val="75000"/>
                        </a:schemeClr>
                      </a:solidFill>
                    </a:lnB>
                    <a:solidFill>
                      <a:srgbClr val="002060"/>
                    </a:solidFill>
                  </a:tcPr>
                </a:tc>
                <a:tc>
                  <a:txBody>
                    <a:bodyPr/>
                    <a:lstStyle/>
                    <a:p>
                      <a:pPr lvl="0" algn="ctr">
                        <a:lnSpc>
                          <a:spcPct val="100000"/>
                        </a:lnSpc>
                        <a:spcBef>
                          <a:spcPts val="0"/>
                        </a:spcBef>
                        <a:spcAft>
                          <a:spcPts val="0"/>
                        </a:spcAft>
                        <a:buNone/>
                      </a:pPr>
                      <a:r>
                        <a:rPr lang="en-IN" sz="1100" b="1" i="0" u="none" strike="noStrike" kern="1200" noProof="0">
                          <a:solidFill>
                            <a:schemeClr val="bg1"/>
                          </a:solidFill>
                          <a:latin typeface="Avenir Next LT Pro Light"/>
                          <a:ea typeface="+mn-ea"/>
                          <a:cs typeface="+mn-cs"/>
                        </a:rPr>
                        <a:t>JIRA</a:t>
                      </a:r>
                      <a:endParaRPr lang="en-IN" sz="1100" b="1" i="0" u="none" strike="noStrike" kern="1200" noProof="0">
                        <a:solidFill>
                          <a:srgbClr val="FFFFFF"/>
                        </a:solidFill>
                        <a:latin typeface="Avenir Next LT Pro Light"/>
                        <a:ea typeface="+mn-ea"/>
                        <a:cs typeface="+mn-cs"/>
                      </a:endParaRP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a:solidFill>
                        <a:schemeClr val="bg1">
                          <a:lumMod val="75000"/>
                        </a:schemeClr>
                      </a:solidFill>
                    </a:lnB>
                    <a:solidFill>
                      <a:srgbClr val="00206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100" b="1" i="0" kern="1200">
                          <a:solidFill>
                            <a:schemeClr val="bg1"/>
                          </a:solidFill>
                          <a:latin typeface="+mn-lt"/>
                          <a:ea typeface="+mn-ea"/>
                          <a:cs typeface="+mn-cs"/>
                        </a:rPr>
                        <a:t>EIP Integration Required (Yes/No)</a:t>
                      </a: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solidFill>
                      <a:srgbClr val="002060"/>
                    </a:solidFill>
                  </a:tcPr>
                </a:tc>
                <a:extLst>
                  <a:ext uri="{0D108BD9-81ED-4DB2-BD59-A6C34878D82A}">
                    <a16:rowId xmlns:a16="http://schemas.microsoft.com/office/drawing/2014/main" val="844450115"/>
                  </a:ext>
                </a:extLst>
              </a:tr>
              <a:tr h="849442">
                <a:tc>
                  <a:txBody>
                    <a:bodyPr/>
                    <a:lstStyle/>
                    <a:p>
                      <a:pPr lvl="0" algn="l">
                        <a:lnSpc>
                          <a:spcPct val="100000"/>
                        </a:lnSpc>
                        <a:spcBef>
                          <a:spcPts val="0"/>
                        </a:spcBef>
                        <a:spcAft>
                          <a:spcPts val="0"/>
                        </a:spcAft>
                        <a:buNone/>
                      </a:pPr>
                      <a:r>
                        <a:rPr lang="en-IN" sz="1100" b="0" i="0" u="none" strike="noStrike" kern="1200" noProof="0">
                          <a:solidFill>
                            <a:srgbClr val="000000"/>
                          </a:solidFill>
                          <a:highlight>
                            <a:srgbClr val="FFFFFF"/>
                          </a:highlight>
                          <a:latin typeface="Nunito Sans"/>
                          <a:ea typeface="+mn-ea"/>
                          <a:cs typeface="+mn-cs"/>
                        </a:rPr>
                        <a:t>Trainee Crew listing</a:t>
                      </a:r>
                      <a:endParaRPr lang="en-US" sz="1100">
                        <a:latin typeface="Nunito Sans"/>
                      </a:endParaRPr>
                    </a:p>
                  </a:txBody>
                  <a:tcPr anchor="ctr">
                    <a:lnL w="6350">
                      <a:solidFill>
                        <a:schemeClr val="bg1">
                          <a:lumMod val="75000"/>
                        </a:schemeClr>
                      </a:solidFill>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171450" marR="0" lvl="0" indent="-171450" algn="l" rtl="0">
                        <a:lnSpc>
                          <a:spcPct val="100000"/>
                        </a:lnSpc>
                        <a:spcBef>
                          <a:spcPts val="0"/>
                        </a:spcBef>
                        <a:spcAft>
                          <a:spcPts val="0"/>
                        </a:spcAft>
                        <a:buClr>
                          <a:srgbClr val="000000"/>
                        </a:buClr>
                        <a:buSzTx/>
                        <a:buFont typeface="Arial"/>
                        <a:buChar char="•"/>
                      </a:pPr>
                      <a:r>
                        <a:rPr lang="en-GB" sz="1100" b="0" i="0" u="none" strike="noStrike" noProof="0">
                          <a:solidFill>
                            <a:srgbClr val="000000"/>
                          </a:solidFill>
                          <a:highlight>
                            <a:srgbClr val="FFFFFF"/>
                          </a:highlight>
                          <a:latin typeface="Nunito Sans"/>
                        </a:rPr>
                        <a:t>Identification of Trainee Crew required to prevent deviations in crew processing resulting in potential delays, exposing the airline to regulatory action, including Show Cause Notices and financial penalties from BCAS for non‑compliance.</a:t>
                      </a:r>
                      <a:endParaRPr lang="en-GB" sz="1100">
                        <a:latin typeface="Nunito Sans"/>
                      </a:endParaRP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a:solidFill>
                        <a:schemeClr val="bg1">
                          <a:lumMod val="75000"/>
                        </a:schemeClr>
                      </a:solidFill>
                    </a:lnB>
                    <a:solidFill>
                      <a:schemeClr val="bg1"/>
                    </a:solidFill>
                  </a:tcPr>
                </a:tc>
                <a:tc>
                  <a:txBody>
                    <a:bodyPr/>
                    <a:lstStyle/>
                    <a:p>
                      <a:pPr marL="0" lvl="0" indent="0" algn="ctr">
                        <a:lnSpc>
                          <a:spcPct val="100000"/>
                        </a:lnSpc>
                        <a:spcBef>
                          <a:spcPts val="0"/>
                        </a:spcBef>
                        <a:spcAft>
                          <a:spcPts val="0"/>
                        </a:spcAft>
                        <a:buNone/>
                      </a:pPr>
                      <a:r>
                        <a:rPr lang="en-US" sz="1100" b="0" i="0" u="none" strike="noStrike" kern="1200" noProof="0">
                          <a:solidFill>
                            <a:schemeClr val="tx1"/>
                          </a:solidFill>
                          <a:effectLst/>
                          <a:latin typeface="Nunito Sans"/>
                          <a:ea typeface="+mn-ea"/>
                          <a:cs typeface="+mn-cs"/>
                        </a:rPr>
                        <a:t>29-Jul</a:t>
                      </a: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a:solidFill>
                        <a:schemeClr val="bg1">
                          <a:lumMod val="75000"/>
                        </a:schemeClr>
                      </a:solidFill>
                    </a:lnB>
                    <a:solidFill>
                      <a:schemeClr val="bg1"/>
                    </a:solidFill>
                  </a:tcPr>
                </a:tc>
                <a:tc>
                  <a:txBody>
                    <a:bodyPr/>
                    <a:lstStyle/>
                    <a:p>
                      <a:pPr marL="0" lvl="0" indent="0" algn="ctr">
                        <a:lnSpc>
                          <a:spcPct val="100000"/>
                        </a:lnSpc>
                        <a:spcBef>
                          <a:spcPts val="0"/>
                        </a:spcBef>
                        <a:spcAft>
                          <a:spcPts val="0"/>
                        </a:spcAft>
                        <a:buNone/>
                      </a:pPr>
                      <a:r>
                        <a:rPr lang="en-US" sz="1100" b="0" i="0" u="none" strike="noStrike" kern="1200" noProof="0">
                          <a:solidFill>
                            <a:schemeClr val="tx1"/>
                          </a:solidFill>
                          <a:effectLst/>
                          <a:hlinkClick r:id="rId3"/>
                        </a:rPr>
                        <a:t>JIRA</a:t>
                      </a:r>
                      <a:endParaRPr lang="en-US" sz="1100" b="0" i="0" u="none" strike="noStrike" kern="1200" noProof="0">
                        <a:solidFill>
                          <a:schemeClr val="tx1"/>
                        </a:solidFill>
                        <a:effectLst/>
                      </a:endParaRP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a:solidFill>
                        <a:schemeClr val="bg1">
                          <a:lumMod val="75000"/>
                        </a:schemeClr>
                      </a:solidFill>
                    </a:lnB>
                    <a:solidFill>
                      <a:schemeClr val="bg1"/>
                    </a:solidFill>
                  </a:tcPr>
                </a:tc>
                <a:tc>
                  <a:txBody>
                    <a:bodyPr/>
                    <a:lstStyle/>
                    <a:p>
                      <a:pPr marL="0" lvl="0" indent="0" algn="l">
                        <a:lnSpc>
                          <a:spcPct val="100000"/>
                        </a:lnSpc>
                        <a:spcBef>
                          <a:spcPts val="0"/>
                        </a:spcBef>
                        <a:spcAft>
                          <a:spcPts val="0"/>
                        </a:spcAft>
                        <a:buNone/>
                      </a:pPr>
                      <a:endParaRPr lang="en-US" sz="1100" b="0" i="0" u="none" strike="noStrike" kern="1200" noProof="0">
                        <a:solidFill>
                          <a:schemeClr val="tx1"/>
                        </a:solidFill>
                        <a:effectLst/>
                      </a:endParaRPr>
                    </a:p>
                  </a:txBody>
                  <a:tcPr anchor="ctr">
                    <a:lnL w="6350">
                      <a:solidFill>
                        <a:schemeClr val="bg1">
                          <a:lumMod val="75000"/>
                        </a:schemeClr>
                      </a:solidFill>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951168155"/>
                  </a:ext>
                </a:extLst>
              </a:tr>
              <a:tr h="1029324">
                <a:tc>
                  <a:txBody>
                    <a:bodyPr/>
                    <a:lstStyle/>
                    <a:p>
                      <a:pPr lvl="0" algn="l">
                        <a:lnSpc>
                          <a:spcPct val="100000"/>
                        </a:lnSpc>
                        <a:spcBef>
                          <a:spcPts val="0"/>
                        </a:spcBef>
                        <a:spcAft>
                          <a:spcPts val="0"/>
                        </a:spcAft>
                        <a:buNone/>
                      </a:pPr>
                      <a:r>
                        <a:rPr lang="en-GB" sz="1100" b="0" i="0" u="none" strike="noStrike" kern="1200" noProof="0">
                          <a:solidFill>
                            <a:srgbClr val="000000"/>
                          </a:solidFill>
                          <a:highlight>
                            <a:srgbClr val="FFFFFF"/>
                          </a:highlight>
                          <a:latin typeface="Nunito Sans"/>
                          <a:ea typeface="+mn-ea"/>
                          <a:cs typeface="+mn-cs"/>
                        </a:rPr>
                        <a:t>SSQ search capabilities</a:t>
                      </a:r>
                      <a:endParaRPr lang="en-US" sz="1100">
                        <a:latin typeface="Nunito Sans"/>
                      </a:endParaRP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171450" marR="0" lvl="0" indent="-171450" algn="l">
                        <a:lnSpc>
                          <a:spcPct val="100000"/>
                        </a:lnSpc>
                        <a:spcBef>
                          <a:spcPts val="0"/>
                        </a:spcBef>
                        <a:spcAft>
                          <a:spcPts val="0"/>
                        </a:spcAft>
                        <a:buFont typeface="Arial"/>
                        <a:buChar char="•"/>
                      </a:pPr>
                      <a:r>
                        <a:rPr lang="en-US" sz="1100" b="0" i="0" u="none" strike="noStrike" kern="1200" noProof="0">
                          <a:solidFill>
                            <a:srgbClr val="000000"/>
                          </a:solidFill>
                          <a:effectLst/>
                          <a:highlight>
                            <a:srgbClr val="FFFFFF"/>
                          </a:highlight>
                          <a:latin typeface="Nunito Sans"/>
                          <a:ea typeface="+mn-ea"/>
                          <a:cs typeface="+mn-cs"/>
                        </a:rPr>
                        <a:t>Feature to view and track aircraft movements using tail number, providing complete visibility of the aircraft’s route history across sectors.  </a:t>
                      </a:r>
                      <a:endParaRPr lang="en-US" sz="1100">
                        <a:latin typeface="Nunito Sans"/>
                      </a:endParaRPr>
                    </a:p>
                    <a:p>
                      <a:pPr marL="171450" marR="0" lvl="0" indent="-171450" algn="l">
                        <a:lnSpc>
                          <a:spcPct val="100000"/>
                        </a:lnSpc>
                        <a:spcBef>
                          <a:spcPts val="0"/>
                        </a:spcBef>
                        <a:spcAft>
                          <a:spcPts val="0"/>
                        </a:spcAft>
                        <a:buFont typeface="Arial"/>
                        <a:buChar char="•"/>
                      </a:pPr>
                      <a:r>
                        <a:rPr lang="en-US" sz="1100" b="0" i="0" u="none" strike="noStrike" kern="1200" noProof="0">
                          <a:solidFill>
                            <a:srgbClr val="000000"/>
                          </a:solidFill>
                          <a:effectLst/>
                          <a:highlight>
                            <a:srgbClr val="FFFFFF"/>
                          </a:highlight>
                          <a:latin typeface="Nunito Sans"/>
                          <a:ea typeface="+mn-ea"/>
                          <a:cs typeface="+mn-cs"/>
                        </a:rPr>
                        <a:t>Supports efficient investigation workflows by establishing a clear and chronological movement flow, including applicability for SRA- Safety risk assessment.</a:t>
                      </a:r>
                      <a:endParaRPr lang="en-US" sz="1100">
                        <a:latin typeface="Nunito San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lvl="0" indent="0" algn="ctr">
                        <a:lnSpc>
                          <a:spcPct val="100000"/>
                        </a:lnSpc>
                        <a:spcBef>
                          <a:spcPts val="0"/>
                        </a:spcBef>
                        <a:spcAft>
                          <a:spcPts val="0"/>
                        </a:spcAft>
                        <a:buNone/>
                      </a:pPr>
                      <a:r>
                        <a:rPr lang="en-US" sz="1100" b="0" i="0" u="none" strike="noStrike" kern="1200" noProof="0">
                          <a:solidFill>
                            <a:schemeClr val="tx1"/>
                          </a:solidFill>
                          <a:effectLst/>
                          <a:latin typeface="Nunito Sans"/>
                          <a:ea typeface="+mn-ea"/>
                          <a:cs typeface="+mn-cs"/>
                        </a:rPr>
                        <a:t>29-Jul</a:t>
                      </a:r>
                      <a:endParaRPr lang="en-US"/>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lvl="0" indent="0" algn="ctr">
                        <a:lnSpc>
                          <a:spcPct val="100000"/>
                        </a:lnSpc>
                        <a:spcBef>
                          <a:spcPts val="0"/>
                        </a:spcBef>
                        <a:spcAft>
                          <a:spcPts val="0"/>
                        </a:spcAft>
                        <a:buNone/>
                      </a:pPr>
                      <a:r>
                        <a:rPr lang="en-US" sz="1100" b="0" i="0" u="none" strike="noStrike" kern="1200" noProof="0">
                          <a:solidFill>
                            <a:schemeClr val="tx1"/>
                          </a:solidFill>
                          <a:effectLst/>
                          <a:latin typeface="Nunito Sans"/>
                          <a:hlinkClick r:id="rId4"/>
                        </a:rPr>
                        <a:t>JIRA</a:t>
                      </a:r>
                      <a:endParaRPr lang="en-US" sz="1100" b="0" i="0" u="none" strike="noStrike" kern="1200" noProof="0">
                        <a:solidFill>
                          <a:schemeClr val="tx1"/>
                        </a:solidFill>
                        <a:effectLst/>
                        <a:latin typeface="Nunito San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lvl="0" indent="0" algn="l">
                        <a:lnSpc>
                          <a:spcPct val="100000"/>
                        </a:lnSpc>
                        <a:spcBef>
                          <a:spcPts val="0"/>
                        </a:spcBef>
                        <a:spcAft>
                          <a:spcPts val="0"/>
                        </a:spcAft>
                        <a:buNone/>
                      </a:pPr>
                      <a:endParaRPr lang="en-US" sz="1100" b="0" i="0" u="none" strike="noStrike" kern="1200" noProof="0">
                        <a:solidFill>
                          <a:schemeClr val="tx1"/>
                        </a:solidFill>
                        <a:effectLst/>
                        <a:latin typeface="Nunito Sans"/>
                      </a:endParaRPr>
                    </a:p>
                  </a:txBody>
                  <a:tcPr anchor="ctr">
                    <a:lnL w="6350" cap="flat" cmpd="sng" algn="ctr">
                      <a:solidFill>
                        <a:schemeClr val="bg1">
                          <a:lumMod val="75000"/>
                        </a:schemeClr>
                      </a:solidFill>
                      <a:prstDash val="solid"/>
                      <a:round/>
                      <a:headEnd type="none" w="med" len="med"/>
                      <a:tailEnd type="none" w="med" len="med"/>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520719314"/>
                  </a:ext>
                </a:extLst>
              </a:tr>
              <a:tr h="659567">
                <a:tc>
                  <a:txBody>
                    <a:bodyPr/>
                    <a:lstStyle/>
                    <a:p>
                      <a:pPr lvl="0" algn="l">
                        <a:lnSpc>
                          <a:spcPct val="100000"/>
                        </a:lnSpc>
                        <a:spcBef>
                          <a:spcPts val="0"/>
                        </a:spcBef>
                        <a:spcAft>
                          <a:spcPts val="0"/>
                        </a:spcAft>
                        <a:buNone/>
                      </a:pPr>
                      <a:r>
                        <a:rPr lang="en-GB" sz="1100" b="0" i="0" u="none" strike="noStrike" kern="1200" noProof="0">
                          <a:solidFill>
                            <a:srgbClr val="000000"/>
                          </a:solidFill>
                          <a:highlight>
                            <a:srgbClr val="FFFFFF"/>
                          </a:highlight>
                          <a:latin typeface="Nunito Sans"/>
                          <a:ea typeface="+mn-ea"/>
                          <a:cs typeface="+mn-cs"/>
                        </a:rPr>
                        <a:t>PTS - Improvements</a:t>
                      </a: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171450" lvl="0" indent="-171450" algn="l">
                        <a:lnSpc>
                          <a:spcPct val="100000"/>
                        </a:lnSpc>
                        <a:spcBef>
                          <a:spcPts val="0"/>
                        </a:spcBef>
                        <a:spcAft>
                          <a:spcPts val="0"/>
                        </a:spcAft>
                        <a:buFont typeface="Arial"/>
                        <a:buChar char="•"/>
                      </a:pPr>
                      <a:r>
                        <a:rPr lang="en-US" sz="1100" b="0" i="0" u="none" strike="noStrike" kern="1200" noProof="0">
                          <a:solidFill>
                            <a:srgbClr val="000000"/>
                          </a:solidFill>
                          <a:effectLst/>
                          <a:highlight>
                            <a:srgbClr val="FFFFFF"/>
                          </a:highlight>
                          <a:latin typeface="Segoe UI"/>
                          <a:ea typeface="+mn-ea"/>
                          <a:cs typeface="Segoe UI"/>
                        </a:rPr>
                        <a:t>Multiple improvements across PTS module to provide TRCs and management with consolidated KPI visibility, critical turnaround data, live baggage tracking, and zonal passenger insights to drive OTP performance and operational efficiency.</a:t>
                      </a:r>
                      <a:endParaRPr lang="en-US"/>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lvl="0" indent="0" algn="ctr">
                        <a:lnSpc>
                          <a:spcPct val="100000"/>
                        </a:lnSpc>
                        <a:spcBef>
                          <a:spcPts val="0"/>
                        </a:spcBef>
                        <a:spcAft>
                          <a:spcPts val="0"/>
                        </a:spcAft>
                        <a:buNone/>
                      </a:pPr>
                      <a:r>
                        <a:rPr lang="en-US" sz="1100" b="0" i="0" u="none" strike="noStrike" kern="1200" noProof="0">
                          <a:solidFill>
                            <a:schemeClr val="tx1"/>
                          </a:solidFill>
                          <a:effectLst/>
                          <a:latin typeface="Nunito Sans"/>
                          <a:ea typeface="+mn-ea"/>
                          <a:cs typeface="+mn-cs"/>
                        </a:rPr>
                        <a:t>29-Jul</a:t>
                      </a:r>
                      <a:endParaRPr lang="en-US"/>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lvl="0" indent="0" algn="ctr">
                        <a:lnSpc>
                          <a:spcPct val="100000"/>
                        </a:lnSpc>
                        <a:spcBef>
                          <a:spcPts val="0"/>
                        </a:spcBef>
                        <a:spcAft>
                          <a:spcPts val="0"/>
                        </a:spcAft>
                        <a:buNone/>
                      </a:pPr>
                      <a:r>
                        <a:rPr lang="en-US" sz="1100" b="0" i="0" u="none" strike="noStrike" kern="1200" noProof="0">
                          <a:solidFill>
                            <a:schemeClr val="tx1"/>
                          </a:solidFill>
                          <a:effectLst/>
                          <a:hlinkClick r:id="rId5"/>
                        </a:rPr>
                        <a:t>AAM-7030</a:t>
                      </a:r>
                      <a:endParaRPr lang="en-US" sz="1100" b="0" i="0" u="none" strike="noStrike" kern="1200" noProof="0">
                        <a:solidFill>
                          <a:schemeClr val="tx1"/>
                        </a:solidFill>
                        <a:effectLst/>
                      </a:endParaRP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lvl="0" indent="0" algn="ctr">
                        <a:lnSpc>
                          <a:spcPct val="100000"/>
                        </a:lnSpc>
                        <a:spcBef>
                          <a:spcPts val="0"/>
                        </a:spcBef>
                        <a:spcAft>
                          <a:spcPts val="0"/>
                        </a:spcAft>
                        <a:buNone/>
                      </a:pPr>
                      <a:r>
                        <a:rPr lang="en-US" sz="1100" b="0" i="0" u="none" strike="noStrike" kern="1200" noProof="0">
                          <a:solidFill>
                            <a:schemeClr val="tx1"/>
                          </a:solidFill>
                          <a:effectLst/>
                        </a:rPr>
                        <a:t>Yes</a:t>
                      </a:r>
                    </a:p>
                  </a:txBody>
                  <a:tcPr anchor="ctr">
                    <a:lnL w="6350">
                      <a:solidFill>
                        <a:schemeClr val="bg1">
                          <a:lumMod val="75000"/>
                        </a:schemeClr>
                      </a:solidFill>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525826635"/>
                  </a:ext>
                </a:extLst>
              </a:tr>
              <a:tr h="719527">
                <a:tc>
                  <a:txBody>
                    <a:bodyPr/>
                    <a:lstStyle/>
                    <a:p>
                      <a:pPr lvl="0" algn="l">
                        <a:lnSpc>
                          <a:spcPct val="100000"/>
                        </a:lnSpc>
                        <a:spcBef>
                          <a:spcPts val="0"/>
                        </a:spcBef>
                        <a:spcAft>
                          <a:spcPts val="0"/>
                        </a:spcAft>
                        <a:buNone/>
                      </a:pPr>
                      <a:r>
                        <a:rPr lang="en-GB" sz="1100" b="0" i="0" u="none" strike="noStrike" kern="1200" noProof="0">
                          <a:solidFill>
                            <a:srgbClr val="000000"/>
                          </a:solidFill>
                          <a:highlight>
                            <a:srgbClr val="FFFFFF"/>
                          </a:highlight>
                          <a:latin typeface="Nunito Sans"/>
                          <a:ea typeface="+mn-ea"/>
                          <a:cs typeface="+mn-cs"/>
                        </a:rPr>
                        <a:t>AKS Migration</a:t>
                      </a: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solidFill>
                      <a:schemeClr val="bg1"/>
                    </a:solidFill>
                  </a:tcPr>
                </a:tc>
                <a:tc>
                  <a:txBody>
                    <a:bodyPr/>
                    <a:lstStyle/>
                    <a:p>
                      <a:pPr marL="171450" lvl="0" indent="-171450" algn="l">
                        <a:lnSpc>
                          <a:spcPct val="100000"/>
                        </a:lnSpc>
                        <a:spcBef>
                          <a:spcPts val="0"/>
                        </a:spcBef>
                        <a:spcAft>
                          <a:spcPts val="0"/>
                        </a:spcAft>
                        <a:buFont typeface="Arial"/>
                        <a:buChar char="•"/>
                      </a:pPr>
                      <a:r>
                        <a:rPr lang="en-US" sz="1100" b="0" i="0" u="none" strike="noStrike" kern="1200" noProof="0">
                          <a:solidFill>
                            <a:srgbClr val="000000"/>
                          </a:solidFill>
                          <a:effectLst/>
                          <a:highlight>
                            <a:srgbClr val="FFFFFF"/>
                          </a:highlight>
                          <a:latin typeface="Nunito Sans"/>
                          <a:ea typeface="+mn-ea"/>
                          <a:cs typeface="+mn-cs"/>
                        </a:rPr>
                        <a:t>Migration of OTP dashboard to AKS as part of tech upgrade</a:t>
                      </a: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solidFill>
                      <a:schemeClr val="bg1"/>
                    </a:solidFill>
                  </a:tcPr>
                </a:tc>
                <a:tc>
                  <a:txBody>
                    <a:bodyPr/>
                    <a:lstStyle/>
                    <a:p>
                      <a:pPr marL="0" lvl="0" indent="0" algn="ctr">
                        <a:lnSpc>
                          <a:spcPct val="100000"/>
                        </a:lnSpc>
                        <a:spcBef>
                          <a:spcPts val="0"/>
                        </a:spcBef>
                        <a:spcAft>
                          <a:spcPts val="0"/>
                        </a:spcAft>
                        <a:buNone/>
                      </a:pPr>
                      <a:r>
                        <a:rPr lang="en-US" sz="1100" b="0" i="0" u="none" strike="noStrike" kern="1200" noProof="0">
                          <a:solidFill>
                            <a:schemeClr val="tx1"/>
                          </a:solidFill>
                          <a:effectLst/>
                          <a:latin typeface="Nunito Sans"/>
                          <a:ea typeface="+mn-ea"/>
                          <a:cs typeface="+mn-cs"/>
                        </a:rPr>
                        <a:t>29-Jul</a:t>
                      </a:r>
                      <a:endParaRPr lang="en-US"/>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solidFill>
                      <a:schemeClr val="bg1"/>
                    </a:solidFill>
                  </a:tcPr>
                </a:tc>
                <a:tc>
                  <a:txBody>
                    <a:bodyPr/>
                    <a:lstStyle/>
                    <a:p>
                      <a:pPr marL="0" lvl="0" indent="0" algn="ctr">
                        <a:lnSpc>
                          <a:spcPct val="100000"/>
                        </a:lnSpc>
                        <a:spcBef>
                          <a:spcPts val="0"/>
                        </a:spcBef>
                        <a:spcAft>
                          <a:spcPts val="0"/>
                        </a:spcAft>
                        <a:buNone/>
                      </a:pPr>
                      <a:r>
                        <a:rPr lang="en-US" sz="1100" b="0" i="0" u="none" strike="noStrike" kern="1200" noProof="0">
                          <a:solidFill>
                            <a:schemeClr val="tx1"/>
                          </a:solidFill>
                          <a:effectLst/>
                          <a:latin typeface="Nunito Sans"/>
                          <a:hlinkClick r:id="rId6"/>
                        </a:rPr>
                        <a:t>JIRA</a:t>
                      </a:r>
                      <a:endParaRPr lang="en-US"/>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a:solidFill>
                        <a:schemeClr val="bg1">
                          <a:lumMod val="75000"/>
                        </a:schemeClr>
                      </a:solidFill>
                    </a:lnB>
                    <a:solidFill>
                      <a:schemeClr val="bg1"/>
                    </a:solidFill>
                  </a:tcPr>
                </a:tc>
                <a:tc>
                  <a:txBody>
                    <a:bodyPr/>
                    <a:lstStyle/>
                    <a:p>
                      <a:pPr marL="0" lvl="0" indent="0" algn="l">
                        <a:lnSpc>
                          <a:spcPct val="100000"/>
                        </a:lnSpc>
                        <a:spcBef>
                          <a:spcPts val="0"/>
                        </a:spcBef>
                        <a:spcAft>
                          <a:spcPts val="0"/>
                        </a:spcAft>
                        <a:buNone/>
                      </a:pPr>
                      <a:endParaRPr lang="en-US"/>
                    </a:p>
                  </a:txBody>
                  <a:tcPr anchor="ctr">
                    <a:lnL w="6350">
                      <a:solidFill>
                        <a:schemeClr val="bg1">
                          <a:lumMod val="75000"/>
                        </a:schemeClr>
                      </a:solidFill>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a:solidFill>
                        <a:schemeClr val="bg1">
                          <a:lumMod val="75000"/>
                        </a:schemeClr>
                      </a:solidFill>
                    </a:lnB>
                    <a:solidFill>
                      <a:schemeClr val="bg1"/>
                    </a:solidFill>
                  </a:tcPr>
                </a:tc>
                <a:extLst>
                  <a:ext uri="{0D108BD9-81ED-4DB2-BD59-A6C34878D82A}">
                    <a16:rowId xmlns:a16="http://schemas.microsoft.com/office/drawing/2014/main" val="682894082"/>
                  </a:ext>
                </a:extLst>
              </a:tr>
            </a:tbl>
          </a:graphicData>
        </a:graphic>
      </p:graphicFrame>
      <p:sp>
        <p:nvSpPr>
          <p:cNvPr id="26" name="TextBox 25">
            <a:extLst>
              <a:ext uri="{FF2B5EF4-FFF2-40B4-BE49-F238E27FC236}">
                <a16:creationId xmlns:a16="http://schemas.microsoft.com/office/drawing/2014/main" id="{16E5A2FA-C034-ADA3-7B38-C343F013E57E}"/>
              </a:ext>
            </a:extLst>
          </p:cNvPr>
          <p:cNvSpPr txBox="1"/>
          <p:nvPr/>
        </p:nvSpPr>
        <p:spPr>
          <a:xfrm>
            <a:off x="343955" y="3897931"/>
            <a:ext cx="417102" cy="253916"/>
          </a:xfrm>
          <a:prstGeom prst="rect">
            <a:avLst/>
          </a:prstGeom>
          <a:noFill/>
        </p:spPr>
        <p:txBody>
          <a:bodyPr wrap="none" lIns="91440" tIns="45720" rIns="91440" bIns="45720" rtlCol="0" anchor="t">
            <a:spAutoFit/>
          </a:bodyPr>
          <a:lstStyle/>
          <a:p>
            <a:r>
              <a:rPr lang="en-IN" sz="1050" b="1">
                <a:solidFill>
                  <a:schemeClr val="bg1"/>
                </a:solidFill>
                <a:latin typeface="Montserrat Light"/>
              </a:rPr>
              <a:t>Jan</a:t>
            </a:r>
            <a:endParaRPr lang="en-IN" sz="1050" b="1">
              <a:solidFill>
                <a:schemeClr val="bg1"/>
              </a:solidFill>
              <a:latin typeface="Montserrat Light" pitchFamily="2" charset="0"/>
            </a:endParaRPr>
          </a:p>
        </p:txBody>
      </p:sp>
      <p:sp>
        <p:nvSpPr>
          <p:cNvPr id="27" name="TextBox 15">
            <a:extLst>
              <a:ext uri="{FF2B5EF4-FFF2-40B4-BE49-F238E27FC236}">
                <a16:creationId xmlns:a16="http://schemas.microsoft.com/office/drawing/2014/main" id="{7D510C4E-51C6-29A5-3F57-79F6F2B97915}"/>
              </a:ext>
            </a:extLst>
          </p:cNvPr>
          <p:cNvSpPr txBox="1"/>
          <p:nvPr/>
        </p:nvSpPr>
        <p:spPr>
          <a:xfrm>
            <a:off x="398384" y="817274"/>
            <a:ext cx="417102" cy="253916"/>
          </a:xfrm>
          <a:prstGeom prst="rect">
            <a:avLst/>
          </a:prstGeom>
          <a:noFill/>
        </p:spPr>
        <p:txBody>
          <a:bodyPr wrap="non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050" b="1">
                <a:solidFill>
                  <a:schemeClr val="bg1"/>
                </a:solidFill>
                <a:latin typeface="Montserrat Light"/>
              </a:rPr>
              <a:t>Jan</a:t>
            </a:r>
            <a:endParaRPr lang="en-IN" sz="1050" b="1">
              <a:solidFill>
                <a:schemeClr val="bg1"/>
              </a:solidFill>
              <a:latin typeface="Montserrat Light" pitchFamily="2" charset="0"/>
            </a:endParaRPr>
          </a:p>
        </p:txBody>
      </p:sp>
      <p:sp>
        <p:nvSpPr>
          <p:cNvPr id="29" name="Rectangle 28">
            <a:extLst>
              <a:ext uri="{FF2B5EF4-FFF2-40B4-BE49-F238E27FC236}">
                <a16:creationId xmlns:a16="http://schemas.microsoft.com/office/drawing/2014/main" id="{2C9560C5-26BE-80B7-B883-64A89DBD031B}"/>
              </a:ext>
            </a:extLst>
          </p:cNvPr>
          <p:cNvSpPr/>
          <p:nvPr/>
        </p:nvSpPr>
        <p:spPr>
          <a:xfrm>
            <a:off x="-4474" y="793560"/>
            <a:ext cx="1067526" cy="42234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IN" sz="1400" b="1">
                <a:latin typeface="AirIndia"/>
              </a:rPr>
              <a:t>July ’26</a:t>
            </a:r>
            <a:endParaRPr lang="en-US"/>
          </a:p>
        </p:txBody>
      </p:sp>
      <p:pic>
        <p:nvPicPr>
          <p:cNvPr id="34" name="Picture 33">
            <a:extLst>
              <a:ext uri="{FF2B5EF4-FFF2-40B4-BE49-F238E27FC236}">
                <a16:creationId xmlns:a16="http://schemas.microsoft.com/office/drawing/2014/main" id="{4EF8CD25-964C-6A32-4124-8204B7579218}"/>
              </a:ext>
            </a:extLst>
          </p:cNvPr>
          <p:cNvPicPr>
            <a:picLocks noChangeAspect="1"/>
          </p:cNvPicPr>
          <p:nvPr/>
        </p:nvPicPr>
        <p:blipFill>
          <a:blip r:embed="rId7"/>
          <a:stretch>
            <a:fillRect/>
          </a:stretch>
        </p:blipFill>
        <p:spPr>
          <a:xfrm>
            <a:off x="306161" y="6532789"/>
            <a:ext cx="8248650" cy="323850"/>
          </a:xfrm>
          <a:prstGeom prst="rect">
            <a:avLst/>
          </a:prstGeom>
        </p:spPr>
      </p:pic>
    </p:spTree>
    <p:extLst>
      <p:ext uri="{BB962C8B-B14F-4D97-AF65-F5344CB8AC3E}">
        <p14:creationId xmlns:p14="http://schemas.microsoft.com/office/powerpoint/2010/main" val="187029011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BB6733-B461-6B8B-6898-64F9F8A4939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2F82192-D5D2-4C3D-C2C2-858DBB878619}"/>
              </a:ext>
            </a:extLst>
          </p:cNvPr>
          <p:cNvSpPr>
            <a:spLocks noGrp="1"/>
          </p:cNvSpPr>
          <p:nvPr>
            <p:ph type="sldNum" sz="quarter" idx="12"/>
          </p:nvPr>
        </p:nvSpPr>
        <p:spPr/>
        <p:txBody>
          <a:bodyPr/>
          <a:lstStyle/>
          <a:p>
            <a:fld id="{3A41A254-7326-714E-AF55-4C213D6394DE}" type="slidenum">
              <a:rPr lang="en-US" sz="900" smtClean="0">
                <a:latin typeface="Montserrat Light" pitchFamily="2" charset="0"/>
              </a:rPr>
              <a:pPr/>
              <a:t>78</a:t>
            </a:fld>
            <a:endParaRPr lang="en-US" sz="900">
              <a:latin typeface="Montserrat Light" pitchFamily="2" charset="0"/>
            </a:endParaRPr>
          </a:p>
        </p:txBody>
      </p:sp>
      <p:sp>
        <p:nvSpPr>
          <p:cNvPr id="6" name="Title 11">
            <a:extLst>
              <a:ext uri="{FF2B5EF4-FFF2-40B4-BE49-F238E27FC236}">
                <a16:creationId xmlns:a16="http://schemas.microsoft.com/office/drawing/2014/main" id="{E7CBE413-D238-1B78-A1FA-87431E304901}"/>
              </a:ext>
            </a:extLst>
          </p:cNvPr>
          <p:cNvSpPr txBox="1">
            <a:spLocks/>
          </p:cNvSpPr>
          <p:nvPr/>
        </p:nvSpPr>
        <p:spPr>
          <a:xfrm>
            <a:off x="304800" y="269218"/>
            <a:ext cx="8420100" cy="396638"/>
          </a:xfrm>
          <a:prstGeom prst="rect">
            <a:avLst/>
          </a:prstGeom>
        </p:spPr>
        <p:txBody>
          <a:bodyPr lIns="91440" tIns="45720" rIns="91440" bIns="45720" anchor="t">
            <a:noAutofit/>
          </a:bodyPr>
          <a:lstStyle>
            <a:lvl1pPr algn="l" defTabSz="914400" rtl="0" eaLnBrk="1" latinLnBrk="0" hangingPunct="1">
              <a:lnSpc>
                <a:spcPct val="90000"/>
              </a:lnSpc>
              <a:spcBef>
                <a:spcPct val="0"/>
              </a:spcBef>
              <a:buNone/>
              <a:defRPr sz="4400" b="1" i="0" kern="1200">
                <a:solidFill>
                  <a:schemeClr val="tx1"/>
                </a:solidFill>
                <a:latin typeface="AirIndia" pitchFamily="82" charset="77"/>
                <a:ea typeface="+mj-ea"/>
                <a:cs typeface="+mj-cs"/>
              </a:defRPr>
            </a:lvl1pPr>
          </a:lstStyle>
          <a:p>
            <a:r>
              <a:rPr lang="en-US" sz="1800">
                <a:solidFill>
                  <a:srgbClr val="C00000"/>
                </a:solidFill>
                <a:latin typeface="AirIndia"/>
              </a:rPr>
              <a:t>AI Smart - FY27 Q2 Release Plan </a:t>
            </a:r>
            <a:endParaRPr lang="en-US" sz="1800" b="0">
              <a:solidFill>
                <a:srgbClr val="000000"/>
              </a:solidFill>
              <a:latin typeface="AirIndia"/>
            </a:endParaRPr>
          </a:p>
          <a:p>
            <a:endParaRPr lang="en-US" sz="1800">
              <a:solidFill>
                <a:srgbClr val="C00000"/>
              </a:solidFill>
              <a:latin typeface="AirIndia"/>
            </a:endParaRPr>
          </a:p>
        </p:txBody>
      </p:sp>
      <p:graphicFrame>
        <p:nvGraphicFramePr>
          <p:cNvPr id="4" name="Table 3">
            <a:extLst>
              <a:ext uri="{FF2B5EF4-FFF2-40B4-BE49-F238E27FC236}">
                <a16:creationId xmlns:a16="http://schemas.microsoft.com/office/drawing/2014/main" id="{19E85CCF-9DC7-9DAC-4A85-754B792B33D9}"/>
              </a:ext>
            </a:extLst>
          </p:cNvPr>
          <p:cNvGraphicFramePr>
            <a:graphicFrameLocks noGrp="1"/>
          </p:cNvGraphicFramePr>
          <p:nvPr>
            <p:extLst>
              <p:ext uri="{D42A27DB-BD31-4B8C-83A1-F6EECF244321}">
                <p14:modId xmlns:p14="http://schemas.microsoft.com/office/powerpoint/2010/main" val="865352980"/>
              </p:ext>
            </p:extLst>
          </p:nvPr>
        </p:nvGraphicFramePr>
        <p:xfrm>
          <a:off x="1063052" y="792699"/>
          <a:ext cx="10730562" cy="3232628"/>
        </p:xfrm>
        <a:graphic>
          <a:graphicData uri="http://schemas.openxmlformats.org/drawingml/2006/table">
            <a:tbl>
              <a:tblPr firstRow="1" bandRow="1">
                <a:tableStyleId>{5C22544A-7EE6-4342-B048-85BDC9FD1C3A}</a:tableStyleId>
              </a:tblPr>
              <a:tblGrid>
                <a:gridCol w="1045460">
                  <a:extLst>
                    <a:ext uri="{9D8B030D-6E8A-4147-A177-3AD203B41FA5}">
                      <a16:colId xmlns:a16="http://schemas.microsoft.com/office/drawing/2014/main" val="1118630623"/>
                    </a:ext>
                  </a:extLst>
                </a:gridCol>
                <a:gridCol w="6729328">
                  <a:extLst>
                    <a:ext uri="{9D8B030D-6E8A-4147-A177-3AD203B41FA5}">
                      <a16:colId xmlns:a16="http://schemas.microsoft.com/office/drawing/2014/main" val="99588705"/>
                    </a:ext>
                  </a:extLst>
                </a:gridCol>
                <a:gridCol w="985258">
                  <a:extLst>
                    <a:ext uri="{9D8B030D-6E8A-4147-A177-3AD203B41FA5}">
                      <a16:colId xmlns:a16="http://schemas.microsoft.com/office/drawing/2014/main" val="4278227373"/>
                    </a:ext>
                  </a:extLst>
                </a:gridCol>
                <a:gridCol w="778227">
                  <a:extLst>
                    <a:ext uri="{9D8B030D-6E8A-4147-A177-3AD203B41FA5}">
                      <a16:colId xmlns:a16="http://schemas.microsoft.com/office/drawing/2014/main" val="1344606147"/>
                    </a:ext>
                  </a:extLst>
                </a:gridCol>
                <a:gridCol w="1192289">
                  <a:extLst>
                    <a:ext uri="{9D8B030D-6E8A-4147-A177-3AD203B41FA5}">
                      <a16:colId xmlns:a16="http://schemas.microsoft.com/office/drawing/2014/main" val="2955449727"/>
                    </a:ext>
                  </a:extLst>
                </a:gridCol>
              </a:tblGrid>
              <a:tr h="286112">
                <a:tc>
                  <a:txBody>
                    <a:bodyPr/>
                    <a:lstStyle/>
                    <a:p>
                      <a:pPr marL="0" lvl="0" indent="0" algn="ctr" defTabSz="914400">
                        <a:lnSpc>
                          <a:spcPct val="100000"/>
                        </a:lnSpc>
                        <a:buNone/>
                      </a:pPr>
                      <a:r>
                        <a:rPr lang="en-IN" sz="1100" b="1" i="0" u="none" strike="noStrike" kern="1200" noProof="0">
                          <a:solidFill>
                            <a:schemeClr val="bg1"/>
                          </a:solidFill>
                          <a:latin typeface="Avenir Next LT Pro Light"/>
                          <a:ea typeface="+mn-ea"/>
                          <a:cs typeface="+mn-cs"/>
                        </a:rPr>
                        <a:t>Projects</a:t>
                      </a:r>
                      <a:endParaRPr lang="en-US"/>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solidFill>
                      <a:srgbClr val="002060"/>
                    </a:solidFill>
                  </a:tcPr>
                </a:tc>
                <a:tc>
                  <a:txBody>
                    <a:bodyPr/>
                    <a:lstStyle/>
                    <a:p>
                      <a:pPr lvl="0" algn="ctr">
                        <a:lnSpc>
                          <a:spcPct val="100000"/>
                        </a:lnSpc>
                        <a:spcBef>
                          <a:spcPts val="0"/>
                        </a:spcBef>
                        <a:spcAft>
                          <a:spcPts val="0"/>
                        </a:spcAft>
                        <a:buNone/>
                      </a:pPr>
                      <a:r>
                        <a:rPr lang="en-IN" sz="1100" b="1" i="0" u="none" strike="noStrike" kern="1200" noProof="0">
                          <a:solidFill>
                            <a:srgbClr val="FFFFFF"/>
                          </a:solidFill>
                          <a:latin typeface="Nunito Sans"/>
                          <a:ea typeface="+mn-ea"/>
                          <a:cs typeface="+mn-cs"/>
                        </a:rPr>
                        <a:t>Value Justification/Realization</a:t>
                      </a:r>
                    </a:p>
                    <a:p>
                      <a:pPr marL="0" lvl="0" indent="0" algn="l" defTabSz="914400">
                        <a:buFont typeface="Arial" panose="020B0604020202020204" pitchFamily="34" charset="0"/>
                        <a:buNone/>
                      </a:pPr>
                      <a:endParaRPr lang="en-IN" sz="1050" kern="1200">
                        <a:solidFill>
                          <a:schemeClr val="bg1"/>
                        </a:solidFill>
                        <a:latin typeface="Avenir Next LT Pro Ligh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002060"/>
                    </a:solidFill>
                  </a:tcPr>
                </a:tc>
                <a:tc>
                  <a:txBody>
                    <a:bodyPr/>
                    <a:lstStyle/>
                    <a:p>
                      <a:pPr marL="0" lvl="0" indent="0" algn="ctr">
                        <a:buNone/>
                      </a:pPr>
                      <a:r>
                        <a:rPr lang="en-IN" sz="1050" kern="1200">
                          <a:solidFill>
                            <a:schemeClr val="bg1"/>
                          </a:solidFill>
                          <a:latin typeface="Avenir Next LT Pro Light"/>
                          <a:ea typeface="+mn-ea"/>
                          <a:cs typeface="+mn-cs"/>
                        </a:rPr>
                        <a:t>Planned Go Live Date</a:t>
                      </a: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a:solidFill>
                        <a:schemeClr val="bg1">
                          <a:lumMod val="75000"/>
                        </a:schemeClr>
                      </a:solidFill>
                    </a:lnB>
                    <a:solidFill>
                      <a:srgbClr val="002060"/>
                    </a:solidFill>
                  </a:tcPr>
                </a:tc>
                <a:tc>
                  <a:txBody>
                    <a:bodyPr/>
                    <a:lstStyle/>
                    <a:p>
                      <a:pPr lvl="0" algn="ctr">
                        <a:lnSpc>
                          <a:spcPct val="100000"/>
                        </a:lnSpc>
                        <a:spcBef>
                          <a:spcPts val="0"/>
                        </a:spcBef>
                        <a:spcAft>
                          <a:spcPts val="0"/>
                        </a:spcAft>
                        <a:buNone/>
                      </a:pPr>
                      <a:r>
                        <a:rPr lang="en-IN" sz="1100" b="1" i="0" u="none" strike="noStrike" kern="1200" noProof="0">
                          <a:solidFill>
                            <a:schemeClr val="bg1"/>
                          </a:solidFill>
                          <a:latin typeface="Avenir Next LT Pro Light"/>
                          <a:ea typeface="+mn-ea"/>
                          <a:cs typeface="+mn-cs"/>
                        </a:rPr>
                        <a:t>JIRA</a:t>
                      </a:r>
                      <a:endParaRPr lang="en-IN" sz="1100" b="1" i="0" u="none" strike="noStrike" kern="1200" noProof="0">
                        <a:solidFill>
                          <a:srgbClr val="FFFFFF"/>
                        </a:solidFill>
                        <a:latin typeface="Avenir Next LT Pro Light"/>
                        <a:ea typeface="+mn-ea"/>
                        <a:cs typeface="+mn-cs"/>
                      </a:endParaRP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a:solidFill>
                        <a:schemeClr val="bg1">
                          <a:lumMod val="75000"/>
                        </a:schemeClr>
                      </a:solidFill>
                    </a:lnB>
                    <a:solidFill>
                      <a:srgbClr val="00206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100" b="1" i="0" kern="1200">
                          <a:solidFill>
                            <a:schemeClr val="bg1"/>
                          </a:solidFill>
                          <a:latin typeface="+mn-lt"/>
                          <a:ea typeface="+mn-ea"/>
                          <a:cs typeface="+mn-cs"/>
                        </a:rPr>
                        <a:t>EIP Integration Required (Yes/No)</a:t>
                      </a: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solidFill>
                      <a:srgbClr val="002060"/>
                    </a:solidFill>
                  </a:tcPr>
                </a:tc>
                <a:extLst>
                  <a:ext uri="{0D108BD9-81ED-4DB2-BD59-A6C34878D82A}">
                    <a16:rowId xmlns:a16="http://schemas.microsoft.com/office/drawing/2014/main" val="844450115"/>
                  </a:ext>
                </a:extLst>
              </a:tr>
              <a:tr h="839449">
                <a:tc>
                  <a:txBody>
                    <a:bodyPr/>
                    <a:lstStyle/>
                    <a:p>
                      <a:pPr lvl="0" algn="l">
                        <a:lnSpc>
                          <a:spcPct val="100000"/>
                        </a:lnSpc>
                        <a:spcBef>
                          <a:spcPts val="0"/>
                        </a:spcBef>
                        <a:spcAft>
                          <a:spcPts val="0"/>
                        </a:spcAft>
                        <a:buNone/>
                      </a:pPr>
                      <a:r>
                        <a:rPr lang="en-IN" sz="1100" b="0" i="0" u="none" strike="noStrike" kern="1200" noProof="0">
                          <a:solidFill>
                            <a:srgbClr val="000000"/>
                          </a:solidFill>
                          <a:highlight>
                            <a:srgbClr val="FFFFFF"/>
                          </a:highlight>
                          <a:latin typeface="Nunito Sans"/>
                          <a:ea typeface="+mn-ea"/>
                          <a:cs typeface="+mn-cs"/>
                        </a:rPr>
                        <a:t>Cargo load Prediction</a:t>
                      </a:r>
                      <a:endParaRPr lang="en-US" sz="1100">
                        <a:latin typeface="Nunito Sans"/>
                      </a:endParaRPr>
                    </a:p>
                  </a:txBody>
                  <a:tcPr anchor="ctr">
                    <a:lnL w="6350">
                      <a:solidFill>
                        <a:schemeClr val="bg1">
                          <a:lumMod val="75000"/>
                        </a:schemeClr>
                      </a:solidFill>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171450" marR="0" lvl="0" indent="-171450" algn="l" rtl="0">
                        <a:lnSpc>
                          <a:spcPct val="100000"/>
                        </a:lnSpc>
                        <a:spcBef>
                          <a:spcPts val="0"/>
                        </a:spcBef>
                        <a:spcAft>
                          <a:spcPts val="0"/>
                        </a:spcAft>
                        <a:buClr>
                          <a:srgbClr val="000000"/>
                        </a:buClr>
                        <a:buSzTx/>
                        <a:buFont typeface="Arial"/>
                        <a:buChar char="•"/>
                      </a:pPr>
                      <a:r>
                        <a:rPr lang="en-GB" sz="1100" b="0" i="0" u="none" strike="noStrike" noProof="0">
                          <a:solidFill>
                            <a:srgbClr val="000000"/>
                          </a:solidFill>
                          <a:highlight>
                            <a:srgbClr val="FFFFFF"/>
                          </a:highlight>
                          <a:latin typeface="Nunito Sans"/>
                        </a:rPr>
                        <a:t>Automation of cargo load updates in AI Smart for domestic narrow-body flights by applying predictive analytics based on historical flown data. </a:t>
                      </a:r>
                    </a:p>
                    <a:p>
                      <a:pPr marL="0" marR="0" lvl="0" indent="0" algn="l">
                        <a:lnSpc>
                          <a:spcPct val="100000"/>
                        </a:lnSpc>
                        <a:spcBef>
                          <a:spcPts val="0"/>
                        </a:spcBef>
                        <a:spcAft>
                          <a:spcPts val="0"/>
                        </a:spcAft>
                        <a:buSzTx/>
                        <a:buNone/>
                      </a:pPr>
                      <a:endParaRPr lang="en-GB" sz="1100" b="0" i="0" u="none" strike="noStrike" noProof="0">
                        <a:solidFill>
                          <a:srgbClr val="000000"/>
                        </a:solidFill>
                        <a:highlight>
                          <a:srgbClr val="FFFFFF"/>
                        </a:highlight>
                        <a:latin typeface="Nunito Sans"/>
                      </a:endParaRP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a:solidFill>
                        <a:schemeClr val="bg1">
                          <a:lumMod val="75000"/>
                        </a:schemeClr>
                      </a:solidFill>
                    </a:lnB>
                    <a:solidFill>
                      <a:schemeClr val="bg1"/>
                    </a:solidFill>
                  </a:tcPr>
                </a:tc>
                <a:tc>
                  <a:txBody>
                    <a:bodyPr/>
                    <a:lstStyle/>
                    <a:p>
                      <a:pPr marL="0" lvl="0" indent="0" algn="l">
                        <a:lnSpc>
                          <a:spcPct val="100000"/>
                        </a:lnSpc>
                        <a:spcBef>
                          <a:spcPts val="0"/>
                        </a:spcBef>
                        <a:spcAft>
                          <a:spcPts val="0"/>
                        </a:spcAft>
                        <a:buNone/>
                      </a:pPr>
                      <a:r>
                        <a:rPr lang="en-US" sz="1100" b="0" i="0" u="none" strike="noStrike" kern="1200" noProof="0">
                          <a:solidFill>
                            <a:schemeClr val="tx1"/>
                          </a:solidFill>
                          <a:effectLst/>
                          <a:latin typeface="Nunito Sans"/>
                          <a:ea typeface="+mn-ea"/>
                          <a:cs typeface="+mn-cs"/>
                        </a:rPr>
                        <a:t>28-Aug</a:t>
                      </a: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a:solidFill>
                        <a:schemeClr val="bg1">
                          <a:lumMod val="75000"/>
                        </a:schemeClr>
                      </a:solidFill>
                    </a:lnB>
                    <a:solidFill>
                      <a:schemeClr val="bg1"/>
                    </a:solidFill>
                  </a:tcPr>
                </a:tc>
                <a:tc>
                  <a:txBody>
                    <a:bodyPr/>
                    <a:lstStyle/>
                    <a:p>
                      <a:pPr marL="0" lvl="0" indent="0" algn="l">
                        <a:lnSpc>
                          <a:spcPct val="100000"/>
                        </a:lnSpc>
                        <a:spcBef>
                          <a:spcPts val="0"/>
                        </a:spcBef>
                        <a:spcAft>
                          <a:spcPts val="0"/>
                        </a:spcAft>
                        <a:buNone/>
                      </a:pPr>
                      <a:r>
                        <a:rPr lang="en-US" sz="1100" b="0" i="0" u="none" strike="noStrike" kern="1200" noProof="0">
                          <a:solidFill>
                            <a:schemeClr val="tx1"/>
                          </a:solidFill>
                          <a:effectLst/>
                          <a:latin typeface="Nunito Sans"/>
                          <a:ea typeface="+mn-ea"/>
                          <a:cs typeface="+mn-cs"/>
                          <a:hlinkClick r:id="rId3"/>
                        </a:rPr>
                        <a:t>JIRA</a:t>
                      </a:r>
                      <a:endParaRPr lang="en-US" sz="1100" b="0" i="0" u="none" strike="noStrike" kern="1200" noProof="0">
                        <a:solidFill>
                          <a:schemeClr val="tx1"/>
                        </a:solidFill>
                        <a:effectLst/>
                        <a:latin typeface="Nunito Sans"/>
                        <a:ea typeface="+mn-ea"/>
                        <a:cs typeface="+mn-cs"/>
                      </a:endParaRP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a:solidFill>
                        <a:schemeClr val="bg1">
                          <a:lumMod val="75000"/>
                        </a:schemeClr>
                      </a:solidFill>
                    </a:lnB>
                    <a:solidFill>
                      <a:schemeClr val="bg1"/>
                    </a:solidFill>
                  </a:tcPr>
                </a:tc>
                <a:tc>
                  <a:txBody>
                    <a:bodyPr/>
                    <a:lstStyle/>
                    <a:p>
                      <a:pPr marL="0" lvl="0" indent="0" algn="l">
                        <a:lnSpc>
                          <a:spcPct val="100000"/>
                        </a:lnSpc>
                        <a:spcBef>
                          <a:spcPts val="0"/>
                        </a:spcBef>
                        <a:spcAft>
                          <a:spcPts val="0"/>
                        </a:spcAft>
                        <a:buNone/>
                      </a:pPr>
                      <a:endParaRPr lang="en-US" sz="1100" b="0" i="0" u="none" strike="noStrike" kern="1200" noProof="0">
                        <a:solidFill>
                          <a:schemeClr val="tx1"/>
                        </a:solidFill>
                        <a:effectLst/>
                        <a:latin typeface="Nunito Sans"/>
                        <a:ea typeface="+mn-ea"/>
                        <a:cs typeface="+mn-cs"/>
                      </a:endParaRPr>
                    </a:p>
                  </a:txBody>
                  <a:tcPr anchor="ctr">
                    <a:lnL w="6350">
                      <a:solidFill>
                        <a:schemeClr val="bg1">
                          <a:lumMod val="75000"/>
                        </a:schemeClr>
                      </a:solidFill>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951168155"/>
                  </a:ext>
                </a:extLst>
              </a:tr>
              <a:tr h="939383">
                <a:tc>
                  <a:txBody>
                    <a:bodyPr/>
                    <a:lstStyle/>
                    <a:p>
                      <a:pPr lvl="0" algn="l">
                        <a:lnSpc>
                          <a:spcPct val="100000"/>
                        </a:lnSpc>
                        <a:spcBef>
                          <a:spcPts val="0"/>
                        </a:spcBef>
                        <a:spcAft>
                          <a:spcPts val="0"/>
                        </a:spcAft>
                        <a:buNone/>
                      </a:pPr>
                      <a:r>
                        <a:rPr lang="en-US" sz="1100" b="0" i="0" u="none" strike="noStrike" kern="1200" noProof="0">
                          <a:solidFill>
                            <a:srgbClr val="000000"/>
                          </a:solidFill>
                          <a:highlight>
                            <a:srgbClr val="FFFFFF"/>
                          </a:highlight>
                          <a:latin typeface="Nunito Sans"/>
                          <a:ea typeface="+mn-ea"/>
                          <a:cs typeface="+mn-cs"/>
                        </a:rPr>
                        <a:t>PTS task automation- PRS device</a:t>
                      </a:r>
                      <a:endParaRPr lang="en-US" sz="1100">
                        <a:latin typeface="Nunito Sans"/>
                      </a:endParaRPr>
                    </a:p>
                  </a:txBody>
                  <a:tcPr anchor="ctr">
                    <a:lnL w="6350">
                      <a:solidFill>
                        <a:schemeClr val="bg1">
                          <a:lumMod val="75000"/>
                        </a:schemeClr>
                      </a:solidFill>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171450" lvl="0" indent="-171450" algn="l">
                        <a:lnSpc>
                          <a:spcPct val="100000"/>
                        </a:lnSpc>
                        <a:spcBef>
                          <a:spcPts val="0"/>
                        </a:spcBef>
                        <a:spcAft>
                          <a:spcPts val="0"/>
                        </a:spcAft>
                        <a:buFont typeface="Arial"/>
                        <a:buChar char="•"/>
                      </a:pPr>
                      <a:r>
                        <a:rPr lang="en-IN" sz="1100" b="0" i="0" u="none" strike="noStrike" kern="1200" noProof="0">
                          <a:solidFill>
                            <a:srgbClr val="000000"/>
                          </a:solidFill>
                          <a:effectLst/>
                          <a:highlight>
                            <a:srgbClr val="FFFFFF"/>
                          </a:highlight>
                          <a:latin typeface="Nunito Sans"/>
                        </a:rPr>
                        <a:t>Automation of PTS worklist by integrating data from PRS devices. 12 manual tasks to be automated. (Security Check Start; Security Check End; Crew reported at aircraft; Catering Start; Catering End; Pilots Onboard, etc.)</a:t>
                      </a:r>
                      <a:endParaRPr lang="en-US" sz="1100">
                        <a:latin typeface="Nunito San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lvl="0" indent="0" algn="l">
                        <a:lnSpc>
                          <a:spcPct val="100000"/>
                        </a:lnSpc>
                        <a:buNone/>
                      </a:pPr>
                      <a:r>
                        <a:rPr lang="en-US" sz="1100" b="0" i="0" u="none" strike="noStrike" kern="1200" noProof="0">
                          <a:solidFill>
                            <a:schemeClr val="tx1"/>
                          </a:solidFill>
                          <a:effectLst/>
                          <a:latin typeface="Nunito Sans"/>
                          <a:ea typeface="+mn-ea"/>
                          <a:cs typeface="+mn-cs"/>
                        </a:rPr>
                        <a:t>28-Aug</a:t>
                      </a:r>
                      <a:endParaRPr lang="en-US"/>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lvl="0" indent="0" algn="l">
                        <a:lnSpc>
                          <a:spcPct val="100000"/>
                        </a:lnSpc>
                        <a:buNone/>
                      </a:pPr>
                      <a:r>
                        <a:rPr lang="en-US" sz="1100" b="0" i="0" u="none" strike="noStrike" kern="1200" noProof="0">
                          <a:solidFill>
                            <a:schemeClr val="tx1"/>
                          </a:solidFill>
                          <a:effectLst/>
                          <a:latin typeface="Nunito Sans"/>
                          <a:ea typeface="+mn-ea"/>
                          <a:cs typeface="+mn-cs"/>
                          <a:hlinkClick r:id="rId4"/>
                        </a:rPr>
                        <a:t>JIRA</a:t>
                      </a:r>
                      <a:endParaRPr lang="en-US" sz="1100" b="0" i="0" u="none" strike="noStrike" kern="1200" noProof="0">
                        <a:solidFill>
                          <a:schemeClr val="tx1"/>
                        </a:solidFill>
                        <a:effectLst/>
                        <a:latin typeface="Nunito Sans"/>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lvl="0" indent="0" algn="l">
                        <a:lnSpc>
                          <a:spcPct val="100000"/>
                        </a:lnSpc>
                        <a:buNone/>
                      </a:pPr>
                      <a:endParaRPr lang="en-US" sz="1100" b="0" i="0" u="none" strike="noStrike" kern="1200" noProof="0">
                        <a:solidFill>
                          <a:schemeClr val="tx1"/>
                        </a:solidFill>
                        <a:effectLst/>
                        <a:latin typeface="Nunito Sans"/>
                        <a:ea typeface="+mn-ea"/>
                        <a:cs typeface="+mn-cs"/>
                      </a:endParaRPr>
                    </a:p>
                  </a:txBody>
                  <a:tcPr anchor="ctr">
                    <a:lnL w="6350" cap="flat" cmpd="sng" algn="ctr">
                      <a:solidFill>
                        <a:schemeClr val="bg1">
                          <a:lumMod val="75000"/>
                        </a:schemeClr>
                      </a:solidFill>
                      <a:prstDash val="solid"/>
                      <a:round/>
                      <a:headEnd type="none" w="med" len="med"/>
                      <a:tailEnd type="none" w="med" len="med"/>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542160441"/>
                  </a:ext>
                </a:extLst>
              </a:tr>
              <a:tr h="859436">
                <a:tc>
                  <a:txBody>
                    <a:bodyPr/>
                    <a:lstStyle/>
                    <a:p>
                      <a:pPr lvl="0" algn="l">
                        <a:lnSpc>
                          <a:spcPct val="100000"/>
                        </a:lnSpc>
                        <a:spcBef>
                          <a:spcPts val="0"/>
                        </a:spcBef>
                        <a:spcAft>
                          <a:spcPts val="0"/>
                        </a:spcAft>
                        <a:buNone/>
                      </a:pPr>
                      <a:r>
                        <a:rPr lang="en-US" sz="1100" b="0" i="0" u="none" strike="noStrike" kern="1200" noProof="0">
                          <a:solidFill>
                            <a:srgbClr val="000000"/>
                          </a:solidFill>
                          <a:highlight>
                            <a:srgbClr val="FFFFFF"/>
                          </a:highlight>
                          <a:latin typeface="Nunito Sans"/>
                          <a:ea typeface="+mn-ea"/>
                          <a:cs typeface="+mn-cs"/>
                        </a:rPr>
                        <a:t>AKS Migration</a:t>
                      </a: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solidFill>
                      <a:schemeClr val="bg1"/>
                    </a:solidFill>
                  </a:tcPr>
                </a:tc>
                <a:tc>
                  <a:txBody>
                    <a:bodyPr/>
                    <a:lstStyle/>
                    <a:p>
                      <a:pPr marL="171450" lvl="0" indent="-171450" algn="l">
                        <a:lnSpc>
                          <a:spcPct val="100000"/>
                        </a:lnSpc>
                        <a:spcBef>
                          <a:spcPts val="0"/>
                        </a:spcBef>
                        <a:spcAft>
                          <a:spcPts val="0"/>
                        </a:spcAft>
                        <a:buFont typeface="Arial"/>
                        <a:buChar char="•"/>
                      </a:pPr>
                      <a:r>
                        <a:rPr lang="en-IN" sz="1100" b="0" i="0" u="none" strike="noStrike" kern="1200" noProof="0">
                          <a:solidFill>
                            <a:srgbClr val="000000"/>
                          </a:solidFill>
                          <a:effectLst/>
                          <a:highlight>
                            <a:srgbClr val="FFFFFF"/>
                          </a:highlight>
                          <a:latin typeface="Nunito Sans"/>
                        </a:rPr>
                        <a:t>Migration of reports module to AKS as part of tech upgrade for reducing infra cost </a:t>
                      </a: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solidFill>
                      <a:schemeClr val="bg1"/>
                    </a:solidFill>
                  </a:tcPr>
                </a:tc>
                <a:tc>
                  <a:txBody>
                    <a:bodyPr/>
                    <a:lstStyle/>
                    <a:p>
                      <a:pPr marL="0" lvl="0" indent="0" algn="l">
                        <a:lnSpc>
                          <a:spcPct val="100000"/>
                        </a:lnSpc>
                        <a:buNone/>
                      </a:pPr>
                      <a:r>
                        <a:rPr lang="en-US" sz="1100" b="0" i="0" u="none" strike="noStrike" kern="1200" noProof="0">
                          <a:solidFill>
                            <a:schemeClr val="tx1"/>
                          </a:solidFill>
                          <a:effectLst/>
                          <a:latin typeface="Nunito Sans"/>
                          <a:ea typeface="+mn-ea"/>
                          <a:cs typeface="+mn-cs"/>
                        </a:rPr>
                        <a:t>28-Aug</a:t>
                      </a:r>
                      <a:endParaRPr lang="en-US"/>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solidFill>
                      <a:schemeClr val="bg1"/>
                    </a:solidFill>
                  </a:tcPr>
                </a:tc>
                <a:tc>
                  <a:txBody>
                    <a:bodyPr/>
                    <a:lstStyle/>
                    <a:p>
                      <a:pPr marL="0" lvl="0" indent="0" algn="l">
                        <a:lnSpc>
                          <a:spcPct val="100000"/>
                        </a:lnSpc>
                        <a:buNone/>
                      </a:pPr>
                      <a:r>
                        <a:rPr lang="en-US" sz="1100" b="0" i="0" u="none" strike="noStrike" kern="1200" noProof="0">
                          <a:solidFill>
                            <a:schemeClr val="tx1"/>
                          </a:solidFill>
                          <a:effectLst/>
                          <a:latin typeface="Nunito Sans"/>
                          <a:ea typeface="+mn-ea"/>
                          <a:cs typeface="+mn-cs"/>
                          <a:hlinkClick r:id="rId5"/>
                        </a:rPr>
                        <a:t>JIRA</a:t>
                      </a:r>
                      <a:endParaRPr lang="en-US"/>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a:solidFill>
                        <a:schemeClr val="bg1">
                          <a:lumMod val="75000"/>
                        </a:schemeClr>
                      </a:solidFill>
                    </a:lnB>
                    <a:solidFill>
                      <a:schemeClr val="bg1"/>
                    </a:solidFill>
                  </a:tcPr>
                </a:tc>
                <a:tc>
                  <a:txBody>
                    <a:bodyPr/>
                    <a:lstStyle/>
                    <a:p>
                      <a:pPr marL="0" lvl="0" indent="0" algn="l">
                        <a:lnSpc>
                          <a:spcPct val="100000"/>
                        </a:lnSpc>
                        <a:buNone/>
                      </a:pPr>
                      <a:endParaRPr lang="en-US"/>
                    </a:p>
                  </a:txBody>
                  <a:tcPr anchor="ctr">
                    <a:lnL w="6350">
                      <a:solidFill>
                        <a:schemeClr val="bg1">
                          <a:lumMod val="75000"/>
                        </a:schemeClr>
                      </a:solidFill>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a:solidFill>
                        <a:schemeClr val="bg1">
                          <a:lumMod val="75000"/>
                        </a:schemeClr>
                      </a:solidFill>
                    </a:lnB>
                    <a:solidFill>
                      <a:schemeClr val="bg1"/>
                    </a:solidFill>
                  </a:tcPr>
                </a:tc>
                <a:extLst>
                  <a:ext uri="{0D108BD9-81ED-4DB2-BD59-A6C34878D82A}">
                    <a16:rowId xmlns:a16="http://schemas.microsoft.com/office/drawing/2014/main" val="3240123544"/>
                  </a:ext>
                </a:extLst>
              </a:tr>
            </a:tbl>
          </a:graphicData>
        </a:graphic>
      </p:graphicFrame>
      <p:sp>
        <p:nvSpPr>
          <p:cNvPr id="26" name="TextBox 25">
            <a:extLst>
              <a:ext uri="{FF2B5EF4-FFF2-40B4-BE49-F238E27FC236}">
                <a16:creationId xmlns:a16="http://schemas.microsoft.com/office/drawing/2014/main" id="{F4F98125-7FDF-5214-AC52-DF9EA9E159BB}"/>
              </a:ext>
            </a:extLst>
          </p:cNvPr>
          <p:cNvSpPr txBox="1"/>
          <p:nvPr/>
        </p:nvSpPr>
        <p:spPr>
          <a:xfrm>
            <a:off x="343955" y="3897931"/>
            <a:ext cx="417102" cy="253916"/>
          </a:xfrm>
          <a:prstGeom prst="rect">
            <a:avLst/>
          </a:prstGeom>
          <a:noFill/>
        </p:spPr>
        <p:txBody>
          <a:bodyPr wrap="none" lIns="91440" tIns="45720" rIns="91440" bIns="45720" rtlCol="0" anchor="t">
            <a:spAutoFit/>
          </a:bodyPr>
          <a:lstStyle/>
          <a:p>
            <a:r>
              <a:rPr lang="en-IN" sz="1050" b="1">
                <a:solidFill>
                  <a:schemeClr val="bg1"/>
                </a:solidFill>
                <a:latin typeface="Montserrat Light"/>
              </a:rPr>
              <a:t>Jan</a:t>
            </a:r>
            <a:endParaRPr lang="en-IN" sz="1050" b="1">
              <a:solidFill>
                <a:schemeClr val="bg1"/>
              </a:solidFill>
              <a:latin typeface="Montserrat Light" pitchFamily="2" charset="0"/>
            </a:endParaRPr>
          </a:p>
        </p:txBody>
      </p:sp>
      <p:sp>
        <p:nvSpPr>
          <p:cNvPr id="27" name="TextBox 15">
            <a:extLst>
              <a:ext uri="{FF2B5EF4-FFF2-40B4-BE49-F238E27FC236}">
                <a16:creationId xmlns:a16="http://schemas.microsoft.com/office/drawing/2014/main" id="{FC7BD39F-B082-5962-CC12-E44F0D4632A5}"/>
              </a:ext>
            </a:extLst>
          </p:cNvPr>
          <p:cNvSpPr txBox="1"/>
          <p:nvPr/>
        </p:nvSpPr>
        <p:spPr>
          <a:xfrm>
            <a:off x="398384" y="817274"/>
            <a:ext cx="417102" cy="253916"/>
          </a:xfrm>
          <a:prstGeom prst="rect">
            <a:avLst/>
          </a:prstGeom>
          <a:noFill/>
        </p:spPr>
        <p:txBody>
          <a:bodyPr wrap="non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050" b="1">
                <a:solidFill>
                  <a:schemeClr val="bg1"/>
                </a:solidFill>
                <a:latin typeface="Montserrat Light"/>
              </a:rPr>
              <a:t>Jan</a:t>
            </a:r>
            <a:endParaRPr lang="en-IN" sz="1050" b="1">
              <a:solidFill>
                <a:schemeClr val="bg1"/>
              </a:solidFill>
              <a:latin typeface="Montserrat Light" pitchFamily="2" charset="0"/>
            </a:endParaRPr>
          </a:p>
        </p:txBody>
      </p:sp>
      <p:sp>
        <p:nvSpPr>
          <p:cNvPr id="29" name="Rectangle 28">
            <a:extLst>
              <a:ext uri="{FF2B5EF4-FFF2-40B4-BE49-F238E27FC236}">
                <a16:creationId xmlns:a16="http://schemas.microsoft.com/office/drawing/2014/main" id="{CAE385D7-7E49-6D5B-3DEF-C60C2BE5640D}"/>
              </a:ext>
            </a:extLst>
          </p:cNvPr>
          <p:cNvSpPr/>
          <p:nvPr/>
        </p:nvSpPr>
        <p:spPr>
          <a:xfrm>
            <a:off x="-4474" y="793560"/>
            <a:ext cx="1067526" cy="42234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IN" sz="1400" b="1">
                <a:latin typeface="AirIndia"/>
              </a:rPr>
              <a:t>Aug ‘26</a:t>
            </a:r>
            <a:endParaRPr lang="en-US"/>
          </a:p>
        </p:txBody>
      </p:sp>
      <p:pic>
        <p:nvPicPr>
          <p:cNvPr id="34" name="Picture 33">
            <a:extLst>
              <a:ext uri="{FF2B5EF4-FFF2-40B4-BE49-F238E27FC236}">
                <a16:creationId xmlns:a16="http://schemas.microsoft.com/office/drawing/2014/main" id="{35A98A4C-3261-E8CC-B91B-7473C977695D}"/>
              </a:ext>
            </a:extLst>
          </p:cNvPr>
          <p:cNvPicPr>
            <a:picLocks noChangeAspect="1"/>
          </p:cNvPicPr>
          <p:nvPr/>
        </p:nvPicPr>
        <p:blipFill>
          <a:blip r:embed="rId6"/>
          <a:stretch>
            <a:fillRect/>
          </a:stretch>
        </p:blipFill>
        <p:spPr>
          <a:xfrm>
            <a:off x="306161" y="6532789"/>
            <a:ext cx="8248650" cy="323850"/>
          </a:xfrm>
          <a:prstGeom prst="rect">
            <a:avLst/>
          </a:prstGeom>
        </p:spPr>
      </p:pic>
    </p:spTree>
    <p:extLst>
      <p:ext uri="{BB962C8B-B14F-4D97-AF65-F5344CB8AC3E}">
        <p14:creationId xmlns:p14="http://schemas.microsoft.com/office/powerpoint/2010/main" val="239215635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E2AC5E-A2CE-1F0D-CCB0-2688CD1D4B4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83410A7-DBFE-FD19-F434-1D038FD5D65B}"/>
              </a:ext>
            </a:extLst>
          </p:cNvPr>
          <p:cNvSpPr>
            <a:spLocks noGrp="1"/>
          </p:cNvSpPr>
          <p:nvPr>
            <p:ph type="sldNum" sz="quarter" idx="12"/>
          </p:nvPr>
        </p:nvSpPr>
        <p:spPr/>
        <p:txBody>
          <a:bodyPr/>
          <a:lstStyle/>
          <a:p>
            <a:fld id="{3A41A254-7326-714E-AF55-4C213D6394DE}" type="slidenum">
              <a:rPr lang="en-US" sz="900" smtClean="0">
                <a:latin typeface="Montserrat Light" pitchFamily="2" charset="0"/>
              </a:rPr>
              <a:pPr/>
              <a:t>79</a:t>
            </a:fld>
            <a:endParaRPr lang="en-US" sz="900">
              <a:latin typeface="Montserrat Light" pitchFamily="2" charset="0"/>
            </a:endParaRPr>
          </a:p>
        </p:txBody>
      </p:sp>
      <p:sp>
        <p:nvSpPr>
          <p:cNvPr id="6" name="Title 11">
            <a:extLst>
              <a:ext uri="{FF2B5EF4-FFF2-40B4-BE49-F238E27FC236}">
                <a16:creationId xmlns:a16="http://schemas.microsoft.com/office/drawing/2014/main" id="{DBC91077-AF5D-8443-1960-9596D4E29491}"/>
              </a:ext>
            </a:extLst>
          </p:cNvPr>
          <p:cNvSpPr txBox="1">
            <a:spLocks/>
          </p:cNvSpPr>
          <p:nvPr/>
        </p:nvSpPr>
        <p:spPr>
          <a:xfrm>
            <a:off x="304800" y="269218"/>
            <a:ext cx="8420100" cy="396638"/>
          </a:xfrm>
          <a:prstGeom prst="rect">
            <a:avLst/>
          </a:prstGeom>
        </p:spPr>
        <p:txBody>
          <a:bodyPr lIns="91440" tIns="45720" rIns="91440" bIns="45720" anchor="t">
            <a:noAutofit/>
          </a:bodyPr>
          <a:lstStyle>
            <a:lvl1pPr algn="l" defTabSz="914400" rtl="0" eaLnBrk="1" latinLnBrk="0" hangingPunct="1">
              <a:lnSpc>
                <a:spcPct val="90000"/>
              </a:lnSpc>
              <a:spcBef>
                <a:spcPct val="0"/>
              </a:spcBef>
              <a:buNone/>
              <a:defRPr sz="4400" b="1" i="0" kern="1200">
                <a:solidFill>
                  <a:schemeClr val="tx1"/>
                </a:solidFill>
                <a:latin typeface="AirIndia" pitchFamily="82" charset="77"/>
                <a:ea typeface="+mj-ea"/>
                <a:cs typeface="+mj-cs"/>
              </a:defRPr>
            </a:lvl1pPr>
          </a:lstStyle>
          <a:p>
            <a:r>
              <a:rPr lang="en-US" sz="1800">
                <a:solidFill>
                  <a:srgbClr val="C00000"/>
                </a:solidFill>
                <a:latin typeface="AirIndia"/>
              </a:rPr>
              <a:t>AI Smart - FY27 Q2 Release Plan </a:t>
            </a:r>
            <a:endParaRPr lang="en-US" sz="1800" b="0">
              <a:solidFill>
                <a:srgbClr val="000000"/>
              </a:solidFill>
              <a:latin typeface="AirIndia"/>
            </a:endParaRPr>
          </a:p>
          <a:p>
            <a:endParaRPr lang="en-US" sz="1800">
              <a:solidFill>
                <a:srgbClr val="C00000"/>
              </a:solidFill>
              <a:latin typeface="AirIndia"/>
            </a:endParaRPr>
          </a:p>
        </p:txBody>
      </p:sp>
      <p:graphicFrame>
        <p:nvGraphicFramePr>
          <p:cNvPr id="4" name="Table 3">
            <a:extLst>
              <a:ext uri="{FF2B5EF4-FFF2-40B4-BE49-F238E27FC236}">
                <a16:creationId xmlns:a16="http://schemas.microsoft.com/office/drawing/2014/main" id="{C51DC847-103C-9933-A331-91451BF68088}"/>
              </a:ext>
            </a:extLst>
          </p:cNvPr>
          <p:cNvGraphicFramePr>
            <a:graphicFrameLocks noGrp="1"/>
          </p:cNvGraphicFramePr>
          <p:nvPr>
            <p:extLst>
              <p:ext uri="{D42A27DB-BD31-4B8C-83A1-F6EECF244321}">
                <p14:modId xmlns:p14="http://schemas.microsoft.com/office/powerpoint/2010/main" val="2381889862"/>
              </p:ext>
            </p:extLst>
          </p:nvPr>
        </p:nvGraphicFramePr>
        <p:xfrm>
          <a:off x="1063052" y="792699"/>
          <a:ext cx="10730562" cy="3692326"/>
        </p:xfrm>
        <a:graphic>
          <a:graphicData uri="http://schemas.openxmlformats.org/drawingml/2006/table">
            <a:tbl>
              <a:tblPr firstRow="1" bandRow="1">
                <a:tableStyleId>{5C22544A-7EE6-4342-B048-85BDC9FD1C3A}</a:tableStyleId>
              </a:tblPr>
              <a:tblGrid>
                <a:gridCol w="1217164">
                  <a:extLst>
                    <a:ext uri="{9D8B030D-6E8A-4147-A177-3AD203B41FA5}">
                      <a16:colId xmlns:a16="http://schemas.microsoft.com/office/drawing/2014/main" val="1118630623"/>
                    </a:ext>
                  </a:extLst>
                </a:gridCol>
                <a:gridCol w="6162746">
                  <a:extLst>
                    <a:ext uri="{9D8B030D-6E8A-4147-A177-3AD203B41FA5}">
                      <a16:colId xmlns:a16="http://schemas.microsoft.com/office/drawing/2014/main" val="99588705"/>
                    </a:ext>
                  </a:extLst>
                </a:gridCol>
                <a:gridCol w="1120138">
                  <a:extLst>
                    <a:ext uri="{9D8B030D-6E8A-4147-A177-3AD203B41FA5}">
                      <a16:colId xmlns:a16="http://schemas.microsoft.com/office/drawing/2014/main" val="4278227373"/>
                    </a:ext>
                  </a:extLst>
                </a:gridCol>
                <a:gridCol w="1047750">
                  <a:extLst>
                    <a:ext uri="{9D8B030D-6E8A-4147-A177-3AD203B41FA5}">
                      <a16:colId xmlns:a16="http://schemas.microsoft.com/office/drawing/2014/main" val="1344606147"/>
                    </a:ext>
                  </a:extLst>
                </a:gridCol>
                <a:gridCol w="1182764">
                  <a:extLst>
                    <a:ext uri="{9D8B030D-6E8A-4147-A177-3AD203B41FA5}">
                      <a16:colId xmlns:a16="http://schemas.microsoft.com/office/drawing/2014/main" val="1341528986"/>
                    </a:ext>
                  </a:extLst>
                </a:gridCol>
              </a:tblGrid>
              <a:tr h="449704">
                <a:tc>
                  <a:txBody>
                    <a:bodyPr/>
                    <a:lstStyle/>
                    <a:p>
                      <a:pPr marL="0" lvl="0" indent="0" algn="ctr" defTabSz="914400">
                        <a:lnSpc>
                          <a:spcPct val="100000"/>
                        </a:lnSpc>
                        <a:buNone/>
                      </a:pPr>
                      <a:r>
                        <a:rPr lang="en-IN" sz="1100" b="1" i="0" u="none" strike="noStrike" kern="1200" noProof="0">
                          <a:solidFill>
                            <a:schemeClr val="bg1"/>
                          </a:solidFill>
                          <a:latin typeface="Avenir Next LT Pro Light"/>
                          <a:ea typeface="+mn-ea"/>
                          <a:cs typeface="+mn-cs"/>
                        </a:rPr>
                        <a:t>Projects</a:t>
                      </a:r>
                      <a:endParaRPr lang="en-US"/>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solidFill>
                      <a:srgbClr val="002060"/>
                    </a:solidFill>
                  </a:tcPr>
                </a:tc>
                <a:tc>
                  <a:txBody>
                    <a:bodyPr/>
                    <a:lstStyle/>
                    <a:p>
                      <a:pPr lvl="0" algn="ctr">
                        <a:lnSpc>
                          <a:spcPct val="100000"/>
                        </a:lnSpc>
                        <a:spcBef>
                          <a:spcPts val="0"/>
                        </a:spcBef>
                        <a:spcAft>
                          <a:spcPts val="0"/>
                        </a:spcAft>
                        <a:buNone/>
                      </a:pPr>
                      <a:r>
                        <a:rPr lang="en-IN" sz="1100" b="1" i="0" u="none" strike="noStrike" kern="1200" noProof="0">
                          <a:solidFill>
                            <a:srgbClr val="FFFFFF"/>
                          </a:solidFill>
                          <a:latin typeface="Nunito Sans"/>
                          <a:ea typeface="+mn-ea"/>
                          <a:cs typeface="+mn-cs"/>
                        </a:rPr>
                        <a:t>Value Justification/Realization</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002060"/>
                    </a:solidFill>
                  </a:tcPr>
                </a:tc>
                <a:tc>
                  <a:txBody>
                    <a:bodyPr/>
                    <a:lstStyle/>
                    <a:p>
                      <a:pPr marL="0" lvl="0" indent="0" algn="ctr">
                        <a:buNone/>
                      </a:pPr>
                      <a:r>
                        <a:rPr lang="en-IN" sz="1050" kern="1200">
                          <a:solidFill>
                            <a:schemeClr val="bg1"/>
                          </a:solidFill>
                          <a:latin typeface="Avenir Next LT Pro Light"/>
                          <a:ea typeface="+mn-ea"/>
                          <a:cs typeface="+mn-cs"/>
                        </a:rPr>
                        <a:t>Planned Go Live Date</a:t>
                      </a: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a:solidFill>
                        <a:schemeClr val="bg1">
                          <a:lumMod val="75000"/>
                        </a:schemeClr>
                      </a:solidFill>
                    </a:lnB>
                    <a:solidFill>
                      <a:srgbClr val="002060"/>
                    </a:solidFill>
                  </a:tcPr>
                </a:tc>
                <a:tc>
                  <a:txBody>
                    <a:bodyPr/>
                    <a:lstStyle/>
                    <a:p>
                      <a:pPr lvl="0" algn="ctr">
                        <a:lnSpc>
                          <a:spcPct val="100000"/>
                        </a:lnSpc>
                        <a:spcBef>
                          <a:spcPts val="0"/>
                        </a:spcBef>
                        <a:spcAft>
                          <a:spcPts val="0"/>
                        </a:spcAft>
                        <a:buNone/>
                      </a:pPr>
                      <a:r>
                        <a:rPr lang="en-IN" sz="1100" b="1" i="0" u="none" strike="noStrike" kern="1200" noProof="0">
                          <a:solidFill>
                            <a:schemeClr val="bg1"/>
                          </a:solidFill>
                          <a:latin typeface="Avenir Next LT Pro Light"/>
                          <a:ea typeface="+mn-ea"/>
                          <a:cs typeface="+mn-cs"/>
                        </a:rPr>
                        <a:t>JIRA</a:t>
                      </a:r>
                      <a:endParaRPr lang="en-IN" sz="1100" b="1" i="0" u="none" strike="noStrike" kern="1200" noProof="0">
                        <a:solidFill>
                          <a:srgbClr val="FFFFFF"/>
                        </a:solidFill>
                        <a:latin typeface="Avenir Next LT Pro Light"/>
                        <a:ea typeface="+mn-ea"/>
                        <a:cs typeface="+mn-cs"/>
                      </a:endParaRP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a:solidFill>
                        <a:schemeClr val="bg1">
                          <a:lumMod val="75000"/>
                        </a:schemeClr>
                      </a:solidFill>
                    </a:lnB>
                    <a:solidFill>
                      <a:srgbClr val="00206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100" b="1" i="0" kern="1200">
                          <a:solidFill>
                            <a:schemeClr val="bg1"/>
                          </a:solidFill>
                          <a:latin typeface="+mn-lt"/>
                          <a:ea typeface="+mn-ea"/>
                          <a:cs typeface="+mn-cs"/>
                        </a:rPr>
                        <a:t>EIP Integration Required (Yes/No)</a:t>
                      </a: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solidFill>
                      <a:srgbClr val="002060"/>
                    </a:solidFill>
                  </a:tcPr>
                </a:tc>
                <a:extLst>
                  <a:ext uri="{0D108BD9-81ED-4DB2-BD59-A6C34878D82A}">
                    <a16:rowId xmlns:a16="http://schemas.microsoft.com/office/drawing/2014/main" val="844450115"/>
                  </a:ext>
                </a:extLst>
              </a:tr>
              <a:tr h="979357">
                <a:tc>
                  <a:txBody>
                    <a:bodyPr/>
                    <a:lstStyle/>
                    <a:p>
                      <a:pPr lvl="0" algn="l">
                        <a:lnSpc>
                          <a:spcPct val="100000"/>
                        </a:lnSpc>
                        <a:spcBef>
                          <a:spcPts val="0"/>
                        </a:spcBef>
                        <a:spcAft>
                          <a:spcPts val="0"/>
                        </a:spcAft>
                        <a:buNone/>
                      </a:pPr>
                      <a:r>
                        <a:rPr lang="en-IN" sz="1100" b="0" i="0" u="none" strike="noStrike" kern="1200" noProof="0">
                          <a:solidFill>
                            <a:srgbClr val="000000"/>
                          </a:solidFill>
                          <a:highlight>
                            <a:srgbClr val="FFFFFF"/>
                          </a:highlight>
                          <a:latin typeface="Nunito Sans"/>
                          <a:ea typeface="+mn-ea"/>
                          <a:cs typeface="+mn-cs"/>
                        </a:rPr>
                        <a:t>PTS task automation- Mobile FM device</a:t>
                      </a:r>
                      <a:endParaRPr lang="en-US">
                        <a:latin typeface="Nunito Sans"/>
                      </a:endParaRPr>
                    </a:p>
                  </a:txBody>
                  <a:tcPr anchor="ctr">
                    <a:lnL w="6350">
                      <a:solidFill>
                        <a:schemeClr val="bg1">
                          <a:lumMod val="75000"/>
                        </a:schemeClr>
                      </a:solidFill>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171450" marR="0" lvl="0" indent="-171450" algn="l" rtl="0">
                        <a:lnSpc>
                          <a:spcPct val="100000"/>
                        </a:lnSpc>
                        <a:spcBef>
                          <a:spcPts val="0"/>
                        </a:spcBef>
                        <a:spcAft>
                          <a:spcPts val="0"/>
                        </a:spcAft>
                        <a:buClr>
                          <a:srgbClr val="000000"/>
                        </a:buClr>
                        <a:buSzTx/>
                        <a:buFont typeface="Arial"/>
                        <a:buChar char="•"/>
                      </a:pPr>
                      <a:r>
                        <a:rPr lang="en-GB" sz="1100" b="0" i="0" u="none" strike="noStrike" noProof="0">
                          <a:solidFill>
                            <a:srgbClr val="000000"/>
                          </a:solidFill>
                          <a:highlight>
                            <a:srgbClr val="FFFFFF"/>
                          </a:highlight>
                          <a:latin typeface="Nunito Sans"/>
                        </a:rPr>
                        <a:t>Automation of PTS worklist by integrating data from Mobile FM devices via API. 6 out of 30 manual tasks to be automated (Bag/Cargo offload start; Bag/Cargo offload end; Bag/Cargo loading start; Bag/Cargo loading end; GNS bag offload start; GNS bag offload end)</a:t>
                      </a:r>
                      <a:endParaRPr lang="en-GB" sz="1100">
                        <a:latin typeface="Nunito Sans"/>
                      </a:endParaRP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a:solidFill>
                        <a:schemeClr val="bg1">
                          <a:lumMod val="75000"/>
                        </a:schemeClr>
                      </a:solidFill>
                    </a:lnB>
                    <a:solidFill>
                      <a:schemeClr val="bg1"/>
                    </a:solidFill>
                  </a:tcPr>
                </a:tc>
                <a:tc>
                  <a:txBody>
                    <a:bodyPr/>
                    <a:lstStyle/>
                    <a:p>
                      <a:pPr marL="0" lvl="0" indent="0" algn="l">
                        <a:lnSpc>
                          <a:spcPct val="100000"/>
                        </a:lnSpc>
                        <a:spcBef>
                          <a:spcPts val="0"/>
                        </a:spcBef>
                        <a:spcAft>
                          <a:spcPts val="0"/>
                        </a:spcAft>
                        <a:buNone/>
                      </a:pPr>
                      <a:r>
                        <a:rPr lang="en-US" sz="1100" b="0" i="0" u="none" strike="noStrike" kern="1200" noProof="0">
                          <a:solidFill>
                            <a:schemeClr val="tx1"/>
                          </a:solidFill>
                          <a:effectLst/>
                          <a:latin typeface="Nunito Sans"/>
                          <a:ea typeface="+mn-ea"/>
                          <a:cs typeface="+mn-cs"/>
                        </a:rPr>
                        <a:t>29-Sep</a:t>
                      </a: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a:solidFill>
                        <a:schemeClr val="bg1">
                          <a:lumMod val="75000"/>
                        </a:schemeClr>
                      </a:solidFill>
                    </a:lnB>
                    <a:solidFill>
                      <a:schemeClr val="bg1"/>
                    </a:solidFill>
                  </a:tcPr>
                </a:tc>
                <a:tc>
                  <a:txBody>
                    <a:bodyPr/>
                    <a:lstStyle/>
                    <a:p>
                      <a:pPr marL="0" lvl="0" indent="0" algn="l">
                        <a:lnSpc>
                          <a:spcPct val="100000"/>
                        </a:lnSpc>
                        <a:spcBef>
                          <a:spcPts val="0"/>
                        </a:spcBef>
                        <a:spcAft>
                          <a:spcPts val="0"/>
                        </a:spcAft>
                        <a:buNone/>
                      </a:pPr>
                      <a:r>
                        <a:rPr lang="en-US" sz="1100" b="0" i="0" u="none" strike="noStrike" kern="1200" noProof="0">
                          <a:solidFill>
                            <a:schemeClr val="tx1"/>
                          </a:solidFill>
                          <a:effectLst/>
                          <a:latin typeface="Nunito Sans"/>
                          <a:ea typeface="+mn-ea"/>
                          <a:cs typeface="+mn-cs"/>
                          <a:hlinkClick r:id="rId3"/>
                        </a:rPr>
                        <a:t>JIRA</a:t>
                      </a:r>
                      <a:endParaRPr lang="en-US" sz="1100" b="0" i="0" u="none" strike="noStrike" kern="1200" noProof="0">
                        <a:solidFill>
                          <a:schemeClr val="tx1"/>
                        </a:solidFill>
                        <a:effectLst/>
                        <a:latin typeface="Nunito Sans"/>
                        <a:ea typeface="+mn-ea"/>
                        <a:cs typeface="+mn-cs"/>
                      </a:endParaRP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a:solidFill>
                        <a:schemeClr val="bg1">
                          <a:lumMod val="75000"/>
                        </a:schemeClr>
                      </a:solidFill>
                    </a:lnB>
                    <a:solidFill>
                      <a:schemeClr val="bg1"/>
                    </a:solidFill>
                  </a:tcPr>
                </a:tc>
                <a:tc>
                  <a:txBody>
                    <a:bodyPr/>
                    <a:lstStyle/>
                    <a:p>
                      <a:pPr marL="0" lvl="0" indent="0" algn="l">
                        <a:lnSpc>
                          <a:spcPct val="100000"/>
                        </a:lnSpc>
                        <a:spcBef>
                          <a:spcPts val="0"/>
                        </a:spcBef>
                        <a:spcAft>
                          <a:spcPts val="0"/>
                        </a:spcAft>
                        <a:buNone/>
                      </a:pPr>
                      <a:endParaRPr lang="en-US" sz="1100" b="0" i="0" u="none" strike="noStrike" kern="1200" noProof="0">
                        <a:solidFill>
                          <a:schemeClr val="tx1"/>
                        </a:solidFill>
                        <a:effectLst/>
                        <a:latin typeface="Nunito Sans"/>
                        <a:ea typeface="+mn-ea"/>
                        <a:cs typeface="+mn-cs"/>
                      </a:endParaRPr>
                    </a:p>
                  </a:txBody>
                  <a:tcPr anchor="ctr">
                    <a:lnL w="6350">
                      <a:solidFill>
                        <a:schemeClr val="bg1">
                          <a:lumMod val="75000"/>
                        </a:schemeClr>
                      </a:solidFill>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951168155"/>
                  </a:ext>
                </a:extLst>
              </a:tr>
              <a:tr h="1249180">
                <a:tc>
                  <a:txBody>
                    <a:bodyPr/>
                    <a:lstStyle/>
                    <a:p>
                      <a:pPr lvl="0" algn="l">
                        <a:lnSpc>
                          <a:spcPct val="100000"/>
                        </a:lnSpc>
                        <a:spcBef>
                          <a:spcPts val="0"/>
                        </a:spcBef>
                        <a:spcAft>
                          <a:spcPts val="0"/>
                        </a:spcAft>
                        <a:buNone/>
                      </a:pPr>
                      <a:r>
                        <a:rPr lang="en-US" sz="1100" b="0" i="0" u="none" strike="noStrike" kern="1200" noProof="0">
                          <a:solidFill>
                            <a:srgbClr val="000000"/>
                          </a:solidFill>
                          <a:highlight>
                            <a:srgbClr val="FFFFFF"/>
                          </a:highlight>
                          <a:latin typeface="Nunito Sans"/>
                          <a:ea typeface="+mn-ea"/>
                          <a:cs typeface="+mn-cs"/>
                        </a:rPr>
                        <a:t>Aircraft License Management &amp; Alerts</a:t>
                      </a:r>
                      <a:endParaRPr lang="en-US" sz="1100">
                        <a:latin typeface="Nunito Sans"/>
                      </a:endParaRP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171450" marR="0" lvl="0" indent="-171450" algn="l">
                        <a:lnSpc>
                          <a:spcPct val="100000"/>
                        </a:lnSpc>
                        <a:buFont typeface="Arial"/>
                        <a:buChar char="•"/>
                      </a:pPr>
                      <a:r>
                        <a:rPr lang="en-IN" sz="1100" b="0" i="0" u="none" strike="noStrike" kern="1200" noProof="0">
                          <a:solidFill>
                            <a:srgbClr val="000000"/>
                          </a:solidFill>
                          <a:effectLst/>
                          <a:highlight>
                            <a:srgbClr val="FFFFFF"/>
                          </a:highlight>
                        </a:rPr>
                        <a:t>Management of country specific licenses and creation alert engine based on flight parameters and licenses providing alerts if flight plan assignment violates parameters</a:t>
                      </a:r>
                      <a:endParaRPr lang="en-US"/>
                    </a:p>
                    <a:p>
                      <a:pPr marL="171450" marR="0" lvl="0" indent="-171450" algn="l">
                        <a:lnSpc>
                          <a:spcPct val="100000"/>
                        </a:lnSpc>
                        <a:buFont typeface="Arial"/>
                        <a:buChar char="•"/>
                      </a:pPr>
                      <a:endParaRPr lang="en-IN" sz="1100" b="0" i="0" u="none" strike="noStrike" kern="1200" noProof="0">
                        <a:solidFill>
                          <a:srgbClr val="000000"/>
                        </a:solidFill>
                        <a:effectLst/>
                        <a:highlight>
                          <a:srgbClr val="FFFFFF"/>
                        </a:highlight>
                      </a:endParaRPr>
                    </a:p>
                    <a:p>
                      <a:pPr marL="171450" marR="0" lvl="0" indent="-171450" algn="l">
                        <a:lnSpc>
                          <a:spcPct val="100000"/>
                        </a:lnSpc>
                        <a:buFont typeface="Arial"/>
                        <a:buChar char="•"/>
                      </a:pPr>
                      <a:r>
                        <a:rPr lang="en-IN" sz="1100" b="0" i="0" u="none" strike="noStrike" kern="1200" noProof="0">
                          <a:solidFill>
                            <a:srgbClr val="000000"/>
                          </a:solidFill>
                          <a:effectLst/>
                          <a:highlight>
                            <a:srgbClr val="FFFFFF"/>
                          </a:highlight>
                          <a:latin typeface="Nunito Sans"/>
                          <a:ea typeface="+mn-ea"/>
                          <a:cs typeface="+mn-cs"/>
                        </a:rPr>
                        <a:t>Automates validation of aircraft–region authorizations, ensuring regulatory compliance and reducing risk of unauthorized operations resulting in significant financial and reputational impact </a:t>
                      </a:r>
                      <a:endParaRPr lang="en-IN" sz="1100" b="0" i="0" u="none" strike="noStrike" kern="1200" noProof="0">
                        <a:solidFill>
                          <a:srgbClr val="000000"/>
                        </a:solidFill>
                        <a:effectLst/>
                        <a:latin typeface="Nunito Sans"/>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lvl="0" indent="0" algn="l">
                        <a:lnSpc>
                          <a:spcPct val="100000"/>
                        </a:lnSpc>
                        <a:buNone/>
                      </a:pPr>
                      <a:r>
                        <a:rPr lang="en-US" sz="1100" b="0" i="0" u="none" strike="noStrike" kern="1200" noProof="0">
                          <a:solidFill>
                            <a:schemeClr val="tx1"/>
                          </a:solidFill>
                          <a:effectLst/>
                          <a:latin typeface="Nunito Sans"/>
                          <a:ea typeface="+mn-ea"/>
                          <a:cs typeface="+mn-cs"/>
                        </a:rPr>
                        <a:t>29-Sep</a:t>
                      </a:r>
                      <a:endParaRPr lang="en-US"/>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lvl="0" indent="0" algn="l">
                        <a:lnSpc>
                          <a:spcPct val="100000"/>
                        </a:lnSpc>
                        <a:buNone/>
                      </a:pPr>
                      <a:r>
                        <a:rPr lang="en-US" sz="1100" b="0" i="0" u="none" strike="noStrike" kern="1200" noProof="0">
                          <a:solidFill>
                            <a:schemeClr val="tx1"/>
                          </a:solidFill>
                          <a:effectLst/>
                          <a:latin typeface="Nunito Sans"/>
                          <a:ea typeface="+mn-ea"/>
                          <a:cs typeface="+mn-cs"/>
                          <a:hlinkClick r:id="rId4"/>
                        </a:rPr>
                        <a:t>JIRA</a:t>
                      </a:r>
                      <a:endParaRPr lang="en-US" sz="1100" b="0" i="0" u="none" strike="noStrike" kern="1200" noProof="0">
                        <a:solidFill>
                          <a:schemeClr val="tx1"/>
                        </a:solidFill>
                        <a:effectLst/>
                        <a:latin typeface="Nunito Sans"/>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lvl="0" indent="0" algn="l">
                        <a:lnSpc>
                          <a:spcPct val="100000"/>
                        </a:lnSpc>
                        <a:buNone/>
                      </a:pPr>
                      <a:endParaRPr lang="en-US" sz="1100" b="0" i="0" u="none" strike="noStrike" kern="1200" noProof="0">
                        <a:solidFill>
                          <a:schemeClr val="tx1"/>
                        </a:solidFill>
                        <a:effectLst/>
                        <a:latin typeface="Nunito Sans"/>
                        <a:ea typeface="+mn-ea"/>
                        <a:cs typeface="+mn-cs"/>
                      </a:endParaRPr>
                    </a:p>
                  </a:txBody>
                  <a:tcPr anchor="ctr">
                    <a:lnL w="6350" cap="flat" cmpd="sng" algn="ctr">
                      <a:solidFill>
                        <a:schemeClr val="bg1">
                          <a:lumMod val="75000"/>
                        </a:schemeClr>
                      </a:solidFill>
                      <a:prstDash val="solid"/>
                      <a:round/>
                      <a:headEnd type="none" w="med" len="med"/>
                      <a:tailEnd type="none" w="med" len="med"/>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932318347"/>
                  </a:ext>
                </a:extLst>
              </a:tr>
              <a:tr h="869429">
                <a:tc>
                  <a:txBody>
                    <a:bodyPr/>
                    <a:lstStyle/>
                    <a:p>
                      <a:pPr lvl="0" algn="l">
                        <a:lnSpc>
                          <a:spcPct val="100000"/>
                        </a:lnSpc>
                        <a:spcBef>
                          <a:spcPts val="0"/>
                        </a:spcBef>
                        <a:spcAft>
                          <a:spcPts val="0"/>
                        </a:spcAft>
                        <a:buNone/>
                      </a:pPr>
                      <a:r>
                        <a:rPr lang="en-US" sz="1100" b="0" i="0" u="none" strike="noStrike" kern="1200" noProof="0">
                          <a:solidFill>
                            <a:srgbClr val="000000"/>
                          </a:solidFill>
                          <a:highlight>
                            <a:srgbClr val="FFFFFF"/>
                          </a:highlight>
                          <a:latin typeface="Nunito Sans"/>
                          <a:ea typeface="+mn-ea"/>
                          <a:cs typeface="+mn-cs"/>
                        </a:rPr>
                        <a:t>AKS Migration</a:t>
                      </a: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solidFill>
                      <a:schemeClr val="bg1"/>
                    </a:solidFill>
                  </a:tcPr>
                </a:tc>
                <a:tc>
                  <a:txBody>
                    <a:bodyPr/>
                    <a:lstStyle/>
                    <a:p>
                      <a:pPr marL="171450" lvl="0" indent="-171450" algn="l">
                        <a:lnSpc>
                          <a:spcPct val="100000"/>
                        </a:lnSpc>
                        <a:buFont typeface="Arial"/>
                        <a:buChar char="•"/>
                      </a:pPr>
                      <a:r>
                        <a:rPr lang="en-IN" sz="1100" b="0" i="0" u="none" strike="noStrike" kern="1200" noProof="0">
                          <a:solidFill>
                            <a:srgbClr val="000000"/>
                          </a:solidFill>
                          <a:effectLst/>
                          <a:highlight>
                            <a:srgbClr val="FFFFFF"/>
                          </a:highlight>
                          <a:latin typeface="Nunito Sans"/>
                          <a:ea typeface="+mn-ea"/>
                          <a:cs typeface="+mn-cs"/>
                        </a:rPr>
                        <a:t>Migration of fuel compliance module to AKS as part of tech upgrade</a:t>
                      </a: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solidFill>
                      <a:schemeClr val="bg1"/>
                    </a:solidFill>
                  </a:tcPr>
                </a:tc>
                <a:tc>
                  <a:txBody>
                    <a:bodyPr/>
                    <a:lstStyle/>
                    <a:p>
                      <a:pPr marL="0" lvl="0" indent="0" algn="l">
                        <a:lnSpc>
                          <a:spcPct val="100000"/>
                        </a:lnSpc>
                        <a:buNone/>
                      </a:pPr>
                      <a:r>
                        <a:rPr lang="en-US" sz="1100" b="0" i="0" u="none" strike="noStrike" kern="1200" noProof="0">
                          <a:solidFill>
                            <a:schemeClr val="tx1"/>
                          </a:solidFill>
                          <a:effectLst/>
                          <a:latin typeface="Nunito Sans"/>
                          <a:ea typeface="+mn-ea"/>
                          <a:cs typeface="+mn-cs"/>
                        </a:rPr>
                        <a:t>29-Sep</a:t>
                      </a:r>
                      <a:endParaRPr lang="en-US"/>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solidFill>
                      <a:schemeClr val="bg1"/>
                    </a:solidFill>
                  </a:tcPr>
                </a:tc>
                <a:tc>
                  <a:txBody>
                    <a:bodyPr/>
                    <a:lstStyle/>
                    <a:p>
                      <a:pPr marL="0" lvl="0" indent="0" algn="l">
                        <a:lnSpc>
                          <a:spcPct val="100000"/>
                        </a:lnSpc>
                        <a:buNone/>
                      </a:pPr>
                      <a:r>
                        <a:rPr lang="en-US" sz="1100" b="0" i="0" u="none" strike="noStrike" kern="1200" noProof="0">
                          <a:solidFill>
                            <a:schemeClr val="tx1"/>
                          </a:solidFill>
                          <a:effectLst/>
                          <a:latin typeface="Nunito Sans"/>
                          <a:ea typeface="+mn-ea"/>
                          <a:cs typeface="+mn-cs"/>
                          <a:hlinkClick r:id="rId5"/>
                        </a:rPr>
                        <a:t>JIRA</a:t>
                      </a:r>
                      <a:endParaRPr lang="en-US"/>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a:solidFill>
                        <a:schemeClr val="bg1">
                          <a:lumMod val="75000"/>
                        </a:schemeClr>
                      </a:solidFill>
                    </a:lnB>
                    <a:solidFill>
                      <a:schemeClr val="bg1"/>
                    </a:solidFill>
                  </a:tcPr>
                </a:tc>
                <a:tc>
                  <a:txBody>
                    <a:bodyPr/>
                    <a:lstStyle/>
                    <a:p>
                      <a:pPr marL="0" lvl="0" indent="0" algn="l">
                        <a:lnSpc>
                          <a:spcPct val="100000"/>
                        </a:lnSpc>
                        <a:buNone/>
                      </a:pPr>
                      <a:endParaRPr lang="en-US"/>
                    </a:p>
                  </a:txBody>
                  <a:tcPr anchor="ctr">
                    <a:lnL w="6350">
                      <a:solidFill>
                        <a:schemeClr val="bg1">
                          <a:lumMod val="75000"/>
                        </a:schemeClr>
                      </a:solidFill>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a:solidFill>
                        <a:schemeClr val="bg1">
                          <a:lumMod val="75000"/>
                        </a:schemeClr>
                      </a:solidFill>
                    </a:lnB>
                    <a:solidFill>
                      <a:schemeClr val="bg1"/>
                    </a:solidFill>
                  </a:tcPr>
                </a:tc>
                <a:extLst>
                  <a:ext uri="{0D108BD9-81ED-4DB2-BD59-A6C34878D82A}">
                    <a16:rowId xmlns:a16="http://schemas.microsoft.com/office/drawing/2014/main" val="564420729"/>
                  </a:ext>
                </a:extLst>
              </a:tr>
            </a:tbl>
          </a:graphicData>
        </a:graphic>
      </p:graphicFrame>
      <p:sp>
        <p:nvSpPr>
          <p:cNvPr id="26" name="TextBox 25">
            <a:extLst>
              <a:ext uri="{FF2B5EF4-FFF2-40B4-BE49-F238E27FC236}">
                <a16:creationId xmlns:a16="http://schemas.microsoft.com/office/drawing/2014/main" id="{47B7AF24-38EA-B684-2AF7-E6EF4274F931}"/>
              </a:ext>
            </a:extLst>
          </p:cNvPr>
          <p:cNvSpPr txBox="1"/>
          <p:nvPr/>
        </p:nvSpPr>
        <p:spPr>
          <a:xfrm>
            <a:off x="343955" y="3897931"/>
            <a:ext cx="417102" cy="253916"/>
          </a:xfrm>
          <a:prstGeom prst="rect">
            <a:avLst/>
          </a:prstGeom>
          <a:noFill/>
        </p:spPr>
        <p:txBody>
          <a:bodyPr wrap="none" lIns="91440" tIns="45720" rIns="91440" bIns="45720" rtlCol="0" anchor="t">
            <a:spAutoFit/>
          </a:bodyPr>
          <a:lstStyle/>
          <a:p>
            <a:r>
              <a:rPr lang="en-IN" sz="1050" b="1">
                <a:solidFill>
                  <a:schemeClr val="bg1"/>
                </a:solidFill>
                <a:latin typeface="Montserrat Light"/>
              </a:rPr>
              <a:t>Jan</a:t>
            </a:r>
            <a:endParaRPr lang="en-IN" sz="1050" b="1">
              <a:solidFill>
                <a:schemeClr val="bg1"/>
              </a:solidFill>
              <a:latin typeface="Montserrat Light" pitchFamily="2" charset="0"/>
            </a:endParaRPr>
          </a:p>
        </p:txBody>
      </p:sp>
      <p:sp>
        <p:nvSpPr>
          <p:cNvPr id="27" name="TextBox 15">
            <a:extLst>
              <a:ext uri="{FF2B5EF4-FFF2-40B4-BE49-F238E27FC236}">
                <a16:creationId xmlns:a16="http://schemas.microsoft.com/office/drawing/2014/main" id="{B8E6BFF1-A460-B41D-165B-97D6B9808A76}"/>
              </a:ext>
            </a:extLst>
          </p:cNvPr>
          <p:cNvSpPr txBox="1"/>
          <p:nvPr/>
        </p:nvSpPr>
        <p:spPr>
          <a:xfrm>
            <a:off x="398384" y="817274"/>
            <a:ext cx="417102" cy="253916"/>
          </a:xfrm>
          <a:prstGeom prst="rect">
            <a:avLst/>
          </a:prstGeom>
          <a:noFill/>
        </p:spPr>
        <p:txBody>
          <a:bodyPr wrap="non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050" b="1">
                <a:solidFill>
                  <a:schemeClr val="bg1"/>
                </a:solidFill>
                <a:latin typeface="Montserrat Light"/>
              </a:rPr>
              <a:t>Jan</a:t>
            </a:r>
            <a:endParaRPr lang="en-IN" sz="1050" b="1">
              <a:solidFill>
                <a:schemeClr val="bg1"/>
              </a:solidFill>
              <a:latin typeface="Montserrat Light" pitchFamily="2" charset="0"/>
            </a:endParaRPr>
          </a:p>
        </p:txBody>
      </p:sp>
      <p:sp>
        <p:nvSpPr>
          <p:cNvPr id="29" name="Rectangle 28">
            <a:extLst>
              <a:ext uri="{FF2B5EF4-FFF2-40B4-BE49-F238E27FC236}">
                <a16:creationId xmlns:a16="http://schemas.microsoft.com/office/drawing/2014/main" id="{378CCCF8-AA67-595E-38E0-867297903D40}"/>
              </a:ext>
            </a:extLst>
          </p:cNvPr>
          <p:cNvSpPr/>
          <p:nvPr/>
        </p:nvSpPr>
        <p:spPr>
          <a:xfrm>
            <a:off x="-4474" y="793560"/>
            <a:ext cx="1067526" cy="42234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IN" sz="1400" b="1">
                <a:latin typeface="AirIndia"/>
              </a:rPr>
              <a:t>Sep ‘26</a:t>
            </a:r>
            <a:endParaRPr lang="en-US"/>
          </a:p>
        </p:txBody>
      </p:sp>
      <p:pic>
        <p:nvPicPr>
          <p:cNvPr id="34" name="Picture 33">
            <a:extLst>
              <a:ext uri="{FF2B5EF4-FFF2-40B4-BE49-F238E27FC236}">
                <a16:creationId xmlns:a16="http://schemas.microsoft.com/office/drawing/2014/main" id="{1F841D64-00A9-3D4D-DFF6-F6417FDDFD73}"/>
              </a:ext>
            </a:extLst>
          </p:cNvPr>
          <p:cNvPicPr>
            <a:picLocks noChangeAspect="1"/>
          </p:cNvPicPr>
          <p:nvPr/>
        </p:nvPicPr>
        <p:blipFill>
          <a:blip r:embed="rId6"/>
          <a:stretch>
            <a:fillRect/>
          </a:stretch>
        </p:blipFill>
        <p:spPr>
          <a:xfrm>
            <a:off x="306161" y="6532789"/>
            <a:ext cx="8248650" cy="323850"/>
          </a:xfrm>
          <a:prstGeom prst="rect">
            <a:avLst/>
          </a:prstGeom>
        </p:spPr>
      </p:pic>
    </p:spTree>
    <p:extLst>
      <p:ext uri="{BB962C8B-B14F-4D97-AF65-F5344CB8AC3E}">
        <p14:creationId xmlns:p14="http://schemas.microsoft.com/office/powerpoint/2010/main" val="49503069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4FB53F-6D40-B084-F878-0DFEF2BE330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EBE4036-E5D0-7FE2-B014-15F0EDEB43B1}"/>
              </a:ext>
            </a:extLst>
          </p:cNvPr>
          <p:cNvSpPr>
            <a:spLocks noGrp="1"/>
          </p:cNvSpPr>
          <p:nvPr>
            <p:ph type="sldNum" sz="quarter" idx="12"/>
          </p:nvPr>
        </p:nvSpPr>
        <p:spPr/>
        <p:txBody>
          <a:bodyPr/>
          <a:lstStyle/>
          <a:p>
            <a:fld id="{3A41A254-7326-714E-AF55-4C213D6394DE}" type="slidenum">
              <a:rPr lang="en-US" sz="900" smtClean="0">
                <a:latin typeface="Montserrat Light" pitchFamily="2" charset="0"/>
              </a:rPr>
              <a:pPr/>
              <a:t>80</a:t>
            </a:fld>
            <a:endParaRPr lang="en-US" sz="900">
              <a:latin typeface="Montserrat Light" pitchFamily="2" charset="0"/>
            </a:endParaRPr>
          </a:p>
        </p:txBody>
      </p:sp>
      <p:sp>
        <p:nvSpPr>
          <p:cNvPr id="6" name="Title 11">
            <a:extLst>
              <a:ext uri="{FF2B5EF4-FFF2-40B4-BE49-F238E27FC236}">
                <a16:creationId xmlns:a16="http://schemas.microsoft.com/office/drawing/2014/main" id="{E1837020-B765-1738-233D-0937F3613E36}"/>
              </a:ext>
            </a:extLst>
          </p:cNvPr>
          <p:cNvSpPr txBox="1">
            <a:spLocks/>
          </p:cNvSpPr>
          <p:nvPr/>
        </p:nvSpPr>
        <p:spPr>
          <a:xfrm>
            <a:off x="304800" y="269218"/>
            <a:ext cx="8420100" cy="396638"/>
          </a:xfrm>
          <a:prstGeom prst="rect">
            <a:avLst/>
          </a:prstGeom>
        </p:spPr>
        <p:txBody>
          <a:bodyPr lIns="91440" tIns="45720" rIns="91440" bIns="45720" anchor="t">
            <a:noAutofit/>
          </a:bodyPr>
          <a:lstStyle>
            <a:lvl1pPr algn="l" defTabSz="914400" rtl="0" eaLnBrk="1" latinLnBrk="0" hangingPunct="1">
              <a:lnSpc>
                <a:spcPct val="90000"/>
              </a:lnSpc>
              <a:spcBef>
                <a:spcPct val="0"/>
              </a:spcBef>
              <a:buNone/>
              <a:defRPr sz="4400" b="1" i="0" kern="1200">
                <a:solidFill>
                  <a:schemeClr val="tx1"/>
                </a:solidFill>
                <a:latin typeface="AirIndia" pitchFamily="82" charset="77"/>
                <a:ea typeface="+mj-ea"/>
                <a:cs typeface="+mj-cs"/>
              </a:defRPr>
            </a:lvl1pPr>
          </a:lstStyle>
          <a:p>
            <a:r>
              <a:rPr lang="en-US" sz="1800">
                <a:solidFill>
                  <a:srgbClr val="C00000"/>
                </a:solidFill>
                <a:latin typeface="AirIndia"/>
              </a:rPr>
              <a:t>CE Plus - FY27 Q2  Release Plan </a:t>
            </a:r>
          </a:p>
        </p:txBody>
      </p:sp>
      <p:graphicFrame>
        <p:nvGraphicFramePr>
          <p:cNvPr id="4" name="Table 3">
            <a:extLst>
              <a:ext uri="{FF2B5EF4-FFF2-40B4-BE49-F238E27FC236}">
                <a16:creationId xmlns:a16="http://schemas.microsoft.com/office/drawing/2014/main" id="{F1E0F3AF-2E63-F265-2A57-38E37FB41C02}"/>
              </a:ext>
            </a:extLst>
          </p:cNvPr>
          <p:cNvGraphicFramePr>
            <a:graphicFrameLocks noGrp="1"/>
          </p:cNvGraphicFramePr>
          <p:nvPr>
            <p:extLst>
              <p:ext uri="{D42A27DB-BD31-4B8C-83A1-F6EECF244321}">
                <p14:modId xmlns:p14="http://schemas.microsoft.com/office/powerpoint/2010/main" val="267256361"/>
              </p:ext>
            </p:extLst>
          </p:nvPr>
        </p:nvGraphicFramePr>
        <p:xfrm>
          <a:off x="1090848" y="792699"/>
          <a:ext cx="10702767" cy="2203838"/>
        </p:xfrm>
        <a:graphic>
          <a:graphicData uri="http://schemas.openxmlformats.org/drawingml/2006/table">
            <a:tbl>
              <a:tblPr firstRow="1" bandRow="1">
                <a:tableStyleId>{5C22544A-7EE6-4342-B048-85BDC9FD1C3A}</a:tableStyleId>
              </a:tblPr>
              <a:tblGrid>
                <a:gridCol w="1214010">
                  <a:extLst>
                    <a:ext uri="{9D8B030D-6E8A-4147-A177-3AD203B41FA5}">
                      <a16:colId xmlns:a16="http://schemas.microsoft.com/office/drawing/2014/main" val="1118630623"/>
                    </a:ext>
                  </a:extLst>
                </a:gridCol>
                <a:gridCol w="6540639">
                  <a:extLst>
                    <a:ext uri="{9D8B030D-6E8A-4147-A177-3AD203B41FA5}">
                      <a16:colId xmlns:a16="http://schemas.microsoft.com/office/drawing/2014/main" val="99588705"/>
                    </a:ext>
                  </a:extLst>
                </a:gridCol>
                <a:gridCol w="982706">
                  <a:extLst>
                    <a:ext uri="{9D8B030D-6E8A-4147-A177-3AD203B41FA5}">
                      <a16:colId xmlns:a16="http://schemas.microsoft.com/office/drawing/2014/main" val="4278227373"/>
                    </a:ext>
                  </a:extLst>
                </a:gridCol>
                <a:gridCol w="763597">
                  <a:extLst>
                    <a:ext uri="{9D8B030D-6E8A-4147-A177-3AD203B41FA5}">
                      <a16:colId xmlns:a16="http://schemas.microsoft.com/office/drawing/2014/main" val="1344606147"/>
                    </a:ext>
                  </a:extLst>
                </a:gridCol>
                <a:gridCol w="1201815">
                  <a:extLst>
                    <a:ext uri="{9D8B030D-6E8A-4147-A177-3AD203B41FA5}">
                      <a16:colId xmlns:a16="http://schemas.microsoft.com/office/drawing/2014/main" val="618688188"/>
                    </a:ext>
                  </a:extLst>
                </a:gridCol>
              </a:tblGrid>
              <a:tr h="286112">
                <a:tc>
                  <a:txBody>
                    <a:bodyPr/>
                    <a:lstStyle/>
                    <a:p>
                      <a:pPr marL="0" lvl="0" indent="0" algn="ctr" defTabSz="914400">
                        <a:lnSpc>
                          <a:spcPct val="100000"/>
                        </a:lnSpc>
                        <a:buNone/>
                      </a:pPr>
                      <a:r>
                        <a:rPr lang="en-IN" sz="1100" b="1" i="0" u="none" strike="noStrike" kern="1200" noProof="0">
                          <a:solidFill>
                            <a:schemeClr val="bg1"/>
                          </a:solidFill>
                          <a:latin typeface="Avenir Next LT Pro Light"/>
                          <a:ea typeface="+mn-ea"/>
                          <a:cs typeface="+mn-cs"/>
                        </a:rPr>
                        <a:t>Projects</a:t>
                      </a:r>
                      <a:endParaRPr lang="en-US"/>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solidFill>
                      <a:srgbClr val="002060"/>
                    </a:solidFill>
                  </a:tcPr>
                </a:tc>
                <a:tc>
                  <a:txBody>
                    <a:bodyPr/>
                    <a:lstStyle/>
                    <a:p>
                      <a:pPr lvl="0" algn="ctr">
                        <a:lnSpc>
                          <a:spcPct val="100000"/>
                        </a:lnSpc>
                        <a:spcBef>
                          <a:spcPts val="0"/>
                        </a:spcBef>
                        <a:spcAft>
                          <a:spcPts val="0"/>
                        </a:spcAft>
                        <a:buNone/>
                      </a:pPr>
                      <a:r>
                        <a:rPr lang="en-IN" sz="1100" b="1" i="0" u="none" strike="noStrike" kern="1200" noProof="0">
                          <a:solidFill>
                            <a:srgbClr val="FFFFFF"/>
                          </a:solidFill>
                          <a:latin typeface="Nunito Sans"/>
                          <a:ea typeface="+mn-ea"/>
                          <a:cs typeface="+mn-cs"/>
                        </a:rPr>
                        <a:t>Value Justification/Realization</a:t>
                      </a:r>
                    </a:p>
                    <a:p>
                      <a:pPr marL="0" lvl="0" indent="0" algn="l" defTabSz="914400">
                        <a:buFont typeface="Arial" panose="020B0604020202020204" pitchFamily="34" charset="0"/>
                        <a:buNone/>
                      </a:pPr>
                      <a:endParaRPr lang="en-IN" sz="1050" kern="1200">
                        <a:solidFill>
                          <a:schemeClr val="bg1"/>
                        </a:solidFill>
                        <a:latin typeface="Avenir Next LT Pro Ligh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002060"/>
                    </a:solidFill>
                  </a:tcPr>
                </a:tc>
                <a:tc>
                  <a:txBody>
                    <a:bodyPr/>
                    <a:lstStyle/>
                    <a:p>
                      <a:pPr marL="0" lvl="0" indent="0" algn="ctr">
                        <a:buNone/>
                      </a:pPr>
                      <a:r>
                        <a:rPr lang="en-IN" sz="1050" kern="1200">
                          <a:solidFill>
                            <a:schemeClr val="bg1"/>
                          </a:solidFill>
                          <a:latin typeface="Avenir Next LT Pro Light"/>
                          <a:ea typeface="+mn-ea"/>
                          <a:cs typeface="+mn-cs"/>
                        </a:rPr>
                        <a:t>Planned Go Live Date</a:t>
                      </a: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a:solidFill>
                        <a:schemeClr val="bg1">
                          <a:lumMod val="75000"/>
                        </a:schemeClr>
                      </a:solidFill>
                    </a:lnB>
                    <a:solidFill>
                      <a:srgbClr val="002060"/>
                    </a:solidFill>
                  </a:tcPr>
                </a:tc>
                <a:tc>
                  <a:txBody>
                    <a:bodyPr/>
                    <a:lstStyle/>
                    <a:p>
                      <a:pPr lvl="0" algn="ctr">
                        <a:lnSpc>
                          <a:spcPct val="100000"/>
                        </a:lnSpc>
                        <a:spcBef>
                          <a:spcPts val="0"/>
                        </a:spcBef>
                        <a:spcAft>
                          <a:spcPts val="0"/>
                        </a:spcAft>
                        <a:buNone/>
                      </a:pPr>
                      <a:r>
                        <a:rPr lang="en-IN" sz="1100" b="1" i="0" u="none" strike="noStrike" kern="1200" noProof="0">
                          <a:solidFill>
                            <a:schemeClr val="bg1"/>
                          </a:solidFill>
                          <a:latin typeface="Avenir Next LT Pro Light"/>
                          <a:ea typeface="+mn-ea"/>
                          <a:cs typeface="+mn-cs"/>
                        </a:rPr>
                        <a:t>JIRA</a:t>
                      </a:r>
                      <a:endParaRPr lang="en-IN" sz="1100" b="1" i="0" u="none" strike="noStrike" kern="1200" noProof="0">
                        <a:solidFill>
                          <a:srgbClr val="FFFFFF"/>
                        </a:solidFill>
                        <a:latin typeface="Avenir Next LT Pro Light"/>
                        <a:ea typeface="+mn-ea"/>
                        <a:cs typeface="+mn-cs"/>
                      </a:endParaRP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a:solidFill>
                        <a:schemeClr val="bg1">
                          <a:lumMod val="75000"/>
                        </a:schemeClr>
                      </a:solidFill>
                    </a:lnB>
                    <a:solidFill>
                      <a:srgbClr val="00206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100" b="1" i="0" kern="1200">
                          <a:solidFill>
                            <a:schemeClr val="bg1"/>
                          </a:solidFill>
                          <a:latin typeface="+mn-lt"/>
                          <a:ea typeface="+mn-ea"/>
                          <a:cs typeface="+mn-cs"/>
                        </a:rPr>
                        <a:t>EIP Integration Required (Yes/No)</a:t>
                      </a: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solidFill>
                      <a:srgbClr val="002060"/>
                    </a:solidFill>
                  </a:tcPr>
                </a:tc>
                <a:extLst>
                  <a:ext uri="{0D108BD9-81ED-4DB2-BD59-A6C34878D82A}">
                    <a16:rowId xmlns:a16="http://schemas.microsoft.com/office/drawing/2014/main" val="844450115"/>
                  </a:ext>
                </a:extLst>
              </a:tr>
              <a:tr h="507559">
                <a:tc>
                  <a:txBody>
                    <a:bodyPr/>
                    <a:lstStyle/>
                    <a:p>
                      <a:pPr lvl="0" algn="l">
                        <a:lnSpc>
                          <a:spcPct val="100000"/>
                        </a:lnSpc>
                        <a:spcBef>
                          <a:spcPts val="0"/>
                        </a:spcBef>
                        <a:spcAft>
                          <a:spcPts val="0"/>
                        </a:spcAft>
                        <a:buNone/>
                      </a:pPr>
                      <a:r>
                        <a:rPr lang="en-IN" sz="1100" b="0" i="0" u="none" strike="noStrike" kern="1200" noProof="0">
                          <a:solidFill>
                            <a:srgbClr val="000000"/>
                          </a:solidFill>
                        </a:rPr>
                        <a:t>Automation for Missing Flight Reports</a:t>
                      </a:r>
                      <a:endParaRPr lang="en-US"/>
                    </a:p>
                  </a:txBody>
                  <a:tcPr anchor="ctr">
                    <a:lnL w="6350">
                      <a:solidFill>
                        <a:schemeClr val="bg1">
                          <a:lumMod val="75000"/>
                        </a:schemeClr>
                      </a:solidFill>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171450" marR="0" lvl="0" indent="-171450" algn="l" rtl="0">
                        <a:lnSpc>
                          <a:spcPct val="100000"/>
                        </a:lnSpc>
                        <a:spcBef>
                          <a:spcPts val="0"/>
                        </a:spcBef>
                        <a:spcAft>
                          <a:spcPts val="0"/>
                        </a:spcAft>
                        <a:buClr>
                          <a:srgbClr val="000000"/>
                        </a:buClr>
                        <a:buSzTx/>
                        <a:buFont typeface="Arial"/>
                        <a:buChar char="•"/>
                      </a:pPr>
                      <a:r>
                        <a:rPr lang="en-GB" sz="1100" b="0" i="0" u="none" strike="noStrike" noProof="0"/>
                        <a:t>Achieve higher reporting compliance by proactively identifying and notifying teams (CE, Base and Service Performance) about missing flight reports.</a:t>
                      </a:r>
                      <a:endParaRPr lang="en-GB" sz="1100" b="0" i="0" u="none" strike="noStrike" noProof="0">
                        <a:latin typeface="Nunito Sans"/>
                      </a:endParaRPr>
                    </a:p>
                    <a:p>
                      <a:pPr marL="171450" marR="0" lvl="0" indent="-171450" algn="l">
                        <a:lnSpc>
                          <a:spcPct val="100000"/>
                        </a:lnSpc>
                        <a:spcBef>
                          <a:spcPts val="0"/>
                        </a:spcBef>
                        <a:spcAft>
                          <a:spcPts val="0"/>
                        </a:spcAft>
                        <a:buClr>
                          <a:srgbClr val="000000"/>
                        </a:buClr>
                        <a:buSzTx/>
                        <a:buFont typeface="Arial"/>
                        <a:buChar char="•"/>
                      </a:pPr>
                      <a:r>
                        <a:rPr lang="en-GB" sz="1100" b="0" i="0" u="none" strike="noStrike" noProof="0"/>
                        <a:t>Providing visibility of missed/ pending flight reports to CE's in their dashboards</a:t>
                      </a:r>
                      <a:endParaRPr lang="en-GB"/>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a:solidFill>
                        <a:schemeClr val="bg1">
                          <a:lumMod val="75000"/>
                        </a:schemeClr>
                      </a:solidFill>
                    </a:lnB>
                    <a:solidFill>
                      <a:schemeClr val="bg1"/>
                    </a:solidFill>
                  </a:tcPr>
                </a:tc>
                <a:tc>
                  <a:txBody>
                    <a:bodyPr/>
                    <a:lstStyle/>
                    <a:p>
                      <a:pPr marL="0" lvl="0" indent="0" algn="l">
                        <a:lnSpc>
                          <a:spcPct val="100000"/>
                        </a:lnSpc>
                        <a:spcBef>
                          <a:spcPts val="0"/>
                        </a:spcBef>
                        <a:spcAft>
                          <a:spcPts val="0"/>
                        </a:spcAft>
                        <a:buNone/>
                      </a:pPr>
                      <a:r>
                        <a:rPr lang="en-US" sz="1100" b="0" i="0" u="none" strike="noStrike" kern="1200" noProof="0">
                          <a:solidFill>
                            <a:schemeClr val="tx1"/>
                          </a:solidFill>
                          <a:effectLst/>
                          <a:latin typeface="Nunito Sans"/>
                          <a:ea typeface="+mn-ea"/>
                          <a:cs typeface="+mn-cs"/>
                        </a:rPr>
                        <a:t>28-Aug</a:t>
                      </a: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a:solidFill>
                        <a:schemeClr val="bg1">
                          <a:lumMod val="75000"/>
                        </a:schemeClr>
                      </a:solidFill>
                    </a:lnB>
                    <a:solidFill>
                      <a:schemeClr val="bg1"/>
                    </a:solidFill>
                  </a:tcPr>
                </a:tc>
                <a:tc>
                  <a:txBody>
                    <a:bodyPr/>
                    <a:lstStyle/>
                    <a:p>
                      <a:pPr marL="0" lvl="0" indent="0" algn="l">
                        <a:lnSpc>
                          <a:spcPct val="100000"/>
                        </a:lnSpc>
                        <a:spcBef>
                          <a:spcPts val="0"/>
                        </a:spcBef>
                        <a:spcAft>
                          <a:spcPts val="0"/>
                        </a:spcAft>
                        <a:buNone/>
                      </a:pPr>
                      <a:endParaRPr lang="en-US" sz="1100" b="0" i="0" u="none" strike="noStrike" kern="1200" noProof="0">
                        <a:solidFill>
                          <a:schemeClr val="tx1"/>
                        </a:solidFill>
                        <a:effectLst/>
                        <a:latin typeface="Nunito Sans"/>
                        <a:ea typeface="+mn-ea"/>
                        <a:cs typeface="+mn-cs"/>
                      </a:endParaRP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a:solidFill>
                        <a:schemeClr val="bg1">
                          <a:lumMod val="75000"/>
                        </a:schemeClr>
                      </a:solidFill>
                    </a:lnB>
                    <a:solidFill>
                      <a:schemeClr val="bg1"/>
                    </a:solidFill>
                  </a:tcPr>
                </a:tc>
                <a:tc>
                  <a:txBody>
                    <a:bodyPr/>
                    <a:lstStyle/>
                    <a:p>
                      <a:pPr marL="0" lvl="0" indent="0" algn="l">
                        <a:lnSpc>
                          <a:spcPct val="100000"/>
                        </a:lnSpc>
                        <a:spcBef>
                          <a:spcPts val="0"/>
                        </a:spcBef>
                        <a:spcAft>
                          <a:spcPts val="0"/>
                        </a:spcAft>
                        <a:buNone/>
                      </a:pPr>
                      <a:endParaRPr lang="en-US" sz="1100" b="0" i="0" u="none" strike="noStrike" kern="1200" noProof="0">
                        <a:solidFill>
                          <a:schemeClr val="tx1"/>
                        </a:solidFill>
                        <a:effectLst/>
                        <a:latin typeface="Nunito Sans"/>
                        <a:ea typeface="+mn-ea"/>
                        <a:cs typeface="+mn-cs"/>
                      </a:endParaRPr>
                    </a:p>
                  </a:txBody>
                  <a:tcPr anchor="ctr">
                    <a:lnL w="6350">
                      <a:solidFill>
                        <a:schemeClr val="bg1">
                          <a:lumMod val="75000"/>
                        </a:schemeClr>
                      </a:solidFill>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951168155"/>
                  </a:ext>
                </a:extLst>
              </a:tr>
              <a:tr h="507559">
                <a:tc>
                  <a:txBody>
                    <a:bodyPr/>
                    <a:lstStyle/>
                    <a:p>
                      <a:pPr lvl="0" algn="l">
                        <a:lnSpc>
                          <a:spcPct val="100000"/>
                        </a:lnSpc>
                        <a:spcBef>
                          <a:spcPts val="0"/>
                        </a:spcBef>
                        <a:spcAft>
                          <a:spcPts val="0"/>
                        </a:spcAft>
                        <a:buNone/>
                      </a:pPr>
                      <a:r>
                        <a:rPr lang="en-US" sz="1100" b="0" i="0" u="none" strike="noStrike" kern="1200" noProof="0">
                          <a:solidFill>
                            <a:srgbClr val="000000"/>
                          </a:solidFill>
                        </a:rPr>
                        <a:t>Water Management</a:t>
                      </a:r>
                      <a:endParaRPr lang="en-US"/>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171450" marR="0" lvl="0" indent="-171450" algn="l">
                        <a:lnSpc>
                          <a:spcPct val="100000"/>
                        </a:lnSpc>
                        <a:buClr>
                          <a:srgbClr val="000000"/>
                        </a:buClr>
                        <a:buFont typeface="Arial,Sans-Serif"/>
                        <a:buChar char="•"/>
                      </a:pPr>
                      <a:r>
                        <a:rPr lang="en-IN" sz="1100" b="0" i="0" u="none" strike="noStrike" kern="1200" noProof="0">
                          <a:solidFill>
                            <a:srgbClr val="000000"/>
                          </a:solidFill>
                          <a:effectLst/>
                        </a:rPr>
                        <a:t>Achieve better monitoring of onboard water usage by tracking both loaded quantity and wastage for identifying SOP violations, tracking data impacting flight costs</a:t>
                      </a:r>
                      <a:endParaRPr lang="en-IN" sz="1100" b="0" i="0" u="none" strike="noStrike" kern="1200" noProof="0">
                        <a:solidFill>
                          <a:srgbClr val="000000"/>
                        </a:solidFill>
                        <a:effectLst/>
                        <a:latin typeface="Nunito San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lvl="0" indent="0" algn="l">
                        <a:lnSpc>
                          <a:spcPct val="100000"/>
                        </a:lnSpc>
                        <a:buNone/>
                      </a:pPr>
                      <a:r>
                        <a:rPr lang="en-US" sz="1100" b="0" i="0" u="none" strike="noStrike" kern="1200" noProof="0">
                          <a:solidFill>
                            <a:schemeClr val="tx1"/>
                          </a:solidFill>
                          <a:effectLst/>
                          <a:latin typeface="Nunito Sans"/>
                          <a:ea typeface="+mn-ea"/>
                          <a:cs typeface="+mn-cs"/>
                        </a:rPr>
                        <a:t>28-Aug</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lvl="0" indent="0" algn="l">
                        <a:lnSpc>
                          <a:spcPct val="100000"/>
                        </a:lnSpc>
                        <a:buNone/>
                      </a:pPr>
                      <a:endParaRPr lang="en-US" sz="1100" b="0" i="0" u="none" strike="noStrike" kern="1200" noProof="0">
                        <a:solidFill>
                          <a:schemeClr val="tx1"/>
                        </a:solidFill>
                        <a:effectLst/>
                        <a:latin typeface="Nunito Sans"/>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lvl="0" indent="0" algn="l">
                        <a:lnSpc>
                          <a:spcPct val="100000"/>
                        </a:lnSpc>
                        <a:buNone/>
                      </a:pPr>
                      <a:endParaRPr lang="en-US" sz="1100" b="0" i="0" u="none" strike="noStrike" kern="1200" noProof="0">
                        <a:solidFill>
                          <a:schemeClr val="tx1"/>
                        </a:solidFill>
                        <a:effectLst/>
                        <a:latin typeface="Nunito Sans"/>
                        <a:ea typeface="+mn-ea"/>
                        <a:cs typeface="+mn-cs"/>
                      </a:endParaRPr>
                    </a:p>
                  </a:txBody>
                  <a:tcPr anchor="ctr">
                    <a:lnL w="6350" cap="flat" cmpd="sng" algn="ctr">
                      <a:solidFill>
                        <a:schemeClr val="bg1">
                          <a:lumMod val="75000"/>
                        </a:schemeClr>
                      </a:solidFill>
                      <a:prstDash val="solid"/>
                      <a:round/>
                      <a:headEnd type="none" w="med" len="med"/>
                      <a:tailEnd type="none" w="med" len="med"/>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542160441"/>
                  </a:ext>
                </a:extLst>
              </a:tr>
              <a:tr h="507559">
                <a:tc>
                  <a:txBody>
                    <a:bodyPr/>
                    <a:lstStyle/>
                    <a:p>
                      <a:pPr lvl="0" algn="l">
                        <a:lnSpc>
                          <a:spcPct val="100000"/>
                        </a:lnSpc>
                        <a:spcBef>
                          <a:spcPts val="0"/>
                        </a:spcBef>
                        <a:spcAft>
                          <a:spcPts val="0"/>
                        </a:spcAft>
                        <a:buNone/>
                      </a:pPr>
                      <a:r>
                        <a:rPr lang="en-US" sz="1100" b="0" i="0" u="none" strike="noStrike" kern="1200" noProof="0">
                          <a:solidFill>
                            <a:srgbClr val="000000"/>
                          </a:solidFill>
                          <a:latin typeface="Nunito Sans"/>
                        </a:rPr>
                        <a:t>CM Function Visibility</a:t>
                      </a:r>
                      <a:endParaRPr lang="en-US"/>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solidFill>
                      <a:schemeClr val="bg1"/>
                    </a:solidFill>
                  </a:tcPr>
                </a:tc>
                <a:tc>
                  <a:txBody>
                    <a:bodyPr/>
                    <a:lstStyle/>
                    <a:p>
                      <a:pPr marL="171450" lvl="0" indent="-171450" algn="l">
                        <a:lnSpc>
                          <a:spcPct val="100000"/>
                        </a:lnSpc>
                        <a:buFont typeface="Arial,Sans-Serif"/>
                        <a:buChar char="•"/>
                      </a:pPr>
                      <a:r>
                        <a:rPr lang="en-IN" sz="1100" b="0" i="0" u="none" strike="noStrike" kern="1200" noProof="0">
                          <a:solidFill>
                            <a:srgbClr val="000000"/>
                          </a:solidFill>
                          <a:effectLst/>
                          <a:latin typeface="Nunito Sans"/>
                        </a:rPr>
                        <a:t>Display CM Function code along with the existing parameters of crew type and crew rank to distinguish CM responsible for higher value sections (First/Business)</a:t>
                      </a:r>
                      <a:endParaRPr lang="en-IN" sz="1100" b="0" i="0" u="none" strike="noStrike" kern="1200" noProof="0">
                        <a:solidFill>
                          <a:srgbClr val="000000"/>
                        </a:solidFill>
                        <a:effectLst/>
                      </a:endParaRP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solidFill>
                      <a:schemeClr val="bg1"/>
                    </a:solidFill>
                  </a:tcPr>
                </a:tc>
                <a:tc>
                  <a:txBody>
                    <a:bodyPr/>
                    <a:lstStyle/>
                    <a:p>
                      <a:pPr marL="0" lvl="0" indent="0" algn="l">
                        <a:lnSpc>
                          <a:spcPct val="100000"/>
                        </a:lnSpc>
                        <a:buNone/>
                      </a:pPr>
                      <a:r>
                        <a:rPr lang="en-US" sz="1100" b="0" i="0" u="none" strike="noStrike" kern="1200" noProof="0">
                          <a:solidFill>
                            <a:schemeClr val="tx1"/>
                          </a:solidFill>
                          <a:effectLst/>
                          <a:latin typeface="Nunito Sans"/>
                          <a:ea typeface="+mn-ea"/>
                          <a:cs typeface="+mn-cs"/>
                        </a:rPr>
                        <a:t>28-Aug</a:t>
                      </a: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solidFill>
                      <a:schemeClr val="bg1"/>
                    </a:solidFill>
                  </a:tcPr>
                </a:tc>
                <a:tc>
                  <a:txBody>
                    <a:bodyPr/>
                    <a:lstStyle/>
                    <a:p>
                      <a:pPr marL="0" lvl="0" indent="0" algn="l">
                        <a:lnSpc>
                          <a:spcPct val="100000"/>
                        </a:lnSpc>
                        <a:buNone/>
                      </a:pPr>
                      <a:endParaRPr lang="en-US" sz="1100" b="0" i="0" u="none" strike="noStrike" kern="1200" noProof="0">
                        <a:solidFill>
                          <a:schemeClr val="tx1"/>
                        </a:solidFill>
                        <a:effectLst/>
                        <a:latin typeface="Nunito Sans"/>
                        <a:ea typeface="+mn-ea"/>
                        <a:cs typeface="+mn-cs"/>
                      </a:endParaRP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a:solidFill>
                        <a:schemeClr val="bg1">
                          <a:lumMod val="75000"/>
                        </a:schemeClr>
                      </a:solidFill>
                    </a:lnB>
                    <a:solidFill>
                      <a:schemeClr val="bg1"/>
                    </a:solidFill>
                  </a:tcPr>
                </a:tc>
                <a:tc>
                  <a:txBody>
                    <a:bodyPr/>
                    <a:lstStyle/>
                    <a:p>
                      <a:pPr marL="0" lvl="0" indent="0" algn="l">
                        <a:lnSpc>
                          <a:spcPct val="100000"/>
                        </a:lnSpc>
                        <a:buNone/>
                      </a:pPr>
                      <a:endParaRPr lang="en-US" sz="1100" b="0" i="0" u="none" strike="noStrike" kern="1200" noProof="0">
                        <a:solidFill>
                          <a:schemeClr val="tx1"/>
                        </a:solidFill>
                        <a:effectLst/>
                        <a:latin typeface="Nunito Sans"/>
                        <a:ea typeface="+mn-ea"/>
                        <a:cs typeface="+mn-cs"/>
                      </a:endParaRPr>
                    </a:p>
                  </a:txBody>
                  <a:tcPr anchor="ctr">
                    <a:lnL w="6350">
                      <a:solidFill>
                        <a:schemeClr val="bg1">
                          <a:lumMod val="75000"/>
                        </a:schemeClr>
                      </a:solidFill>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a:solidFill>
                        <a:schemeClr val="bg1">
                          <a:lumMod val="75000"/>
                        </a:schemeClr>
                      </a:solidFill>
                    </a:lnB>
                    <a:solidFill>
                      <a:schemeClr val="bg1"/>
                    </a:solidFill>
                  </a:tcPr>
                </a:tc>
                <a:extLst>
                  <a:ext uri="{0D108BD9-81ED-4DB2-BD59-A6C34878D82A}">
                    <a16:rowId xmlns:a16="http://schemas.microsoft.com/office/drawing/2014/main" val="402018766"/>
                  </a:ext>
                </a:extLst>
              </a:tr>
            </a:tbl>
          </a:graphicData>
        </a:graphic>
      </p:graphicFrame>
      <p:sp>
        <p:nvSpPr>
          <p:cNvPr id="26" name="TextBox 25">
            <a:extLst>
              <a:ext uri="{FF2B5EF4-FFF2-40B4-BE49-F238E27FC236}">
                <a16:creationId xmlns:a16="http://schemas.microsoft.com/office/drawing/2014/main" id="{59DC50FE-FB76-2FBB-C4B0-55F70A516B73}"/>
              </a:ext>
            </a:extLst>
          </p:cNvPr>
          <p:cNvSpPr txBox="1"/>
          <p:nvPr/>
        </p:nvSpPr>
        <p:spPr>
          <a:xfrm>
            <a:off x="343955" y="3897931"/>
            <a:ext cx="417102" cy="253916"/>
          </a:xfrm>
          <a:prstGeom prst="rect">
            <a:avLst/>
          </a:prstGeom>
          <a:noFill/>
        </p:spPr>
        <p:txBody>
          <a:bodyPr wrap="none" lIns="91440" tIns="45720" rIns="91440" bIns="45720" rtlCol="0" anchor="t">
            <a:spAutoFit/>
          </a:bodyPr>
          <a:lstStyle/>
          <a:p>
            <a:r>
              <a:rPr lang="en-IN" sz="1050" b="1">
                <a:solidFill>
                  <a:schemeClr val="bg1"/>
                </a:solidFill>
                <a:latin typeface="Montserrat Light"/>
              </a:rPr>
              <a:t>Jan</a:t>
            </a:r>
            <a:endParaRPr lang="en-IN" sz="1050" b="1">
              <a:solidFill>
                <a:schemeClr val="bg1"/>
              </a:solidFill>
              <a:latin typeface="Montserrat Light" pitchFamily="2" charset="0"/>
            </a:endParaRPr>
          </a:p>
        </p:txBody>
      </p:sp>
      <p:sp>
        <p:nvSpPr>
          <p:cNvPr id="27" name="TextBox 15">
            <a:extLst>
              <a:ext uri="{FF2B5EF4-FFF2-40B4-BE49-F238E27FC236}">
                <a16:creationId xmlns:a16="http://schemas.microsoft.com/office/drawing/2014/main" id="{509BB8DD-BFF4-2A16-A626-6C678DDD4695}"/>
              </a:ext>
            </a:extLst>
          </p:cNvPr>
          <p:cNvSpPr txBox="1"/>
          <p:nvPr/>
        </p:nvSpPr>
        <p:spPr>
          <a:xfrm>
            <a:off x="398384" y="817274"/>
            <a:ext cx="417102" cy="253916"/>
          </a:xfrm>
          <a:prstGeom prst="rect">
            <a:avLst/>
          </a:prstGeom>
          <a:noFill/>
        </p:spPr>
        <p:txBody>
          <a:bodyPr wrap="non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050" b="1">
                <a:solidFill>
                  <a:schemeClr val="bg1"/>
                </a:solidFill>
                <a:latin typeface="Montserrat Light"/>
              </a:rPr>
              <a:t>Jan</a:t>
            </a:r>
            <a:endParaRPr lang="en-IN" sz="1050" b="1">
              <a:solidFill>
                <a:schemeClr val="bg1"/>
              </a:solidFill>
              <a:latin typeface="Montserrat Light" pitchFamily="2" charset="0"/>
            </a:endParaRPr>
          </a:p>
        </p:txBody>
      </p:sp>
      <p:sp>
        <p:nvSpPr>
          <p:cNvPr id="29" name="Rectangle 28">
            <a:extLst>
              <a:ext uri="{FF2B5EF4-FFF2-40B4-BE49-F238E27FC236}">
                <a16:creationId xmlns:a16="http://schemas.microsoft.com/office/drawing/2014/main" id="{A4EB3D2F-1D19-6E41-C92A-63DD3AE7758D}"/>
              </a:ext>
            </a:extLst>
          </p:cNvPr>
          <p:cNvSpPr/>
          <p:nvPr/>
        </p:nvSpPr>
        <p:spPr>
          <a:xfrm>
            <a:off x="-4474" y="793560"/>
            <a:ext cx="1067526" cy="42234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IN" sz="1400" b="1">
                <a:latin typeface="AirIndia"/>
              </a:rPr>
              <a:t>Aug</a:t>
            </a:r>
            <a:endParaRPr lang="en-US"/>
          </a:p>
        </p:txBody>
      </p:sp>
      <p:pic>
        <p:nvPicPr>
          <p:cNvPr id="34" name="Picture 33">
            <a:extLst>
              <a:ext uri="{FF2B5EF4-FFF2-40B4-BE49-F238E27FC236}">
                <a16:creationId xmlns:a16="http://schemas.microsoft.com/office/drawing/2014/main" id="{287AE8B8-00B9-A13C-833C-D174D18DB18B}"/>
              </a:ext>
            </a:extLst>
          </p:cNvPr>
          <p:cNvPicPr>
            <a:picLocks noChangeAspect="1"/>
          </p:cNvPicPr>
          <p:nvPr/>
        </p:nvPicPr>
        <p:blipFill>
          <a:blip r:embed="rId3"/>
          <a:stretch>
            <a:fillRect/>
          </a:stretch>
        </p:blipFill>
        <p:spPr>
          <a:xfrm>
            <a:off x="306161" y="6532789"/>
            <a:ext cx="8248650" cy="323850"/>
          </a:xfrm>
          <a:prstGeom prst="rect">
            <a:avLst/>
          </a:prstGeom>
        </p:spPr>
      </p:pic>
    </p:spTree>
    <p:extLst>
      <p:ext uri="{BB962C8B-B14F-4D97-AF65-F5344CB8AC3E}">
        <p14:creationId xmlns:p14="http://schemas.microsoft.com/office/powerpoint/2010/main" val="367779749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1CF036-3258-7422-EB8A-92FA6C21801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EB00F2E-94DD-0771-E544-7CEDF2205FB6}"/>
              </a:ext>
            </a:extLst>
          </p:cNvPr>
          <p:cNvSpPr>
            <a:spLocks noGrp="1"/>
          </p:cNvSpPr>
          <p:nvPr>
            <p:ph type="sldNum" sz="quarter" idx="12"/>
          </p:nvPr>
        </p:nvSpPr>
        <p:spPr/>
        <p:txBody>
          <a:bodyPr/>
          <a:lstStyle/>
          <a:p>
            <a:fld id="{3A41A254-7326-714E-AF55-4C213D6394DE}" type="slidenum">
              <a:rPr lang="en-US" sz="900" smtClean="0">
                <a:latin typeface="Montserrat Light" pitchFamily="2" charset="0"/>
              </a:rPr>
              <a:pPr/>
              <a:t>81</a:t>
            </a:fld>
            <a:endParaRPr lang="en-US" sz="900">
              <a:latin typeface="Montserrat Light" pitchFamily="2" charset="0"/>
            </a:endParaRPr>
          </a:p>
        </p:txBody>
      </p:sp>
      <p:sp>
        <p:nvSpPr>
          <p:cNvPr id="6" name="Title 11">
            <a:extLst>
              <a:ext uri="{FF2B5EF4-FFF2-40B4-BE49-F238E27FC236}">
                <a16:creationId xmlns:a16="http://schemas.microsoft.com/office/drawing/2014/main" id="{F34CEDF7-7EBF-2E97-76D2-126FF4FDFD1E}"/>
              </a:ext>
            </a:extLst>
          </p:cNvPr>
          <p:cNvSpPr txBox="1">
            <a:spLocks/>
          </p:cNvSpPr>
          <p:nvPr/>
        </p:nvSpPr>
        <p:spPr>
          <a:xfrm>
            <a:off x="304800" y="269218"/>
            <a:ext cx="8420100" cy="396638"/>
          </a:xfrm>
          <a:prstGeom prst="rect">
            <a:avLst/>
          </a:prstGeom>
        </p:spPr>
        <p:txBody>
          <a:bodyPr lIns="91440" tIns="45720" rIns="91440" bIns="45720" anchor="t">
            <a:noAutofit/>
          </a:bodyPr>
          <a:lstStyle>
            <a:lvl1pPr algn="l" defTabSz="914400" rtl="0" eaLnBrk="1" latinLnBrk="0" hangingPunct="1">
              <a:lnSpc>
                <a:spcPct val="90000"/>
              </a:lnSpc>
              <a:spcBef>
                <a:spcPct val="0"/>
              </a:spcBef>
              <a:buNone/>
              <a:defRPr sz="4400" b="1" i="0" kern="1200">
                <a:solidFill>
                  <a:schemeClr val="tx1"/>
                </a:solidFill>
                <a:latin typeface="AirIndia" pitchFamily="82" charset="77"/>
                <a:ea typeface="+mj-ea"/>
                <a:cs typeface="+mj-cs"/>
              </a:defRPr>
            </a:lvl1pPr>
          </a:lstStyle>
          <a:p>
            <a:r>
              <a:rPr lang="en-US" sz="1800">
                <a:solidFill>
                  <a:srgbClr val="C00000"/>
                </a:solidFill>
                <a:latin typeface="AirIndia"/>
              </a:rPr>
              <a:t>CE Plus - FY27 Q2 Release Plan </a:t>
            </a:r>
            <a:endParaRPr lang="en-US" sz="1800" b="0">
              <a:solidFill>
                <a:srgbClr val="000000"/>
              </a:solidFill>
              <a:latin typeface="AirIndia"/>
            </a:endParaRPr>
          </a:p>
          <a:p>
            <a:endParaRPr lang="en-US" sz="1800">
              <a:solidFill>
                <a:srgbClr val="C00000"/>
              </a:solidFill>
              <a:latin typeface="AirIndia"/>
            </a:endParaRPr>
          </a:p>
          <a:p>
            <a:endParaRPr lang="en-US" sz="1800">
              <a:solidFill>
                <a:srgbClr val="C00000"/>
              </a:solidFill>
              <a:latin typeface="AirIndia"/>
            </a:endParaRPr>
          </a:p>
        </p:txBody>
      </p:sp>
      <p:graphicFrame>
        <p:nvGraphicFramePr>
          <p:cNvPr id="4" name="Table 3">
            <a:extLst>
              <a:ext uri="{FF2B5EF4-FFF2-40B4-BE49-F238E27FC236}">
                <a16:creationId xmlns:a16="http://schemas.microsoft.com/office/drawing/2014/main" id="{BF4D4097-2D12-F1BA-F32C-FD2609B5B13C}"/>
              </a:ext>
            </a:extLst>
          </p:cNvPr>
          <p:cNvGraphicFramePr>
            <a:graphicFrameLocks noGrp="1"/>
          </p:cNvGraphicFramePr>
          <p:nvPr>
            <p:extLst>
              <p:ext uri="{D42A27DB-BD31-4B8C-83A1-F6EECF244321}">
                <p14:modId xmlns:p14="http://schemas.microsoft.com/office/powerpoint/2010/main" val="1388027174"/>
              </p:ext>
            </p:extLst>
          </p:nvPr>
        </p:nvGraphicFramePr>
        <p:xfrm>
          <a:off x="1063052" y="792699"/>
          <a:ext cx="10730563" cy="2711397"/>
        </p:xfrm>
        <a:graphic>
          <a:graphicData uri="http://schemas.openxmlformats.org/drawingml/2006/table">
            <a:tbl>
              <a:tblPr firstRow="1" bandRow="1">
                <a:tableStyleId>{5C22544A-7EE6-4342-B048-85BDC9FD1C3A}</a:tableStyleId>
              </a:tblPr>
              <a:tblGrid>
                <a:gridCol w="1217163">
                  <a:extLst>
                    <a:ext uri="{9D8B030D-6E8A-4147-A177-3AD203B41FA5}">
                      <a16:colId xmlns:a16="http://schemas.microsoft.com/office/drawing/2014/main" val="1118630623"/>
                    </a:ext>
                  </a:extLst>
                </a:gridCol>
                <a:gridCol w="6557626">
                  <a:extLst>
                    <a:ext uri="{9D8B030D-6E8A-4147-A177-3AD203B41FA5}">
                      <a16:colId xmlns:a16="http://schemas.microsoft.com/office/drawing/2014/main" val="99588705"/>
                    </a:ext>
                  </a:extLst>
                </a:gridCol>
                <a:gridCol w="906234">
                  <a:extLst>
                    <a:ext uri="{9D8B030D-6E8A-4147-A177-3AD203B41FA5}">
                      <a16:colId xmlns:a16="http://schemas.microsoft.com/office/drawing/2014/main" val="4278227373"/>
                    </a:ext>
                  </a:extLst>
                </a:gridCol>
                <a:gridCol w="876300">
                  <a:extLst>
                    <a:ext uri="{9D8B030D-6E8A-4147-A177-3AD203B41FA5}">
                      <a16:colId xmlns:a16="http://schemas.microsoft.com/office/drawing/2014/main" val="1344606147"/>
                    </a:ext>
                  </a:extLst>
                </a:gridCol>
                <a:gridCol w="1173240">
                  <a:extLst>
                    <a:ext uri="{9D8B030D-6E8A-4147-A177-3AD203B41FA5}">
                      <a16:colId xmlns:a16="http://schemas.microsoft.com/office/drawing/2014/main" val="750486340"/>
                    </a:ext>
                  </a:extLst>
                </a:gridCol>
              </a:tblGrid>
              <a:tr h="286112">
                <a:tc>
                  <a:txBody>
                    <a:bodyPr/>
                    <a:lstStyle/>
                    <a:p>
                      <a:pPr marL="0" lvl="0" indent="0" algn="ctr" defTabSz="914400">
                        <a:lnSpc>
                          <a:spcPct val="100000"/>
                        </a:lnSpc>
                        <a:buNone/>
                      </a:pPr>
                      <a:r>
                        <a:rPr lang="en-IN" sz="1100" b="1" i="0" u="none" strike="noStrike" kern="1200" noProof="0">
                          <a:solidFill>
                            <a:schemeClr val="bg1"/>
                          </a:solidFill>
                          <a:latin typeface="Avenir Next LT Pro Light"/>
                          <a:ea typeface="+mn-ea"/>
                          <a:cs typeface="+mn-cs"/>
                        </a:rPr>
                        <a:t>Projects</a:t>
                      </a:r>
                      <a:endParaRPr lang="en-US"/>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solidFill>
                      <a:srgbClr val="002060"/>
                    </a:solidFill>
                  </a:tcPr>
                </a:tc>
                <a:tc>
                  <a:txBody>
                    <a:bodyPr/>
                    <a:lstStyle/>
                    <a:p>
                      <a:pPr lvl="0" algn="ctr">
                        <a:lnSpc>
                          <a:spcPct val="100000"/>
                        </a:lnSpc>
                        <a:spcBef>
                          <a:spcPts val="0"/>
                        </a:spcBef>
                        <a:spcAft>
                          <a:spcPts val="0"/>
                        </a:spcAft>
                        <a:buNone/>
                      </a:pPr>
                      <a:r>
                        <a:rPr lang="en-IN" sz="1100" b="1" i="0" u="none" strike="noStrike" kern="1200" noProof="0">
                          <a:solidFill>
                            <a:srgbClr val="FFFFFF"/>
                          </a:solidFill>
                          <a:latin typeface="Nunito Sans"/>
                          <a:ea typeface="+mn-ea"/>
                          <a:cs typeface="+mn-cs"/>
                        </a:rPr>
                        <a:t>Value Justification/Realization</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002060"/>
                    </a:solidFill>
                  </a:tcPr>
                </a:tc>
                <a:tc>
                  <a:txBody>
                    <a:bodyPr/>
                    <a:lstStyle/>
                    <a:p>
                      <a:pPr marL="0" lvl="0" indent="0" algn="ctr">
                        <a:buNone/>
                      </a:pPr>
                      <a:r>
                        <a:rPr lang="en-IN" sz="1050" kern="1200">
                          <a:solidFill>
                            <a:schemeClr val="bg1"/>
                          </a:solidFill>
                          <a:latin typeface="Avenir Next LT Pro Light"/>
                          <a:ea typeface="+mn-ea"/>
                          <a:cs typeface="+mn-cs"/>
                        </a:rPr>
                        <a:t>Planned Go Live Date</a:t>
                      </a: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solidFill>
                      <a:srgbClr val="002060"/>
                    </a:solidFill>
                  </a:tcPr>
                </a:tc>
                <a:tc>
                  <a:txBody>
                    <a:bodyPr/>
                    <a:lstStyle/>
                    <a:p>
                      <a:pPr lvl="0" algn="ctr">
                        <a:lnSpc>
                          <a:spcPct val="100000"/>
                        </a:lnSpc>
                        <a:spcBef>
                          <a:spcPts val="0"/>
                        </a:spcBef>
                        <a:spcAft>
                          <a:spcPts val="0"/>
                        </a:spcAft>
                        <a:buNone/>
                      </a:pPr>
                      <a:r>
                        <a:rPr lang="en-IN" sz="1100" b="1" i="0" u="none" strike="noStrike" kern="1200" noProof="0">
                          <a:solidFill>
                            <a:schemeClr val="bg1"/>
                          </a:solidFill>
                          <a:latin typeface="Avenir Next LT Pro Light"/>
                          <a:ea typeface="+mn-ea"/>
                          <a:cs typeface="+mn-cs"/>
                        </a:rPr>
                        <a:t>JIRA</a:t>
                      </a:r>
                      <a:endParaRPr lang="en-IN" sz="1100" b="1" i="0" u="none" strike="noStrike" kern="1200" noProof="0">
                        <a:solidFill>
                          <a:srgbClr val="FFFFFF"/>
                        </a:solidFill>
                        <a:latin typeface="Avenir Next LT Pro Light"/>
                        <a:ea typeface="+mn-ea"/>
                        <a:cs typeface="+mn-cs"/>
                      </a:endParaRP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solidFill>
                      <a:srgbClr val="002060"/>
                    </a:solidFill>
                  </a:tcPr>
                </a:tc>
                <a:tc>
                  <a:txBody>
                    <a:bodyPr/>
                    <a:lstStyle/>
                    <a:p>
                      <a:pPr lvl="0" algn="ctr">
                        <a:lnSpc>
                          <a:spcPct val="100000"/>
                        </a:lnSpc>
                        <a:spcBef>
                          <a:spcPts val="0"/>
                        </a:spcBef>
                        <a:spcAft>
                          <a:spcPts val="0"/>
                        </a:spcAft>
                        <a:buNone/>
                      </a:pPr>
                      <a:r>
                        <a:rPr lang="en-IN" sz="1100" b="1" i="0" kern="1200">
                          <a:solidFill>
                            <a:schemeClr val="bg1"/>
                          </a:solidFill>
                          <a:latin typeface="+mn-lt"/>
                          <a:ea typeface="+mn-ea"/>
                          <a:cs typeface="+mn-cs"/>
                        </a:rPr>
                        <a:t>EIP Integration Required (Yes/No)</a:t>
                      </a:r>
                      <a:endParaRPr lang="en-IN" sz="1100" b="1" i="0" u="none" strike="noStrike" kern="1200" noProof="0">
                        <a:solidFill>
                          <a:srgbClr val="FFFFFF"/>
                        </a:solidFill>
                        <a:latin typeface="Avenir Next LT Pro Light"/>
                        <a:ea typeface="+mn-ea"/>
                        <a:cs typeface="+mn-cs"/>
                      </a:endParaRP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solidFill>
                      <a:srgbClr val="002060"/>
                    </a:solidFill>
                  </a:tcPr>
                </a:tc>
                <a:extLst>
                  <a:ext uri="{0D108BD9-81ED-4DB2-BD59-A6C34878D82A}">
                    <a16:rowId xmlns:a16="http://schemas.microsoft.com/office/drawing/2014/main" val="844450115"/>
                  </a:ext>
                </a:extLst>
              </a:tr>
              <a:tr h="507559">
                <a:tc>
                  <a:txBody>
                    <a:bodyPr/>
                    <a:lstStyle/>
                    <a:p>
                      <a:pPr lvl="0" algn="l">
                        <a:lnSpc>
                          <a:spcPct val="100000"/>
                        </a:lnSpc>
                        <a:spcBef>
                          <a:spcPts val="0"/>
                        </a:spcBef>
                        <a:spcAft>
                          <a:spcPts val="0"/>
                        </a:spcAft>
                        <a:buNone/>
                      </a:pPr>
                      <a:r>
                        <a:rPr lang="en-IN" sz="1100" b="0" i="0" u="none" strike="noStrike" kern="1200" noProof="0">
                          <a:solidFill>
                            <a:srgbClr val="000000"/>
                          </a:solidFill>
                          <a:latin typeface="Nunito Sans"/>
                        </a:rPr>
                        <a:t>Routine Procedures </a:t>
                      </a: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solidFill>
                      <a:schemeClr val="bg1"/>
                    </a:solidFill>
                  </a:tcPr>
                </a:tc>
                <a:tc>
                  <a:txBody>
                    <a:bodyPr/>
                    <a:lstStyle/>
                    <a:p>
                      <a:pPr marL="171450" marR="0" lvl="0" indent="-171450" algn="l" rtl="0">
                        <a:lnSpc>
                          <a:spcPct val="100000"/>
                        </a:lnSpc>
                        <a:spcBef>
                          <a:spcPts val="0"/>
                        </a:spcBef>
                        <a:spcAft>
                          <a:spcPts val="0"/>
                        </a:spcAft>
                        <a:buClr>
                          <a:srgbClr val="000000"/>
                        </a:buClr>
                        <a:buSzTx/>
                        <a:buFont typeface="Arial,Sans-Serif"/>
                        <a:buChar char="•"/>
                      </a:pPr>
                      <a:r>
                        <a:rPr lang="en-GB" sz="1100" b="0" i="0" u="none" strike="noStrike" noProof="0"/>
                        <a:t>Achieve easier crew reference to important procedures so as to improve operational consistency across flights.</a:t>
                      </a:r>
                      <a:endParaRPr lang="en-GB" sz="1100" b="0" i="0" u="none" strike="noStrike" noProof="0">
                        <a:latin typeface="Nunito Sans"/>
                      </a:endParaRP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solidFill>
                      <a:schemeClr val="bg1"/>
                    </a:solidFill>
                  </a:tcPr>
                </a:tc>
                <a:tc>
                  <a:txBody>
                    <a:bodyPr/>
                    <a:lstStyle/>
                    <a:p>
                      <a:pPr marL="0" lvl="0" indent="0" algn="l">
                        <a:lnSpc>
                          <a:spcPct val="100000"/>
                        </a:lnSpc>
                        <a:spcBef>
                          <a:spcPts val="0"/>
                        </a:spcBef>
                        <a:spcAft>
                          <a:spcPts val="0"/>
                        </a:spcAft>
                        <a:buNone/>
                      </a:pPr>
                      <a:r>
                        <a:rPr lang="en-US" sz="1100" b="0" i="0" u="none" strike="noStrike" kern="1200" noProof="0">
                          <a:solidFill>
                            <a:schemeClr val="tx1"/>
                          </a:solidFill>
                          <a:effectLst/>
                          <a:latin typeface="Nunito Sans"/>
                          <a:ea typeface="+mn-ea"/>
                          <a:cs typeface="+mn-cs"/>
                        </a:rPr>
                        <a:t>28-Sep</a:t>
                      </a: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solidFill>
                      <a:schemeClr val="bg1"/>
                    </a:solidFill>
                  </a:tcPr>
                </a:tc>
                <a:tc>
                  <a:txBody>
                    <a:bodyPr/>
                    <a:lstStyle/>
                    <a:p>
                      <a:pPr marL="0" lvl="0" indent="0" algn="l">
                        <a:lnSpc>
                          <a:spcPct val="100000"/>
                        </a:lnSpc>
                        <a:spcBef>
                          <a:spcPts val="0"/>
                        </a:spcBef>
                        <a:spcAft>
                          <a:spcPts val="0"/>
                        </a:spcAft>
                        <a:buNone/>
                      </a:pPr>
                      <a:endParaRPr lang="en-US" sz="1100" b="0" i="0" u="none" strike="noStrike" kern="1200" noProof="0">
                        <a:solidFill>
                          <a:schemeClr val="tx1"/>
                        </a:solidFill>
                        <a:effectLst/>
                        <a:latin typeface="Nunito Sans"/>
                        <a:ea typeface="+mn-ea"/>
                        <a:cs typeface="+mn-cs"/>
                      </a:endParaRP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a:solidFill>
                        <a:schemeClr val="bg1">
                          <a:lumMod val="75000"/>
                        </a:schemeClr>
                      </a:solidFill>
                    </a:lnB>
                    <a:solidFill>
                      <a:schemeClr val="bg1"/>
                    </a:solidFill>
                  </a:tcPr>
                </a:tc>
                <a:tc>
                  <a:txBody>
                    <a:bodyPr/>
                    <a:lstStyle/>
                    <a:p>
                      <a:pPr marL="0" lvl="0" indent="0" algn="l">
                        <a:lnSpc>
                          <a:spcPct val="100000"/>
                        </a:lnSpc>
                        <a:spcBef>
                          <a:spcPts val="0"/>
                        </a:spcBef>
                        <a:spcAft>
                          <a:spcPts val="0"/>
                        </a:spcAft>
                        <a:buNone/>
                      </a:pPr>
                      <a:endParaRPr lang="en-US" sz="1100" b="0" i="0" u="none" strike="noStrike" kern="1200" noProof="0">
                        <a:solidFill>
                          <a:schemeClr val="tx1"/>
                        </a:solidFill>
                        <a:effectLst/>
                        <a:latin typeface="Nunito Sans"/>
                        <a:ea typeface="+mn-ea"/>
                        <a:cs typeface="+mn-cs"/>
                      </a:endParaRPr>
                    </a:p>
                  </a:txBody>
                  <a:tcPr anchor="ctr">
                    <a:lnL w="6350">
                      <a:solidFill>
                        <a:schemeClr val="bg1">
                          <a:lumMod val="75000"/>
                        </a:schemeClr>
                      </a:solidFill>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951168155"/>
                  </a:ext>
                </a:extLst>
              </a:tr>
              <a:tr h="507559">
                <a:tc>
                  <a:txBody>
                    <a:bodyPr/>
                    <a:lstStyle/>
                    <a:p>
                      <a:pPr lvl="0" algn="l">
                        <a:lnSpc>
                          <a:spcPct val="100000"/>
                        </a:lnSpc>
                        <a:spcBef>
                          <a:spcPts val="0"/>
                        </a:spcBef>
                        <a:spcAft>
                          <a:spcPts val="0"/>
                        </a:spcAft>
                        <a:buNone/>
                      </a:pPr>
                      <a:r>
                        <a:rPr lang="en-US" sz="1100" b="0" i="0" u="none" strike="noStrike" kern="1200" noProof="0">
                          <a:solidFill>
                            <a:srgbClr val="000000"/>
                          </a:solidFill>
                        </a:rPr>
                        <a:t>Flight Deck Declaration Toggle</a:t>
                      </a:r>
                      <a:endParaRPr lang="en-US"/>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171450" marR="0" lvl="0" indent="-171450" algn="l">
                        <a:lnSpc>
                          <a:spcPct val="100000"/>
                        </a:lnSpc>
                        <a:buClr>
                          <a:srgbClr val="000000"/>
                        </a:buClr>
                        <a:buFont typeface="Arial,Sans-Serif"/>
                        <a:buChar char="•"/>
                      </a:pPr>
                      <a:r>
                        <a:rPr lang="en-IN" sz="1100" b="0" i="0" u="none" strike="noStrike" kern="1200" noProof="0">
                          <a:solidFill>
                            <a:srgbClr val="000000"/>
                          </a:solidFill>
                          <a:effectLst/>
                        </a:rPr>
                        <a:t>Achieve a simpler and clearer declaration process for flight deck checks through toggles for audit purposese</a:t>
                      </a:r>
                      <a:endParaRPr lang="en-IN" sz="1100" b="0" i="0" u="none" strike="noStrike" kern="1200" noProof="0" err="1">
                        <a:solidFill>
                          <a:srgbClr val="000000"/>
                        </a:solidFill>
                        <a:effectLst/>
                        <a:latin typeface="Nunito Sans"/>
                      </a:endParaRP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lvl="0" algn="l">
                        <a:lnSpc>
                          <a:spcPct val="100000"/>
                        </a:lnSpc>
                        <a:spcBef>
                          <a:spcPts val="0"/>
                        </a:spcBef>
                        <a:spcAft>
                          <a:spcPts val="0"/>
                        </a:spcAft>
                        <a:buNone/>
                      </a:pPr>
                      <a:r>
                        <a:rPr lang="en-US" sz="1100" b="0" i="0" u="none" strike="noStrike" kern="1200" noProof="0">
                          <a:solidFill>
                            <a:schemeClr val="tx1"/>
                          </a:solidFill>
                          <a:effectLst/>
                          <a:latin typeface="Nunito Sans"/>
                          <a:ea typeface="+mn-ea"/>
                          <a:cs typeface="+mn-cs"/>
                        </a:rPr>
                        <a:t>28-Sep</a:t>
                      </a:r>
                      <a:endParaRPr lang="en-US" sz="1100" b="0" i="0" u="none" strike="noStrike" kern="1200" noProof="0">
                        <a:solidFill>
                          <a:srgbClr val="000000"/>
                        </a:solidFill>
                        <a:effectLst/>
                        <a:latin typeface="Nunito Sans"/>
                        <a:ea typeface="+mn-ea"/>
                        <a:cs typeface="+mn-cs"/>
                      </a:endParaRP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lvl="0" indent="0" algn="l">
                        <a:lnSpc>
                          <a:spcPct val="100000"/>
                        </a:lnSpc>
                        <a:buNone/>
                      </a:pPr>
                      <a:endParaRPr lang="en-US" sz="1100" b="0" i="0" u="none" strike="noStrike" kern="1200" noProof="0">
                        <a:solidFill>
                          <a:schemeClr val="tx1"/>
                        </a:solidFill>
                        <a:effectLst/>
                        <a:latin typeface="Nunito Sans"/>
                        <a:ea typeface="+mn-ea"/>
                        <a:cs typeface="+mn-cs"/>
                      </a:endParaRP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lvl="0" indent="0" algn="l">
                        <a:lnSpc>
                          <a:spcPct val="100000"/>
                        </a:lnSpc>
                        <a:buNone/>
                      </a:pPr>
                      <a:endParaRPr lang="en-US" sz="1100" b="0" i="0" u="none" strike="noStrike" kern="1200" noProof="0">
                        <a:solidFill>
                          <a:schemeClr val="tx1"/>
                        </a:solidFill>
                        <a:effectLst/>
                        <a:latin typeface="Nunito Sans"/>
                        <a:ea typeface="+mn-ea"/>
                        <a:cs typeface="+mn-cs"/>
                      </a:endParaRPr>
                    </a:p>
                  </a:txBody>
                  <a:tcPr anchor="ctr">
                    <a:lnL w="6350">
                      <a:solidFill>
                        <a:schemeClr val="bg1">
                          <a:lumMod val="75000"/>
                        </a:schemeClr>
                      </a:solidFill>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542160441"/>
                  </a:ext>
                </a:extLst>
              </a:tr>
              <a:tr h="507559">
                <a:tc>
                  <a:txBody>
                    <a:bodyPr/>
                    <a:lstStyle/>
                    <a:p>
                      <a:pPr lvl="0" algn="l">
                        <a:lnSpc>
                          <a:spcPct val="100000"/>
                        </a:lnSpc>
                        <a:spcBef>
                          <a:spcPts val="0"/>
                        </a:spcBef>
                        <a:spcAft>
                          <a:spcPts val="0"/>
                        </a:spcAft>
                        <a:buNone/>
                      </a:pPr>
                      <a:r>
                        <a:rPr lang="en-US" sz="1100" b="0" i="0" u="none" strike="noStrike" kern="1200" noProof="0">
                          <a:solidFill>
                            <a:srgbClr val="000000"/>
                          </a:solidFill>
                          <a:latin typeface="Nunito Sans"/>
                        </a:rPr>
                        <a:t>Voice to Text</a:t>
                      </a:r>
                      <a:endParaRPr lang="en-US"/>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171450" lvl="0" indent="-171450" algn="l">
                        <a:lnSpc>
                          <a:spcPct val="100000"/>
                        </a:lnSpc>
                        <a:buFont typeface="Arial,Sans-Serif"/>
                        <a:buChar char="•"/>
                      </a:pPr>
                      <a:r>
                        <a:rPr lang="en-IN" sz="1100" b="0" i="0" u="none" strike="noStrike" kern="1200" noProof="0">
                          <a:solidFill>
                            <a:srgbClr val="000000"/>
                          </a:solidFill>
                          <a:effectLst/>
                          <a:latin typeface="Nunito Sans"/>
                        </a:rPr>
                        <a:t>Achieve faster data entry and reduced typing effort during reporting and filing </a:t>
                      </a:r>
                      <a:r>
                        <a:rPr lang="en-IN" sz="1100" b="0" i="0" u="none" strike="noStrike" kern="1200" noProof="0" err="1">
                          <a:solidFill>
                            <a:srgbClr val="000000"/>
                          </a:solidFill>
                          <a:effectLst/>
                          <a:latin typeface="Nunito Sans"/>
                        </a:rPr>
                        <a:t>i</a:t>
                      </a:r>
                      <a:r>
                        <a:rPr lang="en-IN" sz="1100" b="0" i="0" u="none" strike="noStrike" kern="1200" noProof="0">
                          <a:solidFill>
                            <a:srgbClr val="000000"/>
                          </a:solidFill>
                          <a:effectLst/>
                          <a:latin typeface="Nunito Sans"/>
                        </a:rPr>
                        <a:t>=of issues.</a:t>
                      </a:r>
                      <a:endParaRPr lang="en-IN" sz="1100" b="0" i="0" u="none" strike="noStrike" kern="1200" noProof="0">
                        <a:solidFill>
                          <a:srgbClr val="000000"/>
                        </a:solidFill>
                        <a:effectLst/>
                      </a:endParaRP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lvl="0" algn="l">
                        <a:lnSpc>
                          <a:spcPct val="100000"/>
                        </a:lnSpc>
                        <a:spcBef>
                          <a:spcPts val="0"/>
                        </a:spcBef>
                        <a:spcAft>
                          <a:spcPts val="0"/>
                        </a:spcAft>
                        <a:buNone/>
                      </a:pPr>
                      <a:r>
                        <a:rPr lang="en-US" sz="1100" b="0" i="0" u="none" strike="noStrike" kern="1200" noProof="0">
                          <a:solidFill>
                            <a:schemeClr val="tx1"/>
                          </a:solidFill>
                          <a:effectLst/>
                          <a:latin typeface="Nunito Sans"/>
                          <a:ea typeface="+mn-ea"/>
                          <a:cs typeface="+mn-cs"/>
                        </a:rPr>
                        <a:t>28-Sep</a:t>
                      </a:r>
                      <a:endParaRPr lang="en-US" sz="1100" b="0" i="0" u="none" strike="noStrike" kern="1200" noProof="0">
                        <a:solidFill>
                          <a:srgbClr val="000000"/>
                        </a:solidFill>
                        <a:effectLst/>
                        <a:latin typeface="Nunito Sans"/>
                        <a:ea typeface="+mn-ea"/>
                        <a:cs typeface="+mn-cs"/>
                      </a:endParaRP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lvl="0" indent="0" algn="l">
                        <a:lnSpc>
                          <a:spcPct val="100000"/>
                        </a:lnSpc>
                        <a:buNone/>
                      </a:pPr>
                      <a:endParaRPr lang="en-US" sz="1100" b="0" i="0" u="none" strike="noStrike" kern="1200" noProof="0">
                        <a:solidFill>
                          <a:schemeClr val="tx1"/>
                        </a:solidFill>
                        <a:effectLst/>
                        <a:latin typeface="Nunito Sans"/>
                        <a:ea typeface="+mn-ea"/>
                        <a:cs typeface="+mn-cs"/>
                      </a:endParaRP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lvl="0" indent="0" algn="l">
                        <a:lnSpc>
                          <a:spcPct val="100000"/>
                        </a:lnSpc>
                        <a:buNone/>
                      </a:pPr>
                      <a:endParaRPr lang="en-US" sz="1100" b="0" i="0" u="none" strike="noStrike" kern="1200" noProof="0">
                        <a:solidFill>
                          <a:schemeClr val="tx1"/>
                        </a:solidFill>
                        <a:effectLst/>
                        <a:latin typeface="Nunito Sans"/>
                        <a:ea typeface="+mn-ea"/>
                        <a:cs typeface="+mn-cs"/>
                      </a:endParaRPr>
                    </a:p>
                  </a:txBody>
                  <a:tcPr anchor="ctr">
                    <a:lnL w="6350">
                      <a:solidFill>
                        <a:schemeClr val="bg1">
                          <a:lumMod val="75000"/>
                        </a:schemeClr>
                      </a:solidFill>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99906663"/>
                  </a:ext>
                </a:extLst>
              </a:tr>
              <a:tr h="507559">
                <a:tc>
                  <a:txBody>
                    <a:bodyPr/>
                    <a:lstStyle/>
                    <a:p>
                      <a:pPr lvl="0" algn="l">
                        <a:lnSpc>
                          <a:spcPct val="100000"/>
                        </a:lnSpc>
                        <a:spcBef>
                          <a:spcPts val="0"/>
                        </a:spcBef>
                        <a:spcAft>
                          <a:spcPts val="0"/>
                        </a:spcAft>
                        <a:buNone/>
                      </a:pPr>
                      <a:r>
                        <a:rPr lang="en-US" sz="1100" b="0" i="0" u="none" strike="noStrike" kern="1200" noProof="0">
                          <a:solidFill>
                            <a:srgbClr val="000000"/>
                          </a:solidFill>
                        </a:rPr>
                        <a:t>Grooming Guidelines</a:t>
                      </a:r>
                      <a:endParaRPr lang="en-US"/>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solidFill>
                      <a:schemeClr val="bg1"/>
                    </a:solidFill>
                  </a:tcPr>
                </a:tc>
                <a:tc>
                  <a:txBody>
                    <a:bodyPr/>
                    <a:lstStyle/>
                    <a:p>
                      <a:pPr marL="171450" lvl="0" indent="-171450" algn="l">
                        <a:lnSpc>
                          <a:spcPct val="100000"/>
                        </a:lnSpc>
                        <a:buFont typeface="Arial,Sans-Serif"/>
                        <a:buChar char="•"/>
                      </a:pPr>
                      <a:r>
                        <a:rPr lang="en-IN" sz="1100" b="0" i="0" u="none" strike="noStrike" kern="1200" noProof="0">
                          <a:solidFill>
                            <a:srgbClr val="000000"/>
                          </a:solidFill>
                          <a:effectLst/>
                        </a:rPr>
                        <a:t>Achieve easier access to grooming standards so crew can follow expected norms consistently.</a:t>
                      </a:r>
                      <a:endParaRPr lang="en-IN" sz="1100" b="0" i="0" u="none" strike="noStrike" kern="1200" noProof="0">
                        <a:solidFill>
                          <a:srgbClr val="000000"/>
                        </a:solidFill>
                        <a:effectLst/>
                        <a:latin typeface="Nunito Sans"/>
                      </a:endParaRP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solidFill>
                      <a:schemeClr val="bg1"/>
                    </a:solidFill>
                  </a:tcPr>
                </a:tc>
                <a:tc>
                  <a:txBody>
                    <a:bodyPr/>
                    <a:lstStyle/>
                    <a:p>
                      <a:pPr lvl="0" algn="l">
                        <a:lnSpc>
                          <a:spcPct val="100000"/>
                        </a:lnSpc>
                        <a:spcBef>
                          <a:spcPts val="0"/>
                        </a:spcBef>
                        <a:spcAft>
                          <a:spcPts val="0"/>
                        </a:spcAft>
                        <a:buNone/>
                      </a:pPr>
                      <a:r>
                        <a:rPr lang="en-US" sz="1100" b="0" i="0" u="none" strike="noStrike" kern="1200" noProof="0">
                          <a:solidFill>
                            <a:schemeClr val="tx1"/>
                          </a:solidFill>
                          <a:effectLst/>
                          <a:latin typeface="Nunito Sans"/>
                          <a:ea typeface="+mn-ea"/>
                          <a:cs typeface="+mn-cs"/>
                        </a:rPr>
                        <a:t>28-Sep</a:t>
                      </a:r>
                      <a:endParaRPr lang="en-US" sz="1100" b="0" i="0" u="none" strike="noStrike" kern="1200" noProof="0">
                        <a:solidFill>
                          <a:srgbClr val="000000"/>
                        </a:solidFill>
                        <a:effectLst/>
                        <a:latin typeface="Nunito Sans"/>
                        <a:ea typeface="+mn-ea"/>
                        <a:cs typeface="+mn-cs"/>
                      </a:endParaRP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solidFill>
                      <a:schemeClr val="bg1"/>
                    </a:solidFill>
                  </a:tcPr>
                </a:tc>
                <a:tc>
                  <a:txBody>
                    <a:bodyPr/>
                    <a:lstStyle/>
                    <a:p>
                      <a:pPr marL="0" lvl="0" indent="0" algn="l">
                        <a:lnSpc>
                          <a:spcPct val="100000"/>
                        </a:lnSpc>
                        <a:buNone/>
                      </a:pPr>
                      <a:endParaRPr lang="en-US" sz="1100" b="0" i="0" u="none" strike="noStrike" kern="1200" noProof="0">
                        <a:solidFill>
                          <a:schemeClr val="tx1"/>
                        </a:solidFill>
                        <a:effectLst/>
                        <a:latin typeface="Nunito Sans"/>
                        <a:ea typeface="+mn-ea"/>
                        <a:cs typeface="+mn-cs"/>
                      </a:endParaRP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a:solidFill>
                        <a:schemeClr val="bg1">
                          <a:lumMod val="75000"/>
                        </a:schemeClr>
                      </a:solidFill>
                    </a:lnB>
                    <a:solidFill>
                      <a:schemeClr val="bg1"/>
                    </a:solidFill>
                  </a:tcPr>
                </a:tc>
                <a:tc>
                  <a:txBody>
                    <a:bodyPr/>
                    <a:lstStyle/>
                    <a:p>
                      <a:pPr marL="0" lvl="0" indent="0" algn="l">
                        <a:lnSpc>
                          <a:spcPct val="100000"/>
                        </a:lnSpc>
                        <a:buNone/>
                      </a:pPr>
                      <a:endParaRPr lang="en-US" sz="1100" b="0" i="0" u="none" strike="noStrike" kern="1200" noProof="0">
                        <a:solidFill>
                          <a:schemeClr val="tx1"/>
                        </a:solidFill>
                        <a:effectLst/>
                        <a:latin typeface="Nunito Sans"/>
                        <a:ea typeface="+mn-ea"/>
                        <a:cs typeface="+mn-cs"/>
                      </a:endParaRPr>
                    </a:p>
                  </a:txBody>
                  <a:tcPr anchor="ctr">
                    <a:lnL w="6350">
                      <a:solidFill>
                        <a:schemeClr val="bg1">
                          <a:lumMod val="75000"/>
                        </a:schemeClr>
                      </a:solidFill>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a:solidFill>
                        <a:schemeClr val="bg1">
                          <a:lumMod val="75000"/>
                        </a:schemeClr>
                      </a:solidFill>
                    </a:lnB>
                    <a:solidFill>
                      <a:schemeClr val="bg1"/>
                    </a:solidFill>
                  </a:tcPr>
                </a:tc>
                <a:extLst>
                  <a:ext uri="{0D108BD9-81ED-4DB2-BD59-A6C34878D82A}">
                    <a16:rowId xmlns:a16="http://schemas.microsoft.com/office/drawing/2014/main" val="912319423"/>
                  </a:ext>
                </a:extLst>
              </a:tr>
            </a:tbl>
          </a:graphicData>
        </a:graphic>
      </p:graphicFrame>
      <p:sp>
        <p:nvSpPr>
          <p:cNvPr id="26" name="TextBox 25">
            <a:extLst>
              <a:ext uri="{FF2B5EF4-FFF2-40B4-BE49-F238E27FC236}">
                <a16:creationId xmlns:a16="http://schemas.microsoft.com/office/drawing/2014/main" id="{49B727EC-99E2-ED97-3E21-866265EE84A6}"/>
              </a:ext>
            </a:extLst>
          </p:cNvPr>
          <p:cNvSpPr txBox="1"/>
          <p:nvPr/>
        </p:nvSpPr>
        <p:spPr>
          <a:xfrm>
            <a:off x="343955" y="3897931"/>
            <a:ext cx="417102" cy="253916"/>
          </a:xfrm>
          <a:prstGeom prst="rect">
            <a:avLst/>
          </a:prstGeom>
          <a:noFill/>
        </p:spPr>
        <p:txBody>
          <a:bodyPr wrap="none" lIns="91440" tIns="45720" rIns="91440" bIns="45720" rtlCol="0" anchor="t">
            <a:spAutoFit/>
          </a:bodyPr>
          <a:lstStyle/>
          <a:p>
            <a:r>
              <a:rPr lang="en-IN" sz="1050" b="1">
                <a:solidFill>
                  <a:schemeClr val="bg1"/>
                </a:solidFill>
                <a:latin typeface="Montserrat Light"/>
              </a:rPr>
              <a:t>Jan</a:t>
            </a:r>
            <a:endParaRPr lang="en-IN" sz="1050" b="1">
              <a:solidFill>
                <a:schemeClr val="bg1"/>
              </a:solidFill>
              <a:latin typeface="Montserrat Light" pitchFamily="2" charset="0"/>
            </a:endParaRPr>
          </a:p>
        </p:txBody>
      </p:sp>
      <p:sp>
        <p:nvSpPr>
          <p:cNvPr id="27" name="TextBox 15">
            <a:extLst>
              <a:ext uri="{FF2B5EF4-FFF2-40B4-BE49-F238E27FC236}">
                <a16:creationId xmlns:a16="http://schemas.microsoft.com/office/drawing/2014/main" id="{470A1785-B355-A2AF-6E52-868608E195D1}"/>
              </a:ext>
            </a:extLst>
          </p:cNvPr>
          <p:cNvSpPr txBox="1"/>
          <p:nvPr/>
        </p:nvSpPr>
        <p:spPr>
          <a:xfrm>
            <a:off x="398384" y="817274"/>
            <a:ext cx="417102" cy="253916"/>
          </a:xfrm>
          <a:prstGeom prst="rect">
            <a:avLst/>
          </a:prstGeom>
          <a:noFill/>
        </p:spPr>
        <p:txBody>
          <a:bodyPr wrap="non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050" b="1">
                <a:solidFill>
                  <a:schemeClr val="bg1"/>
                </a:solidFill>
                <a:latin typeface="Montserrat Light"/>
              </a:rPr>
              <a:t>Jan</a:t>
            </a:r>
            <a:endParaRPr lang="en-IN" sz="1050" b="1">
              <a:solidFill>
                <a:schemeClr val="bg1"/>
              </a:solidFill>
              <a:latin typeface="Montserrat Light" pitchFamily="2" charset="0"/>
            </a:endParaRPr>
          </a:p>
        </p:txBody>
      </p:sp>
      <p:sp>
        <p:nvSpPr>
          <p:cNvPr id="29" name="Rectangle 28">
            <a:extLst>
              <a:ext uri="{FF2B5EF4-FFF2-40B4-BE49-F238E27FC236}">
                <a16:creationId xmlns:a16="http://schemas.microsoft.com/office/drawing/2014/main" id="{885F66A8-B09F-2621-35C0-969323475FAD}"/>
              </a:ext>
            </a:extLst>
          </p:cNvPr>
          <p:cNvSpPr/>
          <p:nvPr/>
        </p:nvSpPr>
        <p:spPr>
          <a:xfrm>
            <a:off x="-4474" y="793560"/>
            <a:ext cx="1067526" cy="42234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IN" sz="1400" b="1">
                <a:latin typeface="AirIndia"/>
              </a:rPr>
              <a:t>Sep ‘26</a:t>
            </a:r>
            <a:endParaRPr lang="en-US"/>
          </a:p>
        </p:txBody>
      </p:sp>
      <p:pic>
        <p:nvPicPr>
          <p:cNvPr id="34" name="Picture 33">
            <a:extLst>
              <a:ext uri="{FF2B5EF4-FFF2-40B4-BE49-F238E27FC236}">
                <a16:creationId xmlns:a16="http://schemas.microsoft.com/office/drawing/2014/main" id="{FA3E7A9D-3D23-1078-5758-2BE2B301040C}"/>
              </a:ext>
            </a:extLst>
          </p:cNvPr>
          <p:cNvPicPr>
            <a:picLocks noChangeAspect="1"/>
          </p:cNvPicPr>
          <p:nvPr/>
        </p:nvPicPr>
        <p:blipFill>
          <a:blip r:embed="rId3"/>
          <a:stretch>
            <a:fillRect/>
          </a:stretch>
        </p:blipFill>
        <p:spPr>
          <a:xfrm>
            <a:off x="306161" y="6532789"/>
            <a:ext cx="8248650" cy="323850"/>
          </a:xfrm>
          <a:prstGeom prst="rect">
            <a:avLst/>
          </a:prstGeom>
        </p:spPr>
      </p:pic>
    </p:spTree>
    <p:extLst>
      <p:ext uri="{BB962C8B-B14F-4D97-AF65-F5344CB8AC3E}">
        <p14:creationId xmlns:p14="http://schemas.microsoft.com/office/powerpoint/2010/main" val="144115705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D35E4-029D-83C1-4E17-8F153E257F5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1A237EF-4484-6C49-8935-5B1A69919157}"/>
              </a:ext>
            </a:extLst>
          </p:cNvPr>
          <p:cNvSpPr>
            <a:spLocks noGrp="1"/>
          </p:cNvSpPr>
          <p:nvPr>
            <p:ph type="sldNum" sz="quarter" idx="12"/>
          </p:nvPr>
        </p:nvSpPr>
        <p:spPr/>
        <p:txBody>
          <a:bodyPr/>
          <a:lstStyle/>
          <a:p>
            <a:fld id="{3A41A254-7326-714E-AF55-4C213D6394DE}" type="slidenum">
              <a:rPr lang="en-US" sz="900" smtClean="0">
                <a:latin typeface="Montserrat Light" pitchFamily="2" charset="0"/>
              </a:rPr>
              <a:pPr/>
              <a:t>82</a:t>
            </a:fld>
            <a:endParaRPr lang="en-US" sz="900">
              <a:latin typeface="Montserrat Light" pitchFamily="2" charset="0"/>
            </a:endParaRPr>
          </a:p>
        </p:txBody>
      </p:sp>
      <p:sp>
        <p:nvSpPr>
          <p:cNvPr id="6" name="Title 11">
            <a:extLst>
              <a:ext uri="{FF2B5EF4-FFF2-40B4-BE49-F238E27FC236}">
                <a16:creationId xmlns:a16="http://schemas.microsoft.com/office/drawing/2014/main" id="{2863A845-ECDF-FC19-A6D3-BABD369BA849}"/>
              </a:ext>
            </a:extLst>
          </p:cNvPr>
          <p:cNvSpPr txBox="1">
            <a:spLocks/>
          </p:cNvSpPr>
          <p:nvPr/>
        </p:nvSpPr>
        <p:spPr>
          <a:xfrm>
            <a:off x="304800" y="269218"/>
            <a:ext cx="8420100" cy="396638"/>
          </a:xfrm>
          <a:prstGeom prst="rect">
            <a:avLst/>
          </a:prstGeom>
        </p:spPr>
        <p:txBody>
          <a:bodyPr lIns="91440" tIns="45720" rIns="91440" bIns="45720" anchor="t">
            <a:noAutofit/>
          </a:bodyPr>
          <a:lstStyle>
            <a:lvl1pPr algn="l" defTabSz="914400" rtl="0" eaLnBrk="1" latinLnBrk="0" hangingPunct="1">
              <a:lnSpc>
                <a:spcPct val="90000"/>
              </a:lnSpc>
              <a:spcBef>
                <a:spcPct val="0"/>
              </a:spcBef>
              <a:buNone/>
              <a:defRPr sz="4400" b="1" i="0" kern="1200">
                <a:solidFill>
                  <a:schemeClr val="tx1"/>
                </a:solidFill>
                <a:latin typeface="AirIndia" pitchFamily="82" charset="77"/>
                <a:ea typeface="+mj-ea"/>
                <a:cs typeface="+mj-cs"/>
              </a:defRPr>
            </a:lvl1pPr>
          </a:lstStyle>
          <a:p>
            <a:r>
              <a:rPr lang="en-US" sz="1800" err="1">
                <a:solidFill>
                  <a:srgbClr val="C00000"/>
                </a:solidFill>
                <a:latin typeface="AirIndia"/>
              </a:rPr>
              <a:t>myAI</a:t>
            </a:r>
            <a:r>
              <a:rPr lang="en-US" sz="1800">
                <a:solidFill>
                  <a:srgbClr val="C00000"/>
                </a:solidFill>
                <a:latin typeface="AirIndia"/>
              </a:rPr>
              <a:t> - FY27 Q2  Release Plan </a:t>
            </a:r>
            <a:endParaRPr lang="en-US" sz="1800" b="0">
              <a:solidFill>
                <a:srgbClr val="C00000"/>
              </a:solidFill>
              <a:latin typeface="AirIndia"/>
            </a:endParaRPr>
          </a:p>
        </p:txBody>
      </p:sp>
      <p:graphicFrame>
        <p:nvGraphicFramePr>
          <p:cNvPr id="4" name="Table 3">
            <a:extLst>
              <a:ext uri="{FF2B5EF4-FFF2-40B4-BE49-F238E27FC236}">
                <a16:creationId xmlns:a16="http://schemas.microsoft.com/office/drawing/2014/main" id="{F1B39A22-4BB7-2B0D-1A14-DF65A10A9283}"/>
              </a:ext>
            </a:extLst>
          </p:cNvPr>
          <p:cNvGraphicFramePr>
            <a:graphicFrameLocks noGrp="1"/>
          </p:cNvGraphicFramePr>
          <p:nvPr>
            <p:extLst>
              <p:ext uri="{D42A27DB-BD31-4B8C-83A1-F6EECF244321}">
                <p14:modId xmlns:p14="http://schemas.microsoft.com/office/powerpoint/2010/main" val="3953379024"/>
              </p:ext>
            </p:extLst>
          </p:nvPr>
        </p:nvGraphicFramePr>
        <p:xfrm>
          <a:off x="1067582" y="664730"/>
          <a:ext cx="10726034" cy="5932999"/>
        </p:xfrm>
        <a:graphic>
          <a:graphicData uri="http://schemas.openxmlformats.org/drawingml/2006/table">
            <a:tbl>
              <a:tblPr firstRow="1" bandRow="1">
                <a:tableStyleId>{5C22544A-7EE6-4342-B048-85BDC9FD1C3A}</a:tableStyleId>
              </a:tblPr>
              <a:tblGrid>
                <a:gridCol w="1516763">
                  <a:extLst>
                    <a:ext uri="{9D8B030D-6E8A-4147-A177-3AD203B41FA5}">
                      <a16:colId xmlns:a16="http://schemas.microsoft.com/office/drawing/2014/main" val="1118630623"/>
                    </a:ext>
                  </a:extLst>
                </a:gridCol>
                <a:gridCol w="6251910">
                  <a:extLst>
                    <a:ext uri="{9D8B030D-6E8A-4147-A177-3AD203B41FA5}">
                      <a16:colId xmlns:a16="http://schemas.microsoft.com/office/drawing/2014/main" val="99588705"/>
                    </a:ext>
                  </a:extLst>
                </a:gridCol>
                <a:gridCol w="931259">
                  <a:extLst>
                    <a:ext uri="{9D8B030D-6E8A-4147-A177-3AD203B41FA5}">
                      <a16:colId xmlns:a16="http://schemas.microsoft.com/office/drawing/2014/main" val="4278227373"/>
                    </a:ext>
                  </a:extLst>
                </a:gridCol>
                <a:gridCol w="824286">
                  <a:extLst>
                    <a:ext uri="{9D8B030D-6E8A-4147-A177-3AD203B41FA5}">
                      <a16:colId xmlns:a16="http://schemas.microsoft.com/office/drawing/2014/main" val="1344606147"/>
                    </a:ext>
                  </a:extLst>
                </a:gridCol>
                <a:gridCol w="1201816">
                  <a:extLst>
                    <a:ext uri="{9D8B030D-6E8A-4147-A177-3AD203B41FA5}">
                      <a16:colId xmlns:a16="http://schemas.microsoft.com/office/drawing/2014/main" val="4238453847"/>
                    </a:ext>
                  </a:extLst>
                </a:gridCol>
              </a:tblGrid>
              <a:tr h="286112">
                <a:tc>
                  <a:txBody>
                    <a:bodyPr/>
                    <a:lstStyle/>
                    <a:p>
                      <a:pPr marL="0" lvl="0" indent="0" algn="ctr" defTabSz="914400">
                        <a:lnSpc>
                          <a:spcPct val="100000"/>
                        </a:lnSpc>
                        <a:buNone/>
                      </a:pPr>
                      <a:r>
                        <a:rPr lang="en-IN" sz="1100" b="1" i="0" u="none" strike="noStrike" kern="1200" noProof="0">
                          <a:solidFill>
                            <a:schemeClr val="bg1"/>
                          </a:solidFill>
                          <a:latin typeface="Avenir Next LT Pro Light"/>
                          <a:ea typeface="+mn-ea"/>
                          <a:cs typeface="+mn-cs"/>
                        </a:rPr>
                        <a:t>Projects</a:t>
                      </a:r>
                      <a:endParaRPr lang="en-US"/>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solidFill>
                      <a:srgbClr val="002060"/>
                    </a:solidFill>
                  </a:tcPr>
                </a:tc>
                <a:tc>
                  <a:txBody>
                    <a:bodyPr/>
                    <a:lstStyle/>
                    <a:p>
                      <a:pPr lvl="0" algn="ctr">
                        <a:lnSpc>
                          <a:spcPct val="100000"/>
                        </a:lnSpc>
                        <a:spcBef>
                          <a:spcPts val="0"/>
                        </a:spcBef>
                        <a:spcAft>
                          <a:spcPts val="0"/>
                        </a:spcAft>
                        <a:buNone/>
                      </a:pPr>
                      <a:r>
                        <a:rPr lang="en-IN" sz="1100" b="1" i="0" u="none" strike="noStrike" kern="1200" noProof="0">
                          <a:solidFill>
                            <a:srgbClr val="FFFFFF"/>
                          </a:solidFill>
                          <a:latin typeface="Nunito Sans"/>
                          <a:ea typeface="+mn-ea"/>
                          <a:cs typeface="+mn-cs"/>
                        </a:rPr>
                        <a:t>Value Justification/Realization</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002060"/>
                    </a:solidFill>
                  </a:tcPr>
                </a:tc>
                <a:tc>
                  <a:txBody>
                    <a:bodyPr/>
                    <a:lstStyle/>
                    <a:p>
                      <a:pPr marL="0" lvl="0" indent="0" algn="ctr">
                        <a:buNone/>
                      </a:pPr>
                      <a:r>
                        <a:rPr lang="en-IN" sz="1050" kern="1200">
                          <a:solidFill>
                            <a:schemeClr val="bg1"/>
                          </a:solidFill>
                          <a:latin typeface="Avenir Next LT Pro Light"/>
                          <a:ea typeface="+mn-ea"/>
                          <a:cs typeface="+mn-cs"/>
                        </a:rPr>
                        <a:t>Planned Go Live Date</a:t>
                      </a: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a:solidFill>
                        <a:schemeClr val="bg1">
                          <a:lumMod val="75000"/>
                        </a:schemeClr>
                      </a:solidFill>
                    </a:lnB>
                    <a:solidFill>
                      <a:srgbClr val="002060"/>
                    </a:solidFill>
                  </a:tcPr>
                </a:tc>
                <a:tc>
                  <a:txBody>
                    <a:bodyPr/>
                    <a:lstStyle/>
                    <a:p>
                      <a:pPr lvl="0" algn="ctr">
                        <a:lnSpc>
                          <a:spcPct val="100000"/>
                        </a:lnSpc>
                        <a:spcBef>
                          <a:spcPts val="0"/>
                        </a:spcBef>
                        <a:spcAft>
                          <a:spcPts val="0"/>
                        </a:spcAft>
                        <a:buNone/>
                      </a:pPr>
                      <a:r>
                        <a:rPr lang="en-IN" sz="1100" b="1" i="0" u="none" strike="noStrike" kern="1200" noProof="0">
                          <a:solidFill>
                            <a:schemeClr val="bg1"/>
                          </a:solidFill>
                          <a:latin typeface="Avenir Next LT Pro Light"/>
                          <a:ea typeface="+mn-ea"/>
                          <a:cs typeface="+mn-cs"/>
                        </a:rPr>
                        <a:t>JIRA</a:t>
                      </a:r>
                      <a:endParaRPr lang="en-IN" sz="1100" b="1" i="0" u="none" strike="noStrike" kern="1200" noProof="0">
                        <a:solidFill>
                          <a:srgbClr val="FFFFFF"/>
                        </a:solidFill>
                        <a:latin typeface="Avenir Next LT Pro Light"/>
                        <a:ea typeface="+mn-ea"/>
                        <a:cs typeface="+mn-cs"/>
                      </a:endParaRP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a:solidFill>
                        <a:schemeClr val="bg1">
                          <a:lumMod val="75000"/>
                        </a:schemeClr>
                      </a:solidFill>
                    </a:lnB>
                    <a:solidFill>
                      <a:srgbClr val="00206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100" b="1" i="0" kern="1200">
                          <a:solidFill>
                            <a:schemeClr val="bg1"/>
                          </a:solidFill>
                          <a:latin typeface="+mn-lt"/>
                          <a:ea typeface="+mn-ea"/>
                          <a:cs typeface="+mn-cs"/>
                        </a:rPr>
                        <a:t>EIP Integration Required (Yes/No)</a:t>
                      </a: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solidFill>
                      <a:srgbClr val="002060"/>
                    </a:solidFill>
                  </a:tcPr>
                </a:tc>
                <a:extLst>
                  <a:ext uri="{0D108BD9-81ED-4DB2-BD59-A6C34878D82A}">
                    <a16:rowId xmlns:a16="http://schemas.microsoft.com/office/drawing/2014/main" val="844450115"/>
                  </a:ext>
                </a:extLst>
              </a:tr>
              <a:tr h="507559">
                <a:tc>
                  <a:txBody>
                    <a:bodyPr/>
                    <a:lstStyle/>
                    <a:p>
                      <a:pPr lvl="0" algn="l">
                        <a:lnSpc>
                          <a:spcPct val="100000"/>
                        </a:lnSpc>
                        <a:spcBef>
                          <a:spcPts val="0"/>
                        </a:spcBef>
                        <a:spcAft>
                          <a:spcPts val="0"/>
                        </a:spcAft>
                        <a:buNone/>
                      </a:pPr>
                      <a:r>
                        <a:rPr lang="en-IN" sz="1100" b="0" i="0" u="none" strike="noStrike" kern="1200" noProof="0">
                          <a:solidFill>
                            <a:srgbClr val="000000"/>
                          </a:solidFill>
                          <a:latin typeface="Nunito Sans"/>
                        </a:rPr>
                        <a:t>Digitization of Pilots, Cabin Crew and Dispatch team Training records</a:t>
                      </a:r>
                      <a:endParaRPr lang="en-US" sz="1100">
                        <a:latin typeface="Nunito Sans"/>
                      </a:endParaRPr>
                    </a:p>
                  </a:txBody>
                  <a:tcPr anchor="ctr">
                    <a:lnL w="6350">
                      <a:solidFill>
                        <a:schemeClr val="bg1">
                          <a:lumMod val="75000"/>
                        </a:schemeClr>
                      </a:solidFill>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171450" marR="0" lvl="0" indent="-171450" algn="l" rtl="0">
                        <a:lnSpc>
                          <a:spcPct val="100000"/>
                        </a:lnSpc>
                        <a:spcBef>
                          <a:spcPts val="0"/>
                        </a:spcBef>
                        <a:spcAft>
                          <a:spcPts val="0"/>
                        </a:spcAft>
                        <a:buClr>
                          <a:srgbClr val="000000"/>
                        </a:buClr>
                        <a:buSzTx/>
                        <a:buFont typeface="Arial,Sans-Serif"/>
                        <a:buChar char="•"/>
                      </a:pPr>
                      <a:r>
                        <a:rPr lang="en-GB" sz="1100" b="0" i="0" u="none" strike="noStrike" noProof="0">
                          <a:latin typeface="Nunito Sans"/>
                        </a:rPr>
                        <a:t>Digitization of training records through document upload, OCR-based data extraction, validation workflows, and centralized record management</a:t>
                      </a:r>
                    </a:p>
                    <a:p>
                      <a:pPr marL="171450" marR="0" lvl="0" indent="-171450" algn="l">
                        <a:lnSpc>
                          <a:spcPct val="100000"/>
                        </a:lnSpc>
                        <a:spcBef>
                          <a:spcPts val="0"/>
                        </a:spcBef>
                        <a:spcAft>
                          <a:spcPts val="0"/>
                        </a:spcAft>
                        <a:buClr>
                          <a:srgbClr val="000000"/>
                        </a:buClr>
                        <a:buSzTx/>
                        <a:buFont typeface="Arial,Sans-Serif"/>
                        <a:buChar char="•"/>
                      </a:pPr>
                      <a:r>
                        <a:rPr lang="en-GB" sz="1100" b="0" i="0" u="none" strike="noStrike" noProof="0">
                          <a:latin typeface="Nunito Sans"/>
                        </a:rPr>
                        <a:t>Supports Botminds replacement, ensures regulatory compliance, and improves efficiency through centralized digital management of training and qualification records.</a:t>
                      </a:r>
                    </a:p>
                    <a:p>
                      <a:pPr marL="171450" marR="0" lvl="0" indent="-171450" algn="l">
                        <a:lnSpc>
                          <a:spcPct val="100000"/>
                        </a:lnSpc>
                        <a:spcBef>
                          <a:spcPts val="0"/>
                        </a:spcBef>
                        <a:spcAft>
                          <a:spcPts val="0"/>
                        </a:spcAft>
                        <a:buClr>
                          <a:srgbClr val="000000"/>
                        </a:buClr>
                        <a:buSzTx/>
                        <a:buFont typeface="Arial,Sans-Serif"/>
                        <a:buChar char="•"/>
                      </a:pPr>
                      <a:endParaRPr lang="en-GB" sz="1100" b="0" i="0" u="none" strike="noStrike" noProof="0">
                        <a:latin typeface="Nunito Sans"/>
                      </a:endParaRP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a:solidFill>
                        <a:schemeClr val="bg1">
                          <a:lumMod val="75000"/>
                        </a:schemeClr>
                      </a:solidFill>
                    </a:lnB>
                    <a:solidFill>
                      <a:schemeClr val="bg1"/>
                    </a:solidFill>
                  </a:tcPr>
                </a:tc>
                <a:tc>
                  <a:txBody>
                    <a:bodyPr/>
                    <a:lstStyle/>
                    <a:p>
                      <a:pPr marL="0" lvl="0" indent="0" algn="l">
                        <a:lnSpc>
                          <a:spcPct val="100000"/>
                        </a:lnSpc>
                        <a:spcBef>
                          <a:spcPts val="0"/>
                        </a:spcBef>
                        <a:spcAft>
                          <a:spcPts val="0"/>
                        </a:spcAft>
                        <a:buNone/>
                      </a:pPr>
                      <a:endParaRPr lang="en-US" sz="1100" b="0" i="0" u="none" strike="noStrike" kern="1200" noProof="0">
                        <a:solidFill>
                          <a:schemeClr val="tx1"/>
                        </a:solidFill>
                        <a:effectLst/>
                        <a:latin typeface="Nunito Sans"/>
                        <a:ea typeface="+mn-ea"/>
                        <a:cs typeface="+mn-cs"/>
                      </a:endParaRP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a:solidFill>
                        <a:schemeClr val="bg1">
                          <a:lumMod val="75000"/>
                        </a:schemeClr>
                      </a:solidFill>
                    </a:lnB>
                    <a:solidFill>
                      <a:schemeClr val="bg1"/>
                    </a:solidFill>
                  </a:tcPr>
                </a:tc>
                <a:tc>
                  <a:txBody>
                    <a:bodyPr/>
                    <a:lstStyle/>
                    <a:p>
                      <a:pPr marL="0" lvl="0" indent="0" algn="l">
                        <a:lnSpc>
                          <a:spcPct val="100000"/>
                        </a:lnSpc>
                        <a:spcBef>
                          <a:spcPts val="0"/>
                        </a:spcBef>
                        <a:spcAft>
                          <a:spcPts val="0"/>
                        </a:spcAft>
                        <a:buNone/>
                      </a:pPr>
                      <a:r>
                        <a:rPr lang="en-US" sz="1100" b="0" i="0" u="none" strike="noStrike" kern="1200" noProof="0">
                          <a:solidFill>
                            <a:srgbClr val="242424"/>
                          </a:solidFill>
                          <a:effectLst/>
                          <a:highlight>
                            <a:srgbClr val="FFFFFF"/>
                          </a:highlight>
                          <a:latin typeface="Nunito Sans"/>
                          <a:ea typeface="+mn-ea"/>
                          <a:cs typeface="+mn-cs"/>
                          <a:hlinkClick r:id="rId3"/>
                        </a:rPr>
                        <a:t>MC-1654</a:t>
                      </a:r>
                      <a:endParaRPr lang="en-US" sz="1100" b="0" i="0" u="none" strike="noStrike" kern="1200" noProof="0">
                        <a:solidFill>
                          <a:srgbClr val="242424"/>
                        </a:solidFill>
                        <a:effectLst/>
                        <a:highlight>
                          <a:srgbClr val="FFFFFF"/>
                        </a:highlight>
                        <a:latin typeface="Nunito Sans"/>
                        <a:ea typeface="+mn-ea"/>
                        <a:cs typeface="+mn-cs"/>
                      </a:endParaRP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a:solidFill>
                        <a:schemeClr val="bg1">
                          <a:lumMod val="75000"/>
                        </a:schemeClr>
                      </a:solidFill>
                    </a:lnB>
                    <a:solidFill>
                      <a:schemeClr val="bg1"/>
                    </a:solidFill>
                  </a:tcPr>
                </a:tc>
                <a:tc>
                  <a:txBody>
                    <a:bodyPr/>
                    <a:lstStyle/>
                    <a:p>
                      <a:pPr marL="0" lvl="0" indent="0" algn="l">
                        <a:lnSpc>
                          <a:spcPct val="100000"/>
                        </a:lnSpc>
                        <a:spcBef>
                          <a:spcPts val="0"/>
                        </a:spcBef>
                        <a:spcAft>
                          <a:spcPts val="0"/>
                        </a:spcAft>
                        <a:buNone/>
                      </a:pPr>
                      <a:endParaRPr lang="en-US" sz="1100" b="0" i="0" u="none" strike="noStrike" kern="1200" noProof="0">
                        <a:solidFill>
                          <a:srgbClr val="242424"/>
                        </a:solidFill>
                        <a:effectLst/>
                        <a:highlight>
                          <a:srgbClr val="FFFFFF"/>
                        </a:highlight>
                        <a:latin typeface="Nunito Sans"/>
                        <a:ea typeface="+mn-ea"/>
                        <a:cs typeface="+mn-cs"/>
                      </a:endParaRPr>
                    </a:p>
                  </a:txBody>
                  <a:tcPr anchor="ctr">
                    <a:lnL w="6350">
                      <a:solidFill>
                        <a:schemeClr val="bg1">
                          <a:lumMod val="75000"/>
                        </a:schemeClr>
                      </a:solidFill>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951168155"/>
                  </a:ext>
                </a:extLst>
              </a:tr>
              <a:tr h="507559">
                <a:tc>
                  <a:txBody>
                    <a:bodyPr/>
                    <a:lstStyle/>
                    <a:p>
                      <a:pPr lvl="0" algn="l">
                        <a:lnSpc>
                          <a:spcPct val="100000"/>
                        </a:lnSpc>
                        <a:spcBef>
                          <a:spcPts val="0"/>
                        </a:spcBef>
                        <a:spcAft>
                          <a:spcPts val="0"/>
                        </a:spcAft>
                        <a:buNone/>
                      </a:pPr>
                      <a:r>
                        <a:rPr lang="en-US" sz="1100" b="0" i="0" u="none" strike="noStrike" kern="1200" noProof="0">
                          <a:solidFill>
                            <a:srgbClr val="000000"/>
                          </a:solidFill>
                          <a:latin typeface="Nunito Sans"/>
                        </a:rPr>
                        <a:t>Admin Access for Pilot/CC/Dispatch</a:t>
                      </a:r>
                      <a:endParaRPr lang="en-US" sz="1100">
                        <a:latin typeface="Nunito Sans"/>
                      </a:endParaRPr>
                    </a:p>
                    <a:p>
                      <a:pPr lvl="0" algn="l">
                        <a:lnSpc>
                          <a:spcPct val="100000"/>
                        </a:lnSpc>
                        <a:spcBef>
                          <a:spcPts val="0"/>
                        </a:spcBef>
                        <a:spcAft>
                          <a:spcPts val="0"/>
                        </a:spcAft>
                        <a:buNone/>
                      </a:pPr>
                      <a:r>
                        <a:rPr lang="en-US" sz="1100" b="0" i="0" u="none" strike="noStrike" kern="1200" noProof="0">
                          <a:solidFill>
                            <a:srgbClr val="000000"/>
                          </a:solidFill>
                          <a:latin typeface="Nunito Sans"/>
                        </a:rPr>
                        <a:t>Training Docs </a:t>
                      </a:r>
                      <a:endParaRPr lang="en-US" sz="1100">
                        <a:latin typeface="Nunito Sans"/>
                      </a:endParaRPr>
                    </a:p>
                  </a:txBody>
                  <a:tcPr anchor="ctr">
                    <a:lnL w="6350">
                      <a:solidFill>
                        <a:schemeClr val="bg1">
                          <a:lumMod val="75000"/>
                        </a:schemeClr>
                      </a:solidFill>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171450" marR="0" lvl="0" indent="-171450" algn="l">
                        <a:lnSpc>
                          <a:spcPct val="100000"/>
                        </a:lnSpc>
                        <a:buClr>
                          <a:srgbClr val="000000"/>
                        </a:buClr>
                        <a:buFont typeface="Arial,Sans-Serif"/>
                        <a:buChar char="•"/>
                      </a:pPr>
                      <a:r>
                        <a:rPr lang="en-IN" sz="1100" b="0" i="0" u="none" strike="noStrike" kern="1200" noProof="0">
                          <a:solidFill>
                            <a:srgbClr val="000000"/>
                          </a:solidFill>
                          <a:effectLst/>
                          <a:latin typeface="Nunito Sans"/>
                        </a:rPr>
                        <a:t>Provides administrators with centralized access to view, search and manage training, license and qualification documents for Pilots, Cabin Crew, and Dispatch team with a central audit trail.</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lvl="0" indent="0" algn="l">
                        <a:lnSpc>
                          <a:spcPct val="100000"/>
                        </a:lnSpc>
                        <a:buNone/>
                      </a:pPr>
                      <a:endParaRPr lang="en-IN" sz="1100" b="0" i="0" u="none" strike="noStrike" kern="1200" noProof="0">
                        <a:solidFill>
                          <a:srgbClr val="000000"/>
                        </a:solidFill>
                        <a:effectLst/>
                        <a:latin typeface="Nunito Sans"/>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a:solidFill>
                        <a:schemeClr val="bg1">
                          <a:lumMod val="75000"/>
                        </a:schemeClr>
                      </a:solidFill>
                    </a:lnB>
                    <a:solidFill>
                      <a:schemeClr val="bg1"/>
                    </a:solidFill>
                  </a:tcPr>
                </a:tc>
                <a:tc>
                  <a:txBody>
                    <a:bodyPr/>
                    <a:lstStyle/>
                    <a:p>
                      <a:pPr marL="0" lvl="0" indent="0" algn="l">
                        <a:lnSpc>
                          <a:spcPct val="100000"/>
                        </a:lnSpc>
                        <a:buNone/>
                      </a:pPr>
                      <a:r>
                        <a:rPr lang="en-US" sz="1100" b="0" i="0" u="none" strike="noStrike" kern="1200" noProof="0">
                          <a:solidFill>
                            <a:srgbClr val="242424"/>
                          </a:solidFill>
                          <a:effectLst/>
                          <a:highlight>
                            <a:srgbClr val="FFFFFF"/>
                          </a:highlight>
                          <a:latin typeface="Nunito Sans"/>
                          <a:ea typeface="+mn-ea"/>
                          <a:cs typeface="+mn-cs"/>
                          <a:hlinkClick r:id="rId3"/>
                        </a:rPr>
                        <a:t>MC-1654</a:t>
                      </a:r>
                      <a:endParaRPr lang="en-US" sz="1100">
                        <a:latin typeface="Nunito San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a:solidFill>
                        <a:schemeClr val="bg1">
                          <a:lumMod val="75000"/>
                        </a:schemeClr>
                      </a:solidFill>
                    </a:lnB>
                    <a:solidFill>
                      <a:schemeClr val="bg1"/>
                    </a:solidFill>
                  </a:tcPr>
                </a:tc>
                <a:tc>
                  <a:txBody>
                    <a:bodyPr/>
                    <a:lstStyle/>
                    <a:p>
                      <a:pPr marL="0" lvl="0" indent="0" algn="l">
                        <a:lnSpc>
                          <a:spcPct val="100000"/>
                        </a:lnSpc>
                        <a:buNone/>
                      </a:pPr>
                      <a:endParaRPr lang="en-US" sz="1100">
                        <a:latin typeface="Nunito Sans"/>
                      </a:endParaRPr>
                    </a:p>
                  </a:txBody>
                  <a:tcPr anchor="ctr">
                    <a:lnL w="6350" cap="flat" cmpd="sng" algn="ctr">
                      <a:solidFill>
                        <a:schemeClr val="bg1">
                          <a:lumMod val="75000"/>
                        </a:schemeClr>
                      </a:solidFill>
                      <a:prstDash val="solid"/>
                      <a:round/>
                      <a:headEnd type="none" w="med" len="med"/>
                      <a:tailEnd type="none" w="med" len="med"/>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542160441"/>
                  </a:ext>
                </a:extLst>
              </a:tr>
              <a:tr h="507559">
                <a:tc>
                  <a:txBody>
                    <a:bodyPr/>
                    <a:lstStyle/>
                    <a:p>
                      <a:pPr lvl="0" algn="l">
                        <a:lnSpc>
                          <a:spcPct val="100000"/>
                        </a:lnSpc>
                        <a:spcBef>
                          <a:spcPts val="0"/>
                        </a:spcBef>
                        <a:spcAft>
                          <a:spcPts val="0"/>
                        </a:spcAft>
                        <a:buNone/>
                      </a:pPr>
                      <a:r>
                        <a:rPr lang="en-GB" sz="1100" b="0" i="0" u="none" strike="noStrike" kern="1200" noProof="0">
                          <a:solidFill>
                            <a:srgbClr val="000000"/>
                          </a:solidFill>
                          <a:latin typeface="Nunito Sans"/>
                        </a:rPr>
                        <a:t>Pilot/CC Docs – Camera, Photo Album, Multi-photo Upload </a:t>
                      </a:r>
                      <a:endParaRPr lang="en-US" sz="1100">
                        <a:latin typeface="Nunito Sans"/>
                      </a:endParaRP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171450" marR="0" lvl="0" indent="-171450" algn="l">
                        <a:lnSpc>
                          <a:spcPct val="100000"/>
                        </a:lnSpc>
                        <a:spcBef>
                          <a:spcPts val="0"/>
                        </a:spcBef>
                        <a:spcAft>
                          <a:spcPts val="0"/>
                        </a:spcAft>
                        <a:buClr>
                          <a:srgbClr val="000000"/>
                        </a:buClr>
                        <a:buFont typeface="Arial,Sans-Serif"/>
                        <a:buChar char="•"/>
                      </a:pPr>
                      <a:r>
                        <a:rPr lang="en-US" sz="1100" b="0" i="0" u="none" strike="noStrike" kern="1200" noProof="0">
                          <a:solidFill>
                            <a:srgbClr val="000000"/>
                          </a:solidFill>
                          <a:effectLst/>
                          <a:latin typeface="Nunito Sans"/>
                        </a:rPr>
                        <a:t>Enabling camera integration, photo album access and multi photo for upload functionality in a single submission flow with automatic PDF conversion </a:t>
                      </a:r>
                    </a:p>
                    <a:p>
                      <a:pPr marL="171450" marR="0" lvl="0" indent="-171450" algn="l">
                        <a:lnSpc>
                          <a:spcPct val="100000"/>
                        </a:lnSpc>
                        <a:spcBef>
                          <a:spcPts val="0"/>
                        </a:spcBef>
                        <a:spcAft>
                          <a:spcPts val="0"/>
                        </a:spcAft>
                        <a:buClr>
                          <a:srgbClr val="000000"/>
                        </a:buClr>
                        <a:buFont typeface="Arial,Sans-Serif"/>
                        <a:buChar char="•"/>
                      </a:pPr>
                      <a:r>
                        <a:rPr lang="en-US" sz="1100" b="0" i="0" u="none" strike="noStrike" kern="1200" noProof="0">
                          <a:solidFill>
                            <a:srgbClr val="000000"/>
                          </a:solidFill>
                          <a:effectLst/>
                          <a:latin typeface="Nunito Sans"/>
                        </a:rPr>
                        <a:t>Removes upload friction for users by enabling in-app camera capture, gallery access, and multi-photo submission — reducing incomplete document submissions and speeding up approval cycles </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lvl="0" indent="0" algn="l">
                        <a:lnSpc>
                          <a:spcPct val="100000"/>
                        </a:lnSpc>
                        <a:spcBef>
                          <a:spcPts val="0"/>
                        </a:spcBef>
                        <a:spcAft>
                          <a:spcPts val="0"/>
                        </a:spcAft>
                        <a:buNone/>
                      </a:pPr>
                      <a:endParaRPr lang="en-IN" sz="1100" b="0" i="0" u="none" strike="noStrike" kern="1200" noProof="0">
                        <a:solidFill>
                          <a:srgbClr val="000000"/>
                        </a:solidFill>
                        <a:effectLst/>
                        <a:latin typeface="Nunito Sans"/>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lvl="0" indent="0" algn="l">
                        <a:lnSpc>
                          <a:spcPct val="100000"/>
                        </a:lnSpc>
                        <a:spcBef>
                          <a:spcPts val="0"/>
                        </a:spcBef>
                        <a:spcAft>
                          <a:spcPts val="0"/>
                        </a:spcAft>
                        <a:buNone/>
                      </a:pPr>
                      <a:r>
                        <a:rPr lang="en-US" sz="1100" b="0" i="0" u="none" strike="noStrike" kern="1200" noProof="0">
                          <a:solidFill>
                            <a:schemeClr val="tx1"/>
                          </a:solidFill>
                          <a:effectLst/>
                          <a:latin typeface="Nunito Sans"/>
                          <a:hlinkClick r:id="rId4"/>
                        </a:rPr>
                        <a:t>MC-1107</a:t>
                      </a:r>
                      <a:endParaRPr lang="en-US" sz="1100" b="0" i="0" u="none" strike="noStrike" kern="1200" noProof="0">
                        <a:solidFill>
                          <a:schemeClr val="tx1"/>
                        </a:solidFill>
                        <a:effectLst/>
                        <a:latin typeface="Nunito San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lvl="0" indent="0" algn="l">
                        <a:lnSpc>
                          <a:spcPct val="100000"/>
                        </a:lnSpc>
                        <a:spcBef>
                          <a:spcPts val="0"/>
                        </a:spcBef>
                        <a:spcAft>
                          <a:spcPts val="0"/>
                        </a:spcAft>
                        <a:buNone/>
                      </a:pPr>
                      <a:endParaRPr lang="en-US" sz="1100" b="0" i="0" u="none" strike="noStrike" kern="1200" noProof="0">
                        <a:solidFill>
                          <a:schemeClr val="tx1"/>
                        </a:solidFill>
                        <a:effectLst/>
                        <a:latin typeface="Nunito Sans"/>
                      </a:endParaRPr>
                    </a:p>
                  </a:txBody>
                  <a:tcPr anchor="ctr">
                    <a:lnL w="6350" cap="flat" cmpd="sng" algn="ctr">
                      <a:solidFill>
                        <a:schemeClr val="bg1">
                          <a:lumMod val="75000"/>
                        </a:schemeClr>
                      </a:solidFill>
                      <a:prstDash val="solid"/>
                      <a:round/>
                      <a:headEnd type="none" w="med" len="med"/>
                      <a:tailEnd type="none" w="med" len="med"/>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520719314"/>
                  </a:ext>
                </a:extLst>
              </a:tr>
              <a:tr h="507559">
                <a:tc>
                  <a:txBody>
                    <a:bodyPr/>
                    <a:lstStyle/>
                    <a:p>
                      <a:pPr lvl="0" algn="l">
                        <a:lnSpc>
                          <a:spcPct val="100000"/>
                        </a:lnSpc>
                        <a:spcBef>
                          <a:spcPts val="0"/>
                        </a:spcBef>
                        <a:spcAft>
                          <a:spcPts val="0"/>
                        </a:spcAft>
                        <a:buNone/>
                      </a:pPr>
                      <a:r>
                        <a:rPr lang="en-GB" sz="1100" b="0" i="0" u="none" strike="noStrike" kern="1200" noProof="0">
                          <a:solidFill>
                            <a:srgbClr val="000000"/>
                          </a:solidFill>
                          <a:latin typeface="Nunito Sans"/>
                        </a:rPr>
                        <a:t>Workplace - Engagement Notifications</a:t>
                      </a:r>
                      <a:endParaRPr lang="en-US" sz="1100">
                        <a:latin typeface="Nunito Sans"/>
                      </a:endParaRP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171450" lvl="0" indent="-171450" algn="l">
                        <a:lnSpc>
                          <a:spcPct val="100000"/>
                        </a:lnSpc>
                        <a:spcBef>
                          <a:spcPts val="0"/>
                        </a:spcBef>
                        <a:spcAft>
                          <a:spcPts val="0"/>
                        </a:spcAft>
                        <a:buFont typeface="Arial,Sans-Serif"/>
                        <a:buChar char="•"/>
                      </a:pPr>
                      <a:r>
                        <a:rPr lang="en-US" sz="1100" b="0" i="0" u="none" strike="noStrike" kern="1200" noProof="0">
                          <a:solidFill>
                            <a:srgbClr val="000000"/>
                          </a:solidFill>
                          <a:effectLst/>
                          <a:latin typeface="Nunito Sans"/>
                        </a:rPr>
                        <a:t>Delivers personalized engagement notifications, including persona-specific updates</a:t>
                      </a: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lvl="0" indent="0" algn="l">
                        <a:lnSpc>
                          <a:spcPct val="100000"/>
                        </a:lnSpc>
                        <a:spcBef>
                          <a:spcPts val="0"/>
                        </a:spcBef>
                        <a:spcAft>
                          <a:spcPts val="0"/>
                        </a:spcAft>
                        <a:buNone/>
                      </a:pPr>
                      <a:endParaRPr lang="en-IN" sz="1100" b="0" i="0" u="none" strike="noStrike" kern="1200" noProof="0">
                        <a:solidFill>
                          <a:srgbClr val="000000"/>
                        </a:solidFill>
                        <a:effectLst/>
                        <a:latin typeface="Nunito Sans"/>
                        <a:ea typeface="+mn-ea"/>
                        <a:cs typeface="+mn-cs"/>
                      </a:endParaRP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lvl="0" indent="0" algn="l">
                        <a:lnSpc>
                          <a:spcPct val="100000"/>
                        </a:lnSpc>
                        <a:spcBef>
                          <a:spcPts val="0"/>
                        </a:spcBef>
                        <a:spcAft>
                          <a:spcPts val="0"/>
                        </a:spcAft>
                        <a:buNone/>
                      </a:pPr>
                      <a:r>
                        <a:rPr lang="en-US" sz="1100" b="0" i="0" u="none" strike="noStrike" kern="1200" noProof="0">
                          <a:solidFill>
                            <a:schemeClr val="tx1"/>
                          </a:solidFill>
                          <a:effectLst/>
                          <a:latin typeface="Nunito Sans"/>
                          <a:hlinkClick r:id="rId5"/>
                        </a:rPr>
                        <a:t>MC-2421</a:t>
                      </a:r>
                      <a:endParaRPr lang="en-US"/>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lvl="0" indent="0" algn="l">
                        <a:lnSpc>
                          <a:spcPct val="100000"/>
                        </a:lnSpc>
                        <a:spcBef>
                          <a:spcPts val="0"/>
                        </a:spcBef>
                        <a:spcAft>
                          <a:spcPts val="0"/>
                        </a:spcAft>
                        <a:buNone/>
                      </a:pPr>
                      <a:endParaRPr lang="en-US"/>
                    </a:p>
                  </a:txBody>
                  <a:tcPr anchor="ctr">
                    <a:lnL w="6350">
                      <a:solidFill>
                        <a:schemeClr val="bg1">
                          <a:lumMod val="75000"/>
                        </a:schemeClr>
                      </a:solidFill>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96380756"/>
                  </a:ext>
                </a:extLst>
              </a:tr>
              <a:tr h="507559">
                <a:tc>
                  <a:txBody>
                    <a:bodyPr/>
                    <a:lstStyle/>
                    <a:p>
                      <a:pPr lvl="0" algn="l">
                        <a:lnSpc>
                          <a:spcPct val="100000"/>
                        </a:lnSpc>
                        <a:spcBef>
                          <a:spcPts val="0"/>
                        </a:spcBef>
                        <a:spcAft>
                          <a:spcPts val="0"/>
                        </a:spcAft>
                        <a:buNone/>
                      </a:pPr>
                      <a:r>
                        <a:rPr lang="en-GB" sz="1100" b="0" i="0" u="none" strike="noStrike" kern="1200" noProof="0">
                          <a:solidFill>
                            <a:srgbClr val="000000"/>
                          </a:solidFill>
                          <a:latin typeface="Nunito Sans"/>
                        </a:rPr>
                        <a:t>myAI Homepage Redesign- Workplace Widgets</a:t>
                      </a:r>
                      <a:endParaRPr lang="en-US" sz="1100">
                        <a:latin typeface="Nunito Sans"/>
                      </a:endParaRP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solidFill>
                      <a:schemeClr val="bg1"/>
                    </a:solidFill>
                  </a:tcPr>
                </a:tc>
                <a:tc>
                  <a:txBody>
                    <a:bodyPr/>
                    <a:lstStyle/>
                    <a:p>
                      <a:pPr marL="171450" lvl="0" indent="-171450" algn="l">
                        <a:lnSpc>
                          <a:spcPct val="100000"/>
                        </a:lnSpc>
                        <a:spcBef>
                          <a:spcPts val="0"/>
                        </a:spcBef>
                        <a:spcAft>
                          <a:spcPts val="0"/>
                        </a:spcAft>
                        <a:buFont typeface="Arial,Sans-Serif"/>
                        <a:buChar char="•"/>
                      </a:pPr>
                      <a:r>
                        <a:rPr lang="en-US" sz="1100" b="0" i="0" u="none" strike="noStrike" kern="1200" noProof="0">
                          <a:solidFill>
                            <a:srgbClr val="000000"/>
                          </a:solidFill>
                          <a:effectLst/>
                          <a:latin typeface="Nunito Sans"/>
                        </a:rPr>
                        <a:t>Redesigns the myAI homepage with an intuitive, personalized, and modern interface to improve discoverability of workplace features, content, and services.</a:t>
                      </a: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solidFill>
                      <a:schemeClr val="bg1"/>
                    </a:solidFill>
                  </a:tcPr>
                </a:tc>
                <a:tc>
                  <a:txBody>
                    <a:bodyPr/>
                    <a:lstStyle/>
                    <a:p>
                      <a:pPr marL="0" lvl="0" indent="0" algn="l">
                        <a:lnSpc>
                          <a:spcPct val="100000"/>
                        </a:lnSpc>
                        <a:spcBef>
                          <a:spcPts val="0"/>
                        </a:spcBef>
                        <a:spcAft>
                          <a:spcPts val="0"/>
                        </a:spcAft>
                        <a:buNone/>
                      </a:pPr>
                      <a:endParaRPr lang="en-IN" sz="1100" b="0" i="0" u="none" strike="noStrike" kern="1200" noProof="0">
                        <a:solidFill>
                          <a:srgbClr val="000000"/>
                        </a:solidFill>
                        <a:effectLst/>
                        <a:latin typeface="Nunito Sans"/>
                        <a:ea typeface="+mn-ea"/>
                        <a:cs typeface="+mn-cs"/>
                      </a:endParaRP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solidFill>
                      <a:schemeClr val="bg1"/>
                    </a:solidFill>
                  </a:tcPr>
                </a:tc>
                <a:tc>
                  <a:txBody>
                    <a:bodyPr/>
                    <a:lstStyle/>
                    <a:p>
                      <a:pPr marL="0" lvl="0" indent="0" algn="l">
                        <a:lnSpc>
                          <a:spcPct val="100000"/>
                        </a:lnSpc>
                        <a:spcBef>
                          <a:spcPts val="0"/>
                        </a:spcBef>
                        <a:spcAft>
                          <a:spcPts val="0"/>
                        </a:spcAft>
                        <a:buNone/>
                      </a:pPr>
                      <a:r>
                        <a:rPr lang="en-US" sz="1100" b="0" i="0" u="none" strike="noStrike" kern="1200" noProof="0">
                          <a:solidFill>
                            <a:schemeClr val="tx1"/>
                          </a:solidFill>
                          <a:effectLst/>
                          <a:latin typeface="Nunito Sans"/>
                          <a:hlinkClick r:id="rId6"/>
                        </a:rPr>
                        <a:t>MC-2024</a:t>
                      </a:r>
                      <a:endParaRPr lang="en-US"/>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a:solidFill>
                        <a:schemeClr val="bg1">
                          <a:lumMod val="75000"/>
                        </a:schemeClr>
                      </a:solidFill>
                    </a:lnB>
                    <a:solidFill>
                      <a:schemeClr val="bg1"/>
                    </a:solidFill>
                  </a:tcPr>
                </a:tc>
                <a:tc>
                  <a:txBody>
                    <a:bodyPr/>
                    <a:lstStyle/>
                    <a:p>
                      <a:pPr marL="0" lvl="0" indent="0" algn="l">
                        <a:lnSpc>
                          <a:spcPct val="100000"/>
                        </a:lnSpc>
                        <a:spcBef>
                          <a:spcPts val="0"/>
                        </a:spcBef>
                        <a:spcAft>
                          <a:spcPts val="0"/>
                        </a:spcAft>
                        <a:buNone/>
                      </a:pPr>
                      <a:endParaRPr lang="en-US"/>
                    </a:p>
                  </a:txBody>
                  <a:tcPr anchor="ctr">
                    <a:lnL w="6350">
                      <a:solidFill>
                        <a:schemeClr val="bg1">
                          <a:lumMod val="75000"/>
                        </a:schemeClr>
                      </a:solidFill>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548083762"/>
                  </a:ext>
                </a:extLst>
              </a:tr>
              <a:tr h="507559">
                <a:tc>
                  <a:txBody>
                    <a:bodyPr/>
                    <a:lstStyle/>
                    <a:p>
                      <a:pPr lvl="0" algn="l">
                        <a:lnSpc>
                          <a:spcPct val="100000"/>
                        </a:lnSpc>
                        <a:spcBef>
                          <a:spcPts val="0"/>
                        </a:spcBef>
                        <a:spcAft>
                          <a:spcPts val="0"/>
                        </a:spcAft>
                        <a:buNone/>
                      </a:pPr>
                      <a:r>
                        <a:rPr lang="en-GB" sz="1100" b="0" i="0" u="none" strike="noStrike" kern="1200" noProof="0">
                          <a:solidFill>
                            <a:srgbClr val="000000"/>
                          </a:solidFill>
                          <a:latin typeface="Nunito Sans"/>
                        </a:rPr>
                        <a:t>Passkey Implementation For App Login</a:t>
                      </a:r>
                      <a:endParaRPr lang="en-US" sz="1100">
                        <a:latin typeface="Nunito Sans"/>
                      </a:endParaRP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171450" lvl="0" indent="-171450" algn="l">
                        <a:lnSpc>
                          <a:spcPct val="100000"/>
                        </a:lnSpc>
                        <a:spcBef>
                          <a:spcPts val="0"/>
                        </a:spcBef>
                        <a:spcAft>
                          <a:spcPts val="0"/>
                        </a:spcAft>
                        <a:buFont typeface="Arial,Sans-Serif"/>
                        <a:buChar char="•"/>
                      </a:pPr>
                      <a:r>
                        <a:rPr lang="en-US" sz="1100" b="0" i="0" u="none" strike="noStrike" kern="1200" noProof="0">
                          <a:solidFill>
                            <a:srgbClr val="000000"/>
                          </a:solidFill>
                          <a:effectLst/>
                          <a:latin typeface="Nunito Sans"/>
                        </a:rPr>
                        <a:t>Implements passkey-based authentication to enable secure, passwordless login using device biometrics or PIN.</a:t>
                      </a: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lvl="0" indent="0" algn="l">
                        <a:lnSpc>
                          <a:spcPct val="100000"/>
                        </a:lnSpc>
                        <a:spcBef>
                          <a:spcPts val="0"/>
                        </a:spcBef>
                        <a:spcAft>
                          <a:spcPts val="0"/>
                        </a:spcAft>
                        <a:buNone/>
                      </a:pPr>
                      <a:endParaRPr lang="en-IN" sz="1100" b="0" i="0" u="none" strike="noStrike" kern="1200" noProof="0">
                        <a:solidFill>
                          <a:srgbClr val="000000"/>
                        </a:solidFill>
                        <a:effectLst/>
                        <a:latin typeface="Nunito Sans"/>
                        <a:ea typeface="+mn-ea"/>
                        <a:cs typeface="+mn-cs"/>
                      </a:endParaRP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lvl="0" indent="0" algn="l" defTabSz="914400">
                        <a:lnSpc>
                          <a:spcPct val="100000"/>
                        </a:lnSpc>
                        <a:spcBef>
                          <a:spcPts val="0"/>
                        </a:spcBef>
                        <a:spcAft>
                          <a:spcPts val="0"/>
                        </a:spcAft>
                        <a:buNone/>
                      </a:pPr>
                      <a:r>
                        <a:rPr lang="en-US" sz="1100" b="0" i="0" u="none" strike="noStrike" kern="1200" noProof="0">
                          <a:solidFill>
                            <a:schemeClr val="tx1"/>
                          </a:solidFill>
                          <a:effectLst/>
                          <a:latin typeface="Nunito Sans"/>
                          <a:ea typeface="+mn-ea"/>
                          <a:cs typeface="+mn-cs"/>
                          <a:hlinkClick r:id="rId6"/>
                        </a:rPr>
                        <a:t>MC-2446</a:t>
                      </a:r>
                      <a:endParaRPr lang="en-US" sz="1100" b="0" i="0" u="none" strike="noStrike" kern="1200" noProof="0">
                        <a:solidFill>
                          <a:schemeClr val="tx1"/>
                        </a:solidFill>
                        <a:effectLst/>
                        <a:latin typeface="Nunito Sans"/>
                        <a:ea typeface="+mn-ea"/>
                        <a:cs typeface="+mn-cs"/>
                      </a:endParaRP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lvl="0" indent="0" algn="l" defTabSz="914400">
                        <a:lnSpc>
                          <a:spcPct val="100000"/>
                        </a:lnSpc>
                        <a:spcBef>
                          <a:spcPts val="0"/>
                        </a:spcBef>
                        <a:spcAft>
                          <a:spcPts val="0"/>
                        </a:spcAft>
                        <a:buNone/>
                      </a:pPr>
                      <a:endParaRPr lang="en-US" sz="1100" b="0" i="0" u="none" strike="noStrike" kern="1200" noProof="0">
                        <a:solidFill>
                          <a:schemeClr val="tx1"/>
                        </a:solidFill>
                        <a:effectLst/>
                        <a:latin typeface="Nunito Sans"/>
                        <a:ea typeface="+mn-ea"/>
                        <a:cs typeface="+mn-cs"/>
                      </a:endParaRPr>
                    </a:p>
                  </a:txBody>
                  <a:tcPr anchor="ctr">
                    <a:lnL w="6350">
                      <a:solidFill>
                        <a:schemeClr val="bg1">
                          <a:lumMod val="75000"/>
                        </a:schemeClr>
                      </a:solidFill>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607870812"/>
                  </a:ext>
                </a:extLst>
              </a:tr>
              <a:tr h="507559">
                <a:tc>
                  <a:txBody>
                    <a:bodyPr/>
                    <a:lstStyle/>
                    <a:p>
                      <a:pPr lvl="0" algn="l">
                        <a:lnSpc>
                          <a:spcPct val="100000"/>
                        </a:lnSpc>
                        <a:spcBef>
                          <a:spcPts val="0"/>
                        </a:spcBef>
                        <a:spcAft>
                          <a:spcPts val="0"/>
                        </a:spcAft>
                        <a:buNone/>
                      </a:pPr>
                      <a:r>
                        <a:rPr lang="en-GB" sz="1100" b="0" i="0" u="none" strike="noStrike" kern="1200" noProof="0">
                          <a:solidFill>
                            <a:srgbClr val="000000"/>
                          </a:solidFill>
                          <a:latin typeface="Nunito Sans"/>
                          <a:ea typeface="+mn-ea"/>
                          <a:cs typeface="+mn-cs"/>
                        </a:rPr>
                        <a:t>Pilot and Crew Docs</a:t>
                      </a:r>
                      <a:r>
                        <a:rPr lang="en-GB" sz="1100" b="0" i="0" u="none" strike="noStrike" kern="1200" noProof="0">
                          <a:solidFill>
                            <a:srgbClr val="242424"/>
                          </a:solidFill>
                          <a:highlight>
                            <a:srgbClr val="FFFFFF"/>
                          </a:highlight>
                          <a:latin typeface="Nunito Sans"/>
                        </a:rPr>
                        <a:t> Licenses Enhancements</a:t>
                      </a:r>
                      <a:endParaRPr lang="en-US" sz="1100">
                        <a:latin typeface="Nunito Sans"/>
                      </a:endParaRP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171450" lvl="0" indent="-171450" algn="l">
                        <a:lnSpc>
                          <a:spcPct val="100000"/>
                        </a:lnSpc>
                        <a:spcBef>
                          <a:spcPts val="0"/>
                        </a:spcBef>
                        <a:spcAft>
                          <a:spcPts val="0"/>
                        </a:spcAft>
                        <a:buFont typeface="Arial,Sans-Serif"/>
                        <a:buChar char="•"/>
                      </a:pPr>
                      <a:r>
                        <a:rPr lang="en-US" sz="1100" b="0" i="0" u="none" strike="noStrike" kern="1200" noProof="0">
                          <a:solidFill>
                            <a:srgbClr val="242424"/>
                          </a:solidFill>
                          <a:effectLst/>
                          <a:highlight>
                            <a:srgbClr val="FFFFFF"/>
                          </a:highlight>
                          <a:latin typeface="Nunito Sans"/>
                        </a:rPr>
                        <a:t>Incorporating UAT feedback such as editable field changes, notifications to approver, list view etc</a:t>
                      </a:r>
                      <a:endParaRPr lang="en-US" sz="1100" b="0" i="0" u="none" strike="noStrike" kern="1200" noProof="0" err="1">
                        <a:solidFill>
                          <a:srgbClr val="000000"/>
                        </a:solidFill>
                        <a:effectLst/>
                        <a:latin typeface="Nunito Sans"/>
                      </a:endParaRP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lvl="0" indent="0" algn="l">
                        <a:lnSpc>
                          <a:spcPct val="100000"/>
                        </a:lnSpc>
                        <a:spcBef>
                          <a:spcPts val="0"/>
                        </a:spcBef>
                        <a:spcAft>
                          <a:spcPts val="0"/>
                        </a:spcAft>
                        <a:buNone/>
                      </a:pPr>
                      <a:endParaRPr lang="en-IN" sz="1100" b="0" i="0" u="none" strike="noStrike" kern="1200" noProof="0">
                        <a:solidFill>
                          <a:srgbClr val="000000"/>
                        </a:solidFill>
                        <a:effectLst/>
                        <a:latin typeface="Nunito Sans"/>
                        <a:ea typeface="+mn-ea"/>
                        <a:cs typeface="+mn-cs"/>
                      </a:endParaRP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lvl="0" indent="0" algn="l">
                        <a:lnSpc>
                          <a:spcPct val="100000"/>
                        </a:lnSpc>
                        <a:spcBef>
                          <a:spcPts val="0"/>
                        </a:spcBef>
                        <a:spcAft>
                          <a:spcPts val="0"/>
                        </a:spcAft>
                        <a:buNone/>
                      </a:pPr>
                      <a:r>
                        <a:rPr lang="en-US" sz="1100" b="0" i="0" u="none" strike="noStrike" kern="1200" noProof="0">
                          <a:solidFill>
                            <a:schemeClr val="tx1"/>
                          </a:solidFill>
                          <a:effectLst/>
                          <a:hlinkClick r:id="rId7"/>
                        </a:rPr>
                        <a:t>MC-2419</a:t>
                      </a:r>
                      <a:endParaRPr lang="en-US" sz="1100" b="0" i="0" u="none" strike="noStrike" kern="1200" noProof="0">
                        <a:solidFill>
                          <a:schemeClr val="tx1"/>
                        </a:solidFill>
                        <a:effectLst/>
                      </a:endParaRP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lvl="0" indent="0" algn="l">
                        <a:lnSpc>
                          <a:spcPct val="100000"/>
                        </a:lnSpc>
                        <a:spcBef>
                          <a:spcPts val="0"/>
                        </a:spcBef>
                        <a:spcAft>
                          <a:spcPts val="0"/>
                        </a:spcAft>
                        <a:buNone/>
                      </a:pPr>
                      <a:endParaRPr lang="en-US" sz="1100" b="0" i="0" u="none" strike="noStrike" kern="1200" noProof="0">
                        <a:solidFill>
                          <a:schemeClr val="tx1"/>
                        </a:solidFill>
                        <a:effectLst/>
                      </a:endParaRPr>
                    </a:p>
                  </a:txBody>
                  <a:tcPr anchor="ctr">
                    <a:lnL w="6350">
                      <a:solidFill>
                        <a:schemeClr val="bg1">
                          <a:lumMod val="75000"/>
                        </a:schemeClr>
                      </a:solidFill>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70935407"/>
                  </a:ext>
                </a:extLst>
              </a:tr>
              <a:tr h="507559">
                <a:tc>
                  <a:txBody>
                    <a:bodyPr/>
                    <a:lstStyle/>
                    <a:p>
                      <a:pPr lvl="0" algn="l">
                        <a:lnSpc>
                          <a:spcPct val="100000"/>
                        </a:lnSpc>
                        <a:spcBef>
                          <a:spcPts val="0"/>
                        </a:spcBef>
                        <a:spcAft>
                          <a:spcPts val="0"/>
                        </a:spcAft>
                        <a:buNone/>
                      </a:pPr>
                      <a:r>
                        <a:rPr lang="en-US" sz="1100" b="0" i="0" u="none" strike="noStrike" kern="1200" noProof="0">
                          <a:solidFill>
                            <a:srgbClr val="000000"/>
                          </a:solidFill>
                        </a:rPr>
                        <a:t>Uniform – AOD </a:t>
                      </a:r>
                      <a:endParaRPr lang="en-US"/>
                    </a:p>
                  </a:txBody>
                  <a:tcPr anchor="ctr">
                    <a:lnL w="6350">
                      <a:solidFill>
                        <a:schemeClr val="bg1">
                          <a:lumMod val="75000"/>
                        </a:schemeClr>
                      </a:solidFill>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171450" marR="0" lvl="0" indent="-171450" algn="l">
                        <a:lnSpc>
                          <a:spcPct val="100000"/>
                        </a:lnSpc>
                        <a:buClr>
                          <a:srgbClr val="000000"/>
                        </a:buClr>
                        <a:buFont typeface="Arial,Sans-Serif"/>
                        <a:buChar char="•"/>
                      </a:pPr>
                      <a:r>
                        <a:rPr lang="en-IN" sz="1100" b="0" i="0" u="none" strike="noStrike" kern="1200" noProof="0">
                          <a:solidFill>
                            <a:srgbClr val="000000"/>
                          </a:solidFill>
                          <a:effectLst/>
                        </a:rPr>
                        <a:t>Uniform – Enabling uniform booking, entitlement selection, size exchange and reschedule capabilities for AOD dept </a:t>
                      </a:r>
                      <a:endParaRPr lang="en-IN" sz="1100" b="0" i="0" u="none" strike="noStrike" kern="1200" noProof="0">
                        <a:solidFill>
                          <a:srgbClr val="000000"/>
                        </a:solidFill>
                        <a:effectLst/>
                        <a:latin typeface="Nunito Sans"/>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lvl="0" indent="0" algn="l">
                        <a:lnSpc>
                          <a:spcPct val="100000"/>
                        </a:lnSpc>
                        <a:buNone/>
                      </a:pPr>
                      <a:endParaRPr lang="en-IN" sz="1100" b="0" i="0" u="none" strike="noStrike" kern="1200" noProof="0">
                        <a:solidFill>
                          <a:srgbClr val="000000"/>
                        </a:solidFill>
                        <a:effectLst/>
                        <a:latin typeface="Nunito Sans"/>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a:solidFill>
                        <a:schemeClr val="bg1">
                          <a:lumMod val="75000"/>
                        </a:schemeClr>
                      </a:solidFill>
                    </a:lnB>
                    <a:solidFill>
                      <a:schemeClr val="bg1"/>
                    </a:solidFill>
                  </a:tcPr>
                </a:tc>
                <a:tc>
                  <a:txBody>
                    <a:bodyPr/>
                    <a:lstStyle/>
                    <a:p>
                      <a:pPr marL="0" lvl="0" indent="0" algn="l">
                        <a:lnSpc>
                          <a:spcPct val="100000"/>
                        </a:lnSpc>
                        <a:buNone/>
                      </a:pPr>
                      <a:r>
                        <a:rPr lang="en-US" sz="1100" b="0" i="0" u="none" strike="noStrike" kern="1200" noProof="0">
                          <a:solidFill>
                            <a:schemeClr val="tx1"/>
                          </a:solidFill>
                          <a:effectLst/>
                          <a:latin typeface="Nunito Sans"/>
                          <a:hlinkClick r:id="rId8"/>
                        </a:rPr>
                        <a:t>MC-2329</a:t>
                      </a:r>
                      <a:endParaRPr lang="en-US" sz="1100" b="0" i="0" u="none" strike="noStrike" kern="1200" noProof="0">
                        <a:solidFill>
                          <a:schemeClr val="tx1"/>
                        </a:solidFill>
                        <a:effectLst/>
                        <a:latin typeface="Nunito San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a:solidFill>
                        <a:schemeClr val="bg1">
                          <a:lumMod val="75000"/>
                        </a:schemeClr>
                      </a:solidFill>
                    </a:lnB>
                    <a:solidFill>
                      <a:schemeClr val="bg1"/>
                    </a:solidFill>
                  </a:tcPr>
                </a:tc>
                <a:tc>
                  <a:txBody>
                    <a:bodyPr/>
                    <a:lstStyle/>
                    <a:p>
                      <a:pPr marL="0" lvl="0" indent="0" algn="l">
                        <a:lnSpc>
                          <a:spcPct val="100000"/>
                        </a:lnSpc>
                        <a:buNone/>
                      </a:pPr>
                      <a:endParaRPr lang="en-US" sz="1100" b="0" i="0" u="none" strike="noStrike" kern="1200" noProof="0">
                        <a:solidFill>
                          <a:schemeClr val="tx1"/>
                        </a:solidFill>
                        <a:effectLst/>
                        <a:latin typeface="Nunito Sans"/>
                      </a:endParaRPr>
                    </a:p>
                  </a:txBody>
                  <a:tcPr anchor="ctr">
                    <a:lnL w="6350" cap="flat" cmpd="sng" algn="ctr">
                      <a:solidFill>
                        <a:schemeClr val="bg1">
                          <a:lumMod val="75000"/>
                        </a:schemeClr>
                      </a:solidFill>
                      <a:prstDash val="solid"/>
                      <a:round/>
                      <a:headEnd type="none" w="med" len="med"/>
                      <a:tailEnd type="none" w="med" len="med"/>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a:solidFill>
                        <a:schemeClr val="bg1">
                          <a:lumMod val="75000"/>
                        </a:schemeClr>
                      </a:solidFill>
                    </a:lnB>
                    <a:solidFill>
                      <a:schemeClr val="bg1"/>
                    </a:solidFill>
                  </a:tcPr>
                </a:tc>
                <a:extLst>
                  <a:ext uri="{0D108BD9-81ED-4DB2-BD59-A6C34878D82A}">
                    <a16:rowId xmlns:a16="http://schemas.microsoft.com/office/drawing/2014/main" val="1871033684"/>
                  </a:ext>
                </a:extLst>
              </a:tr>
            </a:tbl>
          </a:graphicData>
        </a:graphic>
      </p:graphicFrame>
      <p:sp>
        <p:nvSpPr>
          <p:cNvPr id="26" name="TextBox 25">
            <a:extLst>
              <a:ext uri="{FF2B5EF4-FFF2-40B4-BE49-F238E27FC236}">
                <a16:creationId xmlns:a16="http://schemas.microsoft.com/office/drawing/2014/main" id="{3FC6C03B-0A68-D8EA-BB70-C711C3A16B96}"/>
              </a:ext>
            </a:extLst>
          </p:cNvPr>
          <p:cNvSpPr txBox="1"/>
          <p:nvPr/>
        </p:nvSpPr>
        <p:spPr>
          <a:xfrm>
            <a:off x="343955" y="3897931"/>
            <a:ext cx="417102" cy="253916"/>
          </a:xfrm>
          <a:prstGeom prst="rect">
            <a:avLst/>
          </a:prstGeom>
          <a:noFill/>
        </p:spPr>
        <p:txBody>
          <a:bodyPr wrap="none" lIns="91440" tIns="45720" rIns="91440" bIns="45720" rtlCol="0" anchor="t">
            <a:spAutoFit/>
          </a:bodyPr>
          <a:lstStyle/>
          <a:p>
            <a:r>
              <a:rPr lang="en-IN" sz="1050" b="1">
                <a:solidFill>
                  <a:schemeClr val="bg1"/>
                </a:solidFill>
                <a:latin typeface="Montserrat Light"/>
              </a:rPr>
              <a:t>Jan</a:t>
            </a:r>
            <a:endParaRPr lang="en-IN" sz="1050" b="1">
              <a:solidFill>
                <a:schemeClr val="bg1"/>
              </a:solidFill>
              <a:latin typeface="Montserrat Light" pitchFamily="2" charset="0"/>
            </a:endParaRPr>
          </a:p>
        </p:txBody>
      </p:sp>
      <p:sp>
        <p:nvSpPr>
          <p:cNvPr id="27" name="TextBox 15">
            <a:extLst>
              <a:ext uri="{FF2B5EF4-FFF2-40B4-BE49-F238E27FC236}">
                <a16:creationId xmlns:a16="http://schemas.microsoft.com/office/drawing/2014/main" id="{E163137D-BF91-210C-6D18-5062A724C77F}"/>
              </a:ext>
            </a:extLst>
          </p:cNvPr>
          <p:cNvSpPr txBox="1"/>
          <p:nvPr/>
        </p:nvSpPr>
        <p:spPr>
          <a:xfrm>
            <a:off x="398384" y="817274"/>
            <a:ext cx="417102" cy="253916"/>
          </a:xfrm>
          <a:prstGeom prst="rect">
            <a:avLst/>
          </a:prstGeom>
          <a:noFill/>
        </p:spPr>
        <p:txBody>
          <a:bodyPr wrap="non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050" b="1">
                <a:solidFill>
                  <a:schemeClr val="bg1"/>
                </a:solidFill>
                <a:latin typeface="Montserrat Light"/>
              </a:rPr>
              <a:t>Jan</a:t>
            </a:r>
            <a:endParaRPr lang="en-IN" sz="1050" b="1">
              <a:solidFill>
                <a:schemeClr val="bg1"/>
              </a:solidFill>
              <a:latin typeface="Montserrat Light" pitchFamily="2" charset="0"/>
            </a:endParaRPr>
          </a:p>
        </p:txBody>
      </p:sp>
      <p:sp>
        <p:nvSpPr>
          <p:cNvPr id="29" name="Rectangle 28">
            <a:extLst>
              <a:ext uri="{FF2B5EF4-FFF2-40B4-BE49-F238E27FC236}">
                <a16:creationId xmlns:a16="http://schemas.microsoft.com/office/drawing/2014/main" id="{15BAA117-B148-2691-DE57-BFE6C6B66580}"/>
              </a:ext>
            </a:extLst>
          </p:cNvPr>
          <p:cNvSpPr/>
          <p:nvPr/>
        </p:nvSpPr>
        <p:spPr>
          <a:xfrm>
            <a:off x="-4474" y="665591"/>
            <a:ext cx="1067526" cy="42234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IN" sz="1400" b="1">
                <a:latin typeface="AirIndia"/>
              </a:rPr>
              <a:t>July ‘26</a:t>
            </a:r>
            <a:endParaRPr lang="en-US"/>
          </a:p>
        </p:txBody>
      </p:sp>
      <p:pic>
        <p:nvPicPr>
          <p:cNvPr id="34" name="Picture 33">
            <a:extLst>
              <a:ext uri="{FF2B5EF4-FFF2-40B4-BE49-F238E27FC236}">
                <a16:creationId xmlns:a16="http://schemas.microsoft.com/office/drawing/2014/main" id="{85B4112C-716C-CE47-332B-5EC900D218B4}"/>
              </a:ext>
            </a:extLst>
          </p:cNvPr>
          <p:cNvPicPr>
            <a:picLocks noChangeAspect="1"/>
          </p:cNvPicPr>
          <p:nvPr/>
        </p:nvPicPr>
        <p:blipFill>
          <a:blip r:embed="rId9"/>
          <a:stretch>
            <a:fillRect/>
          </a:stretch>
        </p:blipFill>
        <p:spPr>
          <a:xfrm>
            <a:off x="306161" y="6532789"/>
            <a:ext cx="8248650" cy="323850"/>
          </a:xfrm>
          <a:prstGeom prst="rect">
            <a:avLst/>
          </a:prstGeom>
        </p:spPr>
      </p:pic>
    </p:spTree>
    <p:extLst>
      <p:ext uri="{BB962C8B-B14F-4D97-AF65-F5344CB8AC3E}">
        <p14:creationId xmlns:p14="http://schemas.microsoft.com/office/powerpoint/2010/main" val="98024263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9F9FBE-A92F-7281-AE9F-DBD19A6D153C}"/>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6D00A3C-49B0-FA44-5BE1-6C5ADF4BF132}"/>
              </a:ext>
            </a:extLst>
          </p:cNvPr>
          <p:cNvSpPr>
            <a:spLocks noGrp="1"/>
          </p:cNvSpPr>
          <p:nvPr>
            <p:ph type="sldNum" sz="quarter" idx="12"/>
          </p:nvPr>
        </p:nvSpPr>
        <p:spPr/>
        <p:txBody>
          <a:bodyPr/>
          <a:lstStyle/>
          <a:p>
            <a:fld id="{3A41A254-7326-714E-AF55-4C213D6394DE}" type="slidenum">
              <a:rPr lang="en-US" sz="900" smtClean="0">
                <a:latin typeface="Montserrat Light" pitchFamily="2" charset="0"/>
              </a:rPr>
              <a:pPr/>
              <a:t>83</a:t>
            </a:fld>
            <a:endParaRPr lang="en-US" sz="900">
              <a:latin typeface="Montserrat Light" pitchFamily="2" charset="0"/>
            </a:endParaRPr>
          </a:p>
        </p:txBody>
      </p:sp>
      <p:sp>
        <p:nvSpPr>
          <p:cNvPr id="6" name="Title 11">
            <a:extLst>
              <a:ext uri="{FF2B5EF4-FFF2-40B4-BE49-F238E27FC236}">
                <a16:creationId xmlns:a16="http://schemas.microsoft.com/office/drawing/2014/main" id="{246CC851-FFFB-8C90-4CC7-11D8AC90232D}"/>
              </a:ext>
            </a:extLst>
          </p:cNvPr>
          <p:cNvSpPr txBox="1">
            <a:spLocks/>
          </p:cNvSpPr>
          <p:nvPr/>
        </p:nvSpPr>
        <p:spPr>
          <a:xfrm>
            <a:off x="304800" y="269218"/>
            <a:ext cx="8420100" cy="396638"/>
          </a:xfrm>
          <a:prstGeom prst="rect">
            <a:avLst/>
          </a:prstGeom>
        </p:spPr>
        <p:txBody>
          <a:bodyPr lIns="91440" tIns="45720" rIns="91440" bIns="45720" anchor="t">
            <a:noAutofit/>
          </a:bodyPr>
          <a:lstStyle>
            <a:lvl1pPr algn="l" defTabSz="914400" rtl="0" eaLnBrk="1" latinLnBrk="0" hangingPunct="1">
              <a:lnSpc>
                <a:spcPct val="90000"/>
              </a:lnSpc>
              <a:spcBef>
                <a:spcPct val="0"/>
              </a:spcBef>
              <a:buNone/>
              <a:defRPr sz="4400" b="1" i="0" kern="1200">
                <a:solidFill>
                  <a:schemeClr val="tx1"/>
                </a:solidFill>
                <a:latin typeface="AirIndia" pitchFamily="82" charset="77"/>
                <a:ea typeface="+mj-ea"/>
                <a:cs typeface="+mj-cs"/>
              </a:defRPr>
            </a:lvl1pPr>
          </a:lstStyle>
          <a:p>
            <a:r>
              <a:rPr lang="en-US" sz="1800" err="1">
                <a:solidFill>
                  <a:srgbClr val="C00000"/>
                </a:solidFill>
                <a:latin typeface="AirIndia"/>
              </a:rPr>
              <a:t>myAI</a:t>
            </a:r>
            <a:r>
              <a:rPr lang="en-US" sz="1800">
                <a:solidFill>
                  <a:srgbClr val="C00000"/>
                </a:solidFill>
                <a:latin typeface="AirIndia"/>
              </a:rPr>
              <a:t> - FY27 Q2  Release Plan </a:t>
            </a:r>
            <a:endParaRPr lang="en-US" sz="1800" b="0">
              <a:solidFill>
                <a:srgbClr val="C00000"/>
              </a:solidFill>
              <a:latin typeface="AirIndia"/>
            </a:endParaRPr>
          </a:p>
        </p:txBody>
      </p:sp>
      <p:graphicFrame>
        <p:nvGraphicFramePr>
          <p:cNvPr id="4" name="Table 3">
            <a:extLst>
              <a:ext uri="{FF2B5EF4-FFF2-40B4-BE49-F238E27FC236}">
                <a16:creationId xmlns:a16="http://schemas.microsoft.com/office/drawing/2014/main" id="{53DC1E07-B695-5109-1267-65CA34BECF6B}"/>
              </a:ext>
            </a:extLst>
          </p:cNvPr>
          <p:cNvGraphicFramePr>
            <a:graphicFrameLocks noGrp="1"/>
          </p:cNvGraphicFramePr>
          <p:nvPr>
            <p:extLst>
              <p:ext uri="{D42A27DB-BD31-4B8C-83A1-F6EECF244321}">
                <p14:modId xmlns:p14="http://schemas.microsoft.com/office/powerpoint/2010/main" val="2711380685"/>
              </p:ext>
            </p:extLst>
          </p:nvPr>
        </p:nvGraphicFramePr>
        <p:xfrm>
          <a:off x="1090849" y="792699"/>
          <a:ext cx="10702766" cy="5003359"/>
        </p:xfrm>
        <a:graphic>
          <a:graphicData uri="http://schemas.openxmlformats.org/drawingml/2006/table">
            <a:tbl>
              <a:tblPr firstRow="1" bandRow="1">
                <a:tableStyleId>{5C22544A-7EE6-4342-B048-85BDC9FD1C3A}</a:tableStyleId>
              </a:tblPr>
              <a:tblGrid>
                <a:gridCol w="1214010">
                  <a:extLst>
                    <a:ext uri="{9D8B030D-6E8A-4147-A177-3AD203B41FA5}">
                      <a16:colId xmlns:a16="http://schemas.microsoft.com/office/drawing/2014/main" val="1118630623"/>
                    </a:ext>
                  </a:extLst>
                </a:gridCol>
                <a:gridCol w="6540641">
                  <a:extLst>
                    <a:ext uri="{9D8B030D-6E8A-4147-A177-3AD203B41FA5}">
                      <a16:colId xmlns:a16="http://schemas.microsoft.com/office/drawing/2014/main" val="99588705"/>
                    </a:ext>
                  </a:extLst>
                </a:gridCol>
                <a:gridCol w="1050975">
                  <a:extLst>
                    <a:ext uri="{9D8B030D-6E8A-4147-A177-3AD203B41FA5}">
                      <a16:colId xmlns:a16="http://schemas.microsoft.com/office/drawing/2014/main" val="4278227373"/>
                    </a:ext>
                  </a:extLst>
                </a:gridCol>
                <a:gridCol w="714375">
                  <a:extLst>
                    <a:ext uri="{9D8B030D-6E8A-4147-A177-3AD203B41FA5}">
                      <a16:colId xmlns:a16="http://schemas.microsoft.com/office/drawing/2014/main" val="1344606147"/>
                    </a:ext>
                  </a:extLst>
                </a:gridCol>
                <a:gridCol w="1182765">
                  <a:extLst>
                    <a:ext uri="{9D8B030D-6E8A-4147-A177-3AD203B41FA5}">
                      <a16:colId xmlns:a16="http://schemas.microsoft.com/office/drawing/2014/main" val="3543461804"/>
                    </a:ext>
                  </a:extLst>
                </a:gridCol>
              </a:tblGrid>
              <a:tr h="286112">
                <a:tc>
                  <a:txBody>
                    <a:bodyPr/>
                    <a:lstStyle/>
                    <a:p>
                      <a:pPr marL="0" lvl="0" indent="0" algn="ctr" defTabSz="914400">
                        <a:lnSpc>
                          <a:spcPct val="100000"/>
                        </a:lnSpc>
                        <a:buNone/>
                      </a:pPr>
                      <a:r>
                        <a:rPr lang="en-IN" sz="1100" b="1" i="0" u="none" strike="noStrike" kern="1200" noProof="0">
                          <a:solidFill>
                            <a:schemeClr val="bg1"/>
                          </a:solidFill>
                          <a:latin typeface="Avenir Next LT Pro Light"/>
                          <a:ea typeface="+mn-ea"/>
                          <a:cs typeface="+mn-cs"/>
                        </a:rPr>
                        <a:t>Projects</a:t>
                      </a:r>
                      <a:endParaRPr lang="en-US"/>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solidFill>
                      <a:srgbClr val="002060"/>
                    </a:solidFill>
                  </a:tcPr>
                </a:tc>
                <a:tc>
                  <a:txBody>
                    <a:bodyPr/>
                    <a:lstStyle/>
                    <a:p>
                      <a:pPr lvl="0" algn="ctr">
                        <a:lnSpc>
                          <a:spcPct val="100000"/>
                        </a:lnSpc>
                        <a:spcBef>
                          <a:spcPts val="0"/>
                        </a:spcBef>
                        <a:spcAft>
                          <a:spcPts val="0"/>
                        </a:spcAft>
                        <a:buNone/>
                      </a:pPr>
                      <a:r>
                        <a:rPr lang="en-IN" sz="1100" b="1" i="0" u="none" strike="noStrike" kern="1200" noProof="0">
                          <a:solidFill>
                            <a:srgbClr val="FFFFFF"/>
                          </a:solidFill>
                          <a:latin typeface="Nunito Sans"/>
                          <a:ea typeface="+mn-ea"/>
                          <a:cs typeface="+mn-cs"/>
                        </a:rPr>
                        <a:t>Value Justification/Realization</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002060"/>
                    </a:solidFill>
                  </a:tcPr>
                </a:tc>
                <a:tc>
                  <a:txBody>
                    <a:bodyPr/>
                    <a:lstStyle/>
                    <a:p>
                      <a:pPr marL="0" lvl="0" indent="0" algn="ctr">
                        <a:buNone/>
                      </a:pPr>
                      <a:r>
                        <a:rPr lang="en-IN" sz="1050" kern="1200">
                          <a:solidFill>
                            <a:schemeClr val="bg1"/>
                          </a:solidFill>
                          <a:latin typeface="Avenir Next LT Pro Light"/>
                          <a:ea typeface="+mn-ea"/>
                          <a:cs typeface="+mn-cs"/>
                        </a:rPr>
                        <a:t>Planned Go Live Date</a:t>
                      </a: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a:solidFill>
                        <a:schemeClr val="bg1">
                          <a:lumMod val="75000"/>
                        </a:schemeClr>
                      </a:solidFill>
                    </a:lnB>
                    <a:solidFill>
                      <a:srgbClr val="002060"/>
                    </a:solidFill>
                  </a:tcPr>
                </a:tc>
                <a:tc>
                  <a:txBody>
                    <a:bodyPr/>
                    <a:lstStyle/>
                    <a:p>
                      <a:pPr lvl="0" algn="ctr">
                        <a:lnSpc>
                          <a:spcPct val="100000"/>
                        </a:lnSpc>
                        <a:spcBef>
                          <a:spcPts val="0"/>
                        </a:spcBef>
                        <a:spcAft>
                          <a:spcPts val="0"/>
                        </a:spcAft>
                        <a:buNone/>
                      </a:pPr>
                      <a:r>
                        <a:rPr lang="en-IN" sz="1100" b="1" i="0" u="none" strike="noStrike" kern="1200" noProof="0">
                          <a:solidFill>
                            <a:schemeClr val="bg1"/>
                          </a:solidFill>
                          <a:latin typeface="Avenir Next LT Pro Light"/>
                          <a:ea typeface="+mn-ea"/>
                          <a:cs typeface="+mn-cs"/>
                        </a:rPr>
                        <a:t>JIRA</a:t>
                      </a:r>
                      <a:endParaRPr lang="en-IN" sz="1100" b="1" i="0" u="none" strike="noStrike" kern="1200" noProof="0">
                        <a:solidFill>
                          <a:srgbClr val="FFFFFF"/>
                        </a:solidFill>
                        <a:latin typeface="Avenir Next LT Pro Light"/>
                        <a:ea typeface="+mn-ea"/>
                        <a:cs typeface="+mn-cs"/>
                      </a:endParaRP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a:solidFill>
                        <a:schemeClr val="bg1">
                          <a:lumMod val="75000"/>
                        </a:schemeClr>
                      </a:solidFill>
                    </a:lnB>
                    <a:solidFill>
                      <a:srgbClr val="00206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100" b="1" i="0" kern="1200">
                          <a:solidFill>
                            <a:schemeClr val="bg1"/>
                          </a:solidFill>
                          <a:latin typeface="+mn-lt"/>
                          <a:ea typeface="+mn-ea"/>
                          <a:cs typeface="+mn-cs"/>
                        </a:rPr>
                        <a:t>EIP Integration Required (Yes/No)</a:t>
                      </a: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solidFill>
                      <a:srgbClr val="002060"/>
                    </a:solidFill>
                  </a:tcPr>
                </a:tc>
                <a:extLst>
                  <a:ext uri="{0D108BD9-81ED-4DB2-BD59-A6C34878D82A}">
                    <a16:rowId xmlns:a16="http://schemas.microsoft.com/office/drawing/2014/main" val="844450115"/>
                  </a:ext>
                </a:extLst>
              </a:tr>
              <a:tr h="507559">
                <a:tc>
                  <a:txBody>
                    <a:bodyPr/>
                    <a:lstStyle/>
                    <a:p>
                      <a:pPr lvl="0" algn="l">
                        <a:lnSpc>
                          <a:spcPct val="100000"/>
                        </a:lnSpc>
                        <a:spcBef>
                          <a:spcPts val="0"/>
                        </a:spcBef>
                        <a:spcAft>
                          <a:spcPts val="0"/>
                        </a:spcAft>
                        <a:buNone/>
                      </a:pPr>
                      <a:r>
                        <a:rPr lang="en-IN" sz="1100" b="0" i="0" u="none" strike="noStrike" kern="1200" noProof="0">
                          <a:solidFill>
                            <a:srgbClr val="000000"/>
                          </a:solidFill>
                        </a:rPr>
                        <a:t>QR based immigration for Crew</a:t>
                      </a:r>
                      <a:endParaRPr lang="en-US"/>
                    </a:p>
                  </a:txBody>
                  <a:tcPr anchor="ctr">
                    <a:lnL w="6350">
                      <a:solidFill>
                        <a:schemeClr val="bg1">
                          <a:lumMod val="75000"/>
                        </a:schemeClr>
                      </a:solidFill>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171450" marR="0" lvl="0" indent="-171450" algn="l" rtl="0">
                        <a:lnSpc>
                          <a:spcPct val="100000"/>
                        </a:lnSpc>
                        <a:spcBef>
                          <a:spcPts val="0"/>
                        </a:spcBef>
                        <a:spcAft>
                          <a:spcPts val="0"/>
                        </a:spcAft>
                        <a:buClr>
                          <a:srgbClr val="000000"/>
                        </a:buClr>
                        <a:buSzTx/>
                        <a:buFont typeface="Arial,Sans-Serif"/>
                        <a:buChar char="•"/>
                      </a:pPr>
                      <a:r>
                        <a:rPr lang="en-GB" sz="1100" b="0" i="0" u="none" strike="noStrike" noProof="0"/>
                        <a:t>Introducing QR code for faster immigration for crew from FTI – TTP Gates , eliminating need for manual processes and long wait time in queues with easy immigration </a:t>
                      </a:r>
                      <a:r>
                        <a:rPr lang="en-GB" sz="1100" b="0" i="0" u="none" strike="noStrike" noProof="0">
                          <a:latin typeface="Nunito Sans"/>
                        </a:rPr>
                        <a:t>process for 1700+ crew on daily basis</a:t>
                      </a:r>
                      <a:endParaRPr lang="en-GB" sz="1100" b="0" i="0" u="none" strike="noStrike" noProof="0"/>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a:solidFill>
                        <a:schemeClr val="bg1">
                          <a:lumMod val="75000"/>
                        </a:schemeClr>
                      </a:solidFill>
                    </a:lnB>
                    <a:solidFill>
                      <a:schemeClr val="bg1"/>
                    </a:solidFill>
                  </a:tcPr>
                </a:tc>
                <a:tc>
                  <a:txBody>
                    <a:bodyPr/>
                    <a:lstStyle/>
                    <a:p>
                      <a:pPr marL="0" lvl="0" indent="0" algn="l">
                        <a:lnSpc>
                          <a:spcPct val="100000"/>
                        </a:lnSpc>
                        <a:spcBef>
                          <a:spcPts val="0"/>
                        </a:spcBef>
                        <a:spcAft>
                          <a:spcPts val="0"/>
                        </a:spcAft>
                        <a:buNone/>
                      </a:pPr>
                      <a:endParaRPr lang="en-US" sz="1100" b="0" i="0" u="none" strike="noStrike" kern="1200" noProof="0">
                        <a:solidFill>
                          <a:schemeClr val="tx1"/>
                        </a:solidFill>
                        <a:effectLst/>
                        <a:latin typeface="Nunito Sans"/>
                        <a:ea typeface="+mn-ea"/>
                        <a:cs typeface="+mn-cs"/>
                      </a:endParaRP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a:solidFill>
                        <a:schemeClr val="bg1">
                          <a:lumMod val="75000"/>
                        </a:schemeClr>
                      </a:solidFill>
                    </a:lnB>
                    <a:solidFill>
                      <a:schemeClr val="bg1"/>
                    </a:solidFill>
                  </a:tcPr>
                </a:tc>
                <a:tc>
                  <a:txBody>
                    <a:bodyPr/>
                    <a:lstStyle/>
                    <a:p>
                      <a:pPr marL="0" lvl="0" indent="0" algn="l">
                        <a:lnSpc>
                          <a:spcPct val="100000"/>
                        </a:lnSpc>
                        <a:spcBef>
                          <a:spcPts val="0"/>
                        </a:spcBef>
                        <a:spcAft>
                          <a:spcPts val="0"/>
                        </a:spcAft>
                        <a:buNone/>
                      </a:pPr>
                      <a:r>
                        <a:rPr lang="en-US" sz="1100" b="0" i="0" u="none" strike="noStrike" kern="1200" noProof="0">
                          <a:solidFill>
                            <a:schemeClr val="tx1"/>
                          </a:solidFill>
                          <a:effectLst/>
                          <a:hlinkClick r:id="rId3"/>
                        </a:rPr>
                        <a:t>MC-204</a:t>
                      </a:r>
                      <a:endParaRPr lang="en-US" sz="1100" b="0" i="0" u="none" strike="noStrike" kern="1200" noProof="0">
                        <a:solidFill>
                          <a:schemeClr val="tx1"/>
                        </a:solidFill>
                        <a:effectLst/>
                      </a:endParaRP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a:solidFill>
                        <a:schemeClr val="bg1">
                          <a:lumMod val="75000"/>
                        </a:schemeClr>
                      </a:solidFill>
                    </a:lnB>
                    <a:solidFill>
                      <a:schemeClr val="bg1"/>
                    </a:solidFill>
                  </a:tcPr>
                </a:tc>
                <a:tc>
                  <a:txBody>
                    <a:bodyPr/>
                    <a:lstStyle/>
                    <a:p>
                      <a:pPr marL="0" lvl="0" indent="0" algn="l">
                        <a:lnSpc>
                          <a:spcPct val="100000"/>
                        </a:lnSpc>
                        <a:spcBef>
                          <a:spcPts val="0"/>
                        </a:spcBef>
                        <a:spcAft>
                          <a:spcPts val="0"/>
                        </a:spcAft>
                        <a:buNone/>
                      </a:pPr>
                      <a:endParaRPr lang="en-US" sz="1100" b="0" i="0" u="none" strike="noStrike" kern="1200" noProof="0">
                        <a:solidFill>
                          <a:schemeClr val="tx1"/>
                        </a:solidFill>
                        <a:effectLst/>
                      </a:endParaRPr>
                    </a:p>
                  </a:txBody>
                  <a:tcPr anchor="ctr">
                    <a:lnL w="6350">
                      <a:solidFill>
                        <a:schemeClr val="bg1">
                          <a:lumMod val="75000"/>
                        </a:schemeClr>
                      </a:solidFill>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951168155"/>
                  </a:ext>
                </a:extLst>
              </a:tr>
              <a:tr h="507559">
                <a:tc>
                  <a:txBody>
                    <a:bodyPr/>
                    <a:lstStyle/>
                    <a:p>
                      <a:pPr lvl="0" algn="l">
                        <a:lnSpc>
                          <a:spcPct val="100000"/>
                        </a:lnSpc>
                        <a:spcBef>
                          <a:spcPts val="0"/>
                        </a:spcBef>
                        <a:spcAft>
                          <a:spcPts val="0"/>
                        </a:spcAft>
                        <a:buNone/>
                      </a:pPr>
                      <a:r>
                        <a:rPr lang="en-US" sz="1100" b="0" i="0" u="none" strike="noStrike" kern="1200" noProof="0">
                          <a:solidFill>
                            <a:srgbClr val="000000"/>
                          </a:solidFill>
                        </a:rPr>
                        <a:t>Personal Visa Approval Flow Change </a:t>
                      </a:r>
                      <a:endParaRPr lang="en-US"/>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a:solidFill>
                        <a:schemeClr val="bg1">
                          <a:lumMod val="75000"/>
                        </a:schemeClr>
                      </a:solidFill>
                    </a:lnB>
                    <a:solidFill>
                      <a:schemeClr val="bg1"/>
                    </a:solidFill>
                  </a:tcPr>
                </a:tc>
                <a:tc>
                  <a:txBody>
                    <a:bodyPr/>
                    <a:lstStyle/>
                    <a:p>
                      <a:pPr marL="171450" lvl="0" indent="-171450" algn="l">
                        <a:lnSpc>
                          <a:spcPct val="100000"/>
                        </a:lnSpc>
                        <a:buFont typeface="Arial,Sans-Serif"/>
                        <a:buChar char="•"/>
                      </a:pPr>
                      <a:r>
                        <a:rPr lang="en-IN" sz="1100" b="0" i="0" u="none" strike="noStrike" kern="1200" noProof="0">
                          <a:solidFill>
                            <a:srgbClr val="000000"/>
                          </a:solidFill>
                          <a:effectLst/>
                        </a:rPr>
                        <a:t>Automatically approving any Personal Visa NoC letter requests reducing CEO-2 approval overhead Covering both dates and without dates letter requests</a:t>
                      </a:r>
                      <a:endParaRPr lang="en-IN" sz="1100" b="0" i="0" u="none" strike="noStrike" kern="1200" noProof="0">
                        <a:solidFill>
                          <a:srgbClr val="000000"/>
                        </a:solidFill>
                        <a:effectLst/>
                        <a:latin typeface="Nunito Sans"/>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a:solidFill>
                        <a:schemeClr val="bg1">
                          <a:lumMod val="75000"/>
                        </a:schemeClr>
                      </a:solidFill>
                    </a:lnB>
                    <a:solidFill>
                      <a:schemeClr val="bg1"/>
                    </a:solidFill>
                  </a:tcPr>
                </a:tc>
                <a:tc>
                  <a:txBody>
                    <a:bodyPr/>
                    <a:lstStyle/>
                    <a:p>
                      <a:pPr marL="0" lvl="0" indent="0" algn="l">
                        <a:lnSpc>
                          <a:spcPct val="100000"/>
                        </a:lnSpc>
                        <a:buNone/>
                      </a:pPr>
                      <a:endParaRPr lang="en-IN" sz="1100" b="0" i="0" u="none" strike="noStrike" kern="1200" noProof="0">
                        <a:solidFill>
                          <a:srgbClr val="000000"/>
                        </a:solidFill>
                        <a:effectLst/>
                        <a:latin typeface="Nunito Sans"/>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a:solidFill>
                        <a:schemeClr val="bg1">
                          <a:lumMod val="75000"/>
                        </a:schemeClr>
                      </a:solidFill>
                    </a:lnB>
                    <a:solidFill>
                      <a:schemeClr val="bg1"/>
                    </a:solidFill>
                  </a:tcPr>
                </a:tc>
                <a:tc>
                  <a:txBody>
                    <a:bodyPr/>
                    <a:lstStyle/>
                    <a:p>
                      <a:pPr marL="0" lvl="0" indent="0" algn="l">
                        <a:lnSpc>
                          <a:spcPct val="100000"/>
                        </a:lnSpc>
                        <a:buNone/>
                      </a:pPr>
                      <a:r>
                        <a:rPr lang="en-US" sz="1100" b="0" i="0" u="none" strike="noStrike" kern="1200" noProof="0">
                          <a:solidFill>
                            <a:schemeClr val="tx1"/>
                          </a:solidFill>
                          <a:effectLst/>
                          <a:hlinkClick r:id="rId4"/>
                        </a:rPr>
                        <a:t>MC-1634</a:t>
                      </a:r>
                      <a:endParaRPr lang="en-US" sz="1100" b="0" i="0" u="none" strike="noStrike" kern="1200" noProof="0">
                        <a:solidFill>
                          <a:schemeClr val="tx1"/>
                        </a:solidFill>
                        <a:effectLst/>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a:solidFill>
                        <a:schemeClr val="bg1">
                          <a:lumMod val="75000"/>
                        </a:schemeClr>
                      </a:solidFill>
                    </a:lnB>
                    <a:solidFill>
                      <a:schemeClr val="bg1"/>
                    </a:solidFill>
                  </a:tcPr>
                </a:tc>
                <a:tc>
                  <a:txBody>
                    <a:bodyPr/>
                    <a:lstStyle/>
                    <a:p>
                      <a:pPr marL="0" lvl="0" indent="0" algn="l">
                        <a:lnSpc>
                          <a:spcPct val="100000"/>
                        </a:lnSpc>
                        <a:buNone/>
                      </a:pPr>
                      <a:endParaRPr lang="en-US" sz="1100" b="0" i="0" u="none" strike="noStrike" kern="1200" noProof="0">
                        <a:solidFill>
                          <a:schemeClr val="tx1"/>
                        </a:solidFill>
                        <a:effectLst/>
                      </a:endParaRPr>
                    </a:p>
                  </a:txBody>
                  <a:tcPr anchor="ctr">
                    <a:lnL w="6350" cap="flat" cmpd="sng" algn="ctr">
                      <a:solidFill>
                        <a:schemeClr val="bg1">
                          <a:lumMod val="75000"/>
                        </a:schemeClr>
                      </a:solidFill>
                      <a:prstDash val="solid"/>
                      <a:round/>
                      <a:headEnd type="none" w="med" len="med"/>
                      <a:tailEnd type="none" w="med" len="med"/>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711448997"/>
                  </a:ext>
                </a:extLst>
              </a:tr>
              <a:tr h="507559">
                <a:tc>
                  <a:txBody>
                    <a:bodyPr/>
                    <a:lstStyle/>
                    <a:p>
                      <a:pPr lvl="0" algn="l">
                        <a:lnSpc>
                          <a:spcPct val="100000"/>
                        </a:lnSpc>
                        <a:spcBef>
                          <a:spcPts val="0"/>
                        </a:spcBef>
                        <a:spcAft>
                          <a:spcPts val="0"/>
                        </a:spcAft>
                        <a:buNone/>
                      </a:pPr>
                      <a:r>
                        <a:rPr lang="en-GB" sz="1100" b="0" i="0" u="none" strike="noStrike" kern="1200" noProof="0">
                          <a:solidFill>
                            <a:srgbClr val="000000"/>
                          </a:solidFill>
                        </a:rPr>
                        <a:t>Leave auto approval</a:t>
                      </a:r>
                      <a:endParaRPr lang="en-US"/>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171450" marR="0" lvl="0" indent="-171450" algn="l">
                        <a:lnSpc>
                          <a:spcPct val="100000"/>
                        </a:lnSpc>
                        <a:spcBef>
                          <a:spcPts val="0"/>
                        </a:spcBef>
                        <a:spcAft>
                          <a:spcPts val="0"/>
                        </a:spcAft>
                        <a:buClr>
                          <a:srgbClr val="000000"/>
                        </a:buClr>
                        <a:buFont typeface="Arial,Sans-Serif"/>
                        <a:buChar char="•"/>
                      </a:pPr>
                      <a:r>
                        <a:rPr lang="en-US" sz="1100" b="0" i="0" u="none" strike="noStrike" kern="1200" noProof="0">
                          <a:solidFill>
                            <a:srgbClr val="000000"/>
                          </a:solidFill>
                          <a:effectLst/>
                        </a:rPr>
                        <a:t>Automatically approving leave request that stays in a “Pending Manager Approval” state for 5 calendar days from the original submission date thus cutting uncertainty and backlog</a:t>
                      </a:r>
                      <a:endParaRPr lang="en-US" sz="1100" b="0" i="0" u="none" strike="noStrike" kern="1200" noProof="0">
                        <a:solidFill>
                          <a:srgbClr val="000000"/>
                        </a:solidFill>
                        <a:effectLst/>
                        <a:latin typeface="Nunito Sans"/>
                        <a:ea typeface="+mn-ea"/>
                        <a:cs typeface="+mn-cs"/>
                      </a:endParaRP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lvl="0" indent="0" algn="l">
                        <a:lnSpc>
                          <a:spcPct val="100000"/>
                        </a:lnSpc>
                        <a:spcBef>
                          <a:spcPts val="0"/>
                        </a:spcBef>
                        <a:spcAft>
                          <a:spcPts val="0"/>
                        </a:spcAft>
                        <a:buNone/>
                      </a:pPr>
                      <a:endParaRPr lang="en-IN" sz="1100" b="0" i="0" u="none" strike="noStrike" kern="1200" noProof="0">
                        <a:solidFill>
                          <a:srgbClr val="000000"/>
                        </a:solidFill>
                        <a:effectLst/>
                        <a:latin typeface="Nunito Sans"/>
                        <a:ea typeface="+mn-ea"/>
                        <a:cs typeface="+mn-cs"/>
                      </a:endParaRP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lvl="0" indent="0" algn="l">
                        <a:lnSpc>
                          <a:spcPct val="100000"/>
                        </a:lnSpc>
                        <a:spcBef>
                          <a:spcPts val="0"/>
                        </a:spcBef>
                        <a:spcAft>
                          <a:spcPts val="0"/>
                        </a:spcAft>
                        <a:buNone/>
                      </a:pPr>
                      <a:r>
                        <a:rPr lang="en-US" sz="1100" b="0" i="0" u="none" strike="noStrike" kern="1200" noProof="0">
                          <a:solidFill>
                            <a:schemeClr val="tx1"/>
                          </a:solidFill>
                          <a:effectLst/>
                          <a:hlinkClick r:id="rId5"/>
                        </a:rPr>
                        <a:t>MC-811</a:t>
                      </a:r>
                      <a:endParaRPr lang="en-US" sz="1100" b="0" i="0" u="none" strike="noStrike" kern="1200" noProof="0">
                        <a:solidFill>
                          <a:schemeClr val="tx1"/>
                        </a:solidFill>
                        <a:effectLst/>
                      </a:endParaRP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lvl="0" indent="0" algn="l">
                        <a:lnSpc>
                          <a:spcPct val="100000"/>
                        </a:lnSpc>
                        <a:spcBef>
                          <a:spcPts val="0"/>
                        </a:spcBef>
                        <a:spcAft>
                          <a:spcPts val="0"/>
                        </a:spcAft>
                        <a:buNone/>
                      </a:pPr>
                      <a:endParaRPr lang="en-US" sz="1100" b="0" i="0" u="none" strike="noStrike" kern="1200" noProof="0">
                        <a:solidFill>
                          <a:schemeClr val="tx1"/>
                        </a:solidFill>
                        <a:effectLst/>
                      </a:endParaRPr>
                    </a:p>
                  </a:txBody>
                  <a:tcPr anchor="ctr">
                    <a:lnL w="6350">
                      <a:solidFill>
                        <a:schemeClr val="bg1">
                          <a:lumMod val="75000"/>
                        </a:schemeClr>
                      </a:solidFill>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520719314"/>
                  </a:ext>
                </a:extLst>
              </a:tr>
              <a:tr h="507559">
                <a:tc>
                  <a:txBody>
                    <a:bodyPr/>
                    <a:lstStyle/>
                    <a:p>
                      <a:pPr lvl="0" algn="l">
                        <a:lnSpc>
                          <a:spcPct val="100000"/>
                        </a:lnSpc>
                        <a:spcBef>
                          <a:spcPts val="0"/>
                        </a:spcBef>
                        <a:spcAft>
                          <a:spcPts val="0"/>
                        </a:spcAft>
                        <a:buNone/>
                      </a:pPr>
                      <a:r>
                        <a:rPr lang="en-GB" sz="1100" b="0" i="0" u="none" strike="noStrike" kern="1200" noProof="0">
                          <a:solidFill>
                            <a:srgbClr val="000000"/>
                          </a:solidFill>
                        </a:rPr>
                        <a:t>Cabin Crew Payable Hours </a:t>
                      </a:r>
                      <a:endParaRPr lang="en-US"/>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solidFill>
                      <a:schemeClr val="bg1"/>
                    </a:solidFill>
                  </a:tcPr>
                </a:tc>
                <a:tc>
                  <a:txBody>
                    <a:bodyPr/>
                    <a:lstStyle/>
                    <a:p>
                      <a:pPr marL="171450" lvl="0" indent="-171450" algn="l">
                        <a:lnSpc>
                          <a:spcPct val="100000"/>
                        </a:lnSpc>
                        <a:spcBef>
                          <a:spcPts val="0"/>
                        </a:spcBef>
                        <a:spcAft>
                          <a:spcPts val="0"/>
                        </a:spcAft>
                        <a:buFont typeface="Arial,Sans-Serif"/>
                        <a:buChar char="•"/>
                      </a:pPr>
                      <a:r>
                        <a:rPr lang="en-US" sz="1100" b="0" i="0" u="none" strike="noStrike" kern="1200" noProof="0">
                          <a:solidFill>
                            <a:srgbClr val="000000"/>
                          </a:solidFill>
                          <a:effectLst/>
                        </a:rPr>
                        <a:t>Real-time payable hours visibility - crew can view their accumulated payable hours for the previous months at any point, without waiting for payroll closure </a:t>
                      </a:r>
                    </a:p>
                    <a:p>
                      <a:pPr marL="171450" lvl="0" indent="-171450" algn="l">
                        <a:lnSpc>
                          <a:spcPct val="100000"/>
                        </a:lnSpc>
                        <a:spcBef>
                          <a:spcPts val="0"/>
                        </a:spcBef>
                        <a:spcAft>
                          <a:spcPts val="0"/>
                        </a:spcAft>
                        <a:buFont typeface="Arial,Sans-Serif"/>
                        <a:buChar char="•"/>
                      </a:pPr>
                      <a:r>
                        <a:rPr lang="en-US" sz="1100" b="0" i="0" u="none" strike="noStrike" kern="1200" noProof="0">
                          <a:solidFill>
                            <a:srgbClr val="000000"/>
                          </a:solidFill>
                          <a:effectLst/>
                          <a:latin typeface="Nunito Sans"/>
                        </a:rPr>
                        <a:t>Gives cabin crew real-time, duty-wise visibility of monthly payable hours - reducing payroll disputes and crew queries (20-30 / week requiring data analysis)  building trust and transparency in compensation process</a:t>
                      </a:r>
                      <a:endParaRPr lang="en-US" sz="1100" b="0" i="0" u="none" strike="noStrike" kern="1200" noProof="0">
                        <a:solidFill>
                          <a:srgbClr val="000000"/>
                        </a:solidFill>
                        <a:effectLst/>
                      </a:endParaRP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solidFill>
                      <a:schemeClr val="bg1"/>
                    </a:solidFill>
                  </a:tcPr>
                </a:tc>
                <a:tc>
                  <a:txBody>
                    <a:bodyPr/>
                    <a:lstStyle/>
                    <a:p>
                      <a:pPr marL="0" lvl="0" indent="0" algn="l">
                        <a:lnSpc>
                          <a:spcPct val="100000"/>
                        </a:lnSpc>
                        <a:spcBef>
                          <a:spcPts val="0"/>
                        </a:spcBef>
                        <a:spcAft>
                          <a:spcPts val="0"/>
                        </a:spcAft>
                        <a:buNone/>
                      </a:pPr>
                      <a:endParaRPr lang="en-IN" sz="1100" b="0" i="0" u="none" strike="noStrike" kern="1200" noProof="0">
                        <a:solidFill>
                          <a:srgbClr val="000000"/>
                        </a:solidFill>
                        <a:effectLst/>
                        <a:latin typeface="Nunito Sans"/>
                        <a:ea typeface="+mn-ea"/>
                        <a:cs typeface="+mn-cs"/>
                      </a:endParaRP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solidFill>
                      <a:schemeClr val="bg1"/>
                    </a:solidFill>
                  </a:tcPr>
                </a:tc>
                <a:tc>
                  <a:txBody>
                    <a:bodyPr/>
                    <a:lstStyle/>
                    <a:p>
                      <a:pPr marL="0" lvl="0" indent="0" algn="l">
                        <a:lnSpc>
                          <a:spcPct val="100000"/>
                        </a:lnSpc>
                        <a:spcBef>
                          <a:spcPts val="0"/>
                        </a:spcBef>
                        <a:spcAft>
                          <a:spcPts val="0"/>
                        </a:spcAft>
                        <a:buNone/>
                      </a:pPr>
                      <a:r>
                        <a:rPr lang="en-US" sz="1100" b="0" i="0" u="none" strike="noStrike" kern="1200" noProof="0">
                          <a:solidFill>
                            <a:schemeClr val="tx1"/>
                          </a:solidFill>
                          <a:effectLst/>
                          <a:hlinkClick r:id="rId6"/>
                        </a:rPr>
                        <a:t>MC-1806</a:t>
                      </a:r>
                      <a:endParaRPr lang="en-US" sz="1100" b="0" i="0" u="none" strike="noStrike" kern="1200" noProof="0">
                        <a:solidFill>
                          <a:schemeClr val="tx1"/>
                        </a:solidFill>
                        <a:effectLst/>
                      </a:endParaRP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a:solidFill>
                        <a:schemeClr val="bg1">
                          <a:lumMod val="75000"/>
                        </a:schemeClr>
                      </a:solidFill>
                    </a:lnB>
                    <a:solidFill>
                      <a:schemeClr val="bg1"/>
                    </a:solidFill>
                  </a:tcPr>
                </a:tc>
                <a:tc>
                  <a:txBody>
                    <a:bodyPr/>
                    <a:lstStyle/>
                    <a:p>
                      <a:pPr marL="0" lvl="0" indent="0" algn="l">
                        <a:lnSpc>
                          <a:spcPct val="100000"/>
                        </a:lnSpc>
                        <a:spcBef>
                          <a:spcPts val="0"/>
                        </a:spcBef>
                        <a:spcAft>
                          <a:spcPts val="0"/>
                        </a:spcAft>
                        <a:buNone/>
                      </a:pPr>
                      <a:endParaRPr lang="en-US" sz="1100" b="0" i="0" u="none" strike="noStrike" kern="1200" noProof="0">
                        <a:solidFill>
                          <a:schemeClr val="tx1"/>
                        </a:solidFill>
                        <a:effectLst/>
                      </a:endParaRPr>
                    </a:p>
                  </a:txBody>
                  <a:tcPr anchor="ctr">
                    <a:lnL w="6350">
                      <a:solidFill>
                        <a:schemeClr val="bg1">
                          <a:lumMod val="75000"/>
                        </a:schemeClr>
                      </a:solidFill>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418860042"/>
                  </a:ext>
                </a:extLst>
              </a:tr>
              <a:tr h="507559">
                <a:tc>
                  <a:txBody>
                    <a:bodyPr/>
                    <a:lstStyle/>
                    <a:p>
                      <a:pPr lvl="0" algn="l">
                        <a:lnSpc>
                          <a:spcPct val="100000"/>
                        </a:lnSpc>
                        <a:spcBef>
                          <a:spcPts val="0"/>
                        </a:spcBef>
                        <a:spcAft>
                          <a:spcPts val="0"/>
                        </a:spcAft>
                        <a:buNone/>
                      </a:pPr>
                      <a:r>
                        <a:rPr lang="en-GB" sz="1100" b="0" i="0" u="none" strike="noStrike" kern="1200" noProof="0">
                          <a:solidFill>
                            <a:srgbClr val="000000"/>
                          </a:solidFill>
                        </a:rPr>
                        <a:t>ACM Notifications to Medical Officer</a:t>
                      </a:r>
                      <a:endParaRPr lang="en-US"/>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171450" lvl="0" indent="-171450" algn="l">
                        <a:lnSpc>
                          <a:spcPct val="100000"/>
                        </a:lnSpc>
                        <a:spcBef>
                          <a:spcPts val="0"/>
                        </a:spcBef>
                        <a:spcAft>
                          <a:spcPts val="0"/>
                        </a:spcAft>
                        <a:buFont typeface="Arial,Sans-Serif"/>
                        <a:buChar char="•"/>
                      </a:pPr>
                      <a:r>
                        <a:rPr lang="en-US" sz="1100" b="0" i="0" u="none" strike="noStrike" kern="1200" noProof="0">
                          <a:solidFill>
                            <a:srgbClr val="000000"/>
                          </a:solidFill>
                          <a:effectLst/>
                        </a:rPr>
                        <a:t>Automatically notifies the mapped station Medical Officer when an ACM request is approved, providing visibility leading to compliance of BA testing. </a:t>
                      </a: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lvl="0" indent="0" algn="l">
                        <a:lnSpc>
                          <a:spcPct val="100000"/>
                        </a:lnSpc>
                        <a:spcBef>
                          <a:spcPts val="0"/>
                        </a:spcBef>
                        <a:spcAft>
                          <a:spcPts val="0"/>
                        </a:spcAft>
                        <a:buNone/>
                      </a:pPr>
                      <a:endParaRPr lang="en-IN" sz="1100" b="0" i="0" u="none" strike="noStrike" kern="1200" noProof="0">
                        <a:solidFill>
                          <a:srgbClr val="000000"/>
                        </a:solidFill>
                        <a:effectLst/>
                        <a:latin typeface="Nunito Sans"/>
                        <a:ea typeface="+mn-ea"/>
                        <a:cs typeface="+mn-cs"/>
                      </a:endParaRP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lvl="0" indent="0" algn="l">
                        <a:lnSpc>
                          <a:spcPct val="100000"/>
                        </a:lnSpc>
                        <a:spcBef>
                          <a:spcPts val="0"/>
                        </a:spcBef>
                        <a:spcAft>
                          <a:spcPts val="0"/>
                        </a:spcAft>
                        <a:buNone/>
                      </a:pPr>
                      <a:r>
                        <a:rPr lang="en-US" sz="1100" b="0" i="0" u="none" strike="noStrike" kern="1200" noProof="0">
                          <a:solidFill>
                            <a:schemeClr val="tx1"/>
                          </a:solidFill>
                          <a:effectLst/>
                          <a:latin typeface="Nunito Sans"/>
                          <a:ea typeface="+mn-ea"/>
                          <a:cs typeface="+mn-cs"/>
                          <a:hlinkClick r:id="rId7"/>
                        </a:rPr>
                        <a:t>MC-2433</a:t>
                      </a:r>
                      <a:endParaRPr lang="en-US"/>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lvl="0" indent="0" algn="l">
                        <a:lnSpc>
                          <a:spcPct val="100000"/>
                        </a:lnSpc>
                        <a:spcBef>
                          <a:spcPts val="0"/>
                        </a:spcBef>
                        <a:spcAft>
                          <a:spcPts val="0"/>
                        </a:spcAft>
                        <a:buNone/>
                      </a:pPr>
                      <a:endParaRPr lang="en-US"/>
                    </a:p>
                  </a:txBody>
                  <a:tcPr anchor="ctr">
                    <a:lnL w="6350">
                      <a:solidFill>
                        <a:schemeClr val="bg1">
                          <a:lumMod val="75000"/>
                        </a:schemeClr>
                      </a:solidFill>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514072300"/>
                  </a:ext>
                </a:extLst>
              </a:tr>
              <a:tr h="507559">
                <a:tc>
                  <a:txBody>
                    <a:bodyPr/>
                    <a:lstStyle/>
                    <a:p>
                      <a:pPr lvl="0" algn="l">
                        <a:lnSpc>
                          <a:spcPct val="100000"/>
                        </a:lnSpc>
                        <a:spcBef>
                          <a:spcPts val="0"/>
                        </a:spcBef>
                        <a:spcAft>
                          <a:spcPts val="0"/>
                        </a:spcAft>
                        <a:buNone/>
                      </a:pPr>
                      <a:r>
                        <a:rPr lang="en-GB" sz="1100" b="0" i="0" u="none" strike="noStrike" kern="1200" noProof="0">
                          <a:solidFill>
                            <a:srgbClr val="000000"/>
                          </a:solidFill>
                        </a:rPr>
                        <a:t>Extended Maternity LOP Leave</a:t>
                      </a:r>
                      <a:endParaRPr lang="en-US"/>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solidFill>
                      <a:schemeClr val="bg1"/>
                    </a:solidFill>
                  </a:tcPr>
                </a:tc>
                <a:tc>
                  <a:txBody>
                    <a:bodyPr/>
                    <a:lstStyle/>
                    <a:p>
                      <a:pPr marL="171450" lvl="0" indent="-171450" algn="l">
                        <a:lnSpc>
                          <a:spcPct val="100000"/>
                        </a:lnSpc>
                        <a:spcBef>
                          <a:spcPts val="0"/>
                        </a:spcBef>
                        <a:spcAft>
                          <a:spcPts val="0"/>
                        </a:spcAft>
                        <a:buFont typeface="Arial,Sans-Serif"/>
                        <a:buChar char="•"/>
                      </a:pPr>
                      <a:r>
                        <a:rPr lang="en-US" sz="1100" b="0" i="0" u="none" strike="noStrike" kern="1200" noProof="0">
                          <a:solidFill>
                            <a:srgbClr val="000000"/>
                          </a:solidFill>
                          <a:effectLst/>
                        </a:rPr>
                        <a:t>Introduces a new leave type, Extended Maternity LOP Leave, allowing eligible female employees to apply for up to 6 months of leave beyond standard maternity leave entitlements.</a:t>
                      </a:r>
                    </a:p>
                    <a:p>
                      <a:pPr marL="171450" lvl="0" indent="-171450" algn="l">
                        <a:lnSpc>
                          <a:spcPct val="100000"/>
                        </a:lnSpc>
                        <a:spcBef>
                          <a:spcPts val="0"/>
                        </a:spcBef>
                        <a:spcAft>
                          <a:spcPts val="0"/>
                        </a:spcAft>
                        <a:buFont typeface="Arial,Sans-Serif"/>
                        <a:buChar char="•"/>
                      </a:pPr>
                      <a:r>
                        <a:rPr lang="en-US" sz="1100" b="0" i="0" u="none" strike="noStrike" kern="1200" noProof="0">
                          <a:solidFill>
                            <a:srgbClr val="000000"/>
                          </a:solidFill>
                          <a:effectLst/>
                        </a:rPr>
                        <a:t>Change in emailer template, sending more </a:t>
                      </a:r>
                      <a:r>
                        <a:rPr lang="en-US" sz="1100" b="0" i="0" u="none" strike="noStrike" kern="1200" noProof="0" err="1">
                          <a:solidFill>
                            <a:srgbClr val="000000"/>
                          </a:solidFill>
                          <a:effectLst/>
                        </a:rPr>
                        <a:t>personalised</a:t>
                      </a:r>
                      <a:r>
                        <a:rPr lang="en-US" sz="1100" b="0" i="0" u="none" strike="noStrike" kern="1200" noProof="0">
                          <a:solidFill>
                            <a:srgbClr val="000000"/>
                          </a:solidFill>
                          <a:effectLst/>
                        </a:rPr>
                        <a:t> communication to female employees</a:t>
                      </a: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solidFill>
                      <a:schemeClr val="bg1"/>
                    </a:solidFill>
                  </a:tcPr>
                </a:tc>
                <a:tc>
                  <a:txBody>
                    <a:bodyPr/>
                    <a:lstStyle/>
                    <a:p>
                      <a:pPr marL="0" lvl="0" indent="0" algn="l">
                        <a:lnSpc>
                          <a:spcPct val="100000"/>
                        </a:lnSpc>
                        <a:spcBef>
                          <a:spcPts val="0"/>
                        </a:spcBef>
                        <a:spcAft>
                          <a:spcPts val="0"/>
                        </a:spcAft>
                        <a:buNone/>
                      </a:pPr>
                      <a:endParaRPr lang="en-IN" sz="1100" b="0" i="0" u="none" strike="noStrike" kern="1200" noProof="0">
                        <a:solidFill>
                          <a:srgbClr val="000000"/>
                        </a:solidFill>
                        <a:effectLst/>
                        <a:latin typeface="Nunito Sans"/>
                        <a:ea typeface="+mn-ea"/>
                        <a:cs typeface="+mn-cs"/>
                      </a:endParaRP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solidFill>
                      <a:schemeClr val="bg1"/>
                    </a:solidFill>
                  </a:tcPr>
                </a:tc>
                <a:tc>
                  <a:txBody>
                    <a:bodyPr/>
                    <a:lstStyle/>
                    <a:p>
                      <a:pPr marL="0" lvl="0" indent="0" algn="l">
                        <a:lnSpc>
                          <a:spcPct val="100000"/>
                        </a:lnSpc>
                        <a:spcBef>
                          <a:spcPts val="0"/>
                        </a:spcBef>
                        <a:spcAft>
                          <a:spcPts val="0"/>
                        </a:spcAft>
                        <a:buNone/>
                      </a:pPr>
                      <a:r>
                        <a:rPr lang="en-US" sz="1100" b="0" i="0" u="none" strike="noStrike" kern="1200" noProof="0">
                          <a:solidFill>
                            <a:schemeClr val="tx1"/>
                          </a:solidFill>
                          <a:effectLst/>
                          <a:hlinkClick r:id="rId8"/>
                        </a:rPr>
                        <a:t>MC-2379</a:t>
                      </a:r>
                      <a:endParaRPr lang="en-US" sz="1100" b="0" i="0" u="none" strike="noStrike" kern="1200" noProof="0">
                        <a:solidFill>
                          <a:schemeClr val="tx1"/>
                        </a:solidFill>
                        <a:effectLst/>
                      </a:endParaRP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a:solidFill>
                        <a:schemeClr val="bg1">
                          <a:lumMod val="75000"/>
                        </a:schemeClr>
                      </a:solidFill>
                    </a:lnB>
                    <a:solidFill>
                      <a:schemeClr val="bg1"/>
                    </a:solidFill>
                  </a:tcPr>
                </a:tc>
                <a:tc>
                  <a:txBody>
                    <a:bodyPr/>
                    <a:lstStyle/>
                    <a:p>
                      <a:pPr marL="0" lvl="0" indent="0" algn="l">
                        <a:lnSpc>
                          <a:spcPct val="100000"/>
                        </a:lnSpc>
                        <a:spcBef>
                          <a:spcPts val="0"/>
                        </a:spcBef>
                        <a:spcAft>
                          <a:spcPts val="0"/>
                        </a:spcAft>
                        <a:buNone/>
                      </a:pPr>
                      <a:endParaRPr lang="en-US" sz="1100" b="0" i="0" u="none" strike="noStrike" kern="1200" noProof="0">
                        <a:solidFill>
                          <a:schemeClr val="tx1"/>
                        </a:solidFill>
                        <a:effectLst/>
                      </a:endParaRPr>
                    </a:p>
                  </a:txBody>
                  <a:tcPr anchor="ctr">
                    <a:lnL w="6350">
                      <a:solidFill>
                        <a:schemeClr val="bg1">
                          <a:lumMod val="75000"/>
                        </a:schemeClr>
                      </a:solidFill>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991775294"/>
                  </a:ext>
                </a:extLst>
              </a:tr>
              <a:tr h="507559">
                <a:tc>
                  <a:txBody>
                    <a:bodyPr/>
                    <a:lstStyle/>
                    <a:p>
                      <a:pPr lvl="0" algn="l">
                        <a:lnSpc>
                          <a:spcPct val="100000"/>
                        </a:lnSpc>
                        <a:spcBef>
                          <a:spcPts val="0"/>
                        </a:spcBef>
                        <a:spcAft>
                          <a:spcPts val="0"/>
                        </a:spcAft>
                        <a:buNone/>
                      </a:pPr>
                      <a:r>
                        <a:rPr lang="en-GB" sz="1100" b="0" i="0" u="none" strike="noStrike" kern="1200" noProof="0">
                          <a:solidFill>
                            <a:srgbClr val="000000"/>
                          </a:solidFill>
                          <a:latin typeface="Nunito Sans"/>
                          <a:ea typeface="+mn-ea"/>
                          <a:cs typeface="+mn-cs"/>
                        </a:rPr>
                        <a:t>Tech/UX Debt</a:t>
                      </a: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solidFill>
                      <a:schemeClr val="bg1"/>
                    </a:solidFill>
                  </a:tcPr>
                </a:tc>
                <a:tc>
                  <a:txBody>
                    <a:bodyPr/>
                    <a:lstStyle/>
                    <a:p>
                      <a:pPr marL="171450" lvl="0" indent="-171450" algn="l">
                        <a:lnSpc>
                          <a:spcPct val="100000"/>
                        </a:lnSpc>
                        <a:spcBef>
                          <a:spcPts val="0"/>
                        </a:spcBef>
                        <a:spcAft>
                          <a:spcPts val="0"/>
                        </a:spcAft>
                        <a:buFont typeface="Arial,Sans-Serif"/>
                        <a:buChar char="•"/>
                      </a:pPr>
                      <a:r>
                        <a:rPr lang="en-US" sz="1100" b="0" i="0" u="none" strike="noStrike" kern="1200" noProof="0">
                          <a:solidFill>
                            <a:srgbClr val="000000"/>
                          </a:solidFill>
                          <a:effectLst/>
                        </a:rPr>
                        <a:t>Blob attachment feature with adobe emails</a:t>
                      </a:r>
                    </a:p>
                    <a:p>
                      <a:pPr marL="171450" lvl="0" indent="-171450" algn="l">
                        <a:lnSpc>
                          <a:spcPct val="100000"/>
                        </a:lnSpc>
                        <a:spcBef>
                          <a:spcPts val="0"/>
                        </a:spcBef>
                        <a:spcAft>
                          <a:spcPts val="0"/>
                        </a:spcAft>
                        <a:buFont typeface="Arial,Sans-Serif"/>
                        <a:buChar char="•"/>
                      </a:pPr>
                      <a:r>
                        <a:rPr lang="en-US" sz="1100" b="0" i="0" u="none" strike="noStrike" kern="1200" noProof="0">
                          <a:solidFill>
                            <a:srgbClr val="000000"/>
                          </a:solidFill>
                          <a:effectLst/>
                          <a:latin typeface="Nunito Sans"/>
                        </a:rPr>
                        <a:t>WhatsApp integration(to replace CCNS dependency)</a:t>
                      </a:r>
                    </a:p>
                    <a:p>
                      <a:pPr marL="171450" lvl="0" indent="-171450" algn="l">
                        <a:lnSpc>
                          <a:spcPct val="100000"/>
                        </a:lnSpc>
                        <a:spcBef>
                          <a:spcPts val="0"/>
                        </a:spcBef>
                        <a:spcAft>
                          <a:spcPts val="0"/>
                        </a:spcAft>
                        <a:buFont typeface="Arial,Sans-Serif"/>
                        <a:buChar char="•"/>
                      </a:pPr>
                      <a:r>
                        <a:rPr lang="en-US" sz="1100" b="0" i="0" u="none" strike="noStrike" kern="1200" noProof="0">
                          <a:solidFill>
                            <a:srgbClr val="000000"/>
                          </a:solidFill>
                          <a:effectLst/>
                        </a:rPr>
                        <a:t>Endpoint to insert notifications for InApp</a:t>
                      </a:r>
                      <a:endParaRPr lang="en-US" sz="1100" b="0" i="0" u="none" strike="noStrike" kern="1200" noProof="0" err="1">
                        <a:solidFill>
                          <a:srgbClr val="000000"/>
                        </a:solidFill>
                        <a:effectLst/>
                        <a:latin typeface="Nunito Sans"/>
                      </a:endParaRP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solidFill>
                      <a:schemeClr val="bg1"/>
                    </a:solidFill>
                  </a:tcPr>
                </a:tc>
                <a:tc>
                  <a:txBody>
                    <a:bodyPr/>
                    <a:lstStyle/>
                    <a:p>
                      <a:pPr marL="0" lvl="0" indent="0" algn="l">
                        <a:lnSpc>
                          <a:spcPct val="100000"/>
                        </a:lnSpc>
                        <a:spcBef>
                          <a:spcPts val="0"/>
                        </a:spcBef>
                        <a:spcAft>
                          <a:spcPts val="0"/>
                        </a:spcAft>
                        <a:buNone/>
                      </a:pPr>
                      <a:endParaRPr lang="en-IN" sz="1100" b="0" i="0" u="none" strike="noStrike" kern="1200" noProof="0">
                        <a:solidFill>
                          <a:srgbClr val="000000"/>
                        </a:solidFill>
                        <a:effectLst/>
                        <a:latin typeface="Nunito Sans"/>
                        <a:ea typeface="+mn-ea"/>
                        <a:cs typeface="+mn-cs"/>
                      </a:endParaRP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solidFill>
                      <a:schemeClr val="bg1"/>
                    </a:solidFill>
                  </a:tcPr>
                </a:tc>
                <a:tc>
                  <a:txBody>
                    <a:bodyPr/>
                    <a:lstStyle/>
                    <a:p>
                      <a:pPr marL="0" lvl="0" indent="0" algn="l">
                        <a:lnSpc>
                          <a:spcPct val="100000"/>
                        </a:lnSpc>
                        <a:spcBef>
                          <a:spcPts val="0"/>
                        </a:spcBef>
                        <a:spcAft>
                          <a:spcPts val="0"/>
                        </a:spcAft>
                        <a:buNone/>
                      </a:pPr>
                      <a:endParaRPr lang="en-US" sz="1100" b="0" i="0" u="none" strike="noStrike" kern="1200" noProof="0">
                        <a:solidFill>
                          <a:schemeClr val="tx1"/>
                        </a:solidFill>
                        <a:effectLst/>
                        <a:latin typeface="Nunito Sans"/>
                        <a:ea typeface="+mn-ea"/>
                        <a:cs typeface="+mn-cs"/>
                      </a:endParaRP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a:solidFill>
                        <a:schemeClr val="bg1">
                          <a:lumMod val="75000"/>
                        </a:schemeClr>
                      </a:solidFill>
                    </a:lnB>
                    <a:solidFill>
                      <a:schemeClr val="bg1"/>
                    </a:solidFill>
                  </a:tcPr>
                </a:tc>
                <a:tc>
                  <a:txBody>
                    <a:bodyPr/>
                    <a:lstStyle/>
                    <a:p>
                      <a:pPr marL="0" lvl="0" indent="0" algn="l">
                        <a:lnSpc>
                          <a:spcPct val="100000"/>
                        </a:lnSpc>
                        <a:spcBef>
                          <a:spcPts val="0"/>
                        </a:spcBef>
                        <a:spcAft>
                          <a:spcPts val="0"/>
                        </a:spcAft>
                        <a:buNone/>
                      </a:pPr>
                      <a:endParaRPr lang="en-US" sz="1100" b="0" i="0" u="none" strike="noStrike" kern="1200" noProof="0">
                        <a:solidFill>
                          <a:schemeClr val="tx1"/>
                        </a:solidFill>
                        <a:effectLst/>
                        <a:latin typeface="Nunito Sans"/>
                        <a:ea typeface="+mn-ea"/>
                        <a:cs typeface="+mn-cs"/>
                      </a:endParaRPr>
                    </a:p>
                  </a:txBody>
                  <a:tcPr anchor="ctr">
                    <a:lnL w="6350">
                      <a:solidFill>
                        <a:schemeClr val="bg1">
                          <a:lumMod val="75000"/>
                        </a:schemeClr>
                      </a:solidFill>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a:solidFill>
                        <a:schemeClr val="bg1">
                          <a:lumMod val="75000"/>
                        </a:schemeClr>
                      </a:solidFill>
                    </a:lnB>
                    <a:solidFill>
                      <a:schemeClr val="bg1"/>
                    </a:solidFill>
                  </a:tcPr>
                </a:tc>
                <a:extLst>
                  <a:ext uri="{0D108BD9-81ED-4DB2-BD59-A6C34878D82A}">
                    <a16:rowId xmlns:a16="http://schemas.microsoft.com/office/drawing/2014/main" val="1256442297"/>
                  </a:ext>
                </a:extLst>
              </a:tr>
            </a:tbl>
          </a:graphicData>
        </a:graphic>
      </p:graphicFrame>
      <p:sp>
        <p:nvSpPr>
          <p:cNvPr id="26" name="TextBox 25">
            <a:extLst>
              <a:ext uri="{FF2B5EF4-FFF2-40B4-BE49-F238E27FC236}">
                <a16:creationId xmlns:a16="http://schemas.microsoft.com/office/drawing/2014/main" id="{11881A33-56DA-B01D-6F0E-D85D5F0BD4C9}"/>
              </a:ext>
            </a:extLst>
          </p:cNvPr>
          <p:cNvSpPr txBox="1"/>
          <p:nvPr/>
        </p:nvSpPr>
        <p:spPr>
          <a:xfrm>
            <a:off x="343955" y="3897931"/>
            <a:ext cx="417102" cy="253916"/>
          </a:xfrm>
          <a:prstGeom prst="rect">
            <a:avLst/>
          </a:prstGeom>
          <a:noFill/>
        </p:spPr>
        <p:txBody>
          <a:bodyPr wrap="none" lIns="91440" tIns="45720" rIns="91440" bIns="45720" rtlCol="0" anchor="t">
            <a:spAutoFit/>
          </a:bodyPr>
          <a:lstStyle/>
          <a:p>
            <a:r>
              <a:rPr lang="en-IN" sz="1050" b="1">
                <a:solidFill>
                  <a:schemeClr val="bg1"/>
                </a:solidFill>
                <a:latin typeface="Montserrat Light"/>
              </a:rPr>
              <a:t>Jan</a:t>
            </a:r>
            <a:endParaRPr lang="en-IN" sz="1050" b="1">
              <a:solidFill>
                <a:schemeClr val="bg1"/>
              </a:solidFill>
              <a:latin typeface="Montserrat Light" pitchFamily="2" charset="0"/>
            </a:endParaRPr>
          </a:p>
        </p:txBody>
      </p:sp>
      <p:sp>
        <p:nvSpPr>
          <p:cNvPr id="27" name="TextBox 15">
            <a:extLst>
              <a:ext uri="{FF2B5EF4-FFF2-40B4-BE49-F238E27FC236}">
                <a16:creationId xmlns:a16="http://schemas.microsoft.com/office/drawing/2014/main" id="{BB9B2B90-C1AA-526B-0447-7990868C0403}"/>
              </a:ext>
            </a:extLst>
          </p:cNvPr>
          <p:cNvSpPr txBox="1"/>
          <p:nvPr/>
        </p:nvSpPr>
        <p:spPr>
          <a:xfrm>
            <a:off x="398384" y="817274"/>
            <a:ext cx="417102" cy="253916"/>
          </a:xfrm>
          <a:prstGeom prst="rect">
            <a:avLst/>
          </a:prstGeom>
          <a:noFill/>
        </p:spPr>
        <p:txBody>
          <a:bodyPr wrap="non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050" b="1">
                <a:solidFill>
                  <a:schemeClr val="bg1"/>
                </a:solidFill>
                <a:latin typeface="Montserrat Light"/>
              </a:rPr>
              <a:t>Jan</a:t>
            </a:r>
            <a:endParaRPr lang="en-IN" sz="1050" b="1">
              <a:solidFill>
                <a:schemeClr val="bg1"/>
              </a:solidFill>
              <a:latin typeface="Montserrat Light" pitchFamily="2" charset="0"/>
            </a:endParaRPr>
          </a:p>
        </p:txBody>
      </p:sp>
      <p:sp>
        <p:nvSpPr>
          <p:cNvPr id="29" name="Rectangle 28">
            <a:extLst>
              <a:ext uri="{FF2B5EF4-FFF2-40B4-BE49-F238E27FC236}">
                <a16:creationId xmlns:a16="http://schemas.microsoft.com/office/drawing/2014/main" id="{5AF84135-5858-D4D8-074F-22881B766176}"/>
              </a:ext>
            </a:extLst>
          </p:cNvPr>
          <p:cNvSpPr/>
          <p:nvPr/>
        </p:nvSpPr>
        <p:spPr>
          <a:xfrm>
            <a:off x="-4474" y="793560"/>
            <a:ext cx="1067526" cy="42234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IN" sz="1400" b="1">
                <a:latin typeface="AirIndia"/>
              </a:rPr>
              <a:t>Aug ‘26</a:t>
            </a:r>
            <a:endParaRPr lang="en-US"/>
          </a:p>
        </p:txBody>
      </p:sp>
      <p:pic>
        <p:nvPicPr>
          <p:cNvPr id="34" name="Picture 33">
            <a:extLst>
              <a:ext uri="{FF2B5EF4-FFF2-40B4-BE49-F238E27FC236}">
                <a16:creationId xmlns:a16="http://schemas.microsoft.com/office/drawing/2014/main" id="{58227EFE-667E-A05C-6A36-4B7032808D29}"/>
              </a:ext>
            </a:extLst>
          </p:cNvPr>
          <p:cNvPicPr>
            <a:picLocks noChangeAspect="1"/>
          </p:cNvPicPr>
          <p:nvPr/>
        </p:nvPicPr>
        <p:blipFill>
          <a:blip r:embed="rId9"/>
          <a:stretch>
            <a:fillRect/>
          </a:stretch>
        </p:blipFill>
        <p:spPr>
          <a:xfrm>
            <a:off x="306161" y="6532789"/>
            <a:ext cx="8248650" cy="323850"/>
          </a:xfrm>
          <a:prstGeom prst="rect">
            <a:avLst/>
          </a:prstGeom>
        </p:spPr>
      </p:pic>
    </p:spTree>
    <p:extLst>
      <p:ext uri="{BB962C8B-B14F-4D97-AF65-F5344CB8AC3E}">
        <p14:creationId xmlns:p14="http://schemas.microsoft.com/office/powerpoint/2010/main" val="87834584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E959A4-1707-A7D1-C9BF-AFB8242EB6F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A65D7DB-9D31-EAE7-FE03-56874F253E66}"/>
              </a:ext>
            </a:extLst>
          </p:cNvPr>
          <p:cNvSpPr>
            <a:spLocks noGrp="1"/>
          </p:cNvSpPr>
          <p:nvPr>
            <p:ph type="sldNum" sz="quarter" idx="12"/>
          </p:nvPr>
        </p:nvSpPr>
        <p:spPr/>
        <p:txBody>
          <a:bodyPr/>
          <a:lstStyle/>
          <a:p>
            <a:fld id="{3A41A254-7326-714E-AF55-4C213D6394DE}" type="slidenum">
              <a:rPr lang="en-US" sz="900" smtClean="0">
                <a:latin typeface="Montserrat Light" pitchFamily="2" charset="0"/>
              </a:rPr>
              <a:pPr/>
              <a:t>84</a:t>
            </a:fld>
            <a:endParaRPr lang="en-US" sz="900">
              <a:latin typeface="Montserrat Light" pitchFamily="2" charset="0"/>
            </a:endParaRPr>
          </a:p>
        </p:txBody>
      </p:sp>
      <p:sp>
        <p:nvSpPr>
          <p:cNvPr id="6" name="Title 11">
            <a:extLst>
              <a:ext uri="{FF2B5EF4-FFF2-40B4-BE49-F238E27FC236}">
                <a16:creationId xmlns:a16="http://schemas.microsoft.com/office/drawing/2014/main" id="{1A70CAB8-4E53-F6DD-2244-F8E4E6C0FE3D}"/>
              </a:ext>
            </a:extLst>
          </p:cNvPr>
          <p:cNvSpPr txBox="1">
            <a:spLocks/>
          </p:cNvSpPr>
          <p:nvPr/>
        </p:nvSpPr>
        <p:spPr>
          <a:xfrm>
            <a:off x="304800" y="269218"/>
            <a:ext cx="8420100" cy="396638"/>
          </a:xfrm>
          <a:prstGeom prst="rect">
            <a:avLst/>
          </a:prstGeom>
        </p:spPr>
        <p:txBody>
          <a:bodyPr lIns="91440" tIns="45720" rIns="91440" bIns="45720" anchor="t">
            <a:noAutofit/>
          </a:bodyPr>
          <a:lstStyle>
            <a:lvl1pPr algn="l" defTabSz="914400" rtl="0" eaLnBrk="1" latinLnBrk="0" hangingPunct="1">
              <a:lnSpc>
                <a:spcPct val="90000"/>
              </a:lnSpc>
              <a:spcBef>
                <a:spcPct val="0"/>
              </a:spcBef>
              <a:buNone/>
              <a:defRPr sz="4400" b="1" i="0" kern="1200">
                <a:solidFill>
                  <a:schemeClr val="tx1"/>
                </a:solidFill>
                <a:latin typeface="AirIndia" pitchFamily="82" charset="77"/>
                <a:ea typeface="+mj-ea"/>
                <a:cs typeface="+mj-cs"/>
              </a:defRPr>
            </a:lvl1pPr>
          </a:lstStyle>
          <a:p>
            <a:r>
              <a:rPr lang="en-US" sz="1800" err="1">
                <a:solidFill>
                  <a:srgbClr val="C00000"/>
                </a:solidFill>
                <a:latin typeface="AirIndia"/>
              </a:rPr>
              <a:t>myAI</a:t>
            </a:r>
            <a:r>
              <a:rPr lang="en-US" sz="1800">
                <a:solidFill>
                  <a:srgbClr val="C00000"/>
                </a:solidFill>
                <a:latin typeface="AirIndia"/>
              </a:rPr>
              <a:t> - FY27 Q2  Release Plan </a:t>
            </a:r>
            <a:endParaRPr lang="en-US" sz="1800" b="0">
              <a:solidFill>
                <a:srgbClr val="C00000"/>
              </a:solidFill>
              <a:latin typeface="AirIndia"/>
            </a:endParaRPr>
          </a:p>
        </p:txBody>
      </p:sp>
      <p:graphicFrame>
        <p:nvGraphicFramePr>
          <p:cNvPr id="4" name="Table 3">
            <a:extLst>
              <a:ext uri="{FF2B5EF4-FFF2-40B4-BE49-F238E27FC236}">
                <a16:creationId xmlns:a16="http://schemas.microsoft.com/office/drawing/2014/main" id="{692C5D73-7F2F-FFF9-2AAA-5A3410D78A12}"/>
              </a:ext>
            </a:extLst>
          </p:cNvPr>
          <p:cNvGraphicFramePr>
            <a:graphicFrameLocks noGrp="1"/>
          </p:cNvGraphicFramePr>
          <p:nvPr>
            <p:extLst>
              <p:ext uri="{D42A27DB-BD31-4B8C-83A1-F6EECF244321}">
                <p14:modId xmlns:p14="http://schemas.microsoft.com/office/powerpoint/2010/main" val="3848941378"/>
              </p:ext>
            </p:extLst>
          </p:nvPr>
        </p:nvGraphicFramePr>
        <p:xfrm>
          <a:off x="1090848" y="792699"/>
          <a:ext cx="10702767" cy="3986918"/>
        </p:xfrm>
        <a:graphic>
          <a:graphicData uri="http://schemas.openxmlformats.org/drawingml/2006/table">
            <a:tbl>
              <a:tblPr firstRow="1" bandRow="1">
                <a:tableStyleId>{5C22544A-7EE6-4342-B048-85BDC9FD1C3A}</a:tableStyleId>
              </a:tblPr>
              <a:tblGrid>
                <a:gridCol w="1214010">
                  <a:extLst>
                    <a:ext uri="{9D8B030D-6E8A-4147-A177-3AD203B41FA5}">
                      <a16:colId xmlns:a16="http://schemas.microsoft.com/office/drawing/2014/main" val="1118630623"/>
                    </a:ext>
                  </a:extLst>
                </a:gridCol>
                <a:gridCol w="6540639">
                  <a:extLst>
                    <a:ext uri="{9D8B030D-6E8A-4147-A177-3AD203B41FA5}">
                      <a16:colId xmlns:a16="http://schemas.microsoft.com/office/drawing/2014/main" val="99588705"/>
                    </a:ext>
                  </a:extLst>
                </a:gridCol>
                <a:gridCol w="982706">
                  <a:extLst>
                    <a:ext uri="{9D8B030D-6E8A-4147-A177-3AD203B41FA5}">
                      <a16:colId xmlns:a16="http://schemas.microsoft.com/office/drawing/2014/main" val="4278227373"/>
                    </a:ext>
                  </a:extLst>
                </a:gridCol>
                <a:gridCol w="849322">
                  <a:extLst>
                    <a:ext uri="{9D8B030D-6E8A-4147-A177-3AD203B41FA5}">
                      <a16:colId xmlns:a16="http://schemas.microsoft.com/office/drawing/2014/main" val="1344606147"/>
                    </a:ext>
                  </a:extLst>
                </a:gridCol>
                <a:gridCol w="1116090">
                  <a:extLst>
                    <a:ext uri="{9D8B030D-6E8A-4147-A177-3AD203B41FA5}">
                      <a16:colId xmlns:a16="http://schemas.microsoft.com/office/drawing/2014/main" val="4072700005"/>
                    </a:ext>
                  </a:extLst>
                </a:gridCol>
              </a:tblGrid>
              <a:tr h="286112">
                <a:tc>
                  <a:txBody>
                    <a:bodyPr/>
                    <a:lstStyle/>
                    <a:p>
                      <a:pPr marL="0" lvl="0" indent="0" algn="ctr" defTabSz="914400">
                        <a:lnSpc>
                          <a:spcPct val="100000"/>
                        </a:lnSpc>
                        <a:buNone/>
                      </a:pPr>
                      <a:r>
                        <a:rPr lang="en-IN" sz="1100" b="1" i="0" u="none" strike="noStrike" kern="1200" noProof="0">
                          <a:solidFill>
                            <a:schemeClr val="bg1"/>
                          </a:solidFill>
                          <a:latin typeface="Avenir Next LT Pro Light"/>
                          <a:ea typeface="+mn-ea"/>
                          <a:cs typeface="+mn-cs"/>
                        </a:rPr>
                        <a:t>Projects</a:t>
                      </a:r>
                      <a:endParaRPr lang="en-US"/>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solidFill>
                      <a:srgbClr val="002060"/>
                    </a:solidFill>
                  </a:tcPr>
                </a:tc>
                <a:tc>
                  <a:txBody>
                    <a:bodyPr/>
                    <a:lstStyle/>
                    <a:p>
                      <a:pPr lvl="0" algn="ctr">
                        <a:lnSpc>
                          <a:spcPct val="100000"/>
                        </a:lnSpc>
                        <a:spcBef>
                          <a:spcPts val="0"/>
                        </a:spcBef>
                        <a:spcAft>
                          <a:spcPts val="0"/>
                        </a:spcAft>
                        <a:buNone/>
                      </a:pPr>
                      <a:r>
                        <a:rPr lang="en-IN" sz="1100" b="1" i="0" u="none" strike="noStrike" kern="1200" noProof="0">
                          <a:solidFill>
                            <a:srgbClr val="FFFFFF"/>
                          </a:solidFill>
                          <a:latin typeface="Nunito Sans"/>
                          <a:ea typeface="+mn-ea"/>
                          <a:cs typeface="+mn-cs"/>
                        </a:rPr>
                        <a:t>Value Justification/Realization</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002060"/>
                    </a:solidFill>
                  </a:tcPr>
                </a:tc>
                <a:tc>
                  <a:txBody>
                    <a:bodyPr/>
                    <a:lstStyle/>
                    <a:p>
                      <a:pPr marL="0" lvl="0" indent="0" algn="ctr">
                        <a:buNone/>
                      </a:pPr>
                      <a:r>
                        <a:rPr lang="en-IN" sz="1050" kern="1200">
                          <a:solidFill>
                            <a:schemeClr val="bg1"/>
                          </a:solidFill>
                          <a:latin typeface="Avenir Next LT Pro Light"/>
                          <a:ea typeface="+mn-ea"/>
                          <a:cs typeface="+mn-cs"/>
                        </a:rPr>
                        <a:t>Planned Go- Live Date</a:t>
                      </a: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a:solidFill>
                        <a:schemeClr val="bg1">
                          <a:lumMod val="75000"/>
                        </a:schemeClr>
                      </a:solidFill>
                    </a:lnB>
                    <a:solidFill>
                      <a:srgbClr val="002060"/>
                    </a:solidFill>
                  </a:tcPr>
                </a:tc>
                <a:tc>
                  <a:txBody>
                    <a:bodyPr/>
                    <a:lstStyle/>
                    <a:p>
                      <a:pPr lvl="0" algn="ctr">
                        <a:lnSpc>
                          <a:spcPct val="100000"/>
                        </a:lnSpc>
                        <a:spcBef>
                          <a:spcPts val="0"/>
                        </a:spcBef>
                        <a:spcAft>
                          <a:spcPts val="0"/>
                        </a:spcAft>
                        <a:buNone/>
                      </a:pPr>
                      <a:r>
                        <a:rPr lang="en-IN" sz="1100" b="1" i="0" u="none" strike="noStrike" kern="1200" noProof="0">
                          <a:solidFill>
                            <a:schemeClr val="bg1"/>
                          </a:solidFill>
                          <a:latin typeface="Avenir Next LT Pro Light"/>
                          <a:ea typeface="+mn-ea"/>
                          <a:cs typeface="+mn-cs"/>
                        </a:rPr>
                        <a:t>JIRA</a:t>
                      </a:r>
                      <a:endParaRPr lang="en-IN" sz="1100" b="1" i="0" u="none" strike="noStrike" kern="1200" noProof="0">
                        <a:solidFill>
                          <a:srgbClr val="FFFFFF"/>
                        </a:solidFill>
                        <a:latin typeface="Avenir Next LT Pro Light"/>
                        <a:ea typeface="+mn-ea"/>
                        <a:cs typeface="+mn-cs"/>
                      </a:endParaRP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a:solidFill>
                        <a:schemeClr val="bg1">
                          <a:lumMod val="75000"/>
                        </a:schemeClr>
                      </a:solidFill>
                    </a:lnB>
                    <a:solidFill>
                      <a:srgbClr val="002060"/>
                    </a:solidFill>
                  </a:tcPr>
                </a:tc>
                <a:tc>
                  <a:txBody>
                    <a:bodyPr/>
                    <a:lstStyle/>
                    <a:p>
                      <a:pPr lvl="0" algn="ctr">
                        <a:lnSpc>
                          <a:spcPct val="100000"/>
                        </a:lnSpc>
                        <a:spcBef>
                          <a:spcPts val="0"/>
                        </a:spcBef>
                        <a:spcAft>
                          <a:spcPts val="0"/>
                        </a:spcAft>
                        <a:buNone/>
                      </a:pPr>
                      <a:r>
                        <a:rPr lang="en-IN" sz="1100" b="1" i="0" u="none" strike="noStrike" kern="1200" noProof="0">
                          <a:solidFill>
                            <a:srgbClr val="FFFFFF"/>
                          </a:solidFill>
                          <a:latin typeface="Avenir Next LT Pro Light"/>
                          <a:ea typeface="+mn-ea"/>
                          <a:cs typeface="+mn-cs"/>
                        </a:rPr>
                        <a:t>EIP Integration Required (Yes/No)</a:t>
                      </a: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solidFill>
                      <a:srgbClr val="002060"/>
                    </a:solidFill>
                  </a:tcPr>
                </a:tc>
                <a:extLst>
                  <a:ext uri="{0D108BD9-81ED-4DB2-BD59-A6C34878D82A}">
                    <a16:rowId xmlns:a16="http://schemas.microsoft.com/office/drawing/2014/main" val="844450115"/>
                  </a:ext>
                </a:extLst>
              </a:tr>
              <a:tr h="507559">
                <a:tc>
                  <a:txBody>
                    <a:bodyPr/>
                    <a:lstStyle/>
                    <a:p>
                      <a:pPr lvl="0" algn="l">
                        <a:lnSpc>
                          <a:spcPct val="100000"/>
                        </a:lnSpc>
                        <a:spcBef>
                          <a:spcPts val="0"/>
                        </a:spcBef>
                        <a:spcAft>
                          <a:spcPts val="0"/>
                        </a:spcAft>
                        <a:buNone/>
                      </a:pPr>
                      <a:r>
                        <a:rPr lang="en-IN" sz="1100" b="0" i="0" u="none" strike="noStrike" kern="1200" noProof="0">
                          <a:solidFill>
                            <a:srgbClr val="000000"/>
                          </a:solidFill>
                        </a:rPr>
                        <a:t>Business visa letter template change</a:t>
                      </a:r>
                      <a:endParaRPr lang="en-US"/>
                    </a:p>
                  </a:txBody>
                  <a:tcPr anchor="ctr">
                    <a:lnL w="6350">
                      <a:solidFill>
                        <a:schemeClr val="bg1">
                          <a:lumMod val="75000"/>
                        </a:schemeClr>
                      </a:solidFill>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171450" marR="0" lvl="0" indent="-171450" algn="l" rtl="0">
                        <a:lnSpc>
                          <a:spcPct val="100000"/>
                        </a:lnSpc>
                        <a:spcBef>
                          <a:spcPts val="0"/>
                        </a:spcBef>
                        <a:spcAft>
                          <a:spcPts val="0"/>
                        </a:spcAft>
                        <a:buClr>
                          <a:srgbClr val="000000"/>
                        </a:buClr>
                        <a:buSzTx/>
                        <a:buFont typeface="Arial,Sans-Serif"/>
                        <a:buChar char="•"/>
                      </a:pPr>
                      <a:r>
                        <a:rPr lang="en-GB" sz="1100" b="0" i="0" u="none" strike="noStrike" noProof="0"/>
                        <a:t>Changes to business visa NOC letter to accommodate visa norms and reduce HR queries</a:t>
                      </a:r>
                      <a:endParaRPr lang="en-GB" sz="1100">
                        <a:latin typeface="Nunito Sans"/>
                      </a:endParaRP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a:solidFill>
                        <a:schemeClr val="bg1">
                          <a:lumMod val="75000"/>
                        </a:schemeClr>
                      </a:solidFill>
                    </a:lnB>
                    <a:solidFill>
                      <a:schemeClr val="bg1"/>
                    </a:solidFill>
                  </a:tcPr>
                </a:tc>
                <a:tc>
                  <a:txBody>
                    <a:bodyPr/>
                    <a:lstStyle/>
                    <a:p>
                      <a:pPr marL="0" lvl="0" indent="0" algn="l">
                        <a:lnSpc>
                          <a:spcPct val="100000"/>
                        </a:lnSpc>
                        <a:spcBef>
                          <a:spcPts val="0"/>
                        </a:spcBef>
                        <a:spcAft>
                          <a:spcPts val="0"/>
                        </a:spcAft>
                        <a:buNone/>
                      </a:pPr>
                      <a:endParaRPr lang="en-US" sz="1100" b="0" i="0" u="none" strike="noStrike" kern="1200" noProof="0">
                        <a:solidFill>
                          <a:schemeClr val="tx1"/>
                        </a:solidFill>
                        <a:effectLst/>
                        <a:latin typeface="Nunito Sans"/>
                        <a:ea typeface="+mn-ea"/>
                        <a:cs typeface="+mn-cs"/>
                      </a:endParaRP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a:solidFill>
                        <a:schemeClr val="bg1">
                          <a:lumMod val="75000"/>
                        </a:schemeClr>
                      </a:solidFill>
                    </a:lnB>
                    <a:solidFill>
                      <a:schemeClr val="bg1"/>
                    </a:solidFill>
                  </a:tcPr>
                </a:tc>
                <a:tc>
                  <a:txBody>
                    <a:bodyPr/>
                    <a:lstStyle/>
                    <a:p>
                      <a:pPr marL="0" lvl="0" indent="0" algn="l">
                        <a:lnSpc>
                          <a:spcPct val="100000"/>
                        </a:lnSpc>
                        <a:spcBef>
                          <a:spcPts val="0"/>
                        </a:spcBef>
                        <a:spcAft>
                          <a:spcPts val="0"/>
                        </a:spcAft>
                        <a:buNone/>
                      </a:pPr>
                      <a:r>
                        <a:rPr lang="en-US" sz="1100" b="0" i="0" u="none" strike="noStrike" kern="1200" noProof="0">
                          <a:solidFill>
                            <a:schemeClr val="tx1"/>
                          </a:solidFill>
                          <a:effectLst/>
                          <a:hlinkClick r:id="rId3"/>
                        </a:rPr>
                        <a:t>MC-1635</a:t>
                      </a:r>
                      <a:endParaRPr lang="en-US" sz="1100" b="0" i="0" u="none" strike="noStrike" kern="1200" noProof="0">
                        <a:solidFill>
                          <a:schemeClr val="tx1"/>
                        </a:solidFill>
                        <a:effectLst/>
                      </a:endParaRP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a:solidFill>
                        <a:schemeClr val="bg1">
                          <a:lumMod val="75000"/>
                        </a:schemeClr>
                      </a:solidFill>
                    </a:lnB>
                    <a:solidFill>
                      <a:schemeClr val="bg1"/>
                    </a:solidFill>
                  </a:tcPr>
                </a:tc>
                <a:tc>
                  <a:txBody>
                    <a:bodyPr/>
                    <a:lstStyle/>
                    <a:p>
                      <a:pPr marL="0" lvl="0" indent="0" algn="l">
                        <a:lnSpc>
                          <a:spcPct val="100000"/>
                        </a:lnSpc>
                        <a:spcBef>
                          <a:spcPts val="0"/>
                        </a:spcBef>
                        <a:spcAft>
                          <a:spcPts val="0"/>
                        </a:spcAft>
                        <a:buNone/>
                      </a:pPr>
                      <a:endParaRPr lang="en-US" sz="1100" b="0" i="0" u="none" strike="noStrike" kern="1200" noProof="0">
                        <a:solidFill>
                          <a:schemeClr val="tx1"/>
                        </a:solidFill>
                        <a:effectLst/>
                      </a:endParaRPr>
                    </a:p>
                  </a:txBody>
                  <a:tcPr anchor="ctr">
                    <a:lnL w="6350">
                      <a:solidFill>
                        <a:schemeClr val="bg1">
                          <a:lumMod val="75000"/>
                        </a:schemeClr>
                      </a:solidFill>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951168155"/>
                  </a:ext>
                </a:extLst>
              </a:tr>
              <a:tr h="507559">
                <a:tc>
                  <a:txBody>
                    <a:bodyPr/>
                    <a:lstStyle/>
                    <a:p>
                      <a:pPr lvl="0" algn="l">
                        <a:lnSpc>
                          <a:spcPct val="100000"/>
                        </a:lnSpc>
                        <a:spcBef>
                          <a:spcPts val="0"/>
                        </a:spcBef>
                        <a:spcAft>
                          <a:spcPts val="0"/>
                        </a:spcAft>
                        <a:buNone/>
                      </a:pPr>
                      <a:r>
                        <a:rPr lang="en-US" sz="1100" b="0" i="0" u="none" strike="noStrike" kern="1200" noProof="0">
                          <a:solidFill>
                            <a:srgbClr val="000000"/>
                          </a:solidFill>
                        </a:rPr>
                        <a:t>ACM – Auto Cancel, Auto Approval </a:t>
                      </a:r>
                      <a:endParaRPr lang="en-US"/>
                    </a:p>
                  </a:txBody>
                  <a:tcPr anchor="ctr">
                    <a:lnL w="6350">
                      <a:solidFill>
                        <a:schemeClr val="bg1">
                          <a:lumMod val="75000"/>
                        </a:schemeClr>
                      </a:solidFill>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171450" marR="0" lvl="0" indent="-171450" algn="l">
                        <a:lnSpc>
                          <a:spcPct val="100000"/>
                        </a:lnSpc>
                        <a:buClr>
                          <a:srgbClr val="000000"/>
                        </a:buClr>
                        <a:buFont typeface="Arial,Sans-Serif"/>
                        <a:buChar char="•"/>
                      </a:pPr>
                      <a:r>
                        <a:rPr lang="en-IN" sz="1100" b="0" i="0" u="none" strike="noStrike" kern="1200" noProof="0">
                          <a:solidFill>
                            <a:srgbClr val="000000"/>
                          </a:solidFill>
                          <a:effectLst/>
                        </a:rPr>
                        <a:t>ACM – Auto Cancel, Auto Approval basis business logic to ensure compliance with regulatory requirements </a:t>
                      </a:r>
                      <a:endParaRPr lang="en-IN" sz="1100" b="0" i="0" u="none" strike="noStrike" kern="1200" noProof="0">
                        <a:solidFill>
                          <a:srgbClr val="000000"/>
                        </a:solidFill>
                        <a:effectLst/>
                        <a:latin typeface="Nunito Sans"/>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lvl="0" indent="0" algn="l">
                        <a:lnSpc>
                          <a:spcPct val="100000"/>
                        </a:lnSpc>
                        <a:buNone/>
                      </a:pPr>
                      <a:endParaRPr lang="en-IN" sz="1100" b="0" i="0" u="none" strike="noStrike" kern="1200" noProof="0">
                        <a:solidFill>
                          <a:srgbClr val="000000"/>
                        </a:solidFill>
                        <a:effectLst/>
                        <a:latin typeface="Nunito Sans"/>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a:solidFill>
                        <a:schemeClr val="bg1">
                          <a:lumMod val="75000"/>
                        </a:schemeClr>
                      </a:solidFill>
                    </a:lnB>
                    <a:solidFill>
                      <a:schemeClr val="bg1"/>
                    </a:solidFill>
                  </a:tcPr>
                </a:tc>
                <a:tc>
                  <a:txBody>
                    <a:bodyPr/>
                    <a:lstStyle/>
                    <a:p>
                      <a:pPr marL="0" lvl="0" indent="0" algn="l">
                        <a:lnSpc>
                          <a:spcPct val="100000"/>
                        </a:lnSpc>
                        <a:buNone/>
                      </a:pPr>
                      <a:r>
                        <a:rPr lang="en-US" sz="1100" b="0" i="0" u="none" strike="noStrike" kern="1200" noProof="0">
                          <a:solidFill>
                            <a:schemeClr val="tx1"/>
                          </a:solidFill>
                          <a:effectLst/>
                          <a:latin typeface="Nunito Sans"/>
                          <a:ea typeface="+mn-ea"/>
                          <a:cs typeface="+mn-cs"/>
                          <a:hlinkClick r:id="rId4"/>
                        </a:rPr>
                        <a:t>MC-2435</a:t>
                      </a:r>
                      <a:endParaRPr lang="en-US"/>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a:solidFill>
                        <a:schemeClr val="bg1">
                          <a:lumMod val="75000"/>
                        </a:schemeClr>
                      </a:solidFill>
                    </a:lnB>
                    <a:solidFill>
                      <a:schemeClr val="bg1"/>
                    </a:solidFill>
                  </a:tcPr>
                </a:tc>
                <a:tc>
                  <a:txBody>
                    <a:bodyPr/>
                    <a:lstStyle/>
                    <a:p>
                      <a:pPr marL="0" lvl="0" indent="0" algn="l">
                        <a:lnSpc>
                          <a:spcPct val="100000"/>
                        </a:lnSpc>
                        <a:buNone/>
                      </a:pPr>
                      <a:endParaRPr lang="en-US"/>
                    </a:p>
                  </a:txBody>
                  <a:tcPr anchor="ctr">
                    <a:lnL w="6350" cap="flat" cmpd="sng" algn="ctr">
                      <a:solidFill>
                        <a:schemeClr val="bg1">
                          <a:lumMod val="75000"/>
                        </a:schemeClr>
                      </a:solidFill>
                      <a:prstDash val="solid"/>
                      <a:round/>
                      <a:headEnd type="none" w="med" len="med"/>
                      <a:tailEnd type="none" w="med" len="med"/>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542160441"/>
                  </a:ext>
                </a:extLst>
              </a:tr>
              <a:tr h="507559">
                <a:tc>
                  <a:txBody>
                    <a:bodyPr/>
                    <a:lstStyle/>
                    <a:p>
                      <a:pPr lvl="0" algn="l">
                        <a:lnSpc>
                          <a:spcPct val="100000"/>
                        </a:lnSpc>
                        <a:spcBef>
                          <a:spcPts val="0"/>
                        </a:spcBef>
                        <a:spcAft>
                          <a:spcPts val="0"/>
                        </a:spcAft>
                        <a:buNone/>
                      </a:pPr>
                      <a:r>
                        <a:rPr lang="en-US" sz="1100" b="0" i="0" u="none" strike="noStrike" kern="1200" noProof="0">
                          <a:solidFill>
                            <a:srgbClr val="000000"/>
                          </a:solidFill>
                        </a:rPr>
                        <a:t>Meal Preference  </a:t>
                      </a:r>
                      <a:endParaRPr lang="en-US"/>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solidFill>
                      <a:schemeClr val="bg1"/>
                    </a:solidFill>
                  </a:tcPr>
                </a:tc>
                <a:tc>
                  <a:txBody>
                    <a:bodyPr/>
                    <a:lstStyle/>
                    <a:p>
                      <a:pPr marL="171450" lvl="0" indent="-171450" algn="l">
                        <a:lnSpc>
                          <a:spcPct val="100000"/>
                        </a:lnSpc>
                        <a:buFont typeface="Arial,Sans-Serif"/>
                        <a:buChar char="•"/>
                      </a:pPr>
                      <a:r>
                        <a:rPr lang="en-IN" sz="1100" b="0" i="0" u="none" strike="noStrike" kern="1200" noProof="0">
                          <a:solidFill>
                            <a:srgbClr val="000000"/>
                          </a:solidFill>
                          <a:effectLst/>
                        </a:rPr>
                        <a:t>Provides personalization by allowing crew to select meal preferences according to dietary needs. Handled via periodic notifications in Adobe</a:t>
                      </a:r>
                      <a:endParaRPr lang="en-IN" sz="1100" b="0" i="0" u="none" strike="noStrike" kern="1200" noProof="0">
                        <a:solidFill>
                          <a:srgbClr val="000000"/>
                        </a:solidFill>
                        <a:effectLst/>
                        <a:latin typeface="Nunito Sans"/>
                        <a:ea typeface="+mn-ea"/>
                        <a:cs typeface="+mn-cs"/>
                      </a:endParaRP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solidFill>
                      <a:schemeClr val="bg1"/>
                    </a:solidFill>
                  </a:tcPr>
                </a:tc>
                <a:tc>
                  <a:txBody>
                    <a:bodyPr/>
                    <a:lstStyle/>
                    <a:p>
                      <a:pPr marL="0" lvl="0" indent="0" algn="l">
                        <a:lnSpc>
                          <a:spcPct val="100000"/>
                        </a:lnSpc>
                        <a:buNone/>
                      </a:pPr>
                      <a:endParaRPr lang="en-IN" sz="1100" b="0" i="0" u="none" strike="noStrike" kern="1200" noProof="0">
                        <a:solidFill>
                          <a:srgbClr val="000000"/>
                        </a:solidFill>
                        <a:effectLst/>
                        <a:latin typeface="Nunito Sans"/>
                        <a:ea typeface="+mn-ea"/>
                        <a:cs typeface="+mn-cs"/>
                      </a:endParaRP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solidFill>
                      <a:schemeClr val="bg1"/>
                    </a:solidFill>
                  </a:tcPr>
                </a:tc>
                <a:tc>
                  <a:txBody>
                    <a:bodyPr/>
                    <a:lstStyle/>
                    <a:p>
                      <a:pPr marL="0" lvl="0" indent="0" algn="l">
                        <a:lnSpc>
                          <a:spcPct val="100000"/>
                        </a:lnSpc>
                        <a:buNone/>
                      </a:pPr>
                      <a:r>
                        <a:rPr lang="en-US" sz="1100" b="0" i="0" u="none" strike="noStrike" kern="1200" noProof="0">
                          <a:solidFill>
                            <a:schemeClr val="tx1"/>
                          </a:solidFill>
                          <a:effectLst/>
                          <a:latin typeface="Nunito Sans"/>
                          <a:ea typeface="+mn-ea"/>
                          <a:cs typeface="+mn-cs"/>
                          <a:hlinkClick r:id="rId5"/>
                        </a:rPr>
                        <a:t>MC-2441</a:t>
                      </a:r>
                      <a:endParaRPr lang="en-US"/>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a:solidFill>
                        <a:schemeClr val="bg1">
                          <a:lumMod val="75000"/>
                        </a:schemeClr>
                      </a:solidFill>
                    </a:lnB>
                    <a:solidFill>
                      <a:schemeClr val="bg1"/>
                    </a:solidFill>
                  </a:tcPr>
                </a:tc>
                <a:tc>
                  <a:txBody>
                    <a:bodyPr/>
                    <a:lstStyle/>
                    <a:p>
                      <a:pPr marL="0" lvl="0" indent="0" algn="l">
                        <a:lnSpc>
                          <a:spcPct val="100000"/>
                        </a:lnSpc>
                        <a:buNone/>
                      </a:pPr>
                      <a:endParaRPr lang="en-US"/>
                    </a:p>
                  </a:txBody>
                  <a:tcPr anchor="ctr">
                    <a:lnL w="6350">
                      <a:solidFill>
                        <a:schemeClr val="bg1">
                          <a:lumMod val="75000"/>
                        </a:schemeClr>
                      </a:solidFill>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526466706"/>
                  </a:ext>
                </a:extLst>
              </a:tr>
              <a:tr h="507559">
                <a:tc>
                  <a:txBody>
                    <a:bodyPr/>
                    <a:lstStyle/>
                    <a:p>
                      <a:pPr lvl="0" algn="l">
                        <a:lnSpc>
                          <a:spcPct val="100000"/>
                        </a:lnSpc>
                        <a:spcBef>
                          <a:spcPts val="0"/>
                        </a:spcBef>
                        <a:spcAft>
                          <a:spcPts val="0"/>
                        </a:spcAft>
                        <a:buNone/>
                      </a:pPr>
                      <a:r>
                        <a:rPr lang="en-GB" sz="1100" b="0" i="0" u="none" strike="noStrike" kern="1200" noProof="0">
                          <a:solidFill>
                            <a:srgbClr val="000000"/>
                          </a:solidFill>
                        </a:rPr>
                        <a:t>Uniform – Pilots </a:t>
                      </a:r>
                      <a:endParaRPr lang="en-US"/>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171450" marR="0" lvl="0" indent="-171450" algn="l">
                        <a:lnSpc>
                          <a:spcPct val="100000"/>
                        </a:lnSpc>
                        <a:spcBef>
                          <a:spcPts val="0"/>
                        </a:spcBef>
                        <a:spcAft>
                          <a:spcPts val="0"/>
                        </a:spcAft>
                        <a:buClr>
                          <a:srgbClr val="000000"/>
                        </a:buClr>
                        <a:buFont typeface="Arial,Sans-Serif"/>
                        <a:buChar char="•"/>
                      </a:pPr>
                      <a:r>
                        <a:rPr lang="en-US" sz="1100" b="0" i="0" u="none" strike="noStrike" kern="1200" noProof="0">
                          <a:solidFill>
                            <a:srgbClr val="000000"/>
                          </a:solidFill>
                          <a:effectLst/>
                        </a:rPr>
                        <a:t>Uniform – Enabling uniform booking, entitlement selection, size exchange and reschedule capabilities for Pilots </a:t>
                      </a:r>
                      <a:endParaRPr lang="en-US" sz="1100" b="0" i="0" u="none" strike="noStrike" kern="1200" noProof="0">
                        <a:solidFill>
                          <a:srgbClr val="000000"/>
                        </a:solidFill>
                        <a:effectLst/>
                        <a:latin typeface="Nunito Sans"/>
                        <a:ea typeface="+mn-ea"/>
                        <a:cs typeface="+mn-cs"/>
                      </a:endParaRP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lvl="0" indent="0" algn="l">
                        <a:lnSpc>
                          <a:spcPct val="100000"/>
                        </a:lnSpc>
                        <a:spcBef>
                          <a:spcPts val="0"/>
                        </a:spcBef>
                        <a:spcAft>
                          <a:spcPts val="0"/>
                        </a:spcAft>
                        <a:buNone/>
                      </a:pPr>
                      <a:endParaRPr lang="en-IN" sz="1100" b="0" i="0" u="none" strike="noStrike" kern="1200" noProof="0">
                        <a:solidFill>
                          <a:srgbClr val="000000"/>
                        </a:solidFill>
                        <a:effectLst/>
                        <a:latin typeface="Nunito Sans"/>
                        <a:ea typeface="+mn-ea"/>
                        <a:cs typeface="+mn-cs"/>
                      </a:endParaRP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lvl="0" indent="0" algn="l">
                        <a:lnSpc>
                          <a:spcPct val="100000"/>
                        </a:lnSpc>
                        <a:spcBef>
                          <a:spcPts val="0"/>
                        </a:spcBef>
                        <a:spcAft>
                          <a:spcPts val="0"/>
                        </a:spcAft>
                        <a:buNone/>
                      </a:pPr>
                      <a:r>
                        <a:rPr lang="en-US" sz="1100" b="0" i="0" u="none" strike="noStrike" kern="1200" noProof="0">
                          <a:solidFill>
                            <a:schemeClr val="tx1"/>
                          </a:solidFill>
                          <a:effectLst/>
                          <a:latin typeface="Nunito Sans"/>
                          <a:ea typeface="+mn-ea"/>
                          <a:cs typeface="+mn-cs"/>
                          <a:hlinkClick r:id="rId6"/>
                        </a:rPr>
                        <a:t>MC-2436</a:t>
                      </a:r>
                      <a:endParaRPr lang="en-US"/>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lvl="0" indent="0" algn="l">
                        <a:lnSpc>
                          <a:spcPct val="100000"/>
                        </a:lnSpc>
                        <a:spcBef>
                          <a:spcPts val="0"/>
                        </a:spcBef>
                        <a:spcAft>
                          <a:spcPts val="0"/>
                        </a:spcAft>
                        <a:buNone/>
                      </a:pPr>
                      <a:endParaRPr lang="en-US"/>
                    </a:p>
                  </a:txBody>
                  <a:tcPr anchor="ctr">
                    <a:lnL w="6350">
                      <a:solidFill>
                        <a:schemeClr val="bg1">
                          <a:lumMod val="75000"/>
                        </a:schemeClr>
                      </a:solidFill>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520719314"/>
                  </a:ext>
                </a:extLst>
              </a:tr>
              <a:tr h="507559">
                <a:tc>
                  <a:txBody>
                    <a:bodyPr/>
                    <a:lstStyle/>
                    <a:p>
                      <a:pPr lvl="0" algn="l">
                        <a:lnSpc>
                          <a:spcPct val="100000"/>
                        </a:lnSpc>
                        <a:spcBef>
                          <a:spcPts val="0"/>
                        </a:spcBef>
                        <a:spcAft>
                          <a:spcPts val="0"/>
                        </a:spcAft>
                        <a:buNone/>
                      </a:pPr>
                      <a:r>
                        <a:rPr lang="en-GB" sz="1100" b="0" i="0" u="none" strike="noStrike" kern="1200" noProof="0">
                          <a:solidFill>
                            <a:srgbClr val="000000"/>
                          </a:solidFill>
                        </a:rPr>
                        <a:t>Workplace – Search Functionality </a:t>
                      </a:r>
                      <a:endParaRPr lang="en-US"/>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solidFill>
                      <a:schemeClr val="bg1"/>
                    </a:solidFill>
                  </a:tcPr>
                </a:tc>
                <a:tc>
                  <a:txBody>
                    <a:bodyPr/>
                    <a:lstStyle/>
                    <a:p>
                      <a:pPr marL="171450" lvl="0" indent="-171450" algn="l">
                        <a:lnSpc>
                          <a:spcPct val="100000"/>
                        </a:lnSpc>
                        <a:spcBef>
                          <a:spcPts val="0"/>
                        </a:spcBef>
                        <a:spcAft>
                          <a:spcPts val="0"/>
                        </a:spcAft>
                        <a:buFont typeface="Arial,Sans-Serif"/>
                        <a:buChar char="•"/>
                      </a:pPr>
                      <a:r>
                        <a:rPr lang="en-US" sz="1100" b="0" i="0" u="none" strike="noStrike" kern="1200" noProof="0">
                          <a:solidFill>
                            <a:srgbClr val="000000"/>
                          </a:solidFill>
                          <a:effectLst/>
                        </a:rPr>
                        <a:t>Enhances search capabilities to search and discover information on people, groups and posts for a unified global search providing filters and improve result relevance.</a:t>
                      </a:r>
                      <a:endParaRPr lang="en-US" sz="1100" b="0" i="0" u="none" strike="noStrike" kern="1200" noProof="0">
                        <a:solidFill>
                          <a:srgbClr val="000000"/>
                        </a:solidFill>
                        <a:effectLst/>
                        <a:latin typeface="Nunito Sans"/>
                        <a:ea typeface="+mn-ea"/>
                        <a:cs typeface="+mn-cs"/>
                      </a:endParaRP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solidFill>
                      <a:schemeClr val="bg1"/>
                    </a:solidFill>
                  </a:tcPr>
                </a:tc>
                <a:tc>
                  <a:txBody>
                    <a:bodyPr/>
                    <a:lstStyle/>
                    <a:p>
                      <a:pPr marL="0" lvl="0" indent="0" algn="l">
                        <a:lnSpc>
                          <a:spcPct val="100000"/>
                        </a:lnSpc>
                        <a:spcBef>
                          <a:spcPts val="0"/>
                        </a:spcBef>
                        <a:spcAft>
                          <a:spcPts val="0"/>
                        </a:spcAft>
                        <a:buNone/>
                      </a:pPr>
                      <a:endParaRPr lang="en-IN" sz="1100" b="0" i="0" u="none" strike="noStrike" kern="1200" noProof="0">
                        <a:solidFill>
                          <a:srgbClr val="000000"/>
                        </a:solidFill>
                        <a:effectLst/>
                        <a:latin typeface="Nunito Sans"/>
                        <a:ea typeface="+mn-ea"/>
                        <a:cs typeface="+mn-cs"/>
                      </a:endParaRP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solidFill>
                      <a:schemeClr val="bg1"/>
                    </a:solidFill>
                  </a:tcPr>
                </a:tc>
                <a:tc>
                  <a:txBody>
                    <a:bodyPr/>
                    <a:lstStyle/>
                    <a:p>
                      <a:pPr marL="0" lvl="0" indent="0" algn="l">
                        <a:lnSpc>
                          <a:spcPct val="100000"/>
                        </a:lnSpc>
                        <a:spcBef>
                          <a:spcPts val="0"/>
                        </a:spcBef>
                        <a:spcAft>
                          <a:spcPts val="0"/>
                        </a:spcAft>
                        <a:buNone/>
                      </a:pPr>
                      <a:r>
                        <a:rPr lang="en-US" sz="1100" b="0" i="0" u="none" strike="noStrike" kern="1200" noProof="0">
                          <a:solidFill>
                            <a:schemeClr val="tx1"/>
                          </a:solidFill>
                          <a:effectLst/>
                          <a:latin typeface="Nunito Sans"/>
                          <a:ea typeface="+mn-ea"/>
                          <a:cs typeface="+mn-cs"/>
                          <a:hlinkClick r:id="rId7"/>
                        </a:rPr>
                        <a:t>MC-2438</a:t>
                      </a:r>
                      <a:endParaRPr lang="en-US"/>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a:solidFill>
                        <a:schemeClr val="bg1">
                          <a:lumMod val="75000"/>
                        </a:schemeClr>
                      </a:solidFill>
                    </a:lnB>
                    <a:solidFill>
                      <a:schemeClr val="bg1"/>
                    </a:solidFill>
                  </a:tcPr>
                </a:tc>
                <a:tc>
                  <a:txBody>
                    <a:bodyPr/>
                    <a:lstStyle/>
                    <a:p>
                      <a:pPr marL="0" lvl="0" indent="0" algn="l">
                        <a:lnSpc>
                          <a:spcPct val="100000"/>
                        </a:lnSpc>
                        <a:spcBef>
                          <a:spcPts val="0"/>
                        </a:spcBef>
                        <a:spcAft>
                          <a:spcPts val="0"/>
                        </a:spcAft>
                        <a:buNone/>
                      </a:pPr>
                      <a:endParaRPr lang="en-US"/>
                    </a:p>
                  </a:txBody>
                  <a:tcPr anchor="ctr">
                    <a:lnL w="6350">
                      <a:solidFill>
                        <a:schemeClr val="bg1">
                          <a:lumMod val="75000"/>
                        </a:schemeClr>
                      </a:solidFill>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415362369"/>
                  </a:ext>
                </a:extLst>
              </a:tr>
              <a:tr h="507559">
                <a:tc>
                  <a:txBody>
                    <a:bodyPr/>
                    <a:lstStyle/>
                    <a:p>
                      <a:pPr lvl="0" algn="l">
                        <a:lnSpc>
                          <a:spcPct val="100000"/>
                        </a:lnSpc>
                        <a:spcBef>
                          <a:spcPts val="0"/>
                        </a:spcBef>
                        <a:spcAft>
                          <a:spcPts val="0"/>
                        </a:spcAft>
                        <a:buNone/>
                      </a:pPr>
                      <a:r>
                        <a:rPr lang="en-GB" sz="1100" b="0" i="0" u="none" strike="noStrike" kern="1200" noProof="0">
                          <a:solidFill>
                            <a:srgbClr val="000000"/>
                          </a:solidFill>
                        </a:rPr>
                        <a:t>Workplace - Admin Persona Capabilities</a:t>
                      </a:r>
                      <a:endParaRPr lang="en-US"/>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171450" lvl="0" indent="-171450" algn="l">
                        <a:lnSpc>
                          <a:spcPct val="100000"/>
                        </a:lnSpc>
                        <a:spcBef>
                          <a:spcPts val="0"/>
                        </a:spcBef>
                        <a:spcAft>
                          <a:spcPts val="0"/>
                        </a:spcAft>
                        <a:buFont typeface="Arial,Sans-Serif"/>
                        <a:buChar char="•"/>
                      </a:pPr>
                      <a:r>
                        <a:rPr lang="en-US" sz="1100" b="0" i="0" u="none" strike="noStrike" kern="1200" noProof="0">
                          <a:solidFill>
                            <a:srgbClr val="000000"/>
                          </a:solidFill>
                          <a:effectLst/>
                        </a:rPr>
                        <a:t>Consolidates workplace administration capabilities within myAI, including delegation management, key updates authoring and publishing, and other workplace administration functions, enabling the decommissioning of Workvivo admin tools.</a:t>
                      </a:r>
                      <a:endParaRPr lang="en-US" sz="1100" b="0" i="0" u="none" strike="noStrike" kern="1200" noProof="0">
                        <a:solidFill>
                          <a:srgbClr val="000000"/>
                        </a:solidFill>
                        <a:effectLst/>
                        <a:latin typeface="Nunito Sans"/>
                        <a:ea typeface="+mn-ea"/>
                        <a:cs typeface="+mn-cs"/>
                      </a:endParaRP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lvl="0" indent="0" algn="l">
                        <a:lnSpc>
                          <a:spcPct val="100000"/>
                        </a:lnSpc>
                        <a:spcBef>
                          <a:spcPts val="0"/>
                        </a:spcBef>
                        <a:spcAft>
                          <a:spcPts val="0"/>
                        </a:spcAft>
                        <a:buNone/>
                      </a:pPr>
                      <a:endParaRPr lang="en-IN" sz="1100" b="0" i="0" u="none" strike="noStrike" kern="1200" noProof="0">
                        <a:solidFill>
                          <a:srgbClr val="000000"/>
                        </a:solidFill>
                        <a:effectLst/>
                        <a:latin typeface="Nunito Sans"/>
                        <a:ea typeface="+mn-ea"/>
                        <a:cs typeface="+mn-cs"/>
                      </a:endParaRP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lvl="0" indent="0" algn="l">
                        <a:lnSpc>
                          <a:spcPct val="100000"/>
                        </a:lnSpc>
                        <a:spcBef>
                          <a:spcPts val="0"/>
                        </a:spcBef>
                        <a:spcAft>
                          <a:spcPts val="0"/>
                        </a:spcAft>
                        <a:buNone/>
                      </a:pPr>
                      <a:r>
                        <a:rPr lang="en-US" sz="1100" b="0" i="0" u="none" strike="noStrike" kern="1200" noProof="0">
                          <a:solidFill>
                            <a:schemeClr val="tx1"/>
                          </a:solidFill>
                          <a:effectLst/>
                          <a:latin typeface="Nunito Sans"/>
                          <a:ea typeface="+mn-ea"/>
                          <a:cs typeface="+mn-cs"/>
                          <a:hlinkClick r:id="rId8"/>
                        </a:rPr>
                        <a:t>MC-2440</a:t>
                      </a:r>
                      <a:endParaRPr lang="en-US"/>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lvl="0" indent="0" algn="l">
                        <a:lnSpc>
                          <a:spcPct val="100000"/>
                        </a:lnSpc>
                        <a:spcBef>
                          <a:spcPts val="0"/>
                        </a:spcBef>
                        <a:spcAft>
                          <a:spcPts val="0"/>
                        </a:spcAft>
                        <a:buNone/>
                      </a:pPr>
                      <a:endParaRPr lang="en-US"/>
                    </a:p>
                  </a:txBody>
                  <a:tcPr anchor="ctr">
                    <a:lnL w="6350">
                      <a:solidFill>
                        <a:schemeClr val="bg1">
                          <a:lumMod val="75000"/>
                        </a:schemeClr>
                      </a:solidFill>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834910457"/>
                  </a:ext>
                </a:extLst>
              </a:tr>
            </a:tbl>
          </a:graphicData>
        </a:graphic>
      </p:graphicFrame>
      <p:sp>
        <p:nvSpPr>
          <p:cNvPr id="26" name="TextBox 25">
            <a:extLst>
              <a:ext uri="{FF2B5EF4-FFF2-40B4-BE49-F238E27FC236}">
                <a16:creationId xmlns:a16="http://schemas.microsoft.com/office/drawing/2014/main" id="{80AB6E29-CD37-1A38-39F5-D29999993073}"/>
              </a:ext>
            </a:extLst>
          </p:cNvPr>
          <p:cNvSpPr txBox="1"/>
          <p:nvPr/>
        </p:nvSpPr>
        <p:spPr>
          <a:xfrm>
            <a:off x="343955" y="3897931"/>
            <a:ext cx="417102" cy="253916"/>
          </a:xfrm>
          <a:prstGeom prst="rect">
            <a:avLst/>
          </a:prstGeom>
          <a:noFill/>
        </p:spPr>
        <p:txBody>
          <a:bodyPr wrap="none" lIns="91440" tIns="45720" rIns="91440" bIns="45720" rtlCol="0" anchor="t">
            <a:spAutoFit/>
          </a:bodyPr>
          <a:lstStyle/>
          <a:p>
            <a:r>
              <a:rPr lang="en-IN" sz="1050" b="1">
                <a:solidFill>
                  <a:schemeClr val="bg1"/>
                </a:solidFill>
                <a:latin typeface="Montserrat Light"/>
              </a:rPr>
              <a:t>Jan</a:t>
            </a:r>
            <a:endParaRPr lang="en-IN" sz="1050" b="1">
              <a:solidFill>
                <a:schemeClr val="bg1"/>
              </a:solidFill>
              <a:latin typeface="Montserrat Light" pitchFamily="2" charset="0"/>
            </a:endParaRPr>
          </a:p>
        </p:txBody>
      </p:sp>
      <p:sp>
        <p:nvSpPr>
          <p:cNvPr id="27" name="TextBox 15">
            <a:extLst>
              <a:ext uri="{FF2B5EF4-FFF2-40B4-BE49-F238E27FC236}">
                <a16:creationId xmlns:a16="http://schemas.microsoft.com/office/drawing/2014/main" id="{D77ED170-D01A-CBD2-EE5F-CCA069122680}"/>
              </a:ext>
            </a:extLst>
          </p:cNvPr>
          <p:cNvSpPr txBox="1"/>
          <p:nvPr/>
        </p:nvSpPr>
        <p:spPr>
          <a:xfrm>
            <a:off x="398384" y="817274"/>
            <a:ext cx="417102" cy="253916"/>
          </a:xfrm>
          <a:prstGeom prst="rect">
            <a:avLst/>
          </a:prstGeom>
          <a:noFill/>
        </p:spPr>
        <p:txBody>
          <a:bodyPr wrap="non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050" b="1">
                <a:solidFill>
                  <a:schemeClr val="bg1"/>
                </a:solidFill>
                <a:latin typeface="Montserrat Light"/>
              </a:rPr>
              <a:t>Jan</a:t>
            </a:r>
            <a:endParaRPr lang="en-IN" sz="1050" b="1">
              <a:solidFill>
                <a:schemeClr val="bg1"/>
              </a:solidFill>
              <a:latin typeface="Montserrat Light" pitchFamily="2" charset="0"/>
            </a:endParaRPr>
          </a:p>
        </p:txBody>
      </p:sp>
      <p:sp>
        <p:nvSpPr>
          <p:cNvPr id="29" name="Rectangle 28">
            <a:extLst>
              <a:ext uri="{FF2B5EF4-FFF2-40B4-BE49-F238E27FC236}">
                <a16:creationId xmlns:a16="http://schemas.microsoft.com/office/drawing/2014/main" id="{73F6014A-CDA5-F83F-E3B4-B474AEE6D6FD}"/>
              </a:ext>
            </a:extLst>
          </p:cNvPr>
          <p:cNvSpPr/>
          <p:nvPr/>
        </p:nvSpPr>
        <p:spPr>
          <a:xfrm>
            <a:off x="-4474" y="793560"/>
            <a:ext cx="1067526" cy="42234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IN" sz="1400" b="1">
                <a:latin typeface="AirIndia"/>
              </a:rPr>
              <a:t>Sep</a:t>
            </a:r>
            <a:endParaRPr lang="en-US"/>
          </a:p>
        </p:txBody>
      </p:sp>
      <p:pic>
        <p:nvPicPr>
          <p:cNvPr id="34" name="Picture 33">
            <a:extLst>
              <a:ext uri="{FF2B5EF4-FFF2-40B4-BE49-F238E27FC236}">
                <a16:creationId xmlns:a16="http://schemas.microsoft.com/office/drawing/2014/main" id="{56F27071-C140-7F2F-EC87-47F94A65B3E6}"/>
              </a:ext>
            </a:extLst>
          </p:cNvPr>
          <p:cNvPicPr>
            <a:picLocks noChangeAspect="1"/>
          </p:cNvPicPr>
          <p:nvPr/>
        </p:nvPicPr>
        <p:blipFill>
          <a:blip r:embed="rId9"/>
          <a:stretch>
            <a:fillRect/>
          </a:stretch>
        </p:blipFill>
        <p:spPr>
          <a:xfrm>
            <a:off x="306161" y="6532789"/>
            <a:ext cx="8248650" cy="323850"/>
          </a:xfrm>
          <a:prstGeom prst="rect">
            <a:avLst/>
          </a:prstGeom>
        </p:spPr>
      </p:pic>
    </p:spTree>
    <p:extLst>
      <p:ext uri="{BB962C8B-B14F-4D97-AF65-F5344CB8AC3E}">
        <p14:creationId xmlns:p14="http://schemas.microsoft.com/office/powerpoint/2010/main" val="2881532116"/>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4720A2-7164-24BB-A4E4-A88B8166A7B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FDA1AE5-E3CC-8BF2-BD7C-24EC1E172D49}"/>
              </a:ext>
            </a:extLst>
          </p:cNvPr>
          <p:cNvSpPr>
            <a:spLocks noGrp="1"/>
          </p:cNvSpPr>
          <p:nvPr>
            <p:ph type="sldNum" sz="quarter" idx="12"/>
          </p:nvPr>
        </p:nvSpPr>
        <p:spPr/>
        <p:txBody>
          <a:bodyPr/>
          <a:lstStyle/>
          <a:p>
            <a:fld id="{3A41A254-7326-714E-AF55-4C213D6394DE}" type="slidenum">
              <a:rPr lang="en-US" sz="900" smtClean="0">
                <a:latin typeface="Montserrat Light" pitchFamily="2" charset="0"/>
              </a:rPr>
              <a:pPr/>
              <a:t>85</a:t>
            </a:fld>
            <a:endParaRPr lang="en-US" sz="900">
              <a:latin typeface="Montserrat Light" pitchFamily="2" charset="0"/>
            </a:endParaRPr>
          </a:p>
        </p:txBody>
      </p:sp>
      <p:sp>
        <p:nvSpPr>
          <p:cNvPr id="6" name="Title 11">
            <a:extLst>
              <a:ext uri="{FF2B5EF4-FFF2-40B4-BE49-F238E27FC236}">
                <a16:creationId xmlns:a16="http://schemas.microsoft.com/office/drawing/2014/main" id="{F34AF696-DCFA-372F-BCE9-F6C89807DA2A}"/>
              </a:ext>
            </a:extLst>
          </p:cNvPr>
          <p:cNvSpPr txBox="1">
            <a:spLocks/>
          </p:cNvSpPr>
          <p:nvPr/>
        </p:nvSpPr>
        <p:spPr>
          <a:xfrm>
            <a:off x="304800" y="269218"/>
            <a:ext cx="8420100" cy="396638"/>
          </a:xfrm>
          <a:prstGeom prst="rect">
            <a:avLst/>
          </a:prstGeom>
        </p:spPr>
        <p:txBody>
          <a:bodyPr lIns="91440" tIns="45720" rIns="91440" bIns="45720" anchor="t">
            <a:noAutofit/>
          </a:bodyPr>
          <a:lstStyle>
            <a:lvl1pPr algn="l" defTabSz="914400" rtl="0" eaLnBrk="1" latinLnBrk="0" hangingPunct="1">
              <a:lnSpc>
                <a:spcPct val="90000"/>
              </a:lnSpc>
              <a:spcBef>
                <a:spcPct val="0"/>
              </a:spcBef>
              <a:buNone/>
              <a:defRPr sz="4400" b="1" i="0" kern="1200">
                <a:solidFill>
                  <a:schemeClr val="tx1"/>
                </a:solidFill>
                <a:latin typeface="AirIndia" pitchFamily="82" charset="77"/>
                <a:ea typeface="+mj-ea"/>
                <a:cs typeface="+mj-cs"/>
              </a:defRPr>
            </a:lvl1pPr>
          </a:lstStyle>
          <a:p>
            <a:r>
              <a:rPr lang="en-US" sz="1800">
                <a:solidFill>
                  <a:srgbClr val="C00000"/>
                </a:solidFill>
                <a:latin typeface="AirIndia"/>
              </a:rPr>
              <a:t>AIFP - FY27 Q2  Release Plan </a:t>
            </a:r>
          </a:p>
        </p:txBody>
      </p:sp>
      <p:graphicFrame>
        <p:nvGraphicFramePr>
          <p:cNvPr id="4" name="Table 3">
            <a:extLst>
              <a:ext uri="{FF2B5EF4-FFF2-40B4-BE49-F238E27FC236}">
                <a16:creationId xmlns:a16="http://schemas.microsoft.com/office/drawing/2014/main" id="{25F23785-9FEA-71D3-C42E-9A7D4EE7523D}"/>
              </a:ext>
            </a:extLst>
          </p:cNvPr>
          <p:cNvGraphicFramePr>
            <a:graphicFrameLocks noGrp="1"/>
          </p:cNvGraphicFramePr>
          <p:nvPr>
            <p:extLst>
              <p:ext uri="{D42A27DB-BD31-4B8C-83A1-F6EECF244321}">
                <p14:modId xmlns:p14="http://schemas.microsoft.com/office/powerpoint/2010/main" val="3521541706"/>
              </p:ext>
            </p:extLst>
          </p:nvPr>
        </p:nvGraphicFramePr>
        <p:xfrm>
          <a:off x="1063052" y="792699"/>
          <a:ext cx="10730564" cy="1609478"/>
        </p:xfrm>
        <a:graphic>
          <a:graphicData uri="http://schemas.openxmlformats.org/drawingml/2006/table">
            <a:tbl>
              <a:tblPr firstRow="1" bandRow="1">
                <a:tableStyleId>{5C22544A-7EE6-4342-B048-85BDC9FD1C3A}</a:tableStyleId>
              </a:tblPr>
              <a:tblGrid>
                <a:gridCol w="1217163">
                  <a:extLst>
                    <a:ext uri="{9D8B030D-6E8A-4147-A177-3AD203B41FA5}">
                      <a16:colId xmlns:a16="http://schemas.microsoft.com/office/drawing/2014/main" val="1118630623"/>
                    </a:ext>
                  </a:extLst>
                </a:gridCol>
                <a:gridCol w="6557627">
                  <a:extLst>
                    <a:ext uri="{9D8B030D-6E8A-4147-A177-3AD203B41FA5}">
                      <a16:colId xmlns:a16="http://schemas.microsoft.com/office/drawing/2014/main" val="99588705"/>
                    </a:ext>
                  </a:extLst>
                </a:gridCol>
                <a:gridCol w="985258">
                  <a:extLst>
                    <a:ext uri="{9D8B030D-6E8A-4147-A177-3AD203B41FA5}">
                      <a16:colId xmlns:a16="http://schemas.microsoft.com/office/drawing/2014/main" val="4278227373"/>
                    </a:ext>
                  </a:extLst>
                </a:gridCol>
                <a:gridCol w="797275">
                  <a:extLst>
                    <a:ext uri="{9D8B030D-6E8A-4147-A177-3AD203B41FA5}">
                      <a16:colId xmlns:a16="http://schemas.microsoft.com/office/drawing/2014/main" val="1344606147"/>
                    </a:ext>
                  </a:extLst>
                </a:gridCol>
                <a:gridCol w="1173241">
                  <a:extLst>
                    <a:ext uri="{9D8B030D-6E8A-4147-A177-3AD203B41FA5}">
                      <a16:colId xmlns:a16="http://schemas.microsoft.com/office/drawing/2014/main" val="1393940193"/>
                    </a:ext>
                  </a:extLst>
                </a:gridCol>
              </a:tblGrid>
              <a:tr h="286112">
                <a:tc>
                  <a:txBody>
                    <a:bodyPr/>
                    <a:lstStyle/>
                    <a:p>
                      <a:pPr marL="0" lvl="0" indent="0" algn="ctr" defTabSz="914400">
                        <a:lnSpc>
                          <a:spcPct val="100000"/>
                        </a:lnSpc>
                        <a:buNone/>
                      </a:pPr>
                      <a:r>
                        <a:rPr lang="en-IN" sz="1100" b="1" i="0" u="none" strike="noStrike" kern="1200" noProof="0">
                          <a:solidFill>
                            <a:schemeClr val="bg1"/>
                          </a:solidFill>
                          <a:latin typeface="Avenir Next LT Pro Light"/>
                          <a:ea typeface="+mn-ea"/>
                          <a:cs typeface="+mn-cs"/>
                        </a:rPr>
                        <a:t>Projects</a:t>
                      </a:r>
                      <a:endParaRPr lang="en-US"/>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solidFill>
                      <a:srgbClr val="002060"/>
                    </a:solidFill>
                  </a:tcPr>
                </a:tc>
                <a:tc>
                  <a:txBody>
                    <a:bodyPr/>
                    <a:lstStyle/>
                    <a:p>
                      <a:pPr lvl="0" algn="ctr">
                        <a:lnSpc>
                          <a:spcPct val="100000"/>
                        </a:lnSpc>
                        <a:spcBef>
                          <a:spcPts val="0"/>
                        </a:spcBef>
                        <a:spcAft>
                          <a:spcPts val="0"/>
                        </a:spcAft>
                        <a:buNone/>
                      </a:pPr>
                      <a:r>
                        <a:rPr lang="en-IN" sz="1100" b="1" i="0" u="none" strike="noStrike" kern="1200" noProof="0">
                          <a:solidFill>
                            <a:srgbClr val="FFFFFF"/>
                          </a:solidFill>
                          <a:latin typeface="Nunito Sans"/>
                          <a:ea typeface="+mn-ea"/>
                          <a:cs typeface="+mn-cs"/>
                        </a:rPr>
                        <a:t>Value Justification/Realization</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002060"/>
                    </a:solidFill>
                  </a:tcPr>
                </a:tc>
                <a:tc>
                  <a:txBody>
                    <a:bodyPr/>
                    <a:lstStyle/>
                    <a:p>
                      <a:pPr marL="0" lvl="0" indent="0" algn="ctr">
                        <a:buNone/>
                      </a:pPr>
                      <a:r>
                        <a:rPr lang="en-IN" sz="1050" kern="1200">
                          <a:solidFill>
                            <a:schemeClr val="bg1"/>
                          </a:solidFill>
                          <a:latin typeface="Avenir Next LT Pro Light"/>
                          <a:ea typeface="+mn-ea"/>
                          <a:cs typeface="+mn-cs"/>
                        </a:rPr>
                        <a:t>Planned Go-live date</a:t>
                      </a: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a:solidFill>
                        <a:schemeClr val="bg1">
                          <a:lumMod val="75000"/>
                        </a:schemeClr>
                      </a:solidFill>
                    </a:lnB>
                    <a:solidFill>
                      <a:srgbClr val="002060"/>
                    </a:solidFill>
                  </a:tcPr>
                </a:tc>
                <a:tc>
                  <a:txBody>
                    <a:bodyPr/>
                    <a:lstStyle/>
                    <a:p>
                      <a:pPr lvl="0" algn="ctr">
                        <a:lnSpc>
                          <a:spcPct val="100000"/>
                        </a:lnSpc>
                        <a:spcBef>
                          <a:spcPts val="0"/>
                        </a:spcBef>
                        <a:spcAft>
                          <a:spcPts val="0"/>
                        </a:spcAft>
                        <a:buNone/>
                      </a:pPr>
                      <a:r>
                        <a:rPr lang="en-IN" sz="1100" b="1" i="0" u="none" strike="noStrike" kern="1200" noProof="0">
                          <a:solidFill>
                            <a:schemeClr val="bg1"/>
                          </a:solidFill>
                          <a:latin typeface="Avenir Next LT Pro Light"/>
                          <a:ea typeface="+mn-ea"/>
                          <a:cs typeface="+mn-cs"/>
                        </a:rPr>
                        <a:t>JIRA</a:t>
                      </a:r>
                      <a:endParaRPr lang="en-IN" sz="1100" b="1" i="0" u="none" strike="noStrike" kern="1200" noProof="0">
                        <a:solidFill>
                          <a:srgbClr val="FFFFFF"/>
                        </a:solidFill>
                        <a:latin typeface="Avenir Next LT Pro Light"/>
                        <a:ea typeface="+mn-ea"/>
                        <a:cs typeface="+mn-cs"/>
                      </a:endParaRP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a:solidFill>
                        <a:schemeClr val="bg1">
                          <a:lumMod val="75000"/>
                        </a:schemeClr>
                      </a:solidFill>
                    </a:lnB>
                    <a:solidFill>
                      <a:srgbClr val="002060"/>
                    </a:solidFill>
                  </a:tcPr>
                </a:tc>
                <a:tc>
                  <a:txBody>
                    <a:bodyPr/>
                    <a:lstStyle/>
                    <a:p>
                      <a:pPr lvl="0" algn="ctr">
                        <a:lnSpc>
                          <a:spcPct val="100000"/>
                        </a:lnSpc>
                        <a:spcBef>
                          <a:spcPts val="0"/>
                        </a:spcBef>
                        <a:spcAft>
                          <a:spcPts val="0"/>
                        </a:spcAft>
                        <a:buNone/>
                      </a:pPr>
                      <a:r>
                        <a:rPr lang="en-IN" sz="1100" b="1" i="0" u="none" strike="noStrike" kern="1200" noProof="0">
                          <a:solidFill>
                            <a:srgbClr val="FFFFFF"/>
                          </a:solidFill>
                          <a:latin typeface="Avenir Next LT Pro Light"/>
                          <a:ea typeface="+mn-ea"/>
                          <a:cs typeface="+mn-cs"/>
                        </a:rPr>
                        <a:t>EIP Integration Required (Yes/No)</a:t>
                      </a: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solidFill>
                      <a:srgbClr val="002060"/>
                    </a:solidFill>
                  </a:tcPr>
                </a:tc>
                <a:extLst>
                  <a:ext uri="{0D108BD9-81ED-4DB2-BD59-A6C34878D82A}">
                    <a16:rowId xmlns:a16="http://schemas.microsoft.com/office/drawing/2014/main" val="844450115"/>
                  </a:ext>
                </a:extLst>
              </a:tr>
              <a:tr h="507559">
                <a:tc>
                  <a:txBody>
                    <a:bodyPr/>
                    <a:lstStyle/>
                    <a:p>
                      <a:pPr lvl="0" algn="l">
                        <a:lnSpc>
                          <a:spcPct val="100000"/>
                        </a:lnSpc>
                        <a:spcBef>
                          <a:spcPts val="0"/>
                        </a:spcBef>
                        <a:spcAft>
                          <a:spcPts val="0"/>
                        </a:spcAft>
                        <a:buNone/>
                      </a:pPr>
                      <a:r>
                        <a:rPr lang="en-IN" sz="1100" b="0" i="0" u="none" strike="noStrike" kern="1200" noProof="0">
                          <a:solidFill>
                            <a:srgbClr val="000000"/>
                          </a:solidFill>
                          <a:latin typeface="Nunito Sans"/>
                        </a:rPr>
                        <a:t>MEL Information</a:t>
                      </a:r>
                      <a:endParaRPr lang="en-US">
                        <a:latin typeface="Nunito Sans"/>
                      </a:endParaRPr>
                    </a:p>
                  </a:txBody>
                  <a:tcPr anchor="ctr">
                    <a:lnL w="6350">
                      <a:solidFill>
                        <a:schemeClr val="bg1">
                          <a:lumMod val="75000"/>
                        </a:schemeClr>
                      </a:solidFill>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171450" marR="0" lvl="0" indent="-171450" algn="l" rtl="0">
                        <a:lnSpc>
                          <a:spcPct val="100000"/>
                        </a:lnSpc>
                        <a:spcBef>
                          <a:spcPts val="0"/>
                        </a:spcBef>
                        <a:spcAft>
                          <a:spcPts val="0"/>
                        </a:spcAft>
                        <a:buClr>
                          <a:srgbClr val="000000"/>
                        </a:buClr>
                        <a:buSzTx/>
                        <a:buFont typeface="Arial,Sans-Serif"/>
                        <a:buChar char="•"/>
                      </a:pPr>
                      <a:r>
                        <a:rPr lang="en-GB" sz="1100" b="0" i="0" u="none" strike="noStrike" noProof="0">
                          <a:latin typeface="Nunito Sans"/>
                        </a:rPr>
                        <a:t>Real-time information on MELs (A-D, NEF, DD) associated with aircraft being operated by the pilots </a:t>
                      </a:r>
                      <a:endParaRPr lang="en-GB" sz="1100">
                        <a:latin typeface="Nunito Sans"/>
                      </a:endParaRP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a:solidFill>
                        <a:schemeClr val="bg1">
                          <a:lumMod val="75000"/>
                        </a:schemeClr>
                      </a:solidFill>
                    </a:lnB>
                    <a:solidFill>
                      <a:schemeClr val="bg1"/>
                    </a:solidFill>
                  </a:tcPr>
                </a:tc>
                <a:tc>
                  <a:txBody>
                    <a:bodyPr/>
                    <a:lstStyle/>
                    <a:p>
                      <a:pPr marL="0" lvl="0" indent="0" algn="l">
                        <a:lnSpc>
                          <a:spcPct val="100000"/>
                        </a:lnSpc>
                        <a:spcBef>
                          <a:spcPts val="0"/>
                        </a:spcBef>
                        <a:spcAft>
                          <a:spcPts val="0"/>
                        </a:spcAft>
                        <a:buNone/>
                      </a:pPr>
                      <a:r>
                        <a:rPr lang="en-US" sz="1100" b="0" i="0" u="none" strike="noStrike" kern="1200" noProof="0">
                          <a:solidFill>
                            <a:schemeClr val="tx1"/>
                          </a:solidFill>
                          <a:effectLst/>
                          <a:latin typeface="Nunito Sans"/>
                          <a:ea typeface="+mn-ea"/>
                          <a:cs typeface="+mn-cs"/>
                        </a:rPr>
                        <a:t>28-Jul</a:t>
                      </a: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a:solidFill>
                        <a:schemeClr val="bg1">
                          <a:lumMod val="75000"/>
                        </a:schemeClr>
                      </a:solidFill>
                    </a:lnB>
                    <a:solidFill>
                      <a:schemeClr val="bg1"/>
                    </a:solidFill>
                  </a:tcPr>
                </a:tc>
                <a:tc>
                  <a:txBody>
                    <a:bodyPr/>
                    <a:lstStyle/>
                    <a:p>
                      <a:pPr marL="0" lvl="0" indent="0" algn="l">
                        <a:lnSpc>
                          <a:spcPct val="100000"/>
                        </a:lnSpc>
                        <a:spcBef>
                          <a:spcPts val="0"/>
                        </a:spcBef>
                        <a:spcAft>
                          <a:spcPts val="0"/>
                        </a:spcAft>
                        <a:buNone/>
                      </a:pPr>
                      <a:r>
                        <a:rPr lang="en-US" sz="1100" b="0" i="0" u="none" strike="noStrike" kern="1200" noProof="0">
                          <a:solidFill>
                            <a:schemeClr val="tx1"/>
                          </a:solidFill>
                          <a:effectLst/>
                          <a:latin typeface="Nunito Sans"/>
                          <a:ea typeface="+mn-ea"/>
                          <a:cs typeface="+mn-cs"/>
                          <a:hlinkClick r:id="rId3"/>
                        </a:rPr>
                        <a:t>Link</a:t>
                      </a:r>
                      <a:endParaRPr lang="en-US" sz="1100" b="0" i="0" u="none" strike="noStrike" kern="1200" noProof="0">
                        <a:solidFill>
                          <a:schemeClr val="tx1"/>
                        </a:solidFill>
                        <a:effectLst/>
                        <a:latin typeface="Nunito Sans"/>
                        <a:ea typeface="+mn-ea"/>
                        <a:cs typeface="+mn-cs"/>
                      </a:endParaRP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a:solidFill>
                        <a:schemeClr val="bg1">
                          <a:lumMod val="75000"/>
                        </a:schemeClr>
                      </a:solidFill>
                    </a:lnB>
                    <a:solidFill>
                      <a:schemeClr val="bg1"/>
                    </a:solidFill>
                  </a:tcPr>
                </a:tc>
                <a:tc>
                  <a:txBody>
                    <a:bodyPr/>
                    <a:lstStyle/>
                    <a:p>
                      <a:pPr marL="0" lvl="0" indent="0" algn="l">
                        <a:lnSpc>
                          <a:spcPct val="100000"/>
                        </a:lnSpc>
                        <a:spcBef>
                          <a:spcPts val="0"/>
                        </a:spcBef>
                        <a:spcAft>
                          <a:spcPts val="0"/>
                        </a:spcAft>
                        <a:buNone/>
                      </a:pPr>
                      <a:endParaRPr lang="en-US" sz="1100" b="0" i="0" u="none" strike="noStrike" kern="1200" noProof="0">
                        <a:solidFill>
                          <a:schemeClr val="tx1"/>
                        </a:solidFill>
                        <a:effectLst/>
                        <a:latin typeface="Nunito Sans"/>
                        <a:ea typeface="+mn-ea"/>
                        <a:cs typeface="+mn-cs"/>
                      </a:endParaRPr>
                    </a:p>
                  </a:txBody>
                  <a:tcPr anchor="ctr">
                    <a:lnL w="6350">
                      <a:solidFill>
                        <a:schemeClr val="bg1">
                          <a:lumMod val="75000"/>
                        </a:schemeClr>
                      </a:solidFill>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951168155"/>
                  </a:ext>
                </a:extLst>
              </a:tr>
              <a:tr h="507559">
                <a:tc>
                  <a:txBody>
                    <a:bodyPr/>
                    <a:lstStyle/>
                    <a:p>
                      <a:pPr lvl="0" algn="l">
                        <a:lnSpc>
                          <a:spcPct val="100000"/>
                        </a:lnSpc>
                        <a:spcBef>
                          <a:spcPts val="0"/>
                        </a:spcBef>
                        <a:spcAft>
                          <a:spcPts val="0"/>
                        </a:spcAft>
                        <a:buNone/>
                      </a:pPr>
                      <a:r>
                        <a:rPr lang="en-US" sz="1100" b="0" i="0" u="none" strike="noStrike" kern="1200" noProof="0">
                          <a:solidFill>
                            <a:srgbClr val="000000"/>
                          </a:solidFill>
                          <a:latin typeface="Nunito Sans"/>
                        </a:rPr>
                        <a:t>Base Training </a:t>
                      </a:r>
                      <a:endParaRPr lang="en-US">
                        <a:latin typeface="Nunito Sans"/>
                      </a:endParaRP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171450" marR="0" lvl="0" indent="-171450" algn="l">
                        <a:lnSpc>
                          <a:spcPct val="100000"/>
                        </a:lnSpc>
                        <a:buClr>
                          <a:srgbClr val="000000"/>
                        </a:buClr>
                        <a:buFont typeface="Arial,Sans-Serif"/>
                        <a:buChar char="•"/>
                      </a:pPr>
                      <a:r>
                        <a:rPr lang="en-IN" sz="1100" b="0" i="0" u="none" strike="noStrike" kern="1200" noProof="0">
                          <a:solidFill>
                            <a:srgbClr val="000000"/>
                          </a:solidFill>
                          <a:effectLst/>
                          <a:latin typeface="Nunito Sans"/>
                        </a:rPr>
                        <a:t>Ability to submit PSR-based training flight reports via AIFP with submission flow and integration with eGCA </a:t>
                      </a:r>
                      <a:endParaRPr lang="en-IN" sz="1100" b="0" i="0" u="none" strike="noStrike" kern="1200" noProof="0">
                        <a:solidFill>
                          <a:srgbClr val="000000"/>
                        </a:solidFill>
                        <a:effectLst/>
                        <a:latin typeface="Nunito Sans"/>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lvl="0" indent="0" algn="l">
                        <a:lnSpc>
                          <a:spcPct val="100000"/>
                        </a:lnSpc>
                        <a:buNone/>
                      </a:pPr>
                      <a:r>
                        <a:rPr lang="en-US" sz="1100" b="0" i="0" u="none" strike="noStrike" kern="1200" noProof="0">
                          <a:solidFill>
                            <a:schemeClr val="tx1"/>
                          </a:solidFill>
                          <a:effectLst/>
                          <a:latin typeface="Nunito Sans"/>
                          <a:ea typeface="+mn-ea"/>
                          <a:cs typeface="+mn-cs"/>
                        </a:rPr>
                        <a:t>28-Jul</a:t>
                      </a:r>
                      <a:endParaRPr lang="en-US"/>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a:solidFill>
                        <a:schemeClr val="bg1">
                          <a:lumMod val="75000"/>
                        </a:schemeClr>
                      </a:solidFill>
                    </a:lnB>
                    <a:solidFill>
                      <a:schemeClr val="bg1"/>
                    </a:solidFill>
                  </a:tcPr>
                </a:tc>
                <a:tc>
                  <a:txBody>
                    <a:bodyPr/>
                    <a:lstStyle/>
                    <a:p>
                      <a:pPr marL="0" lvl="0" indent="0" algn="l">
                        <a:lnSpc>
                          <a:spcPct val="100000"/>
                        </a:lnSpc>
                        <a:buNone/>
                      </a:pPr>
                      <a:r>
                        <a:rPr lang="en-US" sz="1100" b="0" i="0" u="none" strike="noStrike" kern="1200" noProof="0">
                          <a:solidFill>
                            <a:schemeClr val="tx1"/>
                          </a:solidFill>
                          <a:effectLst/>
                          <a:latin typeface="Nunito Sans"/>
                          <a:ea typeface="+mn-ea"/>
                          <a:cs typeface="+mn-cs"/>
                          <a:hlinkClick r:id="rId4"/>
                        </a:rPr>
                        <a:t>Link</a:t>
                      </a:r>
                      <a:endParaRPr lang="en-US" sz="1100" b="0" i="0" u="none" strike="noStrike" kern="1200" noProof="0">
                        <a:solidFill>
                          <a:schemeClr val="tx1"/>
                        </a:solidFill>
                        <a:effectLst/>
                        <a:latin typeface="Nunito Sans"/>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a:solidFill>
                        <a:schemeClr val="bg1">
                          <a:lumMod val="75000"/>
                        </a:schemeClr>
                      </a:solidFill>
                    </a:lnB>
                    <a:solidFill>
                      <a:schemeClr val="bg1"/>
                    </a:solidFill>
                  </a:tcPr>
                </a:tc>
                <a:tc>
                  <a:txBody>
                    <a:bodyPr/>
                    <a:lstStyle/>
                    <a:p>
                      <a:pPr marL="0" lvl="0" indent="0" algn="l">
                        <a:lnSpc>
                          <a:spcPct val="100000"/>
                        </a:lnSpc>
                        <a:buNone/>
                      </a:pPr>
                      <a:endParaRPr lang="en-US" sz="1100" b="0" i="0" u="none" strike="noStrike" kern="1200" noProof="0">
                        <a:solidFill>
                          <a:schemeClr val="tx1"/>
                        </a:solidFill>
                        <a:effectLst/>
                        <a:latin typeface="Nunito Sans"/>
                        <a:ea typeface="+mn-ea"/>
                        <a:cs typeface="+mn-cs"/>
                      </a:endParaRPr>
                    </a:p>
                  </a:txBody>
                  <a:tcPr anchor="ctr">
                    <a:lnL w="6350" cap="flat" cmpd="sng" algn="ctr">
                      <a:solidFill>
                        <a:schemeClr val="bg1">
                          <a:lumMod val="75000"/>
                        </a:schemeClr>
                      </a:solidFill>
                      <a:prstDash val="solid"/>
                      <a:round/>
                      <a:headEnd type="none" w="med" len="med"/>
                      <a:tailEnd type="none" w="med" len="med"/>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a:solidFill>
                        <a:schemeClr val="bg1">
                          <a:lumMod val="75000"/>
                        </a:schemeClr>
                      </a:solidFill>
                    </a:lnB>
                    <a:solidFill>
                      <a:schemeClr val="bg1"/>
                    </a:solidFill>
                  </a:tcPr>
                </a:tc>
                <a:extLst>
                  <a:ext uri="{0D108BD9-81ED-4DB2-BD59-A6C34878D82A}">
                    <a16:rowId xmlns:a16="http://schemas.microsoft.com/office/drawing/2014/main" val="2542160441"/>
                  </a:ext>
                </a:extLst>
              </a:tr>
            </a:tbl>
          </a:graphicData>
        </a:graphic>
      </p:graphicFrame>
      <p:sp>
        <p:nvSpPr>
          <p:cNvPr id="26" name="TextBox 25">
            <a:extLst>
              <a:ext uri="{FF2B5EF4-FFF2-40B4-BE49-F238E27FC236}">
                <a16:creationId xmlns:a16="http://schemas.microsoft.com/office/drawing/2014/main" id="{0A6B628E-C89E-6A20-6B3C-19E8E2BD76AB}"/>
              </a:ext>
            </a:extLst>
          </p:cNvPr>
          <p:cNvSpPr txBox="1"/>
          <p:nvPr/>
        </p:nvSpPr>
        <p:spPr>
          <a:xfrm>
            <a:off x="343955" y="3897931"/>
            <a:ext cx="417102" cy="253916"/>
          </a:xfrm>
          <a:prstGeom prst="rect">
            <a:avLst/>
          </a:prstGeom>
          <a:noFill/>
        </p:spPr>
        <p:txBody>
          <a:bodyPr wrap="none" lIns="91440" tIns="45720" rIns="91440" bIns="45720" rtlCol="0" anchor="t">
            <a:spAutoFit/>
          </a:bodyPr>
          <a:lstStyle/>
          <a:p>
            <a:r>
              <a:rPr lang="en-IN" sz="1050" b="1">
                <a:solidFill>
                  <a:schemeClr val="bg1"/>
                </a:solidFill>
                <a:latin typeface="Montserrat Light"/>
              </a:rPr>
              <a:t>Jan</a:t>
            </a:r>
            <a:endParaRPr lang="en-IN" sz="1050" b="1">
              <a:solidFill>
                <a:schemeClr val="bg1"/>
              </a:solidFill>
              <a:latin typeface="Montserrat Light" pitchFamily="2" charset="0"/>
            </a:endParaRPr>
          </a:p>
        </p:txBody>
      </p:sp>
      <p:sp>
        <p:nvSpPr>
          <p:cNvPr id="27" name="TextBox 15">
            <a:extLst>
              <a:ext uri="{FF2B5EF4-FFF2-40B4-BE49-F238E27FC236}">
                <a16:creationId xmlns:a16="http://schemas.microsoft.com/office/drawing/2014/main" id="{1CA5C381-7DFE-A20E-9356-9CBE24C2B3E2}"/>
              </a:ext>
            </a:extLst>
          </p:cNvPr>
          <p:cNvSpPr txBox="1"/>
          <p:nvPr/>
        </p:nvSpPr>
        <p:spPr>
          <a:xfrm>
            <a:off x="398384" y="817274"/>
            <a:ext cx="417102" cy="253916"/>
          </a:xfrm>
          <a:prstGeom prst="rect">
            <a:avLst/>
          </a:prstGeom>
          <a:noFill/>
        </p:spPr>
        <p:txBody>
          <a:bodyPr wrap="non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050" b="1">
                <a:solidFill>
                  <a:schemeClr val="bg1"/>
                </a:solidFill>
                <a:latin typeface="Montserrat Light"/>
              </a:rPr>
              <a:t>Jan</a:t>
            </a:r>
            <a:endParaRPr lang="en-IN" sz="1050" b="1">
              <a:solidFill>
                <a:schemeClr val="bg1"/>
              </a:solidFill>
              <a:latin typeface="Montserrat Light" pitchFamily="2" charset="0"/>
            </a:endParaRPr>
          </a:p>
        </p:txBody>
      </p:sp>
      <p:sp>
        <p:nvSpPr>
          <p:cNvPr id="29" name="Rectangle 28">
            <a:extLst>
              <a:ext uri="{FF2B5EF4-FFF2-40B4-BE49-F238E27FC236}">
                <a16:creationId xmlns:a16="http://schemas.microsoft.com/office/drawing/2014/main" id="{52B5CEEF-34B0-586D-F9FE-F1E8FC8719E1}"/>
              </a:ext>
            </a:extLst>
          </p:cNvPr>
          <p:cNvSpPr/>
          <p:nvPr/>
        </p:nvSpPr>
        <p:spPr>
          <a:xfrm>
            <a:off x="-4474" y="793560"/>
            <a:ext cx="1067526" cy="42234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IN" sz="1400" b="1">
                <a:latin typeface="AirIndia"/>
              </a:rPr>
              <a:t>July ’26</a:t>
            </a:r>
            <a:endParaRPr lang="en-US"/>
          </a:p>
        </p:txBody>
      </p:sp>
      <p:pic>
        <p:nvPicPr>
          <p:cNvPr id="34" name="Picture 33">
            <a:extLst>
              <a:ext uri="{FF2B5EF4-FFF2-40B4-BE49-F238E27FC236}">
                <a16:creationId xmlns:a16="http://schemas.microsoft.com/office/drawing/2014/main" id="{E97F546B-7E22-1F9D-A1F5-7D17BABC1F6B}"/>
              </a:ext>
            </a:extLst>
          </p:cNvPr>
          <p:cNvPicPr>
            <a:picLocks noChangeAspect="1"/>
          </p:cNvPicPr>
          <p:nvPr/>
        </p:nvPicPr>
        <p:blipFill>
          <a:blip r:embed="rId5"/>
          <a:stretch>
            <a:fillRect/>
          </a:stretch>
        </p:blipFill>
        <p:spPr>
          <a:xfrm>
            <a:off x="306161" y="6532789"/>
            <a:ext cx="8248650" cy="323850"/>
          </a:xfrm>
          <a:prstGeom prst="rect">
            <a:avLst/>
          </a:prstGeom>
        </p:spPr>
      </p:pic>
    </p:spTree>
    <p:extLst>
      <p:ext uri="{BB962C8B-B14F-4D97-AF65-F5344CB8AC3E}">
        <p14:creationId xmlns:p14="http://schemas.microsoft.com/office/powerpoint/2010/main" val="1487735783"/>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E3E740-0E1E-FDD1-CA75-A1C5D745EF45}"/>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27ECB31-28A2-DC42-1112-32B5A4422417}"/>
              </a:ext>
            </a:extLst>
          </p:cNvPr>
          <p:cNvSpPr>
            <a:spLocks noGrp="1"/>
          </p:cNvSpPr>
          <p:nvPr>
            <p:ph type="sldNum" sz="quarter" idx="12"/>
          </p:nvPr>
        </p:nvSpPr>
        <p:spPr/>
        <p:txBody>
          <a:bodyPr/>
          <a:lstStyle/>
          <a:p>
            <a:fld id="{3A41A254-7326-714E-AF55-4C213D6394DE}" type="slidenum">
              <a:rPr lang="en-US" sz="900" smtClean="0">
                <a:latin typeface="Montserrat Light" pitchFamily="2" charset="0"/>
              </a:rPr>
              <a:pPr/>
              <a:t>86</a:t>
            </a:fld>
            <a:endParaRPr lang="en-US" sz="900">
              <a:latin typeface="Montserrat Light" pitchFamily="2" charset="0"/>
            </a:endParaRPr>
          </a:p>
        </p:txBody>
      </p:sp>
      <p:sp>
        <p:nvSpPr>
          <p:cNvPr id="6" name="Title 11">
            <a:extLst>
              <a:ext uri="{FF2B5EF4-FFF2-40B4-BE49-F238E27FC236}">
                <a16:creationId xmlns:a16="http://schemas.microsoft.com/office/drawing/2014/main" id="{8D7509E1-5A2C-F935-496D-C9AFC4673269}"/>
              </a:ext>
            </a:extLst>
          </p:cNvPr>
          <p:cNvSpPr txBox="1">
            <a:spLocks/>
          </p:cNvSpPr>
          <p:nvPr/>
        </p:nvSpPr>
        <p:spPr>
          <a:xfrm>
            <a:off x="304800" y="269218"/>
            <a:ext cx="8420100" cy="396638"/>
          </a:xfrm>
          <a:prstGeom prst="rect">
            <a:avLst/>
          </a:prstGeom>
        </p:spPr>
        <p:txBody>
          <a:bodyPr lIns="91440" tIns="45720" rIns="91440" bIns="45720" anchor="t">
            <a:noAutofit/>
          </a:bodyPr>
          <a:lstStyle>
            <a:lvl1pPr algn="l" defTabSz="914400" rtl="0" eaLnBrk="1" latinLnBrk="0" hangingPunct="1">
              <a:lnSpc>
                <a:spcPct val="90000"/>
              </a:lnSpc>
              <a:spcBef>
                <a:spcPct val="0"/>
              </a:spcBef>
              <a:buNone/>
              <a:defRPr sz="4400" b="1" i="0" kern="1200">
                <a:solidFill>
                  <a:schemeClr val="tx1"/>
                </a:solidFill>
                <a:latin typeface="AirIndia" pitchFamily="82" charset="77"/>
                <a:ea typeface="+mj-ea"/>
                <a:cs typeface="+mj-cs"/>
              </a:defRPr>
            </a:lvl1pPr>
          </a:lstStyle>
          <a:p>
            <a:r>
              <a:rPr lang="en-US" sz="1800">
                <a:solidFill>
                  <a:srgbClr val="C00000"/>
                </a:solidFill>
                <a:latin typeface="AirIndia"/>
              </a:rPr>
              <a:t>AIFP - FY27 Q2 Release Plan </a:t>
            </a:r>
            <a:endParaRPr lang="en-US" sz="1800" b="0">
              <a:solidFill>
                <a:srgbClr val="000000"/>
              </a:solidFill>
              <a:latin typeface="AirIndia"/>
            </a:endParaRPr>
          </a:p>
          <a:p>
            <a:endParaRPr lang="en-US" sz="1800">
              <a:solidFill>
                <a:srgbClr val="C00000"/>
              </a:solidFill>
              <a:latin typeface="AirIndia"/>
            </a:endParaRPr>
          </a:p>
          <a:p>
            <a:endParaRPr lang="en-US" sz="1800">
              <a:solidFill>
                <a:srgbClr val="C00000"/>
              </a:solidFill>
              <a:latin typeface="AirIndia"/>
            </a:endParaRPr>
          </a:p>
        </p:txBody>
      </p:sp>
      <p:graphicFrame>
        <p:nvGraphicFramePr>
          <p:cNvPr id="4" name="Table 3">
            <a:extLst>
              <a:ext uri="{FF2B5EF4-FFF2-40B4-BE49-F238E27FC236}">
                <a16:creationId xmlns:a16="http://schemas.microsoft.com/office/drawing/2014/main" id="{8D9770A1-953C-E0AE-D0E6-ADA3E5FB3AE4}"/>
              </a:ext>
            </a:extLst>
          </p:cNvPr>
          <p:cNvGraphicFramePr>
            <a:graphicFrameLocks noGrp="1"/>
          </p:cNvGraphicFramePr>
          <p:nvPr>
            <p:extLst>
              <p:ext uri="{D42A27DB-BD31-4B8C-83A1-F6EECF244321}">
                <p14:modId xmlns:p14="http://schemas.microsoft.com/office/powerpoint/2010/main" val="3534552734"/>
              </p:ext>
            </p:extLst>
          </p:nvPr>
        </p:nvGraphicFramePr>
        <p:xfrm>
          <a:off x="1063053" y="792699"/>
          <a:ext cx="10784992" cy="3726515"/>
        </p:xfrm>
        <a:graphic>
          <a:graphicData uri="http://schemas.openxmlformats.org/drawingml/2006/table">
            <a:tbl>
              <a:tblPr firstRow="1" bandRow="1">
                <a:tableStyleId>{5C22544A-7EE6-4342-B048-85BDC9FD1C3A}</a:tableStyleId>
              </a:tblPr>
              <a:tblGrid>
                <a:gridCol w="1223337">
                  <a:extLst>
                    <a:ext uri="{9D8B030D-6E8A-4147-A177-3AD203B41FA5}">
                      <a16:colId xmlns:a16="http://schemas.microsoft.com/office/drawing/2014/main" val="1118630623"/>
                    </a:ext>
                  </a:extLst>
                </a:gridCol>
                <a:gridCol w="6590889">
                  <a:extLst>
                    <a:ext uri="{9D8B030D-6E8A-4147-A177-3AD203B41FA5}">
                      <a16:colId xmlns:a16="http://schemas.microsoft.com/office/drawing/2014/main" val="99588705"/>
                    </a:ext>
                  </a:extLst>
                </a:gridCol>
                <a:gridCol w="990255">
                  <a:extLst>
                    <a:ext uri="{9D8B030D-6E8A-4147-A177-3AD203B41FA5}">
                      <a16:colId xmlns:a16="http://schemas.microsoft.com/office/drawing/2014/main" val="4278227373"/>
                    </a:ext>
                  </a:extLst>
                </a:gridCol>
                <a:gridCol w="806967">
                  <a:extLst>
                    <a:ext uri="{9D8B030D-6E8A-4147-A177-3AD203B41FA5}">
                      <a16:colId xmlns:a16="http://schemas.microsoft.com/office/drawing/2014/main" val="1344606147"/>
                    </a:ext>
                  </a:extLst>
                </a:gridCol>
                <a:gridCol w="1173544">
                  <a:extLst>
                    <a:ext uri="{9D8B030D-6E8A-4147-A177-3AD203B41FA5}">
                      <a16:colId xmlns:a16="http://schemas.microsoft.com/office/drawing/2014/main" val="3063459573"/>
                    </a:ext>
                  </a:extLst>
                </a:gridCol>
              </a:tblGrid>
              <a:tr h="286112">
                <a:tc>
                  <a:txBody>
                    <a:bodyPr/>
                    <a:lstStyle/>
                    <a:p>
                      <a:pPr marL="0" lvl="0" indent="0" algn="ctr" defTabSz="914400">
                        <a:lnSpc>
                          <a:spcPct val="100000"/>
                        </a:lnSpc>
                        <a:buNone/>
                      </a:pPr>
                      <a:r>
                        <a:rPr lang="en-IN" sz="1100" b="1" i="0" u="none" strike="noStrike" kern="1200" noProof="0">
                          <a:solidFill>
                            <a:schemeClr val="bg1"/>
                          </a:solidFill>
                          <a:latin typeface="Avenir Next LT Pro Light"/>
                          <a:ea typeface="+mn-ea"/>
                          <a:cs typeface="+mn-cs"/>
                        </a:rPr>
                        <a:t>Projects</a:t>
                      </a:r>
                      <a:endParaRPr lang="en-US"/>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solidFill>
                      <a:srgbClr val="002060"/>
                    </a:solidFill>
                  </a:tcPr>
                </a:tc>
                <a:tc>
                  <a:txBody>
                    <a:bodyPr/>
                    <a:lstStyle/>
                    <a:p>
                      <a:pPr lvl="0" algn="ctr">
                        <a:lnSpc>
                          <a:spcPct val="100000"/>
                        </a:lnSpc>
                        <a:spcBef>
                          <a:spcPts val="0"/>
                        </a:spcBef>
                        <a:spcAft>
                          <a:spcPts val="0"/>
                        </a:spcAft>
                        <a:buNone/>
                      </a:pPr>
                      <a:r>
                        <a:rPr lang="en-IN" sz="1100" b="1" i="0" u="none" strike="noStrike" kern="1200" noProof="0">
                          <a:solidFill>
                            <a:srgbClr val="FFFFFF"/>
                          </a:solidFill>
                          <a:latin typeface="Nunito Sans"/>
                          <a:ea typeface="+mn-ea"/>
                          <a:cs typeface="+mn-cs"/>
                        </a:rPr>
                        <a:t>Value Justification/Realization</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002060"/>
                    </a:solidFill>
                  </a:tcPr>
                </a:tc>
                <a:tc>
                  <a:txBody>
                    <a:bodyPr/>
                    <a:lstStyle/>
                    <a:p>
                      <a:pPr marL="0" lvl="0" indent="0" algn="ctr">
                        <a:buNone/>
                      </a:pPr>
                      <a:r>
                        <a:rPr lang="en-IN" sz="1050" kern="1200">
                          <a:solidFill>
                            <a:schemeClr val="bg1"/>
                          </a:solidFill>
                          <a:latin typeface="Avenir Next LT Pro Light"/>
                          <a:ea typeface="+mn-ea"/>
                          <a:cs typeface="+mn-cs"/>
                        </a:rPr>
                        <a:t>Planned Go-live date</a:t>
                      </a: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a:solidFill>
                        <a:schemeClr val="bg1">
                          <a:lumMod val="75000"/>
                        </a:schemeClr>
                      </a:solidFill>
                    </a:lnB>
                    <a:solidFill>
                      <a:srgbClr val="002060"/>
                    </a:solidFill>
                  </a:tcPr>
                </a:tc>
                <a:tc>
                  <a:txBody>
                    <a:bodyPr/>
                    <a:lstStyle/>
                    <a:p>
                      <a:pPr lvl="0" algn="ctr">
                        <a:lnSpc>
                          <a:spcPct val="100000"/>
                        </a:lnSpc>
                        <a:spcBef>
                          <a:spcPts val="0"/>
                        </a:spcBef>
                        <a:spcAft>
                          <a:spcPts val="0"/>
                        </a:spcAft>
                        <a:buNone/>
                      </a:pPr>
                      <a:r>
                        <a:rPr lang="en-IN" sz="1100" b="1" i="0" u="none" strike="noStrike" kern="1200" noProof="0">
                          <a:solidFill>
                            <a:schemeClr val="bg1"/>
                          </a:solidFill>
                          <a:latin typeface="Avenir Next LT Pro Light"/>
                          <a:ea typeface="+mn-ea"/>
                          <a:cs typeface="+mn-cs"/>
                        </a:rPr>
                        <a:t>JIRA</a:t>
                      </a:r>
                      <a:endParaRPr lang="en-IN" sz="1100" b="1" i="0" u="none" strike="noStrike" kern="1200" noProof="0">
                        <a:solidFill>
                          <a:srgbClr val="FFFFFF"/>
                        </a:solidFill>
                        <a:latin typeface="Avenir Next LT Pro Light"/>
                        <a:ea typeface="+mn-ea"/>
                        <a:cs typeface="+mn-cs"/>
                      </a:endParaRP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a:solidFill>
                        <a:schemeClr val="bg1">
                          <a:lumMod val="75000"/>
                        </a:schemeClr>
                      </a:solidFill>
                    </a:lnB>
                    <a:solidFill>
                      <a:srgbClr val="002060"/>
                    </a:solidFill>
                  </a:tcPr>
                </a:tc>
                <a:tc>
                  <a:txBody>
                    <a:bodyPr/>
                    <a:lstStyle/>
                    <a:p>
                      <a:pPr lvl="0" algn="ctr">
                        <a:lnSpc>
                          <a:spcPct val="100000"/>
                        </a:lnSpc>
                        <a:spcBef>
                          <a:spcPts val="0"/>
                        </a:spcBef>
                        <a:spcAft>
                          <a:spcPts val="0"/>
                        </a:spcAft>
                        <a:buNone/>
                      </a:pPr>
                      <a:r>
                        <a:rPr lang="en-IN" sz="1100" b="1" i="0" u="none" strike="noStrike" kern="1200" noProof="0">
                          <a:solidFill>
                            <a:srgbClr val="FFFFFF"/>
                          </a:solidFill>
                          <a:latin typeface="Avenir Next LT Pro Light"/>
                          <a:ea typeface="+mn-ea"/>
                          <a:cs typeface="+mn-cs"/>
                        </a:rPr>
                        <a:t>EIP Integration Required (Yes/No)</a:t>
                      </a: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solidFill>
                      <a:srgbClr val="002060"/>
                    </a:solidFill>
                  </a:tcPr>
                </a:tc>
                <a:extLst>
                  <a:ext uri="{0D108BD9-81ED-4DB2-BD59-A6C34878D82A}">
                    <a16:rowId xmlns:a16="http://schemas.microsoft.com/office/drawing/2014/main" val="844450115"/>
                  </a:ext>
                </a:extLst>
              </a:tr>
              <a:tr h="507559">
                <a:tc>
                  <a:txBody>
                    <a:bodyPr/>
                    <a:lstStyle/>
                    <a:p>
                      <a:pPr lvl="0" algn="l">
                        <a:lnSpc>
                          <a:spcPct val="100000"/>
                        </a:lnSpc>
                        <a:spcBef>
                          <a:spcPts val="0"/>
                        </a:spcBef>
                        <a:spcAft>
                          <a:spcPts val="0"/>
                        </a:spcAft>
                        <a:buNone/>
                      </a:pPr>
                      <a:r>
                        <a:rPr lang="en-IN" sz="1100" b="0" i="0" u="none" strike="noStrike" kern="1200" noProof="0">
                          <a:solidFill>
                            <a:srgbClr val="000000"/>
                          </a:solidFill>
                        </a:rPr>
                        <a:t>Roster Monthly View ( Phase 2)</a:t>
                      </a:r>
                      <a:endParaRPr lang="en-US"/>
                    </a:p>
                  </a:txBody>
                  <a:tcPr anchor="ctr">
                    <a:lnL w="6350">
                      <a:solidFill>
                        <a:schemeClr val="bg1">
                          <a:lumMod val="75000"/>
                        </a:schemeClr>
                      </a:solidFill>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171450" marR="0" lvl="0" indent="-171450" algn="l" rtl="0">
                        <a:lnSpc>
                          <a:spcPct val="100000"/>
                        </a:lnSpc>
                        <a:spcBef>
                          <a:spcPts val="0"/>
                        </a:spcBef>
                        <a:spcAft>
                          <a:spcPts val="0"/>
                        </a:spcAft>
                        <a:buClr>
                          <a:srgbClr val="000000"/>
                        </a:buClr>
                        <a:buSzTx/>
                        <a:buFont typeface="Arial,Sans-Serif"/>
                        <a:buChar char="•"/>
                      </a:pPr>
                      <a:r>
                        <a:rPr lang="en-GB" sz="1100" b="0" i="0" u="none" strike="noStrike" noProof="0">
                          <a:latin typeface="Nunito Sans"/>
                        </a:rPr>
                        <a:t>Enhanced Roster View with design changes for monthly, weekly, and list options</a:t>
                      </a:r>
                      <a:endParaRPr lang="en-GB" sz="1100">
                        <a:latin typeface="Nunito Sans"/>
                      </a:endParaRP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a:solidFill>
                        <a:schemeClr val="bg1">
                          <a:lumMod val="75000"/>
                        </a:schemeClr>
                      </a:solidFill>
                    </a:lnB>
                    <a:solidFill>
                      <a:schemeClr val="bg1"/>
                    </a:solidFill>
                  </a:tcPr>
                </a:tc>
                <a:tc>
                  <a:txBody>
                    <a:bodyPr/>
                    <a:lstStyle/>
                    <a:p>
                      <a:pPr marL="0" lvl="0" indent="0" algn="l">
                        <a:lnSpc>
                          <a:spcPct val="100000"/>
                        </a:lnSpc>
                        <a:spcBef>
                          <a:spcPts val="0"/>
                        </a:spcBef>
                        <a:spcAft>
                          <a:spcPts val="0"/>
                        </a:spcAft>
                        <a:buNone/>
                      </a:pPr>
                      <a:r>
                        <a:rPr lang="en-US" sz="1100" b="0" i="0" u="none" strike="noStrike" kern="1200" noProof="0">
                          <a:solidFill>
                            <a:schemeClr val="tx1"/>
                          </a:solidFill>
                          <a:effectLst/>
                          <a:latin typeface="Nunito Sans"/>
                          <a:ea typeface="+mn-ea"/>
                          <a:cs typeface="+mn-cs"/>
                        </a:rPr>
                        <a:t>28-Aug</a:t>
                      </a: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a:solidFill>
                        <a:schemeClr val="bg1">
                          <a:lumMod val="75000"/>
                        </a:schemeClr>
                      </a:solidFill>
                    </a:lnB>
                    <a:solidFill>
                      <a:schemeClr val="bg1"/>
                    </a:solidFill>
                  </a:tcPr>
                </a:tc>
                <a:tc>
                  <a:txBody>
                    <a:bodyPr/>
                    <a:lstStyle/>
                    <a:p>
                      <a:pPr marL="0" lvl="0" indent="0" algn="l">
                        <a:lnSpc>
                          <a:spcPct val="100000"/>
                        </a:lnSpc>
                        <a:spcBef>
                          <a:spcPts val="0"/>
                        </a:spcBef>
                        <a:spcAft>
                          <a:spcPts val="0"/>
                        </a:spcAft>
                        <a:buNone/>
                      </a:pPr>
                      <a:r>
                        <a:rPr lang="en-US" sz="1100" b="0" i="0" u="none" strike="noStrike" kern="1200" noProof="0">
                          <a:solidFill>
                            <a:schemeClr val="tx1"/>
                          </a:solidFill>
                          <a:effectLst/>
                          <a:latin typeface="Nunito Sans"/>
                          <a:ea typeface="+mn-ea"/>
                          <a:cs typeface="+mn-cs"/>
                          <a:hlinkClick r:id="rId3"/>
                        </a:rPr>
                        <a:t>Link</a:t>
                      </a:r>
                      <a:endParaRPr lang="en-US" sz="1100" b="0" i="0" u="none" strike="noStrike" kern="1200" noProof="0">
                        <a:solidFill>
                          <a:schemeClr val="tx1"/>
                        </a:solidFill>
                        <a:effectLst/>
                        <a:latin typeface="Nunito Sans"/>
                        <a:ea typeface="+mn-ea"/>
                        <a:cs typeface="+mn-cs"/>
                      </a:endParaRP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a:solidFill>
                        <a:schemeClr val="bg1">
                          <a:lumMod val="75000"/>
                        </a:schemeClr>
                      </a:solidFill>
                    </a:lnB>
                    <a:solidFill>
                      <a:schemeClr val="bg1"/>
                    </a:solidFill>
                  </a:tcPr>
                </a:tc>
                <a:tc>
                  <a:txBody>
                    <a:bodyPr/>
                    <a:lstStyle/>
                    <a:p>
                      <a:pPr marL="0" lvl="0" indent="0" algn="l">
                        <a:lnSpc>
                          <a:spcPct val="100000"/>
                        </a:lnSpc>
                        <a:spcBef>
                          <a:spcPts val="0"/>
                        </a:spcBef>
                        <a:spcAft>
                          <a:spcPts val="0"/>
                        </a:spcAft>
                        <a:buNone/>
                      </a:pPr>
                      <a:endParaRPr lang="en-US" sz="1100" b="0" i="0" u="none" strike="noStrike" kern="1200" noProof="0">
                        <a:solidFill>
                          <a:schemeClr val="tx1"/>
                        </a:solidFill>
                        <a:effectLst/>
                        <a:latin typeface="Nunito Sans"/>
                        <a:ea typeface="+mn-ea"/>
                        <a:cs typeface="+mn-cs"/>
                      </a:endParaRPr>
                    </a:p>
                  </a:txBody>
                  <a:tcPr anchor="ctr">
                    <a:lnL w="6350">
                      <a:solidFill>
                        <a:schemeClr val="bg1">
                          <a:lumMod val="75000"/>
                        </a:schemeClr>
                      </a:solidFill>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951168155"/>
                  </a:ext>
                </a:extLst>
              </a:tr>
              <a:tr h="507559">
                <a:tc>
                  <a:txBody>
                    <a:bodyPr/>
                    <a:lstStyle/>
                    <a:p>
                      <a:pPr lvl="0" algn="l">
                        <a:lnSpc>
                          <a:spcPct val="100000"/>
                        </a:lnSpc>
                        <a:spcBef>
                          <a:spcPts val="0"/>
                        </a:spcBef>
                        <a:spcAft>
                          <a:spcPts val="0"/>
                        </a:spcAft>
                        <a:buNone/>
                      </a:pPr>
                      <a:r>
                        <a:rPr lang="en-US" sz="1100" b="0" i="0" u="none" strike="noStrike" kern="1200" noProof="0">
                          <a:solidFill>
                            <a:srgbClr val="000000"/>
                          </a:solidFill>
                          <a:latin typeface="Nunito Sans"/>
                          <a:ea typeface="+mn-ea"/>
                          <a:cs typeface="+mn-cs"/>
                        </a:rPr>
                        <a:t>HOTAC </a:t>
                      </a:r>
                    </a:p>
                  </a:txBody>
                  <a:tcPr anchor="ctr">
                    <a:lnL w="6350">
                      <a:solidFill>
                        <a:schemeClr val="bg1">
                          <a:lumMod val="75000"/>
                        </a:schemeClr>
                      </a:solidFill>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171450" marR="0" lvl="0" indent="-171450" algn="l">
                        <a:lnSpc>
                          <a:spcPct val="100000"/>
                        </a:lnSpc>
                        <a:buClr>
                          <a:srgbClr val="000000"/>
                        </a:buClr>
                        <a:buFont typeface="Arial,Sans-Serif"/>
                        <a:buChar char="•"/>
                      </a:pPr>
                      <a:r>
                        <a:rPr lang="en-IN" sz="1100" b="0" i="0" u="none" strike="noStrike" kern="1200" noProof="0">
                          <a:solidFill>
                            <a:srgbClr val="000000"/>
                          </a:solidFill>
                          <a:effectLst/>
                          <a:latin typeface="Nunito Sans"/>
                        </a:rPr>
                        <a:t>HOTAC integration to display hotel details directly within the roster</a:t>
                      </a:r>
                      <a:endParaRPr lang="en-IN" sz="1100" b="0" i="0" u="none" strike="noStrike" kern="1200" noProof="0">
                        <a:solidFill>
                          <a:srgbClr val="000000"/>
                        </a:solidFill>
                        <a:effectLst/>
                        <a:latin typeface="Nunito Sans"/>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lvl="0" indent="0" algn="l">
                        <a:lnSpc>
                          <a:spcPct val="100000"/>
                        </a:lnSpc>
                        <a:buNone/>
                      </a:pPr>
                      <a:r>
                        <a:rPr lang="en-US" sz="1100" b="0" i="0" u="none" strike="noStrike" kern="1200" noProof="0">
                          <a:solidFill>
                            <a:schemeClr val="tx1"/>
                          </a:solidFill>
                          <a:effectLst/>
                          <a:latin typeface="Nunito Sans"/>
                          <a:ea typeface="+mn-ea"/>
                          <a:cs typeface="+mn-cs"/>
                        </a:rPr>
                        <a:t>28-Aug</a:t>
                      </a:r>
                      <a:endParaRPr lang="en-US"/>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a:solidFill>
                        <a:schemeClr val="bg1">
                          <a:lumMod val="75000"/>
                        </a:schemeClr>
                      </a:solidFill>
                    </a:lnB>
                    <a:solidFill>
                      <a:schemeClr val="bg1"/>
                    </a:solidFill>
                  </a:tcPr>
                </a:tc>
                <a:tc>
                  <a:txBody>
                    <a:bodyPr/>
                    <a:lstStyle/>
                    <a:p>
                      <a:pPr marL="0" lvl="0" indent="0" algn="l">
                        <a:lnSpc>
                          <a:spcPct val="100000"/>
                        </a:lnSpc>
                        <a:buNone/>
                      </a:pPr>
                      <a:r>
                        <a:rPr lang="en-US" sz="1100" b="0" i="0" u="none" strike="noStrike" kern="1200" noProof="0">
                          <a:solidFill>
                            <a:schemeClr val="tx1"/>
                          </a:solidFill>
                          <a:effectLst/>
                          <a:latin typeface="Nunito Sans"/>
                          <a:ea typeface="+mn-ea"/>
                          <a:cs typeface="+mn-cs"/>
                          <a:hlinkClick r:id="rId4"/>
                        </a:rPr>
                        <a:t>Link</a:t>
                      </a:r>
                      <a:endParaRPr lang="en-US" sz="1100" b="0" i="0" u="none" strike="noStrike" kern="1200" noProof="0">
                        <a:solidFill>
                          <a:schemeClr val="tx1"/>
                        </a:solidFill>
                        <a:effectLst/>
                        <a:latin typeface="Nunito Sans"/>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a:solidFill>
                        <a:schemeClr val="bg1">
                          <a:lumMod val="75000"/>
                        </a:schemeClr>
                      </a:solidFill>
                    </a:lnB>
                    <a:solidFill>
                      <a:schemeClr val="bg1"/>
                    </a:solidFill>
                  </a:tcPr>
                </a:tc>
                <a:tc>
                  <a:txBody>
                    <a:bodyPr/>
                    <a:lstStyle/>
                    <a:p>
                      <a:pPr marL="0" lvl="0" indent="0" algn="l">
                        <a:lnSpc>
                          <a:spcPct val="100000"/>
                        </a:lnSpc>
                        <a:buNone/>
                      </a:pPr>
                      <a:endParaRPr lang="en-US" sz="1100" b="0" i="0" u="none" strike="noStrike" kern="1200" noProof="0">
                        <a:solidFill>
                          <a:schemeClr val="tx1"/>
                        </a:solidFill>
                        <a:effectLst/>
                        <a:latin typeface="Nunito Sans"/>
                        <a:ea typeface="+mn-ea"/>
                        <a:cs typeface="+mn-cs"/>
                      </a:endParaRPr>
                    </a:p>
                  </a:txBody>
                  <a:tcPr anchor="ctr">
                    <a:lnL w="6350" cap="flat" cmpd="sng" algn="ctr">
                      <a:solidFill>
                        <a:schemeClr val="bg1">
                          <a:lumMod val="75000"/>
                        </a:schemeClr>
                      </a:solidFill>
                      <a:prstDash val="solid"/>
                      <a:round/>
                      <a:headEnd type="none" w="med" len="med"/>
                      <a:tailEnd type="none" w="med" len="med"/>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542160441"/>
                  </a:ext>
                </a:extLst>
              </a:tr>
              <a:tr h="507559">
                <a:tc rowSpan="4">
                  <a:txBody>
                    <a:bodyPr/>
                    <a:lstStyle/>
                    <a:p>
                      <a:pPr lvl="0" algn="l">
                        <a:lnSpc>
                          <a:spcPct val="100000"/>
                        </a:lnSpc>
                        <a:spcBef>
                          <a:spcPts val="0"/>
                        </a:spcBef>
                        <a:spcAft>
                          <a:spcPts val="0"/>
                        </a:spcAft>
                        <a:buNone/>
                      </a:pPr>
                      <a:r>
                        <a:rPr lang="en-GB" sz="1100" b="0" i="0" u="none" strike="noStrike" kern="1200" noProof="0">
                          <a:solidFill>
                            <a:srgbClr val="000000"/>
                          </a:solidFill>
                        </a:rPr>
                        <a:t>Crew Data &amp;  Compliance Alignment </a:t>
                      </a:r>
                      <a:endParaRPr lang="en-US"/>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171450" marR="0" lvl="0" indent="-171450" algn="l">
                        <a:lnSpc>
                          <a:spcPct val="100000"/>
                        </a:lnSpc>
                        <a:spcBef>
                          <a:spcPts val="0"/>
                        </a:spcBef>
                        <a:spcAft>
                          <a:spcPts val="0"/>
                        </a:spcAft>
                        <a:buClr>
                          <a:srgbClr val="000000"/>
                        </a:buClr>
                        <a:buFont typeface="Arial,Sans-Serif"/>
                        <a:buChar char="•"/>
                      </a:pPr>
                      <a:r>
                        <a:rPr lang="en-US" sz="1100" b="0" i="0" u="none" strike="noStrike" kern="1200" noProof="0">
                          <a:solidFill>
                            <a:srgbClr val="000000"/>
                          </a:solidFill>
                          <a:effectLst/>
                          <a:latin typeface="Nunito Sans"/>
                        </a:rPr>
                        <a:t>Automated Seat Position Mapping for Pilots improving seat‑position accuracy by fetching real‑time CM data </a:t>
                      </a:r>
                      <a:endParaRPr lang="en-US" sz="1100" b="0" i="0" u="none" strike="noStrike" kern="1200" noProof="0">
                        <a:solidFill>
                          <a:srgbClr val="000000"/>
                        </a:solidFill>
                        <a:effectLst/>
                        <a:latin typeface="Nunito Sans"/>
                        <a:ea typeface="+mn-ea"/>
                        <a:cs typeface="+mn-cs"/>
                      </a:endParaRP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lvl="0" indent="0" algn="l">
                        <a:lnSpc>
                          <a:spcPct val="100000"/>
                        </a:lnSpc>
                        <a:spcBef>
                          <a:spcPts val="0"/>
                        </a:spcBef>
                        <a:spcAft>
                          <a:spcPts val="0"/>
                        </a:spcAft>
                        <a:buNone/>
                      </a:pPr>
                      <a:r>
                        <a:rPr lang="en-US" sz="1100" b="0" i="0" u="none" strike="noStrike" kern="1200" noProof="0">
                          <a:solidFill>
                            <a:schemeClr val="tx1"/>
                          </a:solidFill>
                          <a:effectLst/>
                          <a:latin typeface="Nunito Sans"/>
                          <a:ea typeface="+mn-ea"/>
                          <a:cs typeface="+mn-cs"/>
                        </a:rPr>
                        <a:t>28-Aug</a:t>
                      </a:r>
                      <a:endParaRPr lang="en-US"/>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solidFill>
                      <a:schemeClr val="bg1"/>
                    </a:solidFill>
                  </a:tcPr>
                </a:tc>
                <a:tc rowSpan="4">
                  <a:txBody>
                    <a:bodyPr/>
                    <a:lstStyle/>
                    <a:p>
                      <a:pPr marL="0" lvl="0" indent="0" algn="l">
                        <a:lnSpc>
                          <a:spcPct val="100000"/>
                        </a:lnSpc>
                        <a:spcBef>
                          <a:spcPts val="0"/>
                        </a:spcBef>
                        <a:spcAft>
                          <a:spcPts val="0"/>
                        </a:spcAft>
                        <a:buNone/>
                      </a:pPr>
                      <a:r>
                        <a:rPr lang="en-US" sz="1100" b="0" i="0" u="none" strike="noStrike" kern="1200" noProof="0">
                          <a:solidFill>
                            <a:schemeClr val="tx1"/>
                          </a:solidFill>
                          <a:effectLst/>
                          <a:latin typeface="Nunito Sans"/>
                          <a:ea typeface="+mn-ea"/>
                          <a:cs typeface="+mn-cs"/>
                          <a:hlinkClick r:id="rId5"/>
                        </a:rPr>
                        <a:t>Link</a:t>
                      </a:r>
                      <a:endParaRPr lang="en-US" sz="1100" b="0" i="0" u="none" strike="noStrike" kern="1200" noProof="0">
                        <a:solidFill>
                          <a:schemeClr val="tx1"/>
                        </a:solidFill>
                        <a:effectLst/>
                        <a:latin typeface="Nunito Sans"/>
                        <a:ea typeface="+mn-ea"/>
                        <a:cs typeface="+mn-cs"/>
                      </a:endParaRP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solidFill>
                      <a:schemeClr val="bg1"/>
                    </a:solidFill>
                  </a:tcPr>
                </a:tc>
                <a:tc rowSpan="4">
                  <a:txBody>
                    <a:bodyPr/>
                    <a:lstStyle/>
                    <a:p>
                      <a:pPr marL="0" lvl="0" indent="0" algn="l">
                        <a:lnSpc>
                          <a:spcPct val="100000"/>
                        </a:lnSpc>
                        <a:spcBef>
                          <a:spcPts val="0"/>
                        </a:spcBef>
                        <a:spcAft>
                          <a:spcPts val="0"/>
                        </a:spcAft>
                        <a:buNone/>
                      </a:pPr>
                      <a:endParaRPr lang="en-US" sz="1100" b="0" i="0" u="none" strike="noStrike" kern="1200" noProof="0">
                        <a:solidFill>
                          <a:schemeClr val="tx1"/>
                        </a:solidFill>
                        <a:effectLst/>
                        <a:latin typeface="Nunito Sans"/>
                        <a:ea typeface="+mn-ea"/>
                        <a:cs typeface="+mn-cs"/>
                      </a:endParaRPr>
                    </a:p>
                  </a:txBody>
                  <a:tcPr anchor="ctr">
                    <a:lnL w="6350">
                      <a:solidFill>
                        <a:schemeClr val="bg1">
                          <a:lumMod val="75000"/>
                        </a:schemeClr>
                      </a:solidFill>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520719314"/>
                  </a:ext>
                </a:extLst>
              </a:tr>
              <a:tr h="507559">
                <a:tc vMerge="1">
                  <a:txBody>
                    <a:bodyPr/>
                    <a:lstStyle/>
                    <a:p>
                      <a:endParaRPr lang="en-US"/>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171450" lvl="0" indent="-171450" algn="l">
                        <a:lnSpc>
                          <a:spcPct val="100000"/>
                        </a:lnSpc>
                        <a:spcBef>
                          <a:spcPts val="0"/>
                        </a:spcBef>
                        <a:spcAft>
                          <a:spcPts val="0"/>
                        </a:spcAft>
                        <a:buFont typeface="Arial"/>
                        <a:buChar char="•"/>
                      </a:pPr>
                      <a:r>
                        <a:rPr lang="en-US" sz="1100" b="0" i="0" u="none" strike="noStrike" kern="1200" noProof="0">
                          <a:solidFill>
                            <a:srgbClr val="000000"/>
                          </a:solidFill>
                          <a:effectLst/>
                          <a:highlight>
                            <a:srgbClr val="FFFFFF"/>
                          </a:highlight>
                          <a:latin typeface="Nunito Sans"/>
                          <a:ea typeface="+mn-ea"/>
                          <a:cs typeface="+mn-cs"/>
                        </a:rPr>
                        <a:t>Regulatory Role Mapping for PIC by Virtue &amp; P1/US - Ensures accurate identification of PIC By Virtue and P1/US roles using defined logic based on CM data</a:t>
                      </a:r>
                      <a:br>
                        <a:rPr lang="en-US" sz="1100">
                          <a:latin typeface="Nunito Sans"/>
                        </a:rPr>
                      </a:br>
                      <a:endParaRPr lang="en-US" sz="1100">
                        <a:latin typeface="Nunito Sans"/>
                      </a:endParaRP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lvl="0" indent="0" algn="l">
                        <a:lnSpc>
                          <a:spcPct val="100000"/>
                        </a:lnSpc>
                        <a:spcBef>
                          <a:spcPts val="0"/>
                        </a:spcBef>
                        <a:spcAft>
                          <a:spcPts val="0"/>
                        </a:spcAft>
                        <a:buNone/>
                      </a:pPr>
                      <a:r>
                        <a:rPr lang="en-US" sz="1100" b="0" i="0" u="none" strike="noStrike" kern="1200" noProof="0">
                          <a:solidFill>
                            <a:schemeClr val="tx1"/>
                          </a:solidFill>
                          <a:effectLst/>
                          <a:latin typeface="Nunito Sans"/>
                          <a:ea typeface="+mn-ea"/>
                          <a:cs typeface="+mn-cs"/>
                        </a:rPr>
                        <a:t>28-Aug</a:t>
                      </a:r>
                      <a:endParaRPr lang="en-US"/>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solidFill>
                      <a:schemeClr val="bg1"/>
                    </a:solidFill>
                  </a:tcPr>
                </a:tc>
                <a:tc vMerge="1">
                  <a:txBody>
                    <a:bodyPr/>
                    <a:lstStyle/>
                    <a:p>
                      <a:endParaRPr lang="en-US"/>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solidFill>
                      <a:schemeClr val="bg1"/>
                    </a:solidFill>
                  </a:tcPr>
                </a:tc>
                <a:tc vMerge="1">
                  <a:txBody>
                    <a:bodyPr/>
                    <a:lstStyle/>
                    <a:p>
                      <a:endParaRPr lang="en-IN"/>
                    </a:p>
                  </a:txBody>
                  <a:tcPr/>
                </a:tc>
                <a:extLst>
                  <a:ext uri="{0D108BD9-81ED-4DB2-BD59-A6C34878D82A}">
                    <a16:rowId xmlns:a16="http://schemas.microsoft.com/office/drawing/2014/main" val="3760823005"/>
                  </a:ext>
                </a:extLst>
              </a:tr>
              <a:tr h="507559">
                <a:tc vMerge="1">
                  <a:txBody>
                    <a:bodyPr/>
                    <a:lstStyle/>
                    <a:p>
                      <a:endParaRPr lang="en-US"/>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171450" lvl="0" indent="-171450" algn="l">
                        <a:lnSpc>
                          <a:spcPct val="100000"/>
                        </a:lnSpc>
                        <a:spcBef>
                          <a:spcPts val="0"/>
                        </a:spcBef>
                        <a:spcAft>
                          <a:spcPts val="0"/>
                        </a:spcAft>
                        <a:buFont typeface="Arial,Sans-Serif"/>
                        <a:buChar char="•"/>
                      </a:pPr>
                      <a:r>
                        <a:rPr lang="en-US" sz="1100" b="0" i="0" u="none" strike="noStrike" kern="1200" noProof="0">
                          <a:solidFill>
                            <a:srgbClr val="000000"/>
                          </a:solidFill>
                          <a:effectLst/>
                          <a:latin typeface="Nunito Sans"/>
                        </a:rPr>
                        <a:t>Shift‑Wise PIC &amp; Co‑Pilot Role Accuracy - Provides accurate PIC and Co‑Pilot role display per shift </a:t>
                      </a:r>
                      <a:endParaRPr lang="en-US" sz="1100" b="0" i="0" u="none" strike="noStrike" kern="1200" noProof="0">
                        <a:solidFill>
                          <a:srgbClr val="000000"/>
                        </a:solidFill>
                        <a:effectLst/>
                        <a:latin typeface="Nunito Sans"/>
                        <a:ea typeface="+mn-ea"/>
                        <a:cs typeface="+mn-cs"/>
                      </a:endParaRP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lvl="0" indent="0" algn="l">
                        <a:lnSpc>
                          <a:spcPct val="100000"/>
                        </a:lnSpc>
                        <a:spcBef>
                          <a:spcPts val="0"/>
                        </a:spcBef>
                        <a:spcAft>
                          <a:spcPts val="0"/>
                        </a:spcAft>
                        <a:buNone/>
                      </a:pPr>
                      <a:r>
                        <a:rPr lang="en-US" sz="1100" b="0" i="0" u="none" strike="noStrike" kern="1200" noProof="0">
                          <a:solidFill>
                            <a:schemeClr val="tx1"/>
                          </a:solidFill>
                          <a:effectLst/>
                          <a:latin typeface="Nunito Sans"/>
                          <a:ea typeface="+mn-ea"/>
                          <a:cs typeface="+mn-cs"/>
                        </a:rPr>
                        <a:t>28-Aug</a:t>
                      </a:r>
                      <a:endParaRPr lang="en-US"/>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solidFill>
                      <a:schemeClr val="bg1"/>
                    </a:solidFill>
                  </a:tcPr>
                </a:tc>
                <a:tc vMerge="1">
                  <a:txBody>
                    <a:bodyPr/>
                    <a:lstStyle/>
                    <a:p>
                      <a:endParaRPr lang="en-US"/>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solidFill>
                      <a:schemeClr val="bg1"/>
                    </a:solidFill>
                  </a:tcPr>
                </a:tc>
                <a:tc vMerge="1">
                  <a:txBody>
                    <a:bodyPr/>
                    <a:lstStyle/>
                    <a:p>
                      <a:endParaRPr lang="en-IN"/>
                    </a:p>
                  </a:txBody>
                  <a:tcPr/>
                </a:tc>
                <a:extLst>
                  <a:ext uri="{0D108BD9-81ED-4DB2-BD59-A6C34878D82A}">
                    <a16:rowId xmlns:a16="http://schemas.microsoft.com/office/drawing/2014/main" val="2079252439"/>
                  </a:ext>
                </a:extLst>
              </a:tr>
              <a:tr h="507559">
                <a:tc vMerge="1">
                  <a:txBody>
                    <a:bodyPr/>
                    <a:lstStyle/>
                    <a:p>
                      <a:endParaRPr lang="en-US"/>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171450" lvl="0" indent="-171450" algn="l">
                        <a:lnSpc>
                          <a:spcPct val="100000"/>
                        </a:lnSpc>
                        <a:spcBef>
                          <a:spcPts val="0"/>
                        </a:spcBef>
                        <a:spcAft>
                          <a:spcPts val="0"/>
                        </a:spcAft>
                        <a:buFont typeface="Arial,Sans-Serif"/>
                        <a:buChar char="•"/>
                      </a:pPr>
                      <a:r>
                        <a:rPr lang="en-US" sz="1100" b="0" i="0" u="none" strike="noStrike" kern="1200" noProof="0">
                          <a:solidFill>
                            <a:srgbClr val="000000"/>
                          </a:solidFill>
                          <a:effectLst/>
                          <a:latin typeface="Nunito Sans"/>
                          <a:ea typeface="+mn-ea"/>
                          <a:cs typeface="+mn-cs"/>
                        </a:rPr>
                        <a:t>Showing type of shift at shift level </a:t>
                      </a:r>
                      <a:r>
                        <a:rPr lang="en-US" sz="1100" b="0" i="0" u="none" strike="noStrike" kern="1200" noProof="0" err="1">
                          <a:solidFill>
                            <a:srgbClr val="000000"/>
                          </a:solidFill>
                          <a:effectLst/>
                          <a:latin typeface="Nunito Sans"/>
                          <a:ea typeface="+mn-ea"/>
                          <a:cs typeface="+mn-cs"/>
                        </a:rPr>
                        <a:t>ie</a:t>
                      </a:r>
                      <a:r>
                        <a:rPr lang="en-US" sz="1100" b="0" i="0" u="none" strike="noStrike" kern="1200" noProof="0">
                          <a:solidFill>
                            <a:srgbClr val="000000"/>
                          </a:solidFill>
                          <a:effectLst/>
                          <a:latin typeface="Nunito Sans"/>
                          <a:ea typeface="+mn-ea"/>
                          <a:cs typeface="+mn-cs"/>
                        </a:rPr>
                        <a:t> – Gen/Line Flying or Training</a:t>
                      </a: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lvl="0" indent="0" algn="l">
                        <a:lnSpc>
                          <a:spcPct val="100000"/>
                        </a:lnSpc>
                        <a:spcBef>
                          <a:spcPts val="0"/>
                        </a:spcBef>
                        <a:spcAft>
                          <a:spcPts val="0"/>
                        </a:spcAft>
                        <a:buNone/>
                      </a:pPr>
                      <a:r>
                        <a:rPr lang="en-US" sz="1100" b="0" i="0" u="none" strike="noStrike" kern="1200" noProof="0">
                          <a:solidFill>
                            <a:schemeClr val="tx1"/>
                          </a:solidFill>
                          <a:effectLst/>
                          <a:latin typeface="Nunito Sans"/>
                          <a:ea typeface="+mn-ea"/>
                          <a:cs typeface="+mn-cs"/>
                        </a:rPr>
                        <a:t>28-Aug</a:t>
                      </a:r>
                      <a:endParaRPr lang="en-US"/>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solidFill>
                      <a:schemeClr val="bg1"/>
                    </a:solidFill>
                  </a:tcPr>
                </a:tc>
                <a:tc vMerge="1">
                  <a:txBody>
                    <a:bodyPr/>
                    <a:lstStyle/>
                    <a:p>
                      <a:endParaRPr lang="en-US"/>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solidFill>
                      <a:schemeClr val="bg1"/>
                    </a:solidFill>
                  </a:tcPr>
                </a:tc>
                <a:tc vMerge="1">
                  <a:txBody>
                    <a:bodyPr/>
                    <a:lstStyle/>
                    <a:p>
                      <a:endParaRPr lang="en-IN"/>
                    </a:p>
                  </a:txBody>
                  <a:tcPr/>
                </a:tc>
                <a:extLst>
                  <a:ext uri="{0D108BD9-81ED-4DB2-BD59-A6C34878D82A}">
                    <a16:rowId xmlns:a16="http://schemas.microsoft.com/office/drawing/2014/main" val="266033386"/>
                  </a:ext>
                </a:extLst>
              </a:tr>
            </a:tbl>
          </a:graphicData>
        </a:graphic>
      </p:graphicFrame>
      <p:sp>
        <p:nvSpPr>
          <p:cNvPr id="26" name="TextBox 25">
            <a:extLst>
              <a:ext uri="{FF2B5EF4-FFF2-40B4-BE49-F238E27FC236}">
                <a16:creationId xmlns:a16="http://schemas.microsoft.com/office/drawing/2014/main" id="{43168755-569B-5D05-3CF4-EC23FEF9102F}"/>
              </a:ext>
            </a:extLst>
          </p:cNvPr>
          <p:cNvSpPr txBox="1"/>
          <p:nvPr/>
        </p:nvSpPr>
        <p:spPr>
          <a:xfrm>
            <a:off x="343955" y="3897931"/>
            <a:ext cx="417102" cy="253916"/>
          </a:xfrm>
          <a:prstGeom prst="rect">
            <a:avLst/>
          </a:prstGeom>
          <a:noFill/>
        </p:spPr>
        <p:txBody>
          <a:bodyPr wrap="none" lIns="91440" tIns="45720" rIns="91440" bIns="45720" rtlCol="0" anchor="t">
            <a:spAutoFit/>
          </a:bodyPr>
          <a:lstStyle/>
          <a:p>
            <a:r>
              <a:rPr lang="en-IN" sz="1050" b="1">
                <a:solidFill>
                  <a:schemeClr val="bg1"/>
                </a:solidFill>
                <a:latin typeface="Montserrat Light"/>
              </a:rPr>
              <a:t>Jan</a:t>
            </a:r>
            <a:endParaRPr lang="en-IN" sz="1050" b="1">
              <a:solidFill>
                <a:schemeClr val="bg1"/>
              </a:solidFill>
              <a:latin typeface="Montserrat Light" pitchFamily="2" charset="0"/>
            </a:endParaRPr>
          </a:p>
        </p:txBody>
      </p:sp>
      <p:sp>
        <p:nvSpPr>
          <p:cNvPr id="27" name="TextBox 15">
            <a:extLst>
              <a:ext uri="{FF2B5EF4-FFF2-40B4-BE49-F238E27FC236}">
                <a16:creationId xmlns:a16="http://schemas.microsoft.com/office/drawing/2014/main" id="{D31CB7C1-E191-D047-AB8F-AD8A70542E96}"/>
              </a:ext>
            </a:extLst>
          </p:cNvPr>
          <p:cNvSpPr txBox="1"/>
          <p:nvPr/>
        </p:nvSpPr>
        <p:spPr>
          <a:xfrm>
            <a:off x="398384" y="817274"/>
            <a:ext cx="417102" cy="253916"/>
          </a:xfrm>
          <a:prstGeom prst="rect">
            <a:avLst/>
          </a:prstGeom>
          <a:noFill/>
        </p:spPr>
        <p:txBody>
          <a:bodyPr wrap="non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050" b="1">
                <a:solidFill>
                  <a:schemeClr val="bg1"/>
                </a:solidFill>
                <a:latin typeface="Montserrat Light"/>
              </a:rPr>
              <a:t>Jan</a:t>
            </a:r>
            <a:endParaRPr lang="en-IN" sz="1050" b="1">
              <a:solidFill>
                <a:schemeClr val="bg1"/>
              </a:solidFill>
              <a:latin typeface="Montserrat Light" pitchFamily="2" charset="0"/>
            </a:endParaRPr>
          </a:p>
        </p:txBody>
      </p:sp>
      <p:sp>
        <p:nvSpPr>
          <p:cNvPr id="29" name="Rectangle 28">
            <a:extLst>
              <a:ext uri="{FF2B5EF4-FFF2-40B4-BE49-F238E27FC236}">
                <a16:creationId xmlns:a16="http://schemas.microsoft.com/office/drawing/2014/main" id="{AFD79EEE-AE31-8270-DDC0-BCD8E777DB91}"/>
              </a:ext>
            </a:extLst>
          </p:cNvPr>
          <p:cNvSpPr/>
          <p:nvPr/>
        </p:nvSpPr>
        <p:spPr>
          <a:xfrm>
            <a:off x="-4474" y="793560"/>
            <a:ext cx="1067526" cy="42234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IN" sz="1400" b="1">
                <a:latin typeface="AirIndia"/>
              </a:rPr>
              <a:t>Aug ‘26</a:t>
            </a:r>
            <a:endParaRPr lang="en-US"/>
          </a:p>
        </p:txBody>
      </p:sp>
      <p:pic>
        <p:nvPicPr>
          <p:cNvPr id="34" name="Picture 33">
            <a:extLst>
              <a:ext uri="{FF2B5EF4-FFF2-40B4-BE49-F238E27FC236}">
                <a16:creationId xmlns:a16="http://schemas.microsoft.com/office/drawing/2014/main" id="{0FCD0176-958F-F642-E57A-9FC8CA8F23F5}"/>
              </a:ext>
            </a:extLst>
          </p:cNvPr>
          <p:cNvPicPr>
            <a:picLocks noChangeAspect="1"/>
          </p:cNvPicPr>
          <p:nvPr/>
        </p:nvPicPr>
        <p:blipFill>
          <a:blip r:embed="rId6"/>
          <a:stretch>
            <a:fillRect/>
          </a:stretch>
        </p:blipFill>
        <p:spPr>
          <a:xfrm>
            <a:off x="306161" y="6532789"/>
            <a:ext cx="8248650" cy="323850"/>
          </a:xfrm>
          <a:prstGeom prst="rect">
            <a:avLst/>
          </a:prstGeom>
        </p:spPr>
      </p:pic>
    </p:spTree>
    <p:extLst>
      <p:ext uri="{BB962C8B-B14F-4D97-AF65-F5344CB8AC3E}">
        <p14:creationId xmlns:p14="http://schemas.microsoft.com/office/powerpoint/2010/main" val="2402137252"/>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852E77-A1AD-A736-5373-00D93DE280E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0234EF6-5D4A-D07F-B020-DBE7676042DF}"/>
              </a:ext>
            </a:extLst>
          </p:cNvPr>
          <p:cNvSpPr>
            <a:spLocks noGrp="1"/>
          </p:cNvSpPr>
          <p:nvPr>
            <p:ph type="sldNum" sz="quarter" idx="12"/>
          </p:nvPr>
        </p:nvSpPr>
        <p:spPr/>
        <p:txBody>
          <a:bodyPr/>
          <a:lstStyle/>
          <a:p>
            <a:fld id="{3A41A254-7326-714E-AF55-4C213D6394DE}" type="slidenum">
              <a:rPr lang="en-US" sz="900" smtClean="0">
                <a:latin typeface="Montserrat Light" pitchFamily="2" charset="0"/>
              </a:rPr>
              <a:pPr/>
              <a:t>87</a:t>
            </a:fld>
            <a:endParaRPr lang="en-US" sz="900">
              <a:latin typeface="Montserrat Light" pitchFamily="2" charset="0"/>
            </a:endParaRPr>
          </a:p>
        </p:txBody>
      </p:sp>
      <p:sp>
        <p:nvSpPr>
          <p:cNvPr id="6" name="Title 11">
            <a:extLst>
              <a:ext uri="{FF2B5EF4-FFF2-40B4-BE49-F238E27FC236}">
                <a16:creationId xmlns:a16="http://schemas.microsoft.com/office/drawing/2014/main" id="{81FD1891-30F4-0AAC-C83A-8334E5376E7A}"/>
              </a:ext>
            </a:extLst>
          </p:cNvPr>
          <p:cNvSpPr txBox="1">
            <a:spLocks/>
          </p:cNvSpPr>
          <p:nvPr/>
        </p:nvSpPr>
        <p:spPr>
          <a:xfrm>
            <a:off x="304800" y="269218"/>
            <a:ext cx="8420100" cy="396638"/>
          </a:xfrm>
          <a:prstGeom prst="rect">
            <a:avLst/>
          </a:prstGeom>
        </p:spPr>
        <p:txBody>
          <a:bodyPr lIns="91440" tIns="45720" rIns="91440" bIns="45720" anchor="t">
            <a:noAutofit/>
          </a:bodyPr>
          <a:lstStyle>
            <a:lvl1pPr algn="l" defTabSz="914400" rtl="0" eaLnBrk="1" latinLnBrk="0" hangingPunct="1">
              <a:lnSpc>
                <a:spcPct val="90000"/>
              </a:lnSpc>
              <a:spcBef>
                <a:spcPct val="0"/>
              </a:spcBef>
              <a:buNone/>
              <a:defRPr sz="4400" b="1" i="0" kern="1200">
                <a:solidFill>
                  <a:schemeClr val="tx1"/>
                </a:solidFill>
                <a:latin typeface="AirIndia" pitchFamily="82" charset="77"/>
                <a:ea typeface="+mj-ea"/>
                <a:cs typeface="+mj-cs"/>
              </a:defRPr>
            </a:lvl1pPr>
          </a:lstStyle>
          <a:p>
            <a:r>
              <a:rPr lang="en-US" sz="1800">
                <a:solidFill>
                  <a:srgbClr val="C00000"/>
                </a:solidFill>
                <a:latin typeface="AirIndia"/>
              </a:rPr>
              <a:t>AIFP - FY27 Q2 Release Plan </a:t>
            </a:r>
            <a:endParaRPr lang="en-US" sz="1800" b="0">
              <a:solidFill>
                <a:srgbClr val="000000"/>
              </a:solidFill>
              <a:latin typeface="AirIndia"/>
            </a:endParaRPr>
          </a:p>
          <a:p>
            <a:endParaRPr lang="en-US" sz="1800">
              <a:solidFill>
                <a:srgbClr val="C00000"/>
              </a:solidFill>
              <a:latin typeface="AirIndia"/>
            </a:endParaRPr>
          </a:p>
          <a:p>
            <a:endParaRPr lang="en-US" sz="1800">
              <a:solidFill>
                <a:srgbClr val="C00000"/>
              </a:solidFill>
              <a:latin typeface="AirIndia"/>
            </a:endParaRPr>
          </a:p>
        </p:txBody>
      </p:sp>
      <p:graphicFrame>
        <p:nvGraphicFramePr>
          <p:cNvPr id="4" name="Table 3">
            <a:extLst>
              <a:ext uri="{FF2B5EF4-FFF2-40B4-BE49-F238E27FC236}">
                <a16:creationId xmlns:a16="http://schemas.microsoft.com/office/drawing/2014/main" id="{EAC011BE-9B23-8ECD-2312-1C322632D73E}"/>
              </a:ext>
            </a:extLst>
          </p:cNvPr>
          <p:cNvGraphicFramePr>
            <a:graphicFrameLocks noGrp="1"/>
          </p:cNvGraphicFramePr>
          <p:nvPr>
            <p:extLst>
              <p:ext uri="{D42A27DB-BD31-4B8C-83A1-F6EECF244321}">
                <p14:modId xmlns:p14="http://schemas.microsoft.com/office/powerpoint/2010/main" val="3536585134"/>
              </p:ext>
            </p:extLst>
          </p:nvPr>
        </p:nvGraphicFramePr>
        <p:xfrm>
          <a:off x="1090848" y="792699"/>
          <a:ext cx="10702767" cy="1783080"/>
        </p:xfrm>
        <a:graphic>
          <a:graphicData uri="http://schemas.openxmlformats.org/drawingml/2006/table">
            <a:tbl>
              <a:tblPr firstRow="1" bandRow="1">
                <a:tableStyleId>{5C22544A-7EE6-4342-B048-85BDC9FD1C3A}</a:tableStyleId>
              </a:tblPr>
              <a:tblGrid>
                <a:gridCol w="1214010">
                  <a:extLst>
                    <a:ext uri="{9D8B030D-6E8A-4147-A177-3AD203B41FA5}">
                      <a16:colId xmlns:a16="http://schemas.microsoft.com/office/drawing/2014/main" val="1118630623"/>
                    </a:ext>
                  </a:extLst>
                </a:gridCol>
                <a:gridCol w="6540639">
                  <a:extLst>
                    <a:ext uri="{9D8B030D-6E8A-4147-A177-3AD203B41FA5}">
                      <a16:colId xmlns:a16="http://schemas.microsoft.com/office/drawing/2014/main" val="99588705"/>
                    </a:ext>
                  </a:extLst>
                </a:gridCol>
                <a:gridCol w="982706">
                  <a:extLst>
                    <a:ext uri="{9D8B030D-6E8A-4147-A177-3AD203B41FA5}">
                      <a16:colId xmlns:a16="http://schemas.microsoft.com/office/drawing/2014/main" val="4278227373"/>
                    </a:ext>
                  </a:extLst>
                </a:gridCol>
                <a:gridCol w="744547">
                  <a:extLst>
                    <a:ext uri="{9D8B030D-6E8A-4147-A177-3AD203B41FA5}">
                      <a16:colId xmlns:a16="http://schemas.microsoft.com/office/drawing/2014/main" val="1344606147"/>
                    </a:ext>
                  </a:extLst>
                </a:gridCol>
                <a:gridCol w="1220865">
                  <a:extLst>
                    <a:ext uri="{9D8B030D-6E8A-4147-A177-3AD203B41FA5}">
                      <a16:colId xmlns:a16="http://schemas.microsoft.com/office/drawing/2014/main" val="411392329"/>
                    </a:ext>
                  </a:extLst>
                </a:gridCol>
              </a:tblGrid>
              <a:tr h="286112">
                <a:tc>
                  <a:txBody>
                    <a:bodyPr/>
                    <a:lstStyle/>
                    <a:p>
                      <a:pPr marL="0" lvl="0" indent="0" algn="ctr" defTabSz="914400">
                        <a:lnSpc>
                          <a:spcPct val="100000"/>
                        </a:lnSpc>
                        <a:buNone/>
                      </a:pPr>
                      <a:r>
                        <a:rPr lang="en-IN" sz="1100" b="1" i="0" u="none" strike="noStrike" kern="1200" noProof="0">
                          <a:solidFill>
                            <a:schemeClr val="bg1"/>
                          </a:solidFill>
                          <a:latin typeface="Avenir Next LT Pro Light"/>
                          <a:ea typeface="+mn-ea"/>
                          <a:cs typeface="+mn-cs"/>
                        </a:rPr>
                        <a:t>Projects</a:t>
                      </a:r>
                      <a:endParaRPr lang="en-US"/>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solidFill>
                      <a:srgbClr val="002060"/>
                    </a:solidFill>
                  </a:tcPr>
                </a:tc>
                <a:tc>
                  <a:txBody>
                    <a:bodyPr/>
                    <a:lstStyle/>
                    <a:p>
                      <a:pPr lvl="0" algn="ctr">
                        <a:lnSpc>
                          <a:spcPct val="100000"/>
                        </a:lnSpc>
                        <a:spcBef>
                          <a:spcPts val="0"/>
                        </a:spcBef>
                        <a:spcAft>
                          <a:spcPts val="0"/>
                        </a:spcAft>
                        <a:buNone/>
                      </a:pPr>
                      <a:r>
                        <a:rPr lang="en-IN" sz="1100" b="1" i="0" u="none" strike="noStrike" kern="1200" noProof="0">
                          <a:solidFill>
                            <a:srgbClr val="FFFFFF"/>
                          </a:solidFill>
                          <a:latin typeface="Nunito Sans"/>
                          <a:ea typeface="+mn-ea"/>
                          <a:cs typeface="+mn-cs"/>
                        </a:rPr>
                        <a:t>Value Justification/Realization</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002060"/>
                    </a:solidFill>
                  </a:tcPr>
                </a:tc>
                <a:tc>
                  <a:txBody>
                    <a:bodyPr/>
                    <a:lstStyle/>
                    <a:p>
                      <a:pPr marL="0" lvl="0" indent="0" algn="ctr">
                        <a:buNone/>
                      </a:pPr>
                      <a:r>
                        <a:rPr lang="en-IN" sz="1050" kern="1200">
                          <a:solidFill>
                            <a:schemeClr val="bg1"/>
                          </a:solidFill>
                          <a:latin typeface="Avenir Next LT Pro Light"/>
                          <a:ea typeface="+mn-ea"/>
                          <a:cs typeface="+mn-cs"/>
                        </a:rPr>
                        <a:t>Planned Go-live date</a:t>
                      </a: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a:solidFill>
                        <a:schemeClr val="bg1">
                          <a:lumMod val="75000"/>
                        </a:schemeClr>
                      </a:solidFill>
                    </a:lnB>
                    <a:solidFill>
                      <a:srgbClr val="002060"/>
                    </a:solidFill>
                  </a:tcPr>
                </a:tc>
                <a:tc>
                  <a:txBody>
                    <a:bodyPr/>
                    <a:lstStyle/>
                    <a:p>
                      <a:pPr lvl="0" algn="ctr">
                        <a:lnSpc>
                          <a:spcPct val="100000"/>
                        </a:lnSpc>
                        <a:spcBef>
                          <a:spcPts val="0"/>
                        </a:spcBef>
                        <a:spcAft>
                          <a:spcPts val="0"/>
                        </a:spcAft>
                        <a:buNone/>
                      </a:pPr>
                      <a:r>
                        <a:rPr lang="en-IN" sz="1100" b="1" i="0" u="none" strike="noStrike" kern="1200" noProof="0">
                          <a:solidFill>
                            <a:schemeClr val="bg1"/>
                          </a:solidFill>
                          <a:latin typeface="Avenir Next LT Pro Light"/>
                          <a:ea typeface="+mn-ea"/>
                          <a:cs typeface="+mn-cs"/>
                        </a:rPr>
                        <a:t>JIRA</a:t>
                      </a:r>
                      <a:endParaRPr lang="en-IN" sz="1100" b="1" i="0" u="none" strike="noStrike" kern="1200" noProof="0">
                        <a:solidFill>
                          <a:srgbClr val="FFFFFF"/>
                        </a:solidFill>
                        <a:latin typeface="Avenir Next LT Pro Light"/>
                        <a:ea typeface="+mn-ea"/>
                        <a:cs typeface="+mn-cs"/>
                      </a:endParaRP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a:solidFill>
                        <a:schemeClr val="bg1">
                          <a:lumMod val="75000"/>
                        </a:schemeClr>
                      </a:solidFill>
                    </a:lnB>
                    <a:solidFill>
                      <a:srgbClr val="002060"/>
                    </a:solidFill>
                  </a:tcPr>
                </a:tc>
                <a:tc>
                  <a:txBody>
                    <a:bodyPr/>
                    <a:lstStyle/>
                    <a:p>
                      <a:pPr lvl="0" algn="ctr">
                        <a:lnSpc>
                          <a:spcPct val="100000"/>
                        </a:lnSpc>
                        <a:spcBef>
                          <a:spcPts val="0"/>
                        </a:spcBef>
                        <a:spcAft>
                          <a:spcPts val="0"/>
                        </a:spcAft>
                        <a:buNone/>
                      </a:pPr>
                      <a:r>
                        <a:rPr lang="en-IN" sz="1100" b="1" i="0" u="none" strike="noStrike" kern="1200" noProof="0">
                          <a:solidFill>
                            <a:srgbClr val="FFFFFF"/>
                          </a:solidFill>
                          <a:latin typeface="Avenir Next LT Pro Light"/>
                          <a:ea typeface="+mn-ea"/>
                          <a:cs typeface="+mn-cs"/>
                        </a:rPr>
                        <a:t>EIP Integration Required (Yes/No)</a:t>
                      </a:r>
                    </a:p>
                  </a:txBody>
                  <a:tcPr anchor="ct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solidFill>
                      <a:srgbClr val="002060"/>
                    </a:solidFill>
                  </a:tcPr>
                </a:tc>
                <a:extLst>
                  <a:ext uri="{0D108BD9-81ED-4DB2-BD59-A6C34878D82A}">
                    <a16:rowId xmlns:a16="http://schemas.microsoft.com/office/drawing/2014/main" val="844450115"/>
                  </a:ext>
                </a:extLst>
              </a:tr>
              <a:tr h="507559">
                <a:tc>
                  <a:txBody>
                    <a:bodyPr/>
                    <a:lstStyle/>
                    <a:p>
                      <a:pPr lvl="0" algn="l">
                        <a:lnSpc>
                          <a:spcPct val="100000"/>
                        </a:lnSpc>
                        <a:spcBef>
                          <a:spcPts val="0"/>
                        </a:spcBef>
                        <a:spcAft>
                          <a:spcPts val="0"/>
                        </a:spcAft>
                        <a:buNone/>
                      </a:pPr>
                      <a:r>
                        <a:rPr lang="en-IN" sz="1100" b="0" i="0" u="none" strike="noStrike" kern="1200" noProof="0">
                          <a:solidFill>
                            <a:srgbClr val="000000"/>
                          </a:solidFill>
                          <a:latin typeface="Nunito Sans"/>
                        </a:rPr>
                        <a:t>Error Report flow for Flight data</a:t>
                      </a:r>
                      <a:endParaRPr lang="en-US" sz="1100">
                        <a:latin typeface="Nunito Sans"/>
                      </a:endParaRPr>
                    </a:p>
                  </a:txBody>
                  <a:tcPr anchor="ctr">
                    <a:lnL w="6350">
                      <a:solidFill>
                        <a:schemeClr val="bg1">
                          <a:lumMod val="75000"/>
                        </a:schemeClr>
                      </a:solidFill>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171450" marR="0" lvl="0" indent="-171450" algn="l" rtl="0">
                        <a:lnSpc>
                          <a:spcPct val="100000"/>
                        </a:lnSpc>
                        <a:spcBef>
                          <a:spcPts val="0"/>
                        </a:spcBef>
                        <a:spcAft>
                          <a:spcPts val="0"/>
                        </a:spcAft>
                        <a:buClr>
                          <a:srgbClr val="000000"/>
                        </a:buClr>
                        <a:buSzTx/>
                        <a:buFont typeface="Arial,Sans-Serif"/>
                        <a:buChar char="•"/>
                      </a:pPr>
                      <a:r>
                        <a:rPr lang="en-GB" sz="1100" b="0" i="0" u="none" strike="noStrike" noProof="0">
                          <a:latin typeface="Nunito Sans"/>
                        </a:rPr>
                        <a:t>Enhanced Error Reporting Flow for Flight and Crew Data allows pilots to submit error reports before departure, ensuring corrections are made prior to arrival and enabling accurate PSR submission ( Service Now Integration)</a:t>
                      </a:r>
                      <a:endParaRPr lang="en-GB" sz="1100">
                        <a:latin typeface="Nunito Sans"/>
                      </a:endParaRP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a:solidFill>
                        <a:schemeClr val="bg1">
                          <a:lumMod val="75000"/>
                        </a:schemeClr>
                      </a:solidFill>
                    </a:lnB>
                    <a:solidFill>
                      <a:schemeClr val="bg1"/>
                    </a:solidFill>
                  </a:tcPr>
                </a:tc>
                <a:tc>
                  <a:txBody>
                    <a:bodyPr/>
                    <a:lstStyle/>
                    <a:p>
                      <a:pPr marL="0" lvl="0" indent="0" algn="l">
                        <a:lnSpc>
                          <a:spcPct val="100000"/>
                        </a:lnSpc>
                        <a:spcBef>
                          <a:spcPts val="0"/>
                        </a:spcBef>
                        <a:spcAft>
                          <a:spcPts val="0"/>
                        </a:spcAft>
                        <a:buNone/>
                      </a:pPr>
                      <a:r>
                        <a:rPr lang="en-US" sz="1100" b="0" i="0" u="none" strike="noStrike" kern="1200" noProof="0">
                          <a:solidFill>
                            <a:schemeClr val="tx1"/>
                          </a:solidFill>
                          <a:effectLst/>
                          <a:latin typeface="Nunito Sans"/>
                          <a:ea typeface="+mn-ea"/>
                          <a:cs typeface="+mn-cs"/>
                        </a:rPr>
                        <a:t>28-Sep</a:t>
                      </a: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a:solidFill>
                        <a:schemeClr val="bg1">
                          <a:lumMod val="75000"/>
                        </a:schemeClr>
                      </a:solidFill>
                    </a:lnB>
                    <a:solidFill>
                      <a:schemeClr val="bg1"/>
                    </a:solidFill>
                  </a:tcPr>
                </a:tc>
                <a:tc>
                  <a:txBody>
                    <a:bodyPr/>
                    <a:lstStyle/>
                    <a:p>
                      <a:pPr marL="0" lvl="0" indent="0" algn="l">
                        <a:lnSpc>
                          <a:spcPct val="100000"/>
                        </a:lnSpc>
                        <a:spcBef>
                          <a:spcPts val="0"/>
                        </a:spcBef>
                        <a:spcAft>
                          <a:spcPts val="0"/>
                        </a:spcAft>
                        <a:buNone/>
                      </a:pPr>
                      <a:r>
                        <a:rPr lang="en-US" sz="1100" b="0" i="0" u="none" strike="noStrike" kern="1200" noProof="0">
                          <a:solidFill>
                            <a:schemeClr val="tx1"/>
                          </a:solidFill>
                          <a:effectLst/>
                          <a:latin typeface="Nunito Sans"/>
                          <a:ea typeface="+mn-ea"/>
                          <a:cs typeface="+mn-cs"/>
                          <a:hlinkClick r:id="rId3"/>
                        </a:rPr>
                        <a:t>Link</a:t>
                      </a:r>
                      <a:endParaRPr lang="en-US" sz="1100" b="0" i="0" u="none" strike="noStrike" kern="1200" noProof="0">
                        <a:solidFill>
                          <a:schemeClr val="tx1"/>
                        </a:solidFill>
                        <a:effectLst/>
                        <a:latin typeface="Nunito Sans"/>
                        <a:ea typeface="+mn-ea"/>
                        <a:cs typeface="+mn-cs"/>
                      </a:endParaRP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a:solidFill>
                        <a:schemeClr val="bg1">
                          <a:lumMod val="75000"/>
                        </a:schemeClr>
                      </a:solidFill>
                    </a:lnT>
                    <a:lnB w="6350">
                      <a:solidFill>
                        <a:schemeClr val="bg1">
                          <a:lumMod val="75000"/>
                        </a:schemeClr>
                      </a:solidFill>
                    </a:lnB>
                    <a:solidFill>
                      <a:schemeClr val="bg1"/>
                    </a:solidFill>
                  </a:tcPr>
                </a:tc>
                <a:tc>
                  <a:txBody>
                    <a:bodyPr/>
                    <a:lstStyle/>
                    <a:p>
                      <a:pPr marL="0" lvl="0" indent="0" algn="l">
                        <a:lnSpc>
                          <a:spcPct val="100000"/>
                        </a:lnSpc>
                        <a:spcBef>
                          <a:spcPts val="0"/>
                        </a:spcBef>
                        <a:spcAft>
                          <a:spcPts val="0"/>
                        </a:spcAft>
                        <a:buNone/>
                      </a:pPr>
                      <a:endParaRPr lang="en-US" sz="1100" b="0" i="0" u="none" strike="noStrike" kern="1200" noProof="0">
                        <a:solidFill>
                          <a:schemeClr val="tx1"/>
                        </a:solidFill>
                        <a:effectLst/>
                        <a:latin typeface="Nunito Sans"/>
                        <a:ea typeface="+mn-ea"/>
                        <a:cs typeface="+mn-cs"/>
                      </a:endParaRPr>
                    </a:p>
                  </a:txBody>
                  <a:tcPr anchor="ctr">
                    <a:lnL w="6350">
                      <a:solidFill>
                        <a:schemeClr val="bg1">
                          <a:lumMod val="75000"/>
                        </a:schemeClr>
                      </a:solidFill>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951168155"/>
                  </a:ext>
                </a:extLst>
              </a:tr>
              <a:tr h="507559">
                <a:tc>
                  <a:txBody>
                    <a:bodyPr/>
                    <a:lstStyle/>
                    <a:p>
                      <a:pPr lvl="0" algn="l">
                        <a:lnSpc>
                          <a:spcPct val="100000"/>
                        </a:lnSpc>
                        <a:spcBef>
                          <a:spcPts val="0"/>
                        </a:spcBef>
                        <a:spcAft>
                          <a:spcPts val="0"/>
                        </a:spcAft>
                        <a:buNone/>
                      </a:pPr>
                      <a:r>
                        <a:rPr lang="en-US" sz="1100" b="0" i="0" u="none" strike="noStrike" kern="1200" noProof="0">
                          <a:solidFill>
                            <a:srgbClr val="000000"/>
                          </a:solidFill>
                          <a:latin typeface="Nunito Sans"/>
                        </a:rPr>
                        <a:t>Approval Flow for Pilots </a:t>
                      </a:r>
                      <a:endParaRPr lang="en-US" sz="1100">
                        <a:latin typeface="Nunito Sans"/>
                      </a:endParaRPr>
                    </a:p>
                  </a:txBody>
                  <a:tcPr anchor="ct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lvl="0" indent="0" algn="l">
                        <a:lnSpc>
                          <a:spcPct val="100000"/>
                        </a:lnSpc>
                        <a:spcBef>
                          <a:spcPts val="0"/>
                        </a:spcBef>
                        <a:spcAft>
                          <a:spcPts val="0"/>
                        </a:spcAft>
                        <a:buClr>
                          <a:srgbClr val="000000"/>
                        </a:buClr>
                        <a:buFont typeface="Arial"/>
                        <a:buChar char="•"/>
                      </a:pPr>
                      <a:r>
                        <a:rPr lang="en-IN" sz="1100" b="0" i="0" u="none" strike="noStrike" kern="1200" noProof="0">
                          <a:solidFill>
                            <a:srgbClr val="000000"/>
                          </a:solidFill>
                          <a:effectLst/>
                          <a:highlight>
                            <a:srgbClr val="FFFFFF"/>
                          </a:highlight>
                          <a:latin typeface="Nunito Sans"/>
                          <a:ea typeface="+mn-ea"/>
                          <a:cs typeface="+mn-cs"/>
                        </a:rPr>
                        <a:t>Allows the PSR to be submitted by one pilot and reviewed by all other pilots on the flight </a:t>
                      </a:r>
                      <a:endParaRPr lang="en-IN" sz="1100" b="0" i="0" u="none" strike="noStrike" kern="1200" noProof="0">
                        <a:solidFill>
                          <a:srgbClr val="000000"/>
                        </a:solidFill>
                        <a:effectLst/>
                        <a:latin typeface="Nunito Sans"/>
                        <a:ea typeface="+mn-ea"/>
                        <a:cs typeface="+mn-cs"/>
                      </a:endParaRPr>
                    </a:p>
                    <a:p>
                      <a:pPr marL="0" lvl="0" indent="0" algn="l">
                        <a:lnSpc>
                          <a:spcPct val="100000"/>
                        </a:lnSpc>
                        <a:spcBef>
                          <a:spcPts val="0"/>
                        </a:spcBef>
                        <a:spcAft>
                          <a:spcPts val="0"/>
                        </a:spcAft>
                        <a:buClr>
                          <a:srgbClr val="000000"/>
                        </a:buClr>
                        <a:buFont typeface="Arial"/>
                        <a:buChar char="•"/>
                      </a:pPr>
                      <a:r>
                        <a:rPr lang="en-IN" sz="1100" b="0" i="0" u="none" strike="noStrike" kern="1200" noProof="0">
                          <a:solidFill>
                            <a:srgbClr val="000000"/>
                          </a:solidFill>
                          <a:effectLst/>
                          <a:highlight>
                            <a:srgbClr val="FFFFFF"/>
                          </a:highlight>
                          <a:latin typeface="Nunito Sans"/>
                          <a:ea typeface="+mn-ea"/>
                          <a:cs typeface="+mn-cs"/>
                        </a:rPr>
                        <a:t>Providing Push and email notifications to Pilots for submission, resubmission flow and missing PSR</a:t>
                      </a:r>
                      <a:endParaRPr lang="en-IN" sz="1100">
                        <a:latin typeface="Nunito Sans"/>
                      </a:endParaRPr>
                    </a:p>
                    <a:p>
                      <a:pPr marL="171450" marR="0" lvl="0" indent="-171450" algn="l">
                        <a:lnSpc>
                          <a:spcPct val="100000"/>
                        </a:lnSpc>
                        <a:buClr>
                          <a:srgbClr val="000000"/>
                        </a:buClr>
                        <a:buFont typeface="Arial,Sans-Serif"/>
                        <a:buChar char="•"/>
                      </a:pPr>
                      <a:endParaRPr lang="en-IN" sz="1100" b="0" i="0" u="none" strike="noStrike" kern="1200" noProof="0">
                        <a:solidFill>
                          <a:srgbClr val="000000"/>
                        </a:solidFill>
                        <a:effectLst/>
                        <a:latin typeface="Nunito Sans"/>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lvl="0" indent="0" algn="l">
                        <a:lnSpc>
                          <a:spcPct val="100000"/>
                        </a:lnSpc>
                        <a:buNone/>
                      </a:pPr>
                      <a:r>
                        <a:rPr lang="en-IN" sz="1100" b="0" i="0" u="none" strike="noStrike" kern="1200" noProof="0">
                          <a:solidFill>
                            <a:srgbClr val="000000"/>
                          </a:solidFill>
                          <a:effectLst/>
                          <a:latin typeface="Nunito Sans"/>
                          <a:ea typeface="+mn-ea"/>
                          <a:cs typeface="+mn-cs"/>
                        </a:rPr>
                        <a:t>28-Sep</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a:solidFill>
                        <a:schemeClr val="bg1">
                          <a:lumMod val="75000"/>
                        </a:schemeClr>
                      </a:solidFill>
                    </a:lnB>
                    <a:solidFill>
                      <a:schemeClr val="bg1"/>
                    </a:solidFill>
                  </a:tcPr>
                </a:tc>
                <a:tc>
                  <a:txBody>
                    <a:bodyPr/>
                    <a:lstStyle/>
                    <a:p>
                      <a:pPr marL="0" lvl="0" indent="0" algn="l">
                        <a:lnSpc>
                          <a:spcPct val="100000"/>
                        </a:lnSpc>
                        <a:buNone/>
                      </a:pPr>
                      <a:r>
                        <a:rPr lang="en-US" sz="1100" b="0" i="0" u="none" strike="noStrike" kern="1200" noProof="0">
                          <a:solidFill>
                            <a:schemeClr val="tx1"/>
                          </a:solidFill>
                          <a:effectLst/>
                          <a:latin typeface="Nunito Sans"/>
                          <a:ea typeface="+mn-ea"/>
                          <a:cs typeface="+mn-cs"/>
                          <a:hlinkClick r:id="rId4"/>
                        </a:rPr>
                        <a:t>Link</a:t>
                      </a:r>
                      <a:endParaRPr lang="en-US" sz="1100" b="0" i="0" u="none" strike="noStrike" kern="1200" noProof="0">
                        <a:solidFill>
                          <a:schemeClr val="tx1"/>
                        </a:solidFill>
                        <a:effectLst/>
                        <a:latin typeface="Nunito Sans"/>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a:solidFill>
                        <a:schemeClr val="bg1">
                          <a:lumMod val="75000"/>
                        </a:schemeClr>
                      </a:solidFill>
                    </a:lnB>
                    <a:solidFill>
                      <a:schemeClr val="bg1"/>
                    </a:solidFill>
                  </a:tcPr>
                </a:tc>
                <a:tc>
                  <a:txBody>
                    <a:bodyPr/>
                    <a:lstStyle/>
                    <a:p>
                      <a:pPr marL="0" lvl="0" indent="0" algn="l">
                        <a:lnSpc>
                          <a:spcPct val="100000"/>
                        </a:lnSpc>
                        <a:buNone/>
                      </a:pPr>
                      <a:endParaRPr lang="en-US" sz="1100" b="0" i="0" u="none" strike="noStrike" kern="1200" noProof="0">
                        <a:solidFill>
                          <a:schemeClr val="tx1"/>
                        </a:solidFill>
                        <a:effectLst/>
                        <a:latin typeface="Nunito Sans"/>
                        <a:ea typeface="+mn-ea"/>
                        <a:cs typeface="+mn-cs"/>
                      </a:endParaRPr>
                    </a:p>
                  </a:txBody>
                  <a:tcPr anchor="ctr">
                    <a:lnL w="6350" cap="flat" cmpd="sng" algn="ctr">
                      <a:solidFill>
                        <a:schemeClr val="bg1">
                          <a:lumMod val="75000"/>
                        </a:schemeClr>
                      </a:solidFill>
                      <a:prstDash val="solid"/>
                      <a:round/>
                      <a:headEnd type="none" w="med" len="med"/>
                      <a:tailEnd type="none" w="med" len="med"/>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a:solidFill>
                        <a:schemeClr val="bg1">
                          <a:lumMod val="75000"/>
                        </a:schemeClr>
                      </a:solidFill>
                    </a:lnB>
                    <a:solidFill>
                      <a:schemeClr val="bg1"/>
                    </a:solidFill>
                  </a:tcPr>
                </a:tc>
                <a:extLst>
                  <a:ext uri="{0D108BD9-81ED-4DB2-BD59-A6C34878D82A}">
                    <a16:rowId xmlns:a16="http://schemas.microsoft.com/office/drawing/2014/main" val="2542160441"/>
                  </a:ext>
                </a:extLst>
              </a:tr>
            </a:tbl>
          </a:graphicData>
        </a:graphic>
      </p:graphicFrame>
      <p:sp>
        <p:nvSpPr>
          <p:cNvPr id="26" name="TextBox 25">
            <a:extLst>
              <a:ext uri="{FF2B5EF4-FFF2-40B4-BE49-F238E27FC236}">
                <a16:creationId xmlns:a16="http://schemas.microsoft.com/office/drawing/2014/main" id="{F2A20258-FF0A-D049-BAC1-2979AFFED9DE}"/>
              </a:ext>
            </a:extLst>
          </p:cNvPr>
          <p:cNvSpPr txBox="1"/>
          <p:nvPr/>
        </p:nvSpPr>
        <p:spPr>
          <a:xfrm>
            <a:off x="343955" y="3897931"/>
            <a:ext cx="417102" cy="253916"/>
          </a:xfrm>
          <a:prstGeom prst="rect">
            <a:avLst/>
          </a:prstGeom>
          <a:noFill/>
        </p:spPr>
        <p:txBody>
          <a:bodyPr wrap="none" lIns="91440" tIns="45720" rIns="91440" bIns="45720" rtlCol="0" anchor="t">
            <a:spAutoFit/>
          </a:bodyPr>
          <a:lstStyle/>
          <a:p>
            <a:r>
              <a:rPr lang="en-IN" sz="1050" b="1">
                <a:solidFill>
                  <a:schemeClr val="bg1"/>
                </a:solidFill>
                <a:latin typeface="Montserrat Light"/>
              </a:rPr>
              <a:t>Jan</a:t>
            </a:r>
            <a:endParaRPr lang="en-IN" sz="1050" b="1">
              <a:solidFill>
                <a:schemeClr val="bg1"/>
              </a:solidFill>
              <a:latin typeface="Montserrat Light" pitchFamily="2" charset="0"/>
            </a:endParaRPr>
          </a:p>
        </p:txBody>
      </p:sp>
      <p:sp>
        <p:nvSpPr>
          <p:cNvPr id="27" name="TextBox 15">
            <a:extLst>
              <a:ext uri="{FF2B5EF4-FFF2-40B4-BE49-F238E27FC236}">
                <a16:creationId xmlns:a16="http://schemas.microsoft.com/office/drawing/2014/main" id="{73F82BCD-91EA-B865-2745-76574820064B}"/>
              </a:ext>
            </a:extLst>
          </p:cNvPr>
          <p:cNvSpPr txBox="1"/>
          <p:nvPr/>
        </p:nvSpPr>
        <p:spPr>
          <a:xfrm>
            <a:off x="398384" y="817274"/>
            <a:ext cx="417102" cy="253916"/>
          </a:xfrm>
          <a:prstGeom prst="rect">
            <a:avLst/>
          </a:prstGeom>
          <a:noFill/>
        </p:spPr>
        <p:txBody>
          <a:bodyPr wrap="non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050" b="1">
                <a:solidFill>
                  <a:schemeClr val="bg1"/>
                </a:solidFill>
                <a:latin typeface="Montserrat Light"/>
              </a:rPr>
              <a:t>Jan</a:t>
            </a:r>
            <a:endParaRPr lang="en-IN" sz="1050" b="1">
              <a:solidFill>
                <a:schemeClr val="bg1"/>
              </a:solidFill>
              <a:latin typeface="Montserrat Light" pitchFamily="2" charset="0"/>
            </a:endParaRPr>
          </a:p>
        </p:txBody>
      </p:sp>
      <p:sp>
        <p:nvSpPr>
          <p:cNvPr id="29" name="Rectangle 28">
            <a:extLst>
              <a:ext uri="{FF2B5EF4-FFF2-40B4-BE49-F238E27FC236}">
                <a16:creationId xmlns:a16="http://schemas.microsoft.com/office/drawing/2014/main" id="{5DDFE25B-C177-8A88-A072-2498BE6F031B}"/>
              </a:ext>
            </a:extLst>
          </p:cNvPr>
          <p:cNvSpPr/>
          <p:nvPr/>
        </p:nvSpPr>
        <p:spPr>
          <a:xfrm>
            <a:off x="-4474" y="793560"/>
            <a:ext cx="1067526" cy="42234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IN" sz="1400" b="1">
                <a:latin typeface="AirIndia"/>
              </a:rPr>
              <a:t>Sep ‘26</a:t>
            </a:r>
            <a:endParaRPr lang="en-US"/>
          </a:p>
        </p:txBody>
      </p:sp>
      <p:pic>
        <p:nvPicPr>
          <p:cNvPr id="34" name="Picture 33">
            <a:extLst>
              <a:ext uri="{FF2B5EF4-FFF2-40B4-BE49-F238E27FC236}">
                <a16:creationId xmlns:a16="http://schemas.microsoft.com/office/drawing/2014/main" id="{A0E31D26-3523-DBFB-0A23-3A75BD081736}"/>
              </a:ext>
            </a:extLst>
          </p:cNvPr>
          <p:cNvPicPr>
            <a:picLocks noChangeAspect="1"/>
          </p:cNvPicPr>
          <p:nvPr/>
        </p:nvPicPr>
        <p:blipFill>
          <a:blip r:embed="rId5"/>
          <a:stretch>
            <a:fillRect/>
          </a:stretch>
        </p:blipFill>
        <p:spPr>
          <a:xfrm>
            <a:off x="306161" y="6532789"/>
            <a:ext cx="8248650" cy="323850"/>
          </a:xfrm>
          <a:prstGeom prst="rect">
            <a:avLst/>
          </a:prstGeom>
        </p:spPr>
      </p:pic>
    </p:spTree>
    <p:extLst>
      <p:ext uri="{BB962C8B-B14F-4D97-AF65-F5344CB8AC3E}">
        <p14:creationId xmlns:p14="http://schemas.microsoft.com/office/powerpoint/2010/main" val="2665324808"/>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094815C-32A6-A0BF-0C2C-9167C897ED3C}"/>
              </a:ext>
            </a:extLst>
          </p:cNvPr>
          <p:cNvSpPr>
            <a:spLocks noGrp="1"/>
          </p:cNvSpPr>
          <p:nvPr>
            <p:ph type="ctrTitle"/>
          </p:nvPr>
        </p:nvSpPr>
        <p:spPr>
          <a:xfrm>
            <a:off x="1166431" y="1189941"/>
            <a:ext cx="10262201" cy="2431604"/>
          </a:xfrm>
        </p:spPr>
        <p:txBody>
          <a:bodyPr>
            <a:normAutofit/>
          </a:bodyPr>
          <a:lstStyle/>
          <a:p>
            <a:r>
              <a:rPr lang="en-US" sz="2800">
                <a:latin typeface="AirIndia"/>
              </a:rPr>
              <a:t>Data Science and Advanced Analytics </a:t>
            </a:r>
            <a:br>
              <a:rPr lang="en-US" sz="2800">
                <a:latin typeface="AirIndia"/>
              </a:rPr>
            </a:br>
            <a:r>
              <a:rPr lang="en-US" sz="2800">
                <a:latin typeface="AirIndia"/>
              </a:rPr>
              <a:t>-</a:t>
            </a:r>
            <a:r>
              <a:rPr lang="en-US" sz="2800">
                <a:solidFill>
                  <a:srgbClr val="FFFFFF"/>
                </a:solidFill>
                <a:latin typeface="AirIndia"/>
              </a:rPr>
              <a:t>FY26-27 Q1-Q2 Release Plan</a:t>
            </a:r>
            <a:endParaRPr lang="en-US" sz="5400">
              <a:solidFill>
                <a:srgbClr val="FFFFFF"/>
              </a:solidFill>
              <a:latin typeface="AirIndia"/>
            </a:endParaRPr>
          </a:p>
          <a:p>
            <a:endParaRPr lang="en-US" sz="5400">
              <a:latin typeface="AirIndia"/>
            </a:endParaRPr>
          </a:p>
          <a:p>
            <a:endParaRPr lang="en-US"/>
          </a:p>
        </p:txBody>
      </p:sp>
      <p:grpSp>
        <p:nvGrpSpPr>
          <p:cNvPr id="11" name="Group 10">
            <a:extLst>
              <a:ext uri="{FF2B5EF4-FFF2-40B4-BE49-F238E27FC236}">
                <a16:creationId xmlns:a16="http://schemas.microsoft.com/office/drawing/2014/main" id="{BD677359-C9C1-D5E6-1F9E-C23D3A27800C}"/>
              </a:ext>
            </a:extLst>
          </p:cNvPr>
          <p:cNvGrpSpPr/>
          <p:nvPr/>
        </p:nvGrpSpPr>
        <p:grpSpPr>
          <a:xfrm>
            <a:off x="-685800" y="0"/>
            <a:ext cx="533400" cy="4014737"/>
            <a:chOff x="-685800" y="0"/>
            <a:chExt cx="533400" cy="4014737"/>
          </a:xfrm>
        </p:grpSpPr>
        <p:sp>
          <p:nvSpPr>
            <p:cNvPr id="2" name="Rectangle 1">
              <a:extLst>
                <a:ext uri="{FF2B5EF4-FFF2-40B4-BE49-F238E27FC236}">
                  <a16:creationId xmlns:a16="http://schemas.microsoft.com/office/drawing/2014/main" id="{3E0D5341-9538-7647-4008-AFF6A4928B72}"/>
                </a:ext>
              </a:extLst>
            </p:cNvPr>
            <p:cNvSpPr/>
            <p:nvPr/>
          </p:nvSpPr>
          <p:spPr>
            <a:xfrm>
              <a:off x="-685800" y="0"/>
              <a:ext cx="533400" cy="533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D816B34D-664B-D388-F725-54524DB66A57}"/>
                </a:ext>
              </a:extLst>
            </p:cNvPr>
            <p:cNvSpPr/>
            <p:nvPr/>
          </p:nvSpPr>
          <p:spPr>
            <a:xfrm>
              <a:off x="-685800" y="580223"/>
              <a:ext cx="533400" cy="533400"/>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8E2B92FE-8920-F41F-5C21-7B598A01B847}"/>
                </a:ext>
              </a:extLst>
            </p:cNvPr>
            <p:cNvSpPr/>
            <p:nvPr/>
          </p:nvSpPr>
          <p:spPr>
            <a:xfrm>
              <a:off x="-685800" y="1160446"/>
              <a:ext cx="533400" cy="533400"/>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001F3D7B-9E16-EB02-32C7-5D901CBB0B6C}"/>
                </a:ext>
              </a:extLst>
            </p:cNvPr>
            <p:cNvSpPr/>
            <p:nvPr/>
          </p:nvSpPr>
          <p:spPr>
            <a:xfrm>
              <a:off x="-685800" y="2320892"/>
              <a:ext cx="533400" cy="53340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6776AB42-88E3-FE66-65B1-00FB6D33F4F2}"/>
                </a:ext>
              </a:extLst>
            </p:cNvPr>
            <p:cNvSpPr/>
            <p:nvPr/>
          </p:nvSpPr>
          <p:spPr>
            <a:xfrm>
              <a:off x="-685800" y="2901115"/>
              <a:ext cx="533400" cy="533400"/>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9B4FBB17-1C26-FE71-6E90-07D0903A24CB}"/>
                </a:ext>
              </a:extLst>
            </p:cNvPr>
            <p:cNvSpPr/>
            <p:nvPr/>
          </p:nvSpPr>
          <p:spPr>
            <a:xfrm>
              <a:off x="-685800" y="3481337"/>
              <a:ext cx="533400" cy="533400"/>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612D772-FAE2-54B9-8C08-7C7B5E11F50F}"/>
                </a:ext>
              </a:extLst>
            </p:cNvPr>
            <p:cNvSpPr/>
            <p:nvPr/>
          </p:nvSpPr>
          <p:spPr>
            <a:xfrm>
              <a:off x="-685800" y="1740669"/>
              <a:ext cx="533400" cy="533400"/>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56978095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F68F9C-96EB-BBF7-4A6C-068FCB4DF3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55543E-2368-CB9A-28E8-29B9E31666D3}"/>
              </a:ext>
            </a:extLst>
          </p:cNvPr>
          <p:cNvSpPr>
            <a:spLocks noGrp="1"/>
          </p:cNvSpPr>
          <p:nvPr>
            <p:ph type="title"/>
          </p:nvPr>
        </p:nvSpPr>
        <p:spPr>
          <a:xfrm>
            <a:off x="5876373" y="2670048"/>
            <a:ext cx="5992539" cy="1406080"/>
          </a:xfrm>
        </p:spPr>
        <p:txBody>
          <a:bodyPr/>
          <a:lstStyle/>
          <a:p>
            <a:r>
              <a:rPr lang="en-US" sz="5400">
                <a:latin typeface="AirIndia"/>
              </a:rPr>
              <a:t>Commercial-Q1</a:t>
            </a:r>
            <a:endParaRPr lang="en-US" sz="5400"/>
          </a:p>
        </p:txBody>
      </p:sp>
    </p:spTree>
    <p:extLst>
      <p:ext uri="{BB962C8B-B14F-4D97-AF65-F5344CB8AC3E}">
        <p14:creationId xmlns:p14="http://schemas.microsoft.com/office/powerpoint/2010/main" val="2260474702"/>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19C2DF-AC6D-0C87-62ED-37D8D7BFAEC5}"/>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745D1B9-783B-BD53-CC97-6B7F523ACB0B}"/>
              </a:ext>
            </a:extLst>
          </p:cNvPr>
          <p:cNvSpPr>
            <a:spLocks noGrp="1"/>
          </p:cNvSpPr>
          <p:nvPr>
            <p:ph type="sldNum" sz="quarter" idx="12"/>
          </p:nvPr>
        </p:nvSpPr>
        <p:spPr/>
        <p:txBody>
          <a:bodyPr/>
          <a:lstStyle/>
          <a:p>
            <a:fld id="{3A41A254-7326-714E-AF55-4C213D6394DE}" type="slidenum">
              <a:rPr lang="en-US" smtClean="0"/>
              <a:pPr/>
              <a:t>90</a:t>
            </a:fld>
            <a:endParaRPr lang="en-US"/>
          </a:p>
        </p:txBody>
      </p:sp>
      <p:sp>
        <p:nvSpPr>
          <p:cNvPr id="6" name="Title 11">
            <a:extLst>
              <a:ext uri="{FF2B5EF4-FFF2-40B4-BE49-F238E27FC236}">
                <a16:creationId xmlns:a16="http://schemas.microsoft.com/office/drawing/2014/main" id="{8B882FE7-196C-CB52-CD9F-45058A1C23C6}"/>
              </a:ext>
            </a:extLst>
          </p:cNvPr>
          <p:cNvSpPr txBox="1">
            <a:spLocks/>
          </p:cNvSpPr>
          <p:nvPr/>
        </p:nvSpPr>
        <p:spPr>
          <a:xfrm>
            <a:off x="195943" y="307594"/>
            <a:ext cx="6955672" cy="396638"/>
          </a:xfrm>
          <a:prstGeom prst="rect">
            <a:avLst/>
          </a:prstGeom>
        </p:spPr>
        <p:txBody>
          <a:bodyPr lIns="91440" tIns="45720" rIns="91440" bIns="45720" anchor="t">
            <a:noAutofit/>
          </a:bodyPr>
          <a:lstStyle>
            <a:lvl1pPr algn="l" defTabSz="914400" rtl="0" eaLnBrk="1" latinLnBrk="0" hangingPunct="1">
              <a:lnSpc>
                <a:spcPct val="90000"/>
              </a:lnSpc>
              <a:spcBef>
                <a:spcPct val="0"/>
              </a:spcBef>
              <a:buNone/>
              <a:defRPr sz="4400" b="1" i="0" kern="1200">
                <a:solidFill>
                  <a:schemeClr val="tx1"/>
                </a:solidFill>
                <a:latin typeface="AirIndia" pitchFamily="82" charset="77"/>
                <a:ea typeface="+mj-ea"/>
                <a:cs typeface="+mj-cs"/>
              </a:defRPr>
            </a:lvl1pPr>
          </a:lstStyle>
          <a:p>
            <a:r>
              <a:rPr lang="en-US" sz="1800">
                <a:solidFill>
                  <a:schemeClr val="accent1"/>
                </a:solidFill>
                <a:latin typeface="AirIndia"/>
              </a:rPr>
              <a:t>Commercial - FY26 Q1  Release Plan Status Update</a:t>
            </a:r>
            <a:endParaRPr lang="en-US" sz="1800" b="0">
              <a:solidFill>
                <a:schemeClr val="accent1"/>
              </a:solidFill>
              <a:latin typeface="AirIndia"/>
            </a:endParaRPr>
          </a:p>
        </p:txBody>
      </p:sp>
      <p:graphicFrame>
        <p:nvGraphicFramePr>
          <p:cNvPr id="12" name="Table 11">
            <a:extLst>
              <a:ext uri="{FF2B5EF4-FFF2-40B4-BE49-F238E27FC236}">
                <a16:creationId xmlns:a16="http://schemas.microsoft.com/office/drawing/2014/main" id="{470D8660-6B5A-C5EF-3AEA-48762BE84910}"/>
              </a:ext>
            </a:extLst>
          </p:cNvPr>
          <p:cNvGraphicFramePr>
            <a:graphicFrameLocks noGrp="1"/>
          </p:cNvGraphicFramePr>
          <p:nvPr>
            <p:extLst>
              <p:ext uri="{D42A27DB-BD31-4B8C-83A1-F6EECF244321}">
                <p14:modId xmlns:p14="http://schemas.microsoft.com/office/powerpoint/2010/main" val="3170349015"/>
              </p:ext>
            </p:extLst>
          </p:nvPr>
        </p:nvGraphicFramePr>
        <p:xfrm>
          <a:off x="1295713" y="866914"/>
          <a:ext cx="10697938" cy="1645920"/>
        </p:xfrm>
        <a:graphic>
          <a:graphicData uri="http://schemas.openxmlformats.org/drawingml/2006/table">
            <a:tbl>
              <a:tblPr firstRow="1" bandRow="1">
                <a:tableStyleId>{5C22544A-7EE6-4342-B048-85BDC9FD1C3A}</a:tableStyleId>
              </a:tblPr>
              <a:tblGrid>
                <a:gridCol w="3758887">
                  <a:extLst>
                    <a:ext uri="{9D8B030D-6E8A-4147-A177-3AD203B41FA5}">
                      <a16:colId xmlns:a16="http://schemas.microsoft.com/office/drawing/2014/main" val="2822350773"/>
                    </a:ext>
                  </a:extLst>
                </a:gridCol>
                <a:gridCol w="6939051">
                  <a:extLst>
                    <a:ext uri="{9D8B030D-6E8A-4147-A177-3AD203B41FA5}">
                      <a16:colId xmlns:a16="http://schemas.microsoft.com/office/drawing/2014/main" val="99588705"/>
                    </a:ext>
                  </a:extLst>
                </a:gridCol>
              </a:tblGrid>
              <a:tr h="217387">
                <a:tc>
                  <a:txBody>
                    <a:bodyPr/>
                    <a:lstStyle/>
                    <a:p>
                      <a:pPr marL="0" lvl="0" indent="0" algn="ctr" defTabSz="914400" rtl="0" eaLnBrk="1" latinLnBrk="0" hangingPunct="1">
                        <a:lnSpc>
                          <a:spcPct val="100000"/>
                        </a:lnSpc>
                        <a:buFont typeface="Arial" panose="020B0604020202020204" pitchFamily="34" charset="0"/>
                        <a:buNone/>
                      </a:pPr>
                      <a:r>
                        <a:rPr lang="en-IN" sz="1200" kern="1200">
                          <a:solidFill>
                            <a:schemeClr val="bg1"/>
                          </a:solidFill>
                          <a:latin typeface="+mn-lt"/>
                          <a:ea typeface="+mn-ea"/>
                          <a:cs typeface="+mn-cs"/>
                        </a:rPr>
                        <a:t>Project/Initiative</a:t>
                      </a:r>
                      <a:endParaRPr lang="en-US" sz="1200"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tc>
                  <a:txBody>
                    <a:bodyPr/>
                    <a:lstStyle/>
                    <a:p>
                      <a:pPr marL="0" indent="0" algn="ctr" defTabSz="914400" rtl="0" eaLnBrk="1" latinLnBrk="0" hangingPunct="1">
                        <a:buFont typeface="Arial" panose="020B0604020202020204" pitchFamily="34" charset="0"/>
                        <a:buNone/>
                      </a:pPr>
                      <a:r>
                        <a:rPr lang="en-IN" sz="1200" kern="1200">
                          <a:solidFill>
                            <a:schemeClr val="bg1"/>
                          </a:solidFill>
                          <a:latin typeface="+mn-lt"/>
                          <a:ea typeface="+mn-ea"/>
                          <a:cs typeface="+mn-cs"/>
                        </a:rPr>
                        <a:t>Value Justification/Realization</a:t>
                      </a:r>
                      <a:endParaRPr lang="en-US" sz="1200"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extLst>
                  <a:ext uri="{0D108BD9-81ED-4DB2-BD59-A6C34878D82A}">
                    <a16:rowId xmlns:a16="http://schemas.microsoft.com/office/drawing/2014/main" val="844450115"/>
                  </a:ext>
                </a:extLst>
              </a:tr>
              <a:tr h="499989">
                <a:tc>
                  <a:txBody>
                    <a:bodyPr/>
                    <a:lstStyle/>
                    <a:p>
                      <a:pPr marL="0" lvl="0" indent="0" algn="l">
                        <a:lnSpc>
                          <a:spcPct val="100000"/>
                        </a:lnSpc>
                        <a:spcBef>
                          <a:spcPts val="0"/>
                        </a:spcBef>
                        <a:spcAft>
                          <a:spcPts val="0"/>
                        </a:spcAft>
                        <a:buNone/>
                      </a:pPr>
                      <a:r>
                        <a:rPr lang="en-US" sz="1200" b="1" i="0" u="none" strike="noStrike" kern="1200" noProof="0">
                          <a:solidFill>
                            <a:srgbClr val="0070C0"/>
                          </a:solidFill>
                          <a:latin typeface="+mn-lt"/>
                        </a:rPr>
                        <a:t>Smart Pricing – Milestone 1</a:t>
                      </a: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lvl="0" indent="0" algn="l">
                        <a:lnSpc>
                          <a:spcPct val="100000"/>
                        </a:lnSpc>
                        <a:spcBef>
                          <a:spcPts val="0"/>
                        </a:spcBef>
                        <a:spcAft>
                          <a:spcPts val="0"/>
                        </a:spcAft>
                        <a:buNone/>
                      </a:pPr>
                      <a:r>
                        <a:rPr lang="en-US" sz="1200" b="0" i="0" u="none" strike="noStrike" kern="1200" noProof="0">
                          <a:solidFill>
                            <a:srgbClr val="0070C0"/>
                          </a:solidFill>
                          <a:latin typeface="+mn-lt"/>
                        </a:rPr>
                        <a:t>The current fare-monitoring and filing workflow is manual, complex and time taking —analysts visually identify critical ODs, benchmark in spreadsheets, and pass human-led instructions to a BPO team—creating delays (1–3 days), capacity limits (≈400–600 ODs/day), and a high risk of missing critical ODs. We build a cost-effective solution along with computer user agent automation to augment the filing</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noProof="0">
                          <a:solidFill>
                            <a:srgbClr val="0070C0"/>
                          </a:solidFill>
                          <a:latin typeface="+mn-lt"/>
                        </a:rPr>
                        <a:t>Phase 1 : Builds the foundation for scalable and Faster fare deployment, Higher pricing control &amp; governance, Reduced revenue leakage. </a:t>
                      </a: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443371065"/>
                  </a:ext>
                </a:extLst>
              </a:tr>
            </a:tbl>
          </a:graphicData>
        </a:graphic>
      </p:graphicFrame>
      <p:sp>
        <p:nvSpPr>
          <p:cNvPr id="13" name="Rectangle 12">
            <a:extLst>
              <a:ext uri="{FF2B5EF4-FFF2-40B4-BE49-F238E27FC236}">
                <a16:creationId xmlns:a16="http://schemas.microsoft.com/office/drawing/2014/main" id="{3B12AB35-4529-5758-A197-87FAD61A5B5C}"/>
              </a:ext>
            </a:extLst>
          </p:cNvPr>
          <p:cNvSpPr/>
          <p:nvPr/>
        </p:nvSpPr>
        <p:spPr>
          <a:xfrm>
            <a:off x="136167" y="861655"/>
            <a:ext cx="1170432" cy="42234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1100" b="1">
                <a:latin typeface="AirIndia"/>
              </a:rPr>
              <a:t>April 2026</a:t>
            </a:r>
            <a:endParaRPr lang="en-US"/>
          </a:p>
        </p:txBody>
      </p:sp>
      <p:sp>
        <p:nvSpPr>
          <p:cNvPr id="3" name="Rectangle 2">
            <a:extLst>
              <a:ext uri="{FF2B5EF4-FFF2-40B4-BE49-F238E27FC236}">
                <a16:creationId xmlns:a16="http://schemas.microsoft.com/office/drawing/2014/main" id="{1E7D1ED2-ED1B-953E-C517-778F701C6936}"/>
              </a:ext>
            </a:extLst>
          </p:cNvPr>
          <p:cNvSpPr/>
          <p:nvPr/>
        </p:nvSpPr>
        <p:spPr>
          <a:xfrm>
            <a:off x="3465009" y="6262087"/>
            <a:ext cx="90000" cy="90000"/>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
        <p:nvSpPr>
          <p:cNvPr id="4" name="Rectangle 3">
            <a:extLst>
              <a:ext uri="{FF2B5EF4-FFF2-40B4-BE49-F238E27FC236}">
                <a16:creationId xmlns:a16="http://schemas.microsoft.com/office/drawing/2014/main" id="{778BB618-30EF-6DC7-8C0B-26D72D176EDF}"/>
              </a:ext>
            </a:extLst>
          </p:cNvPr>
          <p:cNvSpPr/>
          <p:nvPr/>
        </p:nvSpPr>
        <p:spPr>
          <a:xfrm>
            <a:off x="3465009" y="6489649"/>
            <a:ext cx="90000" cy="90000"/>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
        <p:nvSpPr>
          <p:cNvPr id="5" name="Rectangle 4">
            <a:extLst>
              <a:ext uri="{FF2B5EF4-FFF2-40B4-BE49-F238E27FC236}">
                <a16:creationId xmlns:a16="http://schemas.microsoft.com/office/drawing/2014/main" id="{C8FB47B5-B552-973D-7724-55868B2705D4}"/>
              </a:ext>
            </a:extLst>
          </p:cNvPr>
          <p:cNvSpPr/>
          <p:nvPr/>
        </p:nvSpPr>
        <p:spPr>
          <a:xfrm>
            <a:off x="5567900" y="6262087"/>
            <a:ext cx="90000" cy="90000"/>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
        <p:nvSpPr>
          <p:cNvPr id="7" name="Rectangle 6">
            <a:extLst>
              <a:ext uri="{FF2B5EF4-FFF2-40B4-BE49-F238E27FC236}">
                <a16:creationId xmlns:a16="http://schemas.microsoft.com/office/drawing/2014/main" id="{125D020B-18C1-14FB-2FEC-C4A85AB3EF63}"/>
              </a:ext>
            </a:extLst>
          </p:cNvPr>
          <p:cNvSpPr/>
          <p:nvPr/>
        </p:nvSpPr>
        <p:spPr>
          <a:xfrm>
            <a:off x="5567900" y="6489649"/>
            <a:ext cx="90000" cy="90000"/>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
        <p:nvSpPr>
          <p:cNvPr id="8" name="TextBox 15">
            <a:extLst>
              <a:ext uri="{FF2B5EF4-FFF2-40B4-BE49-F238E27FC236}">
                <a16:creationId xmlns:a16="http://schemas.microsoft.com/office/drawing/2014/main" id="{080F4E7D-68AC-0434-4164-7523BA2EE530}"/>
              </a:ext>
            </a:extLst>
          </p:cNvPr>
          <p:cNvSpPr txBox="1"/>
          <p:nvPr/>
        </p:nvSpPr>
        <p:spPr>
          <a:xfrm>
            <a:off x="3522317" y="6205238"/>
            <a:ext cx="857245"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000">
                <a:solidFill>
                  <a:srgbClr val="0070C0"/>
                </a:solidFill>
              </a:rPr>
              <a:t>Delivered</a:t>
            </a:r>
            <a:endParaRPr lang="en-IN" sz="1000"/>
          </a:p>
        </p:txBody>
      </p:sp>
      <p:sp>
        <p:nvSpPr>
          <p:cNvPr id="9" name="TextBox 18">
            <a:extLst>
              <a:ext uri="{FF2B5EF4-FFF2-40B4-BE49-F238E27FC236}">
                <a16:creationId xmlns:a16="http://schemas.microsoft.com/office/drawing/2014/main" id="{14A24AD8-E3E8-6A8E-E392-0DD87C23526D}"/>
              </a:ext>
            </a:extLst>
          </p:cNvPr>
          <p:cNvSpPr txBox="1"/>
          <p:nvPr/>
        </p:nvSpPr>
        <p:spPr>
          <a:xfrm>
            <a:off x="3520719" y="6430197"/>
            <a:ext cx="1032881"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000">
                <a:solidFill>
                  <a:srgbClr val="00B050"/>
                </a:solidFill>
              </a:rPr>
              <a:t>Ontrack</a:t>
            </a:r>
            <a:endParaRPr lang="en-IN" sz="1000"/>
          </a:p>
        </p:txBody>
      </p:sp>
      <p:sp>
        <p:nvSpPr>
          <p:cNvPr id="10" name="TextBox 20">
            <a:extLst>
              <a:ext uri="{FF2B5EF4-FFF2-40B4-BE49-F238E27FC236}">
                <a16:creationId xmlns:a16="http://schemas.microsoft.com/office/drawing/2014/main" id="{A3A40068-0BAE-A381-F3F7-0CC8B688CA1B}"/>
              </a:ext>
            </a:extLst>
          </p:cNvPr>
          <p:cNvSpPr txBox="1"/>
          <p:nvPr/>
        </p:nvSpPr>
        <p:spPr>
          <a:xfrm>
            <a:off x="5653197" y="6220637"/>
            <a:ext cx="2257628"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000">
                <a:solidFill>
                  <a:schemeClr val="accent6">
                    <a:lumMod val="75000"/>
                  </a:schemeClr>
                </a:solidFill>
              </a:rPr>
              <a:t>Under delay and can be recovered</a:t>
            </a:r>
            <a:endParaRPr lang="en-IN" sz="1000"/>
          </a:p>
        </p:txBody>
      </p:sp>
      <p:sp>
        <p:nvSpPr>
          <p:cNvPr id="11" name="TextBox 22">
            <a:extLst>
              <a:ext uri="{FF2B5EF4-FFF2-40B4-BE49-F238E27FC236}">
                <a16:creationId xmlns:a16="http://schemas.microsoft.com/office/drawing/2014/main" id="{BB72F13A-67C1-5E76-AF54-FED000C46F96}"/>
              </a:ext>
            </a:extLst>
          </p:cNvPr>
          <p:cNvSpPr txBox="1"/>
          <p:nvPr/>
        </p:nvSpPr>
        <p:spPr>
          <a:xfrm>
            <a:off x="5657900" y="6437221"/>
            <a:ext cx="3069090"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000">
                <a:solidFill>
                  <a:schemeClr val="accent2"/>
                </a:solidFill>
              </a:rPr>
              <a:t>Delayed and pushed to next release</a:t>
            </a:r>
            <a:endParaRPr lang="en-IN" sz="1000"/>
          </a:p>
        </p:txBody>
      </p:sp>
      <p:graphicFrame>
        <p:nvGraphicFramePr>
          <p:cNvPr id="14" name="Table 13">
            <a:extLst>
              <a:ext uri="{FF2B5EF4-FFF2-40B4-BE49-F238E27FC236}">
                <a16:creationId xmlns:a16="http://schemas.microsoft.com/office/drawing/2014/main" id="{9B776E91-87EB-7E2E-9A22-9ED76CFDB15A}"/>
              </a:ext>
            </a:extLst>
          </p:cNvPr>
          <p:cNvGraphicFramePr>
            <a:graphicFrameLocks noGrp="1"/>
          </p:cNvGraphicFramePr>
          <p:nvPr>
            <p:extLst>
              <p:ext uri="{D42A27DB-BD31-4B8C-83A1-F6EECF244321}">
                <p14:modId xmlns:p14="http://schemas.microsoft.com/office/powerpoint/2010/main" val="139533226"/>
              </p:ext>
            </p:extLst>
          </p:nvPr>
        </p:nvGraphicFramePr>
        <p:xfrm>
          <a:off x="1295713" y="2650396"/>
          <a:ext cx="10697938" cy="1645920"/>
        </p:xfrm>
        <a:graphic>
          <a:graphicData uri="http://schemas.openxmlformats.org/drawingml/2006/table">
            <a:tbl>
              <a:tblPr firstRow="1" bandRow="1">
                <a:tableStyleId>{5C22544A-7EE6-4342-B048-85BDC9FD1C3A}</a:tableStyleId>
              </a:tblPr>
              <a:tblGrid>
                <a:gridCol w="3759269">
                  <a:extLst>
                    <a:ext uri="{9D8B030D-6E8A-4147-A177-3AD203B41FA5}">
                      <a16:colId xmlns:a16="http://schemas.microsoft.com/office/drawing/2014/main" val="2822350773"/>
                    </a:ext>
                  </a:extLst>
                </a:gridCol>
                <a:gridCol w="6938669">
                  <a:extLst>
                    <a:ext uri="{9D8B030D-6E8A-4147-A177-3AD203B41FA5}">
                      <a16:colId xmlns:a16="http://schemas.microsoft.com/office/drawing/2014/main" val="99588705"/>
                    </a:ext>
                  </a:extLst>
                </a:gridCol>
              </a:tblGrid>
              <a:tr h="217387">
                <a:tc>
                  <a:txBody>
                    <a:bodyPr/>
                    <a:lstStyle/>
                    <a:p>
                      <a:pPr marL="0" lvl="0" indent="0" algn="ctr" defTabSz="914400" rtl="0" eaLnBrk="1" latinLnBrk="0" hangingPunct="1">
                        <a:lnSpc>
                          <a:spcPct val="100000"/>
                        </a:lnSpc>
                        <a:buFont typeface="Arial" panose="020B0604020202020204" pitchFamily="34" charset="0"/>
                        <a:buNone/>
                      </a:pPr>
                      <a:r>
                        <a:rPr lang="en-IN" sz="1200" kern="1200">
                          <a:solidFill>
                            <a:schemeClr val="bg1"/>
                          </a:solidFill>
                          <a:latin typeface="+mn-lt"/>
                          <a:ea typeface="+mn-ea"/>
                          <a:cs typeface="+mn-cs"/>
                        </a:rPr>
                        <a:t>Project/Initiative</a:t>
                      </a:r>
                      <a:endParaRPr lang="en-US" sz="1200"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tc>
                  <a:txBody>
                    <a:bodyPr/>
                    <a:lstStyle/>
                    <a:p>
                      <a:pPr marL="0" indent="0" algn="ctr" defTabSz="914400" rtl="0" eaLnBrk="1" latinLnBrk="0" hangingPunct="1">
                        <a:buFont typeface="Arial" panose="020B0604020202020204" pitchFamily="34" charset="0"/>
                        <a:buNone/>
                      </a:pPr>
                      <a:r>
                        <a:rPr lang="en-IN" sz="1200" kern="1200">
                          <a:solidFill>
                            <a:schemeClr val="bg1"/>
                          </a:solidFill>
                          <a:latin typeface="+mn-lt"/>
                          <a:ea typeface="+mn-ea"/>
                          <a:cs typeface="+mn-cs"/>
                        </a:rPr>
                        <a:t>Value Justification/Realization</a:t>
                      </a:r>
                      <a:endParaRPr lang="en-US" sz="1200"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extLst>
                  <a:ext uri="{0D108BD9-81ED-4DB2-BD59-A6C34878D82A}">
                    <a16:rowId xmlns:a16="http://schemas.microsoft.com/office/drawing/2014/main" val="844450115"/>
                  </a:ext>
                </a:extLst>
              </a:tr>
              <a:tr h="499989">
                <a:tc>
                  <a:txBody>
                    <a:bodyPr/>
                    <a:lstStyle/>
                    <a:p>
                      <a:pPr marL="0" lvl="0" indent="0" algn="l">
                        <a:lnSpc>
                          <a:spcPct val="100000"/>
                        </a:lnSpc>
                        <a:spcBef>
                          <a:spcPts val="0"/>
                        </a:spcBef>
                        <a:spcAft>
                          <a:spcPts val="0"/>
                        </a:spcAft>
                        <a:buFont typeface="+mj-lt"/>
                        <a:buNone/>
                      </a:pPr>
                      <a:r>
                        <a:rPr lang="en-US" sz="1200" b="1" i="0" u="none" strike="noStrike" kern="1200" noProof="0">
                          <a:solidFill>
                            <a:srgbClr val="0070C0"/>
                          </a:solidFill>
                          <a:latin typeface="+mn-lt"/>
                        </a:rPr>
                        <a:t>Smart Pricing – Milestone 2</a:t>
                      </a: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noProof="0">
                          <a:solidFill>
                            <a:srgbClr val="0070C0"/>
                          </a:solidFill>
                          <a:latin typeface="+mn-lt"/>
                        </a:rPr>
                        <a:t>The current fare-monitoring and filing workflow is manual, complex and time taking —analysts visually identify critical ODs, benchmark in spreadsheets, and pass human-led instructions to a BPO team—creating delays (1–3 days), capacity limits (≈400–600 ODs/day), and a high risk of missing critical ODs. We build a cost-effective solution along with computer user agent automation to augment the filing</a:t>
                      </a:r>
                    </a:p>
                    <a:p>
                      <a:pPr marL="0" lvl="0" indent="0" algn="l">
                        <a:lnSpc>
                          <a:spcPct val="100000"/>
                        </a:lnSpc>
                        <a:spcBef>
                          <a:spcPts val="0"/>
                        </a:spcBef>
                        <a:spcAft>
                          <a:spcPts val="0"/>
                        </a:spcAft>
                        <a:buNone/>
                      </a:pPr>
                      <a:r>
                        <a:rPr lang="en-US" sz="1200" b="0" i="0" u="none" strike="noStrike" kern="1200" noProof="0">
                          <a:solidFill>
                            <a:srgbClr val="0070C0"/>
                          </a:solidFill>
                          <a:latin typeface="+mn-lt"/>
                        </a:rPr>
                        <a:t>Phase 2: Advanced filing options, ML‑driven recommendations, competitive simulation, and SSO access restriction, enabling sustained revenue uplift and analyst scalability.</a:t>
                      </a: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443371065"/>
                  </a:ext>
                </a:extLst>
              </a:tr>
            </a:tbl>
          </a:graphicData>
        </a:graphic>
      </p:graphicFrame>
      <p:sp>
        <p:nvSpPr>
          <p:cNvPr id="16" name="Rectangle 15">
            <a:extLst>
              <a:ext uri="{FF2B5EF4-FFF2-40B4-BE49-F238E27FC236}">
                <a16:creationId xmlns:a16="http://schemas.microsoft.com/office/drawing/2014/main" id="{D222BF7D-0948-7ED5-6D36-4D35169ED8B1}"/>
              </a:ext>
            </a:extLst>
          </p:cNvPr>
          <p:cNvSpPr/>
          <p:nvPr/>
        </p:nvSpPr>
        <p:spPr>
          <a:xfrm>
            <a:off x="125281" y="2646912"/>
            <a:ext cx="1170432" cy="42234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1100" b="1">
                <a:latin typeface="AirIndia"/>
              </a:rPr>
              <a:t>May 2026</a:t>
            </a:r>
            <a:endParaRPr lang="en-US"/>
          </a:p>
        </p:txBody>
      </p:sp>
    </p:spTree>
    <p:extLst>
      <p:ext uri="{BB962C8B-B14F-4D97-AF65-F5344CB8AC3E}">
        <p14:creationId xmlns:p14="http://schemas.microsoft.com/office/powerpoint/2010/main" val="2739046019"/>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C07305-050B-A04D-202B-545E0B4DC61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4D00F59-E633-359A-E1AE-84571D0130F9}"/>
              </a:ext>
            </a:extLst>
          </p:cNvPr>
          <p:cNvSpPr>
            <a:spLocks noGrp="1"/>
          </p:cNvSpPr>
          <p:nvPr>
            <p:ph type="sldNum" sz="quarter" idx="12"/>
          </p:nvPr>
        </p:nvSpPr>
        <p:spPr/>
        <p:txBody>
          <a:bodyPr/>
          <a:lstStyle/>
          <a:p>
            <a:fld id="{3A41A254-7326-714E-AF55-4C213D6394DE}" type="slidenum">
              <a:rPr lang="en-US" smtClean="0"/>
              <a:pPr/>
              <a:t>91</a:t>
            </a:fld>
            <a:endParaRPr lang="en-US"/>
          </a:p>
        </p:txBody>
      </p:sp>
      <p:sp>
        <p:nvSpPr>
          <p:cNvPr id="6" name="Title 11">
            <a:extLst>
              <a:ext uri="{FF2B5EF4-FFF2-40B4-BE49-F238E27FC236}">
                <a16:creationId xmlns:a16="http://schemas.microsoft.com/office/drawing/2014/main" id="{DFFE9AB7-31E9-DCBE-37E2-54C15FEB56AC}"/>
              </a:ext>
            </a:extLst>
          </p:cNvPr>
          <p:cNvSpPr txBox="1">
            <a:spLocks/>
          </p:cNvSpPr>
          <p:nvPr/>
        </p:nvSpPr>
        <p:spPr>
          <a:xfrm>
            <a:off x="195943" y="307594"/>
            <a:ext cx="6955672" cy="396638"/>
          </a:xfrm>
          <a:prstGeom prst="rect">
            <a:avLst/>
          </a:prstGeom>
        </p:spPr>
        <p:txBody>
          <a:bodyPr lIns="91440" tIns="45720" rIns="91440" bIns="45720" anchor="t">
            <a:noAutofit/>
          </a:bodyPr>
          <a:lstStyle>
            <a:lvl1pPr algn="l" defTabSz="914400" rtl="0" eaLnBrk="1" latinLnBrk="0" hangingPunct="1">
              <a:lnSpc>
                <a:spcPct val="90000"/>
              </a:lnSpc>
              <a:spcBef>
                <a:spcPct val="0"/>
              </a:spcBef>
              <a:buNone/>
              <a:defRPr sz="4400" b="1" i="0" kern="1200">
                <a:solidFill>
                  <a:schemeClr val="tx1"/>
                </a:solidFill>
                <a:latin typeface="AirIndia" pitchFamily="82" charset="77"/>
                <a:ea typeface="+mj-ea"/>
                <a:cs typeface="+mj-cs"/>
              </a:defRPr>
            </a:lvl1pPr>
          </a:lstStyle>
          <a:p>
            <a:r>
              <a:rPr lang="en-US" sz="1800">
                <a:solidFill>
                  <a:schemeClr val="accent1"/>
                </a:solidFill>
                <a:latin typeface="AirIndia"/>
              </a:rPr>
              <a:t>Commercial - FY26 Q1  Release Plan Status Update</a:t>
            </a:r>
            <a:endParaRPr lang="en-US" sz="1800" b="0">
              <a:solidFill>
                <a:schemeClr val="accent1"/>
              </a:solidFill>
              <a:latin typeface="AirIndia"/>
            </a:endParaRPr>
          </a:p>
        </p:txBody>
      </p:sp>
      <p:sp>
        <p:nvSpPr>
          <p:cNvPr id="3" name="Rectangle 2">
            <a:extLst>
              <a:ext uri="{FF2B5EF4-FFF2-40B4-BE49-F238E27FC236}">
                <a16:creationId xmlns:a16="http://schemas.microsoft.com/office/drawing/2014/main" id="{ABDAA466-7100-1195-6A5B-50219366033A}"/>
              </a:ext>
            </a:extLst>
          </p:cNvPr>
          <p:cNvSpPr/>
          <p:nvPr/>
        </p:nvSpPr>
        <p:spPr>
          <a:xfrm>
            <a:off x="3465009" y="6262087"/>
            <a:ext cx="90000" cy="90000"/>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
        <p:nvSpPr>
          <p:cNvPr id="4" name="Rectangle 3">
            <a:extLst>
              <a:ext uri="{FF2B5EF4-FFF2-40B4-BE49-F238E27FC236}">
                <a16:creationId xmlns:a16="http://schemas.microsoft.com/office/drawing/2014/main" id="{700751C9-13C7-9F2D-8F99-2DAD93F28473}"/>
              </a:ext>
            </a:extLst>
          </p:cNvPr>
          <p:cNvSpPr/>
          <p:nvPr/>
        </p:nvSpPr>
        <p:spPr>
          <a:xfrm>
            <a:off x="3465009" y="6489649"/>
            <a:ext cx="90000" cy="90000"/>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
        <p:nvSpPr>
          <p:cNvPr id="5" name="Rectangle 4">
            <a:extLst>
              <a:ext uri="{FF2B5EF4-FFF2-40B4-BE49-F238E27FC236}">
                <a16:creationId xmlns:a16="http://schemas.microsoft.com/office/drawing/2014/main" id="{22FFEE05-227D-1674-1F48-6B9F268CF667}"/>
              </a:ext>
            </a:extLst>
          </p:cNvPr>
          <p:cNvSpPr/>
          <p:nvPr/>
        </p:nvSpPr>
        <p:spPr>
          <a:xfrm>
            <a:off x="5567900" y="6262087"/>
            <a:ext cx="90000" cy="90000"/>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
        <p:nvSpPr>
          <p:cNvPr id="7" name="Rectangle 6">
            <a:extLst>
              <a:ext uri="{FF2B5EF4-FFF2-40B4-BE49-F238E27FC236}">
                <a16:creationId xmlns:a16="http://schemas.microsoft.com/office/drawing/2014/main" id="{2A41A09F-9C8C-C770-374E-6DF064F152EA}"/>
              </a:ext>
            </a:extLst>
          </p:cNvPr>
          <p:cNvSpPr/>
          <p:nvPr/>
        </p:nvSpPr>
        <p:spPr>
          <a:xfrm>
            <a:off x="5567900" y="6489649"/>
            <a:ext cx="90000" cy="90000"/>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
        <p:nvSpPr>
          <p:cNvPr id="8" name="TextBox 15">
            <a:extLst>
              <a:ext uri="{FF2B5EF4-FFF2-40B4-BE49-F238E27FC236}">
                <a16:creationId xmlns:a16="http://schemas.microsoft.com/office/drawing/2014/main" id="{4CA88D85-20D1-32DE-D9F0-E9B121920C09}"/>
              </a:ext>
            </a:extLst>
          </p:cNvPr>
          <p:cNvSpPr txBox="1"/>
          <p:nvPr/>
        </p:nvSpPr>
        <p:spPr>
          <a:xfrm>
            <a:off x="3522317" y="6205238"/>
            <a:ext cx="857245"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000">
                <a:solidFill>
                  <a:srgbClr val="0070C0"/>
                </a:solidFill>
              </a:rPr>
              <a:t>Delivered</a:t>
            </a:r>
            <a:endParaRPr lang="en-IN" sz="1000"/>
          </a:p>
        </p:txBody>
      </p:sp>
      <p:sp>
        <p:nvSpPr>
          <p:cNvPr id="9" name="TextBox 18">
            <a:extLst>
              <a:ext uri="{FF2B5EF4-FFF2-40B4-BE49-F238E27FC236}">
                <a16:creationId xmlns:a16="http://schemas.microsoft.com/office/drawing/2014/main" id="{9E676AA9-AAC2-AF3B-EF80-42965F67C580}"/>
              </a:ext>
            </a:extLst>
          </p:cNvPr>
          <p:cNvSpPr txBox="1"/>
          <p:nvPr/>
        </p:nvSpPr>
        <p:spPr>
          <a:xfrm>
            <a:off x="3520719" y="6430197"/>
            <a:ext cx="1032881"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000">
                <a:solidFill>
                  <a:srgbClr val="00B050"/>
                </a:solidFill>
              </a:rPr>
              <a:t>Ontrack</a:t>
            </a:r>
          </a:p>
        </p:txBody>
      </p:sp>
      <p:sp>
        <p:nvSpPr>
          <p:cNvPr id="10" name="TextBox 20">
            <a:extLst>
              <a:ext uri="{FF2B5EF4-FFF2-40B4-BE49-F238E27FC236}">
                <a16:creationId xmlns:a16="http://schemas.microsoft.com/office/drawing/2014/main" id="{6A85106E-E72B-D7A3-5D23-41C873B9EF78}"/>
              </a:ext>
            </a:extLst>
          </p:cNvPr>
          <p:cNvSpPr txBox="1"/>
          <p:nvPr/>
        </p:nvSpPr>
        <p:spPr>
          <a:xfrm>
            <a:off x="5653197" y="6220637"/>
            <a:ext cx="2257628"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000">
                <a:solidFill>
                  <a:schemeClr val="accent6">
                    <a:lumMod val="75000"/>
                  </a:schemeClr>
                </a:solidFill>
              </a:rPr>
              <a:t>Under delay and can be recovered</a:t>
            </a:r>
            <a:endParaRPr lang="en-IN" sz="1000"/>
          </a:p>
        </p:txBody>
      </p:sp>
      <p:sp>
        <p:nvSpPr>
          <p:cNvPr id="11" name="TextBox 22">
            <a:extLst>
              <a:ext uri="{FF2B5EF4-FFF2-40B4-BE49-F238E27FC236}">
                <a16:creationId xmlns:a16="http://schemas.microsoft.com/office/drawing/2014/main" id="{E04925E6-9D7A-A613-616D-BC4345220F7C}"/>
              </a:ext>
            </a:extLst>
          </p:cNvPr>
          <p:cNvSpPr txBox="1"/>
          <p:nvPr/>
        </p:nvSpPr>
        <p:spPr>
          <a:xfrm>
            <a:off x="5657900" y="6437221"/>
            <a:ext cx="3069090"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000">
                <a:solidFill>
                  <a:schemeClr val="accent2"/>
                </a:solidFill>
              </a:rPr>
              <a:t>Delayed and pushed to next release</a:t>
            </a:r>
            <a:endParaRPr lang="en-IN" sz="1000"/>
          </a:p>
        </p:txBody>
      </p:sp>
      <p:graphicFrame>
        <p:nvGraphicFramePr>
          <p:cNvPr id="14" name="Table 13">
            <a:extLst>
              <a:ext uri="{FF2B5EF4-FFF2-40B4-BE49-F238E27FC236}">
                <a16:creationId xmlns:a16="http://schemas.microsoft.com/office/drawing/2014/main" id="{88AEC45C-36F8-8B14-25D1-7403D8AC7EB6}"/>
              </a:ext>
            </a:extLst>
          </p:cNvPr>
          <p:cNvGraphicFramePr>
            <a:graphicFrameLocks noGrp="1"/>
          </p:cNvGraphicFramePr>
          <p:nvPr>
            <p:extLst>
              <p:ext uri="{D42A27DB-BD31-4B8C-83A1-F6EECF244321}">
                <p14:modId xmlns:p14="http://schemas.microsoft.com/office/powerpoint/2010/main" val="3010795508"/>
              </p:ext>
            </p:extLst>
          </p:nvPr>
        </p:nvGraphicFramePr>
        <p:xfrm>
          <a:off x="1366375" y="767168"/>
          <a:ext cx="10697938" cy="3784209"/>
        </p:xfrm>
        <a:graphic>
          <a:graphicData uri="http://schemas.openxmlformats.org/drawingml/2006/table">
            <a:tbl>
              <a:tblPr firstRow="1" bandRow="1">
                <a:tableStyleId>{5C22544A-7EE6-4342-B048-85BDC9FD1C3A}</a:tableStyleId>
              </a:tblPr>
              <a:tblGrid>
                <a:gridCol w="3313575">
                  <a:extLst>
                    <a:ext uri="{9D8B030D-6E8A-4147-A177-3AD203B41FA5}">
                      <a16:colId xmlns:a16="http://schemas.microsoft.com/office/drawing/2014/main" val="2822350773"/>
                    </a:ext>
                  </a:extLst>
                </a:gridCol>
                <a:gridCol w="7384363">
                  <a:extLst>
                    <a:ext uri="{9D8B030D-6E8A-4147-A177-3AD203B41FA5}">
                      <a16:colId xmlns:a16="http://schemas.microsoft.com/office/drawing/2014/main" val="99588705"/>
                    </a:ext>
                  </a:extLst>
                </a:gridCol>
              </a:tblGrid>
              <a:tr h="217387">
                <a:tc>
                  <a:txBody>
                    <a:bodyPr/>
                    <a:lstStyle/>
                    <a:p>
                      <a:pPr marL="0" lvl="0" indent="0" algn="ctr" defTabSz="914400" rtl="0" eaLnBrk="1" latinLnBrk="0" hangingPunct="1">
                        <a:lnSpc>
                          <a:spcPct val="100000"/>
                        </a:lnSpc>
                        <a:buFont typeface="Arial" panose="020B0604020202020204" pitchFamily="34" charset="0"/>
                        <a:buNone/>
                      </a:pPr>
                      <a:r>
                        <a:rPr lang="en-IN" sz="1200" kern="1200">
                          <a:solidFill>
                            <a:schemeClr val="bg1"/>
                          </a:solidFill>
                          <a:latin typeface="+mn-lt"/>
                          <a:ea typeface="+mn-ea"/>
                          <a:cs typeface="+mn-cs"/>
                        </a:rPr>
                        <a:t>Project/Initiative</a:t>
                      </a:r>
                      <a:endParaRPr lang="en-US" sz="1200"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tc>
                  <a:txBody>
                    <a:bodyPr/>
                    <a:lstStyle/>
                    <a:p>
                      <a:pPr marL="0" indent="0" algn="ctr" defTabSz="914400" rtl="0" eaLnBrk="1" latinLnBrk="0" hangingPunct="1">
                        <a:buFont typeface="Arial" panose="020B0604020202020204" pitchFamily="34" charset="0"/>
                        <a:buNone/>
                      </a:pPr>
                      <a:r>
                        <a:rPr lang="en-IN" sz="1200" kern="1200">
                          <a:solidFill>
                            <a:schemeClr val="bg1"/>
                          </a:solidFill>
                          <a:latin typeface="+mn-lt"/>
                          <a:ea typeface="+mn-ea"/>
                          <a:cs typeface="+mn-cs"/>
                        </a:rPr>
                        <a:t>Value Justification/Realization</a:t>
                      </a:r>
                      <a:endParaRPr lang="en-US" sz="1200"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extLst>
                  <a:ext uri="{0D108BD9-81ED-4DB2-BD59-A6C34878D82A}">
                    <a16:rowId xmlns:a16="http://schemas.microsoft.com/office/drawing/2014/main" val="844450115"/>
                  </a:ext>
                </a:extLst>
              </a:tr>
              <a:tr h="499989">
                <a:tc>
                  <a:txBody>
                    <a:bodyPr/>
                    <a:lstStyle/>
                    <a:p>
                      <a:pPr marL="0" lvl="0" indent="0" algn="l" defTabSz="914400" rtl="0" eaLnBrk="1" fontAlgn="t" latinLnBrk="0" hangingPunct="1">
                        <a:lnSpc>
                          <a:spcPct val="100000"/>
                        </a:lnSpc>
                        <a:spcBef>
                          <a:spcPts val="0"/>
                        </a:spcBef>
                        <a:spcAft>
                          <a:spcPts val="0"/>
                        </a:spcAft>
                        <a:buFont typeface="+mj-lt"/>
                        <a:buNone/>
                      </a:pPr>
                      <a:r>
                        <a:rPr lang="en-US" sz="1200" b="1" i="0" u="none" strike="sngStrike" kern="1200" baseline="0">
                          <a:solidFill>
                            <a:schemeClr val="accent6">
                              <a:lumMod val="75000"/>
                            </a:schemeClr>
                          </a:solidFill>
                          <a:latin typeface="+mn-lt"/>
                          <a:ea typeface="+mn-ea"/>
                          <a:cs typeface="+mn-cs"/>
                        </a:rPr>
                        <a:t>GHA Onboarding - Phase 1 ( Bach of 4 GHA - Station )</a:t>
                      </a:r>
                    </a:p>
                  </a:txBody>
                  <a:tcPr marL="9525" marR="9525" marT="9525" marB="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lvl="0" indent="0" algn="l" defTabSz="914400" rtl="0" eaLnBrk="1" fontAlgn="t" latinLnBrk="0" hangingPunct="1">
                        <a:lnSpc>
                          <a:spcPct val="100000"/>
                        </a:lnSpc>
                        <a:spcBef>
                          <a:spcPts val="0"/>
                        </a:spcBef>
                        <a:spcAft>
                          <a:spcPts val="0"/>
                        </a:spcAft>
                        <a:buFont typeface="+mj-lt"/>
                        <a:buNone/>
                      </a:pPr>
                      <a:r>
                        <a:rPr lang="en-US" sz="1200" b="0" i="0" u="none" strike="sngStrike" kern="1200" baseline="0">
                          <a:solidFill>
                            <a:schemeClr val="accent6">
                              <a:lumMod val="75000"/>
                            </a:schemeClr>
                          </a:solidFill>
                          <a:latin typeface="+mn-lt"/>
                          <a:ea typeface="+mn-ea"/>
                          <a:cs typeface="+mn-cs"/>
                        </a:rPr>
                        <a:t>Address 6 crore revenue discrepancy by automating the Cargo reconciliation process.; </a:t>
                      </a:r>
                      <a:br>
                        <a:rPr lang="en-US" sz="1200" b="0" i="0" u="none" strike="sngStrike" kern="1200" baseline="0">
                          <a:solidFill>
                            <a:schemeClr val="accent6">
                              <a:lumMod val="75000"/>
                            </a:schemeClr>
                          </a:solidFill>
                          <a:latin typeface="+mn-lt"/>
                          <a:ea typeface="+mn-ea"/>
                          <a:cs typeface="+mn-cs"/>
                        </a:rPr>
                      </a:br>
                      <a:r>
                        <a:rPr lang="en-US" sz="1200" b="0" i="0" u="none" strike="sngStrike" kern="1200" baseline="0">
                          <a:solidFill>
                            <a:schemeClr val="accent6">
                              <a:lumMod val="75000"/>
                            </a:schemeClr>
                          </a:solidFill>
                          <a:latin typeface="+mn-lt"/>
                          <a:ea typeface="+mn-ea"/>
                          <a:cs typeface="+mn-cs"/>
                        </a:rPr>
                        <a:t>100+ stations, each station agent consuming around 2 to 3 days to check, is being automated and reduced to few hours on the reconciliation process.</a:t>
                      </a:r>
                    </a:p>
                    <a:p>
                      <a:pPr marL="0" lvl="0" indent="0" algn="l" defTabSz="914400" rtl="0" eaLnBrk="1" fontAlgn="t" latinLnBrk="0" hangingPunct="1">
                        <a:lnSpc>
                          <a:spcPct val="100000"/>
                        </a:lnSpc>
                        <a:spcBef>
                          <a:spcPts val="0"/>
                        </a:spcBef>
                        <a:spcAft>
                          <a:spcPts val="0"/>
                        </a:spcAft>
                        <a:buFont typeface="+mj-lt"/>
                        <a:buNone/>
                      </a:pPr>
                      <a:r>
                        <a:rPr lang="en-US" sz="1200" b="0" i="0" u="none" strike="sngStrike" kern="1200" baseline="0">
                          <a:solidFill>
                            <a:schemeClr val="accent6">
                              <a:lumMod val="75000"/>
                            </a:schemeClr>
                          </a:solidFill>
                          <a:latin typeface="+mn-lt"/>
                          <a:ea typeface="+mn-ea"/>
                          <a:cs typeface="+mn-cs"/>
                        </a:rPr>
                        <a:t>GHAs included in this phase : AISATS, DNATA, DCSC, SATS</a:t>
                      </a:r>
                    </a:p>
                  </a:txBody>
                  <a:tcPr marL="9525" marR="9525" marT="9525" marB="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447807023"/>
                  </a:ext>
                </a:extLst>
              </a:tr>
              <a:tr h="499989">
                <a:tc>
                  <a:txBody>
                    <a:bodyPr/>
                    <a:lstStyle/>
                    <a:p>
                      <a:pPr marL="0" lvl="0" indent="0" algn="l" defTabSz="914400" rtl="0" eaLnBrk="1" fontAlgn="t" latinLnBrk="0" hangingPunct="1">
                        <a:lnSpc>
                          <a:spcPct val="100000"/>
                        </a:lnSpc>
                        <a:spcBef>
                          <a:spcPts val="0"/>
                        </a:spcBef>
                        <a:spcAft>
                          <a:spcPts val="0"/>
                        </a:spcAft>
                        <a:buFont typeface="+mj-lt"/>
                        <a:buNone/>
                      </a:pPr>
                      <a:r>
                        <a:rPr lang="en-US" sz="1200" b="1" i="0" u="none" strike="sngStrike" kern="1200" baseline="0">
                          <a:solidFill>
                            <a:schemeClr val="accent6">
                              <a:lumMod val="75000"/>
                            </a:schemeClr>
                          </a:solidFill>
                          <a:latin typeface="+mn-lt"/>
                          <a:ea typeface="+mn-ea"/>
                          <a:cs typeface="+mn-cs"/>
                        </a:rPr>
                        <a:t>GHA Onboarding - Phase 2 ( Bach of 7 GHA - Station )</a:t>
                      </a:r>
                    </a:p>
                  </a:txBody>
                  <a:tcPr marL="9525" marR="9525" marT="9525" marB="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lvl="0" indent="0" algn="l" defTabSz="914400" rtl="0" eaLnBrk="1" fontAlgn="t" latinLnBrk="0" hangingPunct="1">
                        <a:lnSpc>
                          <a:spcPct val="100000"/>
                        </a:lnSpc>
                        <a:spcBef>
                          <a:spcPts val="0"/>
                        </a:spcBef>
                        <a:spcAft>
                          <a:spcPts val="0"/>
                        </a:spcAft>
                        <a:buFont typeface="+mj-lt"/>
                        <a:buNone/>
                      </a:pPr>
                      <a:r>
                        <a:rPr lang="en-US" sz="1200" b="0" i="0" u="none" strike="sngStrike" kern="1200" baseline="0">
                          <a:solidFill>
                            <a:schemeClr val="accent6">
                              <a:lumMod val="75000"/>
                            </a:schemeClr>
                          </a:solidFill>
                          <a:latin typeface="+mn-lt"/>
                          <a:ea typeface="+mn-ea"/>
                          <a:cs typeface="+mn-cs"/>
                        </a:rPr>
                        <a:t>Address 6 crore revenue discrepancy by automating the Cargo reconciliation process.; </a:t>
                      </a:r>
                      <a:br>
                        <a:rPr lang="en-US" sz="1200" b="0" i="0" u="none" strike="sngStrike" kern="1200" baseline="0">
                          <a:solidFill>
                            <a:schemeClr val="accent6">
                              <a:lumMod val="75000"/>
                            </a:schemeClr>
                          </a:solidFill>
                          <a:latin typeface="+mn-lt"/>
                          <a:ea typeface="+mn-ea"/>
                          <a:cs typeface="+mn-cs"/>
                        </a:rPr>
                      </a:br>
                      <a:r>
                        <a:rPr lang="en-US" sz="1200" b="0" i="0" u="none" strike="sngStrike" kern="1200" baseline="0">
                          <a:solidFill>
                            <a:schemeClr val="accent6">
                              <a:lumMod val="75000"/>
                            </a:schemeClr>
                          </a:solidFill>
                          <a:latin typeface="+mn-lt"/>
                          <a:ea typeface="+mn-ea"/>
                          <a:cs typeface="+mn-cs"/>
                        </a:rPr>
                        <a:t>100+ stations, each station agent consuming around 2 to 3 days to check, is being automated and reduced to few hours on the reconciliation process.</a:t>
                      </a:r>
                    </a:p>
                    <a:p>
                      <a:pPr marL="0" lvl="0" indent="0" algn="l" defTabSz="914400" rtl="0" eaLnBrk="1" fontAlgn="t" latinLnBrk="0" hangingPunct="1">
                        <a:lnSpc>
                          <a:spcPct val="100000"/>
                        </a:lnSpc>
                        <a:spcBef>
                          <a:spcPts val="0"/>
                        </a:spcBef>
                        <a:spcAft>
                          <a:spcPts val="0"/>
                        </a:spcAft>
                        <a:buFont typeface="+mj-lt"/>
                        <a:buNone/>
                      </a:pPr>
                      <a:r>
                        <a:rPr lang="en-US" sz="1200" b="0" i="0" u="none" strike="sngStrike" kern="1200" baseline="0">
                          <a:solidFill>
                            <a:schemeClr val="accent6">
                              <a:lumMod val="75000"/>
                            </a:schemeClr>
                          </a:solidFill>
                          <a:latin typeface="+mn-lt"/>
                          <a:ea typeface="+mn-ea"/>
                          <a:cs typeface="+mn-cs"/>
                        </a:rPr>
                        <a:t>GHAs included in this phase : YVR, YYZ, SFO, VIE, ZRH, BKK,SGN</a:t>
                      </a:r>
                    </a:p>
                  </a:txBody>
                  <a:tcPr marL="9525" marR="9525" marT="9525" marB="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449441059"/>
                  </a:ext>
                </a:extLst>
              </a:tr>
              <a:tr h="499989">
                <a:tc>
                  <a:txBody>
                    <a:bodyPr/>
                    <a:lstStyle/>
                    <a:p>
                      <a:pPr algn="l" fontAlgn="t">
                        <a:buNone/>
                      </a:pPr>
                      <a:r>
                        <a:rPr lang="en-US" sz="1100" b="1" i="0" u="none" strike="sngStrike" baseline="0">
                          <a:solidFill>
                            <a:srgbClr val="B61032"/>
                          </a:solidFill>
                          <a:effectLst/>
                          <a:latin typeface="Aptos Narrow" panose="020B0004020202020204" pitchFamily="34" charset="0"/>
                        </a:rPr>
                        <a:t>Family Pool : Modify checks based on the new Family pool check</a:t>
                      </a:r>
                    </a:p>
                  </a:txBody>
                  <a:tcPr marL="9525" marR="9525" marT="9525" marB="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fontAlgn="t">
                        <a:buNone/>
                      </a:pPr>
                      <a:r>
                        <a:rPr lang="en-US" sz="1100" b="0" i="0" u="none" strike="sngStrike" baseline="0">
                          <a:solidFill>
                            <a:srgbClr val="B61032"/>
                          </a:solidFill>
                          <a:effectLst/>
                          <a:latin typeface="Aptos Narrow" panose="020B0004020202020204" pitchFamily="34" charset="0"/>
                        </a:rPr>
                        <a:t>A total of ~6 Crore INR worth fraud detections were done in the current year and anticipated savings over next 3 years is ~20 Cr+ INR. </a:t>
                      </a:r>
                      <a:br>
                        <a:rPr lang="en-US" sz="1100" b="0" i="0" u="none" strike="sngStrike" baseline="0">
                          <a:solidFill>
                            <a:srgbClr val="B61032"/>
                          </a:solidFill>
                          <a:effectLst/>
                          <a:latin typeface="Aptos Narrow" panose="020B0004020202020204" pitchFamily="34" charset="0"/>
                        </a:rPr>
                      </a:br>
                      <a:r>
                        <a:rPr lang="en-US" sz="1100" b="0" i="0" u="none" strike="sngStrike" baseline="0">
                          <a:solidFill>
                            <a:srgbClr val="B61032"/>
                          </a:solidFill>
                          <a:effectLst/>
                          <a:latin typeface="Aptos Narrow" panose="020B0004020202020204" pitchFamily="34" charset="0"/>
                        </a:rPr>
                        <a:t>Details as follows:</a:t>
                      </a:r>
                      <a:br>
                        <a:rPr lang="en-US" sz="1100" b="0" i="0" u="none" strike="sngStrike" baseline="0">
                          <a:solidFill>
                            <a:srgbClr val="B61032"/>
                          </a:solidFill>
                          <a:effectLst/>
                          <a:latin typeface="Aptos Narrow" panose="020B0004020202020204" pitchFamily="34" charset="0"/>
                        </a:rPr>
                      </a:br>
                      <a:r>
                        <a:rPr lang="en-US" sz="1100" b="0" i="0" u="none" strike="sngStrike" baseline="0">
                          <a:solidFill>
                            <a:srgbClr val="B61032"/>
                          </a:solidFill>
                          <a:effectLst/>
                          <a:latin typeface="Aptos Narrow" panose="020B0004020202020204" pitchFamily="34" charset="0"/>
                        </a:rPr>
                        <a:t>In this phase we be making necessary changes to Family pool module to enable it to effectively identify family pool based fraudulent attempts in the updated family pool-based workflow.</a:t>
                      </a:r>
                    </a:p>
                  </a:txBody>
                  <a:tcPr marL="9525" marR="9525" marT="9525" marB="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066234845"/>
                  </a:ext>
                </a:extLst>
              </a:tr>
              <a:tr h="499989">
                <a:tc>
                  <a:txBody>
                    <a:bodyPr/>
                    <a:lstStyle/>
                    <a:p>
                      <a:pPr algn="l" fontAlgn="t">
                        <a:buNone/>
                      </a:pPr>
                      <a:r>
                        <a:rPr lang="en-IN" sz="1100" b="1" i="0" u="none" strike="sngStrike" baseline="0">
                          <a:solidFill>
                            <a:srgbClr val="0070C0"/>
                          </a:solidFill>
                          <a:effectLst/>
                          <a:latin typeface="Aptos Narrow" panose="020B0004020202020204" pitchFamily="34" charset="0"/>
                        </a:rPr>
                        <a:t> Voucher Fraud  Enhancements</a:t>
                      </a:r>
                    </a:p>
                  </a:txBody>
                  <a:tcPr marL="9525" marR="9525" marT="9525" marB="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fontAlgn="t">
                        <a:buNone/>
                      </a:pPr>
                      <a:r>
                        <a:rPr lang="en-US" sz="1100" b="0" i="0" u="none" strike="sngStrike" baseline="0">
                          <a:solidFill>
                            <a:srgbClr val="0070C0"/>
                          </a:solidFill>
                          <a:effectLst/>
                          <a:latin typeface="Aptos Narrow" panose="020B0004020202020204" pitchFamily="34" charset="0"/>
                        </a:rPr>
                        <a:t>Voucher fraud: 3.3 Crore INR worth revenue impact identification/analysis was done over 3014 Voucher impact and 6768 Tickets.</a:t>
                      </a:r>
                      <a:br>
                        <a:rPr lang="en-US" sz="1100" b="0" i="0" u="none" strike="sngStrike" baseline="0">
                          <a:solidFill>
                            <a:srgbClr val="0070C0"/>
                          </a:solidFill>
                          <a:effectLst/>
                          <a:latin typeface="Aptos Narrow" panose="020B0004020202020204" pitchFamily="34" charset="0"/>
                        </a:rPr>
                      </a:br>
                      <a:r>
                        <a:rPr lang="en-US" sz="1100" b="0" i="0" u="none" strike="sngStrike" baseline="0">
                          <a:solidFill>
                            <a:srgbClr val="0070C0"/>
                          </a:solidFill>
                          <a:effectLst/>
                          <a:latin typeface="Aptos Narrow" panose="020B0004020202020204" pitchFamily="34" charset="0"/>
                        </a:rPr>
                        <a:t>In this phase we are bringing in few business rule changes and UI feature </a:t>
                      </a:r>
                    </a:p>
                  </a:txBody>
                  <a:tcPr marL="9525" marR="9525" marT="9525" marB="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265103769"/>
                  </a:ext>
                </a:extLst>
              </a:tr>
              <a:tr h="499989">
                <a:tc>
                  <a:txBody>
                    <a:bodyPr/>
                    <a:lstStyle/>
                    <a:p>
                      <a:pPr algn="l" fontAlgn="t">
                        <a:buNone/>
                      </a:pPr>
                      <a:r>
                        <a:rPr lang="en-US" sz="1100" b="1" i="0" u="none" strike="sngStrike" baseline="0">
                          <a:solidFill>
                            <a:srgbClr val="B61032"/>
                          </a:solidFill>
                          <a:effectLst/>
                          <a:latin typeface="Aptos Narrow" panose="020B0004020202020204" pitchFamily="34" charset="0"/>
                        </a:rPr>
                        <a:t>Fraud Prevention Engine : Actioning directly from Fraud prevention engine</a:t>
                      </a:r>
                    </a:p>
                  </a:txBody>
                  <a:tcPr marL="9525" marR="9525" marT="9525" marB="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fontAlgn="t">
                        <a:buNone/>
                      </a:pPr>
                      <a:r>
                        <a:rPr lang="en-US" sz="1100" b="0" i="0" u="none" strike="sngStrike" baseline="0">
                          <a:solidFill>
                            <a:srgbClr val="B61032"/>
                          </a:solidFill>
                          <a:effectLst/>
                          <a:latin typeface="Aptos Narrow" panose="020B0004020202020204" pitchFamily="34" charset="0"/>
                        </a:rPr>
                        <a:t>A total of ~6 Crore INR worth fraud detections were done in the current year and anticipated savings over next 3 years is ~20 Cr+ INR. </a:t>
                      </a:r>
                      <a:br>
                        <a:rPr lang="en-US" sz="1100" b="0" i="0" u="none" strike="sngStrike" baseline="0">
                          <a:solidFill>
                            <a:srgbClr val="B61032"/>
                          </a:solidFill>
                          <a:effectLst/>
                          <a:latin typeface="Aptos Narrow" panose="020B0004020202020204" pitchFamily="34" charset="0"/>
                        </a:rPr>
                      </a:br>
                      <a:r>
                        <a:rPr lang="en-US" sz="1100" b="0" i="0" u="none" strike="sngStrike" baseline="0">
                          <a:solidFill>
                            <a:srgbClr val="B61032"/>
                          </a:solidFill>
                          <a:effectLst/>
                          <a:latin typeface="Aptos Narrow" panose="020B0004020202020204" pitchFamily="34" charset="0"/>
                        </a:rPr>
                        <a:t>Details as follows:</a:t>
                      </a:r>
                      <a:br>
                        <a:rPr lang="en-US" sz="1100" b="0" i="0" u="none" strike="sngStrike" baseline="0">
                          <a:solidFill>
                            <a:srgbClr val="B61032"/>
                          </a:solidFill>
                          <a:effectLst/>
                          <a:latin typeface="Aptos Narrow" panose="020B0004020202020204" pitchFamily="34" charset="0"/>
                        </a:rPr>
                      </a:br>
                      <a:r>
                        <a:rPr lang="en-US" sz="1100" b="0" i="0" u="none" strike="sngStrike" baseline="0">
                          <a:solidFill>
                            <a:srgbClr val="B61032"/>
                          </a:solidFill>
                          <a:effectLst/>
                          <a:latin typeface="Aptos Narrow" panose="020B0004020202020204" pitchFamily="34" charset="0"/>
                        </a:rPr>
                        <a:t>In this phase Enhancement to Fraud prevention engine - where the users will be able to suspend / cancel the account directly from the system</a:t>
                      </a:r>
                    </a:p>
                    <a:p>
                      <a:pPr algn="l" fontAlgn="t">
                        <a:buNone/>
                      </a:pPr>
                      <a:endParaRPr lang="en-US" sz="1100" b="0" i="0" u="none" strike="sngStrike" baseline="0">
                        <a:solidFill>
                          <a:srgbClr val="B61032"/>
                        </a:solidFill>
                        <a:effectLst/>
                        <a:latin typeface="Aptos Narrow" panose="020B0004020202020204" pitchFamily="34" charset="0"/>
                      </a:endParaRPr>
                    </a:p>
                  </a:txBody>
                  <a:tcPr marL="9525" marR="9525" marT="9525" marB="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135849514"/>
                  </a:ext>
                </a:extLst>
              </a:tr>
            </a:tbl>
          </a:graphicData>
        </a:graphic>
      </p:graphicFrame>
      <p:sp>
        <p:nvSpPr>
          <p:cNvPr id="16" name="Rectangle 15">
            <a:extLst>
              <a:ext uri="{FF2B5EF4-FFF2-40B4-BE49-F238E27FC236}">
                <a16:creationId xmlns:a16="http://schemas.microsoft.com/office/drawing/2014/main" id="{D55003F9-81DC-4EEC-E33E-3E57378F5EBF}"/>
              </a:ext>
            </a:extLst>
          </p:cNvPr>
          <p:cNvSpPr/>
          <p:nvPr/>
        </p:nvSpPr>
        <p:spPr>
          <a:xfrm>
            <a:off x="195943" y="763684"/>
            <a:ext cx="1170432" cy="42234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1100" b="1">
                <a:latin typeface="AirIndia"/>
              </a:rPr>
              <a:t>May 2026</a:t>
            </a:r>
            <a:endParaRPr lang="en-US"/>
          </a:p>
        </p:txBody>
      </p:sp>
    </p:spTree>
    <p:extLst>
      <p:ext uri="{BB962C8B-B14F-4D97-AF65-F5344CB8AC3E}">
        <p14:creationId xmlns:p14="http://schemas.microsoft.com/office/powerpoint/2010/main" val="1175551694"/>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533A60-4CDD-9171-7CF3-AF99B0838B9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5897F5-EAA0-525B-32A0-698855790D80}"/>
              </a:ext>
            </a:extLst>
          </p:cNvPr>
          <p:cNvSpPr>
            <a:spLocks noGrp="1"/>
          </p:cNvSpPr>
          <p:nvPr>
            <p:ph type="sldNum" sz="quarter" idx="12"/>
          </p:nvPr>
        </p:nvSpPr>
        <p:spPr/>
        <p:txBody>
          <a:bodyPr/>
          <a:lstStyle/>
          <a:p>
            <a:fld id="{3A41A254-7326-714E-AF55-4C213D6394DE}" type="slidenum">
              <a:rPr lang="en-US" smtClean="0"/>
              <a:pPr/>
              <a:t>92</a:t>
            </a:fld>
            <a:endParaRPr lang="en-US"/>
          </a:p>
        </p:txBody>
      </p:sp>
      <p:sp>
        <p:nvSpPr>
          <p:cNvPr id="6" name="Title 11">
            <a:extLst>
              <a:ext uri="{FF2B5EF4-FFF2-40B4-BE49-F238E27FC236}">
                <a16:creationId xmlns:a16="http://schemas.microsoft.com/office/drawing/2014/main" id="{7A549A1D-E60B-611E-73D9-D7A3E61D24A8}"/>
              </a:ext>
            </a:extLst>
          </p:cNvPr>
          <p:cNvSpPr txBox="1">
            <a:spLocks/>
          </p:cNvSpPr>
          <p:nvPr/>
        </p:nvSpPr>
        <p:spPr>
          <a:xfrm>
            <a:off x="195943" y="307594"/>
            <a:ext cx="6955672" cy="396638"/>
          </a:xfrm>
          <a:prstGeom prst="rect">
            <a:avLst/>
          </a:prstGeom>
        </p:spPr>
        <p:txBody>
          <a:bodyPr lIns="91440" tIns="45720" rIns="91440" bIns="45720" anchor="t">
            <a:noAutofit/>
          </a:bodyPr>
          <a:lstStyle>
            <a:lvl1pPr algn="l" defTabSz="914400" rtl="0" eaLnBrk="1" latinLnBrk="0" hangingPunct="1">
              <a:lnSpc>
                <a:spcPct val="90000"/>
              </a:lnSpc>
              <a:spcBef>
                <a:spcPct val="0"/>
              </a:spcBef>
              <a:buNone/>
              <a:defRPr sz="4400" b="1" i="0" kern="1200">
                <a:solidFill>
                  <a:schemeClr val="tx1"/>
                </a:solidFill>
                <a:latin typeface="AirIndia" pitchFamily="82" charset="77"/>
                <a:ea typeface="+mj-ea"/>
                <a:cs typeface="+mj-cs"/>
              </a:defRPr>
            </a:lvl1pPr>
          </a:lstStyle>
          <a:p>
            <a:r>
              <a:rPr lang="en-US" sz="1800">
                <a:solidFill>
                  <a:schemeClr val="accent1"/>
                </a:solidFill>
                <a:latin typeface="AirIndia"/>
              </a:rPr>
              <a:t>Commercial - FY26 Q1  Release Plan Status Update</a:t>
            </a:r>
            <a:endParaRPr lang="en-US" sz="1800" b="0">
              <a:solidFill>
                <a:schemeClr val="accent1"/>
              </a:solidFill>
              <a:latin typeface="AirIndia"/>
            </a:endParaRPr>
          </a:p>
        </p:txBody>
      </p:sp>
      <p:sp>
        <p:nvSpPr>
          <p:cNvPr id="3" name="Rectangle 2">
            <a:extLst>
              <a:ext uri="{FF2B5EF4-FFF2-40B4-BE49-F238E27FC236}">
                <a16:creationId xmlns:a16="http://schemas.microsoft.com/office/drawing/2014/main" id="{2A8D738A-AA3B-D517-2DB3-25464B8201A7}"/>
              </a:ext>
            </a:extLst>
          </p:cNvPr>
          <p:cNvSpPr/>
          <p:nvPr/>
        </p:nvSpPr>
        <p:spPr>
          <a:xfrm>
            <a:off x="3465009" y="6262087"/>
            <a:ext cx="90000" cy="90000"/>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
        <p:nvSpPr>
          <p:cNvPr id="4" name="Rectangle 3">
            <a:extLst>
              <a:ext uri="{FF2B5EF4-FFF2-40B4-BE49-F238E27FC236}">
                <a16:creationId xmlns:a16="http://schemas.microsoft.com/office/drawing/2014/main" id="{B268A364-8A12-0297-C3EB-E6658F4BB6F3}"/>
              </a:ext>
            </a:extLst>
          </p:cNvPr>
          <p:cNvSpPr/>
          <p:nvPr/>
        </p:nvSpPr>
        <p:spPr>
          <a:xfrm>
            <a:off x="3465009" y="6489649"/>
            <a:ext cx="90000" cy="90000"/>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
        <p:nvSpPr>
          <p:cNvPr id="5" name="Rectangle 4">
            <a:extLst>
              <a:ext uri="{FF2B5EF4-FFF2-40B4-BE49-F238E27FC236}">
                <a16:creationId xmlns:a16="http://schemas.microsoft.com/office/drawing/2014/main" id="{53E40B7D-5301-B20E-D3E3-5A6F15852507}"/>
              </a:ext>
            </a:extLst>
          </p:cNvPr>
          <p:cNvSpPr/>
          <p:nvPr/>
        </p:nvSpPr>
        <p:spPr>
          <a:xfrm>
            <a:off x="5567900" y="6262087"/>
            <a:ext cx="90000" cy="90000"/>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
        <p:nvSpPr>
          <p:cNvPr id="7" name="Rectangle 6">
            <a:extLst>
              <a:ext uri="{FF2B5EF4-FFF2-40B4-BE49-F238E27FC236}">
                <a16:creationId xmlns:a16="http://schemas.microsoft.com/office/drawing/2014/main" id="{39749A68-28B1-4C41-F2F3-6E10A8F0E06B}"/>
              </a:ext>
            </a:extLst>
          </p:cNvPr>
          <p:cNvSpPr/>
          <p:nvPr/>
        </p:nvSpPr>
        <p:spPr>
          <a:xfrm>
            <a:off x="5567900" y="6489649"/>
            <a:ext cx="90000" cy="90000"/>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
        <p:nvSpPr>
          <p:cNvPr id="8" name="TextBox 15">
            <a:extLst>
              <a:ext uri="{FF2B5EF4-FFF2-40B4-BE49-F238E27FC236}">
                <a16:creationId xmlns:a16="http://schemas.microsoft.com/office/drawing/2014/main" id="{9A58E7DA-3CD1-2EF0-CD66-7EA982EAF8E7}"/>
              </a:ext>
            </a:extLst>
          </p:cNvPr>
          <p:cNvSpPr txBox="1"/>
          <p:nvPr/>
        </p:nvSpPr>
        <p:spPr>
          <a:xfrm>
            <a:off x="3522317" y="6205238"/>
            <a:ext cx="857245"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000">
                <a:solidFill>
                  <a:srgbClr val="0070C0"/>
                </a:solidFill>
              </a:rPr>
              <a:t>Delivered</a:t>
            </a:r>
            <a:endParaRPr lang="en-IN" sz="1000"/>
          </a:p>
        </p:txBody>
      </p:sp>
      <p:sp>
        <p:nvSpPr>
          <p:cNvPr id="9" name="TextBox 18">
            <a:extLst>
              <a:ext uri="{FF2B5EF4-FFF2-40B4-BE49-F238E27FC236}">
                <a16:creationId xmlns:a16="http://schemas.microsoft.com/office/drawing/2014/main" id="{7599FA54-5295-CAD9-5674-8E29CD4E85D5}"/>
              </a:ext>
            </a:extLst>
          </p:cNvPr>
          <p:cNvSpPr txBox="1"/>
          <p:nvPr/>
        </p:nvSpPr>
        <p:spPr>
          <a:xfrm>
            <a:off x="3520719" y="6430197"/>
            <a:ext cx="1032881"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000">
                <a:solidFill>
                  <a:srgbClr val="00B050"/>
                </a:solidFill>
              </a:rPr>
              <a:t>Ontrack</a:t>
            </a:r>
            <a:endParaRPr lang="en-IN" sz="1000"/>
          </a:p>
        </p:txBody>
      </p:sp>
      <p:sp>
        <p:nvSpPr>
          <p:cNvPr id="10" name="TextBox 20">
            <a:extLst>
              <a:ext uri="{FF2B5EF4-FFF2-40B4-BE49-F238E27FC236}">
                <a16:creationId xmlns:a16="http://schemas.microsoft.com/office/drawing/2014/main" id="{4740E60D-2A99-BCB1-DB4A-4C59D85F1C3C}"/>
              </a:ext>
            </a:extLst>
          </p:cNvPr>
          <p:cNvSpPr txBox="1"/>
          <p:nvPr/>
        </p:nvSpPr>
        <p:spPr>
          <a:xfrm>
            <a:off x="5653197" y="6220637"/>
            <a:ext cx="2257628"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000">
                <a:solidFill>
                  <a:schemeClr val="accent6">
                    <a:lumMod val="75000"/>
                  </a:schemeClr>
                </a:solidFill>
              </a:rPr>
              <a:t>Under delay and can be recovered</a:t>
            </a:r>
            <a:endParaRPr lang="en-IN" sz="1000"/>
          </a:p>
        </p:txBody>
      </p:sp>
      <p:sp>
        <p:nvSpPr>
          <p:cNvPr id="11" name="TextBox 22">
            <a:extLst>
              <a:ext uri="{FF2B5EF4-FFF2-40B4-BE49-F238E27FC236}">
                <a16:creationId xmlns:a16="http://schemas.microsoft.com/office/drawing/2014/main" id="{5039D0D0-F0CB-44CC-FB00-BE3E0E94B881}"/>
              </a:ext>
            </a:extLst>
          </p:cNvPr>
          <p:cNvSpPr txBox="1"/>
          <p:nvPr/>
        </p:nvSpPr>
        <p:spPr>
          <a:xfrm>
            <a:off x="5657900" y="6437221"/>
            <a:ext cx="3069090"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000">
                <a:solidFill>
                  <a:schemeClr val="accent2"/>
                </a:solidFill>
              </a:rPr>
              <a:t>Delayed and pushed to next release</a:t>
            </a:r>
            <a:endParaRPr lang="en-IN" sz="1000"/>
          </a:p>
        </p:txBody>
      </p:sp>
      <p:graphicFrame>
        <p:nvGraphicFramePr>
          <p:cNvPr id="14" name="Table 13">
            <a:extLst>
              <a:ext uri="{FF2B5EF4-FFF2-40B4-BE49-F238E27FC236}">
                <a16:creationId xmlns:a16="http://schemas.microsoft.com/office/drawing/2014/main" id="{E682AA65-2408-36CA-B2AE-C33ABC3C6D90}"/>
              </a:ext>
            </a:extLst>
          </p:cNvPr>
          <p:cNvGraphicFramePr>
            <a:graphicFrameLocks noGrp="1"/>
          </p:cNvGraphicFramePr>
          <p:nvPr>
            <p:extLst>
              <p:ext uri="{D42A27DB-BD31-4B8C-83A1-F6EECF244321}">
                <p14:modId xmlns:p14="http://schemas.microsoft.com/office/powerpoint/2010/main" val="451037811"/>
              </p:ext>
            </p:extLst>
          </p:nvPr>
        </p:nvGraphicFramePr>
        <p:xfrm>
          <a:off x="1284507" y="792850"/>
          <a:ext cx="10697938" cy="1645920"/>
        </p:xfrm>
        <a:graphic>
          <a:graphicData uri="http://schemas.openxmlformats.org/drawingml/2006/table">
            <a:tbl>
              <a:tblPr firstRow="1" bandRow="1">
                <a:tableStyleId>{5C22544A-7EE6-4342-B048-85BDC9FD1C3A}</a:tableStyleId>
              </a:tblPr>
              <a:tblGrid>
                <a:gridCol w="3759269">
                  <a:extLst>
                    <a:ext uri="{9D8B030D-6E8A-4147-A177-3AD203B41FA5}">
                      <a16:colId xmlns:a16="http://schemas.microsoft.com/office/drawing/2014/main" val="2822350773"/>
                    </a:ext>
                  </a:extLst>
                </a:gridCol>
                <a:gridCol w="6938669">
                  <a:extLst>
                    <a:ext uri="{9D8B030D-6E8A-4147-A177-3AD203B41FA5}">
                      <a16:colId xmlns:a16="http://schemas.microsoft.com/office/drawing/2014/main" val="99588705"/>
                    </a:ext>
                  </a:extLst>
                </a:gridCol>
              </a:tblGrid>
              <a:tr h="217387">
                <a:tc>
                  <a:txBody>
                    <a:bodyPr/>
                    <a:lstStyle/>
                    <a:p>
                      <a:pPr marL="0" lvl="0" indent="0" algn="ctr" defTabSz="914400" rtl="0" eaLnBrk="1" latinLnBrk="0" hangingPunct="1">
                        <a:lnSpc>
                          <a:spcPct val="100000"/>
                        </a:lnSpc>
                        <a:buFont typeface="Arial" panose="020B0604020202020204" pitchFamily="34" charset="0"/>
                        <a:buNone/>
                      </a:pPr>
                      <a:r>
                        <a:rPr lang="en-IN" sz="1200" kern="1200">
                          <a:solidFill>
                            <a:schemeClr val="bg1"/>
                          </a:solidFill>
                          <a:latin typeface="+mn-lt"/>
                          <a:ea typeface="+mn-ea"/>
                          <a:cs typeface="+mn-cs"/>
                        </a:rPr>
                        <a:t>Project/Initiative</a:t>
                      </a:r>
                      <a:endParaRPr lang="en-US" sz="1200"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tc>
                  <a:txBody>
                    <a:bodyPr/>
                    <a:lstStyle/>
                    <a:p>
                      <a:pPr marL="0" indent="0" algn="ctr" defTabSz="914400" rtl="0" eaLnBrk="1" latinLnBrk="0" hangingPunct="1">
                        <a:buFont typeface="Arial" panose="020B0604020202020204" pitchFamily="34" charset="0"/>
                        <a:buNone/>
                      </a:pPr>
                      <a:r>
                        <a:rPr lang="en-IN" sz="1200" kern="1200">
                          <a:solidFill>
                            <a:schemeClr val="bg1"/>
                          </a:solidFill>
                          <a:latin typeface="+mn-lt"/>
                          <a:ea typeface="+mn-ea"/>
                          <a:cs typeface="+mn-cs"/>
                        </a:rPr>
                        <a:t>Value Justification/Realization</a:t>
                      </a:r>
                      <a:endParaRPr lang="en-US" sz="1200"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extLst>
                  <a:ext uri="{0D108BD9-81ED-4DB2-BD59-A6C34878D82A}">
                    <a16:rowId xmlns:a16="http://schemas.microsoft.com/office/drawing/2014/main" val="844450115"/>
                  </a:ext>
                </a:extLst>
              </a:tr>
              <a:tr h="499989">
                <a:tc>
                  <a:txBody>
                    <a:bodyPr/>
                    <a:lstStyle/>
                    <a:p>
                      <a:pPr marL="0" lvl="0" indent="0" algn="l">
                        <a:lnSpc>
                          <a:spcPct val="100000"/>
                        </a:lnSpc>
                        <a:spcBef>
                          <a:spcPts val="0"/>
                        </a:spcBef>
                        <a:spcAft>
                          <a:spcPts val="0"/>
                        </a:spcAft>
                        <a:buFont typeface="+mj-lt"/>
                        <a:buNone/>
                      </a:pPr>
                      <a:r>
                        <a:rPr lang="en-US" sz="1200" b="1" i="0" u="none" strike="noStrike" kern="1200" noProof="0">
                          <a:solidFill>
                            <a:srgbClr val="05B050"/>
                          </a:solidFill>
                          <a:latin typeface="+mn-lt"/>
                        </a:rPr>
                        <a:t>Smart Pricing – Milestone 3</a:t>
                      </a: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200" b="0" i="0" u="none" strike="noStrike" kern="1200" noProof="0">
                          <a:solidFill>
                            <a:srgbClr val="05B050"/>
                          </a:solidFill>
                          <a:latin typeface="+mn-lt"/>
                          <a:ea typeface="+mn-ea"/>
                          <a:cs typeface="+mn-cs"/>
                        </a:rPr>
                        <a:t>The current fare-monitoring and filing workflow is manual, complex and time taking — analysts visually identify critical ODs, benchmark in spreadsheets, and pass human-led instructions to a BPO team—creating delays (1–3 days), capacity limits (≈400–600 ODs/day), and a high risk of missing critical ODs. We build a cost-effective solution along with computer user agent automation to augment the filing</a:t>
                      </a: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200" b="0" i="0" u="none" strike="noStrike" kern="1200" noProof="0">
                          <a:solidFill>
                            <a:srgbClr val="05B050"/>
                          </a:solidFill>
                          <a:latin typeface="+mn-lt"/>
                          <a:ea typeface="+mn-ea"/>
                          <a:cs typeface="+mn-cs"/>
                        </a:rPr>
                        <a:t>Phase 3: Scaled performance for large OD networks, End to End fare rule coverage across major ATPCO categories. Operational resilience with exception handling</a:t>
                      </a: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443371065"/>
                  </a:ext>
                </a:extLst>
              </a:tr>
            </a:tbl>
          </a:graphicData>
        </a:graphic>
      </p:graphicFrame>
      <p:sp>
        <p:nvSpPr>
          <p:cNvPr id="16" name="Rectangle 15">
            <a:extLst>
              <a:ext uri="{FF2B5EF4-FFF2-40B4-BE49-F238E27FC236}">
                <a16:creationId xmlns:a16="http://schemas.microsoft.com/office/drawing/2014/main" id="{C7C1E64D-5B8D-7224-7BE9-DD383A1CC097}"/>
              </a:ext>
            </a:extLst>
          </p:cNvPr>
          <p:cNvSpPr/>
          <p:nvPr/>
        </p:nvSpPr>
        <p:spPr>
          <a:xfrm>
            <a:off x="114075" y="789366"/>
            <a:ext cx="1170432" cy="42234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1100" b="1">
                <a:latin typeface="AirIndia"/>
              </a:rPr>
              <a:t>June 2026</a:t>
            </a:r>
            <a:endParaRPr lang="en-US"/>
          </a:p>
        </p:txBody>
      </p:sp>
    </p:spTree>
    <p:extLst>
      <p:ext uri="{BB962C8B-B14F-4D97-AF65-F5344CB8AC3E}">
        <p14:creationId xmlns:p14="http://schemas.microsoft.com/office/powerpoint/2010/main" val="21367701"/>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3B1250-310D-3640-11B4-DF6113DA7E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98FA4D-3458-8880-D086-5CBB9F47EBF0}"/>
              </a:ext>
            </a:extLst>
          </p:cNvPr>
          <p:cNvSpPr>
            <a:spLocks noGrp="1"/>
          </p:cNvSpPr>
          <p:nvPr>
            <p:ph type="title"/>
          </p:nvPr>
        </p:nvSpPr>
        <p:spPr>
          <a:xfrm>
            <a:off x="5876373" y="2114927"/>
            <a:ext cx="6907630" cy="1961201"/>
          </a:xfrm>
        </p:spPr>
        <p:txBody>
          <a:bodyPr/>
          <a:lstStyle/>
          <a:p>
            <a:r>
              <a:rPr lang="en-US" sz="5400">
                <a:latin typeface="AirIndia"/>
              </a:rPr>
              <a:t>Commercial-Q2</a:t>
            </a:r>
            <a:endParaRPr lang="en-US" sz="5400"/>
          </a:p>
        </p:txBody>
      </p:sp>
    </p:spTree>
    <p:extLst>
      <p:ext uri="{BB962C8B-B14F-4D97-AF65-F5344CB8AC3E}">
        <p14:creationId xmlns:p14="http://schemas.microsoft.com/office/powerpoint/2010/main" val="3155426202"/>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1B48CF-5CC1-FC22-FB26-A86D966CDAB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0A73C0D-2BC2-627E-3053-2632AEA1E9D2}"/>
              </a:ext>
            </a:extLst>
          </p:cNvPr>
          <p:cNvSpPr>
            <a:spLocks noGrp="1"/>
          </p:cNvSpPr>
          <p:nvPr>
            <p:ph type="sldNum" sz="quarter" idx="12"/>
          </p:nvPr>
        </p:nvSpPr>
        <p:spPr/>
        <p:txBody>
          <a:bodyPr/>
          <a:lstStyle/>
          <a:p>
            <a:fld id="{3A41A254-7326-714E-AF55-4C213D6394DE}" type="slidenum">
              <a:rPr lang="en-US" smtClean="0"/>
              <a:pPr/>
              <a:t>94</a:t>
            </a:fld>
            <a:endParaRPr lang="en-US"/>
          </a:p>
        </p:txBody>
      </p:sp>
      <p:sp>
        <p:nvSpPr>
          <p:cNvPr id="6" name="Title 11">
            <a:extLst>
              <a:ext uri="{FF2B5EF4-FFF2-40B4-BE49-F238E27FC236}">
                <a16:creationId xmlns:a16="http://schemas.microsoft.com/office/drawing/2014/main" id="{3B6214DE-0B68-448C-3B51-2C4D11242994}"/>
              </a:ext>
            </a:extLst>
          </p:cNvPr>
          <p:cNvSpPr txBox="1">
            <a:spLocks/>
          </p:cNvSpPr>
          <p:nvPr/>
        </p:nvSpPr>
        <p:spPr>
          <a:xfrm>
            <a:off x="195943" y="307594"/>
            <a:ext cx="6955672" cy="396638"/>
          </a:xfrm>
          <a:prstGeom prst="rect">
            <a:avLst/>
          </a:prstGeom>
        </p:spPr>
        <p:txBody>
          <a:bodyPr lIns="91440" tIns="45720" rIns="91440" bIns="45720" anchor="t">
            <a:noAutofit/>
          </a:bodyPr>
          <a:lstStyle>
            <a:lvl1pPr algn="l" defTabSz="914400" rtl="0" eaLnBrk="1" latinLnBrk="0" hangingPunct="1">
              <a:lnSpc>
                <a:spcPct val="90000"/>
              </a:lnSpc>
              <a:spcBef>
                <a:spcPct val="0"/>
              </a:spcBef>
              <a:buNone/>
              <a:defRPr sz="4400" b="1" i="0" kern="1200">
                <a:solidFill>
                  <a:schemeClr val="tx1"/>
                </a:solidFill>
                <a:latin typeface="AirIndia" pitchFamily="82" charset="77"/>
                <a:ea typeface="+mj-ea"/>
                <a:cs typeface="+mj-cs"/>
              </a:defRPr>
            </a:lvl1pPr>
          </a:lstStyle>
          <a:p>
            <a:r>
              <a:rPr lang="en-US" sz="1800">
                <a:solidFill>
                  <a:schemeClr val="accent1"/>
                </a:solidFill>
                <a:latin typeface="AirIndia"/>
              </a:rPr>
              <a:t>Commercial RM - FY26 Q2  Release Plan Status Update</a:t>
            </a:r>
            <a:endParaRPr lang="en-US" sz="1800" b="0">
              <a:solidFill>
                <a:schemeClr val="accent1"/>
              </a:solidFill>
              <a:latin typeface="AirIndia"/>
            </a:endParaRPr>
          </a:p>
        </p:txBody>
      </p:sp>
      <p:graphicFrame>
        <p:nvGraphicFramePr>
          <p:cNvPr id="12" name="Table 11">
            <a:extLst>
              <a:ext uri="{FF2B5EF4-FFF2-40B4-BE49-F238E27FC236}">
                <a16:creationId xmlns:a16="http://schemas.microsoft.com/office/drawing/2014/main" id="{4AAA1732-F705-3116-7EC5-CD1372BF1120}"/>
              </a:ext>
            </a:extLst>
          </p:cNvPr>
          <p:cNvGraphicFramePr>
            <a:graphicFrameLocks noGrp="1"/>
          </p:cNvGraphicFramePr>
          <p:nvPr>
            <p:extLst>
              <p:ext uri="{D42A27DB-BD31-4B8C-83A1-F6EECF244321}">
                <p14:modId xmlns:p14="http://schemas.microsoft.com/office/powerpoint/2010/main" val="3720538746"/>
              </p:ext>
            </p:extLst>
          </p:nvPr>
        </p:nvGraphicFramePr>
        <p:xfrm>
          <a:off x="1295713" y="866914"/>
          <a:ext cx="10697938" cy="4692015"/>
        </p:xfrm>
        <a:graphic>
          <a:graphicData uri="http://schemas.openxmlformats.org/drawingml/2006/table">
            <a:tbl>
              <a:tblPr firstRow="1" bandRow="1">
                <a:tableStyleId>{5C22544A-7EE6-4342-B048-85BDC9FD1C3A}</a:tableStyleId>
              </a:tblPr>
              <a:tblGrid>
                <a:gridCol w="3758887">
                  <a:extLst>
                    <a:ext uri="{9D8B030D-6E8A-4147-A177-3AD203B41FA5}">
                      <a16:colId xmlns:a16="http://schemas.microsoft.com/office/drawing/2014/main" val="2822350773"/>
                    </a:ext>
                  </a:extLst>
                </a:gridCol>
                <a:gridCol w="6939051">
                  <a:extLst>
                    <a:ext uri="{9D8B030D-6E8A-4147-A177-3AD203B41FA5}">
                      <a16:colId xmlns:a16="http://schemas.microsoft.com/office/drawing/2014/main" val="99588705"/>
                    </a:ext>
                  </a:extLst>
                </a:gridCol>
              </a:tblGrid>
              <a:tr h="217387">
                <a:tc>
                  <a:txBody>
                    <a:bodyPr/>
                    <a:lstStyle/>
                    <a:p>
                      <a:pPr marL="0" lvl="0" indent="0" algn="ctr" defTabSz="914400" rtl="0" eaLnBrk="1" latinLnBrk="0" hangingPunct="1">
                        <a:lnSpc>
                          <a:spcPct val="100000"/>
                        </a:lnSpc>
                        <a:buFont typeface="Arial" panose="020B0604020202020204" pitchFamily="34" charset="0"/>
                        <a:buNone/>
                      </a:pPr>
                      <a:r>
                        <a:rPr lang="en-IN" sz="1200" kern="1200">
                          <a:solidFill>
                            <a:schemeClr val="bg1"/>
                          </a:solidFill>
                          <a:latin typeface="+mn-lt"/>
                          <a:ea typeface="+mn-ea"/>
                          <a:cs typeface="+mn-cs"/>
                        </a:rPr>
                        <a:t>Project/Initiative</a:t>
                      </a:r>
                      <a:endParaRPr lang="en-US" sz="1200"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tc>
                  <a:txBody>
                    <a:bodyPr/>
                    <a:lstStyle/>
                    <a:p>
                      <a:pPr marL="0" indent="0" algn="ctr" defTabSz="914400" rtl="0" eaLnBrk="1" latinLnBrk="0" hangingPunct="1">
                        <a:buFont typeface="Arial" panose="020B0604020202020204" pitchFamily="34" charset="0"/>
                        <a:buNone/>
                      </a:pPr>
                      <a:r>
                        <a:rPr lang="en-IN" sz="1200" kern="1200">
                          <a:solidFill>
                            <a:schemeClr val="bg1"/>
                          </a:solidFill>
                          <a:latin typeface="+mn-lt"/>
                          <a:ea typeface="+mn-ea"/>
                          <a:cs typeface="+mn-cs"/>
                        </a:rPr>
                        <a:t>Value Justification/Realization</a:t>
                      </a:r>
                      <a:endParaRPr lang="en-US" sz="1200"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extLst>
                  <a:ext uri="{0D108BD9-81ED-4DB2-BD59-A6C34878D82A}">
                    <a16:rowId xmlns:a16="http://schemas.microsoft.com/office/drawing/2014/main" val="844450115"/>
                  </a:ext>
                </a:extLst>
              </a:tr>
              <a:tr h="499989">
                <a:tc>
                  <a:txBody>
                    <a:bodyPr/>
                    <a:lstStyle/>
                    <a:p>
                      <a:pPr marL="0" lvl="0" indent="0" algn="l">
                        <a:lnSpc>
                          <a:spcPct val="100000"/>
                        </a:lnSpc>
                        <a:spcBef>
                          <a:spcPts val="0"/>
                        </a:spcBef>
                        <a:spcAft>
                          <a:spcPts val="0"/>
                        </a:spcAft>
                        <a:buNone/>
                      </a:pPr>
                      <a:r>
                        <a:rPr lang="en-US" sz="1200" b="1" i="0" u="none" strike="noStrike" kern="1200" noProof="0">
                          <a:solidFill>
                            <a:srgbClr val="00B050"/>
                          </a:solidFill>
                          <a:latin typeface="+mn-lt"/>
                        </a:rPr>
                        <a:t>Smart Pricing – milestone 1, 2 &amp; 3  + CR productionization</a:t>
                      </a: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lvl="0" indent="0" algn="l">
                        <a:lnSpc>
                          <a:spcPct val="100000"/>
                        </a:lnSpc>
                        <a:spcBef>
                          <a:spcPts val="0"/>
                        </a:spcBef>
                        <a:spcAft>
                          <a:spcPts val="0"/>
                        </a:spcAft>
                        <a:buNone/>
                      </a:pPr>
                      <a:r>
                        <a:rPr lang="en-US" sz="1200" b="0" i="0" u="none" strike="noStrike" kern="1200" noProof="0">
                          <a:solidFill>
                            <a:srgbClr val="05B050"/>
                          </a:solidFill>
                          <a:latin typeface="+mn-lt"/>
                        </a:rPr>
                        <a:t>The current fare-monitoring and filing workflow is manual, complex and time taking —analysts visually identify critical ODs, benchmark in spreadsheets, and pass human-led instructions to a BPO team—creating delays (1–3 days), capacity limits (≈400–600 ODs/day), and a high risk of missing critical ODs. We build a cost-effective solution along with computer user agent automation to augment the filing</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noProof="0">
                          <a:solidFill>
                            <a:srgbClr val="05B050"/>
                          </a:solidFill>
                          <a:latin typeface="+mn-lt"/>
                        </a:rPr>
                        <a:t>Milestone 1 &amp; 2 : In this stage we be focusing on Production movement of Smart pricing</a:t>
                      </a: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443371065"/>
                  </a:ext>
                </a:extLst>
              </a:tr>
              <a:tr h="499989">
                <a:tc>
                  <a:txBody>
                    <a:bodyPr/>
                    <a:lstStyle/>
                    <a:p>
                      <a:pPr marL="0" lvl="0" indent="0" algn="l" defTabSz="914400" rtl="0" eaLnBrk="1" fontAlgn="t" latinLnBrk="0" hangingPunct="1">
                        <a:lnSpc>
                          <a:spcPct val="100000"/>
                        </a:lnSpc>
                        <a:spcBef>
                          <a:spcPts val="0"/>
                        </a:spcBef>
                        <a:spcAft>
                          <a:spcPts val="0"/>
                        </a:spcAft>
                        <a:buFont typeface="+mj-lt"/>
                        <a:buNone/>
                      </a:pPr>
                      <a:r>
                        <a:rPr lang="en-US" sz="1200" b="1" i="0" u="none" strike="noStrike" kern="1200">
                          <a:solidFill>
                            <a:srgbClr val="0070C0"/>
                          </a:solidFill>
                          <a:latin typeface="+mn-lt"/>
                          <a:ea typeface="+mn-ea"/>
                          <a:cs typeface="+mn-cs"/>
                        </a:rPr>
                        <a:t>GHA Onboarding - Phase 1 ( Bach of 4 GHA - Station )</a:t>
                      </a:r>
                    </a:p>
                  </a:txBody>
                  <a:tcPr marL="9525" marR="9525" marT="9525" marB="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lvl="0" indent="0" algn="l" defTabSz="914400" rtl="0" eaLnBrk="1" fontAlgn="t" latinLnBrk="0" hangingPunct="1">
                        <a:lnSpc>
                          <a:spcPct val="100000"/>
                        </a:lnSpc>
                        <a:spcBef>
                          <a:spcPts val="0"/>
                        </a:spcBef>
                        <a:spcAft>
                          <a:spcPts val="0"/>
                        </a:spcAft>
                        <a:buFont typeface="+mj-lt"/>
                        <a:buNone/>
                      </a:pPr>
                      <a:r>
                        <a:rPr lang="en-US" sz="1200" b="0" i="0" u="none" strike="noStrike" kern="1200">
                          <a:solidFill>
                            <a:srgbClr val="0070C0"/>
                          </a:solidFill>
                          <a:latin typeface="+mn-lt"/>
                          <a:ea typeface="+mn-ea"/>
                          <a:cs typeface="+mn-cs"/>
                        </a:rPr>
                        <a:t>  Address 6 crore revenue discrepancy by automating the Cargo reconciliation process.; </a:t>
                      </a:r>
                      <a:br>
                        <a:rPr lang="en-US" sz="1200" b="0" i="0" u="none" strike="noStrike" kern="1200">
                          <a:solidFill>
                            <a:srgbClr val="0070C0"/>
                          </a:solidFill>
                          <a:latin typeface="+mn-lt"/>
                          <a:ea typeface="+mn-ea"/>
                          <a:cs typeface="+mn-cs"/>
                        </a:rPr>
                      </a:br>
                      <a:r>
                        <a:rPr lang="en-US" sz="1200" b="0" i="0" u="none" strike="noStrike" kern="1200">
                          <a:solidFill>
                            <a:srgbClr val="0070C0"/>
                          </a:solidFill>
                          <a:latin typeface="+mn-lt"/>
                          <a:ea typeface="+mn-ea"/>
                          <a:cs typeface="+mn-cs"/>
                        </a:rPr>
                        <a:t>100+ stations, each station agent consuming around 2 to 3 days to check, is being automated and reduced to few hours on the reconciliation process.</a:t>
                      </a:r>
                    </a:p>
                    <a:p>
                      <a:pPr marL="0" lvl="0" indent="0" algn="l" defTabSz="914400" rtl="0" eaLnBrk="1" fontAlgn="t" latinLnBrk="0" hangingPunct="1">
                        <a:lnSpc>
                          <a:spcPct val="100000"/>
                        </a:lnSpc>
                        <a:spcBef>
                          <a:spcPts val="0"/>
                        </a:spcBef>
                        <a:spcAft>
                          <a:spcPts val="0"/>
                        </a:spcAft>
                        <a:buFont typeface="+mj-lt"/>
                        <a:buNone/>
                      </a:pPr>
                      <a:r>
                        <a:rPr lang="en-US" sz="1200" b="0" i="0" u="none" strike="noStrike" kern="1200">
                          <a:solidFill>
                            <a:srgbClr val="0070C0"/>
                          </a:solidFill>
                          <a:latin typeface="+mn-lt"/>
                          <a:ea typeface="+mn-ea"/>
                          <a:cs typeface="+mn-cs"/>
                        </a:rPr>
                        <a:t>GHAs included in this phase : AISATS, DNATA, DCSC, SATS</a:t>
                      </a:r>
                    </a:p>
                  </a:txBody>
                  <a:tcPr marL="9525" marR="9525" marT="9525" marB="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750475179"/>
                  </a:ext>
                </a:extLst>
              </a:tr>
              <a:tr h="499989">
                <a:tc>
                  <a:txBody>
                    <a:bodyPr/>
                    <a:lstStyle/>
                    <a:p>
                      <a:pPr marL="0" lvl="0" indent="0" algn="l" defTabSz="914400" rtl="0" eaLnBrk="1" fontAlgn="t" latinLnBrk="0" hangingPunct="1">
                        <a:lnSpc>
                          <a:spcPct val="100000"/>
                        </a:lnSpc>
                        <a:spcBef>
                          <a:spcPts val="0"/>
                        </a:spcBef>
                        <a:spcAft>
                          <a:spcPts val="0"/>
                        </a:spcAft>
                        <a:buFont typeface="+mj-lt"/>
                        <a:buNone/>
                      </a:pPr>
                      <a:r>
                        <a:rPr lang="en-US" sz="1200" b="1" i="0" u="none" strike="noStrike" kern="1200">
                          <a:solidFill>
                            <a:srgbClr val="0070C0"/>
                          </a:solidFill>
                          <a:latin typeface="+mn-lt"/>
                          <a:ea typeface="+mn-ea"/>
                          <a:cs typeface="+mn-cs"/>
                        </a:rPr>
                        <a:t>GHA Onboarding - Phase 2 ( Bach of 7 GHA - Station )</a:t>
                      </a:r>
                    </a:p>
                  </a:txBody>
                  <a:tcPr marL="9525" marR="9525" marT="9525" marB="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lvl="0" indent="0" algn="l" defTabSz="914400" rtl="0" eaLnBrk="1" fontAlgn="t" latinLnBrk="0" hangingPunct="1">
                        <a:lnSpc>
                          <a:spcPct val="100000"/>
                        </a:lnSpc>
                        <a:spcBef>
                          <a:spcPts val="0"/>
                        </a:spcBef>
                        <a:spcAft>
                          <a:spcPts val="0"/>
                        </a:spcAft>
                        <a:buFont typeface="+mj-lt"/>
                        <a:buNone/>
                      </a:pPr>
                      <a:r>
                        <a:rPr lang="en-US" sz="1200" b="0" i="0" u="none" strike="noStrike" kern="1200">
                          <a:solidFill>
                            <a:srgbClr val="0070C0"/>
                          </a:solidFill>
                          <a:latin typeface="+mn-lt"/>
                          <a:ea typeface="+mn-ea"/>
                          <a:cs typeface="+mn-cs"/>
                        </a:rPr>
                        <a:t>Address 6 crore revenue discrepancy by automating the Cargo reconciliation process.; </a:t>
                      </a:r>
                      <a:br>
                        <a:rPr lang="en-US" sz="1200" b="0" i="0" u="none" strike="noStrike" kern="1200">
                          <a:solidFill>
                            <a:srgbClr val="0070C0"/>
                          </a:solidFill>
                          <a:latin typeface="+mn-lt"/>
                          <a:ea typeface="+mn-ea"/>
                          <a:cs typeface="+mn-cs"/>
                        </a:rPr>
                      </a:br>
                      <a:r>
                        <a:rPr lang="en-US" sz="1200" b="0" i="0" u="none" strike="noStrike" kern="1200">
                          <a:solidFill>
                            <a:srgbClr val="0070C0"/>
                          </a:solidFill>
                          <a:latin typeface="+mn-lt"/>
                          <a:ea typeface="+mn-ea"/>
                          <a:cs typeface="+mn-cs"/>
                        </a:rPr>
                        <a:t>100+ stations, each station agent consuming around 2 to 3 days to check, is being automated and reduced to few hours on the reconciliation process.</a:t>
                      </a:r>
                    </a:p>
                    <a:p>
                      <a:pPr marL="0" lvl="0" indent="0" algn="l" defTabSz="914400" rtl="0" eaLnBrk="1" fontAlgn="t" latinLnBrk="0" hangingPunct="1">
                        <a:lnSpc>
                          <a:spcPct val="100000"/>
                        </a:lnSpc>
                        <a:spcBef>
                          <a:spcPts val="0"/>
                        </a:spcBef>
                        <a:spcAft>
                          <a:spcPts val="0"/>
                        </a:spcAft>
                        <a:buFont typeface="+mj-lt"/>
                        <a:buNone/>
                      </a:pPr>
                      <a:r>
                        <a:rPr lang="en-US" sz="1200" b="0" i="0" u="none" strike="noStrike" kern="1200">
                          <a:solidFill>
                            <a:srgbClr val="0070C0"/>
                          </a:solidFill>
                          <a:latin typeface="+mn-lt"/>
                          <a:ea typeface="+mn-ea"/>
                          <a:cs typeface="+mn-cs"/>
                        </a:rPr>
                        <a:t>GHAs included in this phase : YVR, YYZ, SFO, VIE, ZRH, BKK,SGN</a:t>
                      </a:r>
                    </a:p>
                  </a:txBody>
                  <a:tcPr marL="9525" marR="9525" marT="9525" marB="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980160781"/>
                  </a:ext>
                </a:extLst>
              </a:tr>
              <a:tr h="499989">
                <a:tc>
                  <a:txBody>
                    <a:bodyPr/>
                    <a:lstStyle/>
                    <a:p>
                      <a:pPr marL="0" lvl="0" indent="0" algn="l" defTabSz="914400" rtl="0" eaLnBrk="1" fontAlgn="t" latinLnBrk="0" hangingPunct="1">
                        <a:lnSpc>
                          <a:spcPct val="100000"/>
                        </a:lnSpc>
                        <a:spcBef>
                          <a:spcPts val="0"/>
                        </a:spcBef>
                        <a:spcAft>
                          <a:spcPts val="0"/>
                        </a:spcAft>
                        <a:buFont typeface="+mj-lt"/>
                        <a:buNone/>
                      </a:pPr>
                      <a:r>
                        <a:rPr lang="en-US" sz="1200" b="1" i="0" u="none" strike="noStrike" kern="1200">
                          <a:solidFill>
                            <a:srgbClr val="0070C0"/>
                          </a:solidFill>
                          <a:latin typeface="+mn-lt"/>
                          <a:ea typeface="+mn-ea"/>
                          <a:cs typeface="+mn-cs"/>
                        </a:rPr>
                        <a:t>GHA Onboarding - Phase 3 ( Bach of 10GHA - Station )</a:t>
                      </a:r>
                    </a:p>
                  </a:txBody>
                  <a:tcPr marL="9525" marR="9525" marT="9525" marB="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lvl="0" indent="0" algn="l" defTabSz="914400" rtl="0" eaLnBrk="1" fontAlgn="t" latinLnBrk="0" hangingPunct="1">
                        <a:lnSpc>
                          <a:spcPct val="100000"/>
                        </a:lnSpc>
                        <a:spcBef>
                          <a:spcPts val="0"/>
                        </a:spcBef>
                        <a:spcAft>
                          <a:spcPts val="0"/>
                        </a:spcAft>
                        <a:buFont typeface="+mj-lt"/>
                        <a:buNone/>
                      </a:pPr>
                      <a:r>
                        <a:rPr lang="en-US" sz="1200" b="0" i="0" u="none" strike="noStrike" kern="1200">
                          <a:solidFill>
                            <a:srgbClr val="0070C0"/>
                          </a:solidFill>
                          <a:latin typeface="+mn-lt"/>
                          <a:ea typeface="+mn-ea"/>
                          <a:cs typeface="+mn-cs"/>
                        </a:rPr>
                        <a:t>Address 6 crore revenue discrepancy by automating the Cargo reconciliation process.; </a:t>
                      </a:r>
                      <a:br>
                        <a:rPr lang="en-US" sz="1200" b="0" i="0" u="none" strike="noStrike" kern="1200">
                          <a:solidFill>
                            <a:srgbClr val="0070C0"/>
                          </a:solidFill>
                          <a:latin typeface="+mn-lt"/>
                          <a:ea typeface="+mn-ea"/>
                          <a:cs typeface="+mn-cs"/>
                        </a:rPr>
                      </a:br>
                      <a:r>
                        <a:rPr lang="en-US" sz="1200" b="0" i="0" u="none" strike="noStrike" kern="1200">
                          <a:solidFill>
                            <a:srgbClr val="0070C0"/>
                          </a:solidFill>
                          <a:latin typeface="+mn-lt"/>
                          <a:ea typeface="+mn-ea"/>
                          <a:cs typeface="+mn-cs"/>
                        </a:rPr>
                        <a:t>100+ stations, each station agent consuming around 2 to 3 days to check, is being automated and reduced to few hours on the reconciliation process.</a:t>
                      </a:r>
                    </a:p>
                    <a:p>
                      <a:pPr marL="0" lvl="0" indent="0" algn="l" defTabSz="914400" rtl="0" eaLnBrk="1" fontAlgn="t" latinLnBrk="0" hangingPunct="1">
                        <a:lnSpc>
                          <a:spcPct val="100000"/>
                        </a:lnSpc>
                        <a:spcBef>
                          <a:spcPts val="0"/>
                        </a:spcBef>
                        <a:spcAft>
                          <a:spcPts val="0"/>
                        </a:spcAft>
                        <a:buFont typeface="+mj-lt"/>
                        <a:buNone/>
                      </a:pPr>
                      <a:r>
                        <a:rPr lang="en-US" sz="1200" b="0" i="0" u="none" strike="noStrike" kern="1200">
                          <a:solidFill>
                            <a:srgbClr val="0070C0"/>
                          </a:solidFill>
                          <a:latin typeface="+mn-lt"/>
                          <a:ea typeface="+mn-ea"/>
                          <a:cs typeface="+mn-cs"/>
                        </a:rPr>
                        <a:t>GHAs included in this phase :  </a:t>
                      </a:r>
                      <a:r>
                        <a:rPr lang="da-DK" sz="1200" b="0" i="0" u="none" strike="noStrike" kern="1200">
                          <a:solidFill>
                            <a:srgbClr val="0070C0"/>
                          </a:solidFill>
                          <a:latin typeface="+mn-lt"/>
                          <a:ea typeface="+mn-ea"/>
                          <a:cs typeface="+mn-cs"/>
                        </a:rPr>
                        <a:t>AMS, CDG, FRA, CPH, DOH, SHJ, RUH, DMM, JED, KUL</a:t>
                      </a:r>
                      <a:endParaRPr lang="en-US" sz="1200" b="0" i="0" u="none" strike="noStrike" kern="1200">
                        <a:solidFill>
                          <a:srgbClr val="0070C0"/>
                        </a:solidFill>
                        <a:latin typeface="+mn-lt"/>
                        <a:ea typeface="+mn-ea"/>
                        <a:cs typeface="+mn-cs"/>
                      </a:endParaRPr>
                    </a:p>
                  </a:txBody>
                  <a:tcPr marL="9525" marR="9525" marT="9525" marB="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625029858"/>
                  </a:ext>
                </a:extLst>
              </a:tr>
              <a:tr h="499989">
                <a:tc>
                  <a:txBody>
                    <a:bodyPr/>
                    <a:lstStyle/>
                    <a:p>
                      <a:pPr marL="0" lvl="0" indent="0" algn="l" defTabSz="914400" rtl="0" eaLnBrk="1" latinLnBrk="0" hangingPunct="1">
                        <a:lnSpc>
                          <a:spcPct val="100000"/>
                        </a:lnSpc>
                        <a:spcBef>
                          <a:spcPts val="0"/>
                        </a:spcBef>
                        <a:spcAft>
                          <a:spcPts val="0"/>
                        </a:spcAft>
                        <a:buFont typeface="+mj-lt"/>
                        <a:buNone/>
                      </a:pPr>
                      <a:r>
                        <a:rPr lang="en-US" sz="1200" b="1" i="0" u="none" strike="noStrike" kern="1200" noProof="0">
                          <a:solidFill>
                            <a:srgbClr val="00B050"/>
                          </a:solidFill>
                          <a:latin typeface="+mn-lt"/>
                          <a:ea typeface="+mn-ea"/>
                          <a:cs typeface="+mn-cs"/>
                        </a:rPr>
                        <a:t>AWB- Sales slips based automations- Acceptance documents</a:t>
                      </a: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lvl="0" indent="0" algn="l" rtl="0" eaLnBrk="1" latinLnBrk="0" hangingPunct="1">
                        <a:lnSpc>
                          <a:spcPct val="100000"/>
                        </a:lnSpc>
                        <a:spcBef>
                          <a:spcPts val="0"/>
                        </a:spcBef>
                        <a:spcAft>
                          <a:spcPts val="0"/>
                        </a:spcAft>
                        <a:buFont typeface="+mj-lt"/>
                        <a:buNone/>
                      </a:pPr>
                      <a:r>
                        <a:rPr lang="en-US" sz="1200" b="0" i="0" u="none" strike="noStrike" kern="1200" noProof="0">
                          <a:solidFill>
                            <a:srgbClr val="00B050"/>
                          </a:solidFill>
                          <a:latin typeface="+mn-lt"/>
                          <a:ea typeface="+mn-ea"/>
                          <a:cs typeface="+mn-cs"/>
                        </a:rPr>
                        <a:t>In next 3 years, ~3 to 7  crores on the BPO cost optimization.</a:t>
                      </a:r>
                    </a:p>
                    <a:p>
                      <a:pPr marL="0" lvl="0" indent="0" algn="l" defTabSz="914400" rtl="0" eaLnBrk="1" latinLnBrk="0" hangingPunct="1">
                        <a:lnSpc>
                          <a:spcPct val="100000"/>
                        </a:lnSpc>
                        <a:spcBef>
                          <a:spcPts val="0"/>
                        </a:spcBef>
                        <a:spcAft>
                          <a:spcPts val="0"/>
                        </a:spcAft>
                        <a:buFont typeface="+mj-lt"/>
                        <a:buNone/>
                      </a:pPr>
                      <a:r>
                        <a:rPr lang="en-US" sz="1200" b="0" i="0" u="none" strike="noStrike" kern="1200" noProof="0">
                          <a:solidFill>
                            <a:srgbClr val="00B050"/>
                          </a:solidFill>
                          <a:latin typeface="+mn-lt"/>
                          <a:ea typeface="+mn-ea"/>
                          <a:cs typeface="+mn-cs"/>
                        </a:rPr>
                        <a:t>In initial phase (EX INTERNATIONAL), BPO headcount reduction (15% from a head count of 16 to 14), processing speed improvement (4x, from 8-10 days to 2 days) is being achieved using 10K AWB pages/ month .  In current phase (EX INDIA,  DOMESTIC), automating and scaled up to 60K AWB and 60K acceptance docs.</a:t>
                      </a: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072417577"/>
                  </a:ext>
                </a:extLst>
              </a:tr>
            </a:tbl>
          </a:graphicData>
        </a:graphic>
      </p:graphicFrame>
      <p:sp>
        <p:nvSpPr>
          <p:cNvPr id="13" name="Rectangle 12">
            <a:extLst>
              <a:ext uri="{FF2B5EF4-FFF2-40B4-BE49-F238E27FC236}">
                <a16:creationId xmlns:a16="http://schemas.microsoft.com/office/drawing/2014/main" id="{53C5B9EA-8D16-FEAA-24B1-4C9F3D453F22}"/>
              </a:ext>
            </a:extLst>
          </p:cNvPr>
          <p:cNvSpPr/>
          <p:nvPr/>
        </p:nvSpPr>
        <p:spPr>
          <a:xfrm>
            <a:off x="136167" y="861655"/>
            <a:ext cx="1170432" cy="42234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1100" b="1">
                <a:latin typeface="AirIndia"/>
              </a:rPr>
              <a:t>Jul 2026</a:t>
            </a:r>
            <a:endParaRPr lang="en-US"/>
          </a:p>
        </p:txBody>
      </p:sp>
      <p:sp>
        <p:nvSpPr>
          <p:cNvPr id="3" name="Rectangle 2">
            <a:extLst>
              <a:ext uri="{FF2B5EF4-FFF2-40B4-BE49-F238E27FC236}">
                <a16:creationId xmlns:a16="http://schemas.microsoft.com/office/drawing/2014/main" id="{E527EBB8-62DA-9EB5-8C64-26ED4B18711D}"/>
              </a:ext>
            </a:extLst>
          </p:cNvPr>
          <p:cNvSpPr/>
          <p:nvPr/>
        </p:nvSpPr>
        <p:spPr>
          <a:xfrm>
            <a:off x="3465009" y="6262087"/>
            <a:ext cx="90000" cy="90000"/>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
        <p:nvSpPr>
          <p:cNvPr id="4" name="Rectangle 3">
            <a:extLst>
              <a:ext uri="{FF2B5EF4-FFF2-40B4-BE49-F238E27FC236}">
                <a16:creationId xmlns:a16="http://schemas.microsoft.com/office/drawing/2014/main" id="{6691523E-0E76-AF12-0E08-DA2E4D4DAE39}"/>
              </a:ext>
            </a:extLst>
          </p:cNvPr>
          <p:cNvSpPr/>
          <p:nvPr/>
        </p:nvSpPr>
        <p:spPr>
          <a:xfrm>
            <a:off x="3465009" y="6489649"/>
            <a:ext cx="90000" cy="90000"/>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
        <p:nvSpPr>
          <p:cNvPr id="5" name="Rectangle 4">
            <a:extLst>
              <a:ext uri="{FF2B5EF4-FFF2-40B4-BE49-F238E27FC236}">
                <a16:creationId xmlns:a16="http://schemas.microsoft.com/office/drawing/2014/main" id="{AD70357B-C740-3070-418B-6AEED1B19BA2}"/>
              </a:ext>
            </a:extLst>
          </p:cNvPr>
          <p:cNvSpPr/>
          <p:nvPr/>
        </p:nvSpPr>
        <p:spPr>
          <a:xfrm>
            <a:off x="5567900" y="6262087"/>
            <a:ext cx="90000" cy="90000"/>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
        <p:nvSpPr>
          <p:cNvPr id="7" name="Rectangle 6">
            <a:extLst>
              <a:ext uri="{FF2B5EF4-FFF2-40B4-BE49-F238E27FC236}">
                <a16:creationId xmlns:a16="http://schemas.microsoft.com/office/drawing/2014/main" id="{4AC2E9D5-E021-B80A-0EA1-D7FC70D4142D}"/>
              </a:ext>
            </a:extLst>
          </p:cNvPr>
          <p:cNvSpPr/>
          <p:nvPr/>
        </p:nvSpPr>
        <p:spPr>
          <a:xfrm>
            <a:off x="5567900" y="6489649"/>
            <a:ext cx="90000" cy="90000"/>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
        <p:nvSpPr>
          <p:cNvPr id="8" name="TextBox 15">
            <a:extLst>
              <a:ext uri="{FF2B5EF4-FFF2-40B4-BE49-F238E27FC236}">
                <a16:creationId xmlns:a16="http://schemas.microsoft.com/office/drawing/2014/main" id="{0DA59324-F34E-6973-F74E-BA060D41FAC5}"/>
              </a:ext>
            </a:extLst>
          </p:cNvPr>
          <p:cNvSpPr txBox="1"/>
          <p:nvPr/>
        </p:nvSpPr>
        <p:spPr>
          <a:xfrm>
            <a:off x="3522317" y="6205238"/>
            <a:ext cx="857245"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000">
                <a:solidFill>
                  <a:srgbClr val="0070C0"/>
                </a:solidFill>
              </a:rPr>
              <a:t>Delivered</a:t>
            </a:r>
            <a:endParaRPr lang="en-IN" sz="1000"/>
          </a:p>
        </p:txBody>
      </p:sp>
      <p:sp>
        <p:nvSpPr>
          <p:cNvPr id="9" name="TextBox 18">
            <a:extLst>
              <a:ext uri="{FF2B5EF4-FFF2-40B4-BE49-F238E27FC236}">
                <a16:creationId xmlns:a16="http://schemas.microsoft.com/office/drawing/2014/main" id="{FF35BAB5-FBDD-FE6C-7EE6-600B4F234BB3}"/>
              </a:ext>
            </a:extLst>
          </p:cNvPr>
          <p:cNvSpPr txBox="1"/>
          <p:nvPr/>
        </p:nvSpPr>
        <p:spPr>
          <a:xfrm>
            <a:off x="3520719" y="6430197"/>
            <a:ext cx="1032881"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000">
                <a:solidFill>
                  <a:srgbClr val="00B050"/>
                </a:solidFill>
              </a:rPr>
              <a:t>Ontrack</a:t>
            </a:r>
            <a:endParaRPr lang="en-IN" sz="1000"/>
          </a:p>
        </p:txBody>
      </p:sp>
      <p:sp>
        <p:nvSpPr>
          <p:cNvPr id="10" name="TextBox 20">
            <a:extLst>
              <a:ext uri="{FF2B5EF4-FFF2-40B4-BE49-F238E27FC236}">
                <a16:creationId xmlns:a16="http://schemas.microsoft.com/office/drawing/2014/main" id="{6AF7B608-88C8-4849-7F62-0D7F2705BEE6}"/>
              </a:ext>
            </a:extLst>
          </p:cNvPr>
          <p:cNvSpPr txBox="1"/>
          <p:nvPr/>
        </p:nvSpPr>
        <p:spPr>
          <a:xfrm>
            <a:off x="5653197" y="6220637"/>
            <a:ext cx="2257628"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000">
                <a:solidFill>
                  <a:schemeClr val="accent6">
                    <a:lumMod val="75000"/>
                  </a:schemeClr>
                </a:solidFill>
              </a:rPr>
              <a:t>Under delay and can be recovered</a:t>
            </a:r>
            <a:endParaRPr lang="en-IN" sz="1000"/>
          </a:p>
        </p:txBody>
      </p:sp>
      <p:sp>
        <p:nvSpPr>
          <p:cNvPr id="11" name="TextBox 22">
            <a:extLst>
              <a:ext uri="{FF2B5EF4-FFF2-40B4-BE49-F238E27FC236}">
                <a16:creationId xmlns:a16="http://schemas.microsoft.com/office/drawing/2014/main" id="{490C9792-9ECC-61DD-5BCA-0ECDA97C3C64}"/>
              </a:ext>
            </a:extLst>
          </p:cNvPr>
          <p:cNvSpPr txBox="1"/>
          <p:nvPr/>
        </p:nvSpPr>
        <p:spPr>
          <a:xfrm>
            <a:off x="5657900" y="6437221"/>
            <a:ext cx="3069090"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000">
                <a:solidFill>
                  <a:schemeClr val="accent2"/>
                </a:solidFill>
              </a:rPr>
              <a:t>Delayed and pushed to next release</a:t>
            </a:r>
            <a:endParaRPr lang="en-IN" sz="1000"/>
          </a:p>
        </p:txBody>
      </p:sp>
    </p:spTree>
    <p:extLst>
      <p:ext uri="{BB962C8B-B14F-4D97-AF65-F5344CB8AC3E}">
        <p14:creationId xmlns:p14="http://schemas.microsoft.com/office/powerpoint/2010/main" val="3985411892"/>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1DB24B-BE7C-87AA-8DAF-5CC8BABF092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0469ABF-0609-D6F5-0F93-6B4C98DCA5CE}"/>
              </a:ext>
            </a:extLst>
          </p:cNvPr>
          <p:cNvSpPr>
            <a:spLocks noGrp="1"/>
          </p:cNvSpPr>
          <p:nvPr>
            <p:ph type="sldNum" sz="quarter" idx="12"/>
          </p:nvPr>
        </p:nvSpPr>
        <p:spPr/>
        <p:txBody>
          <a:bodyPr/>
          <a:lstStyle/>
          <a:p>
            <a:fld id="{3A41A254-7326-714E-AF55-4C213D6394DE}" type="slidenum">
              <a:rPr lang="en-US" smtClean="0"/>
              <a:pPr/>
              <a:t>95</a:t>
            </a:fld>
            <a:endParaRPr lang="en-US"/>
          </a:p>
        </p:txBody>
      </p:sp>
      <p:sp>
        <p:nvSpPr>
          <p:cNvPr id="6" name="Title 11">
            <a:extLst>
              <a:ext uri="{FF2B5EF4-FFF2-40B4-BE49-F238E27FC236}">
                <a16:creationId xmlns:a16="http://schemas.microsoft.com/office/drawing/2014/main" id="{28BC40E6-0CAA-8B32-5F48-5D7B877DC814}"/>
              </a:ext>
            </a:extLst>
          </p:cNvPr>
          <p:cNvSpPr txBox="1">
            <a:spLocks/>
          </p:cNvSpPr>
          <p:nvPr/>
        </p:nvSpPr>
        <p:spPr>
          <a:xfrm>
            <a:off x="195943" y="307594"/>
            <a:ext cx="6955672" cy="396638"/>
          </a:xfrm>
          <a:prstGeom prst="rect">
            <a:avLst/>
          </a:prstGeom>
        </p:spPr>
        <p:txBody>
          <a:bodyPr lIns="91440" tIns="45720" rIns="91440" bIns="45720" anchor="t">
            <a:noAutofit/>
          </a:bodyPr>
          <a:lstStyle>
            <a:lvl1pPr algn="l" defTabSz="914400" rtl="0" eaLnBrk="1" latinLnBrk="0" hangingPunct="1">
              <a:lnSpc>
                <a:spcPct val="90000"/>
              </a:lnSpc>
              <a:spcBef>
                <a:spcPct val="0"/>
              </a:spcBef>
              <a:buNone/>
              <a:defRPr sz="4400" b="1" i="0" kern="1200">
                <a:solidFill>
                  <a:schemeClr val="tx1"/>
                </a:solidFill>
                <a:latin typeface="AirIndia" pitchFamily="82" charset="77"/>
                <a:ea typeface="+mj-ea"/>
                <a:cs typeface="+mj-cs"/>
              </a:defRPr>
            </a:lvl1pPr>
          </a:lstStyle>
          <a:p>
            <a:r>
              <a:rPr lang="en-US" sz="1800">
                <a:solidFill>
                  <a:schemeClr val="accent1"/>
                </a:solidFill>
                <a:latin typeface="AirIndia"/>
              </a:rPr>
              <a:t>Commercial RM - FY26 Q2  Release Plan Status Update</a:t>
            </a:r>
            <a:endParaRPr lang="en-US" sz="1800" b="0">
              <a:solidFill>
                <a:schemeClr val="accent1"/>
              </a:solidFill>
              <a:latin typeface="AirIndia"/>
            </a:endParaRPr>
          </a:p>
        </p:txBody>
      </p:sp>
      <p:sp>
        <p:nvSpPr>
          <p:cNvPr id="3" name="Rectangle 2">
            <a:extLst>
              <a:ext uri="{FF2B5EF4-FFF2-40B4-BE49-F238E27FC236}">
                <a16:creationId xmlns:a16="http://schemas.microsoft.com/office/drawing/2014/main" id="{9F359897-45C0-7800-6348-8E102D516608}"/>
              </a:ext>
            </a:extLst>
          </p:cNvPr>
          <p:cNvSpPr/>
          <p:nvPr/>
        </p:nvSpPr>
        <p:spPr>
          <a:xfrm>
            <a:off x="3465009" y="6262087"/>
            <a:ext cx="90000" cy="90000"/>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
        <p:nvSpPr>
          <p:cNvPr id="4" name="Rectangle 3">
            <a:extLst>
              <a:ext uri="{FF2B5EF4-FFF2-40B4-BE49-F238E27FC236}">
                <a16:creationId xmlns:a16="http://schemas.microsoft.com/office/drawing/2014/main" id="{A1603726-D403-8DA6-E025-2618889E4218}"/>
              </a:ext>
            </a:extLst>
          </p:cNvPr>
          <p:cNvSpPr/>
          <p:nvPr/>
        </p:nvSpPr>
        <p:spPr>
          <a:xfrm>
            <a:off x="3465009" y="6489649"/>
            <a:ext cx="90000" cy="90000"/>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
        <p:nvSpPr>
          <p:cNvPr id="5" name="Rectangle 4">
            <a:extLst>
              <a:ext uri="{FF2B5EF4-FFF2-40B4-BE49-F238E27FC236}">
                <a16:creationId xmlns:a16="http://schemas.microsoft.com/office/drawing/2014/main" id="{6E33E323-2CD7-A1AE-E548-B109C03325BC}"/>
              </a:ext>
            </a:extLst>
          </p:cNvPr>
          <p:cNvSpPr/>
          <p:nvPr/>
        </p:nvSpPr>
        <p:spPr>
          <a:xfrm>
            <a:off x="5567900" y="6262087"/>
            <a:ext cx="90000" cy="90000"/>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
        <p:nvSpPr>
          <p:cNvPr id="7" name="Rectangle 6">
            <a:extLst>
              <a:ext uri="{FF2B5EF4-FFF2-40B4-BE49-F238E27FC236}">
                <a16:creationId xmlns:a16="http://schemas.microsoft.com/office/drawing/2014/main" id="{4735C5D3-E025-7778-1D0D-A70AE52B0D8B}"/>
              </a:ext>
            </a:extLst>
          </p:cNvPr>
          <p:cNvSpPr/>
          <p:nvPr/>
        </p:nvSpPr>
        <p:spPr>
          <a:xfrm>
            <a:off x="5567900" y="6489649"/>
            <a:ext cx="90000" cy="90000"/>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
        <p:nvSpPr>
          <p:cNvPr id="8" name="TextBox 15">
            <a:extLst>
              <a:ext uri="{FF2B5EF4-FFF2-40B4-BE49-F238E27FC236}">
                <a16:creationId xmlns:a16="http://schemas.microsoft.com/office/drawing/2014/main" id="{EE8414C9-D01D-AE2D-A85C-8ED18E2CFC89}"/>
              </a:ext>
            </a:extLst>
          </p:cNvPr>
          <p:cNvSpPr txBox="1"/>
          <p:nvPr/>
        </p:nvSpPr>
        <p:spPr>
          <a:xfrm>
            <a:off x="3522317" y="6205238"/>
            <a:ext cx="857245"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000">
                <a:solidFill>
                  <a:srgbClr val="0070C0"/>
                </a:solidFill>
              </a:rPr>
              <a:t>Delivered</a:t>
            </a:r>
            <a:endParaRPr lang="en-IN" sz="1000"/>
          </a:p>
        </p:txBody>
      </p:sp>
      <p:sp>
        <p:nvSpPr>
          <p:cNvPr id="9" name="TextBox 18">
            <a:extLst>
              <a:ext uri="{FF2B5EF4-FFF2-40B4-BE49-F238E27FC236}">
                <a16:creationId xmlns:a16="http://schemas.microsoft.com/office/drawing/2014/main" id="{2F1ED9D2-1C0B-8CEB-CEA8-12336386C59E}"/>
              </a:ext>
            </a:extLst>
          </p:cNvPr>
          <p:cNvSpPr txBox="1"/>
          <p:nvPr/>
        </p:nvSpPr>
        <p:spPr>
          <a:xfrm>
            <a:off x="3520719" y="6430197"/>
            <a:ext cx="1032881"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000">
                <a:solidFill>
                  <a:srgbClr val="00B050"/>
                </a:solidFill>
              </a:rPr>
              <a:t>Ontrack</a:t>
            </a:r>
            <a:endParaRPr lang="en-IN" sz="1000"/>
          </a:p>
        </p:txBody>
      </p:sp>
      <p:sp>
        <p:nvSpPr>
          <p:cNvPr id="10" name="TextBox 20">
            <a:extLst>
              <a:ext uri="{FF2B5EF4-FFF2-40B4-BE49-F238E27FC236}">
                <a16:creationId xmlns:a16="http://schemas.microsoft.com/office/drawing/2014/main" id="{117DC448-2EF9-A326-40F8-D327B16C54E8}"/>
              </a:ext>
            </a:extLst>
          </p:cNvPr>
          <p:cNvSpPr txBox="1"/>
          <p:nvPr/>
        </p:nvSpPr>
        <p:spPr>
          <a:xfrm>
            <a:off x="5653197" y="6220637"/>
            <a:ext cx="2257628"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000">
                <a:solidFill>
                  <a:schemeClr val="accent6">
                    <a:lumMod val="75000"/>
                  </a:schemeClr>
                </a:solidFill>
              </a:rPr>
              <a:t>Under delay and can be recovered</a:t>
            </a:r>
            <a:endParaRPr lang="en-IN" sz="1000"/>
          </a:p>
        </p:txBody>
      </p:sp>
      <p:sp>
        <p:nvSpPr>
          <p:cNvPr id="11" name="TextBox 22">
            <a:extLst>
              <a:ext uri="{FF2B5EF4-FFF2-40B4-BE49-F238E27FC236}">
                <a16:creationId xmlns:a16="http://schemas.microsoft.com/office/drawing/2014/main" id="{6CD08D5C-A539-65E8-5E7B-9F874F69EBE6}"/>
              </a:ext>
            </a:extLst>
          </p:cNvPr>
          <p:cNvSpPr txBox="1"/>
          <p:nvPr/>
        </p:nvSpPr>
        <p:spPr>
          <a:xfrm>
            <a:off x="5657900" y="6437221"/>
            <a:ext cx="3069090"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000">
                <a:solidFill>
                  <a:schemeClr val="accent2"/>
                </a:solidFill>
              </a:rPr>
              <a:t>Delayed and pushed to next release</a:t>
            </a:r>
            <a:endParaRPr lang="en-IN" sz="1000"/>
          </a:p>
        </p:txBody>
      </p:sp>
      <p:graphicFrame>
        <p:nvGraphicFramePr>
          <p:cNvPr id="14" name="Table 13">
            <a:extLst>
              <a:ext uri="{FF2B5EF4-FFF2-40B4-BE49-F238E27FC236}">
                <a16:creationId xmlns:a16="http://schemas.microsoft.com/office/drawing/2014/main" id="{24DE4EA7-7C46-B7CB-0DE6-D695FB0A1BE8}"/>
              </a:ext>
            </a:extLst>
          </p:cNvPr>
          <p:cNvGraphicFramePr>
            <a:graphicFrameLocks noGrp="1"/>
          </p:cNvGraphicFramePr>
          <p:nvPr>
            <p:extLst>
              <p:ext uri="{D42A27DB-BD31-4B8C-83A1-F6EECF244321}">
                <p14:modId xmlns:p14="http://schemas.microsoft.com/office/powerpoint/2010/main" val="2805319962"/>
              </p:ext>
            </p:extLst>
          </p:nvPr>
        </p:nvGraphicFramePr>
        <p:xfrm>
          <a:off x="1284507" y="932675"/>
          <a:ext cx="10697938" cy="4392783"/>
        </p:xfrm>
        <a:graphic>
          <a:graphicData uri="http://schemas.openxmlformats.org/drawingml/2006/table">
            <a:tbl>
              <a:tblPr firstRow="1" bandRow="1">
                <a:tableStyleId>{5C22544A-7EE6-4342-B048-85BDC9FD1C3A}</a:tableStyleId>
              </a:tblPr>
              <a:tblGrid>
                <a:gridCol w="3759269">
                  <a:extLst>
                    <a:ext uri="{9D8B030D-6E8A-4147-A177-3AD203B41FA5}">
                      <a16:colId xmlns:a16="http://schemas.microsoft.com/office/drawing/2014/main" val="2822350773"/>
                    </a:ext>
                  </a:extLst>
                </a:gridCol>
                <a:gridCol w="6938669">
                  <a:extLst>
                    <a:ext uri="{9D8B030D-6E8A-4147-A177-3AD203B41FA5}">
                      <a16:colId xmlns:a16="http://schemas.microsoft.com/office/drawing/2014/main" val="99588705"/>
                    </a:ext>
                  </a:extLst>
                </a:gridCol>
              </a:tblGrid>
              <a:tr h="217387">
                <a:tc>
                  <a:txBody>
                    <a:bodyPr/>
                    <a:lstStyle/>
                    <a:p>
                      <a:pPr marL="0" lvl="0" indent="0" algn="ctr" defTabSz="914400" rtl="0" eaLnBrk="1" latinLnBrk="0" hangingPunct="1">
                        <a:lnSpc>
                          <a:spcPct val="100000"/>
                        </a:lnSpc>
                        <a:buFont typeface="Arial" panose="020B0604020202020204" pitchFamily="34" charset="0"/>
                        <a:buNone/>
                      </a:pPr>
                      <a:r>
                        <a:rPr lang="en-IN" sz="1200" kern="1200">
                          <a:solidFill>
                            <a:schemeClr val="bg1"/>
                          </a:solidFill>
                          <a:latin typeface="+mn-lt"/>
                          <a:ea typeface="+mn-ea"/>
                          <a:cs typeface="+mn-cs"/>
                        </a:rPr>
                        <a:t>Project/Initiative</a:t>
                      </a:r>
                      <a:endParaRPr lang="en-US" sz="1200"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tc>
                  <a:txBody>
                    <a:bodyPr/>
                    <a:lstStyle/>
                    <a:p>
                      <a:pPr marL="0" indent="0" algn="ctr" defTabSz="914400" rtl="0" eaLnBrk="1" latinLnBrk="0" hangingPunct="1">
                        <a:buFont typeface="Arial" panose="020B0604020202020204" pitchFamily="34" charset="0"/>
                        <a:buNone/>
                      </a:pPr>
                      <a:r>
                        <a:rPr lang="en-IN" sz="1200" kern="1200">
                          <a:solidFill>
                            <a:schemeClr val="bg1"/>
                          </a:solidFill>
                          <a:latin typeface="+mn-lt"/>
                          <a:ea typeface="+mn-ea"/>
                          <a:cs typeface="+mn-cs"/>
                        </a:rPr>
                        <a:t>Value Justification/Realization</a:t>
                      </a:r>
                      <a:endParaRPr lang="en-US" sz="1200"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extLst>
                  <a:ext uri="{0D108BD9-81ED-4DB2-BD59-A6C34878D82A}">
                    <a16:rowId xmlns:a16="http://schemas.microsoft.com/office/drawing/2014/main" val="844450115"/>
                  </a:ext>
                </a:extLst>
              </a:tr>
              <a:tr h="499989">
                <a:tc>
                  <a:txBody>
                    <a:bodyPr/>
                    <a:lstStyle/>
                    <a:p>
                      <a:pPr marL="0" lvl="0" indent="0" algn="l">
                        <a:lnSpc>
                          <a:spcPct val="100000"/>
                        </a:lnSpc>
                        <a:spcBef>
                          <a:spcPts val="0"/>
                        </a:spcBef>
                        <a:spcAft>
                          <a:spcPts val="0"/>
                        </a:spcAft>
                        <a:buFont typeface="+mj-lt"/>
                        <a:buNone/>
                      </a:pPr>
                      <a:r>
                        <a:rPr lang="en-US" sz="1200" b="1" i="0" u="none" strike="noStrike" kern="1200" noProof="0">
                          <a:solidFill>
                            <a:srgbClr val="00B050"/>
                          </a:solidFill>
                          <a:latin typeface="+mn-lt"/>
                        </a:rPr>
                        <a:t>Smart Pricing – Milestone 4 </a:t>
                      </a:r>
                      <a:r>
                        <a:rPr lang="en-US" sz="1200" b="1" i="0" u="none" strike="noStrike" kern="1200" noProof="0" err="1">
                          <a:solidFill>
                            <a:srgbClr val="00B050"/>
                          </a:solidFill>
                          <a:latin typeface="+mn-lt"/>
                        </a:rPr>
                        <a:t>productionization</a:t>
                      </a:r>
                      <a:endParaRPr lang="en-US" sz="1200" b="1" i="0" u="none" strike="noStrike" kern="1200" noProof="0">
                        <a:solidFill>
                          <a:srgbClr val="00B050"/>
                        </a:solidFill>
                        <a:latin typeface="+mn-lt"/>
                      </a:endParaRPr>
                    </a:p>
                    <a:p>
                      <a:pPr marL="0" lvl="0" indent="0" algn="l">
                        <a:lnSpc>
                          <a:spcPct val="100000"/>
                        </a:lnSpc>
                        <a:spcBef>
                          <a:spcPts val="0"/>
                        </a:spcBef>
                        <a:spcAft>
                          <a:spcPts val="0"/>
                        </a:spcAft>
                        <a:buFont typeface="+mj-lt"/>
                        <a:buNone/>
                      </a:pPr>
                      <a:endParaRPr lang="en-US" sz="1200" b="1" i="0" u="none" strike="noStrike" kern="1200" noProof="0">
                        <a:solidFill>
                          <a:srgbClr val="05B050"/>
                        </a:solidFill>
                        <a:latin typeface="+mn-lt"/>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noProof="0">
                          <a:solidFill>
                            <a:srgbClr val="00B050"/>
                          </a:solidFill>
                          <a:latin typeface="+mn-lt"/>
                        </a:rPr>
                        <a:t>The current fare-monitoring and filing workflow is manual, complex and time taking —analysts visually identify critical ODs, benchmark in spreadsheets, and pass human-led instructions to a BPO team—creating delays (1–3 days), capacity limits (≈400–600 ODs/day), and a high risk of missing critical ODs. We build a cost-effective solution along with computer user agent automation to augment the filing</a:t>
                      </a:r>
                    </a:p>
                    <a:p>
                      <a:pPr marL="0" lvl="0" indent="0" algn="l">
                        <a:lnSpc>
                          <a:spcPct val="100000"/>
                        </a:lnSpc>
                        <a:spcBef>
                          <a:spcPts val="0"/>
                        </a:spcBef>
                        <a:spcAft>
                          <a:spcPts val="0"/>
                        </a:spcAft>
                        <a:buNone/>
                      </a:pPr>
                      <a:r>
                        <a:rPr lang="en-US" sz="1200" b="0" i="0" u="none" strike="noStrike" kern="1200" noProof="0">
                          <a:solidFill>
                            <a:srgbClr val="05B050"/>
                          </a:solidFill>
                          <a:latin typeface="+mn-lt"/>
                        </a:rPr>
                        <a:t>Milestone 3 &amp; 4 : In this stage we be rolling out to production all the features which are committed in milestone 3 &amp; 4</a:t>
                      </a: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443371065"/>
                  </a:ext>
                </a:extLst>
              </a:tr>
              <a:tr h="499989">
                <a:tc>
                  <a:txBody>
                    <a:bodyPr/>
                    <a:lstStyle/>
                    <a:p>
                      <a:pPr marL="0" lvl="0" indent="0" algn="l" defTabSz="914400" rtl="0" eaLnBrk="1" fontAlgn="t" latinLnBrk="0" hangingPunct="1">
                        <a:lnSpc>
                          <a:spcPct val="100000"/>
                        </a:lnSpc>
                        <a:spcBef>
                          <a:spcPts val="0"/>
                        </a:spcBef>
                        <a:spcAft>
                          <a:spcPts val="0"/>
                        </a:spcAft>
                        <a:buFont typeface="+mj-lt"/>
                        <a:buNone/>
                      </a:pPr>
                      <a:r>
                        <a:rPr lang="en-US" sz="1200" b="1" i="0" u="none" strike="noStrike" kern="1200">
                          <a:solidFill>
                            <a:srgbClr val="00B050"/>
                          </a:solidFill>
                          <a:latin typeface="+mn-lt"/>
                          <a:ea typeface="+mn-ea"/>
                          <a:cs typeface="+mn-cs"/>
                        </a:rPr>
                        <a:t>GHA Onboarding - Phase 4,5,6 ( Bach of 13GHA - Station )</a:t>
                      </a:r>
                    </a:p>
                  </a:txBody>
                  <a:tcPr marL="9525" marR="9525" marT="9525" marB="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lvl="0" indent="0" algn="l" defTabSz="914400" rtl="0" eaLnBrk="1" fontAlgn="t" latinLnBrk="0" hangingPunct="1">
                        <a:lnSpc>
                          <a:spcPct val="100000"/>
                        </a:lnSpc>
                        <a:spcBef>
                          <a:spcPts val="0"/>
                        </a:spcBef>
                        <a:spcAft>
                          <a:spcPts val="0"/>
                        </a:spcAft>
                        <a:buFont typeface="+mj-lt"/>
                        <a:buNone/>
                      </a:pPr>
                      <a:r>
                        <a:rPr lang="en-US" sz="1200" b="0" i="0" u="none" strike="noStrike" kern="1200">
                          <a:solidFill>
                            <a:srgbClr val="00B050"/>
                          </a:solidFill>
                          <a:latin typeface="+mn-lt"/>
                          <a:ea typeface="+mn-ea"/>
                          <a:cs typeface="+mn-cs"/>
                        </a:rPr>
                        <a:t>Address 6 crore revenue discrepancy by automating the Cargo reconciliation process.; </a:t>
                      </a:r>
                      <a:br>
                        <a:rPr lang="en-US" sz="1200" b="0" i="0" u="none" strike="noStrike" kern="1200">
                          <a:solidFill>
                            <a:srgbClr val="00B050"/>
                          </a:solidFill>
                          <a:latin typeface="+mn-lt"/>
                          <a:ea typeface="+mn-ea"/>
                          <a:cs typeface="+mn-cs"/>
                        </a:rPr>
                      </a:br>
                      <a:r>
                        <a:rPr lang="en-US" sz="1200" b="0" i="0" u="none" strike="noStrike" kern="1200">
                          <a:solidFill>
                            <a:srgbClr val="00B050"/>
                          </a:solidFill>
                          <a:latin typeface="+mn-lt"/>
                          <a:ea typeface="+mn-ea"/>
                          <a:cs typeface="+mn-cs"/>
                        </a:rPr>
                        <a:t>100+ stations, each station agent consuming around 2 to 3 days to check, is being automated and reduced to few hours on the reconciliation process.</a:t>
                      </a:r>
                    </a:p>
                    <a:p>
                      <a:pPr marL="0" lvl="0" indent="0" algn="l" defTabSz="914400" rtl="0" eaLnBrk="1" fontAlgn="t" latinLnBrk="0" hangingPunct="1">
                        <a:lnSpc>
                          <a:spcPct val="100000"/>
                        </a:lnSpc>
                        <a:spcBef>
                          <a:spcPts val="0"/>
                        </a:spcBef>
                        <a:spcAft>
                          <a:spcPts val="0"/>
                        </a:spcAft>
                        <a:buFont typeface="+mj-lt"/>
                        <a:buNone/>
                      </a:pPr>
                      <a:r>
                        <a:rPr lang="en-US" sz="1200" b="0" i="0" u="none" strike="noStrike" kern="1200">
                          <a:solidFill>
                            <a:srgbClr val="00B050"/>
                          </a:solidFill>
                          <a:latin typeface="+mn-lt"/>
                          <a:ea typeface="+mn-ea"/>
                          <a:cs typeface="+mn-cs"/>
                        </a:rPr>
                        <a:t>GHAs included in this phase :  BLR, BLR, CCJ, CJB, CNN, COK, HYD, IXM, MAA, TRV, TRZ, VGA, VTZ</a:t>
                      </a:r>
                    </a:p>
                  </a:txBody>
                  <a:tcPr marL="9525" marR="9525" marT="9525" marB="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645311205"/>
                  </a:ext>
                </a:extLst>
              </a:tr>
              <a:tr h="499989">
                <a:tc>
                  <a:txBody>
                    <a:bodyPr/>
                    <a:lstStyle/>
                    <a:p>
                      <a:pPr marL="0" lvl="0" indent="0" algn="l" defTabSz="914400" rtl="0" eaLnBrk="1" latinLnBrk="0" hangingPunct="1">
                        <a:lnSpc>
                          <a:spcPct val="100000"/>
                        </a:lnSpc>
                        <a:spcBef>
                          <a:spcPts val="0"/>
                        </a:spcBef>
                        <a:spcAft>
                          <a:spcPts val="0"/>
                        </a:spcAft>
                        <a:buFont typeface="+mj-lt"/>
                        <a:buNone/>
                      </a:pPr>
                      <a:r>
                        <a:rPr lang="en-US" sz="1200" b="1" i="0" u="none" strike="noStrike" kern="1200" noProof="0">
                          <a:solidFill>
                            <a:srgbClr val="05B050"/>
                          </a:solidFill>
                          <a:latin typeface="+mn-lt"/>
                          <a:ea typeface="+mn-ea"/>
                          <a:cs typeface="+mn-cs"/>
                        </a:rPr>
                        <a:t>AWB- Sales slips based automations- GHA Website</a:t>
                      </a: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lvl="0" indent="0" algn="l" defTabSz="914400" rtl="0" eaLnBrk="1" latinLnBrk="0" hangingPunct="1">
                        <a:lnSpc>
                          <a:spcPct val="100000"/>
                        </a:lnSpc>
                        <a:spcBef>
                          <a:spcPts val="0"/>
                        </a:spcBef>
                        <a:spcAft>
                          <a:spcPts val="0"/>
                        </a:spcAft>
                        <a:buFont typeface="+mj-lt"/>
                        <a:buNone/>
                      </a:pPr>
                      <a:r>
                        <a:rPr lang="en-US" sz="1200" b="0" i="0" u="none" strike="noStrike" kern="1200" noProof="0">
                          <a:solidFill>
                            <a:srgbClr val="05B050"/>
                          </a:solidFill>
                          <a:latin typeface="+mn-lt"/>
                          <a:ea typeface="+mn-ea"/>
                          <a:cs typeface="+mn-cs"/>
                        </a:rPr>
                        <a:t>In next 3 years, few ~10's of crores on the BPO cost optimization.</a:t>
                      </a:r>
                    </a:p>
                    <a:p>
                      <a:pPr marL="0" lvl="0" indent="0" algn="l" defTabSz="914400" rtl="0" eaLnBrk="1" latinLnBrk="0" hangingPunct="1">
                        <a:lnSpc>
                          <a:spcPct val="100000"/>
                        </a:lnSpc>
                        <a:spcBef>
                          <a:spcPts val="0"/>
                        </a:spcBef>
                        <a:spcAft>
                          <a:spcPts val="0"/>
                        </a:spcAft>
                        <a:buFont typeface="+mj-lt"/>
                        <a:buNone/>
                      </a:pPr>
                      <a:r>
                        <a:rPr lang="en-US" sz="1200" b="0" i="0" u="none" strike="noStrike" kern="1200" noProof="0">
                          <a:solidFill>
                            <a:srgbClr val="05B050"/>
                          </a:solidFill>
                          <a:latin typeface="+mn-lt"/>
                          <a:ea typeface="+mn-ea"/>
                          <a:cs typeface="+mn-cs"/>
                        </a:rPr>
                        <a:t>In initial phase (EX INTERNATIONAL), BPO headcount reduction (15% from a head count of 16 to 14), processing speed improvement (4x, from 8-10 days to 2 days) is being achieved using 10K AWB pages/ month .  In current phase (EX INDIA,  DOMESTIC), automating and scaled up to 60K AWB and 60K acceptance docs.</a:t>
                      </a: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094204484"/>
                  </a:ext>
                </a:extLst>
              </a:tr>
              <a:tr h="499989">
                <a:tc>
                  <a:txBody>
                    <a:bodyPr/>
                    <a:lstStyle/>
                    <a:p>
                      <a:pPr marL="0" lvl="0" indent="0" algn="l" defTabSz="914400" rtl="0" eaLnBrk="1" fontAlgn="t" latinLnBrk="0" hangingPunct="1">
                        <a:lnSpc>
                          <a:spcPct val="100000"/>
                        </a:lnSpc>
                        <a:spcBef>
                          <a:spcPts val="0"/>
                        </a:spcBef>
                        <a:spcAft>
                          <a:spcPts val="0"/>
                        </a:spcAft>
                        <a:buFont typeface="+mj-lt"/>
                        <a:buNone/>
                      </a:pPr>
                      <a:r>
                        <a:rPr lang="en-US" sz="1200" b="1" i="0" u="none" strike="noStrike" kern="1200">
                          <a:solidFill>
                            <a:srgbClr val="05B050"/>
                          </a:solidFill>
                          <a:latin typeface="+mn-lt"/>
                          <a:ea typeface="+mn-ea"/>
                          <a:cs typeface="+mn-cs"/>
                        </a:rPr>
                        <a:t> Next Best Travel Plan prediction</a:t>
                      </a:r>
                    </a:p>
                  </a:txBody>
                  <a:tcPr marL="9525" marR="9525" marT="9525" marB="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fontAlgn="t">
                        <a:buNone/>
                      </a:pPr>
                      <a:r>
                        <a:rPr lang="en-US" sz="1200" b="0" i="0" u="none" strike="noStrike" kern="1200">
                          <a:solidFill>
                            <a:srgbClr val="05B050"/>
                          </a:solidFill>
                          <a:latin typeface="+mn-lt"/>
                          <a:ea typeface="+mn-ea"/>
                          <a:cs typeface="+mn-cs"/>
                        </a:rPr>
                        <a:t>Predicting a user’s next likely travel destination and timing, enabling targeted marketing well in advance for higher engagement and conversions.</a:t>
                      </a:r>
                    </a:p>
                  </a:txBody>
                  <a:tcPr marL="9525" marR="9525" marT="9525" marB="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238575678"/>
                  </a:ext>
                </a:extLst>
              </a:tr>
              <a:tr h="499989">
                <a:tc>
                  <a:txBody>
                    <a:bodyPr/>
                    <a:lstStyle/>
                    <a:p>
                      <a:pPr marL="0" lvl="0" indent="0" algn="l" defTabSz="914400" rtl="0" eaLnBrk="1" latinLnBrk="0" hangingPunct="1">
                        <a:lnSpc>
                          <a:spcPct val="100000"/>
                        </a:lnSpc>
                        <a:spcBef>
                          <a:spcPts val="0"/>
                        </a:spcBef>
                        <a:spcAft>
                          <a:spcPts val="0"/>
                        </a:spcAft>
                        <a:buFont typeface="+mj-lt"/>
                        <a:buNone/>
                      </a:pPr>
                      <a:r>
                        <a:rPr lang="en-US" sz="1200" b="1" i="0" u="none" strike="noStrike" kern="1200" noProof="0">
                          <a:solidFill>
                            <a:srgbClr val="00B050"/>
                          </a:solidFill>
                          <a:latin typeface="+mn-lt"/>
                          <a:ea typeface="+mn-ea"/>
                          <a:cs typeface="+mn-cs"/>
                        </a:rPr>
                        <a:t>Fraud Prevention Engine – Mark voucher “Used”</a:t>
                      </a: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lvl="0" indent="0" algn="l" defTabSz="914400" rtl="0" eaLnBrk="1" latinLnBrk="0" hangingPunct="1">
                        <a:lnSpc>
                          <a:spcPct val="100000"/>
                        </a:lnSpc>
                        <a:spcBef>
                          <a:spcPts val="0"/>
                        </a:spcBef>
                        <a:spcAft>
                          <a:spcPts val="0"/>
                        </a:spcAft>
                        <a:buFont typeface="+mj-lt"/>
                        <a:buNone/>
                      </a:pPr>
                      <a:r>
                        <a:rPr lang="en-US" sz="1200" b="0" i="0" u="none" strike="noStrike" kern="1200" noProof="0">
                          <a:solidFill>
                            <a:srgbClr val="00B050"/>
                          </a:solidFill>
                          <a:latin typeface="+mn-lt"/>
                          <a:ea typeface="+mn-ea"/>
                          <a:cs typeface="+mn-cs"/>
                        </a:rPr>
                        <a:t>Additional functionality to fraud prevention engine which enables user to mark a voucher as “Used” if its used and shown as active in the system</a:t>
                      </a: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200603436"/>
                  </a:ext>
                </a:extLst>
              </a:tr>
            </a:tbl>
          </a:graphicData>
        </a:graphic>
      </p:graphicFrame>
      <p:sp>
        <p:nvSpPr>
          <p:cNvPr id="16" name="Rectangle 15">
            <a:extLst>
              <a:ext uri="{FF2B5EF4-FFF2-40B4-BE49-F238E27FC236}">
                <a16:creationId xmlns:a16="http://schemas.microsoft.com/office/drawing/2014/main" id="{BEED0363-2CFD-FA86-9145-B3328A633E19}"/>
              </a:ext>
            </a:extLst>
          </p:cNvPr>
          <p:cNvSpPr/>
          <p:nvPr/>
        </p:nvSpPr>
        <p:spPr>
          <a:xfrm>
            <a:off x="114075" y="929191"/>
            <a:ext cx="1170432" cy="42234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1100" b="1">
                <a:latin typeface="AirIndia"/>
              </a:rPr>
              <a:t>Aug 2026</a:t>
            </a:r>
            <a:endParaRPr lang="en-US"/>
          </a:p>
        </p:txBody>
      </p:sp>
    </p:spTree>
    <p:extLst>
      <p:ext uri="{BB962C8B-B14F-4D97-AF65-F5344CB8AC3E}">
        <p14:creationId xmlns:p14="http://schemas.microsoft.com/office/powerpoint/2010/main" val="4198242621"/>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FC02AA-1D63-EBF2-1255-AA7895D0027E}"/>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BEE5CC-E337-F256-1A8D-37CAEFEAB46D}"/>
              </a:ext>
            </a:extLst>
          </p:cNvPr>
          <p:cNvSpPr>
            <a:spLocks noGrp="1"/>
          </p:cNvSpPr>
          <p:nvPr>
            <p:ph type="sldNum" sz="quarter" idx="12"/>
          </p:nvPr>
        </p:nvSpPr>
        <p:spPr/>
        <p:txBody>
          <a:bodyPr/>
          <a:lstStyle/>
          <a:p>
            <a:fld id="{3A41A254-7326-714E-AF55-4C213D6394DE}" type="slidenum">
              <a:rPr lang="en-US" smtClean="0"/>
              <a:pPr/>
              <a:t>96</a:t>
            </a:fld>
            <a:endParaRPr lang="en-US"/>
          </a:p>
        </p:txBody>
      </p:sp>
      <p:sp>
        <p:nvSpPr>
          <p:cNvPr id="6" name="Title 11">
            <a:extLst>
              <a:ext uri="{FF2B5EF4-FFF2-40B4-BE49-F238E27FC236}">
                <a16:creationId xmlns:a16="http://schemas.microsoft.com/office/drawing/2014/main" id="{5080E6C9-B9CA-8371-0895-58C1DF4423FA}"/>
              </a:ext>
            </a:extLst>
          </p:cNvPr>
          <p:cNvSpPr txBox="1">
            <a:spLocks/>
          </p:cNvSpPr>
          <p:nvPr/>
        </p:nvSpPr>
        <p:spPr>
          <a:xfrm>
            <a:off x="195943" y="307594"/>
            <a:ext cx="8210638" cy="396638"/>
          </a:xfrm>
          <a:prstGeom prst="rect">
            <a:avLst/>
          </a:prstGeom>
        </p:spPr>
        <p:txBody>
          <a:bodyPr lIns="91440" tIns="45720" rIns="91440" bIns="45720" anchor="t">
            <a:noAutofit/>
          </a:bodyPr>
          <a:lstStyle>
            <a:lvl1pPr algn="l" defTabSz="914400" rtl="0" eaLnBrk="1" latinLnBrk="0" hangingPunct="1">
              <a:lnSpc>
                <a:spcPct val="90000"/>
              </a:lnSpc>
              <a:spcBef>
                <a:spcPct val="0"/>
              </a:spcBef>
              <a:buNone/>
              <a:defRPr sz="4400" b="1" i="0" kern="1200">
                <a:solidFill>
                  <a:schemeClr val="tx1"/>
                </a:solidFill>
                <a:latin typeface="AirIndia" pitchFamily="82" charset="77"/>
                <a:ea typeface="+mj-ea"/>
                <a:cs typeface="+mj-cs"/>
              </a:defRPr>
            </a:lvl1pPr>
          </a:lstStyle>
          <a:p>
            <a:r>
              <a:rPr lang="en-US" sz="1800">
                <a:solidFill>
                  <a:schemeClr val="accent1"/>
                </a:solidFill>
                <a:latin typeface="AirIndia"/>
              </a:rPr>
              <a:t>Commercial Cargo - FY26 Q2  Release Plan Status Update</a:t>
            </a:r>
            <a:endParaRPr lang="en-US" sz="1800" b="0">
              <a:solidFill>
                <a:schemeClr val="accent1"/>
              </a:solidFill>
              <a:latin typeface="AirIndia"/>
            </a:endParaRPr>
          </a:p>
        </p:txBody>
      </p:sp>
      <p:sp>
        <p:nvSpPr>
          <p:cNvPr id="3" name="Rectangle 2">
            <a:extLst>
              <a:ext uri="{FF2B5EF4-FFF2-40B4-BE49-F238E27FC236}">
                <a16:creationId xmlns:a16="http://schemas.microsoft.com/office/drawing/2014/main" id="{42874F37-8F8B-C206-6318-50845FCC79C6}"/>
              </a:ext>
            </a:extLst>
          </p:cNvPr>
          <p:cNvSpPr/>
          <p:nvPr/>
        </p:nvSpPr>
        <p:spPr>
          <a:xfrm>
            <a:off x="3465009" y="6262087"/>
            <a:ext cx="90000" cy="90000"/>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
        <p:nvSpPr>
          <p:cNvPr id="4" name="Rectangle 3">
            <a:extLst>
              <a:ext uri="{FF2B5EF4-FFF2-40B4-BE49-F238E27FC236}">
                <a16:creationId xmlns:a16="http://schemas.microsoft.com/office/drawing/2014/main" id="{26332F39-2A2A-AB02-AB2E-E6CD3FC6DFB7}"/>
              </a:ext>
            </a:extLst>
          </p:cNvPr>
          <p:cNvSpPr/>
          <p:nvPr/>
        </p:nvSpPr>
        <p:spPr>
          <a:xfrm>
            <a:off x="3465009" y="6489649"/>
            <a:ext cx="90000" cy="90000"/>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
        <p:nvSpPr>
          <p:cNvPr id="5" name="Rectangle 4">
            <a:extLst>
              <a:ext uri="{FF2B5EF4-FFF2-40B4-BE49-F238E27FC236}">
                <a16:creationId xmlns:a16="http://schemas.microsoft.com/office/drawing/2014/main" id="{49897E3E-275A-D4B8-27B7-8475587AB988}"/>
              </a:ext>
            </a:extLst>
          </p:cNvPr>
          <p:cNvSpPr/>
          <p:nvPr/>
        </p:nvSpPr>
        <p:spPr>
          <a:xfrm>
            <a:off x="5567900" y="6262087"/>
            <a:ext cx="90000" cy="90000"/>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
        <p:nvSpPr>
          <p:cNvPr id="7" name="Rectangle 6">
            <a:extLst>
              <a:ext uri="{FF2B5EF4-FFF2-40B4-BE49-F238E27FC236}">
                <a16:creationId xmlns:a16="http://schemas.microsoft.com/office/drawing/2014/main" id="{E0FFB1EE-A239-F515-3BEC-6981AEDCE320}"/>
              </a:ext>
            </a:extLst>
          </p:cNvPr>
          <p:cNvSpPr/>
          <p:nvPr/>
        </p:nvSpPr>
        <p:spPr>
          <a:xfrm>
            <a:off x="5567900" y="6489649"/>
            <a:ext cx="90000" cy="90000"/>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
        <p:nvSpPr>
          <p:cNvPr id="8" name="TextBox 15">
            <a:extLst>
              <a:ext uri="{FF2B5EF4-FFF2-40B4-BE49-F238E27FC236}">
                <a16:creationId xmlns:a16="http://schemas.microsoft.com/office/drawing/2014/main" id="{4C0D350E-DB0E-4DE6-62A8-669F9D0C64DB}"/>
              </a:ext>
            </a:extLst>
          </p:cNvPr>
          <p:cNvSpPr txBox="1"/>
          <p:nvPr/>
        </p:nvSpPr>
        <p:spPr>
          <a:xfrm>
            <a:off x="3522317" y="6205238"/>
            <a:ext cx="857245"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000">
                <a:solidFill>
                  <a:srgbClr val="0070C0"/>
                </a:solidFill>
              </a:rPr>
              <a:t>Delivered</a:t>
            </a:r>
            <a:endParaRPr lang="en-IN" sz="1000"/>
          </a:p>
        </p:txBody>
      </p:sp>
      <p:sp>
        <p:nvSpPr>
          <p:cNvPr id="9" name="TextBox 18">
            <a:extLst>
              <a:ext uri="{FF2B5EF4-FFF2-40B4-BE49-F238E27FC236}">
                <a16:creationId xmlns:a16="http://schemas.microsoft.com/office/drawing/2014/main" id="{9863306F-E5E5-A8F1-6EB3-40EFEAEF9BA7}"/>
              </a:ext>
            </a:extLst>
          </p:cNvPr>
          <p:cNvSpPr txBox="1"/>
          <p:nvPr/>
        </p:nvSpPr>
        <p:spPr>
          <a:xfrm>
            <a:off x="3520719" y="6430197"/>
            <a:ext cx="1032881"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000">
                <a:solidFill>
                  <a:srgbClr val="00B050"/>
                </a:solidFill>
              </a:rPr>
              <a:t>Ontrack</a:t>
            </a:r>
          </a:p>
        </p:txBody>
      </p:sp>
      <p:sp>
        <p:nvSpPr>
          <p:cNvPr id="10" name="TextBox 20">
            <a:extLst>
              <a:ext uri="{FF2B5EF4-FFF2-40B4-BE49-F238E27FC236}">
                <a16:creationId xmlns:a16="http://schemas.microsoft.com/office/drawing/2014/main" id="{198BD090-DB1C-3EEA-9EA9-02730A6521F1}"/>
              </a:ext>
            </a:extLst>
          </p:cNvPr>
          <p:cNvSpPr txBox="1"/>
          <p:nvPr/>
        </p:nvSpPr>
        <p:spPr>
          <a:xfrm>
            <a:off x="5653197" y="6220637"/>
            <a:ext cx="2257628"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000">
                <a:solidFill>
                  <a:schemeClr val="accent6">
                    <a:lumMod val="75000"/>
                  </a:schemeClr>
                </a:solidFill>
              </a:rPr>
              <a:t>Under delay and can be recovered</a:t>
            </a:r>
            <a:endParaRPr lang="en-IN" sz="1000"/>
          </a:p>
        </p:txBody>
      </p:sp>
      <p:sp>
        <p:nvSpPr>
          <p:cNvPr id="11" name="TextBox 22">
            <a:extLst>
              <a:ext uri="{FF2B5EF4-FFF2-40B4-BE49-F238E27FC236}">
                <a16:creationId xmlns:a16="http://schemas.microsoft.com/office/drawing/2014/main" id="{6FB5D2D2-EE83-BCAA-4C85-A7880C8FA529}"/>
              </a:ext>
            </a:extLst>
          </p:cNvPr>
          <p:cNvSpPr txBox="1"/>
          <p:nvPr/>
        </p:nvSpPr>
        <p:spPr>
          <a:xfrm>
            <a:off x="5657900" y="6437221"/>
            <a:ext cx="3069090"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000">
                <a:solidFill>
                  <a:schemeClr val="accent2"/>
                </a:solidFill>
              </a:rPr>
              <a:t>Delayed and pushed to next release</a:t>
            </a:r>
            <a:endParaRPr lang="en-IN" sz="1000"/>
          </a:p>
        </p:txBody>
      </p:sp>
      <p:graphicFrame>
        <p:nvGraphicFramePr>
          <p:cNvPr id="14" name="Table 13">
            <a:extLst>
              <a:ext uri="{FF2B5EF4-FFF2-40B4-BE49-F238E27FC236}">
                <a16:creationId xmlns:a16="http://schemas.microsoft.com/office/drawing/2014/main" id="{1F4180FD-046A-A9B4-EAEC-E106E904D6A4}"/>
              </a:ext>
            </a:extLst>
          </p:cNvPr>
          <p:cNvGraphicFramePr>
            <a:graphicFrameLocks noGrp="1"/>
          </p:cNvGraphicFramePr>
          <p:nvPr>
            <p:extLst>
              <p:ext uri="{D42A27DB-BD31-4B8C-83A1-F6EECF244321}">
                <p14:modId xmlns:p14="http://schemas.microsoft.com/office/powerpoint/2010/main" val="1082779643"/>
              </p:ext>
            </p:extLst>
          </p:nvPr>
        </p:nvGraphicFramePr>
        <p:xfrm>
          <a:off x="1284507" y="932675"/>
          <a:ext cx="10697938" cy="1655445"/>
        </p:xfrm>
        <a:graphic>
          <a:graphicData uri="http://schemas.openxmlformats.org/drawingml/2006/table">
            <a:tbl>
              <a:tblPr firstRow="1" bandRow="1">
                <a:tableStyleId>{5C22544A-7EE6-4342-B048-85BDC9FD1C3A}</a:tableStyleId>
              </a:tblPr>
              <a:tblGrid>
                <a:gridCol w="3313575">
                  <a:extLst>
                    <a:ext uri="{9D8B030D-6E8A-4147-A177-3AD203B41FA5}">
                      <a16:colId xmlns:a16="http://schemas.microsoft.com/office/drawing/2014/main" val="2822350773"/>
                    </a:ext>
                  </a:extLst>
                </a:gridCol>
                <a:gridCol w="7384363">
                  <a:extLst>
                    <a:ext uri="{9D8B030D-6E8A-4147-A177-3AD203B41FA5}">
                      <a16:colId xmlns:a16="http://schemas.microsoft.com/office/drawing/2014/main" val="99588705"/>
                    </a:ext>
                  </a:extLst>
                </a:gridCol>
              </a:tblGrid>
              <a:tr h="217387">
                <a:tc>
                  <a:txBody>
                    <a:bodyPr/>
                    <a:lstStyle/>
                    <a:p>
                      <a:pPr marL="0" lvl="0" indent="0" algn="ctr" defTabSz="914400" rtl="0" eaLnBrk="1" latinLnBrk="0" hangingPunct="1">
                        <a:lnSpc>
                          <a:spcPct val="100000"/>
                        </a:lnSpc>
                        <a:buFont typeface="Arial" panose="020B0604020202020204" pitchFamily="34" charset="0"/>
                        <a:buNone/>
                      </a:pPr>
                      <a:r>
                        <a:rPr lang="en-IN" sz="1200" kern="1200">
                          <a:solidFill>
                            <a:schemeClr val="bg1"/>
                          </a:solidFill>
                          <a:latin typeface="+mn-lt"/>
                          <a:ea typeface="+mn-ea"/>
                          <a:cs typeface="+mn-cs"/>
                        </a:rPr>
                        <a:t>Project/Initiative</a:t>
                      </a:r>
                      <a:endParaRPr lang="en-US" sz="1200"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tc>
                  <a:txBody>
                    <a:bodyPr/>
                    <a:lstStyle/>
                    <a:p>
                      <a:pPr marL="0" indent="0" algn="ctr" defTabSz="914400" rtl="0" eaLnBrk="1" latinLnBrk="0" hangingPunct="1">
                        <a:buFont typeface="Arial" panose="020B0604020202020204" pitchFamily="34" charset="0"/>
                        <a:buNone/>
                      </a:pPr>
                      <a:r>
                        <a:rPr lang="en-IN" sz="1200" kern="1200">
                          <a:solidFill>
                            <a:schemeClr val="bg1"/>
                          </a:solidFill>
                          <a:latin typeface="+mn-lt"/>
                          <a:ea typeface="+mn-ea"/>
                          <a:cs typeface="+mn-cs"/>
                        </a:rPr>
                        <a:t>Value Justification/Realization</a:t>
                      </a:r>
                      <a:endParaRPr lang="en-US" sz="1200"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extLst>
                  <a:ext uri="{0D108BD9-81ED-4DB2-BD59-A6C34878D82A}">
                    <a16:rowId xmlns:a16="http://schemas.microsoft.com/office/drawing/2014/main" val="844450115"/>
                  </a:ext>
                </a:extLst>
              </a:tr>
              <a:tr h="499989">
                <a:tc>
                  <a:txBody>
                    <a:bodyPr/>
                    <a:lstStyle/>
                    <a:p>
                      <a:pPr marL="0" lvl="0" indent="0" algn="l" defTabSz="914400" rtl="0" eaLnBrk="1" fontAlgn="t" latinLnBrk="0" hangingPunct="1">
                        <a:lnSpc>
                          <a:spcPct val="100000"/>
                        </a:lnSpc>
                        <a:spcBef>
                          <a:spcPts val="0"/>
                        </a:spcBef>
                        <a:spcAft>
                          <a:spcPts val="0"/>
                        </a:spcAft>
                        <a:buFont typeface="+mj-lt"/>
                        <a:buNone/>
                      </a:pPr>
                      <a:r>
                        <a:rPr lang="en-US" sz="1200" b="1" i="0" u="none" strike="noStrike" kern="1200">
                          <a:solidFill>
                            <a:srgbClr val="00B050"/>
                          </a:solidFill>
                          <a:latin typeface="+mn-lt"/>
                          <a:ea typeface="+mn-ea"/>
                          <a:cs typeface="+mn-cs"/>
                        </a:rPr>
                        <a:t>GHA Onboarding - Phase 7 ( Bach of 13GHA - Station )</a:t>
                      </a:r>
                    </a:p>
                  </a:txBody>
                  <a:tcPr marL="9525" marR="9525" marT="9525" marB="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lvl="0" indent="0" algn="l" defTabSz="914400" rtl="0" eaLnBrk="1" fontAlgn="t" latinLnBrk="0" hangingPunct="1">
                        <a:lnSpc>
                          <a:spcPct val="100000"/>
                        </a:lnSpc>
                        <a:spcBef>
                          <a:spcPts val="0"/>
                        </a:spcBef>
                        <a:spcAft>
                          <a:spcPts val="0"/>
                        </a:spcAft>
                        <a:buFont typeface="+mj-lt"/>
                        <a:buNone/>
                      </a:pPr>
                      <a:r>
                        <a:rPr lang="en-US" sz="1200" b="0" i="0" u="none" strike="noStrike" kern="1200">
                          <a:solidFill>
                            <a:srgbClr val="00B050"/>
                          </a:solidFill>
                          <a:latin typeface="+mn-lt"/>
                          <a:ea typeface="+mn-ea"/>
                          <a:cs typeface="+mn-cs"/>
                        </a:rPr>
                        <a:t>Address 6 crore revenue discrepancy by automating the Cargo reconciliation process.; </a:t>
                      </a:r>
                      <a:br>
                        <a:rPr lang="en-US" sz="1200" b="0" i="0" u="none" strike="noStrike" kern="1200">
                          <a:solidFill>
                            <a:srgbClr val="00B050"/>
                          </a:solidFill>
                          <a:latin typeface="+mn-lt"/>
                          <a:ea typeface="+mn-ea"/>
                          <a:cs typeface="+mn-cs"/>
                        </a:rPr>
                      </a:br>
                      <a:r>
                        <a:rPr lang="en-US" sz="1200" b="0" i="0" u="none" strike="noStrike" kern="1200">
                          <a:solidFill>
                            <a:srgbClr val="00B050"/>
                          </a:solidFill>
                          <a:latin typeface="+mn-lt"/>
                          <a:ea typeface="+mn-ea"/>
                          <a:cs typeface="+mn-cs"/>
                        </a:rPr>
                        <a:t>100+ stations, each station agent consuming around 2 to 3 days to check, is being automated and reduced to few hours on the reconciliation process.</a:t>
                      </a:r>
                    </a:p>
                    <a:p>
                      <a:pPr marL="0" lvl="0" indent="0" algn="l" defTabSz="914400" rtl="0" eaLnBrk="1" fontAlgn="t" latinLnBrk="0" hangingPunct="1">
                        <a:lnSpc>
                          <a:spcPct val="100000"/>
                        </a:lnSpc>
                        <a:spcBef>
                          <a:spcPts val="0"/>
                        </a:spcBef>
                        <a:spcAft>
                          <a:spcPts val="0"/>
                        </a:spcAft>
                        <a:buFont typeface="+mj-lt"/>
                        <a:buNone/>
                      </a:pPr>
                      <a:r>
                        <a:rPr lang="en-US" sz="1200" b="0" i="0" u="none" strike="noStrike" kern="1200">
                          <a:solidFill>
                            <a:srgbClr val="00B050"/>
                          </a:solidFill>
                          <a:latin typeface="+mn-lt"/>
                          <a:ea typeface="+mn-ea"/>
                          <a:cs typeface="+mn-cs"/>
                        </a:rPr>
                        <a:t>GHAs included in this phase :  TBD</a:t>
                      </a:r>
                    </a:p>
                  </a:txBody>
                  <a:tcPr marL="9525" marR="9525" marT="9525" marB="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447807023"/>
                  </a:ext>
                </a:extLst>
              </a:tr>
              <a:tr h="499989">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200" b="1" i="0" u="none" strike="noStrike" kern="1200" baseline="0" noProof="0">
                          <a:solidFill>
                            <a:srgbClr val="00B050"/>
                          </a:solidFill>
                          <a:latin typeface="+mn-lt"/>
                          <a:ea typeface="+mn-ea"/>
                          <a:cs typeface="+mn-cs"/>
                        </a:rPr>
                        <a:t>Loyalty Fraud prevention application Enhancement – DOB changes </a:t>
                      </a:r>
                    </a:p>
                    <a:p>
                      <a:pPr marL="0" lvl="0" indent="0" algn="l" defTabSz="914400" rtl="0" eaLnBrk="1" latinLnBrk="0" hangingPunct="1">
                        <a:lnSpc>
                          <a:spcPct val="100000"/>
                        </a:lnSpc>
                        <a:spcBef>
                          <a:spcPts val="0"/>
                        </a:spcBef>
                        <a:spcAft>
                          <a:spcPts val="0"/>
                        </a:spcAft>
                        <a:buFont typeface="+mj-lt"/>
                        <a:buNone/>
                      </a:pPr>
                      <a:endParaRPr lang="en-US" sz="1200" b="1" i="0" u="none" strike="noStrike" kern="1200" noProof="0">
                        <a:solidFill>
                          <a:srgbClr val="00B050"/>
                        </a:solidFill>
                        <a:latin typeface="+mn-lt"/>
                        <a:ea typeface="+mn-ea"/>
                        <a:cs typeface="+mn-cs"/>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lvl="0" indent="0" algn="l" defTabSz="914400" rtl="0" eaLnBrk="1" latinLnBrk="0" hangingPunct="1">
                        <a:lnSpc>
                          <a:spcPct val="100000"/>
                        </a:lnSpc>
                        <a:spcBef>
                          <a:spcPts val="0"/>
                        </a:spcBef>
                        <a:spcAft>
                          <a:spcPts val="0"/>
                        </a:spcAft>
                        <a:buFont typeface="+mj-lt"/>
                        <a:buNone/>
                      </a:pPr>
                      <a:r>
                        <a:rPr lang="en-US" sz="1200" b="0" i="0" u="none" strike="noStrike" kern="1200" noProof="0">
                          <a:solidFill>
                            <a:srgbClr val="00B050"/>
                          </a:solidFill>
                          <a:latin typeface="+mn-lt"/>
                          <a:ea typeface="+mn-ea"/>
                          <a:cs typeface="+mn-cs"/>
                        </a:rPr>
                        <a:t>Changes to Date of birth validation in Fraud prevention engine to enhance validation and reducing false positives while identifying fraudulent attempts.</a:t>
                      </a: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366197241"/>
                  </a:ext>
                </a:extLst>
              </a:tr>
            </a:tbl>
          </a:graphicData>
        </a:graphic>
      </p:graphicFrame>
      <p:sp>
        <p:nvSpPr>
          <p:cNvPr id="16" name="Rectangle 15">
            <a:extLst>
              <a:ext uri="{FF2B5EF4-FFF2-40B4-BE49-F238E27FC236}">
                <a16:creationId xmlns:a16="http://schemas.microsoft.com/office/drawing/2014/main" id="{88F44EEB-105E-5D27-13F7-8B16D54CDB26}"/>
              </a:ext>
            </a:extLst>
          </p:cNvPr>
          <p:cNvSpPr/>
          <p:nvPr/>
        </p:nvSpPr>
        <p:spPr>
          <a:xfrm>
            <a:off x="114075" y="929191"/>
            <a:ext cx="1170432" cy="42234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1100" b="1">
                <a:latin typeface="AirIndia"/>
              </a:rPr>
              <a:t>Sep 2026</a:t>
            </a:r>
            <a:endParaRPr lang="en-US"/>
          </a:p>
        </p:txBody>
      </p:sp>
    </p:spTree>
    <p:extLst>
      <p:ext uri="{BB962C8B-B14F-4D97-AF65-F5344CB8AC3E}">
        <p14:creationId xmlns:p14="http://schemas.microsoft.com/office/powerpoint/2010/main" val="1264763109"/>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27932E-D75E-E58D-5BCE-FB6BB9C37D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304D2D-CA2C-7F0B-30A8-4D92862409A1}"/>
              </a:ext>
            </a:extLst>
          </p:cNvPr>
          <p:cNvSpPr>
            <a:spLocks noGrp="1"/>
          </p:cNvSpPr>
          <p:nvPr>
            <p:ph type="title"/>
          </p:nvPr>
        </p:nvSpPr>
        <p:spPr>
          <a:xfrm>
            <a:off x="5876373" y="2114927"/>
            <a:ext cx="6907630" cy="1961201"/>
          </a:xfrm>
        </p:spPr>
        <p:txBody>
          <a:bodyPr/>
          <a:lstStyle/>
          <a:p>
            <a:r>
              <a:rPr lang="en-US" sz="5400">
                <a:latin typeface="AirIndia"/>
              </a:rPr>
              <a:t>CX-Q1</a:t>
            </a:r>
            <a:endParaRPr lang="en-US" sz="5400"/>
          </a:p>
        </p:txBody>
      </p:sp>
    </p:spTree>
    <p:extLst>
      <p:ext uri="{BB962C8B-B14F-4D97-AF65-F5344CB8AC3E}">
        <p14:creationId xmlns:p14="http://schemas.microsoft.com/office/powerpoint/2010/main" val="2573179722"/>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D2F78E-DA09-FC66-DB8D-F923F60D466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D6566D1-4A56-6959-8983-7184A3851F00}"/>
              </a:ext>
            </a:extLst>
          </p:cNvPr>
          <p:cNvSpPr>
            <a:spLocks noGrp="1"/>
          </p:cNvSpPr>
          <p:nvPr>
            <p:ph type="sldNum" sz="quarter" idx="12"/>
          </p:nvPr>
        </p:nvSpPr>
        <p:spPr/>
        <p:txBody>
          <a:bodyPr/>
          <a:lstStyle/>
          <a:p>
            <a:fld id="{3A41A254-7326-714E-AF55-4C213D6394DE}" type="slidenum">
              <a:rPr lang="en-US" smtClean="0"/>
              <a:pPr/>
              <a:t>98</a:t>
            </a:fld>
            <a:endParaRPr lang="en-US"/>
          </a:p>
        </p:txBody>
      </p:sp>
      <p:sp>
        <p:nvSpPr>
          <p:cNvPr id="6" name="Title 11">
            <a:extLst>
              <a:ext uri="{FF2B5EF4-FFF2-40B4-BE49-F238E27FC236}">
                <a16:creationId xmlns:a16="http://schemas.microsoft.com/office/drawing/2014/main" id="{E4253743-D2DF-98CD-8A62-A568F1A6A77D}"/>
              </a:ext>
            </a:extLst>
          </p:cNvPr>
          <p:cNvSpPr txBox="1">
            <a:spLocks/>
          </p:cNvSpPr>
          <p:nvPr/>
        </p:nvSpPr>
        <p:spPr>
          <a:xfrm>
            <a:off x="195943" y="307594"/>
            <a:ext cx="5562600" cy="396638"/>
          </a:xfrm>
          <a:prstGeom prst="rect">
            <a:avLst/>
          </a:prstGeom>
        </p:spPr>
        <p:txBody>
          <a:bodyPr lIns="91440" tIns="45720" rIns="91440" bIns="45720" anchor="t">
            <a:noAutofit/>
          </a:bodyPr>
          <a:lstStyle>
            <a:lvl1pPr algn="l" defTabSz="914400" rtl="0" eaLnBrk="1" latinLnBrk="0" hangingPunct="1">
              <a:lnSpc>
                <a:spcPct val="90000"/>
              </a:lnSpc>
              <a:spcBef>
                <a:spcPct val="0"/>
              </a:spcBef>
              <a:buNone/>
              <a:defRPr sz="4400" b="1" i="0" kern="1200">
                <a:solidFill>
                  <a:schemeClr val="tx1"/>
                </a:solidFill>
                <a:latin typeface="AirIndia" pitchFamily="82" charset="77"/>
                <a:ea typeface="+mj-ea"/>
                <a:cs typeface="+mj-cs"/>
              </a:defRPr>
            </a:lvl1pPr>
          </a:lstStyle>
          <a:p>
            <a:r>
              <a:rPr lang="en-US" sz="1800">
                <a:solidFill>
                  <a:schemeClr val="accent1"/>
                </a:solidFill>
                <a:latin typeface="AirIndia"/>
              </a:rPr>
              <a:t>CX - FY26 Q1  Release Plan Status Update</a:t>
            </a:r>
            <a:endParaRPr lang="en-US" sz="1800" b="0">
              <a:solidFill>
                <a:schemeClr val="accent1"/>
              </a:solidFill>
              <a:latin typeface="AirIndia"/>
            </a:endParaRPr>
          </a:p>
        </p:txBody>
      </p:sp>
      <p:sp>
        <p:nvSpPr>
          <p:cNvPr id="3" name="Rectangle 2">
            <a:extLst>
              <a:ext uri="{FF2B5EF4-FFF2-40B4-BE49-F238E27FC236}">
                <a16:creationId xmlns:a16="http://schemas.microsoft.com/office/drawing/2014/main" id="{D4D850E0-F1D1-8A0E-F91E-446C368EE02F}"/>
              </a:ext>
            </a:extLst>
          </p:cNvPr>
          <p:cNvSpPr/>
          <p:nvPr/>
        </p:nvSpPr>
        <p:spPr>
          <a:xfrm>
            <a:off x="3465009" y="6262087"/>
            <a:ext cx="90000" cy="90000"/>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
        <p:nvSpPr>
          <p:cNvPr id="4" name="Rectangle 3">
            <a:extLst>
              <a:ext uri="{FF2B5EF4-FFF2-40B4-BE49-F238E27FC236}">
                <a16:creationId xmlns:a16="http://schemas.microsoft.com/office/drawing/2014/main" id="{CF884AD8-CCC6-65F2-E2DE-4C389980A79A}"/>
              </a:ext>
            </a:extLst>
          </p:cNvPr>
          <p:cNvSpPr/>
          <p:nvPr/>
        </p:nvSpPr>
        <p:spPr>
          <a:xfrm>
            <a:off x="3465009" y="6489649"/>
            <a:ext cx="90000" cy="90000"/>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
        <p:nvSpPr>
          <p:cNvPr id="5" name="Rectangle 4">
            <a:extLst>
              <a:ext uri="{FF2B5EF4-FFF2-40B4-BE49-F238E27FC236}">
                <a16:creationId xmlns:a16="http://schemas.microsoft.com/office/drawing/2014/main" id="{02C510EE-5B12-EDFF-2FCD-5F08FDD3F059}"/>
              </a:ext>
            </a:extLst>
          </p:cNvPr>
          <p:cNvSpPr/>
          <p:nvPr/>
        </p:nvSpPr>
        <p:spPr>
          <a:xfrm>
            <a:off x="5567900" y="6262087"/>
            <a:ext cx="90000" cy="90000"/>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
        <p:nvSpPr>
          <p:cNvPr id="7" name="Rectangle 6">
            <a:extLst>
              <a:ext uri="{FF2B5EF4-FFF2-40B4-BE49-F238E27FC236}">
                <a16:creationId xmlns:a16="http://schemas.microsoft.com/office/drawing/2014/main" id="{44325183-7E46-181E-A138-5BAFF0ED93E0}"/>
              </a:ext>
            </a:extLst>
          </p:cNvPr>
          <p:cNvSpPr/>
          <p:nvPr/>
        </p:nvSpPr>
        <p:spPr>
          <a:xfrm>
            <a:off x="5567900" y="6489649"/>
            <a:ext cx="90000" cy="90000"/>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
        <p:nvSpPr>
          <p:cNvPr id="8" name="TextBox 15">
            <a:extLst>
              <a:ext uri="{FF2B5EF4-FFF2-40B4-BE49-F238E27FC236}">
                <a16:creationId xmlns:a16="http://schemas.microsoft.com/office/drawing/2014/main" id="{E5F8340F-866A-2E84-168C-455EE0E5223A}"/>
              </a:ext>
            </a:extLst>
          </p:cNvPr>
          <p:cNvSpPr txBox="1"/>
          <p:nvPr/>
        </p:nvSpPr>
        <p:spPr>
          <a:xfrm>
            <a:off x="3522317" y="6205238"/>
            <a:ext cx="857245"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000">
                <a:solidFill>
                  <a:srgbClr val="0070C0"/>
                </a:solidFill>
              </a:rPr>
              <a:t>Delivered</a:t>
            </a:r>
            <a:endParaRPr lang="en-IN" sz="1000"/>
          </a:p>
        </p:txBody>
      </p:sp>
      <p:sp>
        <p:nvSpPr>
          <p:cNvPr id="9" name="TextBox 18">
            <a:extLst>
              <a:ext uri="{FF2B5EF4-FFF2-40B4-BE49-F238E27FC236}">
                <a16:creationId xmlns:a16="http://schemas.microsoft.com/office/drawing/2014/main" id="{48E48098-5177-B915-8EB4-A838B607042A}"/>
              </a:ext>
            </a:extLst>
          </p:cNvPr>
          <p:cNvSpPr txBox="1"/>
          <p:nvPr/>
        </p:nvSpPr>
        <p:spPr>
          <a:xfrm>
            <a:off x="3520719" y="6430197"/>
            <a:ext cx="1032881"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000">
                <a:solidFill>
                  <a:srgbClr val="00B050"/>
                </a:solidFill>
              </a:rPr>
              <a:t>Ontrack</a:t>
            </a:r>
            <a:endParaRPr lang="en-IN" sz="1000"/>
          </a:p>
        </p:txBody>
      </p:sp>
      <p:sp>
        <p:nvSpPr>
          <p:cNvPr id="10" name="TextBox 20">
            <a:extLst>
              <a:ext uri="{FF2B5EF4-FFF2-40B4-BE49-F238E27FC236}">
                <a16:creationId xmlns:a16="http://schemas.microsoft.com/office/drawing/2014/main" id="{CC277042-BA83-C224-9AF1-6CE347E3FFE1}"/>
              </a:ext>
            </a:extLst>
          </p:cNvPr>
          <p:cNvSpPr txBox="1"/>
          <p:nvPr/>
        </p:nvSpPr>
        <p:spPr>
          <a:xfrm>
            <a:off x="5653197" y="6220637"/>
            <a:ext cx="2257628"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000">
                <a:solidFill>
                  <a:schemeClr val="accent6">
                    <a:lumMod val="75000"/>
                  </a:schemeClr>
                </a:solidFill>
              </a:rPr>
              <a:t>Under delay and can be recovered</a:t>
            </a:r>
            <a:endParaRPr lang="en-IN" sz="1000"/>
          </a:p>
        </p:txBody>
      </p:sp>
      <p:sp>
        <p:nvSpPr>
          <p:cNvPr id="11" name="TextBox 22">
            <a:extLst>
              <a:ext uri="{FF2B5EF4-FFF2-40B4-BE49-F238E27FC236}">
                <a16:creationId xmlns:a16="http://schemas.microsoft.com/office/drawing/2014/main" id="{D71FB7F3-FAA1-227E-BBF7-B01896B7C39F}"/>
              </a:ext>
            </a:extLst>
          </p:cNvPr>
          <p:cNvSpPr txBox="1"/>
          <p:nvPr/>
        </p:nvSpPr>
        <p:spPr>
          <a:xfrm>
            <a:off x="5657900" y="6437221"/>
            <a:ext cx="3069090"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000">
                <a:solidFill>
                  <a:schemeClr val="accent2"/>
                </a:solidFill>
              </a:rPr>
              <a:t>Delayed and pushed to next release</a:t>
            </a:r>
            <a:endParaRPr lang="en-IN" sz="1000"/>
          </a:p>
        </p:txBody>
      </p:sp>
      <p:graphicFrame>
        <p:nvGraphicFramePr>
          <p:cNvPr id="14" name="Table 13">
            <a:extLst>
              <a:ext uri="{FF2B5EF4-FFF2-40B4-BE49-F238E27FC236}">
                <a16:creationId xmlns:a16="http://schemas.microsoft.com/office/drawing/2014/main" id="{6957F185-F3ED-ABB6-F47A-23B744AA2C0C}"/>
              </a:ext>
            </a:extLst>
          </p:cNvPr>
          <p:cNvGraphicFramePr>
            <a:graphicFrameLocks noGrp="1"/>
          </p:cNvGraphicFramePr>
          <p:nvPr>
            <p:extLst>
              <p:ext uri="{D42A27DB-BD31-4B8C-83A1-F6EECF244321}">
                <p14:modId xmlns:p14="http://schemas.microsoft.com/office/powerpoint/2010/main" val="265675626"/>
              </p:ext>
            </p:extLst>
          </p:nvPr>
        </p:nvGraphicFramePr>
        <p:xfrm>
          <a:off x="1366375" y="1232177"/>
          <a:ext cx="10697938" cy="1057600"/>
        </p:xfrm>
        <a:graphic>
          <a:graphicData uri="http://schemas.openxmlformats.org/drawingml/2006/table">
            <a:tbl>
              <a:tblPr firstRow="1" bandRow="1">
                <a:tableStyleId>{5C22544A-7EE6-4342-B048-85BDC9FD1C3A}</a:tableStyleId>
              </a:tblPr>
              <a:tblGrid>
                <a:gridCol w="3759269">
                  <a:extLst>
                    <a:ext uri="{9D8B030D-6E8A-4147-A177-3AD203B41FA5}">
                      <a16:colId xmlns:a16="http://schemas.microsoft.com/office/drawing/2014/main" val="2822350773"/>
                    </a:ext>
                  </a:extLst>
                </a:gridCol>
                <a:gridCol w="6938669">
                  <a:extLst>
                    <a:ext uri="{9D8B030D-6E8A-4147-A177-3AD203B41FA5}">
                      <a16:colId xmlns:a16="http://schemas.microsoft.com/office/drawing/2014/main" val="99588705"/>
                    </a:ext>
                  </a:extLst>
                </a:gridCol>
              </a:tblGrid>
              <a:tr h="217387">
                <a:tc>
                  <a:txBody>
                    <a:bodyPr/>
                    <a:lstStyle/>
                    <a:p>
                      <a:pPr marL="0" lvl="0" indent="0" algn="ctr" defTabSz="914400" rtl="0" eaLnBrk="1" latinLnBrk="0" hangingPunct="1">
                        <a:lnSpc>
                          <a:spcPct val="100000"/>
                        </a:lnSpc>
                        <a:buFont typeface="Arial" panose="020B0604020202020204" pitchFamily="34" charset="0"/>
                        <a:buNone/>
                      </a:pPr>
                      <a:r>
                        <a:rPr lang="en-IN" sz="1200" strike="sngStrike" kern="1200">
                          <a:solidFill>
                            <a:schemeClr val="bg1"/>
                          </a:solidFill>
                          <a:latin typeface="+mn-lt"/>
                          <a:ea typeface="+mn-ea"/>
                          <a:cs typeface="+mn-cs"/>
                        </a:rPr>
                        <a:t>Project/Initiative</a:t>
                      </a:r>
                      <a:endParaRPr lang="en-US" sz="1200" strike="sngStrike"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tc>
                  <a:txBody>
                    <a:bodyPr/>
                    <a:lstStyle/>
                    <a:p>
                      <a:pPr marL="0" indent="0" algn="ctr" defTabSz="914400" rtl="0" eaLnBrk="1" latinLnBrk="0" hangingPunct="1">
                        <a:buFont typeface="Arial" panose="020B0604020202020204" pitchFamily="34" charset="0"/>
                        <a:buNone/>
                      </a:pPr>
                      <a:r>
                        <a:rPr lang="en-IN" sz="1200" strike="sngStrike" kern="1200">
                          <a:solidFill>
                            <a:schemeClr val="bg1"/>
                          </a:solidFill>
                          <a:latin typeface="+mn-lt"/>
                          <a:ea typeface="+mn-ea"/>
                          <a:cs typeface="+mn-cs"/>
                        </a:rPr>
                        <a:t>Value Justification/Realization</a:t>
                      </a:r>
                      <a:endParaRPr lang="en-US" sz="1200" strike="sngStrike"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extLst>
                  <a:ext uri="{0D108BD9-81ED-4DB2-BD59-A6C34878D82A}">
                    <a16:rowId xmlns:a16="http://schemas.microsoft.com/office/drawing/2014/main" val="844450115"/>
                  </a:ext>
                </a:extLst>
              </a:tr>
              <a:tr h="326080">
                <a:tc>
                  <a:txBody>
                    <a:bodyPr/>
                    <a:lstStyle/>
                    <a:p>
                      <a:pPr marL="0" lvl="0" indent="0" algn="l">
                        <a:lnSpc>
                          <a:spcPct val="100000"/>
                        </a:lnSpc>
                        <a:spcBef>
                          <a:spcPts val="0"/>
                        </a:spcBef>
                        <a:spcAft>
                          <a:spcPts val="0"/>
                        </a:spcAft>
                        <a:buNone/>
                      </a:pPr>
                      <a:r>
                        <a:rPr lang="en-US" sz="1200" b="1" i="0" u="none" strike="sngStrike" kern="1200" noProof="0">
                          <a:solidFill>
                            <a:srgbClr val="05B050"/>
                          </a:solidFill>
                          <a:latin typeface="+mn-lt"/>
                        </a:rPr>
                        <a:t>Voice of customer (Actionable suggestions)</a:t>
                      </a:r>
                    </a:p>
                  </a:txBody>
                  <a:tcP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457200" lvl="1" indent="0" algn="l">
                        <a:lnSpc>
                          <a:spcPct val="100000"/>
                        </a:lnSpc>
                        <a:spcBef>
                          <a:spcPts val="0"/>
                        </a:spcBef>
                        <a:spcAft>
                          <a:spcPts val="0"/>
                        </a:spcAft>
                        <a:buFont typeface="Arial"/>
                        <a:buNone/>
                      </a:pPr>
                      <a:r>
                        <a:rPr lang="en-US" sz="1200" b="1" i="0" u="none" strike="sngStrike" kern="1200" noProof="0">
                          <a:solidFill>
                            <a:srgbClr val="05B050"/>
                          </a:solidFill>
                          <a:latin typeface="+mn-lt"/>
                        </a:rPr>
                        <a:t>Analytics platform that aggregates agent and customer interaction on inbound calls and converts them into structured insights presented through Dashboard</a:t>
                      </a:r>
                    </a:p>
                  </a:txBody>
                  <a:tcPr>
                    <a:lnL w="6350" cap="flat" cmpd="sng" algn="ctr">
                      <a:solidFill>
                        <a:schemeClr val="bg1">
                          <a:lumMod val="75000"/>
                        </a:schemeClr>
                      </a:solidFill>
                      <a:prstDash val="solid"/>
                      <a:round/>
                      <a:headEnd type="none" w="med" len="med"/>
                      <a:tailEnd type="none" w="med" len="med"/>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417476375"/>
                  </a:ext>
                </a:extLst>
              </a:tr>
              <a:tr h="326080">
                <a:tc>
                  <a:txBody>
                    <a:bodyPr/>
                    <a:lstStyle/>
                    <a:p>
                      <a:pPr marL="228600" lvl="0" indent="-228600" algn="l">
                        <a:lnSpc>
                          <a:spcPct val="100000"/>
                        </a:lnSpc>
                        <a:spcBef>
                          <a:spcPts val="0"/>
                        </a:spcBef>
                        <a:spcAft>
                          <a:spcPts val="0"/>
                        </a:spcAft>
                        <a:buAutoNum type="arabicPeriod"/>
                      </a:pPr>
                      <a:endParaRPr lang="en-US" sz="1200" b="1" i="0" u="none" strike="noStrike" kern="1200" noProof="0">
                        <a:solidFill>
                          <a:srgbClr val="0070C0"/>
                        </a:solidFill>
                        <a:latin typeface="+mn-lt"/>
                      </a:endParaRPr>
                    </a:p>
                  </a:txBody>
                  <a:tcPr>
                    <a:lnL w="6350">
                      <a:solidFill>
                        <a:schemeClr val="bg1">
                          <a:lumMod val="75000"/>
                        </a:schemeClr>
                      </a:solidFill>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a:solidFill>
                        <a:schemeClr val="bg1">
                          <a:lumMod val="75000"/>
                        </a:schemeClr>
                      </a:solidFill>
                    </a:lnB>
                    <a:noFill/>
                  </a:tcPr>
                </a:tc>
                <a:tc>
                  <a:txBody>
                    <a:bodyPr/>
                    <a:lstStyle/>
                    <a:p>
                      <a:pPr marL="685800" lvl="1" indent="-228600" algn="l">
                        <a:lnSpc>
                          <a:spcPct val="100000"/>
                        </a:lnSpc>
                        <a:spcBef>
                          <a:spcPts val="0"/>
                        </a:spcBef>
                        <a:spcAft>
                          <a:spcPts val="0"/>
                        </a:spcAft>
                        <a:buFont typeface="Arial"/>
                        <a:buChar char="•"/>
                      </a:pPr>
                      <a:endParaRPr lang="en-US" sz="1200" b="1" i="0" u="none" strike="noStrike" kern="1200" noProof="0">
                        <a:solidFill>
                          <a:schemeClr val="tx1"/>
                        </a:solidFill>
                        <a:latin typeface="+mn-lt"/>
                      </a:endParaRPr>
                    </a:p>
                  </a:txBody>
                  <a:tcPr>
                    <a:lnL w="6350">
                      <a:solidFill>
                        <a:schemeClr val="bg1">
                          <a:lumMod val="75000"/>
                        </a:schemeClr>
                      </a:solidFill>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a:solidFill>
                        <a:schemeClr val="bg1">
                          <a:lumMod val="75000"/>
                        </a:schemeClr>
                      </a:solidFill>
                    </a:lnB>
                    <a:noFill/>
                  </a:tcPr>
                </a:tc>
                <a:extLst>
                  <a:ext uri="{0D108BD9-81ED-4DB2-BD59-A6C34878D82A}">
                    <a16:rowId xmlns:a16="http://schemas.microsoft.com/office/drawing/2014/main" val="1110178885"/>
                  </a:ext>
                </a:extLst>
              </a:tr>
            </a:tbl>
          </a:graphicData>
        </a:graphic>
      </p:graphicFrame>
      <p:graphicFrame>
        <p:nvGraphicFramePr>
          <p:cNvPr id="15" name="Table 14">
            <a:extLst>
              <a:ext uri="{FF2B5EF4-FFF2-40B4-BE49-F238E27FC236}">
                <a16:creationId xmlns:a16="http://schemas.microsoft.com/office/drawing/2014/main" id="{D6679E81-7F75-20AD-2716-A85C86CCB1F8}"/>
              </a:ext>
            </a:extLst>
          </p:cNvPr>
          <p:cNvGraphicFramePr>
            <a:graphicFrameLocks noGrp="1"/>
          </p:cNvGraphicFramePr>
          <p:nvPr>
            <p:extLst>
              <p:ext uri="{D42A27DB-BD31-4B8C-83A1-F6EECF244321}">
                <p14:modId xmlns:p14="http://schemas.microsoft.com/office/powerpoint/2010/main" val="2252686318"/>
              </p:ext>
            </p:extLst>
          </p:nvPr>
        </p:nvGraphicFramePr>
        <p:xfrm>
          <a:off x="1366375" y="2963006"/>
          <a:ext cx="10697938" cy="1426469"/>
        </p:xfrm>
        <a:graphic>
          <a:graphicData uri="http://schemas.openxmlformats.org/drawingml/2006/table">
            <a:tbl>
              <a:tblPr firstRow="1" bandRow="1">
                <a:tableStyleId>{5C22544A-7EE6-4342-B048-85BDC9FD1C3A}</a:tableStyleId>
              </a:tblPr>
              <a:tblGrid>
                <a:gridCol w="3759269">
                  <a:extLst>
                    <a:ext uri="{9D8B030D-6E8A-4147-A177-3AD203B41FA5}">
                      <a16:colId xmlns:a16="http://schemas.microsoft.com/office/drawing/2014/main" val="2822350773"/>
                    </a:ext>
                  </a:extLst>
                </a:gridCol>
                <a:gridCol w="6938669">
                  <a:extLst>
                    <a:ext uri="{9D8B030D-6E8A-4147-A177-3AD203B41FA5}">
                      <a16:colId xmlns:a16="http://schemas.microsoft.com/office/drawing/2014/main" val="99588705"/>
                    </a:ext>
                  </a:extLst>
                </a:gridCol>
              </a:tblGrid>
              <a:tr h="217387">
                <a:tc>
                  <a:txBody>
                    <a:bodyPr/>
                    <a:lstStyle/>
                    <a:p>
                      <a:pPr marL="0" lvl="0" indent="0" algn="ctr" defTabSz="914400" rtl="0" eaLnBrk="1" latinLnBrk="0" hangingPunct="1">
                        <a:lnSpc>
                          <a:spcPct val="100000"/>
                        </a:lnSpc>
                        <a:buFont typeface="Arial" panose="020B0604020202020204" pitchFamily="34" charset="0"/>
                        <a:buNone/>
                      </a:pPr>
                      <a:r>
                        <a:rPr lang="en-IN" sz="1200" kern="1200">
                          <a:solidFill>
                            <a:schemeClr val="bg1"/>
                          </a:solidFill>
                          <a:latin typeface="+mn-lt"/>
                          <a:ea typeface="+mn-ea"/>
                          <a:cs typeface="+mn-cs"/>
                        </a:rPr>
                        <a:t>Project/Initiative</a:t>
                      </a:r>
                      <a:endParaRPr lang="en-US" sz="1200"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tc>
                  <a:txBody>
                    <a:bodyPr/>
                    <a:lstStyle/>
                    <a:p>
                      <a:pPr marL="0" indent="0" algn="ctr" defTabSz="914400" rtl="0" eaLnBrk="1" latinLnBrk="0" hangingPunct="1">
                        <a:buFont typeface="Arial" panose="020B0604020202020204" pitchFamily="34" charset="0"/>
                        <a:buNone/>
                      </a:pPr>
                      <a:r>
                        <a:rPr lang="en-IN" sz="1200" kern="1200">
                          <a:solidFill>
                            <a:schemeClr val="bg1"/>
                          </a:solidFill>
                          <a:latin typeface="+mn-lt"/>
                          <a:ea typeface="+mn-ea"/>
                          <a:cs typeface="+mn-cs"/>
                        </a:rPr>
                        <a:t>Value Justification/Realization</a:t>
                      </a:r>
                      <a:endParaRPr lang="en-US" sz="1200"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extLst>
                  <a:ext uri="{0D108BD9-81ED-4DB2-BD59-A6C34878D82A}">
                    <a16:rowId xmlns:a16="http://schemas.microsoft.com/office/drawing/2014/main" val="844450115"/>
                  </a:ext>
                </a:extLst>
              </a:tr>
              <a:tr h="499989">
                <a:tc>
                  <a:txBody>
                    <a:bodyPr/>
                    <a:lstStyle/>
                    <a:p>
                      <a:pPr marL="0" lvl="0" indent="0" algn="l">
                        <a:lnSpc>
                          <a:spcPct val="100000"/>
                        </a:lnSpc>
                        <a:spcBef>
                          <a:spcPts val="0"/>
                        </a:spcBef>
                        <a:spcAft>
                          <a:spcPts val="0"/>
                        </a:spcAft>
                        <a:buNone/>
                      </a:pPr>
                      <a:r>
                        <a:rPr lang="en-US" sz="1200" b="1" i="0" u="none" strike="noStrike" kern="1200" noProof="0">
                          <a:solidFill>
                            <a:srgbClr val="05B050"/>
                          </a:solidFill>
                          <a:latin typeface="+mn-lt"/>
                        </a:rPr>
                        <a:t>Voice of customer (Call Center Emotion Analytics)</a:t>
                      </a: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457200" lvl="1" indent="0" algn="l">
                        <a:lnSpc>
                          <a:spcPct val="100000"/>
                        </a:lnSpc>
                        <a:spcBef>
                          <a:spcPts val="0"/>
                        </a:spcBef>
                        <a:spcAft>
                          <a:spcPts val="0"/>
                        </a:spcAft>
                        <a:buFont typeface="Arial" panose="020B0604020202020204" pitchFamily="34" charset="0"/>
                        <a:buNone/>
                      </a:pPr>
                      <a:r>
                        <a:rPr lang="en-US" sz="1200" b="1" i="0" u="none" strike="noStrike" kern="1200" noProof="0">
                          <a:solidFill>
                            <a:srgbClr val="05B050"/>
                          </a:solidFill>
                          <a:latin typeface="+mn-lt"/>
                        </a:rPr>
                        <a:t>Identify emotion of the customer (sentiment at the entry and exit phase) basis the call recordings of interaction between customer and agent.</a:t>
                      </a: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443371065"/>
                  </a:ext>
                </a:extLst>
              </a:tr>
              <a:tr h="326080">
                <a:tc>
                  <a:txBody>
                    <a:bodyPr/>
                    <a:lstStyle/>
                    <a:p>
                      <a:pPr marL="228600" lvl="0" indent="-228600" algn="l">
                        <a:lnSpc>
                          <a:spcPct val="100000"/>
                        </a:lnSpc>
                        <a:spcBef>
                          <a:spcPts val="0"/>
                        </a:spcBef>
                        <a:spcAft>
                          <a:spcPts val="0"/>
                        </a:spcAft>
                        <a:buAutoNum type="arabicPeriod"/>
                      </a:pPr>
                      <a:endParaRPr lang="en-US" sz="1200" b="1" i="0" u="none" strike="noStrike" kern="1200" noProof="0">
                        <a:solidFill>
                          <a:srgbClr val="0070C0"/>
                        </a:solidFill>
                        <a:latin typeface="+mn-lt"/>
                      </a:endParaRPr>
                    </a:p>
                  </a:txBody>
                  <a:tcPr>
                    <a:lnL w="6350">
                      <a:solidFill>
                        <a:schemeClr val="bg1">
                          <a:lumMod val="75000"/>
                        </a:schemeClr>
                      </a:solidFill>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685800" lvl="1" indent="-228600" algn="l">
                        <a:lnSpc>
                          <a:spcPct val="100000"/>
                        </a:lnSpc>
                        <a:spcBef>
                          <a:spcPts val="0"/>
                        </a:spcBef>
                        <a:spcAft>
                          <a:spcPts val="0"/>
                        </a:spcAft>
                        <a:buFont typeface="Arial"/>
                        <a:buChar char="•"/>
                      </a:pPr>
                      <a:endParaRPr lang="en-US" sz="1200" b="1" i="0" u="none" strike="noStrike" kern="1200" noProof="0">
                        <a:solidFill>
                          <a:schemeClr val="tx1"/>
                        </a:solidFill>
                        <a:latin typeface="+mn-lt"/>
                      </a:endParaRPr>
                    </a:p>
                  </a:txBody>
                  <a:tcPr>
                    <a:lnL w="6350">
                      <a:solidFill>
                        <a:schemeClr val="bg1">
                          <a:lumMod val="75000"/>
                        </a:schemeClr>
                      </a:solidFill>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417476375"/>
                  </a:ext>
                </a:extLst>
              </a:tr>
              <a:tr h="326080">
                <a:tc>
                  <a:txBody>
                    <a:bodyPr/>
                    <a:lstStyle/>
                    <a:p>
                      <a:pPr marL="228600" lvl="0" indent="-228600" algn="l">
                        <a:lnSpc>
                          <a:spcPct val="100000"/>
                        </a:lnSpc>
                        <a:spcBef>
                          <a:spcPts val="0"/>
                        </a:spcBef>
                        <a:spcAft>
                          <a:spcPts val="0"/>
                        </a:spcAft>
                        <a:buAutoNum type="arabicPeriod"/>
                      </a:pPr>
                      <a:endParaRPr lang="en-US" sz="1200" b="1" i="0" u="none" strike="noStrike" kern="1200" noProof="0">
                        <a:solidFill>
                          <a:srgbClr val="0070C0"/>
                        </a:solidFill>
                        <a:latin typeface="+mn-lt"/>
                      </a:endParaRPr>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tc>
                  <a:txBody>
                    <a:bodyPr/>
                    <a:lstStyle/>
                    <a:p>
                      <a:pPr marL="685800" lvl="1" indent="-228600" algn="l">
                        <a:lnSpc>
                          <a:spcPct val="100000"/>
                        </a:lnSpc>
                        <a:spcBef>
                          <a:spcPts val="0"/>
                        </a:spcBef>
                        <a:spcAft>
                          <a:spcPts val="0"/>
                        </a:spcAft>
                        <a:buFont typeface="Arial"/>
                        <a:buChar char="•"/>
                      </a:pPr>
                      <a:endParaRPr lang="en-US" sz="1200" b="1" i="0" u="none" strike="noStrike" kern="1200" noProof="0">
                        <a:solidFill>
                          <a:schemeClr val="tx1"/>
                        </a:solidFill>
                        <a:latin typeface="+mn-lt"/>
                      </a:endParaRPr>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extLst>
                  <a:ext uri="{0D108BD9-81ED-4DB2-BD59-A6C34878D82A}">
                    <a16:rowId xmlns:a16="http://schemas.microsoft.com/office/drawing/2014/main" val="1110178885"/>
                  </a:ext>
                </a:extLst>
              </a:tr>
            </a:tbl>
          </a:graphicData>
        </a:graphic>
      </p:graphicFrame>
      <p:sp>
        <p:nvSpPr>
          <p:cNvPr id="16" name="Rectangle 15">
            <a:extLst>
              <a:ext uri="{FF2B5EF4-FFF2-40B4-BE49-F238E27FC236}">
                <a16:creationId xmlns:a16="http://schemas.microsoft.com/office/drawing/2014/main" id="{E5C85900-79C6-0EE4-A8DF-41074DDD553D}"/>
              </a:ext>
            </a:extLst>
          </p:cNvPr>
          <p:cNvSpPr/>
          <p:nvPr/>
        </p:nvSpPr>
        <p:spPr>
          <a:xfrm>
            <a:off x="195943" y="1226918"/>
            <a:ext cx="1170432" cy="42234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1100" b="1">
                <a:latin typeface="AirIndia"/>
              </a:rPr>
              <a:t>May 2026</a:t>
            </a:r>
            <a:endParaRPr lang="en-US"/>
          </a:p>
        </p:txBody>
      </p:sp>
      <p:sp>
        <p:nvSpPr>
          <p:cNvPr id="17" name="Rectangle 16">
            <a:extLst>
              <a:ext uri="{FF2B5EF4-FFF2-40B4-BE49-F238E27FC236}">
                <a16:creationId xmlns:a16="http://schemas.microsoft.com/office/drawing/2014/main" id="{F947C19D-F049-2C5F-1573-9EEDD0708AEC}"/>
              </a:ext>
            </a:extLst>
          </p:cNvPr>
          <p:cNvSpPr/>
          <p:nvPr/>
        </p:nvSpPr>
        <p:spPr>
          <a:xfrm>
            <a:off x="206829" y="2957746"/>
            <a:ext cx="1170432" cy="42234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1100" b="1">
                <a:latin typeface="AirIndia"/>
              </a:rPr>
              <a:t>June 2026</a:t>
            </a:r>
            <a:endParaRPr lang="en-US"/>
          </a:p>
        </p:txBody>
      </p:sp>
    </p:spTree>
    <p:extLst>
      <p:ext uri="{BB962C8B-B14F-4D97-AF65-F5344CB8AC3E}">
        <p14:creationId xmlns:p14="http://schemas.microsoft.com/office/powerpoint/2010/main" val="2885473949"/>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37C312-AF66-E3DC-34C4-FD891E65B6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9AA0A3-C706-73E4-6852-AF6D38084D0E}"/>
              </a:ext>
            </a:extLst>
          </p:cNvPr>
          <p:cNvSpPr>
            <a:spLocks noGrp="1"/>
          </p:cNvSpPr>
          <p:nvPr>
            <p:ph type="title"/>
          </p:nvPr>
        </p:nvSpPr>
        <p:spPr>
          <a:xfrm>
            <a:off x="5876373" y="2114927"/>
            <a:ext cx="6907630" cy="1961201"/>
          </a:xfrm>
        </p:spPr>
        <p:txBody>
          <a:bodyPr/>
          <a:lstStyle/>
          <a:p>
            <a:r>
              <a:rPr lang="en-US" sz="5400">
                <a:latin typeface="AirIndia"/>
              </a:rPr>
              <a:t>CX-Q2</a:t>
            </a:r>
            <a:endParaRPr lang="en-US" sz="5400"/>
          </a:p>
        </p:txBody>
      </p:sp>
    </p:spTree>
    <p:extLst>
      <p:ext uri="{BB962C8B-B14F-4D97-AF65-F5344CB8AC3E}">
        <p14:creationId xmlns:p14="http://schemas.microsoft.com/office/powerpoint/2010/main" val="1867874698"/>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D1E978-CCAA-6232-AF10-EE404381CE8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5315D68-CB33-0CCD-0151-76EFF90B38D0}"/>
              </a:ext>
            </a:extLst>
          </p:cNvPr>
          <p:cNvSpPr>
            <a:spLocks noGrp="1"/>
          </p:cNvSpPr>
          <p:nvPr>
            <p:ph type="sldNum" sz="quarter" idx="12"/>
          </p:nvPr>
        </p:nvSpPr>
        <p:spPr/>
        <p:txBody>
          <a:bodyPr/>
          <a:lstStyle/>
          <a:p>
            <a:fld id="{3A41A254-7326-714E-AF55-4C213D6394DE}" type="slidenum">
              <a:rPr lang="en-US" smtClean="0"/>
              <a:pPr/>
              <a:t>100</a:t>
            </a:fld>
            <a:endParaRPr lang="en-US"/>
          </a:p>
        </p:txBody>
      </p:sp>
      <p:sp>
        <p:nvSpPr>
          <p:cNvPr id="6" name="Title 11">
            <a:extLst>
              <a:ext uri="{FF2B5EF4-FFF2-40B4-BE49-F238E27FC236}">
                <a16:creationId xmlns:a16="http://schemas.microsoft.com/office/drawing/2014/main" id="{D62F480A-792F-C7C7-ECFC-F444FE557BC2}"/>
              </a:ext>
            </a:extLst>
          </p:cNvPr>
          <p:cNvSpPr txBox="1">
            <a:spLocks/>
          </p:cNvSpPr>
          <p:nvPr/>
        </p:nvSpPr>
        <p:spPr>
          <a:xfrm>
            <a:off x="195943" y="307594"/>
            <a:ext cx="5562600" cy="396638"/>
          </a:xfrm>
          <a:prstGeom prst="rect">
            <a:avLst/>
          </a:prstGeom>
        </p:spPr>
        <p:txBody>
          <a:bodyPr lIns="91440" tIns="45720" rIns="91440" bIns="45720" anchor="t">
            <a:noAutofit/>
          </a:bodyPr>
          <a:lstStyle>
            <a:lvl1pPr algn="l" defTabSz="914400" rtl="0" eaLnBrk="1" latinLnBrk="0" hangingPunct="1">
              <a:lnSpc>
                <a:spcPct val="90000"/>
              </a:lnSpc>
              <a:spcBef>
                <a:spcPct val="0"/>
              </a:spcBef>
              <a:buNone/>
              <a:defRPr sz="4400" b="1" i="0" kern="1200">
                <a:solidFill>
                  <a:schemeClr val="tx1"/>
                </a:solidFill>
                <a:latin typeface="AirIndia" pitchFamily="82" charset="77"/>
                <a:ea typeface="+mj-ea"/>
                <a:cs typeface="+mj-cs"/>
              </a:defRPr>
            </a:lvl1pPr>
          </a:lstStyle>
          <a:p>
            <a:r>
              <a:rPr lang="en-US" sz="1800">
                <a:solidFill>
                  <a:schemeClr val="accent1"/>
                </a:solidFill>
                <a:latin typeface="AirIndia"/>
              </a:rPr>
              <a:t>CX - FY26 Q2  Release Plan Status Update</a:t>
            </a:r>
            <a:endParaRPr lang="en-US" sz="1800" b="0">
              <a:solidFill>
                <a:schemeClr val="accent1"/>
              </a:solidFill>
              <a:latin typeface="AirIndia"/>
            </a:endParaRPr>
          </a:p>
        </p:txBody>
      </p:sp>
      <p:sp>
        <p:nvSpPr>
          <p:cNvPr id="3" name="Rectangle 2">
            <a:extLst>
              <a:ext uri="{FF2B5EF4-FFF2-40B4-BE49-F238E27FC236}">
                <a16:creationId xmlns:a16="http://schemas.microsoft.com/office/drawing/2014/main" id="{5FB1EBBF-FEDD-A238-2DFD-0648E7536095}"/>
              </a:ext>
            </a:extLst>
          </p:cNvPr>
          <p:cNvSpPr/>
          <p:nvPr/>
        </p:nvSpPr>
        <p:spPr>
          <a:xfrm>
            <a:off x="3465009" y="6262087"/>
            <a:ext cx="90000" cy="90000"/>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
        <p:nvSpPr>
          <p:cNvPr id="4" name="Rectangle 3">
            <a:extLst>
              <a:ext uri="{FF2B5EF4-FFF2-40B4-BE49-F238E27FC236}">
                <a16:creationId xmlns:a16="http://schemas.microsoft.com/office/drawing/2014/main" id="{5D2A4069-EFE5-98CF-6E36-2764AB81AF52}"/>
              </a:ext>
            </a:extLst>
          </p:cNvPr>
          <p:cNvSpPr/>
          <p:nvPr/>
        </p:nvSpPr>
        <p:spPr>
          <a:xfrm>
            <a:off x="3465009" y="6489649"/>
            <a:ext cx="90000" cy="90000"/>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
        <p:nvSpPr>
          <p:cNvPr id="5" name="Rectangle 4">
            <a:extLst>
              <a:ext uri="{FF2B5EF4-FFF2-40B4-BE49-F238E27FC236}">
                <a16:creationId xmlns:a16="http://schemas.microsoft.com/office/drawing/2014/main" id="{1D93F737-A2F9-BDC9-CE7A-A0BA775B9532}"/>
              </a:ext>
            </a:extLst>
          </p:cNvPr>
          <p:cNvSpPr/>
          <p:nvPr/>
        </p:nvSpPr>
        <p:spPr>
          <a:xfrm>
            <a:off x="5567900" y="6262087"/>
            <a:ext cx="90000" cy="90000"/>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
        <p:nvSpPr>
          <p:cNvPr id="7" name="Rectangle 6">
            <a:extLst>
              <a:ext uri="{FF2B5EF4-FFF2-40B4-BE49-F238E27FC236}">
                <a16:creationId xmlns:a16="http://schemas.microsoft.com/office/drawing/2014/main" id="{BB1E5387-91CE-09E5-C243-5CBA22922522}"/>
              </a:ext>
            </a:extLst>
          </p:cNvPr>
          <p:cNvSpPr/>
          <p:nvPr/>
        </p:nvSpPr>
        <p:spPr>
          <a:xfrm>
            <a:off x="5567900" y="6489649"/>
            <a:ext cx="90000" cy="90000"/>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
        <p:nvSpPr>
          <p:cNvPr id="8" name="TextBox 15">
            <a:extLst>
              <a:ext uri="{FF2B5EF4-FFF2-40B4-BE49-F238E27FC236}">
                <a16:creationId xmlns:a16="http://schemas.microsoft.com/office/drawing/2014/main" id="{362ACB55-E143-CD5E-6253-68B54791E447}"/>
              </a:ext>
            </a:extLst>
          </p:cNvPr>
          <p:cNvSpPr txBox="1"/>
          <p:nvPr/>
        </p:nvSpPr>
        <p:spPr>
          <a:xfrm>
            <a:off x="3522317" y="6205238"/>
            <a:ext cx="857245"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000">
                <a:solidFill>
                  <a:srgbClr val="0070C0"/>
                </a:solidFill>
              </a:rPr>
              <a:t>Delivered</a:t>
            </a:r>
            <a:endParaRPr lang="en-IN" sz="1000"/>
          </a:p>
        </p:txBody>
      </p:sp>
      <p:sp>
        <p:nvSpPr>
          <p:cNvPr id="9" name="TextBox 18">
            <a:extLst>
              <a:ext uri="{FF2B5EF4-FFF2-40B4-BE49-F238E27FC236}">
                <a16:creationId xmlns:a16="http://schemas.microsoft.com/office/drawing/2014/main" id="{54CF0C40-7A98-B6E8-4BFB-52B7D2EDABFB}"/>
              </a:ext>
            </a:extLst>
          </p:cNvPr>
          <p:cNvSpPr txBox="1"/>
          <p:nvPr/>
        </p:nvSpPr>
        <p:spPr>
          <a:xfrm>
            <a:off x="3520719" y="6430197"/>
            <a:ext cx="1032881"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000">
                <a:solidFill>
                  <a:srgbClr val="00B050"/>
                </a:solidFill>
              </a:rPr>
              <a:t>Ontrack</a:t>
            </a:r>
            <a:endParaRPr lang="en-IN" sz="1000"/>
          </a:p>
        </p:txBody>
      </p:sp>
      <p:sp>
        <p:nvSpPr>
          <p:cNvPr id="10" name="TextBox 20">
            <a:extLst>
              <a:ext uri="{FF2B5EF4-FFF2-40B4-BE49-F238E27FC236}">
                <a16:creationId xmlns:a16="http://schemas.microsoft.com/office/drawing/2014/main" id="{4FCD08DB-35DD-EE43-4825-B200FE570A2F}"/>
              </a:ext>
            </a:extLst>
          </p:cNvPr>
          <p:cNvSpPr txBox="1"/>
          <p:nvPr/>
        </p:nvSpPr>
        <p:spPr>
          <a:xfrm>
            <a:off x="5653197" y="6220637"/>
            <a:ext cx="2257628"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000">
                <a:solidFill>
                  <a:schemeClr val="accent6">
                    <a:lumMod val="75000"/>
                  </a:schemeClr>
                </a:solidFill>
              </a:rPr>
              <a:t>Under delay and can be recovered</a:t>
            </a:r>
            <a:endParaRPr lang="en-IN" sz="1000"/>
          </a:p>
        </p:txBody>
      </p:sp>
      <p:sp>
        <p:nvSpPr>
          <p:cNvPr id="11" name="TextBox 22">
            <a:extLst>
              <a:ext uri="{FF2B5EF4-FFF2-40B4-BE49-F238E27FC236}">
                <a16:creationId xmlns:a16="http://schemas.microsoft.com/office/drawing/2014/main" id="{60C37FD6-7CA1-1053-B4AB-25190B19F6CC}"/>
              </a:ext>
            </a:extLst>
          </p:cNvPr>
          <p:cNvSpPr txBox="1"/>
          <p:nvPr/>
        </p:nvSpPr>
        <p:spPr>
          <a:xfrm>
            <a:off x="5657900" y="6437221"/>
            <a:ext cx="3069090"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000">
                <a:solidFill>
                  <a:schemeClr val="accent2"/>
                </a:solidFill>
              </a:rPr>
              <a:t>Delayed and pushed to next release</a:t>
            </a:r>
            <a:endParaRPr lang="en-IN" sz="1000"/>
          </a:p>
        </p:txBody>
      </p:sp>
      <p:graphicFrame>
        <p:nvGraphicFramePr>
          <p:cNvPr id="14" name="Table 13">
            <a:extLst>
              <a:ext uri="{FF2B5EF4-FFF2-40B4-BE49-F238E27FC236}">
                <a16:creationId xmlns:a16="http://schemas.microsoft.com/office/drawing/2014/main" id="{8EF0A5C7-BC5E-D97B-973A-73A4D2ED17C3}"/>
              </a:ext>
            </a:extLst>
          </p:cNvPr>
          <p:cNvGraphicFramePr>
            <a:graphicFrameLocks noGrp="1"/>
          </p:cNvGraphicFramePr>
          <p:nvPr/>
        </p:nvGraphicFramePr>
        <p:xfrm>
          <a:off x="1366375" y="1232177"/>
          <a:ext cx="10697938" cy="1057600"/>
        </p:xfrm>
        <a:graphic>
          <a:graphicData uri="http://schemas.openxmlformats.org/drawingml/2006/table">
            <a:tbl>
              <a:tblPr firstRow="1" bandRow="1">
                <a:tableStyleId>{5C22544A-7EE6-4342-B048-85BDC9FD1C3A}</a:tableStyleId>
              </a:tblPr>
              <a:tblGrid>
                <a:gridCol w="3759269">
                  <a:extLst>
                    <a:ext uri="{9D8B030D-6E8A-4147-A177-3AD203B41FA5}">
                      <a16:colId xmlns:a16="http://schemas.microsoft.com/office/drawing/2014/main" val="2822350773"/>
                    </a:ext>
                  </a:extLst>
                </a:gridCol>
                <a:gridCol w="6938669">
                  <a:extLst>
                    <a:ext uri="{9D8B030D-6E8A-4147-A177-3AD203B41FA5}">
                      <a16:colId xmlns:a16="http://schemas.microsoft.com/office/drawing/2014/main" val="99588705"/>
                    </a:ext>
                  </a:extLst>
                </a:gridCol>
              </a:tblGrid>
              <a:tr h="217387">
                <a:tc>
                  <a:txBody>
                    <a:bodyPr/>
                    <a:lstStyle/>
                    <a:p>
                      <a:pPr marL="0" lvl="0" indent="0" algn="ctr" defTabSz="914400" rtl="0" eaLnBrk="1" latinLnBrk="0" hangingPunct="1">
                        <a:lnSpc>
                          <a:spcPct val="100000"/>
                        </a:lnSpc>
                        <a:buFont typeface="Arial" panose="020B0604020202020204" pitchFamily="34" charset="0"/>
                        <a:buNone/>
                      </a:pPr>
                      <a:r>
                        <a:rPr lang="en-IN" sz="1200" kern="1200">
                          <a:solidFill>
                            <a:schemeClr val="bg1"/>
                          </a:solidFill>
                          <a:latin typeface="+mn-lt"/>
                          <a:ea typeface="+mn-ea"/>
                          <a:cs typeface="+mn-cs"/>
                        </a:rPr>
                        <a:t>Project/Initiative</a:t>
                      </a:r>
                      <a:endParaRPr lang="en-US" sz="1200"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tc>
                  <a:txBody>
                    <a:bodyPr/>
                    <a:lstStyle/>
                    <a:p>
                      <a:pPr marL="0" indent="0" algn="ctr" defTabSz="914400" rtl="0" eaLnBrk="1" latinLnBrk="0" hangingPunct="1">
                        <a:buFont typeface="Arial" panose="020B0604020202020204" pitchFamily="34" charset="0"/>
                        <a:buNone/>
                      </a:pPr>
                      <a:r>
                        <a:rPr lang="en-IN" sz="1200" kern="1200">
                          <a:solidFill>
                            <a:schemeClr val="bg1"/>
                          </a:solidFill>
                          <a:latin typeface="+mn-lt"/>
                          <a:ea typeface="+mn-ea"/>
                          <a:cs typeface="+mn-cs"/>
                        </a:rPr>
                        <a:t>Value Justification/Realization</a:t>
                      </a:r>
                      <a:endParaRPr lang="en-US" sz="1200"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extLst>
                  <a:ext uri="{0D108BD9-81ED-4DB2-BD59-A6C34878D82A}">
                    <a16:rowId xmlns:a16="http://schemas.microsoft.com/office/drawing/2014/main" val="844450115"/>
                  </a:ext>
                </a:extLst>
              </a:tr>
              <a:tr h="326080">
                <a:tc>
                  <a:txBody>
                    <a:bodyPr/>
                    <a:lstStyle/>
                    <a:p>
                      <a:pPr marL="0" lvl="0" indent="0" algn="l">
                        <a:lnSpc>
                          <a:spcPct val="100000"/>
                        </a:lnSpc>
                        <a:spcBef>
                          <a:spcPts val="0"/>
                        </a:spcBef>
                        <a:spcAft>
                          <a:spcPts val="0"/>
                        </a:spcAft>
                        <a:buNone/>
                      </a:pPr>
                      <a:r>
                        <a:rPr lang="en-US" sz="1200" b="1" i="0" u="none" strike="noStrike" kern="1200" noProof="0">
                          <a:solidFill>
                            <a:srgbClr val="05B050"/>
                          </a:solidFill>
                          <a:latin typeface="+mn-lt"/>
                        </a:rPr>
                        <a:t>Voice of customer (Actionable suggestions)</a:t>
                      </a:r>
                    </a:p>
                  </a:txBody>
                  <a:tcP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457200" lvl="1" indent="0" algn="l">
                        <a:lnSpc>
                          <a:spcPct val="100000"/>
                        </a:lnSpc>
                        <a:spcBef>
                          <a:spcPts val="0"/>
                        </a:spcBef>
                        <a:spcAft>
                          <a:spcPts val="0"/>
                        </a:spcAft>
                        <a:buFont typeface="Arial"/>
                        <a:buNone/>
                      </a:pPr>
                      <a:r>
                        <a:rPr lang="en-US" sz="1200" b="1" i="0" u="none" strike="noStrike" kern="1200" noProof="0">
                          <a:solidFill>
                            <a:srgbClr val="05B050"/>
                          </a:solidFill>
                          <a:latin typeface="+mn-lt"/>
                        </a:rPr>
                        <a:t>Analytics platform that aggregates agent and customer interaction on inbound calls and converts them into structured insights presented through Dashboard</a:t>
                      </a:r>
                    </a:p>
                  </a:txBody>
                  <a:tcPr>
                    <a:lnL w="6350" cap="flat" cmpd="sng" algn="ctr">
                      <a:solidFill>
                        <a:schemeClr val="bg1">
                          <a:lumMod val="75000"/>
                        </a:schemeClr>
                      </a:solidFill>
                      <a:prstDash val="solid"/>
                      <a:round/>
                      <a:headEnd type="none" w="med" len="med"/>
                      <a:tailEnd type="none" w="med" len="med"/>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417476375"/>
                  </a:ext>
                </a:extLst>
              </a:tr>
              <a:tr h="326080">
                <a:tc>
                  <a:txBody>
                    <a:bodyPr/>
                    <a:lstStyle/>
                    <a:p>
                      <a:pPr marL="228600" lvl="0" indent="-228600" algn="l">
                        <a:lnSpc>
                          <a:spcPct val="100000"/>
                        </a:lnSpc>
                        <a:spcBef>
                          <a:spcPts val="0"/>
                        </a:spcBef>
                        <a:spcAft>
                          <a:spcPts val="0"/>
                        </a:spcAft>
                        <a:buAutoNum type="arabicPeriod"/>
                      </a:pPr>
                      <a:endParaRPr lang="en-US" sz="1200" b="1" i="0" u="none" strike="noStrike" kern="1200" noProof="0">
                        <a:solidFill>
                          <a:srgbClr val="0070C0"/>
                        </a:solidFill>
                        <a:latin typeface="+mn-lt"/>
                      </a:endParaRPr>
                    </a:p>
                  </a:txBody>
                  <a:tcPr>
                    <a:lnL w="6350">
                      <a:solidFill>
                        <a:schemeClr val="bg1">
                          <a:lumMod val="75000"/>
                        </a:schemeClr>
                      </a:solidFill>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a:solidFill>
                        <a:schemeClr val="bg1">
                          <a:lumMod val="75000"/>
                        </a:schemeClr>
                      </a:solidFill>
                    </a:lnB>
                    <a:noFill/>
                  </a:tcPr>
                </a:tc>
                <a:tc>
                  <a:txBody>
                    <a:bodyPr/>
                    <a:lstStyle/>
                    <a:p>
                      <a:pPr marL="685800" lvl="1" indent="-228600" algn="l">
                        <a:lnSpc>
                          <a:spcPct val="100000"/>
                        </a:lnSpc>
                        <a:spcBef>
                          <a:spcPts val="0"/>
                        </a:spcBef>
                        <a:spcAft>
                          <a:spcPts val="0"/>
                        </a:spcAft>
                        <a:buFont typeface="Arial"/>
                        <a:buChar char="•"/>
                      </a:pPr>
                      <a:endParaRPr lang="en-US" sz="1200" b="1" i="0" u="none" strike="noStrike" kern="1200" noProof="0">
                        <a:solidFill>
                          <a:schemeClr val="tx1"/>
                        </a:solidFill>
                        <a:latin typeface="+mn-lt"/>
                      </a:endParaRPr>
                    </a:p>
                  </a:txBody>
                  <a:tcPr>
                    <a:lnL w="6350">
                      <a:solidFill>
                        <a:schemeClr val="bg1">
                          <a:lumMod val="75000"/>
                        </a:schemeClr>
                      </a:solidFill>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a:solidFill>
                        <a:schemeClr val="bg1">
                          <a:lumMod val="75000"/>
                        </a:schemeClr>
                      </a:solidFill>
                    </a:lnB>
                    <a:noFill/>
                  </a:tcPr>
                </a:tc>
                <a:extLst>
                  <a:ext uri="{0D108BD9-81ED-4DB2-BD59-A6C34878D82A}">
                    <a16:rowId xmlns:a16="http://schemas.microsoft.com/office/drawing/2014/main" val="1110178885"/>
                  </a:ext>
                </a:extLst>
              </a:tr>
            </a:tbl>
          </a:graphicData>
        </a:graphic>
      </p:graphicFrame>
      <p:sp>
        <p:nvSpPr>
          <p:cNvPr id="16" name="Rectangle 15">
            <a:extLst>
              <a:ext uri="{FF2B5EF4-FFF2-40B4-BE49-F238E27FC236}">
                <a16:creationId xmlns:a16="http://schemas.microsoft.com/office/drawing/2014/main" id="{FA29C1B4-D158-1683-5011-B70B870926D3}"/>
              </a:ext>
            </a:extLst>
          </p:cNvPr>
          <p:cNvSpPr/>
          <p:nvPr/>
        </p:nvSpPr>
        <p:spPr>
          <a:xfrm>
            <a:off x="195943" y="1226918"/>
            <a:ext cx="1170432" cy="42234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1100" b="1">
                <a:latin typeface="AirIndia"/>
              </a:rPr>
              <a:t>July 2026</a:t>
            </a:r>
            <a:endParaRPr lang="en-US"/>
          </a:p>
        </p:txBody>
      </p:sp>
    </p:spTree>
    <p:extLst>
      <p:ext uri="{BB962C8B-B14F-4D97-AF65-F5344CB8AC3E}">
        <p14:creationId xmlns:p14="http://schemas.microsoft.com/office/powerpoint/2010/main" val="4123435180"/>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233A1F-8966-D7D6-4271-C9F87C4EB30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E29F5D9-463C-6F83-B251-142839C6A0D2}"/>
              </a:ext>
            </a:extLst>
          </p:cNvPr>
          <p:cNvSpPr>
            <a:spLocks noGrp="1"/>
          </p:cNvSpPr>
          <p:nvPr>
            <p:ph type="sldNum" sz="quarter" idx="12"/>
          </p:nvPr>
        </p:nvSpPr>
        <p:spPr/>
        <p:txBody>
          <a:bodyPr/>
          <a:lstStyle/>
          <a:p>
            <a:fld id="{3A41A254-7326-714E-AF55-4C213D6394DE}" type="slidenum">
              <a:rPr lang="en-US" smtClean="0"/>
              <a:pPr/>
              <a:t>101</a:t>
            </a:fld>
            <a:endParaRPr lang="en-US"/>
          </a:p>
        </p:txBody>
      </p:sp>
      <p:sp>
        <p:nvSpPr>
          <p:cNvPr id="6" name="Title 11">
            <a:extLst>
              <a:ext uri="{FF2B5EF4-FFF2-40B4-BE49-F238E27FC236}">
                <a16:creationId xmlns:a16="http://schemas.microsoft.com/office/drawing/2014/main" id="{10FD9916-5C2A-F2E1-9262-D69D22FB02DC}"/>
              </a:ext>
            </a:extLst>
          </p:cNvPr>
          <p:cNvSpPr txBox="1">
            <a:spLocks/>
          </p:cNvSpPr>
          <p:nvPr/>
        </p:nvSpPr>
        <p:spPr>
          <a:xfrm>
            <a:off x="195943" y="307594"/>
            <a:ext cx="5562600" cy="396638"/>
          </a:xfrm>
          <a:prstGeom prst="rect">
            <a:avLst/>
          </a:prstGeom>
        </p:spPr>
        <p:txBody>
          <a:bodyPr lIns="91440" tIns="45720" rIns="91440" bIns="45720" anchor="t">
            <a:noAutofit/>
          </a:bodyPr>
          <a:lstStyle>
            <a:lvl1pPr algn="l" defTabSz="914400" rtl="0" eaLnBrk="1" latinLnBrk="0" hangingPunct="1">
              <a:lnSpc>
                <a:spcPct val="90000"/>
              </a:lnSpc>
              <a:spcBef>
                <a:spcPct val="0"/>
              </a:spcBef>
              <a:buNone/>
              <a:defRPr sz="4400" b="1" i="0" kern="1200">
                <a:solidFill>
                  <a:schemeClr val="tx1"/>
                </a:solidFill>
                <a:latin typeface="AirIndia" pitchFamily="82" charset="77"/>
                <a:ea typeface="+mj-ea"/>
                <a:cs typeface="+mj-cs"/>
              </a:defRPr>
            </a:lvl1pPr>
          </a:lstStyle>
          <a:p>
            <a:r>
              <a:rPr lang="en-US" sz="1800">
                <a:solidFill>
                  <a:schemeClr val="accent1"/>
                </a:solidFill>
                <a:latin typeface="AirIndia"/>
              </a:rPr>
              <a:t>CX - FY26 Q2 Release Plan Status Update</a:t>
            </a:r>
            <a:endParaRPr lang="en-US" sz="1800" b="0">
              <a:solidFill>
                <a:schemeClr val="accent1"/>
              </a:solidFill>
              <a:latin typeface="AirIndia"/>
            </a:endParaRPr>
          </a:p>
        </p:txBody>
      </p:sp>
      <p:sp>
        <p:nvSpPr>
          <p:cNvPr id="3" name="Rectangle 2">
            <a:extLst>
              <a:ext uri="{FF2B5EF4-FFF2-40B4-BE49-F238E27FC236}">
                <a16:creationId xmlns:a16="http://schemas.microsoft.com/office/drawing/2014/main" id="{24349AB3-9221-AED6-1B24-D31043B606FF}"/>
              </a:ext>
            </a:extLst>
          </p:cNvPr>
          <p:cNvSpPr/>
          <p:nvPr/>
        </p:nvSpPr>
        <p:spPr>
          <a:xfrm>
            <a:off x="3394027" y="6221809"/>
            <a:ext cx="90000" cy="90000"/>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
        <p:nvSpPr>
          <p:cNvPr id="4" name="Rectangle 3">
            <a:extLst>
              <a:ext uri="{FF2B5EF4-FFF2-40B4-BE49-F238E27FC236}">
                <a16:creationId xmlns:a16="http://schemas.microsoft.com/office/drawing/2014/main" id="{065653BB-A50B-6136-A716-0933FF85A3EF}"/>
              </a:ext>
            </a:extLst>
          </p:cNvPr>
          <p:cNvSpPr/>
          <p:nvPr/>
        </p:nvSpPr>
        <p:spPr>
          <a:xfrm>
            <a:off x="3394027" y="6449371"/>
            <a:ext cx="90000" cy="90000"/>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
        <p:nvSpPr>
          <p:cNvPr id="5" name="Rectangle 4">
            <a:extLst>
              <a:ext uri="{FF2B5EF4-FFF2-40B4-BE49-F238E27FC236}">
                <a16:creationId xmlns:a16="http://schemas.microsoft.com/office/drawing/2014/main" id="{46D1D02F-665B-0425-DB53-19BF16450845}"/>
              </a:ext>
            </a:extLst>
          </p:cNvPr>
          <p:cNvSpPr/>
          <p:nvPr/>
        </p:nvSpPr>
        <p:spPr>
          <a:xfrm>
            <a:off x="5496918" y="6221809"/>
            <a:ext cx="90000" cy="90000"/>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
        <p:nvSpPr>
          <p:cNvPr id="7" name="Rectangle 6">
            <a:extLst>
              <a:ext uri="{FF2B5EF4-FFF2-40B4-BE49-F238E27FC236}">
                <a16:creationId xmlns:a16="http://schemas.microsoft.com/office/drawing/2014/main" id="{60DFB522-3850-590C-5A30-A9F6831D7773}"/>
              </a:ext>
            </a:extLst>
          </p:cNvPr>
          <p:cNvSpPr/>
          <p:nvPr/>
        </p:nvSpPr>
        <p:spPr>
          <a:xfrm>
            <a:off x="5496918" y="6449371"/>
            <a:ext cx="90000" cy="90000"/>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
        <p:nvSpPr>
          <p:cNvPr id="8" name="TextBox 15">
            <a:extLst>
              <a:ext uri="{FF2B5EF4-FFF2-40B4-BE49-F238E27FC236}">
                <a16:creationId xmlns:a16="http://schemas.microsoft.com/office/drawing/2014/main" id="{0AFA8701-8B1E-1151-AA2F-E401D6FBE609}"/>
              </a:ext>
            </a:extLst>
          </p:cNvPr>
          <p:cNvSpPr txBox="1"/>
          <p:nvPr/>
        </p:nvSpPr>
        <p:spPr>
          <a:xfrm>
            <a:off x="3451335" y="6164960"/>
            <a:ext cx="857245"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000">
                <a:solidFill>
                  <a:srgbClr val="0070C0"/>
                </a:solidFill>
              </a:rPr>
              <a:t>Delivered</a:t>
            </a:r>
            <a:endParaRPr lang="en-IN" sz="1000"/>
          </a:p>
        </p:txBody>
      </p:sp>
      <p:sp>
        <p:nvSpPr>
          <p:cNvPr id="9" name="TextBox 18">
            <a:extLst>
              <a:ext uri="{FF2B5EF4-FFF2-40B4-BE49-F238E27FC236}">
                <a16:creationId xmlns:a16="http://schemas.microsoft.com/office/drawing/2014/main" id="{12251F19-7186-0847-0113-2E5DDA159A29}"/>
              </a:ext>
            </a:extLst>
          </p:cNvPr>
          <p:cNvSpPr txBox="1"/>
          <p:nvPr/>
        </p:nvSpPr>
        <p:spPr>
          <a:xfrm>
            <a:off x="3449737" y="6389919"/>
            <a:ext cx="1032881"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000">
                <a:solidFill>
                  <a:srgbClr val="00B050"/>
                </a:solidFill>
              </a:rPr>
              <a:t>Ontrack</a:t>
            </a:r>
            <a:endParaRPr lang="en-IN" sz="1000"/>
          </a:p>
        </p:txBody>
      </p:sp>
      <p:sp>
        <p:nvSpPr>
          <p:cNvPr id="10" name="TextBox 20">
            <a:extLst>
              <a:ext uri="{FF2B5EF4-FFF2-40B4-BE49-F238E27FC236}">
                <a16:creationId xmlns:a16="http://schemas.microsoft.com/office/drawing/2014/main" id="{5021D6B8-7D8C-3CD0-2CD2-56F05EF54BA0}"/>
              </a:ext>
            </a:extLst>
          </p:cNvPr>
          <p:cNvSpPr txBox="1"/>
          <p:nvPr/>
        </p:nvSpPr>
        <p:spPr>
          <a:xfrm>
            <a:off x="5582215" y="6180359"/>
            <a:ext cx="2257628"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000">
                <a:solidFill>
                  <a:schemeClr val="accent6">
                    <a:lumMod val="75000"/>
                  </a:schemeClr>
                </a:solidFill>
              </a:rPr>
              <a:t>Under delay and can be recovered</a:t>
            </a:r>
            <a:endParaRPr lang="en-IN" sz="1000"/>
          </a:p>
        </p:txBody>
      </p:sp>
      <p:sp>
        <p:nvSpPr>
          <p:cNvPr id="11" name="TextBox 22">
            <a:extLst>
              <a:ext uri="{FF2B5EF4-FFF2-40B4-BE49-F238E27FC236}">
                <a16:creationId xmlns:a16="http://schemas.microsoft.com/office/drawing/2014/main" id="{7E4A9751-7122-F3BD-2888-05C703F4D5E4}"/>
              </a:ext>
            </a:extLst>
          </p:cNvPr>
          <p:cNvSpPr txBox="1"/>
          <p:nvPr/>
        </p:nvSpPr>
        <p:spPr>
          <a:xfrm>
            <a:off x="5586918" y="6396943"/>
            <a:ext cx="3069090"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000">
                <a:solidFill>
                  <a:schemeClr val="accent2"/>
                </a:solidFill>
              </a:rPr>
              <a:t>Delayed and pushed to next release</a:t>
            </a:r>
            <a:endParaRPr lang="en-IN" sz="1000"/>
          </a:p>
        </p:txBody>
      </p:sp>
      <p:graphicFrame>
        <p:nvGraphicFramePr>
          <p:cNvPr id="15" name="Table 14">
            <a:extLst>
              <a:ext uri="{FF2B5EF4-FFF2-40B4-BE49-F238E27FC236}">
                <a16:creationId xmlns:a16="http://schemas.microsoft.com/office/drawing/2014/main" id="{0F56F95B-0B48-CB63-DEB6-174FEABEF830}"/>
              </a:ext>
            </a:extLst>
          </p:cNvPr>
          <p:cNvGraphicFramePr>
            <a:graphicFrameLocks noGrp="1"/>
          </p:cNvGraphicFramePr>
          <p:nvPr>
            <p:extLst>
              <p:ext uri="{D42A27DB-BD31-4B8C-83A1-F6EECF244321}">
                <p14:modId xmlns:p14="http://schemas.microsoft.com/office/powerpoint/2010/main" val="2329443532"/>
              </p:ext>
            </p:extLst>
          </p:nvPr>
        </p:nvGraphicFramePr>
        <p:xfrm>
          <a:off x="1284507" y="882858"/>
          <a:ext cx="10697938" cy="3000700"/>
        </p:xfrm>
        <a:graphic>
          <a:graphicData uri="http://schemas.openxmlformats.org/drawingml/2006/table">
            <a:tbl>
              <a:tblPr firstRow="1" bandRow="1">
                <a:tableStyleId>{5C22544A-7EE6-4342-B048-85BDC9FD1C3A}</a:tableStyleId>
              </a:tblPr>
              <a:tblGrid>
                <a:gridCol w="3759269">
                  <a:extLst>
                    <a:ext uri="{9D8B030D-6E8A-4147-A177-3AD203B41FA5}">
                      <a16:colId xmlns:a16="http://schemas.microsoft.com/office/drawing/2014/main" val="2822350773"/>
                    </a:ext>
                  </a:extLst>
                </a:gridCol>
                <a:gridCol w="6938669">
                  <a:extLst>
                    <a:ext uri="{9D8B030D-6E8A-4147-A177-3AD203B41FA5}">
                      <a16:colId xmlns:a16="http://schemas.microsoft.com/office/drawing/2014/main" val="99588705"/>
                    </a:ext>
                  </a:extLst>
                </a:gridCol>
              </a:tblGrid>
              <a:tr h="217387">
                <a:tc>
                  <a:txBody>
                    <a:bodyPr/>
                    <a:lstStyle/>
                    <a:p>
                      <a:pPr marL="0" lvl="0" indent="0" algn="ctr" defTabSz="914400" rtl="0" eaLnBrk="1" latinLnBrk="0" hangingPunct="1">
                        <a:lnSpc>
                          <a:spcPct val="100000"/>
                        </a:lnSpc>
                        <a:buFont typeface="Arial" panose="020B0604020202020204" pitchFamily="34" charset="0"/>
                        <a:buNone/>
                      </a:pPr>
                      <a:r>
                        <a:rPr lang="en-IN" sz="1200" kern="1200">
                          <a:solidFill>
                            <a:schemeClr val="bg1"/>
                          </a:solidFill>
                          <a:latin typeface="+mn-lt"/>
                          <a:ea typeface="+mn-ea"/>
                          <a:cs typeface="+mn-cs"/>
                        </a:rPr>
                        <a:t>Project/Initiative</a:t>
                      </a:r>
                      <a:endParaRPr lang="en-US" sz="1200"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tc>
                  <a:txBody>
                    <a:bodyPr/>
                    <a:lstStyle/>
                    <a:p>
                      <a:pPr marL="0" indent="0" algn="ctr" defTabSz="914400" rtl="0" eaLnBrk="1" latinLnBrk="0" hangingPunct="1">
                        <a:buFont typeface="Arial" panose="020B0604020202020204" pitchFamily="34" charset="0"/>
                        <a:buNone/>
                      </a:pPr>
                      <a:r>
                        <a:rPr lang="en-IN" sz="1200" kern="1200">
                          <a:solidFill>
                            <a:schemeClr val="bg1"/>
                          </a:solidFill>
                          <a:latin typeface="+mn-lt"/>
                          <a:ea typeface="+mn-ea"/>
                          <a:cs typeface="+mn-cs"/>
                        </a:rPr>
                        <a:t>Value Justification/Realization</a:t>
                      </a:r>
                      <a:endParaRPr lang="en-US" sz="1200"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extLst>
                  <a:ext uri="{0D108BD9-81ED-4DB2-BD59-A6C34878D82A}">
                    <a16:rowId xmlns:a16="http://schemas.microsoft.com/office/drawing/2014/main" val="844450115"/>
                  </a:ext>
                </a:extLst>
              </a:tr>
              <a:tr h="499989">
                <a:tc>
                  <a:txBody>
                    <a:bodyPr/>
                    <a:lstStyle/>
                    <a:p>
                      <a:pPr marL="0" lvl="0" indent="0" algn="l">
                        <a:lnSpc>
                          <a:spcPct val="100000"/>
                        </a:lnSpc>
                        <a:spcBef>
                          <a:spcPts val="0"/>
                        </a:spcBef>
                        <a:spcAft>
                          <a:spcPts val="0"/>
                        </a:spcAft>
                        <a:buNone/>
                      </a:pPr>
                      <a:r>
                        <a:rPr lang="en-US" sz="1200" b="1" i="0" u="none" strike="noStrike" kern="1200" noProof="0">
                          <a:solidFill>
                            <a:srgbClr val="05B050"/>
                          </a:solidFill>
                          <a:latin typeface="+mn-lt"/>
                        </a:rPr>
                        <a:t>Voice of customer (Call Center Emotion Analytics)</a:t>
                      </a:r>
                    </a:p>
                    <a:p>
                      <a:pPr marL="0" lvl="0" indent="0" algn="l">
                        <a:lnSpc>
                          <a:spcPct val="100000"/>
                        </a:lnSpc>
                        <a:spcBef>
                          <a:spcPts val="0"/>
                        </a:spcBef>
                        <a:spcAft>
                          <a:spcPts val="0"/>
                        </a:spcAft>
                        <a:buNone/>
                      </a:pPr>
                      <a:r>
                        <a:rPr lang="en-US" sz="1200" b="1" i="0" u="none" strike="noStrike" kern="1200" noProof="0">
                          <a:solidFill>
                            <a:srgbClr val="05B050"/>
                          </a:solidFill>
                          <a:latin typeface="+mn-lt"/>
                        </a:rPr>
                        <a:t>Emotion detecton</a:t>
                      </a: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457200" lvl="1" indent="0" algn="l">
                        <a:lnSpc>
                          <a:spcPct val="100000"/>
                        </a:lnSpc>
                        <a:spcBef>
                          <a:spcPts val="0"/>
                        </a:spcBef>
                        <a:spcAft>
                          <a:spcPts val="0"/>
                        </a:spcAft>
                        <a:buFont typeface="Arial" panose="020B0604020202020204" pitchFamily="34" charset="0"/>
                        <a:buNone/>
                      </a:pPr>
                      <a:r>
                        <a:rPr lang="en-US" sz="1200" b="0" i="0" u="none" strike="noStrike" kern="1200" noProof="0">
                          <a:solidFill>
                            <a:srgbClr val="05B050"/>
                          </a:solidFill>
                          <a:latin typeface="+mn-lt"/>
                        </a:rPr>
                        <a:t>Identify emotion of the customer (sentiment at the entry and exit phase) basis the call recordings of interaction between customer and agent. This being part of larger initiative of post call analytics , is expected to contribute for the AHT optimization, and with 5% optimization on the human effort, ₹4Cr savings/year expected</a:t>
                      </a: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443371065"/>
                  </a:ext>
                </a:extLst>
              </a:tr>
              <a:tr h="326080">
                <a:tc>
                  <a:txBody>
                    <a:bodyPr/>
                    <a:lstStyle/>
                    <a:p>
                      <a:pPr marL="0" lvl="0" indent="0" algn="l">
                        <a:lnSpc>
                          <a:spcPct val="100000"/>
                        </a:lnSpc>
                        <a:spcBef>
                          <a:spcPts val="0"/>
                        </a:spcBef>
                        <a:spcAft>
                          <a:spcPts val="0"/>
                        </a:spcAft>
                        <a:buFontTx/>
                        <a:buNone/>
                      </a:pPr>
                      <a:r>
                        <a:rPr lang="en-US" sz="1200" b="1" i="0" u="none" strike="noStrike" kern="1200" noProof="0">
                          <a:solidFill>
                            <a:srgbClr val="00B050"/>
                          </a:solidFill>
                          <a:latin typeface="+mn-lt"/>
                        </a:rPr>
                        <a:t>Loyalty case automation</a:t>
                      </a:r>
                    </a:p>
                  </a:txBody>
                  <a:tcP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685800" lvl="1" indent="-228600" algn="l">
                        <a:lnSpc>
                          <a:spcPct val="100000"/>
                        </a:lnSpc>
                        <a:spcBef>
                          <a:spcPts val="0"/>
                        </a:spcBef>
                        <a:spcAft>
                          <a:spcPts val="0"/>
                        </a:spcAft>
                        <a:buFont typeface="Arial"/>
                        <a:buChar char="•"/>
                      </a:pPr>
                      <a:r>
                        <a:rPr lang="en-US" sz="1200" b="0" i="0" u="none" strike="noStrike" kern="1200" noProof="0">
                          <a:solidFill>
                            <a:srgbClr val="05B050"/>
                          </a:solidFill>
                          <a:latin typeface="+mn-lt"/>
                        </a:rPr>
                        <a:t>20% of case automations, aligning to ~1Cr cost saving per year</a:t>
                      </a:r>
                    </a:p>
                  </a:txBody>
                  <a:tcPr>
                    <a:lnL w="6350" cap="flat" cmpd="sng" algn="ctr">
                      <a:solidFill>
                        <a:schemeClr val="bg1">
                          <a:lumMod val="75000"/>
                        </a:schemeClr>
                      </a:solidFill>
                      <a:prstDash val="solid"/>
                      <a:round/>
                      <a:headEnd type="none" w="med" len="med"/>
                      <a:tailEnd type="none" w="med" len="med"/>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417476375"/>
                  </a:ext>
                </a:extLst>
              </a:tr>
              <a:tr h="326080">
                <a:tc>
                  <a:txBody>
                    <a:bodyPr/>
                    <a:lstStyle/>
                    <a:p>
                      <a:pPr marL="0" lvl="0" indent="0" algn="l">
                        <a:lnSpc>
                          <a:spcPct val="100000"/>
                        </a:lnSpc>
                        <a:spcBef>
                          <a:spcPts val="0"/>
                        </a:spcBef>
                        <a:spcAft>
                          <a:spcPts val="0"/>
                        </a:spcAft>
                        <a:buFontTx/>
                        <a:buNone/>
                      </a:pPr>
                      <a:r>
                        <a:rPr lang="en-US" sz="1200" b="1" i="0" u="none" strike="noStrike" kern="1200" noProof="0">
                          <a:solidFill>
                            <a:srgbClr val="00B050"/>
                          </a:solidFill>
                          <a:latin typeface="+mn-lt"/>
                        </a:rPr>
                        <a:t>NPS feedback enhancement</a:t>
                      </a:r>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tc>
                  <a:txBody>
                    <a:bodyPr/>
                    <a:lstStyle/>
                    <a:p>
                      <a:pPr marL="685800" lvl="1" indent="-228600" algn="l">
                        <a:lnSpc>
                          <a:spcPct val="100000"/>
                        </a:lnSpc>
                        <a:spcBef>
                          <a:spcPts val="0"/>
                        </a:spcBef>
                        <a:spcAft>
                          <a:spcPts val="0"/>
                        </a:spcAft>
                        <a:buFont typeface="Arial"/>
                        <a:buChar char="•"/>
                      </a:pPr>
                      <a:r>
                        <a:rPr lang="en-US" sz="1200" b="1" i="0" u="none" strike="noStrike" kern="1200" noProof="0">
                          <a:solidFill>
                            <a:srgbClr val="05B050"/>
                          </a:solidFill>
                          <a:latin typeface="+mn-lt"/>
                        </a:rPr>
                        <a:t>NPS score improvement:  Previous year stats; Similar stats improvement to expect</a:t>
                      </a:r>
                    </a:p>
                    <a:p>
                      <a:pPr marL="457200" lvl="1" indent="0" algn="l">
                        <a:lnSpc>
                          <a:spcPct val="100000"/>
                        </a:lnSpc>
                        <a:spcBef>
                          <a:spcPts val="0"/>
                        </a:spcBef>
                        <a:spcAft>
                          <a:spcPts val="0"/>
                        </a:spcAft>
                        <a:buFontTx/>
                        <a:buNone/>
                      </a:pPr>
                      <a:r>
                        <a:rPr lang="en-US" sz="1200" b="1" i="0" u="none" strike="noStrike" kern="1200" noProof="0">
                          <a:solidFill>
                            <a:srgbClr val="05B050"/>
                          </a:solidFill>
                          <a:latin typeface="+mn-lt"/>
                        </a:rPr>
                        <a:t> </a:t>
                      </a:r>
                      <a:r>
                        <a:rPr lang="en-US" sz="1050" b="0" i="0" u="none" strike="noStrike" kern="1200" noProof="0">
                          <a:solidFill>
                            <a:srgbClr val="05B050"/>
                          </a:solidFill>
                          <a:latin typeface="+mn-lt"/>
                        </a:rPr>
                        <a:t>Overall score: NPS last FY: 16 to 30 this FY.</a:t>
                      </a:r>
                    </a:p>
                    <a:p>
                      <a:pPr marL="457200" lvl="1" indent="0" algn="l">
                        <a:lnSpc>
                          <a:spcPct val="100000"/>
                        </a:lnSpc>
                        <a:spcBef>
                          <a:spcPts val="0"/>
                        </a:spcBef>
                        <a:spcAft>
                          <a:spcPts val="0"/>
                        </a:spcAft>
                        <a:buFontTx/>
                        <a:buNone/>
                      </a:pPr>
                      <a:r>
                        <a:rPr lang="en-US" sz="1050" b="0" i="0" u="none" strike="noStrike" kern="1200" noProof="0">
                          <a:solidFill>
                            <a:srgbClr val="05B050"/>
                          </a:solidFill>
                          <a:latin typeface="+mn-lt"/>
                        </a:rPr>
                        <a:t> CSAT score is specific to touchpoints.</a:t>
                      </a:r>
                    </a:p>
                    <a:p>
                      <a:pPr marL="457200" lvl="1" indent="0" algn="l">
                        <a:lnSpc>
                          <a:spcPct val="100000"/>
                        </a:lnSpc>
                        <a:spcBef>
                          <a:spcPts val="0"/>
                        </a:spcBef>
                        <a:spcAft>
                          <a:spcPts val="0"/>
                        </a:spcAft>
                        <a:buFontTx/>
                        <a:buNone/>
                      </a:pPr>
                      <a:r>
                        <a:rPr lang="en-US" sz="1050" b="0" i="0" u="none" strike="noStrike" kern="1200" noProof="0">
                          <a:solidFill>
                            <a:srgbClr val="05B050"/>
                          </a:solidFill>
                          <a:latin typeface="+mn-lt"/>
                        </a:rPr>
                        <a:t>  Arrival: 3.95 to 4.14</a:t>
                      </a:r>
                    </a:p>
                    <a:p>
                      <a:pPr marL="457200" lvl="1" indent="0" algn="l">
                        <a:lnSpc>
                          <a:spcPct val="100000"/>
                        </a:lnSpc>
                        <a:spcBef>
                          <a:spcPts val="0"/>
                        </a:spcBef>
                        <a:spcAft>
                          <a:spcPts val="0"/>
                        </a:spcAft>
                        <a:buFontTx/>
                        <a:buNone/>
                      </a:pPr>
                      <a:r>
                        <a:rPr lang="en-US" sz="1050" b="0" i="0" u="none" strike="noStrike" kern="1200" noProof="0">
                          <a:solidFill>
                            <a:srgbClr val="05B050"/>
                          </a:solidFill>
                          <a:latin typeface="+mn-lt"/>
                        </a:rPr>
                        <a:t>  Boarding: 4 to 4.15</a:t>
                      </a:r>
                    </a:p>
                    <a:p>
                      <a:pPr marL="457200" lvl="1" indent="0" algn="l">
                        <a:lnSpc>
                          <a:spcPct val="100000"/>
                        </a:lnSpc>
                        <a:spcBef>
                          <a:spcPts val="0"/>
                        </a:spcBef>
                        <a:spcAft>
                          <a:spcPts val="0"/>
                        </a:spcAft>
                        <a:buFontTx/>
                        <a:buNone/>
                      </a:pPr>
                      <a:r>
                        <a:rPr lang="en-US" sz="1050" b="0" i="0" u="none" strike="noStrike" kern="1200" noProof="0">
                          <a:solidFill>
                            <a:srgbClr val="05B050"/>
                          </a:solidFill>
                          <a:latin typeface="+mn-lt"/>
                        </a:rPr>
                        <a:t>  Booking : 3.99 and 4.15 </a:t>
                      </a:r>
                    </a:p>
                    <a:p>
                      <a:pPr marL="457200" lvl="1" indent="0" algn="l">
                        <a:lnSpc>
                          <a:spcPct val="100000"/>
                        </a:lnSpc>
                        <a:spcBef>
                          <a:spcPts val="0"/>
                        </a:spcBef>
                        <a:spcAft>
                          <a:spcPts val="0"/>
                        </a:spcAft>
                        <a:buFontTx/>
                        <a:buNone/>
                      </a:pPr>
                      <a:r>
                        <a:rPr lang="en-US" sz="1050" b="0" i="0" u="none" strike="noStrike" kern="1200" noProof="0">
                          <a:solidFill>
                            <a:srgbClr val="05B050"/>
                          </a:solidFill>
                          <a:latin typeface="+mn-lt"/>
                        </a:rPr>
                        <a:t>  Checkin: 4.01 to 4.21</a:t>
                      </a:r>
                    </a:p>
                    <a:p>
                      <a:pPr marL="457200" lvl="1" indent="0" algn="l">
                        <a:lnSpc>
                          <a:spcPct val="100000"/>
                        </a:lnSpc>
                        <a:spcBef>
                          <a:spcPts val="0"/>
                        </a:spcBef>
                        <a:spcAft>
                          <a:spcPts val="0"/>
                        </a:spcAft>
                        <a:buFontTx/>
                        <a:buNone/>
                      </a:pPr>
                      <a:r>
                        <a:rPr lang="en-US" sz="1050" b="0" i="0" u="none" strike="noStrike" kern="1200" noProof="0">
                          <a:solidFill>
                            <a:srgbClr val="05B050"/>
                          </a:solidFill>
                          <a:latin typeface="+mn-lt"/>
                        </a:rPr>
                        <a:t>  Inflight Exp: 3.66 to 3.97</a:t>
                      </a:r>
                    </a:p>
                    <a:p>
                      <a:pPr marL="457200" lvl="1" indent="0" algn="l">
                        <a:lnSpc>
                          <a:spcPct val="100000"/>
                        </a:lnSpc>
                        <a:spcBef>
                          <a:spcPts val="0"/>
                        </a:spcBef>
                        <a:spcAft>
                          <a:spcPts val="0"/>
                        </a:spcAft>
                        <a:buFontTx/>
                        <a:buNone/>
                      </a:pPr>
                      <a:r>
                        <a:rPr lang="en-US" sz="1050" b="0" i="0" u="none" strike="noStrike" kern="1200" noProof="0">
                          <a:solidFill>
                            <a:srgbClr val="05B050"/>
                          </a:solidFill>
                          <a:latin typeface="+mn-lt"/>
                        </a:rPr>
                        <a:t>  IN fight meal: 3.61 to 3.79</a:t>
                      </a:r>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extLst>
                  <a:ext uri="{0D108BD9-81ED-4DB2-BD59-A6C34878D82A}">
                    <a16:rowId xmlns:a16="http://schemas.microsoft.com/office/drawing/2014/main" val="1110178885"/>
                  </a:ext>
                </a:extLst>
              </a:tr>
            </a:tbl>
          </a:graphicData>
        </a:graphic>
      </p:graphicFrame>
      <p:sp>
        <p:nvSpPr>
          <p:cNvPr id="17" name="Rectangle 16">
            <a:extLst>
              <a:ext uri="{FF2B5EF4-FFF2-40B4-BE49-F238E27FC236}">
                <a16:creationId xmlns:a16="http://schemas.microsoft.com/office/drawing/2014/main" id="{A8E1527A-6975-0B78-A5D3-FEFE3F46E369}"/>
              </a:ext>
            </a:extLst>
          </p:cNvPr>
          <p:cNvSpPr/>
          <p:nvPr/>
        </p:nvSpPr>
        <p:spPr>
          <a:xfrm>
            <a:off x="124961" y="877598"/>
            <a:ext cx="1170432" cy="42234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1100" b="1">
                <a:latin typeface="AirIndia"/>
              </a:rPr>
              <a:t>Aug 2026</a:t>
            </a:r>
            <a:endParaRPr lang="en-US"/>
          </a:p>
        </p:txBody>
      </p:sp>
      <p:graphicFrame>
        <p:nvGraphicFramePr>
          <p:cNvPr id="18" name="Table 17">
            <a:extLst>
              <a:ext uri="{FF2B5EF4-FFF2-40B4-BE49-F238E27FC236}">
                <a16:creationId xmlns:a16="http://schemas.microsoft.com/office/drawing/2014/main" id="{0019AD34-DE40-51F7-27AB-09BDBEC76954}"/>
              </a:ext>
            </a:extLst>
          </p:cNvPr>
          <p:cNvGraphicFramePr>
            <a:graphicFrameLocks noGrp="1"/>
          </p:cNvGraphicFramePr>
          <p:nvPr>
            <p:extLst>
              <p:ext uri="{D42A27DB-BD31-4B8C-83A1-F6EECF244321}">
                <p14:modId xmlns:p14="http://schemas.microsoft.com/office/powerpoint/2010/main" val="3478594850"/>
              </p:ext>
            </p:extLst>
          </p:nvPr>
        </p:nvGraphicFramePr>
        <p:xfrm>
          <a:off x="1295393" y="4207302"/>
          <a:ext cx="10697938" cy="1767840"/>
        </p:xfrm>
        <a:graphic>
          <a:graphicData uri="http://schemas.openxmlformats.org/drawingml/2006/table">
            <a:tbl>
              <a:tblPr firstRow="1" bandRow="1">
                <a:tableStyleId>{5C22544A-7EE6-4342-B048-85BDC9FD1C3A}</a:tableStyleId>
              </a:tblPr>
              <a:tblGrid>
                <a:gridCol w="3759269">
                  <a:extLst>
                    <a:ext uri="{9D8B030D-6E8A-4147-A177-3AD203B41FA5}">
                      <a16:colId xmlns:a16="http://schemas.microsoft.com/office/drawing/2014/main" val="2822350773"/>
                    </a:ext>
                  </a:extLst>
                </a:gridCol>
                <a:gridCol w="6938669">
                  <a:extLst>
                    <a:ext uri="{9D8B030D-6E8A-4147-A177-3AD203B41FA5}">
                      <a16:colId xmlns:a16="http://schemas.microsoft.com/office/drawing/2014/main" val="99588705"/>
                    </a:ext>
                  </a:extLst>
                </a:gridCol>
              </a:tblGrid>
              <a:tr h="217387">
                <a:tc>
                  <a:txBody>
                    <a:bodyPr/>
                    <a:lstStyle/>
                    <a:p>
                      <a:pPr marL="0" lvl="0" indent="0" algn="ctr" defTabSz="914400" rtl="0" eaLnBrk="1" latinLnBrk="0" hangingPunct="1">
                        <a:lnSpc>
                          <a:spcPct val="100000"/>
                        </a:lnSpc>
                        <a:buFont typeface="Arial" panose="020B0604020202020204" pitchFamily="34" charset="0"/>
                        <a:buNone/>
                      </a:pPr>
                      <a:r>
                        <a:rPr lang="en-IN" sz="1200" kern="1200">
                          <a:solidFill>
                            <a:schemeClr val="bg1"/>
                          </a:solidFill>
                          <a:latin typeface="+mn-lt"/>
                          <a:ea typeface="+mn-ea"/>
                          <a:cs typeface="+mn-cs"/>
                        </a:rPr>
                        <a:t>Project/Initiative</a:t>
                      </a:r>
                      <a:endParaRPr lang="en-US" sz="1200"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tc>
                  <a:txBody>
                    <a:bodyPr/>
                    <a:lstStyle/>
                    <a:p>
                      <a:pPr marL="0" indent="0" algn="ctr" defTabSz="914400" rtl="0" eaLnBrk="1" latinLnBrk="0" hangingPunct="1">
                        <a:buFont typeface="Arial" panose="020B0604020202020204" pitchFamily="34" charset="0"/>
                        <a:buNone/>
                      </a:pPr>
                      <a:r>
                        <a:rPr lang="en-IN" sz="1200" kern="1200">
                          <a:solidFill>
                            <a:schemeClr val="bg1"/>
                          </a:solidFill>
                          <a:latin typeface="+mn-lt"/>
                          <a:ea typeface="+mn-ea"/>
                          <a:cs typeface="+mn-cs"/>
                        </a:rPr>
                        <a:t>Value Justification/Realization</a:t>
                      </a:r>
                      <a:endParaRPr lang="en-US" sz="1200"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extLst>
                  <a:ext uri="{0D108BD9-81ED-4DB2-BD59-A6C34878D82A}">
                    <a16:rowId xmlns:a16="http://schemas.microsoft.com/office/drawing/2014/main" val="844450115"/>
                  </a:ext>
                </a:extLst>
              </a:tr>
              <a:tr h="499989">
                <a:tc>
                  <a:txBody>
                    <a:bodyPr/>
                    <a:lstStyle/>
                    <a:p>
                      <a:pPr marL="0" lvl="0" indent="0" algn="l">
                        <a:lnSpc>
                          <a:spcPct val="100000"/>
                        </a:lnSpc>
                        <a:spcBef>
                          <a:spcPts val="0"/>
                        </a:spcBef>
                        <a:spcAft>
                          <a:spcPts val="0"/>
                        </a:spcAft>
                        <a:buNone/>
                      </a:pPr>
                      <a:r>
                        <a:rPr lang="en-US" sz="1200" b="1" i="0" u="none" strike="noStrike" kern="1200" noProof="0">
                          <a:solidFill>
                            <a:srgbClr val="05B050"/>
                          </a:solidFill>
                          <a:latin typeface="+mn-lt"/>
                        </a:rPr>
                        <a:t>NPS Anomaly detections( Phase1)</a:t>
                      </a: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685800" lvl="1" indent="-228600" algn="l">
                        <a:lnSpc>
                          <a:spcPct val="100000"/>
                        </a:lnSpc>
                        <a:spcBef>
                          <a:spcPts val="0"/>
                        </a:spcBef>
                        <a:spcAft>
                          <a:spcPts val="0"/>
                        </a:spcAft>
                        <a:buFont typeface="Arial"/>
                        <a:buChar char="•"/>
                      </a:pPr>
                      <a:r>
                        <a:rPr lang="en-US" sz="1100" b="1" i="0" u="none" strike="noStrike" kern="1200" noProof="0">
                          <a:solidFill>
                            <a:srgbClr val="05B050"/>
                          </a:solidFill>
                          <a:latin typeface="+mn-lt"/>
                        </a:rPr>
                        <a:t>NPS score improvement:  Previous year stats; Similar stats improvement to expect</a:t>
                      </a:r>
                    </a:p>
                    <a:p>
                      <a:pPr marL="457200" lvl="1" indent="0" algn="l">
                        <a:lnSpc>
                          <a:spcPct val="100000"/>
                        </a:lnSpc>
                        <a:spcBef>
                          <a:spcPts val="0"/>
                        </a:spcBef>
                        <a:spcAft>
                          <a:spcPts val="0"/>
                        </a:spcAft>
                        <a:buFontTx/>
                        <a:buNone/>
                      </a:pPr>
                      <a:r>
                        <a:rPr lang="en-US" sz="1100" b="1" i="0" u="none" strike="noStrike" kern="1200" noProof="0">
                          <a:solidFill>
                            <a:srgbClr val="05B050"/>
                          </a:solidFill>
                          <a:latin typeface="+mn-lt"/>
                        </a:rPr>
                        <a:t> </a:t>
                      </a:r>
                      <a:r>
                        <a:rPr lang="en-US" sz="1000" b="0" i="0" u="none" strike="noStrike" kern="1200" noProof="0">
                          <a:solidFill>
                            <a:srgbClr val="05B050"/>
                          </a:solidFill>
                          <a:latin typeface="+mn-lt"/>
                        </a:rPr>
                        <a:t>Overall score: NPS last FY: 16 to 30 this FY.</a:t>
                      </a:r>
                    </a:p>
                    <a:p>
                      <a:pPr marL="457200" lvl="1" indent="0" algn="l">
                        <a:lnSpc>
                          <a:spcPct val="100000"/>
                        </a:lnSpc>
                        <a:spcBef>
                          <a:spcPts val="0"/>
                        </a:spcBef>
                        <a:spcAft>
                          <a:spcPts val="0"/>
                        </a:spcAft>
                        <a:buFontTx/>
                        <a:buNone/>
                      </a:pPr>
                      <a:r>
                        <a:rPr lang="en-US" sz="1000" b="0" i="0" u="none" strike="noStrike" kern="1200" noProof="0">
                          <a:solidFill>
                            <a:srgbClr val="05B050"/>
                          </a:solidFill>
                          <a:latin typeface="+mn-lt"/>
                        </a:rPr>
                        <a:t> CSAT score is specific to touchpoints.</a:t>
                      </a:r>
                    </a:p>
                    <a:p>
                      <a:pPr marL="457200" lvl="1" indent="0" algn="l">
                        <a:lnSpc>
                          <a:spcPct val="100000"/>
                        </a:lnSpc>
                        <a:spcBef>
                          <a:spcPts val="0"/>
                        </a:spcBef>
                        <a:spcAft>
                          <a:spcPts val="0"/>
                        </a:spcAft>
                        <a:buFontTx/>
                        <a:buNone/>
                      </a:pPr>
                      <a:r>
                        <a:rPr lang="en-US" sz="1000" b="0" i="0" u="none" strike="noStrike" kern="1200" noProof="0">
                          <a:solidFill>
                            <a:srgbClr val="05B050"/>
                          </a:solidFill>
                          <a:latin typeface="+mn-lt"/>
                        </a:rPr>
                        <a:t>  Arrival: 3.95 to 4.14</a:t>
                      </a:r>
                    </a:p>
                    <a:p>
                      <a:pPr marL="457200" lvl="1" indent="0" algn="l">
                        <a:lnSpc>
                          <a:spcPct val="100000"/>
                        </a:lnSpc>
                        <a:spcBef>
                          <a:spcPts val="0"/>
                        </a:spcBef>
                        <a:spcAft>
                          <a:spcPts val="0"/>
                        </a:spcAft>
                        <a:buFontTx/>
                        <a:buNone/>
                      </a:pPr>
                      <a:r>
                        <a:rPr lang="en-US" sz="1000" b="0" i="0" u="none" strike="noStrike" kern="1200" noProof="0">
                          <a:solidFill>
                            <a:srgbClr val="05B050"/>
                          </a:solidFill>
                          <a:latin typeface="+mn-lt"/>
                        </a:rPr>
                        <a:t>  Boarding: 4 to 4.15</a:t>
                      </a:r>
                    </a:p>
                    <a:p>
                      <a:pPr marL="457200" lvl="1" indent="0" algn="l">
                        <a:lnSpc>
                          <a:spcPct val="100000"/>
                        </a:lnSpc>
                        <a:spcBef>
                          <a:spcPts val="0"/>
                        </a:spcBef>
                        <a:spcAft>
                          <a:spcPts val="0"/>
                        </a:spcAft>
                        <a:buFontTx/>
                        <a:buNone/>
                      </a:pPr>
                      <a:r>
                        <a:rPr lang="en-US" sz="1000" b="0" i="0" u="none" strike="noStrike" kern="1200" noProof="0">
                          <a:solidFill>
                            <a:srgbClr val="05B050"/>
                          </a:solidFill>
                          <a:latin typeface="+mn-lt"/>
                        </a:rPr>
                        <a:t>  Booking : 3.99 and 4.15 </a:t>
                      </a:r>
                    </a:p>
                    <a:p>
                      <a:pPr marL="457200" lvl="1" indent="0" algn="l">
                        <a:lnSpc>
                          <a:spcPct val="100000"/>
                        </a:lnSpc>
                        <a:spcBef>
                          <a:spcPts val="0"/>
                        </a:spcBef>
                        <a:spcAft>
                          <a:spcPts val="0"/>
                        </a:spcAft>
                        <a:buFontTx/>
                        <a:buNone/>
                      </a:pPr>
                      <a:r>
                        <a:rPr lang="en-US" sz="1000" b="0" i="0" u="none" strike="noStrike" kern="1200" noProof="0">
                          <a:solidFill>
                            <a:srgbClr val="05B050"/>
                          </a:solidFill>
                          <a:latin typeface="+mn-lt"/>
                        </a:rPr>
                        <a:t>  Checkin: 4.01 to 4.21</a:t>
                      </a:r>
                    </a:p>
                    <a:p>
                      <a:pPr marL="457200" lvl="1" indent="0" algn="l">
                        <a:lnSpc>
                          <a:spcPct val="100000"/>
                        </a:lnSpc>
                        <a:spcBef>
                          <a:spcPts val="0"/>
                        </a:spcBef>
                        <a:spcAft>
                          <a:spcPts val="0"/>
                        </a:spcAft>
                        <a:buFontTx/>
                        <a:buNone/>
                      </a:pPr>
                      <a:r>
                        <a:rPr lang="en-US" sz="1000" b="0" i="0" u="none" strike="noStrike" kern="1200" noProof="0">
                          <a:solidFill>
                            <a:srgbClr val="05B050"/>
                          </a:solidFill>
                          <a:latin typeface="+mn-lt"/>
                        </a:rPr>
                        <a:t>  Inflight Exp: 3.66 to 3.97</a:t>
                      </a:r>
                    </a:p>
                    <a:p>
                      <a:pPr marL="457200" lvl="1" indent="0" algn="l">
                        <a:lnSpc>
                          <a:spcPct val="100000"/>
                        </a:lnSpc>
                        <a:spcBef>
                          <a:spcPts val="0"/>
                        </a:spcBef>
                        <a:spcAft>
                          <a:spcPts val="0"/>
                        </a:spcAft>
                        <a:buFontTx/>
                        <a:buNone/>
                      </a:pPr>
                      <a:r>
                        <a:rPr lang="en-US" sz="1000" b="0" i="0" u="none" strike="noStrike" kern="1200" noProof="0">
                          <a:solidFill>
                            <a:srgbClr val="05B050"/>
                          </a:solidFill>
                          <a:latin typeface="+mn-lt"/>
                        </a:rPr>
                        <a:t>  IN fight meal: 3.61 to 3.79</a:t>
                      </a: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443371065"/>
                  </a:ext>
                </a:extLst>
              </a:tr>
            </a:tbl>
          </a:graphicData>
        </a:graphic>
      </p:graphicFrame>
      <p:sp>
        <p:nvSpPr>
          <p:cNvPr id="19" name="Rectangle 18">
            <a:extLst>
              <a:ext uri="{FF2B5EF4-FFF2-40B4-BE49-F238E27FC236}">
                <a16:creationId xmlns:a16="http://schemas.microsoft.com/office/drawing/2014/main" id="{A11CB0CC-0FAD-5E0B-9911-A595472BC41C}"/>
              </a:ext>
            </a:extLst>
          </p:cNvPr>
          <p:cNvSpPr/>
          <p:nvPr/>
        </p:nvSpPr>
        <p:spPr>
          <a:xfrm>
            <a:off x="135847" y="4202042"/>
            <a:ext cx="1170432" cy="42234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1100" b="1">
                <a:latin typeface="AirIndia"/>
              </a:rPr>
              <a:t>Sept 2026</a:t>
            </a:r>
            <a:endParaRPr lang="en-US"/>
          </a:p>
        </p:txBody>
      </p:sp>
    </p:spTree>
    <p:extLst>
      <p:ext uri="{BB962C8B-B14F-4D97-AF65-F5344CB8AC3E}">
        <p14:creationId xmlns:p14="http://schemas.microsoft.com/office/powerpoint/2010/main" val="982519548"/>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2863D9-8B7D-9D74-7548-8324F28F0E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B3A0A4-471B-D363-B6BE-C6613A2DE1D7}"/>
              </a:ext>
            </a:extLst>
          </p:cNvPr>
          <p:cNvSpPr>
            <a:spLocks noGrp="1"/>
          </p:cNvSpPr>
          <p:nvPr>
            <p:ph type="title"/>
          </p:nvPr>
        </p:nvSpPr>
        <p:spPr>
          <a:xfrm>
            <a:off x="5876373" y="2114927"/>
            <a:ext cx="6907630" cy="1961201"/>
          </a:xfrm>
        </p:spPr>
        <p:txBody>
          <a:bodyPr/>
          <a:lstStyle/>
          <a:p>
            <a:r>
              <a:rPr lang="en-US" sz="5400">
                <a:latin typeface="AirIndia"/>
              </a:rPr>
              <a:t>Operations-Q1</a:t>
            </a:r>
            <a:endParaRPr lang="en-US" sz="5400"/>
          </a:p>
        </p:txBody>
      </p:sp>
    </p:spTree>
    <p:extLst>
      <p:ext uri="{BB962C8B-B14F-4D97-AF65-F5344CB8AC3E}">
        <p14:creationId xmlns:p14="http://schemas.microsoft.com/office/powerpoint/2010/main" val="1976584960"/>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BD00D7-2E73-F528-7D33-68267E187ECC}"/>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1922C2F-4A6F-5988-60FA-B62A9FA797FE}"/>
              </a:ext>
            </a:extLst>
          </p:cNvPr>
          <p:cNvSpPr>
            <a:spLocks noGrp="1"/>
          </p:cNvSpPr>
          <p:nvPr>
            <p:ph type="sldNum" sz="quarter" idx="12"/>
          </p:nvPr>
        </p:nvSpPr>
        <p:spPr/>
        <p:txBody>
          <a:bodyPr/>
          <a:lstStyle/>
          <a:p>
            <a:fld id="{3A41A254-7326-714E-AF55-4C213D6394DE}" type="slidenum">
              <a:rPr lang="en-US" smtClean="0"/>
              <a:pPr/>
              <a:t>103</a:t>
            </a:fld>
            <a:endParaRPr lang="en-US"/>
          </a:p>
        </p:txBody>
      </p:sp>
      <p:sp>
        <p:nvSpPr>
          <p:cNvPr id="6" name="Title 11">
            <a:extLst>
              <a:ext uri="{FF2B5EF4-FFF2-40B4-BE49-F238E27FC236}">
                <a16:creationId xmlns:a16="http://schemas.microsoft.com/office/drawing/2014/main" id="{B22B948F-01CC-BB22-0D48-6F2C85209582}"/>
              </a:ext>
            </a:extLst>
          </p:cNvPr>
          <p:cNvSpPr txBox="1">
            <a:spLocks/>
          </p:cNvSpPr>
          <p:nvPr/>
        </p:nvSpPr>
        <p:spPr>
          <a:xfrm>
            <a:off x="195942" y="307594"/>
            <a:ext cx="6357257" cy="282984"/>
          </a:xfrm>
          <a:prstGeom prst="rect">
            <a:avLst/>
          </a:prstGeom>
        </p:spPr>
        <p:txBody>
          <a:bodyPr lIns="91440" tIns="45720" rIns="91440" bIns="45720" anchor="t">
            <a:noAutofit/>
          </a:bodyPr>
          <a:lstStyle>
            <a:lvl1pPr algn="l" defTabSz="914400" rtl="0" eaLnBrk="1" latinLnBrk="0" hangingPunct="1">
              <a:lnSpc>
                <a:spcPct val="90000"/>
              </a:lnSpc>
              <a:spcBef>
                <a:spcPct val="0"/>
              </a:spcBef>
              <a:buNone/>
              <a:defRPr sz="4400" b="1" i="0" kern="1200">
                <a:solidFill>
                  <a:schemeClr val="tx1"/>
                </a:solidFill>
                <a:latin typeface="AirIndia" pitchFamily="82" charset="77"/>
                <a:ea typeface="+mj-ea"/>
                <a:cs typeface="+mj-cs"/>
              </a:defRPr>
            </a:lvl1pPr>
          </a:lstStyle>
          <a:p>
            <a:r>
              <a:rPr lang="en-US" sz="1800">
                <a:solidFill>
                  <a:schemeClr val="accent1"/>
                </a:solidFill>
                <a:latin typeface="AirIndia"/>
              </a:rPr>
              <a:t>Operations - FY26 Q1  Release Plan Status Update</a:t>
            </a:r>
            <a:endParaRPr lang="en-US" sz="1800" b="0">
              <a:solidFill>
                <a:schemeClr val="accent1"/>
              </a:solidFill>
              <a:latin typeface="AirIndia"/>
            </a:endParaRPr>
          </a:p>
        </p:txBody>
      </p:sp>
      <p:graphicFrame>
        <p:nvGraphicFramePr>
          <p:cNvPr id="12" name="Table 11">
            <a:extLst>
              <a:ext uri="{FF2B5EF4-FFF2-40B4-BE49-F238E27FC236}">
                <a16:creationId xmlns:a16="http://schemas.microsoft.com/office/drawing/2014/main" id="{B221A223-E9B9-4C30-FB18-F83A6DBE5F61}"/>
              </a:ext>
            </a:extLst>
          </p:cNvPr>
          <p:cNvGraphicFramePr>
            <a:graphicFrameLocks noGrp="1"/>
          </p:cNvGraphicFramePr>
          <p:nvPr>
            <p:extLst>
              <p:ext uri="{D42A27DB-BD31-4B8C-83A1-F6EECF244321}">
                <p14:modId xmlns:p14="http://schemas.microsoft.com/office/powerpoint/2010/main" val="4012231582"/>
              </p:ext>
            </p:extLst>
          </p:nvPr>
        </p:nvGraphicFramePr>
        <p:xfrm>
          <a:off x="1295713" y="866914"/>
          <a:ext cx="10697938" cy="926480"/>
        </p:xfrm>
        <a:graphic>
          <a:graphicData uri="http://schemas.openxmlformats.org/drawingml/2006/table">
            <a:tbl>
              <a:tblPr firstRow="1" bandRow="1">
                <a:tableStyleId>{5C22544A-7EE6-4342-B048-85BDC9FD1C3A}</a:tableStyleId>
              </a:tblPr>
              <a:tblGrid>
                <a:gridCol w="3759269">
                  <a:extLst>
                    <a:ext uri="{9D8B030D-6E8A-4147-A177-3AD203B41FA5}">
                      <a16:colId xmlns:a16="http://schemas.microsoft.com/office/drawing/2014/main" val="2822350773"/>
                    </a:ext>
                  </a:extLst>
                </a:gridCol>
                <a:gridCol w="6938669">
                  <a:extLst>
                    <a:ext uri="{9D8B030D-6E8A-4147-A177-3AD203B41FA5}">
                      <a16:colId xmlns:a16="http://schemas.microsoft.com/office/drawing/2014/main" val="99588705"/>
                    </a:ext>
                  </a:extLst>
                </a:gridCol>
              </a:tblGrid>
              <a:tr h="217387">
                <a:tc>
                  <a:txBody>
                    <a:bodyPr/>
                    <a:lstStyle/>
                    <a:p>
                      <a:pPr marL="0" lvl="0" indent="0" algn="ctr" defTabSz="914400" rtl="0" eaLnBrk="1" latinLnBrk="0" hangingPunct="1">
                        <a:lnSpc>
                          <a:spcPct val="100000"/>
                        </a:lnSpc>
                        <a:buFont typeface="Arial" panose="020B0604020202020204" pitchFamily="34" charset="0"/>
                        <a:buNone/>
                      </a:pPr>
                      <a:r>
                        <a:rPr lang="en-IN" sz="1200" kern="1200">
                          <a:solidFill>
                            <a:schemeClr val="bg1"/>
                          </a:solidFill>
                          <a:latin typeface="+mn-lt"/>
                          <a:ea typeface="+mn-ea"/>
                          <a:cs typeface="+mn-cs"/>
                        </a:rPr>
                        <a:t>Project/Initiative</a:t>
                      </a:r>
                      <a:endParaRPr lang="en-US" sz="1200"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tc>
                  <a:txBody>
                    <a:bodyPr/>
                    <a:lstStyle/>
                    <a:p>
                      <a:pPr marL="0" indent="0" algn="ctr" defTabSz="914400" rtl="0" eaLnBrk="1" latinLnBrk="0" hangingPunct="1">
                        <a:buFont typeface="Arial" panose="020B0604020202020204" pitchFamily="34" charset="0"/>
                        <a:buNone/>
                      </a:pPr>
                      <a:r>
                        <a:rPr lang="en-IN" sz="1200" kern="1200">
                          <a:solidFill>
                            <a:schemeClr val="bg1"/>
                          </a:solidFill>
                          <a:latin typeface="+mn-lt"/>
                          <a:ea typeface="+mn-ea"/>
                          <a:cs typeface="+mn-cs"/>
                        </a:rPr>
                        <a:t>Value Justification/Realization</a:t>
                      </a:r>
                      <a:endParaRPr lang="en-US" sz="1200"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extLst>
                  <a:ext uri="{0D108BD9-81ED-4DB2-BD59-A6C34878D82A}">
                    <a16:rowId xmlns:a16="http://schemas.microsoft.com/office/drawing/2014/main" val="844450115"/>
                  </a:ext>
                </a:extLst>
              </a:tr>
              <a:tr h="326080">
                <a:tc>
                  <a:txBody>
                    <a:bodyPr/>
                    <a:lstStyle/>
                    <a:p>
                      <a:pPr marL="0" lvl="0" indent="0" algn="l">
                        <a:lnSpc>
                          <a:spcPct val="100000"/>
                        </a:lnSpc>
                        <a:spcBef>
                          <a:spcPts val="0"/>
                        </a:spcBef>
                        <a:spcAft>
                          <a:spcPts val="0"/>
                        </a:spcAft>
                        <a:buNone/>
                      </a:pPr>
                      <a:endParaRPr lang="en-US" sz="1200" b="1" i="0" u="none" strike="noStrike" kern="1200" noProof="0">
                        <a:solidFill>
                          <a:srgbClr val="05B050"/>
                        </a:solidFill>
                        <a:latin typeface="+mn-lt"/>
                      </a:endParaRPr>
                    </a:p>
                  </a:txBody>
                  <a:tcP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457200" lvl="1" indent="0" algn="l">
                        <a:lnSpc>
                          <a:spcPct val="100000"/>
                        </a:lnSpc>
                        <a:spcBef>
                          <a:spcPts val="0"/>
                        </a:spcBef>
                        <a:spcAft>
                          <a:spcPts val="0"/>
                        </a:spcAft>
                        <a:buFont typeface="Arial"/>
                        <a:buNone/>
                      </a:pPr>
                      <a:endParaRPr lang="en-US" sz="1200" b="1" i="0" u="none" strike="noStrike" kern="1200" noProof="0">
                        <a:solidFill>
                          <a:srgbClr val="05B050"/>
                        </a:solidFill>
                        <a:latin typeface="+mn-lt"/>
                      </a:endParaRPr>
                    </a:p>
                  </a:txBody>
                  <a:tcPr>
                    <a:lnL w="6350" cap="flat" cmpd="sng" algn="ctr">
                      <a:solidFill>
                        <a:schemeClr val="bg1">
                          <a:lumMod val="75000"/>
                        </a:schemeClr>
                      </a:solidFill>
                      <a:prstDash val="solid"/>
                      <a:round/>
                      <a:headEnd type="none" w="med" len="med"/>
                      <a:tailEnd type="none" w="med" len="med"/>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110178885"/>
                  </a:ext>
                </a:extLst>
              </a:tr>
              <a:tr h="326080">
                <a:tc>
                  <a:txBody>
                    <a:bodyPr/>
                    <a:lstStyle/>
                    <a:p>
                      <a:pPr marL="0" lvl="0" indent="0" algn="l">
                        <a:lnSpc>
                          <a:spcPct val="100000"/>
                        </a:lnSpc>
                        <a:spcBef>
                          <a:spcPts val="0"/>
                        </a:spcBef>
                        <a:spcAft>
                          <a:spcPts val="0"/>
                        </a:spcAft>
                        <a:buNone/>
                      </a:pPr>
                      <a:endParaRPr lang="en-US" sz="1200" b="1" i="0" u="none" strike="noStrike" kern="1200" noProof="0">
                        <a:solidFill>
                          <a:srgbClr val="05B050"/>
                        </a:solidFill>
                        <a:latin typeface="+mn-lt"/>
                      </a:endParaRPr>
                    </a:p>
                  </a:txBody>
                  <a:tcP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a:solidFill>
                        <a:schemeClr val="bg1">
                          <a:lumMod val="75000"/>
                        </a:schemeClr>
                      </a:solidFill>
                    </a:lnB>
                    <a:noFill/>
                  </a:tcPr>
                </a:tc>
                <a:tc>
                  <a:txBody>
                    <a:bodyPr/>
                    <a:lstStyle/>
                    <a:p>
                      <a:pPr marL="457200" lvl="1" indent="0" algn="l">
                        <a:lnSpc>
                          <a:spcPct val="100000"/>
                        </a:lnSpc>
                        <a:spcBef>
                          <a:spcPts val="0"/>
                        </a:spcBef>
                        <a:spcAft>
                          <a:spcPts val="0"/>
                        </a:spcAft>
                        <a:buFont typeface="Arial"/>
                        <a:buNone/>
                      </a:pPr>
                      <a:endParaRPr lang="en-US" sz="1200" b="1" i="0" u="none" strike="noStrike" kern="1200" noProof="0">
                        <a:solidFill>
                          <a:srgbClr val="05B050"/>
                        </a:solidFill>
                        <a:latin typeface="+mn-lt"/>
                      </a:endParaRPr>
                    </a:p>
                  </a:txBody>
                  <a:tcPr>
                    <a:lnL w="6350" cap="flat" cmpd="sng" algn="ctr">
                      <a:solidFill>
                        <a:schemeClr val="bg1">
                          <a:lumMod val="75000"/>
                        </a:schemeClr>
                      </a:solidFill>
                      <a:prstDash val="solid"/>
                      <a:round/>
                      <a:headEnd type="none" w="med" len="med"/>
                      <a:tailEnd type="none" w="med" len="med"/>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a:solidFill>
                        <a:schemeClr val="bg1">
                          <a:lumMod val="75000"/>
                        </a:schemeClr>
                      </a:solidFill>
                    </a:lnB>
                    <a:noFill/>
                  </a:tcPr>
                </a:tc>
                <a:extLst>
                  <a:ext uri="{0D108BD9-81ED-4DB2-BD59-A6C34878D82A}">
                    <a16:rowId xmlns:a16="http://schemas.microsoft.com/office/drawing/2014/main" val="2330651920"/>
                  </a:ext>
                </a:extLst>
              </a:tr>
            </a:tbl>
          </a:graphicData>
        </a:graphic>
      </p:graphicFrame>
      <p:sp>
        <p:nvSpPr>
          <p:cNvPr id="13" name="Rectangle 12">
            <a:extLst>
              <a:ext uri="{FF2B5EF4-FFF2-40B4-BE49-F238E27FC236}">
                <a16:creationId xmlns:a16="http://schemas.microsoft.com/office/drawing/2014/main" id="{FA28D501-A73C-3E7B-5D4E-C3CDFB67E697}"/>
              </a:ext>
            </a:extLst>
          </p:cNvPr>
          <p:cNvSpPr/>
          <p:nvPr/>
        </p:nvSpPr>
        <p:spPr>
          <a:xfrm>
            <a:off x="136167" y="861655"/>
            <a:ext cx="1170432" cy="42234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1100" b="1">
                <a:latin typeface="AirIndia"/>
              </a:rPr>
              <a:t>April 2026</a:t>
            </a:r>
            <a:endParaRPr lang="en-US"/>
          </a:p>
        </p:txBody>
      </p:sp>
      <p:sp>
        <p:nvSpPr>
          <p:cNvPr id="3" name="Rectangle 2">
            <a:extLst>
              <a:ext uri="{FF2B5EF4-FFF2-40B4-BE49-F238E27FC236}">
                <a16:creationId xmlns:a16="http://schemas.microsoft.com/office/drawing/2014/main" id="{89BFE444-FC2E-ABF1-2BC0-4510C6EA7108}"/>
              </a:ext>
            </a:extLst>
          </p:cNvPr>
          <p:cNvSpPr/>
          <p:nvPr/>
        </p:nvSpPr>
        <p:spPr>
          <a:xfrm>
            <a:off x="3465009" y="6262087"/>
            <a:ext cx="90000" cy="90000"/>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
        <p:nvSpPr>
          <p:cNvPr id="4" name="Rectangle 3">
            <a:extLst>
              <a:ext uri="{FF2B5EF4-FFF2-40B4-BE49-F238E27FC236}">
                <a16:creationId xmlns:a16="http://schemas.microsoft.com/office/drawing/2014/main" id="{1FC224DE-90C6-4E43-8745-B6DB6EF9F42B}"/>
              </a:ext>
            </a:extLst>
          </p:cNvPr>
          <p:cNvSpPr/>
          <p:nvPr/>
        </p:nvSpPr>
        <p:spPr>
          <a:xfrm>
            <a:off x="3465009" y="6489649"/>
            <a:ext cx="90000" cy="90000"/>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
        <p:nvSpPr>
          <p:cNvPr id="5" name="Rectangle 4">
            <a:extLst>
              <a:ext uri="{FF2B5EF4-FFF2-40B4-BE49-F238E27FC236}">
                <a16:creationId xmlns:a16="http://schemas.microsoft.com/office/drawing/2014/main" id="{66A6607C-2C77-BBF5-F93F-712B863AE4E2}"/>
              </a:ext>
            </a:extLst>
          </p:cNvPr>
          <p:cNvSpPr/>
          <p:nvPr/>
        </p:nvSpPr>
        <p:spPr>
          <a:xfrm>
            <a:off x="5567900" y="6262087"/>
            <a:ext cx="90000" cy="90000"/>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
        <p:nvSpPr>
          <p:cNvPr id="7" name="Rectangle 6">
            <a:extLst>
              <a:ext uri="{FF2B5EF4-FFF2-40B4-BE49-F238E27FC236}">
                <a16:creationId xmlns:a16="http://schemas.microsoft.com/office/drawing/2014/main" id="{B658DBED-6B0B-AEDC-4EDB-662A21EF6B84}"/>
              </a:ext>
            </a:extLst>
          </p:cNvPr>
          <p:cNvSpPr/>
          <p:nvPr/>
        </p:nvSpPr>
        <p:spPr>
          <a:xfrm>
            <a:off x="5567900" y="6489649"/>
            <a:ext cx="90000" cy="90000"/>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
        <p:nvSpPr>
          <p:cNvPr id="8" name="TextBox 15">
            <a:extLst>
              <a:ext uri="{FF2B5EF4-FFF2-40B4-BE49-F238E27FC236}">
                <a16:creationId xmlns:a16="http://schemas.microsoft.com/office/drawing/2014/main" id="{BFD559CC-43DE-BDCB-4D30-FB9125A57B48}"/>
              </a:ext>
            </a:extLst>
          </p:cNvPr>
          <p:cNvSpPr txBox="1"/>
          <p:nvPr/>
        </p:nvSpPr>
        <p:spPr>
          <a:xfrm>
            <a:off x="3522317" y="6205238"/>
            <a:ext cx="857245"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000">
                <a:solidFill>
                  <a:srgbClr val="0070C0"/>
                </a:solidFill>
              </a:rPr>
              <a:t>Delivered</a:t>
            </a:r>
            <a:endParaRPr lang="en-IN" sz="1000"/>
          </a:p>
        </p:txBody>
      </p:sp>
      <p:sp>
        <p:nvSpPr>
          <p:cNvPr id="9" name="TextBox 18">
            <a:extLst>
              <a:ext uri="{FF2B5EF4-FFF2-40B4-BE49-F238E27FC236}">
                <a16:creationId xmlns:a16="http://schemas.microsoft.com/office/drawing/2014/main" id="{DF2B5353-CE49-85CF-D3C2-80E732BD2E53}"/>
              </a:ext>
            </a:extLst>
          </p:cNvPr>
          <p:cNvSpPr txBox="1"/>
          <p:nvPr/>
        </p:nvSpPr>
        <p:spPr>
          <a:xfrm>
            <a:off x="3520719" y="6430197"/>
            <a:ext cx="1032881"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000">
                <a:solidFill>
                  <a:srgbClr val="00B050"/>
                </a:solidFill>
              </a:rPr>
              <a:t>Ontrack</a:t>
            </a:r>
            <a:endParaRPr lang="en-IN" sz="1000"/>
          </a:p>
        </p:txBody>
      </p:sp>
      <p:sp>
        <p:nvSpPr>
          <p:cNvPr id="10" name="TextBox 20">
            <a:extLst>
              <a:ext uri="{FF2B5EF4-FFF2-40B4-BE49-F238E27FC236}">
                <a16:creationId xmlns:a16="http://schemas.microsoft.com/office/drawing/2014/main" id="{DBB9D4BA-347B-608A-5E0E-5FC564501B14}"/>
              </a:ext>
            </a:extLst>
          </p:cNvPr>
          <p:cNvSpPr txBox="1"/>
          <p:nvPr/>
        </p:nvSpPr>
        <p:spPr>
          <a:xfrm>
            <a:off x="5653197" y="6220637"/>
            <a:ext cx="2257628"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000">
                <a:solidFill>
                  <a:schemeClr val="accent6">
                    <a:lumMod val="75000"/>
                  </a:schemeClr>
                </a:solidFill>
              </a:rPr>
              <a:t>Under delay and can be recovered</a:t>
            </a:r>
            <a:endParaRPr lang="en-IN" sz="1000"/>
          </a:p>
        </p:txBody>
      </p:sp>
      <p:sp>
        <p:nvSpPr>
          <p:cNvPr id="11" name="TextBox 22">
            <a:extLst>
              <a:ext uri="{FF2B5EF4-FFF2-40B4-BE49-F238E27FC236}">
                <a16:creationId xmlns:a16="http://schemas.microsoft.com/office/drawing/2014/main" id="{BD7301EC-1E4A-1556-17B5-4FB5DF530D62}"/>
              </a:ext>
            </a:extLst>
          </p:cNvPr>
          <p:cNvSpPr txBox="1"/>
          <p:nvPr/>
        </p:nvSpPr>
        <p:spPr>
          <a:xfrm>
            <a:off x="5657900" y="6437221"/>
            <a:ext cx="3069090"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000">
                <a:solidFill>
                  <a:schemeClr val="accent2"/>
                </a:solidFill>
              </a:rPr>
              <a:t>Delayed and pushed to next release</a:t>
            </a:r>
            <a:endParaRPr lang="en-IN" sz="1000"/>
          </a:p>
        </p:txBody>
      </p:sp>
      <p:graphicFrame>
        <p:nvGraphicFramePr>
          <p:cNvPr id="14" name="Table 13">
            <a:extLst>
              <a:ext uri="{FF2B5EF4-FFF2-40B4-BE49-F238E27FC236}">
                <a16:creationId xmlns:a16="http://schemas.microsoft.com/office/drawing/2014/main" id="{00349FFB-1307-E571-31FB-EFA693E5F2D1}"/>
              </a:ext>
            </a:extLst>
          </p:cNvPr>
          <p:cNvGraphicFramePr>
            <a:graphicFrameLocks noGrp="1"/>
          </p:cNvGraphicFramePr>
          <p:nvPr>
            <p:extLst>
              <p:ext uri="{D42A27DB-BD31-4B8C-83A1-F6EECF244321}">
                <p14:modId xmlns:p14="http://schemas.microsoft.com/office/powerpoint/2010/main" val="3541680839"/>
              </p:ext>
            </p:extLst>
          </p:nvPr>
        </p:nvGraphicFramePr>
        <p:xfrm>
          <a:off x="1295713" y="2126244"/>
          <a:ext cx="10697938" cy="1880560"/>
        </p:xfrm>
        <a:graphic>
          <a:graphicData uri="http://schemas.openxmlformats.org/drawingml/2006/table">
            <a:tbl>
              <a:tblPr firstRow="1" bandRow="1">
                <a:tableStyleId>{5C22544A-7EE6-4342-B048-85BDC9FD1C3A}</a:tableStyleId>
              </a:tblPr>
              <a:tblGrid>
                <a:gridCol w="3759269">
                  <a:extLst>
                    <a:ext uri="{9D8B030D-6E8A-4147-A177-3AD203B41FA5}">
                      <a16:colId xmlns:a16="http://schemas.microsoft.com/office/drawing/2014/main" val="2822350773"/>
                    </a:ext>
                  </a:extLst>
                </a:gridCol>
                <a:gridCol w="6938669">
                  <a:extLst>
                    <a:ext uri="{9D8B030D-6E8A-4147-A177-3AD203B41FA5}">
                      <a16:colId xmlns:a16="http://schemas.microsoft.com/office/drawing/2014/main" val="99588705"/>
                    </a:ext>
                  </a:extLst>
                </a:gridCol>
              </a:tblGrid>
              <a:tr h="217387">
                <a:tc>
                  <a:txBody>
                    <a:bodyPr/>
                    <a:lstStyle/>
                    <a:p>
                      <a:pPr marL="0" lvl="0" indent="0" algn="ctr" defTabSz="914400" rtl="0" eaLnBrk="1" latinLnBrk="0" hangingPunct="1">
                        <a:lnSpc>
                          <a:spcPct val="100000"/>
                        </a:lnSpc>
                        <a:buFont typeface="Arial" panose="020B0604020202020204" pitchFamily="34" charset="0"/>
                        <a:buNone/>
                      </a:pPr>
                      <a:r>
                        <a:rPr lang="en-IN" sz="1200" kern="1200">
                          <a:solidFill>
                            <a:schemeClr val="bg1"/>
                          </a:solidFill>
                          <a:latin typeface="+mn-lt"/>
                          <a:ea typeface="+mn-ea"/>
                          <a:cs typeface="+mn-cs"/>
                        </a:rPr>
                        <a:t>Project/Initiative</a:t>
                      </a:r>
                      <a:endParaRPr lang="en-US" sz="1200"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tc>
                  <a:txBody>
                    <a:bodyPr/>
                    <a:lstStyle/>
                    <a:p>
                      <a:pPr marL="0" indent="0" algn="ctr" defTabSz="914400" rtl="0" eaLnBrk="1" latinLnBrk="0" hangingPunct="1">
                        <a:buFont typeface="Arial" panose="020B0604020202020204" pitchFamily="34" charset="0"/>
                        <a:buNone/>
                      </a:pPr>
                      <a:r>
                        <a:rPr lang="en-IN" sz="1200" kern="1200">
                          <a:solidFill>
                            <a:schemeClr val="bg1"/>
                          </a:solidFill>
                          <a:latin typeface="+mn-lt"/>
                          <a:ea typeface="+mn-ea"/>
                          <a:cs typeface="+mn-cs"/>
                        </a:rPr>
                        <a:t>Value Justification/Realization</a:t>
                      </a:r>
                      <a:endParaRPr lang="en-US" sz="1200"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extLst>
                  <a:ext uri="{0D108BD9-81ED-4DB2-BD59-A6C34878D82A}">
                    <a16:rowId xmlns:a16="http://schemas.microsoft.com/office/drawing/2014/main" val="844450115"/>
                  </a:ext>
                </a:extLst>
              </a:tr>
              <a:tr h="499989">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200" b="1" i="0" u="none" strike="noStrike" kern="1200" noProof="0">
                          <a:solidFill>
                            <a:srgbClr val="05B050"/>
                          </a:solidFill>
                          <a:latin typeface="+mn-lt"/>
                        </a:rPr>
                        <a:t>FlightOps Compliance OCR for Pilot &amp; CC</a:t>
                      </a: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1" i="0" u="none" strike="noStrike" kern="1200" noProof="0">
                          <a:solidFill>
                            <a:srgbClr val="05B050"/>
                          </a:solidFill>
                          <a:latin typeface="+mn-lt"/>
                        </a:rPr>
                        <a:t>OCR service through API provided to MyAI for data extraction from Pilot and Cabin Crew license, qualification and documents. Few enhancements on Medical and CA35 documents expected by Internal Spoc which is in progress.</a:t>
                      </a:r>
                      <a:endParaRPr lang="en-US" sz="1200" b="0" i="0" u="none" strike="noStrike" kern="1200" noProof="0">
                        <a:solidFill>
                          <a:schemeClr val="tx1"/>
                        </a:solidFill>
                        <a:latin typeface="+mn-lt"/>
                      </a:endParaRPr>
                    </a:p>
                    <a:p>
                      <a:pPr marL="685800" lvl="1" indent="-228600" algn="l">
                        <a:lnSpc>
                          <a:spcPct val="100000"/>
                        </a:lnSpc>
                        <a:spcBef>
                          <a:spcPts val="0"/>
                        </a:spcBef>
                        <a:spcAft>
                          <a:spcPts val="0"/>
                        </a:spcAft>
                        <a:buFont typeface="Arial" panose="020B0604020202020204" pitchFamily="34" charset="0"/>
                        <a:buChar char="•"/>
                      </a:pPr>
                      <a:endParaRPr lang="en-US" sz="1200" b="1" i="0" u="none" strike="noStrike" kern="1200" noProof="0">
                        <a:solidFill>
                          <a:schemeClr val="tx1"/>
                        </a:solidFill>
                        <a:latin typeface="+mn-lt"/>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443371065"/>
                  </a:ext>
                </a:extLst>
              </a:tr>
              <a:tr h="326080">
                <a:tc>
                  <a:txBody>
                    <a:bodyPr/>
                    <a:lstStyle/>
                    <a:p>
                      <a:pPr marL="0" lvl="0" indent="0" algn="l">
                        <a:lnSpc>
                          <a:spcPct val="100000"/>
                        </a:lnSpc>
                        <a:spcBef>
                          <a:spcPts val="0"/>
                        </a:spcBef>
                        <a:spcAft>
                          <a:spcPts val="0"/>
                        </a:spcAft>
                        <a:buNone/>
                      </a:pPr>
                      <a:r>
                        <a:rPr lang="en-US" sz="1200" b="1" i="0" u="none" strike="noStrike" kern="1200" noProof="0">
                          <a:solidFill>
                            <a:srgbClr val="05B050"/>
                          </a:solidFill>
                          <a:latin typeface="+mn-lt"/>
                        </a:rPr>
                        <a:t>Flight 787 MEL data discrepancy checks</a:t>
                      </a:r>
                    </a:p>
                  </a:txBody>
                  <a:tcP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lvl="0" indent="0" algn="l">
                        <a:lnSpc>
                          <a:spcPct val="100000"/>
                        </a:lnSpc>
                        <a:spcBef>
                          <a:spcPts val="0"/>
                        </a:spcBef>
                        <a:spcAft>
                          <a:spcPts val="0"/>
                        </a:spcAft>
                        <a:buFont typeface="Arial"/>
                        <a:buNone/>
                      </a:pPr>
                      <a:r>
                        <a:rPr lang="en-US" sz="1200" b="1" i="0" u="none" strike="noStrike" kern="1200" noProof="0">
                          <a:solidFill>
                            <a:srgbClr val="05B050"/>
                          </a:solidFill>
                          <a:latin typeface="+mn-lt"/>
                        </a:rPr>
                        <a:t>The MEL issues received from 787 is being compared with the corresponding XML (from vendor)</a:t>
                      </a:r>
                    </a:p>
                  </a:txBody>
                  <a:tcPr>
                    <a:lnL w="6350" cap="flat" cmpd="sng" algn="ctr">
                      <a:solidFill>
                        <a:schemeClr val="bg1">
                          <a:lumMod val="75000"/>
                        </a:schemeClr>
                      </a:solidFill>
                      <a:prstDash val="solid"/>
                      <a:round/>
                      <a:headEnd type="none" w="med" len="med"/>
                      <a:tailEnd type="none" w="med" len="med"/>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615278373"/>
                  </a:ext>
                </a:extLst>
              </a:tr>
              <a:tr h="326080">
                <a:tc>
                  <a:txBody>
                    <a:bodyPr/>
                    <a:lstStyle/>
                    <a:p>
                      <a:pPr marL="0" lvl="0" indent="0" algn="l">
                        <a:lnSpc>
                          <a:spcPct val="100000"/>
                        </a:lnSpc>
                        <a:spcBef>
                          <a:spcPts val="0"/>
                        </a:spcBef>
                        <a:spcAft>
                          <a:spcPts val="0"/>
                        </a:spcAft>
                        <a:buFont typeface="+mj-lt"/>
                        <a:buNone/>
                      </a:pPr>
                      <a:r>
                        <a:rPr lang="en-US" sz="1200" b="1" i="0" u="none" strike="noStrike" kern="1200" noProof="0">
                          <a:solidFill>
                            <a:srgbClr val="05B050"/>
                          </a:solidFill>
                          <a:latin typeface="+mn-lt"/>
                        </a:rPr>
                        <a:t>CVR Analytics-phase1</a:t>
                      </a:r>
                    </a:p>
                  </a:txBody>
                  <a:tcP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lvl="0" indent="0" algn="l">
                        <a:lnSpc>
                          <a:spcPct val="100000"/>
                        </a:lnSpc>
                        <a:spcBef>
                          <a:spcPts val="0"/>
                        </a:spcBef>
                        <a:spcAft>
                          <a:spcPts val="0"/>
                        </a:spcAft>
                        <a:buNone/>
                      </a:pPr>
                      <a:r>
                        <a:rPr lang="en-US" sz="1200" b="1" i="0" u="none" strike="noStrike" kern="1200" noProof="0">
                          <a:solidFill>
                            <a:srgbClr val="05B050"/>
                          </a:solidFill>
                          <a:latin typeface="+mn-lt"/>
                        </a:rPr>
                        <a:t>Automation of safety analysis on Cockpit Voice Recordings</a:t>
                      </a:r>
                    </a:p>
                  </a:txBody>
                  <a:tcPr>
                    <a:lnL w="6350" cap="flat" cmpd="sng" algn="ctr">
                      <a:solidFill>
                        <a:schemeClr val="bg1">
                          <a:lumMod val="75000"/>
                        </a:schemeClr>
                      </a:solidFill>
                      <a:prstDash val="solid"/>
                      <a:round/>
                      <a:headEnd type="none" w="med" len="med"/>
                      <a:tailEnd type="none" w="med" len="med"/>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45887600"/>
                  </a:ext>
                </a:extLst>
              </a:tr>
            </a:tbl>
          </a:graphicData>
        </a:graphic>
      </p:graphicFrame>
      <p:graphicFrame>
        <p:nvGraphicFramePr>
          <p:cNvPr id="15" name="Table 14">
            <a:extLst>
              <a:ext uri="{FF2B5EF4-FFF2-40B4-BE49-F238E27FC236}">
                <a16:creationId xmlns:a16="http://schemas.microsoft.com/office/drawing/2014/main" id="{4BCABEC9-759B-F7A4-98EC-91503D5DC35E}"/>
              </a:ext>
            </a:extLst>
          </p:cNvPr>
          <p:cNvGraphicFramePr>
            <a:graphicFrameLocks noGrp="1"/>
          </p:cNvGraphicFramePr>
          <p:nvPr>
            <p:extLst>
              <p:ext uri="{D42A27DB-BD31-4B8C-83A1-F6EECF244321}">
                <p14:modId xmlns:p14="http://schemas.microsoft.com/office/powerpoint/2010/main" val="2968314264"/>
              </p:ext>
            </p:extLst>
          </p:nvPr>
        </p:nvGraphicFramePr>
        <p:xfrm>
          <a:off x="1295713" y="4085674"/>
          <a:ext cx="10697938" cy="1057600"/>
        </p:xfrm>
        <a:graphic>
          <a:graphicData uri="http://schemas.openxmlformats.org/drawingml/2006/table">
            <a:tbl>
              <a:tblPr firstRow="1" bandRow="1">
                <a:tableStyleId>{5C22544A-7EE6-4342-B048-85BDC9FD1C3A}</a:tableStyleId>
              </a:tblPr>
              <a:tblGrid>
                <a:gridCol w="3759269">
                  <a:extLst>
                    <a:ext uri="{9D8B030D-6E8A-4147-A177-3AD203B41FA5}">
                      <a16:colId xmlns:a16="http://schemas.microsoft.com/office/drawing/2014/main" val="2822350773"/>
                    </a:ext>
                  </a:extLst>
                </a:gridCol>
                <a:gridCol w="6938669">
                  <a:extLst>
                    <a:ext uri="{9D8B030D-6E8A-4147-A177-3AD203B41FA5}">
                      <a16:colId xmlns:a16="http://schemas.microsoft.com/office/drawing/2014/main" val="99588705"/>
                    </a:ext>
                  </a:extLst>
                </a:gridCol>
              </a:tblGrid>
              <a:tr h="217387">
                <a:tc>
                  <a:txBody>
                    <a:bodyPr/>
                    <a:lstStyle/>
                    <a:p>
                      <a:pPr marL="0" lvl="0" indent="0" algn="ctr" defTabSz="914400" rtl="0" eaLnBrk="1" latinLnBrk="0" hangingPunct="1">
                        <a:lnSpc>
                          <a:spcPct val="100000"/>
                        </a:lnSpc>
                        <a:buFont typeface="Arial" panose="020B0604020202020204" pitchFamily="34" charset="0"/>
                        <a:buNone/>
                      </a:pPr>
                      <a:r>
                        <a:rPr lang="en-IN" sz="1200" strike="sngStrike" kern="1200">
                          <a:solidFill>
                            <a:schemeClr val="bg1"/>
                          </a:solidFill>
                          <a:latin typeface="+mn-lt"/>
                          <a:ea typeface="+mn-ea"/>
                          <a:cs typeface="+mn-cs"/>
                        </a:rPr>
                        <a:t>Project/Initiative</a:t>
                      </a:r>
                      <a:endParaRPr lang="en-US" sz="1200" strike="sngStrike"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tc>
                  <a:txBody>
                    <a:bodyPr/>
                    <a:lstStyle/>
                    <a:p>
                      <a:pPr marL="0" indent="0" algn="ctr" defTabSz="914400" rtl="0" eaLnBrk="1" latinLnBrk="0" hangingPunct="1">
                        <a:buFont typeface="Arial" panose="020B0604020202020204" pitchFamily="34" charset="0"/>
                        <a:buNone/>
                      </a:pPr>
                      <a:r>
                        <a:rPr lang="en-IN" sz="1200" strike="sngStrike" kern="1200">
                          <a:solidFill>
                            <a:schemeClr val="bg1"/>
                          </a:solidFill>
                          <a:latin typeface="+mn-lt"/>
                          <a:ea typeface="+mn-ea"/>
                          <a:cs typeface="+mn-cs"/>
                        </a:rPr>
                        <a:t>Value Justification/Realization</a:t>
                      </a:r>
                      <a:endParaRPr lang="en-US" sz="1200" strike="sngStrike"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extLst>
                  <a:ext uri="{0D108BD9-81ED-4DB2-BD59-A6C34878D82A}">
                    <a16:rowId xmlns:a16="http://schemas.microsoft.com/office/drawing/2014/main" val="844450115"/>
                  </a:ext>
                </a:extLst>
              </a:tr>
              <a:tr h="326080">
                <a:tc>
                  <a:txBody>
                    <a:bodyPr/>
                    <a:lstStyle/>
                    <a:p>
                      <a:pPr marL="0" lvl="0" indent="0" algn="l">
                        <a:lnSpc>
                          <a:spcPct val="100000"/>
                        </a:lnSpc>
                        <a:spcBef>
                          <a:spcPts val="0"/>
                        </a:spcBef>
                        <a:spcAft>
                          <a:spcPts val="0"/>
                        </a:spcAft>
                        <a:buNone/>
                      </a:pPr>
                      <a:r>
                        <a:rPr lang="en-US" sz="1200" b="1" i="0" u="none" strike="sngStrike" kern="1200" noProof="0">
                          <a:solidFill>
                            <a:schemeClr val="accent2"/>
                          </a:solidFill>
                          <a:latin typeface="+mn-lt"/>
                        </a:rPr>
                        <a:t>OTP Skypulse phase 2</a:t>
                      </a:r>
                    </a:p>
                  </a:txBody>
                  <a:tcP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lvl="0" indent="0" algn="l">
                        <a:lnSpc>
                          <a:spcPct val="100000"/>
                        </a:lnSpc>
                        <a:spcBef>
                          <a:spcPts val="0"/>
                        </a:spcBef>
                        <a:spcAft>
                          <a:spcPts val="0"/>
                        </a:spcAft>
                        <a:buFont typeface="Arial"/>
                        <a:buNone/>
                      </a:pPr>
                      <a:r>
                        <a:rPr lang="en-US" sz="1200" b="1" i="0" u="none" strike="sngStrike" kern="1200" noProof="0">
                          <a:solidFill>
                            <a:schemeClr val="accent2"/>
                          </a:solidFill>
                          <a:latin typeface="+mn-lt"/>
                        </a:rPr>
                        <a:t>Rebuild the current On-Time Performance (OTP) chatbot- Skypulse. Provide comparison of OTP and related metrics with Historical data of 1.5 years</a:t>
                      </a:r>
                    </a:p>
                  </a:txBody>
                  <a:tcPr>
                    <a:lnL w="6350" cap="flat" cmpd="sng" algn="ctr">
                      <a:solidFill>
                        <a:schemeClr val="bg1">
                          <a:lumMod val="75000"/>
                        </a:schemeClr>
                      </a:solidFill>
                      <a:prstDash val="solid"/>
                      <a:round/>
                      <a:headEnd type="none" w="med" len="med"/>
                      <a:tailEnd type="none" w="med" len="med"/>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417476375"/>
                  </a:ext>
                </a:extLst>
              </a:tr>
              <a:tr h="326080">
                <a:tc>
                  <a:txBody>
                    <a:bodyPr/>
                    <a:lstStyle/>
                    <a:p>
                      <a:pPr marL="228600" lvl="0" indent="-228600" algn="l">
                        <a:lnSpc>
                          <a:spcPct val="100000"/>
                        </a:lnSpc>
                        <a:spcBef>
                          <a:spcPts val="0"/>
                        </a:spcBef>
                        <a:spcAft>
                          <a:spcPts val="0"/>
                        </a:spcAft>
                        <a:buAutoNum type="arabicPeriod"/>
                      </a:pPr>
                      <a:endParaRPr lang="en-US" sz="1200" b="1" i="0" u="none" strike="noStrike" kern="1200" noProof="0">
                        <a:solidFill>
                          <a:srgbClr val="0070C0"/>
                        </a:solidFill>
                        <a:latin typeface="+mn-lt"/>
                      </a:endParaRPr>
                    </a:p>
                  </a:txBody>
                  <a:tcP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a:solidFill>
                        <a:schemeClr val="bg1">
                          <a:lumMod val="75000"/>
                        </a:schemeClr>
                      </a:solidFill>
                    </a:lnB>
                    <a:noFill/>
                  </a:tcPr>
                </a:tc>
                <a:tc>
                  <a:txBody>
                    <a:bodyPr/>
                    <a:lstStyle/>
                    <a:p>
                      <a:pPr marL="685800" lvl="1" indent="-228600" algn="l">
                        <a:lnSpc>
                          <a:spcPct val="100000"/>
                        </a:lnSpc>
                        <a:spcBef>
                          <a:spcPts val="0"/>
                        </a:spcBef>
                        <a:spcAft>
                          <a:spcPts val="0"/>
                        </a:spcAft>
                        <a:buFont typeface="Arial"/>
                        <a:buChar char="•"/>
                      </a:pPr>
                      <a:endParaRPr lang="en-US" sz="1200" b="1" i="0" u="none" strike="noStrike" kern="1200" noProof="0">
                        <a:solidFill>
                          <a:schemeClr val="tx1"/>
                        </a:solidFill>
                        <a:latin typeface="+mn-lt"/>
                      </a:endParaRPr>
                    </a:p>
                  </a:txBody>
                  <a:tcPr>
                    <a:lnL w="6350" cap="flat" cmpd="sng" algn="ctr">
                      <a:solidFill>
                        <a:schemeClr val="bg1">
                          <a:lumMod val="75000"/>
                        </a:schemeClr>
                      </a:solidFill>
                      <a:prstDash val="solid"/>
                      <a:round/>
                      <a:headEnd type="none" w="med" len="med"/>
                      <a:tailEnd type="none" w="med" len="med"/>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a:solidFill>
                        <a:schemeClr val="bg1">
                          <a:lumMod val="75000"/>
                        </a:schemeClr>
                      </a:solidFill>
                    </a:lnB>
                    <a:noFill/>
                  </a:tcPr>
                </a:tc>
                <a:extLst>
                  <a:ext uri="{0D108BD9-81ED-4DB2-BD59-A6C34878D82A}">
                    <a16:rowId xmlns:a16="http://schemas.microsoft.com/office/drawing/2014/main" val="1110178885"/>
                  </a:ext>
                </a:extLst>
              </a:tr>
            </a:tbl>
          </a:graphicData>
        </a:graphic>
      </p:graphicFrame>
      <p:sp>
        <p:nvSpPr>
          <p:cNvPr id="16" name="Rectangle 15">
            <a:extLst>
              <a:ext uri="{FF2B5EF4-FFF2-40B4-BE49-F238E27FC236}">
                <a16:creationId xmlns:a16="http://schemas.microsoft.com/office/drawing/2014/main" id="{966EF746-7BA4-7A40-1269-7E720FDEBC48}"/>
              </a:ext>
            </a:extLst>
          </p:cNvPr>
          <p:cNvSpPr/>
          <p:nvPr/>
        </p:nvSpPr>
        <p:spPr>
          <a:xfrm>
            <a:off x="125281" y="2120985"/>
            <a:ext cx="1170432" cy="42234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1100" b="1">
                <a:latin typeface="AirIndia"/>
              </a:rPr>
              <a:t>May 2026</a:t>
            </a:r>
            <a:endParaRPr lang="en-US"/>
          </a:p>
        </p:txBody>
      </p:sp>
      <p:sp>
        <p:nvSpPr>
          <p:cNvPr id="17" name="Rectangle 16">
            <a:extLst>
              <a:ext uri="{FF2B5EF4-FFF2-40B4-BE49-F238E27FC236}">
                <a16:creationId xmlns:a16="http://schemas.microsoft.com/office/drawing/2014/main" id="{7DB1478E-23FF-FD4B-FF65-3C28786A58A5}"/>
              </a:ext>
            </a:extLst>
          </p:cNvPr>
          <p:cNvSpPr/>
          <p:nvPr/>
        </p:nvSpPr>
        <p:spPr>
          <a:xfrm>
            <a:off x="136167" y="4080414"/>
            <a:ext cx="1170432" cy="42234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1100" b="1">
                <a:latin typeface="AirIndia"/>
              </a:rPr>
              <a:t>June 2026</a:t>
            </a:r>
            <a:endParaRPr lang="en-US"/>
          </a:p>
        </p:txBody>
      </p:sp>
    </p:spTree>
    <p:extLst>
      <p:ext uri="{BB962C8B-B14F-4D97-AF65-F5344CB8AC3E}">
        <p14:creationId xmlns:p14="http://schemas.microsoft.com/office/powerpoint/2010/main" val="3554076110"/>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1267DC-7B83-FA8E-5570-0651C1641D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0FDF1A-6270-E86D-C36D-01964676B03C}"/>
              </a:ext>
            </a:extLst>
          </p:cNvPr>
          <p:cNvSpPr>
            <a:spLocks noGrp="1"/>
          </p:cNvSpPr>
          <p:nvPr>
            <p:ph type="title"/>
          </p:nvPr>
        </p:nvSpPr>
        <p:spPr>
          <a:xfrm>
            <a:off x="5876373" y="2114927"/>
            <a:ext cx="6907630" cy="1961201"/>
          </a:xfrm>
        </p:spPr>
        <p:txBody>
          <a:bodyPr/>
          <a:lstStyle/>
          <a:p>
            <a:r>
              <a:rPr lang="en-US" sz="5400">
                <a:latin typeface="AirIndia"/>
              </a:rPr>
              <a:t>Operations-Q2</a:t>
            </a:r>
            <a:endParaRPr lang="en-US" sz="5400"/>
          </a:p>
        </p:txBody>
      </p:sp>
    </p:spTree>
    <p:extLst>
      <p:ext uri="{BB962C8B-B14F-4D97-AF65-F5344CB8AC3E}">
        <p14:creationId xmlns:p14="http://schemas.microsoft.com/office/powerpoint/2010/main" val="4114765245"/>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BEAEDB-EF6E-3F08-03FA-2304BA058E5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72B209F-FE11-EA55-B467-A5C3F53C1F3C}"/>
              </a:ext>
            </a:extLst>
          </p:cNvPr>
          <p:cNvSpPr>
            <a:spLocks noGrp="1"/>
          </p:cNvSpPr>
          <p:nvPr>
            <p:ph type="sldNum" sz="quarter" idx="12"/>
          </p:nvPr>
        </p:nvSpPr>
        <p:spPr/>
        <p:txBody>
          <a:bodyPr/>
          <a:lstStyle/>
          <a:p>
            <a:fld id="{3A41A254-7326-714E-AF55-4C213D6394DE}" type="slidenum">
              <a:rPr lang="en-US" smtClean="0"/>
              <a:pPr/>
              <a:t>105</a:t>
            </a:fld>
            <a:endParaRPr lang="en-US"/>
          </a:p>
        </p:txBody>
      </p:sp>
      <p:sp>
        <p:nvSpPr>
          <p:cNvPr id="6" name="Title 11">
            <a:extLst>
              <a:ext uri="{FF2B5EF4-FFF2-40B4-BE49-F238E27FC236}">
                <a16:creationId xmlns:a16="http://schemas.microsoft.com/office/drawing/2014/main" id="{46F51C1C-EDDA-DAC5-BEE1-9858CA749219}"/>
              </a:ext>
            </a:extLst>
          </p:cNvPr>
          <p:cNvSpPr txBox="1">
            <a:spLocks/>
          </p:cNvSpPr>
          <p:nvPr/>
        </p:nvSpPr>
        <p:spPr>
          <a:xfrm>
            <a:off x="195942" y="307594"/>
            <a:ext cx="6357257" cy="282984"/>
          </a:xfrm>
          <a:prstGeom prst="rect">
            <a:avLst/>
          </a:prstGeom>
        </p:spPr>
        <p:txBody>
          <a:bodyPr lIns="91440" tIns="45720" rIns="91440" bIns="45720" anchor="t">
            <a:noAutofit/>
          </a:bodyPr>
          <a:lstStyle>
            <a:lvl1pPr algn="l" defTabSz="914400" rtl="0" eaLnBrk="1" latinLnBrk="0" hangingPunct="1">
              <a:lnSpc>
                <a:spcPct val="90000"/>
              </a:lnSpc>
              <a:spcBef>
                <a:spcPct val="0"/>
              </a:spcBef>
              <a:buNone/>
              <a:defRPr sz="4400" b="1" i="0" kern="1200">
                <a:solidFill>
                  <a:schemeClr val="tx1"/>
                </a:solidFill>
                <a:latin typeface="AirIndia" pitchFamily="82" charset="77"/>
                <a:ea typeface="+mj-ea"/>
                <a:cs typeface="+mj-cs"/>
              </a:defRPr>
            </a:lvl1pPr>
          </a:lstStyle>
          <a:p>
            <a:r>
              <a:rPr lang="en-US" sz="1800">
                <a:solidFill>
                  <a:schemeClr val="accent1"/>
                </a:solidFill>
                <a:latin typeface="AirIndia"/>
              </a:rPr>
              <a:t>Operations - FY26 Q2  Release Plan Status Update</a:t>
            </a:r>
            <a:endParaRPr lang="en-US" sz="1800" b="0">
              <a:solidFill>
                <a:schemeClr val="accent1"/>
              </a:solidFill>
              <a:latin typeface="AirIndia"/>
            </a:endParaRPr>
          </a:p>
        </p:txBody>
      </p:sp>
      <p:sp>
        <p:nvSpPr>
          <p:cNvPr id="3" name="Rectangle 2">
            <a:extLst>
              <a:ext uri="{FF2B5EF4-FFF2-40B4-BE49-F238E27FC236}">
                <a16:creationId xmlns:a16="http://schemas.microsoft.com/office/drawing/2014/main" id="{50D302A4-7F14-7ED4-3BCF-9FB6605A1FBC}"/>
              </a:ext>
            </a:extLst>
          </p:cNvPr>
          <p:cNvSpPr/>
          <p:nvPr/>
        </p:nvSpPr>
        <p:spPr>
          <a:xfrm>
            <a:off x="3465009" y="6262087"/>
            <a:ext cx="90000" cy="90000"/>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
        <p:nvSpPr>
          <p:cNvPr id="4" name="Rectangle 3">
            <a:extLst>
              <a:ext uri="{FF2B5EF4-FFF2-40B4-BE49-F238E27FC236}">
                <a16:creationId xmlns:a16="http://schemas.microsoft.com/office/drawing/2014/main" id="{59BE162C-6949-2D92-6941-59F10487D0F9}"/>
              </a:ext>
            </a:extLst>
          </p:cNvPr>
          <p:cNvSpPr/>
          <p:nvPr/>
        </p:nvSpPr>
        <p:spPr>
          <a:xfrm>
            <a:off x="3465009" y="6489649"/>
            <a:ext cx="90000" cy="90000"/>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
        <p:nvSpPr>
          <p:cNvPr id="5" name="Rectangle 4">
            <a:extLst>
              <a:ext uri="{FF2B5EF4-FFF2-40B4-BE49-F238E27FC236}">
                <a16:creationId xmlns:a16="http://schemas.microsoft.com/office/drawing/2014/main" id="{D7FAF762-EFAD-8EE4-1445-5CF66C443B5B}"/>
              </a:ext>
            </a:extLst>
          </p:cNvPr>
          <p:cNvSpPr/>
          <p:nvPr/>
        </p:nvSpPr>
        <p:spPr>
          <a:xfrm>
            <a:off x="5567900" y="6262087"/>
            <a:ext cx="90000" cy="90000"/>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
        <p:nvSpPr>
          <p:cNvPr id="7" name="Rectangle 6">
            <a:extLst>
              <a:ext uri="{FF2B5EF4-FFF2-40B4-BE49-F238E27FC236}">
                <a16:creationId xmlns:a16="http://schemas.microsoft.com/office/drawing/2014/main" id="{D7D99D02-9310-E6D6-A6F4-66879C3FFA9F}"/>
              </a:ext>
            </a:extLst>
          </p:cNvPr>
          <p:cNvSpPr/>
          <p:nvPr/>
        </p:nvSpPr>
        <p:spPr>
          <a:xfrm>
            <a:off x="5567900" y="6489649"/>
            <a:ext cx="90000" cy="90000"/>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
        <p:nvSpPr>
          <p:cNvPr id="8" name="TextBox 15">
            <a:extLst>
              <a:ext uri="{FF2B5EF4-FFF2-40B4-BE49-F238E27FC236}">
                <a16:creationId xmlns:a16="http://schemas.microsoft.com/office/drawing/2014/main" id="{5E735586-6F77-3C4B-0AD5-E683212D4DED}"/>
              </a:ext>
            </a:extLst>
          </p:cNvPr>
          <p:cNvSpPr txBox="1"/>
          <p:nvPr/>
        </p:nvSpPr>
        <p:spPr>
          <a:xfrm>
            <a:off x="3522317" y="6205238"/>
            <a:ext cx="857245"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000">
                <a:solidFill>
                  <a:srgbClr val="0070C0"/>
                </a:solidFill>
              </a:rPr>
              <a:t>Delivered</a:t>
            </a:r>
            <a:endParaRPr lang="en-IN" sz="1000"/>
          </a:p>
        </p:txBody>
      </p:sp>
      <p:sp>
        <p:nvSpPr>
          <p:cNvPr id="9" name="TextBox 18">
            <a:extLst>
              <a:ext uri="{FF2B5EF4-FFF2-40B4-BE49-F238E27FC236}">
                <a16:creationId xmlns:a16="http://schemas.microsoft.com/office/drawing/2014/main" id="{CC05B421-6754-BE9A-B00C-1711EC5C11C7}"/>
              </a:ext>
            </a:extLst>
          </p:cNvPr>
          <p:cNvSpPr txBox="1"/>
          <p:nvPr/>
        </p:nvSpPr>
        <p:spPr>
          <a:xfrm>
            <a:off x="3520719" y="6430197"/>
            <a:ext cx="1032881"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000">
                <a:solidFill>
                  <a:srgbClr val="00B050"/>
                </a:solidFill>
              </a:rPr>
              <a:t>Ontrack</a:t>
            </a:r>
            <a:endParaRPr lang="en-IN" sz="1000"/>
          </a:p>
        </p:txBody>
      </p:sp>
      <p:sp>
        <p:nvSpPr>
          <p:cNvPr id="10" name="TextBox 20">
            <a:extLst>
              <a:ext uri="{FF2B5EF4-FFF2-40B4-BE49-F238E27FC236}">
                <a16:creationId xmlns:a16="http://schemas.microsoft.com/office/drawing/2014/main" id="{BECECB8B-12AA-AB00-0806-00BAAB21D49E}"/>
              </a:ext>
            </a:extLst>
          </p:cNvPr>
          <p:cNvSpPr txBox="1"/>
          <p:nvPr/>
        </p:nvSpPr>
        <p:spPr>
          <a:xfrm>
            <a:off x="5653197" y="6220637"/>
            <a:ext cx="2257628"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000">
                <a:solidFill>
                  <a:schemeClr val="accent6">
                    <a:lumMod val="75000"/>
                  </a:schemeClr>
                </a:solidFill>
              </a:rPr>
              <a:t>Under delay and can be recovered</a:t>
            </a:r>
            <a:endParaRPr lang="en-IN" sz="1000"/>
          </a:p>
        </p:txBody>
      </p:sp>
      <p:sp>
        <p:nvSpPr>
          <p:cNvPr id="11" name="TextBox 22">
            <a:extLst>
              <a:ext uri="{FF2B5EF4-FFF2-40B4-BE49-F238E27FC236}">
                <a16:creationId xmlns:a16="http://schemas.microsoft.com/office/drawing/2014/main" id="{BCB6791E-94DD-6895-36A8-FF1ADD5B29CD}"/>
              </a:ext>
            </a:extLst>
          </p:cNvPr>
          <p:cNvSpPr txBox="1"/>
          <p:nvPr/>
        </p:nvSpPr>
        <p:spPr>
          <a:xfrm>
            <a:off x="5657900" y="6437221"/>
            <a:ext cx="3069090"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000">
                <a:solidFill>
                  <a:schemeClr val="accent2"/>
                </a:solidFill>
              </a:rPr>
              <a:t>Delayed and pushed to next release</a:t>
            </a:r>
            <a:endParaRPr lang="en-IN" sz="1000"/>
          </a:p>
        </p:txBody>
      </p:sp>
      <p:graphicFrame>
        <p:nvGraphicFramePr>
          <p:cNvPr id="14" name="Table 13">
            <a:extLst>
              <a:ext uri="{FF2B5EF4-FFF2-40B4-BE49-F238E27FC236}">
                <a16:creationId xmlns:a16="http://schemas.microsoft.com/office/drawing/2014/main" id="{1FED9A16-6611-AD0D-9914-81A774EC71B8}"/>
              </a:ext>
            </a:extLst>
          </p:cNvPr>
          <p:cNvGraphicFramePr>
            <a:graphicFrameLocks noGrp="1"/>
          </p:cNvGraphicFramePr>
          <p:nvPr>
            <p:extLst>
              <p:ext uri="{D42A27DB-BD31-4B8C-83A1-F6EECF244321}">
                <p14:modId xmlns:p14="http://schemas.microsoft.com/office/powerpoint/2010/main" val="4227542828"/>
              </p:ext>
            </p:extLst>
          </p:nvPr>
        </p:nvGraphicFramePr>
        <p:xfrm>
          <a:off x="1366374" y="3638194"/>
          <a:ext cx="10697938" cy="1566560"/>
        </p:xfrm>
        <a:graphic>
          <a:graphicData uri="http://schemas.openxmlformats.org/drawingml/2006/table">
            <a:tbl>
              <a:tblPr firstRow="1" bandRow="1">
                <a:tableStyleId>{5C22544A-7EE6-4342-B048-85BDC9FD1C3A}</a:tableStyleId>
              </a:tblPr>
              <a:tblGrid>
                <a:gridCol w="3759269">
                  <a:extLst>
                    <a:ext uri="{9D8B030D-6E8A-4147-A177-3AD203B41FA5}">
                      <a16:colId xmlns:a16="http://schemas.microsoft.com/office/drawing/2014/main" val="2822350773"/>
                    </a:ext>
                  </a:extLst>
                </a:gridCol>
                <a:gridCol w="6938669">
                  <a:extLst>
                    <a:ext uri="{9D8B030D-6E8A-4147-A177-3AD203B41FA5}">
                      <a16:colId xmlns:a16="http://schemas.microsoft.com/office/drawing/2014/main" val="99588705"/>
                    </a:ext>
                  </a:extLst>
                </a:gridCol>
              </a:tblGrid>
              <a:tr h="217387">
                <a:tc>
                  <a:txBody>
                    <a:bodyPr/>
                    <a:lstStyle/>
                    <a:p>
                      <a:pPr marL="0" lvl="0" indent="0" algn="ctr" defTabSz="914400" rtl="0" eaLnBrk="1" latinLnBrk="0" hangingPunct="1">
                        <a:lnSpc>
                          <a:spcPct val="100000"/>
                        </a:lnSpc>
                        <a:buFont typeface="Arial" panose="020B0604020202020204" pitchFamily="34" charset="0"/>
                        <a:buNone/>
                      </a:pPr>
                      <a:r>
                        <a:rPr lang="en-IN" sz="1200" kern="1200">
                          <a:solidFill>
                            <a:schemeClr val="bg1"/>
                          </a:solidFill>
                          <a:latin typeface="+mn-lt"/>
                          <a:ea typeface="+mn-ea"/>
                          <a:cs typeface="+mn-cs"/>
                        </a:rPr>
                        <a:t>Project/Initiative</a:t>
                      </a:r>
                      <a:endParaRPr lang="en-US" sz="1200"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tc>
                  <a:txBody>
                    <a:bodyPr/>
                    <a:lstStyle/>
                    <a:p>
                      <a:pPr marL="0" indent="0" algn="ctr" defTabSz="914400" rtl="0" eaLnBrk="1" latinLnBrk="0" hangingPunct="1">
                        <a:buFont typeface="Arial" panose="020B0604020202020204" pitchFamily="34" charset="0"/>
                        <a:buNone/>
                      </a:pPr>
                      <a:r>
                        <a:rPr lang="en-IN" sz="1200" kern="1200">
                          <a:solidFill>
                            <a:schemeClr val="bg1"/>
                          </a:solidFill>
                          <a:latin typeface="+mn-lt"/>
                          <a:ea typeface="+mn-ea"/>
                          <a:cs typeface="+mn-cs"/>
                        </a:rPr>
                        <a:t>Value Justification/Realization</a:t>
                      </a:r>
                      <a:endParaRPr lang="en-US" sz="1200"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extLst>
                  <a:ext uri="{0D108BD9-81ED-4DB2-BD59-A6C34878D82A}">
                    <a16:rowId xmlns:a16="http://schemas.microsoft.com/office/drawing/2014/main" val="844450115"/>
                  </a:ext>
                </a:extLst>
              </a:tr>
              <a:tr h="326080">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200" b="1" i="0" u="none" strike="noStrike" kern="1200" noProof="0" err="1">
                          <a:solidFill>
                            <a:srgbClr val="05B050"/>
                          </a:solidFill>
                          <a:latin typeface="+mn-lt"/>
                        </a:rPr>
                        <a:t>FlightOps</a:t>
                      </a:r>
                      <a:r>
                        <a:rPr lang="en-US" sz="1200" b="1" i="0" u="none" strike="noStrike" kern="1200" noProof="0">
                          <a:solidFill>
                            <a:srgbClr val="05B050"/>
                          </a:solidFill>
                          <a:latin typeface="+mn-lt"/>
                        </a:rPr>
                        <a:t> Compliance OCR for Pilot &amp; CC</a:t>
                      </a: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200" b="1" i="0" u="none" strike="noStrike" kern="1200" noProof="0">
                          <a:solidFill>
                            <a:srgbClr val="05B050"/>
                          </a:solidFill>
                          <a:latin typeface="+mn-lt"/>
                        </a:rPr>
                        <a:t>Phase3 (Dispatcher docs)</a:t>
                      </a:r>
                    </a:p>
                  </a:txBody>
                  <a:tcP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1" i="0" u="none" strike="noStrike" kern="1200" noProof="0">
                          <a:solidFill>
                            <a:srgbClr val="05B050"/>
                          </a:solidFill>
                          <a:latin typeface="+mn-lt"/>
                        </a:rPr>
                        <a:t>OCR service through API provided to </a:t>
                      </a:r>
                      <a:r>
                        <a:rPr lang="en-US" sz="1200" b="1" i="0" u="none" strike="noStrike" kern="1200" noProof="0" err="1">
                          <a:solidFill>
                            <a:srgbClr val="05B050"/>
                          </a:solidFill>
                          <a:latin typeface="+mn-lt"/>
                        </a:rPr>
                        <a:t>MyAI</a:t>
                      </a:r>
                      <a:r>
                        <a:rPr lang="en-US" sz="1200" b="1" i="0" u="none" strike="noStrike" kern="1200" noProof="0">
                          <a:solidFill>
                            <a:srgbClr val="05B050"/>
                          </a:solidFill>
                          <a:latin typeface="+mn-lt"/>
                        </a:rPr>
                        <a:t> for data extraction from Pilot and Cabin Crew license, qualification and documents. Few enhancements on Medical and CA35 documents expected by Internal </a:t>
                      </a:r>
                      <a:r>
                        <a:rPr lang="en-US" sz="1200" b="1" i="0" u="none" strike="noStrike" kern="1200" noProof="0" err="1">
                          <a:solidFill>
                            <a:srgbClr val="05B050"/>
                          </a:solidFill>
                          <a:latin typeface="+mn-lt"/>
                        </a:rPr>
                        <a:t>Spoc</a:t>
                      </a:r>
                      <a:r>
                        <a:rPr lang="en-US" sz="1200" b="1" i="0" u="none" strike="noStrike" kern="1200" noProof="0">
                          <a:solidFill>
                            <a:srgbClr val="05B050"/>
                          </a:solidFill>
                          <a:latin typeface="+mn-lt"/>
                        </a:rPr>
                        <a:t> which is in progress.</a:t>
                      </a:r>
                      <a:endParaRPr lang="en-US" sz="1200" b="0" i="0" u="none" strike="noStrike" kern="1200" noProof="0">
                        <a:solidFill>
                          <a:schemeClr val="tx1"/>
                        </a:solidFill>
                        <a:latin typeface="+mn-lt"/>
                      </a:endParaRPr>
                    </a:p>
                  </a:txBody>
                  <a:tcPr>
                    <a:lnL w="6350" cap="flat" cmpd="sng" algn="ctr">
                      <a:solidFill>
                        <a:schemeClr val="bg1">
                          <a:lumMod val="75000"/>
                        </a:schemeClr>
                      </a:solidFill>
                      <a:prstDash val="solid"/>
                      <a:round/>
                      <a:headEnd type="none" w="med" len="med"/>
                      <a:tailEnd type="none" w="med" len="med"/>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359301273"/>
                  </a:ext>
                </a:extLst>
              </a:tr>
              <a:tr h="326080">
                <a:tc>
                  <a:txBody>
                    <a:bodyPr/>
                    <a:lstStyle/>
                    <a:p>
                      <a:pPr marL="0" lvl="0" indent="0" algn="l">
                        <a:lnSpc>
                          <a:spcPct val="100000"/>
                        </a:lnSpc>
                        <a:spcBef>
                          <a:spcPts val="0"/>
                        </a:spcBef>
                        <a:spcAft>
                          <a:spcPts val="0"/>
                        </a:spcAft>
                        <a:buFont typeface="+mj-lt"/>
                        <a:buNone/>
                      </a:pPr>
                      <a:r>
                        <a:rPr lang="en-US" sz="1200" b="1" i="0" u="none" strike="noStrike" kern="1200" noProof="0">
                          <a:solidFill>
                            <a:srgbClr val="05B050"/>
                          </a:solidFill>
                          <a:latin typeface="+mn-lt"/>
                        </a:rPr>
                        <a:t>CVR Analytics</a:t>
                      </a:r>
                    </a:p>
                  </a:txBody>
                  <a:tcP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lvl="0" indent="0" algn="l">
                        <a:lnSpc>
                          <a:spcPct val="100000"/>
                        </a:lnSpc>
                        <a:spcBef>
                          <a:spcPts val="0"/>
                        </a:spcBef>
                        <a:spcAft>
                          <a:spcPts val="0"/>
                        </a:spcAft>
                        <a:buNone/>
                      </a:pPr>
                      <a:r>
                        <a:rPr lang="en-US" sz="1200" b="1" i="0" u="none" strike="noStrike" kern="1200" noProof="0">
                          <a:solidFill>
                            <a:srgbClr val="05B050"/>
                          </a:solidFill>
                          <a:latin typeface="+mn-lt"/>
                        </a:rPr>
                        <a:t>Automation of safety analysis on Cockpit Voice Recordings</a:t>
                      </a:r>
                    </a:p>
                  </a:txBody>
                  <a:tcPr>
                    <a:lnL w="6350" cap="flat" cmpd="sng" algn="ctr">
                      <a:solidFill>
                        <a:schemeClr val="bg1">
                          <a:lumMod val="75000"/>
                        </a:schemeClr>
                      </a:solidFill>
                      <a:prstDash val="solid"/>
                      <a:round/>
                      <a:headEnd type="none" w="med" len="med"/>
                      <a:tailEnd type="none" w="med" len="med"/>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615278373"/>
                  </a:ext>
                </a:extLst>
              </a:tr>
              <a:tr h="326080">
                <a:tc>
                  <a:txBody>
                    <a:bodyPr/>
                    <a:lstStyle/>
                    <a:p>
                      <a:pPr marL="0" lvl="0" indent="0" algn="l">
                        <a:lnSpc>
                          <a:spcPct val="100000"/>
                        </a:lnSpc>
                        <a:spcBef>
                          <a:spcPts val="0"/>
                        </a:spcBef>
                        <a:spcAft>
                          <a:spcPts val="0"/>
                        </a:spcAft>
                        <a:buFont typeface="+mj-lt"/>
                        <a:buNone/>
                      </a:pPr>
                      <a:endParaRPr lang="en-US" sz="1200" b="1" i="0" u="none" strike="noStrike" kern="1200" noProof="0">
                        <a:solidFill>
                          <a:srgbClr val="05B050"/>
                        </a:solidFill>
                        <a:latin typeface="+mn-lt"/>
                      </a:endParaRPr>
                    </a:p>
                  </a:txBody>
                  <a:tcP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lvl="0" indent="0" algn="l">
                        <a:lnSpc>
                          <a:spcPct val="100000"/>
                        </a:lnSpc>
                        <a:spcBef>
                          <a:spcPts val="0"/>
                        </a:spcBef>
                        <a:spcAft>
                          <a:spcPts val="0"/>
                        </a:spcAft>
                        <a:buNone/>
                      </a:pPr>
                      <a:endParaRPr lang="en-US" sz="1200" b="1" i="0" u="none" strike="noStrike" kern="1200" noProof="0">
                        <a:solidFill>
                          <a:srgbClr val="05B050"/>
                        </a:solidFill>
                        <a:latin typeface="+mn-lt"/>
                      </a:endParaRPr>
                    </a:p>
                  </a:txBody>
                  <a:tcPr>
                    <a:lnL w="6350" cap="flat" cmpd="sng" algn="ctr">
                      <a:solidFill>
                        <a:schemeClr val="bg1">
                          <a:lumMod val="75000"/>
                        </a:schemeClr>
                      </a:solidFill>
                      <a:prstDash val="solid"/>
                      <a:round/>
                      <a:headEnd type="none" w="med" len="med"/>
                      <a:tailEnd type="none" w="med" len="med"/>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45887600"/>
                  </a:ext>
                </a:extLst>
              </a:tr>
            </a:tbl>
          </a:graphicData>
        </a:graphic>
      </p:graphicFrame>
      <p:graphicFrame>
        <p:nvGraphicFramePr>
          <p:cNvPr id="15" name="Table 14">
            <a:extLst>
              <a:ext uri="{FF2B5EF4-FFF2-40B4-BE49-F238E27FC236}">
                <a16:creationId xmlns:a16="http://schemas.microsoft.com/office/drawing/2014/main" id="{1FD71316-2F59-E8A3-6320-800F054F49C8}"/>
              </a:ext>
            </a:extLst>
          </p:cNvPr>
          <p:cNvGraphicFramePr>
            <a:graphicFrameLocks noGrp="1"/>
          </p:cNvGraphicFramePr>
          <p:nvPr>
            <p:extLst>
              <p:ext uri="{D42A27DB-BD31-4B8C-83A1-F6EECF244321}">
                <p14:modId xmlns:p14="http://schemas.microsoft.com/office/powerpoint/2010/main" val="3025623704"/>
              </p:ext>
            </p:extLst>
          </p:nvPr>
        </p:nvGraphicFramePr>
        <p:xfrm>
          <a:off x="1366694" y="1360843"/>
          <a:ext cx="10697938" cy="1371600"/>
        </p:xfrm>
        <a:graphic>
          <a:graphicData uri="http://schemas.openxmlformats.org/drawingml/2006/table">
            <a:tbl>
              <a:tblPr firstRow="1" bandRow="1">
                <a:tableStyleId>{5C22544A-7EE6-4342-B048-85BDC9FD1C3A}</a:tableStyleId>
              </a:tblPr>
              <a:tblGrid>
                <a:gridCol w="3759269">
                  <a:extLst>
                    <a:ext uri="{9D8B030D-6E8A-4147-A177-3AD203B41FA5}">
                      <a16:colId xmlns:a16="http://schemas.microsoft.com/office/drawing/2014/main" val="2822350773"/>
                    </a:ext>
                  </a:extLst>
                </a:gridCol>
                <a:gridCol w="6938669">
                  <a:extLst>
                    <a:ext uri="{9D8B030D-6E8A-4147-A177-3AD203B41FA5}">
                      <a16:colId xmlns:a16="http://schemas.microsoft.com/office/drawing/2014/main" val="99588705"/>
                    </a:ext>
                  </a:extLst>
                </a:gridCol>
              </a:tblGrid>
              <a:tr h="217387">
                <a:tc>
                  <a:txBody>
                    <a:bodyPr/>
                    <a:lstStyle/>
                    <a:p>
                      <a:pPr marL="0" lvl="0" indent="0" algn="ctr" defTabSz="914400" rtl="0" eaLnBrk="1" latinLnBrk="0" hangingPunct="1">
                        <a:lnSpc>
                          <a:spcPct val="100000"/>
                        </a:lnSpc>
                        <a:buFont typeface="Arial" panose="020B0604020202020204" pitchFamily="34" charset="0"/>
                        <a:buNone/>
                      </a:pPr>
                      <a:r>
                        <a:rPr lang="en-IN" sz="1200" kern="1200">
                          <a:solidFill>
                            <a:schemeClr val="bg1"/>
                          </a:solidFill>
                          <a:latin typeface="+mn-lt"/>
                          <a:ea typeface="+mn-ea"/>
                          <a:cs typeface="+mn-cs"/>
                        </a:rPr>
                        <a:t>Project/Initiative</a:t>
                      </a:r>
                      <a:endParaRPr lang="en-US" sz="1200"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tc>
                  <a:txBody>
                    <a:bodyPr/>
                    <a:lstStyle/>
                    <a:p>
                      <a:pPr marL="0" indent="0" algn="ctr" defTabSz="914400" rtl="0" eaLnBrk="1" latinLnBrk="0" hangingPunct="1">
                        <a:buFont typeface="Arial" panose="020B0604020202020204" pitchFamily="34" charset="0"/>
                        <a:buNone/>
                      </a:pPr>
                      <a:r>
                        <a:rPr lang="en-IN" sz="1200" kern="1200">
                          <a:solidFill>
                            <a:schemeClr val="bg1"/>
                          </a:solidFill>
                          <a:latin typeface="+mn-lt"/>
                          <a:ea typeface="+mn-ea"/>
                          <a:cs typeface="+mn-cs"/>
                        </a:rPr>
                        <a:t>Value Justification/Realization</a:t>
                      </a:r>
                      <a:endParaRPr lang="en-US" sz="1200"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extLst>
                  <a:ext uri="{0D108BD9-81ED-4DB2-BD59-A6C34878D82A}">
                    <a16:rowId xmlns:a16="http://schemas.microsoft.com/office/drawing/2014/main" val="844450115"/>
                  </a:ext>
                </a:extLst>
              </a:tr>
              <a:tr h="326080">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200" b="1" i="0" u="none" strike="noStrike" kern="1200" noProof="0" err="1">
                          <a:solidFill>
                            <a:srgbClr val="05B050"/>
                          </a:solidFill>
                          <a:latin typeface="+mn-lt"/>
                        </a:rPr>
                        <a:t>FlightOps</a:t>
                      </a:r>
                      <a:r>
                        <a:rPr lang="en-US" sz="1200" b="1" i="0" u="none" strike="noStrike" kern="1200" noProof="0">
                          <a:solidFill>
                            <a:srgbClr val="05B050"/>
                          </a:solidFill>
                          <a:latin typeface="+mn-lt"/>
                        </a:rPr>
                        <a:t> Compliance OCR for Pilot &amp; CC</a:t>
                      </a: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200" b="1" i="0" u="none" strike="noStrike" kern="1200" noProof="0">
                          <a:solidFill>
                            <a:srgbClr val="05B050"/>
                          </a:solidFill>
                          <a:latin typeface="+mn-lt"/>
                        </a:rPr>
                        <a:t>Phase2 (Training and qualification docs)</a:t>
                      </a:r>
                    </a:p>
                  </a:txBody>
                  <a:tcP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1" i="0" u="none" strike="noStrike" kern="1200" noProof="0">
                          <a:solidFill>
                            <a:srgbClr val="05B050"/>
                          </a:solidFill>
                          <a:latin typeface="+mn-lt"/>
                        </a:rPr>
                        <a:t>OCR service through API provided to </a:t>
                      </a:r>
                      <a:r>
                        <a:rPr lang="en-US" sz="1200" b="1" i="0" u="none" strike="noStrike" kern="1200" noProof="0" err="1">
                          <a:solidFill>
                            <a:srgbClr val="05B050"/>
                          </a:solidFill>
                          <a:latin typeface="+mn-lt"/>
                        </a:rPr>
                        <a:t>MyAI</a:t>
                      </a:r>
                      <a:r>
                        <a:rPr lang="en-US" sz="1200" b="1" i="0" u="none" strike="noStrike" kern="1200" noProof="0">
                          <a:solidFill>
                            <a:srgbClr val="05B050"/>
                          </a:solidFill>
                          <a:latin typeface="+mn-lt"/>
                        </a:rPr>
                        <a:t> for data extraction from Pilot and Cabin Crew license, qualification and documents. Few enhancements on Medical and CA35 documents expected by Internal </a:t>
                      </a:r>
                      <a:r>
                        <a:rPr lang="en-US" sz="1200" b="1" i="0" u="none" strike="noStrike" kern="1200" noProof="0" err="1">
                          <a:solidFill>
                            <a:srgbClr val="05B050"/>
                          </a:solidFill>
                          <a:latin typeface="+mn-lt"/>
                        </a:rPr>
                        <a:t>Spoc</a:t>
                      </a:r>
                      <a:r>
                        <a:rPr lang="en-US" sz="1200" b="1" i="0" u="none" strike="noStrike" kern="1200" noProof="0">
                          <a:solidFill>
                            <a:srgbClr val="05B050"/>
                          </a:solidFill>
                          <a:latin typeface="+mn-lt"/>
                        </a:rPr>
                        <a:t> which is in progress.</a:t>
                      </a:r>
                      <a:endParaRPr lang="en-US" sz="1200" b="0" i="0" u="none" strike="noStrike" kern="1200" noProof="0">
                        <a:solidFill>
                          <a:schemeClr val="tx1"/>
                        </a:solidFill>
                        <a:latin typeface="+mn-lt"/>
                      </a:endParaRPr>
                    </a:p>
                  </a:txBody>
                  <a:tcPr>
                    <a:lnL w="6350" cap="flat" cmpd="sng" algn="ctr">
                      <a:solidFill>
                        <a:schemeClr val="bg1">
                          <a:lumMod val="75000"/>
                        </a:schemeClr>
                      </a:solidFill>
                      <a:prstDash val="solid"/>
                      <a:round/>
                      <a:headEnd type="none" w="med" len="med"/>
                      <a:tailEnd type="none" w="med" len="med"/>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14980347"/>
                  </a:ext>
                </a:extLst>
              </a:tr>
              <a:tr h="326080">
                <a:tc>
                  <a:txBody>
                    <a:bodyPr/>
                    <a:lstStyle/>
                    <a:p>
                      <a:pPr marL="0" lvl="0" indent="0" algn="l">
                        <a:lnSpc>
                          <a:spcPct val="100000"/>
                        </a:lnSpc>
                        <a:spcBef>
                          <a:spcPts val="0"/>
                        </a:spcBef>
                        <a:spcAft>
                          <a:spcPts val="0"/>
                        </a:spcAft>
                        <a:buNone/>
                      </a:pPr>
                      <a:r>
                        <a:rPr lang="en-US" sz="1200" b="1" i="0" u="none" strike="noStrike" kern="1200" noProof="0">
                          <a:solidFill>
                            <a:schemeClr val="accent2"/>
                          </a:solidFill>
                          <a:latin typeface="+mn-lt"/>
                        </a:rPr>
                        <a:t>OTP Skypulse phase 2</a:t>
                      </a:r>
                    </a:p>
                  </a:txBody>
                  <a:tcP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lvl="0" indent="0" algn="l">
                        <a:lnSpc>
                          <a:spcPct val="100000"/>
                        </a:lnSpc>
                        <a:spcBef>
                          <a:spcPts val="0"/>
                        </a:spcBef>
                        <a:spcAft>
                          <a:spcPts val="0"/>
                        </a:spcAft>
                        <a:buFont typeface="Arial"/>
                        <a:buNone/>
                      </a:pPr>
                      <a:r>
                        <a:rPr lang="en-US" sz="1200" b="1" i="0" u="none" strike="noStrike" kern="1200" noProof="0">
                          <a:solidFill>
                            <a:schemeClr val="accent2"/>
                          </a:solidFill>
                          <a:latin typeface="+mn-lt"/>
                        </a:rPr>
                        <a:t>Rebuild the current On-Time Performance (OTP) chatbot- </a:t>
                      </a:r>
                      <a:r>
                        <a:rPr lang="en-US" sz="1200" b="1" i="0" u="none" strike="noStrike" kern="1200" noProof="0" err="1">
                          <a:solidFill>
                            <a:schemeClr val="accent2"/>
                          </a:solidFill>
                          <a:latin typeface="+mn-lt"/>
                        </a:rPr>
                        <a:t>Skypulse</a:t>
                      </a:r>
                      <a:r>
                        <a:rPr lang="en-US" sz="1200" b="1" i="0" u="none" strike="noStrike" kern="1200" noProof="0">
                          <a:solidFill>
                            <a:schemeClr val="accent2"/>
                          </a:solidFill>
                          <a:latin typeface="+mn-lt"/>
                        </a:rPr>
                        <a:t>. Provide comparison of OTP and related metrics with Historical data of 1.5 years</a:t>
                      </a:r>
                    </a:p>
                  </a:txBody>
                  <a:tcPr>
                    <a:lnL w="6350" cap="flat" cmpd="sng" algn="ctr">
                      <a:solidFill>
                        <a:schemeClr val="bg1">
                          <a:lumMod val="75000"/>
                        </a:schemeClr>
                      </a:solidFill>
                      <a:prstDash val="solid"/>
                      <a:round/>
                      <a:headEnd type="none" w="med" len="med"/>
                      <a:tailEnd type="none" w="med" len="med"/>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417476375"/>
                  </a:ext>
                </a:extLst>
              </a:tr>
            </a:tbl>
          </a:graphicData>
        </a:graphic>
      </p:graphicFrame>
      <p:sp>
        <p:nvSpPr>
          <p:cNvPr id="16" name="Rectangle 15">
            <a:extLst>
              <a:ext uri="{FF2B5EF4-FFF2-40B4-BE49-F238E27FC236}">
                <a16:creationId xmlns:a16="http://schemas.microsoft.com/office/drawing/2014/main" id="{E7618F3A-0059-62D2-2C87-69EB7E4BB6AC}"/>
              </a:ext>
            </a:extLst>
          </p:cNvPr>
          <p:cNvSpPr/>
          <p:nvPr/>
        </p:nvSpPr>
        <p:spPr>
          <a:xfrm>
            <a:off x="195942" y="3632935"/>
            <a:ext cx="1170432" cy="42234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1100" b="1">
                <a:latin typeface="AirIndia"/>
              </a:rPr>
              <a:t>Sept 2026</a:t>
            </a:r>
            <a:endParaRPr lang="en-US"/>
          </a:p>
        </p:txBody>
      </p:sp>
      <p:sp>
        <p:nvSpPr>
          <p:cNvPr id="17" name="Rectangle 16">
            <a:extLst>
              <a:ext uri="{FF2B5EF4-FFF2-40B4-BE49-F238E27FC236}">
                <a16:creationId xmlns:a16="http://schemas.microsoft.com/office/drawing/2014/main" id="{E60920B3-3A2E-92D3-EF38-BA6DDDC279C8}"/>
              </a:ext>
            </a:extLst>
          </p:cNvPr>
          <p:cNvSpPr/>
          <p:nvPr/>
        </p:nvSpPr>
        <p:spPr>
          <a:xfrm>
            <a:off x="207148" y="1355583"/>
            <a:ext cx="1170432" cy="42234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1100" b="1">
                <a:latin typeface="AirIndia"/>
              </a:rPr>
              <a:t>Aug 2026</a:t>
            </a:r>
            <a:endParaRPr lang="en-US"/>
          </a:p>
        </p:txBody>
      </p:sp>
    </p:spTree>
    <p:extLst>
      <p:ext uri="{BB962C8B-B14F-4D97-AF65-F5344CB8AC3E}">
        <p14:creationId xmlns:p14="http://schemas.microsoft.com/office/powerpoint/2010/main" val="1632471158"/>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A71453-3BC6-D55F-FA12-59385EDD52B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D923D7DE-7B76-C0CE-60E1-78B73D2A263F}"/>
              </a:ext>
            </a:extLst>
          </p:cNvPr>
          <p:cNvSpPr>
            <a:spLocks noGrp="1"/>
          </p:cNvSpPr>
          <p:nvPr>
            <p:ph type="ctrTitle"/>
          </p:nvPr>
        </p:nvSpPr>
        <p:spPr>
          <a:xfrm>
            <a:off x="1166431" y="1189941"/>
            <a:ext cx="10262201" cy="2431604"/>
          </a:xfrm>
        </p:spPr>
        <p:txBody>
          <a:bodyPr>
            <a:normAutofit/>
          </a:bodyPr>
          <a:lstStyle/>
          <a:p>
            <a:r>
              <a:rPr lang="en-US" sz="2800">
                <a:latin typeface="AirIndia"/>
              </a:rPr>
              <a:t>Data Engineering-FY26-27</a:t>
            </a:r>
            <a:r>
              <a:rPr lang="en-US" sz="2800">
                <a:solidFill>
                  <a:srgbClr val="FFFFFF"/>
                </a:solidFill>
                <a:latin typeface="AirIndia"/>
              </a:rPr>
              <a:t> Q1 Release Plan</a:t>
            </a:r>
            <a:endParaRPr lang="en-US" sz="5400">
              <a:solidFill>
                <a:srgbClr val="FFFFFF"/>
              </a:solidFill>
              <a:latin typeface="AirIndia"/>
            </a:endParaRPr>
          </a:p>
          <a:p>
            <a:endParaRPr lang="en-US" sz="5400">
              <a:latin typeface="AirIndia"/>
            </a:endParaRPr>
          </a:p>
          <a:p>
            <a:endParaRPr lang="en-US"/>
          </a:p>
        </p:txBody>
      </p:sp>
      <p:grpSp>
        <p:nvGrpSpPr>
          <p:cNvPr id="11" name="Group 10">
            <a:extLst>
              <a:ext uri="{FF2B5EF4-FFF2-40B4-BE49-F238E27FC236}">
                <a16:creationId xmlns:a16="http://schemas.microsoft.com/office/drawing/2014/main" id="{4D61FF4D-C84E-60A3-3204-D933A1A31DCB}"/>
              </a:ext>
            </a:extLst>
          </p:cNvPr>
          <p:cNvGrpSpPr/>
          <p:nvPr/>
        </p:nvGrpSpPr>
        <p:grpSpPr>
          <a:xfrm>
            <a:off x="-685800" y="0"/>
            <a:ext cx="533400" cy="4014737"/>
            <a:chOff x="-685800" y="0"/>
            <a:chExt cx="533400" cy="4014737"/>
          </a:xfrm>
        </p:grpSpPr>
        <p:sp>
          <p:nvSpPr>
            <p:cNvPr id="2" name="Rectangle 1">
              <a:extLst>
                <a:ext uri="{FF2B5EF4-FFF2-40B4-BE49-F238E27FC236}">
                  <a16:creationId xmlns:a16="http://schemas.microsoft.com/office/drawing/2014/main" id="{0A23F3D5-832D-222C-86ED-ABB9FC31ED79}"/>
                </a:ext>
              </a:extLst>
            </p:cNvPr>
            <p:cNvSpPr/>
            <p:nvPr/>
          </p:nvSpPr>
          <p:spPr>
            <a:xfrm>
              <a:off x="-685800" y="0"/>
              <a:ext cx="533400" cy="533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891BD506-5136-DA53-BB2F-439FCB8AF2FB}"/>
                </a:ext>
              </a:extLst>
            </p:cNvPr>
            <p:cNvSpPr/>
            <p:nvPr/>
          </p:nvSpPr>
          <p:spPr>
            <a:xfrm>
              <a:off x="-685800" y="580223"/>
              <a:ext cx="533400" cy="533400"/>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E4CE672C-C6E5-B113-447B-90A273CE208E}"/>
                </a:ext>
              </a:extLst>
            </p:cNvPr>
            <p:cNvSpPr/>
            <p:nvPr/>
          </p:nvSpPr>
          <p:spPr>
            <a:xfrm>
              <a:off x="-685800" y="1160446"/>
              <a:ext cx="533400" cy="533400"/>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7CB10FF9-480C-244A-C461-C3C3CEDE267A}"/>
                </a:ext>
              </a:extLst>
            </p:cNvPr>
            <p:cNvSpPr/>
            <p:nvPr/>
          </p:nvSpPr>
          <p:spPr>
            <a:xfrm>
              <a:off x="-685800" y="2320892"/>
              <a:ext cx="533400" cy="533400"/>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4F338131-DE0B-67D0-1DB9-E42252F2045F}"/>
                </a:ext>
              </a:extLst>
            </p:cNvPr>
            <p:cNvSpPr/>
            <p:nvPr/>
          </p:nvSpPr>
          <p:spPr>
            <a:xfrm>
              <a:off x="-685800" y="2901115"/>
              <a:ext cx="533400" cy="533400"/>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ACF8261E-5AC8-C9A6-DE14-E6FF4821EE28}"/>
                </a:ext>
              </a:extLst>
            </p:cNvPr>
            <p:cNvSpPr/>
            <p:nvPr/>
          </p:nvSpPr>
          <p:spPr>
            <a:xfrm>
              <a:off x="-685800" y="3481337"/>
              <a:ext cx="533400" cy="533400"/>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4094B517-3D5B-E744-B414-6252E8ED8267}"/>
                </a:ext>
              </a:extLst>
            </p:cNvPr>
            <p:cNvSpPr/>
            <p:nvPr/>
          </p:nvSpPr>
          <p:spPr>
            <a:xfrm>
              <a:off x="-685800" y="1740669"/>
              <a:ext cx="533400" cy="533400"/>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28263397"/>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3F660E-7E87-7944-0F97-4396EBC6A4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9A0116-3A27-2641-C08E-0CE1650FB7BF}"/>
              </a:ext>
            </a:extLst>
          </p:cNvPr>
          <p:cNvSpPr>
            <a:spLocks noGrp="1"/>
          </p:cNvSpPr>
          <p:nvPr>
            <p:ph type="title"/>
          </p:nvPr>
        </p:nvSpPr>
        <p:spPr>
          <a:xfrm>
            <a:off x="5876373" y="2114927"/>
            <a:ext cx="6907630" cy="1961201"/>
          </a:xfrm>
        </p:spPr>
        <p:txBody>
          <a:bodyPr/>
          <a:lstStyle/>
          <a:p>
            <a:r>
              <a:rPr lang="en-US" sz="5400">
                <a:latin typeface="AirIndia"/>
              </a:rPr>
              <a:t>Finance-Q1</a:t>
            </a:r>
            <a:endParaRPr lang="en-US" sz="5400"/>
          </a:p>
        </p:txBody>
      </p:sp>
    </p:spTree>
    <p:extLst>
      <p:ext uri="{BB962C8B-B14F-4D97-AF65-F5344CB8AC3E}">
        <p14:creationId xmlns:p14="http://schemas.microsoft.com/office/powerpoint/2010/main" val="3111945769"/>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1E172A-E678-1F12-D36C-49FF1F11680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B265337-D1EC-67FF-1674-ED527341AADA}"/>
              </a:ext>
            </a:extLst>
          </p:cNvPr>
          <p:cNvSpPr>
            <a:spLocks noGrp="1"/>
          </p:cNvSpPr>
          <p:nvPr>
            <p:ph type="sldNum" sz="quarter" idx="12"/>
          </p:nvPr>
        </p:nvSpPr>
        <p:spPr/>
        <p:txBody>
          <a:bodyPr/>
          <a:lstStyle/>
          <a:p>
            <a:fld id="{3A41A254-7326-714E-AF55-4C213D6394DE}" type="slidenum">
              <a:rPr lang="en-US" smtClean="0"/>
              <a:pPr/>
              <a:t>108</a:t>
            </a:fld>
            <a:endParaRPr lang="en-US"/>
          </a:p>
        </p:txBody>
      </p:sp>
      <p:sp>
        <p:nvSpPr>
          <p:cNvPr id="6" name="Title 11">
            <a:extLst>
              <a:ext uri="{FF2B5EF4-FFF2-40B4-BE49-F238E27FC236}">
                <a16:creationId xmlns:a16="http://schemas.microsoft.com/office/drawing/2014/main" id="{629A914A-37E7-44FA-9B1D-52B70B221CE1}"/>
              </a:ext>
            </a:extLst>
          </p:cNvPr>
          <p:cNvSpPr txBox="1">
            <a:spLocks/>
          </p:cNvSpPr>
          <p:nvPr/>
        </p:nvSpPr>
        <p:spPr>
          <a:xfrm>
            <a:off x="195943" y="307594"/>
            <a:ext cx="5562600" cy="396638"/>
          </a:xfrm>
          <a:prstGeom prst="rect">
            <a:avLst/>
          </a:prstGeom>
        </p:spPr>
        <p:txBody>
          <a:bodyPr lIns="91440" tIns="45720" rIns="91440" bIns="45720" anchor="t">
            <a:noAutofit/>
          </a:bodyPr>
          <a:lstStyle>
            <a:lvl1pPr algn="l" defTabSz="914400" rtl="0" eaLnBrk="1" latinLnBrk="0" hangingPunct="1">
              <a:lnSpc>
                <a:spcPct val="90000"/>
              </a:lnSpc>
              <a:spcBef>
                <a:spcPct val="0"/>
              </a:spcBef>
              <a:buNone/>
              <a:defRPr sz="4400" b="1" i="0" kern="1200">
                <a:solidFill>
                  <a:schemeClr val="tx1"/>
                </a:solidFill>
                <a:latin typeface="AirIndia" pitchFamily="82" charset="77"/>
                <a:ea typeface="+mj-ea"/>
                <a:cs typeface="+mj-cs"/>
              </a:defRPr>
            </a:lvl1pPr>
          </a:lstStyle>
          <a:p>
            <a:r>
              <a:rPr lang="en-US" sz="2400">
                <a:solidFill>
                  <a:schemeClr val="accent1"/>
                </a:solidFill>
                <a:latin typeface="AirIndia"/>
              </a:rPr>
              <a:t>Finance - FY26 Q1 Release Plan</a:t>
            </a:r>
            <a:endParaRPr lang="en-US" sz="2400" b="0">
              <a:solidFill>
                <a:schemeClr val="accent1"/>
              </a:solidFill>
              <a:latin typeface="AirIndia"/>
            </a:endParaRPr>
          </a:p>
          <a:p>
            <a:endParaRPr lang="en-US" sz="1800">
              <a:solidFill>
                <a:schemeClr val="accent1"/>
              </a:solidFill>
              <a:latin typeface="AirIndia"/>
            </a:endParaRPr>
          </a:p>
        </p:txBody>
      </p:sp>
      <p:graphicFrame>
        <p:nvGraphicFramePr>
          <p:cNvPr id="12" name="Table 11">
            <a:extLst>
              <a:ext uri="{FF2B5EF4-FFF2-40B4-BE49-F238E27FC236}">
                <a16:creationId xmlns:a16="http://schemas.microsoft.com/office/drawing/2014/main" id="{377E408B-55E2-A4E4-B109-E52E46AE9433}"/>
              </a:ext>
            </a:extLst>
          </p:cNvPr>
          <p:cNvGraphicFramePr>
            <a:graphicFrameLocks noGrp="1"/>
          </p:cNvGraphicFramePr>
          <p:nvPr>
            <p:extLst>
              <p:ext uri="{D42A27DB-BD31-4B8C-83A1-F6EECF244321}">
                <p14:modId xmlns:p14="http://schemas.microsoft.com/office/powerpoint/2010/main" val="2454790581"/>
              </p:ext>
            </p:extLst>
          </p:nvPr>
        </p:nvGraphicFramePr>
        <p:xfrm>
          <a:off x="1342571" y="863600"/>
          <a:ext cx="10647133" cy="2199640"/>
        </p:xfrm>
        <a:graphic>
          <a:graphicData uri="http://schemas.openxmlformats.org/drawingml/2006/table">
            <a:tbl>
              <a:tblPr firstRow="1" bandRow="1">
                <a:tableStyleId>{5C22544A-7EE6-4342-B048-85BDC9FD1C3A}</a:tableStyleId>
              </a:tblPr>
              <a:tblGrid>
                <a:gridCol w="3741415">
                  <a:extLst>
                    <a:ext uri="{9D8B030D-6E8A-4147-A177-3AD203B41FA5}">
                      <a16:colId xmlns:a16="http://schemas.microsoft.com/office/drawing/2014/main" val="2822350773"/>
                    </a:ext>
                  </a:extLst>
                </a:gridCol>
                <a:gridCol w="6905718">
                  <a:extLst>
                    <a:ext uri="{9D8B030D-6E8A-4147-A177-3AD203B41FA5}">
                      <a16:colId xmlns:a16="http://schemas.microsoft.com/office/drawing/2014/main" val="99588705"/>
                    </a:ext>
                  </a:extLst>
                </a:gridCol>
              </a:tblGrid>
              <a:tr h="203852">
                <a:tc>
                  <a:txBody>
                    <a:bodyPr/>
                    <a:lstStyle/>
                    <a:p>
                      <a:pPr marL="0" lvl="0" indent="0" algn="ctr" rtl="0">
                        <a:lnSpc>
                          <a:spcPct val="100000"/>
                        </a:lnSpc>
                        <a:buFont typeface="Arial" panose="020B0604020202020204" pitchFamily="34" charset="0"/>
                        <a:buNone/>
                      </a:pPr>
                      <a:r>
                        <a:rPr lang="en-IN" sz="1200" kern="1200">
                          <a:solidFill>
                            <a:schemeClr val="bg1"/>
                          </a:solidFill>
                          <a:latin typeface="+mn-lt"/>
                          <a:ea typeface="+mn-ea"/>
                          <a:cs typeface="+mn-cs"/>
                        </a:rPr>
                        <a:t>Project/Initiative</a:t>
                      </a:r>
                      <a:endParaRPr lang="en-US" sz="1200"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tc>
                  <a:txBody>
                    <a:bodyPr/>
                    <a:lstStyle/>
                    <a:p>
                      <a:pPr marL="0" lvl="0" indent="0" algn="ctr" rtl="0">
                        <a:buFont typeface="Arial" panose="020B0604020202020204" pitchFamily="34" charset="0"/>
                        <a:buNone/>
                      </a:pPr>
                      <a:r>
                        <a:rPr lang="en-IN" sz="1200" kern="1200">
                          <a:solidFill>
                            <a:schemeClr val="bg1"/>
                          </a:solidFill>
                          <a:latin typeface="+mn-lt"/>
                          <a:ea typeface="+mn-ea"/>
                          <a:cs typeface="+mn-cs"/>
                        </a:rPr>
                        <a:t>Value Justification/Realization</a:t>
                      </a:r>
                      <a:endParaRPr lang="en-US" sz="1200"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extLst>
                  <a:ext uri="{0D108BD9-81ED-4DB2-BD59-A6C34878D82A}">
                    <a16:rowId xmlns:a16="http://schemas.microsoft.com/office/drawing/2014/main" val="844450115"/>
                  </a:ext>
                </a:extLst>
              </a:tr>
              <a:tr h="1148080">
                <a:tc>
                  <a:txBody>
                    <a:bodyPr/>
                    <a:lstStyle/>
                    <a:p>
                      <a:pPr marL="228600" lvl="0" indent="-228600" algn="l">
                        <a:lnSpc>
                          <a:spcPct val="100000"/>
                        </a:lnSpc>
                        <a:spcBef>
                          <a:spcPts val="0"/>
                        </a:spcBef>
                        <a:spcAft>
                          <a:spcPts val="0"/>
                        </a:spcAft>
                        <a:buAutoNum type="arabicPeriod"/>
                      </a:pPr>
                      <a:r>
                        <a:rPr lang="en-US" sz="1100" b="0" i="0" u="none" strike="noStrike" kern="1200" noProof="0">
                          <a:solidFill>
                            <a:srgbClr val="0070C0"/>
                          </a:solidFill>
                          <a:latin typeface="Segoe UI"/>
                          <a:cs typeface="Segoe UI"/>
                        </a:rPr>
                        <a:t>Pax Reconciliation Report changes</a:t>
                      </a:r>
                      <a:endParaRPr lang="en-US" sz="1100" b="1" i="0" u="none" strike="noStrike" kern="1200" noProof="0">
                        <a:solidFill>
                          <a:srgbClr val="0070C0"/>
                        </a:solidFill>
                        <a:latin typeface="Segoe UI"/>
                        <a:cs typeface="Segoe UI"/>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lvl="0" algn="l">
                        <a:lnSpc>
                          <a:spcPct val="100000"/>
                        </a:lnSpc>
                        <a:spcBef>
                          <a:spcPts val="0"/>
                        </a:spcBef>
                        <a:spcAft>
                          <a:spcPts val="0"/>
                        </a:spcAft>
                        <a:buNone/>
                      </a:pPr>
                      <a:r>
                        <a:rPr lang="en-US" sz="1100" b="0" i="0" u="none" strike="noStrike" kern="1200" noProof="0">
                          <a:solidFill>
                            <a:schemeClr val="tx1"/>
                          </a:solidFill>
                          <a:latin typeface="Segoe UI"/>
                          <a:cs typeface="Segoe UI"/>
                        </a:rPr>
                        <a:t>The report was previously dependent on a file received from an external vendor through an SFTP location. By transitioning the data source to the same dataset available internally on Databricks, we eliminated the vendor dependency, streamlined the data integration process, and improved reliability. This optimization has resulted in a recurring cost saving of approximately </a:t>
                      </a:r>
                      <a:r>
                        <a:rPr lang="en-US" sz="1100" b="1" i="0" u="none" strike="noStrike" kern="1200" noProof="0">
                          <a:solidFill>
                            <a:schemeClr val="tx1"/>
                          </a:solidFill>
                          <a:latin typeface="Segoe UI"/>
                          <a:cs typeface="Segoe UI"/>
                        </a:rPr>
                        <a:t>₹20 lakh per month.</a:t>
                      </a:r>
                      <a:endParaRPr lang="en-US" sz="1100" b="1">
                        <a:latin typeface="Segoe UI"/>
                        <a:cs typeface="Segoe UI"/>
                      </a:endParaRPr>
                    </a:p>
                    <a:p>
                      <a:pPr marL="0" lvl="0" indent="0" algn="l">
                        <a:lnSpc>
                          <a:spcPct val="100000"/>
                        </a:lnSpc>
                        <a:spcBef>
                          <a:spcPts val="0"/>
                        </a:spcBef>
                        <a:spcAft>
                          <a:spcPts val="0"/>
                        </a:spcAft>
                        <a:buNone/>
                      </a:pPr>
                      <a:endParaRPr lang="en-US" sz="1200" b="0" i="0" u="none" strike="noStrike" kern="1200" noProof="0">
                        <a:solidFill>
                          <a:schemeClr val="tx1"/>
                        </a:solidFill>
                        <a:latin typeface="+mn-lt"/>
                      </a:endParaRPr>
                    </a:p>
                    <a:p>
                      <a:pPr marL="685800" lvl="1" indent="-228600" algn="l">
                        <a:lnSpc>
                          <a:spcPct val="100000"/>
                        </a:lnSpc>
                        <a:spcBef>
                          <a:spcPts val="0"/>
                        </a:spcBef>
                        <a:spcAft>
                          <a:spcPts val="0"/>
                        </a:spcAft>
                        <a:buFont typeface="Arial" panose="020B0604020202020204" pitchFamily="34" charset="0"/>
                        <a:buChar char="•"/>
                      </a:pPr>
                      <a:endParaRPr lang="en-US" sz="1200" b="1" i="0" u="none" strike="noStrike" kern="1200" noProof="0">
                        <a:solidFill>
                          <a:schemeClr val="tx1"/>
                        </a:solidFill>
                        <a:latin typeface="+mn-lt"/>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443371065"/>
                  </a:ext>
                </a:extLst>
              </a:tr>
              <a:tr h="588907">
                <a:tc>
                  <a:txBody>
                    <a:bodyPr/>
                    <a:lstStyle/>
                    <a:p>
                      <a:pPr marL="0" lvl="0" indent="0" algn="l">
                        <a:lnSpc>
                          <a:spcPct val="100000"/>
                        </a:lnSpc>
                        <a:spcBef>
                          <a:spcPts val="0"/>
                        </a:spcBef>
                        <a:spcAft>
                          <a:spcPts val="0"/>
                        </a:spcAft>
                        <a:buNone/>
                      </a:pPr>
                      <a:r>
                        <a:rPr lang="en-US" sz="1100" b="0" i="0" u="none" strike="noStrike" kern="1200" noProof="0">
                          <a:solidFill>
                            <a:srgbClr val="0070C0"/>
                          </a:solidFill>
                          <a:latin typeface="Segoe UI"/>
                          <a:cs typeface="Segoe UI"/>
                        </a:rPr>
                        <a:t>2.    Pipeline for Early Warning System(EWS) Activity</a:t>
                      </a:r>
                      <a:endParaRPr lang="en-US" sz="1100" b="1" i="0" u="none" strike="noStrike" kern="1200" noProof="0">
                        <a:solidFill>
                          <a:srgbClr val="0070C0"/>
                        </a:solidFill>
                        <a:latin typeface="Segoe UI"/>
                        <a:cs typeface="Segoe UI"/>
                      </a:endParaRPr>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lvl="0" algn="l">
                        <a:lnSpc>
                          <a:spcPct val="100000"/>
                        </a:lnSpc>
                        <a:spcBef>
                          <a:spcPts val="0"/>
                        </a:spcBef>
                        <a:spcAft>
                          <a:spcPts val="0"/>
                        </a:spcAft>
                        <a:buNone/>
                      </a:pPr>
                      <a:r>
                        <a:rPr lang="en-US" sz="1100" b="0" i="0" u="none" strike="noStrike" kern="1200" noProof="0">
                          <a:solidFill>
                            <a:schemeClr val="tx1"/>
                          </a:solidFill>
                          <a:latin typeface="Segoe UI"/>
                          <a:cs typeface="Segoe UI"/>
                        </a:rPr>
                        <a:t>Developed the data pipeline and dataset for EWS activities, enabling automated fraud detection and monitoring by the Enterprise Automation team. This initiative helps identify potential ticket sale fraud early, reducing revenue leakage and protecting the organization from financial losses.</a:t>
                      </a:r>
                      <a:endParaRPr lang="en-US"/>
                    </a:p>
                    <a:p>
                      <a:pPr marL="0" lvl="0" indent="0" algn="l">
                        <a:lnSpc>
                          <a:spcPct val="100000"/>
                        </a:lnSpc>
                        <a:spcBef>
                          <a:spcPts val="0"/>
                        </a:spcBef>
                        <a:spcAft>
                          <a:spcPts val="0"/>
                        </a:spcAft>
                        <a:buNone/>
                      </a:pPr>
                      <a:endParaRPr lang="en-US" sz="1200" b="0" i="0" u="none" strike="noStrike" kern="1200" noProof="0">
                        <a:solidFill>
                          <a:schemeClr val="tx1"/>
                        </a:solidFill>
                        <a:latin typeface="+mn-lt"/>
                      </a:endParaRPr>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417476375"/>
                  </a:ext>
                </a:extLst>
              </a:tr>
            </a:tbl>
          </a:graphicData>
        </a:graphic>
      </p:graphicFrame>
      <p:sp>
        <p:nvSpPr>
          <p:cNvPr id="13" name="Rectangle 12">
            <a:extLst>
              <a:ext uri="{FF2B5EF4-FFF2-40B4-BE49-F238E27FC236}">
                <a16:creationId xmlns:a16="http://schemas.microsoft.com/office/drawing/2014/main" id="{BB108FF0-5C76-7AE9-F3A4-30DA6FB24CE3}"/>
              </a:ext>
            </a:extLst>
          </p:cNvPr>
          <p:cNvSpPr/>
          <p:nvPr/>
        </p:nvSpPr>
        <p:spPr>
          <a:xfrm>
            <a:off x="136167" y="861655"/>
            <a:ext cx="1170432" cy="42234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1100" b="1">
                <a:latin typeface="AirIndia"/>
              </a:rPr>
              <a:t>April 2026</a:t>
            </a:r>
            <a:endParaRPr lang="en-US"/>
          </a:p>
        </p:txBody>
      </p:sp>
      <p:sp>
        <p:nvSpPr>
          <p:cNvPr id="3" name="Rectangle 2">
            <a:extLst>
              <a:ext uri="{FF2B5EF4-FFF2-40B4-BE49-F238E27FC236}">
                <a16:creationId xmlns:a16="http://schemas.microsoft.com/office/drawing/2014/main" id="{B0936980-AC8F-0792-AAC1-8A4D9FB2CD31}"/>
              </a:ext>
            </a:extLst>
          </p:cNvPr>
          <p:cNvSpPr/>
          <p:nvPr/>
        </p:nvSpPr>
        <p:spPr>
          <a:xfrm>
            <a:off x="3465009" y="6262087"/>
            <a:ext cx="90000" cy="90000"/>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
        <p:nvSpPr>
          <p:cNvPr id="4" name="Rectangle 3">
            <a:extLst>
              <a:ext uri="{FF2B5EF4-FFF2-40B4-BE49-F238E27FC236}">
                <a16:creationId xmlns:a16="http://schemas.microsoft.com/office/drawing/2014/main" id="{D76A8F0E-D0A6-48D5-5E68-76B672C8E7CC}"/>
              </a:ext>
            </a:extLst>
          </p:cNvPr>
          <p:cNvSpPr/>
          <p:nvPr/>
        </p:nvSpPr>
        <p:spPr>
          <a:xfrm>
            <a:off x="3465009" y="6489649"/>
            <a:ext cx="90000" cy="90000"/>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
        <p:nvSpPr>
          <p:cNvPr id="5" name="Rectangle 4">
            <a:extLst>
              <a:ext uri="{FF2B5EF4-FFF2-40B4-BE49-F238E27FC236}">
                <a16:creationId xmlns:a16="http://schemas.microsoft.com/office/drawing/2014/main" id="{919BEB9B-4268-2452-0EDB-F71784A11BC2}"/>
              </a:ext>
            </a:extLst>
          </p:cNvPr>
          <p:cNvSpPr/>
          <p:nvPr/>
        </p:nvSpPr>
        <p:spPr>
          <a:xfrm>
            <a:off x="5567900" y="6262087"/>
            <a:ext cx="90000" cy="90000"/>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
        <p:nvSpPr>
          <p:cNvPr id="7" name="Rectangle 6">
            <a:extLst>
              <a:ext uri="{FF2B5EF4-FFF2-40B4-BE49-F238E27FC236}">
                <a16:creationId xmlns:a16="http://schemas.microsoft.com/office/drawing/2014/main" id="{D9E1B976-7683-6709-9F08-BCB58B1CC266}"/>
              </a:ext>
            </a:extLst>
          </p:cNvPr>
          <p:cNvSpPr/>
          <p:nvPr/>
        </p:nvSpPr>
        <p:spPr>
          <a:xfrm>
            <a:off x="5567900" y="6489649"/>
            <a:ext cx="90000" cy="90000"/>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
        <p:nvSpPr>
          <p:cNvPr id="8" name="TextBox 15">
            <a:extLst>
              <a:ext uri="{FF2B5EF4-FFF2-40B4-BE49-F238E27FC236}">
                <a16:creationId xmlns:a16="http://schemas.microsoft.com/office/drawing/2014/main" id="{676F241A-7E2A-5136-061E-94F6115017E7}"/>
              </a:ext>
            </a:extLst>
          </p:cNvPr>
          <p:cNvSpPr txBox="1"/>
          <p:nvPr/>
        </p:nvSpPr>
        <p:spPr>
          <a:xfrm>
            <a:off x="3522317" y="6205238"/>
            <a:ext cx="857245"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000">
                <a:solidFill>
                  <a:srgbClr val="0070C0"/>
                </a:solidFill>
              </a:rPr>
              <a:t>Delivered</a:t>
            </a:r>
            <a:endParaRPr lang="en-IN" sz="1000"/>
          </a:p>
        </p:txBody>
      </p:sp>
      <p:sp>
        <p:nvSpPr>
          <p:cNvPr id="9" name="TextBox 18">
            <a:extLst>
              <a:ext uri="{FF2B5EF4-FFF2-40B4-BE49-F238E27FC236}">
                <a16:creationId xmlns:a16="http://schemas.microsoft.com/office/drawing/2014/main" id="{2DDF80D9-D4BE-A280-AC99-EDCA294037C6}"/>
              </a:ext>
            </a:extLst>
          </p:cNvPr>
          <p:cNvSpPr txBox="1"/>
          <p:nvPr/>
        </p:nvSpPr>
        <p:spPr>
          <a:xfrm>
            <a:off x="3520719" y="6430197"/>
            <a:ext cx="1032881"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000">
                <a:solidFill>
                  <a:srgbClr val="00B050"/>
                </a:solidFill>
              </a:rPr>
              <a:t>Ontrack</a:t>
            </a:r>
            <a:endParaRPr lang="en-IN" sz="1000"/>
          </a:p>
        </p:txBody>
      </p:sp>
      <p:sp>
        <p:nvSpPr>
          <p:cNvPr id="10" name="TextBox 20">
            <a:extLst>
              <a:ext uri="{FF2B5EF4-FFF2-40B4-BE49-F238E27FC236}">
                <a16:creationId xmlns:a16="http://schemas.microsoft.com/office/drawing/2014/main" id="{402B2876-9701-CC57-7581-8838AED73E1A}"/>
              </a:ext>
            </a:extLst>
          </p:cNvPr>
          <p:cNvSpPr txBox="1"/>
          <p:nvPr/>
        </p:nvSpPr>
        <p:spPr>
          <a:xfrm>
            <a:off x="5653197" y="6220637"/>
            <a:ext cx="2257628"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000">
                <a:solidFill>
                  <a:schemeClr val="accent6">
                    <a:lumMod val="75000"/>
                  </a:schemeClr>
                </a:solidFill>
              </a:rPr>
              <a:t>Under delay and can be recovered</a:t>
            </a:r>
            <a:endParaRPr lang="en-IN" sz="1000"/>
          </a:p>
        </p:txBody>
      </p:sp>
      <p:sp>
        <p:nvSpPr>
          <p:cNvPr id="11" name="TextBox 22">
            <a:extLst>
              <a:ext uri="{FF2B5EF4-FFF2-40B4-BE49-F238E27FC236}">
                <a16:creationId xmlns:a16="http://schemas.microsoft.com/office/drawing/2014/main" id="{5067D67C-525C-BF5C-8899-0EF7E1830208}"/>
              </a:ext>
            </a:extLst>
          </p:cNvPr>
          <p:cNvSpPr txBox="1"/>
          <p:nvPr/>
        </p:nvSpPr>
        <p:spPr>
          <a:xfrm>
            <a:off x="5657900" y="6437221"/>
            <a:ext cx="3069090"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000">
                <a:solidFill>
                  <a:schemeClr val="accent2"/>
                </a:solidFill>
              </a:rPr>
              <a:t>Delayed and pushed to next release</a:t>
            </a:r>
            <a:endParaRPr lang="en-IN" sz="1000"/>
          </a:p>
        </p:txBody>
      </p:sp>
      <p:graphicFrame>
        <p:nvGraphicFramePr>
          <p:cNvPr id="14" name="Table 13">
            <a:extLst>
              <a:ext uri="{FF2B5EF4-FFF2-40B4-BE49-F238E27FC236}">
                <a16:creationId xmlns:a16="http://schemas.microsoft.com/office/drawing/2014/main" id="{EF052DF2-9C53-AA5D-983C-EEEDE9871F91}"/>
              </a:ext>
            </a:extLst>
          </p:cNvPr>
          <p:cNvGraphicFramePr>
            <a:graphicFrameLocks noGrp="1"/>
          </p:cNvGraphicFramePr>
          <p:nvPr>
            <p:extLst>
              <p:ext uri="{D42A27DB-BD31-4B8C-83A1-F6EECF244321}">
                <p14:modId xmlns:p14="http://schemas.microsoft.com/office/powerpoint/2010/main" val="1672129871"/>
              </p:ext>
            </p:extLst>
          </p:nvPr>
        </p:nvGraphicFramePr>
        <p:xfrm>
          <a:off x="1317484" y="3080343"/>
          <a:ext cx="10697936" cy="2971800"/>
        </p:xfrm>
        <a:graphic>
          <a:graphicData uri="http://schemas.openxmlformats.org/drawingml/2006/table">
            <a:tbl>
              <a:tblPr firstRow="1" bandRow="1">
                <a:tableStyleId>{5C22544A-7EE6-4342-B048-85BDC9FD1C3A}</a:tableStyleId>
              </a:tblPr>
              <a:tblGrid>
                <a:gridCol w="3809999">
                  <a:extLst>
                    <a:ext uri="{9D8B030D-6E8A-4147-A177-3AD203B41FA5}">
                      <a16:colId xmlns:a16="http://schemas.microsoft.com/office/drawing/2014/main" val="2822350773"/>
                    </a:ext>
                  </a:extLst>
                </a:gridCol>
                <a:gridCol w="6887937">
                  <a:extLst>
                    <a:ext uri="{9D8B030D-6E8A-4147-A177-3AD203B41FA5}">
                      <a16:colId xmlns:a16="http://schemas.microsoft.com/office/drawing/2014/main" val="99588705"/>
                    </a:ext>
                  </a:extLst>
                </a:gridCol>
              </a:tblGrid>
              <a:tr h="217387">
                <a:tc>
                  <a:txBody>
                    <a:bodyPr/>
                    <a:lstStyle/>
                    <a:p>
                      <a:pPr marL="0" lvl="0" indent="0" algn="ctr" rtl="0">
                        <a:lnSpc>
                          <a:spcPct val="100000"/>
                        </a:lnSpc>
                        <a:buFont typeface="Arial" panose="020B0604020202020204" pitchFamily="34" charset="0"/>
                        <a:buNone/>
                      </a:pPr>
                      <a:r>
                        <a:rPr lang="en-IN" sz="1200" kern="1200">
                          <a:solidFill>
                            <a:schemeClr val="bg1"/>
                          </a:solidFill>
                          <a:latin typeface="+mn-lt"/>
                          <a:ea typeface="+mn-ea"/>
                          <a:cs typeface="+mn-cs"/>
                        </a:rPr>
                        <a:t>Project/Initiative</a:t>
                      </a:r>
                      <a:endParaRPr lang="en-US" sz="1200"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tc>
                  <a:txBody>
                    <a:bodyPr/>
                    <a:lstStyle/>
                    <a:p>
                      <a:pPr marL="0" lvl="0" indent="0" algn="ctr" rtl="0">
                        <a:buFont typeface="Arial" panose="020B0604020202020204" pitchFamily="34" charset="0"/>
                        <a:buNone/>
                      </a:pPr>
                      <a:r>
                        <a:rPr lang="en-IN" sz="1200" kern="1200">
                          <a:solidFill>
                            <a:schemeClr val="bg1"/>
                          </a:solidFill>
                          <a:latin typeface="+mn-lt"/>
                          <a:ea typeface="+mn-ea"/>
                          <a:cs typeface="+mn-cs"/>
                        </a:rPr>
                        <a:t>Value Justification/Realization</a:t>
                      </a:r>
                      <a:endParaRPr lang="en-US" sz="1200"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extLst>
                  <a:ext uri="{0D108BD9-81ED-4DB2-BD59-A6C34878D82A}">
                    <a16:rowId xmlns:a16="http://schemas.microsoft.com/office/drawing/2014/main" val="844450115"/>
                  </a:ext>
                </a:extLst>
              </a:tr>
              <a:tr h="499989">
                <a:tc>
                  <a:txBody>
                    <a:bodyPr/>
                    <a:lstStyle/>
                    <a:p>
                      <a:pPr marL="228600" lvl="0" indent="-228600" algn="l">
                        <a:lnSpc>
                          <a:spcPct val="100000"/>
                        </a:lnSpc>
                        <a:spcBef>
                          <a:spcPts val="0"/>
                        </a:spcBef>
                        <a:spcAft>
                          <a:spcPts val="0"/>
                        </a:spcAft>
                        <a:buAutoNum type="arabicPeriod"/>
                      </a:pPr>
                      <a:r>
                        <a:rPr lang="en-US" sz="1100" b="0" i="0" u="none" strike="noStrike" kern="1200" noProof="0">
                          <a:solidFill>
                            <a:srgbClr val="0070C0"/>
                          </a:solidFill>
                          <a:latin typeface="Segoe UI"/>
                          <a:cs typeface="Segoe UI"/>
                        </a:rPr>
                        <a:t>BSP Cashflow Dashboard &amp; Automated Report</a:t>
                      </a:r>
                      <a:endParaRPr lang="en-US" sz="1100" b="1" i="0" u="none" strike="noStrike" kern="1200" noProof="0">
                        <a:solidFill>
                          <a:srgbClr val="0070C0"/>
                        </a:solidFill>
                        <a:latin typeface="Segoe UI"/>
                        <a:cs typeface="Segoe UI"/>
                      </a:endParaRPr>
                    </a:p>
                    <a:p>
                      <a:pPr marL="0" lvl="0" indent="0" algn="l">
                        <a:lnSpc>
                          <a:spcPct val="100000"/>
                        </a:lnSpc>
                        <a:spcBef>
                          <a:spcPts val="0"/>
                        </a:spcBef>
                        <a:spcAft>
                          <a:spcPts val="0"/>
                        </a:spcAft>
                        <a:buNone/>
                      </a:pPr>
                      <a:endParaRPr lang="en-US" sz="1100" b="1" i="0" u="none" strike="noStrike" kern="1200" noProof="0">
                        <a:solidFill>
                          <a:srgbClr val="0070C0"/>
                        </a:solidFill>
                        <a:latin typeface="Segoe UI"/>
                        <a:cs typeface="Segoe UI"/>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lvl="0" indent="0" algn="l">
                        <a:lnSpc>
                          <a:spcPct val="100000"/>
                        </a:lnSpc>
                        <a:spcBef>
                          <a:spcPts val="0"/>
                        </a:spcBef>
                        <a:spcAft>
                          <a:spcPts val="0"/>
                        </a:spcAft>
                        <a:buNone/>
                      </a:pPr>
                      <a:r>
                        <a:rPr lang="en-US" sz="1100" b="0" i="0" u="none" strike="noStrike" kern="1200" noProof="0">
                          <a:solidFill>
                            <a:schemeClr val="tx1"/>
                          </a:solidFill>
                          <a:latin typeface="Segoe UI"/>
                          <a:cs typeface="Segoe UI"/>
                        </a:rPr>
                        <a:t>Automated the weekly Cash BSP reporting process, eliminating the manual consolidation of data from ~75 files. This improved reporting timeliness and accuracy, enabling the Treasury team to make faster and more effective fund allocation and cash management decisions.</a:t>
                      </a:r>
                      <a:endParaRPr lang="en-US" sz="1200" b="0" i="0" u="none" strike="noStrike" kern="1200" noProof="0">
                        <a:solidFill>
                          <a:schemeClr val="tx1"/>
                        </a:solidFill>
                        <a:latin typeface="+mn-lt"/>
                      </a:endParaRPr>
                    </a:p>
                    <a:p>
                      <a:pPr marL="685800" lvl="1" indent="-228600" algn="l">
                        <a:lnSpc>
                          <a:spcPct val="100000"/>
                        </a:lnSpc>
                        <a:spcBef>
                          <a:spcPts val="0"/>
                        </a:spcBef>
                        <a:spcAft>
                          <a:spcPts val="0"/>
                        </a:spcAft>
                        <a:buFont typeface="Arial" panose="020B0604020202020204" pitchFamily="34" charset="0"/>
                        <a:buChar char="•"/>
                      </a:pPr>
                      <a:endParaRPr lang="en-US" sz="1200" b="0" i="0" u="none" strike="noStrike" kern="1200" noProof="0">
                        <a:solidFill>
                          <a:schemeClr val="tx1"/>
                        </a:solidFill>
                        <a:latin typeface="+mn-lt"/>
                      </a:endParaRPr>
                    </a:p>
                    <a:p>
                      <a:pPr marL="685800" lvl="1" indent="-228600" algn="l">
                        <a:lnSpc>
                          <a:spcPct val="100000"/>
                        </a:lnSpc>
                        <a:spcBef>
                          <a:spcPts val="0"/>
                        </a:spcBef>
                        <a:spcAft>
                          <a:spcPts val="0"/>
                        </a:spcAft>
                        <a:buFont typeface="Arial" panose="020B0604020202020204" pitchFamily="34" charset="0"/>
                        <a:buChar char="•"/>
                      </a:pPr>
                      <a:endParaRPr lang="en-US" sz="1200" b="1" i="0" u="none" strike="noStrike" kern="1200" noProof="0">
                        <a:solidFill>
                          <a:schemeClr val="tx1"/>
                        </a:solidFill>
                        <a:latin typeface="+mn-lt"/>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443371065"/>
                  </a:ext>
                </a:extLst>
              </a:tr>
              <a:tr h="792480">
                <a:tc>
                  <a:txBody>
                    <a:bodyPr/>
                    <a:lstStyle/>
                    <a:p>
                      <a:pPr marL="0" lvl="0" indent="0" algn="l">
                        <a:lnSpc>
                          <a:spcPct val="100000"/>
                        </a:lnSpc>
                        <a:spcBef>
                          <a:spcPts val="0"/>
                        </a:spcBef>
                        <a:spcAft>
                          <a:spcPts val="0"/>
                        </a:spcAft>
                        <a:buNone/>
                      </a:pPr>
                      <a:r>
                        <a:rPr lang="en-US" sz="1100" b="1" i="0" u="none" strike="noStrike" kern="1200" noProof="0">
                          <a:solidFill>
                            <a:srgbClr val="0070C0"/>
                          </a:solidFill>
                          <a:latin typeface="Segoe UI"/>
                          <a:cs typeface="Segoe UI"/>
                        </a:rPr>
                        <a:t>2. </a:t>
                      </a:r>
                      <a:r>
                        <a:rPr lang="en-US" sz="1100" b="0" i="0" u="none" strike="noStrike" kern="1200" noProof="0">
                          <a:solidFill>
                            <a:srgbClr val="0070C0"/>
                          </a:solidFill>
                          <a:latin typeface="Segoe UI"/>
                          <a:cs typeface="Segoe UI"/>
                        </a:rPr>
                        <a:t>BIAL  AND NAG UDF Tax Report (Nagpur and Bangalore)</a:t>
                      </a:r>
                      <a:endParaRPr lang="en-US" sz="1100">
                        <a:latin typeface="Segoe UI"/>
                        <a:cs typeface="Segoe UI"/>
                      </a:endParaRPr>
                    </a:p>
                    <a:p>
                      <a:pPr marL="0" lvl="0" indent="0" algn="l">
                        <a:lnSpc>
                          <a:spcPct val="100000"/>
                        </a:lnSpc>
                        <a:spcBef>
                          <a:spcPts val="0"/>
                        </a:spcBef>
                        <a:spcAft>
                          <a:spcPts val="0"/>
                        </a:spcAft>
                        <a:buNone/>
                      </a:pPr>
                      <a:endParaRPr lang="en-US" sz="1100" b="1" i="0" u="none" strike="noStrike" kern="1200" noProof="0">
                        <a:solidFill>
                          <a:srgbClr val="0070C0"/>
                        </a:solidFill>
                        <a:latin typeface="Segoe UI"/>
                        <a:cs typeface="Segoe UI"/>
                      </a:endParaRPr>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lvl="0" algn="l">
                        <a:lnSpc>
                          <a:spcPct val="100000"/>
                        </a:lnSpc>
                        <a:spcBef>
                          <a:spcPts val="0"/>
                        </a:spcBef>
                        <a:spcAft>
                          <a:spcPts val="0"/>
                        </a:spcAft>
                        <a:buNone/>
                      </a:pPr>
                      <a:r>
                        <a:rPr lang="en-US" sz="1100" b="0" i="0" u="none" strike="noStrike" kern="1200" noProof="0">
                          <a:solidFill>
                            <a:schemeClr val="tx1"/>
                          </a:solidFill>
                          <a:latin typeface="Segoe UI"/>
                          <a:ea typeface="+mn-ea"/>
                          <a:cs typeface="Segoe UI"/>
                        </a:rPr>
                        <a:t>Automated the Bangalore and Nagpur Airport Tax reports, enabling accurate and timely tax filings while significantly reducing manual effort. The solution helps prevent overpayments, minimizes compliance risks and penalties, and improves overall financial governance. </a:t>
                      </a:r>
                      <a:endParaRPr lang="en-US" sz="1100" b="0" i="0" u="none" strike="noStrike" kern="1200" noProof="0">
                        <a:solidFill>
                          <a:srgbClr val="000000"/>
                        </a:solidFill>
                        <a:latin typeface="Segoe UI"/>
                        <a:ea typeface="+mn-ea"/>
                        <a:cs typeface="Segoe UI"/>
                      </a:endParaRPr>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417476375"/>
                  </a:ext>
                </a:extLst>
              </a:tr>
              <a:tr h="326080">
                <a:tc>
                  <a:txBody>
                    <a:bodyPr/>
                    <a:lstStyle/>
                    <a:p>
                      <a:pPr marL="0" lvl="0" indent="0" algn="l">
                        <a:lnSpc>
                          <a:spcPct val="100000"/>
                        </a:lnSpc>
                        <a:spcBef>
                          <a:spcPts val="0"/>
                        </a:spcBef>
                        <a:spcAft>
                          <a:spcPts val="0"/>
                        </a:spcAft>
                        <a:buNone/>
                      </a:pPr>
                      <a:r>
                        <a:rPr lang="en-US" sz="1100" b="1" i="0" u="none" strike="noStrike" kern="1200" noProof="0">
                          <a:solidFill>
                            <a:srgbClr val="0070C0"/>
                          </a:solidFill>
                          <a:latin typeface="Segoe UI"/>
                          <a:cs typeface="Segoe UI"/>
                        </a:rPr>
                        <a:t>3. </a:t>
                      </a:r>
                      <a:r>
                        <a:rPr lang="en-US" sz="1100" b="0" i="0" u="none" strike="noStrike" kern="1200" noProof="0">
                          <a:solidFill>
                            <a:srgbClr val="0070C0"/>
                          </a:solidFill>
                          <a:latin typeface="Segoe UI"/>
                          <a:cs typeface="Segoe UI"/>
                        </a:rPr>
                        <a:t>Enhancements in Revenue Dashboard</a:t>
                      </a:r>
                      <a:endParaRPr lang="en-US" sz="1100">
                        <a:latin typeface="Segoe UI"/>
                        <a:cs typeface="Segoe UI"/>
                      </a:endParaRPr>
                    </a:p>
                    <a:p>
                      <a:pPr marL="0" lvl="0" indent="0" algn="l">
                        <a:lnSpc>
                          <a:spcPct val="100000"/>
                        </a:lnSpc>
                        <a:spcBef>
                          <a:spcPts val="0"/>
                        </a:spcBef>
                        <a:spcAft>
                          <a:spcPts val="0"/>
                        </a:spcAft>
                        <a:buNone/>
                      </a:pPr>
                      <a:endParaRPr lang="en-US" sz="1100" b="1" i="0" u="none" strike="noStrike" kern="1200" noProof="0">
                        <a:solidFill>
                          <a:srgbClr val="0070C0"/>
                        </a:solidFill>
                        <a:latin typeface="Segoe UI"/>
                        <a:cs typeface="Segoe UI"/>
                      </a:endParaRPr>
                    </a:p>
                    <a:p>
                      <a:pPr marL="0" lvl="0" indent="0" algn="l">
                        <a:lnSpc>
                          <a:spcPct val="100000"/>
                        </a:lnSpc>
                        <a:spcBef>
                          <a:spcPts val="0"/>
                        </a:spcBef>
                        <a:spcAft>
                          <a:spcPts val="0"/>
                        </a:spcAft>
                        <a:buNone/>
                      </a:pPr>
                      <a:endParaRPr lang="en-US" sz="1100" b="1" i="0" u="none" strike="noStrike" kern="1200" noProof="0">
                        <a:solidFill>
                          <a:srgbClr val="0070C0"/>
                        </a:solidFill>
                        <a:latin typeface="Segoe UI"/>
                        <a:cs typeface="Segoe UI"/>
                      </a:endParaRPr>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tc>
                  <a:txBody>
                    <a:bodyPr/>
                    <a:lstStyle/>
                    <a:p>
                      <a:pPr lvl="0" algn="l">
                        <a:lnSpc>
                          <a:spcPct val="100000"/>
                        </a:lnSpc>
                        <a:spcBef>
                          <a:spcPts val="0"/>
                        </a:spcBef>
                        <a:spcAft>
                          <a:spcPts val="0"/>
                        </a:spcAft>
                        <a:buNone/>
                      </a:pPr>
                      <a:r>
                        <a:rPr lang="en-US" sz="1100" b="0" i="0" u="none" strike="noStrike" kern="1200" noProof="0">
                          <a:solidFill>
                            <a:schemeClr val="tx1"/>
                          </a:solidFill>
                          <a:latin typeface="Segoe UI"/>
                          <a:cs typeface="Segoe UI"/>
                        </a:rPr>
                        <a:t>Enhanced an existing revenue dashboard to cater to both Accounting/Revenue and FP&amp;A teams, enabling reconciliation, revenue leakage prevention, and ancillary revenue analysis through a single solution. This eliminated the need for a separate report, creating a unified source of truth and saving approximately </a:t>
                      </a:r>
                      <a:r>
                        <a:rPr lang="en-US" sz="1100" b="1" i="0" u="none" strike="noStrike" kern="1200" noProof="0">
                          <a:solidFill>
                            <a:schemeClr val="tx1"/>
                          </a:solidFill>
                          <a:latin typeface="Segoe UI"/>
                          <a:cs typeface="Segoe UI"/>
                        </a:rPr>
                        <a:t>60 man-days of development effort</a:t>
                      </a:r>
                      <a:r>
                        <a:rPr lang="en-US" sz="1100" b="0" i="0" u="none" strike="noStrike" kern="1200" noProof="0">
                          <a:solidFill>
                            <a:schemeClr val="tx1"/>
                          </a:solidFill>
                          <a:latin typeface="Segoe UI"/>
                          <a:cs typeface="Segoe UI"/>
                        </a:rPr>
                        <a:t>.</a:t>
                      </a:r>
                      <a:endParaRPr lang="en-US"/>
                    </a:p>
                    <a:p>
                      <a:pPr marL="457200" lvl="1" indent="0" algn="l">
                        <a:lnSpc>
                          <a:spcPct val="100000"/>
                        </a:lnSpc>
                        <a:spcBef>
                          <a:spcPts val="0"/>
                        </a:spcBef>
                        <a:spcAft>
                          <a:spcPts val="0"/>
                        </a:spcAft>
                        <a:buNone/>
                      </a:pPr>
                      <a:endParaRPr lang="en-US" sz="1200" b="1" i="0" u="none" strike="noStrike" kern="1200" noProof="0">
                        <a:solidFill>
                          <a:schemeClr val="tx1"/>
                        </a:solidFill>
                        <a:latin typeface="+mn-lt"/>
                      </a:endParaRPr>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extLst>
                  <a:ext uri="{0D108BD9-81ED-4DB2-BD59-A6C34878D82A}">
                    <a16:rowId xmlns:a16="http://schemas.microsoft.com/office/drawing/2014/main" val="1110178885"/>
                  </a:ext>
                </a:extLst>
              </a:tr>
            </a:tbl>
          </a:graphicData>
        </a:graphic>
      </p:graphicFrame>
      <p:sp>
        <p:nvSpPr>
          <p:cNvPr id="16" name="Rectangle 15">
            <a:extLst>
              <a:ext uri="{FF2B5EF4-FFF2-40B4-BE49-F238E27FC236}">
                <a16:creationId xmlns:a16="http://schemas.microsoft.com/office/drawing/2014/main" id="{D639E45C-E2C5-9F59-C6E4-6397BA777CA4}"/>
              </a:ext>
            </a:extLst>
          </p:cNvPr>
          <p:cNvSpPr/>
          <p:nvPr/>
        </p:nvSpPr>
        <p:spPr>
          <a:xfrm>
            <a:off x="168824" y="3075084"/>
            <a:ext cx="1170432" cy="42234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1100" b="1">
                <a:latin typeface="AirIndia"/>
              </a:rPr>
              <a:t>May 2026</a:t>
            </a:r>
            <a:endParaRPr lang="en-US"/>
          </a:p>
        </p:txBody>
      </p:sp>
    </p:spTree>
    <p:extLst>
      <p:ext uri="{BB962C8B-B14F-4D97-AF65-F5344CB8AC3E}">
        <p14:creationId xmlns:p14="http://schemas.microsoft.com/office/powerpoint/2010/main" val="1876290854"/>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B44E30-EADD-330C-7835-A26F6EBD3E3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27534DD-0F35-ED84-161A-ABFB53145E68}"/>
              </a:ext>
            </a:extLst>
          </p:cNvPr>
          <p:cNvSpPr>
            <a:spLocks noGrp="1"/>
          </p:cNvSpPr>
          <p:nvPr>
            <p:ph type="sldNum" sz="quarter" idx="12"/>
          </p:nvPr>
        </p:nvSpPr>
        <p:spPr/>
        <p:txBody>
          <a:bodyPr/>
          <a:lstStyle/>
          <a:p>
            <a:fld id="{3A41A254-7326-714E-AF55-4C213D6394DE}" type="slidenum">
              <a:rPr lang="en-US" smtClean="0"/>
              <a:pPr/>
              <a:t>109</a:t>
            </a:fld>
            <a:endParaRPr lang="en-US"/>
          </a:p>
        </p:txBody>
      </p:sp>
      <p:sp>
        <p:nvSpPr>
          <p:cNvPr id="6" name="Title 11">
            <a:extLst>
              <a:ext uri="{FF2B5EF4-FFF2-40B4-BE49-F238E27FC236}">
                <a16:creationId xmlns:a16="http://schemas.microsoft.com/office/drawing/2014/main" id="{81B3D590-2282-D562-9310-85C9EBA981EA}"/>
              </a:ext>
            </a:extLst>
          </p:cNvPr>
          <p:cNvSpPr txBox="1">
            <a:spLocks/>
          </p:cNvSpPr>
          <p:nvPr/>
        </p:nvSpPr>
        <p:spPr>
          <a:xfrm>
            <a:off x="195943" y="307594"/>
            <a:ext cx="5562600" cy="396638"/>
          </a:xfrm>
          <a:prstGeom prst="rect">
            <a:avLst/>
          </a:prstGeom>
        </p:spPr>
        <p:txBody>
          <a:bodyPr lIns="91440" tIns="45720" rIns="91440" bIns="45720" anchor="t">
            <a:noAutofit/>
          </a:bodyPr>
          <a:lstStyle>
            <a:lvl1pPr algn="l" defTabSz="914400" rtl="0" eaLnBrk="1" latinLnBrk="0" hangingPunct="1">
              <a:lnSpc>
                <a:spcPct val="90000"/>
              </a:lnSpc>
              <a:spcBef>
                <a:spcPct val="0"/>
              </a:spcBef>
              <a:buNone/>
              <a:defRPr sz="4400" b="1" i="0" kern="1200">
                <a:solidFill>
                  <a:schemeClr val="tx1"/>
                </a:solidFill>
                <a:latin typeface="AirIndia" pitchFamily="82" charset="77"/>
                <a:ea typeface="+mj-ea"/>
                <a:cs typeface="+mj-cs"/>
              </a:defRPr>
            </a:lvl1pPr>
          </a:lstStyle>
          <a:p>
            <a:r>
              <a:rPr lang="en-US" sz="2400">
                <a:solidFill>
                  <a:schemeClr val="accent1"/>
                </a:solidFill>
                <a:latin typeface="AirIndia"/>
              </a:rPr>
              <a:t>Finance - FY26 Q1 Release Plan</a:t>
            </a:r>
            <a:endParaRPr lang="en-US" sz="2400" b="0">
              <a:solidFill>
                <a:schemeClr val="accent1"/>
              </a:solidFill>
              <a:latin typeface="AirIndia"/>
            </a:endParaRPr>
          </a:p>
          <a:p>
            <a:endParaRPr lang="en-US" sz="1800">
              <a:solidFill>
                <a:schemeClr val="accent1"/>
              </a:solidFill>
              <a:latin typeface="AirIndia"/>
            </a:endParaRPr>
          </a:p>
        </p:txBody>
      </p:sp>
      <p:sp>
        <p:nvSpPr>
          <p:cNvPr id="13" name="Rectangle 12">
            <a:extLst>
              <a:ext uri="{FF2B5EF4-FFF2-40B4-BE49-F238E27FC236}">
                <a16:creationId xmlns:a16="http://schemas.microsoft.com/office/drawing/2014/main" id="{D18B488A-06C0-3961-483E-27BEADC64F50}"/>
              </a:ext>
            </a:extLst>
          </p:cNvPr>
          <p:cNvSpPr/>
          <p:nvPr/>
        </p:nvSpPr>
        <p:spPr>
          <a:xfrm>
            <a:off x="136167" y="861655"/>
            <a:ext cx="1170432" cy="42234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1100" b="1">
                <a:latin typeface="AirIndia"/>
              </a:rPr>
              <a:t>Jun 2026</a:t>
            </a:r>
            <a:endParaRPr lang="en-US"/>
          </a:p>
        </p:txBody>
      </p:sp>
      <p:sp>
        <p:nvSpPr>
          <p:cNvPr id="3" name="Rectangle 2">
            <a:extLst>
              <a:ext uri="{FF2B5EF4-FFF2-40B4-BE49-F238E27FC236}">
                <a16:creationId xmlns:a16="http://schemas.microsoft.com/office/drawing/2014/main" id="{65ECCF85-FF1F-A986-B2A0-D4D9B1A6A165}"/>
              </a:ext>
            </a:extLst>
          </p:cNvPr>
          <p:cNvSpPr/>
          <p:nvPr/>
        </p:nvSpPr>
        <p:spPr>
          <a:xfrm>
            <a:off x="3465009" y="6262087"/>
            <a:ext cx="90000" cy="90000"/>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
        <p:nvSpPr>
          <p:cNvPr id="4" name="Rectangle 3">
            <a:extLst>
              <a:ext uri="{FF2B5EF4-FFF2-40B4-BE49-F238E27FC236}">
                <a16:creationId xmlns:a16="http://schemas.microsoft.com/office/drawing/2014/main" id="{8A80E8F5-9313-79CE-D94E-25320CD11A2D}"/>
              </a:ext>
            </a:extLst>
          </p:cNvPr>
          <p:cNvSpPr/>
          <p:nvPr/>
        </p:nvSpPr>
        <p:spPr>
          <a:xfrm>
            <a:off x="3465009" y="6489649"/>
            <a:ext cx="90000" cy="90000"/>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
        <p:nvSpPr>
          <p:cNvPr id="5" name="Rectangle 4">
            <a:extLst>
              <a:ext uri="{FF2B5EF4-FFF2-40B4-BE49-F238E27FC236}">
                <a16:creationId xmlns:a16="http://schemas.microsoft.com/office/drawing/2014/main" id="{2190F0E9-847E-8F7A-19CC-08D67D94E9DD}"/>
              </a:ext>
            </a:extLst>
          </p:cNvPr>
          <p:cNvSpPr/>
          <p:nvPr/>
        </p:nvSpPr>
        <p:spPr>
          <a:xfrm>
            <a:off x="5567900" y="6262087"/>
            <a:ext cx="90000" cy="90000"/>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
        <p:nvSpPr>
          <p:cNvPr id="7" name="Rectangle 6">
            <a:extLst>
              <a:ext uri="{FF2B5EF4-FFF2-40B4-BE49-F238E27FC236}">
                <a16:creationId xmlns:a16="http://schemas.microsoft.com/office/drawing/2014/main" id="{35AA05DE-5A9C-3A08-2CE1-20BDDF4F7759}"/>
              </a:ext>
            </a:extLst>
          </p:cNvPr>
          <p:cNvSpPr/>
          <p:nvPr/>
        </p:nvSpPr>
        <p:spPr>
          <a:xfrm>
            <a:off x="5567900" y="6489649"/>
            <a:ext cx="90000" cy="90000"/>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
        <p:nvSpPr>
          <p:cNvPr id="8" name="TextBox 15">
            <a:extLst>
              <a:ext uri="{FF2B5EF4-FFF2-40B4-BE49-F238E27FC236}">
                <a16:creationId xmlns:a16="http://schemas.microsoft.com/office/drawing/2014/main" id="{D4AF3912-9EFD-19AD-5A31-47BC48EDBE39}"/>
              </a:ext>
            </a:extLst>
          </p:cNvPr>
          <p:cNvSpPr txBox="1"/>
          <p:nvPr/>
        </p:nvSpPr>
        <p:spPr>
          <a:xfrm>
            <a:off x="3522317" y="6205238"/>
            <a:ext cx="857245"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000">
                <a:solidFill>
                  <a:srgbClr val="0070C0"/>
                </a:solidFill>
              </a:rPr>
              <a:t>Delivered</a:t>
            </a:r>
            <a:endParaRPr lang="en-IN" sz="1000"/>
          </a:p>
        </p:txBody>
      </p:sp>
      <p:sp>
        <p:nvSpPr>
          <p:cNvPr id="9" name="TextBox 18">
            <a:extLst>
              <a:ext uri="{FF2B5EF4-FFF2-40B4-BE49-F238E27FC236}">
                <a16:creationId xmlns:a16="http://schemas.microsoft.com/office/drawing/2014/main" id="{AA3935EE-82B2-220E-956E-1C9011EAD6E5}"/>
              </a:ext>
            </a:extLst>
          </p:cNvPr>
          <p:cNvSpPr txBox="1"/>
          <p:nvPr/>
        </p:nvSpPr>
        <p:spPr>
          <a:xfrm>
            <a:off x="3520719" y="6430197"/>
            <a:ext cx="1032881"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000">
                <a:solidFill>
                  <a:srgbClr val="00B050"/>
                </a:solidFill>
              </a:rPr>
              <a:t>Ontrack</a:t>
            </a:r>
            <a:endParaRPr lang="en-IN" sz="1000"/>
          </a:p>
        </p:txBody>
      </p:sp>
      <p:sp>
        <p:nvSpPr>
          <p:cNvPr id="10" name="TextBox 20">
            <a:extLst>
              <a:ext uri="{FF2B5EF4-FFF2-40B4-BE49-F238E27FC236}">
                <a16:creationId xmlns:a16="http://schemas.microsoft.com/office/drawing/2014/main" id="{3A54C593-749C-E174-1881-A759D33C8B77}"/>
              </a:ext>
            </a:extLst>
          </p:cNvPr>
          <p:cNvSpPr txBox="1"/>
          <p:nvPr/>
        </p:nvSpPr>
        <p:spPr>
          <a:xfrm>
            <a:off x="5653197" y="6220637"/>
            <a:ext cx="2257628"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000">
                <a:solidFill>
                  <a:schemeClr val="accent6">
                    <a:lumMod val="75000"/>
                  </a:schemeClr>
                </a:solidFill>
              </a:rPr>
              <a:t>Under delay and can be recovered</a:t>
            </a:r>
            <a:endParaRPr lang="en-IN" sz="1000"/>
          </a:p>
        </p:txBody>
      </p:sp>
      <p:sp>
        <p:nvSpPr>
          <p:cNvPr id="11" name="TextBox 22">
            <a:extLst>
              <a:ext uri="{FF2B5EF4-FFF2-40B4-BE49-F238E27FC236}">
                <a16:creationId xmlns:a16="http://schemas.microsoft.com/office/drawing/2014/main" id="{38CBF041-BC2A-4E55-9A49-0A65C81D8F05}"/>
              </a:ext>
            </a:extLst>
          </p:cNvPr>
          <p:cNvSpPr txBox="1"/>
          <p:nvPr/>
        </p:nvSpPr>
        <p:spPr>
          <a:xfrm>
            <a:off x="5657900" y="6437221"/>
            <a:ext cx="3069090"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000">
                <a:solidFill>
                  <a:schemeClr val="accent2"/>
                </a:solidFill>
              </a:rPr>
              <a:t>Delayed and pushed to next release</a:t>
            </a:r>
            <a:endParaRPr lang="en-IN" sz="1000"/>
          </a:p>
        </p:txBody>
      </p:sp>
      <p:graphicFrame>
        <p:nvGraphicFramePr>
          <p:cNvPr id="15" name="Table 14">
            <a:extLst>
              <a:ext uri="{FF2B5EF4-FFF2-40B4-BE49-F238E27FC236}">
                <a16:creationId xmlns:a16="http://schemas.microsoft.com/office/drawing/2014/main" id="{19026FAF-88DC-8565-30E3-0911E2248423}"/>
              </a:ext>
            </a:extLst>
          </p:cNvPr>
          <p:cNvGraphicFramePr>
            <a:graphicFrameLocks noGrp="1"/>
          </p:cNvGraphicFramePr>
          <p:nvPr>
            <p:extLst>
              <p:ext uri="{D42A27DB-BD31-4B8C-83A1-F6EECF244321}">
                <p14:modId xmlns:p14="http://schemas.microsoft.com/office/powerpoint/2010/main" val="1013342362"/>
              </p:ext>
            </p:extLst>
          </p:nvPr>
        </p:nvGraphicFramePr>
        <p:xfrm>
          <a:off x="1306285" y="1284514"/>
          <a:ext cx="10738577" cy="3581400"/>
        </p:xfrm>
        <a:graphic>
          <a:graphicData uri="http://schemas.openxmlformats.org/drawingml/2006/table">
            <a:tbl>
              <a:tblPr firstRow="1" bandRow="1">
                <a:tableStyleId>{5C22544A-7EE6-4342-B048-85BDC9FD1C3A}</a:tableStyleId>
              </a:tblPr>
              <a:tblGrid>
                <a:gridCol w="3773549">
                  <a:extLst>
                    <a:ext uri="{9D8B030D-6E8A-4147-A177-3AD203B41FA5}">
                      <a16:colId xmlns:a16="http://schemas.microsoft.com/office/drawing/2014/main" val="2822350773"/>
                    </a:ext>
                  </a:extLst>
                </a:gridCol>
                <a:gridCol w="6965028">
                  <a:extLst>
                    <a:ext uri="{9D8B030D-6E8A-4147-A177-3AD203B41FA5}">
                      <a16:colId xmlns:a16="http://schemas.microsoft.com/office/drawing/2014/main" val="99588705"/>
                    </a:ext>
                  </a:extLst>
                </a:gridCol>
              </a:tblGrid>
              <a:tr h="217387">
                <a:tc>
                  <a:txBody>
                    <a:bodyPr/>
                    <a:lstStyle/>
                    <a:p>
                      <a:pPr marL="0" lvl="0" indent="0" algn="ctr" defTabSz="914400" rtl="0" eaLnBrk="1" latinLnBrk="0" hangingPunct="1">
                        <a:lnSpc>
                          <a:spcPct val="100000"/>
                        </a:lnSpc>
                        <a:buFont typeface="Arial" panose="020B0604020202020204" pitchFamily="34" charset="0"/>
                        <a:buNone/>
                      </a:pPr>
                      <a:r>
                        <a:rPr lang="en-IN" sz="1200" kern="1200">
                          <a:solidFill>
                            <a:schemeClr val="bg1"/>
                          </a:solidFill>
                          <a:latin typeface="+mn-lt"/>
                          <a:ea typeface="+mn-ea"/>
                          <a:cs typeface="+mn-cs"/>
                        </a:rPr>
                        <a:t>Project/Initiative</a:t>
                      </a:r>
                      <a:endParaRPr lang="en-US" sz="1200"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tc>
                  <a:txBody>
                    <a:bodyPr/>
                    <a:lstStyle/>
                    <a:p>
                      <a:pPr marL="0" indent="0" algn="ctr" defTabSz="914400" rtl="0" eaLnBrk="1" latinLnBrk="0" hangingPunct="1">
                        <a:buFont typeface="Arial" panose="020B0604020202020204" pitchFamily="34" charset="0"/>
                        <a:buNone/>
                      </a:pPr>
                      <a:r>
                        <a:rPr lang="en-IN" sz="1200" kern="1200">
                          <a:solidFill>
                            <a:schemeClr val="bg1"/>
                          </a:solidFill>
                          <a:latin typeface="+mn-lt"/>
                          <a:ea typeface="+mn-ea"/>
                          <a:cs typeface="+mn-cs"/>
                        </a:rPr>
                        <a:t>Value Justification/Realization</a:t>
                      </a:r>
                      <a:endParaRPr lang="en-US" sz="1200"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extLst>
                  <a:ext uri="{0D108BD9-81ED-4DB2-BD59-A6C34878D82A}">
                    <a16:rowId xmlns:a16="http://schemas.microsoft.com/office/drawing/2014/main" val="844450115"/>
                  </a:ext>
                </a:extLst>
              </a:tr>
              <a:tr h="499989">
                <a:tc>
                  <a:txBody>
                    <a:bodyPr/>
                    <a:lstStyle/>
                    <a:p>
                      <a:pPr marL="228600" lvl="0" indent="-228600" algn="l">
                        <a:lnSpc>
                          <a:spcPct val="100000"/>
                        </a:lnSpc>
                        <a:spcBef>
                          <a:spcPts val="0"/>
                        </a:spcBef>
                        <a:spcAft>
                          <a:spcPts val="0"/>
                        </a:spcAft>
                        <a:buFont typeface="+mj-lt"/>
                        <a:buAutoNum type="arabicPeriod"/>
                      </a:pPr>
                      <a:r>
                        <a:rPr lang="en-US" sz="1100" b="0" i="0" u="none" strike="noStrike" kern="1200" noProof="0">
                          <a:solidFill>
                            <a:srgbClr val="0070C0"/>
                          </a:solidFill>
                          <a:latin typeface="Segoe UI"/>
                          <a:cs typeface="Segoe UI"/>
                        </a:rPr>
                        <a:t>TDS Report</a:t>
                      </a: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lvl="0" indent="0" algn="l">
                        <a:lnSpc>
                          <a:spcPct val="100000"/>
                        </a:lnSpc>
                        <a:spcBef>
                          <a:spcPts val="0"/>
                        </a:spcBef>
                        <a:spcAft>
                          <a:spcPts val="0"/>
                        </a:spcAft>
                        <a:buNone/>
                      </a:pPr>
                      <a:r>
                        <a:rPr lang="en-US" sz="1100" b="0" i="0" u="none" strike="noStrike" kern="1200" noProof="0">
                          <a:solidFill>
                            <a:schemeClr val="tx1"/>
                          </a:solidFill>
                          <a:latin typeface="Segoe UI"/>
                          <a:cs typeface="Segoe UI"/>
                        </a:rPr>
                        <a:t>Developed a TDS Compliance Dashboard that automates TDS validation, reconciliation, exception monitoring, and filing readiness checks. The solution improves compliance accuracy, reduces manual effort, enables early error detection, and supports timely statutory filings while minimizing compliance risks.</a:t>
                      </a: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443371065"/>
                  </a:ext>
                </a:extLst>
              </a:tr>
              <a:tr h="326080">
                <a:tc>
                  <a:txBody>
                    <a:bodyPr/>
                    <a:lstStyle/>
                    <a:p>
                      <a:pPr marL="0" lvl="0" indent="0" algn="l">
                        <a:lnSpc>
                          <a:spcPct val="100000"/>
                        </a:lnSpc>
                        <a:spcBef>
                          <a:spcPts val="0"/>
                        </a:spcBef>
                        <a:spcAft>
                          <a:spcPts val="0"/>
                        </a:spcAft>
                        <a:buNone/>
                      </a:pPr>
                      <a:r>
                        <a:rPr lang="en-US" sz="1100" b="0" i="0" u="none" strike="noStrike" kern="1200" noProof="0">
                          <a:solidFill>
                            <a:srgbClr val="0070C0"/>
                          </a:solidFill>
                          <a:latin typeface="Segoe UI"/>
                          <a:cs typeface="Segoe UI"/>
                        </a:rPr>
                        <a:t>2.   Refund Re-Issue chain Tracking</a:t>
                      </a:r>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lvl="0" algn="l">
                        <a:lnSpc>
                          <a:spcPct val="100000"/>
                        </a:lnSpc>
                        <a:spcBef>
                          <a:spcPts val="0"/>
                        </a:spcBef>
                        <a:spcAft>
                          <a:spcPts val="0"/>
                        </a:spcAft>
                        <a:buNone/>
                      </a:pPr>
                      <a:r>
                        <a:rPr lang="en-US" sz="1100" b="0" i="0" u="none" strike="noStrike" kern="1200" noProof="0">
                          <a:solidFill>
                            <a:schemeClr val="tx1"/>
                          </a:solidFill>
                          <a:latin typeface="Segoe UI"/>
                          <a:cs typeface="Segoe UI"/>
                        </a:rPr>
                        <a:t>Developed an end-to-end Reissue and Refund Analysis Report that provides complete visibility of ticket transactions linked to the original sale ticket. The solution overcomes limitations in the Amadeus ASA tool, improves audit readiness, strengthens revenue controls, and enables efficient identification of discrepancies and potential revenue leakage.</a:t>
                      </a:r>
                      <a:endParaRPr lang="en-US" sz="1100" b="0" i="0" u="none" strike="noStrike" kern="1200" noProof="0">
                        <a:solidFill>
                          <a:srgbClr val="000000"/>
                        </a:solidFill>
                        <a:latin typeface="Segoe UI"/>
                        <a:cs typeface="Segoe UI"/>
                      </a:endParaRPr>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417476375"/>
                  </a:ext>
                </a:extLst>
              </a:tr>
              <a:tr h="326080">
                <a:tc>
                  <a:txBody>
                    <a:bodyPr/>
                    <a:lstStyle/>
                    <a:p>
                      <a:pPr marL="0" lvl="0" indent="0" algn="l">
                        <a:lnSpc>
                          <a:spcPct val="100000"/>
                        </a:lnSpc>
                        <a:spcBef>
                          <a:spcPts val="0"/>
                        </a:spcBef>
                        <a:spcAft>
                          <a:spcPts val="0"/>
                        </a:spcAft>
                        <a:buNone/>
                      </a:pPr>
                      <a:r>
                        <a:rPr lang="en-US" sz="1100" b="0" i="0" u="none" strike="noStrike" kern="1200" noProof="0">
                          <a:solidFill>
                            <a:srgbClr val="0070C0"/>
                          </a:solidFill>
                          <a:latin typeface="Segoe UI"/>
                          <a:cs typeface="Segoe UI"/>
                        </a:rPr>
                        <a:t>3. BIAL  AND NAG UDF Tax Report (Nagpur and Bangalore)</a:t>
                      </a:r>
                      <a:endParaRPr lang="en-US" sz="1100" b="0">
                        <a:latin typeface="Segoe UI"/>
                        <a:cs typeface="Segoe UI"/>
                      </a:endParaRPr>
                    </a:p>
                    <a:p>
                      <a:pPr marL="0" lvl="0" indent="0" algn="l">
                        <a:lnSpc>
                          <a:spcPct val="100000"/>
                        </a:lnSpc>
                        <a:spcBef>
                          <a:spcPts val="0"/>
                        </a:spcBef>
                        <a:spcAft>
                          <a:spcPts val="0"/>
                        </a:spcAft>
                        <a:buNone/>
                      </a:pPr>
                      <a:endParaRPr lang="en-US" sz="1100" b="0" i="0" u="none" strike="noStrike" kern="1200" noProof="0">
                        <a:solidFill>
                          <a:srgbClr val="0070C0"/>
                        </a:solidFill>
                        <a:latin typeface="Segoe UI"/>
                        <a:cs typeface="Segoe UI"/>
                      </a:endParaRPr>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tc>
                  <a:txBody>
                    <a:bodyPr/>
                    <a:lstStyle/>
                    <a:p>
                      <a:pPr lvl="0" algn="l">
                        <a:lnSpc>
                          <a:spcPct val="100000"/>
                        </a:lnSpc>
                        <a:spcBef>
                          <a:spcPts val="0"/>
                        </a:spcBef>
                        <a:spcAft>
                          <a:spcPts val="0"/>
                        </a:spcAft>
                        <a:buNone/>
                      </a:pPr>
                      <a:r>
                        <a:rPr lang="en-US" sz="1100" b="0" i="0" u="none" strike="noStrike" kern="1200" noProof="0">
                          <a:solidFill>
                            <a:schemeClr val="tx1"/>
                          </a:solidFill>
                          <a:latin typeface="Segoe UI"/>
                          <a:ea typeface="+mn-ea"/>
                          <a:cs typeface="Segoe UI"/>
                        </a:rPr>
                        <a:t>Automated the Bangalore and Nagpur Airport Tax reports, enabling accurate and timely tax filings while significantly reducing manual effort. The solution helps prevent overpayments, minimizes compliance risks and penalties, and improves overall financial governance. </a:t>
                      </a:r>
                      <a:endParaRPr lang="en-US" sz="1100" b="0" i="0" u="none" strike="noStrike" kern="1200" noProof="0">
                        <a:solidFill>
                          <a:srgbClr val="000000"/>
                        </a:solidFill>
                        <a:latin typeface="Segoe UI"/>
                        <a:ea typeface="+mn-ea"/>
                        <a:cs typeface="Segoe UI"/>
                      </a:endParaRPr>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extLst>
                  <a:ext uri="{0D108BD9-81ED-4DB2-BD59-A6C34878D82A}">
                    <a16:rowId xmlns:a16="http://schemas.microsoft.com/office/drawing/2014/main" val="1110178885"/>
                  </a:ext>
                </a:extLst>
              </a:tr>
              <a:tr h="326079">
                <a:tc>
                  <a:txBody>
                    <a:bodyPr/>
                    <a:lstStyle/>
                    <a:p>
                      <a:pPr marL="0" lvl="0" indent="0" algn="l">
                        <a:lnSpc>
                          <a:spcPct val="100000"/>
                        </a:lnSpc>
                        <a:spcBef>
                          <a:spcPts val="0"/>
                        </a:spcBef>
                        <a:spcAft>
                          <a:spcPts val="0"/>
                        </a:spcAft>
                        <a:buNone/>
                      </a:pPr>
                      <a:r>
                        <a:rPr lang="en-US" sz="1100" b="0" i="0" u="none" strike="noStrike" kern="1200" noProof="0">
                          <a:solidFill>
                            <a:srgbClr val="0070C0"/>
                          </a:solidFill>
                          <a:latin typeface="Segoe UI"/>
                          <a:cs typeface="Segoe UI"/>
                        </a:rPr>
                        <a:t>SOD Conflict</a:t>
                      </a:r>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lvl="0" algn="l">
                        <a:lnSpc>
                          <a:spcPct val="100000"/>
                        </a:lnSpc>
                        <a:spcBef>
                          <a:spcPts val="0"/>
                        </a:spcBef>
                        <a:spcAft>
                          <a:spcPts val="0"/>
                        </a:spcAft>
                        <a:buNone/>
                      </a:pPr>
                      <a:r>
                        <a:rPr lang="en-US" sz="1100" b="0" i="0" u="none" strike="noStrike" kern="1200" noProof="0">
                          <a:solidFill>
                            <a:schemeClr val="tx1"/>
                          </a:solidFill>
                          <a:latin typeface="Segoe UI"/>
                          <a:ea typeface="+mn-ea"/>
                          <a:cs typeface="Segoe UI"/>
                        </a:rPr>
                        <a:t>Developed an automated SOD booking conflict report to identify anomalies between hotel reservations and travel dates. The solution helps prevent revenue leakage, improves compliance monitoring, and reduces manual effort through proactive exception reporting.</a:t>
                      </a:r>
                      <a:endParaRPr lang="en-US" sz="1100">
                        <a:latin typeface="Segoe UI"/>
                        <a:cs typeface="Segoe UI"/>
                      </a:endParaRPr>
                    </a:p>
                    <a:p>
                      <a:pPr lvl="0" algn="l">
                        <a:lnSpc>
                          <a:spcPct val="100000"/>
                        </a:lnSpc>
                        <a:spcBef>
                          <a:spcPts val="0"/>
                        </a:spcBef>
                        <a:spcAft>
                          <a:spcPts val="0"/>
                        </a:spcAft>
                        <a:buNone/>
                      </a:pPr>
                      <a:endParaRPr lang="en-US" sz="1100" b="0" i="0" u="none" strike="noStrike" kern="1200" noProof="0">
                        <a:solidFill>
                          <a:schemeClr val="tx1"/>
                        </a:solidFill>
                        <a:latin typeface="Segoe UI"/>
                        <a:ea typeface="+mn-ea"/>
                        <a:cs typeface="Segoe UI"/>
                      </a:endParaRPr>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88247958"/>
                  </a:ext>
                </a:extLst>
              </a:tr>
              <a:tr h="326079">
                <a:tc>
                  <a:txBody>
                    <a:bodyPr/>
                    <a:lstStyle/>
                    <a:p>
                      <a:pPr marL="0" lvl="0" indent="0" algn="l">
                        <a:lnSpc>
                          <a:spcPct val="100000"/>
                        </a:lnSpc>
                        <a:spcBef>
                          <a:spcPts val="0"/>
                        </a:spcBef>
                        <a:spcAft>
                          <a:spcPts val="0"/>
                        </a:spcAft>
                        <a:buNone/>
                      </a:pPr>
                      <a:r>
                        <a:rPr lang="en-US" sz="1100" b="0" i="0" u="none" strike="noStrike" kern="1200" noProof="0">
                          <a:solidFill>
                            <a:srgbClr val="0070C0"/>
                          </a:solidFill>
                          <a:latin typeface="Segoe UI"/>
                          <a:cs typeface="Segoe UI"/>
                        </a:rPr>
                        <a:t>Pay.ai (Native Payments Platform)</a:t>
                      </a:r>
                      <a:endParaRPr lang="en-US" sz="1100" b="0">
                        <a:latin typeface="Segoe UI"/>
                        <a:cs typeface="Segoe UI"/>
                      </a:endParaRPr>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tc>
                  <a:txBody>
                    <a:bodyPr/>
                    <a:lstStyle/>
                    <a:p>
                      <a:pPr lvl="0" algn="l">
                        <a:lnSpc>
                          <a:spcPct val="100000"/>
                        </a:lnSpc>
                        <a:spcBef>
                          <a:spcPts val="0"/>
                        </a:spcBef>
                        <a:spcAft>
                          <a:spcPts val="0"/>
                        </a:spcAft>
                        <a:buNone/>
                      </a:pPr>
                      <a:r>
                        <a:rPr lang="en-US" sz="1100" b="0" i="0" u="none" strike="noStrike" kern="1200" noProof="0">
                          <a:solidFill>
                            <a:schemeClr val="tx1"/>
                          </a:solidFill>
                          <a:latin typeface="Segoe UI"/>
                          <a:cs typeface="Segoe UI"/>
                        </a:rPr>
                        <a:t>Integrated Pay.ai data into existing payment dashboards to ensure uninterrupted reporting and preserve current workflows. Enabled side‑by‑side comparison with XPP, delivering a single, consistent view of payment transactions, refunds, and efficiency metrics to support informed decision‑making.</a:t>
                      </a:r>
                      <a:endParaRPr lang="en-US" sz="1100">
                        <a:latin typeface="Segoe UI"/>
                        <a:cs typeface="Segoe UI"/>
                      </a:endParaRPr>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extLst>
                  <a:ext uri="{0D108BD9-81ED-4DB2-BD59-A6C34878D82A}">
                    <a16:rowId xmlns:a16="http://schemas.microsoft.com/office/drawing/2014/main" val="1923683377"/>
                  </a:ext>
                </a:extLst>
              </a:tr>
            </a:tbl>
          </a:graphicData>
        </a:graphic>
      </p:graphicFrame>
    </p:spTree>
    <p:extLst>
      <p:ext uri="{BB962C8B-B14F-4D97-AF65-F5344CB8AC3E}">
        <p14:creationId xmlns:p14="http://schemas.microsoft.com/office/powerpoint/2010/main" val="827407891"/>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AB4F40-EFFF-912D-B5DB-27C3AB9293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D781DC-1BF7-2D77-3104-00DF0C92FDB8}"/>
              </a:ext>
            </a:extLst>
          </p:cNvPr>
          <p:cNvSpPr>
            <a:spLocks noGrp="1"/>
          </p:cNvSpPr>
          <p:nvPr>
            <p:ph type="title"/>
          </p:nvPr>
        </p:nvSpPr>
        <p:spPr>
          <a:xfrm>
            <a:off x="5876373" y="2114927"/>
            <a:ext cx="6907630" cy="1961201"/>
          </a:xfrm>
        </p:spPr>
        <p:txBody>
          <a:bodyPr/>
          <a:lstStyle/>
          <a:p>
            <a:r>
              <a:rPr lang="en-US" sz="5400">
                <a:latin typeface="AirIndia"/>
              </a:rPr>
              <a:t>Finance-Q2</a:t>
            </a:r>
            <a:endParaRPr lang="en-US" sz="5400"/>
          </a:p>
        </p:txBody>
      </p:sp>
    </p:spTree>
    <p:extLst>
      <p:ext uri="{BB962C8B-B14F-4D97-AF65-F5344CB8AC3E}">
        <p14:creationId xmlns:p14="http://schemas.microsoft.com/office/powerpoint/2010/main" val="2406702632"/>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503475-D9B6-BEB3-0C82-3E37009EECA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E0B4845-7D8B-0A9E-D77C-5867D887D1DB}"/>
              </a:ext>
            </a:extLst>
          </p:cNvPr>
          <p:cNvSpPr>
            <a:spLocks noGrp="1"/>
          </p:cNvSpPr>
          <p:nvPr>
            <p:ph type="sldNum" sz="quarter" idx="12"/>
          </p:nvPr>
        </p:nvSpPr>
        <p:spPr/>
        <p:txBody>
          <a:bodyPr/>
          <a:lstStyle/>
          <a:p>
            <a:fld id="{3A41A254-7326-714E-AF55-4C213D6394DE}" type="slidenum">
              <a:rPr lang="en-US" smtClean="0"/>
              <a:pPr/>
              <a:t>111</a:t>
            </a:fld>
            <a:endParaRPr lang="en-US"/>
          </a:p>
        </p:txBody>
      </p:sp>
      <p:sp>
        <p:nvSpPr>
          <p:cNvPr id="6" name="Title 11">
            <a:extLst>
              <a:ext uri="{FF2B5EF4-FFF2-40B4-BE49-F238E27FC236}">
                <a16:creationId xmlns:a16="http://schemas.microsoft.com/office/drawing/2014/main" id="{C1E8BDFF-67E9-95B7-44B0-30FB328311D0}"/>
              </a:ext>
            </a:extLst>
          </p:cNvPr>
          <p:cNvSpPr txBox="1">
            <a:spLocks/>
          </p:cNvSpPr>
          <p:nvPr/>
        </p:nvSpPr>
        <p:spPr>
          <a:xfrm>
            <a:off x="195943" y="307594"/>
            <a:ext cx="5562600" cy="396638"/>
          </a:xfrm>
          <a:prstGeom prst="rect">
            <a:avLst/>
          </a:prstGeom>
        </p:spPr>
        <p:txBody>
          <a:bodyPr lIns="91440" tIns="45720" rIns="91440" bIns="45720" anchor="t">
            <a:noAutofit/>
          </a:bodyPr>
          <a:lstStyle>
            <a:lvl1pPr algn="l" defTabSz="914400" rtl="0" eaLnBrk="1" latinLnBrk="0" hangingPunct="1">
              <a:lnSpc>
                <a:spcPct val="90000"/>
              </a:lnSpc>
              <a:spcBef>
                <a:spcPct val="0"/>
              </a:spcBef>
              <a:buNone/>
              <a:defRPr sz="4400" b="1" i="0" kern="1200">
                <a:solidFill>
                  <a:schemeClr val="tx1"/>
                </a:solidFill>
                <a:latin typeface="AirIndia" pitchFamily="82" charset="77"/>
                <a:ea typeface="+mj-ea"/>
                <a:cs typeface="+mj-cs"/>
              </a:defRPr>
            </a:lvl1pPr>
          </a:lstStyle>
          <a:p>
            <a:r>
              <a:rPr lang="en-US" sz="2400">
                <a:solidFill>
                  <a:schemeClr val="accent1"/>
                </a:solidFill>
                <a:latin typeface="AirIndia"/>
              </a:rPr>
              <a:t>Finance - FY26 Q2 Release Plan</a:t>
            </a:r>
            <a:endParaRPr lang="en-US" sz="2400" b="0">
              <a:solidFill>
                <a:schemeClr val="accent1"/>
              </a:solidFill>
              <a:latin typeface="AirIndia"/>
            </a:endParaRPr>
          </a:p>
          <a:p>
            <a:endParaRPr lang="en-US" sz="1800">
              <a:solidFill>
                <a:schemeClr val="accent1"/>
              </a:solidFill>
              <a:latin typeface="AirIndia"/>
            </a:endParaRPr>
          </a:p>
        </p:txBody>
      </p:sp>
      <p:graphicFrame>
        <p:nvGraphicFramePr>
          <p:cNvPr id="12" name="Table 11">
            <a:extLst>
              <a:ext uri="{FF2B5EF4-FFF2-40B4-BE49-F238E27FC236}">
                <a16:creationId xmlns:a16="http://schemas.microsoft.com/office/drawing/2014/main" id="{76463C30-9EEA-CB97-1BA1-07B8F4439D69}"/>
              </a:ext>
            </a:extLst>
          </p:cNvPr>
          <p:cNvGraphicFramePr>
            <a:graphicFrameLocks noGrp="1"/>
          </p:cNvGraphicFramePr>
          <p:nvPr>
            <p:extLst>
              <p:ext uri="{D42A27DB-BD31-4B8C-83A1-F6EECF244321}">
                <p14:modId xmlns:p14="http://schemas.microsoft.com/office/powerpoint/2010/main" val="3029289662"/>
              </p:ext>
            </p:extLst>
          </p:nvPr>
        </p:nvGraphicFramePr>
        <p:xfrm>
          <a:off x="1295713" y="866914"/>
          <a:ext cx="10697938" cy="2185360"/>
        </p:xfrm>
        <a:graphic>
          <a:graphicData uri="http://schemas.openxmlformats.org/drawingml/2006/table">
            <a:tbl>
              <a:tblPr firstRow="1" bandRow="1">
                <a:tableStyleId>{5C22544A-7EE6-4342-B048-85BDC9FD1C3A}</a:tableStyleId>
              </a:tblPr>
              <a:tblGrid>
                <a:gridCol w="3759269">
                  <a:extLst>
                    <a:ext uri="{9D8B030D-6E8A-4147-A177-3AD203B41FA5}">
                      <a16:colId xmlns:a16="http://schemas.microsoft.com/office/drawing/2014/main" val="2822350773"/>
                    </a:ext>
                  </a:extLst>
                </a:gridCol>
                <a:gridCol w="6938669">
                  <a:extLst>
                    <a:ext uri="{9D8B030D-6E8A-4147-A177-3AD203B41FA5}">
                      <a16:colId xmlns:a16="http://schemas.microsoft.com/office/drawing/2014/main" val="99588705"/>
                    </a:ext>
                  </a:extLst>
                </a:gridCol>
              </a:tblGrid>
              <a:tr h="217387">
                <a:tc>
                  <a:txBody>
                    <a:bodyPr/>
                    <a:lstStyle/>
                    <a:p>
                      <a:pPr marL="0" lvl="0" indent="0" algn="ctr" defTabSz="914400" rtl="0" eaLnBrk="1" latinLnBrk="0" hangingPunct="1">
                        <a:lnSpc>
                          <a:spcPct val="100000"/>
                        </a:lnSpc>
                        <a:buFont typeface="Arial" panose="020B0604020202020204" pitchFamily="34" charset="0"/>
                        <a:buNone/>
                      </a:pPr>
                      <a:r>
                        <a:rPr lang="en-IN" sz="1200" kern="1200">
                          <a:solidFill>
                            <a:schemeClr val="bg1"/>
                          </a:solidFill>
                          <a:latin typeface="+mn-lt"/>
                          <a:ea typeface="+mn-ea"/>
                          <a:cs typeface="+mn-cs"/>
                        </a:rPr>
                        <a:t>Project/Initiative</a:t>
                      </a:r>
                      <a:endParaRPr lang="en-US" sz="1200"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tc>
                  <a:txBody>
                    <a:bodyPr/>
                    <a:lstStyle/>
                    <a:p>
                      <a:pPr marL="0" indent="0" algn="ctr" defTabSz="914400" rtl="0" eaLnBrk="1" latinLnBrk="0" hangingPunct="1">
                        <a:buFont typeface="Arial" panose="020B0604020202020204" pitchFamily="34" charset="0"/>
                        <a:buNone/>
                      </a:pPr>
                      <a:r>
                        <a:rPr lang="en-IN" sz="1200" kern="1200">
                          <a:solidFill>
                            <a:schemeClr val="bg1"/>
                          </a:solidFill>
                          <a:latin typeface="+mn-lt"/>
                          <a:ea typeface="+mn-ea"/>
                          <a:cs typeface="+mn-cs"/>
                        </a:rPr>
                        <a:t>Value Justification/Realization</a:t>
                      </a:r>
                      <a:endParaRPr lang="en-US" sz="1200"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extLst>
                  <a:ext uri="{0D108BD9-81ED-4DB2-BD59-A6C34878D82A}">
                    <a16:rowId xmlns:a16="http://schemas.microsoft.com/office/drawing/2014/main" val="844450115"/>
                  </a:ext>
                </a:extLst>
              </a:tr>
              <a:tr h="499989">
                <a:tc>
                  <a:txBody>
                    <a:bodyPr/>
                    <a:lstStyle/>
                    <a:p>
                      <a:pPr marL="228600" lvl="0" indent="-228600" algn="l">
                        <a:lnSpc>
                          <a:spcPct val="100000"/>
                        </a:lnSpc>
                        <a:spcBef>
                          <a:spcPts val="0"/>
                        </a:spcBef>
                        <a:spcAft>
                          <a:spcPts val="0"/>
                        </a:spcAft>
                        <a:buAutoNum type="arabicPeriod"/>
                      </a:pPr>
                      <a:r>
                        <a:rPr lang="en-US" sz="900" b="0" i="0" u="none" strike="noStrike" kern="1200" noProof="0">
                          <a:solidFill>
                            <a:srgbClr val="00B050"/>
                          </a:solidFill>
                          <a:latin typeface="Arial"/>
                          <a:cs typeface="Arial"/>
                        </a:rPr>
                        <a:t>LHR APD Tax Report Automation </a:t>
                      </a:r>
                      <a:endParaRPr lang="en-US" sz="1200" b="1" i="0" u="none" strike="noStrike" kern="1200" noProof="0">
                        <a:solidFill>
                          <a:srgbClr val="00B050"/>
                        </a:solidFill>
                        <a:latin typeface="+mn-lt"/>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lvl="0" indent="0" algn="l">
                        <a:lnSpc>
                          <a:spcPct val="100000"/>
                        </a:lnSpc>
                        <a:spcBef>
                          <a:spcPts val="0"/>
                        </a:spcBef>
                        <a:spcAft>
                          <a:spcPts val="0"/>
                        </a:spcAft>
                        <a:buNone/>
                      </a:pPr>
                      <a:r>
                        <a:rPr lang="en-US" sz="1100" b="0" i="0" u="none" strike="noStrike" kern="1200" noProof="0">
                          <a:solidFill>
                            <a:schemeClr val="tx1"/>
                          </a:solidFill>
                          <a:latin typeface="Segoe UI"/>
                          <a:ea typeface="+mn-ea"/>
                          <a:cs typeface="Segoe UI"/>
                        </a:rPr>
                        <a:t>Automation of APD reporting for LHR, BHX, and LGW flights by consolidating passenger data from DWH and ticketing systems. The solution improves compliance with HMRC regulations, reduces manual effort, enhances reporting accuracy, and mitigates the risk of penalties and revenue leakage.</a:t>
                      </a:r>
                    </a:p>
                    <a:p>
                      <a:pPr marL="0" lvl="0" indent="0" algn="l">
                        <a:lnSpc>
                          <a:spcPct val="100000"/>
                        </a:lnSpc>
                        <a:spcBef>
                          <a:spcPts val="0"/>
                        </a:spcBef>
                        <a:spcAft>
                          <a:spcPts val="0"/>
                        </a:spcAft>
                        <a:buNone/>
                      </a:pPr>
                      <a:endParaRPr lang="en-US" sz="1100" b="0" i="0" u="none" strike="noStrike" kern="1200" noProof="0">
                        <a:solidFill>
                          <a:schemeClr val="tx1"/>
                        </a:solidFill>
                        <a:latin typeface="Segoe UI"/>
                        <a:cs typeface="Segoe UI"/>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443371065"/>
                  </a:ext>
                </a:extLst>
              </a:tr>
              <a:tr h="326080">
                <a:tc>
                  <a:txBody>
                    <a:bodyPr/>
                    <a:lstStyle/>
                    <a:p>
                      <a:pPr marL="0" lvl="0" indent="0" algn="l">
                        <a:lnSpc>
                          <a:spcPct val="100000"/>
                        </a:lnSpc>
                        <a:spcBef>
                          <a:spcPts val="0"/>
                        </a:spcBef>
                        <a:spcAft>
                          <a:spcPts val="0"/>
                        </a:spcAft>
                        <a:buNone/>
                      </a:pPr>
                      <a:r>
                        <a:rPr lang="en-US" sz="1000" b="0" i="0" u="none" strike="noStrike" kern="1200" noProof="0">
                          <a:solidFill>
                            <a:srgbClr val="00B050"/>
                          </a:solidFill>
                          <a:latin typeface="Arial"/>
                          <a:cs typeface="Arial"/>
                        </a:rPr>
                        <a:t>2.    US Tax Collection Report </a:t>
                      </a:r>
                      <a:endParaRPr lang="en-US" sz="1200" b="1" i="0" u="none" strike="noStrike" kern="1200" noProof="0">
                        <a:solidFill>
                          <a:srgbClr val="00B050"/>
                        </a:solidFill>
                        <a:latin typeface="+mn-lt"/>
                      </a:endParaRPr>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lvl="0" algn="l">
                        <a:lnSpc>
                          <a:spcPct val="100000"/>
                        </a:lnSpc>
                        <a:spcBef>
                          <a:spcPts val="0"/>
                        </a:spcBef>
                        <a:spcAft>
                          <a:spcPts val="0"/>
                        </a:spcAft>
                        <a:buNone/>
                      </a:pPr>
                      <a:r>
                        <a:rPr lang="en-US" sz="1200" b="0" i="0" u="none" strike="noStrike" kern="1200" noProof="0">
                          <a:solidFill>
                            <a:schemeClr val="tx1"/>
                          </a:solidFill>
                          <a:latin typeface="Nunito Sans"/>
                          <a:cs typeface="Segoe UI"/>
                        </a:rPr>
                        <a:t>Automation of  generation of tax-specific reports for US tax codes across sales, reissues, and refunds, providing accurate and standardized tax collection reporting. The solution improves reconciliation efficiency, supports audit and compliance requirements, and reduces manual effort while strengthening financial controls. </a:t>
                      </a:r>
                      <a:endParaRPr lang="en-US" sz="1200" b="0" i="0" u="none" strike="noStrike" kern="1200" noProof="0">
                        <a:solidFill>
                          <a:srgbClr val="000000"/>
                        </a:solidFill>
                        <a:latin typeface="Nunito Sans"/>
                        <a:cs typeface="Segoe UI"/>
                      </a:endParaRPr>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417476375"/>
                  </a:ext>
                </a:extLst>
              </a:tr>
              <a:tr h="326080">
                <a:tc>
                  <a:txBody>
                    <a:bodyPr/>
                    <a:lstStyle/>
                    <a:p>
                      <a:pPr marL="228600" lvl="0" indent="-228600" algn="l">
                        <a:lnSpc>
                          <a:spcPct val="100000"/>
                        </a:lnSpc>
                        <a:spcBef>
                          <a:spcPts val="0"/>
                        </a:spcBef>
                        <a:spcAft>
                          <a:spcPts val="0"/>
                        </a:spcAft>
                        <a:buAutoNum type="arabicPeriod"/>
                      </a:pPr>
                      <a:endParaRPr lang="en-US" sz="1200" b="1" i="0" u="none" strike="noStrike" kern="1200" noProof="0">
                        <a:solidFill>
                          <a:srgbClr val="0070C0"/>
                        </a:solidFill>
                        <a:latin typeface="+mn-lt"/>
                      </a:endParaRPr>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tc>
                  <a:txBody>
                    <a:bodyPr/>
                    <a:lstStyle/>
                    <a:p>
                      <a:pPr marL="0" lvl="0" indent="0" algn="l">
                        <a:lnSpc>
                          <a:spcPct val="100000"/>
                        </a:lnSpc>
                        <a:spcBef>
                          <a:spcPts val="0"/>
                        </a:spcBef>
                        <a:spcAft>
                          <a:spcPts val="0"/>
                        </a:spcAft>
                        <a:buNone/>
                      </a:pPr>
                      <a:endParaRPr lang="en-US" sz="1200" b="1" i="0" u="none" strike="noStrike" kern="1200" noProof="0">
                        <a:solidFill>
                          <a:schemeClr val="tx1"/>
                        </a:solidFill>
                        <a:latin typeface="+mn-lt"/>
                      </a:endParaRPr>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extLst>
                  <a:ext uri="{0D108BD9-81ED-4DB2-BD59-A6C34878D82A}">
                    <a16:rowId xmlns:a16="http://schemas.microsoft.com/office/drawing/2014/main" val="1110178885"/>
                  </a:ext>
                </a:extLst>
              </a:tr>
            </a:tbl>
          </a:graphicData>
        </a:graphic>
      </p:graphicFrame>
      <p:sp>
        <p:nvSpPr>
          <p:cNvPr id="13" name="Rectangle 12">
            <a:extLst>
              <a:ext uri="{FF2B5EF4-FFF2-40B4-BE49-F238E27FC236}">
                <a16:creationId xmlns:a16="http://schemas.microsoft.com/office/drawing/2014/main" id="{DD4CD2D7-E717-BF0C-8BDE-A0E1DE23F112}"/>
              </a:ext>
            </a:extLst>
          </p:cNvPr>
          <p:cNvSpPr/>
          <p:nvPr/>
        </p:nvSpPr>
        <p:spPr>
          <a:xfrm>
            <a:off x="136167" y="861655"/>
            <a:ext cx="1170432" cy="42234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1100" b="1">
                <a:latin typeface="AirIndia"/>
              </a:rPr>
              <a:t>July 2026</a:t>
            </a:r>
            <a:endParaRPr lang="en-US"/>
          </a:p>
        </p:txBody>
      </p:sp>
      <p:sp>
        <p:nvSpPr>
          <p:cNvPr id="3" name="Rectangle 2">
            <a:extLst>
              <a:ext uri="{FF2B5EF4-FFF2-40B4-BE49-F238E27FC236}">
                <a16:creationId xmlns:a16="http://schemas.microsoft.com/office/drawing/2014/main" id="{B1668D6D-906E-98F5-DAFA-47C74196AAE9}"/>
              </a:ext>
            </a:extLst>
          </p:cNvPr>
          <p:cNvSpPr/>
          <p:nvPr/>
        </p:nvSpPr>
        <p:spPr>
          <a:xfrm>
            <a:off x="3465009" y="6262087"/>
            <a:ext cx="90000" cy="90000"/>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
        <p:nvSpPr>
          <p:cNvPr id="4" name="Rectangle 3">
            <a:extLst>
              <a:ext uri="{FF2B5EF4-FFF2-40B4-BE49-F238E27FC236}">
                <a16:creationId xmlns:a16="http://schemas.microsoft.com/office/drawing/2014/main" id="{93FC5E03-BE43-B6BE-E4DF-86F87B0C5E27}"/>
              </a:ext>
            </a:extLst>
          </p:cNvPr>
          <p:cNvSpPr/>
          <p:nvPr/>
        </p:nvSpPr>
        <p:spPr>
          <a:xfrm>
            <a:off x="3465009" y="6489649"/>
            <a:ext cx="90000" cy="90000"/>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
        <p:nvSpPr>
          <p:cNvPr id="5" name="Rectangle 4">
            <a:extLst>
              <a:ext uri="{FF2B5EF4-FFF2-40B4-BE49-F238E27FC236}">
                <a16:creationId xmlns:a16="http://schemas.microsoft.com/office/drawing/2014/main" id="{B2C0A676-7F81-8ACE-C2E0-C27EBD491FA1}"/>
              </a:ext>
            </a:extLst>
          </p:cNvPr>
          <p:cNvSpPr/>
          <p:nvPr/>
        </p:nvSpPr>
        <p:spPr>
          <a:xfrm>
            <a:off x="5567900" y="6262087"/>
            <a:ext cx="90000" cy="90000"/>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
        <p:nvSpPr>
          <p:cNvPr id="7" name="Rectangle 6">
            <a:extLst>
              <a:ext uri="{FF2B5EF4-FFF2-40B4-BE49-F238E27FC236}">
                <a16:creationId xmlns:a16="http://schemas.microsoft.com/office/drawing/2014/main" id="{68BC9763-E76E-2960-FFA6-7CB72146EB33}"/>
              </a:ext>
            </a:extLst>
          </p:cNvPr>
          <p:cNvSpPr/>
          <p:nvPr/>
        </p:nvSpPr>
        <p:spPr>
          <a:xfrm>
            <a:off x="5567900" y="6489649"/>
            <a:ext cx="90000" cy="90000"/>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
        <p:nvSpPr>
          <p:cNvPr id="8" name="TextBox 15">
            <a:extLst>
              <a:ext uri="{FF2B5EF4-FFF2-40B4-BE49-F238E27FC236}">
                <a16:creationId xmlns:a16="http://schemas.microsoft.com/office/drawing/2014/main" id="{79F6D0DC-0D75-26C7-FA31-C355B0671838}"/>
              </a:ext>
            </a:extLst>
          </p:cNvPr>
          <p:cNvSpPr txBox="1"/>
          <p:nvPr/>
        </p:nvSpPr>
        <p:spPr>
          <a:xfrm>
            <a:off x="3522317" y="6205238"/>
            <a:ext cx="857245"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000">
                <a:solidFill>
                  <a:srgbClr val="0070C0"/>
                </a:solidFill>
              </a:rPr>
              <a:t>Delivered</a:t>
            </a:r>
            <a:endParaRPr lang="en-IN" sz="1000"/>
          </a:p>
        </p:txBody>
      </p:sp>
      <p:sp>
        <p:nvSpPr>
          <p:cNvPr id="9" name="TextBox 18">
            <a:extLst>
              <a:ext uri="{FF2B5EF4-FFF2-40B4-BE49-F238E27FC236}">
                <a16:creationId xmlns:a16="http://schemas.microsoft.com/office/drawing/2014/main" id="{F5565C75-94E0-C158-84A5-FDF752F92BE4}"/>
              </a:ext>
            </a:extLst>
          </p:cNvPr>
          <p:cNvSpPr txBox="1"/>
          <p:nvPr/>
        </p:nvSpPr>
        <p:spPr>
          <a:xfrm>
            <a:off x="3520719" y="6430197"/>
            <a:ext cx="1032881"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000">
                <a:solidFill>
                  <a:srgbClr val="00B050"/>
                </a:solidFill>
              </a:rPr>
              <a:t>Ontrack</a:t>
            </a:r>
            <a:endParaRPr lang="en-IN" sz="1000"/>
          </a:p>
        </p:txBody>
      </p:sp>
      <p:sp>
        <p:nvSpPr>
          <p:cNvPr id="10" name="TextBox 20">
            <a:extLst>
              <a:ext uri="{FF2B5EF4-FFF2-40B4-BE49-F238E27FC236}">
                <a16:creationId xmlns:a16="http://schemas.microsoft.com/office/drawing/2014/main" id="{DF1CF992-3F66-DF23-3BE8-16F35408AE86}"/>
              </a:ext>
            </a:extLst>
          </p:cNvPr>
          <p:cNvSpPr txBox="1"/>
          <p:nvPr/>
        </p:nvSpPr>
        <p:spPr>
          <a:xfrm>
            <a:off x="5653197" y="6220637"/>
            <a:ext cx="2257628"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000">
                <a:solidFill>
                  <a:schemeClr val="accent6">
                    <a:lumMod val="75000"/>
                  </a:schemeClr>
                </a:solidFill>
              </a:rPr>
              <a:t>Under delay and can be recovered</a:t>
            </a:r>
            <a:endParaRPr lang="en-IN" sz="1000"/>
          </a:p>
        </p:txBody>
      </p:sp>
      <p:sp>
        <p:nvSpPr>
          <p:cNvPr id="11" name="TextBox 22">
            <a:extLst>
              <a:ext uri="{FF2B5EF4-FFF2-40B4-BE49-F238E27FC236}">
                <a16:creationId xmlns:a16="http://schemas.microsoft.com/office/drawing/2014/main" id="{BABA54BF-DB2D-829D-8B90-5AD2DFEA882F}"/>
              </a:ext>
            </a:extLst>
          </p:cNvPr>
          <p:cNvSpPr txBox="1"/>
          <p:nvPr/>
        </p:nvSpPr>
        <p:spPr>
          <a:xfrm>
            <a:off x="5657900" y="6437221"/>
            <a:ext cx="3069090"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000">
                <a:solidFill>
                  <a:schemeClr val="accent2"/>
                </a:solidFill>
              </a:rPr>
              <a:t>Delayed and pushed to next release</a:t>
            </a:r>
            <a:endParaRPr lang="en-IN" sz="1000"/>
          </a:p>
        </p:txBody>
      </p:sp>
      <p:graphicFrame>
        <p:nvGraphicFramePr>
          <p:cNvPr id="14" name="Table 13">
            <a:extLst>
              <a:ext uri="{FF2B5EF4-FFF2-40B4-BE49-F238E27FC236}">
                <a16:creationId xmlns:a16="http://schemas.microsoft.com/office/drawing/2014/main" id="{F639C659-3D6D-4945-1F7B-2D8E4E3F9D0D}"/>
              </a:ext>
            </a:extLst>
          </p:cNvPr>
          <p:cNvGraphicFramePr>
            <a:graphicFrameLocks noGrp="1"/>
          </p:cNvGraphicFramePr>
          <p:nvPr>
            <p:extLst>
              <p:ext uri="{D42A27DB-BD31-4B8C-83A1-F6EECF244321}">
                <p14:modId xmlns:p14="http://schemas.microsoft.com/office/powerpoint/2010/main" val="218341802"/>
              </p:ext>
            </p:extLst>
          </p:nvPr>
        </p:nvGraphicFramePr>
        <p:xfrm>
          <a:off x="1295713" y="3218228"/>
          <a:ext cx="10697936" cy="2054469"/>
        </p:xfrm>
        <a:graphic>
          <a:graphicData uri="http://schemas.openxmlformats.org/drawingml/2006/table">
            <a:tbl>
              <a:tblPr firstRow="1" bandRow="1">
                <a:tableStyleId>{5C22544A-7EE6-4342-B048-85BDC9FD1C3A}</a:tableStyleId>
              </a:tblPr>
              <a:tblGrid>
                <a:gridCol w="3759268">
                  <a:extLst>
                    <a:ext uri="{9D8B030D-6E8A-4147-A177-3AD203B41FA5}">
                      <a16:colId xmlns:a16="http://schemas.microsoft.com/office/drawing/2014/main" val="2822350773"/>
                    </a:ext>
                  </a:extLst>
                </a:gridCol>
                <a:gridCol w="6938668">
                  <a:extLst>
                    <a:ext uri="{9D8B030D-6E8A-4147-A177-3AD203B41FA5}">
                      <a16:colId xmlns:a16="http://schemas.microsoft.com/office/drawing/2014/main" val="99588705"/>
                    </a:ext>
                  </a:extLst>
                </a:gridCol>
              </a:tblGrid>
              <a:tr h="217387">
                <a:tc>
                  <a:txBody>
                    <a:bodyPr/>
                    <a:lstStyle/>
                    <a:p>
                      <a:pPr marL="0" lvl="0" indent="0" algn="ctr" defTabSz="914400" rtl="0" eaLnBrk="1" latinLnBrk="0" hangingPunct="1">
                        <a:lnSpc>
                          <a:spcPct val="100000"/>
                        </a:lnSpc>
                        <a:buFont typeface="Arial" panose="020B0604020202020204" pitchFamily="34" charset="0"/>
                        <a:buNone/>
                      </a:pPr>
                      <a:r>
                        <a:rPr lang="en-IN" sz="1200" kern="1200">
                          <a:solidFill>
                            <a:schemeClr val="bg1"/>
                          </a:solidFill>
                          <a:latin typeface="+mn-lt"/>
                          <a:ea typeface="+mn-ea"/>
                          <a:cs typeface="+mn-cs"/>
                        </a:rPr>
                        <a:t>Project/Initiative</a:t>
                      </a:r>
                      <a:endParaRPr lang="en-US" sz="1200"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tc>
                  <a:txBody>
                    <a:bodyPr/>
                    <a:lstStyle/>
                    <a:p>
                      <a:pPr marL="0" indent="0" algn="ctr" defTabSz="914400" rtl="0" eaLnBrk="1" latinLnBrk="0" hangingPunct="1">
                        <a:buFont typeface="Arial" panose="020B0604020202020204" pitchFamily="34" charset="0"/>
                        <a:buNone/>
                      </a:pPr>
                      <a:r>
                        <a:rPr lang="en-IN" sz="1200" kern="1200">
                          <a:solidFill>
                            <a:schemeClr val="bg1"/>
                          </a:solidFill>
                          <a:latin typeface="+mn-lt"/>
                          <a:ea typeface="+mn-ea"/>
                          <a:cs typeface="+mn-cs"/>
                        </a:rPr>
                        <a:t>Value Justification/Realization</a:t>
                      </a:r>
                      <a:endParaRPr lang="en-US" sz="1200"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extLst>
                  <a:ext uri="{0D108BD9-81ED-4DB2-BD59-A6C34878D82A}">
                    <a16:rowId xmlns:a16="http://schemas.microsoft.com/office/drawing/2014/main" val="844450115"/>
                  </a:ext>
                </a:extLst>
              </a:tr>
              <a:tr h="499989">
                <a:tc>
                  <a:txBody>
                    <a:bodyPr/>
                    <a:lstStyle/>
                    <a:p>
                      <a:pPr marL="228600" lvl="0" indent="-228600" algn="l">
                        <a:lnSpc>
                          <a:spcPct val="100000"/>
                        </a:lnSpc>
                        <a:spcBef>
                          <a:spcPts val="0"/>
                        </a:spcBef>
                        <a:spcAft>
                          <a:spcPts val="0"/>
                        </a:spcAft>
                        <a:buAutoNum type="arabicPeriod"/>
                      </a:pPr>
                      <a:r>
                        <a:rPr lang="en-US" sz="1200" b="0" i="0" u="none" strike="noStrike" kern="1200" noProof="0">
                          <a:solidFill>
                            <a:srgbClr val="00B050"/>
                          </a:solidFill>
                        </a:rPr>
                        <a:t>Q charge Report (Transaction Fee)</a:t>
                      </a:r>
                      <a:endParaRPr lang="en-US" sz="1200" b="1" i="0" u="none" strike="noStrike" kern="1200" noProof="0">
                        <a:solidFill>
                          <a:srgbClr val="00B050"/>
                        </a:solidFill>
                        <a:latin typeface="+mn-lt"/>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lvl="0" indent="0" algn="l">
                        <a:lnSpc>
                          <a:spcPct val="100000"/>
                        </a:lnSpc>
                        <a:spcBef>
                          <a:spcPts val="0"/>
                        </a:spcBef>
                        <a:spcAft>
                          <a:spcPts val="0"/>
                        </a:spcAft>
                        <a:buNone/>
                      </a:pPr>
                      <a:r>
                        <a:rPr lang="en-US" sz="1200" b="0" i="0" u="none" strike="noStrike" kern="1200" noProof="0">
                          <a:solidFill>
                            <a:schemeClr val="tx1"/>
                          </a:solidFill>
                          <a:latin typeface="Nunito Sans"/>
                        </a:rPr>
                        <a:t>Report to identify, calculate, and process transaction fee payouts to agencies for eligible tickets that contain Q-charges in their fare construction</a:t>
                      </a:r>
                      <a:endParaRPr lang="en-US"/>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443371065"/>
                  </a:ext>
                </a:extLst>
              </a:tr>
              <a:tr h="326080">
                <a:tc>
                  <a:txBody>
                    <a:bodyPr/>
                    <a:lstStyle/>
                    <a:p>
                      <a:pPr marL="0" lvl="0" indent="0" algn="l">
                        <a:lnSpc>
                          <a:spcPct val="100000"/>
                        </a:lnSpc>
                        <a:spcBef>
                          <a:spcPts val="0"/>
                        </a:spcBef>
                        <a:spcAft>
                          <a:spcPts val="0"/>
                        </a:spcAft>
                        <a:buNone/>
                      </a:pPr>
                      <a:r>
                        <a:rPr lang="en-US" sz="1200" b="0" i="0" u="none" strike="noStrike" kern="1200" noProof="0">
                          <a:solidFill>
                            <a:srgbClr val="00B050"/>
                          </a:solidFill>
                        </a:rPr>
                        <a:t>2. Airport Tax - Dashboard India &amp; International</a:t>
                      </a:r>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marL="0" lvl="0" indent="0" algn="l">
                        <a:lnSpc>
                          <a:spcPct val="100000"/>
                        </a:lnSpc>
                        <a:spcBef>
                          <a:spcPts val="0"/>
                        </a:spcBef>
                        <a:spcAft>
                          <a:spcPts val="0"/>
                        </a:spcAft>
                        <a:buNone/>
                      </a:pPr>
                      <a:r>
                        <a:rPr lang="en-US" sz="1200" b="0" i="0" u="none" strike="noStrike" kern="1200" noProof="0">
                          <a:solidFill>
                            <a:schemeClr val="tx1"/>
                          </a:solidFill>
                          <a:latin typeface="Nunito Sans"/>
                        </a:rPr>
                        <a:t>The dashboard will display the total airport taxes collected for each ticket, broken down by sector, along with the applicable taxes at both the sector level and the CPN level and the reconciliation based on DA</a:t>
                      </a:r>
                      <a:endParaRPr lang="en-US"/>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417476375"/>
                  </a:ext>
                </a:extLst>
              </a:tr>
              <a:tr h="326080">
                <a:tc>
                  <a:txBody>
                    <a:bodyPr/>
                    <a:lstStyle/>
                    <a:p>
                      <a:pPr marL="0" lvl="0" indent="0" algn="l">
                        <a:lnSpc>
                          <a:spcPct val="100000"/>
                        </a:lnSpc>
                        <a:spcBef>
                          <a:spcPts val="0"/>
                        </a:spcBef>
                        <a:spcAft>
                          <a:spcPts val="0"/>
                        </a:spcAft>
                        <a:buNone/>
                      </a:pPr>
                      <a:r>
                        <a:rPr lang="en-US" sz="1200" b="0" i="0" u="none" strike="noStrike" kern="1200" noProof="0">
                          <a:solidFill>
                            <a:srgbClr val="00B050"/>
                          </a:solidFill>
                          <a:latin typeface="+mn-lt"/>
                        </a:rPr>
                        <a:t>3. SAP Log ingestion</a:t>
                      </a:r>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tc>
                  <a:txBody>
                    <a:bodyPr/>
                    <a:lstStyle/>
                    <a:p>
                      <a:pPr marL="0" lvl="0" indent="0" algn="l">
                        <a:lnSpc>
                          <a:spcPct val="100000"/>
                        </a:lnSpc>
                        <a:spcBef>
                          <a:spcPts val="0"/>
                        </a:spcBef>
                        <a:spcAft>
                          <a:spcPts val="0"/>
                        </a:spcAft>
                        <a:buNone/>
                      </a:pPr>
                      <a:r>
                        <a:rPr lang="en-US" sz="1200" b="0" i="0" u="none" strike="noStrike" kern="1200" noProof="0">
                          <a:solidFill>
                            <a:schemeClr val="tx1"/>
                          </a:solidFill>
                        </a:rPr>
                        <a:t>SAP LogServ Logs ingestion from Google Cloud Storage to Air India Azure Data Lake Storage. GCS contains around ~2TB yearly files which GCS will retain for 365 days, the ask is to bring those logs to AI Azure platform and to store them for audit purposes if needed.</a:t>
                      </a:r>
                      <a:endParaRPr lang="en-US" sz="1200" b="1" i="0" u="none" strike="noStrike" kern="1200" noProof="0">
                        <a:solidFill>
                          <a:schemeClr val="tx1"/>
                        </a:solidFill>
                        <a:latin typeface="+mn-lt"/>
                      </a:endParaRPr>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extLst>
                  <a:ext uri="{0D108BD9-81ED-4DB2-BD59-A6C34878D82A}">
                    <a16:rowId xmlns:a16="http://schemas.microsoft.com/office/drawing/2014/main" val="1110178885"/>
                  </a:ext>
                </a:extLst>
              </a:tr>
            </a:tbl>
          </a:graphicData>
        </a:graphic>
      </p:graphicFrame>
      <p:sp>
        <p:nvSpPr>
          <p:cNvPr id="16" name="Rectangle 15">
            <a:extLst>
              <a:ext uri="{FF2B5EF4-FFF2-40B4-BE49-F238E27FC236}">
                <a16:creationId xmlns:a16="http://schemas.microsoft.com/office/drawing/2014/main" id="{26C15905-6989-8862-6584-02046F811D82}"/>
              </a:ext>
            </a:extLst>
          </p:cNvPr>
          <p:cNvSpPr/>
          <p:nvPr/>
        </p:nvSpPr>
        <p:spPr>
          <a:xfrm>
            <a:off x="125281" y="2646912"/>
            <a:ext cx="1170432" cy="42234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1100" b="1">
                <a:latin typeface="AirIndia"/>
              </a:rPr>
              <a:t>Aug 2026</a:t>
            </a:r>
            <a:endParaRPr lang="en-US"/>
          </a:p>
        </p:txBody>
      </p:sp>
    </p:spTree>
    <p:extLst>
      <p:ext uri="{BB962C8B-B14F-4D97-AF65-F5344CB8AC3E}">
        <p14:creationId xmlns:p14="http://schemas.microsoft.com/office/powerpoint/2010/main" val="2334398948"/>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08F6CF-1D44-0C67-BBA8-767B44B32CA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0573D98-2485-7B29-1AC8-E2F93D7882D3}"/>
              </a:ext>
            </a:extLst>
          </p:cNvPr>
          <p:cNvSpPr>
            <a:spLocks noGrp="1"/>
          </p:cNvSpPr>
          <p:nvPr>
            <p:ph type="sldNum" sz="quarter" idx="12"/>
          </p:nvPr>
        </p:nvSpPr>
        <p:spPr/>
        <p:txBody>
          <a:bodyPr/>
          <a:lstStyle/>
          <a:p>
            <a:fld id="{3A41A254-7326-714E-AF55-4C213D6394DE}" type="slidenum">
              <a:rPr lang="en-US" smtClean="0"/>
              <a:pPr/>
              <a:t>112</a:t>
            </a:fld>
            <a:endParaRPr lang="en-US"/>
          </a:p>
        </p:txBody>
      </p:sp>
      <p:sp>
        <p:nvSpPr>
          <p:cNvPr id="6" name="Title 11">
            <a:extLst>
              <a:ext uri="{FF2B5EF4-FFF2-40B4-BE49-F238E27FC236}">
                <a16:creationId xmlns:a16="http://schemas.microsoft.com/office/drawing/2014/main" id="{6CDF82E1-9A85-90C4-DB33-BA8179E5DB15}"/>
              </a:ext>
            </a:extLst>
          </p:cNvPr>
          <p:cNvSpPr txBox="1">
            <a:spLocks/>
          </p:cNvSpPr>
          <p:nvPr/>
        </p:nvSpPr>
        <p:spPr>
          <a:xfrm>
            <a:off x="195943" y="307594"/>
            <a:ext cx="5562600" cy="396638"/>
          </a:xfrm>
          <a:prstGeom prst="rect">
            <a:avLst/>
          </a:prstGeom>
        </p:spPr>
        <p:txBody>
          <a:bodyPr lIns="91440" tIns="45720" rIns="91440" bIns="45720" anchor="t">
            <a:noAutofit/>
          </a:bodyPr>
          <a:lstStyle>
            <a:lvl1pPr algn="l" defTabSz="914400" rtl="0" eaLnBrk="1" latinLnBrk="0" hangingPunct="1">
              <a:lnSpc>
                <a:spcPct val="90000"/>
              </a:lnSpc>
              <a:spcBef>
                <a:spcPct val="0"/>
              </a:spcBef>
              <a:buNone/>
              <a:defRPr sz="4400" b="1" i="0" kern="1200">
                <a:solidFill>
                  <a:schemeClr val="tx1"/>
                </a:solidFill>
                <a:latin typeface="AirIndia" pitchFamily="82" charset="77"/>
                <a:ea typeface="+mj-ea"/>
                <a:cs typeface="+mj-cs"/>
              </a:defRPr>
            </a:lvl1pPr>
          </a:lstStyle>
          <a:p>
            <a:r>
              <a:rPr lang="en-US" sz="2400">
                <a:solidFill>
                  <a:schemeClr val="accent1"/>
                </a:solidFill>
                <a:latin typeface="AirIndia"/>
              </a:rPr>
              <a:t>Finance - FY26 Q2 Release Plan</a:t>
            </a:r>
            <a:endParaRPr lang="en-US" sz="2400" b="0">
              <a:solidFill>
                <a:schemeClr val="accent1"/>
              </a:solidFill>
              <a:latin typeface="AirIndia"/>
            </a:endParaRPr>
          </a:p>
          <a:p>
            <a:endParaRPr lang="en-US" sz="1800">
              <a:solidFill>
                <a:schemeClr val="accent1"/>
              </a:solidFill>
              <a:latin typeface="AirIndia"/>
            </a:endParaRPr>
          </a:p>
        </p:txBody>
      </p:sp>
      <p:sp>
        <p:nvSpPr>
          <p:cNvPr id="3" name="Rectangle 2">
            <a:extLst>
              <a:ext uri="{FF2B5EF4-FFF2-40B4-BE49-F238E27FC236}">
                <a16:creationId xmlns:a16="http://schemas.microsoft.com/office/drawing/2014/main" id="{AF858BE3-D9B2-CB90-397C-FD635E8C9884}"/>
              </a:ext>
            </a:extLst>
          </p:cNvPr>
          <p:cNvSpPr/>
          <p:nvPr/>
        </p:nvSpPr>
        <p:spPr>
          <a:xfrm>
            <a:off x="3465009" y="6262087"/>
            <a:ext cx="90000" cy="90000"/>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
        <p:nvSpPr>
          <p:cNvPr id="4" name="Rectangle 3">
            <a:extLst>
              <a:ext uri="{FF2B5EF4-FFF2-40B4-BE49-F238E27FC236}">
                <a16:creationId xmlns:a16="http://schemas.microsoft.com/office/drawing/2014/main" id="{718A6038-FF3D-A74C-2E9C-DB03588BE46C}"/>
              </a:ext>
            </a:extLst>
          </p:cNvPr>
          <p:cNvSpPr/>
          <p:nvPr/>
        </p:nvSpPr>
        <p:spPr>
          <a:xfrm>
            <a:off x="3465009" y="6489649"/>
            <a:ext cx="90000" cy="90000"/>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
        <p:nvSpPr>
          <p:cNvPr id="5" name="Rectangle 4">
            <a:extLst>
              <a:ext uri="{FF2B5EF4-FFF2-40B4-BE49-F238E27FC236}">
                <a16:creationId xmlns:a16="http://schemas.microsoft.com/office/drawing/2014/main" id="{895B8E92-93E3-793A-33C5-1DA03207BE1B}"/>
              </a:ext>
            </a:extLst>
          </p:cNvPr>
          <p:cNvSpPr/>
          <p:nvPr/>
        </p:nvSpPr>
        <p:spPr>
          <a:xfrm>
            <a:off x="5567900" y="6262087"/>
            <a:ext cx="90000" cy="90000"/>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
        <p:nvSpPr>
          <p:cNvPr id="7" name="Rectangle 6">
            <a:extLst>
              <a:ext uri="{FF2B5EF4-FFF2-40B4-BE49-F238E27FC236}">
                <a16:creationId xmlns:a16="http://schemas.microsoft.com/office/drawing/2014/main" id="{8D5FC50A-2BA8-A74D-9DB7-D5FCD074A06F}"/>
              </a:ext>
            </a:extLst>
          </p:cNvPr>
          <p:cNvSpPr/>
          <p:nvPr/>
        </p:nvSpPr>
        <p:spPr>
          <a:xfrm>
            <a:off x="5567900" y="6489649"/>
            <a:ext cx="90000" cy="90000"/>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
        <p:nvSpPr>
          <p:cNvPr id="8" name="TextBox 15">
            <a:extLst>
              <a:ext uri="{FF2B5EF4-FFF2-40B4-BE49-F238E27FC236}">
                <a16:creationId xmlns:a16="http://schemas.microsoft.com/office/drawing/2014/main" id="{327EA4B2-2588-4B57-18D9-60286FCA75D7}"/>
              </a:ext>
            </a:extLst>
          </p:cNvPr>
          <p:cNvSpPr txBox="1"/>
          <p:nvPr/>
        </p:nvSpPr>
        <p:spPr>
          <a:xfrm>
            <a:off x="3522317" y="6205238"/>
            <a:ext cx="857245"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000">
                <a:solidFill>
                  <a:srgbClr val="0070C0"/>
                </a:solidFill>
              </a:rPr>
              <a:t>Delivered</a:t>
            </a:r>
            <a:endParaRPr lang="en-IN" sz="1000"/>
          </a:p>
        </p:txBody>
      </p:sp>
      <p:sp>
        <p:nvSpPr>
          <p:cNvPr id="9" name="TextBox 18">
            <a:extLst>
              <a:ext uri="{FF2B5EF4-FFF2-40B4-BE49-F238E27FC236}">
                <a16:creationId xmlns:a16="http://schemas.microsoft.com/office/drawing/2014/main" id="{FC7CAACA-7EA7-E8C9-BC74-FE55DD69C1BD}"/>
              </a:ext>
            </a:extLst>
          </p:cNvPr>
          <p:cNvSpPr txBox="1"/>
          <p:nvPr/>
        </p:nvSpPr>
        <p:spPr>
          <a:xfrm>
            <a:off x="3520719" y="6430197"/>
            <a:ext cx="1032881"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000">
                <a:solidFill>
                  <a:srgbClr val="00B050"/>
                </a:solidFill>
              </a:rPr>
              <a:t>Ontrack</a:t>
            </a:r>
            <a:endParaRPr lang="en-IN" sz="1000"/>
          </a:p>
        </p:txBody>
      </p:sp>
      <p:sp>
        <p:nvSpPr>
          <p:cNvPr id="10" name="TextBox 20">
            <a:extLst>
              <a:ext uri="{FF2B5EF4-FFF2-40B4-BE49-F238E27FC236}">
                <a16:creationId xmlns:a16="http://schemas.microsoft.com/office/drawing/2014/main" id="{3004BDEA-449C-AA93-3B98-25FB3EB0F290}"/>
              </a:ext>
            </a:extLst>
          </p:cNvPr>
          <p:cNvSpPr txBox="1"/>
          <p:nvPr/>
        </p:nvSpPr>
        <p:spPr>
          <a:xfrm>
            <a:off x="5653197" y="6220637"/>
            <a:ext cx="2257628"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000">
                <a:solidFill>
                  <a:schemeClr val="accent6">
                    <a:lumMod val="75000"/>
                  </a:schemeClr>
                </a:solidFill>
              </a:rPr>
              <a:t>Under delay and can be recovered</a:t>
            </a:r>
            <a:endParaRPr lang="en-IN" sz="1000"/>
          </a:p>
        </p:txBody>
      </p:sp>
      <p:sp>
        <p:nvSpPr>
          <p:cNvPr id="11" name="TextBox 22">
            <a:extLst>
              <a:ext uri="{FF2B5EF4-FFF2-40B4-BE49-F238E27FC236}">
                <a16:creationId xmlns:a16="http://schemas.microsoft.com/office/drawing/2014/main" id="{A3337A9A-D1DC-30B8-51AD-9D2F12A41BF1}"/>
              </a:ext>
            </a:extLst>
          </p:cNvPr>
          <p:cNvSpPr txBox="1"/>
          <p:nvPr/>
        </p:nvSpPr>
        <p:spPr>
          <a:xfrm>
            <a:off x="5657900" y="6437221"/>
            <a:ext cx="3069090"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000">
                <a:solidFill>
                  <a:schemeClr val="accent2"/>
                </a:solidFill>
              </a:rPr>
              <a:t>Delayed and pushed to next release</a:t>
            </a:r>
            <a:endParaRPr lang="en-IN" sz="1000"/>
          </a:p>
        </p:txBody>
      </p:sp>
      <p:graphicFrame>
        <p:nvGraphicFramePr>
          <p:cNvPr id="15" name="Table 14">
            <a:extLst>
              <a:ext uri="{FF2B5EF4-FFF2-40B4-BE49-F238E27FC236}">
                <a16:creationId xmlns:a16="http://schemas.microsoft.com/office/drawing/2014/main" id="{34403C4D-B167-4C5E-FEEC-1F5974157096}"/>
              </a:ext>
            </a:extLst>
          </p:cNvPr>
          <p:cNvGraphicFramePr>
            <a:graphicFrameLocks noGrp="1"/>
          </p:cNvGraphicFramePr>
          <p:nvPr>
            <p:extLst>
              <p:ext uri="{D42A27DB-BD31-4B8C-83A1-F6EECF244321}">
                <p14:modId xmlns:p14="http://schemas.microsoft.com/office/powerpoint/2010/main" val="1039353888"/>
              </p:ext>
            </p:extLst>
          </p:nvPr>
        </p:nvGraphicFramePr>
        <p:xfrm>
          <a:off x="961885" y="1393057"/>
          <a:ext cx="10697938" cy="3124200"/>
        </p:xfrm>
        <a:graphic>
          <a:graphicData uri="http://schemas.openxmlformats.org/drawingml/2006/table">
            <a:tbl>
              <a:tblPr firstRow="1" bandRow="1">
                <a:tableStyleId>{5C22544A-7EE6-4342-B048-85BDC9FD1C3A}</a:tableStyleId>
              </a:tblPr>
              <a:tblGrid>
                <a:gridCol w="3759269">
                  <a:extLst>
                    <a:ext uri="{9D8B030D-6E8A-4147-A177-3AD203B41FA5}">
                      <a16:colId xmlns:a16="http://schemas.microsoft.com/office/drawing/2014/main" val="2822350773"/>
                    </a:ext>
                  </a:extLst>
                </a:gridCol>
                <a:gridCol w="6938669">
                  <a:extLst>
                    <a:ext uri="{9D8B030D-6E8A-4147-A177-3AD203B41FA5}">
                      <a16:colId xmlns:a16="http://schemas.microsoft.com/office/drawing/2014/main" val="99588705"/>
                    </a:ext>
                  </a:extLst>
                </a:gridCol>
              </a:tblGrid>
              <a:tr h="217387">
                <a:tc>
                  <a:txBody>
                    <a:bodyPr/>
                    <a:lstStyle/>
                    <a:p>
                      <a:pPr marL="0" lvl="0" indent="0" algn="ctr" defTabSz="914400" rtl="0" eaLnBrk="1" latinLnBrk="0" hangingPunct="1">
                        <a:lnSpc>
                          <a:spcPct val="100000"/>
                        </a:lnSpc>
                        <a:buFont typeface="Arial" panose="020B0604020202020204" pitchFamily="34" charset="0"/>
                        <a:buNone/>
                      </a:pPr>
                      <a:r>
                        <a:rPr lang="en-IN" sz="1200" kern="1200">
                          <a:solidFill>
                            <a:schemeClr val="bg1"/>
                          </a:solidFill>
                          <a:latin typeface="+mn-lt"/>
                          <a:ea typeface="+mn-ea"/>
                          <a:cs typeface="+mn-cs"/>
                        </a:rPr>
                        <a:t>Project/Initiative</a:t>
                      </a:r>
                      <a:endParaRPr lang="en-US" sz="1200"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tc>
                  <a:txBody>
                    <a:bodyPr/>
                    <a:lstStyle/>
                    <a:p>
                      <a:pPr marL="0" indent="0" algn="ctr" defTabSz="914400" rtl="0" eaLnBrk="1" latinLnBrk="0" hangingPunct="1">
                        <a:buFont typeface="Arial" panose="020B0604020202020204" pitchFamily="34" charset="0"/>
                        <a:buNone/>
                      </a:pPr>
                      <a:r>
                        <a:rPr lang="en-IN" sz="1200" kern="1200">
                          <a:solidFill>
                            <a:schemeClr val="bg1"/>
                          </a:solidFill>
                          <a:latin typeface="+mn-lt"/>
                          <a:ea typeface="+mn-ea"/>
                          <a:cs typeface="+mn-cs"/>
                        </a:rPr>
                        <a:t>Value Justification/Realization</a:t>
                      </a:r>
                      <a:endParaRPr lang="en-US" sz="1200"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extLst>
                  <a:ext uri="{0D108BD9-81ED-4DB2-BD59-A6C34878D82A}">
                    <a16:rowId xmlns:a16="http://schemas.microsoft.com/office/drawing/2014/main" val="844450115"/>
                  </a:ext>
                </a:extLst>
              </a:tr>
              <a:tr h="499989">
                <a:tc>
                  <a:txBody>
                    <a:bodyPr/>
                    <a:lstStyle/>
                    <a:p>
                      <a:pPr marL="228600" lvl="0" indent="-228600" algn="l">
                        <a:lnSpc>
                          <a:spcPct val="100000"/>
                        </a:lnSpc>
                        <a:spcBef>
                          <a:spcPts val="0"/>
                        </a:spcBef>
                        <a:spcAft>
                          <a:spcPts val="0"/>
                        </a:spcAft>
                        <a:buAutoNum type="arabicPeriod"/>
                      </a:pPr>
                      <a:r>
                        <a:rPr lang="en-US" sz="1200" b="0" i="0" u="none" strike="noStrike" kern="1200" noProof="0">
                          <a:solidFill>
                            <a:srgbClr val="00B050"/>
                          </a:solidFill>
                        </a:rPr>
                        <a:t>Forward Sales Dashboard Ph-II</a:t>
                      </a:r>
                      <a:endParaRPr lang="en-US" sz="1200" b="1" i="0" u="none" strike="noStrike" kern="1200" noProof="0">
                        <a:solidFill>
                          <a:srgbClr val="00B050"/>
                        </a:solidFill>
                        <a:latin typeface="+mn-lt"/>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lvl="0" indent="0" algn="l">
                        <a:lnSpc>
                          <a:spcPct val="100000"/>
                        </a:lnSpc>
                        <a:spcBef>
                          <a:spcPts val="0"/>
                        </a:spcBef>
                        <a:spcAft>
                          <a:spcPts val="0"/>
                        </a:spcAft>
                        <a:buNone/>
                      </a:pPr>
                      <a:r>
                        <a:rPr lang="en-US" sz="1100" b="0" i="0" u="none" strike="noStrike" kern="1200" noProof="0">
                          <a:solidFill>
                            <a:schemeClr val="tx1"/>
                          </a:solidFill>
                          <a:latin typeface="Segoe UI"/>
                          <a:cs typeface="Segoe UI"/>
                        </a:rPr>
                        <a:t>Development of Forward Sales Trend Dashboard that compares daily and weekly forward bookings against forecasted and actual flown performance. The solution improves forecast accuracy, supports revenue planning, and enables proactive actions to optimize revenue and demand management.</a:t>
                      </a:r>
                      <a:endParaRPr lang="en-US" sz="1200" b="0" i="0" u="none" strike="noStrike" kern="1200" noProof="0">
                        <a:solidFill>
                          <a:schemeClr val="tx1"/>
                        </a:solidFill>
                        <a:latin typeface="+mn-lt"/>
                      </a:endParaRPr>
                    </a:p>
                    <a:p>
                      <a:pPr marL="685800" lvl="1" indent="-228600" algn="l">
                        <a:lnSpc>
                          <a:spcPct val="100000"/>
                        </a:lnSpc>
                        <a:spcBef>
                          <a:spcPts val="0"/>
                        </a:spcBef>
                        <a:spcAft>
                          <a:spcPts val="0"/>
                        </a:spcAft>
                        <a:buFont typeface="Arial" panose="020B0604020202020204" pitchFamily="34" charset="0"/>
                        <a:buChar char="•"/>
                      </a:pPr>
                      <a:endParaRPr lang="en-US" sz="1200" b="0" i="0" u="none" strike="noStrike" kern="1200" noProof="0">
                        <a:solidFill>
                          <a:schemeClr val="tx1"/>
                        </a:solidFill>
                        <a:latin typeface="+mn-lt"/>
                      </a:endParaRPr>
                    </a:p>
                    <a:p>
                      <a:pPr marL="685800" lvl="1" indent="-228600" algn="l">
                        <a:lnSpc>
                          <a:spcPct val="100000"/>
                        </a:lnSpc>
                        <a:spcBef>
                          <a:spcPts val="0"/>
                        </a:spcBef>
                        <a:spcAft>
                          <a:spcPts val="0"/>
                        </a:spcAft>
                        <a:buFont typeface="Arial" panose="020B0604020202020204" pitchFamily="34" charset="0"/>
                        <a:buChar char="•"/>
                      </a:pPr>
                      <a:endParaRPr lang="en-US" sz="1200" b="1" i="0" u="none" strike="noStrike" kern="1200" noProof="0">
                        <a:solidFill>
                          <a:schemeClr val="tx1"/>
                        </a:solidFill>
                        <a:latin typeface="+mn-lt"/>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443371065"/>
                  </a:ext>
                </a:extLst>
              </a:tr>
              <a:tr h="326080">
                <a:tc>
                  <a:txBody>
                    <a:bodyPr/>
                    <a:lstStyle/>
                    <a:p>
                      <a:pPr marL="0" lvl="0" indent="0" algn="l">
                        <a:lnSpc>
                          <a:spcPct val="100000"/>
                        </a:lnSpc>
                        <a:spcBef>
                          <a:spcPts val="0"/>
                        </a:spcBef>
                        <a:spcAft>
                          <a:spcPts val="0"/>
                        </a:spcAft>
                        <a:buNone/>
                      </a:pPr>
                      <a:r>
                        <a:rPr lang="en-US" sz="1200" b="0" i="0" u="none" strike="noStrike" kern="1200" noProof="0">
                          <a:solidFill>
                            <a:srgbClr val="00B050"/>
                          </a:solidFill>
                        </a:rPr>
                        <a:t>2. Route Results</a:t>
                      </a:r>
                      <a:endParaRPr lang="en-US" sz="1200" b="1" i="0" u="none" strike="noStrike" kern="1200" noProof="0">
                        <a:solidFill>
                          <a:srgbClr val="00B050"/>
                        </a:solidFill>
                        <a:latin typeface="+mn-lt"/>
                      </a:endParaRPr>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marL="914400" lvl="1" indent="0" algn="l">
                        <a:lnSpc>
                          <a:spcPct val="100000"/>
                        </a:lnSpc>
                        <a:spcBef>
                          <a:spcPts val="0"/>
                        </a:spcBef>
                        <a:spcAft>
                          <a:spcPts val="0"/>
                        </a:spcAft>
                        <a:buNone/>
                      </a:pPr>
                      <a:r>
                        <a:rPr lang="en-US" sz="1100" b="0" i="0" u="none" strike="noStrike" kern="1200" noProof="0">
                          <a:solidFill>
                            <a:schemeClr val="tx1"/>
                          </a:solidFill>
                          <a:latin typeface="Segoe UI"/>
                          <a:cs typeface="Segoe UI"/>
                        </a:rPr>
                        <a:t>Automation of date and flight-level cost allocation for Route Results, enabling accurate route profitability analysis and eliminating manual allocation efforts. The solution improves financial reporting accuracy, supports network optimization decisions, and provides deeper visibility into route performance.</a:t>
                      </a:r>
                      <a:endParaRPr lang="en-US" sz="1200" b="1" i="0" u="none" strike="noStrike" kern="1200" noProof="0">
                        <a:solidFill>
                          <a:schemeClr val="tx1"/>
                        </a:solidFill>
                        <a:latin typeface="+mn-lt"/>
                      </a:endParaRPr>
                    </a:p>
                    <a:p>
                      <a:pPr marL="685800" lvl="1" indent="-228600" algn="l">
                        <a:lnSpc>
                          <a:spcPct val="100000"/>
                        </a:lnSpc>
                        <a:spcBef>
                          <a:spcPts val="0"/>
                        </a:spcBef>
                        <a:spcAft>
                          <a:spcPts val="0"/>
                        </a:spcAft>
                        <a:buFont typeface="Arial"/>
                        <a:buChar char="•"/>
                      </a:pPr>
                      <a:endParaRPr lang="en-US" sz="1200" b="1" i="0" u="none" strike="noStrike" kern="1200" noProof="0">
                        <a:solidFill>
                          <a:schemeClr val="tx1"/>
                        </a:solidFill>
                        <a:latin typeface="+mn-lt"/>
                      </a:endParaRPr>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417476375"/>
                  </a:ext>
                </a:extLst>
              </a:tr>
              <a:tr h="326080">
                <a:tc>
                  <a:txBody>
                    <a:bodyPr/>
                    <a:lstStyle/>
                    <a:p>
                      <a:pPr marL="0" lvl="0" indent="0" algn="l">
                        <a:lnSpc>
                          <a:spcPct val="100000"/>
                        </a:lnSpc>
                        <a:spcBef>
                          <a:spcPts val="0"/>
                        </a:spcBef>
                        <a:spcAft>
                          <a:spcPts val="0"/>
                        </a:spcAft>
                        <a:buNone/>
                      </a:pPr>
                      <a:r>
                        <a:rPr lang="en-US" sz="1200" b="1" i="0" u="none" strike="noStrike" kern="1200" noProof="0">
                          <a:solidFill>
                            <a:srgbClr val="00B050"/>
                          </a:solidFill>
                          <a:latin typeface="+mn-lt"/>
                        </a:rPr>
                        <a:t>3.   </a:t>
                      </a:r>
                      <a:r>
                        <a:rPr lang="en-US" sz="1200" b="0" i="0" u="none" strike="noStrike" kern="1200" noProof="0">
                          <a:solidFill>
                            <a:srgbClr val="00B050"/>
                          </a:solidFill>
                        </a:rPr>
                        <a:t>PR / PO Report</a:t>
                      </a:r>
                      <a:endParaRPr lang="en-US" sz="1200" b="1" i="0" u="none" strike="noStrike" kern="1200" noProof="0">
                        <a:solidFill>
                          <a:srgbClr val="00B050"/>
                        </a:solidFill>
                        <a:latin typeface="+mn-lt"/>
                      </a:endParaRPr>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tc>
                  <a:txBody>
                    <a:bodyPr/>
                    <a:lstStyle/>
                    <a:p>
                      <a:pPr marL="914400" lvl="1" indent="0" algn="l">
                        <a:lnSpc>
                          <a:spcPct val="100000"/>
                        </a:lnSpc>
                        <a:spcBef>
                          <a:spcPts val="0"/>
                        </a:spcBef>
                        <a:spcAft>
                          <a:spcPts val="0"/>
                        </a:spcAft>
                        <a:buNone/>
                      </a:pPr>
                      <a:r>
                        <a:rPr lang="en-US" sz="1100" b="0" i="0" u="none" strike="noStrike" kern="1200" noProof="0">
                          <a:solidFill>
                            <a:schemeClr val="tx1"/>
                          </a:solidFill>
                          <a:latin typeface="Segoe UI"/>
                          <a:cs typeface="Segoe UI"/>
                        </a:rPr>
                        <a:t>Development of a procurement analytics report to identify PR/PO splitting and higher-priced PO creations across AMOS and SAP. The solution strengthens procurement controls, improves compliance and audit readiness, and helps prevent unnecessary cost escalations through proactive monitoring</a:t>
                      </a:r>
                      <a:endParaRPr lang="en-US" sz="1200" b="1" i="0" u="none" strike="noStrike" kern="1200" noProof="0">
                        <a:solidFill>
                          <a:schemeClr val="tx1"/>
                        </a:solidFill>
                        <a:latin typeface="+mn-lt"/>
                      </a:endParaRPr>
                    </a:p>
                    <a:p>
                      <a:pPr marL="685800" lvl="1" indent="-228600" algn="l">
                        <a:lnSpc>
                          <a:spcPct val="100000"/>
                        </a:lnSpc>
                        <a:spcBef>
                          <a:spcPts val="0"/>
                        </a:spcBef>
                        <a:spcAft>
                          <a:spcPts val="0"/>
                        </a:spcAft>
                        <a:buFont typeface="Arial"/>
                        <a:buChar char="•"/>
                      </a:pPr>
                      <a:endParaRPr lang="en-US" sz="1200" b="1" i="0" u="none" strike="noStrike" kern="1200" noProof="0">
                        <a:solidFill>
                          <a:schemeClr val="tx1"/>
                        </a:solidFill>
                        <a:latin typeface="+mn-lt"/>
                      </a:endParaRPr>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extLst>
                  <a:ext uri="{0D108BD9-81ED-4DB2-BD59-A6C34878D82A}">
                    <a16:rowId xmlns:a16="http://schemas.microsoft.com/office/drawing/2014/main" val="1110178885"/>
                  </a:ext>
                </a:extLst>
              </a:tr>
            </a:tbl>
          </a:graphicData>
        </a:graphic>
      </p:graphicFrame>
      <p:sp>
        <p:nvSpPr>
          <p:cNvPr id="17" name="Rectangle 16">
            <a:extLst>
              <a:ext uri="{FF2B5EF4-FFF2-40B4-BE49-F238E27FC236}">
                <a16:creationId xmlns:a16="http://schemas.microsoft.com/office/drawing/2014/main" id="{371E3CEA-D30D-44A3-AB7E-A2884ED12C26}"/>
              </a:ext>
            </a:extLst>
          </p:cNvPr>
          <p:cNvSpPr/>
          <p:nvPr/>
        </p:nvSpPr>
        <p:spPr>
          <a:xfrm>
            <a:off x="194224" y="974140"/>
            <a:ext cx="1170432" cy="42234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1100" b="1">
                <a:latin typeface="AirIndia"/>
              </a:rPr>
              <a:t>Sep 2026</a:t>
            </a:r>
            <a:endParaRPr lang="en-US"/>
          </a:p>
        </p:txBody>
      </p:sp>
    </p:spTree>
    <p:extLst>
      <p:ext uri="{BB962C8B-B14F-4D97-AF65-F5344CB8AC3E}">
        <p14:creationId xmlns:p14="http://schemas.microsoft.com/office/powerpoint/2010/main" val="2438998782"/>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6075AE-4266-5783-5CFA-B5F20212F6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ED0FD5-37CA-FFFD-905A-7A76ECB4D2A1}"/>
              </a:ext>
            </a:extLst>
          </p:cNvPr>
          <p:cNvSpPr>
            <a:spLocks noGrp="1"/>
          </p:cNvSpPr>
          <p:nvPr>
            <p:ph type="title"/>
          </p:nvPr>
        </p:nvSpPr>
        <p:spPr>
          <a:xfrm>
            <a:off x="5876373" y="2114927"/>
            <a:ext cx="6907630" cy="1961201"/>
          </a:xfrm>
        </p:spPr>
        <p:txBody>
          <a:bodyPr/>
          <a:lstStyle/>
          <a:p>
            <a:r>
              <a:rPr lang="en-US" sz="5400">
                <a:latin typeface="AirIndia"/>
              </a:rPr>
              <a:t>Operations-Q1</a:t>
            </a:r>
            <a:endParaRPr lang="en-US" sz="5400"/>
          </a:p>
        </p:txBody>
      </p:sp>
    </p:spTree>
    <p:extLst>
      <p:ext uri="{BB962C8B-B14F-4D97-AF65-F5344CB8AC3E}">
        <p14:creationId xmlns:p14="http://schemas.microsoft.com/office/powerpoint/2010/main" val="3917222814"/>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0734CB-2FCD-FD51-ADC2-4047F9A770B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A8D06A3-777D-2186-1490-1E77E9345179}"/>
              </a:ext>
            </a:extLst>
          </p:cNvPr>
          <p:cNvSpPr>
            <a:spLocks noGrp="1"/>
          </p:cNvSpPr>
          <p:nvPr>
            <p:ph type="sldNum" sz="quarter" idx="12"/>
          </p:nvPr>
        </p:nvSpPr>
        <p:spPr/>
        <p:txBody>
          <a:bodyPr/>
          <a:lstStyle/>
          <a:p>
            <a:fld id="{3A41A254-7326-714E-AF55-4C213D6394DE}" type="slidenum">
              <a:rPr lang="en-US" smtClean="0"/>
              <a:pPr/>
              <a:t>114</a:t>
            </a:fld>
            <a:endParaRPr lang="en-US"/>
          </a:p>
        </p:txBody>
      </p:sp>
      <p:sp>
        <p:nvSpPr>
          <p:cNvPr id="6" name="Title 11">
            <a:extLst>
              <a:ext uri="{FF2B5EF4-FFF2-40B4-BE49-F238E27FC236}">
                <a16:creationId xmlns:a16="http://schemas.microsoft.com/office/drawing/2014/main" id="{3CF1CC07-9D82-5CB6-E9A4-CB429BFBFE6A}"/>
              </a:ext>
            </a:extLst>
          </p:cNvPr>
          <p:cNvSpPr txBox="1">
            <a:spLocks/>
          </p:cNvSpPr>
          <p:nvPr/>
        </p:nvSpPr>
        <p:spPr>
          <a:xfrm>
            <a:off x="152401" y="307594"/>
            <a:ext cx="7478484" cy="276896"/>
          </a:xfrm>
          <a:prstGeom prst="rect">
            <a:avLst/>
          </a:prstGeom>
        </p:spPr>
        <p:txBody>
          <a:bodyPr lIns="91440" tIns="45720" rIns="91440" bIns="45720" anchor="t">
            <a:noAutofit/>
          </a:bodyPr>
          <a:lstStyle>
            <a:lvl1pPr algn="l" defTabSz="914400" rtl="0" eaLnBrk="1" latinLnBrk="0" hangingPunct="1">
              <a:lnSpc>
                <a:spcPct val="90000"/>
              </a:lnSpc>
              <a:spcBef>
                <a:spcPct val="0"/>
              </a:spcBef>
              <a:buNone/>
              <a:defRPr sz="4400" b="1" i="0" kern="1200">
                <a:solidFill>
                  <a:schemeClr val="tx1"/>
                </a:solidFill>
                <a:latin typeface="AirIndia" pitchFamily="82" charset="77"/>
                <a:ea typeface="+mj-ea"/>
                <a:cs typeface="+mj-cs"/>
              </a:defRPr>
            </a:lvl1pPr>
          </a:lstStyle>
          <a:p>
            <a:r>
              <a:rPr lang="en-US" sz="2400">
                <a:solidFill>
                  <a:schemeClr val="accent1"/>
                </a:solidFill>
                <a:latin typeface="AirIndia"/>
              </a:rPr>
              <a:t>Operations - FY26 Q1 Release Plan</a:t>
            </a:r>
            <a:endParaRPr lang="en-US" sz="2400" b="0">
              <a:solidFill>
                <a:schemeClr val="accent1"/>
              </a:solidFill>
              <a:latin typeface="AirIndia"/>
            </a:endParaRPr>
          </a:p>
          <a:p>
            <a:endParaRPr lang="en-US" sz="1800">
              <a:solidFill>
                <a:schemeClr val="accent1"/>
              </a:solidFill>
              <a:latin typeface="AirIndia"/>
            </a:endParaRPr>
          </a:p>
        </p:txBody>
      </p:sp>
      <p:graphicFrame>
        <p:nvGraphicFramePr>
          <p:cNvPr id="12" name="Table 11">
            <a:extLst>
              <a:ext uri="{FF2B5EF4-FFF2-40B4-BE49-F238E27FC236}">
                <a16:creationId xmlns:a16="http://schemas.microsoft.com/office/drawing/2014/main" id="{26003892-9494-356B-8F77-CEE39A266FF2}"/>
              </a:ext>
            </a:extLst>
          </p:cNvPr>
          <p:cNvGraphicFramePr>
            <a:graphicFrameLocks noGrp="1"/>
          </p:cNvGraphicFramePr>
          <p:nvPr>
            <p:extLst>
              <p:ext uri="{D42A27DB-BD31-4B8C-83A1-F6EECF244321}">
                <p14:modId xmlns:p14="http://schemas.microsoft.com/office/powerpoint/2010/main" val="1415284439"/>
              </p:ext>
            </p:extLst>
          </p:nvPr>
        </p:nvGraphicFramePr>
        <p:xfrm>
          <a:off x="1295713" y="866914"/>
          <a:ext cx="10697938" cy="2194560"/>
        </p:xfrm>
        <a:graphic>
          <a:graphicData uri="http://schemas.openxmlformats.org/drawingml/2006/table">
            <a:tbl>
              <a:tblPr firstRow="1" bandRow="1">
                <a:tableStyleId>{5C22544A-7EE6-4342-B048-85BDC9FD1C3A}</a:tableStyleId>
              </a:tblPr>
              <a:tblGrid>
                <a:gridCol w="3759269">
                  <a:extLst>
                    <a:ext uri="{9D8B030D-6E8A-4147-A177-3AD203B41FA5}">
                      <a16:colId xmlns:a16="http://schemas.microsoft.com/office/drawing/2014/main" val="2822350773"/>
                    </a:ext>
                  </a:extLst>
                </a:gridCol>
                <a:gridCol w="6938669">
                  <a:extLst>
                    <a:ext uri="{9D8B030D-6E8A-4147-A177-3AD203B41FA5}">
                      <a16:colId xmlns:a16="http://schemas.microsoft.com/office/drawing/2014/main" val="99588705"/>
                    </a:ext>
                  </a:extLst>
                </a:gridCol>
              </a:tblGrid>
              <a:tr h="217387">
                <a:tc>
                  <a:txBody>
                    <a:bodyPr/>
                    <a:lstStyle/>
                    <a:p>
                      <a:pPr marL="0" lvl="0" indent="0" algn="ctr" defTabSz="914400" rtl="0" eaLnBrk="1" latinLnBrk="0" hangingPunct="1">
                        <a:lnSpc>
                          <a:spcPct val="100000"/>
                        </a:lnSpc>
                        <a:buFont typeface="Arial" panose="020B0604020202020204" pitchFamily="34" charset="0"/>
                        <a:buNone/>
                      </a:pPr>
                      <a:r>
                        <a:rPr lang="en-IN" sz="1200" kern="1200">
                          <a:solidFill>
                            <a:schemeClr val="tx1"/>
                          </a:solidFill>
                          <a:latin typeface="+mn-lt"/>
                          <a:ea typeface="+mn-ea"/>
                          <a:cs typeface="+mn-cs"/>
                        </a:rPr>
                        <a:t>Project/Initiative</a:t>
                      </a:r>
                      <a:endParaRPr lang="en-US" sz="1200" kern="1200">
                        <a:solidFill>
                          <a:schemeClr val="tx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tc>
                  <a:txBody>
                    <a:bodyPr/>
                    <a:lstStyle/>
                    <a:p>
                      <a:pPr marL="0" indent="0" algn="ctr" defTabSz="914400" rtl="0" eaLnBrk="1" latinLnBrk="0" hangingPunct="1">
                        <a:buFont typeface="Arial" panose="020B0604020202020204" pitchFamily="34" charset="0"/>
                        <a:buNone/>
                      </a:pPr>
                      <a:r>
                        <a:rPr lang="en-IN" sz="1200" kern="1200">
                          <a:solidFill>
                            <a:schemeClr val="tx1"/>
                          </a:solidFill>
                          <a:latin typeface="+mn-lt"/>
                          <a:ea typeface="+mn-ea"/>
                          <a:cs typeface="+mn-cs"/>
                        </a:rPr>
                        <a:t>Value Justification/Realization</a:t>
                      </a:r>
                      <a:endParaRPr lang="en-US" sz="1200" kern="1200">
                        <a:solidFill>
                          <a:schemeClr val="tx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extLst>
                  <a:ext uri="{0D108BD9-81ED-4DB2-BD59-A6C34878D82A}">
                    <a16:rowId xmlns:a16="http://schemas.microsoft.com/office/drawing/2014/main" val="844450115"/>
                  </a:ext>
                </a:extLst>
              </a:tr>
              <a:tr h="499989">
                <a:tc>
                  <a:txBody>
                    <a:bodyPr/>
                    <a:lstStyle/>
                    <a:p>
                      <a:pPr marL="228600" lvl="0" indent="-228600" algn="l">
                        <a:lnSpc>
                          <a:spcPct val="100000"/>
                        </a:lnSpc>
                        <a:spcBef>
                          <a:spcPts val="0"/>
                        </a:spcBef>
                        <a:spcAft>
                          <a:spcPts val="0"/>
                        </a:spcAft>
                        <a:buFont typeface="+mj-lt"/>
                        <a:buAutoNum type="arabicPeriod"/>
                      </a:pPr>
                      <a:r>
                        <a:rPr lang="en-US" sz="1200" b="1" i="0" u="none" strike="noStrike" kern="1200" noProof="0">
                          <a:solidFill>
                            <a:srgbClr val="0070C0"/>
                          </a:solidFill>
                          <a:latin typeface="+mn-lt"/>
                          <a:ea typeface="+mn-ea"/>
                          <a:cs typeface="+mn-cs"/>
                        </a:rPr>
                        <a:t>E-Filing </a:t>
                      </a:r>
                    </a:p>
                    <a:p>
                      <a:pPr marL="228600" lvl="0" indent="-228600" algn="l">
                        <a:lnSpc>
                          <a:spcPct val="100000"/>
                        </a:lnSpc>
                        <a:spcBef>
                          <a:spcPts val="0"/>
                        </a:spcBef>
                        <a:spcAft>
                          <a:spcPts val="0"/>
                        </a:spcAft>
                        <a:buAutoNum type="arabicPeriod"/>
                      </a:pPr>
                      <a:endParaRPr lang="en-US" sz="1200" b="1" i="0" u="none" strike="noStrike" kern="1200" noProof="0">
                        <a:solidFill>
                          <a:schemeClr val="tx1"/>
                        </a:solidFill>
                        <a:latin typeface="+mn-lt"/>
                      </a:endParaRPr>
                    </a:p>
                    <a:p>
                      <a:pPr marL="0" lvl="0" indent="0" algn="l">
                        <a:lnSpc>
                          <a:spcPct val="100000"/>
                        </a:lnSpc>
                        <a:spcBef>
                          <a:spcPts val="0"/>
                        </a:spcBef>
                        <a:spcAft>
                          <a:spcPts val="0"/>
                        </a:spcAft>
                        <a:buNone/>
                      </a:pPr>
                      <a:r>
                        <a:rPr lang="en-US" sz="1200" b="0" i="0" u="none" strike="noStrike" kern="1200" noProof="0">
                          <a:solidFill>
                            <a:schemeClr val="tx1"/>
                          </a:solidFill>
                        </a:rPr>
                        <a:t>Automated storage of DCS customer reports and flight information for regulatory requirements.</a:t>
                      </a:r>
                      <a:endParaRPr lang="en-US" sz="1200" b="1" i="0" u="none" strike="noStrike" kern="1200" noProof="0">
                        <a:solidFill>
                          <a:schemeClr val="tx1"/>
                        </a:solidFill>
                        <a:latin typeface="+mn-lt"/>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lvl="0" indent="0" algn="l">
                        <a:lnSpc>
                          <a:spcPct val="100000"/>
                        </a:lnSpc>
                        <a:spcBef>
                          <a:spcPts val="0"/>
                        </a:spcBef>
                        <a:spcAft>
                          <a:spcPts val="0"/>
                        </a:spcAft>
                        <a:buNone/>
                      </a:pPr>
                      <a:r>
                        <a:rPr lang="en-US" sz="1200" b="1" i="0" u="none" strike="noStrike" kern="1200" noProof="0">
                          <a:solidFill>
                            <a:schemeClr val="tx1"/>
                          </a:solidFill>
                          <a:latin typeface="+mn-lt"/>
                          <a:ea typeface="+mn-ea"/>
                          <a:cs typeface="+mn-cs"/>
                        </a:rPr>
                        <a:t>Cost Reduction</a:t>
                      </a:r>
                      <a:r>
                        <a:rPr lang="en-US" sz="1200" b="0" i="0" u="none" strike="noStrike" kern="1200" noProof="0">
                          <a:solidFill>
                            <a:schemeClr val="tx1"/>
                          </a:solidFill>
                          <a:latin typeface="+mn-lt"/>
                          <a:ea typeface="+mn-ea"/>
                          <a:cs typeface="+mn-cs"/>
                        </a:rPr>
                        <a:t> </a:t>
                      </a:r>
                      <a:endParaRPr lang="en-US" sz="1200" b="0" i="0" u="none" strike="noStrike" kern="1200">
                        <a:solidFill>
                          <a:schemeClr val="tx1"/>
                        </a:solidFill>
                        <a:latin typeface="+mn-lt"/>
                        <a:ea typeface="+mn-ea"/>
                        <a:cs typeface="+mn-cs"/>
                      </a:endParaRPr>
                    </a:p>
                    <a:p>
                      <a:pPr marL="171450" lvl="0" indent="-171450" algn="l">
                        <a:lnSpc>
                          <a:spcPct val="100000"/>
                        </a:lnSpc>
                        <a:spcBef>
                          <a:spcPts val="0"/>
                        </a:spcBef>
                        <a:spcAft>
                          <a:spcPts val="0"/>
                        </a:spcAft>
                        <a:buFont typeface="Arial"/>
                        <a:buChar char="•"/>
                      </a:pPr>
                      <a:r>
                        <a:rPr lang="en-US" sz="1200" b="0" i="0" u="none" strike="noStrike" kern="1200" noProof="0">
                          <a:solidFill>
                            <a:schemeClr val="tx1"/>
                          </a:solidFill>
                          <a:latin typeface="+mn-lt"/>
                          <a:ea typeface="+mn-ea"/>
                          <a:cs typeface="+mn-cs"/>
                        </a:rPr>
                        <a:t>Total manhours saved per day = (15 min *700 flights)/24hrs = 175 manhours ~ 63,875 manhours per year</a:t>
                      </a:r>
                      <a:endParaRPr lang="en-US" sz="1200" b="0" i="0" u="none" strike="noStrike" kern="1200">
                        <a:solidFill>
                          <a:schemeClr val="tx1"/>
                        </a:solidFill>
                        <a:latin typeface="+mn-lt"/>
                        <a:ea typeface="+mn-ea"/>
                        <a:cs typeface="+mn-cs"/>
                      </a:endParaRPr>
                    </a:p>
                    <a:p>
                      <a:pPr marL="171450" lvl="0" indent="-171450" algn="l">
                        <a:lnSpc>
                          <a:spcPct val="100000"/>
                        </a:lnSpc>
                        <a:spcBef>
                          <a:spcPts val="0"/>
                        </a:spcBef>
                        <a:spcAft>
                          <a:spcPts val="0"/>
                        </a:spcAft>
                        <a:buFont typeface="Arial"/>
                        <a:buChar char="•"/>
                      </a:pPr>
                      <a:r>
                        <a:rPr lang="en-US" sz="1200" b="0" i="0" u="none" strike="noStrike" kern="1200" noProof="0">
                          <a:solidFill>
                            <a:schemeClr val="tx1"/>
                          </a:solidFill>
                          <a:latin typeface="+mn-lt"/>
                          <a:ea typeface="+mn-ea"/>
                          <a:cs typeface="+mn-cs"/>
                        </a:rPr>
                        <a:t>Total printing  cost saved per day = 700 * 0.6 = INR420 ~ INR 1,53,300 per year</a:t>
                      </a:r>
                      <a:endParaRPr lang="en-US" sz="1200" b="0" i="0" u="none" strike="noStrike" kern="1200">
                        <a:solidFill>
                          <a:schemeClr val="tx1"/>
                        </a:solidFill>
                        <a:latin typeface="+mn-lt"/>
                        <a:ea typeface="+mn-ea"/>
                        <a:cs typeface="+mn-cs"/>
                      </a:endParaRPr>
                    </a:p>
                    <a:p>
                      <a:pPr marL="685800" lvl="1" indent="-228600" algn="l">
                        <a:lnSpc>
                          <a:spcPct val="100000"/>
                        </a:lnSpc>
                        <a:spcBef>
                          <a:spcPts val="0"/>
                        </a:spcBef>
                        <a:spcAft>
                          <a:spcPts val="0"/>
                        </a:spcAft>
                        <a:buFont typeface="Arial" panose="020B0604020202020204" pitchFamily="34" charset="0"/>
                        <a:buChar char="•"/>
                      </a:pPr>
                      <a:endParaRPr lang="en-US" sz="1200" b="1" i="0" u="none" strike="noStrike" kern="1200" noProof="0">
                        <a:solidFill>
                          <a:schemeClr val="tx1"/>
                        </a:solidFill>
                        <a:latin typeface="+mn-lt"/>
                        <a:ea typeface="+mn-ea"/>
                        <a:cs typeface="+mn-cs"/>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443371065"/>
                  </a:ext>
                </a:extLst>
              </a:tr>
              <a:tr h="326080">
                <a:tc>
                  <a:txBody>
                    <a:bodyPr/>
                    <a:lstStyle/>
                    <a:p>
                      <a:pPr marL="0" lvl="0" indent="0" algn="l">
                        <a:lnSpc>
                          <a:spcPct val="100000"/>
                        </a:lnSpc>
                        <a:spcBef>
                          <a:spcPts val="0"/>
                        </a:spcBef>
                        <a:spcAft>
                          <a:spcPts val="0"/>
                        </a:spcAft>
                        <a:buNone/>
                      </a:pPr>
                      <a:r>
                        <a:rPr lang="en-US" sz="1200" b="1" i="0" u="none" strike="noStrike" kern="1200" noProof="0">
                          <a:solidFill>
                            <a:srgbClr val="0070C0"/>
                          </a:solidFill>
                          <a:latin typeface="+mn-lt"/>
                          <a:ea typeface="+mn-ea"/>
                          <a:cs typeface="+mn-cs"/>
                        </a:rPr>
                        <a:t>2.Safety Audit Data Management &amp; Analytics</a:t>
                      </a:r>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tc>
                  <a:txBody>
                    <a:bodyPr/>
                    <a:lstStyle/>
                    <a:p>
                      <a:pPr marL="0" lvl="0" indent="0" algn="l">
                        <a:lnSpc>
                          <a:spcPct val="100000"/>
                        </a:lnSpc>
                        <a:spcBef>
                          <a:spcPts val="0"/>
                        </a:spcBef>
                        <a:spcAft>
                          <a:spcPts val="0"/>
                        </a:spcAft>
                        <a:buNone/>
                      </a:pPr>
                      <a:r>
                        <a:rPr lang="en-US" sz="1200" b="1" i="0" u="none" strike="noStrike" kern="1200" noProof="0">
                          <a:solidFill>
                            <a:schemeClr val="tx1"/>
                          </a:solidFill>
                          <a:latin typeface="Nunito Sans"/>
                          <a:ea typeface="+mn-ea"/>
                          <a:cs typeface="+mn-cs"/>
                        </a:rPr>
                        <a:t>Operational Excellence</a:t>
                      </a:r>
                    </a:p>
                    <a:p>
                      <a:pPr marL="0" lvl="0" indent="0" algn="l">
                        <a:lnSpc>
                          <a:spcPct val="100000"/>
                        </a:lnSpc>
                        <a:spcBef>
                          <a:spcPts val="0"/>
                        </a:spcBef>
                        <a:spcAft>
                          <a:spcPts val="0"/>
                        </a:spcAft>
                        <a:buNone/>
                      </a:pPr>
                      <a:r>
                        <a:rPr lang="en-US" sz="1200" b="0" i="0" u="none" strike="noStrike" kern="1200" noProof="0">
                          <a:solidFill>
                            <a:schemeClr val="tx1"/>
                          </a:solidFill>
                        </a:rPr>
                        <a:t>Build and store audit data sourced via iQSMS and create an analytics layer to display Audit KPI's</a:t>
                      </a:r>
                      <a:endParaRPr lang="en-US"/>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extLst>
                  <a:ext uri="{0D108BD9-81ED-4DB2-BD59-A6C34878D82A}">
                    <a16:rowId xmlns:a16="http://schemas.microsoft.com/office/drawing/2014/main" val="3417476375"/>
                  </a:ext>
                </a:extLst>
              </a:tr>
              <a:tr h="326079">
                <a:tc>
                  <a:txBody>
                    <a:bodyPr/>
                    <a:lstStyle/>
                    <a:p>
                      <a:pPr marL="0" lvl="0" indent="0" algn="l">
                        <a:lnSpc>
                          <a:spcPct val="100000"/>
                        </a:lnSpc>
                        <a:spcBef>
                          <a:spcPts val="0"/>
                        </a:spcBef>
                        <a:spcAft>
                          <a:spcPts val="0"/>
                        </a:spcAft>
                        <a:buNone/>
                      </a:pPr>
                      <a:r>
                        <a:rPr lang="en-US" sz="1200" b="1" i="0" u="none" strike="noStrike" kern="1200" noProof="0">
                          <a:solidFill>
                            <a:srgbClr val="0070C0"/>
                          </a:solidFill>
                          <a:latin typeface="Nunito Sans"/>
                        </a:rPr>
                        <a:t>3. Movement Manager - Historical Data Integration</a:t>
                      </a:r>
                      <a:endParaRPr lang="en-US" sz="1200" b="1" i="0" u="none" strike="noStrike" kern="1200" noProof="0">
                        <a:solidFill>
                          <a:srgbClr val="0070C0"/>
                        </a:solidFill>
                      </a:endParaRPr>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marL="0" lvl="0" indent="0" algn="l" rtl="0">
                        <a:lnSpc>
                          <a:spcPct val="100000"/>
                        </a:lnSpc>
                        <a:spcBef>
                          <a:spcPts val="0"/>
                        </a:spcBef>
                        <a:spcAft>
                          <a:spcPts val="0"/>
                        </a:spcAft>
                        <a:buNone/>
                      </a:pPr>
                      <a:r>
                        <a:rPr lang="en-US" sz="1200" b="1" i="0" u="none" strike="noStrike" kern="1200" noProof="0">
                          <a:solidFill>
                            <a:schemeClr val="tx1"/>
                          </a:solidFill>
                          <a:latin typeface="Nunito Sans"/>
                          <a:ea typeface="+mn-ea"/>
                          <a:cs typeface="+mn-cs"/>
                        </a:rPr>
                        <a:t>Operational Excellence </a:t>
                      </a:r>
                      <a:endParaRPr lang="en-US"/>
                    </a:p>
                    <a:p>
                      <a:pPr marL="0" lvl="0" indent="0" algn="l">
                        <a:lnSpc>
                          <a:spcPct val="100000"/>
                        </a:lnSpc>
                        <a:spcBef>
                          <a:spcPts val="0"/>
                        </a:spcBef>
                        <a:spcAft>
                          <a:spcPts val="0"/>
                        </a:spcAft>
                        <a:buNone/>
                      </a:pPr>
                      <a:r>
                        <a:rPr lang="en-US" sz="1200" b="0" i="0" u="none" strike="noStrike" kern="1200" noProof="0">
                          <a:solidFill>
                            <a:schemeClr val="tx1"/>
                          </a:solidFill>
                        </a:rPr>
                        <a:t>Offload historical CAE MM data from MM database and store historical data on delta lake</a:t>
                      </a:r>
                      <a:endParaRPr lang="en-US"/>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318507066"/>
                  </a:ext>
                </a:extLst>
              </a:tr>
            </a:tbl>
          </a:graphicData>
        </a:graphic>
      </p:graphicFrame>
      <p:sp>
        <p:nvSpPr>
          <p:cNvPr id="13" name="Rectangle 12">
            <a:extLst>
              <a:ext uri="{FF2B5EF4-FFF2-40B4-BE49-F238E27FC236}">
                <a16:creationId xmlns:a16="http://schemas.microsoft.com/office/drawing/2014/main" id="{541B5202-C2ED-3280-D6BC-C285899E3E10}"/>
              </a:ext>
            </a:extLst>
          </p:cNvPr>
          <p:cNvSpPr/>
          <p:nvPr/>
        </p:nvSpPr>
        <p:spPr>
          <a:xfrm>
            <a:off x="136167" y="861655"/>
            <a:ext cx="1170432" cy="42234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1100" b="1">
                <a:latin typeface="AirIndia"/>
              </a:rPr>
              <a:t>April 2026</a:t>
            </a:r>
            <a:endParaRPr lang="en-US"/>
          </a:p>
        </p:txBody>
      </p:sp>
      <p:sp>
        <p:nvSpPr>
          <p:cNvPr id="3" name="Rectangle 2">
            <a:extLst>
              <a:ext uri="{FF2B5EF4-FFF2-40B4-BE49-F238E27FC236}">
                <a16:creationId xmlns:a16="http://schemas.microsoft.com/office/drawing/2014/main" id="{69EE5536-694B-3213-D2A2-52EF7F3E1F02}"/>
              </a:ext>
            </a:extLst>
          </p:cNvPr>
          <p:cNvSpPr/>
          <p:nvPr/>
        </p:nvSpPr>
        <p:spPr>
          <a:xfrm>
            <a:off x="3624666" y="6450773"/>
            <a:ext cx="90000" cy="90000"/>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
        <p:nvSpPr>
          <p:cNvPr id="4" name="Rectangle 3">
            <a:extLst>
              <a:ext uri="{FF2B5EF4-FFF2-40B4-BE49-F238E27FC236}">
                <a16:creationId xmlns:a16="http://schemas.microsoft.com/office/drawing/2014/main" id="{FEF0EE9E-D73E-968D-78FC-5A74043FCAA2}"/>
              </a:ext>
            </a:extLst>
          </p:cNvPr>
          <p:cNvSpPr/>
          <p:nvPr/>
        </p:nvSpPr>
        <p:spPr>
          <a:xfrm>
            <a:off x="3624666" y="6678335"/>
            <a:ext cx="90000" cy="90000"/>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
        <p:nvSpPr>
          <p:cNvPr id="5" name="Rectangle 4">
            <a:extLst>
              <a:ext uri="{FF2B5EF4-FFF2-40B4-BE49-F238E27FC236}">
                <a16:creationId xmlns:a16="http://schemas.microsoft.com/office/drawing/2014/main" id="{9DA3BF56-9BF1-01D3-5D00-1EE758133190}"/>
              </a:ext>
            </a:extLst>
          </p:cNvPr>
          <p:cNvSpPr/>
          <p:nvPr/>
        </p:nvSpPr>
        <p:spPr>
          <a:xfrm>
            <a:off x="5727557" y="6450773"/>
            <a:ext cx="90000" cy="90000"/>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
        <p:nvSpPr>
          <p:cNvPr id="7" name="Rectangle 6">
            <a:extLst>
              <a:ext uri="{FF2B5EF4-FFF2-40B4-BE49-F238E27FC236}">
                <a16:creationId xmlns:a16="http://schemas.microsoft.com/office/drawing/2014/main" id="{214F8800-0352-26D6-0FD5-016C853CD415}"/>
              </a:ext>
            </a:extLst>
          </p:cNvPr>
          <p:cNvSpPr/>
          <p:nvPr/>
        </p:nvSpPr>
        <p:spPr>
          <a:xfrm>
            <a:off x="5727557" y="6678335"/>
            <a:ext cx="90000" cy="90000"/>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
        <p:nvSpPr>
          <p:cNvPr id="8" name="TextBox 15">
            <a:extLst>
              <a:ext uri="{FF2B5EF4-FFF2-40B4-BE49-F238E27FC236}">
                <a16:creationId xmlns:a16="http://schemas.microsoft.com/office/drawing/2014/main" id="{D3AA797B-25B8-EAB8-4D47-22B79F58AA6B}"/>
              </a:ext>
            </a:extLst>
          </p:cNvPr>
          <p:cNvSpPr txBox="1"/>
          <p:nvPr/>
        </p:nvSpPr>
        <p:spPr>
          <a:xfrm>
            <a:off x="3681974" y="6393924"/>
            <a:ext cx="857245"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000">
                <a:solidFill>
                  <a:srgbClr val="0070C0"/>
                </a:solidFill>
              </a:rPr>
              <a:t>Delivered</a:t>
            </a:r>
            <a:endParaRPr lang="en-IN" sz="1000"/>
          </a:p>
        </p:txBody>
      </p:sp>
      <p:sp>
        <p:nvSpPr>
          <p:cNvPr id="9" name="TextBox 18">
            <a:extLst>
              <a:ext uri="{FF2B5EF4-FFF2-40B4-BE49-F238E27FC236}">
                <a16:creationId xmlns:a16="http://schemas.microsoft.com/office/drawing/2014/main" id="{59F3A844-B8DC-8C1D-D160-9DF993CCC68B}"/>
              </a:ext>
            </a:extLst>
          </p:cNvPr>
          <p:cNvSpPr txBox="1"/>
          <p:nvPr/>
        </p:nvSpPr>
        <p:spPr>
          <a:xfrm>
            <a:off x="3680376" y="6618883"/>
            <a:ext cx="1032881"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000">
                <a:solidFill>
                  <a:srgbClr val="00B050"/>
                </a:solidFill>
              </a:rPr>
              <a:t>Ontrack</a:t>
            </a:r>
            <a:endParaRPr lang="en-IN" sz="1000"/>
          </a:p>
        </p:txBody>
      </p:sp>
      <p:sp>
        <p:nvSpPr>
          <p:cNvPr id="10" name="TextBox 20">
            <a:extLst>
              <a:ext uri="{FF2B5EF4-FFF2-40B4-BE49-F238E27FC236}">
                <a16:creationId xmlns:a16="http://schemas.microsoft.com/office/drawing/2014/main" id="{3EBE9AFB-CA1B-BD8F-26D7-150492DF6E03}"/>
              </a:ext>
            </a:extLst>
          </p:cNvPr>
          <p:cNvSpPr txBox="1"/>
          <p:nvPr/>
        </p:nvSpPr>
        <p:spPr>
          <a:xfrm>
            <a:off x="5812854" y="6409323"/>
            <a:ext cx="2257628"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000">
                <a:solidFill>
                  <a:schemeClr val="accent6">
                    <a:lumMod val="75000"/>
                  </a:schemeClr>
                </a:solidFill>
              </a:rPr>
              <a:t>Under delay and can be recovered</a:t>
            </a:r>
            <a:endParaRPr lang="en-IN" sz="1000"/>
          </a:p>
        </p:txBody>
      </p:sp>
      <p:sp>
        <p:nvSpPr>
          <p:cNvPr id="11" name="TextBox 22">
            <a:extLst>
              <a:ext uri="{FF2B5EF4-FFF2-40B4-BE49-F238E27FC236}">
                <a16:creationId xmlns:a16="http://schemas.microsoft.com/office/drawing/2014/main" id="{54A9FBB1-75F7-76DF-3438-45C4F762F878}"/>
              </a:ext>
            </a:extLst>
          </p:cNvPr>
          <p:cNvSpPr txBox="1"/>
          <p:nvPr/>
        </p:nvSpPr>
        <p:spPr>
          <a:xfrm>
            <a:off x="5817557" y="6625907"/>
            <a:ext cx="3069090"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000">
                <a:solidFill>
                  <a:schemeClr val="accent2"/>
                </a:solidFill>
              </a:rPr>
              <a:t>Delayed and pushed to next release</a:t>
            </a:r>
            <a:endParaRPr lang="en-IN" sz="1000"/>
          </a:p>
        </p:txBody>
      </p:sp>
      <p:graphicFrame>
        <p:nvGraphicFramePr>
          <p:cNvPr id="14" name="Table 13">
            <a:extLst>
              <a:ext uri="{FF2B5EF4-FFF2-40B4-BE49-F238E27FC236}">
                <a16:creationId xmlns:a16="http://schemas.microsoft.com/office/drawing/2014/main" id="{C1482E94-5109-F8B8-D91C-58B2E36DBD71}"/>
              </a:ext>
            </a:extLst>
          </p:cNvPr>
          <p:cNvGraphicFramePr>
            <a:graphicFrameLocks noGrp="1"/>
          </p:cNvGraphicFramePr>
          <p:nvPr>
            <p:extLst>
              <p:ext uri="{D42A27DB-BD31-4B8C-83A1-F6EECF244321}">
                <p14:modId xmlns:p14="http://schemas.microsoft.com/office/powerpoint/2010/main" val="3835563501"/>
              </p:ext>
            </p:extLst>
          </p:nvPr>
        </p:nvGraphicFramePr>
        <p:xfrm>
          <a:off x="1306285" y="3222171"/>
          <a:ext cx="10697964" cy="1740469"/>
        </p:xfrm>
        <a:graphic>
          <a:graphicData uri="http://schemas.openxmlformats.org/drawingml/2006/table">
            <a:tbl>
              <a:tblPr firstRow="1" bandRow="1">
                <a:tableStyleId>{5C22544A-7EE6-4342-B048-85BDC9FD1C3A}</a:tableStyleId>
              </a:tblPr>
              <a:tblGrid>
                <a:gridCol w="3759278">
                  <a:extLst>
                    <a:ext uri="{9D8B030D-6E8A-4147-A177-3AD203B41FA5}">
                      <a16:colId xmlns:a16="http://schemas.microsoft.com/office/drawing/2014/main" val="2822350773"/>
                    </a:ext>
                  </a:extLst>
                </a:gridCol>
                <a:gridCol w="6938686">
                  <a:extLst>
                    <a:ext uri="{9D8B030D-6E8A-4147-A177-3AD203B41FA5}">
                      <a16:colId xmlns:a16="http://schemas.microsoft.com/office/drawing/2014/main" val="99588705"/>
                    </a:ext>
                  </a:extLst>
                </a:gridCol>
              </a:tblGrid>
              <a:tr h="264582">
                <a:tc>
                  <a:txBody>
                    <a:bodyPr/>
                    <a:lstStyle/>
                    <a:p>
                      <a:pPr marL="0" lvl="0" indent="0" algn="ctr" defTabSz="914400" rtl="0" eaLnBrk="1" latinLnBrk="0" hangingPunct="1">
                        <a:lnSpc>
                          <a:spcPct val="100000"/>
                        </a:lnSpc>
                        <a:buFont typeface="Arial" panose="020B0604020202020204" pitchFamily="34" charset="0"/>
                        <a:buNone/>
                      </a:pPr>
                      <a:endParaRPr lang="en-IN" sz="1200" b="0"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tc>
                  <a:txBody>
                    <a:bodyPr/>
                    <a:lstStyle/>
                    <a:p>
                      <a:pPr marL="0" indent="0" algn="ctr" defTabSz="914400" rtl="0" eaLnBrk="1" latinLnBrk="0" hangingPunct="1">
                        <a:buFont typeface="Arial" panose="020B0604020202020204" pitchFamily="34" charset="0"/>
                        <a:buNone/>
                      </a:pPr>
                      <a:endParaRPr lang="en-IN" sz="1200" b="0"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extLst>
                  <a:ext uri="{0D108BD9-81ED-4DB2-BD59-A6C34878D82A}">
                    <a16:rowId xmlns:a16="http://schemas.microsoft.com/office/drawing/2014/main" val="844450115"/>
                  </a:ext>
                </a:extLst>
              </a:tr>
              <a:tr h="499989">
                <a:tc>
                  <a:txBody>
                    <a:bodyPr/>
                    <a:lstStyle/>
                    <a:p>
                      <a:pPr marL="228600" lvl="0" indent="-228600" algn="l">
                        <a:lnSpc>
                          <a:spcPct val="100000"/>
                        </a:lnSpc>
                        <a:spcBef>
                          <a:spcPts val="0"/>
                        </a:spcBef>
                        <a:spcAft>
                          <a:spcPts val="0"/>
                        </a:spcAft>
                        <a:buAutoNum type="arabicPeriod"/>
                      </a:pPr>
                      <a:r>
                        <a:rPr lang="en-US" sz="1200" b="1" i="0" u="none" strike="noStrike" kern="1200" noProof="0">
                          <a:solidFill>
                            <a:srgbClr val="0070C0"/>
                          </a:solidFill>
                        </a:rPr>
                        <a:t>GE ODW Data Integration</a:t>
                      </a:r>
                    </a:p>
                    <a:p>
                      <a:pPr marL="228600" lvl="0" indent="-228600" algn="l">
                        <a:lnSpc>
                          <a:spcPct val="100000"/>
                        </a:lnSpc>
                        <a:spcBef>
                          <a:spcPts val="0"/>
                        </a:spcBef>
                        <a:spcAft>
                          <a:spcPts val="0"/>
                        </a:spcAft>
                        <a:buAutoNum type="arabicPeriod"/>
                      </a:pPr>
                      <a:endParaRPr lang="en-US" sz="1200" b="1" i="0" u="none" strike="noStrike" kern="1200" noProof="0">
                        <a:solidFill>
                          <a:srgbClr val="0070C0"/>
                        </a:solidFill>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lvl="0" indent="0" algn="l">
                        <a:lnSpc>
                          <a:spcPct val="100000"/>
                        </a:lnSpc>
                        <a:spcBef>
                          <a:spcPts val="0"/>
                        </a:spcBef>
                        <a:spcAft>
                          <a:spcPts val="0"/>
                        </a:spcAft>
                        <a:buNone/>
                      </a:pPr>
                      <a:r>
                        <a:rPr lang="en-US" sz="1200" b="1" i="0" u="none" strike="noStrike" kern="1200" noProof="0">
                          <a:solidFill>
                            <a:schemeClr val="tx1"/>
                          </a:solidFill>
                          <a:latin typeface="Nunito Sans"/>
                        </a:rPr>
                        <a:t>Operational Excellence </a:t>
                      </a:r>
                      <a:endParaRPr lang="en-US"/>
                    </a:p>
                    <a:p>
                      <a:pPr marL="0" lvl="0" indent="0" algn="l">
                        <a:lnSpc>
                          <a:spcPct val="100000"/>
                        </a:lnSpc>
                        <a:spcBef>
                          <a:spcPts val="0"/>
                        </a:spcBef>
                        <a:spcAft>
                          <a:spcPts val="0"/>
                        </a:spcAft>
                        <a:buNone/>
                      </a:pPr>
                      <a:r>
                        <a:rPr lang="en-US" sz="1200" b="0" i="0" u="none" strike="noStrike" kern="1200" noProof="0">
                          <a:solidFill>
                            <a:schemeClr val="tx1"/>
                          </a:solidFill>
                        </a:rPr>
                        <a:t>GE ODW Data integration into delta lake to retrieve and store key operational data including FDR .</a:t>
                      </a:r>
                      <a:endParaRPr lang="en-US"/>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443371065"/>
                  </a:ext>
                </a:extLst>
              </a:tr>
              <a:tr h="326080">
                <a:tc>
                  <a:txBody>
                    <a:bodyPr/>
                    <a:lstStyle/>
                    <a:p>
                      <a:pPr marL="0" lvl="0" indent="0" algn="l">
                        <a:lnSpc>
                          <a:spcPct val="100000"/>
                        </a:lnSpc>
                        <a:spcBef>
                          <a:spcPts val="0"/>
                        </a:spcBef>
                        <a:spcAft>
                          <a:spcPts val="0"/>
                        </a:spcAft>
                        <a:buNone/>
                      </a:pPr>
                      <a:r>
                        <a:rPr lang="en-US" sz="1200" b="1" i="0" u="none" strike="noStrike" kern="1200" noProof="0">
                          <a:solidFill>
                            <a:srgbClr val="0070C0"/>
                          </a:solidFill>
                          <a:latin typeface="Nunito Sans"/>
                        </a:rPr>
                        <a:t>2. COO Dashboards – Phase I Enhancement</a:t>
                      </a:r>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marL="0" lvl="0" indent="0" algn="l" defTabSz="914400" rtl="0" eaLnBrk="1" latinLnBrk="0" hangingPunct="1">
                        <a:lnSpc>
                          <a:spcPct val="100000"/>
                        </a:lnSpc>
                        <a:spcBef>
                          <a:spcPts val="0"/>
                        </a:spcBef>
                        <a:spcAft>
                          <a:spcPts val="0"/>
                        </a:spcAft>
                        <a:buNone/>
                      </a:pPr>
                      <a:r>
                        <a:rPr lang="en-US" sz="1200" b="1" i="0" u="none" strike="noStrike" kern="1200" noProof="0">
                          <a:solidFill>
                            <a:schemeClr val="tx1"/>
                          </a:solidFill>
                          <a:latin typeface="Nunito Sans"/>
                          <a:ea typeface="+mn-ea"/>
                          <a:cs typeface="+mn-cs"/>
                        </a:rPr>
                        <a:t>Operational Excellence </a:t>
                      </a:r>
                    </a:p>
                    <a:p>
                      <a:pPr marL="0" lvl="0" indent="0" algn="l">
                        <a:lnSpc>
                          <a:spcPct val="100000"/>
                        </a:lnSpc>
                        <a:spcBef>
                          <a:spcPts val="0"/>
                        </a:spcBef>
                        <a:spcAft>
                          <a:spcPts val="0"/>
                        </a:spcAft>
                        <a:buNone/>
                      </a:pPr>
                      <a:r>
                        <a:rPr lang="en-US" sz="1200" b="0" i="0" u="none" strike="noStrike" kern="1200" noProof="0">
                          <a:solidFill>
                            <a:schemeClr val="tx1"/>
                          </a:solidFill>
                        </a:rPr>
                        <a:t>Offload historical CAE MM data from MM database and store historical data on delta lake</a:t>
                      </a:r>
                      <a:endParaRPr lang="en-US"/>
                    </a:p>
                    <a:p>
                      <a:pPr marL="685800" lvl="1" indent="-228600" algn="l">
                        <a:lnSpc>
                          <a:spcPct val="100000"/>
                        </a:lnSpc>
                        <a:spcBef>
                          <a:spcPts val="0"/>
                        </a:spcBef>
                        <a:spcAft>
                          <a:spcPts val="0"/>
                        </a:spcAft>
                        <a:buFont typeface="Arial"/>
                        <a:buChar char="•"/>
                      </a:pPr>
                      <a:endParaRPr lang="en-US" sz="1200" b="0" i="0" u="none" strike="noStrike" kern="1200" noProof="0">
                        <a:solidFill>
                          <a:schemeClr val="tx1"/>
                        </a:solidFill>
                        <a:latin typeface="+mn-lt"/>
                      </a:endParaRPr>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417476375"/>
                  </a:ext>
                </a:extLst>
              </a:tr>
              <a:tr h="326080">
                <a:tc>
                  <a:txBody>
                    <a:bodyPr/>
                    <a:lstStyle/>
                    <a:p>
                      <a:pPr marL="228600" lvl="0" indent="-228600" algn="l">
                        <a:lnSpc>
                          <a:spcPct val="100000"/>
                        </a:lnSpc>
                        <a:spcBef>
                          <a:spcPts val="0"/>
                        </a:spcBef>
                        <a:spcAft>
                          <a:spcPts val="0"/>
                        </a:spcAft>
                        <a:buAutoNum type="arabicPeriod"/>
                      </a:pPr>
                      <a:endParaRPr lang="en-US" sz="1200" b="0" i="0" u="none" strike="noStrike" kern="1200" noProof="0">
                        <a:solidFill>
                          <a:srgbClr val="0070C0"/>
                        </a:solidFill>
                        <a:latin typeface="+mn-lt"/>
                      </a:endParaRPr>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tc>
                  <a:txBody>
                    <a:bodyPr/>
                    <a:lstStyle/>
                    <a:p>
                      <a:pPr marL="685800" lvl="1" indent="-228600" algn="l">
                        <a:lnSpc>
                          <a:spcPct val="100000"/>
                        </a:lnSpc>
                        <a:spcBef>
                          <a:spcPts val="0"/>
                        </a:spcBef>
                        <a:spcAft>
                          <a:spcPts val="0"/>
                        </a:spcAft>
                        <a:buFont typeface="Arial"/>
                        <a:buChar char="•"/>
                      </a:pPr>
                      <a:endParaRPr lang="en-US" sz="1200" b="0" i="0" u="none" strike="noStrike" kern="1200" noProof="0">
                        <a:solidFill>
                          <a:schemeClr val="tx1"/>
                        </a:solidFill>
                        <a:latin typeface="+mn-lt"/>
                      </a:endParaRPr>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extLst>
                  <a:ext uri="{0D108BD9-81ED-4DB2-BD59-A6C34878D82A}">
                    <a16:rowId xmlns:a16="http://schemas.microsoft.com/office/drawing/2014/main" val="1110178885"/>
                  </a:ext>
                </a:extLst>
              </a:tr>
            </a:tbl>
          </a:graphicData>
        </a:graphic>
      </p:graphicFrame>
      <p:graphicFrame>
        <p:nvGraphicFramePr>
          <p:cNvPr id="15" name="Table 14">
            <a:extLst>
              <a:ext uri="{FF2B5EF4-FFF2-40B4-BE49-F238E27FC236}">
                <a16:creationId xmlns:a16="http://schemas.microsoft.com/office/drawing/2014/main" id="{58AD3481-0D89-8193-B6FE-41752C9D55C5}"/>
              </a:ext>
            </a:extLst>
          </p:cNvPr>
          <p:cNvGraphicFramePr>
            <a:graphicFrameLocks noGrp="1"/>
          </p:cNvGraphicFramePr>
          <p:nvPr>
            <p:extLst>
              <p:ext uri="{D42A27DB-BD31-4B8C-83A1-F6EECF244321}">
                <p14:modId xmlns:p14="http://schemas.microsoft.com/office/powerpoint/2010/main" val="1819759270"/>
              </p:ext>
            </p:extLst>
          </p:nvPr>
        </p:nvGraphicFramePr>
        <p:xfrm>
          <a:off x="1328057" y="4767942"/>
          <a:ext cx="10645041" cy="1428578"/>
        </p:xfrm>
        <a:graphic>
          <a:graphicData uri="http://schemas.openxmlformats.org/drawingml/2006/table">
            <a:tbl>
              <a:tblPr firstRow="1" bandRow="1">
                <a:tableStyleId>{5C22544A-7EE6-4342-B048-85BDC9FD1C3A}</a:tableStyleId>
              </a:tblPr>
              <a:tblGrid>
                <a:gridCol w="3740680">
                  <a:extLst>
                    <a:ext uri="{9D8B030D-6E8A-4147-A177-3AD203B41FA5}">
                      <a16:colId xmlns:a16="http://schemas.microsoft.com/office/drawing/2014/main" val="2822350773"/>
                    </a:ext>
                  </a:extLst>
                </a:gridCol>
                <a:gridCol w="6904361">
                  <a:extLst>
                    <a:ext uri="{9D8B030D-6E8A-4147-A177-3AD203B41FA5}">
                      <a16:colId xmlns:a16="http://schemas.microsoft.com/office/drawing/2014/main" val="99588705"/>
                    </a:ext>
                  </a:extLst>
                </a:gridCol>
              </a:tblGrid>
              <a:tr h="331298">
                <a:tc>
                  <a:txBody>
                    <a:bodyPr/>
                    <a:lstStyle/>
                    <a:p>
                      <a:pPr marL="0" lvl="0" indent="0" algn="ctr" defTabSz="914400" rtl="0" eaLnBrk="1" latinLnBrk="0" hangingPunct="1">
                        <a:lnSpc>
                          <a:spcPct val="100000"/>
                        </a:lnSpc>
                        <a:buFont typeface="Arial" panose="020B0604020202020204" pitchFamily="34" charset="0"/>
                        <a:buNone/>
                      </a:pPr>
                      <a:r>
                        <a:rPr lang="en-IN" sz="1200" kern="1200">
                          <a:solidFill>
                            <a:schemeClr val="bg1"/>
                          </a:solidFill>
                          <a:latin typeface="+mn-lt"/>
                          <a:ea typeface="+mn-ea"/>
                          <a:cs typeface="+mn-cs"/>
                        </a:rPr>
                        <a:t>Project/Initiative</a:t>
                      </a:r>
                      <a:endParaRPr lang="en-US" sz="1200"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tc>
                  <a:txBody>
                    <a:bodyPr/>
                    <a:lstStyle/>
                    <a:p>
                      <a:pPr marL="0" indent="0" algn="ctr" defTabSz="914400" rtl="0" eaLnBrk="1" latinLnBrk="0" hangingPunct="1">
                        <a:buFont typeface="Arial" panose="020B0604020202020204" pitchFamily="34" charset="0"/>
                        <a:buNone/>
                      </a:pPr>
                      <a:r>
                        <a:rPr lang="en-IN" sz="1200" kern="1200">
                          <a:solidFill>
                            <a:schemeClr val="bg1"/>
                          </a:solidFill>
                          <a:latin typeface="+mn-lt"/>
                          <a:ea typeface="+mn-ea"/>
                          <a:cs typeface="+mn-cs"/>
                        </a:rPr>
                        <a:t>Value Justification/Realization</a:t>
                      </a:r>
                      <a:endParaRPr lang="en-US" sz="1200"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extLst>
                  <a:ext uri="{0D108BD9-81ED-4DB2-BD59-A6C34878D82A}">
                    <a16:rowId xmlns:a16="http://schemas.microsoft.com/office/drawing/2014/main" val="844450115"/>
                  </a:ext>
                </a:extLst>
              </a:tr>
              <a:tr h="397560">
                <a:tc>
                  <a:txBody>
                    <a:bodyPr/>
                    <a:lstStyle/>
                    <a:p>
                      <a:pPr marL="0" lvl="0" indent="0" algn="l">
                        <a:lnSpc>
                          <a:spcPct val="100000"/>
                        </a:lnSpc>
                        <a:spcBef>
                          <a:spcPts val="0"/>
                        </a:spcBef>
                        <a:spcAft>
                          <a:spcPts val="0"/>
                        </a:spcAft>
                        <a:buNone/>
                      </a:pPr>
                      <a:r>
                        <a:rPr lang="en-US" sz="1200" b="1" i="0" u="none" strike="noStrike" kern="1200" noProof="0">
                          <a:solidFill>
                            <a:srgbClr val="0070C0"/>
                          </a:solidFill>
                          <a:latin typeface="+mn-lt"/>
                          <a:ea typeface="+mn-ea"/>
                          <a:cs typeface="+mn-cs"/>
                        </a:rPr>
                        <a:t>1.Cew Roster Automation </a:t>
                      </a:r>
                      <a:endParaRPr lang="en-US" sz="1200" b="1" i="0" u="none" strike="noStrike" kern="1200">
                        <a:solidFill>
                          <a:srgbClr val="0070C0"/>
                        </a:solidFill>
                        <a:latin typeface="+mn-lt"/>
                        <a:ea typeface="+mn-ea"/>
                        <a:cs typeface="+mn-cs"/>
                      </a:endParaRPr>
                    </a:p>
                    <a:p>
                      <a:pPr marL="0" lvl="0" indent="0" algn="l">
                        <a:lnSpc>
                          <a:spcPct val="100000"/>
                        </a:lnSpc>
                        <a:spcBef>
                          <a:spcPts val="0"/>
                        </a:spcBef>
                        <a:spcAft>
                          <a:spcPts val="0"/>
                        </a:spcAft>
                        <a:buNone/>
                      </a:pPr>
                      <a:endParaRPr lang="en-US" sz="1200" b="1" i="0" u="none" strike="noStrike" kern="1200" noProof="0">
                        <a:solidFill>
                          <a:schemeClr val="tx1"/>
                        </a:solidFill>
                        <a:latin typeface="+mn-lt"/>
                      </a:endParaRPr>
                    </a:p>
                  </a:txBody>
                  <a:tcP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a:solidFill>
                        <a:schemeClr val="bg1">
                          <a:lumMod val="75000"/>
                        </a:schemeClr>
                      </a:solidFill>
                    </a:lnB>
                    <a:noFill/>
                  </a:tcPr>
                </a:tc>
                <a:tc>
                  <a:txBody>
                    <a:bodyPr/>
                    <a:lstStyle/>
                    <a:p>
                      <a:pPr marL="0" lvl="0" indent="0" algn="l">
                        <a:lnSpc>
                          <a:spcPct val="100000"/>
                        </a:lnSpc>
                        <a:spcBef>
                          <a:spcPts val="0"/>
                        </a:spcBef>
                        <a:spcAft>
                          <a:spcPts val="0"/>
                        </a:spcAft>
                        <a:buNone/>
                      </a:pPr>
                      <a:r>
                        <a:rPr lang="en-US" sz="1200" b="1" i="0" u="none" strike="noStrike" kern="1200" noProof="0">
                          <a:solidFill>
                            <a:schemeClr val="tx1"/>
                          </a:solidFill>
                          <a:latin typeface="Nunito Sans"/>
                          <a:ea typeface="+mn-ea"/>
                          <a:cs typeface="+mn-cs"/>
                        </a:rPr>
                        <a:t>Operational Excellence </a:t>
                      </a:r>
                      <a:endParaRPr lang="en-US"/>
                    </a:p>
                    <a:p>
                      <a:pPr marL="171450" lvl="0" indent="-171450" algn="l">
                        <a:lnSpc>
                          <a:spcPct val="100000"/>
                        </a:lnSpc>
                        <a:spcBef>
                          <a:spcPts val="0"/>
                        </a:spcBef>
                        <a:spcAft>
                          <a:spcPts val="0"/>
                        </a:spcAft>
                        <a:buClr>
                          <a:srgbClr val="000000"/>
                        </a:buClr>
                        <a:buFont typeface="Arial"/>
                        <a:buChar char="•"/>
                      </a:pPr>
                      <a:r>
                        <a:rPr lang="en-US" sz="1200" b="0" i="0" u="none" strike="noStrike" kern="1200" noProof="0">
                          <a:solidFill>
                            <a:schemeClr val="tx1"/>
                          </a:solidFill>
                          <a:latin typeface="Nunito Sans"/>
                          <a:ea typeface="+mn-ea"/>
                          <a:cs typeface="+mn-cs"/>
                        </a:rPr>
                        <a:t>Near real time automation enablement of crew roster data - planned, published &amp; actual crew roster data from CAE CM for building crew analytics for IOCC and other projects.</a:t>
                      </a:r>
                      <a:endParaRPr lang="en-US"/>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a:solidFill>
                        <a:schemeClr val="bg1">
                          <a:lumMod val="75000"/>
                        </a:schemeClr>
                      </a:solidFill>
                    </a:lnB>
                    <a:noFill/>
                  </a:tcPr>
                </a:tc>
                <a:extLst>
                  <a:ext uri="{0D108BD9-81ED-4DB2-BD59-A6C34878D82A}">
                    <a16:rowId xmlns:a16="http://schemas.microsoft.com/office/drawing/2014/main" val="3417476375"/>
                  </a:ext>
                </a:extLst>
              </a:tr>
              <a:tr h="397559">
                <a:tc>
                  <a:txBody>
                    <a:bodyPr/>
                    <a:lstStyle/>
                    <a:p>
                      <a:pPr marL="0" lvl="0" indent="0" algn="l">
                        <a:lnSpc>
                          <a:spcPct val="100000"/>
                        </a:lnSpc>
                        <a:spcBef>
                          <a:spcPts val="0"/>
                        </a:spcBef>
                        <a:spcAft>
                          <a:spcPts val="0"/>
                        </a:spcAft>
                        <a:buNone/>
                      </a:pPr>
                      <a:r>
                        <a:rPr lang="en-US" sz="1200" b="1" i="0" u="none" strike="noStrike" kern="1200" noProof="0">
                          <a:solidFill>
                            <a:srgbClr val="0070C0"/>
                          </a:solidFill>
                          <a:latin typeface="+mn-lt"/>
                          <a:ea typeface="+mn-ea"/>
                          <a:cs typeface="+mn-cs"/>
                        </a:rPr>
                        <a:t>2.CEO Dashboards – Enhancements </a:t>
                      </a:r>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tc>
                  <a:txBody>
                    <a:bodyPr/>
                    <a:lstStyle/>
                    <a:p>
                      <a:pPr marL="0" lvl="0" indent="0" algn="l">
                        <a:lnSpc>
                          <a:spcPct val="100000"/>
                        </a:lnSpc>
                        <a:spcBef>
                          <a:spcPts val="0"/>
                        </a:spcBef>
                        <a:spcAft>
                          <a:spcPts val="0"/>
                        </a:spcAft>
                        <a:buNone/>
                      </a:pPr>
                      <a:r>
                        <a:rPr lang="en-US" sz="1200" b="1" i="0" u="none" strike="noStrike" kern="1200" noProof="0">
                          <a:solidFill>
                            <a:schemeClr val="tx1"/>
                          </a:solidFill>
                          <a:latin typeface="Nunito Sans"/>
                        </a:rPr>
                        <a:t>Operational Excellence</a:t>
                      </a:r>
                      <a:endParaRPr lang="en-US" sz="1200" b="0" i="0" u="none" strike="noStrike" kern="1200" noProof="0">
                        <a:solidFill>
                          <a:schemeClr val="tx1"/>
                        </a:solidFill>
                        <a:latin typeface="Nunito Sans"/>
                        <a:ea typeface="+mn-ea"/>
                        <a:cs typeface="+mn-cs"/>
                      </a:endParaRPr>
                    </a:p>
                    <a:p>
                      <a:pPr marL="171450" lvl="0" indent="-171450" algn="l">
                        <a:lnSpc>
                          <a:spcPct val="100000"/>
                        </a:lnSpc>
                        <a:spcBef>
                          <a:spcPts val="0"/>
                        </a:spcBef>
                        <a:spcAft>
                          <a:spcPts val="0"/>
                        </a:spcAft>
                        <a:buFont typeface="Arial,Sans-Serif"/>
                        <a:buChar char="•"/>
                      </a:pPr>
                      <a:r>
                        <a:rPr lang="en-US" sz="1200" b="0" i="0" u="none" strike="noStrike" kern="1200" noProof="0">
                          <a:solidFill>
                            <a:schemeClr val="tx1"/>
                          </a:solidFill>
                        </a:rPr>
                        <a:t>Enhance CEO dashboards for including PAX OTP view (</a:t>
                      </a:r>
                      <a:r>
                        <a:rPr lang="en-US" sz="1200" b="0" i="0" u="none" strike="noStrike" kern="1200" noProof="0">
                          <a:solidFill>
                            <a:srgbClr val="000000"/>
                          </a:solidFill>
                          <a:latin typeface="Nunito Sans"/>
                        </a:rPr>
                        <a:t>OTP &amp; Cancellations )</a:t>
                      </a:r>
                      <a:endParaRPr lang="en-US" sz="1200" b="0" i="0" u="none" strike="noStrike" kern="1200" noProof="0">
                        <a:solidFill>
                          <a:schemeClr val="tx1"/>
                        </a:solidFill>
                        <a:latin typeface="Nunito Sans"/>
                        <a:ea typeface="+mn-ea"/>
                        <a:cs typeface="+mn-cs"/>
                      </a:endParaRPr>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extLst>
                  <a:ext uri="{0D108BD9-81ED-4DB2-BD59-A6C34878D82A}">
                    <a16:rowId xmlns:a16="http://schemas.microsoft.com/office/drawing/2014/main" val="889849819"/>
                  </a:ext>
                </a:extLst>
              </a:tr>
            </a:tbl>
          </a:graphicData>
        </a:graphic>
      </p:graphicFrame>
      <p:sp>
        <p:nvSpPr>
          <p:cNvPr id="16" name="Rectangle 15">
            <a:extLst>
              <a:ext uri="{FF2B5EF4-FFF2-40B4-BE49-F238E27FC236}">
                <a16:creationId xmlns:a16="http://schemas.microsoft.com/office/drawing/2014/main" id="{7C637B9A-C545-5AE0-684D-DD2D0BBD2332}"/>
              </a:ext>
            </a:extLst>
          </p:cNvPr>
          <p:cNvSpPr/>
          <p:nvPr/>
        </p:nvSpPr>
        <p:spPr>
          <a:xfrm>
            <a:off x="1910" y="3220226"/>
            <a:ext cx="1170432" cy="42234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1100" b="1">
                <a:latin typeface="AirIndia"/>
              </a:rPr>
              <a:t>May 2026</a:t>
            </a:r>
            <a:endParaRPr lang="en-US"/>
          </a:p>
        </p:txBody>
      </p:sp>
      <p:sp>
        <p:nvSpPr>
          <p:cNvPr id="17" name="Rectangle 16">
            <a:extLst>
              <a:ext uri="{FF2B5EF4-FFF2-40B4-BE49-F238E27FC236}">
                <a16:creationId xmlns:a16="http://schemas.microsoft.com/office/drawing/2014/main" id="{FD3EF194-F706-5528-67F5-9CA8B01A3744}"/>
              </a:ext>
            </a:extLst>
          </p:cNvPr>
          <p:cNvSpPr/>
          <p:nvPr/>
        </p:nvSpPr>
        <p:spPr>
          <a:xfrm>
            <a:off x="136167" y="4697054"/>
            <a:ext cx="1170432" cy="42234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1100" b="1">
                <a:latin typeface="AirIndia"/>
              </a:rPr>
              <a:t>June 2026</a:t>
            </a:r>
            <a:endParaRPr lang="en-US"/>
          </a:p>
        </p:txBody>
      </p:sp>
    </p:spTree>
    <p:extLst>
      <p:ext uri="{BB962C8B-B14F-4D97-AF65-F5344CB8AC3E}">
        <p14:creationId xmlns:p14="http://schemas.microsoft.com/office/powerpoint/2010/main" val="3140518263"/>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057177-F5FD-1990-7346-5B99B59238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DBCDC0-CD21-18E4-EA25-DD3E979C06CE}"/>
              </a:ext>
            </a:extLst>
          </p:cNvPr>
          <p:cNvSpPr>
            <a:spLocks noGrp="1"/>
          </p:cNvSpPr>
          <p:nvPr>
            <p:ph type="title"/>
          </p:nvPr>
        </p:nvSpPr>
        <p:spPr>
          <a:xfrm>
            <a:off x="5876373" y="2114927"/>
            <a:ext cx="6907630" cy="1961201"/>
          </a:xfrm>
        </p:spPr>
        <p:txBody>
          <a:bodyPr/>
          <a:lstStyle/>
          <a:p>
            <a:r>
              <a:rPr lang="en-US" sz="5400">
                <a:latin typeface="AirIndia"/>
              </a:rPr>
              <a:t>Operations-Q2</a:t>
            </a:r>
            <a:endParaRPr lang="en-US" sz="5400"/>
          </a:p>
        </p:txBody>
      </p:sp>
    </p:spTree>
    <p:extLst>
      <p:ext uri="{BB962C8B-B14F-4D97-AF65-F5344CB8AC3E}">
        <p14:creationId xmlns:p14="http://schemas.microsoft.com/office/powerpoint/2010/main" val="396389163"/>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2DC4F8-7A2F-714F-1954-E550EE94732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5AD3D35-F83C-CFA7-2445-896F241EC080}"/>
              </a:ext>
            </a:extLst>
          </p:cNvPr>
          <p:cNvSpPr>
            <a:spLocks noGrp="1"/>
          </p:cNvSpPr>
          <p:nvPr>
            <p:ph type="sldNum" sz="quarter" idx="12"/>
          </p:nvPr>
        </p:nvSpPr>
        <p:spPr/>
        <p:txBody>
          <a:bodyPr/>
          <a:lstStyle/>
          <a:p>
            <a:fld id="{3A41A254-7326-714E-AF55-4C213D6394DE}" type="slidenum">
              <a:rPr lang="en-US" smtClean="0"/>
              <a:pPr/>
              <a:t>116</a:t>
            </a:fld>
            <a:endParaRPr lang="en-US"/>
          </a:p>
        </p:txBody>
      </p:sp>
      <p:sp>
        <p:nvSpPr>
          <p:cNvPr id="6" name="Title 11">
            <a:extLst>
              <a:ext uri="{FF2B5EF4-FFF2-40B4-BE49-F238E27FC236}">
                <a16:creationId xmlns:a16="http://schemas.microsoft.com/office/drawing/2014/main" id="{FB6BCFDC-519E-4666-BDA8-09BF5D41CA7F}"/>
              </a:ext>
            </a:extLst>
          </p:cNvPr>
          <p:cNvSpPr txBox="1">
            <a:spLocks/>
          </p:cNvSpPr>
          <p:nvPr/>
        </p:nvSpPr>
        <p:spPr>
          <a:xfrm>
            <a:off x="166915" y="307594"/>
            <a:ext cx="5910942" cy="403895"/>
          </a:xfrm>
          <a:prstGeom prst="rect">
            <a:avLst/>
          </a:prstGeom>
        </p:spPr>
        <p:txBody>
          <a:bodyPr lIns="91440" tIns="45720" rIns="91440" bIns="45720" anchor="t">
            <a:noAutofit/>
          </a:bodyPr>
          <a:lstStyle>
            <a:lvl1pPr algn="l" defTabSz="914400" rtl="0" eaLnBrk="1" latinLnBrk="0" hangingPunct="1">
              <a:lnSpc>
                <a:spcPct val="90000"/>
              </a:lnSpc>
              <a:spcBef>
                <a:spcPct val="0"/>
              </a:spcBef>
              <a:buNone/>
              <a:defRPr sz="4400" b="1" i="0" kern="1200">
                <a:solidFill>
                  <a:schemeClr val="tx1"/>
                </a:solidFill>
                <a:latin typeface="AirIndia" pitchFamily="82" charset="77"/>
                <a:ea typeface="+mj-ea"/>
                <a:cs typeface="+mj-cs"/>
              </a:defRPr>
            </a:lvl1pPr>
          </a:lstStyle>
          <a:p>
            <a:r>
              <a:rPr lang="en-US" sz="2400">
                <a:solidFill>
                  <a:schemeClr val="accent1"/>
                </a:solidFill>
                <a:latin typeface="AirIndia"/>
              </a:rPr>
              <a:t>Operations - FY26 Q2 Release Plan</a:t>
            </a:r>
            <a:endParaRPr lang="en-US" sz="2400" b="0">
              <a:solidFill>
                <a:schemeClr val="accent1"/>
              </a:solidFill>
              <a:latin typeface="AirIndia"/>
            </a:endParaRPr>
          </a:p>
          <a:p>
            <a:endParaRPr lang="en-US" sz="1800">
              <a:solidFill>
                <a:schemeClr val="accent1"/>
              </a:solidFill>
              <a:latin typeface="AirIndia"/>
            </a:endParaRPr>
          </a:p>
        </p:txBody>
      </p:sp>
      <p:graphicFrame>
        <p:nvGraphicFramePr>
          <p:cNvPr id="12" name="Table 11">
            <a:extLst>
              <a:ext uri="{FF2B5EF4-FFF2-40B4-BE49-F238E27FC236}">
                <a16:creationId xmlns:a16="http://schemas.microsoft.com/office/drawing/2014/main" id="{00162DCA-C789-6DDC-32CC-0ABC507A9C93}"/>
              </a:ext>
            </a:extLst>
          </p:cNvPr>
          <p:cNvGraphicFramePr>
            <a:graphicFrameLocks noGrp="1"/>
          </p:cNvGraphicFramePr>
          <p:nvPr>
            <p:extLst>
              <p:ext uri="{D42A27DB-BD31-4B8C-83A1-F6EECF244321}">
                <p14:modId xmlns:p14="http://schemas.microsoft.com/office/powerpoint/2010/main" val="937050386"/>
              </p:ext>
            </p:extLst>
          </p:nvPr>
        </p:nvGraphicFramePr>
        <p:xfrm>
          <a:off x="1295713" y="866914"/>
          <a:ext cx="10697938" cy="2194560"/>
        </p:xfrm>
        <a:graphic>
          <a:graphicData uri="http://schemas.openxmlformats.org/drawingml/2006/table">
            <a:tbl>
              <a:tblPr firstRow="1" bandRow="1">
                <a:tableStyleId>{5C22544A-7EE6-4342-B048-85BDC9FD1C3A}</a:tableStyleId>
              </a:tblPr>
              <a:tblGrid>
                <a:gridCol w="3759269">
                  <a:extLst>
                    <a:ext uri="{9D8B030D-6E8A-4147-A177-3AD203B41FA5}">
                      <a16:colId xmlns:a16="http://schemas.microsoft.com/office/drawing/2014/main" val="2822350773"/>
                    </a:ext>
                  </a:extLst>
                </a:gridCol>
                <a:gridCol w="6938669">
                  <a:extLst>
                    <a:ext uri="{9D8B030D-6E8A-4147-A177-3AD203B41FA5}">
                      <a16:colId xmlns:a16="http://schemas.microsoft.com/office/drawing/2014/main" val="99588705"/>
                    </a:ext>
                  </a:extLst>
                </a:gridCol>
              </a:tblGrid>
              <a:tr h="217387">
                <a:tc>
                  <a:txBody>
                    <a:bodyPr/>
                    <a:lstStyle/>
                    <a:p>
                      <a:pPr marL="0" lvl="0" indent="0" algn="ctr" defTabSz="914400" rtl="0" eaLnBrk="1" latinLnBrk="0" hangingPunct="1">
                        <a:lnSpc>
                          <a:spcPct val="100000"/>
                        </a:lnSpc>
                        <a:buFont typeface="Arial" panose="020B0604020202020204" pitchFamily="34" charset="0"/>
                        <a:buNone/>
                      </a:pPr>
                      <a:r>
                        <a:rPr lang="en-IN" sz="1200" kern="1200">
                          <a:solidFill>
                            <a:schemeClr val="bg1"/>
                          </a:solidFill>
                          <a:latin typeface="+mn-lt"/>
                          <a:ea typeface="+mn-ea"/>
                          <a:cs typeface="+mn-cs"/>
                        </a:rPr>
                        <a:t>Project/Initiative</a:t>
                      </a:r>
                      <a:endParaRPr lang="en-US" sz="1200"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tc>
                  <a:txBody>
                    <a:bodyPr/>
                    <a:lstStyle/>
                    <a:p>
                      <a:pPr marL="0" indent="0" algn="ctr" defTabSz="914400" rtl="0" eaLnBrk="1" latinLnBrk="0" hangingPunct="1">
                        <a:buFont typeface="Arial" panose="020B0604020202020204" pitchFamily="34" charset="0"/>
                        <a:buNone/>
                      </a:pPr>
                      <a:r>
                        <a:rPr lang="en-IN" sz="1200" kern="1200">
                          <a:solidFill>
                            <a:schemeClr val="bg1"/>
                          </a:solidFill>
                          <a:latin typeface="+mn-lt"/>
                          <a:ea typeface="+mn-ea"/>
                          <a:cs typeface="+mn-cs"/>
                        </a:rPr>
                        <a:t>Value Justification/Realization</a:t>
                      </a:r>
                      <a:endParaRPr lang="en-US" sz="1200"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extLst>
                  <a:ext uri="{0D108BD9-81ED-4DB2-BD59-A6C34878D82A}">
                    <a16:rowId xmlns:a16="http://schemas.microsoft.com/office/drawing/2014/main" val="844450115"/>
                  </a:ext>
                </a:extLst>
              </a:tr>
              <a:tr h="499989">
                <a:tc>
                  <a:txBody>
                    <a:bodyPr/>
                    <a:lstStyle/>
                    <a:p>
                      <a:pPr marL="228600" lvl="0" indent="-228600" algn="l">
                        <a:lnSpc>
                          <a:spcPct val="100000"/>
                        </a:lnSpc>
                        <a:spcBef>
                          <a:spcPts val="0"/>
                        </a:spcBef>
                        <a:spcAft>
                          <a:spcPts val="0"/>
                        </a:spcAft>
                        <a:buAutoNum type="arabicPeriod"/>
                      </a:pPr>
                      <a:r>
                        <a:rPr lang="en-US" sz="1200" b="1" i="0" u="none" strike="noStrike" kern="1200" noProof="0">
                          <a:solidFill>
                            <a:srgbClr val="05B050"/>
                          </a:solidFill>
                          <a:latin typeface="+mn-lt"/>
                          <a:ea typeface="+mn-ea"/>
                          <a:cs typeface="+mn-cs"/>
                        </a:rPr>
                        <a:t>COO Dashboards -  Phase II</a:t>
                      </a: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lvl="0" indent="0" algn="l" defTabSz="914400" rtl="0" eaLnBrk="1" latinLnBrk="0" hangingPunct="1">
                        <a:lnSpc>
                          <a:spcPct val="100000"/>
                        </a:lnSpc>
                        <a:spcBef>
                          <a:spcPts val="0"/>
                        </a:spcBef>
                        <a:spcAft>
                          <a:spcPts val="0"/>
                        </a:spcAft>
                        <a:buFont typeface="Arial"/>
                        <a:buNone/>
                      </a:pPr>
                      <a:r>
                        <a:rPr lang="en-US" sz="1200" b="1" i="0" u="none" strike="noStrike" kern="1200" noProof="0">
                          <a:solidFill>
                            <a:schemeClr val="tx1"/>
                          </a:solidFill>
                          <a:latin typeface="+mn-lt"/>
                          <a:ea typeface="+mn-ea"/>
                          <a:cs typeface="+mn-cs"/>
                        </a:rPr>
                        <a:t>Operational Excellence</a:t>
                      </a:r>
                      <a:endParaRPr lang="en-US" sz="1200" b="1" i="0" u="none" strike="noStrike" kern="1200">
                        <a:solidFill>
                          <a:schemeClr val="tx1"/>
                        </a:solidFill>
                        <a:latin typeface="+mn-lt"/>
                        <a:ea typeface="+mn-ea"/>
                        <a:cs typeface="+mn-cs"/>
                      </a:endParaRPr>
                    </a:p>
                    <a:p>
                      <a:pPr marL="0" lvl="0" indent="0" algn="l" defTabSz="914400" rtl="0" eaLnBrk="1" latinLnBrk="0" hangingPunct="1">
                        <a:lnSpc>
                          <a:spcPct val="100000"/>
                        </a:lnSpc>
                        <a:spcBef>
                          <a:spcPts val="0"/>
                        </a:spcBef>
                        <a:spcAft>
                          <a:spcPts val="0"/>
                        </a:spcAft>
                        <a:buFont typeface="Arial"/>
                        <a:buNone/>
                      </a:pPr>
                      <a:r>
                        <a:rPr lang="en-US" sz="1200" b="0" i="0" u="none" strike="noStrike" kern="1200" noProof="0">
                          <a:solidFill>
                            <a:schemeClr val="tx1"/>
                          </a:solidFill>
                          <a:latin typeface="+mn-lt"/>
                          <a:ea typeface="+mn-ea"/>
                          <a:cs typeface="+mn-cs"/>
                        </a:rPr>
                        <a:t>Building safety and denied boarding KPI's for COO dashboards</a:t>
                      </a:r>
                    </a:p>
                    <a:p>
                      <a:pPr marL="685800" lvl="1" indent="-228600" algn="l">
                        <a:lnSpc>
                          <a:spcPct val="100000"/>
                        </a:lnSpc>
                        <a:spcBef>
                          <a:spcPts val="0"/>
                        </a:spcBef>
                        <a:spcAft>
                          <a:spcPts val="0"/>
                        </a:spcAft>
                        <a:buFont typeface="Arial" panose="020B0604020202020204" pitchFamily="34" charset="0"/>
                        <a:buChar char="•"/>
                      </a:pPr>
                      <a:endParaRPr lang="en-US" sz="1200" b="1" i="0" u="none" strike="noStrike" kern="1200" noProof="0">
                        <a:solidFill>
                          <a:schemeClr val="tx1"/>
                        </a:solidFill>
                        <a:latin typeface="+mn-lt"/>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443371065"/>
                  </a:ext>
                </a:extLst>
              </a:tr>
              <a:tr h="326080">
                <a:tc>
                  <a:txBody>
                    <a:bodyPr/>
                    <a:lstStyle/>
                    <a:p>
                      <a:pPr marL="0" lvl="0" indent="0" algn="l">
                        <a:lnSpc>
                          <a:spcPct val="100000"/>
                        </a:lnSpc>
                        <a:spcBef>
                          <a:spcPts val="0"/>
                        </a:spcBef>
                        <a:spcAft>
                          <a:spcPts val="0"/>
                        </a:spcAft>
                        <a:buNone/>
                      </a:pPr>
                      <a:r>
                        <a:rPr lang="en-US" sz="1200" b="1" i="0" u="none" strike="noStrike" kern="1200" noProof="0">
                          <a:solidFill>
                            <a:srgbClr val="05B050"/>
                          </a:solidFill>
                          <a:latin typeface="+mn-lt"/>
                        </a:rPr>
                        <a:t>2. Crew Document </a:t>
                      </a:r>
                      <a:r>
                        <a:rPr lang="en-US" sz="1200" b="1" i="0" u="none" strike="noStrike" kern="1200" noProof="0" err="1">
                          <a:solidFill>
                            <a:srgbClr val="05B050"/>
                          </a:solidFill>
                          <a:latin typeface="+mn-lt"/>
                        </a:rPr>
                        <a:t>Analyti</a:t>
                      </a:r>
                      <a:r>
                        <a:rPr lang="en-US" sz="1200" b="1" i="0" u="none" strike="noStrike" kern="1200" noProof="0">
                          <a:solidFill>
                            <a:srgbClr val="05B050"/>
                          </a:solidFill>
                          <a:latin typeface="+mn-lt"/>
                        </a:rPr>
                        <a:t>cs – Phase I</a:t>
                      </a:r>
                    </a:p>
                    <a:p>
                      <a:pPr marL="0" lvl="0" indent="0" algn="l">
                        <a:lnSpc>
                          <a:spcPct val="100000"/>
                        </a:lnSpc>
                        <a:spcBef>
                          <a:spcPts val="0"/>
                        </a:spcBef>
                        <a:spcAft>
                          <a:spcPts val="0"/>
                        </a:spcAft>
                        <a:buNone/>
                      </a:pPr>
                      <a:r>
                        <a:rPr lang="en-US" sz="1000" b="0" i="0" u="none" strike="noStrike" kern="1200" noProof="0">
                          <a:solidFill>
                            <a:srgbClr val="000000"/>
                          </a:solidFill>
                          <a:latin typeface="Nunito Sans"/>
                        </a:rPr>
                        <a:t>Crew Document Analytics automate  KPI’s across Ops Efficiency , Compliance , Safety , OCR quality for enabling visibility into regulatory compliance, operational readiness.</a:t>
                      </a:r>
                      <a:endParaRPr lang="en-US" sz="1000"/>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marL="0" lvl="0" indent="0" algn="l" defTabSz="914400" rtl="0" eaLnBrk="1" latinLnBrk="0" hangingPunct="1">
                        <a:lnSpc>
                          <a:spcPct val="100000"/>
                        </a:lnSpc>
                        <a:spcBef>
                          <a:spcPts val="0"/>
                        </a:spcBef>
                        <a:spcAft>
                          <a:spcPts val="0"/>
                        </a:spcAft>
                        <a:buFont typeface="Arial"/>
                        <a:buNone/>
                      </a:pPr>
                      <a:r>
                        <a:rPr lang="en-US" sz="1200" b="1" i="0" u="none" strike="noStrike" kern="1200" noProof="0">
                          <a:solidFill>
                            <a:schemeClr val="tx1"/>
                          </a:solidFill>
                          <a:latin typeface="+mn-lt"/>
                          <a:ea typeface="+mn-ea"/>
                          <a:cs typeface="+mn-cs"/>
                        </a:rPr>
                        <a:t>Operational Excellence</a:t>
                      </a:r>
                    </a:p>
                    <a:p>
                      <a:pPr marL="0" lvl="0" indent="0" algn="l" defTabSz="914400" rtl="0" eaLnBrk="1" latinLnBrk="0" hangingPunct="1">
                        <a:lnSpc>
                          <a:spcPct val="100000"/>
                        </a:lnSpc>
                        <a:spcBef>
                          <a:spcPts val="0"/>
                        </a:spcBef>
                        <a:spcAft>
                          <a:spcPts val="0"/>
                        </a:spcAft>
                        <a:buFont typeface="Arial"/>
                        <a:buNone/>
                      </a:pPr>
                      <a:r>
                        <a:rPr lang="en-US" sz="1200" b="0" i="0" u="none" strike="noStrike" kern="1200" noProof="0">
                          <a:solidFill>
                            <a:schemeClr val="tx1"/>
                          </a:solidFill>
                          <a:latin typeface="+mn-lt"/>
                          <a:ea typeface="+mn-ea"/>
                          <a:cs typeface="+mn-cs"/>
                        </a:rPr>
                        <a:t>Reduces manual tracking, provides near real-time visibility into document processing, identifies approval bottlenecks, improves SLA adherence, and accelerates document renewal workflows.</a:t>
                      </a:r>
                    </a:p>
                    <a:p>
                      <a:pPr marL="685800" lvl="1" indent="-228600" algn="l">
                        <a:lnSpc>
                          <a:spcPct val="100000"/>
                        </a:lnSpc>
                        <a:spcBef>
                          <a:spcPts val="0"/>
                        </a:spcBef>
                        <a:spcAft>
                          <a:spcPts val="0"/>
                        </a:spcAft>
                        <a:buFont typeface="Arial"/>
                        <a:buChar char="•"/>
                      </a:pPr>
                      <a:endParaRPr lang="en-US" sz="1200" b="0" i="0" u="none" strike="noStrike" kern="1200" noProof="0">
                        <a:solidFill>
                          <a:schemeClr val="tx1"/>
                        </a:solidFill>
                        <a:latin typeface="+mn-lt"/>
                      </a:endParaRPr>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417476375"/>
                  </a:ext>
                </a:extLst>
              </a:tr>
              <a:tr h="326079">
                <a:tc>
                  <a:txBody>
                    <a:bodyPr/>
                    <a:lstStyle/>
                    <a:p>
                      <a:pPr marL="0" lvl="0" indent="0" algn="l">
                        <a:lnSpc>
                          <a:spcPct val="100000"/>
                        </a:lnSpc>
                        <a:spcBef>
                          <a:spcPts val="0"/>
                        </a:spcBef>
                        <a:spcAft>
                          <a:spcPts val="0"/>
                        </a:spcAft>
                        <a:buNone/>
                      </a:pPr>
                      <a:r>
                        <a:rPr lang="en-US" sz="1200" b="1" i="0" u="none" strike="noStrike" kern="1200" noProof="0">
                          <a:solidFill>
                            <a:srgbClr val="05B050"/>
                          </a:solidFill>
                          <a:latin typeface="+mn-lt"/>
                          <a:ea typeface="+mn-ea"/>
                          <a:cs typeface="+mn-cs"/>
                        </a:rPr>
                        <a:t>3.IOCC - Chairman's requirement – Phase I</a:t>
                      </a:r>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tc>
                  <a:txBody>
                    <a:bodyPr/>
                    <a:lstStyle/>
                    <a:p>
                      <a:pPr marL="0" lvl="0" indent="0" algn="l" defTabSz="914400" rtl="0" eaLnBrk="1" latinLnBrk="0" hangingPunct="1">
                        <a:lnSpc>
                          <a:spcPct val="100000"/>
                        </a:lnSpc>
                        <a:spcBef>
                          <a:spcPts val="0"/>
                        </a:spcBef>
                        <a:spcAft>
                          <a:spcPts val="0"/>
                        </a:spcAft>
                        <a:buFont typeface="Arial"/>
                        <a:buNone/>
                      </a:pPr>
                      <a:r>
                        <a:rPr lang="en-US" sz="1200" b="1" i="0" u="none" strike="noStrike" kern="1200" noProof="0">
                          <a:solidFill>
                            <a:schemeClr val="tx1"/>
                          </a:solidFill>
                          <a:latin typeface="+mn-lt"/>
                          <a:ea typeface="+mn-ea"/>
                          <a:cs typeface="+mn-cs"/>
                        </a:rPr>
                        <a:t>Operational Excellence</a:t>
                      </a:r>
                    </a:p>
                    <a:p>
                      <a:pPr marL="0" lvl="0" indent="0" algn="l" defTabSz="914400" rtl="0" eaLnBrk="1" latinLnBrk="0" hangingPunct="1">
                        <a:lnSpc>
                          <a:spcPct val="100000"/>
                        </a:lnSpc>
                        <a:spcBef>
                          <a:spcPts val="0"/>
                        </a:spcBef>
                        <a:spcAft>
                          <a:spcPts val="0"/>
                        </a:spcAft>
                        <a:buFont typeface="Arial"/>
                        <a:buNone/>
                      </a:pPr>
                      <a:endParaRPr lang="en-US" sz="1200" b="1" i="0" u="none" strike="noStrike" kern="1200" noProof="0">
                        <a:solidFill>
                          <a:schemeClr val="tx1"/>
                        </a:solidFill>
                        <a:latin typeface="+mn-lt"/>
                        <a:ea typeface="+mn-ea"/>
                        <a:cs typeface="+mn-cs"/>
                      </a:endParaRPr>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extLst>
                  <a:ext uri="{0D108BD9-81ED-4DB2-BD59-A6C34878D82A}">
                    <a16:rowId xmlns:a16="http://schemas.microsoft.com/office/drawing/2014/main" val="4221623781"/>
                  </a:ext>
                </a:extLst>
              </a:tr>
            </a:tbl>
          </a:graphicData>
        </a:graphic>
      </p:graphicFrame>
      <p:sp>
        <p:nvSpPr>
          <p:cNvPr id="13" name="Rectangle 12">
            <a:extLst>
              <a:ext uri="{FF2B5EF4-FFF2-40B4-BE49-F238E27FC236}">
                <a16:creationId xmlns:a16="http://schemas.microsoft.com/office/drawing/2014/main" id="{781A84C6-ABD3-FF62-FC3A-6DB7DC8C895E}"/>
              </a:ext>
            </a:extLst>
          </p:cNvPr>
          <p:cNvSpPr/>
          <p:nvPr/>
        </p:nvSpPr>
        <p:spPr>
          <a:xfrm>
            <a:off x="136167" y="861655"/>
            <a:ext cx="1170432" cy="42234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1100" b="1">
                <a:latin typeface="AirIndia"/>
              </a:rPr>
              <a:t>July 2026</a:t>
            </a:r>
            <a:endParaRPr lang="en-US"/>
          </a:p>
        </p:txBody>
      </p:sp>
      <p:sp>
        <p:nvSpPr>
          <p:cNvPr id="3" name="Rectangle 2">
            <a:extLst>
              <a:ext uri="{FF2B5EF4-FFF2-40B4-BE49-F238E27FC236}">
                <a16:creationId xmlns:a16="http://schemas.microsoft.com/office/drawing/2014/main" id="{D8DC2FAA-C763-602F-7A66-A907B60CED79}"/>
              </a:ext>
            </a:extLst>
          </p:cNvPr>
          <p:cNvSpPr/>
          <p:nvPr/>
        </p:nvSpPr>
        <p:spPr>
          <a:xfrm>
            <a:off x="3465009" y="6407230"/>
            <a:ext cx="90000" cy="90000"/>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
        <p:nvSpPr>
          <p:cNvPr id="4" name="Rectangle 3">
            <a:extLst>
              <a:ext uri="{FF2B5EF4-FFF2-40B4-BE49-F238E27FC236}">
                <a16:creationId xmlns:a16="http://schemas.microsoft.com/office/drawing/2014/main" id="{3EF1EDA0-455D-1A13-B634-F8AC0F110C7E}"/>
              </a:ext>
            </a:extLst>
          </p:cNvPr>
          <p:cNvSpPr/>
          <p:nvPr/>
        </p:nvSpPr>
        <p:spPr>
          <a:xfrm>
            <a:off x="3465009" y="6634792"/>
            <a:ext cx="90000" cy="90000"/>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
        <p:nvSpPr>
          <p:cNvPr id="5" name="Rectangle 4">
            <a:extLst>
              <a:ext uri="{FF2B5EF4-FFF2-40B4-BE49-F238E27FC236}">
                <a16:creationId xmlns:a16="http://schemas.microsoft.com/office/drawing/2014/main" id="{5F56857E-7E79-6CBF-78A0-C0DEB4DB1657}"/>
              </a:ext>
            </a:extLst>
          </p:cNvPr>
          <p:cNvSpPr/>
          <p:nvPr/>
        </p:nvSpPr>
        <p:spPr>
          <a:xfrm>
            <a:off x="5567900" y="6407230"/>
            <a:ext cx="90000" cy="90000"/>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
        <p:nvSpPr>
          <p:cNvPr id="7" name="Rectangle 6">
            <a:extLst>
              <a:ext uri="{FF2B5EF4-FFF2-40B4-BE49-F238E27FC236}">
                <a16:creationId xmlns:a16="http://schemas.microsoft.com/office/drawing/2014/main" id="{F1868C9E-54F0-39F1-ADD6-D921DED25159}"/>
              </a:ext>
            </a:extLst>
          </p:cNvPr>
          <p:cNvSpPr/>
          <p:nvPr/>
        </p:nvSpPr>
        <p:spPr>
          <a:xfrm>
            <a:off x="5567900" y="6634792"/>
            <a:ext cx="90000" cy="90000"/>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
        <p:nvSpPr>
          <p:cNvPr id="8" name="TextBox 15">
            <a:extLst>
              <a:ext uri="{FF2B5EF4-FFF2-40B4-BE49-F238E27FC236}">
                <a16:creationId xmlns:a16="http://schemas.microsoft.com/office/drawing/2014/main" id="{F72002FA-06B9-176D-A611-2B70B049CC9C}"/>
              </a:ext>
            </a:extLst>
          </p:cNvPr>
          <p:cNvSpPr txBox="1"/>
          <p:nvPr/>
        </p:nvSpPr>
        <p:spPr>
          <a:xfrm>
            <a:off x="3522317" y="6350381"/>
            <a:ext cx="857245"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000">
                <a:solidFill>
                  <a:srgbClr val="0070C0"/>
                </a:solidFill>
              </a:rPr>
              <a:t>Delivered</a:t>
            </a:r>
            <a:endParaRPr lang="en-IN" sz="1000"/>
          </a:p>
        </p:txBody>
      </p:sp>
      <p:sp>
        <p:nvSpPr>
          <p:cNvPr id="9" name="TextBox 18">
            <a:extLst>
              <a:ext uri="{FF2B5EF4-FFF2-40B4-BE49-F238E27FC236}">
                <a16:creationId xmlns:a16="http://schemas.microsoft.com/office/drawing/2014/main" id="{356DB316-1CF3-1884-3A2D-3C16C463198D}"/>
              </a:ext>
            </a:extLst>
          </p:cNvPr>
          <p:cNvSpPr txBox="1"/>
          <p:nvPr/>
        </p:nvSpPr>
        <p:spPr>
          <a:xfrm>
            <a:off x="3520719" y="6575340"/>
            <a:ext cx="1032881"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000">
                <a:solidFill>
                  <a:srgbClr val="00B050"/>
                </a:solidFill>
              </a:rPr>
              <a:t>Ontrack</a:t>
            </a:r>
            <a:endParaRPr lang="en-IN" sz="1000"/>
          </a:p>
        </p:txBody>
      </p:sp>
      <p:sp>
        <p:nvSpPr>
          <p:cNvPr id="10" name="TextBox 20">
            <a:extLst>
              <a:ext uri="{FF2B5EF4-FFF2-40B4-BE49-F238E27FC236}">
                <a16:creationId xmlns:a16="http://schemas.microsoft.com/office/drawing/2014/main" id="{DF9804CD-21AA-2086-292E-4BFF58EE6A6C}"/>
              </a:ext>
            </a:extLst>
          </p:cNvPr>
          <p:cNvSpPr txBox="1"/>
          <p:nvPr/>
        </p:nvSpPr>
        <p:spPr>
          <a:xfrm>
            <a:off x="5653197" y="6365780"/>
            <a:ext cx="2257628"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000">
                <a:solidFill>
                  <a:schemeClr val="accent6">
                    <a:lumMod val="75000"/>
                  </a:schemeClr>
                </a:solidFill>
              </a:rPr>
              <a:t>Under delay and can be recovered</a:t>
            </a:r>
            <a:endParaRPr lang="en-IN" sz="1000"/>
          </a:p>
        </p:txBody>
      </p:sp>
      <p:sp>
        <p:nvSpPr>
          <p:cNvPr id="11" name="TextBox 22">
            <a:extLst>
              <a:ext uri="{FF2B5EF4-FFF2-40B4-BE49-F238E27FC236}">
                <a16:creationId xmlns:a16="http://schemas.microsoft.com/office/drawing/2014/main" id="{7A4BB3E7-0B9D-A42D-8314-FEDD3A649CEF}"/>
              </a:ext>
            </a:extLst>
          </p:cNvPr>
          <p:cNvSpPr txBox="1"/>
          <p:nvPr/>
        </p:nvSpPr>
        <p:spPr>
          <a:xfrm>
            <a:off x="5657900" y="6582364"/>
            <a:ext cx="3069090"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000">
                <a:solidFill>
                  <a:schemeClr val="accent2"/>
                </a:solidFill>
              </a:rPr>
              <a:t>Delayed and pushed to next release</a:t>
            </a:r>
            <a:endParaRPr lang="en-IN" sz="1000"/>
          </a:p>
        </p:txBody>
      </p:sp>
      <p:graphicFrame>
        <p:nvGraphicFramePr>
          <p:cNvPr id="14" name="Table 13">
            <a:extLst>
              <a:ext uri="{FF2B5EF4-FFF2-40B4-BE49-F238E27FC236}">
                <a16:creationId xmlns:a16="http://schemas.microsoft.com/office/drawing/2014/main" id="{A3023D7C-510F-A356-8131-08D61DCA2BEE}"/>
              </a:ext>
            </a:extLst>
          </p:cNvPr>
          <p:cNvGraphicFramePr>
            <a:graphicFrameLocks noGrp="1"/>
          </p:cNvGraphicFramePr>
          <p:nvPr>
            <p:extLst>
              <p:ext uri="{D42A27DB-BD31-4B8C-83A1-F6EECF244321}">
                <p14:modId xmlns:p14="http://schemas.microsoft.com/office/powerpoint/2010/main" val="2497407099"/>
              </p:ext>
            </p:extLst>
          </p:nvPr>
        </p:nvGraphicFramePr>
        <p:xfrm>
          <a:off x="1331999" y="3174685"/>
          <a:ext cx="10697938" cy="2485387"/>
        </p:xfrm>
        <a:graphic>
          <a:graphicData uri="http://schemas.openxmlformats.org/drawingml/2006/table">
            <a:tbl>
              <a:tblPr firstRow="1" bandRow="1">
                <a:tableStyleId>{5C22544A-7EE6-4342-B048-85BDC9FD1C3A}</a:tableStyleId>
              </a:tblPr>
              <a:tblGrid>
                <a:gridCol w="3759269">
                  <a:extLst>
                    <a:ext uri="{9D8B030D-6E8A-4147-A177-3AD203B41FA5}">
                      <a16:colId xmlns:a16="http://schemas.microsoft.com/office/drawing/2014/main" val="2822350773"/>
                    </a:ext>
                  </a:extLst>
                </a:gridCol>
                <a:gridCol w="6938669">
                  <a:extLst>
                    <a:ext uri="{9D8B030D-6E8A-4147-A177-3AD203B41FA5}">
                      <a16:colId xmlns:a16="http://schemas.microsoft.com/office/drawing/2014/main" val="99588705"/>
                    </a:ext>
                  </a:extLst>
                </a:gridCol>
              </a:tblGrid>
              <a:tr h="295140">
                <a:tc>
                  <a:txBody>
                    <a:bodyPr/>
                    <a:lstStyle/>
                    <a:p>
                      <a:pPr marL="0" lvl="0" indent="0" algn="ctr" defTabSz="914400" rtl="0" eaLnBrk="1" latinLnBrk="0" hangingPunct="1">
                        <a:lnSpc>
                          <a:spcPct val="100000"/>
                        </a:lnSpc>
                        <a:buFont typeface="Arial" panose="020B0604020202020204" pitchFamily="34" charset="0"/>
                        <a:buNone/>
                      </a:pPr>
                      <a:r>
                        <a:rPr lang="en-IN" sz="1200" kern="1200">
                          <a:solidFill>
                            <a:schemeClr val="bg1"/>
                          </a:solidFill>
                          <a:latin typeface="+mn-lt"/>
                          <a:ea typeface="+mn-ea"/>
                          <a:cs typeface="+mn-cs"/>
                        </a:rPr>
                        <a:t>Project/Initiative</a:t>
                      </a:r>
                      <a:endParaRPr lang="en-US" sz="1200"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tc>
                  <a:txBody>
                    <a:bodyPr/>
                    <a:lstStyle/>
                    <a:p>
                      <a:pPr marL="0" indent="0" algn="ctr" defTabSz="914400" rtl="0" eaLnBrk="1" latinLnBrk="0" hangingPunct="1">
                        <a:buFont typeface="Arial" panose="020B0604020202020204" pitchFamily="34" charset="0"/>
                        <a:buNone/>
                      </a:pPr>
                      <a:r>
                        <a:rPr lang="en-IN" sz="1200" kern="1200">
                          <a:solidFill>
                            <a:schemeClr val="bg1"/>
                          </a:solidFill>
                          <a:latin typeface="+mn-lt"/>
                          <a:ea typeface="+mn-ea"/>
                          <a:cs typeface="+mn-cs"/>
                        </a:rPr>
                        <a:t>Value Justification/Realization</a:t>
                      </a:r>
                      <a:endParaRPr lang="en-US" sz="1200"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extLst>
                  <a:ext uri="{0D108BD9-81ED-4DB2-BD59-A6C34878D82A}">
                    <a16:rowId xmlns:a16="http://schemas.microsoft.com/office/drawing/2014/main" val="844450115"/>
                  </a:ext>
                </a:extLst>
              </a:tr>
              <a:tr h="389049">
                <a:tc>
                  <a:txBody>
                    <a:bodyPr/>
                    <a:lstStyle/>
                    <a:p>
                      <a:pPr marL="228600" lvl="0" indent="-228600" algn="l">
                        <a:lnSpc>
                          <a:spcPct val="100000"/>
                        </a:lnSpc>
                        <a:spcBef>
                          <a:spcPts val="0"/>
                        </a:spcBef>
                        <a:spcAft>
                          <a:spcPts val="0"/>
                        </a:spcAft>
                        <a:buFont typeface="+mj-lt"/>
                        <a:buAutoNum type="arabicPeriod"/>
                      </a:pPr>
                      <a:r>
                        <a:rPr lang="en-US" sz="1200" b="1" i="0" u="none" strike="noStrike" kern="1200" noProof="0">
                          <a:solidFill>
                            <a:srgbClr val="05B050"/>
                          </a:solidFill>
                          <a:latin typeface="+mn-lt"/>
                          <a:ea typeface="+mn-ea"/>
                          <a:cs typeface="+mn-cs"/>
                        </a:rPr>
                        <a:t>CEO Dashboards – AMOS Control Center</a:t>
                      </a: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lvl="0" indent="0" algn="l">
                        <a:lnSpc>
                          <a:spcPct val="100000"/>
                        </a:lnSpc>
                        <a:spcBef>
                          <a:spcPts val="0"/>
                        </a:spcBef>
                        <a:spcAft>
                          <a:spcPts val="0"/>
                        </a:spcAft>
                        <a:buNone/>
                      </a:pPr>
                      <a:r>
                        <a:rPr lang="en-US" sz="1200" b="1" i="0" u="none" strike="noStrike" kern="1200" noProof="0">
                          <a:solidFill>
                            <a:schemeClr val="tx1"/>
                          </a:solidFill>
                          <a:latin typeface="Nunito Sans"/>
                        </a:rPr>
                        <a:t>Operational Excellence</a:t>
                      </a:r>
                      <a:endParaRPr lang="en-US"/>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443371065"/>
                  </a:ext>
                </a:extLst>
              </a:tr>
              <a:tr h="326080">
                <a:tc>
                  <a:txBody>
                    <a:bodyPr/>
                    <a:lstStyle/>
                    <a:p>
                      <a:pPr marL="0" lvl="0" indent="0" algn="l">
                        <a:lnSpc>
                          <a:spcPct val="100000"/>
                        </a:lnSpc>
                        <a:spcBef>
                          <a:spcPts val="0"/>
                        </a:spcBef>
                        <a:spcAft>
                          <a:spcPts val="0"/>
                        </a:spcAft>
                        <a:buNone/>
                      </a:pPr>
                      <a:r>
                        <a:rPr lang="en-US" sz="1200" b="1" i="0" u="none" strike="noStrike" kern="1200" noProof="0">
                          <a:solidFill>
                            <a:srgbClr val="05B050"/>
                          </a:solidFill>
                          <a:latin typeface="Nunito Sans"/>
                        </a:rPr>
                        <a:t>2. ODS Migration</a:t>
                      </a:r>
                      <a:endParaRPr lang="en-US" sz="1200" b="1" i="0" u="none" strike="noStrike" kern="1200" noProof="0">
                        <a:solidFill>
                          <a:srgbClr val="0070C0"/>
                        </a:solidFill>
                        <a:latin typeface="+mn-lt"/>
                      </a:endParaRPr>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marL="0" lvl="0" indent="0" algn="l" defTabSz="914400" rtl="0" eaLnBrk="1" latinLnBrk="0" hangingPunct="1">
                        <a:lnSpc>
                          <a:spcPct val="100000"/>
                        </a:lnSpc>
                        <a:spcBef>
                          <a:spcPts val="0"/>
                        </a:spcBef>
                        <a:spcAft>
                          <a:spcPts val="0"/>
                        </a:spcAft>
                        <a:buFont typeface="Arial"/>
                        <a:buNone/>
                      </a:pPr>
                      <a:r>
                        <a:rPr lang="en-US" sz="1200" b="1" i="0" u="none" strike="noStrike" kern="1200" noProof="0">
                          <a:solidFill>
                            <a:schemeClr val="tx1"/>
                          </a:solidFill>
                          <a:latin typeface="+mn-lt"/>
                          <a:ea typeface="+mn-ea"/>
                          <a:cs typeface="+mn-cs"/>
                        </a:rPr>
                        <a:t>Operational Excellence</a:t>
                      </a:r>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417476375"/>
                  </a:ext>
                </a:extLst>
              </a:tr>
              <a:tr h="326080">
                <a:tc>
                  <a:txBody>
                    <a:bodyPr/>
                    <a:lstStyle/>
                    <a:p>
                      <a:pPr marL="0" lvl="0" indent="0" algn="l">
                        <a:lnSpc>
                          <a:spcPct val="100000"/>
                        </a:lnSpc>
                        <a:spcBef>
                          <a:spcPts val="0"/>
                        </a:spcBef>
                        <a:spcAft>
                          <a:spcPts val="0"/>
                        </a:spcAft>
                        <a:buNone/>
                      </a:pPr>
                      <a:r>
                        <a:rPr lang="en-US" sz="1200" b="1" i="0" u="none" strike="noStrike" kern="1200" noProof="0">
                          <a:solidFill>
                            <a:srgbClr val="05B050"/>
                          </a:solidFill>
                          <a:latin typeface="Nunito Sans"/>
                          <a:ea typeface="+mn-ea"/>
                          <a:cs typeface="+mn-cs"/>
                        </a:rPr>
                        <a:t>3. Uniform Dashboard Enhancements </a:t>
                      </a:r>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marL="0" lvl="0" indent="0" algn="l" rtl="0" eaLnBrk="1" latinLnBrk="0" hangingPunct="1">
                        <a:lnSpc>
                          <a:spcPct val="100000"/>
                        </a:lnSpc>
                        <a:spcBef>
                          <a:spcPts val="0"/>
                        </a:spcBef>
                        <a:spcAft>
                          <a:spcPts val="0"/>
                        </a:spcAft>
                        <a:buFont typeface="Arial"/>
                        <a:buNone/>
                      </a:pPr>
                      <a:r>
                        <a:rPr lang="en-US" sz="1200" b="1" i="0" u="none" strike="noStrike" kern="1200" noProof="0">
                          <a:solidFill>
                            <a:schemeClr val="tx1"/>
                          </a:solidFill>
                          <a:latin typeface="+mn-lt"/>
                          <a:ea typeface="+mn-ea"/>
                          <a:cs typeface="+mn-cs"/>
                        </a:rPr>
                        <a:t>Operational Excellence - </a:t>
                      </a:r>
                      <a:r>
                        <a:rPr lang="en-US" sz="900" b="0" i="0" u="none" strike="noStrike" kern="1200" noProof="0">
                          <a:solidFill>
                            <a:schemeClr val="tx1"/>
                          </a:solidFill>
                          <a:latin typeface="+mn-lt"/>
                          <a:ea typeface="+mn-ea"/>
                          <a:cs typeface="+mn-cs"/>
                        </a:rPr>
                        <a:t>enabling the Uniform feature for engineering dept and would like to extend the Uniform Dashboard for them as a separate link</a:t>
                      </a:r>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110178885"/>
                  </a:ext>
                </a:extLst>
              </a:tr>
              <a:tr h="326079">
                <a:tc>
                  <a:txBody>
                    <a:bodyPr/>
                    <a:lstStyle/>
                    <a:p>
                      <a:pPr marL="0" lvl="0" indent="0" algn="l">
                        <a:lnSpc>
                          <a:spcPct val="100000"/>
                        </a:lnSpc>
                        <a:spcBef>
                          <a:spcPts val="0"/>
                        </a:spcBef>
                        <a:spcAft>
                          <a:spcPts val="0"/>
                        </a:spcAft>
                        <a:buNone/>
                      </a:pPr>
                      <a:r>
                        <a:rPr lang="en-US" sz="1200" b="1" i="0" u="none" strike="noStrike" kern="1200" noProof="0">
                          <a:solidFill>
                            <a:srgbClr val="05B050"/>
                          </a:solidFill>
                          <a:latin typeface="Nunito Sans"/>
                        </a:rPr>
                        <a:t>4.Crew Document Analytics – Phase II</a:t>
                      </a:r>
                      <a:endParaRPr lang="en-US"/>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marL="0" lvl="0" indent="0" algn="l" rtl="0" eaLnBrk="1" latinLnBrk="0" hangingPunct="1">
                        <a:lnSpc>
                          <a:spcPct val="100000"/>
                        </a:lnSpc>
                        <a:spcBef>
                          <a:spcPts val="0"/>
                        </a:spcBef>
                        <a:spcAft>
                          <a:spcPts val="0"/>
                        </a:spcAft>
                        <a:buFont typeface="Arial"/>
                        <a:buNone/>
                      </a:pPr>
                      <a:r>
                        <a:rPr lang="en-US" sz="1200" b="1" i="0" u="none" strike="noStrike" kern="1200" noProof="0">
                          <a:solidFill>
                            <a:schemeClr val="tx1"/>
                          </a:solidFill>
                          <a:latin typeface="+mn-lt"/>
                          <a:ea typeface="+mn-ea"/>
                          <a:cs typeface="+mn-cs"/>
                        </a:rPr>
                        <a:t>Operational Excellence - </a:t>
                      </a:r>
                      <a:r>
                        <a:rPr lang="en-US" sz="900" b="0" i="0" u="none" strike="noStrike" kern="1200" noProof="0">
                          <a:solidFill>
                            <a:schemeClr val="tx1"/>
                          </a:solidFill>
                          <a:latin typeface="+mn-lt"/>
                          <a:ea typeface="+mn-ea"/>
                          <a:cs typeface="+mn-cs"/>
                        </a:rPr>
                        <a:t>Reduces manual tracking, provides near real-time visibility into document processing, identifies approval bottlenecks, improves SLA adherence, and accelerates document renewal workflows.</a:t>
                      </a:r>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006660269"/>
                  </a:ext>
                </a:extLst>
              </a:tr>
              <a:tr h="326079">
                <a:tc>
                  <a:txBody>
                    <a:bodyPr/>
                    <a:lstStyle/>
                    <a:p>
                      <a:pPr marL="0" lvl="0" indent="0" algn="l">
                        <a:lnSpc>
                          <a:spcPct val="100000"/>
                        </a:lnSpc>
                        <a:spcBef>
                          <a:spcPts val="0"/>
                        </a:spcBef>
                        <a:spcAft>
                          <a:spcPts val="0"/>
                        </a:spcAft>
                        <a:buNone/>
                      </a:pPr>
                      <a:r>
                        <a:rPr lang="en-US" sz="1200" b="1" i="0" u="none" strike="noStrike" kern="1200" noProof="0">
                          <a:solidFill>
                            <a:srgbClr val="05B050"/>
                          </a:solidFill>
                          <a:latin typeface="Nunito Sans"/>
                        </a:rPr>
                        <a:t>5.INVISIO – DEN Onboarding </a:t>
                      </a:r>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marL="0" lvl="0" indent="0" algn="l" defTabSz="914400" rtl="0" eaLnBrk="1" latinLnBrk="0" hangingPunct="1">
                        <a:lnSpc>
                          <a:spcPct val="100000"/>
                        </a:lnSpc>
                        <a:spcBef>
                          <a:spcPts val="0"/>
                        </a:spcBef>
                        <a:spcAft>
                          <a:spcPts val="0"/>
                        </a:spcAft>
                        <a:buFont typeface="Arial"/>
                        <a:buNone/>
                      </a:pPr>
                      <a:r>
                        <a:rPr lang="en-US" sz="1200" b="1" i="0" u="none" strike="noStrike" kern="1200" noProof="0">
                          <a:solidFill>
                            <a:schemeClr val="tx1"/>
                          </a:solidFill>
                          <a:latin typeface="+mn-lt"/>
                          <a:ea typeface="+mn-ea"/>
                          <a:cs typeface="+mn-cs"/>
                        </a:rPr>
                        <a:t>Operational Excellence</a:t>
                      </a:r>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107101729"/>
                  </a:ext>
                </a:extLst>
              </a:tr>
              <a:tr h="326079">
                <a:tc>
                  <a:txBody>
                    <a:bodyPr/>
                    <a:lstStyle/>
                    <a:p>
                      <a:pPr marL="0" lvl="0" indent="0" algn="l">
                        <a:lnSpc>
                          <a:spcPct val="100000"/>
                        </a:lnSpc>
                        <a:spcBef>
                          <a:spcPts val="0"/>
                        </a:spcBef>
                        <a:spcAft>
                          <a:spcPts val="0"/>
                        </a:spcAft>
                        <a:buNone/>
                      </a:pPr>
                      <a:r>
                        <a:rPr lang="en-US" sz="1200" b="1" i="0" u="none" strike="noStrike" kern="1200" noProof="0">
                          <a:solidFill>
                            <a:srgbClr val="05B050"/>
                          </a:solidFill>
                          <a:latin typeface="Nunito Sans"/>
                        </a:rPr>
                        <a:t>6.Corporate Safety – Phase II</a:t>
                      </a:r>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tc>
                  <a:txBody>
                    <a:bodyPr/>
                    <a:lstStyle/>
                    <a:p>
                      <a:pPr marL="0" lvl="0" indent="0" algn="l">
                        <a:lnSpc>
                          <a:spcPct val="100000"/>
                        </a:lnSpc>
                        <a:spcBef>
                          <a:spcPts val="0"/>
                        </a:spcBef>
                        <a:spcAft>
                          <a:spcPts val="0"/>
                        </a:spcAft>
                        <a:buNone/>
                      </a:pPr>
                      <a:r>
                        <a:rPr lang="en-US" sz="1200" b="1" i="0" u="none" strike="noStrike" kern="1200" noProof="0">
                          <a:solidFill>
                            <a:schemeClr val="tx1"/>
                          </a:solidFill>
                          <a:latin typeface="Nunito Sans"/>
                          <a:ea typeface="+mn-ea"/>
                          <a:cs typeface="+mn-cs"/>
                        </a:rPr>
                        <a:t>Operational Excellence</a:t>
                      </a:r>
                      <a:endParaRPr lang="en-US"/>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extLst>
                  <a:ext uri="{0D108BD9-81ED-4DB2-BD59-A6C34878D82A}">
                    <a16:rowId xmlns:a16="http://schemas.microsoft.com/office/drawing/2014/main" val="1484911216"/>
                  </a:ext>
                </a:extLst>
              </a:tr>
            </a:tbl>
          </a:graphicData>
        </a:graphic>
      </p:graphicFrame>
      <p:graphicFrame>
        <p:nvGraphicFramePr>
          <p:cNvPr id="15" name="Table 14">
            <a:extLst>
              <a:ext uri="{FF2B5EF4-FFF2-40B4-BE49-F238E27FC236}">
                <a16:creationId xmlns:a16="http://schemas.microsoft.com/office/drawing/2014/main" id="{E832414A-B725-95C9-3760-576BE2543CBD}"/>
              </a:ext>
            </a:extLst>
          </p:cNvPr>
          <p:cNvGraphicFramePr>
            <a:graphicFrameLocks noGrp="1"/>
          </p:cNvGraphicFramePr>
          <p:nvPr>
            <p:extLst>
              <p:ext uri="{D42A27DB-BD31-4B8C-83A1-F6EECF244321}">
                <p14:modId xmlns:p14="http://schemas.microsoft.com/office/powerpoint/2010/main" val="2573894202"/>
              </p:ext>
            </p:extLst>
          </p:nvPr>
        </p:nvGraphicFramePr>
        <p:xfrm>
          <a:off x="1331999" y="5558656"/>
          <a:ext cx="10697936" cy="1005840"/>
        </p:xfrm>
        <a:graphic>
          <a:graphicData uri="http://schemas.openxmlformats.org/drawingml/2006/table">
            <a:tbl>
              <a:tblPr firstRow="1" bandRow="1">
                <a:tableStyleId>{5C22544A-7EE6-4342-B048-85BDC9FD1C3A}</a:tableStyleId>
              </a:tblPr>
              <a:tblGrid>
                <a:gridCol w="3759268">
                  <a:extLst>
                    <a:ext uri="{9D8B030D-6E8A-4147-A177-3AD203B41FA5}">
                      <a16:colId xmlns:a16="http://schemas.microsoft.com/office/drawing/2014/main" val="2822350773"/>
                    </a:ext>
                  </a:extLst>
                </a:gridCol>
                <a:gridCol w="6938668">
                  <a:extLst>
                    <a:ext uri="{9D8B030D-6E8A-4147-A177-3AD203B41FA5}">
                      <a16:colId xmlns:a16="http://schemas.microsoft.com/office/drawing/2014/main" val="99588705"/>
                    </a:ext>
                  </a:extLst>
                </a:gridCol>
              </a:tblGrid>
              <a:tr h="212886">
                <a:tc>
                  <a:txBody>
                    <a:bodyPr/>
                    <a:lstStyle/>
                    <a:p>
                      <a:pPr marL="0" lvl="0" indent="0" algn="ctr" defTabSz="914400" rtl="0" eaLnBrk="1" latinLnBrk="0" hangingPunct="1">
                        <a:lnSpc>
                          <a:spcPct val="100000"/>
                        </a:lnSpc>
                        <a:buFont typeface="Arial" panose="020B0604020202020204" pitchFamily="34" charset="0"/>
                        <a:buNone/>
                      </a:pPr>
                      <a:r>
                        <a:rPr lang="en-IN" sz="1200" kern="1200">
                          <a:solidFill>
                            <a:schemeClr val="bg1"/>
                          </a:solidFill>
                          <a:latin typeface="+mn-lt"/>
                          <a:ea typeface="+mn-ea"/>
                          <a:cs typeface="+mn-cs"/>
                        </a:rPr>
                        <a:t>Project/Initiative</a:t>
                      </a:r>
                      <a:endParaRPr lang="en-US" sz="1200"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tc>
                  <a:txBody>
                    <a:bodyPr/>
                    <a:lstStyle/>
                    <a:p>
                      <a:pPr marL="0" indent="0" algn="ctr" defTabSz="914400" rtl="0" eaLnBrk="1" latinLnBrk="0" hangingPunct="1">
                        <a:buFont typeface="Arial" panose="020B0604020202020204" pitchFamily="34" charset="0"/>
                        <a:buNone/>
                      </a:pPr>
                      <a:r>
                        <a:rPr lang="en-IN" sz="1200" kern="1200">
                          <a:solidFill>
                            <a:schemeClr val="bg1"/>
                          </a:solidFill>
                          <a:latin typeface="+mn-lt"/>
                          <a:ea typeface="+mn-ea"/>
                          <a:cs typeface="+mn-cs"/>
                        </a:rPr>
                        <a:t>Value Justification/Realization</a:t>
                      </a:r>
                      <a:endParaRPr lang="en-US" sz="1200"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extLst>
                  <a:ext uri="{0D108BD9-81ED-4DB2-BD59-A6C34878D82A}">
                    <a16:rowId xmlns:a16="http://schemas.microsoft.com/office/drawing/2014/main" val="844450115"/>
                  </a:ext>
                </a:extLst>
              </a:tr>
              <a:tr h="496734">
                <a:tc>
                  <a:txBody>
                    <a:bodyPr/>
                    <a:lstStyle/>
                    <a:p>
                      <a:pPr marL="228600" lvl="0" indent="-228600" algn="l">
                        <a:lnSpc>
                          <a:spcPct val="100000"/>
                        </a:lnSpc>
                        <a:spcBef>
                          <a:spcPts val="0"/>
                        </a:spcBef>
                        <a:spcAft>
                          <a:spcPts val="0"/>
                        </a:spcAft>
                        <a:buFont typeface="+mj-lt"/>
                        <a:buAutoNum type="arabicPeriod"/>
                      </a:pPr>
                      <a:r>
                        <a:rPr lang="en-US" sz="1200" b="1" i="0" u="none" strike="noStrike" kern="1200" noProof="0">
                          <a:solidFill>
                            <a:srgbClr val="05B050"/>
                          </a:solidFill>
                          <a:latin typeface="+mn-lt"/>
                        </a:rPr>
                        <a:t>Zonal Boarding Analytics – Phase II</a:t>
                      </a: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lvl="0" indent="0" algn="l">
                        <a:lnSpc>
                          <a:spcPct val="100000"/>
                        </a:lnSpc>
                        <a:spcBef>
                          <a:spcPts val="0"/>
                        </a:spcBef>
                        <a:spcAft>
                          <a:spcPts val="0"/>
                        </a:spcAft>
                        <a:buNone/>
                      </a:pPr>
                      <a:r>
                        <a:rPr lang="en-US" sz="1200" b="1" i="0" u="none" strike="noStrike" kern="1200" noProof="0">
                          <a:solidFill>
                            <a:schemeClr val="tx1"/>
                          </a:solidFill>
                          <a:latin typeface="Nunito Sans"/>
                        </a:rPr>
                        <a:t>Operational Excellence</a:t>
                      </a:r>
                    </a:p>
                    <a:p>
                      <a:pPr marL="0" lvl="0" indent="0" algn="l">
                        <a:lnSpc>
                          <a:spcPct val="100000"/>
                        </a:lnSpc>
                        <a:spcBef>
                          <a:spcPts val="0"/>
                        </a:spcBef>
                        <a:spcAft>
                          <a:spcPts val="0"/>
                        </a:spcAft>
                        <a:buNone/>
                      </a:pPr>
                      <a:r>
                        <a:rPr lang="en-US" sz="900" b="0" i="0" u="none" strike="noStrike" kern="1200" noProof="0">
                          <a:solidFill>
                            <a:schemeClr val="tx1"/>
                          </a:solidFill>
                        </a:rPr>
                        <a:t>AOD required to ensure zonal boarding compliance for every flight and requires ZB analytics to  be calculated across airports, zones and aircraft types.</a:t>
                      </a:r>
                      <a:endParaRPr lang="en-US" sz="900"/>
                    </a:p>
                    <a:p>
                      <a:pPr marL="0" lvl="0" indent="0" algn="l">
                        <a:lnSpc>
                          <a:spcPct val="100000"/>
                        </a:lnSpc>
                        <a:spcBef>
                          <a:spcPts val="0"/>
                        </a:spcBef>
                        <a:spcAft>
                          <a:spcPts val="0"/>
                        </a:spcAft>
                        <a:buNone/>
                      </a:pPr>
                      <a:endParaRPr lang="en-US" sz="1200" b="1" i="0" u="none" strike="noStrike" kern="1200" noProof="0">
                        <a:solidFill>
                          <a:schemeClr val="tx1"/>
                        </a:solidFill>
                        <a:latin typeface="Nunito Sans"/>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443371065"/>
                  </a:ext>
                </a:extLst>
              </a:tr>
            </a:tbl>
          </a:graphicData>
        </a:graphic>
      </p:graphicFrame>
      <p:sp>
        <p:nvSpPr>
          <p:cNvPr id="16" name="Rectangle 15">
            <a:extLst>
              <a:ext uri="{FF2B5EF4-FFF2-40B4-BE49-F238E27FC236}">
                <a16:creationId xmlns:a16="http://schemas.microsoft.com/office/drawing/2014/main" id="{662C35D8-FE12-D0B7-EB21-8D6DCEE890E0}"/>
              </a:ext>
            </a:extLst>
          </p:cNvPr>
          <p:cNvSpPr/>
          <p:nvPr/>
        </p:nvSpPr>
        <p:spPr>
          <a:xfrm>
            <a:off x="154310" y="3133141"/>
            <a:ext cx="1170432" cy="42234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1100" b="1">
                <a:latin typeface="AirIndia"/>
              </a:rPr>
              <a:t>Aug 2026</a:t>
            </a:r>
            <a:endParaRPr lang="en-US"/>
          </a:p>
        </p:txBody>
      </p:sp>
      <p:sp>
        <p:nvSpPr>
          <p:cNvPr id="17" name="Rectangle 16">
            <a:extLst>
              <a:ext uri="{FF2B5EF4-FFF2-40B4-BE49-F238E27FC236}">
                <a16:creationId xmlns:a16="http://schemas.microsoft.com/office/drawing/2014/main" id="{166261C4-0E03-C2F7-4B6C-6EE46D4287F1}"/>
              </a:ext>
            </a:extLst>
          </p:cNvPr>
          <p:cNvSpPr/>
          <p:nvPr/>
        </p:nvSpPr>
        <p:spPr>
          <a:xfrm>
            <a:off x="128910" y="5495339"/>
            <a:ext cx="1170432" cy="42234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1100" b="1">
                <a:latin typeface="AirIndia"/>
              </a:rPr>
              <a:t>Sep 2026</a:t>
            </a:r>
            <a:endParaRPr lang="en-US"/>
          </a:p>
        </p:txBody>
      </p:sp>
    </p:spTree>
    <p:extLst>
      <p:ext uri="{BB962C8B-B14F-4D97-AF65-F5344CB8AC3E}">
        <p14:creationId xmlns:p14="http://schemas.microsoft.com/office/powerpoint/2010/main" val="696716053"/>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961608-1A86-BEB5-84E4-68A1FBEF1F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FD8891-006D-60C9-BF82-8AD0152C109E}"/>
              </a:ext>
            </a:extLst>
          </p:cNvPr>
          <p:cNvSpPr>
            <a:spLocks noGrp="1"/>
          </p:cNvSpPr>
          <p:nvPr>
            <p:ph type="title"/>
          </p:nvPr>
        </p:nvSpPr>
        <p:spPr>
          <a:xfrm>
            <a:off x="5876373" y="2114927"/>
            <a:ext cx="6907630" cy="1961201"/>
          </a:xfrm>
        </p:spPr>
        <p:txBody>
          <a:bodyPr/>
          <a:lstStyle/>
          <a:p>
            <a:r>
              <a:rPr lang="en-US" sz="5400">
                <a:latin typeface="AirIndia"/>
              </a:rPr>
              <a:t>CX-Q1</a:t>
            </a:r>
            <a:endParaRPr lang="en-US" sz="5400"/>
          </a:p>
        </p:txBody>
      </p:sp>
    </p:spTree>
    <p:extLst>
      <p:ext uri="{BB962C8B-B14F-4D97-AF65-F5344CB8AC3E}">
        <p14:creationId xmlns:p14="http://schemas.microsoft.com/office/powerpoint/2010/main" val="2129640185"/>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33D4D6-0F81-2AB9-2537-443B55E9F60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9455D5E-980D-6BEE-DBE1-3298153B9B19}"/>
              </a:ext>
            </a:extLst>
          </p:cNvPr>
          <p:cNvSpPr>
            <a:spLocks noGrp="1"/>
          </p:cNvSpPr>
          <p:nvPr>
            <p:ph type="sldNum" sz="quarter" idx="12"/>
          </p:nvPr>
        </p:nvSpPr>
        <p:spPr/>
        <p:txBody>
          <a:bodyPr/>
          <a:lstStyle/>
          <a:p>
            <a:fld id="{3A41A254-7326-714E-AF55-4C213D6394DE}" type="slidenum">
              <a:rPr lang="en-US" smtClean="0"/>
              <a:pPr/>
              <a:t>118</a:t>
            </a:fld>
            <a:endParaRPr lang="en-US"/>
          </a:p>
        </p:txBody>
      </p:sp>
      <p:sp>
        <p:nvSpPr>
          <p:cNvPr id="6" name="Title 11">
            <a:extLst>
              <a:ext uri="{FF2B5EF4-FFF2-40B4-BE49-F238E27FC236}">
                <a16:creationId xmlns:a16="http://schemas.microsoft.com/office/drawing/2014/main" id="{EBAE06D7-0332-AA10-8FB4-7F60BDB3FA03}"/>
              </a:ext>
            </a:extLst>
          </p:cNvPr>
          <p:cNvSpPr txBox="1">
            <a:spLocks/>
          </p:cNvSpPr>
          <p:nvPr/>
        </p:nvSpPr>
        <p:spPr>
          <a:xfrm>
            <a:off x="195943" y="307594"/>
            <a:ext cx="5562600" cy="396638"/>
          </a:xfrm>
          <a:prstGeom prst="rect">
            <a:avLst/>
          </a:prstGeom>
        </p:spPr>
        <p:txBody>
          <a:bodyPr lIns="91440" tIns="45720" rIns="91440" bIns="45720" anchor="t">
            <a:noAutofit/>
          </a:bodyPr>
          <a:lstStyle>
            <a:lvl1pPr algn="l" defTabSz="914400" rtl="0" eaLnBrk="1" latinLnBrk="0" hangingPunct="1">
              <a:lnSpc>
                <a:spcPct val="90000"/>
              </a:lnSpc>
              <a:spcBef>
                <a:spcPct val="0"/>
              </a:spcBef>
              <a:buNone/>
              <a:defRPr sz="4400" b="1" i="0" kern="1200">
                <a:solidFill>
                  <a:schemeClr val="tx1"/>
                </a:solidFill>
                <a:latin typeface="AirIndia" pitchFamily="82" charset="77"/>
                <a:ea typeface="+mj-ea"/>
                <a:cs typeface="+mj-cs"/>
              </a:defRPr>
            </a:lvl1pPr>
          </a:lstStyle>
          <a:p>
            <a:r>
              <a:rPr lang="en-US" sz="2400">
                <a:solidFill>
                  <a:schemeClr val="accent1"/>
                </a:solidFill>
                <a:latin typeface="AirIndia"/>
              </a:rPr>
              <a:t>CX - FY26 Q1 Release Plan</a:t>
            </a:r>
            <a:endParaRPr lang="en-US" sz="2400" b="0">
              <a:solidFill>
                <a:schemeClr val="accent1"/>
              </a:solidFill>
              <a:latin typeface="AirIndia"/>
            </a:endParaRPr>
          </a:p>
          <a:p>
            <a:endParaRPr lang="en-US" sz="1800">
              <a:solidFill>
                <a:schemeClr val="accent1"/>
              </a:solidFill>
              <a:latin typeface="AirIndia"/>
            </a:endParaRPr>
          </a:p>
        </p:txBody>
      </p:sp>
      <p:graphicFrame>
        <p:nvGraphicFramePr>
          <p:cNvPr id="12" name="Table 11">
            <a:extLst>
              <a:ext uri="{FF2B5EF4-FFF2-40B4-BE49-F238E27FC236}">
                <a16:creationId xmlns:a16="http://schemas.microsoft.com/office/drawing/2014/main" id="{A66D97E5-CB2B-D82F-DA67-5441162735B9}"/>
              </a:ext>
            </a:extLst>
          </p:cNvPr>
          <p:cNvGraphicFramePr>
            <a:graphicFrameLocks noGrp="1"/>
          </p:cNvGraphicFramePr>
          <p:nvPr>
            <p:extLst>
              <p:ext uri="{D42A27DB-BD31-4B8C-83A1-F6EECF244321}">
                <p14:modId xmlns:p14="http://schemas.microsoft.com/office/powerpoint/2010/main" val="3425802201"/>
              </p:ext>
            </p:extLst>
          </p:nvPr>
        </p:nvGraphicFramePr>
        <p:xfrm>
          <a:off x="1295713" y="866914"/>
          <a:ext cx="10697938" cy="1737360"/>
        </p:xfrm>
        <a:graphic>
          <a:graphicData uri="http://schemas.openxmlformats.org/drawingml/2006/table">
            <a:tbl>
              <a:tblPr firstRow="1" bandRow="1">
                <a:tableStyleId>{5C22544A-7EE6-4342-B048-85BDC9FD1C3A}</a:tableStyleId>
              </a:tblPr>
              <a:tblGrid>
                <a:gridCol w="3759269">
                  <a:extLst>
                    <a:ext uri="{9D8B030D-6E8A-4147-A177-3AD203B41FA5}">
                      <a16:colId xmlns:a16="http://schemas.microsoft.com/office/drawing/2014/main" val="2822350773"/>
                    </a:ext>
                  </a:extLst>
                </a:gridCol>
                <a:gridCol w="6938669">
                  <a:extLst>
                    <a:ext uri="{9D8B030D-6E8A-4147-A177-3AD203B41FA5}">
                      <a16:colId xmlns:a16="http://schemas.microsoft.com/office/drawing/2014/main" val="99588705"/>
                    </a:ext>
                  </a:extLst>
                </a:gridCol>
              </a:tblGrid>
              <a:tr h="217387">
                <a:tc>
                  <a:txBody>
                    <a:bodyPr/>
                    <a:lstStyle/>
                    <a:p>
                      <a:pPr marL="0" lvl="0" indent="0" algn="ctr" defTabSz="914400" rtl="0" eaLnBrk="1" latinLnBrk="0" hangingPunct="1">
                        <a:lnSpc>
                          <a:spcPct val="100000"/>
                        </a:lnSpc>
                        <a:buFont typeface="Arial" panose="020B0604020202020204" pitchFamily="34" charset="0"/>
                        <a:buNone/>
                      </a:pPr>
                      <a:r>
                        <a:rPr lang="en-IN" sz="1200" kern="1200">
                          <a:solidFill>
                            <a:schemeClr val="bg1"/>
                          </a:solidFill>
                          <a:latin typeface="+mn-lt"/>
                          <a:ea typeface="+mn-ea"/>
                          <a:cs typeface="+mn-cs"/>
                        </a:rPr>
                        <a:t>Project/Initiative</a:t>
                      </a:r>
                      <a:endParaRPr lang="en-US" sz="1200"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tc>
                  <a:txBody>
                    <a:bodyPr/>
                    <a:lstStyle/>
                    <a:p>
                      <a:pPr marL="0" indent="0" algn="ctr" defTabSz="914400" rtl="0" eaLnBrk="1" latinLnBrk="0" hangingPunct="1">
                        <a:buFont typeface="Arial" panose="020B0604020202020204" pitchFamily="34" charset="0"/>
                        <a:buNone/>
                      </a:pPr>
                      <a:r>
                        <a:rPr lang="en-IN" sz="1200" kern="1200">
                          <a:solidFill>
                            <a:schemeClr val="bg1"/>
                          </a:solidFill>
                          <a:latin typeface="+mn-lt"/>
                          <a:ea typeface="+mn-ea"/>
                          <a:cs typeface="+mn-cs"/>
                        </a:rPr>
                        <a:t>Value Justification/Realization</a:t>
                      </a:r>
                      <a:endParaRPr lang="en-US" sz="1200"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extLst>
                  <a:ext uri="{0D108BD9-81ED-4DB2-BD59-A6C34878D82A}">
                    <a16:rowId xmlns:a16="http://schemas.microsoft.com/office/drawing/2014/main" val="844450115"/>
                  </a:ext>
                </a:extLst>
              </a:tr>
              <a:tr h="642394">
                <a:tc>
                  <a:txBody>
                    <a:bodyPr/>
                    <a:lstStyle/>
                    <a:p>
                      <a:pPr marL="228600" lvl="0" indent="-228600" algn="l">
                        <a:lnSpc>
                          <a:spcPct val="100000"/>
                        </a:lnSpc>
                        <a:spcBef>
                          <a:spcPts val="0"/>
                        </a:spcBef>
                        <a:spcAft>
                          <a:spcPts val="0"/>
                        </a:spcAft>
                        <a:buAutoNum type="arabicPeriod"/>
                      </a:pPr>
                      <a:r>
                        <a:rPr lang="en-US" sz="1200" b="0" i="0" u="none" strike="noStrike" kern="1200" noProof="0">
                          <a:solidFill>
                            <a:srgbClr val="0070C0"/>
                          </a:solidFill>
                        </a:rPr>
                        <a:t>Transit NPS Survey – Logic Change for Technical Halts</a:t>
                      </a:r>
                      <a:endParaRPr lang="en-US" sz="1200" b="1" i="0" u="none" strike="noStrike" kern="1200" noProof="0">
                        <a:solidFill>
                          <a:srgbClr val="0070C0"/>
                        </a:solidFill>
                        <a:latin typeface="+mn-lt"/>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lvl="0" indent="0" algn="l">
                        <a:lnSpc>
                          <a:spcPct val="100000"/>
                        </a:lnSpc>
                        <a:spcBef>
                          <a:spcPts val="0"/>
                        </a:spcBef>
                        <a:spcAft>
                          <a:spcPts val="0"/>
                        </a:spcAft>
                        <a:buNone/>
                      </a:pPr>
                      <a:r>
                        <a:rPr lang="en-US" sz="1200" b="1" i="0" u="none" strike="noStrike" kern="1200" noProof="0">
                          <a:solidFill>
                            <a:schemeClr val="tx1"/>
                          </a:solidFill>
                        </a:rPr>
                        <a:t>Improve Customer NPS</a:t>
                      </a:r>
                    </a:p>
                    <a:p>
                      <a:pPr marL="0" lvl="0" indent="0" algn="l">
                        <a:lnSpc>
                          <a:spcPct val="100000"/>
                        </a:lnSpc>
                        <a:spcBef>
                          <a:spcPts val="0"/>
                        </a:spcBef>
                        <a:spcAft>
                          <a:spcPts val="0"/>
                        </a:spcAft>
                        <a:buNone/>
                      </a:pPr>
                      <a:r>
                        <a:rPr lang="en-US" sz="1200" b="0" i="0" u="none" strike="noStrike" kern="1200" noProof="0">
                          <a:solidFill>
                            <a:schemeClr val="tx1"/>
                          </a:solidFill>
                          <a:latin typeface="Nunito Sans"/>
                        </a:rPr>
                        <a:t>Enhancement of Transit NPS survey logic to exclude or appropriately classify passengers impacted by technical halts, ensuring survey responses accurately reflect the customer experience during transit journeys.</a:t>
                      </a:r>
                      <a:endParaRPr lang="en-US"/>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443371065"/>
                  </a:ext>
                </a:extLst>
              </a:tr>
              <a:tr h="326080">
                <a:tc>
                  <a:txBody>
                    <a:bodyPr/>
                    <a:lstStyle/>
                    <a:p>
                      <a:pPr marL="0" lvl="0" indent="0" algn="l">
                        <a:lnSpc>
                          <a:spcPct val="100000"/>
                        </a:lnSpc>
                        <a:spcBef>
                          <a:spcPts val="0"/>
                        </a:spcBef>
                        <a:spcAft>
                          <a:spcPts val="0"/>
                        </a:spcAft>
                        <a:buNone/>
                      </a:pPr>
                      <a:r>
                        <a:rPr lang="en-US" sz="1200" b="0" i="0" u="none" strike="noStrike" kern="1200" noProof="0">
                          <a:solidFill>
                            <a:srgbClr val="0070C0"/>
                          </a:solidFill>
                        </a:rPr>
                        <a:t>2. </a:t>
                      </a:r>
                      <a:r>
                        <a:rPr lang="en-US" sz="1200" b="0" i="0" u="none" strike="noStrike" kern="1200" noProof="0" err="1">
                          <a:solidFill>
                            <a:srgbClr val="0070C0"/>
                          </a:solidFill>
                        </a:rPr>
                        <a:t>Paxia</a:t>
                      </a:r>
                      <a:r>
                        <a:rPr lang="en-US" sz="1200" b="0" i="0" u="none" strike="noStrike" kern="1200" noProof="0">
                          <a:solidFill>
                            <a:srgbClr val="0070C0"/>
                          </a:solidFill>
                        </a:rPr>
                        <a:t> Project Enhancements</a:t>
                      </a:r>
                      <a:endParaRPr lang="en-US" sz="1200" b="1" i="0" u="none" strike="noStrike" kern="1200" noProof="0">
                        <a:solidFill>
                          <a:srgbClr val="0070C0"/>
                        </a:solidFill>
                        <a:latin typeface="+mn-lt"/>
                      </a:endParaRPr>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marL="0" lvl="0" indent="0" algn="l">
                        <a:lnSpc>
                          <a:spcPct val="100000"/>
                        </a:lnSpc>
                        <a:spcBef>
                          <a:spcPts val="0"/>
                        </a:spcBef>
                        <a:spcAft>
                          <a:spcPts val="0"/>
                        </a:spcAft>
                        <a:buNone/>
                      </a:pPr>
                      <a:r>
                        <a:rPr lang="en-US" sz="1200" b="1" i="0" u="none" strike="noStrike" kern="1200" noProof="0">
                          <a:solidFill>
                            <a:schemeClr val="tx1"/>
                          </a:solidFill>
                        </a:rPr>
                        <a:t>Operational Efficiency</a:t>
                      </a:r>
                    </a:p>
                    <a:p>
                      <a:pPr marL="0" lvl="0" indent="0" algn="l">
                        <a:lnSpc>
                          <a:spcPct val="100000"/>
                        </a:lnSpc>
                        <a:spcBef>
                          <a:spcPts val="0"/>
                        </a:spcBef>
                        <a:spcAft>
                          <a:spcPts val="0"/>
                        </a:spcAft>
                        <a:buNone/>
                      </a:pPr>
                      <a:r>
                        <a:rPr lang="en-US" sz="1200" b="0" i="0" u="none" strike="noStrike" kern="1200" noProof="0">
                          <a:solidFill>
                            <a:schemeClr val="tx1"/>
                          </a:solidFill>
                          <a:latin typeface="Nunito Sans"/>
                        </a:rPr>
                        <a:t>Implementation of multiple enhancements in the Paxia platform to improve functionality, usability, and operational effectiveness for customer service teams.</a:t>
                      </a:r>
                      <a:endParaRPr lang="en-US"/>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417476375"/>
                  </a:ext>
                </a:extLst>
              </a:tr>
            </a:tbl>
          </a:graphicData>
        </a:graphic>
      </p:graphicFrame>
      <p:sp>
        <p:nvSpPr>
          <p:cNvPr id="13" name="Rectangle 12">
            <a:extLst>
              <a:ext uri="{FF2B5EF4-FFF2-40B4-BE49-F238E27FC236}">
                <a16:creationId xmlns:a16="http://schemas.microsoft.com/office/drawing/2014/main" id="{38AE36E8-70DA-54FE-2E04-9DB7545B9A4A}"/>
              </a:ext>
            </a:extLst>
          </p:cNvPr>
          <p:cNvSpPr/>
          <p:nvPr/>
        </p:nvSpPr>
        <p:spPr>
          <a:xfrm>
            <a:off x="136167" y="861655"/>
            <a:ext cx="1170432" cy="42234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1100" b="1">
                <a:latin typeface="AirIndia"/>
              </a:rPr>
              <a:t>April 2026</a:t>
            </a:r>
            <a:endParaRPr lang="en-US"/>
          </a:p>
        </p:txBody>
      </p:sp>
      <p:sp>
        <p:nvSpPr>
          <p:cNvPr id="3" name="Rectangle 2">
            <a:extLst>
              <a:ext uri="{FF2B5EF4-FFF2-40B4-BE49-F238E27FC236}">
                <a16:creationId xmlns:a16="http://schemas.microsoft.com/office/drawing/2014/main" id="{39239EE4-F8DD-C075-C865-F703E8DF968A}"/>
              </a:ext>
            </a:extLst>
          </p:cNvPr>
          <p:cNvSpPr/>
          <p:nvPr/>
        </p:nvSpPr>
        <p:spPr>
          <a:xfrm>
            <a:off x="3465009" y="6262087"/>
            <a:ext cx="90000" cy="90000"/>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
        <p:nvSpPr>
          <p:cNvPr id="4" name="Rectangle 3">
            <a:extLst>
              <a:ext uri="{FF2B5EF4-FFF2-40B4-BE49-F238E27FC236}">
                <a16:creationId xmlns:a16="http://schemas.microsoft.com/office/drawing/2014/main" id="{430869CC-74DA-16BE-3366-7B45BF6D8456}"/>
              </a:ext>
            </a:extLst>
          </p:cNvPr>
          <p:cNvSpPr/>
          <p:nvPr/>
        </p:nvSpPr>
        <p:spPr>
          <a:xfrm>
            <a:off x="3465009" y="6489649"/>
            <a:ext cx="90000" cy="90000"/>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
        <p:nvSpPr>
          <p:cNvPr id="5" name="Rectangle 4">
            <a:extLst>
              <a:ext uri="{FF2B5EF4-FFF2-40B4-BE49-F238E27FC236}">
                <a16:creationId xmlns:a16="http://schemas.microsoft.com/office/drawing/2014/main" id="{F5287F1F-2EA1-8FF2-16E7-8A33EF463609}"/>
              </a:ext>
            </a:extLst>
          </p:cNvPr>
          <p:cNvSpPr/>
          <p:nvPr/>
        </p:nvSpPr>
        <p:spPr>
          <a:xfrm>
            <a:off x="5567900" y="6262087"/>
            <a:ext cx="90000" cy="90000"/>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
        <p:nvSpPr>
          <p:cNvPr id="7" name="Rectangle 6">
            <a:extLst>
              <a:ext uri="{FF2B5EF4-FFF2-40B4-BE49-F238E27FC236}">
                <a16:creationId xmlns:a16="http://schemas.microsoft.com/office/drawing/2014/main" id="{B93D2161-FB99-B185-CCFF-3B4BD4E3990F}"/>
              </a:ext>
            </a:extLst>
          </p:cNvPr>
          <p:cNvSpPr/>
          <p:nvPr/>
        </p:nvSpPr>
        <p:spPr>
          <a:xfrm>
            <a:off x="5567900" y="6489649"/>
            <a:ext cx="90000" cy="90000"/>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
        <p:nvSpPr>
          <p:cNvPr id="8" name="TextBox 15">
            <a:extLst>
              <a:ext uri="{FF2B5EF4-FFF2-40B4-BE49-F238E27FC236}">
                <a16:creationId xmlns:a16="http://schemas.microsoft.com/office/drawing/2014/main" id="{B9F2C979-B8A3-F625-ACE0-1569A1D30B20}"/>
              </a:ext>
            </a:extLst>
          </p:cNvPr>
          <p:cNvSpPr txBox="1"/>
          <p:nvPr/>
        </p:nvSpPr>
        <p:spPr>
          <a:xfrm>
            <a:off x="3522317" y="6205238"/>
            <a:ext cx="857245"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000">
                <a:solidFill>
                  <a:srgbClr val="0070C0"/>
                </a:solidFill>
              </a:rPr>
              <a:t>Delivered</a:t>
            </a:r>
            <a:endParaRPr lang="en-IN" sz="1000"/>
          </a:p>
        </p:txBody>
      </p:sp>
      <p:sp>
        <p:nvSpPr>
          <p:cNvPr id="9" name="TextBox 18">
            <a:extLst>
              <a:ext uri="{FF2B5EF4-FFF2-40B4-BE49-F238E27FC236}">
                <a16:creationId xmlns:a16="http://schemas.microsoft.com/office/drawing/2014/main" id="{4B430352-E808-CAEE-1067-29DB9D987E57}"/>
              </a:ext>
            </a:extLst>
          </p:cNvPr>
          <p:cNvSpPr txBox="1"/>
          <p:nvPr/>
        </p:nvSpPr>
        <p:spPr>
          <a:xfrm>
            <a:off x="3520719" y="6430197"/>
            <a:ext cx="1032881"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000">
                <a:solidFill>
                  <a:srgbClr val="00B050"/>
                </a:solidFill>
              </a:rPr>
              <a:t>Ontrack</a:t>
            </a:r>
            <a:endParaRPr lang="en-IN" sz="1000"/>
          </a:p>
        </p:txBody>
      </p:sp>
      <p:sp>
        <p:nvSpPr>
          <p:cNvPr id="10" name="TextBox 20">
            <a:extLst>
              <a:ext uri="{FF2B5EF4-FFF2-40B4-BE49-F238E27FC236}">
                <a16:creationId xmlns:a16="http://schemas.microsoft.com/office/drawing/2014/main" id="{8CFC3509-2536-7F47-93A6-F2EC701EF1D4}"/>
              </a:ext>
            </a:extLst>
          </p:cNvPr>
          <p:cNvSpPr txBox="1"/>
          <p:nvPr/>
        </p:nvSpPr>
        <p:spPr>
          <a:xfrm>
            <a:off x="5653197" y="6220637"/>
            <a:ext cx="2257628"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000">
                <a:solidFill>
                  <a:schemeClr val="accent6">
                    <a:lumMod val="75000"/>
                  </a:schemeClr>
                </a:solidFill>
              </a:rPr>
              <a:t>Under delay and can be recovered</a:t>
            </a:r>
            <a:endParaRPr lang="en-IN" sz="1000"/>
          </a:p>
        </p:txBody>
      </p:sp>
      <p:sp>
        <p:nvSpPr>
          <p:cNvPr id="11" name="TextBox 22">
            <a:extLst>
              <a:ext uri="{FF2B5EF4-FFF2-40B4-BE49-F238E27FC236}">
                <a16:creationId xmlns:a16="http://schemas.microsoft.com/office/drawing/2014/main" id="{79E969E3-8255-DF6A-1E85-5F301B846E7B}"/>
              </a:ext>
            </a:extLst>
          </p:cNvPr>
          <p:cNvSpPr txBox="1"/>
          <p:nvPr/>
        </p:nvSpPr>
        <p:spPr>
          <a:xfrm>
            <a:off x="5657900" y="6437221"/>
            <a:ext cx="3069090"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000">
                <a:solidFill>
                  <a:schemeClr val="accent2"/>
                </a:solidFill>
              </a:rPr>
              <a:t>Delayed and pushed to next release</a:t>
            </a:r>
            <a:endParaRPr lang="en-IN" sz="1000"/>
          </a:p>
        </p:txBody>
      </p:sp>
      <p:graphicFrame>
        <p:nvGraphicFramePr>
          <p:cNvPr id="14" name="Table 13">
            <a:extLst>
              <a:ext uri="{FF2B5EF4-FFF2-40B4-BE49-F238E27FC236}">
                <a16:creationId xmlns:a16="http://schemas.microsoft.com/office/drawing/2014/main" id="{49C589A3-786A-714E-CF94-E91C79FD4D62}"/>
              </a:ext>
            </a:extLst>
          </p:cNvPr>
          <p:cNvGraphicFramePr>
            <a:graphicFrameLocks noGrp="1"/>
          </p:cNvGraphicFramePr>
          <p:nvPr>
            <p:extLst>
              <p:ext uri="{D42A27DB-BD31-4B8C-83A1-F6EECF244321}">
                <p14:modId xmlns:p14="http://schemas.microsoft.com/office/powerpoint/2010/main" val="4047683200"/>
              </p:ext>
            </p:extLst>
          </p:nvPr>
        </p:nvGraphicFramePr>
        <p:xfrm>
          <a:off x="1295713" y="2652171"/>
          <a:ext cx="10697938" cy="3019256"/>
        </p:xfrm>
        <a:graphic>
          <a:graphicData uri="http://schemas.openxmlformats.org/drawingml/2006/table">
            <a:tbl>
              <a:tblPr firstRow="1" bandRow="1">
                <a:tableStyleId>{5C22544A-7EE6-4342-B048-85BDC9FD1C3A}</a:tableStyleId>
              </a:tblPr>
              <a:tblGrid>
                <a:gridCol w="3759269">
                  <a:extLst>
                    <a:ext uri="{9D8B030D-6E8A-4147-A177-3AD203B41FA5}">
                      <a16:colId xmlns:a16="http://schemas.microsoft.com/office/drawing/2014/main" val="2822350773"/>
                    </a:ext>
                  </a:extLst>
                </a:gridCol>
                <a:gridCol w="6938669">
                  <a:extLst>
                    <a:ext uri="{9D8B030D-6E8A-4147-A177-3AD203B41FA5}">
                      <a16:colId xmlns:a16="http://schemas.microsoft.com/office/drawing/2014/main" val="99588705"/>
                    </a:ext>
                  </a:extLst>
                </a:gridCol>
              </a:tblGrid>
              <a:tr h="152694">
                <a:tc>
                  <a:txBody>
                    <a:bodyPr/>
                    <a:lstStyle/>
                    <a:p>
                      <a:pPr marL="0" lvl="0" indent="0" algn="ctr" defTabSz="914400" rtl="0" eaLnBrk="1" latinLnBrk="0" hangingPunct="1">
                        <a:lnSpc>
                          <a:spcPct val="100000"/>
                        </a:lnSpc>
                        <a:buFont typeface="Arial" panose="020B0604020202020204" pitchFamily="34" charset="0"/>
                        <a:buNone/>
                      </a:pPr>
                      <a:r>
                        <a:rPr lang="en-IN" sz="1200" kern="1200">
                          <a:solidFill>
                            <a:schemeClr val="bg1"/>
                          </a:solidFill>
                          <a:latin typeface="+mn-lt"/>
                          <a:ea typeface="+mn-ea"/>
                          <a:cs typeface="+mn-cs"/>
                        </a:rPr>
                        <a:t>Project/Initiative</a:t>
                      </a:r>
                      <a:endParaRPr lang="en-US" sz="1200"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tc>
                  <a:txBody>
                    <a:bodyPr/>
                    <a:lstStyle/>
                    <a:p>
                      <a:pPr marL="0" indent="0" algn="ctr" defTabSz="914400" rtl="0" eaLnBrk="1" latinLnBrk="0" hangingPunct="1">
                        <a:buFont typeface="Arial" panose="020B0604020202020204" pitchFamily="34" charset="0"/>
                        <a:buNone/>
                      </a:pPr>
                      <a:r>
                        <a:rPr lang="en-IN" sz="1200" kern="1200">
                          <a:solidFill>
                            <a:schemeClr val="bg1"/>
                          </a:solidFill>
                          <a:latin typeface="+mn-lt"/>
                          <a:ea typeface="+mn-ea"/>
                          <a:cs typeface="+mn-cs"/>
                        </a:rPr>
                        <a:t>Value Justification/Realization</a:t>
                      </a:r>
                      <a:endParaRPr lang="en-US" sz="1200"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extLst>
                  <a:ext uri="{0D108BD9-81ED-4DB2-BD59-A6C34878D82A}">
                    <a16:rowId xmlns:a16="http://schemas.microsoft.com/office/drawing/2014/main" val="844450115"/>
                  </a:ext>
                </a:extLst>
              </a:tr>
              <a:tr h="824696">
                <a:tc>
                  <a:txBody>
                    <a:bodyPr/>
                    <a:lstStyle/>
                    <a:p>
                      <a:pPr marL="228600" lvl="0" indent="-228600" algn="l">
                        <a:lnSpc>
                          <a:spcPct val="100000"/>
                        </a:lnSpc>
                        <a:spcBef>
                          <a:spcPts val="0"/>
                        </a:spcBef>
                        <a:spcAft>
                          <a:spcPts val="0"/>
                        </a:spcAft>
                        <a:buAutoNum type="arabicPeriod"/>
                      </a:pPr>
                      <a:r>
                        <a:rPr lang="en-US" sz="1200" b="0" i="0" u="none" strike="noStrike" kern="1200" noProof="0">
                          <a:solidFill>
                            <a:srgbClr val="0070C0"/>
                          </a:solidFill>
                        </a:rPr>
                        <a:t>Salesforce Data Archival</a:t>
                      </a:r>
                      <a:endParaRPr lang="en-US" sz="1200" b="1" i="0" u="none" strike="noStrike" kern="1200" noProof="0">
                        <a:solidFill>
                          <a:srgbClr val="0070C0"/>
                        </a:solidFill>
                        <a:latin typeface="+mn-lt"/>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lvl="0" indent="0" algn="l">
                        <a:lnSpc>
                          <a:spcPct val="100000"/>
                        </a:lnSpc>
                        <a:spcBef>
                          <a:spcPts val="0"/>
                        </a:spcBef>
                        <a:spcAft>
                          <a:spcPts val="0"/>
                        </a:spcAft>
                        <a:buNone/>
                      </a:pPr>
                      <a:r>
                        <a:rPr lang="en-US" sz="1200" b="1" i="0" u="none" strike="noStrike" kern="1200" noProof="0">
                          <a:solidFill>
                            <a:schemeClr val="tx1"/>
                          </a:solidFill>
                        </a:rPr>
                        <a:t>Cost Reduction</a:t>
                      </a:r>
                      <a:endParaRPr lang="en-US" b="1"/>
                    </a:p>
                    <a:p>
                      <a:pPr marL="0" lvl="0" indent="0" algn="l">
                        <a:lnSpc>
                          <a:spcPct val="100000"/>
                        </a:lnSpc>
                        <a:spcBef>
                          <a:spcPts val="0"/>
                        </a:spcBef>
                        <a:spcAft>
                          <a:spcPts val="0"/>
                        </a:spcAft>
                        <a:buNone/>
                      </a:pPr>
                      <a:r>
                        <a:rPr lang="en-US" sz="1200" b="0" i="0" u="none" strike="noStrike" kern="1200" noProof="0">
                          <a:solidFill>
                            <a:schemeClr val="tx1"/>
                          </a:solidFill>
                          <a:latin typeface="Nunito Sans"/>
                        </a:rPr>
                        <a:t>Development of a data archival solution for Salesforce to move historical records from production systems while maintaining accessibility and compliance requirement</a:t>
                      </a:r>
                      <a:endParaRPr lang="en-US"/>
                    </a:p>
                    <a:p>
                      <a:pPr marL="685800" lvl="1" indent="-228600" algn="l">
                        <a:lnSpc>
                          <a:spcPct val="100000"/>
                        </a:lnSpc>
                        <a:spcBef>
                          <a:spcPts val="0"/>
                        </a:spcBef>
                        <a:spcAft>
                          <a:spcPts val="0"/>
                        </a:spcAft>
                        <a:buFont typeface="Arial" panose="020B0604020202020204" pitchFamily="34" charset="0"/>
                        <a:buChar char="•"/>
                      </a:pPr>
                      <a:endParaRPr lang="en-US" sz="1200" b="1" i="0" u="none" strike="noStrike" kern="1200" noProof="0">
                        <a:solidFill>
                          <a:schemeClr val="tx1"/>
                        </a:solidFill>
                        <a:latin typeface="+mn-lt"/>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443371065"/>
                  </a:ext>
                </a:extLst>
              </a:tr>
              <a:tr h="353106">
                <a:tc>
                  <a:txBody>
                    <a:bodyPr/>
                    <a:lstStyle/>
                    <a:p>
                      <a:pPr marL="0" lvl="0" indent="0" algn="l">
                        <a:lnSpc>
                          <a:spcPct val="100000"/>
                        </a:lnSpc>
                        <a:spcBef>
                          <a:spcPts val="0"/>
                        </a:spcBef>
                        <a:spcAft>
                          <a:spcPts val="0"/>
                        </a:spcAft>
                        <a:buNone/>
                      </a:pPr>
                      <a:r>
                        <a:rPr lang="en-US" sz="1200" b="1" i="0" u="none" strike="noStrike" kern="1200" noProof="0">
                          <a:solidFill>
                            <a:srgbClr val="0070C0"/>
                          </a:solidFill>
                          <a:latin typeface="+mn-lt"/>
                        </a:rPr>
                        <a:t>2. </a:t>
                      </a:r>
                      <a:r>
                        <a:rPr lang="en-US" sz="1200" b="0" i="0" u="none" strike="noStrike" kern="1200" noProof="0">
                          <a:solidFill>
                            <a:srgbClr val="0070C0"/>
                          </a:solidFill>
                        </a:rPr>
                        <a:t>Email to Case – Agent Productivity</a:t>
                      </a:r>
                      <a:r>
                        <a:rPr lang="en-US" sz="1200" b="1" i="0" u="none" strike="noStrike" kern="1200" noProof="0">
                          <a:solidFill>
                            <a:srgbClr val="0070C0"/>
                          </a:solidFill>
                          <a:latin typeface="+mn-lt"/>
                        </a:rPr>
                        <a:t> </a:t>
                      </a:r>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marL="0" lvl="0" indent="0" algn="l">
                        <a:lnSpc>
                          <a:spcPct val="100000"/>
                        </a:lnSpc>
                        <a:spcBef>
                          <a:spcPts val="0"/>
                        </a:spcBef>
                        <a:spcAft>
                          <a:spcPts val="0"/>
                        </a:spcAft>
                        <a:buNone/>
                      </a:pPr>
                      <a:r>
                        <a:rPr lang="en-US" sz="1200" b="1" i="0" u="none" strike="noStrike" kern="1200" noProof="0">
                          <a:solidFill>
                            <a:schemeClr val="tx1"/>
                          </a:solidFill>
                        </a:rPr>
                        <a:t>Operational Efficiency</a:t>
                      </a:r>
                    </a:p>
                    <a:p>
                      <a:pPr marL="0" lvl="0" indent="0" algn="l">
                        <a:lnSpc>
                          <a:spcPct val="100000"/>
                        </a:lnSpc>
                        <a:spcBef>
                          <a:spcPts val="0"/>
                        </a:spcBef>
                        <a:spcAft>
                          <a:spcPts val="0"/>
                        </a:spcAft>
                        <a:buNone/>
                      </a:pPr>
                      <a:r>
                        <a:rPr lang="en-US" sz="1200" b="0" i="0" u="none" strike="noStrike" kern="1200" noProof="0">
                          <a:solidFill>
                            <a:schemeClr val="tx1"/>
                          </a:solidFill>
                          <a:latin typeface="Nunito Sans"/>
                        </a:rPr>
                        <a:t>Enhancement of Email-to-Case functionality in Salesforce to automate case creation and streamline agent workflows for customer email handling.</a:t>
                      </a:r>
                      <a:endParaRPr lang="en-US" sz="1200" b="0" i="0" u="none" strike="noStrike" kern="1200" noProof="0">
                        <a:solidFill>
                          <a:schemeClr val="tx1"/>
                        </a:solidFill>
                      </a:endParaRPr>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417476375"/>
                  </a:ext>
                </a:extLst>
              </a:tr>
              <a:tr h="353105">
                <a:tc>
                  <a:txBody>
                    <a:bodyPr/>
                    <a:lstStyle/>
                    <a:p>
                      <a:pPr marL="0" lvl="0" indent="0" algn="l">
                        <a:lnSpc>
                          <a:spcPct val="100000"/>
                        </a:lnSpc>
                        <a:spcBef>
                          <a:spcPts val="0"/>
                        </a:spcBef>
                        <a:spcAft>
                          <a:spcPts val="0"/>
                        </a:spcAft>
                        <a:buNone/>
                      </a:pPr>
                      <a:r>
                        <a:rPr lang="en-US" sz="1200" b="0" i="0" u="none" strike="noStrike" kern="1200" noProof="0">
                          <a:solidFill>
                            <a:srgbClr val="0070C0"/>
                          </a:solidFill>
                          <a:latin typeface="+mn-lt"/>
                        </a:rPr>
                        <a:t>3. </a:t>
                      </a:r>
                      <a:r>
                        <a:rPr lang="en-US" sz="1200" b="0" i="0" u="none" strike="noStrike" kern="1200" noProof="0">
                          <a:solidFill>
                            <a:srgbClr val="0070C0"/>
                          </a:solidFill>
                          <a:latin typeface="Nunito Sans"/>
                        </a:rPr>
                        <a:t>Voice of Customer Dashboard </a:t>
                      </a:r>
                      <a:endParaRPr lang="en-US" sz="1200" b="0" i="0" u="none" strike="noStrike" kern="1200" noProof="0">
                        <a:solidFill>
                          <a:srgbClr val="0070C0"/>
                        </a:solidFill>
                        <a:latin typeface="+mn-lt"/>
                      </a:endParaRPr>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tc>
                  <a:txBody>
                    <a:bodyPr/>
                    <a:lstStyle/>
                    <a:p>
                      <a:pPr marL="0" lvl="0" indent="0" algn="l">
                        <a:lnSpc>
                          <a:spcPct val="100000"/>
                        </a:lnSpc>
                        <a:spcBef>
                          <a:spcPts val="0"/>
                        </a:spcBef>
                        <a:spcAft>
                          <a:spcPts val="0"/>
                        </a:spcAft>
                        <a:buNone/>
                      </a:pPr>
                      <a:r>
                        <a:rPr lang="en-US" sz="1200" b="1" i="0" u="none" strike="noStrike" kern="1200" noProof="0">
                          <a:solidFill>
                            <a:schemeClr val="tx1"/>
                          </a:solidFill>
                          <a:latin typeface="Nunito Sans"/>
                        </a:rPr>
                        <a:t>Improve Customer NPS</a:t>
                      </a:r>
                      <a:endParaRPr lang="en-US" sz="1200" b="1" i="0" u="none" strike="noStrike" kern="1200" noProof="0">
                        <a:solidFill>
                          <a:srgbClr val="FFFFFF"/>
                        </a:solidFill>
                        <a:latin typeface="Nunito Sans"/>
                      </a:endParaRPr>
                    </a:p>
                    <a:p>
                      <a:pPr marL="0" lvl="0" indent="0" algn="l">
                        <a:lnSpc>
                          <a:spcPct val="100000"/>
                        </a:lnSpc>
                        <a:spcBef>
                          <a:spcPts val="0"/>
                        </a:spcBef>
                        <a:spcAft>
                          <a:spcPts val="0"/>
                        </a:spcAft>
                        <a:buNone/>
                      </a:pPr>
                      <a:r>
                        <a:rPr lang="en-US" sz="1200" b="0" i="0" u="none" strike="noStrike" kern="1200" noProof="0">
                          <a:solidFill>
                            <a:schemeClr val="tx1"/>
                          </a:solidFill>
                          <a:latin typeface="Nunito Sans"/>
                        </a:rPr>
                        <a:t>Development of the first phase of the Voice of Customer Dashboard, consolidating customer feedback and satisfaction metrics into a centralized reporting platform.</a:t>
                      </a:r>
                      <a:endParaRPr lang="en-US" b="0"/>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extLst>
                  <a:ext uri="{0D108BD9-81ED-4DB2-BD59-A6C34878D82A}">
                    <a16:rowId xmlns:a16="http://schemas.microsoft.com/office/drawing/2014/main" val="3645691038"/>
                  </a:ext>
                </a:extLst>
              </a:tr>
              <a:tr h="181324">
                <a:tc>
                  <a:txBody>
                    <a:bodyPr/>
                    <a:lstStyle/>
                    <a:p>
                      <a:pPr marL="0" lvl="0" indent="0" algn="l">
                        <a:lnSpc>
                          <a:spcPct val="100000"/>
                        </a:lnSpc>
                        <a:spcBef>
                          <a:spcPts val="0"/>
                        </a:spcBef>
                        <a:spcAft>
                          <a:spcPts val="0"/>
                        </a:spcAft>
                        <a:buNone/>
                      </a:pPr>
                      <a:r>
                        <a:rPr lang="en-US" sz="1200" b="1" i="0" u="none" strike="noStrike" kern="1200" noProof="0">
                          <a:solidFill>
                            <a:srgbClr val="0070C0"/>
                          </a:solidFill>
                          <a:latin typeface="+mn-lt"/>
                        </a:rPr>
                        <a:t>4. </a:t>
                      </a:r>
                      <a:r>
                        <a:rPr lang="en-US" sz="1200" b="0" i="0" u="none" strike="noStrike" kern="1200" noProof="0">
                          <a:solidFill>
                            <a:srgbClr val="0070C0"/>
                          </a:solidFill>
                          <a:latin typeface="Nunito Sans"/>
                        </a:rPr>
                        <a:t>Compensation Dashboard Enhancement</a:t>
                      </a:r>
                      <a:endParaRPr lang="en-US" sz="1200" b="1" i="0" u="none" strike="noStrike" kern="1200" noProof="0">
                        <a:solidFill>
                          <a:srgbClr val="0070C0"/>
                        </a:solidFill>
                        <a:latin typeface="+mn-lt"/>
                      </a:endParaRPr>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tc>
                  <a:txBody>
                    <a:bodyPr/>
                    <a:lstStyle/>
                    <a:p>
                      <a:pPr marL="0" lvl="0" indent="0" algn="l">
                        <a:lnSpc>
                          <a:spcPct val="100000"/>
                        </a:lnSpc>
                        <a:spcBef>
                          <a:spcPts val="0"/>
                        </a:spcBef>
                        <a:spcAft>
                          <a:spcPts val="0"/>
                        </a:spcAft>
                        <a:buNone/>
                      </a:pPr>
                      <a:r>
                        <a:rPr lang="en-US" sz="1200" b="1" i="0" u="none" strike="noStrike" kern="1200" noProof="0">
                          <a:solidFill>
                            <a:schemeClr val="tx1"/>
                          </a:solidFill>
                          <a:latin typeface="Nunito Sans"/>
                        </a:rPr>
                        <a:t>Improve Customer NPS</a:t>
                      </a:r>
                      <a:endParaRPr lang="en-US" sz="1200" b="1" i="0" u="none" strike="noStrike" kern="1200" noProof="0">
                        <a:solidFill>
                          <a:srgbClr val="000000"/>
                        </a:solidFill>
                        <a:latin typeface="Nunito Sans"/>
                      </a:endParaRPr>
                    </a:p>
                    <a:p>
                      <a:pPr marL="0" lvl="0" indent="0" algn="l">
                        <a:lnSpc>
                          <a:spcPct val="100000"/>
                        </a:lnSpc>
                        <a:spcBef>
                          <a:spcPts val="0"/>
                        </a:spcBef>
                        <a:spcAft>
                          <a:spcPts val="0"/>
                        </a:spcAft>
                        <a:buNone/>
                      </a:pPr>
                      <a:r>
                        <a:rPr lang="en-US" sz="1200" b="0" i="0" u="none" strike="noStrike" kern="1200" noProof="0">
                          <a:solidFill>
                            <a:schemeClr val="tx1"/>
                          </a:solidFill>
                        </a:rPr>
                        <a:t>Enhancement of the Compensation Dashboard to provide improved visibility into customer compensation requests, processing status, and resolution trends.</a:t>
                      </a:r>
                      <a:endParaRPr lang="en-US"/>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extLst>
                  <a:ext uri="{0D108BD9-81ED-4DB2-BD59-A6C34878D82A}">
                    <a16:rowId xmlns:a16="http://schemas.microsoft.com/office/drawing/2014/main" val="1110178885"/>
                  </a:ext>
                </a:extLst>
              </a:tr>
            </a:tbl>
          </a:graphicData>
        </a:graphic>
      </p:graphicFrame>
      <p:sp>
        <p:nvSpPr>
          <p:cNvPr id="16" name="Rectangle 15">
            <a:extLst>
              <a:ext uri="{FF2B5EF4-FFF2-40B4-BE49-F238E27FC236}">
                <a16:creationId xmlns:a16="http://schemas.microsoft.com/office/drawing/2014/main" id="{2CB9203D-A1B7-9246-AB4B-D88E4C59FE0D}"/>
              </a:ext>
            </a:extLst>
          </p:cNvPr>
          <p:cNvSpPr/>
          <p:nvPr/>
        </p:nvSpPr>
        <p:spPr>
          <a:xfrm>
            <a:off x="125281" y="2646912"/>
            <a:ext cx="1170432" cy="42234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1100" b="1">
                <a:latin typeface="AirIndia"/>
              </a:rPr>
              <a:t>May 2026</a:t>
            </a:r>
            <a:endParaRPr lang="en-US"/>
          </a:p>
        </p:txBody>
      </p:sp>
    </p:spTree>
    <p:extLst>
      <p:ext uri="{BB962C8B-B14F-4D97-AF65-F5344CB8AC3E}">
        <p14:creationId xmlns:p14="http://schemas.microsoft.com/office/powerpoint/2010/main" val="1831620554"/>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A6B937-8BFD-7CCC-29DF-97B67873845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BB6AFDA-C2C3-706B-CC21-2F0C86C0B9A8}"/>
              </a:ext>
            </a:extLst>
          </p:cNvPr>
          <p:cNvSpPr>
            <a:spLocks noGrp="1"/>
          </p:cNvSpPr>
          <p:nvPr>
            <p:ph type="sldNum" sz="quarter" idx="12"/>
          </p:nvPr>
        </p:nvSpPr>
        <p:spPr/>
        <p:txBody>
          <a:bodyPr/>
          <a:lstStyle/>
          <a:p>
            <a:fld id="{3A41A254-7326-714E-AF55-4C213D6394DE}" type="slidenum">
              <a:rPr lang="en-US" smtClean="0"/>
              <a:pPr/>
              <a:t>119</a:t>
            </a:fld>
            <a:endParaRPr lang="en-US"/>
          </a:p>
        </p:txBody>
      </p:sp>
      <p:sp>
        <p:nvSpPr>
          <p:cNvPr id="6" name="Title 11">
            <a:extLst>
              <a:ext uri="{FF2B5EF4-FFF2-40B4-BE49-F238E27FC236}">
                <a16:creationId xmlns:a16="http://schemas.microsoft.com/office/drawing/2014/main" id="{4489207B-C42B-F21B-F203-169532967261}"/>
              </a:ext>
            </a:extLst>
          </p:cNvPr>
          <p:cNvSpPr txBox="1">
            <a:spLocks/>
          </p:cNvSpPr>
          <p:nvPr/>
        </p:nvSpPr>
        <p:spPr>
          <a:xfrm>
            <a:off x="195943" y="307594"/>
            <a:ext cx="5562600" cy="396638"/>
          </a:xfrm>
          <a:prstGeom prst="rect">
            <a:avLst/>
          </a:prstGeom>
        </p:spPr>
        <p:txBody>
          <a:bodyPr lIns="91440" tIns="45720" rIns="91440" bIns="45720" anchor="t">
            <a:noAutofit/>
          </a:bodyPr>
          <a:lstStyle>
            <a:lvl1pPr algn="l" defTabSz="914400" rtl="0" eaLnBrk="1" latinLnBrk="0" hangingPunct="1">
              <a:lnSpc>
                <a:spcPct val="90000"/>
              </a:lnSpc>
              <a:spcBef>
                <a:spcPct val="0"/>
              </a:spcBef>
              <a:buNone/>
              <a:defRPr sz="4400" b="1" i="0" kern="1200">
                <a:solidFill>
                  <a:schemeClr val="tx1"/>
                </a:solidFill>
                <a:latin typeface="AirIndia" pitchFamily="82" charset="77"/>
                <a:ea typeface="+mj-ea"/>
                <a:cs typeface="+mj-cs"/>
              </a:defRPr>
            </a:lvl1pPr>
          </a:lstStyle>
          <a:p>
            <a:r>
              <a:rPr lang="en-US" sz="2400">
                <a:solidFill>
                  <a:schemeClr val="accent1"/>
                </a:solidFill>
                <a:latin typeface="AirIndia"/>
              </a:rPr>
              <a:t>CX - FY26 Q1 Release Plan</a:t>
            </a:r>
            <a:endParaRPr lang="en-US" sz="2400" b="0">
              <a:solidFill>
                <a:schemeClr val="accent1"/>
              </a:solidFill>
              <a:latin typeface="AirIndia"/>
            </a:endParaRPr>
          </a:p>
          <a:p>
            <a:endParaRPr lang="en-US" sz="1800">
              <a:solidFill>
                <a:schemeClr val="accent1"/>
              </a:solidFill>
              <a:latin typeface="AirIndia"/>
            </a:endParaRPr>
          </a:p>
        </p:txBody>
      </p:sp>
      <p:graphicFrame>
        <p:nvGraphicFramePr>
          <p:cNvPr id="12" name="Table 11">
            <a:extLst>
              <a:ext uri="{FF2B5EF4-FFF2-40B4-BE49-F238E27FC236}">
                <a16:creationId xmlns:a16="http://schemas.microsoft.com/office/drawing/2014/main" id="{E6E0D277-39D5-B76F-CD3F-4D3BE699B1EB}"/>
              </a:ext>
            </a:extLst>
          </p:cNvPr>
          <p:cNvGraphicFramePr>
            <a:graphicFrameLocks noGrp="1"/>
          </p:cNvGraphicFramePr>
          <p:nvPr>
            <p:extLst>
              <p:ext uri="{D42A27DB-BD31-4B8C-83A1-F6EECF244321}">
                <p14:modId xmlns:p14="http://schemas.microsoft.com/office/powerpoint/2010/main" val="461857810"/>
              </p:ext>
            </p:extLst>
          </p:nvPr>
        </p:nvGraphicFramePr>
        <p:xfrm>
          <a:off x="1295713" y="866914"/>
          <a:ext cx="10697938" cy="4947396"/>
        </p:xfrm>
        <a:graphic>
          <a:graphicData uri="http://schemas.openxmlformats.org/drawingml/2006/table">
            <a:tbl>
              <a:tblPr firstRow="1" bandRow="1">
                <a:tableStyleId>{5C22544A-7EE6-4342-B048-85BDC9FD1C3A}</a:tableStyleId>
              </a:tblPr>
              <a:tblGrid>
                <a:gridCol w="3759269">
                  <a:extLst>
                    <a:ext uri="{9D8B030D-6E8A-4147-A177-3AD203B41FA5}">
                      <a16:colId xmlns:a16="http://schemas.microsoft.com/office/drawing/2014/main" val="2822350773"/>
                    </a:ext>
                  </a:extLst>
                </a:gridCol>
                <a:gridCol w="6938669">
                  <a:extLst>
                    <a:ext uri="{9D8B030D-6E8A-4147-A177-3AD203B41FA5}">
                      <a16:colId xmlns:a16="http://schemas.microsoft.com/office/drawing/2014/main" val="99588705"/>
                    </a:ext>
                  </a:extLst>
                </a:gridCol>
              </a:tblGrid>
              <a:tr h="332598">
                <a:tc>
                  <a:txBody>
                    <a:bodyPr/>
                    <a:lstStyle/>
                    <a:p>
                      <a:pPr marL="0" lvl="0" indent="0" algn="ctr" defTabSz="914400" rtl="0" eaLnBrk="1" latinLnBrk="0" hangingPunct="1">
                        <a:lnSpc>
                          <a:spcPct val="100000"/>
                        </a:lnSpc>
                        <a:buFont typeface="Arial" panose="020B0604020202020204" pitchFamily="34" charset="0"/>
                        <a:buNone/>
                      </a:pPr>
                      <a:r>
                        <a:rPr lang="en-IN" sz="1200" kern="1200">
                          <a:solidFill>
                            <a:schemeClr val="bg1"/>
                          </a:solidFill>
                          <a:latin typeface="+mn-lt"/>
                          <a:ea typeface="+mn-ea"/>
                          <a:cs typeface="+mn-cs"/>
                        </a:rPr>
                        <a:t>Project/Initiative</a:t>
                      </a:r>
                      <a:endParaRPr lang="en-US" sz="1200"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tc>
                  <a:txBody>
                    <a:bodyPr/>
                    <a:lstStyle/>
                    <a:p>
                      <a:pPr marL="0" indent="0" algn="ctr" defTabSz="914400" rtl="0" eaLnBrk="1" latinLnBrk="0" hangingPunct="1">
                        <a:buFont typeface="Arial" panose="020B0604020202020204" pitchFamily="34" charset="0"/>
                        <a:buNone/>
                      </a:pPr>
                      <a:r>
                        <a:rPr lang="en-IN" sz="1200" kern="1200">
                          <a:solidFill>
                            <a:schemeClr val="bg1"/>
                          </a:solidFill>
                          <a:latin typeface="+mn-lt"/>
                          <a:ea typeface="+mn-ea"/>
                          <a:cs typeface="+mn-cs"/>
                        </a:rPr>
                        <a:t>Value Justification/Realization</a:t>
                      </a:r>
                      <a:endParaRPr lang="en-US" sz="1200"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extLst>
                  <a:ext uri="{0D108BD9-81ED-4DB2-BD59-A6C34878D82A}">
                    <a16:rowId xmlns:a16="http://schemas.microsoft.com/office/drawing/2014/main" val="844450115"/>
                  </a:ext>
                </a:extLst>
              </a:tr>
              <a:tr h="769133">
                <a:tc>
                  <a:txBody>
                    <a:bodyPr/>
                    <a:lstStyle/>
                    <a:p>
                      <a:pPr marL="228600" lvl="0" indent="-228600" algn="l">
                        <a:lnSpc>
                          <a:spcPct val="100000"/>
                        </a:lnSpc>
                        <a:spcBef>
                          <a:spcPts val="0"/>
                        </a:spcBef>
                        <a:spcAft>
                          <a:spcPts val="0"/>
                        </a:spcAft>
                        <a:buAutoNum type="arabicPeriod"/>
                      </a:pPr>
                      <a:r>
                        <a:rPr lang="en-US" sz="1200" b="0" i="0" u="none" strike="noStrike" kern="1200" noProof="0">
                          <a:solidFill>
                            <a:srgbClr val="0070C0"/>
                          </a:solidFill>
                          <a:latin typeface="Nunito Sans"/>
                        </a:rPr>
                        <a:t>Flight Disruption Dashboard – Flight Level KPIs</a:t>
                      </a:r>
                      <a:endParaRPr lang="en-US" sz="1200" b="1" i="0" u="none" strike="noStrike" kern="1200" noProof="0">
                        <a:solidFill>
                          <a:srgbClr val="0070C0"/>
                        </a:solidFill>
                        <a:latin typeface="+mn-lt"/>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lvl="0" indent="0" algn="l">
                        <a:lnSpc>
                          <a:spcPct val="100000"/>
                        </a:lnSpc>
                        <a:spcBef>
                          <a:spcPts val="0"/>
                        </a:spcBef>
                        <a:spcAft>
                          <a:spcPts val="0"/>
                        </a:spcAft>
                        <a:buNone/>
                      </a:pPr>
                      <a:r>
                        <a:rPr lang="en-US" sz="1200" b="1" i="0" u="none" strike="noStrike" kern="1200" noProof="0">
                          <a:solidFill>
                            <a:schemeClr val="tx1"/>
                          </a:solidFill>
                          <a:latin typeface="Nunito Sans"/>
                        </a:rPr>
                        <a:t>Operational Efficiency</a:t>
                      </a:r>
                    </a:p>
                    <a:p>
                      <a:pPr marL="0" lvl="0" indent="0" algn="l">
                        <a:lnSpc>
                          <a:spcPct val="100000"/>
                        </a:lnSpc>
                        <a:spcBef>
                          <a:spcPts val="0"/>
                        </a:spcBef>
                        <a:spcAft>
                          <a:spcPts val="0"/>
                        </a:spcAft>
                        <a:buNone/>
                      </a:pPr>
                      <a:r>
                        <a:rPr lang="en-US" sz="1200" b="0" i="0" u="none" strike="noStrike" kern="1200" noProof="0">
                          <a:solidFill>
                            <a:schemeClr val="tx1"/>
                          </a:solidFill>
                        </a:rPr>
                        <a:t>Development of flight-level disruption KPIs to provide detailed visibility into operational disruptions and their impact on customer journeys.</a:t>
                      </a:r>
                      <a:endParaRPr lang="en-US"/>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443371065"/>
                  </a:ext>
                </a:extLst>
              </a:tr>
              <a:tr h="769133">
                <a:tc>
                  <a:txBody>
                    <a:bodyPr/>
                    <a:lstStyle/>
                    <a:p>
                      <a:pPr marL="0" lvl="0" indent="0" algn="l">
                        <a:lnSpc>
                          <a:spcPct val="100000"/>
                        </a:lnSpc>
                        <a:spcBef>
                          <a:spcPts val="0"/>
                        </a:spcBef>
                        <a:spcAft>
                          <a:spcPts val="0"/>
                        </a:spcAft>
                        <a:buNone/>
                      </a:pPr>
                      <a:r>
                        <a:rPr lang="en-US" sz="1200" b="0" i="0" u="none" strike="noStrike" kern="1200" noProof="0">
                          <a:solidFill>
                            <a:srgbClr val="0070C0"/>
                          </a:solidFill>
                        </a:rPr>
                        <a:t>2. </a:t>
                      </a:r>
                      <a:r>
                        <a:rPr lang="en-US" sz="1200" b="0" i="0" u="none" strike="noStrike" kern="1200" noProof="0">
                          <a:solidFill>
                            <a:srgbClr val="0070C0"/>
                          </a:solidFill>
                          <a:latin typeface="Nunito Sans"/>
                        </a:rPr>
                        <a:t>Booking Dashboard Enhancements</a:t>
                      </a:r>
                      <a:endParaRPr lang="en-US" sz="1200" b="1" i="0" u="none" strike="noStrike" kern="1200" noProof="0">
                        <a:solidFill>
                          <a:srgbClr val="0070C0"/>
                        </a:solidFill>
                        <a:latin typeface="Nunito Sans"/>
                      </a:endParaRPr>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tc>
                  <a:txBody>
                    <a:bodyPr/>
                    <a:lstStyle/>
                    <a:p>
                      <a:pPr marL="0" lvl="0" indent="0" algn="l">
                        <a:lnSpc>
                          <a:spcPct val="100000"/>
                        </a:lnSpc>
                        <a:spcBef>
                          <a:spcPts val="0"/>
                        </a:spcBef>
                        <a:spcAft>
                          <a:spcPts val="0"/>
                        </a:spcAft>
                        <a:buNone/>
                      </a:pPr>
                      <a:r>
                        <a:rPr lang="en-US" sz="1200" b="1" i="0" u="none" strike="noStrike" kern="1200" noProof="0">
                          <a:solidFill>
                            <a:schemeClr val="tx1"/>
                          </a:solidFill>
                        </a:rPr>
                        <a:t>Operational Efficiency</a:t>
                      </a:r>
                    </a:p>
                    <a:p>
                      <a:pPr marL="0" lvl="0" indent="0" algn="l">
                        <a:lnSpc>
                          <a:spcPct val="100000"/>
                        </a:lnSpc>
                        <a:spcBef>
                          <a:spcPts val="0"/>
                        </a:spcBef>
                        <a:spcAft>
                          <a:spcPts val="0"/>
                        </a:spcAft>
                        <a:buNone/>
                      </a:pPr>
                      <a:r>
                        <a:rPr lang="en-US" sz="1200" b="0" i="0" u="none" strike="noStrike" kern="1200" noProof="0">
                          <a:solidFill>
                            <a:schemeClr val="tx1"/>
                          </a:solidFill>
                        </a:rPr>
                        <a:t>Enhancements to the Booking Dashboard to improve visibility into booking trends, performance metrics, and operational insights.</a:t>
                      </a:r>
                      <a:endParaRPr lang="en-US"/>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extLst>
                  <a:ext uri="{0D108BD9-81ED-4DB2-BD59-A6C34878D82A}">
                    <a16:rowId xmlns:a16="http://schemas.microsoft.com/office/drawing/2014/main" val="3417476375"/>
                  </a:ext>
                </a:extLst>
              </a:tr>
              <a:tr h="769133">
                <a:tc>
                  <a:txBody>
                    <a:bodyPr/>
                    <a:lstStyle/>
                    <a:p>
                      <a:pPr marL="0" lvl="0" indent="0" algn="l">
                        <a:lnSpc>
                          <a:spcPct val="100000"/>
                        </a:lnSpc>
                        <a:spcBef>
                          <a:spcPts val="0"/>
                        </a:spcBef>
                        <a:spcAft>
                          <a:spcPts val="0"/>
                        </a:spcAft>
                        <a:buNone/>
                      </a:pPr>
                      <a:r>
                        <a:rPr lang="en-US" sz="1200" b="0" i="0" u="none" strike="noStrike" kern="1200" noProof="0">
                          <a:solidFill>
                            <a:srgbClr val="0070C0"/>
                          </a:solidFill>
                          <a:latin typeface="Nunito Sans"/>
                        </a:rPr>
                        <a:t>3. </a:t>
                      </a:r>
                      <a:r>
                        <a:rPr lang="en-US" sz="1200" b="0" i="0" u="none" strike="noStrike" kern="1200" noProof="0">
                          <a:solidFill>
                            <a:srgbClr val="0070C0"/>
                          </a:solidFill>
                        </a:rPr>
                        <a:t>Misconnection Dashboard Enhancements</a:t>
                      </a:r>
                      <a:endParaRPr lang="en-US" sz="1200" b="0" i="0" u="none" strike="noStrike" kern="1200" noProof="0">
                        <a:solidFill>
                          <a:srgbClr val="0070C0"/>
                        </a:solidFill>
                        <a:latin typeface="Nunito Sans"/>
                      </a:endParaRPr>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marL="0" lvl="0" indent="0" algn="l">
                        <a:lnSpc>
                          <a:spcPct val="100000"/>
                        </a:lnSpc>
                        <a:spcBef>
                          <a:spcPts val="0"/>
                        </a:spcBef>
                        <a:spcAft>
                          <a:spcPts val="0"/>
                        </a:spcAft>
                        <a:buNone/>
                      </a:pPr>
                      <a:r>
                        <a:rPr lang="en-US" sz="1200" b="1" i="0" u="none" strike="noStrike" kern="1200" noProof="0">
                          <a:solidFill>
                            <a:schemeClr val="tx1"/>
                          </a:solidFill>
                          <a:latin typeface="Nunito Sans"/>
                        </a:rPr>
                        <a:t>Improve Customer NPS</a:t>
                      </a:r>
                    </a:p>
                    <a:p>
                      <a:pPr marL="0" lvl="0" indent="0" algn="l">
                        <a:lnSpc>
                          <a:spcPct val="100000"/>
                        </a:lnSpc>
                        <a:spcBef>
                          <a:spcPts val="0"/>
                        </a:spcBef>
                        <a:spcAft>
                          <a:spcPts val="0"/>
                        </a:spcAft>
                        <a:buNone/>
                      </a:pPr>
                      <a:r>
                        <a:rPr lang="en-US" sz="1200" b="0" i="0" u="none" strike="noStrike" kern="1200" noProof="0">
                          <a:solidFill>
                            <a:schemeClr val="tx1"/>
                          </a:solidFill>
                        </a:rPr>
                        <a:t>Enhancements to the Misconnection Dashboard to improve tracking, analysis, and monitoring of passenger misconnection scenarios across the network.</a:t>
                      </a:r>
                      <a:endParaRPr lang="en-US"/>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47644500"/>
                  </a:ext>
                </a:extLst>
              </a:tr>
              <a:tr h="769133">
                <a:tc>
                  <a:txBody>
                    <a:bodyPr/>
                    <a:lstStyle/>
                    <a:p>
                      <a:pPr marL="0" lvl="0" indent="0" algn="l">
                        <a:lnSpc>
                          <a:spcPct val="100000"/>
                        </a:lnSpc>
                        <a:spcBef>
                          <a:spcPts val="0"/>
                        </a:spcBef>
                        <a:spcAft>
                          <a:spcPts val="0"/>
                        </a:spcAft>
                        <a:buNone/>
                      </a:pPr>
                      <a:r>
                        <a:rPr lang="en-US" sz="1200" b="0" i="0" u="none" strike="noStrike" kern="1200" noProof="0">
                          <a:solidFill>
                            <a:srgbClr val="0070C0"/>
                          </a:solidFill>
                        </a:rPr>
                        <a:t>4. </a:t>
                      </a:r>
                      <a:r>
                        <a:rPr lang="en-US" sz="1200" b="0" i="0" u="none" strike="noStrike" kern="1200" noProof="0">
                          <a:solidFill>
                            <a:srgbClr val="0070C0"/>
                          </a:solidFill>
                          <a:latin typeface="Nunito Sans"/>
                        </a:rPr>
                        <a:t>Chat Report Enhancements</a:t>
                      </a:r>
                      <a:endParaRPr lang="en-US" sz="1200" b="0" i="0" u="none" strike="noStrike" kern="1200" noProof="0">
                        <a:solidFill>
                          <a:srgbClr val="0070C0"/>
                        </a:solidFill>
                      </a:endParaRPr>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marL="0" lvl="0" indent="0" algn="l">
                        <a:lnSpc>
                          <a:spcPct val="100000"/>
                        </a:lnSpc>
                        <a:spcBef>
                          <a:spcPts val="0"/>
                        </a:spcBef>
                        <a:spcAft>
                          <a:spcPts val="0"/>
                        </a:spcAft>
                        <a:buNone/>
                      </a:pPr>
                      <a:r>
                        <a:rPr lang="en-US" sz="1200" b="1" i="0" u="none" strike="noStrike" kern="1200" noProof="0">
                          <a:solidFill>
                            <a:schemeClr val="tx1"/>
                          </a:solidFill>
                          <a:latin typeface="Nunito Sans"/>
                        </a:rPr>
                        <a:t>Operational Efficiency</a:t>
                      </a:r>
                    </a:p>
                    <a:p>
                      <a:pPr marL="0" lvl="0" indent="0" algn="l">
                        <a:lnSpc>
                          <a:spcPct val="100000"/>
                        </a:lnSpc>
                        <a:spcBef>
                          <a:spcPts val="0"/>
                        </a:spcBef>
                        <a:spcAft>
                          <a:spcPts val="0"/>
                        </a:spcAft>
                        <a:buNone/>
                      </a:pPr>
                      <a:r>
                        <a:rPr lang="en-US" sz="1200" b="0" i="0" u="none" strike="noStrike" kern="1200" noProof="0">
                          <a:solidFill>
                            <a:schemeClr val="tx1"/>
                          </a:solidFill>
                        </a:rPr>
                        <a:t>Enhancements to customer support chat reporting to provide deeper insights into chat performance, customer interactions, and service effectiveness.</a:t>
                      </a:r>
                      <a:endParaRPr lang="en-US"/>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39265427"/>
                  </a:ext>
                </a:extLst>
              </a:tr>
              <a:tr h="769133">
                <a:tc>
                  <a:txBody>
                    <a:bodyPr/>
                    <a:lstStyle/>
                    <a:p>
                      <a:pPr marL="0" lvl="0" indent="0" algn="l">
                        <a:lnSpc>
                          <a:spcPct val="100000"/>
                        </a:lnSpc>
                        <a:spcBef>
                          <a:spcPts val="0"/>
                        </a:spcBef>
                        <a:spcAft>
                          <a:spcPts val="0"/>
                        </a:spcAft>
                        <a:buNone/>
                      </a:pPr>
                      <a:r>
                        <a:rPr lang="en-US" sz="1200" b="0" i="0" u="none" strike="noStrike" kern="1200" noProof="0">
                          <a:solidFill>
                            <a:srgbClr val="0070C0"/>
                          </a:solidFill>
                        </a:rPr>
                        <a:t>5. </a:t>
                      </a:r>
                      <a:r>
                        <a:rPr lang="en-US" sz="1200" b="0" i="0" u="none" strike="noStrike" kern="1200" noProof="0">
                          <a:solidFill>
                            <a:srgbClr val="0070C0"/>
                          </a:solidFill>
                          <a:latin typeface="Nunito Sans"/>
                        </a:rPr>
                        <a:t>ATSR Sales Dashboard Enhancements</a:t>
                      </a:r>
                      <a:endParaRPr lang="en-US" sz="1200" b="0" i="0" u="none" strike="noStrike" kern="1200" noProof="0">
                        <a:solidFill>
                          <a:srgbClr val="0070C0"/>
                        </a:solidFill>
                      </a:endParaRPr>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marL="0" lvl="0" indent="0" algn="l">
                        <a:lnSpc>
                          <a:spcPct val="100000"/>
                        </a:lnSpc>
                        <a:spcBef>
                          <a:spcPts val="0"/>
                        </a:spcBef>
                        <a:spcAft>
                          <a:spcPts val="0"/>
                        </a:spcAft>
                        <a:buNone/>
                      </a:pPr>
                      <a:r>
                        <a:rPr lang="en-US" sz="1200" b="1" i="0" u="none" strike="noStrike" kern="1200" noProof="0">
                          <a:solidFill>
                            <a:schemeClr val="tx1"/>
                          </a:solidFill>
                          <a:latin typeface="Nunito Sans"/>
                        </a:rPr>
                        <a:t>Operational Efficiency</a:t>
                      </a:r>
                    </a:p>
                    <a:p>
                      <a:pPr marL="0" lvl="0" indent="0" algn="l">
                        <a:lnSpc>
                          <a:spcPct val="100000"/>
                        </a:lnSpc>
                        <a:spcBef>
                          <a:spcPts val="0"/>
                        </a:spcBef>
                        <a:spcAft>
                          <a:spcPts val="0"/>
                        </a:spcAft>
                        <a:buNone/>
                      </a:pPr>
                      <a:r>
                        <a:rPr lang="en-US" sz="1200" b="0" i="0" u="none" strike="noStrike" kern="1200" noProof="0">
                          <a:solidFill>
                            <a:schemeClr val="tx1"/>
                          </a:solidFill>
                        </a:rPr>
                        <a:t>Resolution of data duplication issues in the ATSR Sales Dashboard to ensure accurate sales reporting and performance tracking.</a:t>
                      </a:r>
                      <a:endParaRPr lang="en-US"/>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67479986"/>
                  </a:ext>
                </a:extLst>
              </a:tr>
              <a:tr h="769133">
                <a:tc>
                  <a:txBody>
                    <a:bodyPr/>
                    <a:lstStyle/>
                    <a:p>
                      <a:pPr marL="0" lvl="0" indent="0" algn="l">
                        <a:lnSpc>
                          <a:spcPct val="100000"/>
                        </a:lnSpc>
                        <a:spcBef>
                          <a:spcPts val="0"/>
                        </a:spcBef>
                        <a:spcAft>
                          <a:spcPts val="0"/>
                        </a:spcAft>
                        <a:buNone/>
                      </a:pPr>
                      <a:r>
                        <a:rPr lang="en-US" sz="1200" b="0" i="0" u="none" strike="noStrike" kern="1200" noProof="0">
                          <a:solidFill>
                            <a:srgbClr val="0070C0"/>
                          </a:solidFill>
                          <a:latin typeface="Nunito Sans"/>
                        </a:rPr>
                        <a:t>6. </a:t>
                      </a:r>
                      <a:r>
                        <a:rPr lang="en-US" sz="1200" b="0" i="0" u="none" strike="noStrike" kern="1200" noProof="0">
                          <a:solidFill>
                            <a:srgbClr val="0070C0"/>
                          </a:solidFill>
                        </a:rPr>
                        <a:t>F&amp;B Dashboard Enhancements</a:t>
                      </a:r>
                      <a:endParaRPr lang="en-US" sz="1200" b="0" i="0" u="none" strike="noStrike" kern="1200" noProof="0">
                        <a:solidFill>
                          <a:srgbClr val="0070C0"/>
                        </a:solidFill>
                        <a:latin typeface="Nunito Sans"/>
                      </a:endParaRPr>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tc>
                  <a:txBody>
                    <a:bodyPr/>
                    <a:lstStyle/>
                    <a:p>
                      <a:pPr marL="0" lvl="0" indent="0" algn="l">
                        <a:lnSpc>
                          <a:spcPct val="100000"/>
                        </a:lnSpc>
                        <a:spcBef>
                          <a:spcPts val="0"/>
                        </a:spcBef>
                        <a:spcAft>
                          <a:spcPts val="0"/>
                        </a:spcAft>
                        <a:buNone/>
                      </a:pPr>
                      <a:r>
                        <a:rPr lang="en-US" sz="1200" b="1" i="0" u="none" strike="noStrike" kern="1200" noProof="0">
                          <a:solidFill>
                            <a:schemeClr val="tx1"/>
                          </a:solidFill>
                        </a:rPr>
                        <a:t>Improve Customer NPS</a:t>
                      </a:r>
                      <a:endParaRPr lang="en-US" b="1"/>
                    </a:p>
                    <a:p>
                      <a:pPr marL="0" lvl="0" indent="0" algn="l">
                        <a:lnSpc>
                          <a:spcPct val="100000"/>
                        </a:lnSpc>
                        <a:spcBef>
                          <a:spcPts val="0"/>
                        </a:spcBef>
                        <a:spcAft>
                          <a:spcPts val="0"/>
                        </a:spcAft>
                        <a:buNone/>
                      </a:pPr>
                      <a:r>
                        <a:rPr lang="en-US" sz="1200" b="0" i="0" u="none" strike="noStrike" kern="1200" noProof="0">
                          <a:solidFill>
                            <a:schemeClr val="tx1"/>
                          </a:solidFill>
                          <a:latin typeface="Nunito Sans"/>
                        </a:rPr>
                        <a:t>Enhancements to the Food &amp; Beverage Dashboard to provide improved reporting and visibility into onboard catering performance and customer feedback.</a:t>
                      </a:r>
                      <a:endParaRPr lang="en-US"/>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extLst>
                  <a:ext uri="{0D108BD9-81ED-4DB2-BD59-A6C34878D82A}">
                    <a16:rowId xmlns:a16="http://schemas.microsoft.com/office/drawing/2014/main" val="4178568978"/>
                  </a:ext>
                </a:extLst>
              </a:tr>
            </a:tbl>
          </a:graphicData>
        </a:graphic>
      </p:graphicFrame>
      <p:sp>
        <p:nvSpPr>
          <p:cNvPr id="3" name="Rectangle 2">
            <a:extLst>
              <a:ext uri="{FF2B5EF4-FFF2-40B4-BE49-F238E27FC236}">
                <a16:creationId xmlns:a16="http://schemas.microsoft.com/office/drawing/2014/main" id="{9163AA32-B611-5536-EAE1-30A27E914649}"/>
              </a:ext>
            </a:extLst>
          </p:cNvPr>
          <p:cNvSpPr/>
          <p:nvPr/>
        </p:nvSpPr>
        <p:spPr>
          <a:xfrm>
            <a:off x="3465009" y="6262087"/>
            <a:ext cx="90000" cy="90000"/>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
        <p:nvSpPr>
          <p:cNvPr id="4" name="Rectangle 3">
            <a:extLst>
              <a:ext uri="{FF2B5EF4-FFF2-40B4-BE49-F238E27FC236}">
                <a16:creationId xmlns:a16="http://schemas.microsoft.com/office/drawing/2014/main" id="{40CEE906-3C15-CB0B-080F-47924CBFE79B}"/>
              </a:ext>
            </a:extLst>
          </p:cNvPr>
          <p:cNvSpPr/>
          <p:nvPr/>
        </p:nvSpPr>
        <p:spPr>
          <a:xfrm>
            <a:off x="3465009" y="6489649"/>
            <a:ext cx="90000" cy="90000"/>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
        <p:nvSpPr>
          <p:cNvPr id="5" name="Rectangle 4">
            <a:extLst>
              <a:ext uri="{FF2B5EF4-FFF2-40B4-BE49-F238E27FC236}">
                <a16:creationId xmlns:a16="http://schemas.microsoft.com/office/drawing/2014/main" id="{BBC1BFED-FB18-0978-FDB0-5F5A8F4FB525}"/>
              </a:ext>
            </a:extLst>
          </p:cNvPr>
          <p:cNvSpPr/>
          <p:nvPr/>
        </p:nvSpPr>
        <p:spPr>
          <a:xfrm>
            <a:off x="5567900" y="6262087"/>
            <a:ext cx="90000" cy="90000"/>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
        <p:nvSpPr>
          <p:cNvPr id="7" name="Rectangle 6">
            <a:extLst>
              <a:ext uri="{FF2B5EF4-FFF2-40B4-BE49-F238E27FC236}">
                <a16:creationId xmlns:a16="http://schemas.microsoft.com/office/drawing/2014/main" id="{DF4DB9E5-BE35-14AF-398E-1CEED65F0DA6}"/>
              </a:ext>
            </a:extLst>
          </p:cNvPr>
          <p:cNvSpPr/>
          <p:nvPr/>
        </p:nvSpPr>
        <p:spPr>
          <a:xfrm>
            <a:off x="5567900" y="6489649"/>
            <a:ext cx="90000" cy="90000"/>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
        <p:nvSpPr>
          <p:cNvPr id="8" name="TextBox 15">
            <a:extLst>
              <a:ext uri="{FF2B5EF4-FFF2-40B4-BE49-F238E27FC236}">
                <a16:creationId xmlns:a16="http://schemas.microsoft.com/office/drawing/2014/main" id="{C42AD4DD-974C-1ADC-DFA7-B30BC88AEFB3}"/>
              </a:ext>
            </a:extLst>
          </p:cNvPr>
          <p:cNvSpPr txBox="1"/>
          <p:nvPr/>
        </p:nvSpPr>
        <p:spPr>
          <a:xfrm>
            <a:off x="3522317" y="6205238"/>
            <a:ext cx="857245"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000">
                <a:solidFill>
                  <a:srgbClr val="0070C0"/>
                </a:solidFill>
              </a:rPr>
              <a:t>Delivered</a:t>
            </a:r>
            <a:endParaRPr lang="en-IN" sz="1000"/>
          </a:p>
        </p:txBody>
      </p:sp>
      <p:sp>
        <p:nvSpPr>
          <p:cNvPr id="9" name="TextBox 18">
            <a:extLst>
              <a:ext uri="{FF2B5EF4-FFF2-40B4-BE49-F238E27FC236}">
                <a16:creationId xmlns:a16="http://schemas.microsoft.com/office/drawing/2014/main" id="{70504075-3A0C-0E60-C9F3-A353464E8E4D}"/>
              </a:ext>
            </a:extLst>
          </p:cNvPr>
          <p:cNvSpPr txBox="1"/>
          <p:nvPr/>
        </p:nvSpPr>
        <p:spPr>
          <a:xfrm>
            <a:off x="3520719" y="6430197"/>
            <a:ext cx="1032881"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000">
                <a:solidFill>
                  <a:srgbClr val="00B050"/>
                </a:solidFill>
              </a:rPr>
              <a:t>Ontrack</a:t>
            </a:r>
            <a:endParaRPr lang="en-IN" sz="1000"/>
          </a:p>
        </p:txBody>
      </p:sp>
      <p:sp>
        <p:nvSpPr>
          <p:cNvPr id="10" name="TextBox 20">
            <a:extLst>
              <a:ext uri="{FF2B5EF4-FFF2-40B4-BE49-F238E27FC236}">
                <a16:creationId xmlns:a16="http://schemas.microsoft.com/office/drawing/2014/main" id="{0DB16D29-EFB0-51F5-D67C-57C69B600D52}"/>
              </a:ext>
            </a:extLst>
          </p:cNvPr>
          <p:cNvSpPr txBox="1"/>
          <p:nvPr/>
        </p:nvSpPr>
        <p:spPr>
          <a:xfrm>
            <a:off x="5653197" y="6220637"/>
            <a:ext cx="2257628"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000">
                <a:solidFill>
                  <a:schemeClr val="accent6">
                    <a:lumMod val="75000"/>
                  </a:schemeClr>
                </a:solidFill>
              </a:rPr>
              <a:t>Under delay and can be recovered</a:t>
            </a:r>
            <a:endParaRPr lang="en-IN" sz="1000"/>
          </a:p>
        </p:txBody>
      </p:sp>
      <p:sp>
        <p:nvSpPr>
          <p:cNvPr id="11" name="TextBox 22">
            <a:extLst>
              <a:ext uri="{FF2B5EF4-FFF2-40B4-BE49-F238E27FC236}">
                <a16:creationId xmlns:a16="http://schemas.microsoft.com/office/drawing/2014/main" id="{4A7C083E-4596-E48E-F266-37A23EAD278F}"/>
              </a:ext>
            </a:extLst>
          </p:cNvPr>
          <p:cNvSpPr txBox="1"/>
          <p:nvPr/>
        </p:nvSpPr>
        <p:spPr>
          <a:xfrm>
            <a:off x="5657900" y="6437221"/>
            <a:ext cx="3069090"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000">
                <a:solidFill>
                  <a:schemeClr val="accent2"/>
                </a:solidFill>
              </a:rPr>
              <a:t>Delayed and pushed to next release</a:t>
            </a:r>
            <a:endParaRPr lang="en-IN" sz="1000"/>
          </a:p>
        </p:txBody>
      </p:sp>
      <p:sp>
        <p:nvSpPr>
          <p:cNvPr id="17" name="Rectangle 16">
            <a:extLst>
              <a:ext uri="{FF2B5EF4-FFF2-40B4-BE49-F238E27FC236}">
                <a16:creationId xmlns:a16="http://schemas.microsoft.com/office/drawing/2014/main" id="{436465CB-2D1E-D294-ACD4-C6729C4B4E55}"/>
              </a:ext>
            </a:extLst>
          </p:cNvPr>
          <p:cNvSpPr/>
          <p:nvPr/>
        </p:nvSpPr>
        <p:spPr>
          <a:xfrm>
            <a:off x="128910" y="865283"/>
            <a:ext cx="1170432" cy="42234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1100" b="1">
                <a:latin typeface="AirIndia"/>
              </a:rPr>
              <a:t>June 2026</a:t>
            </a:r>
            <a:endParaRPr lang="en-US"/>
          </a:p>
        </p:txBody>
      </p:sp>
    </p:spTree>
    <p:extLst>
      <p:ext uri="{BB962C8B-B14F-4D97-AF65-F5344CB8AC3E}">
        <p14:creationId xmlns:p14="http://schemas.microsoft.com/office/powerpoint/2010/main" val="1073544324"/>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E3AD4C-9158-A91B-7D49-B58D9B9F25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A3AB42-5D7E-C95E-1FBC-A01DED6E6C45}"/>
              </a:ext>
            </a:extLst>
          </p:cNvPr>
          <p:cNvSpPr>
            <a:spLocks noGrp="1"/>
          </p:cNvSpPr>
          <p:nvPr>
            <p:ph type="title"/>
          </p:nvPr>
        </p:nvSpPr>
        <p:spPr>
          <a:xfrm>
            <a:off x="5876373" y="2114927"/>
            <a:ext cx="6907630" cy="1961201"/>
          </a:xfrm>
        </p:spPr>
        <p:txBody>
          <a:bodyPr/>
          <a:lstStyle/>
          <a:p>
            <a:r>
              <a:rPr lang="en-US" sz="5400">
                <a:latin typeface="AirIndia"/>
              </a:rPr>
              <a:t>CX-Q2</a:t>
            </a:r>
            <a:endParaRPr lang="en-US" sz="5400"/>
          </a:p>
        </p:txBody>
      </p:sp>
    </p:spTree>
    <p:extLst>
      <p:ext uri="{BB962C8B-B14F-4D97-AF65-F5344CB8AC3E}">
        <p14:creationId xmlns:p14="http://schemas.microsoft.com/office/powerpoint/2010/main" val="2219873396"/>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4D0D6B-A64B-372D-354A-70131CFED87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DBF9E27-71E3-6764-8E6C-DEF392226D9A}"/>
              </a:ext>
            </a:extLst>
          </p:cNvPr>
          <p:cNvSpPr>
            <a:spLocks noGrp="1"/>
          </p:cNvSpPr>
          <p:nvPr>
            <p:ph type="sldNum" sz="quarter" idx="12"/>
          </p:nvPr>
        </p:nvSpPr>
        <p:spPr/>
        <p:txBody>
          <a:bodyPr/>
          <a:lstStyle/>
          <a:p>
            <a:fld id="{3A41A254-7326-714E-AF55-4C213D6394DE}" type="slidenum">
              <a:rPr lang="en-US" smtClean="0"/>
              <a:pPr/>
              <a:t>121</a:t>
            </a:fld>
            <a:endParaRPr lang="en-US"/>
          </a:p>
        </p:txBody>
      </p:sp>
      <p:sp>
        <p:nvSpPr>
          <p:cNvPr id="6" name="Title 11">
            <a:extLst>
              <a:ext uri="{FF2B5EF4-FFF2-40B4-BE49-F238E27FC236}">
                <a16:creationId xmlns:a16="http://schemas.microsoft.com/office/drawing/2014/main" id="{3334197C-9D90-E313-D78B-1FAE0072885F}"/>
              </a:ext>
            </a:extLst>
          </p:cNvPr>
          <p:cNvSpPr txBox="1">
            <a:spLocks/>
          </p:cNvSpPr>
          <p:nvPr/>
        </p:nvSpPr>
        <p:spPr>
          <a:xfrm>
            <a:off x="166915" y="307594"/>
            <a:ext cx="5910942" cy="403895"/>
          </a:xfrm>
          <a:prstGeom prst="rect">
            <a:avLst/>
          </a:prstGeom>
        </p:spPr>
        <p:txBody>
          <a:bodyPr lIns="91440" tIns="45720" rIns="91440" bIns="45720" anchor="t">
            <a:noAutofit/>
          </a:bodyPr>
          <a:lstStyle>
            <a:lvl1pPr algn="l" defTabSz="914400" rtl="0" eaLnBrk="1" latinLnBrk="0" hangingPunct="1">
              <a:lnSpc>
                <a:spcPct val="90000"/>
              </a:lnSpc>
              <a:spcBef>
                <a:spcPct val="0"/>
              </a:spcBef>
              <a:buNone/>
              <a:defRPr sz="4400" b="1" i="0" kern="1200">
                <a:solidFill>
                  <a:schemeClr val="tx1"/>
                </a:solidFill>
                <a:latin typeface="AirIndia" pitchFamily="82" charset="77"/>
                <a:ea typeface="+mj-ea"/>
                <a:cs typeface="+mj-cs"/>
              </a:defRPr>
            </a:lvl1pPr>
          </a:lstStyle>
          <a:p>
            <a:r>
              <a:rPr lang="en-US" sz="2400">
                <a:solidFill>
                  <a:schemeClr val="accent1"/>
                </a:solidFill>
                <a:latin typeface="AirIndia"/>
              </a:rPr>
              <a:t>CX - FY26 Q2 Release Plan</a:t>
            </a:r>
            <a:endParaRPr lang="en-US" sz="2400" b="0">
              <a:solidFill>
                <a:schemeClr val="accent1"/>
              </a:solidFill>
              <a:latin typeface="AirIndia"/>
            </a:endParaRPr>
          </a:p>
          <a:p>
            <a:endParaRPr lang="en-US" sz="1800">
              <a:solidFill>
                <a:schemeClr val="accent1"/>
              </a:solidFill>
              <a:latin typeface="AirIndia"/>
            </a:endParaRPr>
          </a:p>
        </p:txBody>
      </p:sp>
      <p:graphicFrame>
        <p:nvGraphicFramePr>
          <p:cNvPr id="12" name="Table 11">
            <a:extLst>
              <a:ext uri="{FF2B5EF4-FFF2-40B4-BE49-F238E27FC236}">
                <a16:creationId xmlns:a16="http://schemas.microsoft.com/office/drawing/2014/main" id="{32558DD9-386D-59F8-E475-FE8517DACB98}"/>
              </a:ext>
            </a:extLst>
          </p:cNvPr>
          <p:cNvGraphicFramePr>
            <a:graphicFrameLocks noGrp="1"/>
          </p:cNvGraphicFramePr>
          <p:nvPr>
            <p:extLst>
              <p:ext uri="{D42A27DB-BD31-4B8C-83A1-F6EECF244321}">
                <p14:modId xmlns:p14="http://schemas.microsoft.com/office/powerpoint/2010/main" val="3017169705"/>
              </p:ext>
            </p:extLst>
          </p:nvPr>
        </p:nvGraphicFramePr>
        <p:xfrm>
          <a:off x="1295713" y="866914"/>
          <a:ext cx="10697938" cy="2377440"/>
        </p:xfrm>
        <a:graphic>
          <a:graphicData uri="http://schemas.openxmlformats.org/drawingml/2006/table">
            <a:tbl>
              <a:tblPr firstRow="1" bandRow="1">
                <a:tableStyleId>{5C22544A-7EE6-4342-B048-85BDC9FD1C3A}</a:tableStyleId>
              </a:tblPr>
              <a:tblGrid>
                <a:gridCol w="3759269">
                  <a:extLst>
                    <a:ext uri="{9D8B030D-6E8A-4147-A177-3AD203B41FA5}">
                      <a16:colId xmlns:a16="http://schemas.microsoft.com/office/drawing/2014/main" val="2822350773"/>
                    </a:ext>
                  </a:extLst>
                </a:gridCol>
                <a:gridCol w="6938669">
                  <a:extLst>
                    <a:ext uri="{9D8B030D-6E8A-4147-A177-3AD203B41FA5}">
                      <a16:colId xmlns:a16="http://schemas.microsoft.com/office/drawing/2014/main" val="99588705"/>
                    </a:ext>
                  </a:extLst>
                </a:gridCol>
              </a:tblGrid>
              <a:tr h="217387">
                <a:tc>
                  <a:txBody>
                    <a:bodyPr/>
                    <a:lstStyle/>
                    <a:p>
                      <a:pPr marL="0" lvl="0" indent="0" algn="ctr" defTabSz="914400" rtl="0" eaLnBrk="1" latinLnBrk="0" hangingPunct="1">
                        <a:lnSpc>
                          <a:spcPct val="100000"/>
                        </a:lnSpc>
                        <a:buFont typeface="Arial" panose="020B0604020202020204" pitchFamily="34" charset="0"/>
                        <a:buNone/>
                      </a:pPr>
                      <a:r>
                        <a:rPr lang="en-IN" sz="1200" kern="1200">
                          <a:solidFill>
                            <a:schemeClr val="bg1"/>
                          </a:solidFill>
                          <a:latin typeface="+mn-lt"/>
                          <a:ea typeface="+mn-ea"/>
                          <a:cs typeface="+mn-cs"/>
                        </a:rPr>
                        <a:t>Project/Initiative</a:t>
                      </a:r>
                      <a:endParaRPr lang="en-US" sz="1200"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tc>
                  <a:txBody>
                    <a:bodyPr/>
                    <a:lstStyle/>
                    <a:p>
                      <a:pPr marL="0" indent="0" algn="ctr" defTabSz="914400" rtl="0" eaLnBrk="1" latinLnBrk="0" hangingPunct="1">
                        <a:buFont typeface="Arial" panose="020B0604020202020204" pitchFamily="34" charset="0"/>
                        <a:buNone/>
                      </a:pPr>
                      <a:r>
                        <a:rPr lang="en-IN" sz="1200" kern="1200">
                          <a:solidFill>
                            <a:schemeClr val="bg1"/>
                          </a:solidFill>
                          <a:latin typeface="+mn-lt"/>
                          <a:ea typeface="+mn-ea"/>
                          <a:cs typeface="+mn-cs"/>
                        </a:rPr>
                        <a:t>Value Justification/Realization</a:t>
                      </a:r>
                      <a:endParaRPr lang="en-US" sz="1200"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extLst>
                  <a:ext uri="{0D108BD9-81ED-4DB2-BD59-A6C34878D82A}">
                    <a16:rowId xmlns:a16="http://schemas.microsoft.com/office/drawing/2014/main" val="844450115"/>
                  </a:ext>
                </a:extLst>
              </a:tr>
              <a:tr h="499989">
                <a:tc>
                  <a:txBody>
                    <a:bodyPr/>
                    <a:lstStyle/>
                    <a:p>
                      <a:pPr marL="0" lvl="0" indent="0" algn="l">
                        <a:lnSpc>
                          <a:spcPct val="100000"/>
                        </a:lnSpc>
                        <a:spcBef>
                          <a:spcPts val="0"/>
                        </a:spcBef>
                        <a:spcAft>
                          <a:spcPts val="0"/>
                        </a:spcAft>
                        <a:buNone/>
                      </a:pPr>
                      <a:r>
                        <a:rPr lang="en-US" sz="1200" b="0" i="0" u="none" strike="noStrike" kern="1200" noProof="0">
                          <a:solidFill>
                            <a:srgbClr val="05B050"/>
                          </a:solidFill>
                          <a:latin typeface="Nunito Sans"/>
                          <a:ea typeface="+mn-ea"/>
                          <a:cs typeface="+mn-cs"/>
                        </a:rPr>
                        <a:t>1. Flight Disruption Dashboard – Pax Level KPIs</a:t>
                      </a:r>
                    </a:p>
                    <a:p>
                      <a:pPr marL="228600" lvl="0" indent="-228600" algn="l">
                        <a:lnSpc>
                          <a:spcPct val="100000"/>
                        </a:lnSpc>
                        <a:spcBef>
                          <a:spcPts val="0"/>
                        </a:spcBef>
                        <a:spcAft>
                          <a:spcPts val="0"/>
                        </a:spcAft>
                        <a:buAutoNum type="arabicPeriod"/>
                      </a:pPr>
                      <a:endParaRPr lang="en-US" sz="1200" b="0" i="0" u="none" strike="noStrike" kern="1200" noProof="0">
                        <a:solidFill>
                          <a:srgbClr val="05B050"/>
                        </a:solidFill>
                        <a:latin typeface="Nunito Sans"/>
                        <a:ea typeface="+mn-ea"/>
                        <a:cs typeface="+mn-cs"/>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lvl="0" indent="0" algn="l">
                        <a:lnSpc>
                          <a:spcPct val="100000"/>
                        </a:lnSpc>
                        <a:spcBef>
                          <a:spcPts val="0"/>
                        </a:spcBef>
                        <a:spcAft>
                          <a:spcPts val="0"/>
                        </a:spcAft>
                        <a:buNone/>
                      </a:pPr>
                      <a:r>
                        <a:rPr lang="en-US" sz="1200" b="1" i="0" u="none" strike="noStrike" kern="1200" noProof="0">
                          <a:solidFill>
                            <a:schemeClr val="tx1"/>
                          </a:solidFill>
                        </a:rPr>
                        <a:t>Operational Efficiency</a:t>
                      </a:r>
                      <a:endParaRPr lang="en-US" sz="1200" b="1"/>
                    </a:p>
                    <a:p>
                      <a:pPr marL="0" lvl="0" indent="0" algn="l">
                        <a:lnSpc>
                          <a:spcPct val="100000"/>
                        </a:lnSpc>
                        <a:spcBef>
                          <a:spcPts val="0"/>
                        </a:spcBef>
                        <a:spcAft>
                          <a:spcPts val="0"/>
                        </a:spcAft>
                        <a:buNone/>
                      </a:pPr>
                      <a:r>
                        <a:rPr lang="en-US" sz="1200" b="0" i="0" u="none" strike="noStrike" kern="1200" noProof="0">
                          <a:solidFill>
                            <a:schemeClr val="tx1"/>
                          </a:solidFill>
                          <a:latin typeface="Nunito Sans"/>
                        </a:rPr>
                        <a:t>Provides passenger-level visibility into disruption impact, recovery progress, and service delivery KPIs. Enables operations and customer teams to make faster, data-driven decisions during irregular operations.</a:t>
                      </a:r>
                      <a:endParaRPr lang="en-US" sz="1200"/>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443371065"/>
                  </a:ext>
                </a:extLst>
              </a:tr>
              <a:tr h="326080">
                <a:tc>
                  <a:txBody>
                    <a:bodyPr/>
                    <a:lstStyle/>
                    <a:p>
                      <a:pPr marL="0" lvl="0" indent="0" algn="l">
                        <a:lnSpc>
                          <a:spcPct val="100000"/>
                        </a:lnSpc>
                        <a:spcBef>
                          <a:spcPts val="0"/>
                        </a:spcBef>
                        <a:spcAft>
                          <a:spcPts val="0"/>
                        </a:spcAft>
                        <a:buNone/>
                      </a:pPr>
                      <a:r>
                        <a:rPr lang="en-US" sz="1200" b="0" i="0" u="none" strike="noStrike" kern="1200" noProof="0">
                          <a:solidFill>
                            <a:srgbClr val="05B050"/>
                          </a:solidFill>
                          <a:latin typeface="Nunito Sans"/>
                          <a:ea typeface="+mn-ea"/>
                          <a:cs typeface="+mn-cs"/>
                        </a:rPr>
                        <a:t>2. Seat Track Enhancements</a:t>
                      </a:r>
                    </a:p>
                    <a:p>
                      <a:pPr marL="228600" lvl="0" indent="-228600" algn="l">
                        <a:lnSpc>
                          <a:spcPct val="100000"/>
                        </a:lnSpc>
                        <a:spcBef>
                          <a:spcPts val="0"/>
                        </a:spcBef>
                        <a:spcAft>
                          <a:spcPts val="0"/>
                        </a:spcAft>
                        <a:buAutoNum type="arabicPeriod"/>
                      </a:pPr>
                      <a:endParaRPr lang="en-US" sz="1200" b="0" i="0" u="none" strike="noStrike" kern="1200" noProof="0">
                        <a:solidFill>
                          <a:srgbClr val="05B050"/>
                        </a:solidFill>
                        <a:latin typeface="Nunito Sans"/>
                        <a:ea typeface="+mn-ea"/>
                        <a:cs typeface="+mn-cs"/>
                      </a:endParaRPr>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marL="0" lvl="0" indent="0" algn="l">
                        <a:lnSpc>
                          <a:spcPct val="100000"/>
                        </a:lnSpc>
                        <a:spcBef>
                          <a:spcPts val="0"/>
                        </a:spcBef>
                        <a:spcAft>
                          <a:spcPts val="0"/>
                        </a:spcAft>
                        <a:buNone/>
                      </a:pPr>
                      <a:r>
                        <a:rPr lang="en-US" sz="1200" b="1" i="0" u="none" strike="noStrike" kern="1200" noProof="0">
                          <a:solidFill>
                            <a:schemeClr val="tx1"/>
                          </a:solidFill>
                        </a:rPr>
                        <a:t>Improve Customer NPS</a:t>
                      </a:r>
                    </a:p>
                    <a:p>
                      <a:pPr marL="0" lvl="0" indent="0" algn="l">
                        <a:lnSpc>
                          <a:spcPct val="100000"/>
                        </a:lnSpc>
                        <a:spcBef>
                          <a:spcPts val="0"/>
                        </a:spcBef>
                        <a:spcAft>
                          <a:spcPts val="0"/>
                        </a:spcAft>
                        <a:buNone/>
                      </a:pPr>
                      <a:r>
                        <a:rPr lang="en-US" sz="1200" b="0" i="0" u="none" strike="noStrike" kern="1200" noProof="0">
                          <a:solidFill>
                            <a:schemeClr val="tx1"/>
                          </a:solidFill>
                          <a:latin typeface="Nunito Sans"/>
                        </a:rPr>
                        <a:t>Enhances seat tracking and monitoring to improve seat availability and serviceability. Reduces customer dissatisfaction arising from seat allocation and onboard seating issues.</a:t>
                      </a:r>
                      <a:endParaRPr lang="en-US" sz="1200"/>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417476375"/>
                  </a:ext>
                </a:extLst>
              </a:tr>
              <a:tr h="326080">
                <a:tc>
                  <a:txBody>
                    <a:bodyPr/>
                    <a:lstStyle/>
                    <a:p>
                      <a:pPr marL="0" lvl="0" indent="0" algn="l">
                        <a:lnSpc>
                          <a:spcPct val="100000"/>
                        </a:lnSpc>
                        <a:spcBef>
                          <a:spcPts val="0"/>
                        </a:spcBef>
                        <a:spcAft>
                          <a:spcPts val="0"/>
                        </a:spcAft>
                        <a:buNone/>
                      </a:pPr>
                      <a:r>
                        <a:rPr lang="en-US" sz="1200" b="0" i="0" u="none" strike="noStrike" kern="1200" noProof="0">
                          <a:solidFill>
                            <a:srgbClr val="05B050"/>
                          </a:solidFill>
                          <a:latin typeface="Nunito Sans"/>
                          <a:ea typeface="+mn-ea"/>
                          <a:cs typeface="+mn-cs"/>
                        </a:rPr>
                        <a:t>3. Compensation Dashboard</a:t>
                      </a:r>
                    </a:p>
                    <a:p>
                      <a:pPr marL="228600" lvl="0" indent="-228600" algn="l">
                        <a:lnSpc>
                          <a:spcPct val="100000"/>
                        </a:lnSpc>
                        <a:spcBef>
                          <a:spcPts val="0"/>
                        </a:spcBef>
                        <a:spcAft>
                          <a:spcPts val="0"/>
                        </a:spcAft>
                        <a:buAutoNum type="arabicPeriod"/>
                      </a:pPr>
                      <a:endParaRPr lang="en-US" sz="1200" b="0" i="0" u="none" strike="noStrike" kern="1200" noProof="0">
                        <a:solidFill>
                          <a:srgbClr val="05B050"/>
                        </a:solidFill>
                        <a:latin typeface="Nunito Sans"/>
                        <a:ea typeface="+mn-ea"/>
                        <a:cs typeface="+mn-cs"/>
                      </a:endParaRPr>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tc>
                  <a:txBody>
                    <a:bodyPr/>
                    <a:lstStyle/>
                    <a:p>
                      <a:pPr marL="0" lvl="0" indent="0" algn="l">
                        <a:lnSpc>
                          <a:spcPct val="100000"/>
                        </a:lnSpc>
                        <a:spcBef>
                          <a:spcPts val="0"/>
                        </a:spcBef>
                        <a:spcAft>
                          <a:spcPts val="0"/>
                        </a:spcAft>
                        <a:buNone/>
                      </a:pPr>
                      <a:r>
                        <a:rPr lang="en-US" sz="1200" b="1" i="0" u="none" strike="noStrike" kern="1200" noProof="0">
                          <a:solidFill>
                            <a:schemeClr val="tx1"/>
                          </a:solidFill>
                        </a:rPr>
                        <a:t>Cost Saving</a:t>
                      </a:r>
                      <a:endParaRPr lang="en-US" sz="1200" b="1" i="0" u="none" strike="noStrike" kern="1200" noProof="0">
                        <a:solidFill>
                          <a:schemeClr val="tx1"/>
                        </a:solidFill>
                        <a:latin typeface="+mn-lt"/>
                      </a:endParaRPr>
                    </a:p>
                    <a:p>
                      <a:pPr marL="0" lvl="0" indent="0" algn="l">
                        <a:lnSpc>
                          <a:spcPct val="100000"/>
                        </a:lnSpc>
                        <a:spcBef>
                          <a:spcPts val="0"/>
                        </a:spcBef>
                        <a:spcAft>
                          <a:spcPts val="0"/>
                        </a:spcAft>
                        <a:buNone/>
                      </a:pPr>
                      <a:r>
                        <a:rPr lang="en-US" sz="1200" b="0" i="0" u="none" strike="noStrike" kern="1200" noProof="0">
                          <a:solidFill>
                            <a:schemeClr val="tx1"/>
                          </a:solidFill>
                        </a:rPr>
                        <a:t>Centralizes compensation requests, approvals, and payout tracking across the organization. Improves transparency, reduces manual effort, and accelerates compensation processing.</a:t>
                      </a:r>
                      <a:endParaRPr lang="en-US" sz="1200" b="1" i="0" u="none" strike="noStrike" kern="1200" noProof="0">
                        <a:solidFill>
                          <a:schemeClr val="tx1"/>
                        </a:solidFill>
                        <a:latin typeface="+mn-lt"/>
                      </a:endParaRPr>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extLst>
                  <a:ext uri="{0D108BD9-81ED-4DB2-BD59-A6C34878D82A}">
                    <a16:rowId xmlns:a16="http://schemas.microsoft.com/office/drawing/2014/main" val="1110178885"/>
                  </a:ext>
                </a:extLst>
              </a:tr>
            </a:tbl>
          </a:graphicData>
        </a:graphic>
      </p:graphicFrame>
      <p:sp>
        <p:nvSpPr>
          <p:cNvPr id="13" name="Rectangle 12">
            <a:extLst>
              <a:ext uri="{FF2B5EF4-FFF2-40B4-BE49-F238E27FC236}">
                <a16:creationId xmlns:a16="http://schemas.microsoft.com/office/drawing/2014/main" id="{4FA8D807-7C75-AEC4-4852-83C696E45154}"/>
              </a:ext>
            </a:extLst>
          </p:cNvPr>
          <p:cNvSpPr/>
          <p:nvPr/>
        </p:nvSpPr>
        <p:spPr>
          <a:xfrm>
            <a:off x="136167" y="861655"/>
            <a:ext cx="1170432" cy="42234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1100" b="1">
                <a:latin typeface="AirIndia"/>
              </a:rPr>
              <a:t>July 2026</a:t>
            </a:r>
            <a:endParaRPr lang="en-US"/>
          </a:p>
        </p:txBody>
      </p:sp>
      <p:sp>
        <p:nvSpPr>
          <p:cNvPr id="3" name="Rectangle 2">
            <a:extLst>
              <a:ext uri="{FF2B5EF4-FFF2-40B4-BE49-F238E27FC236}">
                <a16:creationId xmlns:a16="http://schemas.microsoft.com/office/drawing/2014/main" id="{E0AE5941-CA83-299E-E994-E81B8C9FFA80}"/>
              </a:ext>
            </a:extLst>
          </p:cNvPr>
          <p:cNvSpPr/>
          <p:nvPr/>
        </p:nvSpPr>
        <p:spPr>
          <a:xfrm>
            <a:off x="3465009" y="6262087"/>
            <a:ext cx="90000" cy="90000"/>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
        <p:nvSpPr>
          <p:cNvPr id="4" name="Rectangle 3">
            <a:extLst>
              <a:ext uri="{FF2B5EF4-FFF2-40B4-BE49-F238E27FC236}">
                <a16:creationId xmlns:a16="http://schemas.microsoft.com/office/drawing/2014/main" id="{E349AD18-89B3-BA7C-6455-486AC3DD33E8}"/>
              </a:ext>
            </a:extLst>
          </p:cNvPr>
          <p:cNvSpPr/>
          <p:nvPr/>
        </p:nvSpPr>
        <p:spPr>
          <a:xfrm>
            <a:off x="3465009" y="6489649"/>
            <a:ext cx="90000" cy="90000"/>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
        <p:nvSpPr>
          <p:cNvPr id="5" name="Rectangle 4">
            <a:extLst>
              <a:ext uri="{FF2B5EF4-FFF2-40B4-BE49-F238E27FC236}">
                <a16:creationId xmlns:a16="http://schemas.microsoft.com/office/drawing/2014/main" id="{D234DBD7-6B46-195E-79B9-9F7FE15F18E0}"/>
              </a:ext>
            </a:extLst>
          </p:cNvPr>
          <p:cNvSpPr/>
          <p:nvPr/>
        </p:nvSpPr>
        <p:spPr>
          <a:xfrm>
            <a:off x="5567900" y="6262087"/>
            <a:ext cx="90000" cy="90000"/>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
        <p:nvSpPr>
          <p:cNvPr id="7" name="Rectangle 6">
            <a:extLst>
              <a:ext uri="{FF2B5EF4-FFF2-40B4-BE49-F238E27FC236}">
                <a16:creationId xmlns:a16="http://schemas.microsoft.com/office/drawing/2014/main" id="{F26F148D-9FEC-92B0-C3E5-39F1D689AD66}"/>
              </a:ext>
            </a:extLst>
          </p:cNvPr>
          <p:cNvSpPr/>
          <p:nvPr/>
        </p:nvSpPr>
        <p:spPr>
          <a:xfrm>
            <a:off x="5567900" y="6489649"/>
            <a:ext cx="90000" cy="90000"/>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
        <p:nvSpPr>
          <p:cNvPr id="8" name="TextBox 15">
            <a:extLst>
              <a:ext uri="{FF2B5EF4-FFF2-40B4-BE49-F238E27FC236}">
                <a16:creationId xmlns:a16="http://schemas.microsoft.com/office/drawing/2014/main" id="{54DED017-C99D-083A-6EF3-9357F39AF7A9}"/>
              </a:ext>
            </a:extLst>
          </p:cNvPr>
          <p:cNvSpPr txBox="1"/>
          <p:nvPr/>
        </p:nvSpPr>
        <p:spPr>
          <a:xfrm>
            <a:off x="3522317" y="6205238"/>
            <a:ext cx="857245"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000">
                <a:solidFill>
                  <a:srgbClr val="0070C0"/>
                </a:solidFill>
              </a:rPr>
              <a:t>Delivered</a:t>
            </a:r>
            <a:endParaRPr lang="en-IN" sz="1000"/>
          </a:p>
        </p:txBody>
      </p:sp>
      <p:sp>
        <p:nvSpPr>
          <p:cNvPr id="9" name="TextBox 18">
            <a:extLst>
              <a:ext uri="{FF2B5EF4-FFF2-40B4-BE49-F238E27FC236}">
                <a16:creationId xmlns:a16="http://schemas.microsoft.com/office/drawing/2014/main" id="{F3808B20-3627-3FD0-5C04-0545D65F9A84}"/>
              </a:ext>
            </a:extLst>
          </p:cNvPr>
          <p:cNvSpPr txBox="1"/>
          <p:nvPr/>
        </p:nvSpPr>
        <p:spPr>
          <a:xfrm>
            <a:off x="3520719" y="6430197"/>
            <a:ext cx="1032881"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000">
                <a:solidFill>
                  <a:srgbClr val="00B050"/>
                </a:solidFill>
              </a:rPr>
              <a:t>Ontrack</a:t>
            </a:r>
            <a:endParaRPr lang="en-IN" sz="1000"/>
          </a:p>
        </p:txBody>
      </p:sp>
      <p:sp>
        <p:nvSpPr>
          <p:cNvPr id="10" name="TextBox 20">
            <a:extLst>
              <a:ext uri="{FF2B5EF4-FFF2-40B4-BE49-F238E27FC236}">
                <a16:creationId xmlns:a16="http://schemas.microsoft.com/office/drawing/2014/main" id="{FD561105-F9A8-19FF-16C0-E91E5184A5C2}"/>
              </a:ext>
            </a:extLst>
          </p:cNvPr>
          <p:cNvSpPr txBox="1"/>
          <p:nvPr/>
        </p:nvSpPr>
        <p:spPr>
          <a:xfrm>
            <a:off x="5653197" y="6220637"/>
            <a:ext cx="2257628"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000">
                <a:solidFill>
                  <a:schemeClr val="accent6">
                    <a:lumMod val="75000"/>
                  </a:schemeClr>
                </a:solidFill>
              </a:rPr>
              <a:t>Under delay and can be recovered</a:t>
            </a:r>
            <a:endParaRPr lang="en-IN" sz="1000"/>
          </a:p>
        </p:txBody>
      </p:sp>
      <p:sp>
        <p:nvSpPr>
          <p:cNvPr id="11" name="TextBox 22">
            <a:extLst>
              <a:ext uri="{FF2B5EF4-FFF2-40B4-BE49-F238E27FC236}">
                <a16:creationId xmlns:a16="http://schemas.microsoft.com/office/drawing/2014/main" id="{ABBC52B3-4AE2-1CA3-A72E-C56278735100}"/>
              </a:ext>
            </a:extLst>
          </p:cNvPr>
          <p:cNvSpPr txBox="1"/>
          <p:nvPr/>
        </p:nvSpPr>
        <p:spPr>
          <a:xfrm>
            <a:off x="5657900" y="6437221"/>
            <a:ext cx="3069090"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000">
                <a:solidFill>
                  <a:schemeClr val="accent2"/>
                </a:solidFill>
              </a:rPr>
              <a:t>Delayed and pushed to next release</a:t>
            </a:r>
            <a:endParaRPr lang="en-IN" sz="1000"/>
          </a:p>
        </p:txBody>
      </p:sp>
      <p:graphicFrame>
        <p:nvGraphicFramePr>
          <p:cNvPr id="14" name="Table 13">
            <a:extLst>
              <a:ext uri="{FF2B5EF4-FFF2-40B4-BE49-F238E27FC236}">
                <a16:creationId xmlns:a16="http://schemas.microsoft.com/office/drawing/2014/main" id="{A49FA85C-D9F8-ABE2-4885-32B714E7A0B2}"/>
              </a:ext>
            </a:extLst>
          </p:cNvPr>
          <p:cNvGraphicFramePr>
            <a:graphicFrameLocks noGrp="1"/>
          </p:cNvGraphicFramePr>
          <p:nvPr>
            <p:extLst>
              <p:ext uri="{D42A27DB-BD31-4B8C-83A1-F6EECF244321}">
                <p14:modId xmlns:p14="http://schemas.microsoft.com/office/powerpoint/2010/main" val="3451587884"/>
              </p:ext>
            </p:extLst>
          </p:nvPr>
        </p:nvGraphicFramePr>
        <p:xfrm>
          <a:off x="1281199" y="3269028"/>
          <a:ext cx="10697938" cy="2560320"/>
        </p:xfrm>
        <a:graphic>
          <a:graphicData uri="http://schemas.openxmlformats.org/drawingml/2006/table">
            <a:tbl>
              <a:tblPr firstRow="1" bandRow="1">
                <a:tableStyleId>{5C22544A-7EE6-4342-B048-85BDC9FD1C3A}</a:tableStyleId>
              </a:tblPr>
              <a:tblGrid>
                <a:gridCol w="3759269">
                  <a:extLst>
                    <a:ext uri="{9D8B030D-6E8A-4147-A177-3AD203B41FA5}">
                      <a16:colId xmlns:a16="http://schemas.microsoft.com/office/drawing/2014/main" val="2822350773"/>
                    </a:ext>
                  </a:extLst>
                </a:gridCol>
                <a:gridCol w="6938669">
                  <a:extLst>
                    <a:ext uri="{9D8B030D-6E8A-4147-A177-3AD203B41FA5}">
                      <a16:colId xmlns:a16="http://schemas.microsoft.com/office/drawing/2014/main" val="99588705"/>
                    </a:ext>
                  </a:extLst>
                </a:gridCol>
              </a:tblGrid>
              <a:tr h="217387">
                <a:tc>
                  <a:txBody>
                    <a:bodyPr/>
                    <a:lstStyle/>
                    <a:p>
                      <a:pPr marL="0" lvl="0" indent="0" algn="ctr" defTabSz="914400" rtl="0" eaLnBrk="1" latinLnBrk="0" hangingPunct="1">
                        <a:lnSpc>
                          <a:spcPct val="100000"/>
                        </a:lnSpc>
                        <a:buFont typeface="Arial" panose="020B0604020202020204" pitchFamily="34" charset="0"/>
                        <a:buNone/>
                      </a:pPr>
                      <a:r>
                        <a:rPr lang="en-IN" sz="1200" kern="1200">
                          <a:solidFill>
                            <a:schemeClr val="bg1"/>
                          </a:solidFill>
                          <a:latin typeface="+mn-lt"/>
                          <a:ea typeface="+mn-ea"/>
                          <a:cs typeface="+mn-cs"/>
                        </a:rPr>
                        <a:t>Project/Initiative</a:t>
                      </a:r>
                      <a:endParaRPr lang="en-US" sz="1200"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tc>
                  <a:txBody>
                    <a:bodyPr/>
                    <a:lstStyle/>
                    <a:p>
                      <a:pPr marL="0" indent="0" algn="ctr" defTabSz="914400" rtl="0" eaLnBrk="1" latinLnBrk="0" hangingPunct="1">
                        <a:buFont typeface="Arial" panose="020B0604020202020204" pitchFamily="34" charset="0"/>
                        <a:buNone/>
                      </a:pPr>
                      <a:r>
                        <a:rPr lang="en-IN" sz="1200" kern="1200">
                          <a:solidFill>
                            <a:schemeClr val="bg1"/>
                          </a:solidFill>
                          <a:latin typeface="+mn-lt"/>
                          <a:ea typeface="+mn-ea"/>
                          <a:cs typeface="+mn-cs"/>
                        </a:rPr>
                        <a:t>Value Justification/Realization</a:t>
                      </a:r>
                      <a:endParaRPr lang="en-US" sz="1200"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extLst>
                  <a:ext uri="{0D108BD9-81ED-4DB2-BD59-A6C34878D82A}">
                    <a16:rowId xmlns:a16="http://schemas.microsoft.com/office/drawing/2014/main" val="844450115"/>
                  </a:ext>
                </a:extLst>
              </a:tr>
              <a:tr h="499989">
                <a:tc>
                  <a:txBody>
                    <a:bodyPr/>
                    <a:lstStyle/>
                    <a:p>
                      <a:pPr marL="0" lvl="0" indent="0" algn="l">
                        <a:lnSpc>
                          <a:spcPct val="100000"/>
                        </a:lnSpc>
                        <a:spcBef>
                          <a:spcPts val="0"/>
                        </a:spcBef>
                        <a:spcAft>
                          <a:spcPts val="0"/>
                        </a:spcAft>
                        <a:buNone/>
                      </a:pPr>
                      <a:r>
                        <a:rPr lang="en-US" sz="1200" b="0" i="0" u="none" strike="noStrike" kern="1200" noProof="0">
                          <a:solidFill>
                            <a:srgbClr val="05B050"/>
                          </a:solidFill>
                          <a:latin typeface="Nunito Sans"/>
                          <a:ea typeface="+mn-ea"/>
                          <a:cs typeface="+mn-cs"/>
                        </a:rPr>
                        <a:t>1. Automated Email Response – Web 2 Case Handling - Refund Related Enquiries</a:t>
                      </a: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lvl="0" indent="0" algn="l">
                        <a:lnSpc>
                          <a:spcPct val="100000"/>
                        </a:lnSpc>
                        <a:spcBef>
                          <a:spcPts val="0"/>
                        </a:spcBef>
                        <a:spcAft>
                          <a:spcPts val="0"/>
                        </a:spcAft>
                        <a:buNone/>
                      </a:pPr>
                      <a:r>
                        <a:rPr lang="en-US" sz="1200" b="1" i="0" u="none" strike="noStrike" kern="1200" noProof="0">
                          <a:solidFill>
                            <a:schemeClr val="tx1"/>
                          </a:solidFill>
                        </a:rPr>
                        <a:t>Cost Reduction</a:t>
                      </a:r>
                      <a:endParaRPr lang="en-US" b="1"/>
                    </a:p>
                    <a:p>
                      <a:pPr marL="0" lvl="0" indent="0" algn="l">
                        <a:lnSpc>
                          <a:spcPct val="100000"/>
                        </a:lnSpc>
                        <a:spcBef>
                          <a:spcPts val="0"/>
                        </a:spcBef>
                        <a:spcAft>
                          <a:spcPts val="0"/>
                        </a:spcAft>
                        <a:buNone/>
                      </a:pPr>
                      <a:r>
                        <a:rPr lang="en-US" sz="1200" b="0" i="0" u="none" strike="noStrike" kern="1200" noProof="0">
                          <a:solidFill>
                            <a:schemeClr val="tx1"/>
                          </a:solidFill>
                        </a:rPr>
                        <a:t>Uses AI to automatically respond to refund-related customer emails without agent intervention. Reduces contact center workload, lowers operational costs, and improves response turnaround time.</a:t>
                      </a:r>
                      <a:endParaRPr lang="en-US"/>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443371065"/>
                  </a:ext>
                </a:extLst>
              </a:tr>
              <a:tr h="326080">
                <a:tc>
                  <a:txBody>
                    <a:bodyPr/>
                    <a:lstStyle/>
                    <a:p>
                      <a:pPr marL="0" lvl="0" indent="0" algn="l">
                        <a:lnSpc>
                          <a:spcPct val="100000"/>
                        </a:lnSpc>
                        <a:spcBef>
                          <a:spcPts val="0"/>
                        </a:spcBef>
                        <a:spcAft>
                          <a:spcPts val="0"/>
                        </a:spcAft>
                        <a:buNone/>
                      </a:pPr>
                      <a:r>
                        <a:rPr lang="en-US" sz="1200" b="0" i="0" u="none" strike="noStrike" kern="1200" noProof="0">
                          <a:solidFill>
                            <a:srgbClr val="05B050"/>
                          </a:solidFill>
                          <a:latin typeface="Nunito Sans"/>
                        </a:rPr>
                        <a:t>2. Automated Email Response – Flight Disruptions</a:t>
                      </a:r>
                      <a:endParaRPr lang="en-US" sz="1200" b="1" i="0" u="none" strike="noStrike" kern="1200" noProof="0">
                        <a:solidFill>
                          <a:srgbClr val="05B050"/>
                        </a:solidFill>
                        <a:latin typeface="+mn-lt"/>
                      </a:endParaRPr>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marL="0" lvl="0" indent="0" algn="l">
                        <a:lnSpc>
                          <a:spcPct val="100000"/>
                        </a:lnSpc>
                        <a:spcBef>
                          <a:spcPts val="0"/>
                        </a:spcBef>
                        <a:spcAft>
                          <a:spcPts val="0"/>
                        </a:spcAft>
                        <a:buNone/>
                      </a:pPr>
                      <a:r>
                        <a:rPr lang="en-US" sz="1200" b="1" i="0" u="none" strike="noStrike" kern="1200" noProof="0">
                          <a:solidFill>
                            <a:schemeClr val="tx1"/>
                          </a:solidFill>
                        </a:rPr>
                        <a:t>Cost Reduction &amp; </a:t>
                      </a:r>
                      <a:r>
                        <a:rPr lang="en-US" sz="1200" b="1" i="0" u="none" strike="noStrike" kern="1200" noProof="0">
                          <a:solidFill>
                            <a:schemeClr val="tx1"/>
                          </a:solidFill>
                          <a:latin typeface="Nunito Sans"/>
                        </a:rPr>
                        <a:t>Improve Customer NPS</a:t>
                      </a:r>
                    </a:p>
                    <a:p>
                      <a:pPr marL="0" lvl="0" indent="0" algn="l">
                        <a:lnSpc>
                          <a:spcPct val="100000"/>
                        </a:lnSpc>
                        <a:spcBef>
                          <a:spcPts val="0"/>
                        </a:spcBef>
                        <a:spcAft>
                          <a:spcPts val="0"/>
                        </a:spcAft>
                        <a:buNone/>
                      </a:pPr>
                      <a:r>
                        <a:rPr lang="en-US" sz="1200" b="0" i="0" u="none" strike="noStrike" kern="1200" noProof="0">
                          <a:solidFill>
                            <a:schemeClr val="tx1"/>
                          </a:solidFill>
                        </a:rPr>
                        <a:t>Sends timely, personalized AI-generated responses to customers affected by flight disruptions. Improves customer communication, reduces uncertainty, and enhances overall customer satisfaction.</a:t>
                      </a:r>
                      <a:endParaRPr lang="en-US"/>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417476375"/>
                  </a:ext>
                </a:extLst>
              </a:tr>
              <a:tr h="326080">
                <a:tc>
                  <a:txBody>
                    <a:bodyPr/>
                    <a:lstStyle/>
                    <a:p>
                      <a:pPr marL="0" lvl="0" indent="0" algn="l">
                        <a:lnSpc>
                          <a:spcPct val="100000"/>
                        </a:lnSpc>
                        <a:spcBef>
                          <a:spcPts val="0"/>
                        </a:spcBef>
                        <a:spcAft>
                          <a:spcPts val="0"/>
                        </a:spcAft>
                        <a:buNone/>
                      </a:pPr>
                      <a:r>
                        <a:rPr lang="en-US" sz="1200" b="0" i="0" u="none" strike="noStrike" kern="1200" noProof="0">
                          <a:solidFill>
                            <a:srgbClr val="05B050"/>
                          </a:solidFill>
                        </a:rPr>
                        <a:t>3. OTP and PAX Dashboard- Enhancements</a:t>
                      </a:r>
                      <a:endParaRPr lang="en-US" sz="1200" b="1" i="0" u="none" strike="noStrike" kern="1200" noProof="0">
                        <a:solidFill>
                          <a:srgbClr val="05B050"/>
                        </a:solidFill>
                        <a:latin typeface="+mn-lt"/>
                      </a:endParaRPr>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tc>
                  <a:txBody>
                    <a:bodyPr/>
                    <a:lstStyle/>
                    <a:p>
                      <a:pPr marL="0" lvl="0" indent="0" algn="l">
                        <a:lnSpc>
                          <a:spcPct val="100000"/>
                        </a:lnSpc>
                        <a:spcBef>
                          <a:spcPts val="0"/>
                        </a:spcBef>
                        <a:spcAft>
                          <a:spcPts val="0"/>
                        </a:spcAft>
                        <a:buNone/>
                      </a:pPr>
                      <a:r>
                        <a:rPr lang="en-US" sz="1200" b="1" i="0" u="none" strike="noStrike" kern="1200" noProof="0">
                          <a:solidFill>
                            <a:schemeClr val="tx1"/>
                          </a:solidFill>
                        </a:rPr>
                        <a:t>Operational Efficiency</a:t>
                      </a:r>
                    </a:p>
                    <a:p>
                      <a:pPr marL="0" lvl="0" indent="0" algn="l">
                        <a:lnSpc>
                          <a:spcPct val="100000"/>
                        </a:lnSpc>
                        <a:spcBef>
                          <a:spcPts val="0"/>
                        </a:spcBef>
                        <a:spcAft>
                          <a:spcPts val="0"/>
                        </a:spcAft>
                        <a:buNone/>
                      </a:pPr>
                      <a:r>
                        <a:rPr lang="en-US" sz="1200" b="0" i="0" u="none" strike="noStrike" kern="1200" noProof="0">
                          <a:solidFill>
                            <a:schemeClr val="tx1"/>
                          </a:solidFill>
                          <a:latin typeface="Nunito Sans"/>
                        </a:rPr>
                        <a:t>Enhances operational dashboards with improved On-Time Performance and passenger analytics. Enables proactive monitoring and quicker identification of operational bottlenecks.</a:t>
                      </a:r>
                      <a:endParaRPr lang="en-US"/>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extLst>
                  <a:ext uri="{0D108BD9-81ED-4DB2-BD59-A6C34878D82A}">
                    <a16:rowId xmlns:a16="http://schemas.microsoft.com/office/drawing/2014/main" val="1110178885"/>
                  </a:ext>
                </a:extLst>
              </a:tr>
            </a:tbl>
          </a:graphicData>
        </a:graphic>
      </p:graphicFrame>
      <p:sp>
        <p:nvSpPr>
          <p:cNvPr id="16" name="Rectangle 15">
            <a:extLst>
              <a:ext uri="{FF2B5EF4-FFF2-40B4-BE49-F238E27FC236}">
                <a16:creationId xmlns:a16="http://schemas.microsoft.com/office/drawing/2014/main" id="{BB266879-CD87-DAFF-16E3-3C842B782DC3}"/>
              </a:ext>
            </a:extLst>
          </p:cNvPr>
          <p:cNvSpPr/>
          <p:nvPr/>
        </p:nvSpPr>
        <p:spPr>
          <a:xfrm>
            <a:off x="103510" y="3271026"/>
            <a:ext cx="1170432" cy="42234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1100" b="1">
                <a:latin typeface="AirIndia"/>
              </a:rPr>
              <a:t>Aug 2026</a:t>
            </a:r>
            <a:endParaRPr lang="en-US"/>
          </a:p>
        </p:txBody>
      </p:sp>
    </p:spTree>
    <p:extLst>
      <p:ext uri="{BB962C8B-B14F-4D97-AF65-F5344CB8AC3E}">
        <p14:creationId xmlns:p14="http://schemas.microsoft.com/office/powerpoint/2010/main" val="1298313899"/>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8E3645-0670-9D31-EFA8-DE1EC2EA9BC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42E6BEC-5899-2971-6D81-B64D93BDB1DC}"/>
              </a:ext>
            </a:extLst>
          </p:cNvPr>
          <p:cNvSpPr>
            <a:spLocks noGrp="1"/>
          </p:cNvSpPr>
          <p:nvPr>
            <p:ph type="sldNum" sz="quarter" idx="12"/>
          </p:nvPr>
        </p:nvSpPr>
        <p:spPr/>
        <p:txBody>
          <a:bodyPr/>
          <a:lstStyle/>
          <a:p>
            <a:fld id="{3A41A254-7326-714E-AF55-4C213D6394DE}" type="slidenum">
              <a:rPr lang="en-US" smtClean="0"/>
              <a:pPr/>
              <a:t>122</a:t>
            </a:fld>
            <a:endParaRPr lang="en-US"/>
          </a:p>
        </p:txBody>
      </p:sp>
      <p:sp>
        <p:nvSpPr>
          <p:cNvPr id="6" name="Title 11">
            <a:extLst>
              <a:ext uri="{FF2B5EF4-FFF2-40B4-BE49-F238E27FC236}">
                <a16:creationId xmlns:a16="http://schemas.microsoft.com/office/drawing/2014/main" id="{D887D52A-1F30-4975-18D8-48CB7ADD9917}"/>
              </a:ext>
            </a:extLst>
          </p:cNvPr>
          <p:cNvSpPr txBox="1">
            <a:spLocks/>
          </p:cNvSpPr>
          <p:nvPr/>
        </p:nvSpPr>
        <p:spPr>
          <a:xfrm>
            <a:off x="166915" y="307594"/>
            <a:ext cx="5910942" cy="403895"/>
          </a:xfrm>
          <a:prstGeom prst="rect">
            <a:avLst/>
          </a:prstGeom>
        </p:spPr>
        <p:txBody>
          <a:bodyPr lIns="91440" tIns="45720" rIns="91440" bIns="45720" anchor="t">
            <a:noAutofit/>
          </a:bodyPr>
          <a:lstStyle>
            <a:lvl1pPr algn="l" defTabSz="914400" rtl="0" eaLnBrk="1" latinLnBrk="0" hangingPunct="1">
              <a:lnSpc>
                <a:spcPct val="90000"/>
              </a:lnSpc>
              <a:spcBef>
                <a:spcPct val="0"/>
              </a:spcBef>
              <a:buNone/>
              <a:defRPr sz="4400" b="1" i="0" kern="1200">
                <a:solidFill>
                  <a:schemeClr val="tx1"/>
                </a:solidFill>
                <a:latin typeface="AirIndia" pitchFamily="82" charset="77"/>
                <a:ea typeface="+mj-ea"/>
                <a:cs typeface="+mj-cs"/>
              </a:defRPr>
            </a:lvl1pPr>
          </a:lstStyle>
          <a:p>
            <a:r>
              <a:rPr lang="en-US" sz="2400">
                <a:solidFill>
                  <a:schemeClr val="accent1"/>
                </a:solidFill>
                <a:latin typeface="AirIndia"/>
              </a:rPr>
              <a:t>CX - FY26 Q2 Release Plan</a:t>
            </a:r>
            <a:endParaRPr lang="en-US" sz="2400" b="0">
              <a:solidFill>
                <a:schemeClr val="accent1"/>
              </a:solidFill>
              <a:latin typeface="AirIndia"/>
            </a:endParaRPr>
          </a:p>
          <a:p>
            <a:endParaRPr lang="en-US" sz="1800">
              <a:solidFill>
                <a:schemeClr val="accent1"/>
              </a:solidFill>
              <a:latin typeface="AirIndia"/>
            </a:endParaRPr>
          </a:p>
        </p:txBody>
      </p:sp>
      <p:sp>
        <p:nvSpPr>
          <p:cNvPr id="3" name="Rectangle 2">
            <a:extLst>
              <a:ext uri="{FF2B5EF4-FFF2-40B4-BE49-F238E27FC236}">
                <a16:creationId xmlns:a16="http://schemas.microsoft.com/office/drawing/2014/main" id="{D708862D-CD67-C58C-9A1A-C09881E73CBF}"/>
              </a:ext>
            </a:extLst>
          </p:cNvPr>
          <p:cNvSpPr/>
          <p:nvPr/>
        </p:nvSpPr>
        <p:spPr>
          <a:xfrm>
            <a:off x="3465009" y="6262087"/>
            <a:ext cx="90000" cy="90000"/>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
        <p:nvSpPr>
          <p:cNvPr id="4" name="Rectangle 3">
            <a:extLst>
              <a:ext uri="{FF2B5EF4-FFF2-40B4-BE49-F238E27FC236}">
                <a16:creationId xmlns:a16="http://schemas.microsoft.com/office/drawing/2014/main" id="{7786E8D7-3AB7-D8CA-8AD3-48846546D9BE}"/>
              </a:ext>
            </a:extLst>
          </p:cNvPr>
          <p:cNvSpPr/>
          <p:nvPr/>
        </p:nvSpPr>
        <p:spPr>
          <a:xfrm>
            <a:off x="3465009" y="6489649"/>
            <a:ext cx="90000" cy="90000"/>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
        <p:nvSpPr>
          <p:cNvPr id="5" name="Rectangle 4">
            <a:extLst>
              <a:ext uri="{FF2B5EF4-FFF2-40B4-BE49-F238E27FC236}">
                <a16:creationId xmlns:a16="http://schemas.microsoft.com/office/drawing/2014/main" id="{841BE3FA-E7A6-D504-2F68-6E2220AAAC35}"/>
              </a:ext>
            </a:extLst>
          </p:cNvPr>
          <p:cNvSpPr/>
          <p:nvPr/>
        </p:nvSpPr>
        <p:spPr>
          <a:xfrm>
            <a:off x="5567900" y="6262087"/>
            <a:ext cx="90000" cy="90000"/>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
        <p:nvSpPr>
          <p:cNvPr id="7" name="Rectangle 6">
            <a:extLst>
              <a:ext uri="{FF2B5EF4-FFF2-40B4-BE49-F238E27FC236}">
                <a16:creationId xmlns:a16="http://schemas.microsoft.com/office/drawing/2014/main" id="{EECFB024-7469-95F1-76D4-8697E8E3952A}"/>
              </a:ext>
            </a:extLst>
          </p:cNvPr>
          <p:cNvSpPr/>
          <p:nvPr/>
        </p:nvSpPr>
        <p:spPr>
          <a:xfrm>
            <a:off x="5567900" y="6489649"/>
            <a:ext cx="90000" cy="90000"/>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
        <p:nvSpPr>
          <p:cNvPr id="8" name="TextBox 15">
            <a:extLst>
              <a:ext uri="{FF2B5EF4-FFF2-40B4-BE49-F238E27FC236}">
                <a16:creationId xmlns:a16="http://schemas.microsoft.com/office/drawing/2014/main" id="{60D4EA2C-4551-496B-5A2E-4D75109D8B6B}"/>
              </a:ext>
            </a:extLst>
          </p:cNvPr>
          <p:cNvSpPr txBox="1"/>
          <p:nvPr/>
        </p:nvSpPr>
        <p:spPr>
          <a:xfrm>
            <a:off x="3522317" y="6205238"/>
            <a:ext cx="857245"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000">
                <a:solidFill>
                  <a:srgbClr val="0070C0"/>
                </a:solidFill>
              </a:rPr>
              <a:t>Delivered</a:t>
            </a:r>
            <a:endParaRPr lang="en-IN" sz="1000"/>
          </a:p>
        </p:txBody>
      </p:sp>
      <p:sp>
        <p:nvSpPr>
          <p:cNvPr id="9" name="TextBox 18">
            <a:extLst>
              <a:ext uri="{FF2B5EF4-FFF2-40B4-BE49-F238E27FC236}">
                <a16:creationId xmlns:a16="http://schemas.microsoft.com/office/drawing/2014/main" id="{290AFF87-C77C-7648-D62D-B96334819072}"/>
              </a:ext>
            </a:extLst>
          </p:cNvPr>
          <p:cNvSpPr txBox="1"/>
          <p:nvPr/>
        </p:nvSpPr>
        <p:spPr>
          <a:xfrm>
            <a:off x="3520719" y="6430197"/>
            <a:ext cx="1032881"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000">
                <a:solidFill>
                  <a:srgbClr val="00B050"/>
                </a:solidFill>
              </a:rPr>
              <a:t>Ontrack</a:t>
            </a:r>
            <a:endParaRPr lang="en-IN" sz="1000"/>
          </a:p>
        </p:txBody>
      </p:sp>
      <p:sp>
        <p:nvSpPr>
          <p:cNvPr id="10" name="TextBox 20">
            <a:extLst>
              <a:ext uri="{FF2B5EF4-FFF2-40B4-BE49-F238E27FC236}">
                <a16:creationId xmlns:a16="http://schemas.microsoft.com/office/drawing/2014/main" id="{97672709-A2D9-A911-7BA0-AC7E519C632E}"/>
              </a:ext>
            </a:extLst>
          </p:cNvPr>
          <p:cNvSpPr txBox="1"/>
          <p:nvPr/>
        </p:nvSpPr>
        <p:spPr>
          <a:xfrm>
            <a:off x="5653197" y="6220637"/>
            <a:ext cx="2257628"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000">
                <a:solidFill>
                  <a:schemeClr val="accent6">
                    <a:lumMod val="75000"/>
                  </a:schemeClr>
                </a:solidFill>
              </a:rPr>
              <a:t>Under delay and can be recovered</a:t>
            </a:r>
            <a:endParaRPr lang="en-IN" sz="1000"/>
          </a:p>
        </p:txBody>
      </p:sp>
      <p:sp>
        <p:nvSpPr>
          <p:cNvPr id="11" name="TextBox 22">
            <a:extLst>
              <a:ext uri="{FF2B5EF4-FFF2-40B4-BE49-F238E27FC236}">
                <a16:creationId xmlns:a16="http://schemas.microsoft.com/office/drawing/2014/main" id="{DAEC3038-3A74-A048-D13B-35FFEF4E9F50}"/>
              </a:ext>
            </a:extLst>
          </p:cNvPr>
          <p:cNvSpPr txBox="1"/>
          <p:nvPr/>
        </p:nvSpPr>
        <p:spPr>
          <a:xfrm>
            <a:off x="5657900" y="6437221"/>
            <a:ext cx="3069090"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000">
                <a:solidFill>
                  <a:schemeClr val="accent2"/>
                </a:solidFill>
              </a:rPr>
              <a:t>Delayed and pushed to next release</a:t>
            </a:r>
            <a:endParaRPr lang="en-IN" sz="1000"/>
          </a:p>
        </p:txBody>
      </p:sp>
      <p:graphicFrame>
        <p:nvGraphicFramePr>
          <p:cNvPr id="15" name="Table 14">
            <a:extLst>
              <a:ext uri="{FF2B5EF4-FFF2-40B4-BE49-F238E27FC236}">
                <a16:creationId xmlns:a16="http://schemas.microsoft.com/office/drawing/2014/main" id="{6DF89A3B-69A5-8D5F-5B7B-29006B88D79B}"/>
              </a:ext>
            </a:extLst>
          </p:cNvPr>
          <p:cNvGraphicFramePr>
            <a:graphicFrameLocks noGrp="1"/>
          </p:cNvGraphicFramePr>
          <p:nvPr>
            <p:extLst>
              <p:ext uri="{D42A27DB-BD31-4B8C-83A1-F6EECF244321}">
                <p14:modId xmlns:p14="http://schemas.microsoft.com/office/powerpoint/2010/main" val="676560193"/>
              </p:ext>
            </p:extLst>
          </p:nvPr>
        </p:nvGraphicFramePr>
        <p:xfrm>
          <a:off x="1491656" y="805229"/>
          <a:ext cx="10697938" cy="3035596"/>
        </p:xfrm>
        <a:graphic>
          <a:graphicData uri="http://schemas.openxmlformats.org/drawingml/2006/table">
            <a:tbl>
              <a:tblPr firstRow="1" bandRow="1">
                <a:tableStyleId>{5C22544A-7EE6-4342-B048-85BDC9FD1C3A}</a:tableStyleId>
              </a:tblPr>
              <a:tblGrid>
                <a:gridCol w="3759269">
                  <a:extLst>
                    <a:ext uri="{9D8B030D-6E8A-4147-A177-3AD203B41FA5}">
                      <a16:colId xmlns:a16="http://schemas.microsoft.com/office/drawing/2014/main" val="2822350773"/>
                    </a:ext>
                  </a:extLst>
                </a:gridCol>
                <a:gridCol w="6938669">
                  <a:extLst>
                    <a:ext uri="{9D8B030D-6E8A-4147-A177-3AD203B41FA5}">
                      <a16:colId xmlns:a16="http://schemas.microsoft.com/office/drawing/2014/main" val="99588705"/>
                    </a:ext>
                  </a:extLst>
                </a:gridCol>
              </a:tblGrid>
              <a:tr h="328173">
                <a:tc>
                  <a:txBody>
                    <a:bodyPr/>
                    <a:lstStyle/>
                    <a:p>
                      <a:pPr marL="0" lvl="0" indent="0" algn="ctr" defTabSz="914400" rtl="0" eaLnBrk="1" latinLnBrk="0" hangingPunct="1">
                        <a:lnSpc>
                          <a:spcPct val="100000"/>
                        </a:lnSpc>
                        <a:buFont typeface="Arial" panose="020B0604020202020204" pitchFamily="34" charset="0"/>
                        <a:buNone/>
                      </a:pPr>
                      <a:r>
                        <a:rPr lang="en-IN" sz="1200" kern="1200">
                          <a:solidFill>
                            <a:schemeClr val="bg1"/>
                          </a:solidFill>
                          <a:latin typeface="+mn-lt"/>
                          <a:ea typeface="+mn-ea"/>
                          <a:cs typeface="+mn-cs"/>
                        </a:rPr>
                        <a:t>Project/Initiative</a:t>
                      </a:r>
                      <a:endParaRPr lang="en-US" sz="1200"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tc>
                  <a:txBody>
                    <a:bodyPr/>
                    <a:lstStyle/>
                    <a:p>
                      <a:pPr marL="0" indent="0" algn="ctr" defTabSz="914400" rtl="0" eaLnBrk="1" latinLnBrk="0" hangingPunct="1">
                        <a:buFont typeface="Arial" panose="020B0604020202020204" pitchFamily="34" charset="0"/>
                        <a:buNone/>
                      </a:pPr>
                      <a:r>
                        <a:rPr lang="en-IN" sz="1200" kern="1200">
                          <a:solidFill>
                            <a:schemeClr val="bg1"/>
                          </a:solidFill>
                          <a:latin typeface="+mn-lt"/>
                          <a:ea typeface="+mn-ea"/>
                          <a:cs typeface="+mn-cs"/>
                        </a:rPr>
                        <a:t>Value Justification/Realization</a:t>
                      </a:r>
                      <a:endParaRPr lang="en-US" sz="1200"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extLst>
                  <a:ext uri="{0D108BD9-81ED-4DB2-BD59-A6C34878D82A}">
                    <a16:rowId xmlns:a16="http://schemas.microsoft.com/office/drawing/2014/main" val="844450115"/>
                  </a:ext>
                </a:extLst>
              </a:tr>
              <a:tr h="974261">
                <a:tc>
                  <a:txBody>
                    <a:bodyPr/>
                    <a:lstStyle/>
                    <a:p>
                      <a:pPr marL="0" lvl="0" indent="0" algn="l">
                        <a:lnSpc>
                          <a:spcPct val="100000"/>
                        </a:lnSpc>
                        <a:spcBef>
                          <a:spcPts val="0"/>
                        </a:spcBef>
                        <a:spcAft>
                          <a:spcPts val="0"/>
                        </a:spcAft>
                        <a:buNone/>
                      </a:pPr>
                      <a:r>
                        <a:rPr lang="en-US" sz="1200" b="0" i="0" u="none" strike="noStrike" kern="1200" noProof="0">
                          <a:solidFill>
                            <a:srgbClr val="05B050"/>
                          </a:solidFill>
                          <a:latin typeface="Nunito Sans"/>
                        </a:rPr>
                        <a:t>1. Automated Email Response – Web 2 Case Handling - </a:t>
                      </a:r>
                      <a:r>
                        <a:rPr lang="en-US" sz="1200" b="0" i="0" u="none" strike="noStrike" kern="1200" noProof="0">
                          <a:solidFill>
                            <a:srgbClr val="05B050"/>
                          </a:solidFill>
                        </a:rPr>
                        <a:t>Baggage-related cases</a:t>
                      </a:r>
                      <a:endParaRPr lang="en-US" sz="1200" b="1" i="0" u="none" strike="noStrike" kern="1200" noProof="0">
                        <a:solidFill>
                          <a:srgbClr val="05B050"/>
                        </a:solidFill>
                        <a:latin typeface="+mn-lt"/>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lvl="0" indent="0" algn="l">
                        <a:lnSpc>
                          <a:spcPct val="100000"/>
                        </a:lnSpc>
                        <a:spcBef>
                          <a:spcPts val="0"/>
                        </a:spcBef>
                        <a:spcAft>
                          <a:spcPts val="0"/>
                        </a:spcAft>
                        <a:buNone/>
                      </a:pPr>
                      <a:r>
                        <a:rPr lang="en-US" sz="1200" b="1" i="0" u="none" strike="noStrike" kern="1200" noProof="0">
                          <a:solidFill>
                            <a:schemeClr val="tx1"/>
                          </a:solidFill>
                        </a:rPr>
                        <a:t>Cost Reduction</a:t>
                      </a:r>
                      <a:endParaRPr lang="en-US" sz="1200" b="1" i="0" u="none" strike="noStrike" kern="1200" noProof="0">
                        <a:solidFill>
                          <a:schemeClr val="tx1"/>
                        </a:solidFill>
                        <a:latin typeface="+mn-lt"/>
                      </a:endParaRPr>
                    </a:p>
                    <a:p>
                      <a:pPr marL="0" lvl="0" indent="0" algn="l">
                        <a:lnSpc>
                          <a:spcPct val="100000"/>
                        </a:lnSpc>
                        <a:spcBef>
                          <a:spcPts val="0"/>
                        </a:spcBef>
                        <a:spcAft>
                          <a:spcPts val="0"/>
                        </a:spcAft>
                        <a:buNone/>
                      </a:pPr>
                      <a:r>
                        <a:rPr lang="en-US" sz="1200" b="0" i="0" u="none" strike="noStrike" kern="1200" noProof="0">
                          <a:solidFill>
                            <a:schemeClr val="tx1"/>
                          </a:solidFill>
                          <a:latin typeface="Nunito Sans"/>
                        </a:rPr>
                        <a:t>Automates responses for baggage-related customer enquiries using AI and predefined business rules. Reduces manual handling effort while providing customers with faster updates.</a:t>
                      </a:r>
                      <a:endParaRPr lang="en-US" sz="1200" b="0" i="0" u="none" strike="noStrike" kern="1200" noProof="0">
                        <a:solidFill>
                          <a:schemeClr val="tx1"/>
                        </a:solidFill>
                      </a:endParaRPr>
                    </a:p>
                    <a:p>
                      <a:pPr marL="685800" lvl="1" indent="-228600" algn="l">
                        <a:lnSpc>
                          <a:spcPct val="100000"/>
                        </a:lnSpc>
                        <a:spcBef>
                          <a:spcPts val="0"/>
                        </a:spcBef>
                        <a:spcAft>
                          <a:spcPts val="0"/>
                        </a:spcAft>
                        <a:buFont typeface="Arial" panose="020B0604020202020204" pitchFamily="34" charset="0"/>
                        <a:buChar char="•"/>
                      </a:pPr>
                      <a:endParaRPr lang="en-US" sz="1200" b="1" i="0" u="none" strike="noStrike" kern="1200" noProof="0">
                        <a:solidFill>
                          <a:schemeClr val="tx1"/>
                        </a:solidFill>
                        <a:latin typeface="+mn-lt"/>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443371065"/>
                  </a:ext>
                </a:extLst>
              </a:tr>
              <a:tr h="758901">
                <a:tc>
                  <a:txBody>
                    <a:bodyPr/>
                    <a:lstStyle/>
                    <a:p>
                      <a:pPr marL="0" lvl="0" indent="0" algn="l">
                        <a:lnSpc>
                          <a:spcPct val="100000"/>
                        </a:lnSpc>
                        <a:spcBef>
                          <a:spcPts val="0"/>
                        </a:spcBef>
                        <a:spcAft>
                          <a:spcPts val="0"/>
                        </a:spcAft>
                        <a:buNone/>
                      </a:pPr>
                      <a:r>
                        <a:rPr lang="en-US" sz="1200" b="0" i="0" u="none" strike="noStrike" kern="1200" noProof="0">
                          <a:solidFill>
                            <a:srgbClr val="05B050"/>
                          </a:solidFill>
                          <a:latin typeface="Nunito Sans"/>
                        </a:rPr>
                        <a:t>2. Automated Email Response – Web 2 Case Handling - </a:t>
                      </a:r>
                      <a:r>
                        <a:rPr lang="en-US" sz="1200" b="0" i="0" u="none" strike="noStrike" kern="1200" noProof="0">
                          <a:solidFill>
                            <a:srgbClr val="05B050"/>
                          </a:solidFill>
                        </a:rPr>
                        <a:t>Compensation requests</a:t>
                      </a:r>
                      <a:endParaRPr lang="en-US" sz="1200" b="1" i="0" u="none" strike="noStrike" kern="1200" noProof="0">
                        <a:solidFill>
                          <a:srgbClr val="05B050"/>
                        </a:solidFill>
                        <a:latin typeface="+mn-lt"/>
                      </a:endParaRPr>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marL="0" lvl="0" indent="0" algn="l">
                        <a:lnSpc>
                          <a:spcPct val="100000"/>
                        </a:lnSpc>
                        <a:spcBef>
                          <a:spcPts val="0"/>
                        </a:spcBef>
                        <a:spcAft>
                          <a:spcPts val="0"/>
                        </a:spcAft>
                        <a:buNone/>
                      </a:pPr>
                      <a:r>
                        <a:rPr lang="en-US" sz="1200" b="1" i="0" u="none" strike="noStrike" kern="1200" noProof="0">
                          <a:solidFill>
                            <a:schemeClr val="tx1"/>
                          </a:solidFill>
                        </a:rPr>
                        <a:t>Cost Reduction</a:t>
                      </a:r>
                    </a:p>
                    <a:p>
                      <a:pPr marL="0" lvl="0" indent="0" algn="l">
                        <a:lnSpc>
                          <a:spcPct val="100000"/>
                        </a:lnSpc>
                        <a:spcBef>
                          <a:spcPts val="0"/>
                        </a:spcBef>
                        <a:spcAft>
                          <a:spcPts val="0"/>
                        </a:spcAft>
                        <a:buNone/>
                      </a:pPr>
                      <a:r>
                        <a:rPr lang="en-US" sz="1200" b="0" i="0" u="none" strike="noStrike" kern="1200" noProof="0">
                          <a:solidFill>
                            <a:schemeClr val="tx1"/>
                          </a:solidFill>
                          <a:latin typeface="Nunito Sans"/>
                        </a:rPr>
                        <a:t>Automates responses for compensation-related customer requests based on eligibility and business policies. Minimizes manual intervention, improves consistency, and reduces support costs.</a:t>
                      </a:r>
                      <a:endParaRPr lang="en-US"/>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417476375"/>
                  </a:ext>
                </a:extLst>
              </a:tr>
              <a:tr h="974261">
                <a:tc>
                  <a:txBody>
                    <a:bodyPr/>
                    <a:lstStyle/>
                    <a:p>
                      <a:pPr marL="0" lvl="0" indent="0" algn="l">
                        <a:lnSpc>
                          <a:spcPct val="100000"/>
                        </a:lnSpc>
                        <a:spcBef>
                          <a:spcPts val="0"/>
                        </a:spcBef>
                        <a:spcAft>
                          <a:spcPts val="0"/>
                        </a:spcAft>
                        <a:buNone/>
                      </a:pPr>
                      <a:r>
                        <a:rPr lang="en-US" sz="1200" b="0" i="0" u="none" strike="noStrike" kern="1200" noProof="0">
                          <a:solidFill>
                            <a:srgbClr val="05B050"/>
                          </a:solidFill>
                          <a:latin typeface="Nunito Sans"/>
                        </a:rPr>
                        <a:t>3. Automated Email Response – Web 2 Case Handling - </a:t>
                      </a:r>
                      <a:r>
                        <a:rPr lang="en-US" sz="1200" b="0" i="0" u="none" strike="noStrike" kern="1200" noProof="0">
                          <a:solidFill>
                            <a:srgbClr val="05B050"/>
                          </a:solidFill>
                        </a:rPr>
                        <a:t>Delay-related customer concerns</a:t>
                      </a:r>
                      <a:endParaRPr lang="en-US" sz="1200" b="1" i="0" u="none" strike="noStrike" kern="1200" noProof="0">
                        <a:solidFill>
                          <a:srgbClr val="05B050"/>
                        </a:solidFill>
                        <a:latin typeface="+mn-lt"/>
                      </a:endParaRPr>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tc>
                  <a:txBody>
                    <a:bodyPr/>
                    <a:lstStyle/>
                    <a:p>
                      <a:pPr marL="0" lvl="0" indent="0" algn="l">
                        <a:lnSpc>
                          <a:spcPct val="100000"/>
                        </a:lnSpc>
                        <a:spcBef>
                          <a:spcPts val="0"/>
                        </a:spcBef>
                        <a:spcAft>
                          <a:spcPts val="0"/>
                        </a:spcAft>
                        <a:buNone/>
                      </a:pPr>
                      <a:r>
                        <a:rPr lang="en-US" sz="1200" b="1" i="0" u="none" strike="noStrike" kern="1200" noProof="0">
                          <a:solidFill>
                            <a:schemeClr val="tx1"/>
                          </a:solidFill>
                        </a:rPr>
                        <a:t>Cost Reduction &amp; </a:t>
                      </a:r>
                      <a:r>
                        <a:rPr lang="en-US" sz="1200" b="1" i="0" u="none" strike="noStrike" kern="1200" noProof="0">
                          <a:solidFill>
                            <a:schemeClr val="tx1"/>
                          </a:solidFill>
                          <a:latin typeface="Nunito Sans"/>
                        </a:rPr>
                        <a:t>Improve Customer NPS</a:t>
                      </a:r>
                    </a:p>
                    <a:p>
                      <a:pPr marL="0" lvl="0" indent="0" algn="l">
                        <a:lnSpc>
                          <a:spcPct val="100000"/>
                        </a:lnSpc>
                        <a:spcBef>
                          <a:spcPts val="0"/>
                        </a:spcBef>
                        <a:spcAft>
                          <a:spcPts val="0"/>
                        </a:spcAft>
                        <a:buNone/>
                      </a:pPr>
                      <a:r>
                        <a:rPr lang="en-US" sz="1200" b="0" i="0" u="none" strike="noStrike" kern="1200" noProof="0">
                          <a:solidFill>
                            <a:schemeClr val="tx1"/>
                          </a:solidFill>
                        </a:rPr>
                        <a:t>Delivers immediate AI-driven responses to customers affected by flight delays with relevant information and next steps. Enhances customer experience through faster communication and reduced waiting time.</a:t>
                      </a:r>
                      <a:endParaRPr lang="en-US"/>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extLst>
                  <a:ext uri="{0D108BD9-81ED-4DB2-BD59-A6C34878D82A}">
                    <a16:rowId xmlns:a16="http://schemas.microsoft.com/office/drawing/2014/main" val="1110178885"/>
                  </a:ext>
                </a:extLst>
              </a:tr>
            </a:tbl>
          </a:graphicData>
        </a:graphic>
      </p:graphicFrame>
      <p:sp>
        <p:nvSpPr>
          <p:cNvPr id="17" name="Rectangle 16">
            <a:extLst>
              <a:ext uri="{FF2B5EF4-FFF2-40B4-BE49-F238E27FC236}">
                <a16:creationId xmlns:a16="http://schemas.microsoft.com/office/drawing/2014/main" id="{DD477EE8-F3B1-F45E-F4D3-337C37091899}"/>
              </a:ext>
            </a:extLst>
          </p:cNvPr>
          <p:cNvSpPr/>
          <p:nvPr/>
        </p:nvSpPr>
        <p:spPr>
          <a:xfrm>
            <a:off x="324853" y="807226"/>
            <a:ext cx="1170432" cy="42234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1100" b="1">
                <a:latin typeface="AirIndia"/>
              </a:rPr>
              <a:t>Sep 2026</a:t>
            </a:r>
            <a:endParaRPr lang="en-US"/>
          </a:p>
        </p:txBody>
      </p:sp>
    </p:spTree>
    <p:extLst>
      <p:ext uri="{BB962C8B-B14F-4D97-AF65-F5344CB8AC3E}">
        <p14:creationId xmlns:p14="http://schemas.microsoft.com/office/powerpoint/2010/main" val="2761288001"/>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37413B-99E3-1041-4F48-9867BED4F1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966D49-8B00-78EA-6FF2-B20ACBC21663}"/>
              </a:ext>
            </a:extLst>
          </p:cNvPr>
          <p:cNvSpPr>
            <a:spLocks noGrp="1"/>
          </p:cNvSpPr>
          <p:nvPr>
            <p:ph type="title"/>
          </p:nvPr>
        </p:nvSpPr>
        <p:spPr>
          <a:xfrm>
            <a:off x="5876373" y="2114927"/>
            <a:ext cx="6907630" cy="1961201"/>
          </a:xfrm>
        </p:spPr>
        <p:txBody>
          <a:bodyPr/>
          <a:lstStyle/>
          <a:p>
            <a:r>
              <a:rPr lang="en-US" sz="5400">
                <a:latin typeface="AirIndia"/>
              </a:rPr>
              <a:t>HR-Q1</a:t>
            </a:r>
            <a:endParaRPr lang="en-US" sz="5400"/>
          </a:p>
        </p:txBody>
      </p:sp>
    </p:spTree>
    <p:extLst>
      <p:ext uri="{BB962C8B-B14F-4D97-AF65-F5344CB8AC3E}">
        <p14:creationId xmlns:p14="http://schemas.microsoft.com/office/powerpoint/2010/main" val="4282187851"/>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B9DB1B-F87A-4D12-D93B-D98F82C3E1E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BD02756-694C-0663-044A-F4E3E8B1EACA}"/>
              </a:ext>
            </a:extLst>
          </p:cNvPr>
          <p:cNvSpPr>
            <a:spLocks noGrp="1"/>
          </p:cNvSpPr>
          <p:nvPr>
            <p:ph type="sldNum" sz="quarter" idx="12"/>
          </p:nvPr>
        </p:nvSpPr>
        <p:spPr/>
        <p:txBody>
          <a:bodyPr/>
          <a:lstStyle/>
          <a:p>
            <a:fld id="{3A41A254-7326-714E-AF55-4C213D6394DE}" type="slidenum">
              <a:rPr lang="en-US" smtClean="0"/>
              <a:pPr/>
              <a:t>124</a:t>
            </a:fld>
            <a:endParaRPr lang="en-US"/>
          </a:p>
        </p:txBody>
      </p:sp>
      <p:sp>
        <p:nvSpPr>
          <p:cNvPr id="6" name="Title 11">
            <a:extLst>
              <a:ext uri="{FF2B5EF4-FFF2-40B4-BE49-F238E27FC236}">
                <a16:creationId xmlns:a16="http://schemas.microsoft.com/office/drawing/2014/main" id="{C13833DE-FA8F-5302-3266-3C85CFEA0012}"/>
              </a:ext>
            </a:extLst>
          </p:cNvPr>
          <p:cNvSpPr txBox="1">
            <a:spLocks/>
          </p:cNvSpPr>
          <p:nvPr/>
        </p:nvSpPr>
        <p:spPr>
          <a:xfrm>
            <a:off x="195943" y="307594"/>
            <a:ext cx="5562600" cy="396638"/>
          </a:xfrm>
          <a:prstGeom prst="rect">
            <a:avLst/>
          </a:prstGeom>
        </p:spPr>
        <p:txBody>
          <a:bodyPr lIns="91440" tIns="45720" rIns="91440" bIns="45720" anchor="t">
            <a:noAutofit/>
          </a:bodyPr>
          <a:lstStyle>
            <a:lvl1pPr algn="l" defTabSz="914400" rtl="0" eaLnBrk="1" latinLnBrk="0" hangingPunct="1">
              <a:lnSpc>
                <a:spcPct val="90000"/>
              </a:lnSpc>
              <a:spcBef>
                <a:spcPct val="0"/>
              </a:spcBef>
              <a:buNone/>
              <a:defRPr sz="4400" b="1" i="0" kern="1200">
                <a:solidFill>
                  <a:schemeClr val="tx1"/>
                </a:solidFill>
                <a:latin typeface="AirIndia" pitchFamily="82" charset="77"/>
                <a:ea typeface="+mj-ea"/>
                <a:cs typeface="+mj-cs"/>
              </a:defRPr>
            </a:lvl1pPr>
          </a:lstStyle>
          <a:p>
            <a:r>
              <a:rPr lang="en-US" sz="2400">
                <a:solidFill>
                  <a:schemeClr val="accent1"/>
                </a:solidFill>
                <a:latin typeface="AirIndia"/>
              </a:rPr>
              <a:t>HR - FY26 Q1 Release Plan</a:t>
            </a:r>
            <a:endParaRPr lang="en-US" sz="2400" b="0">
              <a:solidFill>
                <a:schemeClr val="accent1"/>
              </a:solidFill>
              <a:latin typeface="AirIndia"/>
            </a:endParaRPr>
          </a:p>
          <a:p>
            <a:endParaRPr lang="en-US" sz="1800">
              <a:solidFill>
                <a:schemeClr val="accent1"/>
              </a:solidFill>
              <a:latin typeface="AirIndia"/>
            </a:endParaRPr>
          </a:p>
        </p:txBody>
      </p:sp>
      <p:graphicFrame>
        <p:nvGraphicFramePr>
          <p:cNvPr id="12" name="Table 11">
            <a:extLst>
              <a:ext uri="{FF2B5EF4-FFF2-40B4-BE49-F238E27FC236}">
                <a16:creationId xmlns:a16="http://schemas.microsoft.com/office/drawing/2014/main" id="{F1928C43-6276-84C3-F0B9-B04DBEE53FFC}"/>
              </a:ext>
            </a:extLst>
          </p:cNvPr>
          <p:cNvGraphicFramePr>
            <a:graphicFrameLocks noGrp="1"/>
          </p:cNvGraphicFramePr>
          <p:nvPr>
            <p:extLst>
              <p:ext uri="{D42A27DB-BD31-4B8C-83A1-F6EECF244321}">
                <p14:modId xmlns:p14="http://schemas.microsoft.com/office/powerpoint/2010/main" val="2420781840"/>
              </p:ext>
            </p:extLst>
          </p:nvPr>
        </p:nvGraphicFramePr>
        <p:xfrm>
          <a:off x="1295713" y="866914"/>
          <a:ext cx="10697938" cy="1057600"/>
        </p:xfrm>
        <a:graphic>
          <a:graphicData uri="http://schemas.openxmlformats.org/drawingml/2006/table">
            <a:tbl>
              <a:tblPr firstRow="1" bandRow="1">
                <a:tableStyleId>{5C22544A-7EE6-4342-B048-85BDC9FD1C3A}</a:tableStyleId>
              </a:tblPr>
              <a:tblGrid>
                <a:gridCol w="3759269">
                  <a:extLst>
                    <a:ext uri="{9D8B030D-6E8A-4147-A177-3AD203B41FA5}">
                      <a16:colId xmlns:a16="http://schemas.microsoft.com/office/drawing/2014/main" val="2822350773"/>
                    </a:ext>
                  </a:extLst>
                </a:gridCol>
                <a:gridCol w="6938669">
                  <a:extLst>
                    <a:ext uri="{9D8B030D-6E8A-4147-A177-3AD203B41FA5}">
                      <a16:colId xmlns:a16="http://schemas.microsoft.com/office/drawing/2014/main" val="99588705"/>
                    </a:ext>
                  </a:extLst>
                </a:gridCol>
              </a:tblGrid>
              <a:tr h="217387">
                <a:tc>
                  <a:txBody>
                    <a:bodyPr/>
                    <a:lstStyle/>
                    <a:p>
                      <a:pPr marL="0" lvl="0" indent="0" algn="ctr" defTabSz="914400" rtl="0" eaLnBrk="1" latinLnBrk="0" hangingPunct="1">
                        <a:lnSpc>
                          <a:spcPct val="100000"/>
                        </a:lnSpc>
                        <a:buFont typeface="Arial" panose="020B0604020202020204" pitchFamily="34" charset="0"/>
                        <a:buNone/>
                      </a:pPr>
                      <a:r>
                        <a:rPr lang="en-IN" sz="1200" kern="1200">
                          <a:solidFill>
                            <a:schemeClr val="bg1"/>
                          </a:solidFill>
                          <a:latin typeface="+mn-lt"/>
                          <a:ea typeface="+mn-ea"/>
                          <a:cs typeface="+mn-cs"/>
                        </a:rPr>
                        <a:t>Project/Initiative</a:t>
                      </a:r>
                      <a:endParaRPr lang="en-US" sz="1200"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tc>
                  <a:txBody>
                    <a:bodyPr/>
                    <a:lstStyle/>
                    <a:p>
                      <a:pPr marL="0" indent="0" algn="ctr" defTabSz="914400" rtl="0" eaLnBrk="1" latinLnBrk="0" hangingPunct="1">
                        <a:buFont typeface="Arial" panose="020B0604020202020204" pitchFamily="34" charset="0"/>
                        <a:buNone/>
                      </a:pPr>
                      <a:r>
                        <a:rPr lang="en-IN" sz="1200" kern="1200">
                          <a:solidFill>
                            <a:schemeClr val="bg1"/>
                          </a:solidFill>
                          <a:latin typeface="+mn-lt"/>
                          <a:ea typeface="+mn-ea"/>
                          <a:cs typeface="+mn-cs"/>
                        </a:rPr>
                        <a:t>Value Justification/Realization</a:t>
                      </a:r>
                      <a:endParaRPr lang="en-US" sz="1200"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extLst>
                  <a:ext uri="{0D108BD9-81ED-4DB2-BD59-A6C34878D82A}">
                    <a16:rowId xmlns:a16="http://schemas.microsoft.com/office/drawing/2014/main" val="844450115"/>
                  </a:ext>
                </a:extLst>
              </a:tr>
              <a:tr h="326079">
                <a:tc>
                  <a:txBody>
                    <a:bodyPr/>
                    <a:lstStyle/>
                    <a:p>
                      <a:pPr marL="0" lvl="0" indent="0" algn="l">
                        <a:lnSpc>
                          <a:spcPct val="100000"/>
                        </a:lnSpc>
                        <a:spcBef>
                          <a:spcPts val="0"/>
                        </a:spcBef>
                        <a:spcAft>
                          <a:spcPts val="0"/>
                        </a:spcAft>
                        <a:buNone/>
                      </a:pPr>
                      <a:r>
                        <a:rPr lang="en-US" sz="1200" b="1" i="0" u="none" strike="noStrike" kern="1200" noProof="0">
                          <a:solidFill>
                            <a:srgbClr val="0070C0"/>
                          </a:solidFill>
                          <a:latin typeface="+mn-lt"/>
                        </a:rPr>
                        <a:t>1.   Workforce Analytics – Employee Snapshot</a:t>
                      </a:r>
                      <a:endParaRPr lang="en-US"/>
                    </a:p>
                  </a:txBody>
                  <a:tcP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a:solidFill>
                        <a:schemeClr val="bg1">
                          <a:lumMod val="75000"/>
                        </a:schemeClr>
                      </a:solidFill>
                    </a:lnB>
                    <a:noFill/>
                  </a:tcPr>
                </a:tc>
                <a:tc>
                  <a:txBody>
                    <a:bodyPr/>
                    <a:lstStyle/>
                    <a:p>
                      <a:pPr marL="457200" lvl="1" indent="0" algn="l">
                        <a:lnSpc>
                          <a:spcPct val="100000"/>
                        </a:lnSpc>
                        <a:spcBef>
                          <a:spcPts val="0"/>
                        </a:spcBef>
                        <a:spcAft>
                          <a:spcPts val="0"/>
                        </a:spcAft>
                        <a:buNone/>
                      </a:pPr>
                      <a:r>
                        <a:rPr lang="en-US" sz="1200" b="0" i="0" u="none" strike="noStrike" kern="1200" noProof="0">
                          <a:solidFill>
                            <a:schemeClr val="tx1"/>
                          </a:solidFill>
                        </a:rPr>
                        <a:t>Provides in-depth details about each employees - Employee 360 (tenure, moves, last survey, recognition, learning); Risk flags</a:t>
                      </a:r>
                      <a:endParaRPr lang="en-US" sz="1200" b="1" i="0" u="none" strike="noStrike" kern="1200" noProof="0">
                        <a:solidFill>
                          <a:schemeClr val="tx1"/>
                        </a:solidFill>
                        <a:latin typeface="+mn-lt"/>
                      </a:endParaRPr>
                    </a:p>
                  </a:txBody>
                  <a:tcPr>
                    <a:lnL w="6350" cap="flat" cmpd="sng" algn="ctr">
                      <a:solidFill>
                        <a:schemeClr val="bg1">
                          <a:lumMod val="75000"/>
                        </a:schemeClr>
                      </a:solidFill>
                      <a:prstDash val="solid"/>
                      <a:round/>
                      <a:headEnd type="none" w="med" len="med"/>
                      <a:tailEnd type="none" w="med" len="med"/>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a:solidFill>
                        <a:schemeClr val="bg1">
                          <a:lumMod val="75000"/>
                        </a:schemeClr>
                      </a:solidFill>
                    </a:lnB>
                    <a:noFill/>
                  </a:tcPr>
                </a:tc>
                <a:extLst>
                  <a:ext uri="{0D108BD9-81ED-4DB2-BD59-A6C34878D82A}">
                    <a16:rowId xmlns:a16="http://schemas.microsoft.com/office/drawing/2014/main" val="3417476375"/>
                  </a:ext>
                </a:extLst>
              </a:tr>
              <a:tr h="326080">
                <a:tc>
                  <a:txBody>
                    <a:bodyPr/>
                    <a:lstStyle/>
                    <a:p>
                      <a:pPr marL="228600" lvl="0" indent="-228600" algn="l">
                        <a:lnSpc>
                          <a:spcPct val="100000"/>
                        </a:lnSpc>
                        <a:spcBef>
                          <a:spcPts val="0"/>
                        </a:spcBef>
                        <a:spcAft>
                          <a:spcPts val="0"/>
                        </a:spcAft>
                        <a:buAutoNum type="arabicPeriod"/>
                      </a:pPr>
                      <a:endParaRPr lang="en-US" sz="1200" b="1" i="0" u="none" strike="noStrike" kern="1200" noProof="0">
                        <a:solidFill>
                          <a:srgbClr val="0070C0"/>
                        </a:solidFill>
                        <a:latin typeface="+mn-lt"/>
                      </a:endParaRPr>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tc>
                  <a:txBody>
                    <a:bodyPr/>
                    <a:lstStyle/>
                    <a:p>
                      <a:pPr marL="685800" lvl="1" indent="-228600" algn="l">
                        <a:lnSpc>
                          <a:spcPct val="100000"/>
                        </a:lnSpc>
                        <a:spcBef>
                          <a:spcPts val="0"/>
                        </a:spcBef>
                        <a:spcAft>
                          <a:spcPts val="0"/>
                        </a:spcAft>
                        <a:buFont typeface="Arial"/>
                        <a:buChar char="•"/>
                      </a:pPr>
                      <a:endParaRPr lang="en-US" sz="1200" b="1" i="0" u="none" strike="noStrike" kern="1200" noProof="0">
                        <a:solidFill>
                          <a:schemeClr val="tx1"/>
                        </a:solidFill>
                        <a:latin typeface="+mn-lt"/>
                      </a:endParaRPr>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extLst>
                  <a:ext uri="{0D108BD9-81ED-4DB2-BD59-A6C34878D82A}">
                    <a16:rowId xmlns:a16="http://schemas.microsoft.com/office/drawing/2014/main" val="1110178885"/>
                  </a:ext>
                </a:extLst>
              </a:tr>
            </a:tbl>
          </a:graphicData>
        </a:graphic>
      </p:graphicFrame>
      <p:sp>
        <p:nvSpPr>
          <p:cNvPr id="13" name="Rectangle 12">
            <a:extLst>
              <a:ext uri="{FF2B5EF4-FFF2-40B4-BE49-F238E27FC236}">
                <a16:creationId xmlns:a16="http://schemas.microsoft.com/office/drawing/2014/main" id="{7FDF14C6-0C22-4F52-5245-62C0C5796D16}"/>
              </a:ext>
            </a:extLst>
          </p:cNvPr>
          <p:cNvSpPr/>
          <p:nvPr/>
        </p:nvSpPr>
        <p:spPr>
          <a:xfrm>
            <a:off x="136167" y="861655"/>
            <a:ext cx="1170432" cy="42234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1100" b="1">
                <a:latin typeface="AirIndia"/>
              </a:rPr>
              <a:t>April 2026</a:t>
            </a:r>
            <a:endParaRPr lang="en-US"/>
          </a:p>
        </p:txBody>
      </p:sp>
      <p:sp>
        <p:nvSpPr>
          <p:cNvPr id="3" name="Rectangle 2">
            <a:extLst>
              <a:ext uri="{FF2B5EF4-FFF2-40B4-BE49-F238E27FC236}">
                <a16:creationId xmlns:a16="http://schemas.microsoft.com/office/drawing/2014/main" id="{F15A5B9A-5988-BEF9-73FE-C300BFE0BB2F}"/>
              </a:ext>
            </a:extLst>
          </p:cNvPr>
          <p:cNvSpPr/>
          <p:nvPr/>
        </p:nvSpPr>
        <p:spPr>
          <a:xfrm>
            <a:off x="3465009" y="6262087"/>
            <a:ext cx="90000" cy="90000"/>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
        <p:nvSpPr>
          <p:cNvPr id="4" name="Rectangle 3">
            <a:extLst>
              <a:ext uri="{FF2B5EF4-FFF2-40B4-BE49-F238E27FC236}">
                <a16:creationId xmlns:a16="http://schemas.microsoft.com/office/drawing/2014/main" id="{E554D8EC-083B-75A5-BC7D-70591EEE56D9}"/>
              </a:ext>
            </a:extLst>
          </p:cNvPr>
          <p:cNvSpPr/>
          <p:nvPr/>
        </p:nvSpPr>
        <p:spPr>
          <a:xfrm>
            <a:off x="3465009" y="6489649"/>
            <a:ext cx="90000" cy="90000"/>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
        <p:nvSpPr>
          <p:cNvPr id="5" name="Rectangle 4">
            <a:extLst>
              <a:ext uri="{FF2B5EF4-FFF2-40B4-BE49-F238E27FC236}">
                <a16:creationId xmlns:a16="http://schemas.microsoft.com/office/drawing/2014/main" id="{C94F6E15-6E73-5E56-DA76-076270C94F7D}"/>
              </a:ext>
            </a:extLst>
          </p:cNvPr>
          <p:cNvSpPr/>
          <p:nvPr/>
        </p:nvSpPr>
        <p:spPr>
          <a:xfrm>
            <a:off x="5567900" y="6262087"/>
            <a:ext cx="90000" cy="90000"/>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
        <p:nvSpPr>
          <p:cNvPr id="7" name="Rectangle 6">
            <a:extLst>
              <a:ext uri="{FF2B5EF4-FFF2-40B4-BE49-F238E27FC236}">
                <a16:creationId xmlns:a16="http://schemas.microsoft.com/office/drawing/2014/main" id="{D62074F7-79E5-7098-2F41-8F30101BC1CE}"/>
              </a:ext>
            </a:extLst>
          </p:cNvPr>
          <p:cNvSpPr/>
          <p:nvPr/>
        </p:nvSpPr>
        <p:spPr>
          <a:xfrm>
            <a:off x="5567900" y="6489649"/>
            <a:ext cx="90000" cy="90000"/>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
        <p:nvSpPr>
          <p:cNvPr id="8" name="TextBox 15">
            <a:extLst>
              <a:ext uri="{FF2B5EF4-FFF2-40B4-BE49-F238E27FC236}">
                <a16:creationId xmlns:a16="http://schemas.microsoft.com/office/drawing/2014/main" id="{F6173CD9-0E17-8EDA-DFE7-21A0FEA04D03}"/>
              </a:ext>
            </a:extLst>
          </p:cNvPr>
          <p:cNvSpPr txBox="1"/>
          <p:nvPr/>
        </p:nvSpPr>
        <p:spPr>
          <a:xfrm>
            <a:off x="3522317" y="6205238"/>
            <a:ext cx="857245"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000">
                <a:solidFill>
                  <a:srgbClr val="0070C0"/>
                </a:solidFill>
              </a:rPr>
              <a:t>Delivered</a:t>
            </a:r>
            <a:endParaRPr lang="en-IN" sz="1000"/>
          </a:p>
        </p:txBody>
      </p:sp>
      <p:sp>
        <p:nvSpPr>
          <p:cNvPr id="9" name="TextBox 18">
            <a:extLst>
              <a:ext uri="{FF2B5EF4-FFF2-40B4-BE49-F238E27FC236}">
                <a16:creationId xmlns:a16="http://schemas.microsoft.com/office/drawing/2014/main" id="{387BD767-FAF6-F408-1621-5B97AF66021E}"/>
              </a:ext>
            </a:extLst>
          </p:cNvPr>
          <p:cNvSpPr txBox="1"/>
          <p:nvPr/>
        </p:nvSpPr>
        <p:spPr>
          <a:xfrm>
            <a:off x="3520719" y="6430197"/>
            <a:ext cx="1032881"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000">
                <a:solidFill>
                  <a:srgbClr val="00B050"/>
                </a:solidFill>
              </a:rPr>
              <a:t>Ontrack</a:t>
            </a:r>
            <a:endParaRPr lang="en-IN" sz="1000"/>
          </a:p>
        </p:txBody>
      </p:sp>
      <p:sp>
        <p:nvSpPr>
          <p:cNvPr id="10" name="TextBox 20">
            <a:extLst>
              <a:ext uri="{FF2B5EF4-FFF2-40B4-BE49-F238E27FC236}">
                <a16:creationId xmlns:a16="http://schemas.microsoft.com/office/drawing/2014/main" id="{ACC3F4C7-FDD2-6545-066F-0ED3E9346592}"/>
              </a:ext>
            </a:extLst>
          </p:cNvPr>
          <p:cNvSpPr txBox="1"/>
          <p:nvPr/>
        </p:nvSpPr>
        <p:spPr>
          <a:xfrm>
            <a:off x="5653197" y="6220637"/>
            <a:ext cx="2257628"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000">
                <a:solidFill>
                  <a:schemeClr val="accent6">
                    <a:lumMod val="75000"/>
                  </a:schemeClr>
                </a:solidFill>
              </a:rPr>
              <a:t>Under delay and can be recovered</a:t>
            </a:r>
            <a:endParaRPr lang="en-IN" sz="1000"/>
          </a:p>
        </p:txBody>
      </p:sp>
      <p:sp>
        <p:nvSpPr>
          <p:cNvPr id="11" name="TextBox 22">
            <a:extLst>
              <a:ext uri="{FF2B5EF4-FFF2-40B4-BE49-F238E27FC236}">
                <a16:creationId xmlns:a16="http://schemas.microsoft.com/office/drawing/2014/main" id="{D39313C0-ADCB-FD34-1BD4-378695913631}"/>
              </a:ext>
            </a:extLst>
          </p:cNvPr>
          <p:cNvSpPr txBox="1"/>
          <p:nvPr/>
        </p:nvSpPr>
        <p:spPr>
          <a:xfrm>
            <a:off x="5657900" y="6437221"/>
            <a:ext cx="3069090"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000">
                <a:solidFill>
                  <a:schemeClr val="accent2"/>
                </a:solidFill>
              </a:rPr>
              <a:t>Delayed and pushed to next release</a:t>
            </a:r>
            <a:endParaRPr lang="en-IN" sz="1000"/>
          </a:p>
        </p:txBody>
      </p:sp>
      <p:graphicFrame>
        <p:nvGraphicFramePr>
          <p:cNvPr id="14" name="Table 13">
            <a:extLst>
              <a:ext uri="{FF2B5EF4-FFF2-40B4-BE49-F238E27FC236}">
                <a16:creationId xmlns:a16="http://schemas.microsoft.com/office/drawing/2014/main" id="{CEE634BA-A398-AA18-7F24-99A65FEE0732}"/>
              </a:ext>
            </a:extLst>
          </p:cNvPr>
          <p:cNvGraphicFramePr>
            <a:graphicFrameLocks noGrp="1"/>
          </p:cNvGraphicFramePr>
          <p:nvPr>
            <p:extLst>
              <p:ext uri="{D42A27DB-BD31-4B8C-83A1-F6EECF244321}">
                <p14:modId xmlns:p14="http://schemas.microsoft.com/office/powerpoint/2010/main" val="2591180754"/>
              </p:ext>
            </p:extLst>
          </p:nvPr>
        </p:nvGraphicFramePr>
        <p:xfrm>
          <a:off x="1295713" y="2652171"/>
          <a:ext cx="10697938" cy="842962"/>
        </p:xfrm>
        <a:graphic>
          <a:graphicData uri="http://schemas.openxmlformats.org/drawingml/2006/table">
            <a:tbl>
              <a:tblPr firstRow="1" bandRow="1">
                <a:tableStyleId>{5C22544A-7EE6-4342-B048-85BDC9FD1C3A}</a:tableStyleId>
              </a:tblPr>
              <a:tblGrid>
                <a:gridCol w="3759269">
                  <a:extLst>
                    <a:ext uri="{9D8B030D-6E8A-4147-A177-3AD203B41FA5}">
                      <a16:colId xmlns:a16="http://schemas.microsoft.com/office/drawing/2014/main" val="2822350773"/>
                    </a:ext>
                  </a:extLst>
                </a:gridCol>
                <a:gridCol w="6938669">
                  <a:extLst>
                    <a:ext uri="{9D8B030D-6E8A-4147-A177-3AD203B41FA5}">
                      <a16:colId xmlns:a16="http://schemas.microsoft.com/office/drawing/2014/main" val="99588705"/>
                    </a:ext>
                  </a:extLst>
                </a:gridCol>
              </a:tblGrid>
              <a:tr h="385762">
                <a:tc>
                  <a:txBody>
                    <a:bodyPr/>
                    <a:lstStyle/>
                    <a:p>
                      <a:pPr marL="0" lvl="0" indent="0" algn="ctr" defTabSz="914400" rtl="0" eaLnBrk="1" latinLnBrk="0" hangingPunct="1">
                        <a:lnSpc>
                          <a:spcPct val="100000"/>
                        </a:lnSpc>
                        <a:buFont typeface="Arial" panose="020B0604020202020204" pitchFamily="34" charset="0"/>
                        <a:buNone/>
                      </a:pPr>
                      <a:r>
                        <a:rPr lang="en-IN" sz="1200" kern="1200">
                          <a:solidFill>
                            <a:schemeClr val="bg1"/>
                          </a:solidFill>
                          <a:latin typeface="+mn-lt"/>
                          <a:ea typeface="+mn-ea"/>
                          <a:cs typeface="+mn-cs"/>
                        </a:rPr>
                        <a:t>Project/Initiative</a:t>
                      </a:r>
                      <a:endParaRPr lang="en-US" sz="1200"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tc>
                  <a:txBody>
                    <a:bodyPr/>
                    <a:lstStyle/>
                    <a:p>
                      <a:pPr marL="0" indent="0" algn="ctr" defTabSz="914400" rtl="0" eaLnBrk="1" latinLnBrk="0" hangingPunct="1">
                        <a:buFont typeface="Arial" panose="020B0604020202020204" pitchFamily="34" charset="0"/>
                        <a:buNone/>
                      </a:pPr>
                      <a:r>
                        <a:rPr lang="en-IN" sz="1200" kern="1200">
                          <a:solidFill>
                            <a:schemeClr val="bg1"/>
                          </a:solidFill>
                          <a:latin typeface="+mn-lt"/>
                          <a:ea typeface="+mn-ea"/>
                          <a:cs typeface="+mn-cs"/>
                        </a:rPr>
                        <a:t>Value Justification/Realization</a:t>
                      </a:r>
                      <a:endParaRPr lang="en-US" sz="1200"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extLst>
                  <a:ext uri="{0D108BD9-81ED-4DB2-BD59-A6C34878D82A}">
                    <a16:rowId xmlns:a16="http://schemas.microsoft.com/office/drawing/2014/main" val="844450115"/>
                  </a:ext>
                </a:extLst>
              </a:tr>
              <a:tr h="326080">
                <a:tc>
                  <a:txBody>
                    <a:bodyPr/>
                    <a:lstStyle/>
                    <a:p>
                      <a:pPr marL="228600" lvl="0" indent="-228600" algn="l">
                        <a:lnSpc>
                          <a:spcPct val="100000"/>
                        </a:lnSpc>
                        <a:spcBef>
                          <a:spcPts val="0"/>
                        </a:spcBef>
                        <a:spcAft>
                          <a:spcPts val="0"/>
                        </a:spcAft>
                        <a:buAutoNum type="arabicPeriod"/>
                      </a:pPr>
                      <a:r>
                        <a:rPr lang="en-US" sz="1200" b="1" i="0" u="none" strike="noStrike" kern="1200" noProof="0">
                          <a:solidFill>
                            <a:srgbClr val="0070C0"/>
                          </a:solidFill>
                          <a:latin typeface="+mn-lt"/>
                        </a:rPr>
                        <a:t>Workforce Analytics – Position Snapshot</a:t>
                      </a:r>
                    </a:p>
                  </a:txBody>
                  <a:tcPr>
                    <a:lnL w="6350">
                      <a:solidFill>
                        <a:schemeClr val="bg1">
                          <a:lumMod val="75000"/>
                        </a:schemeClr>
                      </a:solidFill>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a:solidFill>
                        <a:schemeClr val="bg1">
                          <a:lumMod val="75000"/>
                        </a:schemeClr>
                      </a:solidFill>
                    </a:lnB>
                    <a:noFill/>
                  </a:tcPr>
                </a:tc>
                <a:tc>
                  <a:txBody>
                    <a:bodyPr/>
                    <a:lstStyle/>
                    <a:p>
                      <a:pPr marL="457200" lvl="1" indent="0" algn="l">
                        <a:lnSpc>
                          <a:spcPct val="100000"/>
                        </a:lnSpc>
                        <a:spcBef>
                          <a:spcPts val="0"/>
                        </a:spcBef>
                        <a:spcAft>
                          <a:spcPts val="0"/>
                        </a:spcAft>
                        <a:buNone/>
                      </a:pPr>
                      <a:r>
                        <a:rPr lang="en-US" sz="1200" b="0" i="0" u="none" strike="noStrike" kern="1200" noProof="0">
                          <a:solidFill>
                            <a:schemeClr val="tx1"/>
                          </a:solidFill>
                          <a:latin typeface="+mn-lt"/>
                        </a:rPr>
                        <a:t>Provides details about positions in the organization – open positions, closed positions, time to fill etc</a:t>
                      </a:r>
                      <a:endParaRPr lang="en-US" sz="1200" b="0" i="0" u="none" strike="noStrike" kern="1200" noProof="0" err="1">
                        <a:solidFill>
                          <a:schemeClr val="tx1"/>
                        </a:solidFill>
                        <a:latin typeface="+mn-lt"/>
                      </a:endParaRPr>
                    </a:p>
                  </a:txBody>
                  <a:tcPr>
                    <a:lnL w="6350" cap="flat" cmpd="sng" algn="ctr">
                      <a:solidFill>
                        <a:schemeClr val="bg1">
                          <a:lumMod val="75000"/>
                        </a:schemeClr>
                      </a:solidFill>
                      <a:prstDash val="solid"/>
                      <a:round/>
                      <a:headEnd type="none" w="med" len="med"/>
                      <a:tailEnd type="none" w="med" len="med"/>
                    </a:lnL>
                    <a:lnR w="6350">
                      <a:solidFill>
                        <a:schemeClr val="bg1">
                          <a:lumMod val="75000"/>
                        </a:schemeClr>
                      </a:solidFill>
                    </a:lnR>
                    <a:lnT w="6350" cap="flat" cmpd="sng" algn="ctr">
                      <a:solidFill>
                        <a:schemeClr val="bg1">
                          <a:lumMod val="75000"/>
                        </a:schemeClr>
                      </a:solidFill>
                      <a:prstDash val="solid"/>
                      <a:round/>
                      <a:headEnd type="none" w="med" len="med"/>
                      <a:tailEnd type="none" w="med" len="med"/>
                    </a:lnT>
                    <a:lnB w="6350">
                      <a:solidFill>
                        <a:schemeClr val="bg1">
                          <a:lumMod val="75000"/>
                        </a:schemeClr>
                      </a:solidFill>
                    </a:lnB>
                    <a:noFill/>
                  </a:tcPr>
                </a:tc>
                <a:extLst>
                  <a:ext uri="{0D108BD9-81ED-4DB2-BD59-A6C34878D82A}">
                    <a16:rowId xmlns:a16="http://schemas.microsoft.com/office/drawing/2014/main" val="1110178885"/>
                  </a:ext>
                </a:extLst>
              </a:tr>
            </a:tbl>
          </a:graphicData>
        </a:graphic>
      </p:graphicFrame>
      <p:graphicFrame>
        <p:nvGraphicFramePr>
          <p:cNvPr id="15" name="Table 14">
            <a:extLst>
              <a:ext uri="{FF2B5EF4-FFF2-40B4-BE49-F238E27FC236}">
                <a16:creationId xmlns:a16="http://schemas.microsoft.com/office/drawing/2014/main" id="{1FD53804-F467-1D85-4600-0B6544CCE317}"/>
              </a:ext>
            </a:extLst>
          </p:cNvPr>
          <p:cNvGraphicFramePr>
            <a:graphicFrameLocks noGrp="1"/>
          </p:cNvGraphicFramePr>
          <p:nvPr>
            <p:extLst>
              <p:ext uri="{D42A27DB-BD31-4B8C-83A1-F6EECF244321}">
                <p14:modId xmlns:p14="http://schemas.microsoft.com/office/powerpoint/2010/main" val="277829095"/>
              </p:ext>
            </p:extLst>
          </p:nvPr>
        </p:nvGraphicFramePr>
        <p:xfrm>
          <a:off x="1295713" y="4383000"/>
          <a:ext cx="10697938" cy="1557589"/>
        </p:xfrm>
        <a:graphic>
          <a:graphicData uri="http://schemas.openxmlformats.org/drawingml/2006/table">
            <a:tbl>
              <a:tblPr firstRow="1" bandRow="1">
                <a:tableStyleId>{5C22544A-7EE6-4342-B048-85BDC9FD1C3A}</a:tableStyleId>
              </a:tblPr>
              <a:tblGrid>
                <a:gridCol w="3759269">
                  <a:extLst>
                    <a:ext uri="{9D8B030D-6E8A-4147-A177-3AD203B41FA5}">
                      <a16:colId xmlns:a16="http://schemas.microsoft.com/office/drawing/2014/main" val="2822350773"/>
                    </a:ext>
                  </a:extLst>
                </a:gridCol>
                <a:gridCol w="6938669">
                  <a:extLst>
                    <a:ext uri="{9D8B030D-6E8A-4147-A177-3AD203B41FA5}">
                      <a16:colId xmlns:a16="http://schemas.microsoft.com/office/drawing/2014/main" val="99588705"/>
                    </a:ext>
                  </a:extLst>
                </a:gridCol>
              </a:tblGrid>
              <a:tr h="217387">
                <a:tc>
                  <a:txBody>
                    <a:bodyPr/>
                    <a:lstStyle/>
                    <a:p>
                      <a:pPr marL="0" lvl="0" indent="0" algn="ctr" defTabSz="914400" rtl="0" eaLnBrk="1" latinLnBrk="0" hangingPunct="1">
                        <a:lnSpc>
                          <a:spcPct val="100000"/>
                        </a:lnSpc>
                        <a:buFont typeface="Arial" panose="020B0604020202020204" pitchFamily="34" charset="0"/>
                        <a:buNone/>
                      </a:pPr>
                      <a:r>
                        <a:rPr lang="en-IN" sz="1200" kern="1200">
                          <a:solidFill>
                            <a:schemeClr val="bg1"/>
                          </a:solidFill>
                          <a:latin typeface="+mn-lt"/>
                          <a:ea typeface="+mn-ea"/>
                          <a:cs typeface="+mn-cs"/>
                        </a:rPr>
                        <a:t>Project/Initiative</a:t>
                      </a:r>
                      <a:endParaRPr lang="en-US" sz="1200"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tc>
                  <a:txBody>
                    <a:bodyPr/>
                    <a:lstStyle/>
                    <a:p>
                      <a:pPr marL="0" indent="0" algn="ctr" defTabSz="914400" rtl="0" eaLnBrk="1" latinLnBrk="0" hangingPunct="1">
                        <a:buFont typeface="Arial" panose="020B0604020202020204" pitchFamily="34" charset="0"/>
                        <a:buNone/>
                      </a:pPr>
                      <a:r>
                        <a:rPr lang="en-IN" sz="1200" kern="1200">
                          <a:solidFill>
                            <a:schemeClr val="bg1"/>
                          </a:solidFill>
                          <a:latin typeface="+mn-lt"/>
                          <a:ea typeface="+mn-ea"/>
                          <a:cs typeface="+mn-cs"/>
                        </a:rPr>
                        <a:t>Value Justification/Realization</a:t>
                      </a:r>
                      <a:endParaRPr lang="en-US" sz="1200"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extLst>
                  <a:ext uri="{0D108BD9-81ED-4DB2-BD59-A6C34878D82A}">
                    <a16:rowId xmlns:a16="http://schemas.microsoft.com/office/drawing/2014/main" val="844450115"/>
                  </a:ext>
                </a:extLst>
              </a:tr>
              <a:tr h="499989">
                <a:tc>
                  <a:txBody>
                    <a:bodyPr/>
                    <a:lstStyle/>
                    <a:p>
                      <a:pPr marL="228600" lvl="0" indent="-228600" algn="l">
                        <a:lnSpc>
                          <a:spcPct val="100000"/>
                        </a:lnSpc>
                        <a:spcBef>
                          <a:spcPts val="0"/>
                        </a:spcBef>
                        <a:spcAft>
                          <a:spcPts val="0"/>
                        </a:spcAft>
                        <a:buFont typeface="+mj-lt"/>
                        <a:buAutoNum type="arabicPeriod"/>
                      </a:pPr>
                      <a:r>
                        <a:rPr lang="en-US" sz="1200" b="1" i="0" u="none" strike="noStrike" kern="1200" noProof="0">
                          <a:solidFill>
                            <a:srgbClr val="FF0000"/>
                          </a:solidFill>
                          <a:latin typeface="+mn-lt"/>
                        </a:rPr>
                        <a:t>HR Capability – Adoption on reports</a:t>
                      </a: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457200" lvl="1" indent="0" algn="l">
                        <a:lnSpc>
                          <a:spcPct val="100000"/>
                        </a:lnSpc>
                        <a:spcBef>
                          <a:spcPts val="0"/>
                        </a:spcBef>
                        <a:spcAft>
                          <a:spcPts val="0"/>
                        </a:spcAft>
                        <a:buNone/>
                      </a:pPr>
                      <a:r>
                        <a:rPr lang="en-US" sz="1200" b="0" i="0" u="none" strike="noStrike" kern="1200" noProof="0">
                          <a:solidFill>
                            <a:schemeClr val="tx1"/>
                          </a:solidFill>
                        </a:rPr>
                        <a:t>Provides a view on adoption of HR reports created - Active users; Views per report; Action-taken rate; Adoption heatmap</a:t>
                      </a:r>
                      <a:endParaRPr lang="en-US" sz="1200" b="0" i="0" u="none" strike="noStrike" kern="1200" noProof="0">
                        <a:solidFill>
                          <a:schemeClr val="tx1"/>
                        </a:solidFill>
                        <a:latin typeface="+mn-lt"/>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443371065"/>
                  </a:ext>
                </a:extLst>
              </a:tr>
              <a:tr h="326080">
                <a:tc>
                  <a:txBody>
                    <a:bodyPr/>
                    <a:lstStyle/>
                    <a:p>
                      <a:pPr marL="0" lvl="0" indent="0" algn="l">
                        <a:lnSpc>
                          <a:spcPct val="100000"/>
                        </a:lnSpc>
                        <a:spcBef>
                          <a:spcPts val="0"/>
                        </a:spcBef>
                        <a:spcAft>
                          <a:spcPts val="0"/>
                        </a:spcAft>
                        <a:buNone/>
                      </a:pPr>
                      <a:r>
                        <a:rPr lang="en-US" sz="1200" b="1" i="0" u="none" strike="noStrike" kern="1200" noProof="0">
                          <a:solidFill>
                            <a:srgbClr val="FF0000"/>
                          </a:solidFill>
                          <a:latin typeface="+mn-lt"/>
                        </a:rPr>
                        <a:t>2.   Organization effectiveness - </a:t>
                      </a:r>
                      <a:r>
                        <a:rPr lang="en-US" sz="1200" b="0" i="0" u="none" strike="noStrike" kern="1200" noProof="0">
                          <a:solidFill>
                            <a:srgbClr val="FF0000"/>
                          </a:solidFill>
                        </a:rPr>
                        <a:t>Employee Cost (AOP Cost + Revenue Cost)</a:t>
                      </a:r>
                      <a:endParaRPr lang="en-US" sz="1200" b="1" i="0" u="none" strike="noStrike" kern="1200" noProof="0">
                        <a:solidFill>
                          <a:srgbClr val="FF0000"/>
                        </a:solidFill>
                        <a:latin typeface="+mn-lt"/>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457200" lvl="1" indent="0" algn="l">
                        <a:lnSpc>
                          <a:spcPct val="100000"/>
                        </a:lnSpc>
                        <a:spcBef>
                          <a:spcPts val="0"/>
                        </a:spcBef>
                        <a:spcAft>
                          <a:spcPts val="0"/>
                        </a:spcAft>
                        <a:buNone/>
                      </a:pPr>
                      <a:r>
                        <a:rPr lang="en-US" sz="1200" b="0" i="0" u="none" strike="noStrike" kern="1200" noProof="0">
                          <a:solidFill>
                            <a:schemeClr val="tx1"/>
                          </a:solidFill>
                        </a:rPr>
                        <a:t>AOP vs Actual HR cost; HR cost per ASK slice; Saving %</a:t>
                      </a:r>
                      <a:endParaRPr lang="en-US" sz="1200" b="0" i="0" u="none" strike="noStrike" kern="1200" noProof="0">
                        <a:solidFill>
                          <a:schemeClr val="tx1"/>
                        </a:solidFill>
                        <a:latin typeface="+mn-lt"/>
                      </a:endParaRPr>
                    </a:p>
                    <a:p>
                      <a:pPr marL="685800" lvl="1" indent="-228600" algn="l">
                        <a:lnSpc>
                          <a:spcPct val="100000"/>
                        </a:lnSpc>
                        <a:spcBef>
                          <a:spcPts val="0"/>
                        </a:spcBef>
                        <a:spcAft>
                          <a:spcPts val="0"/>
                        </a:spcAft>
                        <a:buFont typeface="Arial" panose="020B0604020202020204" pitchFamily="34" charset="0"/>
                        <a:buChar char="•"/>
                      </a:pPr>
                      <a:endParaRPr lang="en-US" sz="1200" b="1" i="0" u="none" strike="noStrike" kern="1200" noProof="0">
                        <a:solidFill>
                          <a:schemeClr val="tx1"/>
                        </a:solidFill>
                        <a:latin typeface="+mn-lt"/>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417476375"/>
                  </a:ext>
                </a:extLst>
              </a:tr>
              <a:tr h="326080">
                <a:tc>
                  <a:txBody>
                    <a:bodyPr/>
                    <a:lstStyle/>
                    <a:p>
                      <a:pPr marL="228600" lvl="0" indent="-228600" algn="l">
                        <a:lnSpc>
                          <a:spcPct val="100000"/>
                        </a:lnSpc>
                        <a:spcBef>
                          <a:spcPts val="0"/>
                        </a:spcBef>
                        <a:spcAft>
                          <a:spcPts val="0"/>
                        </a:spcAft>
                        <a:buAutoNum type="arabicPeriod"/>
                      </a:pPr>
                      <a:endParaRPr lang="en-US" sz="1200" b="1" i="0" u="none" strike="noStrike" kern="1200" noProof="0">
                        <a:solidFill>
                          <a:srgbClr val="0070C0"/>
                        </a:solidFill>
                        <a:latin typeface="+mn-lt"/>
                      </a:endParaRPr>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tc>
                  <a:txBody>
                    <a:bodyPr/>
                    <a:lstStyle/>
                    <a:p>
                      <a:pPr marL="685800" lvl="1" indent="-228600" algn="l">
                        <a:lnSpc>
                          <a:spcPct val="100000"/>
                        </a:lnSpc>
                        <a:spcBef>
                          <a:spcPts val="0"/>
                        </a:spcBef>
                        <a:spcAft>
                          <a:spcPts val="0"/>
                        </a:spcAft>
                        <a:buFont typeface="Arial"/>
                        <a:buChar char="•"/>
                      </a:pPr>
                      <a:endParaRPr lang="en-US" sz="1200" b="1" i="0" u="none" strike="noStrike" kern="1200" noProof="0">
                        <a:solidFill>
                          <a:schemeClr val="tx1"/>
                        </a:solidFill>
                        <a:latin typeface="+mn-lt"/>
                      </a:endParaRPr>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extLst>
                  <a:ext uri="{0D108BD9-81ED-4DB2-BD59-A6C34878D82A}">
                    <a16:rowId xmlns:a16="http://schemas.microsoft.com/office/drawing/2014/main" val="1110178885"/>
                  </a:ext>
                </a:extLst>
              </a:tr>
            </a:tbl>
          </a:graphicData>
        </a:graphic>
      </p:graphicFrame>
      <p:sp>
        <p:nvSpPr>
          <p:cNvPr id="16" name="Rectangle 15">
            <a:extLst>
              <a:ext uri="{FF2B5EF4-FFF2-40B4-BE49-F238E27FC236}">
                <a16:creationId xmlns:a16="http://schemas.microsoft.com/office/drawing/2014/main" id="{41A205C2-5751-5CB1-0BEC-0B1E1CD59D9A}"/>
              </a:ext>
            </a:extLst>
          </p:cNvPr>
          <p:cNvSpPr/>
          <p:nvPr/>
        </p:nvSpPr>
        <p:spPr>
          <a:xfrm>
            <a:off x="125281" y="2646912"/>
            <a:ext cx="1170432" cy="42234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1100" b="1">
                <a:latin typeface="AirIndia"/>
              </a:rPr>
              <a:t>May 2026</a:t>
            </a:r>
            <a:endParaRPr lang="en-US"/>
          </a:p>
        </p:txBody>
      </p:sp>
      <p:sp>
        <p:nvSpPr>
          <p:cNvPr id="17" name="Rectangle 16">
            <a:extLst>
              <a:ext uri="{FF2B5EF4-FFF2-40B4-BE49-F238E27FC236}">
                <a16:creationId xmlns:a16="http://schemas.microsoft.com/office/drawing/2014/main" id="{D957E1E4-6866-C2E3-3D80-7C008705F444}"/>
              </a:ext>
            </a:extLst>
          </p:cNvPr>
          <p:cNvSpPr/>
          <p:nvPr/>
        </p:nvSpPr>
        <p:spPr>
          <a:xfrm>
            <a:off x="136167" y="4377740"/>
            <a:ext cx="1170432" cy="42234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1100" b="1">
                <a:latin typeface="AirIndia"/>
              </a:rPr>
              <a:t>June 2026</a:t>
            </a:r>
            <a:endParaRPr lang="en-US"/>
          </a:p>
        </p:txBody>
      </p:sp>
    </p:spTree>
    <p:extLst>
      <p:ext uri="{BB962C8B-B14F-4D97-AF65-F5344CB8AC3E}">
        <p14:creationId xmlns:p14="http://schemas.microsoft.com/office/powerpoint/2010/main" val="3519073688"/>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5CD933-CD52-2CAC-8174-0DEABC61C5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2F32DB-EF8E-E01C-6DE1-978DA131A764}"/>
              </a:ext>
            </a:extLst>
          </p:cNvPr>
          <p:cNvSpPr>
            <a:spLocks noGrp="1"/>
          </p:cNvSpPr>
          <p:nvPr>
            <p:ph type="title"/>
          </p:nvPr>
        </p:nvSpPr>
        <p:spPr>
          <a:xfrm>
            <a:off x="5876373" y="2114927"/>
            <a:ext cx="6907630" cy="1961201"/>
          </a:xfrm>
        </p:spPr>
        <p:txBody>
          <a:bodyPr/>
          <a:lstStyle/>
          <a:p>
            <a:r>
              <a:rPr lang="en-US" sz="5400">
                <a:latin typeface="AirIndia"/>
              </a:rPr>
              <a:t>HR-Q2</a:t>
            </a:r>
            <a:endParaRPr lang="en-US" sz="5400"/>
          </a:p>
        </p:txBody>
      </p:sp>
    </p:spTree>
    <p:extLst>
      <p:ext uri="{BB962C8B-B14F-4D97-AF65-F5344CB8AC3E}">
        <p14:creationId xmlns:p14="http://schemas.microsoft.com/office/powerpoint/2010/main" val="684657761"/>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2F1AC7-5DAC-287F-7E9A-F50A75B9480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11410C9-D0D2-9CA3-4FC5-98B273B1DF2F}"/>
              </a:ext>
            </a:extLst>
          </p:cNvPr>
          <p:cNvSpPr>
            <a:spLocks noGrp="1"/>
          </p:cNvSpPr>
          <p:nvPr>
            <p:ph type="sldNum" sz="quarter" idx="12"/>
          </p:nvPr>
        </p:nvSpPr>
        <p:spPr/>
        <p:txBody>
          <a:bodyPr/>
          <a:lstStyle/>
          <a:p>
            <a:fld id="{3A41A254-7326-714E-AF55-4C213D6394DE}" type="slidenum">
              <a:rPr lang="en-US" smtClean="0"/>
              <a:pPr/>
              <a:t>126</a:t>
            </a:fld>
            <a:endParaRPr lang="en-US"/>
          </a:p>
        </p:txBody>
      </p:sp>
      <p:sp>
        <p:nvSpPr>
          <p:cNvPr id="6" name="Title 11">
            <a:extLst>
              <a:ext uri="{FF2B5EF4-FFF2-40B4-BE49-F238E27FC236}">
                <a16:creationId xmlns:a16="http://schemas.microsoft.com/office/drawing/2014/main" id="{4659894D-C5EA-0F1B-3B42-61A0BE880C1E}"/>
              </a:ext>
            </a:extLst>
          </p:cNvPr>
          <p:cNvSpPr txBox="1">
            <a:spLocks/>
          </p:cNvSpPr>
          <p:nvPr/>
        </p:nvSpPr>
        <p:spPr>
          <a:xfrm>
            <a:off x="166915" y="307594"/>
            <a:ext cx="5910942" cy="403895"/>
          </a:xfrm>
          <a:prstGeom prst="rect">
            <a:avLst/>
          </a:prstGeom>
        </p:spPr>
        <p:txBody>
          <a:bodyPr lIns="91440" tIns="45720" rIns="91440" bIns="45720" anchor="t">
            <a:noAutofit/>
          </a:bodyPr>
          <a:lstStyle>
            <a:lvl1pPr algn="l" defTabSz="914400" rtl="0" eaLnBrk="1" latinLnBrk="0" hangingPunct="1">
              <a:lnSpc>
                <a:spcPct val="90000"/>
              </a:lnSpc>
              <a:spcBef>
                <a:spcPct val="0"/>
              </a:spcBef>
              <a:buNone/>
              <a:defRPr sz="4400" b="1" i="0" kern="1200">
                <a:solidFill>
                  <a:schemeClr val="tx1"/>
                </a:solidFill>
                <a:latin typeface="AirIndia" pitchFamily="82" charset="77"/>
                <a:ea typeface="+mj-ea"/>
                <a:cs typeface="+mj-cs"/>
              </a:defRPr>
            </a:lvl1pPr>
          </a:lstStyle>
          <a:p>
            <a:r>
              <a:rPr lang="en-US" sz="2400">
                <a:solidFill>
                  <a:schemeClr val="accent1"/>
                </a:solidFill>
                <a:latin typeface="AirIndia"/>
              </a:rPr>
              <a:t>HR - FY26 Q2 Release Plan</a:t>
            </a:r>
            <a:endParaRPr lang="en-US" sz="2400" b="0">
              <a:solidFill>
                <a:schemeClr val="accent1"/>
              </a:solidFill>
              <a:latin typeface="AirIndia"/>
            </a:endParaRPr>
          </a:p>
          <a:p>
            <a:endParaRPr lang="en-US" sz="1800">
              <a:solidFill>
                <a:schemeClr val="accent1"/>
              </a:solidFill>
              <a:latin typeface="AirIndia"/>
            </a:endParaRPr>
          </a:p>
        </p:txBody>
      </p:sp>
      <p:graphicFrame>
        <p:nvGraphicFramePr>
          <p:cNvPr id="12" name="Table 11">
            <a:extLst>
              <a:ext uri="{FF2B5EF4-FFF2-40B4-BE49-F238E27FC236}">
                <a16:creationId xmlns:a16="http://schemas.microsoft.com/office/drawing/2014/main" id="{DBBE960C-8E0D-54A6-8A6C-CD10BBA89063}"/>
              </a:ext>
            </a:extLst>
          </p:cNvPr>
          <p:cNvGraphicFramePr>
            <a:graphicFrameLocks noGrp="1"/>
          </p:cNvGraphicFramePr>
          <p:nvPr>
            <p:extLst>
              <p:ext uri="{D42A27DB-BD31-4B8C-83A1-F6EECF244321}">
                <p14:modId xmlns:p14="http://schemas.microsoft.com/office/powerpoint/2010/main" val="1768973442"/>
              </p:ext>
            </p:extLst>
          </p:nvPr>
        </p:nvGraphicFramePr>
        <p:xfrm>
          <a:off x="1295713" y="866914"/>
          <a:ext cx="10697938" cy="2063440"/>
        </p:xfrm>
        <a:graphic>
          <a:graphicData uri="http://schemas.openxmlformats.org/drawingml/2006/table">
            <a:tbl>
              <a:tblPr firstRow="1" bandRow="1">
                <a:tableStyleId>{5C22544A-7EE6-4342-B048-85BDC9FD1C3A}</a:tableStyleId>
              </a:tblPr>
              <a:tblGrid>
                <a:gridCol w="3759269">
                  <a:extLst>
                    <a:ext uri="{9D8B030D-6E8A-4147-A177-3AD203B41FA5}">
                      <a16:colId xmlns:a16="http://schemas.microsoft.com/office/drawing/2014/main" val="2822350773"/>
                    </a:ext>
                  </a:extLst>
                </a:gridCol>
                <a:gridCol w="6938669">
                  <a:extLst>
                    <a:ext uri="{9D8B030D-6E8A-4147-A177-3AD203B41FA5}">
                      <a16:colId xmlns:a16="http://schemas.microsoft.com/office/drawing/2014/main" val="99588705"/>
                    </a:ext>
                  </a:extLst>
                </a:gridCol>
              </a:tblGrid>
              <a:tr h="217387">
                <a:tc>
                  <a:txBody>
                    <a:bodyPr/>
                    <a:lstStyle/>
                    <a:p>
                      <a:pPr marL="0" lvl="0" indent="0" algn="ctr" defTabSz="914400" rtl="0" eaLnBrk="1" latinLnBrk="0" hangingPunct="1">
                        <a:lnSpc>
                          <a:spcPct val="100000"/>
                        </a:lnSpc>
                        <a:buFont typeface="Arial" panose="020B0604020202020204" pitchFamily="34" charset="0"/>
                        <a:buNone/>
                      </a:pPr>
                      <a:r>
                        <a:rPr lang="en-IN" sz="1200" kern="1200">
                          <a:solidFill>
                            <a:schemeClr val="bg1"/>
                          </a:solidFill>
                          <a:latin typeface="+mn-lt"/>
                          <a:ea typeface="+mn-ea"/>
                          <a:cs typeface="+mn-cs"/>
                        </a:rPr>
                        <a:t>Project/Initiative</a:t>
                      </a:r>
                      <a:endParaRPr lang="en-US" sz="1200"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tc>
                  <a:txBody>
                    <a:bodyPr/>
                    <a:lstStyle/>
                    <a:p>
                      <a:pPr marL="0" indent="0" algn="ctr" defTabSz="914400" rtl="0" eaLnBrk="1" latinLnBrk="0" hangingPunct="1">
                        <a:buFont typeface="Arial" panose="020B0604020202020204" pitchFamily="34" charset="0"/>
                        <a:buNone/>
                      </a:pPr>
                      <a:r>
                        <a:rPr lang="en-IN" sz="1200" kern="1200">
                          <a:solidFill>
                            <a:schemeClr val="bg1"/>
                          </a:solidFill>
                          <a:latin typeface="+mn-lt"/>
                          <a:ea typeface="+mn-ea"/>
                          <a:cs typeface="+mn-cs"/>
                        </a:rPr>
                        <a:t>Value Justification/Realization</a:t>
                      </a:r>
                      <a:endParaRPr lang="en-US" sz="1200"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extLst>
                  <a:ext uri="{0D108BD9-81ED-4DB2-BD59-A6C34878D82A}">
                    <a16:rowId xmlns:a16="http://schemas.microsoft.com/office/drawing/2014/main" val="844450115"/>
                  </a:ext>
                </a:extLst>
              </a:tr>
              <a:tr h="499989">
                <a:tc>
                  <a:txBody>
                    <a:bodyPr/>
                    <a:lstStyle/>
                    <a:p>
                      <a:pPr marL="228600" lvl="0" indent="-228600" algn="l">
                        <a:lnSpc>
                          <a:spcPct val="100000"/>
                        </a:lnSpc>
                        <a:spcBef>
                          <a:spcPts val="0"/>
                        </a:spcBef>
                        <a:spcAft>
                          <a:spcPts val="0"/>
                        </a:spcAft>
                        <a:buAutoNum type="arabicPeriod"/>
                      </a:pPr>
                      <a:r>
                        <a:rPr lang="en-US" sz="1200" b="0" i="0" u="none" strike="noStrike" kern="1200" noProof="0">
                          <a:solidFill>
                            <a:srgbClr val="05B050"/>
                          </a:solidFill>
                        </a:rPr>
                        <a:t>HR Helpdesk Enhancement Report</a:t>
                      </a:r>
                      <a:endParaRPr lang="en-US" sz="1200" b="1" i="0" u="none" strike="noStrike" kern="1200" noProof="0">
                        <a:solidFill>
                          <a:srgbClr val="05B050"/>
                        </a:solidFill>
                        <a:latin typeface="+mn-lt"/>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457200" lvl="1" indent="0" algn="l">
                        <a:lnSpc>
                          <a:spcPct val="100000"/>
                        </a:lnSpc>
                        <a:spcBef>
                          <a:spcPts val="0"/>
                        </a:spcBef>
                        <a:spcAft>
                          <a:spcPts val="0"/>
                        </a:spcAft>
                        <a:buNone/>
                      </a:pPr>
                      <a:r>
                        <a:rPr lang="en-US" sz="1200" b="0" i="0" u="none" strike="noStrike" kern="1200" noProof="0">
                          <a:solidFill>
                            <a:schemeClr val="tx1"/>
                          </a:solidFill>
                          <a:latin typeface="Aptos"/>
                        </a:rPr>
                        <a:t>Aims to strengthen  HR Helpdesk operations by providing insights into ticket volumes, resolution performance, SLA adherence, reopen and reassignment trends, resolver workload, and overall service efficiency.  Supports data-driven decision-making, improve operational governance, and help identify opportunities to enhance employee service experience</a:t>
                      </a:r>
                      <a:endParaRPr lang="en-US" sz="1200" b="0" i="0" u="none" strike="noStrike" kern="1200" noProof="0">
                        <a:solidFill>
                          <a:schemeClr val="tx1"/>
                        </a:solidFill>
                        <a:latin typeface="+mn-lt"/>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443371065"/>
                  </a:ext>
                </a:extLst>
              </a:tr>
              <a:tr h="326080">
                <a:tc>
                  <a:txBody>
                    <a:bodyPr/>
                    <a:lstStyle/>
                    <a:p>
                      <a:pPr marL="0" lvl="0" indent="0" algn="l">
                        <a:lnSpc>
                          <a:spcPct val="100000"/>
                        </a:lnSpc>
                        <a:spcBef>
                          <a:spcPts val="0"/>
                        </a:spcBef>
                        <a:spcAft>
                          <a:spcPts val="0"/>
                        </a:spcAft>
                        <a:buNone/>
                      </a:pPr>
                      <a:r>
                        <a:rPr lang="en-US" sz="1200" b="0" i="0" u="none" strike="noStrike" kern="1200" noProof="0">
                          <a:solidFill>
                            <a:srgbClr val="05B050"/>
                          </a:solidFill>
                        </a:rPr>
                        <a:t>2.    People Leave Analytics</a:t>
                      </a:r>
                      <a:endParaRPr lang="en-US" sz="1200" b="1" i="0" u="none" strike="noStrike" kern="1200" noProof="0">
                        <a:solidFill>
                          <a:srgbClr val="05B050"/>
                        </a:solidFill>
                        <a:latin typeface="+mn-lt"/>
                      </a:endParaRPr>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marL="457200" lvl="1" indent="0" algn="l">
                        <a:lnSpc>
                          <a:spcPct val="100000"/>
                        </a:lnSpc>
                        <a:spcBef>
                          <a:spcPts val="0"/>
                        </a:spcBef>
                        <a:spcAft>
                          <a:spcPts val="0"/>
                        </a:spcAft>
                        <a:buNone/>
                      </a:pPr>
                      <a:r>
                        <a:rPr lang="en-US" sz="1200" b="0" i="0" u="none" strike="noStrike" kern="1200" noProof="0">
                          <a:solidFill>
                            <a:schemeClr val="tx1"/>
                          </a:solidFill>
                          <a:latin typeface="Aptos"/>
                        </a:rPr>
                        <a:t>Provides a comprehensive view of leave utilization, leave balances, leave behavior, and leave liability across the organization. The insights will support workforce planning, policy monitoring, and informed decision-making for HR and business leaders</a:t>
                      </a:r>
                      <a:endParaRPr lang="en-US" sz="1200" b="1" i="0" u="none" strike="noStrike" kern="1200" noProof="0">
                        <a:solidFill>
                          <a:schemeClr val="tx1"/>
                        </a:solidFill>
                        <a:latin typeface="+mn-lt"/>
                      </a:endParaRPr>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417476375"/>
                  </a:ext>
                </a:extLst>
              </a:tr>
              <a:tr h="326080">
                <a:tc>
                  <a:txBody>
                    <a:bodyPr/>
                    <a:lstStyle/>
                    <a:p>
                      <a:pPr marL="228600" lvl="0" indent="-228600" algn="l">
                        <a:lnSpc>
                          <a:spcPct val="100000"/>
                        </a:lnSpc>
                        <a:spcBef>
                          <a:spcPts val="0"/>
                        </a:spcBef>
                        <a:spcAft>
                          <a:spcPts val="0"/>
                        </a:spcAft>
                        <a:buAutoNum type="arabicPeriod"/>
                      </a:pPr>
                      <a:endParaRPr lang="en-US" sz="1200" b="1" i="0" u="none" strike="noStrike" kern="1200" noProof="0">
                        <a:solidFill>
                          <a:srgbClr val="0070C0"/>
                        </a:solidFill>
                        <a:latin typeface="+mn-lt"/>
                      </a:endParaRPr>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tc>
                  <a:txBody>
                    <a:bodyPr/>
                    <a:lstStyle/>
                    <a:p>
                      <a:pPr marL="685800" lvl="1" indent="-228600" algn="l">
                        <a:lnSpc>
                          <a:spcPct val="100000"/>
                        </a:lnSpc>
                        <a:spcBef>
                          <a:spcPts val="0"/>
                        </a:spcBef>
                        <a:spcAft>
                          <a:spcPts val="0"/>
                        </a:spcAft>
                        <a:buFont typeface="Arial"/>
                        <a:buChar char="•"/>
                      </a:pPr>
                      <a:endParaRPr lang="en-US" sz="1200" b="1" i="0" u="none" strike="noStrike" kern="1200" noProof="0">
                        <a:solidFill>
                          <a:schemeClr val="tx1"/>
                        </a:solidFill>
                        <a:latin typeface="+mn-lt"/>
                      </a:endParaRPr>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extLst>
                  <a:ext uri="{0D108BD9-81ED-4DB2-BD59-A6C34878D82A}">
                    <a16:rowId xmlns:a16="http://schemas.microsoft.com/office/drawing/2014/main" val="1110178885"/>
                  </a:ext>
                </a:extLst>
              </a:tr>
            </a:tbl>
          </a:graphicData>
        </a:graphic>
      </p:graphicFrame>
      <p:sp>
        <p:nvSpPr>
          <p:cNvPr id="13" name="Rectangle 12">
            <a:extLst>
              <a:ext uri="{FF2B5EF4-FFF2-40B4-BE49-F238E27FC236}">
                <a16:creationId xmlns:a16="http://schemas.microsoft.com/office/drawing/2014/main" id="{014C908F-95E2-F0B9-D899-7B43DE365D59}"/>
              </a:ext>
            </a:extLst>
          </p:cNvPr>
          <p:cNvSpPr/>
          <p:nvPr/>
        </p:nvSpPr>
        <p:spPr>
          <a:xfrm>
            <a:off x="136167" y="861655"/>
            <a:ext cx="1170432" cy="42234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1100" b="1">
                <a:latin typeface="AirIndia"/>
              </a:rPr>
              <a:t>July 2026</a:t>
            </a:r>
            <a:endParaRPr lang="en-US"/>
          </a:p>
        </p:txBody>
      </p:sp>
      <p:sp>
        <p:nvSpPr>
          <p:cNvPr id="3" name="Rectangle 2">
            <a:extLst>
              <a:ext uri="{FF2B5EF4-FFF2-40B4-BE49-F238E27FC236}">
                <a16:creationId xmlns:a16="http://schemas.microsoft.com/office/drawing/2014/main" id="{FAD9759B-D243-F0DA-6A41-C138C5B1A1BA}"/>
              </a:ext>
            </a:extLst>
          </p:cNvPr>
          <p:cNvSpPr/>
          <p:nvPr/>
        </p:nvSpPr>
        <p:spPr>
          <a:xfrm>
            <a:off x="3465009" y="6262087"/>
            <a:ext cx="90000" cy="90000"/>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
        <p:nvSpPr>
          <p:cNvPr id="4" name="Rectangle 3">
            <a:extLst>
              <a:ext uri="{FF2B5EF4-FFF2-40B4-BE49-F238E27FC236}">
                <a16:creationId xmlns:a16="http://schemas.microsoft.com/office/drawing/2014/main" id="{F20E3B53-F59F-94E4-A4BE-7CA9143028AF}"/>
              </a:ext>
            </a:extLst>
          </p:cNvPr>
          <p:cNvSpPr/>
          <p:nvPr/>
        </p:nvSpPr>
        <p:spPr>
          <a:xfrm>
            <a:off x="3465009" y="6489649"/>
            <a:ext cx="90000" cy="90000"/>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
        <p:nvSpPr>
          <p:cNvPr id="5" name="Rectangle 4">
            <a:extLst>
              <a:ext uri="{FF2B5EF4-FFF2-40B4-BE49-F238E27FC236}">
                <a16:creationId xmlns:a16="http://schemas.microsoft.com/office/drawing/2014/main" id="{BC798415-87BF-9CA9-5634-B826A41AD0C3}"/>
              </a:ext>
            </a:extLst>
          </p:cNvPr>
          <p:cNvSpPr/>
          <p:nvPr/>
        </p:nvSpPr>
        <p:spPr>
          <a:xfrm>
            <a:off x="5567900" y="6262087"/>
            <a:ext cx="90000" cy="90000"/>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
        <p:nvSpPr>
          <p:cNvPr id="7" name="Rectangle 6">
            <a:extLst>
              <a:ext uri="{FF2B5EF4-FFF2-40B4-BE49-F238E27FC236}">
                <a16:creationId xmlns:a16="http://schemas.microsoft.com/office/drawing/2014/main" id="{219F35DB-0F63-A5FE-2363-71FD0C296FD0}"/>
              </a:ext>
            </a:extLst>
          </p:cNvPr>
          <p:cNvSpPr/>
          <p:nvPr/>
        </p:nvSpPr>
        <p:spPr>
          <a:xfrm>
            <a:off x="5567900" y="6489649"/>
            <a:ext cx="90000" cy="90000"/>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
        <p:nvSpPr>
          <p:cNvPr id="8" name="TextBox 15">
            <a:extLst>
              <a:ext uri="{FF2B5EF4-FFF2-40B4-BE49-F238E27FC236}">
                <a16:creationId xmlns:a16="http://schemas.microsoft.com/office/drawing/2014/main" id="{80DE11AB-64B3-D27F-628E-AAB78073EFF9}"/>
              </a:ext>
            </a:extLst>
          </p:cNvPr>
          <p:cNvSpPr txBox="1"/>
          <p:nvPr/>
        </p:nvSpPr>
        <p:spPr>
          <a:xfrm>
            <a:off x="3522317" y="6205238"/>
            <a:ext cx="857245"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000">
                <a:solidFill>
                  <a:srgbClr val="0070C0"/>
                </a:solidFill>
              </a:rPr>
              <a:t>Delivered</a:t>
            </a:r>
            <a:endParaRPr lang="en-IN" sz="1000"/>
          </a:p>
        </p:txBody>
      </p:sp>
      <p:sp>
        <p:nvSpPr>
          <p:cNvPr id="9" name="TextBox 18">
            <a:extLst>
              <a:ext uri="{FF2B5EF4-FFF2-40B4-BE49-F238E27FC236}">
                <a16:creationId xmlns:a16="http://schemas.microsoft.com/office/drawing/2014/main" id="{5BEA1181-FEE0-753F-D113-984CEB77147E}"/>
              </a:ext>
            </a:extLst>
          </p:cNvPr>
          <p:cNvSpPr txBox="1"/>
          <p:nvPr/>
        </p:nvSpPr>
        <p:spPr>
          <a:xfrm>
            <a:off x="3520719" y="6430197"/>
            <a:ext cx="1032881"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000">
                <a:solidFill>
                  <a:srgbClr val="00B050"/>
                </a:solidFill>
              </a:rPr>
              <a:t>Ontrack</a:t>
            </a:r>
            <a:endParaRPr lang="en-IN" sz="1000"/>
          </a:p>
        </p:txBody>
      </p:sp>
      <p:sp>
        <p:nvSpPr>
          <p:cNvPr id="10" name="TextBox 20">
            <a:extLst>
              <a:ext uri="{FF2B5EF4-FFF2-40B4-BE49-F238E27FC236}">
                <a16:creationId xmlns:a16="http://schemas.microsoft.com/office/drawing/2014/main" id="{AC526DA2-8D31-72B1-49D9-7D681FB89DD7}"/>
              </a:ext>
            </a:extLst>
          </p:cNvPr>
          <p:cNvSpPr txBox="1"/>
          <p:nvPr/>
        </p:nvSpPr>
        <p:spPr>
          <a:xfrm>
            <a:off x="5653197" y="6220637"/>
            <a:ext cx="2257628"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000">
                <a:solidFill>
                  <a:schemeClr val="accent6">
                    <a:lumMod val="75000"/>
                  </a:schemeClr>
                </a:solidFill>
              </a:rPr>
              <a:t>Under delay and can be recovered</a:t>
            </a:r>
            <a:endParaRPr lang="en-IN" sz="1000"/>
          </a:p>
        </p:txBody>
      </p:sp>
      <p:sp>
        <p:nvSpPr>
          <p:cNvPr id="11" name="TextBox 22">
            <a:extLst>
              <a:ext uri="{FF2B5EF4-FFF2-40B4-BE49-F238E27FC236}">
                <a16:creationId xmlns:a16="http://schemas.microsoft.com/office/drawing/2014/main" id="{9108135B-EB5D-133A-2B16-B23F0910A01C}"/>
              </a:ext>
            </a:extLst>
          </p:cNvPr>
          <p:cNvSpPr txBox="1"/>
          <p:nvPr/>
        </p:nvSpPr>
        <p:spPr>
          <a:xfrm>
            <a:off x="5657900" y="6437221"/>
            <a:ext cx="3069090" cy="2462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000">
                <a:solidFill>
                  <a:schemeClr val="accent2"/>
                </a:solidFill>
              </a:rPr>
              <a:t>Delayed and pushed to next release</a:t>
            </a:r>
            <a:endParaRPr lang="en-IN" sz="1000"/>
          </a:p>
        </p:txBody>
      </p:sp>
      <p:graphicFrame>
        <p:nvGraphicFramePr>
          <p:cNvPr id="14" name="Table 13">
            <a:extLst>
              <a:ext uri="{FF2B5EF4-FFF2-40B4-BE49-F238E27FC236}">
                <a16:creationId xmlns:a16="http://schemas.microsoft.com/office/drawing/2014/main" id="{56FD57B5-13F2-356B-1222-371CC62D4575}"/>
              </a:ext>
            </a:extLst>
          </p:cNvPr>
          <p:cNvGraphicFramePr>
            <a:graphicFrameLocks noGrp="1"/>
          </p:cNvGraphicFramePr>
          <p:nvPr>
            <p:extLst>
              <p:ext uri="{D42A27DB-BD31-4B8C-83A1-F6EECF244321}">
                <p14:modId xmlns:p14="http://schemas.microsoft.com/office/powerpoint/2010/main" val="488196063"/>
              </p:ext>
            </p:extLst>
          </p:nvPr>
        </p:nvGraphicFramePr>
        <p:xfrm>
          <a:off x="1295713" y="2652171"/>
          <a:ext cx="10697938" cy="1557589"/>
        </p:xfrm>
        <a:graphic>
          <a:graphicData uri="http://schemas.openxmlformats.org/drawingml/2006/table">
            <a:tbl>
              <a:tblPr firstRow="1" bandRow="1">
                <a:tableStyleId>{5C22544A-7EE6-4342-B048-85BDC9FD1C3A}</a:tableStyleId>
              </a:tblPr>
              <a:tblGrid>
                <a:gridCol w="3759269">
                  <a:extLst>
                    <a:ext uri="{9D8B030D-6E8A-4147-A177-3AD203B41FA5}">
                      <a16:colId xmlns:a16="http://schemas.microsoft.com/office/drawing/2014/main" val="2822350773"/>
                    </a:ext>
                  </a:extLst>
                </a:gridCol>
                <a:gridCol w="6938669">
                  <a:extLst>
                    <a:ext uri="{9D8B030D-6E8A-4147-A177-3AD203B41FA5}">
                      <a16:colId xmlns:a16="http://schemas.microsoft.com/office/drawing/2014/main" val="99588705"/>
                    </a:ext>
                  </a:extLst>
                </a:gridCol>
              </a:tblGrid>
              <a:tr h="217387">
                <a:tc>
                  <a:txBody>
                    <a:bodyPr/>
                    <a:lstStyle/>
                    <a:p>
                      <a:pPr marL="0" lvl="0" indent="0" algn="ctr" defTabSz="914400" rtl="0" eaLnBrk="1" latinLnBrk="0" hangingPunct="1">
                        <a:lnSpc>
                          <a:spcPct val="100000"/>
                        </a:lnSpc>
                        <a:buFont typeface="Arial" panose="020B0604020202020204" pitchFamily="34" charset="0"/>
                        <a:buNone/>
                      </a:pPr>
                      <a:r>
                        <a:rPr lang="en-IN" sz="1200" kern="1200">
                          <a:solidFill>
                            <a:schemeClr val="bg1"/>
                          </a:solidFill>
                          <a:latin typeface="+mn-lt"/>
                          <a:ea typeface="+mn-ea"/>
                          <a:cs typeface="+mn-cs"/>
                        </a:rPr>
                        <a:t>Project/Initiative</a:t>
                      </a:r>
                      <a:endParaRPr lang="en-US" sz="1200"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tc>
                  <a:txBody>
                    <a:bodyPr/>
                    <a:lstStyle/>
                    <a:p>
                      <a:pPr marL="0" indent="0" algn="ctr" defTabSz="914400" rtl="0" eaLnBrk="1" latinLnBrk="0" hangingPunct="1">
                        <a:buFont typeface="Arial" panose="020B0604020202020204" pitchFamily="34" charset="0"/>
                        <a:buNone/>
                      </a:pPr>
                      <a:r>
                        <a:rPr lang="en-IN" sz="1200" kern="1200">
                          <a:solidFill>
                            <a:schemeClr val="bg1"/>
                          </a:solidFill>
                          <a:latin typeface="+mn-lt"/>
                          <a:ea typeface="+mn-ea"/>
                          <a:cs typeface="+mn-cs"/>
                        </a:rPr>
                        <a:t>Value Justification/Realization</a:t>
                      </a:r>
                      <a:endParaRPr lang="en-US" sz="1200"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extLst>
                  <a:ext uri="{0D108BD9-81ED-4DB2-BD59-A6C34878D82A}">
                    <a16:rowId xmlns:a16="http://schemas.microsoft.com/office/drawing/2014/main" val="844450115"/>
                  </a:ext>
                </a:extLst>
              </a:tr>
              <a:tr h="499989">
                <a:tc>
                  <a:txBody>
                    <a:bodyPr/>
                    <a:lstStyle/>
                    <a:p>
                      <a:pPr marL="228600" lvl="0" indent="-228600" algn="l">
                        <a:lnSpc>
                          <a:spcPct val="100000"/>
                        </a:lnSpc>
                        <a:spcBef>
                          <a:spcPts val="0"/>
                        </a:spcBef>
                        <a:spcAft>
                          <a:spcPts val="0"/>
                        </a:spcAft>
                        <a:buAutoNum type="arabicPeriod"/>
                      </a:pPr>
                      <a:r>
                        <a:rPr lang="en-US" sz="1200" b="0" i="0" u="none" strike="noStrike" kern="1200" noProof="0">
                          <a:solidFill>
                            <a:srgbClr val="05B050"/>
                          </a:solidFill>
                          <a:latin typeface="+mn-lt"/>
                        </a:rPr>
                        <a:t>HR Capability – Adoption on reports</a:t>
                      </a:r>
                      <a:endParaRPr lang="en-US" b="0">
                        <a:solidFill>
                          <a:srgbClr val="05B050"/>
                        </a:solidFill>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457200" lvl="1" indent="0" algn="l">
                        <a:lnSpc>
                          <a:spcPct val="100000"/>
                        </a:lnSpc>
                        <a:spcBef>
                          <a:spcPts val="0"/>
                        </a:spcBef>
                        <a:spcAft>
                          <a:spcPts val="0"/>
                        </a:spcAft>
                        <a:buNone/>
                      </a:pPr>
                      <a:r>
                        <a:rPr lang="en-US" sz="1200" b="0" i="0" u="none" strike="noStrike" kern="1200" noProof="0">
                          <a:solidFill>
                            <a:schemeClr val="tx1"/>
                          </a:solidFill>
                        </a:rPr>
                        <a:t>Provides a view on adoption of HR reports created - Active users; Views per report; Action-taken rate; Adoption heatmap</a:t>
                      </a:r>
                      <a:endParaRPr lang="en-US" sz="1200" b="0" i="0" u="none" strike="noStrike" kern="1200" noProof="0">
                        <a:solidFill>
                          <a:schemeClr val="tx1"/>
                        </a:solidFill>
                        <a:latin typeface="+mn-lt"/>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443371065"/>
                  </a:ext>
                </a:extLst>
              </a:tr>
              <a:tr h="326080">
                <a:tc>
                  <a:txBody>
                    <a:bodyPr/>
                    <a:lstStyle/>
                    <a:p>
                      <a:pPr marL="0" lvl="0" indent="0" algn="l">
                        <a:lnSpc>
                          <a:spcPct val="100000"/>
                        </a:lnSpc>
                        <a:spcBef>
                          <a:spcPts val="0"/>
                        </a:spcBef>
                        <a:spcAft>
                          <a:spcPts val="0"/>
                        </a:spcAft>
                        <a:buNone/>
                      </a:pPr>
                      <a:r>
                        <a:rPr lang="en-US" sz="1200" b="0" i="0" u="none" strike="noStrike" kern="1200" noProof="0">
                          <a:solidFill>
                            <a:srgbClr val="05B050"/>
                          </a:solidFill>
                          <a:latin typeface="+mn-lt"/>
                        </a:rPr>
                        <a:t>2.   Organization effectiveness - </a:t>
                      </a:r>
                      <a:r>
                        <a:rPr lang="en-US" sz="1200" b="0" i="0" u="none" strike="noStrike" kern="1200" noProof="0">
                          <a:solidFill>
                            <a:srgbClr val="05B050"/>
                          </a:solidFill>
                        </a:rPr>
                        <a:t>Employee Cost (AOP Cost + Revenue Cost)</a:t>
                      </a:r>
                      <a:endParaRPr lang="en-US" sz="1200" b="0" i="0" u="none" strike="noStrike" kern="1200" noProof="0">
                        <a:solidFill>
                          <a:srgbClr val="05B050"/>
                        </a:solidFill>
                        <a:latin typeface="+mn-lt"/>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457200" lvl="1" indent="0" algn="l">
                        <a:lnSpc>
                          <a:spcPct val="100000"/>
                        </a:lnSpc>
                        <a:spcBef>
                          <a:spcPts val="0"/>
                        </a:spcBef>
                        <a:spcAft>
                          <a:spcPts val="0"/>
                        </a:spcAft>
                        <a:buNone/>
                      </a:pPr>
                      <a:r>
                        <a:rPr lang="en-US" sz="1200" b="0" i="0" u="none" strike="noStrike" kern="1200" noProof="0">
                          <a:solidFill>
                            <a:schemeClr val="tx1"/>
                          </a:solidFill>
                        </a:rPr>
                        <a:t>AOP vs Actual HR cost; HR cost per ASK slice; Saving %</a:t>
                      </a:r>
                      <a:endParaRPr lang="en-US" sz="1200" b="0" i="0" u="none" strike="noStrike" kern="1200" noProof="0">
                        <a:solidFill>
                          <a:schemeClr val="tx1"/>
                        </a:solidFill>
                        <a:latin typeface="+mn-lt"/>
                      </a:endParaRPr>
                    </a:p>
                    <a:p>
                      <a:pPr marL="685800" lvl="1" indent="-228600" algn="l">
                        <a:lnSpc>
                          <a:spcPct val="100000"/>
                        </a:lnSpc>
                        <a:spcBef>
                          <a:spcPts val="0"/>
                        </a:spcBef>
                        <a:spcAft>
                          <a:spcPts val="0"/>
                        </a:spcAft>
                        <a:buFont typeface="Arial" panose="020B0604020202020204" pitchFamily="34" charset="0"/>
                        <a:buChar char="•"/>
                      </a:pPr>
                      <a:endParaRPr lang="en-US" sz="1200" b="1" i="0" u="none" strike="noStrike" kern="1200" noProof="0">
                        <a:solidFill>
                          <a:schemeClr val="tx1"/>
                        </a:solidFill>
                        <a:latin typeface="+mn-lt"/>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417476375"/>
                  </a:ext>
                </a:extLst>
              </a:tr>
              <a:tr h="326080">
                <a:tc>
                  <a:txBody>
                    <a:bodyPr/>
                    <a:lstStyle/>
                    <a:p>
                      <a:pPr marL="228600" lvl="0" indent="-228600" algn="l">
                        <a:lnSpc>
                          <a:spcPct val="100000"/>
                        </a:lnSpc>
                        <a:spcBef>
                          <a:spcPts val="0"/>
                        </a:spcBef>
                        <a:spcAft>
                          <a:spcPts val="0"/>
                        </a:spcAft>
                        <a:buAutoNum type="arabicPeriod"/>
                      </a:pPr>
                      <a:endParaRPr lang="en-US" sz="1200" b="1" i="0" u="none" strike="noStrike" kern="1200" noProof="0">
                        <a:solidFill>
                          <a:srgbClr val="0070C0"/>
                        </a:solidFill>
                        <a:latin typeface="+mn-lt"/>
                      </a:endParaRPr>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tc>
                  <a:txBody>
                    <a:bodyPr/>
                    <a:lstStyle/>
                    <a:p>
                      <a:pPr marL="685800" lvl="1" indent="-228600" algn="l">
                        <a:lnSpc>
                          <a:spcPct val="100000"/>
                        </a:lnSpc>
                        <a:spcBef>
                          <a:spcPts val="0"/>
                        </a:spcBef>
                        <a:spcAft>
                          <a:spcPts val="0"/>
                        </a:spcAft>
                        <a:buFont typeface="Arial"/>
                        <a:buChar char="•"/>
                      </a:pPr>
                      <a:endParaRPr lang="en-US" sz="1200" b="1" i="0" u="none" strike="noStrike" kern="1200" noProof="0">
                        <a:solidFill>
                          <a:schemeClr val="tx1"/>
                        </a:solidFill>
                        <a:latin typeface="+mn-lt"/>
                      </a:endParaRPr>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extLst>
                  <a:ext uri="{0D108BD9-81ED-4DB2-BD59-A6C34878D82A}">
                    <a16:rowId xmlns:a16="http://schemas.microsoft.com/office/drawing/2014/main" val="1110178885"/>
                  </a:ext>
                </a:extLst>
              </a:tr>
            </a:tbl>
          </a:graphicData>
        </a:graphic>
      </p:graphicFrame>
      <p:graphicFrame>
        <p:nvGraphicFramePr>
          <p:cNvPr id="15" name="Table 14">
            <a:extLst>
              <a:ext uri="{FF2B5EF4-FFF2-40B4-BE49-F238E27FC236}">
                <a16:creationId xmlns:a16="http://schemas.microsoft.com/office/drawing/2014/main" id="{1BE01BC6-5FEA-EB1D-CD4E-CEB8514414BA}"/>
              </a:ext>
            </a:extLst>
          </p:cNvPr>
          <p:cNvGraphicFramePr>
            <a:graphicFrameLocks noGrp="1"/>
          </p:cNvGraphicFramePr>
          <p:nvPr/>
        </p:nvGraphicFramePr>
        <p:xfrm>
          <a:off x="1295713" y="4383000"/>
          <a:ext cx="10697938" cy="1566560"/>
        </p:xfrm>
        <a:graphic>
          <a:graphicData uri="http://schemas.openxmlformats.org/drawingml/2006/table">
            <a:tbl>
              <a:tblPr firstRow="1" bandRow="1">
                <a:tableStyleId>{5C22544A-7EE6-4342-B048-85BDC9FD1C3A}</a:tableStyleId>
              </a:tblPr>
              <a:tblGrid>
                <a:gridCol w="3759269">
                  <a:extLst>
                    <a:ext uri="{9D8B030D-6E8A-4147-A177-3AD203B41FA5}">
                      <a16:colId xmlns:a16="http://schemas.microsoft.com/office/drawing/2014/main" val="2822350773"/>
                    </a:ext>
                  </a:extLst>
                </a:gridCol>
                <a:gridCol w="6938669">
                  <a:extLst>
                    <a:ext uri="{9D8B030D-6E8A-4147-A177-3AD203B41FA5}">
                      <a16:colId xmlns:a16="http://schemas.microsoft.com/office/drawing/2014/main" val="99588705"/>
                    </a:ext>
                  </a:extLst>
                </a:gridCol>
              </a:tblGrid>
              <a:tr h="217387">
                <a:tc>
                  <a:txBody>
                    <a:bodyPr/>
                    <a:lstStyle/>
                    <a:p>
                      <a:pPr marL="0" lvl="0" indent="0" algn="ctr" defTabSz="914400" rtl="0" eaLnBrk="1" latinLnBrk="0" hangingPunct="1">
                        <a:lnSpc>
                          <a:spcPct val="100000"/>
                        </a:lnSpc>
                        <a:buFont typeface="Arial" panose="020B0604020202020204" pitchFamily="34" charset="0"/>
                        <a:buNone/>
                      </a:pPr>
                      <a:r>
                        <a:rPr lang="en-IN" sz="1200" kern="1200">
                          <a:solidFill>
                            <a:schemeClr val="bg1"/>
                          </a:solidFill>
                          <a:latin typeface="+mn-lt"/>
                          <a:ea typeface="+mn-ea"/>
                          <a:cs typeface="+mn-cs"/>
                        </a:rPr>
                        <a:t>Project/Initiative</a:t>
                      </a:r>
                      <a:endParaRPr lang="en-US" sz="1200"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tc>
                  <a:txBody>
                    <a:bodyPr/>
                    <a:lstStyle/>
                    <a:p>
                      <a:pPr marL="0" indent="0" algn="ctr" defTabSz="914400" rtl="0" eaLnBrk="1" latinLnBrk="0" hangingPunct="1">
                        <a:buFont typeface="Arial" panose="020B0604020202020204" pitchFamily="34" charset="0"/>
                        <a:buNone/>
                      </a:pPr>
                      <a:r>
                        <a:rPr lang="en-IN" sz="1200" kern="1200">
                          <a:solidFill>
                            <a:schemeClr val="bg1"/>
                          </a:solidFill>
                          <a:latin typeface="+mn-lt"/>
                          <a:ea typeface="+mn-ea"/>
                          <a:cs typeface="+mn-cs"/>
                        </a:rPr>
                        <a:t>Value Justification/Realization</a:t>
                      </a:r>
                      <a:endParaRPr lang="en-US" sz="1200" kern="1200">
                        <a:solidFill>
                          <a:schemeClr val="bg1"/>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90000"/>
                        <a:lumOff val="10000"/>
                      </a:schemeClr>
                    </a:solidFill>
                  </a:tcPr>
                </a:tc>
                <a:extLst>
                  <a:ext uri="{0D108BD9-81ED-4DB2-BD59-A6C34878D82A}">
                    <a16:rowId xmlns:a16="http://schemas.microsoft.com/office/drawing/2014/main" val="844450115"/>
                  </a:ext>
                </a:extLst>
              </a:tr>
              <a:tr h="499989">
                <a:tc>
                  <a:txBody>
                    <a:bodyPr/>
                    <a:lstStyle/>
                    <a:p>
                      <a:pPr marL="228600" lvl="0" indent="-228600" algn="l">
                        <a:lnSpc>
                          <a:spcPct val="100000"/>
                        </a:lnSpc>
                        <a:spcBef>
                          <a:spcPts val="0"/>
                        </a:spcBef>
                        <a:spcAft>
                          <a:spcPts val="0"/>
                        </a:spcAft>
                        <a:buFont typeface="+mj-lt"/>
                        <a:buAutoNum type="arabicPeriod"/>
                      </a:pPr>
                      <a:endParaRPr lang="en-US" sz="1200" b="1" i="0" u="none" strike="noStrike" kern="1200" noProof="0">
                        <a:solidFill>
                          <a:srgbClr val="0070C0"/>
                        </a:solidFill>
                        <a:latin typeface="+mn-lt"/>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marL="0" lvl="0" indent="0" algn="l">
                        <a:lnSpc>
                          <a:spcPct val="100000"/>
                        </a:lnSpc>
                        <a:spcBef>
                          <a:spcPts val="0"/>
                        </a:spcBef>
                        <a:spcAft>
                          <a:spcPts val="0"/>
                        </a:spcAft>
                        <a:buNone/>
                      </a:pPr>
                      <a:endParaRPr lang="en-US" sz="1200" b="1" i="0" u="none" strike="noStrike" kern="1200" noProof="0">
                        <a:solidFill>
                          <a:schemeClr val="tx1"/>
                        </a:solidFill>
                        <a:latin typeface="+mn-lt"/>
                      </a:endParaRPr>
                    </a:p>
                    <a:p>
                      <a:pPr marL="685800" lvl="1" indent="-228600" algn="l">
                        <a:lnSpc>
                          <a:spcPct val="100000"/>
                        </a:lnSpc>
                        <a:spcBef>
                          <a:spcPts val="0"/>
                        </a:spcBef>
                        <a:spcAft>
                          <a:spcPts val="0"/>
                        </a:spcAft>
                        <a:buFont typeface="Arial" panose="020B0604020202020204" pitchFamily="34" charset="0"/>
                        <a:buChar char="•"/>
                      </a:pPr>
                      <a:endParaRPr lang="en-US" sz="1200" b="0" i="0" u="none" strike="noStrike" kern="1200" noProof="0">
                        <a:solidFill>
                          <a:schemeClr val="tx1"/>
                        </a:solidFill>
                        <a:latin typeface="+mn-lt"/>
                      </a:endParaRPr>
                    </a:p>
                    <a:p>
                      <a:pPr marL="685800" lvl="1" indent="-228600" algn="l">
                        <a:lnSpc>
                          <a:spcPct val="100000"/>
                        </a:lnSpc>
                        <a:spcBef>
                          <a:spcPts val="0"/>
                        </a:spcBef>
                        <a:spcAft>
                          <a:spcPts val="0"/>
                        </a:spcAft>
                        <a:buFont typeface="Arial" panose="020B0604020202020204" pitchFamily="34" charset="0"/>
                        <a:buChar char="•"/>
                      </a:pPr>
                      <a:endParaRPr lang="en-US" sz="1200" b="1" i="0" u="none" strike="noStrike" kern="1200" noProof="0">
                        <a:solidFill>
                          <a:schemeClr val="tx1"/>
                        </a:solidFill>
                        <a:latin typeface="+mn-lt"/>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443371065"/>
                  </a:ext>
                </a:extLst>
              </a:tr>
              <a:tr h="326080">
                <a:tc>
                  <a:txBody>
                    <a:bodyPr/>
                    <a:lstStyle/>
                    <a:p>
                      <a:pPr marL="228600" lvl="0" indent="-228600" algn="l">
                        <a:lnSpc>
                          <a:spcPct val="100000"/>
                        </a:lnSpc>
                        <a:spcBef>
                          <a:spcPts val="0"/>
                        </a:spcBef>
                        <a:spcAft>
                          <a:spcPts val="0"/>
                        </a:spcAft>
                        <a:buAutoNum type="arabicPeriod"/>
                      </a:pPr>
                      <a:endParaRPr lang="en-US" sz="1200" b="1" i="0" u="none" strike="noStrike" kern="1200" noProof="0">
                        <a:solidFill>
                          <a:srgbClr val="0070C0"/>
                        </a:solidFill>
                        <a:latin typeface="+mn-lt"/>
                      </a:endParaRPr>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tc>
                  <a:txBody>
                    <a:bodyPr/>
                    <a:lstStyle/>
                    <a:p>
                      <a:pPr marL="685800" lvl="1" indent="-228600" algn="l">
                        <a:lnSpc>
                          <a:spcPct val="100000"/>
                        </a:lnSpc>
                        <a:spcBef>
                          <a:spcPts val="0"/>
                        </a:spcBef>
                        <a:spcAft>
                          <a:spcPts val="0"/>
                        </a:spcAft>
                        <a:buFont typeface="Arial"/>
                        <a:buChar char="•"/>
                      </a:pPr>
                      <a:endParaRPr lang="en-US" sz="1200" b="1" i="0" u="none" strike="noStrike" kern="1200" noProof="0">
                        <a:solidFill>
                          <a:schemeClr val="tx1"/>
                        </a:solidFill>
                        <a:latin typeface="+mn-lt"/>
                      </a:endParaRPr>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417476375"/>
                  </a:ext>
                </a:extLst>
              </a:tr>
              <a:tr h="326080">
                <a:tc>
                  <a:txBody>
                    <a:bodyPr/>
                    <a:lstStyle/>
                    <a:p>
                      <a:pPr marL="228600" lvl="0" indent="-228600" algn="l">
                        <a:lnSpc>
                          <a:spcPct val="100000"/>
                        </a:lnSpc>
                        <a:spcBef>
                          <a:spcPts val="0"/>
                        </a:spcBef>
                        <a:spcAft>
                          <a:spcPts val="0"/>
                        </a:spcAft>
                        <a:buAutoNum type="arabicPeriod"/>
                      </a:pPr>
                      <a:endParaRPr lang="en-US" sz="1200" b="1" i="0" u="none" strike="noStrike" kern="1200" noProof="0">
                        <a:solidFill>
                          <a:srgbClr val="0070C0"/>
                        </a:solidFill>
                        <a:latin typeface="+mn-lt"/>
                      </a:endParaRPr>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tc>
                  <a:txBody>
                    <a:bodyPr/>
                    <a:lstStyle/>
                    <a:p>
                      <a:pPr marL="685800" lvl="1" indent="-228600" algn="l">
                        <a:lnSpc>
                          <a:spcPct val="100000"/>
                        </a:lnSpc>
                        <a:spcBef>
                          <a:spcPts val="0"/>
                        </a:spcBef>
                        <a:spcAft>
                          <a:spcPts val="0"/>
                        </a:spcAft>
                        <a:buFont typeface="Arial"/>
                        <a:buChar char="•"/>
                      </a:pPr>
                      <a:endParaRPr lang="en-US" sz="1200" b="1" i="0" u="none" strike="noStrike" kern="1200" noProof="0">
                        <a:solidFill>
                          <a:schemeClr val="tx1"/>
                        </a:solidFill>
                        <a:latin typeface="+mn-lt"/>
                      </a:endParaRPr>
                    </a:p>
                  </a:txBody>
                  <a:tcPr>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extLst>
                  <a:ext uri="{0D108BD9-81ED-4DB2-BD59-A6C34878D82A}">
                    <a16:rowId xmlns:a16="http://schemas.microsoft.com/office/drawing/2014/main" val="1110178885"/>
                  </a:ext>
                </a:extLst>
              </a:tr>
            </a:tbl>
          </a:graphicData>
        </a:graphic>
      </p:graphicFrame>
      <p:sp>
        <p:nvSpPr>
          <p:cNvPr id="16" name="Rectangle 15">
            <a:extLst>
              <a:ext uri="{FF2B5EF4-FFF2-40B4-BE49-F238E27FC236}">
                <a16:creationId xmlns:a16="http://schemas.microsoft.com/office/drawing/2014/main" id="{5F7AB418-D95E-22A8-B6B5-5E789C3D5179}"/>
              </a:ext>
            </a:extLst>
          </p:cNvPr>
          <p:cNvSpPr/>
          <p:nvPr/>
        </p:nvSpPr>
        <p:spPr>
          <a:xfrm>
            <a:off x="125281" y="2646912"/>
            <a:ext cx="1170432" cy="42234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1100" b="1">
                <a:latin typeface="AirIndia"/>
              </a:rPr>
              <a:t>Aug 2026</a:t>
            </a:r>
            <a:endParaRPr lang="en-US"/>
          </a:p>
        </p:txBody>
      </p:sp>
      <p:sp>
        <p:nvSpPr>
          <p:cNvPr id="17" name="Rectangle 16">
            <a:extLst>
              <a:ext uri="{FF2B5EF4-FFF2-40B4-BE49-F238E27FC236}">
                <a16:creationId xmlns:a16="http://schemas.microsoft.com/office/drawing/2014/main" id="{5EF708D1-6F77-B31C-687D-286DA26D67E5}"/>
              </a:ext>
            </a:extLst>
          </p:cNvPr>
          <p:cNvSpPr/>
          <p:nvPr/>
        </p:nvSpPr>
        <p:spPr>
          <a:xfrm>
            <a:off x="136167" y="4377740"/>
            <a:ext cx="1170432" cy="42234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1100" b="1">
                <a:latin typeface="AirIndia"/>
              </a:rPr>
              <a:t>Sep 2026</a:t>
            </a:r>
            <a:endParaRPr lang="en-US"/>
          </a:p>
        </p:txBody>
      </p:sp>
    </p:spTree>
    <p:extLst>
      <p:ext uri="{BB962C8B-B14F-4D97-AF65-F5344CB8AC3E}">
        <p14:creationId xmlns:p14="http://schemas.microsoft.com/office/powerpoint/2010/main" val="2618492485"/>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F613BA-2437-8566-52FE-851E0D911438}"/>
              </a:ext>
            </a:extLst>
          </p:cNvPr>
          <p:cNvSpPr>
            <a:spLocks noGrp="1"/>
          </p:cNvSpPr>
          <p:nvPr>
            <p:ph type="ctrTitle"/>
          </p:nvPr>
        </p:nvSpPr>
        <p:spPr/>
        <p:txBody>
          <a:bodyPr/>
          <a:lstStyle/>
          <a:p>
            <a:r>
              <a:rPr lang="en-US"/>
              <a:t>Thank you</a:t>
            </a:r>
            <a:endParaRPr lang="en-IN"/>
          </a:p>
        </p:txBody>
      </p:sp>
    </p:spTree>
    <p:extLst>
      <p:ext uri="{BB962C8B-B14F-4D97-AF65-F5344CB8AC3E}">
        <p14:creationId xmlns:p14="http://schemas.microsoft.com/office/powerpoint/2010/main" val="2360600908"/>
      </p:ext>
    </p:extLst>
  </p:cSld>
  <p:clrMapOvr>
    <a:masterClrMapping/>
  </p:clrMapOvr>
</p:sld>
</file>

<file path=ppt/theme/theme1.xml><?xml version="1.0" encoding="utf-8"?>
<a:theme xmlns:a="http://schemas.openxmlformats.org/drawingml/2006/main" name="Air India Master">
  <a:themeElements>
    <a:clrScheme name="Airn India">
      <a:dk1>
        <a:srgbClr val="000000"/>
      </a:dk1>
      <a:lt1>
        <a:srgbClr val="FFFFFF"/>
      </a:lt1>
      <a:dk2>
        <a:srgbClr val="44546A"/>
      </a:dk2>
      <a:lt2>
        <a:srgbClr val="F9F6EE"/>
      </a:lt2>
      <a:accent1>
        <a:srgbClr val="DA0E28"/>
      </a:accent1>
      <a:accent2>
        <a:srgbClr val="B61032"/>
      </a:accent2>
      <a:accent3>
        <a:srgbClr val="531251"/>
      </a:accent3>
      <a:accent4>
        <a:srgbClr val="F8C1B3"/>
      </a:accent4>
      <a:accent5>
        <a:srgbClr val="F9F6EE"/>
      </a:accent5>
      <a:accent6>
        <a:srgbClr val="FED9A0"/>
      </a:accent6>
      <a:hlink>
        <a:srgbClr val="9E7947"/>
      </a:hlink>
      <a:folHlink>
        <a:srgbClr val="954F72"/>
      </a:folHlink>
    </a:clrScheme>
    <a:fontScheme name="Nunito Air India">
      <a:majorFont>
        <a:latin typeface="Nunito Sans Black"/>
        <a:ea typeface=""/>
        <a:cs typeface=""/>
      </a:majorFont>
      <a:minorFont>
        <a:latin typeface="Nunito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20230831_Air India - Presentation Template OPT-1_V07.1" id="{D76D6D51-82C9-874C-93C2-607499FF9295}" vid="{52AAD933-9942-7B43-8B44-8B5668BB68E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fc627367-8bb7-4ccb-accc-dcf8fe2e1aa0}" enabled="1" method="Privileged" siteId="{41591cc6-574f-45d5-819b-9a4773330aec}" removed="0"/>
</clbl:labelList>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127</Slides>
  <Notes>81</Notes>
  <HiddenSlides>0</HiddenSlides>
  <ScaleCrop>false</ScaleCrop>
  <HeadingPairs>
    <vt:vector size="4" baseType="variant">
      <vt:variant>
        <vt:lpstr>Theme</vt:lpstr>
      </vt:variant>
      <vt:variant>
        <vt:i4>1</vt:i4>
      </vt:variant>
      <vt:variant>
        <vt:lpstr>Slide Titles</vt:lpstr>
      </vt:variant>
      <vt:variant>
        <vt:i4>127</vt:i4>
      </vt:variant>
    </vt:vector>
  </HeadingPairs>
  <TitlesOfParts>
    <vt:vector size="128" baseType="lpstr">
      <vt:lpstr>Air India Master</vt:lpstr>
      <vt:lpstr>FY27-Q1, Q2, Q3 &amp; Q4  Plans</vt:lpstr>
      <vt:lpstr>Business Systems – FY26-27/Q1, Q2</vt:lpstr>
      <vt:lpstr>Corporate Systems – FY26-27/Q1</vt:lpstr>
      <vt:lpstr>PowerPoint Presentation</vt:lpstr>
      <vt:lpstr>PowerPoint Presentation</vt:lpstr>
      <vt:lpstr>PowerPoint Presentation</vt:lpstr>
      <vt:lpstr>PowerPoint Presentation</vt:lpstr>
      <vt:lpstr>PowerPoint Presentation</vt:lpstr>
      <vt:lpstr>PowerPoint Presentation</vt:lpstr>
      <vt:lpstr>Corporate Systems – FY26-27/Q2</vt:lpstr>
      <vt:lpstr>PowerPoint Presentation</vt:lpstr>
      <vt:lpstr>PowerPoint Presentation</vt:lpstr>
      <vt:lpstr>PowerPoint Presentation</vt:lpstr>
      <vt:lpstr>PowerPoint Presentation</vt:lpstr>
      <vt:lpstr>PowerPoint Presentation</vt:lpstr>
      <vt:lpstr>PowerPoint Presentation</vt:lpstr>
      <vt:lpstr>Operations Tech – FY27/Q1</vt:lpstr>
      <vt:lpstr>PowerPoint Presentation</vt:lpstr>
      <vt:lpstr>PowerPoint Presentation</vt:lpstr>
      <vt:lpstr>PowerPoint Presentation</vt:lpstr>
      <vt:lpstr>Operations Tech – FY27/Q2</vt:lpstr>
      <vt:lpstr>PowerPoint Presentation</vt:lpstr>
      <vt:lpstr>PowerPoint Presentation</vt:lpstr>
      <vt:lpstr>PowerPoint Presentation</vt:lpstr>
      <vt:lpstr>PowerPoint Presentation</vt:lpstr>
      <vt:lpstr>PowerPoint Presentation</vt:lpstr>
      <vt:lpstr>Engineering Tech – FY26-27/Q1</vt:lpstr>
      <vt:lpstr>PowerPoint Presentation</vt:lpstr>
      <vt:lpstr>PowerPoint Presentation</vt:lpstr>
      <vt:lpstr>PowerPoint Presentation</vt:lpstr>
      <vt:lpstr>Engineering Tech – FY26-27/Q2</vt:lpstr>
      <vt:lpstr>PowerPoint Presentation</vt:lpstr>
      <vt:lpstr>PowerPoint Presentation</vt:lpstr>
      <vt:lpstr>PowerPoint Presentation</vt:lpstr>
      <vt:lpstr>CRM/CX – FY26-27/Q1</vt:lpstr>
      <vt:lpstr>PowerPoint Presentation</vt:lpstr>
      <vt:lpstr>PowerPoint Presentation</vt:lpstr>
      <vt:lpstr>PowerPoint Presentation</vt:lpstr>
      <vt:lpstr>CRM/CX – FY26-27/Q2</vt:lpstr>
      <vt:lpstr>PowerPoint Presentation</vt:lpstr>
      <vt:lpstr>PowerPoint Presentation</vt:lpstr>
      <vt:lpstr>PowerPoint Presentation</vt:lpstr>
      <vt:lpstr>PSS Tech– FY26-27/Q2</vt:lpstr>
      <vt:lpstr>PowerPoint Presentation</vt:lpstr>
      <vt:lpstr>PowerPoint Presentation</vt:lpstr>
      <vt:lpstr>PowerPoint Presentation</vt:lpstr>
      <vt:lpstr>Enterprise Platforms – FY26-27/Q1</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Enterprise Platforms – FY26-27/Q2</vt:lpstr>
      <vt:lpstr>PowerPoint Presentation</vt:lpstr>
      <vt:lpstr>PowerPoint Presentation</vt:lpstr>
      <vt:lpstr>PowerPoint Presentation</vt:lpstr>
      <vt:lpstr>PowerPoint Presentation</vt:lpstr>
      <vt:lpstr>PowerPoint Presentation</vt:lpstr>
      <vt:lpstr>PowerPoint Presentation</vt:lpstr>
      <vt:lpstr>B2E Apps &amp; Channel – FY26-27/Q1</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B2E Apps &amp; Channel – FY26-27/Q2</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Data Science and Advanced Analytics  -FY26-27 Q1-Q2 Release Plan  </vt:lpstr>
      <vt:lpstr>Commercial-Q1</vt:lpstr>
      <vt:lpstr>PowerPoint Presentation</vt:lpstr>
      <vt:lpstr>PowerPoint Presentation</vt:lpstr>
      <vt:lpstr>PowerPoint Presentation</vt:lpstr>
      <vt:lpstr>Commercial-Q2</vt:lpstr>
      <vt:lpstr>PowerPoint Presentation</vt:lpstr>
      <vt:lpstr>PowerPoint Presentation</vt:lpstr>
      <vt:lpstr>PowerPoint Presentation</vt:lpstr>
      <vt:lpstr>CX-Q1</vt:lpstr>
      <vt:lpstr>PowerPoint Presentation</vt:lpstr>
      <vt:lpstr>CX-Q2</vt:lpstr>
      <vt:lpstr>PowerPoint Presentation</vt:lpstr>
      <vt:lpstr>PowerPoint Presentation</vt:lpstr>
      <vt:lpstr>Operations-Q1</vt:lpstr>
      <vt:lpstr>PowerPoint Presentation</vt:lpstr>
      <vt:lpstr>Operations-Q2</vt:lpstr>
      <vt:lpstr>PowerPoint Presentation</vt:lpstr>
      <vt:lpstr>Data Engineering-FY26-27 Q1 Release Plan  </vt:lpstr>
      <vt:lpstr>Finance-Q1</vt:lpstr>
      <vt:lpstr>PowerPoint Presentation</vt:lpstr>
      <vt:lpstr>PowerPoint Presentation</vt:lpstr>
      <vt:lpstr>Finance-Q2</vt:lpstr>
      <vt:lpstr>PowerPoint Presentation</vt:lpstr>
      <vt:lpstr>PowerPoint Presentation</vt:lpstr>
      <vt:lpstr>Operations-Q1</vt:lpstr>
      <vt:lpstr>PowerPoint Presentation</vt:lpstr>
      <vt:lpstr>Operations-Q2</vt:lpstr>
      <vt:lpstr>PowerPoint Presentation</vt:lpstr>
      <vt:lpstr>CX-Q1</vt:lpstr>
      <vt:lpstr>PowerPoint Presentation</vt:lpstr>
      <vt:lpstr>PowerPoint Presentation</vt:lpstr>
      <vt:lpstr>CX-Q2</vt:lpstr>
      <vt:lpstr>PowerPoint Presentation</vt:lpstr>
      <vt:lpstr>PowerPoint Presentation</vt:lpstr>
      <vt:lpstr>HR-Q1</vt:lpstr>
      <vt:lpstr>PowerPoint Presentation</vt:lpstr>
      <vt:lpstr>HR-Q2</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Q1 &amp; Q2 Plans</dc:title>
  <dc:creator>Mohammad Azhan Siddiqui</dc:creator>
  <cp:revision>3</cp:revision>
  <cp:lastPrinted>2025-09-05T10:13:16Z</cp:lastPrinted>
  <dcterms:created xsi:type="dcterms:W3CDTF">2025-06-04T09:46:29Z</dcterms:created>
  <dcterms:modified xsi:type="dcterms:W3CDTF">2026-08-10T09:39:00Z</dcterms:modified>
</cp:coreProperties>
</file>