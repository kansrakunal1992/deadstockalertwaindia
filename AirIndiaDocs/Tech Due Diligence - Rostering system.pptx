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23"/>
  </p:notesMasterIdLst>
  <p:sldIdLst>
    <p:sldId id="256" r:id="rId5"/>
    <p:sldId id="293" r:id="rId6"/>
    <p:sldId id="302" r:id="rId7"/>
    <p:sldId id="304" r:id="rId8"/>
    <p:sldId id="297" r:id="rId9"/>
    <p:sldId id="307" r:id="rId10"/>
    <p:sldId id="314" r:id="rId11"/>
    <p:sldId id="308" r:id="rId12"/>
    <p:sldId id="309" r:id="rId13"/>
    <p:sldId id="312" r:id="rId14"/>
    <p:sldId id="315" r:id="rId15"/>
    <p:sldId id="311" r:id="rId16"/>
    <p:sldId id="313" r:id="rId17"/>
    <p:sldId id="316" r:id="rId18"/>
    <p:sldId id="318" r:id="rId19"/>
    <p:sldId id="319" r:id="rId20"/>
    <p:sldId id="301" r:id="rId21"/>
    <p:sldId id="284" r:id="rId22"/>
  </p:sldIdLst>
  <p:sldSz cx="12192000" cy="6858000"/>
  <p:notesSz cx="6858000" cy="9144000"/>
  <p:embeddedFontLst>
    <p:embeddedFont>
      <p:font typeface="AirIndia" pitchFamily="82" charset="77"/>
      <p:regular r:id="rId24"/>
      <p:bold r:id="rId25"/>
      <p:italic r:id="rId26"/>
      <p:boldItalic r:id="rId27"/>
    </p:embeddedFont>
    <p:embeddedFont>
      <p:font typeface="Nunito Sans" pitchFamily="2" charset="77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2325"/>
    <a:srgbClr val="9620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55D069-197F-4242-A6B5-310B4191F769}" v="31" dt="2026-03-27T05:21:23.133"/>
  </p1510:revLst>
</p1510:revInfo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Light Style 1 –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–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17"/>
    <p:restoredTop sz="90942" autoAdjust="0"/>
  </p:normalViewPr>
  <p:slideViewPr>
    <p:cSldViewPr snapToGrid="0">
      <p:cViewPr varScale="1">
        <p:scale>
          <a:sx n="133" d="100"/>
          <a:sy n="133" d="100"/>
        </p:scale>
        <p:origin x="1736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23F9EB-A667-4D58-BCF6-E209520FBA9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7B7408-9A06-41BD-8B00-CEBD8D6DDF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681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B7408-9A06-41BD-8B00-CEBD8D6DDF3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305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B7408-9A06-41BD-8B00-CEBD8D6DDF3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8257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B7408-9A06-41BD-8B00-CEBD8D6DDF3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124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8EF06-631E-23F7-DF2A-8CDD3D034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09DA59-97B6-5CD0-5231-E80093D395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9E4D62-21E5-842B-DCB0-B4D124AB03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F8921-86A5-E628-1547-9E2F94D0D9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B7408-9A06-41BD-8B00-CEBD8D6DDF3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386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B7408-9A06-41BD-8B00-CEBD8D6DDF3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470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0D585-EA82-BC08-E7FE-F669CD5BD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09CD45-9E79-779A-10B2-10CB39DFA8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E1A991-BCD9-1ECB-54FF-1DCA6316E0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A3457F-9B5D-9CA3-BA13-D0C8850401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B7408-9A06-41BD-8B00-CEBD8D6DDF3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087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B7408-9A06-41BD-8B00-CEBD8D6DDF3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481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90774-0FE7-3B73-FA87-E248F7D6E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736755-64FC-A7A3-057B-A52AC3CAA6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200DF9-DFCA-DE29-A904-3E7D271124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547B4-DE2C-24A6-867B-BADF706D81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B7408-9A06-41BD-8B00-CEBD8D6DDF3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9756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B7408-9A06-41BD-8B00-CEBD8D6DDF3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617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background with a gold and purple figure&#10;&#10;Description automatically generated">
            <a:extLst>
              <a:ext uri="{FF2B5EF4-FFF2-40B4-BE49-F238E27FC236}">
                <a16:creationId xmlns:a16="http://schemas.microsoft.com/office/drawing/2014/main" id="{89B26D62-2982-895C-4C5E-CADCB2E222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5D8806-B30C-5D48-17A9-922DBA16C5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05351" y="1600200"/>
            <a:ext cx="6384966" cy="2420399"/>
          </a:xfrm>
        </p:spPr>
        <p:txBody>
          <a:bodyPr anchor="b">
            <a:normAutofit/>
          </a:bodyPr>
          <a:lstStyle>
            <a:lvl1pPr algn="l">
              <a:defRPr sz="6000" b="1" i="0">
                <a:solidFill>
                  <a:schemeClr val="bg1"/>
                </a:solidFill>
                <a:latin typeface="AirIndia" pitchFamily="82" charset="77"/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40D339-36A2-E854-A497-9F753205B7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05350" y="4037607"/>
            <a:ext cx="6384966" cy="1350818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2800">
                <a:solidFill>
                  <a:schemeClr val="bg1"/>
                </a:solidFill>
                <a:latin typeface="Nunito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10979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 userDrawn="1">
          <p15:clr>
            <a:srgbClr val="FBAE40"/>
          </p15:clr>
        </p15:guide>
        <p15:guide id="4" orient="horz" pos="148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in a red dress in front of a large building&#10;&#10;Description automatically generated">
            <a:extLst>
              <a:ext uri="{FF2B5EF4-FFF2-40B4-BE49-F238E27FC236}">
                <a16:creationId xmlns:a16="http://schemas.microsoft.com/office/drawing/2014/main" id="{760CAD27-C4FB-B99A-C7A2-0E210F9DE0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5D8806-B30C-5D48-17A9-922DBA16C5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9233" y="478975"/>
            <a:ext cx="6384966" cy="2420399"/>
          </a:xfrm>
        </p:spPr>
        <p:txBody>
          <a:bodyPr anchor="b">
            <a:normAutofit/>
          </a:bodyPr>
          <a:lstStyle>
            <a:lvl1pPr algn="l">
              <a:defRPr sz="6000" b="1" i="0">
                <a:solidFill>
                  <a:schemeClr val="bg1"/>
                </a:solidFill>
                <a:latin typeface="AirIndia" pitchFamily="82" charset="77"/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40D339-36A2-E854-A497-9F753205B7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9233" y="2916382"/>
            <a:ext cx="6384966" cy="1350818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2800">
                <a:solidFill>
                  <a:schemeClr val="bg1"/>
                </a:solidFill>
                <a:latin typeface="Nunito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13037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 userDrawn="1">
          <p15:clr>
            <a:srgbClr val="FBAE40"/>
          </p15:clr>
        </p15:guide>
        <p15:guide id="4" orient="horz" pos="1488" userDrawn="1">
          <p15:clr>
            <a:srgbClr val="FBAE40"/>
          </p15:clr>
        </p15:guide>
        <p15:guide id="5" pos="33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person&#10;&#10;Description automatically generated">
            <a:extLst>
              <a:ext uri="{FF2B5EF4-FFF2-40B4-BE49-F238E27FC236}">
                <a16:creationId xmlns:a16="http://schemas.microsoft.com/office/drawing/2014/main" id="{A8809EBD-4F03-089D-9B17-0892C74FE7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A6D9B3-83BC-FA03-3BFF-4E45C7F3A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484" y="2133600"/>
            <a:ext cx="10066316" cy="1325563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6000" b="1" i="0" dirty="0">
                <a:solidFill>
                  <a:schemeClr val="accent1"/>
                </a:solidFill>
                <a:latin typeface="AirIndia" pitchFamily="82" charset="77"/>
              </a:defRPr>
            </a:lvl1pPr>
          </a:lstStyle>
          <a:p>
            <a:pPr lvl="0"/>
            <a:r>
              <a:rPr lang="en-GB"/>
              <a:t>DIVIDER SLIDE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3CE7A17-E74C-0BB2-D16A-ABDD0CD5738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25484" y="3455979"/>
            <a:ext cx="5471984" cy="179060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latin typeface="Nunito Sans" pitchFamily="2" charset="77"/>
              </a:defRPr>
            </a:lvl1pPr>
          </a:lstStyle>
          <a:p>
            <a:pPr marL="0" lvl="0" indent="0">
              <a:buFontTx/>
              <a:buNone/>
            </a:pPr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61695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3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Divider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building&#10;&#10;Description automatically generated">
            <a:extLst>
              <a:ext uri="{FF2B5EF4-FFF2-40B4-BE49-F238E27FC236}">
                <a16:creationId xmlns:a16="http://schemas.microsoft.com/office/drawing/2014/main" id="{4BF3DACE-7AF7-507E-BB2C-74CBFB108C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A6D9B3-83BC-FA03-3BFF-4E45C7F3A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0416" y="1475552"/>
            <a:ext cx="5484483" cy="198361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6000" b="1" i="0" kern="1200" dirty="0">
                <a:solidFill>
                  <a:schemeClr val="accent3"/>
                </a:solidFill>
                <a:latin typeface="AirIndia" pitchFamily="8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DIVIDER SLIDE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3CE7A17-E74C-0BB2-D16A-ABDD0CD5738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6110416" y="3459164"/>
            <a:ext cx="5431768" cy="125335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accent3"/>
                </a:solidFill>
                <a:latin typeface="Nunito Sans" pitchFamily="2" charset="77"/>
              </a:defRPr>
            </a:lvl1pPr>
          </a:lstStyle>
          <a:p>
            <a:pPr marL="0" lvl="0" indent="0">
              <a:buFontTx/>
              <a:buNone/>
            </a:pPr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44494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Divider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uilding with a dome and a shield&#10;&#10;Description automatically generated with medium confidence">
            <a:extLst>
              <a:ext uri="{FF2B5EF4-FFF2-40B4-BE49-F238E27FC236}">
                <a16:creationId xmlns:a16="http://schemas.microsoft.com/office/drawing/2014/main" id="{84590AF8-3315-DD8B-5187-80D0BBE65A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A6D9B3-83BC-FA03-3BFF-4E45C7F3A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0416" y="1475552"/>
            <a:ext cx="5484483" cy="198361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6000" b="1" i="0" kern="1200" dirty="0">
                <a:solidFill>
                  <a:schemeClr val="accent3"/>
                </a:solidFill>
                <a:latin typeface="AirIndia" pitchFamily="8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DIVIDER SLIDE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3CE7A17-E74C-0BB2-D16A-ABDD0CD5738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6110416" y="3459164"/>
            <a:ext cx="5431768" cy="125335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accent3"/>
                </a:solidFill>
                <a:latin typeface="Nunito Sans" pitchFamily="2" charset="77"/>
              </a:defRPr>
            </a:lvl1pPr>
          </a:lstStyle>
          <a:p>
            <a:pPr marL="0" lvl="0" indent="0">
              <a:buFontTx/>
              <a:buNone/>
            </a:pPr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94513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ection Divider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n airplane flying in the sky&#10;&#10;Description automatically generated">
            <a:extLst>
              <a:ext uri="{FF2B5EF4-FFF2-40B4-BE49-F238E27FC236}">
                <a16:creationId xmlns:a16="http://schemas.microsoft.com/office/drawing/2014/main" id="{5427E8E9-5E7C-EE80-E075-E8D3836B38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A6D9B3-83BC-FA03-3BFF-4E45C7F3A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0416" y="1475552"/>
            <a:ext cx="5484483" cy="198361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6000" b="1" i="0" kern="1200" dirty="0">
                <a:solidFill>
                  <a:schemeClr val="accent3"/>
                </a:solidFill>
                <a:latin typeface="AirIndia" pitchFamily="8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DIVIDER SLIDE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3CE7A17-E74C-0BB2-D16A-ABDD0CD5738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6110416" y="3459164"/>
            <a:ext cx="5431768" cy="125335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accent3"/>
                </a:solidFill>
                <a:latin typeface="Nunito Sans" pitchFamily="2" charset="77"/>
              </a:defRPr>
            </a:lvl1pPr>
          </a:lstStyle>
          <a:p>
            <a:pPr marL="0" lvl="0" indent="0">
              <a:buFontTx/>
              <a:buNone/>
            </a:pPr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39008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Content Layou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4452D-6719-3A3C-48DC-057312D60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5200" y="6492875"/>
            <a:ext cx="857245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fld id="{3A41A254-7326-714E-AF55-4C213D6394D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37B8DCE-B813-ECB6-504B-646AA8A70E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060" y="304800"/>
            <a:ext cx="10977880" cy="91440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0176C6B-4C1B-92FA-CF20-B7F8064C9C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0372" y="1587998"/>
            <a:ext cx="10974567" cy="4520204"/>
          </a:xfrm>
        </p:spPr>
        <p:txBody>
          <a:bodyPr>
            <a:normAutofit/>
          </a:bodyPr>
          <a:lstStyle>
            <a:lvl1pPr marL="320040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  <a:defRPr sz="1800"/>
            </a:lvl1pPr>
            <a:lvl2pPr marL="685800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  <a:defRPr sz="1600"/>
            </a:lvl2pPr>
            <a:lvl3pPr marL="1143000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  <a:defRPr sz="1400"/>
            </a:lvl3pPr>
            <a:lvl4pPr marL="1600200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  <a:defRPr sz="1200"/>
            </a:lvl4pPr>
            <a:lvl5pPr marL="2057400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EAFBD2D-C2BB-8088-2AF6-FCA057912F15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16100" y="990600"/>
            <a:ext cx="10965528" cy="457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000" b="1" dirty="0">
                <a:latin typeface="Nunito Sans" pitchFamily="2" charset="77"/>
              </a:defRPr>
            </a:lvl1pPr>
          </a:lstStyle>
          <a:p>
            <a:pPr marL="0" lvl="0" indent="0">
              <a:buFontTx/>
              <a:buNone/>
            </a:pPr>
            <a:r>
              <a:rPr lang="en-GB"/>
              <a:t>Sub-heading</a:t>
            </a:r>
            <a:endParaRPr lang="en-US"/>
          </a:p>
        </p:txBody>
      </p:sp>
      <p:pic>
        <p:nvPicPr>
          <p:cNvPr id="2" name="Picture 1" descr="A close-up of a logo&#10;&#10;Description automatically generated">
            <a:extLst>
              <a:ext uri="{FF2B5EF4-FFF2-40B4-BE49-F238E27FC236}">
                <a16:creationId xmlns:a16="http://schemas.microsoft.com/office/drawing/2014/main" id="{60B4ED90-1C19-538C-AD30-CF248331DB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3879" t="-2216" r="16423" b="36975"/>
          <a:stretch/>
        </p:blipFill>
        <p:spPr>
          <a:xfrm>
            <a:off x="0" y="6363684"/>
            <a:ext cx="914400" cy="49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3662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92" userDrawn="1">
          <p15:clr>
            <a:srgbClr val="FBAE40"/>
          </p15:clr>
        </p15:guide>
        <p15:guide id="4" orient="horz" pos="91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15658912-D983-FCD7-8563-DCAA4AD6C8B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58280" y="1587998"/>
            <a:ext cx="5024120" cy="4588965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4000" dirty="0">
                <a:solidFill>
                  <a:srgbClr val="FF0000"/>
                </a:solidFill>
              </a:defRPr>
            </a:lvl1pPr>
          </a:lstStyle>
          <a:p>
            <a:pPr lvl="0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</a:pPr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C3759EA-CF74-7437-28A8-380740239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5200" y="6492875"/>
            <a:ext cx="857245" cy="365125"/>
          </a:xfrm>
          <a:prstGeom prst="rect">
            <a:avLst/>
          </a:prstGeom>
        </p:spPr>
        <p:txBody>
          <a:bodyPr anchor="ctr"/>
          <a:lstStyle>
            <a:lvl1pPr>
              <a:defRPr lang="en-US" sz="1200" smtClean="0">
                <a:solidFill>
                  <a:schemeClr val="accent1"/>
                </a:solidFill>
              </a:defRPr>
            </a:lvl1pPr>
          </a:lstStyle>
          <a:p>
            <a:pPr algn="ctr"/>
            <a:fld id="{3A41A254-7326-714E-AF55-4C213D6394DE}" type="slidenum">
              <a:rPr lang="en-IN" smtClean="0"/>
              <a:pPr algn="ctr"/>
              <a:t>‹#›</a:t>
            </a:fld>
            <a:endParaRPr lang="en-IN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C0A9E431-EC2B-5717-285E-278016CA82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0373" y="1600200"/>
            <a:ext cx="5485628" cy="456183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GB" sz="1800" dirty="0"/>
            </a:lvl1pPr>
            <a:lvl2pPr>
              <a:defRPr lang="en-GB" sz="1600" dirty="0"/>
            </a:lvl2pPr>
            <a:lvl3pPr>
              <a:defRPr lang="en-GB" sz="1400" dirty="0"/>
            </a:lvl3pPr>
            <a:lvl4pPr>
              <a:defRPr lang="en-GB" sz="1200" dirty="0"/>
            </a:lvl4pPr>
            <a:lvl5pPr>
              <a:defRPr lang="en-US" sz="1200" dirty="0"/>
            </a:lvl5pPr>
          </a:lstStyle>
          <a:p>
            <a:pPr lvl="0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</a:pPr>
            <a:r>
              <a:rPr lang="en-US"/>
              <a:t>Click to edit Master text styles</a:t>
            </a:r>
          </a:p>
          <a:p>
            <a:pPr lvl="1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</a:pPr>
            <a:r>
              <a:rPr lang="en-US"/>
              <a:t>Second level</a:t>
            </a:r>
          </a:p>
          <a:p>
            <a:pPr lvl="2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</a:pPr>
            <a:r>
              <a:rPr lang="en-US"/>
              <a:t>Third level</a:t>
            </a:r>
          </a:p>
          <a:p>
            <a:pPr lvl="3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</a:pPr>
            <a:r>
              <a:rPr lang="en-US"/>
              <a:t>Fourth level</a:t>
            </a:r>
          </a:p>
          <a:p>
            <a:pPr lvl="4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</a:pPr>
            <a:r>
              <a:rPr lang="en-US"/>
              <a:t>Fifth level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607FE69-5627-2F02-8D78-2B38708079C2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16100" y="990600"/>
            <a:ext cx="10965528" cy="457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000" b="1" dirty="0">
                <a:latin typeface="Nunito Sans" pitchFamily="2" charset="77"/>
              </a:defRPr>
            </a:lvl1pPr>
          </a:lstStyle>
          <a:p>
            <a:pPr marL="0" lvl="0" indent="0">
              <a:buFontTx/>
              <a:buNone/>
            </a:pPr>
            <a:r>
              <a:rPr lang="en-GB"/>
              <a:t>Sub-heading</a:t>
            </a:r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9127A2E-2194-FA16-2895-A983F804DE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04800"/>
            <a:ext cx="10972800" cy="914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7" name="Picture 6" descr="A close-up of a logo&#10;&#10;Description automatically generated">
            <a:extLst>
              <a:ext uri="{FF2B5EF4-FFF2-40B4-BE49-F238E27FC236}">
                <a16:creationId xmlns:a16="http://schemas.microsoft.com/office/drawing/2014/main" id="{C089A545-7420-C6A8-55C6-91018ACE18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3879" t="-2216" r="16423" b="36975"/>
          <a:stretch/>
        </p:blipFill>
        <p:spPr>
          <a:xfrm>
            <a:off x="0" y="6363684"/>
            <a:ext cx="914400" cy="49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5924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54E09-83C2-64E7-9110-8776CF1BC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5200" y="6492875"/>
            <a:ext cx="857245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fld id="{3A41A254-7326-714E-AF55-4C213D6394D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8B5B5505-B75C-A9AE-5EE1-1C13D2335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060" y="304800"/>
            <a:ext cx="10977880" cy="91440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A close-up of a logo&#10;&#10;Description automatically generated">
            <a:extLst>
              <a:ext uri="{FF2B5EF4-FFF2-40B4-BE49-F238E27FC236}">
                <a16:creationId xmlns:a16="http://schemas.microsoft.com/office/drawing/2014/main" id="{6B0F032F-D65A-0255-D2B4-F805BB188F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3879" t="-2216" r="16423" b="36975"/>
          <a:stretch/>
        </p:blipFill>
        <p:spPr>
          <a:xfrm>
            <a:off x="0" y="6363684"/>
            <a:ext cx="914400" cy="49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599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54E09-83C2-64E7-9110-8776CF1BC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5200" y="6492875"/>
            <a:ext cx="857245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fld id="{3A41A254-7326-714E-AF55-4C213D6394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12BD0675-B4A3-C2D7-F0F5-5CFD25D415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3879" t="-2216" r="16423" b="36975"/>
          <a:stretch/>
        </p:blipFill>
        <p:spPr>
          <a:xfrm>
            <a:off x="0" y="6363684"/>
            <a:ext cx="914400" cy="49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4552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standing on a beach with palm trees&#10;&#10;Description automatically generated">
            <a:extLst>
              <a:ext uri="{FF2B5EF4-FFF2-40B4-BE49-F238E27FC236}">
                <a16:creationId xmlns:a16="http://schemas.microsoft.com/office/drawing/2014/main" id="{C7D329FF-FF14-46C2-412E-08A9D4AD95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5D8806-B30C-5D48-17A9-922DBA16C5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0" y="1008601"/>
            <a:ext cx="5486400" cy="2420399"/>
          </a:xfrm>
        </p:spPr>
        <p:txBody>
          <a:bodyPr anchor="b">
            <a:normAutofit/>
          </a:bodyPr>
          <a:lstStyle>
            <a:lvl1pPr algn="l">
              <a:defRPr sz="6600" b="0" i="0">
                <a:solidFill>
                  <a:srgbClr val="962067"/>
                </a:solidFill>
                <a:latin typeface="AirIndia" pitchFamily="82" charset="77"/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43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 userDrawn="1">
          <p15:clr>
            <a:srgbClr val="FBAE40"/>
          </p15:clr>
        </p15:guide>
        <p15:guide id="4" orient="horz" pos="1344" userDrawn="1">
          <p15:clr>
            <a:srgbClr val="FBAE40"/>
          </p15:clr>
        </p15:guide>
        <p15:guide id="5" pos="336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lane flying in the sky&#10;&#10;Description automatically generated">
            <a:extLst>
              <a:ext uri="{FF2B5EF4-FFF2-40B4-BE49-F238E27FC236}">
                <a16:creationId xmlns:a16="http://schemas.microsoft.com/office/drawing/2014/main" id="{55762A92-547E-5F52-4F9B-5EA30AB79E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DC3906F-921E-6E1D-753F-E155F5842C7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83298" y="4800600"/>
            <a:ext cx="5203902" cy="1752600"/>
          </a:xfrm>
        </p:spPr>
        <p:txBody>
          <a:bodyPr anchor="b">
            <a:normAutofit/>
          </a:bodyPr>
          <a:lstStyle>
            <a:lvl1pPr algn="l">
              <a:defRPr sz="5400" b="1" i="0">
                <a:solidFill>
                  <a:schemeClr val="bg1"/>
                </a:solidFill>
                <a:latin typeface="AirIndia" pitchFamily="82" charset="77"/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935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 userDrawn="1">
          <p15:clr>
            <a:srgbClr val="FBAE40"/>
          </p15:clr>
        </p15:guide>
        <p15:guide id="4" orient="horz" pos="1440" userDrawn="1">
          <p15:clr>
            <a:srgbClr val="FBAE40"/>
          </p15:clr>
        </p15:guide>
        <p15:guide id="5" pos="33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5DDEF0-7AF8-5F17-BBC5-8B04639B1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1037"/>
            <a:ext cx="10972800" cy="9191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B40AF1-B2D1-340A-5F66-CB24C4B8D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057399"/>
            <a:ext cx="10972800" cy="4119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06225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50" r:id="rId3"/>
    <p:sldLayoutId id="2147483669" r:id="rId4"/>
    <p:sldLayoutId id="2147483671" r:id="rId5"/>
    <p:sldLayoutId id="2147483674" r:id="rId6"/>
    <p:sldLayoutId id="2147483651" r:id="rId7"/>
    <p:sldLayoutId id="2147483656" r:id="rId8"/>
    <p:sldLayoutId id="2147483655" r:id="rId9"/>
    <p:sldLayoutId id="2147483659" r:id="rId10"/>
    <p:sldLayoutId id="2147483664" r:id="rId11"/>
    <p:sldLayoutId id="2147483666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irIndia" pitchFamily="8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5.svg"/><Relationship Id="rId4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094815C-32A6-A0BF-0C2C-9167C897E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962" y="580223"/>
            <a:ext cx="12191805" cy="2420399"/>
          </a:xfrm>
        </p:spPr>
        <p:txBody>
          <a:bodyPr anchor="t">
            <a:noAutofit/>
          </a:bodyPr>
          <a:lstStyle/>
          <a:p>
            <a:r>
              <a:rPr lang="en-US" sz="4800" dirty="0"/>
              <a:t>Tech due diligence for :  Attendance &amp; Rostering Solution (Not for Flying staff/Engineering)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999B9E5B-895F-3F5C-C87D-B472648C27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48831" y="4177650"/>
            <a:ext cx="6384966" cy="135081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Version :0.1</a:t>
            </a:r>
          </a:p>
          <a:p>
            <a:r>
              <a:rPr lang="en-US" dirty="0"/>
              <a:t>Date : 27-Mar-2026</a:t>
            </a:r>
          </a:p>
          <a:p>
            <a:r>
              <a:rPr lang="en-US" dirty="0"/>
              <a:t>Done by : Enterprise Architecture Team</a:t>
            </a:r>
          </a:p>
          <a:p>
            <a:r>
              <a:rPr lang="en-US" dirty="0"/>
              <a:t>Approved by : Head, Enterprise Architecture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D677359-C9C1-D5E6-1F9E-C23D3A27800C}"/>
              </a:ext>
            </a:extLst>
          </p:cNvPr>
          <p:cNvGrpSpPr/>
          <p:nvPr/>
        </p:nvGrpSpPr>
        <p:grpSpPr>
          <a:xfrm>
            <a:off x="-685800" y="0"/>
            <a:ext cx="533400" cy="4014737"/>
            <a:chOff x="-685800" y="0"/>
            <a:chExt cx="533400" cy="4014737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E0D5341-9538-7647-4008-AFF6A4928B72}"/>
                </a:ext>
              </a:extLst>
            </p:cNvPr>
            <p:cNvSpPr/>
            <p:nvPr/>
          </p:nvSpPr>
          <p:spPr>
            <a:xfrm>
              <a:off x="-685800" y="0"/>
              <a:ext cx="533400" cy="533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816B34D-664B-D388-F725-54524DB66A57}"/>
                </a:ext>
              </a:extLst>
            </p:cNvPr>
            <p:cNvSpPr/>
            <p:nvPr/>
          </p:nvSpPr>
          <p:spPr>
            <a:xfrm>
              <a:off x="-685800" y="580223"/>
              <a:ext cx="533400" cy="533400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E2B92FE-8920-F41F-5C21-7B598A01B847}"/>
                </a:ext>
              </a:extLst>
            </p:cNvPr>
            <p:cNvSpPr/>
            <p:nvPr/>
          </p:nvSpPr>
          <p:spPr>
            <a:xfrm>
              <a:off x="-685800" y="1160446"/>
              <a:ext cx="533400" cy="533400"/>
            </a:xfrm>
            <a:prstGeom prst="rect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01F3D7B-9E16-EB02-32C7-5D901CBB0B6C}"/>
                </a:ext>
              </a:extLst>
            </p:cNvPr>
            <p:cNvSpPr/>
            <p:nvPr/>
          </p:nvSpPr>
          <p:spPr>
            <a:xfrm>
              <a:off x="-685800" y="2320892"/>
              <a:ext cx="533400" cy="533400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776AB42-88E3-FE66-65B1-00FB6D33F4F2}"/>
                </a:ext>
              </a:extLst>
            </p:cNvPr>
            <p:cNvSpPr/>
            <p:nvPr/>
          </p:nvSpPr>
          <p:spPr>
            <a:xfrm>
              <a:off x="-685800" y="2901115"/>
              <a:ext cx="533400" cy="53340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B4FBB17-1C26-FE71-6E90-07D0903A24CB}"/>
                </a:ext>
              </a:extLst>
            </p:cNvPr>
            <p:cNvSpPr/>
            <p:nvPr/>
          </p:nvSpPr>
          <p:spPr>
            <a:xfrm>
              <a:off x="-685800" y="3481337"/>
              <a:ext cx="533400" cy="533400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612D772-FAE2-54B9-8C08-7C7B5E11F50F}"/>
                </a:ext>
              </a:extLst>
            </p:cNvPr>
            <p:cNvSpPr/>
            <p:nvPr/>
          </p:nvSpPr>
          <p:spPr>
            <a:xfrm>
              <a:off x="-685800" y="1740669"/>
              <a:ext cx="533400" cy="5334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48033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59815BC5-071A-3C63-BF05-A57090476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105554"/>
            <a:ext cx="10977880" cy="914400"/>
          </a:xfrm>
        </p:spPr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6D20F43-2F10-4551-CD85-4E431C621E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1384" y="1241600"/>
            <a:ext cx="5760640" cy="5616400"/>
          </a:xfrm>
        </p:spPr>
        <p:txBody>
          <a:bodyPr>
            <a:normAutofit fontScale="62500" lnSpcReduction="20000"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b="1" dirty="0">
                <a:solidFill>
                  <a:schemeClr val="accent1"/>
                </a:solidFill>
                <a:latin typeface="Nunito Sans" pitchFamily="2" charset="77"/>
              </a:rPr>
              <a:t>This tech due diligence is about : Solution for Non- Flying Personal Attendance and Rostering Solution</a:t>
            </a:r>
            <a:endParaRPr lang="en-US" sz="1600" b="1" dirty="0">
              <a:solidFill>
                <a:schemeClr val="accent1"/>
              </a:solidFill>
              <a:latin typeface="Nunito Sans" pitchFamily="2" charset="77"/>
            </a:endParaRPr>
          </a:p>
          <a:p>
            <a:pPr algn="just"/>
            <a:r>
              <a:rPr lang="en-IN" sz="2200" dirty="0">
                <a:latin typeface="Nunito Sans" pitchFamily="2" charset="77"/>
              </a:rPr>
              <a:t>Air India’s diverse operations spanning a corporate head office and multiple airport stations ,require a unified Attendance and Shift Management System. Currently, attendance tracking and roster planning involve manual processes that are time consuming and error-prone. The envisioned system will leverage facial recognition for touchless attendance capture, automate shift rostering for All Non- Flying employees based at any of the India locations/ stations/ airports/ offices. 12k employees approx.</a:t>
            </a:r>
          </a:p>
          <a:p>
            <a:pPr algn="just"/>
            <a:r>
              <a:rPr lang="en-IN" sz="2200" dirty="0">
                <a:latin typeface="Nunito Sans" pitchFamily="2" charset="77"/>
              </a:rPr>
              <a:t> By integrating with existing HR systems and enforcing labour law constraints, this solution aims to improve workforce utilization, safety, and legal adherence in Air India’s ground staff management.</a:t>
            </a:r>
            <a:endParaRPr lang="en-US" b="1" dirty="0">
              <a:solidFill>
                <a:schemeClr val="accent1"/>
              </a:solidFill>
              <a:latin typeface="Nunito Sans" pitchFamily="2" charset="77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b="1" dirty="0">
                <a:solidFill>
                  <a:schemeClr val="accent1"/>
                </a:solidFill>
                <a:latin typeface="Nunito Sans" pitchFamily="2" charset="77"/>
              </a:rPr>
              <a:t>Rationale for procurement </a:t>
            </a:r>
          </a:p>
          <a:p>
            <a:r>
              <a:rPr lang="en-IN" sz="2200" dirty="0">
                <a:latin typeface="Nunito Sans" pitchFamily="2" charset="77"/>
              </a:rPr>
              <a:t>Accurate, Fraud-Free Attendance:</a:t>
            </a:r>
          </a:p>
          <a:p>
            <a:pPr>
              <a:spcAft>
                <a:spcPts val="600"/>
              </a:spcAft>
            </a:pPr>
            <a:r>
              <a:rPr lang="en-IN" sz="2200" dirty="0">
                <a:latin typeface="Nunito Sans" pitchFamily="2" charset="77"/>
              </a:rPr>
              <a:t>Efficient Rostering &amp; Coverage:</a:t>
            </a:r>
          </a:p>
          <a:p>
            <a:pPr>
              <a:spcAft>
                <a:spcPts val="600"/>
              </a:spcAft>
            </a:pPr>
            <a:r>
              <a:rPr lang="en-IN" sz="2200" dirty="0">
                <a:latin typeface="Nunito Sans" pitchFamily="2" charset="77"/>
              </a:rPr>
              <a:t>Leave &amp; Absence Management</a:t>
            </a:r>
          </a:p>
          <a:p>
            <a:pPr>
              <a:spcAft>
                <a:spcPts val="600"/>
              </a:spcAft>
            </a:pPr>
            <a:r>
              <a:rPr lang="en-IN" sz="2200" dirty="0">
                <a:latin typeface="Nunito Sans" pitchFamily="2" charset="77"/>
              </a:rPr>
              <a:t>Payroll output and integration</a:t>
            </a:r>
          </a:p>
          <a:p>
            <a:pPr>
              <a:spcAft>
                <a:spcPts val="600"/>
              </a:spcAft>
            </a:pPr>
            <a:r>
              <a:rPr lang="en-IN" sz="2200" dirty="0">
                <a:latin typeface="Nunito Sans" pitchFamily="2" charset="77"/>
              </a:rPr>
              <a:t>Legal Compliance &amp; Staff Well-being</a:t>
            </a:r>
          </a:p>
          <a:p>
            <a:pPr>
              <a:spcAft>
                <a:spcPts val="600"/>
              </a:spcAft>
            </a:pPr>
            <a:r>
              <a:rPr lang="en-IN" sz="2200" dirty="0">
                <a:latin typeface="Nunito Sans" pitchFamily="2" charset="77"/>
              </a:rPr>
              <a:t>Real-Time Operations Flexibility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767C33-95E5-C235-0867-D8752DD0A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1A254-7326-714E-AF55-4C213D6394D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3F0F0889-C0CA-68F4-52DD-08EB77FE5044}"/>
              </a:ext>
            </a:extLst>
          </p:cNvPr>
          <p:cNvSpPr txBox="1">
            <a:spLocks/>
          </p:cNvSpPr>
          <p:nvPr/>
        </p:nvSpPr>
        <p:spPr>
          <a:xfrm>
            <a:off x="6384032" y="1218121"/>
            <a:ext cx="5760640" cy="489654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20040" indent="-32004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12000"/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2004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12000"/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32004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12000"/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32004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12000"/>
              <a:buFontTx/>
              <a:buBlip>
                <a:blip r:embed="rId3"/>
              </a:buBlip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32004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12000"/>
              <a:buFontTx/>
              <a:buBlip>
                <a:blip r:embed="rId3"/>
              </a:buBlip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FontTx/>
              <a:buNone/>
            </a:pPr>
            <a:r>
              <a:rPr lang="en-US" b="1" dirty="0">
                <a:latin typeface="Nunito Sans" pitchFamily="2" charset="77"/>
              </a:rPr>
              <a:t>Options we are looking at : Following Vendors were evaluated</a:t>
            </a:r>
            <a:endParaRPr lang="en-US" sz="1400" dirty="0">
              <a:latin typeface="Nunito Sans" pitchFamily="2" charset="77"/>
            </a:endParaRPr>
          </a:p>
          <a:p>
            <a:pPr>
              <a:spcAft>
                <a:spcPts val="600"/>
              </a:spcAft>
            </a:pPr>
            <a:r>
              <a:rPr lang="en-US" sz="1400" dirty="0">
                <a:latin typeface="Nunito Sans" pitchFamily="2" charset="77"/>
              </a:rPr>
              <a:t> </a:t>
            </a:r>
            <a:r>
              <a:rPr lang="en-US" sz="1400" dirty="0" err="1">
                <a:latin typeface="Nunito Sans" pitchFamily="2" charset="77"/>
              </a:rPr>
              <a:t>UKGPro</a:t>
            </a:r>
            <a:endParaRPr lang="en-US" sz="1400" dirty="0">
              <a:latin typeface="Nunito Sans" pitchFamily="2" charset="77"/>
            </a:endParaRPr>
          </a:p>
          <a:p>
            <a:pPr>
              <a:spcAft>
                <a:spcPts val="600"/>
              </a:spcAft>
            </a:pPr>
            <a:r>
              <a:rPr lang="en-US" sz="1400" dirty="0">
                <a:latin typeface="Nunito Sans" pitchFamily="2" charset="77"/>
              </a:rPr>
              <a:t>TrueIn</a:t>
            </a:r>
          </a:p>
          <a:p>
            <a:pPr>
              <a:spcAft>
                <a:spcPts val="600"/>
              </a:spcAft>
            </a:pPr>
            <a:r>
              <a:rPr lang="en-US" sz="1400" dirty="0" err="1">
                <a:latin typeface="Nunito Sans" pitchFamily="2" charset="77"/>
              </a:rPr>
              <a:t>WorkStatus</a:t>
            </a:r>
            <a:endParaRPr lang="en-US" sz="1400" dirty="0">
              <a:latin typeface="Nunito Sans" pitchFamily="2" charset="77"/>
            </a:endParaRPr>
          </a:p>
          <a:p>
            <a:pPr>
              <a:spcAft>
                <a:spcPts val="600"/>
              </a:spcAft>
            </a:pPr>
            <a:r>
              <a:rPr lang="en-US" sz="1400" dirty="0" err="1">
                <a:latin typeface="Nunito Sans" pitchFamily="2" charset="77"/>
              </a:rPr>
              <a:t>ZingHr</a:t>
            </a:r>
            <a:endParaRPr lang="en-US" sz="1400" dirty="0">
              <a:latin typeface="Nunito Sans" pitchFamily="2" charset="77"/>
            </a:endParaRPr>
          </a:p>
          <a:p>
            <a:pPr>
              <a:spcAft>
                <a:spcPts val="600"/>
              </a:spcAft>
            </a:pPr>
            <a:r>
              <a:rPr lang="en-US" sz="1400" dirty="0">
                <a:latin typeface="Nunito Sans" pitchFamily="2" charset="77"/>
              </a:rPr>
              <a:t>SuccessFactors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latin typeface="Nunito Sans" pitchFamily="2" charset="77"/>
              </a:rPr>
              <a:t>Zoho</a:t>
            </a:r>
          </a:p>
          <a:p>
            <a:pPr marL="0" indent="0">
              <a:buNone/>
            </a:pPr>
            <a:r>
              <a:rPr lang="en-US" sz="1400" b="1" dirty="0">
                <a:latin typeface="Nunito Sans" pitchFamily="2" charset="77"/>
              </a:rPr>
              <a:t>(Functional due diligence done by: Sripad Joshi/ Jatin khatri along with HR Tech Team from D&amp;T)</a:t>
            </a:r>
          </a:p>
          <a:p>
            <a:r>
              <a:rPr lang="en-US" sz="1400" b="1" dirty="0">
                <a:latin typeface="Nunito Sans" pitchFamily="2" charset="77"/>
              </a:rPr>
              <a:t>Date of Demo: </a:t>
            </a:r>
            <a:r>
              <a:rPr lang="en-IN" sz="1400" dirty="0"/>
              <a:t>Zoho: 13th Feb, 26th Feb</a:t>
            </a:r>
          </a:p>
          <a:p>
            <a:r>
              <a:rPr lang="en-IN" sz="1400" dirty="0"/>
              <a:t>TrueIn: 23rd Feb, 2nd Mar</a:t>
            </a:r>
          </a:p>
          <a:p>
            <a:r>
              <a:rPr lang="en-IN" sz="1400" dirty="0"/>
              <a:t>ZingHR: 23rd Feb, 27th Feb</a:t>
            </a:r>
          </a:p>
          <a:p>
            <a:r>
              <a:rPr lang="en-IN" sz="1400" dirty="0"/>
              <a:t>UKG: 17th Feb, 23rd Feb</a:t>
            </a:r>
            <a:endParaRPr lang="en-US" sz="1400" b="1" dirty="0">
              <a:latin typeface="Nunito Sans" pitchFamily="2" charset="77"/>
            </a:endParaRPr>
          </a:p>
          <a:p>
            <a:pPr marL="0" indent="0">
              <a:buNone/>
            </a:pPr>
            <a:r>
              <a:rPr lang="en-US" sz="1400" b="1" dirty="0">
                <a:latin typeface="Nunito Sans" pitchFamily="2" charset="77"/>
              </a:rPr>
              <a:t>Dates of POC: </a:t>
            </a:r>
            <a:r>
              <a:rPr lang="en-US" sz="1400" dirty="0">
                <a:latin typeface="Nunito Sans" pitchFamily="2" charset="77"/>
              </a:rPr>
              <a:t>Not Done.</a:t>
            </a:r>
            <a:endParaRPr lang="en-IN" sz="1400" dirty="0"/>
          </a:p>
          <a:p>
            <a:pPr marL="0" indent="0">
              <a:buNone/>
            </a:pPr>
            <a:r>
              <a:rPr lang="en-IN" sz="1400" b="1" dirty="0">
                <a:latin typeface="Nunito Sans" pitchFamily="2" charset="77"/>
              </a:rPr>
              <a:t>D&amp;T </a:t>
            </a:r>
            <a:r>
              <a:rPr lang="en-IN" sz="1400" b="1" dirty="0" err="1">
                <a:latin typeface="Nunito Sans" pitchFamily="2" charset="77"/>
              </a:rPr>
              <a:t>Spoc</a:t>
            </a:r>
            <a:r>
              <a:rPr lang="en-IN" sz="1400" b="1" dirty="0">
                <a:latin typeface="Nunito Sans" pitchFamily="2" charset="77"/>
              </a:rPr>
              <a:t>: </a:t>
            </a:r>
            <a:r>
              <a:rPr lang="en-IN" sz="1400" dirty="0">
                <a:latin typeface="Nunito Sans" pitchFamily="2" charset="77"/>
              </a:rPr>
              <a:t>Amit Sood/Vikram Singh/Kunal Kansra</a:t>
            </a:r>
          </a:p>
          <a:p>
            <a:pPr marL="0" indent="0">
              <a:buNone/>
            </a:pPr>
            <a:r>
              <a:rPr lang="en-IN" sz="1400" b="1" dirty="0">
                <a:latin typeface="Nunito Sans" pitchFamily="2" charset="77"/>
              </a:rPr>
              <a:t>Functional Team had Rated UKGPro, Zoho, TrueIn as the Top 3 vendors meeting most of Air India’s Functional Needs. Hence we have done a Tech DD for these vendors.</a:t>
            </a:r>
            <a:endParaRPr lang="en-US" sz="1400" b="1" dirty="0">
              <a:latin typeface="Nunito Sans" pitchFamily="2" charset="77"/>
            </a:endParaRPr>
          </a:p>
          <a:p>
            <a:pPr marL="0" indent="0">
              <a:buNone/>
            </a:pPr>
            <a:endParaRPr lang="en-US" sz="1400" b="1" dirty="0">
              <a:latin typeface="Nunito Sans" pitchFamily="2" charset="77"/>
            </a:endParaRPr>
          </a:p>
        </p:txBody>
      </p:sp>
      <p:pic>
        <p:nvPicPr>
          <p:cNvPr id="1026" name="Picture 2" descr="Due Diligence Icons - Free SVG &amp; PNG Due Diligence Images - Noun Project">
            <a:extLst>
              <a:ext uri="{FF2B5EF4-FFF2-40B4-BE49-F238E27FC236}">
                <a16:creationId xmlns:a16="http://schemas.microsoft.com/office/drawing/2014/main" id="{30E99B42-619E-8940-D67B-BED0869836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19954"/>
            <a:ext cx="477714" cy="477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option Vector Icons free download in SVG, PNG Format">
            <a:extLst>
              <a:ext uri="{FF2B5EF4-FFF2-40B4-BE49-F238E27FC236}">
                <a16:creationId xmlns:a16="http://schemas.microsoft.com/office/drawing/2014/main" id="{74BC049A-CA15-37BD-45D4-65DC91C1FB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3647" y="1269667"/>
            <a:ext cx="236754" cy="236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ackground - Free web icons">
            <a:extLst>
              <a:ext uri="{FF2B5EF4-FFF2-40B4-BE49-F238E27FC236}">
                <a16:creationId xmlns:a16="http://schemas.microsoft.com/office/drawing/2014/main" id="{27F9DAD7-E067-3EE9-6F13-99568A885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6080" y="105554"/>
            <a:ext cx="769072" cy="76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7398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80841A-A721-26B8-B55D-ED070B5E6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1A254-7326-714E-AF55-4C213D6394DE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26C620-39C0-51C4-4521-3CE8A8986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94" y="-39964"/>
            <a:ext cx="10977880" cy="914400"/>
          </a:xfrm>
        </p:spPr>
        <p:txBody>
          <a:bodyPr/>
          <a:lstStyle/>
          <a:p>
            <a:r>
              <a:rPr lang="en-IN" dirty="0"/>
              <a:t>Functional Due Diligence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3892CC0-10C5-9CBF-3464-117F855AC8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3536761"/>
              </p:ext>
            </p:extLst>
          </p:nvPr>
        </p:nvGraphicFramePr>
        <p:xfrm>
          <a:off x="0" y="697242"/>
          <a:ext cx="12191999" cy="59781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7225">
                  <a:extLst>
                    <a:ext uri="{9D8B030D-6E8A-4147-A177-3AD203B41FA5}">
                      <a16:colId xmlns:a16="http://schemas.microsoft.com/office/drawing/2014/main" val="1198878134"/>
                    </a:ext>
                  </a:extLst>
                </a:gridCol>
                <a:gridCol w="950167">
                  <a:extLst>
                    <a:ext uri="{9D8B030D-6E8A-4147-A177-3AD203B41FA5}">
                      <a16:colId xmlns:a16="http://schemas.microsoft.com/office/drawing/2014/main" val="1364977154"/>
                    </a:ext>
                  </a:extLst>
                </a:gridCol>
                <a:gridCol w="709257">
                  <a:extLst>
                    <a:ext uri="{9D8B030D-6E8A-4147-A177-3AD203B41FA5}">
                      <a16:colId xmlns:a16="http://schemas.microsoft.com/office/drawing/2014/main" val="695014464"/>
                    </a:ext>
                  </a:extLst>
                </a:gridCol>
                <a:gridCol w="1827992">
                  <a:extLst>
                    <a:ext uri="{9D8B030D-6E8A-4147-A177-3AD203B41FA5}">
                      <a16:colId xmlns:a16="http://schemas.microsoft.com/office/drawing/2014/main" val="2253398382"/>
                    </a:ext>
                  </a:extLst>
                </a:gridCol>
                <a:gridCol w="763061">
                  <a:extLst>
                    <a:ext uri="{9D8B030D-6E8A-4147-A177-3AD203B41FA5}">
                      <a16:colId xmlns:a16="http://schemas.microsoft.com/office/drawing/2014/main" val="2831581272"/>
                    </a:ext>
                  </a:extLst>
                </a:gridCol>
                <a:gridCol w="676915">
                  <a:extLst>
                    <a:ext uri="{9D8B030D-6E8A-4147-A177-3AD203B41FA5}">
                      <a16:colId xmlns:a16="http://schemas.microsoft.com/office/drawing/2014/main" val="1684379856"/>
                    </a:ext>
                  </a:extLst>
                </a:gridCol>
                <a:gridCol w="1308353">
                  <a:extLst>
                    <a:ext uri="{9D8B030D-6E8A-4147-A177-3AD203B41FA5}">
                      <a16:colId xmlns:a16="http://schemas.microsoft.com/office/drawing/2014/main" val="4056445152"/>
                    </a:ext>
                  </a:extLst>
                </a:gridCol>
                <a:gridCol w="1034757">
                  <a:extLst>
                    <a:ext uri="{9D8B030D-6E8A-4147-A177-3AD203B41FA5}">
                      <a16:colId xmlns:a16="http://schemas.microsoft.com/office/drawing/2014/main" val="4294966405"/>
                    </a:ext>
                  </a:extLst>
                </a:gridCol>
                <a:gridCol w="715673">
                  <a:extLst>
                    <a:ext uri="{9D8B030D-6E8A-4147-A177-3AD203B41FA5}">
                      <a16:colId xmlns:a16="http://schemas.microsoft.com/office/drawing/2014/main" val="2088876292"/>
                    </a:ext>
                  </a:extLst>
                </a:gridCol>
                <a:gridCol w="1353842">
                  <a:extLst>
                    <a:ext uri="{9D8B030D-6E8A-4147-A177-3AD203B41FA5}">
                      <a16:colId xmlns:a16="http://schemas.microsoft.com/office/drawing/2014/main" val="3012383149"/>
                    </a:ext>
                  </a:extLst>
                </a:gridCol>
                <a:gridCol w="1034757">
                  <a:extLst>
                    <a:ext uri="{9D8B030D-6E8A-4147-A177-3AD203B41FA5}">
                      <a16:colId xmlns:a16="http://schemas.microsoft.com/office/drawing/2014/main" val="2674101331"/>
                    </a:ext>
                  </a:extLst>
                </a:gridCol>
              </a:tblGrid>
              <a:tr h="448956">
                <a:tc rowSpan="2">
                  <a:txBody>
                    <a:bodyPr/>
                    <a:lstStyle/>
                    <a:p>
                      <a:pPr algn="ctr"/>
                      <a:endParaRPr lang="en-IN" sz="1400" b="1" dirty="0">
                        <a:solidFill>
                          <a:schemeClr val="bg1"/>
                        </a:solidFill>
                        <a:latin typeface="Concourse T3" pitchFamily="50" charset="0"/>
                      </a:endParaRPr>
                    </a:p>
                  </a:txBody>
                  <a:tcPr marL="100584" marR="10058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IN" sz="1400" b="1" dirty="0">
                        <a:solidFill>
                          <a:schemeClr val="bg1"/>
                        </a:solidFill>
                        <a:latin typeface="Concourse T3" pitchFamily="50" charset="0"/>
                      </a:endParaRPr>
                    </a:p>
                  </a:txBody>
                  <a:tcPr marL="100584" marR="10058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IN" dirty="0"/>
                        <a:t>Rostering and Attendance management systems</a:t>
                      </a: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b="1" i="0" dirty="0">
                        <a:solidFill>
                          <a:schemeClr val="bg1"/>
                        </a:solidFill>
                        <a:latin typeface="Concourse T3" pitchFamily="50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400" b="1" i="0" dirty="0">
                        <a:solidFill>
                          <a:schemeClr val="bg1"/>
                        </a:solidFill>
                        <a:latin typeface="Concourse T3" pitchFamily="50" charset="0"/>
                      </a:endParaRPr>
                    </a:p>
                  </a:txBody>
                  <a:tcPr marL="100584" marR="10058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377695"/>
                  </a:ext>
                </a:extLst>
              </a:tr>
              <a:tr h="448956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solidFill>
                            <a:schemeClr val="bg1"/>
                          </a:solidFill>
                          <a:latin typeface="Concourse T3" pitchFamily="50" charset="0"/>
                        </a:rPr>
                        <a:t>UKG</a:t>
                      </a:r>
                      <a:endParaRPr lang="en-IN" dirty="0"/>
                    </a:p>
                  </a:txBody>
                  <a:tcPr marL="100584" marR="10058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400" b="1" i="0" dirty="0">
                        <a:solidFill>
                          <a:schemeClr val="bg1"/>
                        </a:solidFill>
                        <a:latin typeface="Concourse T3" pitchFamily="50" charset="0"/>
                      </a:endParaRPr>
                    </a:p>
                  </a:txBody>
                  <a:tcPr marL="100584" marR="10058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400" b="1" i="0" dirty="0">
                        <a:solidFill>
                          <a:schemeClr val="bg1"/>
                        </a:solidFill>
                        <a:latin typeface="Concourse T3" pitchFamily="50" charset="0"/>
                      </a:endParaRPr>
                    </a:p>
                  </a:txBody>
                  <a:tcPr marL="100584" marR="10058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1" i="0" dirty="0">
                          <a:solidFill>
                            <a:schemeClr val="bg1"/>
                          </a:solidFill>
                          <a:latin typeface="Concourse T3" pitchFamily="50" charset="0"/>
                        </a:rPr>
                        <a:t>Zoho</a:t>
                      </a:r>
                    </a:p>
                  </a:txBody>
                  <a:tcPr marL="100584" marR="10058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400" b="1" i="0" dirty="0">
                        <a:solidFill>
                          <a:schemeClr val="bg1"/>
                        </a:solidFill>
                        <a:latin typeface="Concourse T3" pitchFamily="50" charset="0"/>
                      </a:endParaRPr>
                    </a:p>
                  </a:txBody>
                  <a:tcPr marL="100584" marR="10058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1" i="0" dirty="0">
                          <a:solidFill>
                            <a:schemeClr val="bg1"/>
                          </a:solidFill>
                          <a:latin typeface="Concourse T3" pitchFamily="50" charset="0"/>
                        </a:rPr>
                        <a:t>True in</a:t>
                      </a:r>
                    </a:p>
                  </a:txBody>
                  <a:tcPr marL="100584" marR="10058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400" b="1" i="0" dirty="0">
                        <a:solidFill>
                          <a:schemeClr val="bg1"/>
                        </a:solidFill>
                        <a:latin typeface="Concourse T3" pitchFamily="50" charset="0"/>
                      </a:endParaRPr>
                    </a:p>
                  </a:txBody>
                  <a:tcPr marL="100584" marR="10058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400" b="1" i="0" dirty="0">
                        <a:solidFill>
                          <a:schemeClr val="bg1"/>
                        </a:solidFill>
                        <a:latin typeface="Concourse T3" pitchFamily="50" charset="0"/>
                      </a:endParaRPr>
                    </a:p>
                  </a:txBody>
                  <a:tcPr marL="100584" marR="10058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834241"/>
                  </a:ext>
                </a:extLst>
              </a:tr>
              <a:tr h="459294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Feature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Feature Type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OOB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Customization Need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Score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OOB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Customization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Score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OOB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Customization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Score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063612"/>
                  </a:ext>
                </a:extLst>
              </a:tr>
              <a:tr h="437798"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Facial Recognition/Attendance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Mandatory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endParaRPr lang="en-IN" sz="1400" kern="100" dirty="0">
                        <a:effectLst/>
                        <a:latin typeface="Concourse T3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endParaRPr lang="en-IN" sz="1400" kern="100" dirty="0">
                        <a:effectLst/>
                        <a:latin typeface="Concourse T3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IN" sz="1400" kern="100" dirty="0">
                        <a:effectLst/>
                        <a:latin typeface="Concourse T3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endParaRPr lang="en-IN" sz="1400" kern="100" dirty="0">
                        <a:effectLst/>
                        <a:latin typeface="Concourse T3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IN" sz="1400" kern="100" dirty="0">
                        <a:effectLst/>
                        <a:latin typeface="Concourse T3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413077"/>
                  </a:ext>
                </a:extLst>
              </a:tr>
              <a:tr h="437798"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Alternative time capture &amp; device controls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Mandatory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sz="1400" b="0" i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endParaRPr lang="en-IN" sz="1400" b="0" i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sz="1400" b="0" i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Yes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IN" sz="1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endParaRPr lang="en-IN" sz="1400" b="0" i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sz="1400" b="0" i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4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Yes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IN" sz="1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endParaRPr lang="en-IN" sz="1400" b="0" i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sz="1400" b="0" i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1764430"/>
                  </a:ext>
                </a:extLst>
              </a:tr>
              <a:tr h="437798"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Rostering capabilities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Mandatory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endParaRPr lang="en-IN" sz="1400" kern="100" dirty="0">
                        <a:effectLst/>
                        <a:latin typeface="Concourse T3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kumimoji="0" lang="en-IN" sz="1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endParaRPr lang="en-IN" sz="1400" kern="100" dirty="0">
                        <a:effectLst/>
                        <a:latin typeface="Concourse T3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endParaRPr lang="en-IN" sz="1400" kern="100" dirty="0">
                        <a:effectLst/>
                        <a:latin typeface="Concourse T3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kumimoji="0" lang="en-IN" sz="1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endParaRPr lang="en-IN" sz="1400" kern="100" dirty="0">
                        <a:effectLst/>
                        <a:latin typeface="Concourse T3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endParaRPr lang="en-IN" sz="1400" kern="100" dirty="0">
                        <a:effectLst/>
                        <a:latin typeface="Concourse T3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320702"/>
                  </a:ext>
                </a:extLst>
              </a:tr>
              <a:tr h="437798"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Near Time Refresh Capabilities for Punch In/Punch Out 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Mandatory</a:t>
                      </a:r>
                    </a:p>
                    <a:p>
                      <a:pPr algn="l"/>
                      <a:endParaRPr lang="en-IN" sz="1200" b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endParaRPr lang="en-IN" sz="1400" kern="100" dirty="0">
                        <a:effectLst/>
                        <a:latin typeface="Concourse T3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kumimoji="0" lang="en-IN" sz="1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endParaRPr lang="en-IN" sz="1400" kern="100" dirty="0">
                        <a:effectLst/>
                        <a:latin typeface="Concourse T3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endParaRPr lang="en-IN" sz="1400" kern="100" dirty="0">
                        <a:effectLst/>
                        <a:latin typeface="Concourse T3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kumimoji="0" lang="en-IN" sz="1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endParaRPr lang="en-IN" sz="1400" kern="100" dirty="0">
                        <a:effectLst/>
                        <a:latin typeface="Concourse T3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endParaRPr lang="en-IN" sz="1400" kern="100" dirty="0">
                        <a:effectLst/>
                        <a:latin typeface="Concourse T3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277563"/>
                  </a:ext>
                </a:extLst>
              </a:tr>
              <a:tr h="4377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Day‑of‑Operations (no‑show flagging, replacement suggestions quality, shift swaps/approvals, mid‑shift reassignment, emergency extensions guardrails)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Mandatory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b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IN" sz="1400" kern="100" dirty="0">
                        <a:effectLst/>
                        <a:latin typeface="Concourse T3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kumimoji="0" lang="en-IN" sz="1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endParaRPr lang="en-IN" sz="1400" kern="100" dirty="0">
                        <a:effectLst/>
                        <a:latin typeface="Concourse T3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endParaRPr lang="en-IN" sz="1400" kern="100" dirty="0">
                        <a:effectLst/>
                        <a:latin typeface="Concourse T3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kumimoji="0" lang="en-IN" sz="1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endParaRPr lang="en-IN" sz="1400" kern="100" dirty="0">
                        <a:effectLst/>
                        <a:latin typeface="Concourse T3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endParaRPr lang="en-IN" sz="1400" kern="100" dirty="0">
                        <a:effectLst/>
                        <a:latin typeface="Concourse T3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745069"/>
                  </a:ext>
                </a:extLst>
              </a:tr>
              <a:tr h="4377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Attendance Rules (OT, Comp Off, auto calc vs scheduled shifts, Late coming, Early going, Core Hours Adherence, approvals, accrual/expiry, legal caps, audits)</a:t>
                      </a:r>
                    </a:p>
                  </a:txBody>
                  <a:tcPr marL="9525" marR="9525" marT="9525" marB="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Mandatory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sz="1400" b="0" i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endParaRPr lang="en-IN" sz="1400" b="0" i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sz="1400" b="0" i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sz="1400" b="0" i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endParaRPr lang="en-IN" sz="1400" b="0" i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IN" sz="1400" b="0" i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sz="1400" b="0" i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endParaRPr lang="en-IN" sz="1400" b="0" i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IN" sz="1400" b="0" i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065757"/>
                  </a:ext>
                </a:extLst>
              </a:tr>
            </a:tbl>
          </a:graphicData>
        </a:graphic>
      </p:graphicFrame>
      <p:pic>
        <p:nvPicPr>
          <p:cNvPr id="18" name="Picture 2" descr="Evaluation Icons &amp; Symbols">
            <a:extLst>
              <a:ext uri="{FF2B5EF4-FFF2-40B4-BE49-F238E27FC236}">
                <a16:creationId xmlns:a16="http://schemas.microsoft.com/office/drawing/2014/main" id="{7995ABD1-B1DB-50F4-0DB7-99074B2B2B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3474" y="165979"/>
            <a:ext cx="634677" cy="63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" name="Graphic 114" descr="Harvey Balls 75% with solid fill">
            <a:extLst>
              <a:ext uri="{FF2B5EF4-FFF2-40B4-BE49-F238E27FC236}">
                <a16:creationId xmlns:a16="http://schemas.microsoft.com/office/drawing/2014/main" id="{EA19DA63-962E-1A14-7352-9BC608032B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5762" y="3084334"/>
            <a:ext cx="289892" cy="289892"/>
          </a:xfrm>
          <a:prstGeom prst="rect">
            <a:avLst/>
          </a:prstGeom>
        </p:spPr>
      </p:pic>
      <p:pic>
        <p:nvPicPr>
          <p:cNvPr id="4" name="Graphic 3" descr="Harvey Balls 100% with solid fill">
            <a:extLst>
              <a:ext uri="{FF2B5EF4-FFF2-40B4-BE49-F238E27FC236}">
                <a16:creationId xmlns:a16="http://schemas.microsoft.com/office/drawing/2014/main" id="{A45A59E8-B466-9564-728A-7EE2D31D48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15762" y="2190882"/>
            <a:ext cx="289892" cy="289892"/>
          </a:xfrm>
          <a:prstGeom prst="rect">
            <a:avLst/>
          </a:prstGeom>
        </p:spPr>
      </p:pic>
      <p:pic>
        <p:nvPicPr>
          <p:cNvPr id="5" name="Graphic 4" descr="Harvey Balls 75% with solid fill">
            <a:extLst>
              <a:ext uri="{FF2B5EF4-FFF2-40B4-BE49-F238E27FC236}">
                <a16:creationId xmlns:a16="http://schemas.microsoft.com/office/drawing/2014/main" id="{D9E7A1C7-B821-19DA-5BDA-1C5F2BBE30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0493" y="2241072"/>
            <a:ext cx="289892" cy="289892"/>
          </a:xfrm>
          <a:prstGeom prst="rect">
            <a:avLst/>
          </a:prstGeom>
        </p:spPr>
      </p:pic>
      <p:pic>
        <p:nvPicPr>
          <p:cNvPr id="6" name="Graphic 5" descr="Harvey Balls 100% with solid fill">
            <a:extLst>
              <a:ext uri="{FF2B5EF4-FFF2-40B4-BE49-F238E27FC236}">
                <a16:creationId xmlns:a16="http://schemas.microsoft.com/office/drawing/2014/main" id="{681511CC-44C5-C087-FEC5-AD3FA6D1AD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15762" y="2665098"/>
            <a:ext cx="289892" cy="289892"/>
          </a:xfrm>
          <a:prstGeom prst="rect">
            <a:avLst/>
          </a:prstGeom>
        </p:spPr>
      </p:pic>
      <p:pic>
        <p:nvPicPr>
          <p:cNvPr id="7" name="Graphic 6" descr="Harvey Balls 75% with solid fill">
            <a:extLst>
              <a:ext uri="{FF2B5EF4-FFF2-40B4-BE49-F238E27FC236}">
                <a16:creationId xmlns:a16="http://schemas.microsoft.com/office/drawing/2014/main" id="{93CF6F26-348A-BF8D-28BE-F7FA2CF3D3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7159" y="2716989"/>
            <a:ext cx="289892" cy="289892"/>
          </a:xfrm>
          <a:prstGeom prst="rect">
            <a:avLst/>
          </a:prstGeom>
        </p:spPr>
      </p:pic>
      <p:pic>
        <p:nvPicPr>
          <p:cNvPr id="8" name="Graphic 7" descr="Harvey Balls 100% with solid fill">
            <a:extLst>
              <a:ext uri="{FF2B5EF4-FFF2-40B4-BE49-F238E27FC236}">
                <a16:creationId xmlns:a16="http://schemas.microsoft.com/office/drawing/2014/main" id="{6B03AD77-8826-C48F-5CBF-9198888CF5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27159" y="3113069"/>
            <a:ext cx="289892" cy="289892"/>
          </a:xfrm>
          <a:prstGeom prst="rect">
            <a:avLst/>
          </a:prstGeom>
        </p:spPr>
      </p:pic>
      <p:pic>
        <p:nvPicPr>
          <p:cNvPr id="9" name="Graphic 8" descr="Harvey Balls 100% with solid fill">
            <a:extLst>
              <a:ext uri="{FF2B5EF4-FFF2-40B4-BE49-F238E27FC236}">
                <a16:creationId xmlns:a16="http://schemas.microsoft.com/office/drawing/2014/main" id="{7C0B2761-5F3B-D297-FDB1-825BD3FA11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54308" y="3647781"/>
            <a:ext cx="289892" cy="289892"/>
          </a:xfrm>
          <a:prstGeom prst="rect">
            <a:avLst/>
          </a:prstGeom>
        </p:spPr>
      </p:pic>
      <p:pic>
        <p:nvPicPr>
          <p:cNvPr id="10" name="Graphic 9" descr="Harvey Balls 75% with solid fill">
            <a:extLst>
              <a:ext uri="{FF2B5EF4-FFF2-40B4-BE49-F238E27FC236}">
                <a16:creationId xmlns:a16="http://schemas.microsoft.com/office/drawing/2014/main" id="{85BB1B42-62DB-B039-7B19-A0723A85B3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75461" y="3686339"/>
            <a:ext cx="289892" cy="289892"/>
          </a:xfrm>
          <a:prstGeom prst="rect">
            <a:avLst/>
          </a:prstGeom>
        </p:spPr>
      </p:pic>
      <p:pic>
        <p:nvPicPr>
          <p:cNvPr id="11" name="Graphic 10" descr="Harvey Balls 100% with solid fill">
            <a:extLst>
              <a:ext uri="{FF2B5EF4-FFF2-40B4-BE49-F238E27FC236}">
                <a16:creationId xmlns:a16="http://schemas.microsoft.com/office/drawing/2014/main" id="{1FC5EEA2-BF82-90B2-A25F-376802B1F2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71633" y="4711907"/>
            <a:ext cx="289892" cy="289892"/>
          </a:xfrm>
          <a:prstGeom prst="rect">
            <a:avLst/>
          </a:prstGeom>
        </p:spPr>
      </p:pic>
      <p:pic>
        <p:nvPicPr>
          <p:cNvPr id="12" name="Graphic 11" descr="Harvey Balls 75% with solid fill">
            <a:extLst>
              <a:ext uri="{FF2B5EF4-FFF2-40B4-BE49-F238E27FC236}">
                <a16:creationId xmlns:a16="http://schemas.microsoft.com/office/drawing/2014/main" id="{EB198404-2D39-C36E-2146-CAF7D04EAB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59842" y="4685441"/>
            <a:ext cx="289892" cy="289892"/>
          </a:xfrm>
          <a:prstGeom prst="rect">
            <a:avLst/>
          </a:prstGeom>
        </p:spPr>
      </p:pic>
      <p:pic>
        <p:nvPicPr>
          <p:cNvPr id="13" name="Graphic 12" descr="Harvey Balls 100% with solid fill">
            <a:extLst>
              <a:ext uri="{FF2B5EF4-FFF2-40B4-BE49-F238E27FC236}">
                <a16:creationId xmlns:a16="http://schemas.microsoft.com/office/drawing/2014/main" id="{F026D7C5-9503-E60B-181E-1A00C3239A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54308" y="5728677"/>
            <a:ext cx="289892" cy="289892"/>
          </a:xfrm>
          <a:prstGeom prst="rect">
            <a:avLst/>
          </a:prstGeom>
        </p:spPr>
      </p:pic>
      <p:pic>
        <p:nvPicPr>
          <p:cNvPr id="14" name="Graphic 13" descr="Harvey Balls 75% with solid fill">
            <a:extLst>
              <a:ext uri="{FF2B5EF4-FFF2-40B4-BE49-F238E27FC236}">
                <a16:creationId xmlns:a16="http://schemas.microsoft.com/office/drawing/2014/main" id="{45101EC4-9F93-AFD5-8891-86F86A75E4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59842" y="5870866"/>
            <a:ext cx="289892" cy="289892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DBE59DDC-2BFC-8C3C-A9F6-62C2DD7711C7}"/>
              </a:ext>
            </a:extLst>
          </p:cNvPr>
          <p:cNvGrpSpPr/>
          <p:nvPr/>
        </p:nvGrpSpPr>
        <p:grpSpPr>
          <a:xfrm>
            <a:off x="7091814" y="218400"/>
            <a:ext cx="4178332" cy="317146"/>
            <a:chOff x="6895006" y="6403709"/>
            <a:chExt cx="4178332" cy="317146"/>
          </a:xfrm>
        </p:grpSpPr>
        <p:pic>
          <p:nvPicPr>
            <p:cNvPr id="19" name="Graphic 18" descr="Harvey Balls 75% with solid fill">
              <a:extLst>
                <a:ext uri="{FF2B5EF4-FFF2-40B4-BE49-F238E27FC236}">
                  <a16:creationId xmlns:a16="http://schemas.microsoft.com/office/drawing/2014/main" id="{C70A3876-6AD6-DA03-B28A-FB1A4AB6381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97805" y="6408590"/>
              <a:ext cx="289892" cy="289892"/>
            </a:xfrm>
            <a:prstGeom prst="rect">
              <a:avLst/>
            </a:prstGeom>
          </p:spPr>
        </p:pic>
        <p:pic>
          <p:nvPicPr>
            <p:cNvPr id="20" name="Graphic 19" descr="Harvey Balls 100% with solid fill">
              <a:extLst>
                <a:ext uri="{FF2B5EF4-FFF2-40B4-BE49-F238E27FC236}">
                  <a16:creationId xmlns:a16="http://schemas.microsoft.com/office/drawing/2014/main" id="{CE6C6D81-D59D-368C-7239-6E1B61939B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194373" y="6403709"/>
              <a:ext cx="289892" cy="289892"/>
            </a:xfrm>
            <a:prstGeom prst="rect">
              <a:avLst/>
            </a:prstGeom>
          </p:spPr>
        </p:pic>
        <p:pic>
          <p:nvPicPr>
            <p:cNvPr id="21" name="Graphic 20" descr="Harvey Balls 50% with solid fill">
              <a:extLst>
                <a:ext uri="{FF2B5EF4-FFF2-40B4-BE49-F238E27FC236}">
                  <a16:creationId xmlns:a16="http://schemas.microsoft.com/office/drawing/2014/main" id="{07C55ADE-544B-6AEC-CA92-56C6503CD48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278653" y="6426634"/>
              <a:ext cx="289892" cy="289892"/>
            </a:xfrm>
            <a:prstGeom prst="rect">
              <a:avLst/>
            </a:prstGeom>
          </p:spPr>
        </p:pic>
        <p:pic>
          <p:nvPicPr>
            <p:cNvPr id="22" name="Graphic 21" descr="Harvey Balls 25% with solid fill">
              <a:extLst>
                <a:ext uri="{FF2B5EF4-FFF2-40B4-BE49-F238E27FC236}">
                  <a16:creationId xmlns:a16="http://schemas.microsoft.com/office/drawing/2014/main" id="{D4589280-8B98-5B9A-2FEC-27EEE8D1810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524485" y="6414929"/>
              <a:ext cx="289892" cy="289892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1D033C3-F5D8-9E84-0AB6-32CBC9A8459A}"/>
                </a:ext>
              </a:extLst>
            </p:cNvPr>
            <p:cNvSpPr txBox="1"/>
            <p:nvPr/>
          </p:nvSpPr>
          <p:spPr>
            <a:xfrm>
              <a:off x="7813900" y="6449113"/>
              <a:ext cx="4587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dirty="0"/>
                <a:t>Low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E4326E1-2218-2F06-CBA5-F4AF7717C22B}"/>
                </a:ext>
              </a:extLst>
            </p:cNvPr>
            <p:cNvSpPr txBox="1"/>
            <p:nvPr/>
          </p:nvSpPr>
          <p:spPr>
            <a:xfrm>
              <a:off x="8508846" y="6454916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dirty="0"/>
                <a:t>Moderate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E91C2DB-CD54-1023-C966-200DE5C58E01}"/>
                </a:ext>
              </a:extLst>
            </p:cNvPr>
            <p:cNvSpPr txBox="1"/>
            <p:nvPr/>
          </p:nvSpPr>
          <p:spPr>
            <a:xfrm>
              <a:off x="9591539" y="6430544"/>
              <a:ext cx="52610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dirty="0"/>
                <a:t>Good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60D3FD3-4C9A-FAA5-E7AE-3AF29FEA9907}"/>
                </a:ext>
              </a:extLst>
            </p:cNvPr>
            <p:cNvSpPr txBox="1"/>
            <p:nvPr/>
          </p:nvSpPr>
          <p:spPr>
            <a:xfrm>
              <a:off x="6895006" y="6443856"/>
              <a:ext cx="5870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b="1" dirty="0"/>
                <a:t>Score</a:t>
              </a:r>
              <a:endParaRPr lang="en-IN" sz="14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95CF1E4-70FC-9A46-B88A-BC1A8AC44A0C}"/>
                </a:ext>
              </a:extLst>
            </p:cNvPr>
            <p:cNvSpPr txBox="1"/>
            <p:nvPr/>
          </p:nvSpPr>
          <p:spPr>
            <a:xfrm>
              <a:off x="10476700" y="6408014"/>
              <a:ext cx="59663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dirty="0"/>
                <a:t>Perfect</a:t>
              </a:r>
            </a:p>
          </p:txBody>
        </p:sp>
      </p:grpSp>
      <p:pic>
        <p:nvPicPr>
          <p:cNvPr id="15" name="Graphic 14" descr="Harvey Balls 100% with solid fill">
            <a:extLst>
              <a:ext uri="{FF2B5EF4-FFF2-40B4-BE49-F238E27FC236}">
                <a16:creationId xmlns:a16="http://schemas.microsoft.com/office/drawing/2014/main" id="{7FE3D46C-1B6A-41BE-F41C-64C2C3837E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09774" y="2212562"/>
            <a:ext cx="289892" cy="289892"/>
          </a:xfrm>
          <a:prstGeom prst="rect">
            <a:avLst/>
          </a:prstGeom>
        </p:spPr>
      </p:pic>
      <p:pic>
        <p:nvPicPr>
          <p:cNvPr id="28" name="Graphic 27" descr="Harvey Balls 100% with solid fill">
            <a:extLst>
              <a:ext uri="{FF2B5EF4-FFF2-40B4-BE49-F238E27FC236}">
                <a16:creationId xmlns:a16="http://schemas.microsoft.com/office/drawing/2014/main" id="{AE990A40-C990-B08F-1275-58E9362C7F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09774" y="2697571"/>
            <a:ext cx="289892" cy="289892"/>
          </a:xfrm>
          <a:prstGeom prst="rect">
            <a:avLst/>
          </a:prstGeom>
        </p:spPr>
      </p:pic>
      <p:pic>
        <p:nvPicPr>
          <p:cNvPr id="29" name="Graphic 28" descr="Harvey Balls 50% with solid fill">
            <a:extLst>
              <a:ext uri="{FF2B5EF4-FFF2-40B4-BE49-F238E27FC236}">
                <a16:creationId xmlns:a16="http://schemas.microsoft.com/office/drawing/2014/main" id="{AD6E9C06-E9D3-B6A7-1F3A-ECFC397BD1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09774" y="3113069"/>
            <a:ext cx="289892" cy="289892"/>
          </a:xfrm>
          <a:prstGeom prst="rect">
            <a:avLst/>
          </a:prstGeom>
        </p:spPr>
      </p:pic>
      <p:pic>
        <p:nvPicPr>
          <p:cNvPr id="31" name="Graphic 30" descr="Harvey Balls 100% with solid fill">
            <a:extLst>
              <a:ext uri="{FF2B5EF4-FFF2-40B4-BE49-F238E27FC236}">
                <a16:creationId xmlns:a16="http://schemas.microsoft.com/office/drawing/2014/main" id="{8E9EF441-9DFF-B8BB-4882-912EB0DC78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19451" y="3686339"/>
            <a:ext cx="289892" cy="289892"/>
          </a:xfrm>
          <a:prstGeom prst="rect">
            <a:avLst/>
          </a:prstGeom>
        </p:spPr>
      </p:pic>
      <p:pic>
        <p:nvPicPr>
          <p:cNvPr id="32" name="Graphic 31" descr="Harvey Balls 50% with solid fill">
            <a:extLst>
              <a:ext uri="{FF2B5EF4-FFF2-40B4-BE49-F238E27FC236}">
                <a16:creationId xmlns:a16="http://schemas.microsoft.com/office/drawing/2014/main" id="{BA52DD27-56D9-1BD5-5863-062D6DF45B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07863" y="4668180"/>
            <a:ext cx="289892" cy="289892"/>
          </a:xfrm>
          <a:prstGeom prst="rect">
            <a:avLst/>
          </a:prstGeom>
        </p:spPr>
      </p:pic>
      <p:pic>
        <p:nvPicPr>
          <p:cNvPr id="33" name="Graphic 32" descr="Harvey Balls 75% with solid fill">
            <a:extLst>
              <a:ext uri="{FF2B5EF4-FFF2-40B4-BE49-F238E27FC236}">
                <a16:creationId xmlns:a16="http://schemas.microsoft.com/office/drawing/2014/main" id="{99DDC0AC-E449-1614-0C9A-4EDA25F521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53822" y="5919331"/>
            <a:ext cx="289892" cy="28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686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6C0DFE-D027-51AF-A505-487E4DF80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5BB31C-2BE1-F07A-2EED-705B0F486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1A254-7326-714E-AF55-4C213D6394D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9D6476-50D2-E21D-2433-D58D226FF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94" y="1019"/>
            <a:ext cx="10977880" cy="914400"/>
          </a:xfrm>
        </p:spPr>
        <p:txBody>
          <a:bodyPr/>
          <a:lstStyle/>
          <a:p>
            <a:r>
              <a:rPr lang="en-IN" dirty="0"/>
              <a:t>Functional Due Diligence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EB010AC-E0C8-9BA2-8A18-40736EF381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795005"/>
              </p:ext>
            </p:extLst>
          </p:nvPr>
        </p:nvGraphicFramePr>
        <p:xfrm>
          <a:off x="46925" y="880553"/>
          <a:ext cx="12098149" cy="5732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975">
                  <a:extLst>
                    <a:ext uri="{9D8B030D-6E8A-4147-A177-3AD203B41FA5}">
                      <a16:colId xmlns:a16="http://schemas.microsoft.com/office/drawing/2014/main" val="1198878134"/>
                    </a:ext>
                  </a:extLst>
                </a:gridCol>
                <a:gridCol w="907374">
                  <a:extLst>
                    <a:ext uri="{9D8B030D-6E8A-4147-A177-3AD203B41FA5}">
                      <a16:colId xmlns:a16="http://schemas.microsoft.com/office/drawing/2014/main" val="1364977154"/>
                    </a:ext>
                  </a:extLst>
                </a:gridCol>
                <a:gridCol w="660384">
                  <a:extLst>
                    <a:ext uri="{9D8B030D-6E8A-4147-A177-3AD203B41FA5}">
                      <a16:colId xmlns:a16="http://schemas.microsoft.com/office/drawing/2014/main" val="695014464"/>
                    </a:ext>
                  </a:extLst>
                </a:gridCol>
                <a:gridCol w="1794076">
                  <a:extLst>
                    <a:ext uri="{9D8B030D-6E8A-4147-A177-3AD203B41FA5}">
                      <a16:colId xmlns:a16="http://schemas.microsoft.com/office/drawing/2014/main" val="2253398382"/>
                    </a:ext>
                  </a:extLst>
                </a:gridCol>
                <a:gridCol w="729205">
                  <a:extLst>
                    <a:ext uri="{9D8B030D-6E8A-4147-A177-3AD203B41FA5}">
                      <a16:colId xmlns:a16="http://schemas.microsoft.com/office/drawing/2014/main" val="2831581272"/>
                    </a:ext>
                  </a:extLst>
                </a:gridCol>
                <a:gridCol w="636608">
                  <a:extLst>
                    <a:ext uri="{9D8B030D-6E8A-4147-A177-3AD203B41FA5}">
                      <a16:colId xmlns:a16="http://schemas.microsoft.com/office/drawing/2014/main" val="1684379856"/>
                    </a:ext>
                  </a:extLst>
                </a:gridCol>
                <a:gridCol w="1342663">
                  <a:extLst>
                    <a:ext uri="{9D8B030D-6E8A-4147-A177-3AD203B41FA5}">
                      <a16:colId xmlns:a16="http://schemas.microsoft.com/office/drawing/2014/main" val="4056445152"/>
                    </a:ext>
                  </a:extLst>
                </a:gridCol>
                <a:gridCol w="752355">
                  <a:extLst>
                    <a:ext uri="{9D8B030D-6E8A-4147-A177-3AD203B41FA5}">
                      <a16:colId xmlns:a16="http://schemas.microsoft.com/office/drawing/2014/main" val="4294966405"/>
                    </a:ext>
                  </a:extLst>
                </a:gridCol>
                <a:gridCol w="962263">
                  <a:extLst>
                    <a:ext uri="{9D8B030D-6E8A-4147-A177-3AD203B41FA5}">
                      <a16:colId xmlns:a16="http://schemas.microsoft.com/office/drawing/2014/main" val="2057034293"/>
                    </a:ext>
                  </a:extLst>
                </a:gridCol>
                <a:gridCol w="1285623">
                  <a:extLst>
                    <a:ext uri="{9D8B030D-6E8A-4147-A177-3AD203B41FA5}">
                      <a16:colId xmlns:a16="http://schemas.microsoft.com/office/drawing/2014/main" val="315625019"/>
                    </a:ext>
                  </a:extLst>
                </a:gridCol>
                <a:gridCol w="1285623">
                  <a:extLst>
                    <a:ext uri="{9D8B030D-6E8A-4147-A177-3AD203B41FA5}">
                      <a16:colId xmlns:a16="http://schemas.microsoft.com/office/drawing/2014/main" val="3888529742"/>
                    </a:ext>
                  </a:extLst>
                </a:gridCol>
              </a:tblGrid>
              <a:tr h="448956">
                <a:tc rowSpan="2">
                  <a:txBody>
                    <a:bodyPr/>
                    <a:lstStyle/>
                    <a:p>
                      <a:pPr algn="ctr"/>
                      <a:endParaRPr lang="en-IN" sz="1400" b="1" dirty="0">
                        <a:solidFill>
                          <a:schemeClr val="bg1"/>
                        </a:solidFill>
                        <a:latin typeface="Concourse T3" pitchFamily="50" charset="0"/>
                      </a:endParaRPr>
                    </a:p>
                  </a:txBody>
                  <a:tcPr marL="100584" marR="10058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IN" sz="1400" b="1" dirty="0">
                        <a:solidFill>
                          <a:schemeClr val="bg1"/>
                        </a:solidFill>
                        <a:latin typeface="Concourse T3" pitchFamily="50" charset="0"/>
                      </a:endParaRPr>
                    </a:p>
                  </a:txBody>
                  <a:tcPr marL="100584" marR="10058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IN" dirty="0"/>
                        <a:t>Rostering and Attendance management systems</a:t>
                      </a: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b="1" i="0" dirty="0">
                        <a:solidFill>
                          <a:schemeClr val="bg1"/>
                        </a:solidFill>
                        <a:latin typeface="Concourse T3" pitchFamily="50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400" b="1" i="0" dirty="0">
                        <a:solidFill>
                          <a:schemeClr val="bg1"/>
                        </a:solidFill>
                        <a:latin typeface="Concourse T3" pitchFamily="50" charset="0"/>
                      </a:endParaRPr>
                    </a:p>
                  </a:txBody>
                  <a:tcPr marL="100584" marR="10058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377695"/>
                  </a:ext>
                </a:extLst>
              </a:tr>
              <a:tr h="448956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solidFill>
                            <a:schemeClr val="bg1"/>
                          </a:solidFill>
                          <a:latin typeface="Concourse T3" pitchFamily="50" charset="0"/>
                        </a:rPr>
                        <a:t>UKG</a:t>
                      </a:r>
                      <a:endParaRPr lang="en-IN" dirty="0"/>
                    </a:p>
                  </a:txBody>
                  <a:tcPr marL="100584" marR="10058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400" b="1" i="0" dirty="0">
                        <a:solidFill>
                          <a:schemeClr val="bg1"/>
                        </a:solidFill>
                        <a:latin typeface="Concourse T3" pitchFamily="50" charset="0"/>
                      </a:endParaRPr>
                    </a:p>
                  </a:txBody>
                  <a:tcPr marL="100584" marR="10058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400" b="1" i="0" dirty="0">
                        <a:solidFill>
                          <a:schemeClr val="bg1"/>
                        </a:solidFill>
                        <a:latin typeface="Concourse T3" pitchFamily="50" charset="0"/>
                      </a:endParaRPr>
                    </a:p>
                  </a:txBody>
                  <a:tcPr marL="100584" marR="10058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1" i="0" dirty="0">
                          <a:solidFill>
                            <a:schemeClr val="bg1"/>
                          </a:solidFill>
                          <a:latin typeface="Concourse T3" pitchFamily="50" charset="0"/>
                        </a:rPr>
                        <a:t>Zoho</a:t>
                      </a:r>
                    </a:p>
                  </a:txBody>
                  <a:tcPr marL="100584" marR="10058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400" b="1" i="0" dirty="0">
                        <a:solidFill>
                          <a:schemeClr val="bg1"/>
                        </a:solidFill>
                        <a:latin typeface="Concourse T3" pitchFamily="50" charset="0"/>
                      </a:endParaRPr>
                    </a:p>
                  </a:txBody>
                  <a:tcPr marL="100584" marR="10058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1" i="0" dirty="0">
                          <a:solidFill>
                            <a:schemeClr val="bg1"/>
                          </a:solidFill>
                          <a:latin typeface="Concourse T3" pitchFamily="50" charset="0"/>
                        </a:rPr>
                        <a:t>TrueIn</a:t>
                      </a:r>
                    </a:p>
                  </a:txBody>
                  <a:tcPr marL="100584" marR="10058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400" b="1" i="0" dirty="0">
                        <a:solidFill>
                          <a:schemeClr val="bg1"/>
                        </a:solidFill>
                        <a:latin typeface="Concourse T3" pitchFamily="50" charset="0"/>
                      </a:endParaRPr>
                    </a:p>
                  </a:txBody>
                  <a:tcPr marL="100584" marR="10058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400" b="1" i="0" dirty="0">
                        <a:solidFill>
                          <a:schemeClr val="bg1"/>
                        </a:solidFill>
                        <a:latin typeface="Concourse T3" pitchFamily="50" charset="0"/>
                      </a:endParaRPr>
                    </a:p>
                  </a:txBody>
                  <a:tcPr marL="100584" marR="10058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834241"/>
                  </a:ext>
                </a:extLst>
              </a:tr>
              <a:tr h="459294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Feature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Feature Type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OOB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Customization Need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Score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OOB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Customization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Score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OOB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Customization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Score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063612"/>
                  </a:ext>
                </a:extLst>
              </a:tr>
              <a:tr h="437798">
                <a:tc>
                  <a:txBody>
                    <a:bodyPr/>
                    <a:lstStyle/>
                    <a:p>
                      <a:pPr algn="l"/>
                      <a:r>
                        <a:rPr lang="en-IN" sz="1100" b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DGCA BA Compliance (safety‑role config, randomized selection, discreet notifications, refusal/escalation paths, logging &amp; enforcement)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00" b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Mandatory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endParaRPr lang="en-IN" sz="1400" kern="100" dirty="0">
                        <a:effectLst/>
                        <a:latin typeface="Concourse T3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IN" sz="1400" kern="100" dirty="0">
                        <a:effectLst/>
                        <a:latin typeface="Concourse T3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IN" sz="1400" kern="100" dirty="0">
                        <a:effectLst/>
                        <a:latin typeface="Concourse T3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413077"/>
                  </a:ext>
                </a:extLst>
              </a:tr>
              <a:tr h="4377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Admin Interfaces (Shift In‑charge, HR Admin, Manager—end‑to‑end rostering, bulk actions, exceptions &amp; reporting)</a:t>
                      </a:r>
                    </a:p>
                  </a:txBody>
                  <a:tcPr marL="9525" marR="9525" marT="9525" marB="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Mandatory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sz="1400" b="0" i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endParaRPr lang="en-IN" sz="1400" b="0" i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sz="1400" b="0" i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sz="1400" b="0" i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endParaRPr lang="en-IN" sz="1400" b="0" i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sz="1400" b="0" i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sz="1400" b="0" i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endParaRPr lang="en-IN" sz="1400" b="0" i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sz="1400" b="0" i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1764430"/>
                  </a:ext>
                </a:extLst>
              </a:tr>
              <a:tr h="437798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IN" sz="1100" b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Configurability (policies, thresholds, alerts, templates, rule parameterization)</a:t>
                      </a:r>
                    </a:p>
                  </a:txBody>
                  <a:tcPr marL="9525" marR="9525" marT="9525" marB="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Mandatory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endParaRPr lang="en-IN" sz="1400" kern="100" dirty="0">
                        <a:effectLst/>
                        <a:latin typeface="Concourse T3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endParaRPr lang="en-IN" sz="1400" kern="100" dirty="0">
                        <a:effectLst/>
                        <a:latin typeface="Concourse T3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endParaRPr lang="en-IN" sz="1400" kern="100" dirty="0">
                        <a:effectLst/>
                        <a:latin typeface="Concourse T3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320702"/>
                  </a:ext>
                </a:extLst>
              </a:tr>
              <a:tr h="437798">
                <a:tc>
                  <a:txBody>
                    <a:bodyPr/>
                    <a:lstStyle/>
                    <a:p>
                      <a:pPr algn="l"/>
                      <a:r>
                        <a:rPr lang="en-IN" sz="1100" b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 Employee Self‑Service &amp; Mobile UX (schedule, punches, swaps, regularizations, balances, notifications; accessibility)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Mandatory</a:t>
                      </a:r>
                    </a:p>
                    <a:p>
                      <a:pPr algn="l"/>
                      <a:endParaRPr lang="en-IN" sz="1100" b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endParaRPr lang="en-IN" sz="1400" kern="100" dirty="0">
                        <a:effectLst/>
                        <a:latin typeface="Concourse T3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endParaRPr lang="en-IN" sz="1400" kern="100" dirty="0">
                        <a:effectLst/>
                        <a:latin typeface="Concourse T3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endParaRPr lang="en-IN" sz="1400" kern="100" dirty="0">
                        <a:effectLst/>
                        <a:latin typeface="Concourse T3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277563"/>
                  </a:ext>
                </a:extLst>
              </a:tr>
              <a:tr h="4377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Reporting &amp; Dashboards (attendance, absence, OT/Comp‑off, roster efficiency, BA compliance; export/scheduling)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Mandatory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100" b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IN" sz="1400" kern="100" dirty="0">
                        <a:effectLst/>
                        <a:latin typeface="Concourse T3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endParaRPr lang="en-IN" sz="1400" kern="100" dirty="0">
                        <a:effectLst/>
                        <a:latin typeface="Concourse T3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4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endParaRPr lang="en-IN" sz="1400" kern="100" dirty="0">
                        <a:effectLst/>
                        <a:latin typeface="Concourse T3" pitchFamily="50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745069"/>
                  </a:ext>
                </a:extLst>
              </a:tr>
            </a:tbl>
          </a:graphicData>
        </a:graphic>
      </p:graphicFrame>
      <p:pic>
        <p:nvPicPr>
          <p:cNvPr id="18" name="Picture 2" descr="Evaluation Icons &amp; Symbols">
            <a:extLst>
              <a:ext uri="{FF2B5EF4-FFF2-40B4-BE49-F238E27FC236}">
                <a16:creationId xmlns:a16="http://schemas.microsoft.com/office/drawing/2014/main" id="{20E0FF03-1E4B-1FD1-3049-36C9722860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3474" y="165979"/>
            <a:ext cx="634677" cy="63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Graphic 14" descr="Harvey Balls 100% with solid fill">
            <a:extLst>
              <a:ext uri="{FF2B5EF4-FFF2-40B4-BE49-F238E27FC236}">
                <a16:creationId xmlns:a16="http://schemas.microsoft.com/office/drawing/2014/main" id="{9CFA1B94-7D5B-DF3C-0604-26CA8671D4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63663" y="2738557"/>
            <a:ext cx="289892" cy="289892"/>
          </a:xfrm>
          <a:prstGeom prst="rect">
            <a:avLst/>
          </a:prstGeom>
        </p:spPr>
      </p:pic>
      <p:pic>
        <p:nvPicPr>
          <p:cNvPr id="16" name="Graphic 15" descr="Harvey Balls 75% with solid fill">
            <a:extLst>
              <a:ext uri="{FF2B5EF4-FFF2-40B4-BE49-F238E27FC236}">
                <a16:creationId xmlns:a16="http://schemas.microsoft.com/office/drawing/2014/main" id="{0C2073C6-7619-3092-8DDC-04A39DBA8F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42338" y="2748072"/>
            <a:ext cx="289892" cy="289892"/>
          </a:xfrm>
          <a:prstGeom prst="rect">
            <a:avLst/>
          </a:prstGeom>
        </p:spPr>
      </p:pic>
      <p:pic>
        <p:nvPicPr>
          <p:cNvPr id="19" name="Graphic 18" descr="Harvey Balls 100% with solid fill">
            <a:extLst>
              <a:ext uri="{FF2B5EF4-FFF2-40B4-BE49-F238E27FC236}">
                <a16:creationId xmlns:a16="http://schemas.microsoft.com/office/drawing/2014/main" id="{1919E15A-BD43-E361-3912-F7CA6EDDCA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63663" y="3684606"/>
            <a:ext cx="289892" cy="289892"/>
          </a:xfrm>
          <a:prstGeom prst="rect">
            <a:avLst/>
          </a:prstGeom>
        </p:spPr>
      </p:pic>
      <p:pic>
        <p:nvPicPr>
          <p:cNvPr id="20" name="Graphic 19" descr="Harvey Balls 75% with solid fill">
            <a:extLst>
              <a:ext uri="{FF2B5EF4-FFF2-40B4-BE49-F238E27FC236}">
                <a16:creationId xmlns:a16="http://schemas.microsoft.com/office/drawing/2014/main" id="{814C8499-2BC3-BC8C-0291-FAA62664A6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42338" y="3746954"/>
            <a:ext cx="289892" cy="289892"/>
          </a:xfrm>
          <a:prstGeom prst="rect">
            <a:avLst/>
          </a:prstGeom>
        </p:spPr>
      </p:pic>
      <p:pic>
        <p:nvPicPr>
          <p:cNvPr id="21" name="Graphic 20" descr="Harvey Balls 100% with solid fill">
            <a:extLst>
              <a:ext uri="{FF2B5EF4-FFF2-40B4-BE49-F238E27FC236}">
                <a16:creationId xmlns:a16="http://schemas.microsoft.com/office/drawing/2014/main" id="{D552B15D-1D5E-5D34-680C-8F2D61496F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62723" y="4478065"/>
            <a:ext cx="289892" cy="289892"/>
          </a:xfrm>
          <a:prstGeom prst="rect">
            <a:avLst/>
          </a:prstGeom>
        </p:spPr>
      </p:pic>
      <p:pic>
        <p:nvPicPr>
          <p:cNvPr id="22" name="Graphic 21" descr="Harvey Balls 75% with solid fill">
            <a:extLst>
              <a:ext uri="{FF2B5EF4-FFF2-40B4-BE49-F238E27FC236}">
                <a16:creationId xmlns:a16="http://schemas.microsoft.com/office/drawing/2014/main" id="{74964277-EAC5-D881-23FC-1FEB692129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42338" y="4395467"/>
            <a:ext cx="289892" cy="289892"/>
          </a:xfrm>
          <a:prstGeom prst="rect">
            <a:avLst/>
          </a:prstGeom>
        </p:spPr>
      </p:pic>
      <p:pic>
        <p:nvPicPr>
          <p:cNvPr id="23" name="Graphic 22" descr="Harvey Balls 100% with solid fill">
            <a:extLst>
              <a:ext uri="{FF2B5EF4-FFF2-40B4-BE49-F238E27FC236}">
                <a16:creationId xmlns:a16="http://schemas.microsoft.com/office/drawing/2014/main" id="{983F23F3-84F8-164B-8454-C319C62552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62723" y="5269491"/>
            <a:ext cx="289892" cy="289892"/>
          </a:xfrm>
          <a:prstGeom prst="rect">
            <a:avLst/>
          </a:prstGeom>
        </p:spPr>
      </p:pic>
      <p:pic>
        <p:nvPicPr>
          <p:cNvPr id="24" name="Graphic 23" descr="Harvey Balls 75% with solid fill">
            <a:extLst>
              <a:ext uri="{FF2B5EF4-FFF2-40B4-BE49-F238E27FC236}">
                <a16:creationId xmlns:a16="http://schemas.microsoft.com/office/drawing/2014/main" id="{2D310BC4-E2A1-B0DB-B758-733A1D4651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42338" y="5158329"/>
            <a:ext cx="289892" cy="289892"/>
          </a:xfrm>
          <a:prstGeom prst="rect">
            <a:avLst/>
          </a:prstGeom>
        </p:spPr>
      </p:pic>
      <p:pic>
        <p:nvPicPr>
          <p:cNvPr id="25" name="Graphic 24" descr="Harvey Balls 100% with solid fill">
            <a:extLst>
              <a:ext uri="{FF2B5EF4-FFF2-40B4-BE49-F238E27FC236}">
                <a16:creationId xmlns:a16="http://schemas.microsoft.com/office/drawing/2014/main" id="{478E4746-8140-4BC2-A4C7-5A6AC7A55C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8081" y="6072627"/>
            <a:ext cx="289892" cy="289892"/>
          </a:xfrm>
          <a:prstGeom prst="rect">
            <a:avLst/>
          </a:prstGeom>
        </p:spPr>
      </p:pic>
      <p:pic>
        <p:nvPicPr>
          <p:cNvPr id="26" name="Graphic 25" descr="Harvey Balls 75% with solid fill">
            <a:extLst>
              <a:ext uri="{FF2B5EF4-FFF2-40B4-BE49-F238E27FC236}">
                <a16:creationId xmlns:a16="http://schemas.microsoft.com/office/drawing/2014/main" id="{7AD02106-A879-A2DE-6661-2F03542A76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39244" y="6072627"/>
            <a:ext cx="289892" cy="289892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F20D8529-47C4-C64F-06D7-F0F46B266324}"/>
              </a:ext>
            </a:extLst>
          </p:cNvPr>
          <p:cNvGrpSpPr/>
          <p:nvPr/>
        </p:nvGrpSpPr>
        <p:grpSpPr>
          <a:xfrm>
            <a:off x="7091814" y="111071"/>
            <a:ext cx="4178332" cy="317146"/>
            <a:chOff x="6895006" y="6403709"/>
            <a:chExt cx="4178332" cy="317146"/>
          </a:xfrm>
        </p:grpSpPr>
        <p:pic>
          <p:nvPicPr>
            <p:cNvPr id="28" name="Graphic 27" descr="Harvey Balls 75% with solid fill">
              <a:extLst>
                <a:ext uri="{FF2B5EF4-FFF2-40B4-BE49-F238E27FC236}">
                  <a16:creationId xmlns:a16="http://schemas.microsoft.com/office/drawing/2014/main" id="{B31E0EC7-DF13-0CE5-9C84-BC28DA1019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397805" y="6408590"/>
              <a:ext cx="289892" cy="289892"/>
            </a:xfrm>
            <a:prstGeom prst="rect">
              <a:avLst/>
            </a:prstGeom>
          </p:spPr>
        </p:pic>
        <p:pic>
          <p:nvPicPr>
            <p:cNvPr id="29" name="Graphic 28" descr="Harvey Balls 100% with solid fill">
              <a:extLst>
                <a:ext uri="{FF2B5EF4-FFF2-40B4-BE49-F238E27FC236}">
                  <a16:creationId xmlns:a16="http://schemas.microsoft.com/office/drawing/2014/main" id="{4F855B8E-6BED-8684-C253-F26B6B78983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94373" y="6403709"/>
              <a:ext cx="289892" cy="289892"/>
            </a:xfrm>
            <a:prstGeom prst="rect">
              <a:avLst/>
            </a:prstGeom>
          </p:spPr>
        </p:pic>
        <p:pic>
          <p:nvPicPr>
            <p:cNvPr id="30" name="Graphic 29" descr="Harvey Balls 50% with solid fill">
              <a:extLst>
                <a:ext uri="{FF2B5EF4-FFF2-40B4-BE49-F238E27FC236}">
                  <a16:creationId xmlns:a16="http://schemas.microsoft.com/office/drawing/2014/main" id="{10911961-0EFB-AA3A-1CB1-34A4A65022E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278653" y="6426634"/>
              <a:ext cx="289892" cy="289892"/>
            </a:xfrm>
            <a:prstGeom prst="rect">
              <a:avLst/>
            </a:prstGeom>
          </p:spPr>
        </p:pic>
        <p:pic>
          <p:nvPicPr>
            <p:cNvPr id="31" name="Graphic 30" descr="Harvey Balls 25% with solid fill">
              <a:extLst>
                <a:ext uri="{FF2B5EF4-FFF2-40B4-BE49-F238E27FC236}">
                  <a16:creationId xmlns:a16="http://schemas.microsoft.com/office/drawing/2014/main" id="{366D1043-7601-1FAF-3703-2F249C27297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524485" y="6414929"/>
              <a:ext cx="289892" cy="289892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39FFB78-C5AA-D951-795D-716613505372}"/>
                </a:ext>
              </a:extLst>
            </p:cNvPr>
            <p:cNvSpPr txBox="1"/>
            <p:nvPr/>
          </p:nvSpPr>
          <p:spPr>
            <a:xfrm>
              <a:off x="7813900" y="6449113"/>
              <a:ext cx="4587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dirty="0"/>
                <a:t>Low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8F0B9BC-4B14-CE18-0E10-8DBEED753DFE}"/>
                </a:ext>
              </a:extLst>
            </p:cNvPr>
            <p:cNvSpPr txBox="1"/>
            <p:nvPr/>
          </p:nvSpPr>
          <p:spPr>
            <a:xfrm>
              <a:off x="8508846" y="6454916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dirty="0"/>
                <a:t>Moderate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87830AE-730D-6FE9-14E9-DCE03B1762CF}"/>
                </a:ext>
              </a:extLst>
            </p:cNvPr>
            <p:cNvSpPr txBox="1"/>
            <p:nvPr/>
          </p:nvSpPr>
          <p:spPr>
            <a:xfrm>
              <a:off x="9591539" y="6430544"/>
              <a:ext cx="52610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dirty="0"/>
                <a:t>Good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52B0280-B99D-E59F-F357-6865C8D28933}"/>
                </a:ext>
              </a:extLst>
            </p:cNvPr>
            <p:cNvSpPr txBox="1"/>
            <p:nvPr/>
          </p:nvSpPr>
          <p:spPr>
            <a:xfrm>
              <a:off x="6895006" y="6443856"/>
              <a:ext cx="5870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b="1" dirty="0"/>
                <a:t>Score</a:t>
              </a:r>
              <a:endParaRPr lang="en-IN" sz="1400" b="1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9608FAA-24F7-8668-1618-9BAB0736F96F}"/>
                </a:ext>
              </a:extLst>
            </p:cNvPr>
            <p:cNvSpPr txBox="1"/>
            <p:nvPr/>
          </p:nvSpPr>
          <p:spPr>
            <a:xfrm>
              <a:off x="10476700" y="6408014"/>
              <a:ext cx="59663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dirty="0"/>
                <a:t>Perfect</a:t>
              </a:r>
            </a:p>
          </p:txBody>
        </p:sp>
      </p:grpSp>
      <p:pic>
        <p:nvPicPr>
          <p:cNvPr id="4" name="Graphic 3" descr="Harvey Balls 25% with solid fill">
            <a:extLst>
              <a:ext uri="{FF2B5EF4-FFF2-40B4-BE49-F238E27FC236}">
                <a16:creationId xmlns:a16="http://schemas.microsoft.com/office/drawing/2014/main" id="{7B37539F-0CB0-B233-764E-BB9FABEC98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85245" y="2645570"/>
            <a:ext cx="289892" cy="289892"/>
          </a:xfrm>
          <a:prstGeom prst="rect">
            <a:avLst/>
          </a:prstGeom>
        </p:spPr>
      </p:pic>
      <p:pic>
        <p:nvPicPr>
          <p:cNvPr id="5" name="Graphic 4" descr="Harvey Balls 50% with solid fill">
            <a:extLst>
              <a:ext uri="{FF2B5EF4-FFF2-40B4-BE49-F238E27FC236}">
                <a16:creationId xmlns:a16="http://schemas.microsoft.com/office/drawing/2014/main" id="{A96F8ED1-4F78-F158-73E8-46288CEA0B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36157" y="3632647"/>
            <a:ext cx="289892" cy="289892"/>
          </a:xfrm>
          <a:prstGeom prst="rect">
            <a:avLst/>
          </a:prstGeom>
        </p:spPr>
      </p:pic>
      <p:pic>
        <p:nvPicPr>
          <p:cNvPr id="6" name="Graphic 5" descr="Harvey Balls 50% with solid fill">
            <a:extLst>
              <a:ext uri="{FF2B5EF4-FFF2-40B4-BE49-F238E27FC236}">
                <a16:creationId xmlns:a16="http://schemas.microsoft.com/office/drawing/2014/main" id="{A60E5927-DB7B-5F6B-35E9-ABD4E7F5D7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36157" y="4346561"/>
            <a:ext cx="289892" cy="289892"/>
          </a:xfrm>
          <a:prstGeom prst="rect">
            <a:avLst/>
          </a:prstGeom>
        </p:spPr>
      </p:pic>
      <p:pic>
        <p:nvPicPr>
          <p:cNvPr id="7" name="Graphic 6" descr="Harvey Balls 75% with solid fill">
            <a:extLst>
              <a:ext uri="{FF2B5EF4-FFF2-40B4-BE49-F238E27FC236}">
                <a16:creationId xmlns:a16="http://schemas.microsoft.com/office/drawing/2014/main" id="{55017843-DB92-7E63-DD1E-E1C9062CBC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42091" y="5098921"/>
            <a:ext cx="289892" cy="289892"/>
          </a:xfrm>
          <a:prstGeom prst="rect">
            <a:avLst/>
          </a:prstGeom>
        </p:spPr>
      </p:pic>
      <p:pic>
        <p:nvPicPr>
          <p:cNvPr id="8" name="Graphic 7" descr="Harvey Balls 75% with solid fill">
            <a:extLst>
              <a:ext uri="{FF2B5EF4-FFF2-40B4-BE49-F238E27FC236}">
                <a16:creationId xmlns:a16="http://schemas.microsoft.com/office/drawing/2014/main" id="{64DDA89A-8E36-8C7F-0FB5-46D688996F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36157" y="6008679"/>
            <a:ext cx="289892" cy="28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576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59815BC5-071A-3C63-BF05-A57090476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20" y="0"/>
            <a:ext cx="1097788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Solution Architecture Diagram – End to End view (Expected Solution)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767C33-95E5-C235-0867-D8752DD0A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1A254-7326-714E-AF55-4C213D6394DE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2050" name="Picture 2" descr="303,281 Technology Architecture Icons - Free in SVG, PNG, ICO - IconScout">
            <a:extLst>
              <a:ext uri="{FF2B5EF4-FFF2-40B4-BE49-F238E27FC236}">
                <a16:creationId xmlns:a16="http://schemas.microsoft.com/office/drawing/2014/main" id="{0771BD46-272C-D3C2-A8A0-583BE5B9B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4460" y="275635"/>
            <a:ext cx="507985" cy="507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2CE889B-7D67-BC35-61FE-48198D39D8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4400"/>
            <a:ext cx="12192000" cy="6761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0591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D46C388-0726-6E81-7A58-6EA054F0A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484" y="2133600"/>
            <a:ext cx="11444012" cy="1325563"/>
          </a:xfrm>
        </p:spPr>
        <p:txBody>
          <a:bodyPr/>
          <a:lstStyle/>
          <a:p>
            <a:r>
              <a:rPr lang="en-US"/>
              <a:t>Company Background Comparison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821A1E-1B36-02BA-1BAF-F77AA74FA61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34750" y="6492875"/>
            <a:ext cx="857250" cy="365125"/>
          </a:xfrm>
          <a:prstGeom prst="rect">
            <a:avLst/>
          </a:prstGeom>
        </p:spPr>
        <p:txBody>
          <a:bodyPr/>
          <a:lstStyle/>
          <a:p>
            <a:fld id="{3A41A254-7326-714E-AF55-4C213D6394DE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952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43D011A-8905-1A61-5F2D-017028B85FAB}"/>
              </a:ext>
            </a:extLst>
          </p:cNvPr>
          <p:cNvSpPr/>
          <p:nvPr/>
        </p:nvSpPr>
        <p:spPr>
          <a:xfrm>
            <a:off x="84275" y="1055357"/>
            <a:ext cx="3944113" cy="53264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Organization Information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(</a:t>
            </a:r>
            <a:r>
              <a:rPr lang="en-US" dirty="0">
                <a:solidFill>
                  <a:schemeClr val="tx1"/>
                </a:solidFill>
              </a:rPr>
              <a:t>UKG</a:t>
            </a:r>
            <a:r>
              <a:rPr lang="en-IN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47DC69-CFE5-9091-61CB-5CFDD1B84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1A254-7326-714E-AF55-4C213D6394DE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5571DFD5-64C1-44C3-2919-EAF76FC0A7E2}"/>
              </a:ext>
            </a:extLst>
          </p:cNvPr>
          <p:cNvSpPr txBox="1">
            <a:spLocks/>
          </p:cNvSpPr>
          <p:nvPr/>
        </p:nvSpPr>
        <p:spPr>
          <a:xfrm>
            <a:off x="11125200" y="6492875"/>
            <a:ext cx="85724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1A254-7326-714E-AF55-4C213D6394DE}" type="slidenum">
              <a:rPr lang="en-IN" smtClean="0"/>
              <a:pPr/>
              <a:t>7</a:t>
            </a:fld>
            <a:endParaRPr lang="en-IN"/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988A5996-C443-568C-45F7-1E409A9C9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10972800" cy="914400"/>
          </a:xfrm>
        </p:spPr>
        <p:txBody>
          <a:bodyPr>
            <a:normAutofit/>
          </a:bodyPr>
          <a:lstStyle/>
          <a:p>
            <a:r>
              <a:rPr lang="en-IN" dirty="0"/>
              <a:t>Company Background – Organization Information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1EDFC9-91F8-2BA7-6AB9-9E9FB6734C24}"/>
              </a:ext>
            </a:extLst>
          </p:cNvPr>
          <p:cNvSpPr/>
          <p:nvPr/>
        </p:nvSpPr>
        <p:spPr>
          <a:xfrm>
            <a:off x="84276" y="1597062"/>
            <a:ext cx="3944112" cy="5034160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accent1"/>
                </a:solidFill>
                <a:latin typeface="Nunito Sans" pitchFamily="2" charset="77"/>
              </a:rPr>
              <a:t>How long under operation</a:t>
            </a:r>
            <a:r>
              <a:rPr lang="en-IN" sz="1200" b="1" dirty="0">
                <a:solidFill>
                  <a:schemeClr val="accent1"/>
                </a:solidFill>
                <a:latin typeface="Nunito Sans" pitchFamily="2" charset="77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Nunito Sans" pitchFamily="2" charset="77"/>
              </a:rPr>
              <a:t> 40+ years (15+ years in India)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  <a:latin typeface="Nunito Sans" pitchFamily="2" charset="77"/>
              </a:rPr>
              <a:t>Key Management Personnel: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Nunito Sans" pitchFamily="2" charset="77"/>
              </a:rPr>
              <a:t>Chris Todd - CEO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Nunito Sans" pitchFamily="2" charset="77"/>
              </a:rPr>
              <a:t>Hugo Sarrazin - CTO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Nunito Sans" pitchFamily="2" charset="77"/>
              </a:rPr>
              <a:t>Mustapha Kebbeh - CISO</a:t>
            </a:r>
            <a:endParaRPr lang="en-IN" sz="1100" dirty="0">
              <a:solidFill>
                <a:schemeClr val="tx1"/>
              </a:solidFill>
              <a:latin typeface="Nunito Sans" pitchFamily="2" charset="77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  <a:latin typeface="Nunito Sans" pitchFamily="2" charset="77"/>
              </a:rPr>
              <a:t>Revenue/ Profitability/ Listing : 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Nunito Sans" pitchFamily="2" charset="77"/>
              </a:rPr>
              <a:t> USD 4 Bn Company with last revenue of USD 1 Bn.</a:t>
            </a:r>
            <a:endParaRPr lang="en-US" sz="1200" b="1" dirty="0">
              <a:solidFill>
                <a:schemeClr val="accent1"/>
              </a:solidFill>
              <a:latin typeface="Nunito Sans" pitchFamily="2" charset="77"/>
            </a:endParaRPr>
          </a:p>
          <a:p>
            <a:pPr marL="2857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  <a:latin typeface="Nunito Sans" pitchFamily="2" charset="77"/>
              </a:rPr>
              <a:t>Are they leaders in the segment 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Nunito Sans" pitchFamily="2" charset="77"/>
              </a:rPr>
              <a:t> Leaders in workforce management</a:t>
            </a:r>
          </a:p>
          <a:p>
            <a:pPr marL="2857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  <a:latin typeface="Nunito Sans" pitchFamily="2" charset="77"/>
              </a:rPr>
              <a:t>Presence in India</a:t>
            </a:r>
          </a:p>
          <a:p>
            <a:pPr marL="7429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Nunito Sans" pitchFamily="2" charset="77"/>
              </a:rPr>
              <a:t> 3 offices in Bangalore, Noida and Mumbai. Noida has 3000 employees</a:t>
            </a:r>
          </a:p>
        </p:txBody>
      </p:sp>
      <p:pic>
        <p:nvPicPr>
          <p:cNvPr id="4" name="Graphic 3" descr="Building with solid fill">
            <a:extLst>
              <a:ext uri="{FF2B5EF4-FFF2-40B4-BE49-F238E27FC236}">
                <a16:creationId xmlns:a16="http://schemas.microsoft.com/office/drawing/2014/main" id="{12842CD8-6C01-1186-E60B-EE928F8CA8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46026" y="98668"/>
            <a:ext cx="761699" cy="76169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4CCA654-63DE-CA7E-4940-3E3D137958CF}"/>
              </a:ext>
            </a:extLst>
          </p:cNvPr>
          <p:cNvSpPr/>
          <p:nvPr/>
        </p:nvSpPr>
        <p:spPr>
          <a:xfrm>
            <a:off x="4081674" y="1606121"/>
            <a:ext cx="4028652" cy="5034160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accent1"/>
                </a:solidFill>
                <a:latin typeface="Nunito Sans" pitchFamily="2" charset="77"/>
              </a:rPr>
              <a:t>How long under operation</a:t>
            </a:r>
            <a:r>
              <a:rPr lang="en-IN" sz="1200" b="1" dirty="0">
                <a:solidFill>
                  <a:schemeClr val="accent1"/>
                </a:solidFill>
                <a:latin typeface="Nunito Sans" pitchFamily="2" charset="77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Nunito Sans" pitchFamily="2" charset="77"/>
              </a:rPr>
              <a:t>30 + years (founded in 1996)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  <a:latin typeface="Nunito Sans" pitchFamily="2" charset="77"/>
              </a:rPr>
              <a:t>Key Management Personnel: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  <a:latin typeface="Nunito Sans" pitchFamily="2" charset="77"/>
              </a:rPr>
              <a:t>Sridhar Vembu – Co‑founder /CTO/ Chief Scientist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  <a:latin typeface="Nunito Sans" pitchFamily="2" charset="77"/>
              </a:rPr>
              <a:t>Tony Thomas – Co‑founder; CEO, Zoho US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  <a:latin typeface="Nunito Sans" pitchFamily="2" charset="77"/>
              </a:rPr>
              <a:t>Shailesh Kumar Davey – Group CEO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  <a:latin typeface="Nunito Sans" pitchFamily="2" charset="77"/>
              </a:rPr>
              <a:t>Mani Vembu – CEO, </a:t>
            </a:r>
            <a:r>
              <a:rPr lang="en-IN" sz="1100" dirty="0" err="1">
                <a:solidFill>
                  <a:schemeClr val="tx1"/>
                </a:solidFill>
                <a:latin typeface="Nunito Sans" pitchFamily="2" charset="77"/>
              </a:rPr>
              <a:t>Zoho.com</a:t>
            </a:r>
            <a:endParaRPr lang="en-IN" sz="1100" dirty="0">
              <a:solidFill>
                <a:schemeClr val="tx1"/>
              </a:solidFill>
              <a:latin typeface="Nunito Sans" pitchFamily="2" charset="77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  <a:latin typeface="Nunito Sans" pitchFamily="2" charset="77"/>
              </a:rPr>
              <a:t>Revenue/ Profitability/ Listing : 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Nunito Sans" pitchFamily="2" charset="77"/>
              </a:rPr>
              <a:t> ₹8,703 Cr (FY23) Revenue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Nunito Sans" pitchFamily="2" charset="77"/>
              </a:rPr>
              <a:t>Not Listed</a:t>
            </a:r>
            <a:endParaRPr lang="en-US" sz="1200" dirty="0">
              <a:solidFill>
                <a:schemeClr val="accent1"/>
              </a:solidFill>
              <a:latin typeface="Nunito Sans" pitchFamily="2" charset="77"/>
            </a:endParaRPr>
          </a:p>
          <a:p>
            <a:pPr marL="2857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  <a:latin typeface="Nunito Sans" pitchFamily="2" charset="77"/>
              </a:rPr>
              <a:t>Are they leaders in the segment 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Nunito Sans" pitchFamily="2" charset="77"/>
              </a:rPr>
              <a:t> No</a:t>
            </a:r>
          </a:p>
          <a:p>
            <a:pPr marL="2857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  <a:latin typeface="Nunito Sans" pitchFamily="2" charset="77"/>
              </a:rPr>
              <a:t>Presence in India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Nunito Sans" pitchFamily="2" charset="77"/>
              </a:rPr>
              <a:t>India Based Organization with multiple global offices and locations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A370D5-5C31-E465-9F37-5423A408EE58}"/>
              </a:ext>
            </a:extLst>
          </p:cNvPr>
          <p:cNvSpPr/>
          <p:nvPr/>
        </p:nvSpPr>
        <p:spPr>
          <a:xfrm>
            <a:off x="4081673" y="1064416"/>
            <a:ext cx="4028653" cy="53264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Organization Information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(</a:t>
            </a:r>
            <a:r>
              <a:rPr lang="en-US" dirty="0">
                <a:solidFill>
                  <a:schemeClr val="tx1"/>
                </a:solidFill>
              </a:rPr>
              <a:t>Zoho</a:t>
            </a:r>
            <a:r>
              <a:rPr lang="en-IN" dirty="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18" name="Graphic 17" descr="Management with solid fill">
            <a:extLst>
              <a:ext uri="{FF2B5EF4-FFF2-40B4-BE49-F238E27FC236}">
                <a16:creationId xmlns:a16="http://schemas.microsoft.com/office/drawing/2014/main" id="{684AE961-481F-0E7F-2CF9-01E1FEB65D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97572" y="1055357"/>
            <a:ext cx="532646" cy="532646"/>
          </a:xfrm>
          <a:prstGeom prst="rect">
            <a:avLst/>
          </a:prstGeom>
        </p:spPr>
      </p:pic>
      <p:pic>
        <p:nvPicPr>
          <p:cNvPr id="20" name="Graphic 19" descr="Management with solid fill">
            <a:extLst>
              <a:ext uri="{FF2B5EF4-FFF2-40B4-BE49-F238E27FC236}">
                <a16:creationId xmlns:a16="http://schemas.microsoft.com/office/drawing/2014/main" id="{13AEE468-E873-B79D-D431-54791702F0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74020" y="1064416"/>
            <a:ext cx="532646" cy="53264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77BEDFB-9D58-C0C8-8A2B-E6AE3A6DE888}"/>
              </a:ext>
            </a:extLst>
          </p:cNvPr>
          <p:cNvSpPr/>
          <p:nvPr/>
        </p:nvSpPr>
        <p:spPr>
          <a:xfrm>
            <a:off x="8163348" y="1597062"/>
            <a:ext cx="4028652" cy="5034160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accent1"/>
                </a:solidFill>
                <a:latin typeface="Nunito Sans" pitchFamily="2" charset="77"/>
              </a:rPr>
              <a:t>How long under operation</a:t>
            </a:r>
            <a:r>
              <a:rPr lang="en-IN" sz="1200" b="1" dirty="0">
                <a:solidFill>
                  <a:schemeClr val="accent1"/>
                </a:solidFill>
                <a:latin typeface="Nunito Sans" pitchFamily="2" charset="77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Nunito Sans" pitchFamily="2" charset="77"/>
              </a:rPr>
              <a:t>9+ Years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  <a:latin typeface="Nunito Sans" pitchFamily="2" charset="77"/>
              </a:rPr>
              <a:t>Key Management Personnel: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  <a:latin typeface="Nunito Sans" pitchFamily="2" charset="77"/>
              </a:rPr>
              <a:t> Founder and CEO - Ankit Tanna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  <a:latin typeface="Nunito Sans" pitchFamily="2" charset="77"/>
              </a:rPr>
              <a:t>Co-founder - Jigar Pujara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  <a:latin typeface="Nunito Sans" pitchFamily="2" charset="77"/>
              </a:rPr>
              <a:t>Revenue/ Profitability/ Listing : 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Nunito Sans" pitchFamily="2" charset="77"/>
              </a:rPr>
              <a:t>Not Shared  </a:t>
            </a:r>
            <a:endParaRPr lang="en-US" sz="1200" dirty="0">
              <a:solidFill>
                <a:schemeClr val="accent1"/>
              </a:solidFill>
              <a:latin typeface="Nunito Sans" pitchFamily="2" charset="77"/>
            </a:endParaRPr>
          </a:p>
          <a:p>
            <a:pPr marL="2857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  <a:latin typeface="Nunito Sans" pitchFamily="2" charset="77"/>
              </a:rPr>
              <a:t>Are they leaders in the segment 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Nunito Sans" pitchFamily="2" charset="77"/>
              </a:rPr>
              <a:t>  No</a:t>
            </a:r>
          </a:p>
          <a:p>
            <a:pPr marL="2857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  <a:latin typeface="Nunito Sans" pitchFamily="2" charset="77"/>
              </a:rPr>
              <a:t>Presence in India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Nunito Sans" pitchFamily="2" charset="77"/>
              </a:rPr>
              <a:t>Yes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E95924-2353-9DA4-44C6-8145492A8C05}"/>
              </a:ext>
            </a:extLst>
          </p:cNvPr>
          <p:cNvSpPr/>
          <p:nvPr/>
        </p:nvSpPr>
        <p:spPr>
          <a:xfrm>
            <a:off x="8163347" y="1055357"/>
            <a:ext cx="4028653" cy="53264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Organization Information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(</a:t>
            </a:r>
            <a:r>
              <a:rPr lang="en-US" dirty="0">
                <a:solidFill>
                  <a:schemeClr val="tx1"/>
                </a:solidFill>
              </a:rPr>
              <a:t>TrueIn</a:t>
            </a:r>
            <a:r>
              <a:rPr lang="en-IN" dirty="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15" name="Graphic 14" descr="Management with solid fill">
            <a:extLst>
              <a:ext uri="{FF2B5EF4-FFF2-40B4-BE49-F238E27FC236}">
                <a16:creationId xmlns:a16="http://schemas.microsoft.com/office/drawing/2014/main" id="{C5E4BADF-0274-B2A0-7461-C6C909A3F9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5694" y="1055357"/>
            <a:ext cx="532646" cy="532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10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DEB876-06D1-F910-BC94-2277382F6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3B26075-DCF0-D02B-9257-3B87B7B3E7E6}"/>
              </a:ext>
            </a:extLst>
          </p:cNvPr>
          <p:cNvSpPr/>
          <p:nvPr/>
        </p:nvSpPr>
        <p:spPr>
          <a:xfrm>
            <a:off x="4356850" y="890290"/>
            <a:ext cx="3764990" cy="5547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Organization Information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(</a:t>
            </a:r>
            <a:r>
              <a:rPr lang="en-US" dirty="0">
                <a:solidFill>
                  <a:schemeClr val="bg1"/>
                </a:solidFill>
              </a:rPr>
              <a:t>Zoho</a:t>
            </a:r>
            <a:r>
              <a:rPr lang="en-IN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6CA46A-CEA5-C987-A27A-C4E3DE6D6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1A254-7326-714E-AF55-4C213D6394DE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860AFCF2-CB71-CFF4-C9B3-4691A0403950}"/>
              </a:ext>
            </a:extLst>
          </p:cNvPr>
          <p:cNvSpPr txBox="1">
            <a:spLocks/>
          </p:cNvSpPr>
          <p:nvPr/>
        </p:nvSpPr>
        <p:spPr>
          <a:xfrm>
            <a:off x="11125200" y="6492875"/>
            <a:ext cx="85724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1A254-7326-714E-AF55-4C213D6394DE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533362C6-9387-1961-A403-2BF5BA752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11612"/>
            <a:ext cx="10972800" cy="914400"/>
          </a:xfrm>
        </p:spPr>
        <p:txBody>
          <a:bodyPr/>
          <a:lstStyle/>
          <a:p>
            <a:r>
              <a:rPr lang="en-IN"/>
              <a:t>Company Background – Markets and Customers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EFB1C9-C098-E518-68E0-59A0EE2126D3}"/>
              </a:ext>
            </a:extLst>
          </p:cNvPr>
          <p:cNvSpPr/>
          <p:nvPr/>
        </p:nvSpPr>
        <p:spPr>
          <a:xfrm>
            <a:off x="14793" y="1425959"/>
            <a:ext cx="4257711" cy="5338960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  <a:latin typeface="Nunito Sans" pitchFamily="2" charset="77"/>
              </a:rPr>
              <a:t>Global customers : 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Nunito Sans" pitchFamily="2" charset="77"/>
              </a:rPr>
              <a:t>  80K global customers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  <a:latin typeface="Nunito Sans" pitchFamily="2" charset="77"/>
              </a:rPr>
              <a:t>Non-airline customers 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Nunito Sans" pitchFamily="2" charset="77"/>
              </a:rPr>
              <a:t> Yes. Workforce management caters to all industry verticals. UKG has some leading airline customers including Jet Airways(Now phased out), Singapore Airlines, SouthWest, American, </a:t>
            </a:r>
            <a:r>
              <a:rPr lang="en-US" sz="1100" dirty="0" err="1">
                <a:solidFill>
                  <a:schemeClr val="tx1"/>
                </a:solidFill>
                <a:latin typeface="Nunito Sans" pitchFamily="2" charset="77"/>
              </a:rPr>
              <a:t>Hawaian</a:t>
            </a:r>
            <a:r>
              <a:rPr lang="en-US" sz="1100" dirty="0">
                <a:solidFill>
                  <a:schemeClr val="tx1"/>
                </a:solidFill>
                <a:latin typeface="Nunito Sans" pitchFamily="2" charset="77"/>
              </a:rPr>
              <a:t> etc.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  <a:latin typeface="Nunito Sans" pitchFamily="2" charset="77"/>
              </a:rPr>
              <a:t>Tata Group customers 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Nunito Sans" pitchFamily="2" charset="77"/>
              </a:rPr>
              <a:t> Tata Electronics Pvt Ltd, Tata </a:t>
            </a:r>
            <a:r>
              <a:rPr lang="en-US" sz="1100" dirty="0" err="1">
                <a:solidFill>
                  <a:schemeClr val="tx1"/>
                </a:solidFill>
                <a:latin typeface="Nunito Sans" pitchFamily="2" charset="77"/>
              </a:rPr>
              <a:t>AutoComp</a:t>
            </a:r>
            <a:r>
              <a:rPr lang="en-US" sz="1100" dirty="0">
                <a:solidFill>
                  <a:schemeClr val="tx1"/>
                </a:solidFill>
                <a:latin typeface="Nunito Sans" pitchFamily="2" charset="77"/>
              </a:rPr>
              <a:t> 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  <a:latin typeface="Nunito Sans" pitchFamily="2" charset="77"/>
              </a:rPr>
              <a:t>Market Share 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Nunito Sans" pitchFamily="2" charset="77"/>
              </a:rPr>
              <a:t> Nearly 25%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  <a:latin typeface="Nunito Sans" pitchFamily="2" charset="77"/>
              </a:rPr>
              <a:t>Indian Customers : 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Nunito Sans" pitchFamily="2" charset="77"/>
              </a:rPr>
              <a:t> No specifics given. Overall customer base is &gt; 80K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tx1"/>
              </a:solidFill>
              <a:latin typeface="Nunito Sans" pitchFamily="2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6BD17E-7EDC-766D-71A1-B83B88721D02}"/>
              </a:ext>
            </a:extLst>
          </p:cNvPr>
          <p:cNvSpPr/>
          <p:nvPr/>
        </p:nvSpPr>
        <p:spPr>
          <a:xfrm>
            <a:off x="14793" y="906213"/>
            <a:ext cx="4257711" cy="5388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Organization Information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(</a:t>
            </a:r>
            <a:r>
              <a:rPr lang="en-US" b="1" dirty="0">
                <a:solidFill>
                  <a:schemeClr val="bg1"/>
                </a:solidFill>
                <a:latin typeface="Concourse T3" pitchFamily="50" charset="0"/>
              </a:rPr>
              <a:t>UKG</a:t>
            </a:r>
            <a:r>
              <a:rPr lang="en-IN" dirty="0">
                <a:solidFill>
                  <a:schemeClr val="bg1"/>
                </a:solidFill>
              </a:rPr>
              <a:t>)</a:t>
            </a:r>
          </a:p>
        </p:txBody>
      </p:sp>
      <p:pic>
        <p:nvPicPr>
          <p:cNvPr id="4" name="Graphic 3" descr="Building with solid fill">
            <a:extLst>
              <a:ext uri="{FF2B5EF4-FFF2-40B4-BE49-F238E27FC236}">
                <a16:creationId xmlns:a16="http://schemas.microsoft.com/office/drawing/2014/main" id="{ECE733C2-D649-47F5-FCFF-5BA440D3E9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301" y="118531"/>
            <a:ext cx="761699" cy="761699"/>
          </a:xfrm>
          <a:prstGeom prst="rect">
            <a:avLst/>
          </a:prstGeom>
        </p:spPr>
      </p:pic>
      <p:pic>
        <p:nvPicPr>
          <p:cNvPr id="5" name="Graphic 4" descr="Management with solid fill">
            <a:extLst>
              <a:ext uri="{FF2B5EF4-FFF2-40B4-BE49-F238E27FC236}">
                <a16:creationId xmlns:a16="http://schemas.microsoft.com/office/drawing/2014/main" id="{53DCA061-B099-30F5-5913-C5CEBA6091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96992" y="928355"/>
            <a:ext cx="532646" cy="53264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7085316-A549-673D-4A35-AA35BDA81168}"/>
              </a:ext>
            </a:extLst>
          </p:cNvPr>
          <p:cNvSpPr/>
          <p:nvPr/>
        </p:nvSpPr>
        <p:spPr>
          <a:xfrm>
            <a:off x="4356849" y="1467219"/>
            <a:ext cx="3764991" cy="5281777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  <a:latin typeface="Nunito Sans" pitchFamily="2" charset="77"/>
              </a:rPr>
              <a:t>Global customers : 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Nunito Sans" pitchFamily="2" charset="77"/>
              </a:rPr>
              <a:t>Over 30,000+   organizations globally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  <a:latin typeface="Nunito Sans" pitchFamily="2" charset="77"/>
              </a:rPr>
              <a:t>Non-airline customers 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Nunito Sans" pitchFamily="2" charset="77"/>
              </a:rPr>
              <a:t>Yes. Workforce management caters to all industry verticals. Vast majority of Zoho customers are cross-industry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  <a:latin typeface="Nunito Sans" pitchFamily="2" charset="77"/>
              </a:rPr>
              <a:t>Tata Group customers 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Nunito Sans" pitchFamily="2" charset="77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Nunito Sans" pitchFamily="2" charset="77"/>
              </a:rPr>
              <a:t>Already present in Tata ecosystem, but not formally declared as group‑standard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  <a:latin typeface="Nunito Sans" pitchFamily="2" charset="77"/>
              </a:rPr>
              <a:t>Market Share 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Nunito Sans" pitchFamily="2" charset="77"/>
              </a:rPr>
              <a:t>Not disclosed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  <a:latin typeface="Nunito Sans" pitchFamily="2" charset="77"/>
              </a:rPr>
              <a:t>Indian Customers : 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Nunito Sans" pitchFamily="2" charset="77"/>
              </a:rPr>
              <a:t> Exact number is not disclosed</a:t>
            </a:r>
            <a:endParaRPr lang="en-US" sz="1100" dirty="0">
              <a:solidFill>
                <a:schemeClr val="tx1"/>
              </a:solidFill>
              <a:latin typeface="Nunito Sans" pitchFamily="2" charset="77"/>
            </a:endParaRPr>
          </a:p>
          <a:p>
            <a:pPr lvl="1">
              <a:spcAft>
                <a:spcPts val="600"/>
              </a:spcAft>
            </a:pPr>
            <a:endParaRPr lang="en-US" sz="1400" dirty="0">
              <a:solidFill>
                <a:schemeClr val="tx1"/>
              </a:solidFill>
              <a:latin typeface="Nunito Sans" pitchFamily="2" charset="77"/>
            </a:endParaRPr>
          </a:p>
        </p:txBody>
      </p:sp>
      <p:pic>
        <p:nvPicPr>
          <p:cNvPr id="17" name="Graphic 16" descr="Management with solid fill">
            <a:extLst>
              <a:ext uri="{FF2B5EF4-FFF2-40B4-BE49-F238E27FC236}">
                <a16:creationId xmlns:a16="http://schemas.microsoft.com/office/drawing/2014/main" id="{7AB83A26-7AD9-DC05-CD6C-D4F4721860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59770" y="917284"/>
            <a:ext cx="499747" cy="53264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197B4E3-3417-5ECB-9C17-296649A1D7C3}"/>
              </a:ext>
            </a:extLst>
          </p:cNvPr>
          <p:cNvSpPr/>
          <p:nvPr/>
        </p:nvSpPr>
        <p:spPr>
          <a:xfrm>
            <a:off x="8169370" y="884037"/>
            <a:ext cx="3772756" cy="5547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Organization Information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(</a:t>
            </a:r>
            <a:r>
              <a:rPr lang="en-US" dirty="0">
                <a:solidFill>
                  <a:schemeClr val="bg1"/>
                </a:solidFill>
              </a:rPr>
              <a:t>TrueIn</a:t>
            </a:r>
            <a:r>
              <a:rPr lang="en-IN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23BFF3-29A0-E167-805E-AF4AF205C8B0}"/>
              </a:ext>
            </a:extLst>
          </p:cNvPr>
          <p:cNvSpPr/>
          <p:nvPr/>
        </p:nvSpPr>
        <p:spPr>
          <a:xfrm>
            <a:off x="8169369" y="1460966"/>
            <a:ext cx="3757963" cy="5281777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  <a:latin typeface="Nunito Sans" pitchFamily="2" charset="77"/>
              </a:rPr>
              <a:t>Global customers : 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Nunito Sans" pitchFamily="2" charset="77"/>
              </a:rPr>
              <a:t> 500+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  <a:latin typeface="Nunito Sans" pitchFamily="2" charset="77"/>
              </a:rPr>
              <a:t>Non-airline customers 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Nunito Sans" pitchFamily="2" charset="77"/>
              </a:rPr>
              <a:t>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  <a:latin typeface="Nunito Sans" pitchFamily="2" charset="77"/>
              </a:rPr>
              <a:t>Tata Group customers 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Nunito Sans" pitchFamily="2" charset="77"/>
              </a:rPr>
              <a:t>TATA Projects, 1MG, TATA Hospitals, Titan, </a:t>
            </a:r>
            <a:r>
              <a:rPr lang="en-US" sz="1100" dirty="0" err="1">
                <a:solidFill>
                  <a:schemeClr val="tx1"/>
                </a:solidFill>
                <a:latin typeface="Nunito Sans" pitchFamily="2" charset="77"/>
              </a:rPr>
              <a:t>Caratlane</a:t>
            </a:r>
            <a:r>
              <a:rPr lang="en-US" sz="1100" dirty="0">
                <a:solidFill>
                  <a:schemeClr val="tx1"/>
                </a:solidFill>
                <a:latin typeface="Nunito Sans" pitchFamily="2" charset="77"/>
              </a:rPr>
              <a:t>, Air India. </a:t>
            </a:r>
            <a:r>
              <a:rPr lang="en-US" sz="1400" dirty="0">
                <a:solidFill>
                  <a:schemeClr val="tx1"/>
                </a:solidFill>
                <a:latin typeface="Nunito Sans" pitchFamily="2" charset="77"/>
              </a:rPr>
              <a:t>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  <a:latin typeface="Nunito Sans" pitchFamily="2" charset="77"/>
              </a:rPr>
              <a:t>Market Share 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Nunito Sans" pitchFamily="2" charset="77"/>
              </a:rPr>
              <a:t>Not disclosed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  <a:latin typeface="Nunito Sans" pitchFamily="2" charset="77"/>
              </a:rPr>
              <a:t>Indian Customers : 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Nunito Sans" pitchFamily="2" charset="77"/>
              </a:rPr>
              <a:t>Not shared explicitly. However vendor has shared that some of their key customers are TATA Projects, 1MG, TATA Hospitals, Titan, </a:t>
            </a:r>
            <a:r>
              <a:rPr lang="en-US" sz="1400" dirty="0" err="1">
                <a:solidFill>
                  <a:schemeClr val="tx1"/>
                </a:solidFill>
                <a:latin typeface="Nunito Sans" pitchFamily="2" charset="77"/>
              </a:rPr>
              <a:t>Caratlane</a:t>
            </a:r>
            <a:r>
              <a:rPr lang="en-US" sz="1400" dirty="0">
                <a:solidFill>
                  <a:schemeClr val="tx1"/>
                </a:solidFill>
                <a:latin typeface="Nunito Sans" pitchFamily="2" charset="77"/>
              </a:rPr>
              <a:t>, Air India.  </a:t>
            </a:r>
            <a:endParaRPr lang="en-US" sz="1100" dirty="0">
              <a:solidFill>
                <a:schemeClr val="tx1"/>
              </a:solidFill>
              <a:latin typeface="Nunito Sans" pitchFamily="2" charset="77"/>
            </a:endParaRPr>
          </a:p>
          <a:p>
            <a:pPr lvl="1">
              <a:spcAft>
                <a:spcPts val="600"/>
              </a:spcAft>
            </a:pPr>
            <a:endParaRPr lang="en-US" sz="1400" dirty="0">
              <a:solidFill>
                <a:schemeClr val="tx1"/>
              </a:solidFill>
              <a:latin typeface="Nunito Sans" pitchFamily="2" charset="77"/>
            </a:endParaRPr>
          </a:p>
        </p:txBody>
      </p:sp>
      <p:pic>
        <p:nvPicPr>
          <p:cNvPr id="15" name="Graphic 14" descr="Management with solid fill">
            <a:extLst>
              <a:ext uri="{FF2B5EF4-FFF2-40B4-BE49-F238E27FC236}">
                <a16:creationId xmlns:a16="http://schemas.microsoft.com/office/drawing/2014/main" id="{C9CA3B54-218C-A71C-B85B-A9DC19018E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6872" y="902371"/>
            <a:ext cx="499747" cy="532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728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B50BB2-89F6-DD06-CCA5-11AD32CD5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Tech Due Diligence Areas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05E2B3-392A-DE90-ACFB-AACDAB8210A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34750" y="6492875"/>
            <a:ext cx="857250" cy="365125"/>
          </a:xfrm>
          <a:prstGeom prst="rect">
            <a:avLst/>
          </a:prstGeom>
        </p:spPr>
        <p:txBody>
          <a:bodyPr/>
          <a:lstStyle/>
          <a:p>
            <a:fld id="{3A41A254-7326-714E-AF55-4C213D6394DE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560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A9B989-9E80-6D87-522D-D8865AF0F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D55F8EBB-E21C-A145-90EE-21B655589236}"/>
              </a:ext>
            </a:extLst>
          </p:cNvPr>
          <p:cNvSpPr/>
          <p:nvPr/>
        </p:nvSpPr>
        <p:spPr>
          <a:xfrm>
            <a:off x="6263540" y="4499799"/>
            <a:ext cx="2888035" cy="170817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ED3FDBC-191C-8BEB-1CBC-304E1B06D21F}"/>
              </a:ext>
            </a:extLst>
          </p:cNvPr>
          <p:cNvSpPr/>
          <p:nvPr/>
        </p:nvSpPr>
        <p:spPr>
          <a:xfrm>
            <a:off x="3265956" y="4500701"/>
            <a:ext cx="2880320" cy="1719515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8CEB0FC-F0B9-8A58-36B3-D025C9CEF04B}"/>
              </a:ext>
            </a:extLst>
          </p:cNvPr>
          <p:cNvSpPr/>
          <p:nvPr/>
        </p:nvSpPr>
        <p:spPr>
          <a:xfrm>
            <a:off x="321467" y="4500701"/>
            <a:ext cx="2880320" cy="173846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BF553A-B3F9-244A-1599-5A8AF4AAA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4004" y="6510228"/>
            <a:ext cx="857245" cy="365125"/>
          </a:xfrm>
        </p:spPr>
        <p:txBody>
          <a:bodyPr/>
          <a:lstStyle/>
          <a:p>
            <a:fld id="{3A41A254-7326-714E-AF55-4C213D6394DE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2FA173-C27C-0A54-9F62-1B6854011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 Due diligence areas -1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AB0B596-B9C2-D823-FE0A-C2E8DFF7AF28}"/>
              </a:ext>
            </a:extLst>
          </p:cNvPr>
          <p:cNvSpPr/>
          <p:nvPr/>
        </p:nvSpPr>
        <p:spPr>
          <a:xfrm>
            <a:off x="3240709" y="983570"/>
            <a:ext cx="2880320" cy="161690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40B5EC5-21D8-6D5C-1E6D-5D909EC43219}"/>
              </a:ext>
            </a:extLst>
          </p:cNvPr>
          <p:cNvSpPr txBox="1"/>
          <p:nvPr/>
        </p:nvSpPr>
        <p:spPr>
          <a:xfrm>
            <a:off x="3277215" y="1326242"/>
            <a:ext cx="2815475" cy="120032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Microservices/ Monolithic based: </a:t>
            </a:r>
            <a:r>
              <a:rPr lang="en-IN" sz="900" dirty="0"/>
              <a:t> </a:t>
            </a:r>
            <a:r>
              <a:rPr lang="en-IN" sz="900" b="1" dirty="0"/>
              <a:t> </a:t>
            </a:r>
            <a:r>
              <a:rPr lang="en-IN" sz="900" dirty="0"/>
              <a:t>microservices based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Containers</a:t>
            </a:r>
            <a:r>
              <a:rPr lang="en-IN" sz="900" dirty="0"/>
              <a:t> :   Yes on GKE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Which DB: </a:t>
            </a:r>
            <a:r>
              <a:rPr lang="en-IN" sz="900" dirty="0"/>
              <a:t>Apache Cassandra/Postgres SQL</a:t>
            </a:r>
            <a:endParaRPr lang="en-IN" sz="9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Tech Stack: </a:t>
            </a:r>
            <a:r>
              <a:rPr lang="en-IN" sz="900" dirty="0"/>
              <a:t>  </a:t>
            </a:r>
            <a:r>
              <a:rPr lang="en-IN" sz="900" dirty="0" err="1"/>
              <a:t>Forgerock</a:t>
            </a:r>
            <a:r>
              <a:rPr lang="en-IN" sz="900" dirty="0"/>
              <a:t>, Apigee, CentOS, Boomi, BIRT, </a:t>
            </a:r>
            <a:r>
              <a:rPr lang="en-IN" sz="900" dirty="0" err="1"/>
              <a:t>RabitMQ</a:t>
            </a:r>
            <a:r>
              <a:rPr lang="en-IN" sz="900" dirty="0"/>
              <a:t>, NGINX, Java, Spark,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Mobile App/ Web App  : </a:t>
            </a:r>
            <a:r>
              <a:rPr lang="en-IN" sz="900" dirty="0"/>
              <a:t>  Yes, Both are available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10C5927-D209-4BC8-5497-F0E04E12CD49}"/>
              </a:ext>
            </a:extLst>
          </p:cNvPr>
          <p:cNvSpPr txBox="1"/>
          <p:nvPr/>
        </p:nvSpPr>
        <p:spPr>
          <a:xfrm>
            <a:off x="3370513" y="1003892"/>
            <a:ext cx="2664296" cy="27699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chemeClr val="bg1"/>
                </a:solidFill>
              </a:rPr>
              <a:t>Tech Stack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D3A3841-94BD-741C-7436-B452A212ECF8}"/>
              </a:ext>
            </a:extLst>
          </p:cNvPr>
          <p:cNvSpPr/>
          <p:nvPr/>
        </p:nvSpPr>
        <p:spPr>
          <a:xfrm>
            <a:off x="263352" y="983570"/>
            <a:ext cx="2880320" cy="16092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E3ECF45-9479-6D35-1A27-973FF7ABCE32}"/>
              </a:ext>
            </a:extLst>
          </p:cNvPr>
          <p:cNvSpPr txBox="1"/>
          <p:nvPr/>
        </p:nvSpPr>
        <p:spPr>
          <a:xfrm>
            <a:off x="371364" y="1287051"/>
            <a:ext cx="2664296" cy="2308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IN" sz="9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607DB04-750C-4A89-D333-E134AAC3AA6C}"/>
              </a:ext>
            </a:extLst>
          </p:cNvPr>
          <p:cNvSpPr txBox="1"/>
          <p:nvPr/>
        </p:nvSpPr>
        <p:spPr>
          <a:xfrm>
            <a:off x="371364" y="1057923"/>
            <a:ext cx="2664296" cy="276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b="1"/>
              <a:t>Key Business Capabilities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9F8B368-FFD1-FB4D-841A-6B1FB38FBD95}"/>
              </a:ext>
            </a:extLst>
          </p:cNvPr>
          <p:cNvSpPr/>
          <p:nvPr/>
        </p:nvSpPr>
        <p:spPr>
          <a:xfrm>
            <a:off x="6205050" y="983570"/>
            <a:ext cx="2946525" cy="161690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DC74701-B934-3DBE-B624-C869628FDF92}"/>
              </a:ext>
            </a:extLst>
          </p:cNvPr>
          <p:cNvSpPr txBox="1"/>
          <p:nvPr/>
        </p:nvSpPr>
        <p:spPr>
          <a:xfrm>
            <a:off x="6229042" y="1235363"/>
            <a:ext cx="2922533" cy="144655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00" b="1" dirty="0"/>
              <a:t>Which Cloud: </a:t>
            </a:r>
            <a:r>
              <a:rPr lang="en-IN" sz="800" dirty="0"/>
              <a:t>  GCP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00" b="1" dirty="0"/>
              <a:t>Multi AZ or Region</a:t>
            </a:r>
            <a:r>
              <a:rPr lang="en-IN" sz="800" dirty="0"/>
              <a:t>:  Multi Zone + Multi Region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00" b="1" dirty="0"/>
              <a:t>Which location: </a:t>
            </a:r>
            <a:r>
              <a:rPr lang="en-IN" sz="800" dirty="0"/>
              <a:t>   Primary (Frankfurt)/ DR Site(Amsterdam)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00" b="1" dirty="0"/>
              <a:t>IaaS/PaaS/SaaS: </a:t>
            </a:r>
            <a:r>
              <a:rPr lang="en-IN" sz="800" dirty="0"/>
              <a:t>   SaaS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00" b="1" dirty="0"/>
              <a:t>Observability &amp; Monitoring</a:t>
            </a:r>
            <a:r>
              <a:rPr lang="en-IN" sz="800" dirty="0"/>
              <a:t>:   </a:t>
            </a:r>
            <a:r>
              <a:rPr lang="en-IN" sz="800" b="1" dirty="0"/>
              <a:t> </a:t>
            </a:r>
            <a:r>
              <a:rPr lang="en-IN" sz="800" dirty="0"/>
              <a:t>APM, DB Monitoring, Cloud Ops, Performance Monitoring, Audit Trails, Logging etc in place using Native and third party solutions.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00" b="1" dirty="0"/>
              <a:t>Dedicated/Shared Instance : </a:t>
            </a:r>
            <a:r>
              <a:rPr lang="en-IN" sz="800" dirty="0"/>
              <a:t>   Shared instance using Multitenant Approach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C6B540D-4575-9CFF-F32C-824A75CFF549}"/>
              </a:ext>
            </a:extLst>
          </p:cNvPr>
          <p:cNvSpPr txBox="1"/>
          <p:nvPr/>
        </p:nvSpPr>
        <p:spPr>
          <a:xfrm>
            <a:off x="6310569" y="1003892"/>
            <a:ext cx="2664296" cy="27699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chemeClr val="bg1"/>
                </a:solidFill>
              </a:rPr>
              <a:t>Hosting Details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D9E7A02-0928-5266-885A-6D59C1A502F0}"/>
              </a:ext>
            </a:extLst>
          </p:cNvPr>
          <p:cNvSpPr txBox="1"/>
          <p:nvPr/>
        </p:nvSpPr>
        <p:spPr>
          <a:xfrm>
            <a:off x="407368" y="1340768"/>
            <a:ext cx="2664296" cy="64633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dirty="0"/>
              <a:t>Workforce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dirty="0"/>
              <a:t>Rostering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dirty="0"/>
              <a:t>Attendance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900" dirty="0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0714024E-1AA2-CC74-825A-1C01F309D3A5}"/>
              </a:ext>
            </a:extLst>
          </p:cNvPr>
          <p:cNvSpPr/>
          <p:nvPr/>
        </p:nvSpPr>
        <p:spPr>
          <a:xfrm>
            <a:off x="9201098" y="983571"/>
            <a:ext cx="2888035" cy="169834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508D28B7-4231-FE8E-B7DE-70FA39FE0897}"/>
              </a:ext>
            </a:extLst>
          </p:cNvPr>
          <p:cNvSpPr txBox="1"/>
          <p:nvPr/>
        </p:nvSpPr>
        <p:spPr>
          <a:xfrm>
            <a:off x="9223208" y="1069393"/>
            <a:ext cx="26642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>
                <a:solidFill>
                  <a:schemeClr val="bg1"/>
                </a:solidFill>
              </a:rPr>
              <a:t>Implementation details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61765CA3-A0BD-49DE-B53A-82698360ECFE}"/>
              </a:ext>
            </a:extLst>
          </p:cNvPr>
          <p:cNvSpPr txBox="1"/>
          <p:nvPr/>
        </p:nvSpPr>
        <p:spPr>
          <a:xfrm>
            <a:off x="7536413" y="4139207"/>
            <a:ext cx="60974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>
                <a:solidFill>
                  <a:schemeClr val="bg1"/>
                </a:solidFill>
              </a:rPr>
              <a:t>Security Management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839B565-991C-0AF9-3225-CFA121843C62}"/>
              </a:ext>
            </a:extLst>
          </p:cNvPr>
          <p:cNvSpPr txBox="1"/>
          <p:nvPr/>
        </p:nvSpPr>
        <p:spPr>
          <a:xfrm>
            <a:off x="9294842" y="1343611"/>
            <a:ext cx="2664296" cy="5078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bg1">
                    <a:lumMod val="95000"/>
                  </a:schemeClr>
                </a:solidFill>
              </a:rPr>
              <a:t>SSO with Azure AD and MFA</a:t>
            </a: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:   Yes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bg1">
                    <a:lumMod val="95000"/>
                  </a:schemeClr>
                </a:solidFill>
              </a:rPr>
              <a:t>eBonding with Service Now</a:t>
            </a: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:   No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bg1">
                    <a:lumMod val="95000"/>
                  </a:schemeClr>
                </a:solidFill>
              </a:rPr>
              <a:t>Implementation timelines</a:t>
            </a: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:  4-5 months</a:t>
            </a:r>
          </a:p>
        </p:txBody>
      </p:sp>
      <p:pic>
        <p:nvPicPr>
          <p:cNvPr id="4" name="Picture 2" descr="Framework - Free business and finance icons">
            <a:extLst>
              <a:ext uri="{FF2B5EF4-FFF2-40B4-BE49-F238E27FC236}">
                <a16:creationId xmlns:a16="http://schemas.microsoft.com/office/drawing/2014/main" id="{538262AC-B94A-76EB-D4ED-1576D858F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4039" y="35506"/>
            <a:ext cx="687205" cy="687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F626BF6-3AFF-F614-902A-306DD8024C90}"/>
              </a:ext>
            </a:extLst>
          </p:cNvPr>
          <p:cNvSpPr/>
          <p:nvPr/>
        </p:nvSpPr>
        <p:spPr>
          <a:xfrm>
            <a:off x="3262820" y="2716198"/>
            <a:ext cx="2880320" cy="1719515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0BEE91-E3E4-4F93-3FF8-77F0DF65C77A}"/>
              </a:ext>
            </a:extLst>
          </p:cNvPr>
          <p:cNvSpPr txBox="1"/>
          <p:nvPr/>
        </p:nvSpPr>
        <p:spPr>
          <a:xfrm>
            <a:off x="3339424" y="3061147"/>
            <a:ext cx="2664296" cy="120032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Microservices/ Monolithic based</a:t>
            </a:r>
            <a:r>
              <a:rPr lang="en-IN" sz="900" dirty="0"/>
              <a:t>: Monolithic 3 Tier Architecture    </a:t>
            </a:r>
            <a:endParaRPr lang="en-IN" sz="9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Containers</a:t>
            </a:r>
            <a:r>
              <a:rPr lang="en-IN" sz="900" dirty="0"/>
              <a:t> :  No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Which DB: </a:t>
            </a:r>
            <a:r>
              <a:rPr lang="en-IN" sz="900" dirty="0"/>
              <a:t>   MySQL 8.045</a:t>
            </a:r>
            <a:endParaRPr lang="en-IN" sz="9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Tech Stack: </a:t>
            </a:r>
            <a:r>
              <a:rPr lang="en-IN" sz="900" dirty="0"/>
              <a:t>.   Java /Redis/java Scripting/</a:t>
            </a:r>
            <a:r>
              <a:rPr lang="en-IN" sz="900" dirty="0" err="1"/>
              <a:t>JQuery</a:t>
            </a:r>
            <a:endParaRPr lang="en-IN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Mobile App/ Web App  : </a:t>
            </a:r>
            <a:r>
              <a:rPr lang="en-IN" sz="900" dirty="0"/>
              <a:t>   Yes, Both are available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BDCD7F-FF27-EBD6-792A-24C7A0D0F453}"/>
              </a:ext>
            </a:extLst>
          </p:cNvPr>
          <p:cNvSpPr txBox="1"/>
          <p:nvPr/>
        </p:nvSpPr>
        <p:spPr>
          <a:xfrm>
            <a:off x="3370832" y="2770249"/>
            <a:ext cx="2664296" cy="27699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chemeClr val="bg1"/>
                </a:solidFill>
              </a:rPr>
              <a:t>Tech Stack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C18A10-C205-BBE2-1031-FB9923C04FA8}"/>
              </a:ext>
            </a:extLst>
          </p:cNvPr>
          <p:cNvSpPr/>
          <p:nvPr/>
        </p:nvSpPr>
        <p:spPr>
          <a:xfrm>
            <a:off x="285463" y="2708518"/>
            <a:ext cx="2880320" cy="173846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8D4597-FACE-B250-8FE9-89B8BB2F2CEF}"/>
              </a:ext>
            </a:extLst>
          </p:cNvPr>
          <p:cNvSpPr txBox="1"/>
          <p:nvPr/>
        </p:nvSpPr>
        <p:spPr>
          <a:xfrm>
            <a:off x="393475" y="3153377"/>
            <a:ext cx="2664296" cy="2308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IN" sz="9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C079F1-2428-9EE1-022F-D5CFCD896F5A}"/>
              </a:ext>
            </a:extLst>
          </p:cNvPr>
          <p:cNvSpPr txBox="1"/>
          <p:nvPr/>
        </p:nvSpPr>
        <p:spPr>
          <a:xfrm>
            <a:off x="393475" y="2818373"/>
            <a:ext cx="2664296" cy="276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b="1"/>
              <a:t>Key Business Capabilities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BA55D70-5301-4F1A-541C-83DF0E8A6C00}"/>
              </a:ext>
            </a:extLst>
          </p:cNvPr>
          <p:cNvSpPr/>
          <p:nvPr/>
        </p:nvSpPr>
        <p:spPr>
          <a:xfrm>
            <a:off x="6227161" y="2727540"/>
            <a:ext cx="2888035" cy="170817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641D00-26C8-2AD0-3BA3-84728B76FA6E}"/>
              </a:ext>
            </a:extLst>
          </p:cNvPr>
          <p:cNvSpPr txBox="1"/>
          <p:nvPr/>
        </p:nvSpPr>
        <p:spPr>
          <a:xfrm>
            <a:off x="6275470" y="2959033"/>
            <a:ext cx="2723998" cy="113107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750" b="1" dirty="0"/>
              <a:t>Which Cloud: </a:t>
            </a:r>
            <a:r>
              <a:rPr lang="en-IN" sz="750" dirty="0"/>
              <a:t>    This is an ON Prem Solution. Not hosted on any of the Hyperscalers.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750" b="1" dirty="0"/>
              <a:t>Multi AZ or Region</a:t>
            </a:r>
            <a:r>
              <a:rPr lang="en-IN" sz="750" dirty="0"/>
              <a:t>:   NA. This is a Private Cloud.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750" b="1" dirty="0"/>
              <a:t>Which location: </a:t>
            </a:r>
            <a:r>
              <a:rPr lang="en-IN" sz="750" dirty="0"/>
              <a:t> Mumbai (Primary)/Chennai (DR)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750" b="1" dirty="0"/>
              <a:t>IaaS/PaaS/SaaS: </a:t>
            </a:r>
            <a:r>
              <a:rPr lang="en-IN" sz="750" dirty="0"/>
              <a:t>   SaaS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750" b="1" dirty="0"/>
              <a:t>Observability &amp; Monitoring</a:t>
            </a:r>
            <a:r>
              <a:rPr lang="en-IN" sz="750" dirty="0"/>
              <a:t> :  FW monitoring in place, evet, audit logging in place.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750" b="1" dirty="0"/>
              <a:t>Dedicated/Shared Instance : </a:t>
            </a:r>
            <a:r>
              <a:rPr lang="en-IN" sz="750" dirty="0"/>
              <a:t>   Shared Instance using multi Tenant Approach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5FDF9E-FD92-052A-B47A-0E8B6182C063}"/>
              </a:ext>
            </a:extLst>
          </p:cNvPr>
          <p:cNvSpPr txBox="1"/>
          <p:nvPr/>
        </p:nvSpPr>
        <p:spPr>
          <a:xfrm>
            <a:off x="6346164" y="2738278"/>
            <a:ext cx="2664296" cy="27699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b="1">
                <a:solidFill>
                  <a:schemeClr val="bg1"/>
                </a:solidFill>
              </a:rPr>
              <a:t>Hosting Details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ECF904-076F-6956-F98E-060C26F59DD2}"/>
              </a:ext>
            </a:extLst>
          </p:cNvPr>
          <p:cNvSpPr txBox="1"/>
          <p:nvPr/>
        </p:nvSpPr>
        <p:spPr>
          <a:xfrm>
            <a:off x="429479" y="3207094"/>
            <a:ext cx="2664296" cy="50783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dirty="0"/>
              <a:t> </a:t>
            </a:r>
          </a:p>
          <a:p>
            <a:endParaRPr lang="en-IN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9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6F985AC-3EB0-1E5B-0277-0122D24176C4}"/>
              </a:ext>
            </a:extLst>
          </p:cNvPr>
          <p:cNvSpPr/>
          <p:nvPr/>
        </p:nvSpPr>
        <p:spPr>
          <a:xfrm>
            <a:off x="9223209" y="2708518"/>
            <a:ext cx="2888035" cy="17271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A9BCD3-1967-34EC-6119-DC341E2E255E}"/>
              </a:ext>
            </a:extLst>
          </p:cNvPr>
          <p:cNvSpPr txBox="1"/>
          <p:nvPr/>
        </p:nvSpPr>
        <p:spPr>
          <a:xfrm>
            <a:off x="9223208" y="3047663"/>
            <a:ext cx="2664296" cy="5078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bg1">
                    <a:lumMod val="95000"/>
                  </a:schemeClr>
                </a:solidFill>
              </a:rPr>
              <a:t>SSO with Azure AD and MFA</a:t>
            </a: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:  Yes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bg1">
                    <a:lumMod val="95000"/>
                  </a:schemeClr>
                </a:solidFill>
              </a:rPr>
              <a:t>eBonding with Service Now</a:t>
            </a: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:     No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bg1">
                    <a:lumMod val="95000"/>
                  </a:schemeClr>
                </a:solidFill>
              </a:rPr>
              <a:t>Implementation timelines</a:t>
            </a: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:   3-4 Months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C7DE51A-ECBB-160F-0114-0CE53B64B51A}"/>
              </a:ext>
            </a:extLst>
          </p:cNvPr>
          <p:cNvSpPr txBox="1"/>
          <p:nvPr/>
        </p:nvSpPr>
        <p:spPr>
          <a:xfrm>
            <a:off x="8910490" y="2772604"/>
            <a:ext cx="28880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>
                <a:solidFill>
                  <a:schemeClr val="bg1"/>
                </a:solidFill>
              </a:rPr>
              <a:t>Implementation details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29778A2-7F76-9258-270C-A3EE82679C04}"/>
              </a:ext>
            </a:extLst>
          </p:cNvPr>
          <p:cNvSpPr/>
          <p:nvPr/>
        </p:nvSpPr>
        <p:spPr>
          <a:xfrm rot="16200000">
            <a:off x="-671345" y="1689386"/>
            <a:ext cx="1602236" cy="2045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UKG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90319C5-752A-F838-F65E-7E991F6CE53C}"/>
              </a:ext>
            </a:extLst>
          </p:cNvPr>
          <p:cNvSpPr/>
          <p:nvPr/>
        </p:nvSpPr>
        <p:spPr>
          <a:xfrm rot="16200000">
            <a:off x="-748467" y="3492777"/>
            <a:ext cx="1738467" cy="16994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Zoho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F0F6B72-D8EA-701A-CC88-C3AE1C28CFE1}"/>
              </a:ext>
            </a:extLst>
          </p:cNvPr>
          <p:cNvSpPr/>
          <p:nvPr/>
        </p:nvSpPr>
        <p:spPr>
          <a:xfrm>
            <a:off x="2701055" y="1024518"/>
            <a:ext cx="382991" cy="36004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/>
              <a:t>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EE833E-4027-D414-50CB-2AE0199B089A}"/>
              </a:ext>
            </a:extLst>
          </p:cNvPr>
          <p:cNvSpPr txBox="1"/>
          <p:nvPr/>
        </p:nvSpPr>
        <p:spPr>
          <a:xfrm>
            <a:off x="429479" y="3137843"/>
            <a:ext cx="2664296" cy="64633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dirty="0"/>
              <a:t>Workforce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dirty="0"/>
              <a:t>Rostering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dirty="0"/>
              <a:t>Attendance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9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673E2F5-10B9-3411-40D6-CD109E80E6C7}"/>
              </a:ext>
            </a:extLst>
          </p:cNvPr>
          <p:cNvSpPr/>
          <p:nvPr/>
        </p:nvSpPr>
        <p:spPr>
          <a:xfrm>
            <a:off x="2758605" y="2750945"/>
            <a:ext cx="382991" cy="36004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/>
              <a:t>H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25C4F87-3342-7F33-F187-4A5493C25DA7}"/>
              </a:ext>
            </a:extLst>
          </p:cNvPr>
          <p:cNvSpPr/>
          <p:nvPr/>
        </p:nvSpPr>
        <p:spPr>
          <a:xfrm>
            <a:off x="5682076" y="980728"/>
            <a:ext cx="382991" cy="36004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/>
              <a:t>H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01C59A0-C807-FF00-2ABC-D93D44802C03}"/>
              </a:ext>
            </a:extLst>
          </p:cNvPr>
          <p:cNvSpPr/>
          <p:nvPr/>
        </p:nvSpPr>
        <p:spPr>
          <a:xfrm>
            <a:off x="8756893" y="990558"/>
            <a:ext cx="382991" cy="36004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/>
              <a:t>H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F6DE92C-BB14-4A80-E305-B1345655FDBD}"/>
              </a:ext>
            </a:extLst>
          </p:cNvPr>
          <p:cNvSpPr/>
          <p:nvPr/>
        </p:nvSpPr>
        <p:spPr>
          <a:xfrm>
            <a:off x="11645541" y="990558"/>
            <a:ext cx="382991" cy="36004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M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D2E319F-389C-9FDA-9088-3C39603E8687}"/>
              </a:ext>
            </a:extLst>
          </p:cNvPr>
          <p:cNvSpPr/>
          <p:nvPr/>
        </p:nvSpPr>
        <p:spPr>
          <a:xfrm>
            <a:off x="8718202" y="2730090"/>
            <a:ext cx="382991" cy="36004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M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89026BA-6AC3-0E71-121E-D4E1B71DAB8C}"/>
              </a:ext>
            </a:extLst>
          </p:cNvPr>
          <p:cNvSpPr/>
          <p:nvPr/>
        </p:nvSpPr>
        <p:spPr>
          <a:xfrm>
            <a:off x="11682280" y="2716198"/>
            <a:ext cx="382991" cy="36004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M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D63E23-D6D6-B518-9A5D-E3B731E11307}"/>
              </a:ext>
            </a:extLst>
          </p:cNvPr>
          <p:cNvSpPr txBox="1"/>
          <p:nvPr/>
        </p:nvSpPr>
        <p:spPr>
          <a:xfrm>
            <a:off x="3365748" y="4835235"/>
            <a:ext cx="2664296" cy="92333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Microservices/ Monolithic based</a:t>
            </a:r>
            <a:r>
              <a:rPr lang="en-IN" sz="900" dirty="0"/>
              <a:t>: Microservices + Monolith </a:t>
            </a:r>
            <a:endParaRPr lang="en-IN" sz="9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Containers</a:t>
            </a:r>
            <a:r>
              <a:rPr lang="en-IN" sz="900" dirty="0"/>
              <a:t> :   No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Which DB : AWS Aurora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Tech Stack: :</a:t>
            </a:r>
            <a:r>
              <a:rPr lang="en-IN" sz="900" dirty="0"/>
              <a:t>Angular, Flutter, Node.js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Mobile App/ Web App  : </a:t>
            </a:r>
            <a:r>
              <a:rPr lang="en-IN" sz="900" dirty="0"/>
              <a:t>   Yes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24FE33F-919A-13AF-5B7F-C8F518EAF23F}"/>
              </a:ext>
            </a:extLst>
          </p:cNvPr>
          <p:cNvSpPr txBox="1"/>
          <p:nvPr/>
        </p:nvSpPr>
        <p:spPr>
          <a:xfrm>
            <a:off x="3397156" y="4544337"/>
            <a:ext cx="2664296" cy="27699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chemeClr val="bg1"/>
                </a:solidFill>
              </a:rPr>
              <a:t>Tech Stack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702B60E-890C-CDD0-FB4C-B82D6A5A9E7A}"/>
              </a:ext>
            </a:extLst>
          </p:cNvPr>
          <p:cNvSpPr txBox="1"/>
          <p:nvPr/>
        </p:nvSpPr>
        <p:spPr>
          <a:xfrm>
            <a:off x="419799" y="4592461"/>
            <a:ext cx="2664296" cy="276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b="1"/>
              <a:t>Key Business Capabilities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9DCCA40-4A33-CE0F-B592-5CC9E1BC4C39}"/>
              </a:ext>
            </a:extLst>
          </p:cNvPr>
          <p:cNvSpPr txBox="1"/>
          <p:nvPr/>
        </p:nvSpPr>
        <p:spPr>
          <a:xfrm>
            <a:off x="6301794" y="4733121"/>
            <a:ext cx="2723998" cy="113107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750" b="1" dirty="0"/>
              <a:t>Which Cloud: </a:t>
            </a:r>
            <a:r>
              <a:rPr lang="en-IN" sz="750" dirty="0"/>
              <a:t>     AWS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750" b="1" dirty="0"/>
              <a:t>Multi AZ or Region</a:t>
            </a:r>
            <a:r>
              <a:rPr lang="en-IN" sz="750" dirty="0"/>
              <a:t>:   Multi Zone + Multi Region.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750" b="1" dirty="0"/>
              <a:t>Location</a:t>
            </a:r>
            <a:r>
              <a:rPr lang="en-IN" sz="750" dirty="0"/>
              <a:t>: Primary (Mumbai/Hyderabad). DR: UAE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750" b="1" dirty="0"/>
              <a:t>IaaS/PaaS/SaaS: </a:t>
            </a:r>
            <a:r>
              <a:rPr lang="en-IN" sz="750" dirty="0"/>
              <a:t>  SaaS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750" b="1" dirty="0"/>
              <a:t>Observability &amp; Monitoring</a:t>
            </a:r>
            <a:r>
              <a:rPr lang="en-IN" sz="750" dirty="0"/>
              <a:t> :   Native Tools (CloudWatch /Aws GuardDuty) ,MySQL (native logging &amp; performance insights), Slow Query Logs etc.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750" b="1" dirty="0"/>
              <a:t>Dedicated/Shared Instance : </a:t>
            </a:r>
            <a:r>
              <a:rPr lang="en-IN" sz="750" dirty="0"/>
              <a:t>  Shared Multitenant Architecture 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191F11B-C36B-8448-D171-3C4D35375BE2}"/>
              </a:ext>
            </a:extLst>
          </p:cNvPr>
          <p:cNvSpPr txBox="1"/>
          <p:nvPr/>
        </p:nvSpPr>
        <p:spPr>
          <a:xfrm>
            <a:off x="6372488" y="4512366"/>
            <a:ext cx="2664296" cy="27699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b="1">
                <a:solidFill>
                  <a:schemeClr val="bg1"/>
                </a:solidFill>
              </a:rPr>
              <a:t>Hosting Details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84EAF66-F993-9CD0-6EBA-3AC339699FB9}"/>
              </a:ext>
            </a:extLst>
          </p:cNvPr>
          <p:cNvSpPr/>
          <p:nvPr/>
        </p:nvSpPr>
        <p:spPr>
          <a:xfrm>
            <a:off x="9249533" y="4482606"/>
            <a:ext cx="2888035" cy="17271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3D7AFF1-7D88-080E-449C-1C3B145E1B14}"/>
              </a:ext>
            </a:extLst>
          </p:cNvPr>
          <p:cNvSpPr txBox="1"/>
          <p:nvPr/>
        </p:nvSpPr>
        <p:spPr>
          <a:xfrm>
            <a:off x="9249532" y="4821751"/>
            <a:ext cx="2664296" cy="5078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bg1">
                    <a:lumMod val="95000"/>
                  </a:schemeClr>
                </a:solidFill>
              </a:rPr>
              <a:t>SSO with Azure AD and MFA</a:t>
            </a: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:   Yes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bg1">
                    <a:lumMod val="95000"/>
                  </a:schemeClr>
                </a:solidFill>
              </a:rPr>
              <a:t>eBonding with Service Now</a:t>
            </a: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: No  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bg1">
                    <a:lumMod val="95000"/>
                  </a:schemeClr>
                </a:solidFill>
              </a:rPr>
              <a:t>Implementation timelines</a:t>
            </a: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 2-3 Weeks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8FA76CE-0579-D98A-308E-D81A1520E45C}"/>
              </a:ext>
            </a:extLst>
          </p:cNvPr>
          <p:cNvSpPr txBox="1"/>
          <p:nvPr/>
        </p:nvSpPr>
        <p:spPr>
          <a:xfrm>
            <a:off x="8936814" y="4546692"/>
            <a:ext cx="28880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>
                <a:solidFill>
                  <a:schemeClr val="bg1"/>
                </a:solidFill>
              </a:rPr>
              <a:t>Implementation details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41D6911-13E4-A940-9632-F6DA0FD13F8D}"/>
              </a:ext>
            </a:extLst>
          </p:cNvPr>
          <p:cNvSpPr/>
          <p:nvPr/>
        </p:nvSpPr>
        <p:spPr>
          <a:xfrm rot="16200000">
            <a:off x="-722143" y="5266865"/>
            <a:ext cx="1738467" cy="1699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TrueIn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BC13E07-6F92-6AAA-9C19-B8518BA3EB5F}"/>
              </a:ext>
            </a:extLst>
          </p:cNvPr>
          <p:cNvSpPr txBox="1"/>
          <p:nvPr/>
        </p:nvSpPr>
        <p:spPr>
          <a:xfrm>
            <a:off x="455803" y="4911931"/>
            <a:ext cx="2664296" cy="64633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dirty="0"/>
              <a:t>Workforce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dirty="0"/>
              <a:t>Rostering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dirty="0"/>
              <a:t>Attendance Management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900" dirty="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CB068383-39E1-51B5-30ED-BD312B9E0430}"/>
              </a:ext>
            </a:extLst>
          </p:cNvPr>
          <p:cNvSpPr/>
          <p:nvPr/>
        </p:nvSpPr>
        <p:spPr>
          <a:xfrm>
            <a:off x="2748628" y="4526296"/>
            <a:ext cx="382991" cy="36004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/>
              <a:t>H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62C8D76B-1AFD-AD05-DC95-4E40DAA09F24}"/>
              </a:ext>
            </a:extLst>
          </p:cNvPr>
          <p:cNvSpPr/>
          <p:nvPr/>
        </p:nvSpPr>
        <p:spPr>
          <a:xfrm>
            <a:off x="11660812" y="4499799"/>
            <a:ext cx="382991" cy="36004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M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75DF9C92-7DF1-43E9-DBD1-B37148C9AD72}"/>
              </a:ext>
            </a:extLst>
          </p:cNvPr>
          <p:cNvSpPr/>
          <p:nvPr/>
        </p:nvSpPr>
        <p:spPr>
          <a:xfrm>
            <a:off x="5670360" y="4523617"/>
            <a:ext cx="382991" cy="36004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M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26F6D62C-1FB5-F550-DEBB-112947182D04}"/>
              </a:ext>
            </a:extLst>
          </p:cNvPr>
          <p:cNvSpPr/>
          <p:nvPr/>
        </p:nvSpPr>
        <p:spPr>
          <a:xfrm>
            <a:off x="5728989" y="2721702"/>
            <a:ext cx="382991" cy="36004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M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7D1A64DD-AD47-FFC8-CB43-DFD7E345CC70}"/>
              </a:ext>
            </a:extLst>
          </p:cNvPr>
          <p:cNvSpPr/>
          <p:nvPr/>
        </p:nvSpPr>
        <p:spPr>
          <a:xfrm>
            <a:off x="7453810" y="6453336"/>
            <a:ext cx="382991" cy="36004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/>
              <a:t>H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5967D45B-950D-051D-D603-CF2B60B88E13}"/>
              </a:ext>
            </a:extLst>
          </p:cNvPr>
          <p:cNvSpPr/>
          <p:nvPr/>
        </p:nvSpPr>
        <p:spPr>
          <a:xfrm>
            <a:off x="9552384" y="6453336"/>
            <a:ext cx="382991" cy="3600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/>
              <a:t>L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F38B330-0737-098C-92D4-C269F2BEAD1B}"/>
              </a:ext>
            </a:extLst>
          </p:cNvPr>
          <p:cNvSpPr txBox="1"/>
          <p:nvPr/>
        </p:nvSpPr>
        <p:spPr>
          <a:xfrm>
            <a:off x="7823390" y="6453336"/>
            <a:ext cx="5886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/>
              <a:t>High</a:t>
            </a:r>
          </a:p>
          <a:p>
            <a:r>
              <a:rPr lang="en-IN" sz="1100" dirty="0"/>
              <a:t>(8-10)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4099686-C304-F2B5-A8F5-4BFE82C839BD}"/>
              </a:ext>
            </a:extLst>
          </p:cNvPr>
          <p:cNvSpPr txBox="1"/>
          <p:nvPr/>
        </p:nvSpPr>
        <p:spPr>
          <a:xfrm>
            <a:off x="8805032" y="6459993"/>
            <a:ext cx="6928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/>
              <a:t>Medium</a:t>
            </a:r>
          </a:p>
          <a:p>
            <a:r>
              <a:rPr lang="en-IN" sz="1100" dirty="0"/>
              <a:t>(5-7)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A39E646-1723-E335-3103-901488EF1162}"/>
              </a:ext>
            </a:extLst>
          </p:cNvPr>
          <p:cNvSpPr txBox="1"/>
          <p:nvPr/>
        </p:nvSpPr>
        <p:spPr>
          <a:xfrm>
            <a:off x="9995714" y="6451770"/>
            <a:ext cx="5036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/>
              <a:t>Low</a:t>
            </a:r>
          </a:p>
          <a:p>
            <a:r>
              <a:rPr lang="en-IN" sz="1100" dirty="0"/>
              <a:t>(0-4)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FC84C588-E3B5-EC34-59B5-0B4583ECB8FD}"/>
              </a:ext>
            </a:extLst>
          </p:cNvPr>
          <p:cNvSpPr/>
          <p:nvPr/>
        </p:nvSpPr>
        <p:spPr>
          <a:xfrm>
            <a:off x="8460494" y="6453336"/>
            <a:ext cx="382991" cy="36004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M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F714CA7-BB0E-51BE-D8B5-F422C172460B}"/>
              </a:ext>
            </a:extLst>
          </p:cNvPr>
          <p:cNvSpPr txBox="1"/>
          <p:nvPr/>
        </p:nvSpPr>
        <p:spPr>
          <a:xfrm>
            <a:off x="6194663" y="6510228"/>
            <a:ext cx="1207382" cy="251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Maturity levels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F920EE30-982E-38DA-A35D-72E25B4EEEEB}"/>
              </a:ext>
            </a:extLst>
          </p:cNvPr>
          <p:cNvSpPr/>
          <p:nvPr/>
        </p:nvSpPr>
        <p:spPr>
          <a:xfrm>
            <a:off x="8780103" y="4515634"/>
            <a:ext cx="382991" cy="36004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3983241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9E4BFC-DAD5-ED43-94C4-0DCD471A5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1A254-7326-714E-AF55-4C213D6394DE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34958DE-8533-8CAE-62A6-4D1728177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060" y="170327"/>
            <a:ext cx="10977880" cy="914400"/>
          </a:xfrm>
        </p:spPr>
        <p:txBody>
          <a:bodyPr/>
          <a:lstStyle/>
          <a:p>
            <a:r>
              <a:rPr lang="en-IN" dirty="0"/>
              <a:t>Tech Due diligence areas -2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2158709-7B68-92C1-3160-82B1E30A3DC1}"/>
              </a:ext>
            </a:extLst>
          </p:cNvPr>
          <p:cNvSpPr/>
          <p:nvPr/>
        </p:nvSpPr>
        <p:spPr>
          <a:xfrm>
            <a:off x="3240709" y="2529988"/>
            <a:ext cx="2880320" cy="175223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0938140-6D96-DF82-5538-C2A8329FFDC2}"/>
              </a:ext>
            </a:extLst>
          </p:cNvPr>
          <p:cNvSpPr txBox="1"/>
          <p:nvPr/>
        </p:nvSpPr>
        <p:spPr>
          <a:xfrm>
            <a:off x="3348721" y="2937138"/>
            <a:ext cx="2664296" cy="92333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OOB connectors</a:t>
            </a:r>
            <a:r>
              <a:rPr lang="en-IN" sz="900" dirty="0"/>
              <a:t>:  No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Certified connectors</a:t>
            </a:r>
            <a:r>
              <a:rPr lang="en-IN" sz="900" dirty="0"/>
              <a:t>:  No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Ability to build custom interfaces : </a:t>
            </a:r>
            <a:r>
              <a:rPr lang="en-IN" sz="900" dirty="0"/>
              <a:t> No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Open API ecosystem</a:t>
            </a:r>
            <a:r>
              <a:rPr lang="en-IN" sz="900" dirty="0"/>
              <a:t>:    Zoho has its own API Ecosystem. Other protocols supported are sftp , </a:t>
            </a:r>
            <a:endParaRPr lang="en-IN" sz="900" b="1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16EF90F-57A7-BBB7-E15A-4067B78C2E3D}"/>
              </a:ext>
            </a:extLst>
          </p:cNvPr>
          <p:cNvSpPr txBox="1"/>
          <p:nvPr/>
        </p:nvSpPr>
        <p:spPr>
          <a:xfrm>
            <a:off x="3348721" y="2604340"/>
            <a:ext cx="2664296" cy="27699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b="1">
                <a:solidFill>
                  <a:schemeClr val="bg1"/>
                </a:solidFill>
              </a:rPr>
              <a:t>Interfaces &amp; Integrations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7ED4F5E-E5ED-1D49-E9CC-AB01CBC38346}"/>
              </a:ext>
            </a:extLst>
          </p:cNvPr>
          <p:cNvSpPr/>
          <p:nvPr/>
        </p:nvSpPr>
        <p:spPr>
          <a:xfrm>
            <a:off x="263352" y="2529987"/>
            <a:ext cx="2880320" cy="175223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B3615DA-392C-35CF-EDF4-6E3F06A7064C}"/>
              </a:ext>
            </a:extLst>
          </p:cNvPr>
          <p:cNvSpPr txBox="1"/>
          <p:nvPr/>
        </p:nvSpPr>
        <p:spPr>
          <a:xfrm>
            <a:off x="371364" y="2857653"/>
            <a:ext cx="2664296" cy="106182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HA in all layers</a:t>
            </a:r>
            <a:r>
              <a:rPr lang="en-IN" sz="900" dirty="0"/>
              <a:t>:  Yes, Autoscaling plus multiple layers are present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RTO / RPO</a:t>
            </a:r>
            <a:r>
              <a:rPr lang="en-IN" sz="900" dirty="0"/>
              <a:t>:</a:t>
            </a:r>
            <a:r>
              <a:rPr lang="en-IN" sz="900" b="1" dirty="0"/>
              <a:t> </a:t>
            </a:r>
            <a:r>
              <a:rPr lang="en-IN" sz="900" dirty="0"/>
              <a:t> 60 min/15 min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DR</a:t>
            </a:r>
            <a:r>
              <a:rPr lang="en-IN" sz="900" dirty="0"/>
              <a:t> : </a:t>
            </a:r>
            <a:r>
              <a:rPr lang="en-IN" sz="900" b="1" dirty="0"/>
              <a:t> </a:t>
            </a:r>
            <a:r>
              <a:rPr lang="en-IN" sz="900" dirty="0"/>
              <a:t>  Yes, DR is in place.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Evidence of  DR switchover/ backup restoration:  </a:t>
            </a:r>
            <a:r>
              <a:rPr lang="en-IN" sz="900" dirty="0"/>
              <a:t>  Yes Provided.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DR capacity:  </a:t>
            </a:r>
            <a:r>
              <a:rPr lang="en-IN" sz="900" dirty="0"/>
              <a:t>  Same as Primary.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1A9943E-9EF2-CF82-1030-18466612E6C1}"/>
              </a:ext>
            </a:extLst>
          </p:cNvPr>
          <p:cNvSpPr txBox="1"/>
          <p:nvPr/>
        </p:nvSpPr>
        <p:spPr>
          <a:xfrm>
            <a:off x="371364" y="2604340"/>
            <a:ext cx="2664296" cy="276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b="1"/>
              <a:t>HA &amp; DR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9727F70-B601-7E1E-3170-1E399D4E040B}"/>
              </a:ext>
            </a:extLst>
          </p:cNvPr>
          <p:cNvSpPr/>
          <p:nvPr/>
        </p:nvSpPr>
        <p:spPr>
          <a:xfrm>
            <a:off x="6205051" y="2549038"/>
            <a:ext cx="2946391" cy="173318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97FC8B6-ADF4-4E5E-D207-16724150619B}"/>
              </a:ext>
            </a:extLst>
          </p:cNvPr>
          <p:cNvSpPr txBox="1"/>
          <p:nvPr/>
        </p:nvSpPr>
        <p:spPr>
          <a:xfrm>
            <a:off x="6313063" y="2890028"/>
            <a:ext cx="2664296" cy="50783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24x7 Helpdesk: </a:t>
            </a:r>
            <a:r>
              <a:rPr lang="en-IN" sz="900" dirty="0"/>
              <a:t>   Yes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Response Time SLA Sev1(Critical):</a:t>
            </a:r>
            <a:r>
              <a:rPr lang="en-IN" sz="900" dirty="0"/>
              <a:t>     2 hrs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Response Time SLA Sev2(Urgent): </a:t>
            </a:r>
            <a:r>
              <a:rPr lang="en-IN" sz="900" dirty="0"/>
              <a:t>    2 hrs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8D1CE69-561A-0B06-FAD0-E859947EE091}"/>
              </a:ext>
            </a:extLst>
          </p:cNvPr>
          <p:cNvSpPr txBox="1"/>
          <p:nvPr/>
        </p:nvSpPr>
        <p:spPr>
          <a:xfrm>
            <a:off x="6313063" y="2604340"/>
            <a:ext cx="2664296" cy="27699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b="1">
                <a:solidFill>
                  <a:schemeClr val="bg1"/>
                </a:solidFill>
              </a:rPr>
              <a:t>Service Management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2FAE9C91-56ED-5163-C303-7281D6D1ED6E}"/>
              </a:ext>
            </a:extLst>
          </p:cNvPr>
          <p:cNvSpPr/>
          <p:nvPr/>
        </p:nvSpPr>
        <p:spPr>
          <a:xfrm>
            <a:off x="7453810" y="6453336"/>
            <a:ext cx="382991" cy="36004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/>
              <a:t>H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079A8228-EDC0-76B5-F124-66DDF9E097E9}"/>
              </a:ext>
            </a:extLst>
          </p:cNvPr>
          <p:cNvSpPr/>
          <p:nvPr/>
        </p:nvSpPr>
        <p:spPr>
          <a:xfrm>
            <a:off x="9552384" y="6453336"/>
            <a:ext cx="382991" cy="3600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/>
              <a:t>L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EBC2B47-7234-F0E1-10BC-315541530F16}"/>
              </a:ext>
            </a:extLst>
          </p:cNvPr>
          <p:cNvSpPr txBox="1"/>
          <p:nvPr/>
        </p:nvSpPr>
        <p:spPr>
          <a:xfrm>
            <a:off x="7823390" y="6453336"/>
            <a:ext cx="5886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/>
              <a:t>High</a:t>
            </a:r>
          </a:p>
          <a:p>
            <a:r>
              <a:rPr lang="en-IN" sz="1100" dirty="0"/>
              <a:t>(8-10)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0CFFBA5-320B-8F09-CE84-841354ABC2D9}"/>
              </a:ext>
            </a:extLst>
          </p:cNvPr>
          <p:cNvSpPr txBox="1"/>
          <p:nvPr/>
        </p:nvSpPr>
        <p:spPr>
          <a:xfrm>
            <a:off x="8805032" y="6459993"/>
            <a:ext cx="6928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/>
              <a:t>Medium</a:t>
            </a:r>
          </a:p>
          <a:p>
            <a:r>
              <a:rPr lang="en-IN" sz="1100" dirty="0"/>
              <a:t>(5-7)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E9DC017-01C7-3788-51EF-AEB0E112AB10}"/>
              </a:ext>
            </a:extLst>
          </p:cNvPr>
          <p:cNvSpPr txBox="1"/>
          <p:nvPr/>
        </p:nvSpPr>
        <p:spPr>
          <a:xfrm>
            <a:off x="9995714" y="6451770"/>
            <a:ext cx="5036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/>
              <a:t>Low</a:t>
            </a:r>
          </a:p>
          <a:p>
            <a:r>
              <a:rPr lang="en-IN" sz="1100" dirty="0"/>
              <a:t>(0-4)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504665BD-FCDE-9BD3-53CE-DDB0633F6367}"/>
              </a:ext>
            </a:extLst>
          </p:cNvPr>
          <p:cNvSpPr/>
          <p:nvPr/>
        </p:nvSpPr>
        <p:spPr>
          <a:xfrm>
            <a:off x="8460494" y="6453336"/>
            <a:ext cx="382991" cy="36004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M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7F19621F-8F13-7884-8D74-2DE03AD86D10}"/>
              </a:ext>
            </a:extLst>
          </p:cNvPr>
          <p:cNvSpPr/>
          <p:nvPr/>
        </p:nvSpPr>
        <p:spPr>
          <a:xfrm>
            <a:off x="9204955" y="2546774"/>
            <a:ext cx="2880320" cy="173318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3D3109DA-0A81-FE98-3F45-AF8C2A5263CA}"/>
              </a:ext>
            </a:extLst>
          </p:cNvPr>
          <p:cNvSpPr txBox="1"/>
          <p:nvPr/>
        </p:nvSpPr>
        <p:spPr>
          <a:xfrm>
            <a:off x="7536413" y="1016998"/>
            <a:ext cx="60974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>
                <a:solidFill>
                  <a:schemeClr val="bg1"/>
                </a:solidFill>
              </a:rPr>
              <a:t>Implementation details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543599C5-12A5-F1D6-3052-ABEBA5ABFA74}"/>
              </a:ext>
            </a:extLst>
          </p:cNvPr>
          <p:cNvSpPr txBox="1"/>
          <p:nvPr/>
        </p:nvSpPr>
        <p:spPr>
          <a:xfrm>
            <a:off x="9444935" y="2534485"/>
            <a:ext cx="21088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</a:rPr>
              <a:t>SLAs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4CB29A93-2686-459B-6C6D-47DFB70413F5}"/>
              </a:ext>
            </a:extLst>
          </p:cNvPr>
          <p:cNvSpPr txBox="1"/>
          <p:nvPr/>
        </p:nvSpPr>
        <p:spPr>
          <a:xfrm>
            <a:off x="9294842" y="2823353"/>
            <a:ext cx="2664296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bg1">
                    <a:lumMod val="95000"/>
                  </a:schemeClr>
                </a:solidFill>
              </a:rPr>
              <a:t>Availability</a:t>
            </a: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 :   99.9%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bg1">
                    <a:lumMod val="95000"/>
                  </a:schemeClr>
                </a:solidFill>
              </a:rPr>
              <a:t>Response</a:t>
            </a: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IN" sz="900" b="1" dirty="0">
                <a:solidFill>
                  <a:schemeClr val="bg1">
                    <a:lumMod val="95000"/>
                  </a:schemeClr>
                </a:solidFill>
              </a:rPr>
              <a:t>Time</a:t>
            </a: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: &lt; 1s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bg1">
                    <a:lumMod val="95000"/>
                  </a:schemeClr>
                </a:solidFill>
              </a:rPr>
              <a:t>Service</a:t>
            </a: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IN" sz="900" b="1" dirty="0">
                <a:solidFill>
                  <a:schemeClr val="bg1">
                    <a:lumMod val="95000"/>
                  </a:schemeClr>
                </a:solidFill>
              </a:rPr>
              <a:t>Credits</a:t>
            </a: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:  :Provided in MSA: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99.5% to 99.9% : 7 days credit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99% to 99.5%: 15 days credit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&lt;99%: 30 days of credit</a:t>
            </a:r>
          </a:p>
        </p:txBody>
      </p:sp>
      <p:pic>
        <p:nvPicPr>
          <p:cNvPr id="4" name="Picture 2" descr="Framework - Free business and finance icons">
            <a:extLst>
              <a:ext uri="{FF2B5EF4-FFF2-40B4-BE49-F238E27FC236}">
                <a16:creationId xmlns:a16="http://schemas.microsoft.com/office/drawing/2014/main" id="{E6018E0D-9260-832E-8653-931E78893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4039" y="35506"/>
            <a:ext cx="687205" cy="687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002AA58D-5DDC-A31B-D1D7-A7C6FB3E5549}"/>
              </a:ext>
            </a:extLst>
          </p:cNvPr>
          <p:cNvSpPr/>
          <p:nvPr/>
        </p:nvSpPr>
        <p:spPr>
          <a:xfrm>
            <a:off x="3240709" y="900503"/>
            <a:ext cx="2880320" cy="159683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9298A60-DCB7-2725-5E9A-269C60875A71}"/>
              </a:ext>
            </a:extLst>
          </p:cNvPr>
          <p:cNvSpPr txBox="1"/>
          <p:nvPr/>
        </p:nvSpPr>
        <p:spPr>
          <a:xfrm>
            <a:off x="3260996" y="1145067"/>
            <a:ext cx="2664296" cy="133882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OOB connectors</a:t>
            </a:r>
            <a:r>
              <a:rPr lang="en-IN" sz="900" dirty="0"/>
              <a:t>:    Yes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Certified connectors</a:t>
            </a:r>
            <a:r>
              <a:rPr lang="en-IN" sz="900" dirty="0"/>
              <a:t>:   Yes, have 600 600 existing integrations with SAP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Ability to build custom interfaces </a:t>
            </a:r>
            <a:r>
              <a:rPr lang="en-IN" sz="900" dirty="0"/>
              <a:t>:  Yes at additional cost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Open API ecosystem</a:t>
            </a:r>
            <a:r>
              <a:rPr lang="en-IN" sz="900" dirty="0"/>
              <a:t>:  Both Open API and sftp based integrations available.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Extensibility: </a:t>
            </a:r>
            <a:r>
              <a:rPr lang="en-IN" sz="900" dirty="0"/>
              <a:t>Limited support for Event based integration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43A1E58-9A0A-150D-9AC5-E3A3DDB3DDD6}"/>
              </a:ext>
            </a:extLst>
          </p:cNvPr>
          <p:cNvSpPr txBox="1"/>
          <p:nvPr/>
        </p:nvSpPr>
        <p:spPr>
          <a:xfrm>
            <a:off x="3348721" y="927752"/>
            <a:ext cx="2664296" cy="27699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b="1">
                <a:solidFill>
                  <a:schemeClr val="bg1"/>
                </a:solidFill>
              </a:rPr>
              <a:t>Interfaces &amp; Integrations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D364174-CE1B-A8C7-4914-A08940961C67}"/>
              </a:ext>
            </a:extLst>
          </p:cNvPr>
          <p:cNvSpPr/>
          <p:nvPr/>
        </p:nvSpPr>
        <p:spPr>
          <a:xfrm>
            <a:off x="263352" y="900502"/>
            <a:ext cx="2880320" cy="159683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E87F3F9-18B2-DE25-F19A-6B873BC9215A}"/>
              </a:ext>
            </a:extLst>
          </p:cNvPr>
          <p:cNvSpPr txBox="1"/>
          <p:nvPr/>
        </p:nvSpPr>
        <p:spPr>
          <a:xfrm>
            <a:off x="359999" y="1133298"/>
            <a:ext cx="2664296" cy="92333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HA in all layers</a:t>
            </a:r>
            <a:r>
              <a:rPr lang="en-IN" sz="900" dirty="0"/>
              <a:t>:    Yes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RTO / RPO</a:t>
            </a:r>
            <a:r>
              <a:rPr lang="en-IN" sz="900" dirty="0"/>
              <a:t>:</a:t>
            </a:r>
            <a:r>
              <a:rPr lang="en-IN" sz="900" b="1" dirty="0"/>
              <a:t> </a:t>
            </a:r>
            <a:r>
              <a:rPr lang="en-IN" sz="900" dirty="0"/>
              <a:t>   24hrs/4 hrs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DR</a:t>
            </a:r>
            <a:r>
              <a:rPr lang="en-IN" sz="900" dirty="0"/>
              <a:t>  : Yes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Evidence of  DR switchover/ backup restoration: </a:t>
            </a:r>
            <a:r>
              <a:rPr lang="en-IN" sz="900" dirty="0"/>
              <a:t>   Yes Provided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DR capacity : </a:t>
            </a:r>
            <a:r>
              <a:rPr lang="en-IN" sz="900" dirty="0"/>
              <a:t>100%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BAF3F26-7CB1-EF26-790E-484DDD24821F}"/>
              </a:ext>
            </a:extLst>
          </p:cNvPr>
          <p:cNvSpPr txBox="1"/>
          <p:nvPr/>
        </p:nvSpPr>
        <p:spPr>
          <a:xfrm>
            <a:off x="371364" y="908024"/>
            <a:ext cx="2664296" cy="276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b="1"/>
              <a:t>HA &amp; DR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F314B3E-B68A-95D5-B0C0-A1F781DD29FB}"/>
              </a:ext>
            </a:extLst>
          </p:cNvPr>
          <p:cNvSpPr/>
          <p:nvPr/>
        </p:nvSpPr>
        <p:spPr>
          <a:xfrm>
            <a:off x="6205050" y="900503"/>
            <a:ext cx="2946391" cy="159037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05EE986-AF7C-B29A-758F-C6CFA16B5DA0}"/>
              </a:ext>
            </a:extLst>
          </p:cNvPr>
          <p:cNvSpPr txBox="1"/>
          <p:nvPr/>
        </p:nvSpPr>
        <p:spPr>
          <a:xfrm>
            <a:off x="6313063" y="1260543"/>
            <a:ext cx="2664296" cy="50783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24x7 Helpdesk: </a:t>
            </a:r>
            <a:r>
              <a:rPr lang="en-IN" sz="900" dirty="0"/>
              <a:t>   Yes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Response Time SLA Sev1(Critical): </a:t>
            </a:r>
            <a:r>
              <a:rPr lang="en-IN" sz="900" dirty="0"/>
              <a:t> 30 min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Response Time SLA Sev2(Urgent ): </a:t>
            </a:r>
            <a:r>
              <a:rPr lang="en-IN" sz="900" dirty="0"/>
              <a:t>30 min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A336510-4640-3957-22BB-5557B7E60820}"/>
              </a:ext>
            </a:extLst>
          </p:cNvPr>
          <p:cNvSpPr txBox="1"/>
          <p:nvPr/>
        </p:nvSpPr>
        <p:spPr>
          <a:xfrm>
            <a:off x="6313063" y="974855"/>
            <a:ext cx="2664296" cy="27699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b="1">
                <a:solidFill>
                  <a:schemeClr val="bg1"/>
                </a:solidFill>
              </a:rPr>
              <a:t>Service Management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F245376-4DB0-4C20-F45E-012A95F7155F}"/>
              </a:ext>
            </a:extLst>
          </p:cNvPr>
          <p:cNvSpPr/>
          <p:nvPr/>
        </p:nvSpPr>
        <p:spPr>
          <a:xfrm>
            <a:off x="9204955" y="917289"/>
            <a:ext cx="2880320" cy="157359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F8F7FB3-A21B-D1A2-71E9-8033DF1702DA}"/>
              </a:ext>
            </a:extLst>
          </p:cNvPr>
          <p:cNvSpPr txBox="1"/>
          <p:nvPr/>
        </p:nvSpPr>
        <p:spPr>
          <a:xfrm>
            <a:off x="9156304" y="1106185"/>
            <a:ext cx="2999905" cy="14773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bg1">
                    <a:lumMod val="95000"/>
                  </a:schemeClr>
                </a:solidFill>
              </a:rPr>
              <a:t>Availability</a:t>
            </a: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 :  99.75%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bg1">
                    <a:lumMod val="95000"/>
                  </a:schemeClr>
                </a:solidFill>
              </a:rPr>
              <a:t>Response</a:t>
            </a: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IN" sz="900" b="1" dirty="0">
                <a:solidFill>
                  <a:schemeClr val="bg1">
                    <a:lumMod val="95000"/>
                  </a:schemeClr>
                </a:solidFill>
              </a:rPr>
              <a:t>Time</a:t>
            </a: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:   Not Provided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bg1">
                    <a:lumMod val="95000"/>
                  </a:schemeClr>
                </a:solidFill>
              </a:rPr>
              <a:t>Service</a:t>
            </a: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IN" sz="900" b="1" dirty="0">
                <a:solidFill>
                  <a:schemeClr val="bg1">
                    <a:lumMod val="95000"/>
                  </a:schemeClr>
                </a:solidFill>
              </a:rPr>
              <a:t>Credits</a:t>
            </a: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:    </a:t>
            </a:r>
            <a:br>
              <a:rPr lang="en-IN" sz="9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    &gt;= 99.5% but &lt; 99.9% 0%</a:t>
            </a:r>
          </a:p>
          <a:p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         &gt;=95% but &lt;99.5%: 16% of monthly PEPM fees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&gt;=90% but &lt;95% 27% of monthly PEPM fees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&lt;90%: Credit to be equivalent to 3% of Customer’s monthly PEPM Fees for every 1% of Availability below 99.75%, but in no event to exceed 100% of Customer’s monthly PEPM Fees.	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6E5C440-D61A-DF19-84A5-9EC22F4BCCA0}"/>
              </a:ext>
            </a:extLst>
          </p:cNvPr>
          <p:cNvSpPr txBox="1"/>
          <p:nvPr/>
        </p:nvSpPr>
        <p:spPr>
          <a:xfrm>
            <a:off x="9476053" y="922584"/>
            <a:ext cx="21088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</a:rPr>
              <a:t>SLAs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A03CB0-1781-9A1C-DE28-6D52843747D5}"/>
              </a:ext>
            </a:extLst>
          </p:cNvPr>
          <p:cNvSpPr txBox="1"/>
          <p:nvPr/>
        </p:nvSpPr>
        <p:spPr>
          <a:xfrm>
            <a:off x="6194663" y="6510228"/>
            <a:ext cx="1207382" cy="251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Maturity levels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C8469E-CD7B-3851-88E6-14D31CE33FF0}"/>
              </a:ext>
            </a:extLst>
          </p:cNvPr>
          <p:cNvSpPr/>
          <p:nvPr/>
        </p:nvSpPr>
        <p:spPr>
          <a:xfrm rot="16200000">
            <a:off x="-657143" y="1601793"/>
            <a:ext cx="1602236" cy="2045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UKG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571C6B-0715-E3ED-BA1E-9E5A121C0F21}"/>
              </a:ext>
            </a:extLst>
          </p:cNvPr>
          <p:cNvSpPr/>
          <p:nvPr/>
        </p:nvSpPr>
        <p:spPr>
          <a:xfrm rot="16200000">
            <a:off x="-752800" y="3336349"/>
            <a:ext cx="1732202" cy="15501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Zoho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9EFA9DB-6883-A1F8-71A9-723052AA3AB3}"/>
              </a:ext>
            </a:extLst>
          </p:cNvPr>
          <p:cNvSpPr/>
          <p:nvPr/>
        </p:nvSpPr>
        <p:spPr>
          <a:xfrm>
            <a:off x="2664034" y="965507"/>
            <a:ext cx="382991" cy="36004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M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A270408-C1B4-F194-CFC4-C665E83DD996}"/>
              </a:ext>
            </a:extLst>
          </p:cNvPr>
          <p:cNvSpPr/>
          <p:nvPr/>
        </p:nvSpPr>
        <p:spPr>
          <a:xfrm>
            <a:off x="8739261" y="922028"/>
            <a:ext cx="382991" cy="36004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/>
              <a:t>H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1D2C761-F69F-A808-2F82-85155B10B99D}"/>
              </a:ext>
            </a:extLst>
          </p:cNvPr>
          <p:cNvSpPr/>
          <p:nvPr/>
        </p:nvSpPr>
        <p:spPr>
          <a:xfrm>
            <a:off x="5717751" y="909535"/>
            <a:ext cx="382991" cy="36004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M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787696B-A021-2D71-A0B4-4C1BAD4987B6}"/>
              </a:ext>
            </a:extLst>
          </p:cNvPr>
          <p:cNvSpPr/>
          <p:nvPr/>
        </p:nvSpPr>
        <p:spPr>
          <a:xfrm>
            <a:off x="11599454" y="934026"/>
            <a:ext cx="382991" cy="36004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M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3865D12-273E-17D1-2490-4DC2238C2D51}"/>
              </a:ext>
            </a:extLst>
          </p:cNvPr>
          <p:cNvSpPr/>
          <p:nvPr/>
        </p:nvSpPr>
        <p:spPr>
          <a:xfrm>
            <a:off x="2688136" y="2577098"/>
            <a:ext cx="382991" cy="36004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/>
              <a:t>H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4CEA1CC-2C37-9C9F-74CC-736B11D384E8}"/>
              </a:ext>
            </a:extLst>
          </p:cNvPr>
          <p:cNvSpPr/>
          <p:nvPr/>
        </p:nvSpPr>
        <p:spPr>
          <a:xfrm>
            <a:off x="8743431" y="2577098"/>
            <a:ext cx="382991" cy="36004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M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56D3EAC-71C1-DFFD-9B9F-5D59D6E3596F}"/>
              </a:ext>
            </a:extLst>
          </p:cNvPr>
          <p:cNvSpPr/>
          <p:nvPr/>
        </p:nvSpPr>
        <p:spPr>
          <a:xfrm>
            <a:off x="11611614" y="2610127"/>
            <a:ext cx="382991" cy="36004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/>
              <a:t>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7017B7-0BE7-1294-C702-27A1E7601C71}"/>
              </a:ext>
            </a:extLst>
          </p:cNvPr>
          <p:cNvSpPr/>
          <p:nvPr/>
        </p:nvSpPr>
        <p:spPr>
          <a:xfrm>
            <a:off x="3223624" y="4360669"/>
            <a:ext cx="2880320" cy="175223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CE1ED5-E1B8-662F-C6E0-B764DC5E3189}"/>
              </a:ext>
            </a:extLst>
          </p:cNvPr>
          <p:cNvSpPr/>
          <p:nvPr/>
        </p:nvSpPr>
        <p:spPr>
          <a:xfrm>
            <a:off x="246267" y="4360668"/>
            <a:ext cx="2880320" cy="175223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202856-D3BD-E1A1-6978-0F1B91D81E46}"/>
              </a:ext>
            </a:extLst>
          </p:cNvPr>
          <p:cNvSpPr/>
          <p:nvPr/>
        </p:nvSpPr>
        <p:spPr>
          <a:xfrm>
            <a:off x="6187966" y="4379719"/>
            <a:ext cx="2946391" cy="173318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5BCD94-DE6C-EB42-ED3F-22DAD8B8B702}"/>
              </a:ext>
            </a:extLst>
          </p:cNvPr>
          <p:cNvSpPr/>
          <p:nvPr/>
        </p:nvSpPr>
        <p:spPr>
          <a:xfrm>
            <a:off x="9187870" y="4377455"/>
            <a:ext cx="2880320" cy="173318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AB6A7B-A38E-BE5C-90EF-84878E3BD77A}"/>
              </a:ext>
            </a:extLst>
          </p:cNvPr>
          <p:cNvSpPr/>
          <p:nvPr/>
        </p:nvSpPr>
        <p:spPr>
          <a:xfrm rot="16200000">
            <a:off x="-769885" y="5167030"/>
            <a:ext cx="1732202" cy="1550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TrueIn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793202-6D7C-899A-9E5D-06DE4A8B2E04}"/>
              </a:ext>
            </a:extLst>
          </p:cNvPr>
          <p:cNvSpPr txBox="1"/>
          <p:nvPr/>
        </p:nvSpPr>
        <p:spPr>
          <a:xfrm>
            <a:off x="3258834" y="4895431"/>
            <a:ext cx="2664296" cy="78483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OOB connectors</a:t>
            </a:r>
            <a:r>
              <a:rPr lang="en-IN" sz="900" dirty="0"/>
              <a:t>:   No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Certified connectors</a:t>
            </a:r>
            <a:r>
              <a:rPr lang="en-IN" sz="900" dirty="0"/>
              <a:t>:  No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Ability to build custom interfaces : </a:t>
            </a:r>
            <a:r>
              <a:rPr lang="en-IN" sz="900" dirty="0"/>
              <a:t>  No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Open API ecosystem</a:t>
            </a:r>
            <a:r>
              <a:rPr lang="en-IN" sz="900" dirty="0"/>
              <a:t> : Standard Rest API Ecosystem is available. </a:t>
            </a:r>
            <a:endParaRPr lang="en-IN" sz="9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2DE1B6-EDD1-16CB-3255-55B80138D86B}"/>
              </a:ext>
            </a:extLst>
          </p:cNvPr>
          <p:cNvSpPr txBox="1"/>
          <p:nvPr/>
        </p:nvSpPr>
        <p:spPr>
          <a:xfrm>
            <a:off x="3258834" y="4562633"/>
            <a:ext cx="2664296" cy="27699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b="1">
                <a:solidFill>
                  <a:schemeClr val="bg1"/>
                </a:solidFill>
              </a:rPr>
              <a:t>Interfaces &amp; Integrations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BEA8302-D8EA-01D2-7EA0-4F0838CA244D}"/>
              </a:ext>
            </a:extLst>
          </p:cNvPr>
          <p:cNvSpPr txBox="1"/>
          <p:nvPr/>
        </p:nvSpPr>
        <p:spPr>
          <a:xfrm>
            <a:off x="281477" y="4815946"/>
            <a:ext cx="2664296" cy="120032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HA in all layers</a:t>
            </a:r>
            <a:r>
              <a:rPr lang="en-IN" sz="900" dirty="0"/>
              <a:t>:   Y, Multi AZ deployments, Replica at DB Levels, Load balancing etc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RTO / RPO</a:t>
            </a:r>
            <a:r>
              <a:rPr lang="en-IN" sz="900" dirty="0"/>
              <a:t>:</a:t>
            </a:r>
            <a:r>
              <a:rPr lang="en-IN" sz="900" b="1" dirty="0"/>
              <a:t> </a:t>
            </a:r>
            <a:r>
              <a:rPr lang="en-IN" sz="900" dirty="0"/>
              <a:t>  4 hrs/24hr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DR</a:t>
            </a:r>
            <a:r>
              <a:rPr lang="en-IN" sz="900" dirty="0"/>
              <a:t> : Yes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Evidence of  DR switchover/ backup restoration: </a:t>
            </a:r>
            <a:r>
              <a:rPr lang="en-IN" sz="900" dirty="0"/>
              <a:t>No Evidence submitted.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DR capacity:  </a:t>
            </a:r>
            <a:r>
              <a:rPr lang="en-IN" sz="900" dirty="0"/>
              <a:t>  Not same as Primary. Can be scaled as per needs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B6B5F49-B957-B701-0F2D-0A500F7D0D47}"/>
              </a:ext>
            </a:extLst>
          </p:cNvPr>
          <p:cNvSpPr txBox="1"/>
          <p:nvPr/>
        </p:nvSpPr>
        <p:spPr>
          <a:xfrm>
            <a:off x="281477" y="4562633"/>
            <a:ext cx="2664296" cy="276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b="1"/>
              <a:t>HA &amp; DR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8820B54-E8DF-F0D3-1DF4-C0AF77A885E0}"/>
              </a:ext>
            </a:extLst>
          </p:cNvPr>
          <p:cNvSpPr txBox="1"/>
          <p:nvPr/>
        </p:nvSpPr>
        <p:spPr>
          <a:xfrm>
            <a:off x="6223176" y="4848321"/>
            <a:ext cx="2664296" cy="50783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24x7 Helpdesk: </a:t>
            </a:r>
            <a:r>
              <a:rPr lang="en-IN" sz="900" dirty="0"/>
              <a:t>    No,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Response Time SLA Sev1(Critical):</a:t>
            </a:r>
            <a:r>
              <a:rPr lang="en-IN" sz="900" dirty="0"/>
              <a:t>   2 hrs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Response Time SLA Sev2(Urgent): </a:t>
            </a:r>
            <a:r>
              <a:rPr lang="en-IN" sz="900" dirty="0"/>
              <a:t>  4 hrs  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1327FF6-4B98-BA13-D393-FCC475388F9B}"/>
              </a:ext>
            </a:extLst>
          </p:cNvPr>
          <p:cNvSpPr txBox="1"/>
          <p:nvPr/>
        </p:nvSpPr>
        <p:spPr>
          <a:xfrm>
            <a:off x="6223176" y="4562633"/>
            <a:ext cx="2664296" cy="27699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b="1">
                <a:solidFill>
                  <a:schemeClr val="bg1"/>
                </a:solidFill>
              </a:rPr>
              <a:t>Service Management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3E9AC11-A9E8-F40D-AC30-FF7E457144EC}"/>
              </a:ext>
            </a:extLst>
          </p:cNvPr>
          <p:cNvSpPr txBox="1"/>
          <p:nvPr/>
        </p:nvSpPr>
        <p:spPr>
          <a:xfrm>
            <a:off x="9355048" y="4492778"/>
            <a:ext cx="21088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</a:rPr>
              <a:t>SLAs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2F53D4A-7D95-450B-6C1A-261DAAA5D6FB}"/>
              </a:ext>
            </a:extLst>
          </p:cNvPr>
          <p:cNvSpPr txBox="1"/>
          <p:nvPr/>
        </p:nvSpPr>
        <p:spPr>
          <a:xfrm>
            <a:off x="9204955" y="4781646"/>
            <a:ext cx="266429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bg1">
                    <a:lumMod val="95000"/>
                  </a:schemeClr>
                </a:solidFill>
              </a:rPr>
              <a:t>Availability</a:t>
            </a: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 :    99.5%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bg1">
                    <a:lumMod val="95000"/>
                  </a:schemeClr>
                </a:solidFill>
              </a:rPr>
              <a:t>Response</a:t>
            </a: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IN" sz="900" b="1" dirty="0">
                <a:solidFill>
                  <a:schemeClr val="bg1">
                    <a:lumMod val="95000"/>
                  </a:schemeClr>
                </a:solidFill>
              </a:rPr>
              <a:t>Time</a:t>
            </a: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:  None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bg1">
                    <a:lumMod val="95000"/>
                  </a:schemeClr>
                </a:solidFill>
              </a:rPr>
              <a:t>Service</a:t>
            </a: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IN" sz="900" b="1" dirty="0">
                <a:solidFill>
                  <a:schemeClr val="bg1">
                    <a:lumMod val="95000"/>
                  </a:schemeClr>
                </a:solidFill>
              </a:rPr>
              <a:t>Credits</a:t>
            </a: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:  : Provided in Tech DD Sheet: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6DE4D81-DF7E-235B-F3EE-3BE991F8DDA9}"/>
              </a:ext>
            </a:extLst>
          </p:cNvPr>
          <p:cNvSpPr/>
          <p:nvPr/>
        </p:nvSpPr>
        <p:spPr>
          <a:xfrm>
            <a:off x="5694785" y="2542678"/>
            <a:ext cx="382991" cy="36004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M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86764250-32B3-A26A-833F-B6B3F3C00F58}"/>
              </a:ext>
            </a:extLst>
          </p:cNvPr>
          <p:cNvSpPr/>
          <p:nvPr/>
        </p:nvSpPr>
        <p:spPr>
          <a:xfrm>
            <a:off x="2688606" y="4389895"/>
            <a:ext cx="382991" cy="36004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M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6B23C312-4B86-BB1C-492C-52C76526C94A}"/>
              </a:ext>
            </a:extLst>
          </p:cNvPr>
          <p:cNvSpPr/>
          <p:nvPr/>
        </p:nvSpPr>
        <p:spPr>
          <a:xfrm>
            <a:off x="5694785" y="4384635"/>
            <a:ext cx="382991" cy="36004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M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5AC682BE-7A03-299B-C79D-731295AAD7D1}"/>
              </a:ext>
            </a:extLst>
          </p:cNvPr>
          <p:cNvSpPr/>
          <p:nvPr/>
        </p:nvSpPr>
        <p:spPr>
          <a:xfrm>
            <a:off x="11588407" y="4440515"/>
            <a:ext cx="382991" cy="36004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M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00A2-B423-5374-1440-7D1C32714BFD}"/>
              </a:ext>
            </a:extLst>
          </p:cNvPr>
          <p:cNvSpPr/>
          <p:nvPr/>
        </p:nvSpPr>
        <p:spPr>
          <a:xfrm>
            <a:off x="8738375" y="4435922"/>
            <a:ext cx="382991" cy="36004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1147071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DDE369-95A7-BFE6-509C-F75F1A3CB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>
            <a:extLst>
              <a:ext uri="{FF2B5EF4-FFF2-40B4-BE49-F238E27FC236}">
                <a16:creationId xmlns:a16="http://schemas.microsoft.com/office/drawing/2014/main" id="{83CAA998-A653-98F6-13BD-50C786100A2C}"/>
              </a:ext>
            </a:extLst>
          </p:cNvPr>
          <p:cNvSpPr/>
          <p:nvPr/>
        </p:nvSpPr>
        <p:spPr>
          <a:xfrm>
            <a:off x="6160794" y="4409542"/>
            <a:ext cx="2994239" cy="185967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D335B7-04F2-C93A-04AC-73777E0F3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1A254-7326-714E-AF55-4C213D6394DE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FA4170-7523-645C-DCB9-C15440EF6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060" y="-23139"/>
            <a:ext cx="10977880" cy="362057"/>
          </a:xfrm>
        </p:spPr>
        <p:txBody>
          <a:bodyPr>
            <a:normAutofit fontScale="90000"/>
          </a:bodyPr>
          <a:lstStyle/>
          <a:p>
            <a:r>
              <a:rPr lang="en-IN" dirty="0"/>
              <a:t>Tech Due diligence areas -3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0AA84313-88CD-E705-6C07-744EFE362EC2}"/>
              </a:ext>
            </a:extLst>
          </p:cNvPr>
          <p:cNvSpPr txBox="1"/>
          <p:nvPr/>
        </p:nvSpPr>
        <p:spPr>
          <a:xfrm>
            <a:off x="7596403" y="2576400"/>
            <a:ext cx="60974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>
                <a:solidFill>
                  <a:schemeClr val="bg1"/>
                </a:solidFill>
              </a:rPr>
              <a:t>SLA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B78D57-A3DA-AA20-5731-A30E093D8C9C}"/>
              </a:ext>
            </a:extLst>
          </p:cNvPr>
          <p:cNvSpPr/>
          <p:nvPr/>
        </p:nvSpPr>
        <p:spPr>
          <a:xfrm>
            <a:off x="3251536" y="2343523"/>
            <a:ext cx="2891407" cy="2008785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CE26F8-354B-7BDD-6F4E-47D5054241D6}"/>
              </a:ext>
            </a:extLst>
          </p:cNvPr>
          <p:cNvSpPr txBox="1"/>
          <p:nvPr/>
        </p:nvSpPr>
        <p:spPr>
          <a:xfrm>
            <a:off x="3257111" y="2653215"/>
            <a:ext cx="2664296" cy="133882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Will PI information be stored</a:t>
            </a:r>
            <a:r>
              <a:rPr lang="en-IN" sz="900" dirty="0"/>
              <a:t>:   Yes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Data Privacy Policy: </a:t>
            </a:r>
            <a:r>
              <a:rPr lang="en-IN" sz="900" dirty="0"/>
              <a:t>  In Place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Data Privacy Organization in place</a:t>
            </a:r>
            <a:r>
              <a:rPr lang="en-IN" sz="900" dirty="0"/>
              <a:t>:   in Place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Encryption of data</a:t>
            </a:r>
            <a:r>
              <a:rPr lang="en-IN" sz="900" dirty="0"/>
              <a:t>  : Yes, use AES-256 for encryption  at rest and TLS1.2/1.3 for encryption in motion.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Audit Records : </a:t>
            </a:r>
            <a:r>
              <a:rPr lang="en-IN" sz="900" dirty="0"/>
              <a:t>In place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Cyber Recovery Vault:</a:t>
            </a:r>
            <a:r>
              <a:rPr lang="en-IN" sz="900" dirty="0"/>
              <a:t>  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8D3EEE-1B88-4FC3-8336-6740BB54001F}"/>
              </a:ext>
            </a:extLst>
          </p:cNvPr>
          <p:cNvSpPr txBox="1"/>
          <p:nvPr/>
        </p:nvSpPr>
        <p:spPr>
          <a:xfrm>
            <a:off x="3312817" y="2368719"/>
            <a:ext cx="2664296" cy="27699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b="1">
                <a:solidFill>
                  <a:schemeClr val="bg1"/>
                </a:solidFill>
              </a:rPr>
              <a:t>PI Data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043458-E62A-4D50-23AD-F839CF02D819}"/>
              </a:ext>
            </a:extLst>
          </p:cNvPr>
          <p:cNvSpPr/>
          <p:nvPr/>
        </p:nvSpPr>
        <p:spPr>
          <a:xfrm>
            <a:off x="313436" y="2349130"/>
            <a:ext cx="2846638" cy="18965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22222D-E7DA-52EF-F64A-26DF1AE0A096}"/>
              </a:ext>
            </a:extLst>
          </p:cNvPr>
          <p:cNvSpPr txBox="1"/>
          <p:nvPr/>
        </p:nvSpPr>
        <p:spPr>
          <a:xfrm>
            <a:off x="314072" y="2588386"/>
            <a:ext cx="2843214" cy="17543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Security Certifications: </a:t>
            </a:r>
            <a:r>
              <a:rPr lang="en-IN" sz="900" dirty="0"/>
              <a:t>   ISO 27001, ISO 27017,ISO 27018, ISO 27701, iso 22301,SOC1,  SOC2 TYPE 2, HIPAA TYPE 2, PCI,GDPR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BitSight Score: </a:t>
            </a:r>
            <a:r>
              <a:rPr lang="en-IN" sz="900" dirty="0"/>
              <a:t> Not Subscribed</a:t>
            </a:r>
            <a:endParaRPr lang="en-IN" sz="9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Cloud CSPM Score: </a:t>
            </a:r>
            <a:r>
              <a:rPr lang="en-IN" sz="900" dirty="0"/>
              <a:t>N/A. (Private Cloud-rely on proprietary framework)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Last Security Audit Report observations: </a:t>
            </a:r>
            <a:r>
              <a:rPr lang="en-IN" sz="900" dirty="0"/>
              <a:t> .SOC2 Type 2 Report was provided by Zoho. Exceptions are open. </a:t>
            </a:r>
            <a:endParaRPr lang="en-IN" sz="9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Cyber forensic capability</a:t>
            </a:r>
            <a:r>
              <a:rPr lang="en-IN" sz="900" dirty="0"/>
              <a:t>:     Y, Managed Internally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Security Policy</a:t>
            </a:r>
            <a:r>
              <a:rPr lang="en-IN" sz="900" dirty="0"/>
              <a:t>:    Y, In place</a:t>
            </a:r>
            <a:endParaRPr lang="en-IN" sz="9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B5A04F-513D-8F39-3056-84D846B9AD1C}"/>
              </a:ext>
            </a:extLst>
          </p:cNvPr>
          <p:cNvSpPr txBox="1"/>
          <p:nvPr/>
        </p:nvSpPr>
        <p:spPr>
          <a:xfrm>
            <a:off x="418088" y="2376831"/>
            <a:ext cx="2664296" cy="276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b="1"/>
              <a:t>Security Posture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46D9C9E-FA1E-8062-D53E-06F60842536F}"/>
              </a:ext>
            </a:extLst>
          </p:cNvPr>
          <p:cNvSpPr/>
          <p:nvPr/>
        </p:nvSpPr>
        <p:spPr>
          <a:xfrm>
            <a:off x="6191837" y="2290731"/>
            <a:ext cx="2960370" cy="195493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58ECE5-A474-F737-0719-7AE7080DBCC2}"/>
              </a:ext>
            </a:extLst>
          </p:cNvPr>
          <p:cNvSpPr txBox="1"/>
          <p:nvPr/>
        </p:nvSpPr>
        <p:spPr>
          <a:xfrm>
            <a:off x="6191072" y="2536427"/>
            <a:ext cx="2960370" cy="181588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00" b="1" dirty="0"/>
              <a:t>Endpoint protection: Y, </a:t>
            </a:r>
            <a:r>
              <a:rPr lang="en-IN" sz="800" dirty="0"/>
              <a:t>CrowdStrike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00" b="1" dirty="0"/>
              <a:t>Cloud Securi</a:t>
            </a:r>
            <a:r>
              <a:rPr lang="en-IN" sz="800" dirty="0"/>
              <a:t>t</a:t>
            </a:r>
            <a:r>
              <a:rPr lang="en-IN" sz="800" b="1" dirty="0"/>
              <a:t>y</a:t>
            </a:r>
            <a:r>
              <a:rPr lang="en-IN" sz="800" dirty="0"/>
              <a:t> :  Y, CrowdStrike EDR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00" b="1" dirty="0"/>
              <a:t>App Security</a:t>
            </a:r>
            <a:r>
              <a:rPr lang="en-IN" sz="800" dirty="0"/>
              <a:t>:   Secure coding guidelines/Code Scanning tools like vulnerability scanners/ SAST tools like </a:t>
            </a:r>
            <a:r>
              <a:rPr lang="en-IN" sz="800" dirty="0" err="1"/>
              <a:t>HackSaw</a:t>
            </a:r>
            <a:r>
              <a:rPr lang="en-IN" sz="800" dirty="0"/>
              <a:t> in use.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00" b="1" dirty="0"/>
              <a:t>VAPT: </a:t>
            </a:r>
            <a:r>
              <a:rPr lang="en-IN" sz="800" dirty="0"/>
              <a:t> Y, VAPT reports were provided. Mobile VAPT (dated 23-jul-2025) – No Vulnerabilities. API VAPT (Dt 07-Jul-25) – No Vulnerabilities , Web VAPT (Dt 21 May 25) – No vulnerabilities.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00" b="1" dirty="0"/>
              <a:t>Deception Tech :Y</a:t>
            </a:r>
            <a:endParaRPr lang="en-IN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00" b="1" dirty="0"/>
              <a:t>PAM</a:t>
            </a:r>
            <a:r>
              <a:rPr lang="en-IN" sz="800" dirty="0"/>
              <a:t> :Y(ManageEngine PAM)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00" b="1" dirty="0"/>
              <a:t>WAF/ DDOS/Bot Protection</a:t>
            </a:r>
            <a:r>
              <a:rPr lang="en-IN" sz="800" dirty="0"/>
              <a:t> : WAF in place(Proprietary developed)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00" b="1" dirty="0"/>
              <a:t>SIEM</a:t>
            </a:r>
            <a:r>
              <a:rPr lang="en-IN" sz="800" dirty="0"/>
              <a:t> :  Yes.(In House Proprietary)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3629D0-42D8-CBF8-345D-C91EC1621B42}"/>
              </a:ext>
            </a:extLst>
          </p:cNvPr>
          <p:cNvSpPr txBox="1"/>
          <p:nvPr/>
        </p:nvSpPr>
        <p:spPr>
          <a:xfrm>
            <a:off x="6329465" y="2313554"/>
            <a:ext cx="2664296" cy="27699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b="1">
                <a:solidFill>
                  <a:schemeClr val="bg1"/>
                </a:solidFill>
              </a:rPr>
              <a:t>Security Tools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79828EA-B2D8-DA8C-8C62-66E608992F1B}"/>
              </a:ext>
            </a:extLst>
          </p:cNvPr>
          <p:cNvSpPr/>
          <p:nvPr/>
        </p:nvSpPr>
        <p:spPr>
          <a:xfrm>
            <a:off x="9230924" y="2282159"/>
            <a:ext cx="2880320" cy="20319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51F5CB-9D31-066E-6C86-E5D68CDBECCE}"/>
              </a:ext>
            </a:extLst>
          </p:cNvPr>
          <p:cNvSpPr txBox="1"/>
          <p:nvPr/>
        </p:nvSpPr>
        <p:spPr>
          <a:xfrm>
            <a:off x="9332869" y="2713349"/>
            <a:ext cx="2796843" cy="10618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bg1">
                    <a:lumMod val="95000"/>
                  </a:schemeClr>
                </a:solidFill>
              </a:rPr>
              <a:t>SOC Management</a:t>
            </a: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:  Y,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bg1">
                    <a:lumMod val="95000"/>
                  </a:schemeClr>
                </a:solidFill>
              </a:rPr>
              <a:t>Dark Web Monitoring</a:t>
            </a: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:   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bg1">
                    <a:lumMod val="95000"/>
                  </a:schemeClr>
                </a:solidFill>
              </a:rPr>
              <a:t>Details of past breach: </a:t>
            </a: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   None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bg1">
                    <a:lumMod val="95000"/>
                  </a:schemeClr>
                </a:solidFill>
              </a:rPr>
              <a:t>#Security Engineers:  80+ </a:t>
            </a: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bg1">
                    <a:lumMod val="95000"/>
                  </a:schemeClr>
                </a:solidFill>
              </a:rPr>
              <a:t>Red Teams</a:t>
            </a: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:   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900" dirty="0">
              <a:solidFill>
                <a:schemeClr val="bg1">
                  <a:lumMod val="9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9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877C469-E3AE-3A4B-98C5-F66E93046500}"/>
              </a:ext>
            </a:extLst>
          </p:cNvPr>
          <p:cNvSpPr/>
          <p:nvPr/>
        </p:nvSpPr>
        <p:spPr>
          <a:xfrm>
            <a:off x="3257111" y="305110"/>
            <a:ext cx="2880320" cy="196329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BF137A3-AE06-5906-BA5C-2AA9CFBCAA22}"/>
              </a:ext>
            </a:extLst>
          </p:cNvPr>
          <p:cNvSpPr txBox="1"/>
          <p:nvPr/>
        </p:nvSpPr>
        <p:spPr>
          <a:xfrm>
            <a:off x="3298408" y="609809"/>
            <a:ext cx="2664296" cy="95410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00" b="1" dirty="0"/>
              <a:t>Will PI information be stored</a:t>
            </a:r>
            <a:r>
              <a:rPr lang="en-IN" sz="800" dirty="0"/>
              <a:t>:    Yes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00" b="1" dirty="0"/>
              <a:t>Data Privacy Policy :  </a:t>
            </a:r>
            <a:r>
              <a:rPr lang="en-IN" sz="800" dirty="0"/>
              <a:t>Yes, in Place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00" b="1" dirty="0"/>
              <a:t>Data Privacy Organization in place</a:t>
            </a:r>
            <a:r>
              <a:rPr lang="en-IN" sz="800" dirty="0"/>
              <a:t>: Yes, in Place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00" b="1" dirty="0"/>
              <a:t>Encryption of data</a:t>
            </a:r>
            <a:r>
              <a:rPr lang="en-IN" sz="800" dirty="0"/>
              <a:t> : Yes, in Place, AES 256 + for data in rest and TLS 1.2/1.3  for Data in motion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00" b="1" dirty="0"/>
              <a:t>Audit Records </a:t>
            </a:r>
            <a:r>
              <a:rPr lang="en-IN" sz="800" dirty="0"/>
              <a:t>: Y, In place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00" b="1" dirty="0"/>
              <a:t>Cyber Recovery Vault : </a:t>
            </a:r>
            <a:r>
              <a:rPr lang="en-IN" sz="800" dirty="0"/>
              <a:t>Yes, in Place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D24BAE4-4A9C-C47D-5A85-4B0D4040A157}"/>
              </a:ext>
            </a:extLst>
          </p:cNvPr>
          <p:cNvSpPr txBox="1"/>
          <p:nvPr/>
        </p:nvSpPr>
        <p:spPr>
          <a:xfrm>
            <a:off x="3298408" y="316812"/>
            <a:ext cx="2664296" cy="27699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b="1">
                <a:solidFill>
                  <a:schemeClr val="bg1"/>
                </a:solidFill>
              </a:rPr>
              <a:t>PI Data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AE469B9-D356-8E00-89B2-1A6EB88302EB}"/>
              </a:ext>
            </a:extLst>
          </p:cNvPr>
          <p:cNvSpPr/>
          <p:nvPr/>
        </p:nvSpPr>
        <p:spPr>
          <a:xfrm>
            <a:off x="313436" y="305109"/>
            <a:ext cx="2846638" cy="19897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F811F1D-678A-E971-DA2A-BCB957EF8059}"/>
              </a:ext>
            </a:extLst>
          </p:cNvPr>
          <p:cNvSpPr txBox="1"/>
          <p:nvPr/>
        </p:nvSpPr>
        <p:spPr>
          <a:xfrm>
            <a:off x="367698" y="753654"/>
            <a:ext cx="2664296" cy="147732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Security Certifications :</a:t>
            </a:r>
            <a:r>
              <a:rPr lang="en-IN" sz="900" dirty="0"/>
              <a:t>ISO 27001, 27017, and 27018, SOC2 Type 2, SOC3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BitSight Score: </a:t>
            </a:r>
            <a:r>
              <a:rPr lang="en-IN" sz="900" dirty="0"/>
              <a:t>   Not Subscribed</a:t>
            </a:r>
            <a:endParaRPr lang="en-IN" sz="9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Cloud CSPM Score: </a:t>
            </a:r>
            <a:r>
              <a:rPr lang="en-IN" sz="900" dirty="0"/>
              <a:t>   Use Wiz. Report not shared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Last Security Audit Report observations: </a:t>
            </a:r>
            <a:r>
              <a:rPr lang="en-IN" sz="900" dirty="0"/>
              <a:t>Shared</a:t>
            </a:r>
            <a:r>
              <a:rPr lang="en-IN" sz="900" b="1" dirty="0"/>
              <a:t> </a:t>
            </a:r>
            <a:r>
              <a:rPr lang="en-IN" sz="900" dirty="0"/>
              <a:t> (Dated: Oct 24-Sep25) 1 Deviation reported in the report shared by EY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Cyber forensic capability</a:t>
            </a:r>
            <a:r>
              <a:rPr lang="en-IN" sz="900" dirty="0"/>
              <a:t>  : Yes, Available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Security Policy</a:t>
            </a:r>
            <a:r>
              <a:rPr lang="en-IN" sz="900" dirty="0"/>
              <a:t>:   Yes, Available</a:t>
            </a:r>
            <a:endParaRPr lang="en-IN" sz="900" b="1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77EB0F0-6601-E94E-EFC7-FEF1A02FC57A}"/>
              </a:ext>
            </a:extLst>
          </p:cNvPr>
          <p:cNvSpPr txBox="1"/>
          <p:nvPr/>
        </p:nvSpPr>
        <p:spPr>
          <a:xfrm>
            <a:off x="418088" y="332810"/>
            <a:ext cx="2664296" cy="276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b="1"/>
              <a:t>Security Posture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11E4BD63-062E-E822-4894-513AB1C38F77}"/>
              </a:ext>
            </a:extLst>
          </p:cNvPr>
          <p:cNvSpPr/>
          <p:nvPr/>
        </p:nvSpPr>
        <p:spPr>
          <a:xfrm>
            <a:off x="6221453" y="305111"/>
            <a:ext cx="2930756" cy="191981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DC9D851-0669-3737-0830-D60F34AAE9E8}"/>
              </a:ext>
            </a:extLst>
          </p:cNvPr>
          <p:cNvSpPr txBox="1"/>
          <p:nvPr/>
        </p:nvSpPr>
        <p:spPr>
          <a:xfrm>
            <a:off x="6270204" y="554945"/>
            <a:ext cx="2664296" cy="156966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00" b="1" dirty="0"/>
              <a:t>Endpoint protection: </a:t>
            </a:r>
            <a:r>
              <a:rPr lang="en-IN" sz="800" dirty="0"/>
              <a:t> Y, </a:t>
            </a:r>
            <a:r>
              <a:rPr lang="en-IN" sz="800" dirty="0" err="1"/>
              <a:t>Crowdstrike</a:t>
            </a:r>
            <a:endParaRPr lang="en-IN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00" b="1" dirty="0"/>
              <a:t>Cloud Securi</a:t>
            </a:r>
            <a:r>
              <a:rPr lang="en-IN" sz="800" dirty="0"/>
              <a:t>t</a:t>
            </a:r>
            <a:r>
              <a:rPr lang="en-IN" sz="800" b="1" dirty="0"/>
              <a:t>y</a:t>
            </a:r>
            <a:r>
              <a:rPr lang="en-IN" sz="800" dirty="0"/>
              <a:t> : Y, </a:t>
            </a:r>
            <a:r>
              <a:rPr lang="en-IN" sz="800" dirty="0" err="1"/>
              <a:t>Crowdstrike</a:t>
            </a:r>
            <a:endParaRPr lang="en-IN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00" b="1" dirty="0"/>
              <a:t>App Security</a:t>
            </a:r>
            <a:r>
              <a:rPr lang="en-IN" sz="800" dirty="0"/>
              <a:t>  : Y, UKG utilizes </a:t>
            </a:r>
            <a:r>
              <a:rPr lang="en-IN" sz="800" dirty="0" err="1"/>
              <a:t>BlackDuck</a:t>
            </a:r>
            <a:r>
              <a:rPr lang="en-IN" sz="800" dirty="0"/>
              <a:t> and </a:t>
            </a:r>
            <a:r>
              <a:rPr lang="en-IN" sz="800" dirty="0" err="1"/>
              <a:t>CheckMarx</a:t>
            </a:r>
            <a:r>
              <a:rPr lang="en-IN" sz="800" dirty="0"/>
              <a:t> for code scanning along with use of OWASP best practices.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00" b="1" dirty="0"/>
              <a:t>VAPT: </a:t>
            </a:r>
            <a:r>
              <a:rPr lang="en-IN" sz="800" dirty="0"/>
              <a:t>  No Critical /High open vulnerabilities. Report is for July 2025. </a:t>
            </a:r>
            <a:endParaRPr lang="en-IN" sz="800" b="1" dirty="0">
              <a:solidFill>
                <a:srgbClr val="FF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00" b="1" dirty="0"/>
              <a:t>Deception Tech:  N </a:t>
            </a:r>
            <a:r>
              <a:rPr lang="en-IN" sz="800" dirty="0"/>
              <a:t>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00" b="1" dirty="0"/>
              <a:t>PAM</a:t>
            </a:r>
            <a:r>
              <a:rPr lang="en-IN" sz="800" dirty="0"/>
              <a:t> : 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00" b="1" dirty="0"/>
              <a:t>WAF/ DDOS/Bot Protection</a:t>
            </a:r>
            <a:r>
              <a:rPr lang="en-IN" sz="800" dirty="0"/>
              <a:t> : Uses Google Armour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00" b="1" dirty="0"/>
              <a:t>SIEM</a:t>
            </a:r>
            <a:r>
              <a:rPr lang="en-IN" sz="800" dirty="0"/>
              <a:t> :  Yes. 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BB75593-85B0-D2F3-F80F-5EBCD06FFF64}"/>
              </a:ext>
            </a:extLst>
          </p:cNvPr>
          <p:cNvSpPr txBox="1"/>
          <p:nvPr/>
        </p:nvSpPr>
        <p:spPr>
          <a:xfrm>
            <a:off x="6329465" y="316812"/>
            <a:ext cx="2664296" cy="27699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b="1">
                <a:solidFill>
                  <a:schemeClr val="bg1"/>
                </a:solidFill>
              </a:rPr>
              <a:t>Security Tools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759E0983-BC8F-1BBC-390F-9D4E89250CAD}"/>
              </a:ext>
            </a:extLst>
          </p:cNvPr>
          <p:cNvSpPr/>
          <p:nvPr/>
        </p:nvSpPr>
        <p:spPr>
          <a:xfrm>
            <a:off x="9230924" y="317120"/>
            <a:ext cx="2880320" cy="190713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F08C361-1F1A-DB37-A739-36D817C456FC}"/>
              </a:ext>
            </a:extLst>
          </p:cNvPr>
          <p:cNvSpPr txBox="1"/>
          <p:nvPr/>
        </p:nvSpPr>
        <p:spPr>
          <a:xfrm>
            <a:off x="9338936" y="614809"/>
            <a:ext cx="2664296" cy="10618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bg1">
                    <a:lumMod val="95000"/>
                  </a:schemeClr>
                </a:solidFill>
              </a:rPr>
              <a:t>SOC Management</a:t>
            </a: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:   Have a Global SOC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bg1">
                    <a:lumMod val="95000"/>
                  </a:schemeClr>
                </a:solidFill>
              </a:rPr>
              <a:t>Dark Web Monitoring</a:t>
            </a: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:  Yes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bg1">
                    <a:lumMod val="95000"/>
                  </a:schemeClr>
                </a:solidFill>
              </a:rPr>
              <a:t>Attack Surface Mgt  :   Yes, In place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bg1">
                    <a:lumMod val="95000"/>
                  </a:schemeClr>
                </a:solidFill>
              </a:rPr>
              <a:t>Details of past breach: </a:t>
            </a: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  None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bg1">
                    <a:lumMod val="95000"/>
                  </a:schemeClr>
                </a:solidFill>
              </a:rPr>
              <a:t>#Security Engineers</a:t>
            </a: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:   Not Disclosed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Red Teams:  Yes, in place</a:t>
            </a:r>
            <a:endParaRPr lang="en-IN" sz="900" b="1" dirty="0">
              <a:solidFill>
                <a:schemeClr val="bg1">
                  <a:lumMod val="9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9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C5C0E77-598D-4907-D817-A74D5C761679}"/>
              </a:ext>
            </a:extLst>
          </p:cNvPr>
          <p:cNvSpPr txBox="1"/>
          <p:nvPr/>
        </p:nvSpPr>
        <p:spPr>
          <a:xfrm>
            <a:off x="9444935" y="2388599"/>
            <a:ext cx="21088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</a:rPr>
              <a:t>Security Management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5942E2F-5896-5D41-EDAF-D4356F3ED6B6}"/>
              </a:ext>
            </a:extLst>
          </p:cNvPr>
          <p:cNvSpPr txBox="1"/>
          <p:nvPr/>
        </p:nvSpPr>
        <p:spPr>
          <a:xfrm>
            <a:off x="9444934" y="346390"/>
            <a:ext cx="21088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>
                <a:solidFill>
                  <a:schemeClr val="bg1"/>
                </a:solidFill>
              </a:rPr>
              <a:t>Security Management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489B6F-533D-C362-AF3A-EFCC4EFD81DC}"/>
              </a:ext>
            </a:extLst>
          </p:cNvPr>
          <p:cNvSpPr/>
          <p:nvPr/>
        </p:nvSpPr>
        <p:spPr>
          <a:xfrm rot="16200000">
            <a:off x="-840382" y="1187666"/>
            <a:ext cx="1989722" cy="1992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UKG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101807-B6E5-3B2C-5418-EC091F485DA9}"/>
              </a:ext>
            </a:extLst>
          </p:cNvPr>
          <p:cNvSpPr/>
          <p:nvPr/>
        </p:nvSpPr>
        <p:spPr>
          <a:xfrm rot="16200000">
            <a:off x="-829165" y="3260397"/>
            <a:ext cx="1935683" cy="19208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Zoho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D509EFF-5F87-9B1F-1017-C6F9578F3BEF}"/>
              </a:ext>
            </a:extLst>
          </p:cNvPr>
          <p:cNvSpPr/>
          <p:nvPr/>
        </p:nvSpPr>
        <p:spPr>
          <a:xfrm>
            <a:off x="2664812" y="332705"/>
            <a:ext cx="382991" cy="36004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/>
              <a:t>M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10C49BA-2644-0CAA-6A98-19B45F4A5980}"/>
              </a:ext>
            </a:extLst>
          </p:cNvPr>
          <p:cNvSpPr/>
          <p:nvPr/>
        </p:nvSpPr>
        <p:spPr>
          <a:xfrm>
            <a:off x="5675192" y="352219"/>
            <a:ext cx="382991" cy="36004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H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AD4E8B7-7F14-7B63-6619-1430882F1008}"/>
              </a:ext>
            </a:extLst>
          </p:cNvPr>
          <p:cNvSpPr/>
          <p:nvPr/>
        </p:nvSpPr>
        <p:spPr>
          <a:xfrm>
            <a:off x="11726239" y="320258"/>
            <a:ext cx="382991" cy="36004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M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5FEF9F6-C656-B075-1302-9E39881D61AD}"/>
              </a:ext>
            </a:extLst>
          </p:cNvPr>
          <p:cNvSpPr/>
          <p:nvPr/>
        </p:nvSpPr>
        <p:spPr>
          <a:xfrm>
            <a:off x="8685329" y="323431"/>
            <a:ext cx="382991" cy="36004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/>
              <a:t>M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6532AD8-D5F8-7E1D-064D-472B59674C9E}"/>
              </a:ext>
            </a:extLst>
          </p:cNvPr>
          <p:cNvSpPr/>
          <p:nvPr/>
        </p:nvSpPr>
        <p:spPr>
          <a:xfrm>
            <a:off x="8658898" y="2299744"/>
            <a:ext cx="382991" cy="36004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H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3A03B78-11BB-7A1D-F7F8-7A7D0852DA63}"/>
              </a:ext>
            </a:extLst>
          </p:cNvPr>
          <p:cNvSpPr/>
          <p:nvPr/>
        </p:nvSpPr>
        <p:spPr>
          <a:xfrm>
            <a:off x="5594122" y="2385990"/>
            <a:ext cx="382991" cy="36004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/>
              <a:t>M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45E9A70-852D-0B66-5D1E-68157777C9B1}"/>
              </a:ext>
            </a:extLst>
          </p:cNvPr>
          <p:cNvSpPr/>
          <p:nvPr/>
        </p:nvSpPr>
        <p:spPr>
          <a:xfrm>
            <a:off x="11576337" y="2303554"/>
            <a:ext cx="382991" cy="36004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F629B6A-9E2B-3384-00BD-F21EAF9AFAED}"/>
              </a:ext>
            </a:extLst>
          </p:cNvPr>
          <p:cNvSpPr/>
          <p:nvPr/>
        </p:nvSpPr>
        <p:spPr>
          <a:xfrm>
            <a:off x="3257111" y="4395430"/>
            <a:ext cx="2806646" cy="184382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8A57568-DF0A-B382-944F-23B30F9DB849}"/>
              </a:ext>
            </a:extLst>
          </p:cNvPr>
          <p:cNvSpPr txBox="1"/>
          <p:nvPr/>
        </p:nvSpPr>
        <p:spPr>
          <a:xfrm>
            <a:off x="3257111" y="4646797"/>
            <a:ext cx="2664296" cy="147732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Will PI information be stored</a:t>
            </a:r>
            <a:r>
              <a:rPr lang="en-IN" sz="900" dirty="0"/>
              <a:t>:   </a:t>
            </a:r>
            <a:r>
              <a:rPr lang="en-IN" sz="900" b="1" dirty="0"/>
              <a:t> </a:t>
            </a:r>
            <a:r>
              <a:rPr lang="en-IN" sz="900" dirty="0"/>
              <a:t>Yes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Data Privacy Policy </a:t>
            </a:r>
            <a:r>
              <a:rPr lang="en-IN" sz="900" dirty="0"/>
              <a:t>Y: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Data Privacy Organization in place</a:t>
            </a:r>
            <a:r>
              <a:rPr lang="en-IN" sz="900" dirty="0"/>
              <a:t>:    Y, DPO in place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Encryption of data</a:t>
            </a:r>
            <a:r>
              <a:rPr lang="en-IN" sz="900" dirty="0"/>
              <a:t>  :  Y, AES-256K(for data in rest), AWS KMS (incl. backups). TLS 1.2( for data in motion)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Audit Records : </a:t>
            </a:r>
            <a:r>
              <a:rPr lang="en-IN" sz="900" dirty="0"/>
              <a:t> Yes, Auditing is in place and available for Air India in a dashboard.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Cyber Recovery Vault:</a:t>
            </a:r>
            <a:r>
              <a:rPr lang="en-IN" sz="900" dirty="0"/>
              <a:t>   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B7620AE-7C17-C803-20F4-62E55BDA2BEF}"/>
              </a:ext>
            </a:extLst>
          </p:cNvPr>
          <p:cNvSpPr txBox="1"/>
          <p:nvPr/>
        </p:nvSpPr>
        <p:spPr>
          <a:xfrm>
            <a:off x="3303191" y="4448928"/>
            <a:ext cx="2664296" cy="27699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b="1">
                <a:solidFill>
                  <a:schemeClr val="bg1"/>
                </a:solidFill>
              </a:rPr>
              <a:t>PI Data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D8EC765-4BF8-4EBA-CB2E-7CF609117E43}"/>
              </a:ext>
            </a:extLst>
          </p:cNvPr>
          <p:cNvSpPr/>
          <p:nvPr/>
        </p:nvSpPr>
        <p:spPr>
          <a:xfrm>
            <a:off x="313436" y="4379572"/>
            <a:ext cx="2846638" cy="18596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28B5B17-6198-B69A-58A4-3422C75C9AA9}"/>
              </a:ext>
            </a:extLst>
          </p:cNvPr>
          <p:cNvSpPr txBox="1"/>
          <p:nvPr/>
        </p:nvSpPr>
        <p:spPr>
          <a:xfrm>
            <a:off x="427043" y="4775314"/>
            <a:ext cx="2664296" cy="106182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Security Certifications: </a:t>
            </a:r>
            <a:r>
              <a:rPr lang="en-IN" sz="900" dirty="0"/>
              <a:t>    ISO 27001:2022; SOC 2 Type II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BitSight Score: </a:t>
            </a:r>
            <a:r>
              <a:rPr lang="en-IN" sz="900" dirty="0"/>
              <a:t>  N</a:t>
            </a:r>
            <a:endParaRPr lang="en-IN" sz="9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Cloud CSPM Score:</a:t>
            </a:r>
            <a:r>
              <a:rPr lang="en-IN" sz="900" dirty="0"/>
              <a:t> Not provided</a:t>
            </a:r>
            <a:r>
              <a:rPr lang="en-IN" sz="900" b="1" dirty="0"/>
              <a:t> </a:t>
            </a:r>
            <a:r>
              <a:rPr lang="en-IN" sz="9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Last Security Audit Report observations: </a:t>
            </a:r>
            <a:r>
              <a:rPr lang="en-IN" sz="900" dirty="0"/>
              <a:t> . </a:t>
            </a:r>
            <a:endParaRPr lang="en-IN" sz="9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Cyber forensic capability</a:t>
            </a:r>
            <a:r>
              <a:rPr lang="en-IN" sz="900" dirty="0"/>
              <a:t>:     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/>
              <a:t>Security Policy</a:t>
            </a:r>
            <a:r>
              <a:rPr lang="en-IN" sz="900" dirty="0"/>
              <a:t>:    Y </a:t>
            </a:r>
            <a:endParaRPr lang="en-IN" sz="9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64C3284-AE2D-4738-69D2-0A4397AA1929}"/>
              </a:ext>
            </a:extLst>
          </p:cNvPr>
          <p:cNvSpPr txBox="1"/>
          <p:nvPr/>
        </p:nvSpPr>
        <p:spPr>
          <a:xfrm>
            <a:off x="418088" y="4370413"/>
            <a:ext cx="2664296" cy="276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/>
              <a:t>Security Posture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04AB3FB-3FEE-7B6B-0C2D-B81D811063DD}"/>
              </a:ext>
            </a:extLst>
          </p:cNvPr>
          <p:cNvSpPr txBox="1"/>
          <p:nvPr/>
        </p:nvSpPr>
        <p:spPr>
          <a:xfrm>
            <a:off x="6322782" y="4868787"/>
            <a:ext cx="2664296" cy="120032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00" b="1" dirty="0"/>
              <a:t>Endpoint protection: N </a:t>
            </a:r>
            <a:endParaRPr lang="en-IN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00" b="1" dirty="0"/>
              <a:t>Cloud Securi</a:t>
            </a:r>
            <a:r>
              <a:rPr lang="en-IN" sz="800" dirty="0"/>
              <a:t>t</a:t>
            </a:r>
            <a:r>
              <a:rPr lang="en-IN" sz="800" b="1" dirty="0"/>
              <a:t>y</a:t>
            </a:r>
            <a:r>
              <a:rPr lang="en-IN" sz="800" dirty="0"/>
              <a:t> :   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00" b="1" dirty="0"/>
              <a:t>App Security</a:t>
            </a:r>
            <a:r>
              <a:rPr lang="en-IN" sz="800" dirty="0"/>
              <a:t> :OWASP-aligned SDLC, code reviews, annual </a:t>
            </a:r>
            <a:r>
              <a:rPr lang="en-IN" sz="800" dirty="0" err="1"/>
              <a:t>pentest</a:t>
            </a:r>
            <a:r>
              <a:rPr lang="en-IN" sz="800" dirty="0"/>
              <a:t>. No SAST and DAST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00" b="1" dirty="0"/>
              <a:t>VAPT: </a:t>
            </a:r>
            <a:r>
              <a:rPr lang="en-IN" sz="800" dirty="0"/>
              <a:t>  VAPT was not submitted??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00" b="1" dirty="0"/>
              <a:t>Deception Tech :Y </a:t>
            </a:r>
            <a:r>
              <a:rPr lang="en-IN" sz="8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00" b="1" dirty="0"/>
              <a:t>PAM</a:t>
            </a:r>
            <a:r>
              <a:rPr lang="en-IN" sz="800" dirty="0"/>
              <a:t> :N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00" b="1" dirty="0"/>
              <a:t>WAF/ DDOS/Bot Protection</a:t>
            </a:r>
            <a:r>
              <a:rPr lang="en-IN" sz="800" dirty="0"/>
              <a:t> :  Y, AWS WAF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00" b="1" dirty="0"/>
              <a:t>SIEM</a:t>
            </a:r>
            <a:r>
              <a:rPr lang="en-IN" sz="800" dirty="0"/>
              <a:t> :   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E636719-1D3B-D2DE-6B3B-C6F98D6A0680}"/>
              </a:ext>
            </a:extLst>
          </p:cNvPr>
          <p:cNvSpPr txBox="1"/>
          <p:nvPr/>
        </p:nvSpPr>
        <p:spPr>
          <a:xfrm>
            <a:off x="6320793" y="4575668"/>
            <a:ext cx="2664296" cy="27699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chemeClr val="bg1"/>
                </a:solidFill>
              </a:rPr>
              <a:t>Security Tools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EC311A3-A8F8-2A1D-1186-F8CC63506620}"/>
              </a:ext>
            </a:extLst>
          </p:cNvPr>
          <p:cNvSpPr txBox="1"/>
          <p:nvPr/>
        </p:nvSpPr>
        <p:spPr>
          <a:xfrm>
            <a:off x="9444935" y="4382181"/>
            <a:ext cx="21088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</a:rPr>
              <a:t>Security Management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ED57B7B-5C73-A6F5-B42F-8B62DBA50317}"/>
              </a:ext>
            </a:extLst>
          </p:cNvPr>
          <p:cNvSpPr/>
          <p:nvPr/>
        </p:nvSpPr>
        <p:spPr>
          <a:xfrm rot="16200000">
            <a:off x="-786269" y="5211084"/>
            <a:ext cx="1857070" cy="19926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TrueIn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46C79D5E-BCC2-CB5B-27D6-4C34E6B8716E}"/>
              </a:ext>
            </a:extLst>
          </p:cNvPr>
          <p:cNvSpPr/>
          <p:nvPr/>
        </p:nvSpPr>
        <p:spPr>
          <a:xfrm>
            <a:off x="5641930" y="4428567"/>
            <a:ext cx="382991" cy="36004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/>
              <a:t>M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D590DCC-7A57-86E3-556A-04F4BC4350B0}"/>
              </a:ext>
            </a:extLst>
          </p:cNvPr>
          <p:cNvSpPr/>
          <p:nvPr/>
        </p:nvSpPr>
        <p:spPr>
          <a:xfrm>
            <a:off x="9269045" y="4379572"/>
            <a:ext cx="2880320" cy="19082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EA699C5-AC96-9B6F-2D5C-C54EED2822B5}"/>
              </a:ext>
            </a:extLst>
          </p:cNvPr>
          <p:cNvSpPr txBox="1"/>
          <p:nvPr/>
        </p:nvSpPr>
        <p:spPr>
          <a:xfrm>
            <a:off x="9370990" y="4755471"/>
            <a:ext cx="2355249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bg1">
                    <a:lumMod val="95000"/>
                  </a:schemeClr>
                </a:solidFill>
              </a:rPr>
              <a:t>SOC Management</a:t>
            </a: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:  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bg1">
                    <a:lumMod val="95000"/>
                  </a:schemeClr>
                </a:solidFill>
              </a:rPr>
              <a:t>Dark Web Monitoring</a:t>
            </a: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:   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bg1">
                    <a:lumMod val="95000"/>
                  </a:schemeClr>
                </a:solidFill>
              </a:rPr>
              <a:t>Details of past breach: None</a:t>
            </a: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 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bg1">
                    <a:lumMod val="95000"/>
                  </a:schemeClr>
                </a:solidFill>
              </a:rPr>
              <a:t>#Security Engineers:2</a:t>
            </a:r>
            <a:endParaRPr lang="en-IN" sz="900" dirty="0">
              <a:solidFill>
                <a:schemeClr val="bg1">
                  <a:lumMod val="9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bg1">
                    <a:lumMod val="95000"/>
                  </a:schemeClr>
                </a:solidFill>
              </a:rPr>
              <a:t>Red Teams</a:t>
            </a:r>
            <a:r>
              <a:rPr lang="en-IN" sz="900" dirty="0">
                <a:solidFill>
                  <a:schemeClr val="bg1">
                    <a:lumMod val="95000"/>
                  </a:schemeClr>
                </a:solidFill>
              </a:rPr>
              <a:t>:   N. VAPT is done externally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900" dirty="0">
              <a:solidFill>
                <a:schemeClr val="bg1">
                  <a:lumMod val="9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9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F97F6EE-4F61-3F2E-A8F4-5177470C3CB8}"/>
              </a:ext>
            </a:extLst>
          </p:cNvPr>
          <p:cNvSpPr txBox="1"/>
          <p:nvPr/>
        </p:nvSpPr>
        <p:spPr>
          <a:xfrm>
            <a:off x="9490954" y="4499040"/>
            <a:ext cx="21088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</a:rPr>
              <a:t>Security Management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D6292F2-3CC5-1CAD-DE2B-D662D049A7ED}"/>
              </a:ext>
            </a:extLst>
          </p:cNvPr>
          <p:cNvSpPr/>
          <p:nvPr/>
        </p:nvSpPr>
        <p:spPr>
          <a:xfrm>
            <a:off x="2687358" y="4395431"/>
            <a:ext cx="382991" cy="36004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/>
              <a:t>M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65B86B51-0DA9-41D8-67ED-C1D2EC16E212}"/>
              </a:ext>
            </a:extLst>
          </p:cNvPr>
          <p:cNvSpPr/>
          <p:nvPr/>
        </p:nvSpPr>
        <p:spPr>
          <a:xfrm>
            <a:off x="8743004" y="4446735"/>
            <a:ext cx="382991" cy="3600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L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200DF5C4-5FEF-7D9E-E64A-21FAB50BEDA8}"/>
              </a:ext>
            </a:extLst>
          </p:cNvPr>
          <p:cNvSpPr/>
          <p:nvPr/>
        </p:nvSpPr>
        <p:spPr>
          <a:xfrm>
            <a:off x="11693467" y="4428567"/>
            <a:ext cx="382991" cy="3600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L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9A36AACD-6FAC-2AEC-4744-527EE03446BD}"/>
              </a:ext>
            </a:extLst>
          </p:cNvPr>
          <p:cNvSpPr/>
          <p:nvPr/>
        </p:nvSpPr>
        <p:spPr>
          <a:xfrm>
            <a:off x="2691750" y="2388441"/>
            <a:ext cx="382991" cy="36004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/>
              <a:t>M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934F0557-0CBE-643A-D989-DEFD1F200A88}"/>
              </a:ext>
            </a:extLst>
          </p:cNvPr>
          <p:cNvSpPr/>
          <p:nvPr/>
        </p:nvSpPr>
        <p:spPr>
          <a:xfrm>
            <a:off x="7453810" y="6453336"/>
            <a:ext cx="382991" cy="36004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/>
              <a:t>H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917DD521-EF0C-C8D7-8ED1-F92146A30731}"/>
              </a:ext>
            </a:extLst>
          </p:cNvPr>
          <p:cNvSpPr/>
          <p:nvPr/>
        </p:nvSpPr>
        <p:spPr>
          <a:xfrm>
            <a:off x="9552384" y="6453336"/>
            <a:ext cx="382991" cy="3600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/>
              <a:t>L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57E80D9-7504-9FC1-02DC-4FA8339244D3}"/>
              </a:ext>
            </a:extLst>
          </p:cNvPr>
          <p:cNvSpPr txBox="1"/>
          <p:nvPr/>
        </p:nvSpPr>
        <p:spPr>
          <a:xfrm>
            <a:off x="7823390" y="6453336"/>
            <a:ext cx="5886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/>
              <a:t>High</a:t>
            </a:r>
          </a:p>
          <a:p>
            <a:r>
              <a:rPr lang="en-IN" sz="1100" dirty="0"/>
              <a:t>(8-10)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761FCF7-4EF5-E53F-B848-DEB8E1C7A16F}"/>
              </a:ext>
            </a:extLst>
          </p:cNvPr>
          <p:cNvSpPr txBox="1"/>
          <p:nvPr/>
        </p:nvSpPr>
        <p:spPr>
          <a:xfrm>
            <a:off x="8805032" y="6459993"/>
            <a:ext cx="6928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/>
              <a:t>Medium</a:t>
            </a:r>
          </a:p>
          <a:p>
            <a:r>
              <a:rPr lang="en-IN" sz="1100" dirty="0"/>
              <a:t>(5-7)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912EC36-55F5-9FF9-D04E-0124F3D0AC2B}"/>
              </a:ext>
            </a:extLst>
          </p:cNvPr>
          <p:cNvSpPr txBox="1"/>
          <p:nvPr/>
        </p:nvSpPr>
        <p:spPr>
          <a:xfrm>
            <a:off x="9995714" y="6451770"/>
            <a:ext cx="5036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/>
              <a:t>Low</a:t>
            </a:r>
          </a:p>
          <a:p>
            <a:r>
              <a:rPr lang="en-IN" sz="1100" dirty="0"/>
              <a:t>(0-4)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02D2C126-E3F5-7030-D7C9-CA27DA1F7E79}"/>
              </a:ext>
            </a:extLst>
          </p:cNvPr>
          <p:cNvSpPr/>
          <p:nvPr/>
        </p:nvSpPr>
        <p:spPr>
          <a:xfrm>
            <a:off x="8460494" y="6453336"/>
            <a:ext cx="382991" cy="36004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M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AA9669F-4745-0B35-B588-66D287A96884}"/>
              </a:ext>
            </a:extLst>
          </p:cNvPr>
          <p:cNvSpPr txBox="1"/>
          <p:nvPr/>
        </p:nvSpPr>
        <p:spPr>
          <a:xfrm>
            <a:off x="6194663" y="6510228"/>
            <a:ext cx="1207382" cy="251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Maturity levels</a:t>
            </a:r>
          </a:p>
        </p:txBody>
      </p:sp>
    </p:spTree>
    <p:extLst>
      <p:ext uri="{BB962C8B-B14F-4D97-AF65-F5344CB8AC3E}">
        <p14:creationId xmlns:p14="http://schemas.microsoft.com/office/powerpoint/2010/main" val="1755322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F423C-4C44-2AAE-0022-76898B391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Comparison summary</a:t>
            </a:r>
          </a:p>
        </p:txBody>
      </p:sp>
    </p:spTree>
    <p:extLst>
      <p:ext uri="{BB962C8B-B14F-4D97-AF65-F5344CB8AC3E}">
        <p14:creationId xmlns:p14="http://schemas.microsoft.com/office/powerpoint/2010/main" val="869562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ADD053-CB17-FB1E-287B-CA18AC006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1A254-7326-714E-AF55-4C213D6394DE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22270E-C4C0-D8AB-B600-9CA0ECB252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074929"/>
              </p:ext>
            </p:extLst>
          </p:nvPr>
        </p:nvGraphicFramePr>
        <p:xfrm>
          <a:off x="46923" y="494617"/>
          <a:ext cx="12098154" cy="60862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1544">
                  <a:extLst>
                    <a:ext uri="{9D8B030D-6E8A-4147-A177-3AD203B41FA5}">
                      <a16:colId xmlns:a16="http://schemas.microsoft.com/office/drawing/2014/main" val="1198878134"/>
                    </a:ext>
                  </a:extLst>
                </a:gridCol>
                <a:gridCol w="1041818">
                  <a:extLst>
                    <a:ext uri="{9D8B030D-6E8A-4147-A177-3AD203B41FA5}">
                      <a16:colId xmlns:a16="http://schemas.microsoft.com/office/drawing/2014/main" val="2343057501"/>
                    </a:ext>
                  </a:extLst>
                </a:gridCol>
                <a:gridCol w="627321">
                  <a:extLst>
                    <a:ext uri="{9D8B030D-6E8A-4147-A177-3AD203B41FA5}">
                      <a16:colId xmlns:a16="http://schemas.microsoft.com/office/drawing/2014/main" val="2253398382"/>
                    </a:ext>
                  </a:extLst>
                </a:gridCol>
                <a:gridCol w="1254642">
                  <a:extLst>
                    <a:ext uri="{9D8B030D-6E8A-4147-A177-3AD203B41FA5}">
                      <a16:colId xmlns:a16="http://schemas.microsoft.com/office/drawing/2014/main" val="3444462414"/>
                    </a:ext>
                  </a:extLst>
                </a:gridCol>
                <a:gridCol w="831873">
                  <a:extLst>
                    <a:ext uri="{9D8B030D-6E8A-4147-A177-3AD203B41FA5}">
                      <a16:colId xmlns:a16="http://schemas.microsoft.com/office/drawing/2014/main" val="748453286"/>
                    </a:ext>
                  </a:extLst>
                </a:gridCol>
                <a:gridCol w="958187">
                  <a:extLst>
                    <a:ext uri="{9D8B030D-6E8A-4147-A177-3AD203B41FA5}">
                      <a16:colId xmlns:a16="http://schemas.microsoft.com/office/drawing/2014/main" val="4132407367"/>
                    </a:ext>
                  </a:extLst>
                </a:gridCol>
                <a:gridCol w="823331">
                  <a:extLst>
                    <a:ext uri="{9D8B030D-6E8A-4147-A177-3AD203B41FA5}">
                      <a16:colId xmlns:a16="http://schemas.microsoft.com/office/drawing/2014/main" val="4056445152"/>
                    </a:ext>
                  </a:extLst>
                </a:gridCol>
                <a:gridCol w="1161167">
                  <a:extLst>
                    <a:ext uri="{9D8B030D-6E8A-4147-A177-3AD203B41FA5}">
                      <a16:colId xmlns:a16="http://schemas.microsoft.com/office/drawing/2014/main" val="3197772136"/>
                    </a:ext>
                  </a:extLst>
                </a:gridCol>
                <a:gridCol w="2548271">
                  <a:extLst>
                    <a:ext uri="{9D8B030D-6E8A-4147-A177-3AD203B41FA5}">
                      <a16:colId xmlns:a16="http://schemas.microsoft.com/office/drawing/2014/main" val="2664261636"/>
                    </a:ext>
                  </a:extLst>
                </a:gridCol>
              </a:tblGrid>
              <a:tr h="348953">
                <a:tc rowSpan="2">
                  <a:txBody>
                    <a:bodyPr/>
                    <a:lstStyle/>
                    <a:p>
                      <a:pPr algn="ctr"/>
                      <a:endParaRPr lang="en-IN" sz="1200" b="1" dirty="0">
                        <a:solidFill>
                          <a:schemeClr val="bg1"/>
                        </a:solidFill>
                        <a:latin typeface="Concourse T3" pitchFamily="50" charset="0"/>
                      </a:endParaRPr>
                    </a:p>
                  </a:txBody>
                  <a:tcPr marL="100584" marR="10058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  Vendor Comparison Summary</a:t>
                      </a: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4377695"/>
                  </a:ext>
                </a:extLst>
              </a:tr>
              <a:tr h="36100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b="1" i="0" dirty="0">
                        <a:solidFill>
                          <a:schemeClr val="bg1"/>
                        </a:solidFill>
                        <a:latin typeface="Concourse T3" pitchFamily="50" charset="0"/>
                      </a:endParaRPr>
                    </a:p>
                  </a:txBody>
                  <a:tcPr marL="100584" marR="10058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Concourse T3" pitchFamily="50" charset="0"/>
                        </a:rPr>
                        <a:t>UKG</a:t>
                      </a:r>
                    </a:p>
                  </a:txBody>
                  <a:tcPr marL="100584" marR="10058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400" b="1" i="0" dirty="0">
                        <a:solidFill>
                          <a:schemeClr val="bg1"/>
                        </a:solidFill>
                        <a:latin typeface="Concourse T3" pitchFamily="50" charset="0"/>
                      </a:endParaRPr>
                    </a:p>
                  </a:txBody>
                  <a:tcPr marL="100584" marR="10058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Zoho</a:t>
                      </a: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1" i="0" kern="1200" dirty="0">
                        <a:solidFill>
                          <a:schemeClr val="tx1"/>
                        </a:solidFill>
                        <a:latin typeface="Concourse T3" pitchFamily="50" charset="0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1200" b="1" i="0" kern="1200" dirty="0">
                          <a:solidFill>
                            <a:schemeClr val="bg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TrueIn</a:t>
                      </a: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1400" b="1" i="0" kern="1200" dirty="0">
                        <a:solidFill>
                          <a:schemeClr val="bg1"/>
                        </a:solidFill>
                        <a:latin typeface="Concourse T3" pitchFamily="50" charset="0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dirty="0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939834241"/>
                  </a:ext>
                </a:extLst>
              </a:tr>
              <a:tr h="361009">
                <a:tc>
                  <a:txBody>
                    <a:bodyPr/>
                    <a:lstStyle/>
                    <a:p>
                      <a:pPr algn="ctr"/>
                      <a:r>
                        <a:rPr lang="en-IN" sz="1200" b="1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Feature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Weightage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Score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Weighted Score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Score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Weighted Score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Score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Weighted Score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Comments &amp; Observations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063612"/>
                  </a:ext>
                </a:extLst>
              </a:tr>
              <a:tr h="310974">
                <a:tc>
                  <a:txBody>
                    <a:bodyPr/>
                    <a:lstStyle/>
                    <a:p>
                      <a:pPr algn="l"/>
                      <a:r>
                        <a:rPr lang="en-IN" sz="1200" b="1" dirty="0">
                          <a:solidFill>
                            <a:schemeClr val="bg1"/>
                          </a:solidFill>
                        </a:rPr>
                        <a:t>Functional DD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2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2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8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2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6.5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6.5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000" b="0" i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413077"/>
                  </a:ext>
                </a:extLst>
              </a:tr>
              <a:tr h="310974">
                <a:tc>
                  <a:txBody>
                    <a:bodyPr/>
                    <a:lstStyle/>
                    <a:p>
                      <a:pPr algn="l"/>
                      <a:r>
                        <a:rPr lang="en-IN" sz="1200" b="1">
                          <a:solidFill>
                            <a:schemeClr val="bg1"/>
                          </a:solidFill>
                          <a:latin typeface="Concourse T3" pitchFamily="50" charset="0"/>
                        </a:rPr>
                        <a:t>HA &amp; DR Capabilities</a:t>
                      </a:r>
                      <a:r>
                        <a:rPr lang="en-IN" sz="1200" b="1" kern="1200">
                          <a:solidFill>
                            <a:schemeClr val="bg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 </a:t>
                      </a:r>
                      <a:endParaRPr lang="en-IN" sz="1200" b="1">
                        <a:solidFill>
                          <a:schemeClr val="bg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1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6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6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9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9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5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5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000" b="0" i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UKG and TrueIN have higher RTO/RPO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1764430"/>
                  </a:ext>
                </a:extLst>
              </a:tr>
              <a:tr h="310974">
                <a:tc>
                  <a:txBody>
                    <a:bodyPr/>
                    <a:lstStyle/>
                    <a:p>
                      <a:pPr algn="l"/>
                      <a:r>
                        <a:rPr lang="en-IN" sz="1200" b="1" kern="1200" dirty="0">
                          <a:solidFill>
                            <a:schemeClr val="bg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Tech Stack &amp; Architecture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2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2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2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5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000" b="0" i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UKG has microservices based arch. Others are monolithic.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277563"/>
                  </a:ext>
                </a:extLst>
              </a:tr>
              <a:tr h="354993">
                <a:tc>
                  <a:txBody>
                    <a:bodyPr/>
                    <a:lstStyle/>
                    <a:p>
                      <a:pPr algn="l"/>
                      <a:r>
                        <a:rPr lang="en-IN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Interfaces &amp; Integrations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7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 5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5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5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5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000" b="0" i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UKG has connectors + limited support for event based messaging for certain cases. Others don’t have that also.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745069"/>
                  </a:ext>
                </a:extLst>
              </a:tr>
              <a:tr h="310974">
                <a:tc>
                  <a:txBody>
                    <a:bodyPr/>
                    <a:lstStyle/>
                    <a:p>
                      <a:pPr algn="l"/>
                      <a:r>
                        <a:rPr lang="en-IN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Hosting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1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sz="1200" b="0" i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9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7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000" b="0" i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UKG has a good monitoring/Observability with a good mix of native and third party tooling.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065757"/>
                  </a:ext>
                </a:extLst>
              </a:tr>
              <a:tr h="373842">
                <a:tc>
                  <a:txBody>
                    <a:bodyPr/>
                    <a:lstStyle/>
                    <a:p>
                      <a:pPr algn="l"/>
                      <a:r>
                        <a:rPr lang="en-IN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Service Management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1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sz="1200" b="0" i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9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 7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7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6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6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000" b="0" i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UKG has best SLAs. 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532338"/>
                  </a:ext>
                </a:extLst>
              </a:tr>
              <a:tr h="373842">
                <a:tc>
                  <a:txBody>
                    <a:bodyPr/>
                    <a:lstStyle/>
                    <a:p>
                      <a:pPr algn="l"/>
                      <a:r>
                        <a:rPr lang="en-IN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Implementation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1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5</a:t>
                      </a:r>
                      <a:endParaRPr lang="en-IN" sz="1200" b="0" i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5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6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000" b="0" i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Zoho has least implementation timelines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034205"/>
                  </a:ext>
                </a:extLst>
              </a:tr>
              <a:tr h="373842">
                <a:tc>
                  <a:txBody>
                    <a:bodyPr/>
                    <a:lstStyle/>
                    <a:p>
                      <a:pPr algn="l"/>
                      <a:r>
                        <a:rPr lang="en-IN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SLAs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1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7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7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8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8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6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6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000" b="0" i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Zoho has best Availability SLAs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365587"/>
                  </a:ext>
                </a:extLst>
              </a:tr>
              <a:tr h="373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Security Posture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1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 7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7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000" b="0" i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UKG has higher certifications and better tooling. Zoho has not shared </a:t>
                      </a:r>
                      <a:r>
                        <a:rPr lang="en-IN" sz="1000" b="0" i="0" kern="1200" dirty="0" err="1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Bitsight</a:t>
                      </a:r>
                      <a:r>
                        <a:rPr lang="en-IN" sz="1000" b="0" i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237806"/>
                  </a:ext>
                </a:extLst>
              </a:tr>
              <a:tr h="373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PI Data Management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1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8</a:t>
                      </a:r>
                      <a:endParaRPr lang="en-IN" sz="1200" b="0" i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8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7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7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5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5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000" b="0" i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UKG has all PII controls in place. Zoho/</a:t>
                      </a:r>
                      <a:r>
                        <a:rPr lang="en-IN" sz="1000" b="0" i="0" kern="1200" dirty="0" err="1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Truein</a:t>
                      </a:r>
                      <a:r>
                        <a:rPr lang="en-IN" sz="1000" b="0" i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  has not setup a cyber recovery vault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571067"/>
                  </a:ext>
                </a:extLst>
              </a:tr>
              <a:tr h="373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Security Tools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1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7</a:t>
                      </a:r>
                      <a:endParaRPr lang="en-IN" sz="1200" b="0" i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7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9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82982" marR="82982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000" b="1" i="0" kern="1200" dirty="0">
                          <a:solidFill>
                            <a:srgbClr val="FF0000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TrueIn does not have SIEM solution.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465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Security Management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1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kern="100" dirty="0">
                          <a:effectLst/>
                          <a:latin typeface="Concourse T3" pitchFamily="50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7</a:t>
                      </a:r>
                      <a:endParaRPr lang="en-IN" sz="1200" b="0" i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7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9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9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3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3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000" b="1" i="0" kern="1200" dirty="0" err="1">
                          <a:solidFill>
                            <a:srgbClr val="FF0000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Truein</a:t>
                      </a:r>
                      <a:r>
                        <a:rPr lang="en-IN" sz="1000" b="1" i="0" kern="1200" dirty="0">
                          <a:solidFill>
                            <a:srgbClr val="FF0000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 has poor sec management due to missing SOC and very low security engineers count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962571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28AC21D-646E-6CDD-B14C-29D34ABADBFB}"/>
              </a:ext>
            </a:extLst>
          </p:cNvPr>
          <p:cNvSpPr txBox="1"/>
          <p:nvPr/>
        </p:nvSpPr>
        <p:spPr>
          <a:xfrm>
            <a:off x="303257" y="6465828"/>
            <a:ext cx="2600392" cy="369332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Total Score: (Max 120) 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BBF79ECE-5A12-45C1-3C99-214936756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060" y="68617"/>
            <a:ext cx="10977880" cy="358280"/>
          </a:xfrm>
        </p:spPr>
        <p:txBody>
          <a:bodyPr>
            <a:normAutofit fontScale="90000"/>
          </a:bodyPr>
          <a:lstStyle/>
          <a:p>
            <a:r>
              <a:rPr lang="en-IN" dirty="0"/>
              <a:t>Comparison Summary – Tech DD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AB0FB1-E704-C4D1-8DB5-B4B7A55D5C31}"/>
              </a:ext>
            </a:extLst>
          </p:cNvPr>
          <p:cNvSpPr txBox="1"/>
          <p:nvPr/>
        </p:nvSpPr>
        <p:spPr>
          <a:xfrm>
            <a:off x="4757290" y="6478129"/>
            <a:ext cx="460382" cy="369332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87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545449-81DD-FA87-BBDC-5D3D60C04294}"/>
              </a:ext>
            </a:extLst>
          </p:cNvPr>
          <p:cNvSpPr txBox="1"/>
          <p:nvPr/>
        </p:nvSpPr>
        <p:spPr>
          <a:xfrm>
            <a:off x="6948670" y="6499270"/>
            <a:ext cx="651140" cy="369332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76.5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AEA808-C921-6D4D-1A3E-380F140A932E}"/>
              </a:ext>
            </a:extLst>
          </p:cNvPr>
          <p:cNvSpPr txBox="1"/>
          <p:nvPr/>
        </p:nvSpPr>
        <p:spPr>
          <a:xfrm>
            <a:off x="8566233" y="6505896"/>
            <a:ext cx="460382" cy="369332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15827602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206788-C4E1-F546-D44C-B99D91F05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1A254-7326-714E-AF55-4C213D6394DE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ED6309-7366-2AA4-46B3-FFC54CB8D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060" y="150421"/>
            <a:ext cx="10977880" cy="914400"/>
          </a:xfrm>
        </p:spPr>
        <p:txBody>
          <a:bodyPr/>
          <a:lstStyle/>
          <a:p>
            <a:r>
              <a:rPr lang="en-US"/>
              <a:t>Overall Comments (Pros &amp; Cons)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EDDB18A-0EEC-37F6-076A-C4ED22719B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600052"/>
              </p:ext>
            </p:extLst>
          </p:nvPr>
        </p:nvGraphicFramePr>
        <p:xfrm>
          <a:off x="209555" y="893494"/>
          <a:ext cx="11595101" cy="5599381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039833">
                  <a:extLst>
                    <a:ext uri="{9D8B030D-6E8A-4147-A177-3AD203B41FA5}">
                      <a16:colId xmlns:a16="http://schemas.microsoft.com/office/drawing/2014/main" val="1474221970"/>
                    </a:ext>
                  </a:extLst>
                </a:gridCol>
                <a:gridCol w="1825200">
                  <a:extLst>
                    <a:ext uri="{9D8B030D-6E8A-4147-A177-3AD203B41FA5}">
                      <a16:colId xmlns:a16="http://schemas.microsoft.com/office/drawing/2014/main" val="2933482349"/>
                    </a:ext>
                  </a:extLst>
                </a:gridCol>
                <a:gridCol w="1932517">
                  <a:extLst>
                    <a:ext uri="{9D8B030D-6E8A-4147-A177-3AD203B41FA5}">
                      <a16:colId xmlns:a16="http://schemas.microsoft.com/office/drawing/2014/main" val="251782124"/>
                    </a:ext>
                  </a:extLst>
                </a:gridCol>
                <a:gridCol w="1932517">
                  <a:extLst>
                    <a:ext uri="{9D8B030D-6E8A-4147-A177-3AD203B41FA5}">
                      <a16:colId xmlns:a16="http://schemas.microsoft.com/office/drawing/2014/main" val="4263709165"/>
                    </a:ext>
                  </a:extLst>
                </a:gridCol>
                <a:gridCol w="1932517">
                  <a:extLst>
                    <a:ext uri="{9D8B030D-6E8A-4147-A177-3AD203B41FA5}">
                      <a16:colId xmlns:a16="http://schemas.microsoft.com/office/drawing/2014/main" val="2834285797"/>
                    </a:ext>
                  </a:extLst>
                </a:gridCol>
                <a:gridCol w="1932517">
                  <a:extLst>
                    <a:ext uri="{9D8B030D-6E8A-4147-A177-3AD203B41FA5}">
                      <a16:colId xmlns:a16="http://schemas.microsoft.com/office/drawing/2014/main" val="2781114665"/>
                    </a:ext>
                  </a:extLst>
                </a:gridCol>
              </a:tblGrid>
              <a:tr h="344627">
                <a:tc gridSpan="2">
                  <a:txBody>
                    <a:bodyPr/>
                    <a:lstStyle/>
                    <a:p>
                      <a:r>
                        <a:rPr lang="en-US" dirty="0"/>
                        <a:t>UKG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Zoho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TrueIn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3047449"/>
                  </a:ext>
                </a:extLst>
              </a:tr>
              <a:tr h="349414">
                <a:tc>
                  <a:txBody>
                    <a:bodyPr/>
                    <a:lstStyle/>
                    <a:p>
                      <a:r>
                        <a:rPr lang="en-US"/>
                        <a:t>Pros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439222"/>
                  </a:ext>
                </a:extLst>
              </a:tr>
              <a:tr h="486786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/>
                        <a:t>Robust Functional Features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/>
                        <a:t>Decent Security tooling &amp; posture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/>
                        <a:t>Decent PII data management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/>
                        <a:t>Decent Security practices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/>
                        <a:t>Redundancy at all levels (intra Zone/Inter Zone)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/>
                        <a:t>Regional  DR  at 100% capacity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/>
                        <a:t>API ecosystem along with Event based mechanism for some Core HR Features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/>
                        <a:t>Modern technical stack using microservices, Kubernetes and containers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/>
                        <a:t>Global SOC monitoring using Modern SIEM solution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/>
                        <a:t>Robust Infra, APM , Cloud and Database monitoring in place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/>
                        <a:t>Best ITSM SLAs among all the vendors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/>
                        <a:t>Mobile App with web app available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900" b="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Limited support for Event based mechanisms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is stored in overseas GCP Regions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b="0" dirty="0"/>
                        <a:t>Robust Functional Features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b="0" dirty="0"/>
                        <a:t>Decent Security tooling &amp; posture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b="0" dirty="0"/>
                        <a:t>Decent PII data management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b="0" dirty="0"/>
                        <a:t>Decent Security practices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b="0" dirty="0"/>
                        <a:t>Redundancy at all levels (intra Zone/Inter Zone)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b="0" dirty="0"/>
                        <a:t>API ecosystem available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b="0" dirty="0"/>
                        <a:t>Global SOC monitoring using a proprietary  SIEM solution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b="0" dirty="0"/>
                        <a:t>Data storage in India is available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b="0" dirty="0"/>
                        <a:t>DR  is available with 100% capacity in a separate region.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b="0" dirty="0"/>
                        <a:t>Best RTO/RPO in all 3 vendors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/>
                        <a:t>Mobile App with web app available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/>
                        <a:t>Monolithic Architecture  running on a private cloud.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/>
                        <a:t>No event-based messaging support is there.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/>
                        <a:t>No Cyber-recovery Vault in place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/>
                        <a:t>Certain tooling is proprietary in nature and benchmarks are not available in public forums.</a:t>
                      </a: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9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9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9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/>
                        <a:t>Decent functional capabilities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/>
                        <a:t>Regional DR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/>
                        <a:t>Mobile App with web app available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/>
                        <a:t>Monolithic Architecture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No SIEM and SOC Team in place. Since we are storing PII related data this is a Red Flag.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No EDR /CDR/ XD tooling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dirty="0"/>
                        <a:t>Very High RPO (1 day)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dirty="0"/>
                        <a:t># Security Engineers (2) is low for the customers that the vendor is handling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dirty="0"/>
                        <a:t>No cyber recovery vault in place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dirty="0"/>
                        <a:t>Overall poor security tooling and security management due to missing SOC/SIEM.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/>
                        <a:t>Data Stored in Overseas location (UAE).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38168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5535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DE505-13E7-46F0-4AC9-FD6B52154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6CF81-689A-6ED0-68CE-78603B17A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553621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A0234FC-F5F4-8CB1-CB5E-7C8AE4EF64C2}"/>
              </a:ext>
            </a:extLst>
          </p:cNvPr>
          <p:cNvSpPr/>
          <p:nvPr/>
        </p:nvSpPr>
        <p:spPr>
          <a:xfrm>
            <a:off x="416689" y="1574920"/>
            <a:ext cx="11517287" cy="5052124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sz="1400" b="1" dirty="0">
                <a:solidFill>
                  <a:schemeClr val="accent5">
                    <a:lumMod val="25000"/>
                  </a:schemeClr>
                </a:solidFill>
              </a:rPr>
              <a:t>While UKG has scored the highest with Zoho at second place. Following recommendations need to be complied to before final GO Live.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5">
                    <a:lumMod val="25000"/>
                  </a:schemeClr>
                </a:solidFill>
              </a:rPr>
              <a:t>All procurement related compliances are met. (UKG/Zoho)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5">
                    <a:lumMod val="25000"/>
                  </a:schemeClr>
                </a:solidFill>
              </a:rPr>
              <a:t>The solution meets the financial budgets and functional requirements of business. (UKG/Zoho)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5">
                    <a:lumMod val="25000"/>
                  </a:schemeClr>
                </a:solidFill>
              </a:rPr>
              <a:t>Vendor to sign the DPA since PII data is involved here (UKG/Zoho)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5">
                    <a:lumMod val="25000"/>
                  </a:schemeClr>
                </a:solidFill>
              </a:rPr>
              <a:t>Vendor to provide real time messaging support for integration of attendance with engineering workforce solution (AME rostering) at no additional cost. (UKG/Zoho)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5">
                    <a:lumMod val="25000"/>
                  </a:schemeClr>
                </a:solidFill>
              </a:rPr>
              <a:t>Vendor to provide integration support for attendance data and global rules from/to  other rostering solution (AME rostering)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5">
                    <a:lumMod val="25000"/>
                  </a:schemeClr>
                </a:solidFill>
              </a:rPr>
              <a:t>Vendor to provide latest VAPT report before </a:t>
            </a:r>
            <a:r>
              <a:rPr lang="en-IN" sz="1400" b="1" dirty="0">
                <a:solidFill>
                  <a:schemeClr val="accent5">
                    <a:lumMod val="25000"/>
                  </a:schemeClr>
                </a:solidFill>
              </a:rPr>
              <a:t>go live </a:t>
            </a:r>
            <a:r>
              <a:rPr lang="en-IN" sz="1400" dirty="0">
                <a:solidFill>
                  <a:schemeClr val="accent5">
                    <a:lumMod val="25000"/>
                  </a:schemeClr>
                </a:solidFill>
              </a:rPr>
              <a:t>with no open critical, high or medium vulnerabilities. (UKG/Zoho)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5">
                    <a:lumMod val="25000"/>
                  </a:schemeClr>
                </a:solidFill>
              </a:rPr>
              <a:t>Vendor to provide latest CSPM report before </a:t>
            </a:r>
            <a:r>
              <a:rPr lang="en-IN" sz="1400" b="1" dirty="0">
                <a:solidFill>
                  <a:schemeClr val="accent5">
                    <a:lumMod val="25000"/>
                  </a:schemeClr>
                </a:solidFill>
              </a:rPr>
              <a:t>go live</a:t>
            </a:r>
            <a:r>
              <a:rPr lang="en-IN" sz="1400" dirty="0">
                <a:solidFill>
                  <a:schemeClr val="accent5">
                    <a:lumMod val="25000"/>
                  </a:schemeClr>
                </a:solidFill>
              </a:rPr>
              <a:t> with no open critical, high or medium vulnerabilities. (UKG/Zoho)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5">
                    <a:lumMod val="25000"/>
                  </a:schemeClr>
                </a:solidFill>
              </a:rPr>
              <a:t>Vendor to provide a plan to setup cyber recovery vault in separate geographical location (Applicable to ZOHO only)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5">
                    <a:lumMod val="25000"/>
                  </a:schemeClr>
                </a:solidFill>
              </a:rPr>
              <a:t>Application team to sign a SOW taking care of all the required integrations as discussed during the tech DD discussions. (UKG/Zoho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accent5">
                  <a:lumMod val="25000"/>
                </a:schemeClr>
              </a:solidFill>
            </a:endParaRPr>
          </a:p>
          <a:p>
            <a:r>
              <a:rPr lang="en-IN" sz="1400" b="1" dirty="0">
                <a:solidFill>
                  <a:schemeClr val="accent5">
                    <a:lumMod val="25000"/>
                  </a:schemeClr>
                </a:solidFill>
              </a:rPr>
              <a:t>Following areas to be regularly reviewed by Air India. Vendor to periodically provide the following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5">
                    <a:lumMod val="25000"/>
                  </a:schemeClr>
                </a:solidFill>
              </a:rPr>
              <a:t>Annual evidence of Compliance with AI Security Addendum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5">
                    <a:lumMod val="25000"/>
                  </a:schemeClr>
                </a:solidFill>
              </a:rPr>
              <a:t>Annual  VAPT reports with no open critical, high or medium vulnerabilities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5">
                    <a:lumMod val="25000"/>
                  </a:schemeClr>
                </a:solidFill>
              </a:rPr>
              <a:t>Annual SOC2 Type 2 reports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5">
                    <a:lumMod val="25000"/>
                  </a:schemeClr>
                </a:solidFill>
              </a:rPr>
              <a:t>Annual DR Drill report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accent5">
                    <a:lumMod val="25000"/>
                  </a:schemeClr>
                </a:solidFill>
              </a:rPr>
              <a:t>Criticality &amp; Risk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accent5">
                    <a:lumMod val="25000"/>
                  </a:schemeClr>
                </a:solidFill>
              </a:rPr>
              <a:t>Criticality: </a:t>
            </a:r>
            <a:r>
              <a:rPr lang="en-IN" sz="1400" dirty="0">
                <a:solidFill>
                  <a:schemeClr val="accent5">
                    <a:lumMod val="25000"/>
                  </a:schemeClr>
                </a:solidFill>
              </a:rPr>
              <a:t>Business Critical 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accent5">
                    <a:lumMod val="25000"/>
                  </a:schemeClr>
                </a:solidFill>
              </a:rPr>
              <a:t>Risk : </a:t>
            </a:r>
            <a:r>
              <a:rPr lang="en-IN" sz="1400" dirty="0">
                <a:solidFill>
                  <a:schemeClr val="accent5">
                    <a:lumMod val="25000"/>
                  </a:schemeClr>
                </a:solidFill>
              </a:rPr>
              <a:t>Low Risk</a:t>
            </a:r>
            <a:endParaRPr lang="en-IN" b="1" dirty="0">
              <a:solidFill>
                <a:schemeClr val="accent5">
                  <a:lumMod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accent5">
                  <a:lumMod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accent5">
                  <a:lumMod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accent5">
                  <a:lumMod val="2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0A0454-C669-2EE2-4C6F-1ECF96EC6D98}"/>
              </a:ext>
            </a:extLst>
          </p:cNvPr>
          <p:cNvSpPr/>
          <p:nvPr/>
        </p:nvSpPr>
        <p:spPr>
          <a:xfrm>
            <a:off x="416689" y="869475"/>
            <a:ext cx="11517287" cy="705445"/>
          </a:xfrm>
          <a:prstGeom prst="rect">
            <a:avLst/>
          </a:prstGeom>
          <a:solidFill>
            <a:schemeClr val="accent6">
              <a:lumMod val="25000"/>
            </a:schemeClr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Recommendations</a:t>
            </a:r>
          </a:p>
        </p:txBody>
      </p:sp>
      <p:sp>
        <p:nvSpPr>
          <p:cNvPr id="10" name="Title 11">
            <a:extLst>
              <a:ext uri="{FF2B5EF4-FFF2-40B4-BE49-F238E27FC236}">
                <a16:creationId xmlns:a16="http://schemas.microsoft.com/office/drawing/2014/main" id="{383C0AEE-CF9F-25AB-7640-232EAF282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996" y="68467"/>
            <a:ext cx="10977880" cy="914400"/>
          </a:xfrm>
        </p:spPr>
        <p:txBody>
          <a:bodyPr/>
          <a:lstStyle/>
          <a:p>
            <a:r>
              <a:rPr lang="en-US" dirty="0"/>
              <a:t>   Overall Comments &amp; Recommendations</a:t>
            </a:r>
          </a:p>
        </p:txBody>
      </p:sp>
      <p:pic>
        <p:nvPicPr>
          <p:cNvPr id="11" name="Graphic 10" descr="Comment Add with solid fill">
            <a:extLst>
              <a:ext uri="{FF2B5EF4-FFF2-40B4-BE49-F238E27FC236}">
                <a16:creationId xmlns:a16="http://schemas.microsoft.com/office/drawing/2014/main" id="{E0B70663-E05B-644C-8F27-78BFCFF4AB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86653" y="274548"/>
            <a:ext cx="502238" cy="50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312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1C5B9C-4FB3-5569-10E7-16FFEEF0B0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604255354"/>
      </p:ext>
    </p:extLst>
  </p:cSld>
  <p:clrMapOvr>
    <a:masterClrMapping/>
  </p:clrMapOvr>
</p:sld>
</file>

<file path=ppt/theme/theme1.xml><?xml version="1.0" encoding="utf-8"?>
<a:theme xmlns:a="http://schemas.openxmlformats.org/drawingml/2006/main" name="Air India Master">
  <a:themeElements>
    <a:clrScheme name="Airn India">
      <a:dk1>
        <a:srgbClr val="000000"/>
      </a:dk1>
      <a:lt1>
        <a:srgbClr val="FFFFFF"/>
      </a:lt1>
      <a:dk2>
        <a:srgbClr val="44546A"/>
      </a:dk2>
      <a:lt2>
        <a:srgbClr val="F9F6EE"/>
      </a:lt2>
      <a:accent1>
        <a:srgbClr val="DA0E28"/>
      </a:accent1>
      <a:accent2>
        <a:srgbClr val="B61032"/>
      </a:accent2>
      <a:accent3>
        <a:srgbClr val="531251"/>
      </a:accent3>
      <a:accent4>
        <a:srgbClr val="F8C1B3"/>
      </a:accent4>
      <a:accent5>
        <a:srgbClr val="F9F6EE"/>
      </a:accent5>
      <a:accent6>
        <a:srgbClr val="FED9A0"/>
      </a:accent6>
      <a:hlink>
        <a:srgbClr val="9E7947"/>
      </a:hlink>
      <a:folHlink>
        <a:srgbClr val="954F72"/>
      </a:folHlink>
    </a:clrScheme>
    <a:fontScheme name="Nunito Air India">
      <a:majorFont>
        <a:latin typeface="Nunito Sans Black"/>
        <a:ea typeface=""/>
        <a:cs typeface=""/>
      </a:majorFont>
      <a:minorFont>
        <a:latin typeface="Nuni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30831_Air India - Presentation Template OPT-1_V07.1" id="{D76D6D51-82C9-874C-93C2-607499FF9295}" vid="{52AAD933-9942-7B43-8B44-8B5668BB68E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A498784D7B9A4CB2B5A1625BF30FA9" ma:contentTypeVersion="14" ma:contentTypeDescription="Create a new document." ma:contentTypeScope="" ma:versionID="e7dbfab25802de2dc3167bfb8509dd97">
  <xsd:schema xmlns:xsd="http://www.w3.org/2001/XMLSchema" xmlns:xs="http://www.w3.org/2001/XMLSchema" xmlns:p="http://schemas.microsoft.com/office/2006/metadata/properties" xmlns:ns2="19df6e3f-d71d-4fde-8381-92cc11f8f2f8" xmlns:ns3="ce0e2ffe-79c7-4635-bef2-cf394a496c8c" targetNamespace="http://schemas.microsoft.com/office/2006/metadata/properties" ma:root="true" ma:fieldsID="75b9b66dc005ae1ae3546febc1d7f22e" ns2:_="" ns3:_="">
    <xsd:import namespace="19df6e3f-d71d-4fde-8381-92cc11f8f2f8"/>
    <xsd:import namespace="ce0e2ffe-79c7-4635-bef2-cf394a496c8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df6e3f-d71d-4fde-8381-92cc11f8f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696e8092-c132-4e16-82f0-b3760f06ce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0e2ffe-79c7-4635-bef2-cf394a496c8c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438c3b43-4a0b-4c92-b62c-7527719fa260}" ma:internalName="TaxCatchAll" ma:showField="CatchAllData" ma:web="ce0e2ffe-79c7-4635-bef2-cf394a496c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0e2ffe-79c7-4635-bef2-cf394a496c8c" xsi:nil="true"/>
    <lcf76f155ced4ddcb4097134ff3c332f xmlns="19df6e3f-d71d-4fde-8381-92cc11f8f2f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DB49214-112C-4643-944A-E5F7350A557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BB1F106-20B1-4EFD-B2D3-75F5647A1F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9df6e3f-d71d-4fde-8381-92cc11f8f2f8"/>
    <ds:schemaRef ds:uri="ce0e2ffe-79c7-4635-bef2-cf394a496c8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8D1BBE1-7D00-4A95-8F01-E3014C1D98C7}">
  <ds:schemaRefs>
    <ds:schemaRef ds:uri="http://purl.org/dc/elements/1.1/"/>
    <ds:schemaRef ds:uri="19df6e3f-d71d-4fde-8381-92cc11f8f2f8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ce0e2ffe-79c7-4635-bef2-cf394a496c8c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fc627367-8bb7-4ccb-accc-dcf8fe2e1aa0}" enabled="1" method="Standard" siteId="{41591cc6-574f-45d5-819b-9a4773330ae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Air India  Presentation Template</Template>
  <TotalTime>15080</TotalTime>
  <Words>3799</Words>
  <Application>Microsoft Macintosh PowerPoint</Application>
  <PresentationFormat>Widescreen</PresentationFormat>
  <Paragraphs>770</Paragraphs>
  <Slides>18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Calibri</vt:lpstr>
      <vt:lpstr>AirIndia</vt:lpstr>
      <vt:lpstr>Nunito Sans</vt:lpstr>
      <vt:lpstr>Concourse T3</vt:lpstr>
      <vt:lpstr>Arial</vt:lpstr>
      <vt:lpstr>Air India Master</vt:lpstr>
      <vt:lpstr>Tech due diligence for :  Attendance &amp; Rostering Solution (Not for Flying staff/Engineering)</vt:lpstr>
      <vt:lpstr>Background</vt:lpstr>
      <vt:lpstr>Functional Due Diligence</vt:lpstr>
      <vt:lpstr>Functional Due Diligence</vt:lpstr>
      <vt:lpstr>Solution Architecture Diagram – End to End view (Expected Solution)</vt:lpstr>
      <vt:lpstr>Company Background Comparison</vt:lpstr>
      <vt:lpstr>Company Background – Organization Information</vt:lpstr>
      <vt:lpstr>Company Background – Markets and Customers</vt:lpstr>
      <vt:lpstr>Tech Due Diligence Areas</vt:lpstr>
      <vt:lpstr>Tech Due diligence areas -1</vt:lpstr>
      <vt:lpstr>Tech Due diligence areas -2</vt:lpstr>
      <vt:lpstr>Tech Due diligence areas -3</vt:lpstr>
      <vt:lpstr>Comparison summary</vt:lpstr>
      <vt:lpstr>Comparison Summary – Tech DD</vt:lpstr>
      <vt:lpstr>Overall Comments (Pros &amp; Cons)</vt:lpstr>
      <vt:lpstr>Key Recommendations</vt:lpstr>
      <vt:lpstr>   Overall Comments &amp; 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Click to edit title</dc:title>
  <dc:creator>Sarthak Banerjee</dc:creator>
  <cp:lastModifiedBy>Vikram Sharma DnT</cp:lastModifiedBy>
  <cp:revision>195</cp:revision>
  <dcterms:created xsi:type="dcterms:W3CDTF">2023-11-16T05:34:54Z</dcterms:created>
  <dcterms:modified xsi:type="dcterms:W3CDTF">2026-03-27T05:26:12Z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0x01010009A498784D7B9A4CB2B5A1625BF30FA9</vt:lpwstr>
  </property>
  <property fmtid="{D5CDD505-2E9C-101B-9397-08002B2CF9AE}" pid="3" name="MediaServiceImageTags">
    <vt:lpwstr/>
  </property>
</Properties>
</file>