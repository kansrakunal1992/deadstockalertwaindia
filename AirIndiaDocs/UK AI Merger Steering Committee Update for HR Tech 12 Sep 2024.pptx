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theme/theme2.xml" ContentType="application/vnd.openxmlformats-officedocument.theme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3.xml" ContentType="application/vnd.openxmlformats-officedocument.theme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4076" r:id="rId4"/>
    <p:sldMasterId id="2147484164" r:id="rId5"/>
    <p:sldMasterId id="2147484201" r:id="rId6"/>
    <p:sldMasterId id="2147484239" r:id="rId7"/>
  </p:sldMasterIdLst>
  <p:notesMasterIdLst>
    <p:notesMasterId r:id="rId22"/>
  </p:notesMasterIdLst>
  <p:handoutMasterIdLst>
    <p:handoutMasterId r:id="rId23"/>
  </p:handoutMasterIdLst>
  <p:sldIdLst>
    <p:sldId id="2147481660" r:id="rId8"/>
    <p:sldId id="2147375656" r:id="rId9"/>
    <p:sldId id="2147482866" r:id="rId10"/>
    <p:sldId id="2147482879" r:id="rId11"/>
    <p:sldId id="2147482867" r:id="rId12"/>
    <p:sldId id="2147482875" r:id="rId13"/>
    <p:sldId id="2147482876" r:id="rId14"/>
    <p:sldId id="2147482877" r:id="rId15"/>
    <p:sldId id="2147482870" r:id="rId16"/>
    <p:sldId id="2147482871" r:id="rId17"/>
    <p:sldId id="2147482872" r:id="rId18"/>
    <p:sldId id="2147482874" r:id="rId19"/>
    <p:sldId id="2147482868" r:id="rId20"/>
    <p:sldId id="2147481690" r:id="rId21"/>
  </p:sldIdLst>
  <p:sldSz cx="12198350" cy="6858000"/>
  <p:notesSz cx="7102475" cy="10234613"/>
  <p:custDataLst>
    <p:tags r:id="rId24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2" userDrawn="1">
          <p15:clr>
            <a:srgbClr val="A4A3A4"/>
          </p15:clr>
        </p15:guide>
        <p15:guide id="3" orient="horz" pos="335" userDrawn="1">
          <p15:clr>
            <a:srgbClr val="A4A3A4"/>
          </p15:clr>
        </p15:guide>
        <p15:guide id="4" orient="horz" pos="190" userDrawn="1">
          <p15:clr>
            <a:srgbClr val="A4A3A4"/>
          </p15:clr>
        </p15:guide>
        <p15:guide id="5" pos="386" userDrawn="1">
          <p15:clr>
            <a:srgbClr val="A4A3A4"/>
          </p15:clr>
        </p15:guide>
        <p15:guide id="6" pos="7298" userDrawn="1">
          <p15:clr>
            <a:srgbClr val="A4A3A4"/>
          </p15:clr>
        </p15:guide>
        <p15:guide id="7" orient="horz" pos="709" userDrawn="1">
          <p15:clr>
            <a:srgbClr val="A4A3A4"/>
          </p15:clr>
        </p15:guide>
        <p15:guide id="8" orient="horz" pos="3886" userDrawn="1">
          <p15:clr>
            <a:srgbClr val="A4A3A4"/>
          </p15:clr>
        </p15:guide>
        <p15:guide id="9" orient="horz" pos="417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88CE5"/>
    <a:srgbClr val="C9DFFF"/>
    <a:srgbClr val="37FFFF"/>
    <a:srgbClr val="FFE600"/>
    <a:srgbClr val="FFFFFF"/>
    <a:srgbClr val="E9E0E4"/>
    <a:srgbClr val="DFE0E4"/>
    <a:srgbClr val="2E2E38"/>
    <a:srgbClr val="C4C4CD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0" autoAdjust="0"/>
    <p:restoredTop sz="93741" autoAdjust="0"/>
  </p:normalViewPr>
  <p:slideViewPr>
    <p:cSldViewPr snapToGrid="0" snapToObjects="1" showGuides="1">
      <p:cViewPr varScale="1">
        <p:scale>
          <a:sx n="63" d="100"/>
          <a:sy n="63" d="100"/>
        </p:scale>
        <p:origin x="800" y="56"/>
      </p:cViewPr>
      <p:guideLst>
        <p:guide orient="horz" pos="2160"/>
        <p:guide pos="3842"/>
        <p:guide orient="horz" pos="335"/>
        <p:guide orient="horz" pos="190"/>
        <p:guide pos="386"/>
        <p:guide pos="7298"/>
        <p:guide orient="horz" pos="709"/>
        <p:guide orient="horz" pos="3886"/>
        <p:guide orient="horz" pos="4178"/>
      </p:guideLst>
    </p:cSldViewPr>
  </p:slideViewPr>
  <p:outlineViewPr>
    <p:cViewPr>
      <p:scale>
        <a:sx n="33" d="100"/>
        <a:sy n="33" d="100"/>
      </p:scale>
      <p:origin x="0" y="-3020"/>
    </p:cViewPr>
  </p:outlineViewPr>
  <p:notesTextViewPr>
    <p:cViewPr>
      <p:scale>
        <a:sx n="50" d="100"/>
        <a:sy n="50" d="100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notesViewPr>
    <p:cSldViewPr snapToGrid="0" snapToObjects="1" showGuides="1">
      <p:cViewPr varScale="1">
        <p:scale>
          <a:sx n="80" d="100"/>
          <a:sy n="80" d="100"/>
        </p:scale>
        <p:origin x="-2004" y="-96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4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4.xml"/><Relationship Id="rId24" Type="http://schemas.openxmlformats.org/officeDocument/2006/relationships/tags" Target="tags/tag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8.xml"/><Relationship Id="rId23" Type="http://schemas.openxmlformats.org/officeDocument/2006/relationships/handoutMaster" Target="handoutMasters/handoutMaster1.xml"/><Relationship Id="rId28" Type="http://schemas.openxmlformats.org/officeDocument/2006/relationships/theme" Target="theme/theme1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notesMaster" Target="notesMasters/notesMaster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684058E-473A-40A1-8D25-70801BF80C6C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D66B8463-6FB0-44CF-A75C-B243FD3F1168}">
      <dgm:prSet phldrT="[Text]" custT="1"/>
      <dgm:spPr>
        <a:solidFill>
          <a:srgbClr val="002060"/>
        </a:solidFill>
      </dgm:spPr>
      <dgm:t>
        <a:bodyPr/>
        <a:lstStyle/>
        <a:p>
          <a:pPr algn="l"/>
          <a:r>
            <a:rPr lang="en-IN" sz="1050" dirty="0">
              <a:latin typeface="AirIndia" panose="04050608020B02020302"/>
            </a:rPr>
            <a:t>-Configuration of UK pay structures in new AI PS instance </a:t>
          </a:r>
        </a:p>
        <a:p>
          <a:pPr algn="l"/>
          <a:r>
            <a:rPr lang="en-IN" sz="1050" dirty="0">
              <a:latin typeface="AirIndia" panose="04050608020B02020302"/>
            </a:rPr>
            <a:t>-3 parallel payroll mock runs (Aug, Sep, Oct) </a:t>
          </a:r>
          <a:r>
            <a:rPr lang="en-IN" sz="1050" b="0" dirty="0">
              <a:latin typeface="AirIndia" panose="04050608020B02020302"/>
            </a:rPr>
            <a:t>(In Progress)</a:t>
          </a:r>
        </a:p>
        <a:p>
          <a:pPr algn="l"/>
          <a:r>
            <a:rPr lang="en-IN" sz="1050" b="0" dirty="0">
              <a:latin typeface="AirIndia" panose="04050608020B02020302"/>
            </a:rPr>
            <a:t>-UK IFS &amp; Flight Ops team to provide payroll inputs to AI Payroll team for mock runs</a:t>
          </a:r>
        </a:p>
      </dgm:t>
    </dgm:pt>
    <dgm:pt modelId="{7B7EE115-0651-4C87-92AA-DF1728234773}" type="parTrans" cxnId="{9B20CDD3-1B46-4890-9F6C-AECE7FF394D6}">
      <dgm:prSet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06E51305-C544-4935-9C53-EA9B31BA7C75}" type="sibTrans" cxnId="{9B20CDD3-1B46-4890-9F6C-AECE7FF394D6}">
      <dgm:prSet custT="1"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A14D43FD-450A-4A71-A2BA-184BE28D97EB}">
      <dgm:prSet phldrT="[Text]" custT="1"/>
      <dgm:spPr>
        <a:solidFill>
          <a:srgbClr val="002060"/>
        </a:solidFill>
      </dgm:spPr>
      <dgm:t>
        <a:bodyPr/>
        <a:lstStyle/>
        <a:p>
          <a:pPr algn="l"/>
          <a:r>
            <a:rPr lang="en-IN" sz="1050" b="0" dirty="0">
              <a:latin typeface="AirIndia" panose="04050608020B02020302"/>
            </a:rPr>
            <a:t>-Flying allowance (variable pay) till 31</a:t>
          </a:r>
          <a:r>
            <a:rPr lang="en-IN" sz="1050" b="0" baseline="30000" dirty="0">
              <a:latin typeface="AirIndia" panose="04050608020B02020302"/>
            </a:rPr>
            <a:t>st</a:t>
          </a:r>
          <a:r>
            <a:rPr lang="en-IN" sz="1050" b="0" dirty="0">
              <a:latin typeface="AirIndia" panose="04050608020B02020302"/>
            </a:rPr>
            <a:t> Oct salary final calculation to be done by UK payroll for UK Crew </a:t>
          </a:r>
        </a:p>
        <a:p>
          <a:pPr algn="l"/>
          <a:r>
            <a:rPr lang="en-IN" sz="1050" b="0" dirty="0">
              <a:latin typeface="AirIndia" panose="04050608020B02020302"/>
            </a:rPr>
            <a:t>-</a:t>
          </a:r>
          <a:r>
            <a:rPr lang="en-US" sz="1050" dirty="0">
              <a:latin typeface="AirIndia" panose="04050608020B02020302"/>
              <a:cs typeface="Arial" panose="020B0604020202020204" pitchFamily="34" charset="0"/>
            </a:rPr>
            <a:t>PS Instance Testing: UAT Completion – 16</a:t>
          </a:r>
          <a:r>
            <a:rPr lang="en-US" sz="1050" baseline="30000" dirty="0">
              <a:latin typeface="AirIndia" panose="04050608020B02020302"/>
              <a:cs typeface="Arial" panose="020B0604020202020204" pitchFamily="34" charset="0"/>
            </a:rPr>
            <a:t>th</a:t>
          </a:r>
          <a:r>
            <a:rPr lang="en-US" sz="1050" dirty="0">
              <a:latin typeface="AirIndia" panose="04050608020B02020302"/>
              <a:cs typeface="Arial" panose="020B0604020202020204" pitchFamily="34" charset="0"/>
            </a:rPr>
            <a:t> Oct 24; Full data migration completion by 18</a:t>
          </a:r>
          <a:r>
            <a:rPr lang="en-US" sz="1050" baseline="30000" dirty="0">
              <a:latin typeface="AirIndia" panose="04050608020B02020302"/>
              <a:cs typeface="Arial" panose="020B0604020202020204" pitchFamily="34" charset="0"/>
            </a:rPr>
            <a:t>th</a:t>
          </a:r>
          <a:r>
            <a:rPr lang="en-US" sz="1050" dirty="0">
              <a:latin typeface="AirIndia" panose="04050608020B02020302"/>
              <a:cs typeface="Arial" panose="020B0604020202020204" pitchFamily="34" charset="0"/>
            </a:rPr>
            <a:t> Oct 24.</a:t>
          </a:r>
          <a:endParaRPr lang="en-IN" sz="1050" b="0" dirty="0">
            <a:latin typeface="AirIndia" panose="04050608020B02020302"/>
          </a:endParaRPr>
        </a:p>
      </dgm:t>
    </dgm:pt>
    <dgm:pt modelId="{A2FD6A12-2947-48AD-A174-45E0C6C4B3AA}" type="parTrans" cxnId="{149D7656-45D0-4D3E-ABEE-E3018C25E2CE}">
      <dgm:prSet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1A05F440-66D7-411C-8E29-C7FAB264D125}" type="sibTrans" cxnId="{149D7656-45D0-4D3E-ABEE-E3018C25E2CE}">
      <dgm:prSet custT="1"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D448A769-11F1-4C2E-85AC-69D4EE205C99}">
      <dgm:prSet custT="1"/>
      <dgm:spPr>
        <a:solidFill>
          <a:srgbClr val="002060"/>
        </a:solidFill>
      </dgm:spPr>
      <dgm:t>
        <a:bodyPr/>
        <a:lstStyle/>
        <a:p>
          <a:pPr algn="l"/>
          <a:r>
            <a:rPr lang="en-IN" sz="1050" dirty="0">
              <a:latin typeface="AirIndia" panose="04050608020B02020302"/>
            </a:rPr>
            <a:t>-</a:t>
          </a:r>
          <a:r>
            <a:rPr lang="en-IN" sz="1050" b="0" dirty="0">
              <a:latin typeface="AirIndia" panose="04050608020B02020302"/>
            </a:rPr>
            <a:t>UK IFS &amp; Flight Ops to share flying allowance payroll inputs from 1</a:t>
          </a:r>
          <a:r>
            <a:rPr lang="en-IN" sz="1050" b="0" baseline="30000" dirty="0">
              <a:latin typeface="AirIndia" panose="04050608020B02020302"/>
            </a:rPr>
            <a:t>st</a:t>
          </a:r>
          <a:r>
            <a:rPr lang="en-IN" sz="1050" b="0" dirty="0">
              <a:latin typeface="AirIndia" panose="04050608020B02020302"/>
            </a:rPr>
            <a:t> to 11</a:t>
          </a:r>
          <a:r>
            <a:rPr lang="en-IN" sz="1050" b="0" baseline="30000" dirty="0">
              <a:latin typeface="AirIndia" panose="04050608020B02020302"/>
            </a:rPr>
            <a:t>th</a:t>
          </a:r>
          <a:r>
            <a:rPr lang="en-IN" sz="1050" b="0" dirty="0">
              <a:latin typeface="AirIndia" panose="04050608020B02020302"/>
            </a:rPr>
            <a:t> Nov with AI IFS &amp; Flight Ops team</a:t>
          </a:r>
        </a:p>
        <a:p>
          <a:pPr algn="l"/>
          <a:r>
            <a:rPr lang="en-IN" sz="1050" b="1" dirty="0">
              <a:latin typeface="AirIndia" panose="04050608020B02020302"/>
            </a:rPr>
            <a:t>-</a:t>
          </a:r>
          <a:r>
            <a:rPr lang="en-IN" sz="1050" b="0" dirty="0">
              <a:latin typeface="AirIndia" panose="04050608020B02020302"/>
            </a:rPr>
            <a:t>Harmonized</a:t>
          </a:r>
          <a:r>
            <a:rPr lang="en-IN" sz="1050" b="1" dirty="0">
              <a:latin typeface="AirIndia" panose="04050608020B02020302"/>
            </a:rPr>
            <a:t> </a:t>
          </a:r>
          <a:r>
            <a:rPr lang="en-IN" sz="1050" b="0" dirty="0">
              <a:latin typeface="AirIndia" panose="04050608020B02020302"/>
            </a:rPr>
            <a:t>employee master, UK roster &amp; UK leaves Data migration from ARMS to CAE (Go-Live: 11</a:t>
          </a:r>
          <a:r>
            <a:rPr lang="en-IN" sz="1050" b="0" baseline="30000" dirty="0">
              <a:latin typeface="AirIndia" panose="04050608020B02020302"/>
            </a:rPr>
            <a:t>th</a:t>
          </a:r>
          <a:r>
            <a:rPr lang="en-IN" sz="1050" b="0" dirty="0">
              <a:latin typeface="AirIndia" panose="04050608020B02020302"/>
            </a:rPr>
            <a:t> Nov)</a:t>
          </a:r>
        </a:p>
        <a:p>
          <a:pPr algn="l"/>
          <a:endParaRPr lang="en-IN" sz="1050" dirty="0">
            <a:latin typeface="AirIndia" panose="04050608020B02020302"/>
          </a:endParaRPr>
        </a:p>
      </dgm:t>
    </dgm:pt>
    <dgm:pt modelId="{5E8FBCEB-6788-4AC9-ADBA-4793619438EB}" type="parTrans" cxnId="{56971D8B-D47C-4AFE-9E36-42F44D3A6DC5}">
      <dgm:prSet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261062D5-79D6-4E45-835A-020C1E0DB4AE}" type="sibTrans" cxnId="{56971D8B-D47C-4AFE-9E36-42F44D3A6DC5}">
      <dgm:prSet custT="1"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F744E98E-FFBF-4CD8-9656-6EB6F47E7D06}">
      <dgm:prSet custT="1"/>
      <dgm:spPr>
        <a:solidFill>
          <a:srgbClr val="002060"/>
        </a:solidFill>
      </dgm:spPr>
      <dgm:t>
        <a:bodyPr/>
        <a:lstStyle/>
        <a:p>
          <a:pPr algn="l"/>
          <a:r>
            <a:rPr lang="en-IN" sz="1050" b="0" dirty="0">
              <a:latin typeface="AirIndia" panose="04050608020B02020302"/>
            </a:rPr>
            <a:t>-Flying allowance salary (till 31</a:t>
          </a:r>
          <a:r>
            <a:rPr lang="en-IN" sz="1050" b="0" baseline="30000" dirty="0">
              <a:latin typeface="AirIndia" panose="04050608020B02020302"/>
            </a:rPr>
            <a:t>st</a:t>
          </a:r>
          <a:r>
            <a:rPr lang="en-IN" sz="1050" b="0" dirty="0">
              <a:latin typeface="AirIndia" panose="04050608020B02020302"/>
            </a:rPr>
            <a:t> Oct) calculation for UK Crew by UK Payroll team (payout on 30</a:t>
          </a:r>
          <a:r>
            <a:rPr lang="en-IN" sz="1050" b="0" baseline="30000" dirty="0">
              <a:latin typeface="AirIndia" panose="04050608020B02020302"/>
            </a:rPr>
            <a:t>th</a:t>
          </a:r>
          <a:r>
            <a:rPr lang="en-IN" sz="1050" b="0" dirty="0">
              <a:latin typeface="AirIndia" panose="04050608020B02020302"/>
            </a:rPr>
            <a:t> Nov) to be shared with AI Payroll team</a:t>
          </a:r>
        </a:p>
        <a:p>
          <a:pPr algn="l"/>
          <a:r>
            <a:rPr lang="en-IN" sz="1050" b="0" dirty="0">
              <a:latin typeface="AirIndia" panose="04050608020B02020302"/>
            </a:rPr>
            <a:t>-Fixed salary (non-flying) calculation for UK Crew of non-flying salary till 11</a:t>
          </a:r>
          <a:r>
            <a:rPr lang="en-IN" sz="1050" b="0" baseline="30000" dirty="0">
              <a:latin typeface="AirIndia" panose="04050608020B02020302"/>
            </a:rPr>
            <a:t>th</a:t>
          </a:r>
          <a:r>
            <a:rPr lang="en-IN" sz="1050" b="0" dirty="0">
              <a:latin typeface="AirIndia" panose="04050608020B02020302"/>
            </a:rPr>
            <a:t> Nov by UK Payroll team (post deducting TDS &amp; PF) to be shared with AI Payroll team</a:t>
          </a:r>
        </a:p>
      </dgm:t>
    </dgm:pt>
    <dgm:pt modelId="{1982E8C0-BFE0-4D40-8E82-7907B96A1280}" type="parTrans" cxnId="{CB358E5D-E537-49FA-B6CA-7611EFA6EA50}">
      <dgm:prSet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96147CA6-0AE7-47D2-8FCB-59F8E03F8BE9}" type="sibTrans" cxnId="{CB358E5D-E537-49FA-B6CA-7611EFA6EA50}">
      <dgm:prSet custT="1"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5555C4E6-43C4-4349-BCDA-B63C488C9093}">
      <dgm:prSet custT="1"/>
      <dgm:spPr>
        <a:solidFill>
          <a:srgbClr val="002060"/>
        </a:solidFill>
      </dgm:spPr>
      <dgm:t>
        <a:bodyPr/>
        <a:lstStyle/>
        <a:p>
          <a:pPr algn="l"/>
          <a:r>
            <a:rPr lang="en-IN" sz="1050" dirty="0">
              <a:latin typeface="AirIndia" panose="04050608020B02020302"/>
            </a:rPr>
            <a:t>-Payout of Flying allowance salary (till 31</a:t>
          </a:r>
          <a:r>
            <a:rPr lang="en-IN" sz="1050" baseline="30000" dirty="0">
              <a:latin typeface="AirIndia" panose="04050608020B02020302"/>
            </a:rPr>
            <a:t>st</a:t>
          </a:r>
          <a:r>
            <a:rPr lang="en-IN" sz="1050" dirty="0">
              <a:latin typeface="AirIndia" panose="04050608020B02020302"/>
            </a:rPr>
            <a:t> Oct) to UK Crew</a:t>
          </a:r>
        </a:p>
        <a:p>
          <a:pPr algn="l"/>
          <a:r>
            <a:rPr lang="en-IN" sz="1050" dirty="0">
              <a:latin typeface="AirIndia" panose="04050608020B02020302"/>
            </a:rPr>
            <a:t>-Payout of fixed salary component for Nov month to UK Crew (inputs for 1</a:t>
          </a:r>
          <a:r>
            <a:rPr lang="en-IN" sz="1050" baseline="30000" dirty="0">
              <a:latin typeface="AirIndia" panose="04050608020B02020302"/>
            </a:rPr>
            <a:t>st</a:t>
          </a:r>
          <a:r>
            <a:rPr lang="en-IN" sz="1050" dirty="0">
              <a:latin typeface="AirIndia" panose="04050608020B02020302"/>
            </a:rPr>
            <a:t> to 11</a:t>
          </a:r>
          <a:r>
            <a:rPr lang="en-IN" sz="1050" baseline="30000" dirty="0">
              <a:latin typeface="AirIndia" panose="04050608020B02020302"/>
            </a:rPr>
            <a:t>th</a:t>
          </a:r>
          <a:r>
            <a:rPr lang="en-IN" sz="1050" dirty="0">
              <a:latin typeface="AirIndia" panose="04050608020B02020302"/>
            </a:rPr>
            <a:t> Nov from UK &amp; for 12</a:t>
          </a:r>
          <a:r>
            <a:rPr lang="en-IN" sz="1050" baseline="30000" dirty="0">
              <a:latin typeface="AirIndia" panose="04050608020B02020302"/>
            </a:rPr>
            <a:t>th</a:t>
          </a:r>
          <a:r>
            <a:rPr lang="en-IN" sz="1050" dirty="0">
              <a:latin typeface="AirIndia" panose="04050608020B02020302"/>
            </a:rPr>
            <a:t> to 30</a:t>
          </a:r>
          <a:r>
            <a:rPr lang="en-IN" sz="1050" baseline="30000" dirty="0">
              <a:latin typeface="AirIndia" panose="04050608020B02020302"/>
            </a:rPr>
            <a:t>th</a:t>
          </a:r>
          <a:r>
            <a:rPr lang="en-IN" sz="1050" dirty="0">
              <a:latin typeface="AirIndia" panose="04050608020B02020302"/>
            </a:rPr>
            <a:t> Nov from AI)</a:t>
          </a:r>
        </a:p>
        <a:p>
          <a:pPr algn="l"/>
          <a:endParaRPr lang="en-IN" sz="1050" dirty="0">
            <a:latin typeface="AirIndia" panose="04050608020B02020302"/>
          </a:endParaRPr>
        </a:p>
        <a:p>
          <a:pPr algn="l"/>
          <a:endParaRPr lang="en-IN" sz="1050" dirty="0">
            <a:latin typeface="AirIndia" panose="04050608020B02020302"/>
          </a:endParaRPr>
        </a:p>
        <a:p>
          <a:pPr algn="l"/>
          <a:endParaRPr lang="en-IN" sz="1050" dirty="0">
            <a:latin typeface="AirIndia" panose="04050608020B02020302"/>
          </a:endParaRPr>
        </a:p>
        <a:p>
          <a:pPr algn="l"/>
          <a:endParaRPr lang="en-IN" sz="1050" dirty="0">
            <a:latin typeface="AirIndia" panose="04050608020B02020302"/>
          </a:endParaRPr>
        </a:p>
      </dgm:t>
    </dgm:pt>
    <dgm:pt modelId="{DB23497F-3DEB-40E4-B169-6C92F6DD599D}" type="parTrans" cxnId="{A4F0FC5B-A71C-4F39-8767-59B3A303987F}">
      <dgm:prSet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AFF4CCC4-AB6C-4075-8F71-D397736BF106}" type="sibTrans" cxnId="{A4F0FC5B-A71C-4F39-8767-59B3A303987F}">
      <dgm:prSet custT="1"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1E0E0FFC-7127-4D68-A367-4B4723A895B7}">
      <dgm:prSet custT="1"/>
      <dgm:spPr>
        <a:solidFill>
          <a:srgbClr val="002060"/>
        </a:solidFill>
      </dgm:spPr>
      <dgm:t>
        <a:bodyPr/>
        <a:lstStyle/>
        <a:p>
          <a:pPr algn="ctr"/>
          <a:r>
            <a:rPr lang="en-IN" sz="1050" b="1" dirty="0">
              <a:latin typeface="AirIndia" panose="04050608020B02020302"/>
            </a:rPr>
            <a:t>1</a:t>
          </a:r>
          <a:r>
            <a:rPr lang="en-IN" sz="1050" b="1" baseline="30000" dirty="0">
              <a:latin typeface="AirIndia" panose="04050608020B02020302"/>
            </a:rPr>
            <a:t>st</a:t>
          </a:r>
          <a:r>
            <a:rPr lang="en-IN" sz="1050" b="1" dirty="0">
              <a:latin typeface="AirIndia" panose="04050608020B02020302"/>
            </a:rPr>
            <a:t>-31</a:t>
          </a:r>
          <a:r>
            <a:rPr lang="en-IN" sz="1050" b="1" baseline="30000" dirty="0">
              <a:latin typeface="AirIndia" panose="04050608020B02020302"/>
            </a:rPr>
            <a:t>st</a:t>
          </a:r>
          <a:r>
            <a:rPr lang="en-IN" sz="1050" b="1" dirty="0">
              <a:latin typeface="AirIndia" panose="04050608020B02020302"/>
            </a:rPr>
            <a:t> Dec 24</a:t>
          </a:r>
        </a:p>
        <a:p>
          <a:pPr algn="l"/>
          <a:r>
            <a:rPr lang="en-IN" sz="1050" b="0" dirty="0">
              <a:latin typeface="AirIndia" panose="04050608020B02020302"/>
            </a:rPr>
            <a:t>-Fixed salary calculation from 1</a:t>
          </a:r>
          <a:r>
            <a:rPr lang="en-IN" sz="1050" b="0" baseline="30000" dirty="0">
              <a:latin typeface="AirIndia" panose="04050608020B02020302"/>
            </a:rPr>
            <a:t>st</a:t>
          </a:r>
          <a:r>
            <a:rPr lang="en-IN" sz="1050" b="0" dirty="0">
              <a:latin typeface="AirIndia" panose="04050608020B02020302"/>
            </a:rPr>
            <a:t> to 31</a:t>
          </a:r>
          <a:r>
            <a:rPr lang="en-IN" sz="1050" b="0" baseline="30000" dirty="0">
              <a:latin typeface="AirIndia" panose="04050608020B02020302"/>
            </a:rPr>
            <a:t>st</a:t>
          </a:r>
          <a:r>
            <a:rPr lang="en-IN" sz="1050" b="0" dirty="0">
              <a:latin typeface="AirIndia" panose="04050608020B02020302"/>
            </a:rPr>
            <a:t> Dec for UK &amp; AI Crew by AI Payroll team</a:t>
          </a:r>
        </a:p>
        <a:p>
          <a:pPr algn="l"/>
          <a:r>
            <a:rPr lang="en-IN" sz="1050" b="0" dirty="0">
              <a:latin typeface="AirIndia" panose="04050608020B02020302"/>
            </a:rPr>
            <a:t>-Flying allowance salary (1</a:t>
          </a:r>
          <a:r>
            <a:rPr lang="en-IN" sz="1050" b="0" baseline="30000" dirty="0">
              <a:latin typeface="AirIndia" panose="04050608020B02020302"/>
            </a:rPr>
            <a:t>st</a:t>
          </a:r>
          <a:r>
            <a:rPr lang="en-IN" sz="1050" b="0" dirty="0">
              <a:latin typeface="AirIndia" panose="04050608020B02020302"/>
            </a:rPr>
            <a:t> to 30</a:t>
          </a:r>
          <a:r>
            <a:rPr lang="en-IN" sz="1050" b="0" baseline="30000" dirty="0">
              <a:latin typeface="AirIndia" panose="04050608020B02020302"/>
            </a:rPr>
            <a:t>th</a:t>
          </a:r>
          <a:r>
            <a:rPr lang="en-IN" sz="1050" b="0" dirty="0">
              <a:latin typeface="AirIndia" panose="04050608020B02020302"/>
            </a:rPr>
            <a:t> Nov) calculation for UK &amp; AI Crew to be compiled by AI Payroll team</a:t>
          </a:r>
          <a:endParaRPr lang="en-IN" sz="1050" dirty="0">
            <a:latin typeface="AirIndia" panose="04050608020B02020302"/>
          </a:endParaRPr>
        </a:p>
        <a:p>
          <a:pPr algn="ctr"/>
          <a:r>
            <a:rPr lang="en-IN" sz="1050" b="1" dirty="0">
              <a:latin typeface="AirIndia" panose="04050608020B02020302"/>
            </a:rPr>
            <a:t>On 31</a:t>
          </a:r>
          <a:r>
            <a:rPr lang="en-IN" sz="1050" b="1" baseline="30000" dirty="0">
              <a:latin typeface="AirIndia" panose="04050608020B02020302"/>
            </a:rPr>
            <a:t>st</a:t>
          </a:r>
          <a:r>
            <a:rPr lang="en-IN" sz="1050" b="1" dirty="0">
              <a:latin typeface="AirIndia" panose="04050608020B02020302"/>
            </a:rPr>
            <a:t> Dec 24</a:t>
          </a:r>
        </a:p>
        <a:p>
          <a:pPr algn="l"/>
          <a:r>
            <a:rPr lang="en-IN" sz="1050" b="0" dirty="0">
              <a:latin typeface="AirIndia" panose="04050608020B02020302"/>
            </a:rPr>
            <a:t>-Fixed salary (1</a:t>
          </a:r>
          <a:r>
            <a:rPr lang="en-IN" sz="1050" b="0" baseline="30000" dirty="0">
              <a:latin typeface="AirIndia" panose="04050608020B02020302"/>
            </a:rPr>
            <a:t>st</a:t>
          </a:r>
          <a:r>
            <a:rPr lang="en-IN" sz="1050" b="0" dirty="0">
              <a:latin typeface="AirIndia" panose="04050608020B02020302"/>
            </a:rPr>
            <a:t> to 31</a:t>
          </a:r>
          <a:r>
            <a:rPr lang="en-IN" sz="1050" b="0" baseline="30000" dirty="0">
              <a:latin typeface="AirIndia" panose="04050608020B02020302"/>
            </a:rPr>
            <a:t>st</a:t>
          </a:r>
          <a:r>
            <a:rPr lang="en-IN" sz="1050" b="0" dirty="0">
              <a:latin typeface="AirIndia" panose="04050608020B02020302"/>
            </a:rPr>
            <a:t> Dec) payout to UK &amp; AI Crew</a:t>
          </a:r>
        </a:p>
        <a:p>
          <a:pPr algn="l"/>
          <a:r>
            <a:rPr lang="en-IN" sz="1050" b="0" dirty="0">
              <a:latin typeface="AirIndia" panose="04050608020B02020302"/>
            </a:rPr>
            <a:t>-Flying allowance salary (1</a:t>
          </a:r>
          <a:r>
            <a:rPr lang="en-IN" sz="1050" b="0" baseline="30000" dirty="0">
              <a:latin typeface="AirIndia" panose="04050608020B02020302"/>
            </a:rPr>
            <a:t>st</a:t>
          </a:r>
          <a:r>
            <a:rPr lang="en-IN" sz="1050" b="0" dirty="0">
              <a:latin typeface="AirIndia" panose="04050608020B02020302"/>
            </a:rPr>
            <a:t> to 30</a:t>
          </a:r>
          <a:r>
            <a:rPr lang="en-IN" sz="1050" b="0" baseline="30000" dirty="0">
              <a:latin typeface="AirIndia" panose="04050608020B02020302"/>
            </a:rPr>
            <a:t>th</a:t>
          </a:r>
          <a:r>
            <a:rPr lang="en-IN" sz="1050" b="0" dirty="0">
              <a:latin typeface="AirIndia" panose="04050608020B02020302"/>
            </a:rPr>
            <a:t> Nov) payout to UK &amp; AI Crew</a:t>
          </a:r>
        </a:p>
      </dgm:t>
    </dgm:pt>
    <dgm:pt modelId="{8F0A9BA2-EE3F-42D5-8CB5-4B28C341B166}" type="parTrans" cxnId="{9417DBB3-0B56-495C-9325-E1280D453F04}">
      <dgm:prSet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26745B36-0A13-491B-8CAD-866FED90B1B8}" type="sibTrans" cxnId="{9417DBB3-0B56-495C-9325-E1280D453F04}">
      <dgm:prSet/>
      <dgm:spPr/>
      <dgm:t>
        <a:bodyPr/>
        <a:lstStyle/>
        <a:p>
          <a:endParaRPr lang="en-IN" sz="1050">
            <a:latin typeface="AirIndia" panose="04050608020B02020302"/>
          </a:endParaRPr>
        </a:p>
      </dgm:t>
    </dgm:pt>
    <dgm:pt modelId="{FC10ACD3-1F55-4D52-9580-21711054C6E0}" type="pres">
      <dgm:prSet presAssocID="{F684058E-473A-40A1-8D25-70801BF80C6C}" presName="Name0" presStyleCnt="0">
        <dgm:presLayoutVars>
          <dgm:dir/>
          <dgm:resizeHandles val="exact"/>
        </dgm:presLayoutVars>
      </dgm:prSet>
      <dgm:spPr/>
    </dgm:pt>
    <dgm:pt modelId="{F1A82EAA-4F96-456C-87B5-EEE753A5155A}" type="pres">
      <dgm:prSet presAssocID="{D66B8463-6FB0-44CF-A75C-B243FD3F1168}" presName="node" presStyleLbl="node1" presStyleIdx="0" presStyleCnt="6">
        <dgm:presLayoutVars>
          <dgm:bulletEnabled val="1"/>
        </dgm:presLayoutVars>
      </dgm:prSet>
      <dgm:spPr/>
    </dgm:pt>
    <dgm:pt modelId="{69E1955F-98ED-42F0-844A-C01A741D0583}" type="pres">
      <dgm:prSet presAssocID="{06E51305-C544-4935-9C53-EA9B31BA7C75}" presName="sibTrans" presStyleLbl="sibTrans2D1" presStyleIdx="0" presStyleCnt="5"/>
      <dgm:spPr/>
    </dgm:pt>
    <dgm:pt modelId="{44F1CB1D-AE68-4E90-8F83-9CF3D71DA795}" type="pres">
      <dgm:prSet presAssocID="{06E51305-C544-4935-9C53-EA9B31BA7C75}" presName="connectorText" presStyleLbl="sibTrans2D1" presStyleIdx="0" presStyleCnt="5"/>
      <dgm:spPr/>
    </dgm:pt>
    <dgm:pt modelId="{AA48E2EA-8ED2-46D4-A680-7A7A11715D8A}" type="pres">
      <dgm:prSet presAssocID="{A14D43FD-450A-4A71-A2BA-184BE28D97EB}" presName="node" presStyleLbl="node1" presStyleIdx="1" presStyleCnt="6">
        <dgm:presLayoutVars>
          <dgm:bulletEnabled val="1"/>
        </dgm:presLayoutVars>
      </dgm:prSet>
      <dgm:spPr/>
    </dgm:pt>
    <dgm:pt modelId="{620FFABD-B714-4152-A7DD-9A828C07879A}" type="pres">
      <dgm:prSet presAssocID="{1A05F440-66D7-411C-8E29-C7FAB264D125}" presName="sibTrans" presStyleLbl="sibTrans2D1" presStyleIdx="1" presStyleCnt="5"/>
      <dgm:spPr/>
    </dgm:pt>
    <dgm:pt modelId="{878BB11A-595A-4CE7-9596-FAF79C4B5F49}" type="pres">
      <dgm:prSet presAssocID="{1A05F440-66D7-411C-8E29-C7FAB264D125}" presName="connectorText" presStyleLbl="sibTrans2D1" presStyleIdx="1" presStyleCnt="5"/>
      <dgm:spPr/>
    </dgm:pt>
    <dgm:pt modelId="{FFC9850C-2F11-4564-8CFB-97325BF0FE65}" type="pres">
      <dgm:prSet presAssocID="{D448A769-11F1-4C2E-85AC-69D4EE205C99}" presName="node" presStyleLbl="node1" presStyleIdx="2" presStyleCnt="6">
        <dgm:presLayoutVars>
          <dgm:bulletEnabled val="1"/>
        </dgm:presLayoutVars>
      </dgm:prSet>
      <dgm:spPr/>
    </dgm:pt>
    <dgm:pt modelId="{50B86105-BE23-49B1-8B9B-BD6BFB874A5F}" type="pres">
      <dgm:prSet presAssocID="{261062D5-79D6-4E45-835A-020C1E0DB4AE}" presName="sibTrans" presStyleLbl="sibTrans2D1" presStyleIdx="2" presStyleCnt="5"/>
      <dgm:spPr/>
    </dgm:pt>
    <dgm:pt modelId="{B2B8DA51-BBBD-4D5E-AC4D-DD7BF917A24F}" type="pres">
      <dgm:prSet presAssocID="{261062D5-79D6-4E45-835A-020C1E0DB4AE}" presName="connectorText" presStyleLbl="sibTrans2D1" presStyleIdx="2" presStyleCnt="5"/>
      <dgm:spPr/>
    </dgm:pt>
    <dgm:pt modelId="{1FBCC683-C819-4259-AE24-E53D2CFC06F9}" type="pres">
      <dgm:prSet presAssocID="{F744E98E-FFBF-4CD8-9656-6EB6F47E7D06}" presName="node" presStyleLbl="node1" presStyleIdx="3" presStyleCnt="6">
        <dgm:presLayoutVars>
          <dgm:bulletEnabled val="1"/>
        </dgm:presLayoutVars>
      </dgm:prSet>
      <dgm:spPr/>
    </dgm:pt>
    <dgm:pt modelId="{CA692EEE-9367-43E7-8888-95DAA64DAA7E}" type="pres">
      <dgm:prSet presAssocID="{96147CA6-0AE7-47D2-8FCB-59F8E03F8BE9}" presName="sibTrans" presStyleLbl="sibTrans2D1" presStyleIdx="3" presStyleCnt="5"/>
      <dgm:spPr/>
    </dgm:pt>
    <dgm:pt modelId="{548E0B1C-746E-4310-8114-A08A752FD965}" type="pres">
      <dgm:prSet presAssocID="{96147CA6-0AE7-47D2-8FCB-59F8E03F8BE9}" presName="connectorText" presStyleLbl="sibTrans2D1" presStyleIdx="3" presStyleCnt="5"/>
      <dgm:spPr/>
    </dgm:pt>
    <dgm:pt modelId="{52D91C04-2DAE-4A5A-881B-45811D5ECBCE}" type="pres">
      <dgm:prSet presAssocID="{5555C4E6-43C4-4349-BCDA-B63C488C9093}" presName="node" presStyleLbl="node1" presStyleIdx="4" presStyleCnt="6">
        <dgm:presLayoutVars>
          <dgm:bulletEnabled val="1"/>
        </dgm:presLayoutVars>
      </dgm:prSet>
      <dgm:spPr/>
    </dgm:pt>
    <dgm:pt modelId="{F3930A0C-5F65-4E4D-AB31-8E0897E1452B}" type="pres">
      <dgm:prSet presAssocID="{AFF4CCC4-AB6C-4075-8F71-D397736BF106}" presName="sibTrans" presStyleLbl="sibTrans2D1" presStyleIdx="4" presStyleCnt="5"/>
      <dgm:spPr/>
    </dgm:pt>
    <dgm:pt modelId="{72A2C77F-D624-4F5D-A2DE-219DA83184E4}" type="pres">
      <dgm:prSet presAssocID="{AFF4CCC4-AB6C-4075-8F71-D397736BF106}" presName="connectorText" presStyleLbl="sibTrans2D1" presStyleIdx="4" presStyleCnt="5"/>
      <dgm:spPr/>
    </dgm:pt>
    <dgm:pt modelId="{8C410589-8F0E-4E1E-9529-8CAA83D358BE}" type="pres">
      <dgm:prSet presAssocID="{1E0E0FFC-7127-4D68-A367-4B4723A895B7}" presName="node" presStyleLbl="node1" presStyleIdx="5" presStyleCnt="6">
        <dgm:presLayoutVars>
          <dgm:bulletEnabled val="1"/>
        </dgm:presLayoutVars>
      </dgm:prSet>
      <dgm:spPr/>
    </dgm:pt>
  </dgm:ptLst>
  <dgm:cxnLst>
    <dgm:cxn modelId="{2A0F4431-2C7F-43F0-B1CB-DA9D6B4F73E5}" type="presOf" srcId="{261062D5-79D6-4E45-835A-020C1E0DB4AE}" destId="{50B86105-BE23-49B1-8B9B-BD6BFB874A5F}" srcOrd="0" destOrd="0" presId="urn:microsoft.com/office/officeart/2005/8/layout/process1"/>
    <dgm:cxn modelId="{85470932-036F-49A6-B323-0909DAD2FD41}" type="presOf" srcId="{D448A769-11F1-4C2E-85AC-69D4EE205C99}" destId="{FFC9850C-2F11-4564-8CFB-97325BF0FE65}" srcOrd="0" destOrd="0" presId="urn:microsoft.com/office/officeart/2005/8/layout/process1"/>
    <dgm:cxn modelId="{A4F0FC5B-A71C-4F39-8767-59B3A303987F}" srcId="{F684058E-473A-40A1-8D25-70801BF80C6C}" destId="{5555C4E6-43C4-4349-BCDA-B63C488C9093}" srcOrd="4" destOrd="0" parTransId="{DB23497F-3DEB-40E4-B169-6C92F6DD599D}" sibTransId="{AFF4CCC4-AB6C-4075-8F71-D397736BF106}"/>
    <dgm:cxn modelId="{CB358E5D-E537-49FA-B6CA-7611EFA6EA50}" srcId="{F684058E-473A-40A1-8D25-70801BF80C6C}" destId="{F744E98E-FFBF-4CD8-9656-6EB6F47E7D06}" srcOrd="3" destOrd="0" parTransId="{1982E8C0-BFE0-4D40-8E82-7907B96A1280}" sibTransId="{96147CA6-0AE7-47D2-8FCB-59F8E03F8BE9}"/>
    <dgm:cxn modelId="{F726485F-0E8C-49E7-9E94-D3DBD8E109A9}" type="presOf" srcId="{AFF4CCC4-AB6C-4075-8F71-D397736BF106}" destId="{F3930A0C-5F65-4E4D-AB31-8E0897E1452B}" srcOrd="0" destOrd="0" presId="urn:microsoft.com/office/officeart/2005/8/layout/process1"/>
    <dgm:cxn modelId="{4DDDF744-1160-454C-93B8-E64FE7A2C452}" type="presOf" srcId="{06E51305-C544-4935-9C53-EA9B31BA7C75}" destId="{44F1CB1D-AE68-4E90-8F83-9CF3D71DA795}" srcOrd="1" destOrd="0" presId="urn:microsoft.com/office/officeart/2005/8/layout/process1"/>
    <dgm:cxn modelId="{53DBEF54-37D4-4C50-8F2D-ED784B5706B9}" type="presOf" srcId="{261062D5-79D6-4E45-835A-020C1E0DB4AE}" destId="{B2B8DA51-BBBD-4D5E-AC4D-DD7BF917A24F}" srcOrd="1" destOrd="0" presId="urn:microsoft.com/office/officeart/2005/8/layout/process1"/>
    <dgm:cxn modelId="{DE612B55-1E1A-4F1F-8A5F-D5A0CE8EAA47}" type="presOf" srcId="{5555C4E6-43C4-4349-BCDA-B63C488C9093}" destId="{52D91C04-2DAE-4A5A-881B-45811D5ECBCE}" srcOrd="0" destOrd="0" presId="urn:microsoft.com/office/officeart/2005/8/layout/process1"/>
    <dgm:cxn modelId="{149D7656-45D0-4D3E-ABEE-E3018C25E2CE}" srcId="{F684058E-473A-40A1-8D25-70801BF80C6C}" destId="{A14D43FD-450A-4A71-A2BA-184BE28D97EB}" srcOrd="1" destOrd="0" parTransId="{A2FD6A12-2947-48AD-A174-45E0C6C4B3AA}" sibTransId="{1A05F440-66D7-411C-8E29-C7FAB264D125}"/>
    <dgm:cxn modelId="{56971D8B-D47C-4AFE-9E36-42F44D3A6DC5}" srcId="{F684058E-473A-40A1-8D25-70801BF80C6C}" destId="{D448A769-11F1-4C2E-85AC-69D4EE205C99}" srcOrd="2" destOrd="0" parTransId="{5E8FBCEB-6788-4AC9-ADBA-4793619438EB}" sibTransId="{261062D5-79D6-4E45-835A-020C1E0DB4AE}"/>
    <dgm:cxn modelId="{D4F128AB-A419-4311-9348-26DF76E31F5A}" type="presOf" srcId="{F744E98E-FFBF-4CD8-9656-6EB6F47E7D06}" destId="{1FBCC683-C819-4259-AE24-E53D2CFC06F9}" srcOrd="0" destOrd="0" presId="urn:microsoft.com/office/officeart/2005/8/layout/process1"/>
    <dgm:cxn modelId="{9417DBB3-0B56-495C-9325-E1280D453F04}" srcId="{F684058E-473A-40A1-8D25-70801BF80C6C}" destId="{1E0E0FFC-7127-4D68-A367-4B4723A895B7}" srcOrd="5" destOrd="0" parTransId="{8F0A9BA2-EE3F-42D5-8CB5-4B28C341B166}" sibTransId="{26745B36-0A13-491B-8CAD-866FED90B1B8}"/>
    <dgm:cxn modelId="{CDB337CF-9530-4E2F-8DAA-F67A75EA4321}" type="presOf" srcId="{1E0E0FFC-7127-4D68-A367-4B4723A895B7}" destId="{8C410589-8F0E-4E1E-9529-8CAA83D358BE}" srcOrd="0" destOrd="0" presId="urn:microsoft.com/office/officeart/2005/8/layout/process1"/>
    <dgm:cxn modelId="{8434D6CF-C285-41BE-BB17-CCB6844C8363}" type="presOf" srcId="{D66B8463-6FB0-44CF-A75C-B243FD3F1168}" destId="{F1A82EAA-4F96-456C-87B5-EEE753A5155A}" srcOrd="0" destOrd="0" presId="urn:microsoft.com/office/officeart/2005/8/layout/process1"/>
    <dgm:cxn modelId="{BFC41ED3-4141-4BE6-A1E0-CC71511F775C}" type="presOf" srcId="{AFF4CCC4-AB6C-4075-8F71-D397736BF106}" destId="{72A2C77F-D624-4F5D-A2DE-219DA83184E4}" srcOrd="1" destOrd="0" presId="urn:microsoft.com/office/officeart/2005/8/layout/process1"/>
    <dgm:cxn modelId="{9B20CDD3-1B46-4890-9F6C-AECE7FF394D6}" srcId="{F684058E-473A-40A1-8D25-70801BF80C6C}" destId="{D66B8463-6FB0-44CF-A75C-B243FD3F1168}" srcOrd="0" destOrd="0" parTransId="{7B7EE115-0651-4C87-92AA-DF1728234773}" sibTransId="{06E51305-C544-4935-9C53-EA9B31BA7C75}"/>
    <dgm:cxn modelId="{F04C26D5-B37E-4275-8EE1-AD028936D787}" type="presOf" srcId="{F684058E-473A-40A1-8D25-70801BF80C6C}" destId="{FC10ACD3-1F55-4D52-9580-21711054C6E0}" srcOrd="0" destOrd="0" presId="urn:microsoft.com/office/officeart/2005/8/layout/process1"/>
    <dgm:cxn modelId="{8BF9BBDF-3CF9-4F8B-9CF2-96F155F52B0E}" type="presOf" srcId="{06E51305-C544-4935-9C53-EA9B31BA7C75}" destId="{69E1955F-98ED-42F0-844A-C01A741D0583}" srcOrd="0" destOrd="0" presId="urn:microsoft.com/office/officeart/2005/8/layout/process1"/>
    <dgm:cxn modelId="{185C39F2-9A35-4F5A-9057-286D3255F4B5}" type="presOf" srcId="{96147CA6-0AE7-47D2-8FCB-59F8E03F8BE9}" destId="{CA692EEE-9367-43E7-8888-95DAA64DAA7E}" srcOrd="0" destOrd="0" presId="urn:microsoft.com/office/officeart/2005/8/layout/process1"/>
    <dgm:cxn modelId="{68B500F9-271E-4F2F-82C7-A1C60AE90FFB}" type="presOf" srcId="{A14D43FD-450A-4A71-A2BA-184BE28D97EB}" destId="{AA48E2EA-8ED2-46D4-A680-7A7A11715D8A}" srcOrd="0" destOrd="0" presId="urn:microsoft.com/office/officeart/2005/8/layout/process1"/>
    <dgm:cxn modelId="{0008C1FB-AED2-489F-84EB-AFFF7E7A7FF6}" type="presOf" srcId="{1A05F440-66D7-411C-8E29-C7FAB264D125}" destId="{878BB11A-595A-4CE7-9596-FAF79C4B5F49}" srcOrd="1" destOrd="0" presId="urn:microsoft.com/office/officeart/2005/8/layout/process1"/>
    <dgm:cxn modelId="{0DFDE7FC-6E19-4D43-9A4E-E63F2DFF2FD9}" type="presOf" srcId="{96147CA6-0AE7-47D2-8FCB-59F8E03F8BE9}" destId="{548E0B1C-746E-4310-8114-A08A752FD965}" srcOrd="1" destOrd="0" presId="urn:microsoft.com/office/officeart/2005/8/layout/process1"/>
    <dgm:cxn modelId="{6C1A6DFE-CF1E-4955-8B95-F0873D76508F}" type="presOf" srcId="{1A05F440-66D7-411C-8E29-C7FAB264D125}" destId="{620FFABD-B714-4152-A7DD-9A828C07879A}" srcOrd="0" destOrd="0" presId="urn:microsoft.com/office/officeart/2005/8/layout/process1"/>
    <dgm:cxn modelId="{222930C6-EF2B-4B0B-B4ED-F8734ECF0B25}" type="presParOf" srcId="{FC10ACD3-1F55-4D52-9580-21711054C6E0}" destId="{F1A82EAA-4F96-456C-87B5-EEE753A5155A}" srcOrd="0" destOrd="0" presId="urn:microsoft.com/office/officeart/2005/8/layout/process1"/>
    <dgm:cxn modelId="{D71BA252-18B9-40B4-ADC7-FF32DD8A96BD}" type="presParOf" srcId="{FC10ACD3-1F55-4D52-9580-21711054C6E0}" destId="{69E1955F-98ED-42F0-844A-C01A741D0583}" srcOrd="1" destOrd="0" presId="urn:microsoft.com/office/officeart/2005/8/layout/process1"/>
    <dgm:cxn modelId="{572954A2-9191-4FF3-82EA-63553C322E83}" type="presParOf" srcId="{69E1955F-98ED-42F0-844A-C01A741D0583}" destId="{44F1CB1D-AE68-4E90-8F83-9CF3D71DA795}" srcOrd="0" destOrd="0" presId="urn:microsoft.com/office/officeart/2005/8/layout/process1"/>
    <dgm:cxn modelId="{3F80C90E-0C5A-4BD0-8B13-880B676D5988}" type="presParOf" srcId="{FC10ACD3-1F55-4D52-9580-21711054C6E0}" destId="{AA48E2EA-8ED2-46D4-A680-7A7A11715D8A}" srcOrd="2" destOrd="0" presId="urn:microsoft.com/office/officeart/2005/8/layout/process1"/>
    <dgm:cxn modelId="{1BB16C17-A39C-42B5-A940-79114677ACB4}" type="presParOf" srcId="{FC10ACD3-1F55-4D52-9580-21711054C6E0}" destId="{620FFABD-B714-4152-A7DD-9A828C07879A}" srcOrd="3" destOrd="0" presId="urn:microsoft.com/office/officeart/2005/8/layout/process1"/>
    <dgm:cxn modelId="{4037E183-2B24-4093-8705-401E3A8F007D}" type="presParOf" srcId="{620FFABD-B714-4152-A7DD-9A828C07879A}" destId="{878BB11A-595A-4CE7-9596-FAF79C4B5F49}" srcOrd="0" destOrd="0" presId="urn:microsoft.com/office/officeart/2005/8/layout/process1"/>
    <dgm:cxn modelId="{4E090BD5-FAA0-4182-86B9-E5D3B8ACF0D6}" type="presParOf" srcId="{FC10ACD3-1F55-4D52-9580-21711054C6E0}" destId="{FFC9850C-2F11-4564-8CFB-97325BF0FE65}" srcOrd="4" destOrd="0" presId="urn:microsoft.com/office/officeart/2005/8/layout/process1"/>
    <dgm:cxn modelId="{20BE3736-3E0A-461D-9ACC-C1C8FEBD4215}" type="presParOf" srcId="{FC10ACD3-1F55-4D52-9580-21711054C6E0}" destId="{50B86105-BE23-49B1-8B9B-BD6BFB874A5F}" srcOrd="5" destOrd="0" presId="urn:microsoft.com/office/officeart/2005/8/layout/process1"/>
    <dgm:cxn modelId="{2F910865-A9ED-4B95-8620-D96386E1386F}" type="presParOf" srcId="{50B86105-BE23-49B1-8B9B-BD6BFB874A5F}" destId="{B2B8DA51-BBBD-4D5E-AC4D-DD7BF917A24F}" srcOrd="0" destOrd="0" presId="urn:microsoft.com/office/officeart/2005/8/layout/process1"/>
    <dgm:cxn modelId="{C1225493-3025-41E9-80DA-EE9A8F91F703}" type="presParOf" srcId="{FC10ACD3-1F55-4D52-9580-21711054C6E0}" destId="{1FBCC683-C819-4259-AE24-E53D2CFC06F9}" srcOrd="6" destOrd="0" presId="urn:microsoft.com/office/officeart/2005/8/layout/process1"/>
    <dgm:cxn modelId="{B71EBB18-C414-4404-8FED-582D8476C66C}" type="presParOf" srcId="{FC10ACD3-1F55-4D52-9580-21711054C6E0}" destId="{CA692EEE-9367-43E7-8888-95DAA64DAA7E}" srcOrd="7" destOrd="0" presId="urn:microsoft.com/office/officeart/2005/8/layout/process1"/>
    <dgm:cxn modelId="{29607C53-1F18-421B-9F07-85F02A621A75}" type="presParOf" srcId="{CA692EEE-9367-43E7-8888-95DAA64DAA7E}" destId="{548E0B1C-746E-4310-8114-A08A752FD965}" srcOrd="0" destOrd="0" presId="urn:microsoft.com/office/officeart/2005/8/layout/process1"/>
    <dgm:cxn modelId="{02DBE04C-DF3D-46E1-8895-304D251C7E02}" type="presParOf" srcId="{FC10ACD3-1F55-4D52-9580-21711054C6E0}" destId="{52D91C04-2DAE-4A5A-881B-45811D5ECBCE}" srcOrd="8" destOrd="0" presId="urn:microsoft.com/office/officeart/2005/8/layout/process1"/>
    <dgm:cxn modelId="{78D4965D-A62F-4598-8373-D6376AA76F13}" type="presParOf" srcId="{FC10ACD3-1F55-4D52-9580-21711054C6E0}" destId="{F3930A0C-5F65-4E4D-AB31-8E0897E1452B}" srcOrd="9" destOrd="0" presId="urn:microsoft.com/office/officeart/2005/8/layout/process1"/>
    <dgm:cxn modelId="{88383336-E64A-4C1A-8910-415B84EEBF2D}" type="presParOf" srcId="{F3930A0C-5F65-4E4D-AB31-8E0897E1452B}" destId="{72A2C77F-D624-4F5D-A2DE-219DA83184E4}" srcOrd="0" destOrd="0" presId="urn:microsoft.com/office/officeart/2005/8/layout/process1"/>
    <dgm:cxn modelId="{07CC6496-C742-44F6-B117-8AC005B89266}" type="presParOf" srcId="{FC10ACD3-1F55-4D52-9580-21711054C6E0}" destId="{8C410589-8F0E-4E1E-9529-8CAA83D358BE}" srcOrd="10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1A82EAA-4F96-456C-87B5-EEE753A5155A}">
      <dsp:nvSpPr>
        <dsp:cNvPr id="0" name=""/>
        <dsp:cNvSpPr/>
      </dsp:nvSpPr>
      <dsp:spPr>
        <a:xfrm>
          <a:off x="0" y="563993"/>
          <a:ext cx="1471929" cy="295500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>
              <a:latin typeface="AirIndia" panose="04050608020B02020302"/>
            </a:rPr>
            <a:t>-Configuration of UK pay structures in new AI PS instance 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>
              <a:latin typeface="AirIndia" panose="04050608020B02020302"/>
            </a:rPr>
            <a:t>-3 parallel payroll mock runs (Aug, Sep, Oct) </a:t>
          </a:r>
          <a:r>
            <a:rPr lang="en-IN" sz="1050" b="0" kern="1200" dirty="0">
              <a:latin typeface="AirIndia" panose="04050608020B02020302"/>
            </a:rPr>
            <a:t>(In Progress)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0" kern="1200" dirty="0">
              <a:latin typeface="AirIndia" panose="04050608020B02020302"/>
            </a:rPr>
            <a:t>-UK IFS &amp; Flight Ops team to provide payroll inputs to AI Payroll team for mock runs</a:t>
          </a:r>
        </a:p>
      </dsp:txBody>
      <dsp:txXfrm>
        <a:off x="43111" y="607104"/>
        <a:ext cx="1385707" cy="2868781"/>
      </dsp:txXfrm>
    </dsp:sp>
    <dsp:sp modelId="{69E1955F-98ED-42F0-844A-C01A741D0583}">
      <dsp:nvSpPr>
        <dsp:cNvPr id="0" name=""/>
        <dsp:cNvSpPr/>
      </dsp:nvSpPr>
      <dsp:spPr>
        <a:xfrm>
          <a:off x="1619123" y="1858976"/>
          <a:ext cx="312049" cy="3650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>
            <a:latin typeface="AirIndia" panose="04050608020B02020302"/>
          </a:endParaRPr>
        </a:p>
      </dsp:txBody>
      <dsp:txXfrm>
        <a:off x="1619123" y="1931984"/>
        <a:ext cx="218434" cy="219022"/>
      </dsp:txXfrm>
    </dsp:sp>
    <dsp:sp modelId="{AA48E2EA-8ED2-46D4-A680-7A7A11715D8A}">
      <dsp:nvSpPr>
        <dsp:cNvPr id="0" name=""/>
        <dsp:cNvSpPr/>
      </dsp:nvSpPr>
      <dsp:spPr>
        <a:xfrm>
          <a:off x="2060702" y="563993"/>
          <a:ext cx="1471929" cy="295500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0" kern="1200" dirty="0">
              <a:latin typeface="AirIndia" panose="04050608020B02020302"/>
            </a:rPr>
            <a:t>-Flying allowance (variable pay) till 31</a:t>
          </a:r>
          <a:r>
            <a:rPr lang="en-IN" sz="1050" b="0" kern="1200" baseline="30000" dirty="0">
              <a:latin typeface="AirIndia" panose="04050608020B02020302"/>
            </a:rPr>
            <a:t>st</a:t>
          </a:r>
          <a:r>
            <a:rPr lang="en-IN" sz="1050" b="0" kern="1200" dirty="0">
              <a:latin typeface="AirIndia" panose="04050608020B02020302"/>
            </a:rPr>
            <a:t> Oct salary final calculation to be done by UK payroll for UK Crew 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0" kern="1200" dirty="0">
              <a:latin typeface="AirIndia" panose="04050608020B02020302"/>
            </a:rPr>
            <a:t>-</a:t>
          </a:r>
          <a:r>
            <a:rPr lang="en-US" sz="1050" kern="1200" dirty="0">
              <a:latin typeface="AirIndia" panose="04050608020B02020302"/>
              <a:cs typeface="Arial" panose="020B0604020202020204" pitchFamily="34" charset="0"/>
            </a:rPr>
            <a:t>PS Instance Testing: UAT Completion – 16</a:t>
          </a:r>
          <a:r>
            <a:rPr lang="en-US" sz="1050" kern="1200" baseline="30000" dirty="0">
              <a:latin typeface="AirIndia" panose="04050608020B02020302"/>
              <a:cs typeface="Arial" panose="020B0604020202020204" pitchFamily="34" charset="0"/>
            </a:rPr>
            <a:t>th</a:t>
          </a:r>
          <a:r>
            <a:rPr lang="en-US" sz="1050" kern="1200" dirty="0">
              <a:latin typeface="AirIndia" panose="04050608020B02020302"/>
              <a:cs typeface="Arial" panose="020B0604020202020204" pitchFamily="34" charset="0"/>
            </a:rPr>
            <a:t> Oct 24; Full data migration completion by 18</a:t>
          </a:r>
          <a:r>
            <a:rPr lang="en-US" sz="1050" kern="1200" baseline="30000" dirty="0">
              <a:latin typeface="AirIndia" panose="04050608020B02020302"/>
              <a:cs typeface="Arial" panose="020B0604020202020204" pitchFamily="34" charset="0"/>
            </a:rPr>
            <a:t>th</a:t>
          </a:r>
          <a:r>
            <a:rPr lang="en-US" sz="1050" kern="1200" dirty="0">
              <a:latin typeface="AirIndia" panose="04050608020B02020302"/>
              <a:cs typeface="Arial" panose="020B0604020202020204" pitchFamily="34" charset="0"/>
            </a:rPr>
            <a:t> Oct 24.</a:t>
          </a:r>
          <a:endParaRPr lang="en-IN" sz="1050" b="0" kern="1200" dirty="0">
            <a:latin typeface="AirIndia" panose="04050608020B02020302"/>
          </a:endParaRPr>
        </a:p>
      </dsp:txBody>
      <dsp:txXfrm>
        <a:off x="2103813" y="607104"/>
        <a:ext cx="1385707" cy="2868781"/>
      </dsp:txXfrm>
    </dsp:sp>
    <dsp:sp modelId="{620FFABD-B714-4152-A7DD-9A828C07879A}">
      <dsp:nvSpPr>
        <dsp:cNvPr id="0" name=""/>
        <dsp:cNvSpPr/>
      </dsp:nvSpPr>
      <dsp:spPr>
        <a:xfrm>
          <a:off x="3679825" y="1858976"/>
          <a:ext cx="312049" cy="3650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>
            <a:latin typeface="AirIndia" panose="04050608020B02020302"/>
          </a:endParaRPr>
        </a:p>
      </dsp:txBody>
      <dsp:txXfrm>
        <a:off x="3679825" y="1931984"/>
        <a:ext cx="218434" cy="219022"/>
      </dsp:txXfrm>
    </dsp:sp>
    <dsp:sp modelId="{FFC9850C-2F11-4564-8CFB-97325BF0FE65}">
      <dsp:nvSpPr>
        <dsp:cNvPr id="0" name=""/>
        <dsp:cNvSpPr/>
      </dsp:nvSpPr>
      <dsp:spPr>
        <a:xfrm>
          <a:off x="4121404" y="563993"/>
          <a:ext cx="1471929" cy="295500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>
              <a:latin typeface="AirIndia" panose="04050608020B02020302"/>
            </a:rPr>
            <a:t>-</a:t>
          </a:r>
          <a:r>
            <a:rPr lang="en-IN" sz="1050" b="0" kern="1200" dirty="0">
              <a:latin typeface="AirIndia" panose="04050608020B02020302"/>
            </a:rPr>
            <a:t>UK IFS &amp; Flight Ops to share flying allowance payroll inputs from 1</a:t>
          </a:r>
          <a:r>
            <a:rPr lang="en-IN" sz="1050" b="0" kern="1200" baseline="30000" dirty="0">
              <a:latin typeface="AirIndia" panose="04050608020B02020302"/>
            </a:rPr>
            <a:t>st</a:t>
          </a:r>
          <a:r>
            <a:rPr lang="en-IN" sz="1050" b="0" kern="1200" dirty="0">
              <a:latin typeface="AirIndia" panose="04050608020B02020302"/>
            </a:rPr>
            <a:t> to 11</a:t>
          </a:r>
          <a:r>
            <a:rPr lang="en-IN" sz="1050" b="0" kern="1200" baseline="30000" dirty="0">
              <a:latin typeface="AirIndia" panose="04050608020B02020302"/>
            </a:rPr>
            <a:t>th</a:t>
          </a:r>
          <a:r>
            <a:rPr lang="en-IN" sz="1050" b="0" kern="1200" dirty="0">
              <a:latin typeface="AirIndia" panose="04050608020B02020302"/>
            </a:rPr>
            <a:t> Nov with AI IFS &amp; Flight Ops team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>
              <a:latin typeface="AirIndia" panose="04050608020B02020302"/>
            </a:rPr>
            <a:t>-</a:t>
          </a:r>
          <a:r>
            <a:rPr lang="en-IN" sz="1050" b="0" kern="1200" dirty="0">
              <a:latin typeface="AirIndia" panose="04050608020B02020302"/>
            </a:rPr>
            <a:t>Harmonized</a:t>
          </a:r>
          <a:r>
            <a:rPr lang="en-IN" sz="1050" b="1" kern="1200" dirty="0">
              <a:latin typeface="AirIndia" panose="04050608020B02020302"/>
            </a:rPr>
            <a:t> </a:t>
          </a:r>
          <a:r>
            <a:rPr lang="en-IN" sz="1050" b="0" kern="1200" dirty="0">
              <a:latin typeface="AirIndia" panose="04050608020B02020302"/>
            </a:rPr>
            <a:t>employee master, UK roster &amp; UK leaves Data migration from ARMS to CAE (Go-Live: 11</a:t>
          </a:r>
          <a:r>
            <a:rPr lang="en-IN" sz="1050" b="0" kern="1200" baseline="30000" dirty="0">
              <a:latin typeface="AirIndia" panose="04050608020B02020302"/>
            </a:rPr>
            <a:t>th</a:t>
          </a:r>
          <a:r>
            <a:rPr lang="en-IN" sz="1050" b="0" kern="1200" dirty="0">
              <a:latin typeface="AirIndia" panose="04050608020B02020302"/>
            </a:rPr>
            <a:t> Nov)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>
            <a:latin typeface="AirIndia" panose="04050608020B02020302"/>
          </a:endParaRPr>
        </a:p>
      </dsp:txBody>
      <dsp:txXfrm>
        <a:off x="4164515" y="607104"/>
        <a:ext cx="1385707" cy="2868781"/>
      </dsp:txXfrm>
    </dsp:sp>
    <dsp:sp modelId="{50B86105-BE23-49B1-8B9B-BD6BFB874A5F}">
      <dsp:nvSpPr>
        <dsp:cNvPr id="0" name=""/>
        <dsp:cNvSpPr/>
      </dsp:nvSpPr>
      <dsp:spPr>
        <a:xfrm>
          <a:off x="5740527" y="1858976"/>
          <a:ext cx="312049" cy="3650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>
            <a:latin typeface="AirIndia" panose="04050608020B02020302"/>
          </a:endParaRPr>
        </a:p>
      </dsp:txBody>
      <dsp:txXfrm>
        <a:off x="5740527" y="1931984"/>
        <a:ext cx="218434" cy="219022"/>
      </dsp:txXfrm>
    </dsp:sp>
    <dsp:sp modelId="{1FBCC683-C819-4259-AE24-E53D2CFC06F9}">
      <dsp:nvSpPr>
        <dsp:cNvPr id="0" name=""/>
        <dsp:cNvSpPr/>
      </dsp:nvSpPr>
      <dsp:spPr>
        <a:xfrm>
          <a:off x="6182105" y="563993"/>
          <a:ext cx="1471929" cy="295500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0" kern="1200" dirty="0">
              <a:latin typeface="AirIndia" panose="04050608020B02020302"/>
            </a:rPr>
            <a:t>-Flying allowance salary (till 31</a:t>
          </a:r>
          <a:r>
            <a:rPr lang="en-IN" sz="1050" b="0" kern="1200" baseline="30000" dirty="0">
              <a:latin typeface="AirIndia" panose="04050608020B02020302"/>
            </a:rPr>
            <a:t>st</a:t>
          </a:r>
          <a:r>
            <a:rPr lang="en-IN" sz="1050" b="0" kern="1200" dirty="0">
              <a:latin typeface="AirIndia" panose="04050608020B02020302"/>
            </a:rPr>
            <a:t> Oct) calculation for UK Crew by UK Payroll team (payout on 30</a:t>
          </a:r>
          <a:r>
            <a:rPr lang="en-IN" sz="1050" b="0" kern="1200" baseline="30000" dirty="0">
              <a:latin typeface="AirIndia" panose="04050608020B02020302"/>
            </a:rPr>
            <a:t>th</a:t>
          </a:r>
          <a:r>
            <a:rPr lang="en-IN" sz="1050" b="0" kern="1200" dirty="0">
              <a:latin typeface="AirIndia" panose="04050608020B02020302"/>
            </a:rPr>
            <a:t> Nov) to be shared with AI Payroll team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0" kern="1200" dirty="0">
              <a:latin typeface="AirIndia" panose="04050608020B02020302"/>
            </a:rPr>
            <a:t>-Fixed salary (non-flying) calculation for UK Crew of non-flying salary till 11</a:t>
          </a:r>
          <a:r>
            <a:rPr lang="en-IN" sz="1050" b="0" kern="1200" baseline="30000" dirty="0">
              <a:latin typeface="AirIndia" panose="04050608020B02020302"/>
            </a:rPr>
            <a:t>th</a:t>
          </a:r>
          <a:r>
            <a:rPr lang="en-IN" sz="1050" b="0" kern="1200" dirty="0">
              <a:latin typeface="AirIndia" panose="04050608020B02020302"/>
            </a:rPr>
            <a:t> Nov by UK Payroll team (post deducting TDS &amp; PF) to be shared with AI Payroll team</a:t>
          </a:r>
        </a:p>
      </dsp:txBody>
      <dsp:txXfrm>
        <a:off x="6225216" y="607104"/>
        <a:ext cx="1385707" cy="2868781"/>
      </dsp:txXfrm>
    </dsp:sp>
    <dsp:sp modelId="{CA692EEE-9367-43E7-8888-95DAA64DAA7E}">
      <dsp:nvSpPr>
        <dsp:cNvPr id="0" name=""/>
        <dsp:cNvSpPr/>
      </dsp:nvSpPr>
      <dsp:spPr>
        <a:xfrm>
          <a:off x="7801229" y="1858976"/>
          <a:ext cx="312049" cy="3650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>
            <a:latin typeface="AirIndia" panose="04050608020B02020302"/>
          </a:endParaRPr>
        </a:p>
      </dsp:txBody>
      <dsp:txXfrm>
        <a:off x="7801229" y="1931984"/>
        <a:ext cx="218434" cy="219022"/>
      </dsp:txXfrm>
    </dsp:sp>
    <dsp:sp modelId="{52D91C04-2DAE-4A5A-881B-45811D5ECBCE}">
      <dsp:nvSpPr>
        <dsp:cNvPr id="0" name=""/>
        <dsp:cNvSpPr/>
      </dsp:nvSpPr>
      <dsp:spPr>
        <a:xfrm>
          <a:off x="8242807" y="563993"/>
          <a:ext cx="1471929" cy="295500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>
              <a:latin typeface="AirIndia" panose="04050608020B02020302"/>
            </a:rPr>
            <a:t>-Payout of Flying allowance salary (till 31</a:t>
          </a:r>
          <a:r>
            <a:rPr lang="en-IN" sz="1050" kern="1200" baseline="30000" dirty="0">
              <a:latin typeface="AirIndia" panose="04050608020B02020302"/>
            </a:rPr>
            <a:t>st</a:t>
          </a:r>
          <a:r>
            <a:rPr lang="en-IN" sz="1050" kern="1200" dirty="0">
              <a:latin typeface="AirIndia" panose="04050608020B02020302"/>
            </a:rPr>
            <a:t> Oct) to UK Crew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kern="1200" dirty="0">
              <a:latin typeface="AirIndia" panose="04050608020B02020302"/>
            </a:rPr>
            <a:t>-Payout of fixed salary component for Nov month to UK Crew (inputs for 1</a:t>
          </a:r>
          <a:r>
            <a:rPr lang="en-IN" sz="1050" kern="1200" baseline="30000" dirty="0">
              <a:latin typeface="AirIndia" panose="04050608020B02020302"/>
            </a:rPr>
            <a:t>st</a:t>
          </a:r>
          <a:r>
            <a:rPr lang="en-IN" sz="1050" kern="1200" dirty="0">
              <a:latin typeface="AirIndia" panose="04050608020B02020302"/>
            </a:rPr>
            <a:t> to 11</a:t>
          </a:r>
          <a:r>
            <a:rPr lang="en-IN" sz="1050" kern="1200" baseline="30000" dirty="0">
              <a:latin typeface="AirIndia" panose="04050608020B02020302"/>
            </a:rPr>
            <a:t>th</a:t>
          </a:r>
          <a:r>
            <a:rPr lang="en-IN" sz="1050" kern="1200" dirty="0">
              <a:latin typeface="AirIndia" panose="04050608020B02020302"/>
            </a:rPr>
            <a:t> Nov from UK &amp; for 12</a:t>
          </a:r>
          <a:r>
            <a:rPr lang="en-IN" sz="1050" kern="1200" baseline="30000" dirty="0">
              <a:latin typeface="AirIndia" panose="04050608020B02020302"/>
            </a:rPr>
            <a:t>th</a:t>
          </a:r>
          <a:r>
            <a:rPr lang="en-IN" sz="1050" kern="1200" dirty="0">
              <a:latin typeface="AirIndia" panose="04050608020B02020302"/>
            </a:rPr>
            <a:t> to 30</a:t>
          </a:r>
          <a:r>
            <a:rPr lang="en-IN" sz="1050" kern="1200" baseline="30000" dirty="0">
              <a:latin typeface="AirIndia" panose="04050608020B02020302"/>
            </a:rPr>
            <a:t>th</a:t>
          </a:r>
          <a:r>
            <a:rPr lang="en-IN" sz="1050" kern="1200" dirty="0">
              <a:latin typeface="AirIndia" panose="04050608020B02020302"/>
            </a:rPr>
            <a:t> Nov from AI)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>
            <a:latin typeface="AirIndia" panose="04050608020B02020302"/>
          </a:endParaRP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>
            <a:latin typeface="AirIndia" panose="04050608020B02020302"/>
          </a:endParaRP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>
            <a:latin typeface="AirIndia" panose="04050608020B02020302"/>
          </a:endParaRP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 dirty="0">
            <a:latin typeface="AirIndia" panose="04050608020B02020302"/>
          </a:endParaRPr>
        </a:p>
      </dsp:txBody>
      <dsp:txXfrm>
        <a:off x="8285918" y="607104"/>
        <a:ext cx="1385707" cy="2868781"/>
      </dsp:txXfrm>
    </dsp:sp>
    <dsp:sp modelId="{F3930A0C-5F65-4E4D-AB31-8E0897E1452B}">
      <dsp:nvSpPr>
        <dsp:cNvPr id="0" name=""/>
        <dsp:cNvSpPr/>
      </dsp:nvSpPr>
      <dsp:spPr>
        <a:xfrm>
          <a:off x="9861930" y="1858976"/>
          <a:ext cx="312049" cy="3650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050" kern="1200">
            <a:latin typeface="AirIndia" panose="04050608020B02020302"/>
          </a:endParaRPr>
        </a:p>
      </dsp:txBody>
      <dsp:txXfrm>
        <a:off x="9861930" y="1931984"/>
        <a:ext cx="218434" cy="219022"/>
      </dsp:txXfrm>
    </dsp:sp>
    <dsp:sp modelId="{8C410589-8F0E-4E1E-9529-8CAA83D358BE}">
      <dsp:nvSpPr>
        <dsp:cNvPr id="0" name=""/>
        <dsp:cNvSpPr/>
      </dsp:nvSpPr>
      <dsp:spPr>
        <a:xfrm>
          <a:off x="10303509" y="563993"/>
          <a:ext cx="1471929" cy="2955003"/>
        </a:xfrm>
        <a:prstGeom prst="roundRect">
          <a:avLst>
            <a:gd name="adj" fmla="val 10000"/>
          </a:avLst>
        </a:prstGeom>
        <a:solidFill>
          <a:srgbClr val="002060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>
              <a:latin typeface="AirIndia" panose="04050608020B02020302"/>
            </a:rPr>
            <a:t>1</a:t>
          </a:r>
          <a:r>
            <a:rPr lang="en-IN" sz="1050" b="1" kern="1200" baseline="30000" dirty="0">
              <a:latin typeface="AirIndia" panose="04050608020B02020302"/>
            </a:rPr>
            <a:t>st</a:t>
          </a:r>
          <a:r>
            <a:rPr lang="en-IN" sz="1050" b="1" kern="1200" dirty="0">
              <a:latin typeface="AirIndia" panose="04050608020B02020302"/>
            </a:rPr>
            <a:t>-31</a:t>
          </a:r>
          <a:r>
            <a:rPr lang="en-IN" sz="1050" b="1" kern="1200" baseline="30000" dirty="0">
              <a:latin typeface="AirIndia" panose="04050608020B02020302"/>
            </a:rPr>
            <a:t>st</a:t>
          </a:r>
          <a:r>
            <a:rPr lang="en-IN" sz="1050" b="1" kern="1200" dirty="0">
              <a:latin typeface="AirIndia" panose="04050608020B02020302"/>
            </a:rPr>
            <a:t> Dec 24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0" kern="1200" dirty="0">
              <a:latin typeface="AirIndia" panose="04050608020B02020302"/>
            </a:rPr>
            <a:t>-Fixed salary calculation from 1</a:t>
          </a:r>
          <a:r>
            <a:rPr lang="en-IN" sz="1050" b="0" kern="1200" baseline="30000" dirty="0">
              <a:latin typeface="AirIndia" panose="04050608020B02020302"/>
            </a:rPr>
            <a:t>st</a:t>
          </a:r>
          <a:r>
            <a:rPr lang="en-IN" sz="1050" b="0" kern="1200" dirty="0">
              <a:latin typeface="AirIndia" panose="04050608020B02020302"/>
            </a:rPr>
            <a:t> to 31</a:t>
          </a:r>
          <a:r>
            <a:rPr lang="en-IN" sz="1050" b="0" kern="1200" baseline="30000" dirty="0">
              <a:latin typeface="AirIndia" panose="04050608020B02020302"/>
            </a:rPr>
            <a:t>st</a:t>
          </a:r>
          <a:r>
            <a:rPr lang="en-IN" sz="1050" b="0" kern="1200" dirty="0">
              <a:latin typeface="AirIndia" panose="04050608020B02020302"/>
            </a:rPr>
            <a:t> Dec for UK &amp; AI Crew by AI Payroll team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0" kern="1200" dirty="0">
              <a:latin typeface="AirIndia" panose="04050608020B02020302"/>
            </a:rPr>
            <a:t>-Flying allowance salary (1</a:t>
          </a:r>
          <a:r>
            <a:rPr lang="en-IN" sz="1050" b="0" kern="1200" baseline="30000" dirty="0">
              <a:latin typeface="AirIndia" panose="04050608020B02020302"/>
            </a:rPr>
            <a:t>st</a:t>
          </a:r>
          <a:r>
            <a:rPr lang="en-IN" sz="1050" b="0" kern="1200" dirty="0">
              <a:latin typeface="AirIndia" panose="04050608020B02020302"/>
            </a:rPr>
            <a:t> to 30</a:t>
          </a:r>
          <a:r>
            <a:rPr lang="en-IN" sz="1050" b="0" kern="1200" baseline="30000" dirty="0">
              <a:latin typeface="AirIndia" panose="04050608020B02020302"/>
            </a:rPr>
            <a:t>th</a:t>
          </a:r>
          <a:r>
            <a:rPr lang="en-IN" sz="1050" b="0" kern="1200" dirty="0">
              <a:latin typeface="AirIndia" panose="04050608020B02020302"/>
            </a:rPr>
            <a:t> Nov) calculation for UK &amp; AI Crew to be compiled by AI Payroll team</a:t>
          </a:r>
          <a:endParaRPr lang="en-IN" sz="1050" kern="1200" dirty="0">
            <a:latin typeface="AirIndia" panose="04050608020B02020302"/>
          </a:endParaRPr>
        </a:p>
        <a:p>
          <a:pPr marL="0" lvl="0" indent="0" algn="ctr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1" kern="1200" dirty="0">
              <a:latin typeface="AirIndia" panose="04050608020B02020302"/>
            </a:rPr>
            <a:t>On 31</a:t>
          </a:r>
          <a:r>
            <a:rPr lang="en-IN" sz="1050" b="1" kern="1200" baseline="30000" dirty="0">
              <a:latin typeface="AirIndia" panose="04050608020B02020302"/>
            </a:rPr>
            <a:t>st</a:t>
          </a:r>
          <a:r>
            <a:rPr lang="en-IN" sz="1050" b="1" kern="1200" dirty="0">
              <a:latin typeface="AirIndia" panose="04050608020B02020302"/>
            </a:rPr>
            <a:t> Dec 24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0" kern="1200" dirty="0">
              <a:latin typeface="AirIndia" panose="04050608020B02020302"/>
            </a:rPr>
            <a:t>-Fixed salary (1</a:t>
          </a:r>
          <a:r>
            <a:rPr lang="en-IN" sz="1050" b="0" kern="1200" baseline="30000" dirty="0">
              <a:latin typeface="AirIndia" panose="04050608020B02020302"/>
            </a:rPr>
            <a:t>st</a:t>
          </a:r>
          <a:r>
            <a:rPr lang="en-IN" sz="1050" b="0" kern="1200" dirty="0">
              <a:latin typeface="AirIndia" panose="04050608020B02020302"/>
            </a:rPr>
            <a:t> to 31</a:t>
          </a:r>
          <a:r>
            <a:rPr lang="en-IN" sz="1050" b="0" kern="1200" baseline="30000" dirty="0">
              <a:latin typeface="AirIndia" panose="04050608020B02020302"/>
            </a:rPr>
            <a:t>st</a:t>
          </a:r>
          <a:r>
            <a:rPr lang="en-IN" sz="1050" b="0" kern="1200" dirty="0">
              <a:latin typeface="AirIndia" panose="04050608020B02020302"/>
            </a:rPr>
            <a:t> Dec) payout to UK &amp; AI Crew</a:t>
          </a:r>
        </a:p>
        <a:p>
          <a:pPr marL="0" lvl="0" indent="0" algn="l" defTabSz="466725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050" b="0" kern="1200" dirty="0">
              <a:latin typeface="AirIndia" panose="04050608020B02020302"/>
            </a:rPr>
            <a:t>-Flying allowance salary (1</a:t>
          </a:r>
          <a:r>
            <a:rPr lang="en-IN" sz="1050" b="0" kern="1200" baseline="30000" dirty="0">
              <a:latin typeface="AirIndia" panose="04050608020B02020302"/>
            </a:rPr>
            <a:t>st</a:t>
          </a:r>
          <a:r>
            <a:rPr lang="en-IN" sz="1050" b="0" kern="1200" dirty="0">
              <a:latin typeface="AirIndia" panose="04050608020B02020302"/>
            </a:rPr>
            <a:t> to 30</a:t>
          </a:r>
          <a:r>
            <a:rPr lang="en-IN" sz="1050" b="0" kern="1200" baseline="30000" dirty="0">
              <a:latin typeface="AirIndia" panose="04050608020B02020302"/>
            </a:rPr>
            <a:t>th</a:t>
          </a:r>
          <a:r>
            <a:rPr lang="en-IN" sz="1050" b="0" kern="1200" dirty="0">
              <a:latin typeface="AirIndia" panose="04050608020B02020302"/>
            </a:rPr>
            <a:t> Nov) payout to UK &amp; AI Crew</a:t>
          </a:r>
        </a:p>
      </dsp:txBody>
      <dsp:txXfrm>
        <a:off x="10346620" y="607104"/>
        <a:ext cx="1385707" cy="286878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l">
              <a:defRPr sz="13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093" y="0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r">
              <a:defRPr sz="1300"/>
            </a:lvl1pPr>
          </a:lstStyle>
          <a:p>
            <a:fld id="{75A85089-C692-4DEA-AC49-04CF34D4FE14}" type="datetimeFigureOut">
              <a:rPr lang="en-GB" smtClean="0">
                <a:latin typeface="Arial" pitchFamily="34" charset="0"/>
              </a:rPr>
              <a:pPr/>
              <a:t>09/09/2024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721106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l">
              <a:defRPr sz="13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3093" y="9721106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r">
              <a:defRPr sz="13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8045EBA9-A28D-4849-BFEA-AA04F6A21B63}" type="datetimeFigureOut">
              <a:rPr lang="en-GB" smtClean="0"/>
              <a:pPr/>
              <a:t>09/09/2024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8113" y="766763"/>
            <a:ext cx="6826250" cy="3838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8" tIns="49534" rIns="99068" bIns="49534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861442"/>
            <a:ext cx="5681980" cy="4605576"/>
          </a:xfrm>
          <a:prstGeom prst="rect">
            <a:avLst/>
          </a:prstGeom>
        </p:spPr>
        <p:txBody>
          <a:bodyPr vert="horz" lIns="99068" tIns="49534" rIns="99068" bIns="49534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l">
              <a:defRPr sz="13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3" y="9721106"/>
            <a:ext cx="3077739" cy="511731"/>
          </a:xfrm>
          <a:prstGeom prst="rect">
            <a:avLst/>
          </a:prstGeom>
        </p:spPr>
        <p:txBody>
          <a:bodyPr vert="horz" lIns="99068" tIns="49534" rIns="99068" bIns="49534" rtlCol="0" anchor="b"/>
          <a:lstStyle>
            <a:lvl1pPr algn="r">
              <a:defRPr sz="13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46670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6.png"/></Relationships>
</file>

<file path=ppt/slideLayouts/_rels/slideLayout10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_rels/slideLayout10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4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8.png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5.png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4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9.png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E95BC52-A56D-4358-A294-750179EBB698}"/>
              </a:ext>
            </a:extLst>
          </p:cNvPr>
          <p:cNvGrpSpPr/>
          <p:nvPr userDrawn="1"/>
        </p:nvGrpSpPr>
        <p:grpSpPr>
          <a:xfrm>
            <a:off x="489367" y="876060"/>
            <a:ext cx="4855295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175204390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319088"/>
            <a:ext cx="10978515" cy="652462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A3C9806C-46CF-45EE-8ECD-A4424F085FC6}"/>
              </a:ext>
            </a:extLst>
          </p:cNvPr>
          <p:cNvSpPr>
            <a:spLocks/>
          </p:cNvSpPr>
          <p:nvPr userDrawn="1"/>
        </p:nvSpPr>
        <p:spPr>
          <a:xfrm>
            <a:off x="601178" y="973454"/>
            <a:ext cx="324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C4186CA-3062-49AA-B4A6-4F5659A20A0D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130826B-32F8-4F0D-8B25-C68C977272C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36070082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9" y="192088"/>
            <a:ext cx="10978515" cy="652462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7C61F77C-1062-4790-9726-D7CEE4F6C165}"/>
              </a:ext>
            </a:extLst>
          </p:cNvPr>
          <p:cNvSpPr>
            <a:spLocks/>
          </p:cNvSpPr>
          <p:nvPr userDrawn="1"/>
        </p:nvSpPr>
        <p:spPr>
          <a:xfrm>
            <a:off x="601178" y="846454"/>
            <a:ext cx="324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25163093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82814E3B-B412-4632-B8D2-29DEAD7B3733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CF5C369C-18B6-42FB-9BFD-BB510D91EFF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250394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9121" y="1"/>
            <a:ext cx="3999231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7444422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918" y="1137921"/>
            <a:ext cx="72996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919" y="2311401"/>
            <a:ext cx="3580117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9444" y="2311403"/>
            <a:ext cx="3580117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9444" y="4236721"/>
            <a:ext cx="3580117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9" y="907750"/>
            <a:ext cx="772385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845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2384460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294" y="294200"/>
            <a:ext cx="88920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5293" y="1137921"/>
            <a:ext cx="2742882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7083" y="1137921"/>
            <a:ext cx="280384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9833" y="1137923"/>
            <a:ext cx="2768600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5294" y="907750"/>
            <a:ext cx="8892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544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9" y="1137920"/>
            <a:ext cx="8238744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84543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800" y="2851522"/>
            <a:ext cx="4447800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0788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 10">
            <a:extLst>
              <a:ext uri="{FF2B5EF4-FFF2-40B4-BE49-F238E27FC236}">
                <a16:creationId xmlns:a16="http://schemas.microsoft.com/office/drawing/2014/main" id="{1CA1861C-5FDB-4203-A132-9CF18C56F211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151C8A0-D00F-44D1-B828-3C8CCE8DF64F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351" y="1488927"/>
            <a:ext cx="2338388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351" y="2526765"/>
            <a:ext cx="5292000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351" y="4632765"/>
            <a:ext cx="5292000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351" y="4971442"/>
            <a:ext cx="5292000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459833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3176" y="2060235"/>
            <a:ext cx="5292000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3176" y="5506678"/>
            <a:ext cx="5292000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3176" y="5818717"/>
            <a:ext cx="5292000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9982" y="979789"/>
            <a:ext cx="2338388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1316126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7180" y="0"/>
            <a:ext cx="5971170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222" y="2578743"/>
            <a:ext cx="4537959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2" y="3840384"/>
            <a:ext cx="4537959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9223303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917" y="1137922"/>
            <a:ext cx="4957505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33462" y="3813288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33462" y="4055931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23008" y="3578084"/>
            <a:ext cx="778959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3008" y="1137922"/>
            <a:ext cx="5465425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3008" y="1635009"/>
            <a:ext cx="5465425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3543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841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9" y="1137920"/>
            <a:ext cx="8238744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7909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00604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8" y="1137919"/>
            <a:ext cx="5387605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9" y="1137919"/>
            <a:ext cx="5387605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614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869442"/>
            <a:ext cx="5393208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869442"/>
            <a:ext cx="5393208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918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9632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441411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99051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741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491661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6299519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89538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85401154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5354161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339937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10980626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3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49025B-9A19-4622-B02A-C1D86C00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6" y="442965"/>
            <a:ext cx="10980626" cy="776236"/>
          </a:xfrm>
        </p:spPr>
        <p:txBody>
          <a:bodyPr lIns="0" anchor="b"/>
          <a:lstStyle>
            <a:lvl1pPr algn="l" defTabSz="85680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2481124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umbered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0655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3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185621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1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E1463A-2994-4BF0-9709-FD6CE08C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8" y="442965"/>
            <a:ext cx="10962109" cy="776236"/>
          </a:xfrm>
        </p:spPr>
        <p:txBody>
          <a:bodyPr lIns="0" anchor="b"/>
          <a:lstStyle>
            <a:lvl1pPr algn="l" defTabSz="85680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548783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42D689-B85E-4F90-88AE-DE8139AE37F5}"/>
              </a:ext>
            </a:extLst>
          </p:cNvPr>
          <p:cNvSpPr/>
          <p:nvPr userDrawn="1"/>
        </p:nvSpPr>
        <p:spPr>
          <a:xfrm>
            <a:off x="7261830" y="6229350"/>
            <a:ext cx="4936520" cy="6286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GB" sz="999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328841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920" y="6471243"/>
            <a:ext cx="5715371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486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EY and SAP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319587246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694525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 userDrawn="1"/>
        </p:nvSpPr>
        <p:spPr>
          <a:xfrm>
            <a:off x="498115" y="795662"/>
            <a:ext cx="4930412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4328932" cy="979702"/>
          </a:xfr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58"/>
            <a:ext cx="4328932" cy="1046323"/>
          </a:xfrm>
        </p:spPr>
        <p:txBody>
          <a:bodyPr/>
          <a:lstStyle>
            <a:lvl1pPr marL="0" indent="0" algn="l">
              <a:spcAft>
                <a:spcPts val="1200"/>
              </a:spcAft>
              <a:buNone/>
              <a:defRPr sz="2000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 b="1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709060"/>
            <a:ext cx="8122101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 userDrawn="1"/>
        </p:nvSpPr>
        <p:spPr>
          <a:xfrm>
            <a:off x="461984" y="5605200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6019189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216807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914642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6505017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 userDrawn="1"/>
        </p:nvSpPr>
        <p:spPr>
          <a:xfrm>
            <a:off x="498115" y="795662"/>
            <a:ext cx="4930412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4328932" cy="979702"/>
          </a:xfr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58"/>
            <a:ext cx="4328932" cy="1046323"/>
          </a:xfrm>
        </p:spPr>
        <p:txBody>
          <a:bodyPr/>
          <a:lstStyle>
            <a:lvl1pPr marL="0" indent="0" algn="l">
              <a:spcAft>
                <a:spcPts val="1200"/>
              </a:spcAft>
              <a:buNone/>
              <a:defRPr sz="2000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600" b="1">
                <a:solidFill>
                  <a:srgbClr val="404040"/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709060"/>
            <a:ext cx="8122101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 userDrawn="1"/>
        </p:nvSpPr>
        <p:spPr>
          <a:xfrm>
            <a:off x="461984" y="5605200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84" y="6019189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84" y="6216807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222124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2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6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6" y="4021755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5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0" y="4021755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3387115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2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3000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00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E95BC52-A56D-4358-A294-750179EBB698}"/>
              </a:ext>
            </a:extLst>
          </p:cNvPr>
          <p:cNvGrpSpPr/>
          <p:nvPr userDrawn="1"/>
        </p:nvGrpSpPr>
        <p:grpSpPr>
          <a:xfrm>
            <a:off x="489366" y="876058"/>
            <a:ext cx="4855295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22847281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lane on the runway">
            <a:extLst>
              <a:ext uri="{FF2B5EF4-FFF2-40B4-BE49-F238E27FC236}">
                <a16:creationId xmlns:a16="http://schemas.microsoft.com/office/drawing/2014/main" id="{A1F0499A-FC9F-A7DD-75DD-5611BFAC1F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2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-1"/>
            <a:ext cx="12191999" cy="6871733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4089591"/>
            <a:ext cx="4447800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None/>
              <a:defRPr kumimoji="0" lang="en-IN" sz="3200" b="1" i="0" u="none" strike="noStrike" kern="1200" cap="none" spc="0" normalizeH="0" baseline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EYInterstate" panose="02000503020000020004" pitchFamily="2" charset="0"/>
                <a:ea typeface="+mj-ea"/>
                <a:cs typeface="+mj-cs"/>
              </a:defRPr>
            </a:lvl1pPr>
          </a:lstStyle>
          <a:p>
            <a:pPr marL="356616" marR="0" lvl="0" indent="-356616" defTabSz="1007887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3E0DB412-1671-4FC0-A33F-A732C0F90FC9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4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F5E8DF72-171D-464C-9F9E-D48F6963EF69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696AEF97-375C-41D8-9121-6720A75294D1}"/>
              </a:ext>
            </a:extLst>
          </p:cNvPr>
          <p:cNvSpPr>
            <a:spLocks/>
          </p:cNvSpPr>
          <p:nvPr userDrawn="1"/>
        </p:nvSpPr>
        <p:spPr>
          <a:xfrm flipV="1">
            <a:off x="609600" y="3937300"/>
            <a:ext cx="4447800" cy="64304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16441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18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A3C9806C-46CF-45EE-8ECD-A4424F085FC6}"/>
              </a:ext>
            </a:extLst>
          </p:cNvPr>
          <p:cNvSpPr>
            <a:spLocks/>
          </p:cNvSpPr>
          <p:nvPr userDrawn="1"/>
        </p:nvSpPr>
        <p:spPr>
          <a:xfrm>
            <a:off x="601178" y="973454"/>
            <a:ext cx="324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C4186CA-3062-49AA-B4A6-4F5659A20A0D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4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130826B-32F8-4F0D-8B25-C68C977272C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46888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918" y="319088"/>
            <a:ext cx="10978515" cy="652462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Standard slide</a:t>
            </a:r>
            <a:endParaRPr lang="en-GB" dirty="0"/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7C61F77C-1062-4790-9726-D7CEE4F6C165}"/>
              </a:ext>
            </a:extLst>
          </p:cNvPr>
          <p:cNvSpPr>
            <a:spLocks/>
          </p:cNvSpPr>
          <p:nvPr userDrawn="1"/>
        </p:nvSpPr>
        <p:spPr>
          <a:xfrm>
            <a:off x="601178" y="973454"/>
            <a:ext cx="324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F6D5B2EE-6D1D-4D0A-BDAB-3A432B26DA5D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4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Parallelogram 5">
            <a:extLst>
              <a:ext uri="{FF2B5EF4-FFF2-40B4-BE49-F238E27FC236}">
                <a16:creationId xmlns:a16="http://schemas.microsoft.com/office/drawing/2014/main" id="{BA1E90D6-B228-4B4F-B633-336EA6E3F6EC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AAD7E4D5-4D15-81FB-3643-DA1790DE9CC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2102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F8AF056-40E8-4041-884B-171A9BD6795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" r="15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548FA769-309D-4D8D-A2EB-F86117E535AD}"/>
              </a:ext>
            </a:extLst>
          </p:cNvPr>
          <p:cNvSpPr/>
          <p:nvPr userDrawn="1"/>
        </p:nvSpPr>
        <p:spPr>
          <a:xfrm flipH="1">
            <a:off x="0" y="0"/>
            <a:ext cx="12198350" cy="6858000"/>
          </a:xfrm>
          <a:custGeom>
            <a:avLst/>
            <a:gdLst>
              <a:gd name="connsiteX0" fmla="*/ 0 w 12192000"/>
              <a:gd name="connsiteY0" fmla="*/ 0 h 6858000"/>
              <a:gd name="connsiteX1" fmla="*/ 8305800 w 12192000"/>
              <a:gd name="connsiteY1" fmla="*/ 0 h 6858000"/>
              <a:gd name="connsiteX2" fmla="*/ 8400156 w 12192000"/>
              <a:gd name="connsiteY2" fmla="*/ 93013 h 6858000"/>
              <a:gd name="connsiteX3" fmla="*/ 12095500 w 12192000"/>
              <a:gd name="connsiteY3" fmla="*/ 93013 h 6858000"/>
              <a:gd name="connsiteX4" fmla="*/ 12095500 w 12192000"/>
              <a:gd name="connsiteY4" fmla="*/ 3735730 h 6858000"/>
              <a:gd name="connsiteX5" fmla="*/ 12192000 w 12192000"/>
              <a:gd name="connsiteY5" fmla="*/ 3830855 h 6858000"/>
              <a:gd name="connsiteX6" fmla="*/ 12192000 w 12192000"/>
              <a:gd name="connsiteY6" fmla="*/ 6858000 h 6858000"/>
              <a:gd name="connsiteX7" fmla="*/ 3885134 w 12192000"/>
              <a:gd name="connsiteY7" fmla="*/ 6858000 h 6858000"/>
              <a:gd name="connsiteX8" fmla="*/ 3766333 w 12192000"/>
              <a:gd name="connsiteY8" fmla="*/ 6765460 h 6858000"/>
              <a:gd name="connsiteX9" fmla="*/ 90414 w 12192000"/>
              <a:gd name="connsiteY9" fmla="*/ 6765460 h 6858000"/>
              <a:gd name="connsiteX10" fmla="*/ 90414 w 12192000"/>
              <a:gd name="connsiteY10" fmla="*/ 3902112 h 6858000"/>
              <a:gd name="connsiteX11" fmla="*/ 0 w 12192000"/>
              <a:gd name="connsiteY11" fmla="*/ 383168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8305800" y="0"/>
                </a:lnTo>
                <a:lnTo>
                  <a:pt x="8400156" y="93013"/>
                </a:lnTo>
                <a:lnTo>
                  <a:pt x="12095500" y="93013"/>
                </a:lnTo>
                <a:lnTo>
                  <a:pt x="12095500" y="3735730"/>
                </a:lnTo>
                <a:lnTo>
                  <a:pt x="12192000" y="3830855"/>
                </a:lnTo>
                <a:lnTo>
                  <a:pt x="12192000" y="6858000"/>
                </a:lnTo>
                <a:lnTo>
                  <a:pt x="3885134" y="6858000"/>
                </a:lnTo>
                <a:lnTo>
                  <a:pt x="3766333" y="6765460"/>
                </a:lnTo>
                <a:lnTo>
                  <a:pt x="90414" y="6765460"/>
                </a:lnTo>
                <a:lnTo>
                  <a:pt x="90414" y="3902112"/>
                </a:lnTo>
                <a:lnTo>
                  <a:pt x="0" y="3831684"/>
                </a:lnTo>
                <a:close/>
              </a:path>
            </a:pathLst>
          </a:custGeom>
          <a:solidFill>
            <a:schemeClr val="tx1">
              <a:lumMod val="100000"/>
              <a:alpha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IN" sz="1000" b="1">
              <a:solidFill>
                <a:schemeClr val="tx2"/>
              </a:solidFill>
            </a:endParaRPr>
          </a:p>
        </p:txBody>
      </p:sp>
      <p:sp>
        <p:nvSpPr>
          <p:cNvPr id="4" name="Parallelogram 3">
            <a:extLst>
              <a:ext uri="{FF2B5EF4-FFF2-40B4-BE49-F238E27FC236}">
                <a16:creationId xmlns:a16="http://schemas.microsoft.com/office/drawing/2014/main" id="{82814E3B-B412-4632-B8D2-29DEAD7B3733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4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CF5C369C-18B6-42FB-9BFD-BB510D91EFF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56188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9120" y="1"/>
            <a:ext cx="3999231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7444422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918" y="1137921"/>
            <a:ext cx="7299642" cy="873760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918" y="2311401"/>
            <a:ext cx="3580117" cy="3844704"/>
          </a:xfrm>
        </p:spPr>
        <p:txBody>
          <a:bodyPr numCol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9443" y="2311401"/>
            <a:ext cx="3580117" cy="1254759"/>
          </a:xfrm>
        </p:spPr>
        <p:txBody>
          <a:bodyPr numCol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9443" y="4236721"/>
            <a:ext cx="3580117" cy="1944160"/>
          </a:xfrm>
        </p:spPr>
        <p:txBody>
          <a:bodyPr numCol="1"/>
          <a:lstStyle>
            <a:lvl1pPr marL="0" indent="0">
              <a:buNone/>
              <a:defRPr sz="1800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772385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119865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384460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294" y="294200"/>
            <a:ext cx="8892000" cy="59040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5293" y="1137921"/>
            <a:ext cx="2742882" cy="5018184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7083" y="1137921"/>
            <a:ext cx="2803842" cy="5018184"/>
          </a:xfrm>
        </p:spPr>
        <p:txBody>
          <a:bodyPr numCol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9832" y="1137921"/>
            <a:ext cx="2768600" cy="2796151"/>
          </a:xfrm>
        </p:spPr>
        <p:txBody>
          <a:bodyPr numCol="1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356616" indent="0">
              <a:buNone/>
              <a:defRPr sz="1800">
                <a:solidFill>
                  <a:schemeClr val="bg1"/>
                </a:solidFill>
              </a:defRPr>
            </a:lvl2pPr>
            <a:lvl3pPr marL="713232" indent="0">
              <a:buNone/>
              <a:defRPr sz="1600">
                <a:solidFill>
                  <a:schemeClr val="bg1"/>
                </a:solidFill>
              </a:defRPr>
            </a:lvl3pPr>
            <a:lvl4pPr marL="1069848" indent="0">
              <a:buNone/>
              <a:defRPr sz="1400">
                <a:solidFill>
                  <a:schemeClr val="bg1"/>
                </a:solidFill>
              </a:defRPr>
            </a:lvl4pPr>
            <a:lvl5pPr marL="1426464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5294" y="907750"/>
            <a:ext cx="8892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597868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37920"/>
            <a:ext cx="8238744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45479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800" y="2851522"/>
            <a:ext cx="4447800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6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616" marR="0" lvl="0" indent="-356616" defTabSz="1007887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244018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 10">
            <a:extLst>
              <a:ext uri="{FF2B5EF4-FFF2-40B4-BE49-F238E27FC236}">
                <a16:creationId xmlns:a16="http://schemas.microsoft.com/office/drawing/2014/main" id="{1CA1861C-5FDB-4203-A132-9CF18C56F211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4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151C8A0-D00F-44D1-B828-3C8CCE8DF64F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351" y="1488927"/>
            <a:ext cx="2338388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200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350" y="2526765"/>
            <a:ext cx="5292000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800" dirty="0" smtClean="0">
                <a:latin typeface="Georgia" panose="02040502050405020303" pitchFamily="18" charset="0"/>
              </a:defRPr>
            </a:lvl1pPr>
          </a:lstStyle>
          <a:p>
            <a:pPr marL="356616" lvl="0" indent="-356616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350" y="4632765"/>
            <a:ext cx="5292000" cy="316838"/>
          </a:xfrm>
        </p:spPr>
        <p:txBody>
          <a:bodyPr lIns="90000" tIns="46800" rIns="90000" bIns="4680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600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616" indent="0">
              <a:buNone/>
              <a:defRPr lang="en-US" sz="20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600" smtClean="0">
                <a:latin typeface="+mn-lt"/>
              </a:defRPr>
            </a:lvl4pPr>
            <a:lvl5pPr>
              <a:defRPr lang="en-IN" sz="1600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350" y="4971442"/>
            <a:ext cx="5292000" cy="316838"/>
          </a:xfrm>
        </p:spPr>
        <p:txBody>
          <a:bodyPr lIns="90000" tIns="46800" rIns="90000" bIns="46800"/>
          <a:lstStyle>
            <a:lvl1pPr marL="0" indent="0" algn="l" defTabSz="914400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600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616" indent="0">
              <a:buNone/>
              <a:defRPr lang="en-US" sz="2000" smtClean="0">
                <a:latin typeface="+mn-lt"/>
              </a:defRPr>
            </a:lvl2pPr>
            <a:lvl3pPr>
              <a:defRPr lang="en-US" sz="1800" smtClean="0">
                <a:latin typeface="+mn-lt"/>
              </a:defRPr>
            </a:lvl3pPr>
            <a:lvl4pPr>
              <a:defRPr lang="en-US" sz="1600" smtClean="0">
                <a:latin typeface="+mn-lt"/>
              </a:defRPr>
            </a:lvl4pPr>
            <a:lvl5pPr>
              <a:defRPr lang="en-IN" sz="1600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10007777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3175" y="2060235"/>
            <a:ext cx="5292000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800" dirty="0" smtClean="0">
                <a:latin typeface="Georgia" panose="02040502050405020303" pitchFamily="18" charset="0"/>
              </a:defRPr>
            </a:lvl1pPr>
          </a:lstStyle>
          <a:p>
            <a:pPr marL="356616" lvl="0" indent="-356616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3175" y="5506678"/>
            <a:ext cx="5292000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600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616" lvl="0" indent="-356616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3175" y="5818717"/>
            <a:ext cx="5292000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600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616" lvl="0" indent="-356616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9981" y="979787"/>
            <a:ext cx="2338388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200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155477842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7180" y="0"/>
            <a:ext cx="5971170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221" y="2578743"/>
            <a:ext cx="4537959" cy="1055708"/>
          </a:xfrm>
        </p:spPr>
        <p:txBody>
          <a:bodyPr/>
          <a:lstStyle>
            <a:lvl1pPr marL="0" indent="0">
              <a:buNone/>
              <a:defRPr sz="3000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1" y="3840384"/>
            <a:ext cx="4537959" cy="1055708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191991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917" y="1137920"/>
            <a:ext cx="4957505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33461" y="3813288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33461" y="405593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23007" y="3578083"/>
            <a:ext cx="778959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3008" y="1137920"/>
            <a:ext cx="5465425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3008" y="1635009"/>
            <a:ext cx="5465425" cy="161155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46268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9900816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8" y="1137920"/>
            <a:ext cx="8238744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616">
              <a:defRPr>
                <a:solidFill>
                  <a:schemeClr val="bg1"/>
                </a:solidFill>
              </a:defRPr>
            </a:lvl2pPr>
            <a:lvl3pPr marL="713232">
              <a:defRPr>
                <a:solidFill>
                  <a:schemeClr val="bg1"/>
                </a:solidFill>
              </a:defRPr>
            </a:lvl3pPr>
            <a:lvl4pPr marL="1069848">
              <a:defRPr>
                <a:solidFill>
                  <a:schemeClr val="bg1"/>
                </a:solidFill>
              </a:defRPr>
            </a:lvl4pPr>
            <a:lvl5pPr marL="1426464"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16509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672309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8" y="1137919"/>
            <a:ext cx="5387605" cy="48348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8" y="1137919"/>
            <a:ext cx="5387605" cy="4834800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9411233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869440"/>
            <a:ext cx="5393208" cy="42560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869440"/>
            <a:ext cx="5393208" cy="4256075"/>
          </a:xfrm>
        </p:spPr>
        <p:txBody>
          <a:bodyPr/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918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9632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8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72408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596838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7075637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090985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53091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996781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207587565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5363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2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213" indent="-176213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913" indent="-188913" algn="l" defTabSz="995363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3186780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113726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10980626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400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200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632" indent="-168317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372" indent="-145299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9" lvl="2" algn="l" defTabSz="902010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3068" algn="l"/>
                <a:tab pos="2926135" algn="l"/>
                <a:tab pos="4228080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49025B-9A19-4622-B02A-C1D86C00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6" y="442965"/>
            <a:ext cx="10980626" cy="776236"/>
          </a:xfrm>
        </p:spPr>
        <p:txBody>
          <a:bodyPr lIns="0" anchor="b"/>
          <a:lstStyle>
            <a:lvl1pPr algn="l" defTabSz="8572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159874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umbered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708797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400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200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632" indent="-168317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372" indent="-145299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9" lvl="2" algn="l" defTabSz="902010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3068" algn="l"/>
                <a:tab pos="2926135" algn="l"/>
                <a:tab pos="4228080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185620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200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200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632" indent="-168317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372" indent="-145299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9" lvl="2" algn="l" defTabSz="902010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3068" algn="l"/>
                <a:tab pos="2926135" algn="l"/>
                <a:tab pos="4228080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E1463A-2994-4BF0-9709-FD6CE08C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7" y="442965"/>
            <a:ext cx="10962109" cy="776236"/>
          </a:xfrm>
        </p:spPr>
        <p:txBody>
          <a:bodyPr lIns="0" anchor="b"/>
          <a:lstStyle>
            <a:lvl1pPr algn="l" defTabSz="85723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953688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42D689-B85E-4F90-88AE-DE8139AE37F5}"/>
              </a:ext>
            </a:extLst>
          </p:cNvPr>
          <p:cNvSpPr/>
          <p:nvPr userDrawn="1"/>
        </p:nvSpPr>
        <p:spPr>
          <a:xfrm>
            <a:off x="7261830" y="6229350"/>
            <a:ext cx="4936520" cy="6286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GB" sz="10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648790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919" y="6471243"/>
            <a:ext cx="5715371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943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EY and SAP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45516071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 userDrawn="1"/>
        </p:nvSpPr>
        <p:spPr>
          <a:xfrm>
            <a:off x="498116" y="795662"/>
            <a:ext cx="4930412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4328932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4328932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3185" y="5709060"/>
            <a:ext cx="8122101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 userDrawn="1"/>
        </p:nvSpPr>
        <p:spPr>
          <a:xfrm>
            <a:off x="461985" y="5605202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5" y="6019189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5" y="6216807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29A5E1BC-8F6B-43EF-9FF6-8242E7708BD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914642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63F02F42-4916-4588-807F-4BB7367EB0EC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0BD928C5-1C7D-4599-A7E9-8AB1B188C6A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37C281E8-2924-471F-A849-26C37A059B4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41707962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over altern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56">
            <a:extLst>
              <a:ext uri="{FF2B5EF4-FFF2-40B4-BE49-F238E27FC236}">
                <a16:creationId xmlns:a16="http://schemas.microsoft.com/office/drawing/2014/main" id="{13A7AC18-CF42-4EC5-8D40-441EAE30A06C}"/>
              </a:ext>
            </a:extLst>
          </p:cNvPr>
          <p:cNvSpPr/>
          <p:nvPr userDrawn="1"/>
        </p:nvSpPr>
        <p:spPr>
          <a:xfrm>
            <a:off x="498116" y="795662"/>
            <a:ext cx="4930412" cy="3581484"/>
          </a:xfrm>
          <a:custGeom>
            <a:avLst/>
            <a:gdLst>
              <a:gd name="connsiteX0" fmla="*/ 4238387 w 4257675"/>
              <a:gd name="connsiteY0" fmla="*/ 0 h 3092804"/>
              <a:gd name="connsiteX1" fmla="*/ 4257675 w 4257675"/>
              <a:gd name="connsiteY1" fmla="*/ 0 h 3092804"/>
              <a:gd name="connsiteX2" fmla="*/ 4257675 w 4257675"/>
              <a:gd name="connsiteY2" fmla="*/ 3092804 h 3092804"/>
              <a:gd name="connsiteX3" fmla="*/ 0 w 4257675"/>
              <a:gd name="connsiteY3" fmla="*/ 3092804 h 3092804"/>
              <a:gd name="connsiteX4" fmla="*/ 0 w 4257675"/>
              <a:gd name="connsiteY4" fmla="*/ 747342 h 3092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57675" h="3092804">
                <a:moveTo>
                  <a:pt x="4238387" y="0"/>
                </a:moveTo>
                <a:lnTo>
                  <a:pt x="4257675" y="0"/>
                </a:lnTo>
                <a:lnTo>
                  <a:pt x="4257675" y="3092804"/>
                </a:lnTo>
                <a:lnTo>
                  <a:pt x="0" y="3092804"/>
                </a:lnTo>
                <a:lnTo>
                  <a:pt x="0" y="747342"/>
                </a:lnTo>
                <a:close/>
              </a:path>
            </a:pathLst>
          </a:custGeom>
          <a:solidFill>
            <a:srgbClr val="FFE6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/>
          </a:p>
        </p:txBody>
      </p:sp>
      <p:sp>
        <p:nvSpPr>
          <p:cNvPr id="11" name="Title 1"/>
          <p:cNvSpPr>
            <a:spLocks noGrp="1"/>
          </p:cNvSpPr>
          <p:nvPr>
            <p:ph type="ctrTitle"/>
          </p:nvPr>
        </p:nvSpPr>
        <p:spPr>
          <a:xfrm>
            <a:off x="775504" y="1954221"/>
            <a:ext cx="4328932" cy="979702"/>
          </a:xfr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775504" y="3046160"/>
            <a:ext cx="4328932" cy="1046323"/>
          </a:xfrm>
        </p:spPr>
        <p:txBody>
          <a:bodyPr/>
          <a:lstStyle>
            <a:lvl1pPr marL="0" indent="0" algn="l">
              <a:spcAft>
                <a:spcPts val="1199"/>
              </a:spcAft>
              <a:buNone/>
              <a:defRPr sz="1999">
                <a:solidFill>
                  <a:schemeClr val="bg1"/>
                </a:solidFill>
                <a:latin typeface="EYInterstate" panose="02000503020000020004" pitchFamily="2" charset="0"/>
                <a:cs typeface="Arial" pitchFamily="34" charset="0"/>
              </a:defRPr>
            </a:lvl1pPr>
            <a:lvl2pPr marL="0" indent="0" algn="l">
              <a:buNone/>
              <a:defRPr sz="1599" b="1">
                <a:solidFill>
                  <a:srgbClr val="404040"/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93BD223-2224-476C-AB5C-300C248C1618}"/>
              </a:ext>
            </a:extLst>
          </p:cNvPr>
          <p:cNvCxnSpPr>
            <a:cxnSpLocks/>
          </p:cNvCxnSpPr>
          <p:nvPr userDrawn="1"/>
        </p:nvCxnSpPr>
        <p:spPr>
          <a:xfrm>
            <a:off x="1333185" y="5709060"/>
            <a:ext cx="8122101" cy="0"/>
          </a:xfrm>
          <a:prstGeom prst="line">
            <a:avLst/>
          </a:prstGeom>
          <a:ln>
            <a:solidFill>
              <a:srgbClr val="82829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51B4C43-E5F8-400E-A971-58A3766B1BF0}"/>
              </a:ext>
            </a:extLst>
          </p:cNvPr>
          <p:cNvSpPr txBox="1"/>
          <p:nvPr userDrawn="1"/>
        </p:nvSpPr>
        <p:spPr>
          <a:xfrm>
            <a:off x="461985" y="5605202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199" dirty="0">
                <a:solidFill>
                  <a:srgbClr val="828290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A9465B6B-DFD4-4E0C-9ACE-E88CA2220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85" y="6019189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A1F2ED22-5637-4AB8-ABD8-3693A6EA55F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1985" y="6216807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grpSp>
        <p:nvGrpSpPr>
          <p:cNvPr id="14" name="Group 4">
            <a:extLst>
              <a:ext uri="{FF2B5EF4-FFF2-40B4-BE49-F238E27FC236}">
                <a16:creationId xmlns:a16="http://schemas.microsoft.com/office/drawing/2014/main" id="{5CE71800-5B4B-4F94-8DA1-A2C05D9E875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58FB548F-77B7-4F42-8CF1-C53943386A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40005A69-42DA-4C6D-A41C-62C78DAFEFB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852120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2">
          <p15:clr>
            <a:srgbClr val="FBAE4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w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34">
            <a:extLst>
              <a:ext uri="{FF2B5EF4-FFF2-40B4-BE49-F238E27FC236}">
                <a16:creationId xmlns:a16="http://schemas.microsoft.com/office/drawing/2014/main" id="{5342E118-6F1D-4C46-956E-4CCCBCAA7952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A22049CA-64AE-409F-988D-A7317F8AD136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69" name="Rectangle 6">
              <a:extLst>
                <a:ext uri="{FF2B5EF4-FFF2-40B4-BE49-F238E27FC236}">
                  <a16:creationId xmlns:a16="http://schemas.microsoft.com/office/drawing/2014/main" id="{E37A0A05-0A78-44A7-8873-0A1A20C8717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0" name="Rectangle 7">
              <a:extLst>
                <a:ext uri="{FF2B5EF4-FFF2-40B4-BE49-F238E27FC236}">
                  <a16:creationId xmlns:a16="http://schemas.microsoft.com/office/drawing/2014/main" id="{0DEA0CBE-8527-4287-BF98-DA48947875F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71" name="Freeform 8">
              <a:extLst>
                <a:ext uri="{FF2B5EF4-FFF2-40B4-BE49-F238E27FC236}">
                  <a16:creationId xmlns:a16="http://schemas.microsoft.com/office/drawing/2014/main" id="{444058C6-612A-446E-8F68-0E5CC4CFF36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2" name="Freeform 9">
              <a:extLst>
                <a:ext uri="{FF2B5EF4-FFF2-40B4-BE49-F238E27FC236}">
                  <a16:creationId xmlns:a16="http://schemas.microsoft.com/office/drawing/2014/main" id="{1011EC31-E0C3-404F-93B3-EFD3DADC11C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3" name="Freeform 10">
              <a:extLst>
                <a:ext uri="{FF2B5EF4-FFF2-40B4-BE49-F238E27FC236}">
                  <a16:creationId xmlns:a16="http://schemas.microsoft.com/office/drawing/2014/main" id="{3C9D076B-D88C-4089-8D58-9A31CFCDB02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4" name="Freeform 11">
              <a:extLst>
                <a:ext uri="{FF2B5EF4-FFF2-40B4-BE49-F238E27FC236}">
                  <a16:creationId xmlns:a16="http://schemas.microsoft.com/office/drawing/2014/main" id="{29DB43AC-B765-4ECB-B483-562473BD4A3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5" name="Freeform 12">
              <a:extLst>
                <a:ext uri="{FF2B5EF4-FFF2-40B4-BE49-F238E27FC236}">
                  <a16:creationId xmlns:a16="http://schemas.microsoft.com/office/drawing/2014/main" id="{AF1DE1B8-EA4B-4A98-A97D-BA5EEA42B1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6" name="Freeform 13">
              <a:extLst>
                <a:ext uri="{FF2B5EF4-FFF2-40B4-BE49-F238E27FC236}">
                  <a16:creationId xmlns:a16="http://schemas.microsoft.com/office/drawing/2014/main" id="{F8F60B79-7AF5-4C5E-A5EF-126F117D591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7" name="Freeform 14">
              <a:extLst>
                <a:ext uri="{FF2B5EF4-FFF2-40B4-BE49-F238E27FC236}">
                  <a16:creationId xmlns:a16="http://schemas.microsoft.com/office/drawing/2014/main" id="{0A0438AD-9937-4C25-AB9E-7F8C8CCA23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8" name="Freeform 15">
              <a:extLst>
                <a:ext uri="{FF2B5EF4-FFF2-40B4-BE49-F238E27FC236}">
                  <a16:creationId xmlns:a16="http://schemas.microsoft.com/office/drawing/2014/main" id="{6FDE2726-7032-4BE4-A420-0ECF49A32A8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79" name="Freeform 16">
              <a:extLst>
                <a:ext uri="{FF2B5EF4-FFF2-40B4-BE49-F238E27FC236}">
                  <a16:creationId xmlns:a16="http://schemas.microsoft.com/office/drawing/2014/main" id="{50C22C21-F8DB-486D-9042-765D68AE3A7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0" name="Freeform 17">
              <a:extLst>
                <a:ext uri="{FF2B5EF4-FFF2-40B4-BE49-F238E27FC236}">
                  <a16:creationId xmlns:a16="http://schemas.microsoft.com/office/drawing/2014/main" id="{7F763F72-BB8F-482C-9FDA-40EDD6EE5F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1" name="Freeform 18">
              <a:extLst>
                <a:ext uri="{FF2B5EF4-FFF2-40B4-BE49-F238E27FC236}">
                  <a16:creationId xmlns:a16="http://schemas.microsoft.com/office/drawing/2014/main" id="{710F466C-6BEC-4970-9707-40D8002740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2" name="Freeform 19">
              <a:extLst>
                <a:ext uri="{FF2B5EF4-FFF2-40B4-BE49-F238E27FC236}">
                  <a16:creationId xmlns:a16="http://schemas.microsoft.com/office/drawing/2014/main" id="{3332407D-F423-41B2-985F-8A4482C61D9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3" name="Freeform 20">
              <a:extLst>
                <a:ext uri="{FF2B5EF4-FFF2-40B4-BE49-F238E27FC236}">
                  <a16:creationId xmlns:a16="http://schemas.microsoft.com/office/drawing/2014/main" id="{44E3286F-1188-47B1-8B46-3498795DF2D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4" name="Freeform 21">
              <a:extLst>
                <a:ext uri="{FF2B5EF4-FFF2-40B4-BE49-F238E27FC236}">
                  <a16:creationId xmlns:a16="http://schemas.microsoft.com/office/drawing/2014/main" id="{E7BD9E0B-920A-4409-95E7-40A47107B3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5" name="Freeform 22">
              <a:extLst>
                <a:ext uri="{FF2B5EF4-FFF2-40B4-BE49-F238E27FC236}">
                  <a16:creationId xmlns:a16="http://schemas.microsoft.com/office/drawing/2014/main" id="{9D2625B8-0A5B-46EF-8302-77353AB0D3A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6" name="Freeform 23">
              <a:extLst>
                <a:ext uri="{FF2B5EF4-FFF2-40B4-BE49-F238E27FC236}">
                  <a16:creationId xmlns:a16="http://schemas.microsoft.com/office/drawing/2014/main" id="{DE6C9E0E-C49B-4FBE-97F3-BB6DFAC574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7" name="Freeform 24">
              <a:extLst>
                <a:ext uri="{FF2B5EF4-FFF2-40B4-BE49-F238E27FC236}">
                  <a16:creationId xmlns:a16="http://schemas.microsoft.com/office/drawing/2014/main" id="{580801ED-9260-41DB-A0B7-5AF24B32272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8" name="Freeform 25">
              <a:extLst>
                <a:ext uri="{FF2B5EF4-FFF2-40B4-BE49-F238E27FC236}">
                  <a16:creationId xmlns:a16="http://schemas.microsoft.com/office/drawing/2014/main" id="{3A9842FB-6E95-4D11-B5B9-58C4CB82C2F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89" name="Freeform 26">
              <a:extLst>
                <a:ext uri="{FF2B5EF4-FFF2-40B4-BE49-F238E27FC236}">
                  <a16:creationId xmlns:a16="http://schemas.microsoft.com/office/drawing/2014/main" id="{076538BB-C266-42BE-916B-458AF9EFB2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0" name="Freeform 27">
              <a:extLst>
                <a:ext uri="{FF2B5EF4-FFF2-40B4-BE49-F238E27FC236}">
                  <a16:creationId xmlns:a16="http://schemas.microsoft.com/office/drawing/2014/main" id="{A7C95C0F-A1E9-46B5-B9DB-284F35C7280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28">
              <a:extLst>
                <a:ext uri="{FF2B5EF4-FFF2-40B4-BE49-F238E27FC236}">
                  <a16:creationId xmlns:a16="http://schemas.microsoft.com/office/drawing/2014/main" id="{BEEA6186-B2B9-4E5E-9631-B6332C7FDB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29">
              <a:extLst>
                <a:ext uri="{FF2B5EF4-FFF2-40B4-BE49-F238E27FC236}">
                  <a16:creationId xmlns:a16="http://schemas.microsoft.com/office/drawing/2014/main" id="{E9B00A5D-BE04-4D7D-B4A2-204E2D0E04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30">
              <a:extLst>
                <a:ext uri="{FF2B5EF4-FFF2-40B4-BE49-F238E27FC236}">
                  <a16:creationId xmlns:a16="http://schemas.microsoft.com/office/drawing/2014/main" id="{72C85502-C007-49A3-A8AB-2BCC8C53945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31">
              <a:extLst>
                <a:ext uri="{FF2B5EF4-FFF2-40B4-BE49-F238E27FC236}">
                  <a16:creationId xmlns:a16="http://schemas.microsoft.com/office/drawing/2014/main" id="{9A42586B-B388-4323-82EB-ED3423EDC5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32">
              <a:extLst>
                <a:ext uri="{FF2B5EF4-FFF2-40B4-BE49-F238E27FC236}">
                  <a16:creationId xmlns:a16="http://schemas.microsoft.com/office/drawing/2014/main" id="{558D2F0C-3796-492F-9EBD-4BB822191F3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33">
              <a:extLst>
                <a:ext uri="{FF2B5EF4-FFF2-40B4-BE49-F238E27FC236}">
                  <a16:creationId xmlns:a16="http://schemas.microsoft.com/office/drawing/2014/main" id="{DE4E3633-17EF-414F-A86D-0B6A9F2F098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34">
              <a:extLst>
                <a:ext uri="{FF2B5EF4-FFF2-40B4-BE49-F238E27FC236}">
                  <a16:creationId xmlns:a16="http://schemas.microsoft.com/office/drawing/2014/main" id="{2572AE39-9386-47FC-B6AF-FBCF804BEBF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35">
              <a:extLst>
                <a:ext uri="{FF2B5EF4-FFF2-40B4-BE49-F238E27FC236}">
                  <a16:creationId xmlns:a16="http://schemas.microsoft.com/office/drawing/2014/main" id="{7096AEC6-B8C0-4212-842F-89677AE7D80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36">
              <a:extLst>
                <a:ext uri="{FF2B5EF4-FFF2-40B4-BE49-F238E27FC236}">
                  <a16:creationId xmlns:a16="http://schemas.microsoft.com/office/drawing/2014/main" id="{406AD873-E434-40CF-BFBD-6D1D1CA7CB89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37">
              <a:extLst>
                <a:ext uri="{FF2B5EF4-FFF2-40B4-BE49-F238E27FC236}">
                  <a16:creationId xmlns:a16="http://schemas.microsoft.com/office/drawing/2014/main" id="{74857EE2-44CC-4E8F-B1BB-355509B3EFE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38">
              <a:extLst>
                <a:ext uri="{FF2B5EF4-FFF2-40B4-BE49-F238E27FC236}">
                  <a16:creationId xmlns:a16="http://schemas.microsoft.com/office/drawing/2014/main" id="{D39EC8B1-952E-4BF5-9735-6A38584161B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39">
              <a:extLst>
                <a:ext uri="{FF2B5EF4-FFF2-40B4-BE49-F238E27FC236}">
                  <a16:creationId xmlns:a16="http://schemas.microsoft.com/office/drawing/2014/main" id="{EA37D3DF-3401-44BD-97F4-F423BFC87A1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40">
              <a:extLst>
                <a:ext uri="{FF2B5EF4-FFF2-40B4-BE49-F238E27FC236}">
                  <a16:creationId xmlns:a16="http://schemas.microsoft.com/office/drawing/2014/main" id="{7DFA4B46-95EA-4D4D-800F-4D2DB7BB66E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41">
              <a:extLst>
                <a:ext uri="{FF2B5EF4-FFF2-40B4-BE49-F238E27FC236}">
                  <a16:creationId xmlns:a16="http://schemas.microsoft.com/office/drawing/2014/main" id="{EF5012BA-3255-4BEF-8F4F-9117A6BEF32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42">
              <a:extLst>
                <a:ext uri="{FF2B5EF4-FFF2-40B4-BE49-F238E27FC236}">
                  <a16:creationId xmlns:a16="http://schemas.microsoft.com/office/drawing/2014/main" id="{223989A0-E246-4806-AF7E-9D6C2B1DD4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43">
              <a:extLst>
                <a:ext uri="{FF2B5EF4-FFF2-40B4-BE49-F238E27FC236}">
                  <a16:creationId xmlns:a16="http://schemas.microsoft.com/office/drawing/2014/main" id="{5FED967A-F1ED-4489-A689-A9A49A278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44">
              <a:extLst>
                <a:ext uri="{FF2B5EF4-FFF2-40B4-BE49-F238E27FC236}">
                  <a16:creationId xmlns:a16="http://schemas.microsoft.com/office/drawing/2014/main" id="{DA362954-FE74-40B7-AB98-CC8AC60FFC8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45">
              <a:extLst>
                <a:ext uri="{FF2B5EF4-FFF2-40B4-BE49-F238E27FC236}">
                  <a16:creationId xmlns:a16="http://schemas.microsoft.com/office/drawing/2014/main" id="{C1C7EF3F-CB28-4C69-901C-8F9F09C5B59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46">
              <a:extLst>
                <a:ext uri="{FF2B5EF4-FFF2-40B4-BE49-F238E27FC236}">
                  <a16:creationId xmlns:a16="http://schemas.microsoft.com/office/drawing/2014/main" id="{80D5AA14-D31C-42E8-B89F-2FCABF20400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47">
              <a:extLst>
                <a:ext uri="{FF2B5EF4-FFF2-40B4-BE49-F238E27FC236}">
                  <a16:creationId xmlns:a16="http://schemas.microsoft.com/office/drawing/2014/main" id="{3894EB82-A456-47F8-BB06-FE894AF4B86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48">
              <a:extLst>
                <a:ext uri="{FF2B5EF4-FFF2-40B4-BE49-F238E27FC236}">
                  <a16:creationId xmlns:a16="http://schemas.microsoft.com/office/drawing/2014/main" id="{A88F5C3F-FAE1-4A50-86D3-E9A1CAA89A9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49">
              <a:extLst>
                <a:ext uri="{FF2B5EF4-FFF2-40B4-BE49-F238E27FC236}">
                  <a16:creationId xmlns:a16="http://schemas.microsoft.com/office/drawing/2014/main" id="{1EFCBDA7-FA42-4391-9872-95EB6DDEA68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50">
              <a:extLst>
                <a:ext uri="{FF2B5EF4-FFF2-40B4-BE49-F238E27FC236}">
                  <a16:creationId xmlns:a16="http://schemas.microsoft.com/office/drawing/2014/main" id="{721D8C30-DB23-4A0B-8A74-BC467086477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51">
              <a:extLst>
                <a:ext uri="{FF2B5EF4-FFF2-40B4-BE49-F238E27FC236}">
                  <a16:creationId xmlns:a16="http://schemas.microsoft.com/office/drawing/2014/main" id="{01AD00CA-8BC7-4B62-AC64-03851855A7A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52">
              <a:extLst>
                <a:ext uri="{FF2B5EF4-FFF2-40B4-BE49-F238E27FC236}">
                  <a16:creationId xmlns:a16="http://schemas.microsoft.com/office/drawing/2014/main" id="{BC957590-E3D7-48BF-A1DF-73DCD7673857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53">
              <a:extLst>
                <a:ext uri="{FF2B5EF4-FFF2-40B4-BE49-F238E27FC236}">
                  <a16:creationId xmlns:a16="http://schemas.microsoft.com/office/drawing/2014/main" id="{9BC2125B-AF0E-4411-AFA7-3F79B873BFB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54">
              <a:extLst>
                <a:ext uri="{FF2B5EF4-FFF2-40B4-BE49-F238E27FC236}">
                  <a16:creationId xmlns:a16="http://schemas.microsoft.com/office/drawing/2014/main" id="{1E5BE33C-9675-423A-802C-0A789DB185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55">
              <a:extLst>
                <a:ext uri="{FF2B5EF4-FFF2-40B4-BE49-F238E27FC236}">
                  <a16:creationId xmlns:a16="http://schemas.microsoft.com/office/drawing/2014/main" id="{FB04A8AC-9DA2-4FB3-985A-DD8E6439135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56">
              <a:extLst>
                <a:ext uri="{FF2B5EF4-FFF2-40B4-BE49-F238E27FC236}">
                  <a16:creationId xmlns:a16="http://schemas.microsoft.com/office/drawing/2014/main" id="{F365BB87-C861-4F40-A844-477BAA1EAA5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57">
              <a:extLst>
                <a:ext uri="{FF2B5EF4-FFF2-40B4-BE49-F238E27FC236}">
                  <a16:creationId xmlns:a16="http://schemas.microsoft.com/office/drawing/2014/main" id="{8B7E2806-AAFA-45B5-B801-55C79A9277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58">
              <a:extLst>
                <a:ext uri="{FF2B5EF4-FFF2-40B4-BE49-F238E27FC236}">
                  <a16:creationId xmlns:a16="http://schemas.microsoft.com/office/drawing/2014/main" id="{7A49B80F-B4C0-4F31-9238-8123D3E20D1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59">
              <a:extLst>
                <a:ext uri="{FF2B5EF4-FFF2-40B4-BE49-F238E27FC236}">
                  <a16:creationId xmlns:a16="http://schemas.microsoft.com/office/drawing/2014/main" id="{9C60C45F-865F-4118-A4B0-174C696B472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60">
              <a:extLst>
                <a:ext uri="{FF2B5EF4-FFF2-40B4-BE49-F238E27FC236}">
                  <a16:creationId xmlns:a16="http://schemas.microsoft.com/office/drawing/2014/main" id="{15FBF980-B96C-472B-A46B-A731CA164E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61">
              <a:extLst>
                <a:ext uri="{FF2B5EF4-FFF2-40B4-BE49-F238E27FC236}">
                  <a16:creationId xmlns:a16="http://schemas.microsoft.com/office/drawing/2014/main" id="{64F1DD18-05EE-4F9F-9E6B-E03C4C500F2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62">
              <a:extLst>
                <a:ext uri="{FF2B5EF4-FFF2-40B4-BE49-F238E27FC236}">
                  <a16:creationId xmlns:a16="http://schemas.microsoft.com/office/drawing/2014/main" id="{6051CC00-BFF2-4334-9855-62AD588546F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63">
              <a:extLst>
                <a:ext uri="{FF2B5EF4-FFF2-40B4-BE49-F238E27FC236}">
                  <a16:creationId xmlns:a16="http://schemas.microsoft.com/office/drawing/2014/main" id="{905DD261-B224-46ED-8CEE-E8D180BA4B7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64">
              <a:extLst>
                <a:ext uri="{FF2B5EF4-FFF2-40B4-BE49-F238E27FC236}">
                  <a16:creationId xmlns:a16="http://schemas.microsoft.com/office/drawing/2014/main" id="{A23129DF-0296-4CA9-9723-124682F0A70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65">
              <a:extLst>
                <a:ext uri="{FF2B5EF4-FFF2-40B4-BE49-F238E27FC236}">
                  <a16:creationId xmlns:a16="http://schemas.microsoft.com/office/drawing/2014/main" id="{A2A2BF8E-DA3A-4AC0-B7EB-7CAABFC9E69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66">
              <a:extLst>
                <a:ext uri="{FF2B5EF4-FFF2-40B4-BE49-F238E27FC236}">
                  <a16:creationId xmlns:a16="http://schemas.microsoft.com/office/drawing/2014/main" id="{BEBFC1A4-92B9-418F-A0A9-2E210A37BCF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67">
              <a:extLst>
                <a:ext uri="{FF2B5EF4-FFF2-40B4-BE49-F238E27FC236}">
                  <a16:creationId xmlns:a16="http://schemas.microsoft.com/office/drawing/2014/main" id="{A28B9FD0-8354-4DD6-856A-157C5F8768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68">
              <a:extLst>
                <a:ext uri="{FF2B5EF4-FFF2-40B4-BE49-F238E27FC236}">
                  <a16:creationId xmlns:a16="http://schemas.microsoft.com/office/drawing/2014/main" id="{83D3DEEE-A610-48BE-BADD-6BA188B5B86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69">
              <a:extLst>
                <a:ext uri="{FF2B5EF4-FFF2-40B4-BE49-F238E27FC236}">
                  <a16:creationId xmlns:a16="http://schemas.microsoft.com/office/drawing/2014/main" id="{463C7ADB-C654-4D24-9055-0B6003A770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70">
              <a:extLst>
                <a:ext uri="{FF2B5EF4-FFF2-40B4-BE49-F238E27FC236}">
                  <a16:creationId xmlns:a16="http://schemas.microsoft.com/office/drawing/2014/main" id="{40CF3793-E792-4DB3-8064-4B43F4706A3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18" name="Title 1"/>
          <p:cNvSpPr>
            <a:spLocks noGrp="1"/>
          </p:cNvSpPr>
          <p:nvPr userDrawn="1">
            <p:ph type="ctrTitle"/>
          </p:nvPr>
        </p:nvSpPr>
        <p:spPr>
          <a:xfrm>
            <a:off x="944880" y="2158329"/>
            <a:ext cx="4783882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9" name="Subtitle 2"/>
          <p:cNvSpPr>
            <a:spLocks noGrp="1"/>
          </p:cNvSpPr>
          <p:nvPr userDrawn="1">
            <p:ph type="subTitle" idx="1"/>
          </p:nvPr>
        </p:nvSpPr>
        <p:spPr>
          <a:xfrm>
            <a:off x="945072" y="3200329"/>
            <a:ext cx="48080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4A731D0-020D-4D8E-955D-2354AF0FE452}"/>
              </a:ext>
            </a:extLst>
          </p:cNvPr>
          <p:cNvSpPr/>
          <p:nvPr userDrawn="1"/>
        </p:nvSpPr>
        <p:spPr>
          <a:xfrm>
            <a:off x="489367" y="723658"/>
            <a:ext cx="5680945" cy="3452894"/>
          </a:xfrm>
          <a:custGeom>
            <a:avLst/>
            <a:gdLst>
              <a:gd name="connsiteX0" fmla="*/ 8749 w 5680945"/>
              <a:gd name="connsiteY0" fmla="*/ 1021520 h 3452894"/>
              <a:gd name="connsiteX1" fmla="*/ 8749 w 5680945"/>
              <a:gd name="connsiteY1" fmla="*/ 3164181 h 3452894"/>
              <a:gd name="connsiteX2" fmla="*/ 151414 w 5680945"/>
              <a:gd name="connsiteY2" fmla="*/ 3164181 h 3452894"/>
              <a:gd name="connsiteX3" fmla="*/ 151414 w 5680945"/>
              <a:gd name="connsiteY3" fmla="*/ 1140155 h 3452894"/>
              <a:gd name="connsiteX4" fmla="*/ 5534897 w 5680945"/>
              <a:gd name="connsiteY4" fmla="*/ 179294 h 3452894"/>
              <a:gd name="connsiteX5" fmla="*/ 5534897 w 5680945"/>
              <a:gd name="connsiteY5" fmla="*/ 3306846 h 3452894"/>
              <a:gd name="connsiteX6" fmla="*/ 864624 w 5680945"/>
              <a:gd name="connsiteY6" fmla="*/ 3306846 h 3452894"/>
              <a:gd name="connsiteX7" fmla="*/ 864624 w 5680945"/>
              <a:gd name="connsiteY7" fmla="*/ 3449395 h 3452894"/>
              <a:gd name="connsiteX8" fmla="*/ 5677562 w 5680945"/>
              <a:gd name="connsiteY8" fmla="*/ 3449395 h 3452894"/>
              <a:gd name="connsiteX9" fmla="*/ 5677562 w 5680945"/>
              <a:gd name="connsiteY9" fmla="*/ 8749 h 3452894"/>
              <a:gd name="connsiteX10" fmla="*/ 8749 w 5680945"/>
              <a:gd name="connsiteY10" fmla="*/ 1021520 h 3452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680945" h="3452894">
                <a:moveTo>
                  <a:pt x="8749" y="1021520"/>
                </a:moveTo>
                <a:lnTo>
                  <a:pt x="8749" y="3164181"/>
                </a:lnTo>
                <a:lnTo>
                  <a:pt x="151414" y="3164181"/>
                </a:lnTo>
                <a:lnTo>
                  <a:pt x="151414" y="1140155"/>
                </a:lnTo>
                <a:lnTo>
                  <a:pt x="5534897" y="179294"/>
                </a:lnTo>
                <a:lnTo>
                  <a:pt x="5534897" y="3306846"/>
                </a:lnTo>
                <a:lnTo>
                  <a:pt x="864624" y="3306846"/>
                </a:lnTo>
                <a:lnTo>
                  <a:pt x="864624" y="3449395"/>
                </a:lnTo>
                <a:lnTo>
                  <a:pt x="5677562" y="3449395"/>
                </a:lnTo>
                <a:lnTo>
                  <a:pt x="5677562" y="8749"/>
                </a:lnTo>
                <a:lnTo>
                  <a:pt x="8749" y="1021520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15324C54-B75E-4AC0-90C2-FA558C7716F7}"/>
              </a:ext>
            </a:extLst>
          </p:cNvPr>
          <p:cNvSpPr/>
          <p:nvPr/>
        </p:nvSpPr>
        <p:spPr>
          <a:xfrm>
            <a:off x="48936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AA95478-C099-485F-AD95-A617656C6C7C}"/>
              </a:ext>
            </a:extLst>
          </p:cNvPr>
          <p:cNvSpPr/>
          <p:nvPr/>
        </p:nvSpPr>
        <p:spPr>
          <a:xfrm>
            <a:off x="774697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65680A1-86D1-44C2-AA38-0DF5735F1F26}"/>
              </a:ext>
            </a:extLst>
          </p:cNvPr>
          <p:cNvSpPr/>
          <p:nvPr/>
        </p:nvSpPr>
        <p:spPr>
          <a:xfrm>
            <a:off x="1059911" y="4021757"/>
            <a:ext cx="151647" cy="151647"/>
          </a:xfrm>
          <a:custGeom>
            <a:avLst/>
            <a:gdLst>
              <a:gd name="connsiteX0" fmla="*/ 8749 w 151647"/>
              <a:gd name="connsiteY0" fmla="*/ 8749 h 151647"/>
              <a:gd name="connsiteX1" fmla="*/ 151414 w 151647"/>
              <a:gd name="connsiteY1" fmla="*/ 8749 h 151647"/>
              <a:gd name="connsiteX2" fmla="*/ 151414 w 151647"/>
              <a:gd name="connsiteY2" fmla="*/ 151414 h 151647"/>
              <a:gd name="connsiteX3" fmla="*/ 8749 w 151647"/>
              <a:gd name="connsiteY3" fmla="*/ 151414 h 15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647" h="151647">
                <a:moveTo>
                  <a:pt x="8749" y="8749"/>
                </a:moveTo>
                <a:lnTo>
                  <a:pt x="151414" y="8749"/>
                </a:lnTo>
                <a:lnTo>
                  <a:pt x="151414" y="151414"/>
                </a:lnTo>
                <a:lnTo>
                  <a:pt x="8749" y="151414"/>
                </a:lnTo>
                <a:close/>
              </a:path>
            </a:pathLst>
          </a:custGeom>
          <a:solidFill>
            <a:schemeClr val="tx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IN" sz="1799"/>
          </a:p>
        </p:txBody>
      </p:sp>
      <p:grpSp>
        <p:nvGrpSpPr>
          <p:cNvPr id="76" name="Group 4">
            <a:extLst>
              <a:ext uri="{FF2B5EF4-FFF2-40B4-BE49-F238E27FC236}">
                <a16:creationId xmlns:a16="http://schemas.microsoft.com/office/drawing/2014/main" id="{9D60B6B0-F7ED-4B9F-A77C-632AC4EA661D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77" name="Freeform 5">
              <a:extLst>
                <a:ext uri="{FF2B5EF4-FFF2-40B4-BE49-F238E27FC236}">
                  <a16:creationId xmlns:a16="http://schemas.microsoft.com/office/drawing/2014/main" id="{CC1B45B9-64DF-4C5B-9711-FA69AD53707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78" name="Freeform 6">
              <a:extLst>
                <a:ext uri="{FF2B5EF4-FFF2-40B4-BE49-F238E27FC236}">
                  <a16:creationId xmlns:a16="http://schemas.microsoft.com/office/drawing/2014/main" id="{BA55CB73-EE25-43B6-9720-855E16C4B15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164814342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pproved question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6" name="Group 185">
            <a:extLst>
              <a:ext uri="{FF2B5EF4-FFF2-40B4-BE49-F238E27FC236}">
                <a16:creationId xmlns:a16="http://schemas.microsoft.com/office/drawing/2014/main" id="{9CDE954B-B280-441B-9B2D-3DC58AAE3926}"/>
              </a:ext>
            </a:extLst>
          </p:cNvPr>
          <p:cNvGrpSpPr/>
          <p:nvPr userDrawn="1"/>
        </p:nvGrpSpPr>
        <p:grpSpPr>
          <a:xfrm>
            <a:off x="498115" y="5826614"/>
            <a:ext cx="3878023" cy="570195"/>
            <a:chOff x="498115" y="5951018"/>
            <a:chExt cx="3878023" cy="570195"/>
          </a:xfrm>
        </p:grpSpPr>
        <p:sp>
          <p:nvSpPr>
            <p:cNvPr id="187" name="Rectangle 186">
              <a:extLst>
                <a:ext uri="{FF2B5EF4-FFF2-40B4-BE49-F238E27FC236}">
                  <a16:creationId xmlns:a16="http://schemas.microsoft.com/office/drawing/2014/main" id="{93D8FAC8-9530-49D4-8284-D35D1B1509D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498115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8" name="Rectangle 6">
              <a:extLst>
                <a:ext uri="{FF2B5EF4-FFF2-40B4-BE49-F238E27FC236}">
                  <a16:creationId xmlns:a16="http://schemas.microsoft.com/office/drawing/2014/main" id="{FD924F44-93C1-4254-B594-53DB14FD995E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69341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89" name="Rectangle 7">
              <a:extLst>
                <a:ext uri="{FF2B5EF4-FFF2-40B4-BE49-F238E27FC236}">
                  <a16:creationId xmlns:a16="http://schemas.microsoft.com/office/drawing/2014/main" id="{2A2DA425-7935-45A1-B63F-2D14CF8D5F9C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890451" y="5951018"/>
              <a:ext cx="99392" cy="97648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90" name="Freeform 8">
              <a:extLst>
                <a:ext uri="{FF2B5EF4-FFF2-40B4-BE49-F238E27FC236}">
                  <a16:creationId xmlns:a16="http://schemas.microsoft.com/office/drawing/2014/main" id="{91EFF75E-13E7-4E35-B108-D9FD5E9C802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181188"/>
              <a:ext cx="94161" cy="130778"/>
            </a:xfrm>
            <a:custGeom>
              <a:avLst/>
              <a:gdLst>
                <a:gd name="T0" fmla="*/ 32 w 54"/>
                <a:gd name="T1" fmla="*/ 11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1 h 75"/>
                <a:gd name="T8" fmla="*/ 0 w 54"/>
                <a:gd name="T9" fmla="*/ 11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1 h 75"/>
                <a:gd name="T16" fmla="*/ 32 w 54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1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1"/>
                  </a:lnTo>
                  <a:lnTo>
                    <a:pt x="32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1" name="Freeform 9">
              <a:extLst>
                <a:ext uri="{FF2B5EF4-FFF2-40B4-BE49-F238E27FC236}">
                  <a16:creationId xmlns:a16="http://schemas.microsoft.com/office/drawing/2014/main" id="{4411951F-E009-4FE7-B2EC-47771CA8E1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174213"/>
              <a:ext cx="78468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2" name="Freeform 10">
              <a:extLst>
                <a:ext uri="{FF2B5EF4-FFF2-40B4-BE49-F238E27FC236}">
                  <a16:creationId xmlns:a16="http://schemas.microsoft.com/office/drawing/2014/main" id="{B28EE49C-5F5A-49C6-AEB8-6D12DDF344E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3" name="Freeform 11">
              <a:extLst>
                <a:ext uri="{FF2B5EF4-FFF2-40B4-BE49-F238E27FC236}">
                  <a16:creationId xmlns:a16="http://schemas.microsoft.com/office/drawing/2014/main" id="{6E2B7D76-D660-491F-8B04-169C6F138B0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174213"/>
              <a:ext cx="83698" cy="139497"/>
            </a:xfrm>
            <a:custGeom>
              <a:avLst/>
              <a:gdLst>
                <a:gd name="T0" fmla="*/ 33 w 33"/>
                <a:gd name="T1" fmla="*/ 35 h 55"/>
                <a:gd name="T2" fmla="*/ 31 w 33"/>
                <a:gd name="T3" fmla="*/ 44 h 55"/>
                <a:gd name="T4" fmla="*/ 28 w 33"/>
                <a:gd name="T5" fmla="*/ 50 h 55"/>
                <a:gd name="T6" fmla="*/ 23 w 33"/>
                <a:gd name="T7" fmla="*/ 53 h 55"/>
                <a:gd name="T8" fmla="*/ 17 w 33"/>
                <a:gd name="T9" fmla="*/ 55 h 55"/>
                <a:gd name="T10" fmla="*/ 12 w 33"/>
                <a:gd name="T11" fmla="*/ 53 h 55"/>
                <a:gd name="T12" fmla="*/ 8 w 33"/>
                <a:gd name="T13" fmla="*/ 50 h 55"/>
                <a:gd name="T14" fmla="*/ 8 w 33"/>
                <a:gd name="T15" fmla="*/ 54 h 55"/>
                <a:gd name="T16" fmla="*/ 0 w 33"/>
                <a:gd name="T17" fmla="*/ 54 h 55"/>
                <a:gd name="T18" fmla="*/ 0 w 33"/>
                <a:gd name="T19" fmla="*/ 4 h 55"/>
                <a:gd name="T20" fmla="*/ 8 w 33"/>
                <a:gd name="T21" fmla="*/ 0 h 55"/>
                <a:gd name="T22" fmla="*/ 8 w 33"/>
                <a:gd name="T23" fmla="*/ 19 h 55"/>
                <a:gd name="T24" fmla="*/ 10 w 33"/>
                <a:gd name="T25" fmla="*/ 17 h 55"/>
                <a:gd name="T26" fmla="*/ 12 w 33"/>
                <a:gd name="T27" fmla="*/ 16 h 55"/>
                <a:gd name="T28" fmla="*/ 14 w 33"/>
                <a:gd name="T29" fmla="*/ 15 h 55"/>
                <a:gd name="T30" fmla="*/ 18 w 33"/>
                <a:gd name="T31" fmla="*/ 15 h 55"/>
                <a:gd name="T32" fmla="*/ 24 w 33"/>
                <a:gd name="T33" fmla="*/ 16 h 55"/>
                <a:gd name="T34" fmla="*/ 28 w 33"/>
                <a:gd name="T35" fmla="*/ 19 h 55"/>
                <a:gd name="T36" fmla="*/ 31 w 33"/>
                <a:gd name="T37" fmla="*/ 26 h 55"/>
                <a:gd name="T38" fmla="*/ 33 w 33"/>
                <a:gd name="T39" fmla="*/ 35 h 55"/>
                <a:gd name="T40" fmla="*/ 25 w 33"/>
                <a:gd name="T41" fmla="*/ 35 h 55"/>
                <a:gd name="T42" fmla="*/ 23 w 33"/>
                <a:gd name="T43" fmla="*/ 25 h 55"/>
                <a:gd name="T44" fmla="*/ 16 w 33"/>
                <a:gd name="T45" fmla="*/ 22 h 55"/>
                <a:gd name="T46" fmla="*/ 14 w 33"/>
                <a:gd name="T47" fmla="*/ 22 h 55"/>
                <a:gd name="T48" fmla="*/ 11 w 33"/>
                <a:gd name="T49" fmla="*/ 23 h 55"/>
                <a:gd name="T50" fmla="*/ 9 w 33"/>
                <a:gd name="T51" fmla="*/ 25 h 55"/>
                <a:gd name="T52" fmla="*/ 8 w 33"/>
                <a:gd name="T53" fmla="*/ 26 h 55"/>
                <a:gd name="T54" fmla="*/ 8 w 33"/>
                <a:gd name="T55" fmla="*/ 43 h 55"/>
                <a:gd name="T56" fmla="*/ 9 w 33"/>
                <a:gd name="T57" fmla="*/ 44 h 55"/>
                <a:gd name="T58" fmla="*/ 11 w 33"/>
                <a:gd name="T59" fmla="*/ 46 h 55"/>
                <a:gd name="T60" fmla="*/ 14 w 33"/>
                <a:gd name="T61" fmla="*/ 47 h 55"/>
                <a:gd name="T62" fmla="*/ 17 w 33"/>
                <a:gd name="T63" fmla="*/ 48 h 55"/>
                <a:gd name="T64" fmla="*/ 23 w 33"/>
                <a:gd name="T65" fmla="*/ 45 h 55"/>
                <a:gd name="T66" fmla="*/ 25 w 33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5">
                  <a:moveTo>
                    <a:pt x="33" y="35"/>
                  </a:moveTo>
                  <a:cubicBezTo>
                    <a:pt x="33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7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6" y="55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8"/>
                    <a:pt x="10" y="17"/>
                  </a:cubicBezTo>
                  <a:cubicBezTo>
                    <a:pt x="11" y="17"/>
                    <a:pt x="11" y="16"/>
                    <a:pt x="12" y="16"/>
                  </a:cubicBezTo>
                  <a:cubicBezTo>
                    <a:pt x="13" y="16"/>
                    <a:pt x="13" y="15"/>
                    <a:pt x="14" y="15"/>
                  </a:cubicBezTo>
                  <a:cubicBezTo>
                    <a:pt x="15" y="15"/>
                    <a:pt x="16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30" y="21"/>
                    <a:pt x="31" y="23"/>
                    <a:pt x="31" y="26"/>
                  </a:cubicBezTo>
                  <a:cubicBezTo>
                    <a:pt x="32" y="28"/>
                    <a:pt x="33" y="32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5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1" y="23"/>
                    <a:pt x="10" y="24"/>
                    <a:pt x="9" y="25"/>
                  </a:cubicBezTo>
                  <a:cubicBezTo>
                    <a:pt x="9" y="25"/>
                    <a:pt x="8" y="26"/>
                    <a:pt x="8" y="26"/>
                  </a:cubicBezTo>
                  <a:cubicBezTo>
                    <a:pt x="8" y="43"/>
                    <a:pt x="8" y="43"/>
                    <a:pt x="8" y="43"/>
                  </a:cubicBezTo>
                  <a:cubicBezTo>
                    <a:pt x="8" y="43"/>
                    <a:pt x="9" y="44"/>
                    <a:pt x="9" y="44"/>
                  </a:cubicBezTo>
                  <a:cubicBezTo>
                    <a:pt x="10" y="45"/>
                    <a:pt x="11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6" y="48"/>
                    <a:pt x="17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4" name="Freeform 12">
              <a:extLst>
                <a:ext uri="{FF2B5EF4-FFF2-40B4-BE49-F238E27FC236}">
                  <a16:creationId xmlns:a16="http://schemas.microsoft.com/office/drawing/2014/main" id="{41BE51DE-402B-48B5-99C8-D8BB9A32DF3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5" name="Freeform 13">
              <a:extLst>
                <a:ext uri="{FF2B5EF4-FFF2-40B4-BE49-F238E27FC236}">
                  <a16:creationId xmlns:a16="http://schemas.microsoft.com/office/drawing/2014/main" id="{8D5E878B-8859-44FA-A69D-DCE630AAB0D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1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2" y="54"/>
                    <a:pt x="11" y="54"/>
                  </a:cubicBezTo>
                  <a:cubicBezTo>
                    <a:pt x="10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2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6" name="Freeform 14">
              <a:extLst>
                <a:ext uri="{FF2B5EF4-FFF2-40B4-BE49-F238E27FC236}">
                  <a16:creationId xmlns:a16="http://schemas.microsoft.com/office/drawing/2014/main" id="{08D55808-ECDC-4E9B-84ED-7301E9E716C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7" name="Freeform 15">
              <a:extLst>
                <a:ext uri="{FF2B5EF4-FFF2-40B4-BE49-F238E27FC236}">
                  <a16:creationId xmlns:a16="http://schemas.microsoft.com/office/drawing/2014/main" id="{3436B310-313E-4A53-A70D-CA0D0D97FE7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0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0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2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2" y="21"/>
                    <a:pt x="32" y="22"/>
                    <a:pt x="32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0" y="32"/>
                    <a:pt x="21" y="32"/>
                  </a:cubicBezTo>
                  <a:cubicBezTo>
                    <a:pt x="22" y="32"/>
                    <a:pt x="22" y="31"/>
                    <a:pt x="23" y="31"/>
                  </a:cubicBezTo>
                  <a:cubicBezTo>
                    <a:pt x="23" y="31"/>
                    <a:pt x="24" y="30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0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6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3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7" y="6"/>
                    <a:pt x="16" y="6"/>
                  </a:cubicBezTo>
                  <a:cubicBezTo>
                    <a:pt x="15" y="6"/>
                    <a:pt x="13" y="7"/>
                    <a:pt x="12" y="7"/>
                  </a:cubicBezTo>
                  <a:cubicBezTo>
                    <a:pt x="11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8" name="Freeform 16">
              <a:extLst>
                <a:ext uri="{FF2B5EF4-FFF2-40B4-BE49-F238E27FC236}">
                  <a16:creationId xmlns:a16="http://schemas.microsoft.com/office/drawing/2014/main" id="{F3CE55A9-AE55-4169-A58D-8171D9916EC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212575"/>
              <a:ext cx="55799" cy="99391"/>
            </a:xfrm>
            <a:custGeom>
              <a:avLst/>
              <a:gdLst>
                <a:gd name="T0" fmla="*/ 20 w 22"/>
                <a:gd name="T1" fmla="*/ 8 h 39"/>
                <a:gd name="T2" fmla="*/ 18 w 22"/>
                <a:gd name="T3" fmla="*/ 7 h 39"/>
                <a:gd name="T4" fmla="*/ 15 w 22"/>
                <a:gd name="T5" fmla="*/ 7 h 39"/>
                <a:gd name="T6" fmla="*/ 9 w 22"/>
                <a:gd name="T7" fmla="*/ 9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0 h 39"/>
                <a:gd name="T16" fmla="*/ 7 w 22"/>
                <a:gd name="T17" fmla="*/ 0 h 39"/>
                <a:gd name="T18" fmla="*/ 7 w 22"/>
                <a:gd name="T19" fmla="*/ 4 h 39"/>
                <a:gd name="T20" fmla="*/ 9 w 22"/>
                <a:gd name="T21" fmla="*/ 2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0 h 39"/>
                <a:gd name="T30" fmla="*/ 22 w 22"/>
                <a:gd name="T31" fmla="*/ 1 h 39"/>
                <a:gd name="T32" fmla="*/ 20 w 22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2" y="7"/>
                    <a:pt x="10" y="8"/>
                    <a:pt x="9" y="9"/>
                  </a:cubicBezTo>
                  <a:cubicBezTo>
                    <a:pt x="8" y="11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9" y="2"/>
                    <a:pt x="10" y="1"/>
                    <a:pt x="11" y="1"/>
                  </a:cubicBezTo>
                  <a:cubicBezTo>
                    <a:pt x="11" y="0"/>
                    <a:pt x="12" y="0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0"/>
                  </a:cubicBezTo>
                  <a:cubicBezTo>
                    <a:pt x="21" y="0"/>
                    <a:pt x="22" y="1"/>
                    <a:pt x="22" y="1"/>
                  </a:cubicBezTo>
                  <a:lnTo>
                    <a:pt x="20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199" name="Freeform 17">
              <a:extLst>
                <a:ext uri="{FF2B5EF4-FFF2-40B4-BE49-F238E27FC236}">
                  <a16:creationId xmlns:a16="http://schemas.microsoft.com/office/drawing/2014/main" id="{FA01BC48-4605-46FC-A7AC-192C7DBCA04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3 w 22"/>
                <a:gd name="T25" fmla="*/ 0 h 55"/>
                <a:gd name="T26" fmla="*/ 13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3 w 22"/>
                <a:gd name="T33" fmla="*/ 22 h 55"/>
                <a:gd name="T34" fmla="*/ 13 w 22"/>
                <a:gd name="T35" fmla="*/ 43 h 55"/>
                <a:gd name="T36" fmla="*/ 13 w 22"/>
                <a:gd name="T37" fmla="*/ 45 h 55"/>
                <a:gd name="T38" fmla="*/ 14 w 22"/>
                <a:gd name="T39" fmla="*/ 47 h 55"/>
                <a:gd name="T40" fmla="*/ 15 w 22"/>
                <a:gd name="T41" fmla="*/ 47 h 55"/>
                <a:gd name="T42" fmla="*/ 17 w 22"/>
                <a:gd name="T43" fmla="*/ 48 h 55"/>
                <a:gd name="T44" fmla="*/ 20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3" y="55"/>
                    <a:pt x="11" y="54"/>
                    <a:pt x="10" y="54"/>
                  </a:cubicBezTo>
                  <a:cubicBezTo>
                    <a:pt x="9" y="54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5"/>
                    <a:pt x="13" y="45"/>
                  </a:cubicBezTo>
                  <a:cubicBezTo>
                    <a:pt x="13" y="46"/>
                    <a:pt x="13" y="46"/>
                    <a:pt x="14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7" y="48"/>
                  </a:cubicBezTo>
                  <a:cubicBezTo>
                    <a:pt x="18" y="48"/>
                    <a:pt x="19" y="48"/>
                    <a:pt x="20" y="47"/>
                  </a:cubicBezTo>
                  <a:cubicBezTo>
                    <a:pt x="21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0" name="Freeform 18">
              <a:extLst>
                <a:ext uri="{FF2B5EF4-FFF2-40B4-BE49-F238E27FC236}">
                  <a16:creationId xmlns:a16="http://schemas.microsoft.com/office/drawing/2014/main" id="{870190F3-472B-4296-B88D-D6904B9F30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2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8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9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1" name="Freeform 19">
              <a:extLst>
                <a:ext uri="{FF2B5EF4-FFF2-40B4-BE49-F238E27FC236}">
                  <a16:creationId xmlns:a16="http://schemas.microsoft.com/office/drawing/2014/main" id="{6CEA0F2B-4AAB-4A16-B7F1-CFCB0C0DCE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2" name="Freeform 20">
              <a:extLst>
                <a:ext uri="{FF2B5EF4-FFF2-40B4-BE49-F238E27FC236}">
                  <a16:creationId xmlns:a16="http://schemas.microsoft.com/office/drawing/2014/main" id="{CD64F657-7EE7-4AF2-ADE4-160C87E64D6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730922" y="6212575"/>
              <a:ext cx="80211" cy="134265"/>
            </a:xfrm>
            <a:custGeom>
              <a:avLst/>
              <a:gdLst>
                <a:gd name="T0" fmla="*/ 25 w 32"/>
                <a:gd name="T1" fmla="*/ 53 h 53"/>
                <a:gd name="T2" fmla="*/ 25 w 32"/>
                <a:gd name="T3" fmla="*/ 35 h 53"/>
                <a:gd name="T4" fmla="*/ 20 w 32"/>
                <a:gd name="T5" fmla="*/ 38 h 53"/>
                <a:gd name="T6" fmla="*/ 15 w 32"/>
                <a:gd name="T7" fmla="*/ 40 h 53"/>
                <a:gd name="T8" fmla="*/ 9 w 32"/>
                <a:gd name="T9" fmla="*/ 38 h 53"/>
                <a:gd name="T10" fmla="*/ 4 w 32"/>
                <a:gd name="T11" fmla="*/ 35 h 53"/>
                <a:gd name="T12" fmla="*/ 1 w 32"/>
                <a:gd name="T13" fmla="*/ 28 h 53"/>
                <a:gd name="T14" fmla="*/ 0 w 32"/>
                <a:gd name="T15" fmla="*/ 19 h 53"/>
                <a:gd name="T16" fmla="*/ 1 w 32"/>
                <a:gd name="T17" fmla="*/ 10 h 53"/>
                <a:gd name="T18" fmla="*/ 4 w 32"/>
                <a:gd name="T19" fmla="*/ 4 h 53"/>
                <a:gd name="T20" fmla="*/ 9 w 32"/>
                <a:gd name="T21" fmla="*/ 1 h 53"/>
                <a:gd name="T22" fmla="*/ 15 w 32"/>
                <a:gd name="T23" fmla="*/ 0 h 53"/>
                <a:gd name="T24" fmla="*/ 18 w 32"/>
                <a:gd name="T25" fmla="*/ 0 h 53"/>
                <a:gd name="T26" fmla="*/ 20 w 32"/>
                <a:gd name="T27" fmla="*/ 1 h 53"/>
                <a:gd name="T28" fmla="*/ 23 w 32"/>
                <a:gd name="T29" fmla="*/ 2 h 53"/>
                <a:gd name="T30" fmla="*/ 25 w 32"/>
                <a:gd name="T31" fmla="*/ 4 h 53"/>
                <a:gd name="T32" fmla="*/ 25 w 32"/>
                <a:gd name="T33" fmla="*/ 0 h 53"/>
                <a:gd name="T34" fmla="*/ 32 w 32"/>
                <a:gd name="T35" fmla="*/ 0 h 53"/>
                <a:gd name="T36" fmla="*/ 32 w 32"/>
                <a:gd name="T37" fmla="*/ 49 h 53"/>
                <a:gd name="T38" fmla="*/ 25 w 32"/>
                <a:gd name="T39" fmla="*/ 53 h 53"/>
                <a:gd name="T40" fmla="*/ 25 w 32"/>
                <a:gd name="T41" fmla="*/ 12 h 53"/>
                <a:gd name="T42" fmla="*/ 23 w 32"/>
                <a:gd name="T43" fmla="*/ 10 h 53"/>
                <a:gd name="T44" fmla="*/ 21 w 32"/>
                <a:gd name="T45" fmla="*/ 8 h 53"/>
                <a:gd name="T46" fmla="*/ 18 w 32"/>
                <a:gd name="T47" fmla="*/ 7 h 53"/>
                <a:gd name="T48" fmla="*/ 16 w 32"/>
                <a:gd name="T49" fmla="*/ 7 h 53"/>
                <a:gd name="T50" fmla="*/ 9 w 32"/>
                <a:gd name="T51" fmla="*/ 10 h 53"/>
                <a:gd name="T52" fmla="*/ 7 w 32"/>
                <a:gd name="T53" fmla="*/ 19 h 53"/>
                <a:gd name="T54" fmla="*/ 10 w 32"/>
                <a:gd name="T55" fmla="*/ 29 h 53"/>
                <a:gd name="T56" fmla="*/ 16 w 32"/>
                <a:gd name="T57" fmla="*/ 33 h 53"/>
                <a:gd name="T58" fmla="*/ 21 w 32"/>
                <a:gd name="T59" fmla="*/ 31 h 53"/>
                <a:gd name="T60" fmla="*/ 25 w 32"/>
                <a:gd name="T61" fmla="*/ 28 h 53"/>
                <a:gd name="T62" fmla="*/ 25 w 32"/>
                <a:gd name="T63" fmla="*/ 12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32" h="53">
                  <a:moveTo>
                    <a:pt x="25" y="53"/>
                  </a:moveTo>
                  <a:cubicBezTo>
                    <a:pt x="25" y="35"/>
                    <a:pt x="25" y="35"/>
                    <a:pt x="25" y="35"/>
                  </a:cubicBezTo>
                  <a:cubicBezTo>
                    <a:pt x="23" y="36"/>
                    <a:pt x="22" y="37"/>
                    <a:pt x="20" y="38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3" y="40"/>
                    <a:pt x="11" y="39"/>
                    <a:pt x="9" y="38"/>
                  </a:cubicBezTo>
                  <a:cubicBezTo>
                    <a:pt x="7" y="38"/>
                    <a:pt x="5" y="36"/>
                    <a:pt x="4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0" y="26"/>
                    <a:pt x="0" y="23"/>
                    <a:pt x="0" y="19"/>
                  </a:cubicBezTo>
                  <a:cubicBezTo>
                    <a:pt x="0" y="16"/>
                    <a:pt x="0" y="13"/>
                    <a:pt x="1" y="10"/>
                  </a:cubicBezTo>
                  <a:cubicBezTo>
                    <a:pt x="2" y="8"/>
                    <a:pt x="3" y="6"/>
                    <a:pt x="4" y="4"/>
                  </a:cubicBezTo>
                  <a:cubicBezTo>
                    <a:pt x="6" y="3"/>
                    <a:pt x="7" y="2"/>
                    <a:pt x="9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6" y="0"/>
                    <a:pt x="17" y="0"/>
                    <a:pt x="18" y="0"/>
                  </a:cubicBezTo>
                  <a:cubicBezTo>
                    <a:pt x="19" y="0"/>
                    <a:pt x="20" y="0"/>
                    <a:pt x="20" y="1"/>
                  </a:cubicBezTo>
                  <a:cubicBezTo>
                    <a:pt x="21" y="1"/>
                    <a:pt x="22" y="2"/>
                    <a:pt x="23" y="2"/>
                  </a:cubicBezTo>
                  <a:cubicBezTo>
                    <a:pt x="23" y="3"/>
                    <a:pt x="24" y="3"/>
                    <a:pt x="25" y="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49"/>
                    <a:pt x="32" y="49"/>
                    <a:pt x="32" y="49"/>
                  </a:cubicBezTo>
                  <a:lnTo>
                    <a:pt x="25" y="53"/>
                  </a:lnTo>
                  <a:close/>
                  <a:moveTo>
                    <a:pt x="25" y="12"/>
                  </a:moveTo>
                  <a:cubicBezTo>
                    <a:pt x="24" y="11"/>
                    <a:pt x="24" y="10"/>
                    <a:pt x="23" y="10"/>
                  </a:cubicBezTo>
                  <a:cubicBezTo>
                    <a:pt x="23" y="9"/>
                    <a:pt x="22" y="9"/>
                    <a:pt x="21" y="8"/>
                  </a:cubicBezTo>
                  <a:cubicBezTo>
                    <a:pt x="20" y="8"/>
                    <a:pt x="19" y="7"/>
                    <a:pt x="18" y="7"/>
                  </a:cubicBezTo>
                  <a:cubicBezTo>
                    <a:pt x="18" y="7"/>
                    <a:pt x="17" y="7"/>
                    <a:pt x="16" y="7"/>
                  </a:cubicBezTo>
                  <a:cubicBezTo>
                    <a:pt x="13" y="7"/>
                    <a:pt x="11" y="8"/>
                    <a:pt x="9" y="10"/>
                  </a:cubicBezTo>
                  <a:cubicBezTo>
                    <a:pt x="8" y="12"/>
                    <a:pt x="7" y="15"/>
                    <a:pt x="7" y="19"/>
                  </a:cubicBezTo>
                  <a:cubicBezTo>
                    <a:pt x="7" y="23"/>
                    <a:pt x="8" y="27"/>
                    <a:pt x="10" y="29"/>
                  </a:cubicBezTo>
                  <a:cubicBezTo>
                    <a:pt x="11" y="31"/>
                    <a:pt x="13" y="33"/>
                    <a:pt x="16" y="33"/>
                  </a:cubicBezTo>
                  <a:cubicBezTo>
                    <a:pt x="18" y="33"/>
                    <a:pt x="19" y="32"/>
                    <a:pt x="21" y="31"/>
                  </a:cubicBezTo>
                  <a:cubicBezTo>
                    <a:pt x="22" y="30"/>
                    <a:pt x="24" y="29"/>
                    <a:pt x="25" y="28"/>
                  </a:cubicBezTo>
                  <a:lnTo>
                    <a:pt x="25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3" name="Freeform 21">
              <a:extLst>
                <a:ext uri="{FF2B5EF4-FFF2-40B4-BE49-F238E27FC236}">
                  <a16:creationId xmlns:a16="http://schemas.microsoft.com/office/drawing/2014/main" id="{FA80A690-9084-4519-8D88-A01963C0236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835545" y="6212575"/>
              <a:ext cx="78468" cy="101135"/>
            </a:xfrm>
            <a:custGeom>
              <a:avLst/>
              <a:gdLst>
                <a:gd name="T0" fmla="*/ 24 w 31"/>
                <a:gd name="T1" fmla="*/ 39 h 40"/>
                <a:gd name="T2" fmla="*/ 24 w 31"/>
                <a:gd name="T3" fmla="*/ 35 h 40"/>
                <a:gd name="T4" fmla="*/ 20 w 31"/>
                <a:gd name="T5" fmla="*/ 38 h 40"/>
                <a:gd name="T6" fmla="*/ 14 w 31"/>
                <a:gd name="T7" fmla="*/ 40 h 40"/>
                <a:gd name="T8" fmla="*/ 4 w 31"/>
                <a:gd name="T9" fmla="*/ 35 h 40"/>
                <a:gd name="T10" fmla="*/ 0 w 31"/>
                <a:gd name="T11" fmla="*/ 22 h 40"/>
                <a:gd name="T12" fmla="*/ 0 w 31"/>
                <a:gd name="T13" fmla="*/ 0 h 40"/>
                <a:gd name="T14" fmla="*/ 8 w 31"/>
                <a:gd name="T15" fmla="*/ 0 h 40"/>
                <a:gd name="T16" fmla="*/ 8 w 31"/>
                <a:gd name="T17" fmla="*/ 22 h 40"/>
                <a:gd name="T18" fmla="*/ 10 w 31"/>
                <a:gd name="T19" fmla="*/ 30 h 40"/>
                <a:gd name="T20" fmla="*/ 16 w 31"/>
                <a:gd name="T21" fmla="*/ 33 h 40"/>
                <a:gd name="T22" fmla="*/ 22 w 31"/>
                <a:gd name="T23" fmla="*/ 30 h 40"/>
                <a:gd name="T24" fmla="*/ 24 w 31"/>
                <a:gd name="T25" fmla="*/ 23 h 40"/>
                <a:gd name="T26" fmla="*/ 24 w 31"/>
                <a:gd name="T27" fmla="*/ 0 h 40"/>
                <a:gd name="T28" fmla="*/ 31 w 31"/>
                <a:gd name="T29" fmla="*/ 0 h 40"/>
                <a:gd name="T30" fmla="*/ 31 w 31"/>
                <a:gd name="T31" fmla="*/ 39 h 40"/>
                <a:gd name="T32" fmla="*/ 24 w 31"/>
                <a:gd name="T33" fmla="*/ 39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31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2" y="38"/>
                    <a:pt x="20" y="38"/>
                  </a:cubicBezTo>
                  <a:cubicBezTo>
                    <a:pt x="18" y="39"/>
                    <a:pt x="16" y="40"/>
                    <a:pt x="14" y="40"/>
                  </a:cubicBezTo>
                  <a:cubicBezTo>
                    <a:pt x="10" y="40"/>
                    <a:pt x="6" y="38"/>
                    <a:pt x="4" y="35"/>
                  </a:cubicBezTo>
                  <a:cubicBezTo>
                    <a:pt x="2" y="32"/>
                    <a:pt x="0" y="28"/>
                    <a:pt x="0" y="22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6"/>
                    <a:pt x="9" y="28"/>
                    <a:pt x="10" y="30"/>
                  </a:cubicBezTo>
                  <a:cubicBezTo>
                    <a:pt x="11" y="32"/>
                    <a:pt x="13" y="33"/>
                    <a:pt x="16" y="33"/>
                  </a:cubicBezTo>
                  <a:cubicBezTo>
                    <a:pt x="18" y="33"/>
                    <a:pt x="20" y="32"/>
                    <a:pt x="22" y="30"/>
                  </a:cubicBezTo>
                  <a:cubicBezTo>
                    <a:pt x="23" y="28"/>
                    <a:pt x="24" y="26"/>
                    <a:pt x="24" y="2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4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4" name="Freeform 22">
              <a:extLst>
                <a:ext uri="{FF2B5EF4-FFF2-40B4-BE49-F238E27FC236}">
                  <a16:creationId xmlns:a16="http://schemas.microsoft.com/office/drawing/2014/main" id="{E847401D-2482-482A-AC12-D2E83C13546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934936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1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2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5" name="Freeform 23">
              <a:extLst>
                <a:ext uri="{FF2B5EF4-FFF2-40B4-BE49-F238E27FC236}">
                  <a16:creationId xmlns:a16="http://schemas.microsoft.com/office/drawing/2014/main" id="{86054F72-4509-4465-B9A8-8DAE3EFD35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30841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1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4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7 w 29"/>
                <a:gd name="T55" fmla="*/ 24 h 40"/>
                <a:gd name="T56" fmla="*/ 13 w 29"/>
                <a:gd name="T57" fmla="*/ 22 h 40"/>
                <a:gd name="T58" fmla="*/ 8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2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3" y="6"/>
                    <a:pt x="11" y="7"/>
                    <a:pt x="10" y="7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1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9" y="25"/>
                    <a:pt x="18" y="24"/>
                    <a:pt x="17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8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3" y="15"/>
                    <a:pt x="2" y="14"/>
                  </a:cubicBezTo>
                  <a:cubicBezTo>
                    <a:pt x="2" y="13"/>
                    <a:pt x="2" y="12"/>
                    <a:pt x="2" y="10"/>
                  </a:cubicBezTo>
                  <a:cubicBezTo>
                    <a:pt x="2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6" name="Freeform 24">
              <a:extLst>
                <a:ext uri="{FF2B5EF4-FFF2-40B4-BE49-F238E27FC236}">
                  <a16:creationId xmlns:a16="http://schemas.microsoft.com/office/drawing/2014/main" id="{813850E4-4B62-4FDA-ABD6-F5A5AA5E7C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118027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7" name="Freeform 25">
              <a:extLst>
                <a:ext uri="{FF2B5EF4-FFF2-40B4-BE49-F238E27FC236}">
                  <a16:creationId xmlns:a16="http://schemas.microsoft.com/office/drawing/2014/main" id="{1B4F0124-2FAE-4D54-9ECC-E88A8031BBD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194750" y="6175958"/>
              <a:ext cx="24412" cy="136010"/>
            </a:xfrm>
            <a:custGeom>
              <a:avLst/>
              <a:gdLst>
                <a:gd name="T0" fmla="*/ 10 w 10"/>
                <a:gd name="T1" fmla="*/ 5 h 53"/>
                <a:gd name="T2" fmla="*/ 9 w 10"/>
                <a:gd name="T3" fmla="*/ 6 h 53"/>
                <a:gd name="T4" fmla="*/ 8 w 10"/>
                <a:gd name="T5" fmla="*/ 8 h 53"/>
                <a:gd name="T6" fmla="*/ 7 w 10"/>
                <a:gd name="T7" fmla="*/ 9 h 53"/>
                <a:gd name="T8" fmla="*/ 5 w 10"/>
                <a:gd name="T9" fmla="*/ 9 h 53"/>
                <a:gd name="T10" fmla="*/ 3 w 10"/>
                <a:gd name="T11" fmla="*/ 9 h 53"/>
                <a:gd name="T12" fmla="*/ 1 w 10"/>
                <a:gd name="T13" fmla="*/ 8 h 53"/>
                <a:gd name="T14" fmla="*/ 0 w 10"/>
                <a:gd name="T15" fmla="*/ 6 h 53"/>
                <a:gd name="T16" fmla="*/ 0 w 10"/>
                <a:gd name="T17" fmla="*/ 5 h 53"/>
                <a:gd name="T18" fmla="*/ 0 w 10"/>
                <a:gd name="T19" fmla="*/ 3 h 53"/>
                <a:gd name="T20" fmla="*/ 1 w 10"/>
                <a:gd name="T21" fmla="*/ 1 h 53"/>
                <a:gd name="T22" fmla="*/ 3 w 10"/>
                <a:gd name="T23" fmla="*/ 0 h 53"/>
                <a:gd name="T24" fmla="*/ 5 w 10"/>
                <a:gd name="T25" fmla="*/ 0 h 53"/>
                <a:gd name="T26" fmla="*/ 7 w 10"/>
                <a:gd name="T27" fmla="*/ 0 h 53"/>
                <a:gd name="T28" fmla="*/ 8 w 10"/>
                <a:gd name="T29" fmla="*/ 1 h 53"/>
                <a:gd name="T30" fmla="*/ 9 w 10"/>
                <a:gd name="T31" fmla="*/ 3 h 53"/>
                <a:gd name="T32" fmla="*/ 10 w 10"/>
                <a:gd name="T33" fmla="*/ 5 h 53"/>
                <a:gd name="T34" fmla="*/ 1 w 10"/>
                <a:gd name="T35" fmla="*/ 53 h 53"/>
                <a:gd name="T36" fmla="*/ 1 w 10"/>
                <a:gd name="T37" fmla="*/ 14 h 53"/>
                <a:gd name="T38" fmla="*/ 9 w 10"/>
                <a:gd name="T39" fmla="*/ 14 h 53"/>
                <a:gd name="T40" fmla="*/ 9 w 10"/>
                <a:gd name="T41" fmla="*/ 53 h 53"/>
                <a:gd name="T42" fmla="*/ 1 w 10"/>
                <a:gd name="T43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0" h="53">
                  <a:moveTo>
                    <a:pt x="10" y="5"/>
                  </a:moveTo>
                  <a:cubicBezTo>
                    <a:pt x="10" y="5"/>
                    <a:pt x="10" y="6"/>
                    <a:pt x="9" y="6"/>
                  </a:cubicBezTo>
                  <a:cubicBezTo>
                    <a:pt x="9" y="7"/>
                    <a:pt x="9" y="8"/>
                    <a:pt x="8" y="8"/>
                  </a:cubicBezTo>
                  <a:cubicBezTo>
                    <a:pt x="8" y="8"/>
                    <a:pt x="7" y="9"/>
                    <a:pt x="7" y="9"/>
                  </a:cubicBezTo>
                  <a:cubicBezTo>
                    <a:pt x="6" y="9"/>
                    <a:pt x="6" y="9"/>
                    <a:pt x="5" y="9"/>
                  </a:cubicBezTo>
                  <a:cubicBezTo>
                    <a:pt x="4" y="9"/>
                    <a:pt x="4" y="9"/>
                    <a:pt x="3" y="9"/>
                  </a:cubicBezTo>
                  <a:cubicBezTo>
                    <a:pt x="2" y="9"/>
                    <a:pt x="2" y="8"/>
                    <a:pt x="1" y="8"/>
                  </a:cubicBezTo>
                  <a:cubicBezTo>
                    <a:pt x="1" y="8"/>
                    <a:pt x="1" y="7"/>
                    <a:pt x="0" y="6"/>
                  </a:cubicBezTo>
                  <a:cubicBezTo>
                    <a:pt x="0" y="6"/>
                    <a:pt x="0" y="5"/>
                    <a:pt x="0" y="5"/>
                  </a:cubicBezTo>
                  <a:cubicBezTo>
                    <a:pt x="0" y="4"/>
                    <a:pt x="0" y="3"/>
                    <a:pt x="0" y="3"/>
                  </a:cubicBezTo>
                  <a:cubicBezTo>
                    <a:pt x="1" y="2"/>
                    <a:pt x="1" y="2"/>
                    <a:pt x="1" y="1"/>
                  </a:cubicBezTo>
                  <a:cubicBezTo>
                    <a:pt x="2" y="1"/>
                    <a:pt x="2" y="0"/>
                    <a:pt x="3" y="0"/>
                  </a:cubicBezTo>
                  <a:cubicBezTo>
                    <a:pt x="4" y="0"/>
                    <a:pt x="4" y="0"/>
                    <a:pt x="5" y="0"/>
                  </a:cubicBezTo>
                  <a:cubicBezTo>
                    <a:pt x="6" y="0"/>
                    <a:pt x="6" y="0"/>
                    <a:pt x="7" y="0"/>
                  </a:cubicBezTo>
                  <a:cubicBezTo>
                    <a:pt x="7" y="0"/>
                    <a:pt x="8" y="1"/>
                    <a:pt x="8" y="1"/>
                  </a:cubicBezTo>
                  <a:cubicBezTo>
                    <a:pt x="9" y="2"/>
                    <a:pt x="9" y="2"/>
                    <a:pt x="9" y="3"/>
                  </a:cubicBezTo>
                  <a:cubicBezTo>
                    <a:pt x="10" y="3"/>
                    <a:pt x="10" y="4"/>
                    <a:pt x="10" y="5"/>
                  </a:cubicBezTo>
                  <a:close/>
                  <a:moveTo>
                    <a:pt x="1" y="53"/>
                  </a:moveTo>
                  <a:cubicBezTo>
                    <a:pt x="1" y="14"/>
                    <a:pt x="1" y="14"/>
                    <a:pt x="1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53"/>
                    <a:pt x="9" y="53"/>
                    <a:pt x="9" y="53"/>
                  </a:cubicBezTo>
                  <a:lnTo>
                    <a:pt x="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8" name="Freeform 26">
              <a:extLst>
                <a:ext uri="{FF2B5EF4-FFF2-40B4-BE49-F238E27FC236}">
                  <a16:creationId xmlns:a16="http://schemas.microsoft.com/office/drawing/2014/main" id="{2A730E5F-DF9C-488E-B4E0-EE9F501529E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236599" y="6212575"/>
              <a:ext cx="87186" cy="101135"/>
            </a:xfrm>
            <a:custGeom>
              <a:avLst/>
              <a:gdLst>
                <a:gd name="T0" fmla="*/ 34 w 34"/>
                <a:gd name="T1" fmla="*/ 19 h 40"/>
                <a:gd name="T2" fmla="*/ 33 w 34"/>
                <a:gd name="T3" fmla="*/ 28 h 40"/>
                <a:gd name="T4" fmla="*/ 29 w 34"/>
                <a:gd name="T5" fmla="*/ 34 h 40"/>
                <a:gd name="T6" fmla="*/ 24 w 34"/>
                <a:gd name="T7" fmla="*/ 38 h 40"/>
                <a:gd name="T8" fmla="*/ 17 w 34"/>
                <a:gd name="T9" fmla="*/ 40 h 40"/>
                <a:gd name="T10" fmla="*/ 10 w 34"/>
                <a:gd name="T11" fmla="*/ 38 h 40"/>
                <a:gd name="T12" fmla="*/ 5 w 34"/>
                <a:gd name="T13" fmla="*/ 34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1 h 40"/>
                <a:gd name="T20" fmla="*/ 5 w 34"/>
                <a:gd name="T21" fmla="*/ 5 h 40"/>
                <a:gd name="T22" fmla="*/ 10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1 h 40"/>
                <a:gd name="T32" fmla="*/ 34 w 34"/>
                <a:gd name="T33" fmla="*/ 19 h 40"/>
                <a:gd name="T34" fmla="*/ 26 w 34"/>
                <a:gd name="T35" fmla="*/ 20 h 40"/>
                <a:gd name="T36" fmla="*/ 26 w 34"/>
                <a:gd name="T37" fmla="*/ 14 h 40"/>
                <a:gd name="T38" fmla="*/ 24 w 34"/>
                <a:gd name="T39" fmla="*/ 10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0 h 40"/>
                <a:gd name="T48" fmla="*/ 8 w 34"/>
                <a:gd name="T49" fmla="*/ 14 h 40"/>
                <a:gd name="T50" fmla="*/ 7 w 34"/>
                <a:gd name="T51" fmla="*/ 19 h 40"/>
                <a:gd name="T52" fmla="*/ 8 w 34"/>
                <a:gd name="T53" fmla="*/ 25 h 40"/>
                <a:gd name="T54" fmla="*/ 10 w 34"/>
                <a:gd name="T55" fmla="*/ 29 h 40"/>
                <a:gd name="T56" fmla="*/ 13 w 34"/>
                <a:gd name="T57" fmla="*/ 32 h 40"/>
                <a:gd name="T58" fmla="*/ 17 w 34"/>
                <a:gd name="T59" fmla="*/ 32 h 40"/>
                <a:gd name="T60" fmla="*/ 21 w 34"/>
                <a:gd name="T61" fmla="*/ 31 h 40"/>
                <a:gd name="T62" fmla="*/ 24 w 34"/>
                <a:gd name="T63" fmla="*/ 29 h 40"/>
                <a:gd name="T64" fmla="*/ 26 w 34"/>
                <a:gd name="T65" fmla="*/ 25 h 40"/>
                <a:gd name="T66" fmla="*/ 26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19"/>
                  </a:moveTo>
                  <a:cubicBezTo>
                    <a:pt x="34" y="23"/>
                    <a:pt x="34" y="25"/>
                    <a:pt x="33" y="28"/>
                  </a:cubicBezTo>
                  <a:cubicBezTo>
                    <a:pt x="32" y="30"/>
                    <a:pt x="31" y="33"/>
                    <a:pt x="29" y="34"/>
                  </a:cubicBezTo>
                  <a:cubicBezTo>
                    <a:pt x="28" y="36"/>
                    <a:pt x="26" y="37"/>
                    <a:pt x="24" y="38"/>
                  </a:cubicBezTo>
                  <a:cubicBezTo>
                    <a:pt x="21" y="39"/>
                    <a:pt x="19" y="40"/>
                    <a:pt x="17" y="40"/>
                  </a:cubicBezTo>
                  <a:cubicBezTo>
                    <a:pt x="14" y="40"/>
                    <a:pt x="12" y="39"/>
                    <a:pt x="10" y="38"/>
                  </a:cubicBezTo>
                  <a:cubicBezTo>
                    <a:pt x="8" y="37"/>
                    <a:pt x="6" y="36"/>
                    <a:pt x="5" y="34"/>
                  </a:cubicBezTo>
                  <a:cubicBezTo>
                    <a:pt x="3" y="32"/>
                    <a:pt x="2" y="30"/>
                    <a:pt x="1" y="28"/>
                  </a:cubicBezTo>
                  <a:cubicBezTo>
                    <a:pt x="0" y="25"/>
                    <a:pt x="0" y="23"/>
                    <a:pt x="0" y="20"/>
                  </a:cubicBezTo>
                  <a:cubicBezTo>
                    <a:pt x="0" y="16"/>
                    <a:pt x="0" y="14"/>
                    <a:pt x="1" y="11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8" y="3"/>
                    <a:pt x="29" y="5"/>
                  </a:cubicBezTo>
                  <a:cubicBezTo>
                    <a:pt x="31" y="7"/>
                    <a:pt x="32" y="9"/>
                    <a:pt x="33" y="11"/>
                  </a:cubicBezTo>
                  <a:cubicBezTo>
                    <a:pt x="34" y="14"/>
                    <a:pt x="34" y="16"/>
                    <a:pt x="34" y="19"/>
                  </a:cubicBezTo>
                  <a:close/>
                  <a:moveTo>
                    <a:pt x="26" y="20"/>
                  </a:moveTo>
                  <a:cubicBezTo>
                    <a:pt x="26" y="18"/>
                    <a:pt x="26" y="16"/>
                    <a:pt x="26" y="14"/>
                  </a:cubicBezTo>
                  <a:cubicBezTo>
                    <a:pt x="25" y="13"/>
                    <a:pt x="25" y="11"/>
                    <a:pt x="24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19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10"/>
                  </a:cubicBezTo>
                  <a:cubicBezTo>
                    <a:pt x="9" y="11"/>
                    <a:pt x="8" y="13"/>
                    <a:pt x="8" y="14"/>
                  </a:cubicBezTo>
                  <a:cubicBezTo>
                    <a:pt x="8" y="16"/>
                    <a:pt x="7" y="17"/>
                    <a:pt x="7" y="19"/>
                  </a:cubicBezTo>
                  <a:cubicBezTo>
                    <a:pt x="7" y="21"/>
                    <a:pt x="8" y="23"/>
                    <a:pt x="8" y="25"/>
                  </a:cubicBezTo>
                  <a:cubicBezTo>
                    <a:pt x="9" y="27"/>
                    <a:pt x="9" y="28"/>
                    <a:pt x="10" y="29"/>
                  </a:cubicBezTo>
                  <a:cubicBezTo>
                    <a:pt x="11" y="30"/>
                    <a:pt x="12" y="31"/>
                    <a:pt x="13" y="32"/>
                  </a:cubicBezTo>
                  <a:cubicBezTo>
                    <a:pt x="14" y="32"/>
                    <a:pt x="16" y="32"/>
                    <a:pt x="17" y="32"/>
                  </a:cubicBezTo>
                  <a:cubicBezTo>
                    <a:pt x="18" y="32"/>
                    <a:pt x="20" y="32"/>
                    <a:pt x="21" y="31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7"/>
                    <a:pt x="25" y="26"/>
                    <a:pt x="26" y="25"/>
                  </a:cubicBezTo>
                  <a:cubicBezTo>
                    <a:pt x="26" y="23"/>
                    <a:pt x="26" y="21"/>
                    <a:pt x="26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09" name="Freeform 27">
              <a:extLst>
                <a:ext uri="{FF2B5EF4-FFF2-40B4-BE49-F238E27FC236}">
                  <a16:creationId xmlns:a16="http://schemas.microsoft.com/office/drawing/2014/main" id="{39861D7E-D8DA-436F-9E2F-5C08A8BFB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344710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1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9 w 31"/>
                <a:gd name="T11" fmla="*/ 9 h 39"/>
                <a:gd name="T12" fmla="*/ 8 w 31"/>
                <a:gd name="T13" fmla="*/ 12 h 39"/>
                <a:gd name="T14" fmla="*/ 7 w 31"/>
                <a:gd name="T15" fmla="*/ 16 h 39"/>
                <a:gd name="T16" fmla="*/ 7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7 w 31"/>
                <a:gd name="T23" fmla="*/ 0 h 39"/>
                <a:gd name="T24" fmla="*/ 7 w 31"/>
                <a:gd name="T25" fmla="*/ 4 h 39"/>
                <a:gd name="T26" fmla="*/ 9 w 31"/>
                <a:gd name="T27" fmla="*/ 2 h 39"/>
                <a:gd name="T28" fmla="*/ 11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7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1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9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7" y="15"/>
                    <a:pt x="7" y="16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3"/>
                    <a:pt x="8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9" y="0"/>
                    <a:pt x="21" y="0"/>
                    <a:pt x="23" y="1"/>
                  </a:cubicBezTo>
                  <a:cubicBezTo>
                    <a:pt x="25" y="1"/>
                    <a:pt x="26" y="2"/>
                    <a:pt x="27" y="4"/>
                  </a:cubicBezTo>
                  <a:cubicBezTo>
                    <a:pt x="28" y="5"/>
                    <a:pt x="29" y="7"/>
                    <a:pt x="30" y="9"/>
                  </a:cubicBezTo>
                  <a:cubicBezTo>
                    <a:pt x="30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0" name="Freeform 28">
              <a:extLst>
                <a:ext uri="{FF2B5EF4-FFF2-40B4-BE49-F238E27FC236}">
                  <a16:creationId xmlns:a16="http://schemas.microsoft.com/office/drawing/2014/main" id="{8B038F9F-6A9C-4E57-A659-0090AF4705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45845" y="6284068"/>
              <a:ext cx="31387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4 w 12"/>
                <a:gd name="T11" fmla="*/ 11 h 12"/>
                <a:gd name="T12" fmla="*/ 2 w 12"/>
                <a:gd name="T13" fmla="*/ 10 h 12"/>
                <a:gd name="T14" fmla="*/ 1 w 12"/>
                <a:gd name="T15" fmla="*/ 8 h 12"/>
                <a:gd name="T16" fmla="*/ 0 w 12"/>
                <a:gd name="T17" fmla="*/ 6 h 12"/>
                <a:gd name="T18" fmla="*/ 1 w 12"/>
                <a:gd name="T19" fmla="*/ 4 h 12"/>
                <a:gd name="T20" fmla="*/ 2 w 12"/>
                <a:gd name="T21" fmla="*/ 2 h 12"/>
                <a:gd name="T22" fmla="*/ 4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4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1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4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1" name="Freeform 29">
              <a:extLst>
                <a:ext uri="{FF2B5EF4-FFF2-40B4-BE49-F238E27FC236}">
                  <a16:creationId xmlns:a16="http://schemas.microsoft.com/office/drawing/2014/main" id="{15E4EB7D-754D-4053-9A23-596C7CFDA98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0006" y="6181188"/>
              <a:ext cx="97648" cy="130778"/>
            </a:xfrm>
            <a:custGeom>
              <a:avLst/>
              <a:gdLst>
                <a:gd name="T0" fmla="*/ 34 w 56"/>
                <a:gd name="T1" fmla="*/ 11 h 75"/>
                <a:gd name="T2" fmla="*/ 34 w 56"/>
                <a:gd name="T3" fmla="*/ 75 h 75"/>
                <a:gd name="T4" fmla="*/ 22 w 56"/>
                <a:gd name="T5" fmla="*/ 75 h 75"/>
                <a:gd name="T6" fmla="*/ 22 w 56"/>
                <a:gd name="T7" fmla="*/ 11 h 75"/>
                <a:gd name="T8" fmla="*/ 0 w 56"/>
                <a:gd name="T9" fmla="*/ 11 h 75"/>
                <a:gd name="T10" fmla="*/ 0 w 56"/>
                <a:gd name="T11" fmla="*/ 0 h 75"/>
                <a:gd name="T12" fmla="*/ 56 w 56"/>
                <a:gd name="T13" fmla="*/ 0 h 75"/>
                <a:gd name="T14" fmla="*/ 56 w 56"/>
                <a:gd name="T15" fmla="*/ 11 h 75"/>
                <a:gd name="T16" fmla="*/ 34 w 56"/>
                <a:gd name="T17" fmla="*/ 11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" h="75">
                  <a:moveTo>
                    <a:pt x="34" y="11"/>
                  </a:moveTo>
                  <a:lnTo>
                    <a:pt x="34" y="75"/>
                  </a:lnTo>
                  <a:lnTo>
                    <a:pt x="22" y="75"/>
                  </a:lnTo>
                  <a:lnTo>
                    <a:pt x="22" y="11"/>
                  </a:lnTo>
                  <a:lnTo>
                    <a:pt x="0" y="11"/>
                  </a:lnTo>
                  <a:lnTo>
                    <a:pt x="0" y="0"/>
                  </a:lnTo>
                  <a:lnTo>
                    <a:pt x="56" y="0"/>
                  </a:lnTo>
                  <a:lnTo>
                    <a:pt x="56" y="11"/>
                  </a:lnTo>
                  <a:lnTo>
                    <a:pt x="34" y="11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2" name="Freeform 30">
              <a:extLst>
                <a:ext uri="{FF2B5EF4-FFF2-40B4-BE49-F238E27FC236}">
                  <a16:creationId xmlns:a16="http://schemas.microsoft.com/office/drawing/2014/main" id="{28E147CB-2B8F-497B-B00B-C25E679DC5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51603" y="6174213"/>
              <a:ext cx="80211" cy="137753"/>
            </a:xfrm>
            <a:custGeom>
              <a:avLst/>
              <a:gdLst>
                <a:gd name="T0" fmla="*/ 24 w 31"/>
                <a:gd name="T1" fmla="*/ 54 h 54"/>
                <a:gd name="T2" fmla="*/ 24 w 31"/>
                <a:gd name="T3" fmla="*/ 32 h 54"/>
                <a:gd name="T4" fmla="*/ 22 w 31"/>
                <a:gd name="T5" fmla="*/ 24 h 54"/>
                <a:gd name="T6" fmla="*/ 16 w 31"/>
                <a:gd name="T7" fmla="*/ 22 h 54"/>
                <a:gd name="T8" fmla="*/ 13 w 31"/>
                <a:gd name="T9" fmla="*/ 22 h 54"/>
                <a:gd name="T10" fmla="*/ 10 w 31"/>
                <a:gd name="T11" fmla="*/ 24 h 54"/>
                <a:gd name="T12" fmla="*/ 8 w 31"/>
                <a:gd name="T13" fmla="*/ 27 h 54"/>
                <a:gd name="T14" fmla="*/ 8 w 31"/>
                <a:gd name="T15" fmla="*/ 31 h 54"/>
                <a:gd name="T16" fmla="*/ 8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8 w 31"/>
                <a:gd name="T23" fmla="*/ 0 h 54"/>
                <a:gd name="T24" fmla="*/ 8 w 31"/>
                <a:gd name="T25" fmla="*/ 19 h 54"/>
                <a:gd name="T26" fmla="*/ 10 w 31"/>
                <a:gd name="T27" fmla="*/ 17 h 54"/>
                <a:gd name="T28" fmla="*/ 12 w 31"/>
                <a:gd name="T29" fmla="*/ 16 h 54"/>
                <a:gd name="T30" fmla="*/ 15 w 31"/>
                <a:gd name="T31" fmla="*/ 15 h 54"/>
                <a:gd name="T32" fmla="*/ 18 w 31"/>
                <a:gd name="T33" fmla="*/ 15 h 54"/>
                <a:gd name="T34" fmla="*/ 24 w 31"/>
                <a:gd name="T35" fmla="*/ 16 h 54"/>
                <a:gd name="T36" fmla="*/ 28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4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4" y="54"/>
                  </a:moveTo>
                  <a:cubicBezTo>
                    <a:pt x="24" y="32"/>
                    <a:pt x="24" y="32"/>
                    <a:pt x="24" y="32"/>
                  </a:cubicBezTo>
                  <a:cubicBezTo>
                    <a:pt x="24" y="28"/>
                    <a:pt x="23" y="26"/>
                    <a:pt x="22" y="24"/>
                  </a:cubicBezTo>
                  <a:cubicBezTo>
                    <a:pt x="21" y="22"/>
                    <a:pt x="19" y="22"/>
                    <a:pt x="16" y="22"/>
                  </a:cubicBezTo>
                  <a:cubicBezTo>
                    <a:pt x="15" y="22"/>
                    <a:pt x="14" y="22"/>
                    <a:pt x="13" y="22"/>
                  </a:cubicBezTo>
                  <a:cubicBezTo>
                    <a:pt x="12" y="22"/>
                    <a:pt x="11" y="23"/>
                    <a:pt x="10" y="24"/>
                  </a:cubicBezTo>
                  <a:cubicBezTo>
                    <a:pt x="9" y="25"/>
                    <a:pt x="9" y="26"/>
                    <a:pt x="8" y="27"/>
                  </a:cubicBezTo>
                  <a:cubicBezTo>
                    <a:pt x="8" y="28"/>
                    <a:pt x="8" y="30"/>
                    <a:pt x="8" y="31"/>
                  </a:cubicBezTo>
                  <a:cubicBezTo>
                    <a:pt x="8" y="54"/>
                    <a:pt x="8" y="54"/>
                    <a:pt x="8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3" y="15"/>
                    <a:pt x="14" y="15"/>
                    <a:pt x="15" y="15"/>
                  </a:cubicBezTo>
                  <a:cubicBezTo>
                    <a:pt x="16" y="15"/>
                    <a:pt x="17" y="15"/>
                    <a:pt x="18" y="15"/>
                  </a:cubicBezTo>
                  <a:cubicBezTo>
                    <a:pt x="20" y="15"/>
                    <a:pt x="22" y="15"/>
                    <a:pt x="24" y="16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29" y="20"/>
                    <a:pt x="30" y="22"/>
                    <a:pt x="30" y="24"/>
                  </a:cubicBezTo>
                  <a:cubicBezTo>
                    <a:pt x="31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4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3" name="Freeform 31">
              <a:extLst>
                <a:ext uri="{FF2B5EF4-FFF2-40B4-BE49-F238E27FC236}">
                  <a16:creationId xmlns:a16="http://schemas.microsoft.com/office/drawing/2014/main" id="{E68BC676-C787-429D-B59B-1A5CE062F7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750996" y="6212575"/>
              <a:ext cx="85443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8 w 33"/>
                <a:gd name="T9" fmla="*/ 27 h 40"/>
                <a:gd name="T10" fmla="*/ 11 w 33"/>
                <a:gd name="T11" fmla="*/ 30 h 40"/>
                <a:gd name="T12" fmla="*/ 13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4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4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7" y="24"/>
                    <a:pt x="8" y="26"/>
                    <a:pt x="8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2"/>
                    <a:pt x="21" y="32"/>
                    <a:pt x="21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4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19" y="39"/>
                    <a:pt x="18" y="40"/>
                    <a:pt x="16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0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2" y="31"/>
                  </a:cubicBezTo>
                  <a:cubicBezTo>
                    <a:pt x="1" y="29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4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19" y="0"/>
                    <a:pt x="22" y="0"/>
                    <a:pt x="24" y="1"/>
                  </a:cubicBezTo>
                  <a:cubicBezTo>
                    <a:pt x="26" y="2"/>
                    <a:pt x="27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2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4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3"/>
                    <a:pt x="7" y="14"/>
                    <a:pt x="7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4" name="Freeform 32">
              <a:extLst>
                <a:ext uri="{FF2B5EF4-FFF2-40B4-BE49-F238E27FC236}">
                  <a16:creationId xmlns:a16="http://schemas.microsoft.com/office/drawing/2014/main" id="{71266960-73CB-44B9-9A97-81085898914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02698" y="6174213"/>
              <a:ext cx="80211" cy="139497"/>
            </a:xfrm>
            <a:custGeom>
              <a:avLst/>
              <a:gdLst>
                <a:gd name="T0" fmla="*/ 32 w 32"/>
                <a:gd name="T1" fmla="*/ 35 h 55"/>
                <a:gd name="T2" fmla="*/ 31 w 32"/>
                <a:gd name="T3" fmla="*/ 44 h 55"/>
                <a:gd name="T4" fmla="*/ 28 w 32"/>
                <a:gd name="T5" fmla="*/ 50 h 55"/>
                <a:gd name="T6" fmla="*/ 23 w 32"/>
                <a:gd name="T7" fmla="*/ 53 h 55"/>
                <a:gd name="T8" fmla="*/ 17 w 32"/>
                <a:gd name="T9" fmla="*/ 55 h 55"/>
                <a:gd name="T10" fmla="*/ 12 w 32"/>
                <a:gd name="T11" fmla="*/ 53 h 55"/>
                <a:gd name="T12" fmla="*/ 7 w 32"/>
                <a:gd name="T13" fmla="*/ 50 h 55"/>
                <a:gd name="T14" fmla="*/ 7 w 32"/>
                <a:gd name="T15" fmla="*/ 54 h 55"/>
                <a:gd name="T16" fmla="*/ 0 w 32"/>
                <a:gd name="T17" fmla="*/ 54 h 55"/>
                <a:gd name="T18" fmla="*/ 0 w 32"/>
                <a:gd name="T19" fmla="*/ 4 h 55"/>
                <a:gd name="T20" fmla="*/ 7 w 32"/>
                <a:gd name="T21" fmla="*/ 0 h 55"/>
                <a:gd name="T22" fmla="*/ 7 w 32"/>
                <a:gd name="T23" fmla="*/ 19 h 55"/>
                <a:gd name="T24" fmla="*/ 10 w 32"/>
                <a:gd name="T25" fmla="*/ 17 h 55"/>
                <a:gd name="T26" fmla="*/ 12 w 32"/>
                <a:gd name="T27" fmla="*/ 16 h 55"/>
                <a:gd name="T28" fmla="*/ 14 w 32"/>
                <a:gd name="T29" fmla="*/ 15 h 55"/>
                <a:gd name="T30" fmla="*/ 17 w 32"/>
                <a:gd name="T31" fmla="*/ 15 h 55"/>
                <a:gd name="T32" fmla="*/ 23 w 32"/>
                <a:gd name="T33" fmla="*/ 16 h 55"/>
                <a:gd name="T34" fmla="*/ 28 w 32"/>
                <a:gd name="T35" fmla="*/ 19 h 55"/>
                <a:gd name="T36" fmla="*/ 31 w 32"/>
                <a:gd name="T37" fmla="*/ 26 h 55"/>
                <a:gd name="T38" fmla="*/ 32 w 32"/>
                <a:gd name="T39" fmla="*/ 35 h 55"/>
                <a:gd name="T40" fmla="*/ 25 w 32"/>
                <a:gd name="T41" fmla="*/ 35 h 55"/>
                <a:gd name="T42" fmla="*/ 23 w 32"/>
                <a:gd name="T43" fmla="*/ 25 h 55"/>
                <a:gd name="T44" fmla="*/ 16 w 32"/>
                <a:gd name="T45" fmla="*/ 22 h 55"/>
                <a:gd name="T46" fmla="*/ 14 w 32"/>
                <a:gd name="T47" fmla="*/ 22 h 55"/>
                <a:gd name="T48" fmla="*/ 11 w 32"/>
                <a:gd name="T49" fmla="*/ 23 h 55"/>
                <a:gd name="T50" fmla="*/ 9 w 32"/>
                <a:gd name="T51" fmla="*/ 25 h 55"/>
                <a:gd name="T52" fmla="*/ 7 w 32"/>
                <a:gd name="T53" fmla="*/ 26 h 55"/>
                <a:gd name="T54" fmla="*/ 7 w 32"/>
                <a:gd name="T55" fmla="*/ 43 h 55"/>
                <a:gd name="T56" fmla="*/ 9 w 32"/>
                <a:gd name="T57" fmla="*/ 44 h 55"/>
                <a:gd name="T58" fmla="*/ 11 w 32"/>
                <a:gd name="T59" fmla="*/ 46 h 55"/>
                <a:gd name="T60" fmla="*/ 14 w 32"/>
                <a:gd name="T61" fmla="*/ 47 h 55"/>
                <a:gd name="T62" fmla="*/ 16 w 32"/>
                <a:gd name="T63" fmla="*/ 48 h 55"/>
                <a:gd name="T64" fmla="*/ 23 w 32"/>
                <a:gd name="T65" fmla="*/ 45 h 55"/>
                <a:gd name="T66" fmla="*/ 25 w 32"/>
                <a:gd name="T67" fmla="*/ 35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2" h="55">
                  <a:moveTo>
                    <a:pt x="32" y="35"/>
                  </a:moveTo>
                  <a:cubicBezTo>
                    <a:pt x="32" y="38"/>
                    <a:pt x="32" y="41"/>
                    <a:pt x="31" y="44"/>
                  </a:cubicBezTo>
                  <a:cubicBezTo>
                    <a:pt x="30" y="46"/>
                    <a:pt x="29" y="48"/>
                    <a:pt x="28" y="50"/>
                  </a:cubicBezTo>
                  <a:cubicBezTo>
                    <a:pt x="26" y="51"/>
                    <a:pt x="25" y="53"/>
                    <a:pt x="23" y="53"/>
                  </a:cubicBezTo>
                  <a:cubicBezTo>
                    <a:pt x="21" y="54"/>
                    <a:pt x="19" y="55"/>
                    <a:pt x="17" y="55"/>
                  </a:cubicBezTo>
                  <a:cubicBezTo>
                    <a:pt x="15" y="55"/>
                    <a:pt x="13" y="54"/>
                    <a:pt x="12" y="53"/>
                  </a:cubicBezTo>
                  <a:cubicBezTo>
                    <a:pt x="10" y="52"/>
                    <a:pt x="9" y="51"/>
                    <a:pt x="7" y="50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8"/>
                    <a:pt x="10" y="17"/>
                  </a:cubicBezTo>
                  <a:cubicBezTo>
                    <a:pt x="10" y="17"/>
                    <a:pt x="11" y="16"/>
                    <a:pt x="12" y="16"/>
                  </a:cubicBezTo>
                  <a:cubicBezTo>
                    <a:pt x="12" y="16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20" y="15"/>
                    <a:pt x="21" y="15"/>
                    <a:pt x="23" y="16"/>
                  </a:cubicBezTo>
                  <a:cubicBezTo>
                    <a:pt x="25" y="16"/>
                    <a:pt x="27" y="18"/>
                    <a:pt x="28" y="19"/>
                  </a:cubicBezTo>
                  <a:cubicBezTo>
                    <a:pt x="29" y="21"/>
                    <a:pt x="30" y="23"/>
                    <a:pt x="31" y="26"/>
                  </a:cubicBezTo>
                  <a:cubicBezTo>
                    <a:pt x="32" y="28"/>
                    <a:pt x="32" y="32"/>
                    <a:pt x="32" y="35"/>
                  </a:cubicBezTo>
                  <a:close/>
                  <a:moveTo>
                    <a:pt x="25" y="35"/>
                  </a:moveTo>
                  <a:cubicBezTo>
                    <a:pt x="25" y="31"/>
                    <a:pt x="24" y="27"/>
                    <a:pt x="23" y="25"/>
                  </a:cubicBezTo>
                  <a:cubicBezTo>
                    <a:pt x="21" y="23"/>
                    <a:pt x="19" y="22"/>
                    <a:pt x="16" y="22"/>
                  </a:cubicBezTo>
                  <a:cubicBezTo>
                    <a:pt x="15" y="22"/>
                    <a:pt x="14" y="22"/>
                    <a:pt x="14" y="22"/>
                  </a:cubicBezTo>
                  <a:cubicBezTo>
                    <a:pt x="13" y="22"/>
                    <a:pt x="12" y="23"/>
                    <a:pt x="11" y="23"/>
                  </a:cubicBezTo>
                  <a:cubicBezTo>
                    <a:pt x="10" y="23"/>
                    <a:pt x="10" y="24"/>
                    <a:pt x="9" y="25"/>
                  </a:cubicBezTo>
                  <a:cubicBezTo>
                    <a:pt x="8" y="25"/>
                    <a:pt x="8" y="26"/>
                    <a:pt x="7" y="26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8" y="43"/>
                    <a:pt x="8" y="44"/>
                    <a:pt x="9" y="44"/>
                  </a:cubicBezTo>
                  <a:cubicBezTo>
                    <a:pt x="10" y="45"/>
                    <a:pt x="10" y="45"/>
                    <a:pt x="11" y="46"/>
                  </a:cubicBezTo>
                  <a:cubicBezTo>
                    <a:pt x="12" y="46"/>
                    <a:pt x="13" y="47"/>
                    <a:pt x="14" y="47"/>
                  </a:cubicBezTo>
                  <a:cubicBezTo>
                    <a:pt x="15" y="47"/>
                    <a:pt x="15" y="48"/>
                    <a:pt x="16" y="48"/>
                  </a:cubicBezTo>
                  <a:cubicBezTo>
                    <a:pt x="19" y="48"/>
                    <a:pt x="21" y="47"/>
                    <a:pt x="23" y="45"/>
                  </a:cubicBezTo>
                  <a:cubicBezTo>
                    <a:pt x="24" y="43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5" name="Freeform 33">
              <a:extLst>
                <a:ext uri="{FF2B5EF4-FFF2-40B4-BE49-F238E27FC236}">
                  <a16:creationId xmlns:a16="http://schemas.microsoft.com/office/drawing/2014/main" id="{3FF3AC5A-B742-4B29-8E04-03A71D82B9A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998603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8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8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3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7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6" name="Freeform 34">
              <a:extLst>
                <a:ext uri="{FF2B5EF4-FFF2-40B4-BE49-F238E27FC236}">
                  <a16:creationId xmlns:a16="http://schemas.microsoft.com/office/drawing/2014/main" id="{0C912743-E24B-4E48-8196-5FBD1ECEE9A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096251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3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7" name="Freeform 35">
              <a:extLst>
                <a:ext uri="{FF2B5EF4-FFF2-40B4-BE49-F238E27FC236}">
                  <a16:creationId xmlns:a16="http://schemas.microsoft.com/office/drawing/2014/main" id="{6E2F01F4-1410-4FE1-B043-EA97A1541F3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164256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7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6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7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8" name="Freeform 36">
              <a:extLst>
                <a:ext uri="{FF2B5EF4-FFF2-40B4-BE49-F238E27FC236}">
                  <a16:creationId xmlns:a16="http://schemas.microsoft.com/office/drawing/2014/main" id="{58ACFF1C-49F0-414E-B9E3-DE4E9FFAA38A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2340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8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1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6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1 w 33"/>
                <a:gd name="T69" fmla="*/ 7 h 40"/>
                <a:gd name="T70" fmla="*/ 17 w 33"/>
                <a:gd name="T71" fmla="*/ 6 h 40"/>
                <a:gd name="T72" fmla="*/ 13 w 33"/>
                <a:gd name="T73" fmla="*/ 7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6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8" y="22"/>
                    <a:pt x="8" y="22"/>
                    <a:pt x="8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10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1" y="32"/>
                    <a:pt x="21" y="32"/>
                    <a:pt x="22" y="32"/>
                  </a:cubicBezTo>
                  <a:cubicBezTo>
                    <a:pt x="23" y="32"/>
                    <a:pt x="23" y="31"/>
                    <a:pt x="24" y="31"/>
                  </a:cubicBezTo>
                  <a:cubicBezTo>
                    <a:pt x="24" y="31"/>
                    <a:pt x="25" y="30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7" y="37"/>
                    <a:pt x="26" y="38"/>
                    <a:pt x="25" y="38"/>
                  </a:cubicBezTo>
                  <a:cubicBezTo>
                    <a:pt x="24" y="39"/>
                    <a:pt x="22" y="39"/>
                    <a:pt x="21" y="39"/>
                  </a:cubicBezTo>
                  <a:cubicBezTo>
                    <a:pt x="20" y="39"/>
                    <a:pt x="19" y="40"/>
                    <a:pt x="17" y="40"/>
                  </a:cubicBezTo>
                  <a:cubicBezTo>
                    <a:pt x="15" y="40"/>
                    <a:pt x="14" y="39"/>
                    <a:pt x="12" y="39"/>
                  </a:cubicBezTo>
                  <a:cubicBezTo>
                    <a:pt x="11" y="38"/>
                    <a:pt x="10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5" y="34"/>
                    <a:pt x="4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6"/>
                    <a:pt x="1" y="13"/>
                    <a:pt x="2" y="11"/>
                  </a:cubicBezTo>
                  <a:cubicBezTo>
                    <a:pt x="2" y="8"/>
                    <a:pt x="4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6" y="16"/>
                  </a:moveTo>
                  <a:cubicBezTo>
                    <a:pt x="26" y="15"/>
                    <a:pt x="25" y="13"/>
                    <a:pt x="25" y="12"/>
                  </a:cubicBezTo>
                  <a:cubicBezTo>
                    <a:pt x="25" y="11"/>
                    <a:pt x="24" y="10"/>
                    <a:pt x="23" y="9"/>
                  </a:cubicBezTo>
                  <a:cubicBezTo>
                    <a:pt x="23" y="8"/>
                    <a:pt x="22" y="8"/>
                    <a:pt x="21" y="7"/>
                  </a:cubicBezTo>
                  <a:cubicBezTo>
                    <a:pt x="20" y="7"/>
                    <a:pt x="18" y="6"/>
                    <a:pt x="17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6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19" name="Freeform 37">
              <a:extLst>
                <a:ext uri="{FF2B5EF4-FFF2-40B4-BE49-F238E27FC236}">
                  <a16:creationId xmlns:a16="http://schemas.microsoft.com/office/drawing/2014/main" id="{DACBD04B-22FF-4A4F-8B29-A2F31A0542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336884" y="6212575"/>
              <a:ext cx="59286" cy="99391"/>
            </a:xfrm>
            <a:custGeom>
              <a:avLst/>
              <a:gdLst>
                <a:gd name="T0" fmla="*/ 21 w 23"/>
                <a:gd name="T1" fmla="*/ 8 h 39"/>
                <a:gd name="T2" fmla="*/ 19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9" y="7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0" name="Freeform 38">
              <a:extLst>
                <a:ext uri="{FF2B5EF4-FFF2-40B4-BE49-F238E27FC236}">
                  <a16:creationId xmlns:a16="http://schemas.microsoft.com/office/drawing/2014/main" id="{A13F6E37-C22B-4FD3-ADFE-9C53ECB446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451969" y="6174213"/>
              <a:ext cx="55799" cy="139497"/>
            </a:xfrm>
            <a:custGeom>
              <a:avLst/>
              <a:gdLst>
                <a:gd name="T0" fmla="*/ 21 w 22"/>
                <a:gd name="T1" fmla="*/ 53 h 55"/>
                <a:gd name="T2" fmla="*/ 18 w 22"/>
                <a:gd name="T3" fmla="*/ 54 h 55"/>
                <a:gd name="T4" fmla="*/ 14 w 22"/>
                <a:gd name="T5" fmla="*/ 55 h 55"/>
                <a:gd name="T6" fmla="*/ 10 w 22"/>
                <a:gd name="T7" fmla="*/ 54 h 55"/>
                <a:gd name="T8" fmla="*/ 8 w 22"/>
                <a:gd name="T9" fmla="*/ 52 h 55"/>
                <a:gd name="T10" fmla="*/ 6 w 22"/>
                <a:gd name="T11" fmla="*/ 49 h 55"/>
                <a:gd name="T12" fmla="*/ 5 w 22"/>
                <a:gd name="T13" fmla="*/ 44 h 55"/>
                <a:gd name="T14" fmla="*/ 5 w 22"/>
                <a:gd name="T15" fmla="*/ 22 h 55"/>
                <a:gd name="T16" fmla="*/ 0 w 22"/>
                <a:gd name="T17" fmla="*/ 22 h 55"/>
                <a:gd name="T18" fmla="*/ 0 w 22"/>
                <a:gd name="T19" fmla="*/ 15 h 55"/>
                <a:gd name="T20" fmla="*/ 5 w 22"/>
                <a:gd name="T21" fmla="*/ 15 h 55"/>
                <a:gd name="T22" fmla="*/ 5 w 22"/>
                <a:gd name="T23" fmla="*/ 4 h 55"/>
                <a:gd name="T24" fmla="*/ 12 w 22"/>
                <a:gd name="T25" fmla="*/ 0 h 55"/>
                <a:gd name="T26" fmla="*/ 12 w 22"/>
                <a:gd name="T27" fmla="*/ 15 h 55"/>
                <a:gd name="T28" fmla="*/ 22 w 22"/>
                <a:gd name="T29" fmla="*/ 15 h 55"/>
                <a:gd name="T30" fmla="*/ 22 w 22"/>
                <a:gd name="T31" fmla="*/ 22 h 55"/>
                <a:gd name="T32" fmla="*/ 12 w 22"/>
                <a:gd name="T33" fmla="*/ 22 h 55"/>
                <a:gd name="T34" fmla="*/ 12 w 22"/>
                <a:gd name="T35" fmla="*/ 43 h 55"/>
                <a:gd name="T36" fmla="*/ 13 w 22"/>
                <a:gd name="T37" fmla="*/ 45 h 55"/>
                <a:gd name="T38" fmla="*/ 13 w 22"/>
                <a:gd name="T39" fmla="*/ 47 h 55"/>
                <a:gd name="T40" fmla="*/ 15 w 22"/>
                <a:gd name="T41" fmla="*/ 47 h 55"/>
                <a:gd name="T42" fmla="*/ 16 w 22"/>
                <a:gd name="T43" fmla="*/ 48 h 55"/>
                <a:gd name="T44" fmla="*/ 19 w 22"/>
                <a:gd name="T45" fmla="*/ 47 h 55"/>
                <a:gd name="T46" fmla="*/ 22 w 22"/>
                <a:gd name="T47" fmla="*/ 46 h 55"/>
                <a:gd name="T48" fmla="*/ 21 w 22"/>
                <a:gd name="T49" fmla="*/ 53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5">
                  <a:moveTo>
                    <a:pt x="21" y="53"/>
                  </a:moveTo>
                  <a:cubicBezTo>
                    <a:pt x="20" y="53"/>
                    <a:pt x="19" y="54"/>
                    <a:pt x="18" y="54"/>
                  </a:cubicBezTo>
                  <a:cubicBezTo>
                    <a:pt x="17" y="54"/>
                    <a:pt x="15" y="55"/>
                    <a:pt x="14" y="55"/>
                  </a:cubicBezTo>
                  <a:cubicBezTo>
                    <a:pt x="12" y="55"/>
                    <a:pt x="11" y="54"/>
                    <a:pt x="10" y="54"/>
                  </a:cubicBezTo>
                  <a:cubicBezTo>
                    <a:pt x="9" y="54"/>
                    <a:pt x="8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8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5"/>
                    <a:pt x="12" y="15"/>
                    <a:pt x="1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2" y="22"/>
                    <a:pt x="12" y="22"/>
                    <a:pt x="12" y="22"/>
                  </a:cubicBezTo>
                  <a:cubicBezTo>
                    <a:pt x="12" y="43"/>
                    <a:pt x="12" y="43"/>
                    <a:pt x="12" y="43"/>
                  </a:cubicBezTo>
                  <a:cubicBezTo>
                    <a:pt x="12" y="44"/>
                    <a:pt x="12" y="45"/>
                    <a:pt x="13" y="45"/>
                  </a:cubicBezTo>
                  <a:cubicBezTo>
                    <a:pt x="13" y="46"/>
                    <a:pt x="13" y="46"/>
                    <a:pt x="13" y="47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8"/>
                    <a:pt x="16" y="48"/>
                    <a:pt x="16" y="48"/>
                  </a:cubicBezTo>
                  <a:cubicBezTo>
                    <a:pt x="17" y="48"/>
                    <a:pt x="18" y="48"/>
                    <a:pt x="19" y="47"/>
                  </a:cubicBezTo>
                  <a:cubicBezTo>
                    <a:pt x="20" y="47"/>
                    <a:pt x="21" y="47"/>
                    <a:pt x="22" y="46"/>
                  </a:cubicBezTo>
                  <a:lnTo>
                    <a:pt x="21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1" name="Freeform 39">
              <a:extLst>
                <a:ext uri="{FF2B5EF4-FFF2-40B4-BE49-F238E27FC236}">
                  <a16:creationId xmlns:a16="http://schemas.microsoft.com/office/drawing/2014/main" id="{76256F1D-405A-49F9-8592-A899623F2D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530436" y="6174213"/>
              <a:ext cx="80211" cy="137753"/>
            </a:xfrm>
            <a:custGeom>
              <a:avLst/>
              <a:gdLst>
                <a:gd name="T0" fmla="*/ 23 w 31"/>
                <a:gd name="T1" fmla="*/ 54 h 54"/>
                <a:gd name="T2" fmla="*/ 23 w 31"/>
                <a:gd name="T3" fmla="*/ 32 h 54"/>
                <a:gd name="T4" fmla="*/ 21 w 31"/>
                <a:gd name="T5" fmla="*/ 24 h 54"/>
                <a:gd name="T6" fmla="*/ 15 w 31"/>
                <a:gd name="T7" fmla="*/ 22 h 54"/>
                <a:gd name="T8" fmla="*/ 12 w 31"/>
                <a:gd name="T9" fmla="*/ 22 h 54"/>
                <a:gd name="T10" fmla="*/ 9 w 31"/>
                <a:gd name="T11" fmla="*/ 24 h 54"/>
                <a:gd name="T12" fmla="*/ 8 w 31"/>
                <a:gd name="T13" fmla="*/ 27 h 54"/>
                <a:gd name="T14" fmla="*/ 7 w 31"/>
                <a:gd name="T15" fmla="*/ 31 h 54"/>
                <a:gd name="T16" fmla="*/ 7 w 31"/>
                <a:gd name="T17" fmla="*/ 54 h 54"/>
                <a:gd name="T18" fmla="*/ 0 w 31"/>
                <a:gd name="T19" fmla="*/ 54 h 54"/>
                <a:gd name="T20" fmla="*/ 0 w 31"/>
                <a:gd name="T21" fmla="*/ 4 h 54"/>
                <a:gd name="T22" fmla="*/ 7 w 31"/>
                <a:gd name="T23" fmla="*/ 0 h 54"/>
                <a:gd name="T24" fmla="*/ 7 w 31"/>
                <a:gd name="T25" fmla="*/ 19 h 54"/>
                <a:gd name="T26" fmla="*/ 9 w 31"/>
                <a:gd name="T27" fmla="*/ 17 h 54"/>
                <a:gd name="T28" fmla="*/ 11 w 31"/>
                <a:gd name="T29" fmla="*/ 16 h 54"/>
                <a:gd name="T30" fmla="*/ 14 w 31"/>
                <a:gd name="T31" fmla="*/ 15 h 54"/>
                <a:gd name="T32" fmla="*/ 17 w 31"/>
                <a:gd name="T33" fmla="*/ 15 h 54"/>
                <a:gd name="T34" fmla="*/ 23 w 31"/>
                <a:gd name="T35" fmla="*/ 16 h 54"/>
                <a:gd name="T36" fmla="*/ 27 w 31"/>
                <a:gd name="T37" fmla="*/ 19 h 54"/>
                <a:gd name="T38" fmla="*/ 30 w 31"/>
                <a:gd name="T39" fmla="*/ 24 h 54"/>
                <a:gd name="T40" fmla="*/ 31 w 31"/>
                <a:gd name="T41" fmla="*/ 32 h 54"/>
                <a:gd name="T42" fmla="*/ 31 w 31"/>
                <a:gd name="T43" fmla="*/ 54 h 54"/>
                <a:gd name="T44" fmla="*/ 23 w 31"/>
                <a:gd name="T45" fmla="*/ 54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4">
                  <a:moveTo>
                    <a:pt x="23" y="54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6"/>
                    <a:pt x="21" y="24"/>
                  </a:cubicBezTo>
                  <a:cubicBezTo>
                    <a:pt x="20" y="22"/>
                    <a:pt x="18" y="22"/>
                    <a:pt x="15" y="22"/>
                  </a:cubicBezTo>
                  <a:cubicBezTo>
                    <a:pt x="14" y="22"/>
                    <a:pt x="13" y="22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7" y="28"/>
                    <a:pt x="7" y="30"/>
                    <a:pt x="7" y="31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8"/>
                    <a:pt x="9" y="17"/>
                  </a:cubicBezTo>
                  <a:cubicBezTo>
                    <a:pt x="10" y="17"/>
                    <a:pt x="10" y="16"/>
                    <a:pt x="11" y="16"/>
                  </a:cubicBezTo>
                  <a:cubicBezTo>
                    <a:pt x="12" y="15"/>
                    <a:pt x="13" y="15"/>
                    <a:pt x="14" y="15"/>
                  </a:cubicBezTo>
                  <a:cubicBezTo>
                    <a:pt x="15" y="15"/>
                    <a:pt x="16" y="15"/>
                    <a:pt x="17" y="15"/>
                  </a:cubicBezTo>
                  <a:cubicBezTo>
                    <a:pt x="19" y="15"/>
                    <a:pt x="21" y="15"/>
                    <a:pt x="23" y="16"/>
                  </a:cubicBezTo>
                  <a:cubicBezTo>
                    <a:pt x="25" y="16"/>
                    <a:pt x="26" y="17"/>
                    <a:pt x="27" y="19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7"/>
                    <a:pt x="31" y="29"/>
                    <a:pt x="31" y="32"/>
                  </a:cubicBezTo>
                  <a:cubicBezTo>
                    <a:pt x="31" y="54"/>
                    <a:pt x="31" y="54"/>
                    <a:pt x="31" y="54"/>
                  </a:cubicBezTo>
                  <a:lnTo>
                    <a:pt x="23" y="5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2" name="Freeform 40">
              <a:extLst>
                <a:ext uri="{FF2B5EF4-FFF2-40B4-BE49-F238E27FC236}">
                  <a16:creationId xmlns:a16="http://schemas.microsoft.com/office/drawing/2014/main" id="{2F9CAE14-DB05-4B70-867F-3F6164BDB74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62808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3" name="Freeform 41">
              <a:extLst>
                <a:ext uri="{FF2B5EF4-FFF2-40B4-BE49-F238E27FC236}">
                  <a16:creationId xmlns:a16="http://schemas.microsoft.com/office/drawing/2014/main" id="{30C7B10F-7027-41F9-BEE2-F1575CB690D6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3772813" y="6212575"/>
              <a:ext cx="81955" cy="101135"/>
            </a:xfrm>
            <a:custGeom>
              <a:avLst/>
              <a:gdLst>
                <a:gd name="T0" fmla="*/ 24 w 32"/>
                <a:gd name="T1" fmla="*/ 39 h 40"/>
                <a:gd name="T2" fmla="*/ 24 w 32"/>
                <a:gd name="T3" fmla="*/ 35 h 40"/>
                <a:gd name="T4" fmla="*/ 22 w 32"/>
                <a:gd name="T5" fmla="*/ 37 h 40"/>
                <a:gd name="T6" fmla="*/ 20 w 32"/>
                <a:gd name="T7" fmla="*/ 38 h 40"/>
                <a:gd name="T8" fmla="*/ 17 w 32"/>
                <a:gd name="T9" fmla="*/ 39 h 40"/>
                <a:gd name="T10" fmla="*/ 14 w 32"/>
                <a:gd name="T11" fmla="*/ 40 h 40"/>
                <a:gd name="T12" fmla="*/ 9 w 32"/>
                <a:gd name="T13" fmla="*/ 39 h 40"/>
                <a:gd name="T14" fmla="*/ 5 w 32"/>
                <a:gd name="T15" fmla="*/ 37 h 40"/>
                <a:gd name="T16" fmla="*/ 2 w 32"/>
                <a:gd name="T17" fmla="*/ 33 h 40"/>
                <a:gd name="T18" fmla="*/ 0 w 32"/>
                <a:gd name="T19" fmla="*/ 27 h 40"/>
                <a:gd name="T20" fmla="*/ 2 w 32"/>
                <a:gd name="T21" fmla="*/ 21 h 40"/>
                <a:gd name="T22" fmla="*/ 5 w 32"/>
                <a:gd name="T23" fmla="*/ 17 h 40"/>
                <a:gd name="T24" fmla="*/ 10 w 32"/>
                <a:gd name="T25" fmla="*/ 15 h 40"/>
                <a:gd name="T26" fmla="*/ 16 w 32"/>
                <a:gd name="T27" fmla="*/ 14 h 40"/>
                <a:gd name="T28" fmla="*/ 21 w 32"/>
                <a:gd name="T29" fmla="*/ 15 h 40"/>
                <a:gd name="T30" fmla="*/ 24 w 32"/>
                <a:gd name="T31" fmla="*/ 16 h 40"/>
                <a:gd name="T32" fmla="*/ 24 w 32"/>
                <a:gd name="T33" fmla="*/ 13 h 40"/>
                <a:gd name="T34" fmla="*/ 22 w 32"/>
                <a:gd name="T35" fmla="*/ 8 h 40"/>
                <a:gd name="T36" fmla="*/ 17 w 32"/>
                <a:gd name="T37" fmla="*/ 6 h 40"/>
                <a:gd name="T38" fmla="*/ 12 w 32"/>
                <a:gd name="T39" fmla="*/ 7 h 40"/>
                <a:gd name="T40" fmla="*/ 7 w 32"/>
                <a:gd name="T41" fmla="*/ 9 h 40"/>
                <a:gd name="T42" fmla="*/ 4 w 32"/>
                <a:gd name="T43" fmla="*/ 3 h 40"/>
                <a:gd name="T44" fmla="*/ 10 w 32"/>
                <a:gd name="T45" fmla="*/ 0 h 40"/>
                <a:gd name="T46" fmla="*/ 17 w 32"/>
                <a:gd name="T47" fmla="*/ 0 h 40"/>
                <a:gd name="T48" fmla="*/ 23 w 32"/>
                <a:gd name="T49" fmla="*/ 0 h 40"/>
                <a:gd name="T50" fmla="*/ 28 w 32"/>
                <a:gd name="T51" fmla="*/ 3 h 40"/>
                <a:gd name="T52" fmla="*/ 31 w 32"/>
                <a:gd name="T53" fmla="*/ 7 h 40"/>
                <a:gd name="T54" fmla="*/ 32 w 32"/>
                <a:gd name="T55" fmla="*/ 12 h 40"/>
                <a:gd name="T56" fmla="*/ 32 w 32"/>
                <a:gd name="T57" fmla="*/ 39 h 40"/>
                <a:gd name="T58" fmla="*/ 24 w 32"/>
                <a:gd name="T59" fmla="*/ 39 h 40"/>
                <a:gd name="T60" fmla="*/ 24 w 32"/>
                <a:gd name="T61" fmla="*/ 22 h 40"/>
                <a:gd name="T62" fmla="*/ 22 w 32"/>
                <a:gd name="T63" fmla="*/ 22 h 40"/>
                <a:gd name="T64" fmla="*/ 21 w 32"/>
                <a:gd name="T65" fmla="*/ 21 h 40"/>
                <a:gd name="T66" fmla="*/ 18 w 32"/>
                <a:gd name="T67" fmla="*/ 21 h 40"/>
                <a:gd name="T68" fmla="*/ 16 w 32"/>
                <a:gd name="T69" fmla="*/ 21 h 40"/>
                <a:gd name="T70" fmla="*/ 10 w 32"/>
                <a:gd name="T71" fmla="*/ 22 h 40"/>
                <a:gd name="T72" fmla="*/ 8 w 32"/>
                <a:gd name="T73" fmla="*/ 26 h 40"/>
                <a:gd name="T74" fmla="*/ 8 w 32"/>
                <a:gd name="T75" fmla="*/ 29 h 40"/>
                <a:gd name="T76" fmla="*/ 10 w 32"/>
                <a:gd name="T77" fmla="*/ 31 h 40"/>
                <a:gd name="T78" fmla="*/ 12 w 32"/>
                <a:gd name="T79" fmla="*/ 32 h 40"/>
                <a:gd name="T80" fmla="*/ 15 w 32"/>
                <a:gd name="T81" fmla="*/ 33 h 40"/>
                <a:gd name="T82" fmla="*/ 18 w 32"/>
                <a:gd name="T83" fmla="*/ 32 h 40"/>
                <a:gd name="T84" fmla="*/ 21 w 32"/>
                <a:gd name="T85" fmla="*/ 31 h 40"/>
                <a:gd name="T86" fmla="*/ 23 w 32"/>
                <a:gd name="T87" fmla="*/ 30 h 40"/>
                <a:gd name="T88" fmla="*/ 24 w 32"/>
                <a:gd name="T89" fmla="*/ 28 h 40"/>
                <a:gd name="T90" fmla="*/ 24 w 32"/>
                <a:gd name="T91" fmla="*/ 22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32" h="40">
                  <a:moveTo>
                    <a:pt x="24" y="39"/>
                  </a:moveTo>
                  <a:cubicBezTo>
                    <a:pt x="24" y="35"/>
                    <a:pt x="24" y="35"/>
                    <a:pt x="24" y="35"/>
                  </a:cubicBezTo>
                  <a:cubicBezTo>
                    <a:pt x="23" y="36"/>
                    <a:pt x="23" y="37"/>
                    <a:pt x="22" y="37"/>
                  </a:cubicBezTo>
                  <a:cubicBezTo>
                    <a:pt x="21" y="37"/>
                    <a:pt x="21" y="38"/>
                    <a:pt x="20" y="38"/>
                  </a:cubicBezTo>
                  <a:cubicBezTo>
                    <a:pt x="19" y="39"/>
                    <a:pt x="18" y="39"/>
                    <a:pt x="17" y="39"/>
                  </a:cubicBezTo>
                  <a:cubicBezTo>
                    <a:pt x="16" y="39"/>
                    <a:pt x="15" y="40"/>
                    <a:pt x="14" y="40"/>
                  </a:cubicBezTo>
                  <a:cubicBezTo>
                    <a:pt x="12" y="40"/>
                    <a:pt x="11" y="39"/>
                    <a:pt x="9" y="39"/>
                  </a:cubicBezTo>
                  <a:cubicBezTo>
                    <a:pt x="7" y="38"/>
                    <a:pt x="6" y="38"/>
                    <a:pt x="5" y="37"/>
                  </a:cubicBezTo>
                  <a:cubicBezTo>
                    <a:pt x="3" y="36"/>
                    <a:pt x="2" y="34"/>
                    <a:pt x="2" y="33"/>
                  </a:cubicBezTo>
                  <a:cubicBezTo>
                    <a:pt x="1" y="31"/>
                    <a:pt x="0" y="29"/>
                    <a:pt x="0" y="27"/>
                  </a:cubicBezTo>
                  <a:cubicBezTo>
                    <a:pt x="0" y="24"/>
                    <a:pt x="1" y="23"/>
                    <a:pt x="2" y="21"/>
                  </a:cubicBezTo>
                  <a:cubicBezTo>
                    <a:pt x="2" y="20"/>
                    <a:pt x="3" y="18"/>
                    <a:pt x="5" y="17"/>
                  </a:cubicBezTo>
                  <a:cubicBezTo>
                    <a:pt x="6" y="16"/>
                    <a:pt x="8" y="15"/>
                    <a:pt x="10" y="15"/>
                  </a:cubicBezTo>
                  <a:cubicBezTo>
                    <a:pt x="12" y="14"/>
                    <a:pt x="14" y="14"/>
                    <a:pt x="16" y="14"/>
                  </a:cubicBezTo>
                  <a:cubicBezTo>
                    <a:pt x="18" y="14"/>
                    <a:pt x="19" y="14"/>
                    <a:pt x="21" y="15"/>
                  </a:cubicBezTo>
                  <a:cubicBezTo>
                    <a:pt x="22" y="15"/>
                    <a:pt x="23" y="15"/>
                    <a:pt x="24" y="16"/>
                  </a:cubicBezTo>
                  <a:cubicBezTo>
                    <a:pt x="24" y="13"/>
                    <a:pt x="24" y="13"/>
                    <a:pt x="24" y="13"/>
                  </a:cubicBezTo>
                  <a:cubicBezTo>
                    <a:pt x="24" y="11"/>
                    <a:pt x="24" y="9"/>
                    <a:pt x="22" y="8"/>
                  </a:cubicBezTo>
                  <a:cubicBezTo>
                    <a:pt x="21" y="7"/>
                    <a:pt x="19" y="6"/>
                    <a:pt x="17" y="6"/>
                  </a:cubicBezTo>
                  <a:cubicBezTo>
                    <a:pt x="15" y="6"/>
                    <a:pt x="13" y="6"/>
                    <a:pt x="12" y="7"/>
                  </a:cubicBezTo>
                  <a:cubicBezTo>
                    <a:pt x="10" y="7"/>
                    <a:pt x="9" y="8"/>
                    <a:pt x="7" y="9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6" y="2"/>
                    <a:pt x="8" y="1"/>
                    <a:pt x="10" y="0"/>
                  </a:cubicBezTo>
                  <a:cubicBezTo>
                    <a:pt x="12" y="0"/>
                    <a:pt x="15" y="0"/>
                    <a:pt x="17" y="0"/>
                  </a:cubicBezTo>
                  <a:cubicBezTo>
                    <a:pt x="19" y="0"/>
                    <a:pt x="21" y="0"/>
                    <a:pt x="23" y="0"/>
                  </a:cubicBezTo>
                  <a:cubicBezTo>
                    <a:pt x="25" y="1"/>
                    <a:pt x="26" y="2"/>
                    <a:pt x="28" y="3"/>
                  </a:cubicBezTo>
                  <a:cubicBezTo>
                    <a:pt x="29" y="4"/>
                    <a:pt x="30" y="5"/>
                    <a:pt x="31" y="7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2" y="39"/>
                    <a:pt x="32" y="39"/>
                    <a:pt x="32" y="39"/>
                  </a:cubicBezTo>
                  <a:lnTo>
                    <a:pt x="24" y="39"/>
                  </a:lnTo>
                  <a:close/>
                  <a:moveTo>
                    <a:pt x="24" y="22"/>
                  </a:moveTo>
                  <a:cubicBezTo>
                    <a:pt x="24" y="22"/>
                    <a:pt x="23" y="22"/>
                    <a:pt x="22" y="22"/>
                  </a:cubicBezTo>
                  <a:cubicBezTo>
                    <a:pt x="22" y="21"/>
                    <a:pt x="21" y="21"/>
                    <a:pt x="21" y="21"/>
                  </a:cubicBezTo>
                  <a:cubicBezTo>
                    <a:pt x="20" y="21"/>
                    <a:pt x="19" y="21"/>
                    <a:pt x="18" y="21"/>
                  </a:cubicBezTo>
                  <a:cubicBezTo>
                    <a:pt x="17" y="21"/>
                    <a:pt x="17" y="21"/>
                    <a:pt x="16" y="21"/>
                  </a:cubicBezTo>
                  <a:cubicBezTo>
                    <a:pt x="13" y="21"/>
                    <a:pt x="11" y="21"/>
                    <a:pt x="10" y="22"/>
                  </a:cubicBezTo>
                  <a:cubicBezTo>
                    <a:pt x="8" y="23"/>
                    <a:pt x="8" y="25"/>
                    <a:pt x="8" y="26"/>
                  </a:cubicBezTo>
                  <a:cubicBezTo>
                    <a:pt x="8" y="28"/>
                    <a:pt x="8" y="29"/>
                    <a:pt x="8" y="29"/>
                  </a:cubicBezTo>
                  <a:cubicBezTo>
                    <a:pt x="9" y="30"/>
                    <a:pt x="9" y="31"/>
                    <a:pt x="10" y="31"/>
                  </a:cubicBezTo>
                  <a:cubicBezTo>
                    <a:pt x="10" y="32"/>
                    <a:pt x="11" y="32"/>
                    <a:pt x="12" y="32"/>
                  </a:cubicBezTo>
                  <a:cubicBezTo>
                    <a:pt x="13" y="33"/>
                    <a:pt x="14" y="33"/>
                    <a:pt x="15" y="33"/>
                  </a:cubicBezTo>
                  <a:cubicBezTo>
                    <a:pt x="16" y="33"/>
                    <a:pt x="17" y="33"/>
                    <a:pt x="18" y="32"/>
                  </a:cubicBezTo>
                  <a:cubicBezTo>
                    <a:pt x="19" y="32"/>
                    <a:pt x="20" y="32"/>
                    <a:pt x="21" y="31"/>
                  </a:cubicBezTo>
                  <a:cubicBezTo>
                    <a:pt x="21" y="31"/>
                    <a:pt x="22" y="30"/>
                    <a:pt x="23" y="30"/>
                  </a:cubicBezTo>
                  <a:cubicBezTo>
                    <a:pt x="23" y="29"/>
                    <a:pt x="24" y="28"/>
                    <a:pt x="24" y="28"/>
                  </a:cubicBezTo>
                  <a:lnTo>
                    <a:pt x="24" y="2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4" name="Freeform 42">
              <a:extLst>
                <a:ext uri="{FF2B5EF4-FFF2-40B4-BE49-F238E27FC236}">
                  <a16:creationId xmlns:a16="http://schemas.microsoft.com/office/drawing/2014/main" id="{16B384B2-A2D9-4CB4-AF87-AF1004852B5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877436" y="6212575"/>
              <a:ext cx="78468" cy="99391"/>
            </a:xfrm>
            <a:custGeom>
              <a:avLst/>
              <a:gdLst>
                <a:gd name="T0" fmla="*/ 23 w 31"/>
                <a:gd name="T1" fmla="*/ 39 h 39"/>
                <a:gd name="T2" fmla="*/ 23 w 31"/>
                <a:gd name="T3" fmla="*/ 17 h 39"/>
                <a:gd name="T4" fmla="*/ 22 w 31"/>
                <a:gd name="T5" fmla="*/ 9 h 39"/>
                <a:gd name="T6" fmla="*/ 15 w 31"/>
                <a:gd name="T7" fmla="*/ 7 h 39"/>
                <a:gd name="T8" fmla="*/ 12 w 31"/>
                <a:gd name="T9" fmla="*/ 7 h 39"/>
                <a:gd name="T10" fmla="*/ 10 w 31"/>
                <a:gd name="T11" fmla="*/ 9 h 39"/>
                <a:gd name="T12" fmla="*/ 8 w 31"/>
                <a:gd name="T13" fmla="*/ 12 h 39"/>
                <a:gd name="T14" fmla="*/ 8 w 31"/>
                <a:gd name="T15" fmla="*/ 16 h 39"/>
                <a:gd name="T16" fmla="*/ 8 w 31"/>
                <a:gd name="T17" fmla="*/ 39 h 39"/>
                <a:gd name="T18" fmla="*/ 0 w 31"/>
                <a:gd name="T19" fmla="*/ 39 h 39"/>
                <a:gd name="T20" fmla="*/ 0 w 31"/>
                <a:gd name="T21" fmla="*/ 0 h 39"/>
                <a:gd name="T22" fmla="*/ 8 w 31"/>
                <a:gd name="T23" fmla="*/ 0 h 39"/>
                <a:gd name="T24" fmla="*/ 8 w 31"/>
                <a:gd name="T25" fmla="*/ 4 h 39"/>
                <a:gd name="T26" fmla="*/ 9 w 31"/>
                <a:gd name="T27" fmla="*/ 2 h 39"/>
                <a:gd name="T28" fmla="*/ 12 w 31"/>
                <a:gd name="T29" fmla="*/ 1 h 39"/>
                <a:gd name="T30" fmla="*/ 14 w 31"/>
                <a:gd name="T31" fmla="*/ 0 h 39"/>
                <a:gd name="T32" fmla="*/ 17 w 31"/>
                <a:gd name="T33" fmla="*/ 0 h 39"/>
                <a:gd name="T34" fmla="*/ 23 w 31"/>
                <a:gd name="T35" fmla="*/ 1 h 39"/>
                <a:gd name="T36" fmla="*/ 28 w 31"/>
                <a:gd name="T37" fmla="*/ 4 h 39"/>
                <a:gd name="T38" fmla="*/ 30 w 31"/>
                <a:gd name="T39" fmla="*/ 9 h 39"/>
                <a:gd name="T40" fmla="*/ 31 w 31"/>
                <a:gd name="T41" fmla="*/ 17 h 39"/>
                <a:gd name="T42" fmla="*/ 31 w 31"/>
                <a:gd name="T43" fmla="*/ 39 h 39"/>
                <a:gd name="T44" fmla="*/ 23 w 31"/>
                <a:gd name="T4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39">
                  <a:moveTo>
                    <a:pt x="23" y="39"/>
                  </a:moveTo>
                  <a:cubicBezTo>
                    <a:pt x="23" y="17"/>
                    <a:pt x="23" y="17"/>
                    <a:pt x="23" y="17"/>
                  </a:cubicBezTo>
                  <a:cubicBezTo>
                    <a:pt x="23" y="14"/>
                    <a:pt x="23" y="11"/>
                    <a:pt x="22" y="9"/>
                  </a:cubicBezTo>
                  <a:cubicBezTo>
                    <a:pt x="20" y="7"/>
                    <a:pt x="18" y="7"/>
                    <a:pt x="15" y="7"/>
                  </a:cubicBezTo>
                  <a:cubicBezTo>
                    <a:pt x="14" y="7"/>
                    <a:pt x="13" y="7"/>
                    <a:pt x="12" y="7"/>
                  </a:cubicBezTo>
                  <a:cubicBezTo>
                    <a:pt x="11" y="8"/>
                    <a:pt x="10" y="8"/>
                    <a:pt x="10" y="9"/>
                  </a:cubicBezTo>
                  <a:cubicBezTo>
                    <a:pt x="9" y="10"/>
                    <a:pt x="8" y="11"/>
                    <a:pt x="8" y="12"/>
                  </a:cubicBezTo>
                  <a:cubicBezTo>
                    <a:pt x="8" y="14"/>
                    <a:pt x="8" y="15"/>
                    <a:pt x="8" y="16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1" y="1"/>
                    <a:pt x="12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20" y="0"/>
                    <a:pt x="22" y="0"/>
                    <a:pt x="23" y="1"/>
                  </a:cubicBezTo>
                  <a:cubicBezTo>
                    <a:pt x="25" y="1"/>
                    <a:pt x="26" y="2"/>
                    <a:pt x="28" y="4"/>
                  </a:cubicBezTo>
                  <a:cubicBezTo>
                    <a:pt x="29" y="5"/>
                    <a:pt x="29" y="7"/>
                    <a:pt x="30" y="9"/>
                  </a:cubicBezTo>
                  <a:cubicBezTo>
                    <a:pt x="31" y="11"/>
                    <a:pt x="31" y="14"/>
                    <a:pt x="31" y="17"/>
                  </a:cubicBezTo>
                  <a:cubicBezTo>
                    <a:pt x="31" y="39"/>
                    <a:pt x="31" y="39"/>
                    <a:pt x="31" y="39"/>
                  </a:cubicBezTo>
                  <a:lnTo>
                    <a:pt x="23" y="3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5" name="Freeform 43">
              <a:extLst>
                <a:ext uri="{FF2B5EF4-FFF2-40B4-BE49-F238E27FC236}">
                  <a16:creationId xmlns:a16="http://schemas.microsoft.com/office/drawing/2014/main" id="{DC309D60-84B9-4652-BEF1-F71EFAD3A40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3975084" y="6212575"/>
              <a:ext cx="73236" cy="101135"/>
            </a:xfrm>
            <a:custGeom>
              <a:avLst/>
              <a:gdLst>
                <a:gd name="T0" fmla="*/ 28 w 29"/>
                <a:gd name="T1" fmla="*/ 4 h 40"/>
                <a:gd name="T2" fmla="*/ 24 w 29"/>
                <a:gd name="T3" fmla="*/ 10 h 40"/>
                <a:gd name="T4" fmla="*/ 20 w 29"/>
                <a:gd name="T5" fmla="*/ 7 h 40"/>
                <a:gd name="T6" fmla="*/ 14 w 29"/>
                <a:gd name="T7" fmla="*/ 6 h 40"/>
                <a:gd name="T8" fmla="*/ 10 w 29"/>
                <a:gd name="T9" fmla="*/ 7 h 40"/>
                <a:gd name="T10" fmla="*/ 9 w 29"/>
                <a:gd name="T11" fmla="*/ 10 h 40"/>
                <a:gd name="T12" fmla="*/ 9 w 29"/>
                <a:gd name="T13" fmla="*/ 11 h 40"/>
                <a:gd name="T14" fmla="*/ 10 w 29"/>
                <a:gd name="T15" fmla="*/ 12 h 40"/>
                <a:gd name="T16" fmla="*/ 13 w 29"/>
                <a:gd name="T17" fmla="*/ 14 h 40"/>
                <a:gd name="T18" fmla="*/ 16 w 29"/>
                <a:gd name="T19" fmla="*/ 15 h 40"/>
                <a:gd name="T20" fmla="*/ 22 w 29"/>
                <a:gd name="T21" fmla="*/ 18 h 40"/>
                <a:gd name="T22" fmla="*/ 26 w 29"/>
                <a:gd name="T23" fmla="*/ 20 h 40"/>
                <a:gd name="T24" fmla="*/ 28 w 29"/>
                <a:gd name="T25" fmla="*/ 24 h 40"/>
                <a:gd name="T26" fmla="*/ 29 w 29"/>
                <a:gd name="T27" fmla="*/ 28 h 40"/>
                <a:gd name="T28" fmla="*/ 28 w 29"/>
                <a:gd name="T29" fmla="*/ 34 h 40"/>
                <a:gd name="T30" fmla="*/ 25 w 29"/>
                <a:gd name="T31" fmla="*/ 37 h 40"/>
                <a:gd name="T32" fmla="*/ 20 w 29"/>
                <a:gd name="T33" fmla="*/ 39 h 40"/>
                <a:gd name="T34" fmla="*/ 15 w 29"/>
                <a:gd name="T35" fmla="*/ 40 h 40"/>
                <a:gd name="T36" fmla="*/ 7 w 29"/>
                <a:gd name="T37" fmla="*/ 38 h 40"/>
                <a:gd name="T38" fmla="*/ 0 w 29"/>
                <a:gd name="T39" fmla="*/ 35 h 40"/>
                <a:gd name="T40" fmla="*/ 3 w 29"/>
                <a:gd name="T41" fmla="*/ 29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19 w 29"/>
                <a:gd name="T53" fmla="*/ 25 h 40"/>
                <a:gd name="T54" fmla="*/ 16 w 29"/>
                <a:gd name="T55" fmla="*/ 24 h 40"/>
                <a:gd name="T56" fmla="*/ 13 w 29"/>
                <a:gd name="T57" fmla="*/ 22 h 40"/>
                <a:gd name="T58" fmla="*/ 7 w 29"/>
                <a:gd name="T59" fmla="*/ 20 h 40"/>
                <a:gd name="T60" fmla="*/ 4 w 29"/>
                <a:gd name="T61" fmla="*/ 17 h 40"/>
                <a:gd name="T62" fmla="*/ 2 w 29"/>
                <a:gd name="T63" fmla="*/ 14 h 40"/>
                <a:gd name="T64" fmla="*/ 1 w 29"/>
                <a:gd name="T65" fmla="*/ 10 h 40"/>
                <a:gd name="T66" fmla="*/ 2 w 29"/>
                <a:gd name="T67" fmla="*/ 5 h 40"/>
                <a:gd name="T68" fmla="*/ 5 w 29"/>
                <a:gd name="T69" fmla="*/ 2 h 40"/>
                <a:gd name="T70" fmla="*/ 9 w 29"/>
                <a:gd name="T71" fmla="*/ 0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4" y="10"/>
                    <a:pt x="24" y="10"/>
                    <a:pt x="24" y="10"/>
                  </a:cubicBezTo>
                  <a:cubicBezTo>
                    <a:pt x="23" y="8"/>
                    <a:pt x="21" y="8"/>
                    <a:pt x="20" y="7"/>
                  </a:cubicBezTo>
                  <a:cubicBezTo>
                    <a:pt x="18" y="7"/>
                    <a:pt x="16" y="6"/>
                    <a:pt x="14" y="6"/>
                  </a:cubicBezTo>
                  <a:cubicBezTo>
                    <a:pt x="12" y="6"/>
                    <a:pt x="11" y="7"/>
                    <a:pt x="10" y="7"/>
                  </a:cubicBezTo>
                  <a:cubicBezTo>
                    <a:pt x="9" y="8"/>
                    <a:pt x="9" y="9"/>
                    <a:pt x="9" y="10"/>
                  </a:cubicBezTo>
                  <a:cubicBezTo>
                    <a:pt x="9" y="10"/>
                    <a:pt x="9" y="11"/>
                    <a:pt x="9" y="11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1" y="13"/>
                    <a:pt x="12" y="13"/>
                    <a:pt x="13" y="14"/>
                  </a:cubicBezTo>
                  <a:cubicBezTo>
                    <a:pt x="14" y="14"/>
                    <a:pt x="15" y="15"/>
                    <a:pt x="16" y="15"/>
                  </a:cubicBezTo>
                  <a:cubicBezTo>
                    <a:pt x="18" y="16"/>
                    <a:pt x="20" y="17"/>
                    <a:pt x="22" y="18"/>
                  </a:cubicBezTo>
                  <a:cubicBezTo>
                    <a:pt x="23" y="19"/>
                    <a:pt x="25" y="19"/>
                    <a:pt x="26" y="20"/>
                  </a:cubicBezTo>
                  <a:cubicBezTo>
                    <a:pt x="27" y="21"/>
                    <a:pt x="28" y="22"/>
                    <a:pt x="28" y="24"/>
                  </a:cubicBezTo>
                  <a:cubicBezTo>
                    <a:pt x="29" y="25"/>
                    <a:pt x="29" y="26"/>
                    <a:pt x="29" y="28"/>
                  </a:cubicBezTo>
                  <a:cubicBezTo>
                    <a:pt x="29" y="30"/>
                    <a:pt x="29" y="32"/>
                    <a:pt x="28" y="34"/>
                  </a:cubicBezTo>
                  <a:cubicBezTo>
                    <a:pt x="27" y="35"/>
                    <a:pt x="26" y="36"/>
                    <a:pt x="25" y="37"/>
                  </a:cubicBezTo>
                  <a:cubicBezTo>
                    <a:pt x="23" y="38"/>
                    <a:pt x="22" y="39"/>
                    <a:pt x="20" y="39"/>
                  </a:cubicBezTo>
                  <a:cubicBezTo>
                    <a:pt x="18" y="39"/>
                    <a:pt x="17" y="40"/>
                    <a:pt x="15" y="40"/>
                  </a:cubicBezTo>
                  <a:cubicBezTo>
                    <a:pt x="12" y="40"/>
                    <a:pt x="10" y="39"/>
                    <a:pt x="7" y="38"/>
                  </a:cubicBezTo>
                  <a:cubicBezTo>
                    <a:pt x="4" y="37"/>
                    <a:pt x="2" y="36"/>
                    <a:pt x="0" y="35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5" y="30"/>
                    <a:pt x="7" y="31"/>
                    <a:pt x="9" y="32"/>
                  </a:cubicBezTo>
                  <a:cubicBezTo>
                    <a:pt x="11" y="32"/>
                    <a:pt x="13" y="33"/>
                    <a:pt x="15" y="33"/>
                  </a:cubicBezTo>
                  <a:cubicBezTo>
                    <a:pt x="17" y="33"/>
                    <a:pt x="19" y="32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1" y="27"/>
                    <a:pt x="21" y="27"/>
                  </a:cubicBezTo>
                  <a:cubicBezTo>
                    <a:pt x="21" y="26"/>
                    <a:pt x="20" y="25"/>
                    <a:pt x="19" y="25"/>
                  </a:cubicBezTo>
                  <a:cubicBezTo>
                    <a:pt x="18" y="25"/>
                    <a:pt x="18" y="24"/>
                    <a:pt x="16" y="24"/>
                  </a:cubicBezTo>
                  <a:cubicBezTo>
                    <a:pt x="15" y="23"/>
                    <a:pt x="14" y="23"/>
                    <a:pt x="13" y="22"/>
                  </a:cubicBezTo>
                  <a:cubicBezTo>
                    <a:pt x="11" y="21"/>
                    <a:pt x="9" y="20"/>
                    <a:pt x="7" y="20"/>
                  </a:cubicBezTo>
                  <a:cubicBezTo>
                    <a:pt x="6" y="19"/>
                    <a:pt x="5" y="18"/>
                    <a:pt x="4" y="17"/>
                  </a:cubicBezTo>
                  <a:cubicBezTo>
                    <a:pt x="3" y="16"/>
                    <a:pt x="2" y="15"/>
                    <a:pt x="2" y="14"/>
                  </a:cubicBezTo>
                  <a:cubicBezTo>
                    <a:pt x="2" y="13"/>
                    <a:pt x="1" y="12"/>
                    <a:pt x="1" y="10"/>
                  </a:cubicBezTo>
                  <a:cubicBezTo>
                    <a:pt x="1" y="8"/>
                    <a:pt x="2" y="7"/>
                    <a:pt x="2" y="5"/>
                  </a:cubicBezTo>
                  <a:cubicBezTo>
                    <a:pt x="3" y="4"/>
                    <a:pt x="4" y="3"/>
                    <a:pt x="5" y="2"/>
                  </a:cubicBezTo>
                  <a:cubicBezTo>
                    <a:pt x="6" y="1"/>
                    <a:pt x="8" y="1"/>
                    <a:pt x="9" y="0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19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6" name="Freeform 44">
              <a:extLst>
                <a:ext uri="{FF2B5EF4-FFF2-40B4-BE49-F238E27FC236}">
                  <a16:creationId xmlns:a16="http://schemas.microsoft.com/office/drawing/2014/main" id="{A4440044-5486-483F-B652-7EE3849461B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058782" y="6212575"/>
              <a:ext cx="122060" cy="99391"/>
            </a:xfrm>
            <a:custGeom>
              <a:avLst/>
              <a:gdLst>
                <a:gd name="T0" fmla="*/ 55 w 70"/>
                <a:gd name="T1" fmla="*/ 57 h 57"/>
                <a:gd name="T2" fmla="*/ 45 w 70"/>
                <a:gd name="T3" fmla="*/ 57 h 57"/>
                <a:gd name="T4" fmla="*/ 35 w 70"/>
                <a:gd name="T5" fmla="*/ 17 h 57"/>
                <a:gd name="T6" fmla="*/ 25 w 70"/>
                <a:gd name="T7" fmla="*/ 57 h 57"/>
                <a:gd name="T8" fmla="*/ 14 w 70"/>
                <a:gd name="T9" fmla="*/ 57 h 57"/>
                <a:gd name="T10" fmla="*/ 0 w 70"/>
                <a:gd name="T11" fmla="*/ 0 h 57"/>
                <a:gd name="T12" fmla="*/ 10 w 70"/>
                <a:gd name="T13" fmla="*/ 0 h 57"/>
                <a:gd name="T14" fmla="*/ 20 w 70"/>
                <a:gd name="T15" fmla="*/ 39 h 57"/>
                <a:gd name="T16" fmla="*/ 30 w 70"/>
                <a:gd name="T17" fmla="*/ 0 h 57"/>
                <a:gd name="T18" fmla="*/ 39 w 70"/>
                <a:gd name="T19" fmla="*/ 0 h 57"/>
                <a:gd name="T20" fmla="*/ 49 w 70"/>
                <a:gd name="T21" fmla="*/ 39 h 57"/>
                <a:gd name="T22" fmla="*/ 60 w 70"/>
                <a:gd name="T23" fmla="*/ 0 h 57"/>
                <a:gd name="T24" fmla="*/ 70 w 70"/>
                <a:gd name="T25" fmla="*/ 0 h 57"/>
                <a:gd name="T26" fmla="*/ 55 w 70"/>
                <a:gd name="T2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7">
                  <a:moveTo>
                    <a:pt x="55" y="57"/>
                  </a:moveTo>
                  <a:lnTo>
                    <a:pt x="45" y="57"/>
                  </a:lnTo>
                  <a:lnTo>
                    <a:pt x="35" y="17"/>
                  </a:lnTo>
                  <a:lnTo>
                    <a:pt x="25" y="57"/>
                  </a:lnTo>
                  <a:lnTo>
                    <a:pt x="14" y="57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0" y="39"/>
                  </a:lnTo>
                  <a:lnTo>
                    <a:pt x="30" y="0"/>
                  </a:lnTo>
                  <a:lnTo>
                    <a:pt x="39" y="0"/>
                  </a:lnTo>
                  <a:lnTo>
                    <a:pt x="49" y="39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446771E9-EA09-4256-8955-FE392C07AFC4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4191304" y="6212575"/>
              <a:ext cx="83698" cy="101135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2 h 40"/>
                <a:gd name="T6" fmla="*/ 7 w 33"/>
                <a:gd name="T7" fmla="*/ 22 h 40"/>
                <a:gd name="T8" fmla="*/ 9 w 33"/>
                <a:gd name="T9" fmla="*/ 27 h 40"/>
                <a:gd name="T10" fmla="*/ 11 w 33"/>
                <a:gd name="T11" fmla="*/ 30 h 40"/>
                <a:gd name="T12" fmla="*/ 14 w 33"/>
                <a:gd name="T13" fmla="*/ 32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3 w 33"/>
                <a:gd name="T21" fmla="*/ 31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8 h 40"/>
                <a:gd name="T30" fmla="*/ 21 w 33"/>
                <a:gd name="T31" fmla="*/ 39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7 h 40"/>
                <a:gd name="T38" fmla="*/ 5 w 33"/>
                <a:gd name="T39" fmla="*/ 34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1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1 h 40"/>
                <a:gd name="T56" fmla="*/ 29 w 33"/>
                <a:gd name="T57" fmla="*/ 5 h 40"/>
                <a:gd name="T58" fmla="*/ 32 w 33"/>
                <a:gd name="T59" fmla="*/ 11 h 40"/>
                <a:gd name="T60" fmla="*/ 33 w 33"/>
                <a:gd name="T61" fmla="*/ 19 h 40"/>
                <a:gd name="T62" fmla="*/ 25 w 33"/>
                <a:gd name="T63" fmla="*/ 16 h 40"/>
                <a:gd name="T64" fmla="*/ 25 w 33"/>
                <a:gd name="T65" fmla="*/ 12 h 40"/>
                <a:gd name="T66" fmla="*/ 23 w 33"/>
                <a:gd name="T67" fmla="*/ 9 h 40"/>
                <a:gd name="T68" fmla="*/ 20 w 33"/>
                <a:gd name="T69" fmla="*/ 7 h 40"/>
                <a:gd name="T70" fmla="*/ 16 w 33"/>
                <a:gd name="T71" fmla="*/ 6 h 40"/>
                <a:gd name="T72" fmla="*/ 13 w 33"/>
                <a:gd name="T73" fmla="*/ 7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6 h 40"/>
                <a:gd name="T80" fmla="*/ 25 w 33"/>
                <a:gd name="T81" fmla="*/ 16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19"/>
                    <a:pt x="33" y="20"/>
                    <a:pt x="33" y="21"/>
                  </a:cubicBezTo>
                  <a:cubicBezTo>
                    <a:pt x="33" y="21"/>
                    <a:pt x="33" y="22"/>
                    <a:pt x="33" y="22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24"/>
                    <a:pt x="8" y="26"/>
                    <a:pt x="9" y="27"/>
                  </a:cubicBezTo>
                  <a:cubicBezTo>
                    <a:pt x="9" y="28"/>
                    <a:pt x="10" y="29"/>
                    <a:pt x="11" y="30"/>
                  </a:cubicBezTo>
                  <a:cubicBezTo>
                    <a:pt x="12" y="31"/>
                    <a:pt x="13" y="32"/>
                    <a:pt x="14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2"/>
                    <a:pt x="21" y="32"/>
                    <a:pt x="22" y="32"/>
                  </a:cubicBezTo>
                  <a:cubicBezTo>
                    <a:pt x="22" y="32"/>
                    <a:pt x="23" y="31"/>
                    <a:pt x="23" y="31"/>
                  </a:cubicBezTo>
                  <a:cubicBezTo>
                    <a:pt x="24" y="31"/>
                    <a:pt x="25" y="30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5"/>
                    <a:pt x="28" y="36"/>
                    <a:pt x="27" y="37"/>
                  </a:cubicBezTo>
                  <a:cubicBezTo>
                    <a:pt x="26" y="37"/>
                    <a:pt x="25" y="38"/>
                    <a:pt x="24" y="38"/>
                  </a:cubicBezTo>
                  <a:cubicBezTo>
                    <a:pt x="23" y="39"/>
                    <a:pt x="22" y="39"/>
                    <a:pt x="21" y="39"/>
                  </a:cubicBezTo>
                  <a:cubicBezTo>
                    <a:pt x="20" y="39"/>
                    <a:pt x="18" y="40"/>
                    <a:pt x="17" y="40"/>
                  </a:cubicBezTo>
                  <a:cubicBezTo>
                    <a:pt x="15" y="40"/>
                    <a:pt x="13" y="39"/>
                    <a:pt x="12" y="39"/>
                  </a:cubicBezTo>
                  <a:cubicBezTo>
                    <a:pt x="11" y="38"/>
                    <a:pt x="9" y="38"/>
                    <a:pt x="8" y="37"/>
                  </a:cubicBezTo>
                  <a:cubicBezTo>
                    <a:pt x="7" y="36"/>
                    <a:pt x="6" y="35"/>
                    <a:pt x="5" y="34"/>
                  </a:cubicBezTo>
                  <a:cubicBezTo>
                    <a:pt x="4" y="34"/>
                    <a:pt x="3" y="32"/>
                    <a:pt x="3" y="31"/>
                  </a:cubicBezTo>
                  <a:cubicBezTo>
                    <a:pt x="2" y="29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6"/>
                    <a:pt x="0" y="13"/>
                    <a:pt x="1" y="11"/>
                  </a:cubicBezTo>
                  <a:cubicBezTo>
                    <a:pt x="2" y="8"/>
                    <a:pt x="3" y="6"/>
                    <a:pt x="5" y="5"/>
                  </a:cubicBezTo>
                  <a:cubicBezTo>
                    <a:pt x="6" y="3"/>
                    <a:pt x="8" y="2"/>
                    <a:pt x="10" y="1"/>
                  </a:cubicBezTo>
                  <a:cubicBezTo>
                    <a:pt x="12" y="0"/>
                    <a:pt x="14" y="0"/>
                    <a:pt x="17" y="0"/>
                  </a:cubicBezTo>
                  <a:cubicBezTo>
                    <a:pt x="20" y="0"/>
                    <a:pt x="22" y="0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0" y="7"/>
                    <a:pt x="31" y="9"/>
                    <a:pt x="32" y="11"/>
                  </a:cubicBezTo>
                  <a:cubicBezTo>
                    <a:pt x="33" y="14"/>
                    <a:pt x="33" y="16"/>
                    <a:pt x="33" y="19"/>
                  </a:cubicBezTo>
                  <a:close/>
                  <a:moveTo>
                    <a:pt x="25" y="16"/>
                  </a:moveTo>
                  <a:cubicBezTo>
                    <a:pt x="25" y="15"/>
                    <a:pt x="25" y="13"/>
                    <a:pt x="25" y="12"/>
                  </a:cubicBezTo>
                  <a:cubicBezTo>
                    <a:pt x="24" y="11"/>
                    <a:pt x="24" y="10"/>
                    <a:pt x="23" y="9"/>
                  </a:cubicBezTo>
                  <a:cubicBezTo>
                    <a:pt x="22" y="8"/>
                    <a:pt x="21" y="8"/>
                    <a:pt x="20" y="7"/>
                  </a:cubicBezTo>
                  <a:cubicBezTo>
                    <a:pt x="19" y="7"/>
                    <a:pt x="18" y="6"/>
                    <a:pt x="16" y="6"/>
                  </a:cubicBezTo>
                  <a:cubicBezTo>
                    <a:pt x="15" y="6"/>
                    <a:pt x="14" y="7"/>
                    <a:pt x="13" y="7"/>
                  </a:cubicBezTo>
                  <a:cubicBezTo>
                    <a:pt x="12" y="7"/>
                    <a:pt x="11" y="8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3"/>
                    <a:pt x="8" y="14"/>
                    <a:pt x="8" y="16"/>
                  </a:cubicBezTo>
                  <a:lnTo>
                    <a:pt x="25" y="1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FE985025-CAA5-44F2-9174-87CD1D8BA18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295927" y="6212575"/>
              <a:ext cx="57543" cy="99391"/>
            </a:xfrm>
            <a:custGeom>
              <a:avLst/>
              <a:gdLst>
                <a:gd name="T0" fmla="*/ 21 w 23"/>
                <a:gd name="T1" fmla="*/ 8 h 39"/>
                <a:gd name="T2" fmla="*/ 18 w 23"/>
                <a:gd name="T3" fmla="*/ 7 h 39"/>
                <a:gd name="T4" fmla="*/ 15 w 23"/>
                <a:gd name="T5" fmla="*/ 7 h 39"/>
                <a:gd name="T6" fmla="*/ 10 w 23"/>
                <a:gd name="T7" fmla="*/ 9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0 h 39"/>
                <a:gd name="T16" fmla="*/ 8 w 23"/>
                <a:gd name="T17" fmla="*/ 0 h 39"/>
                <a:gd name="T18" fmla="*/ 8 w 23"/>
                <a:gd name="T19" fmla="*/ 4 h 39"/>
                <a:gd name="T20" fmla="*/ 9 w 23"/>
                <a:gd name="T21" fmla="*/ 2 h 39"/>
                <a:gd name="T22" fmla="*/ 11 w 23"/>
                <a:gd name="T23" fmla="*/ 1 h 39"/>
                <a:gd name="T24" fmla="*/ 14 w 23"/>
                <a:gd name="T25" fmla="*/ 0 h 39"/>
                <a:gd name="T26" fmla="*/ 16 w 23"/>
                <a:gd name="T27" fmla="*/ 0 h 39"/>
                <a:gd name="T28" fmla="*/ 20 w 23"/>
                <a:gd name="T29" fmla="*/ 0 h 39"/>
                <a:gd name="T30" fmla="*/ 23 w 23"/>
                <a:gd name="T31" fmla="*/ 1 h 39"/>
                <a:gd name="T32" fmla="*/ 21 w 23"/>
                <a:gd name="T33" fmla="*/ 8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8"/>
                  </a:moveTo>
                  <a:cubicBezTo>
                    <a:pt x="20" y="8"/>
                    <a:pt x="19" y="8"/>
                    <a:pt x="18" y="7"/>
                  </a:cubicBezTo>
                  <a:cubicBezTo>
                    <a:pt x="17" y="7"/>
                    <a:pt x="16" y="7"/>
                    <a:pt x="15" y="7"/>
                  </a:cubicBezTo>
                  <a:cubicBezTo>
                    <a:pt x="13" y="7"/>
                    <a:pt x="11" y="8"/>
                    <a:pt x="10" y="9"/>
                  </a:cubicBezTo>
                  <a:cubicBezTo>
                    <a:pt x="8" y="11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3"/>
                    <a:pt x="9" y="3"/>
                    <a:pt x="9" y="2"/>
                  </a:cubicBezTo>
                  <a:cubicBezTo>
                    <a:pt x="10" y="2"/>
                    <a:pt x="10" y="1"/>
                    <a:pt x="11" y="1"/>
                  </a:cubicBezTo>
                  <a:cubicBezTo>
                    <a:pt x="12" y="0"/>
                    <a:pt x="13" y="0"/>
                    <a:pt x="14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8" y="0"/>
                    <a:pt x="19" y="0"/>
                    <a:pt x="20" y="0"/>
                  </a:cubicBezTo>
                  <a:cubicBezTo>
                    <a:pt x="21" y="0"/>
                    <a:pt x="22" y="1"/>
                    <a:pt x="23" y="1"/>
                  </a:cubicBezTo>
                  <a:lnTo>
                    <a:pt x="21" y="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29" name="Freeform 47">
              <a:extLst>
                <a:ext uri="{FF2B5EF4-FFF2-40B4-BE49-F238E27FC236}">
                  <a16:creationId xmlns:a16="http://schemas.microsoft.com/office/drawing/2014/main" id="{1105FBBE-AD06-4F22-94D8-E2E98185FA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346494" y="6284068"/>
              <a:ext cx="29644" cy="29643"/>
            </a:xfrm>
            <a:custGeom>
              <a:avLst/>
              <a:gdLst>
                <a:gd name="T0" fmla="*/ 12 w 12"/>
                <a:gd name="T1" fmla="*/ 6 h 12"/>
                <a:gd name="T2" fmla="*/ 11 w 12"/>
                <a:gd name="T3" fmla="*/ 8 h 12"/>
                <a:gd name="T4" fmla="*/ 10 w 12"/>
                <a:gd name="T5" fmla="*/ 10 h 12"/>
                <a:gd name="T6" fmla="*/ 8 w 12"/>
                <a:gd name="T7" fmla="*/ 11 h 12"/>
                <a:gd name="T8" fmla="*/ 6 w 12"/>
                <a:gd name="T9" fmla="*/ 12 h 12"/>
                <a:gd name="T10" fmla="*/ 3 w 12"/>
                <a:gd name="T11" fmla="*/ 11 h 12"/>
                <a:gd name="T12" fmla="*/ 2 w 12"/>
                <a:gd name="T13" fmla="*/ 10 h 12"/>
                <a:gd name="T14" fmla="*/ 0 w 12"/>
                <a:gd name="T15" fmla="*/ 8 h 12"/>
                <a:gd name="T16" fmla="*/ 0 w 12"/>
                <a:gd name="T17" fmla="*/ 6 h 12"/>
                <a:gd name="T18" fmla="*/ 0 w 12"/>
                <a:gd name="T19" fmla="*/ 4 h 12"/>
                <a:gd name="T20" fmla="*/ 2 w 12"/>
                <a:gd name="T21" fmla="*/ 2 h 12"/>
                <a:gd name="T22" fmla="*/ 3 w 12"/>
                <a:gd name="T23" fmla="*/ 0 h 12"/>
                <a:gd name="T24" fmla="*/ 6 w 12"/>
                <a:gd name="T25" fmla="*/ 0 h 12"/>
                <a:gd name="T26" fmla="*/ 8 w 12"/>
                <a:gd name="T27" fmla="*/ 0 h 12"/>
                <a:gd name="T28" fmla="*/ 10 w 12"/>
                <a:gd name="T29" fmla="*/ 2 h 12"/>
                <a:gd name="T30" fmla="*/ 11 w 12"/>
                <a:gd name="T31" fmla="*/ 4 h 12"/>
                <a:gd name="T32" fmla="*/ 12 w 12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2" h="12">
                  <a:moveTo>
                    <a:pt x="12" y="6"/>
                  </a:moveTo>
                  <a:cubicBezTo>
                    <a:pt x="12" y="7"/>
                    <a:pt x="11" y="7"/>
                    <a:pt x="11" y="8"/>
                  </a:cubicBezTo>
                  <a:cubicBezTo>
                    <a:pt x="11" y="9"/>
                    <a:pt x="10" y="9"/>
                    <a:pt x="10" y="10"/>
                  </a:cubicBezTo>
                  <a:cubicBezTo>
                    <a:pt x="9" y="10"/>
                    <a:pt x="9" y="11"/>
                    <a:pt x="8" y="11"/>
                  </a:cubicBezTo>
                  <a:cubicBezTo>
                    <a:pt x="7" y="11"/>
                    <a:pt x="7" y="12"/>
                    <a:pt x="6" y="12"/>
                  </a:cubicBezTo>
                  <a:cubicBezTo>
                    <a:pt x="5" y="12"/>
                    <a:pt x="4" y="11"/>
                    <a:pt x="3" y="11"/>
                  </a:cubicBezTo>
                  <a:cubicBezTo>
                    <a:pt x="3" y="11"/>
                    <a:pt x="2" y="10"/>
                    <a:pt x="2" y="10"/>
                  </a:cubicBezTo>
                  <a:cubicBezTo>
                    <a:pt x="1" y="9"/>
                    <a:pt x="1" y="9"/>
                    <a:pt x="0" y="8"/>
                  </a:cubicBezTo>
                  <a:cubicBezTo>
                    <a:pt x="0" y="7"/>
                    <a:pt x="0" y="7"/>
                    <a:pt x="0" y="6"/>
                  </a:cubicBezTo>
                  <a:cubicBezTo>
                    <a:pt x="0" y="5"/>
                    <a:pt x="0" y="4"/>
                    <a:pt x="0" y="4"/>
                  </a:cubicBezTo>
                  <a:cubicBezTo>
                    <a:pt x="1" y="3"/>
                    <a:pt x="1" y="2"/>
                    <a:pt x="2" y="2"/>
                  </a:cubicBezTo>
                  <a:cubicBezTo>
                    <a:pt x="2" y="1"/>
                    <a:pt x="3" y="1"/>
                    <a:pt x="3" y="0"/>
                  </a:cubicBezTo>
                  <a:cubicBezTo>
                    <a:pt x="4" y="0"/>
                    <a:pt x="5" y="0"/>
                    <a:pt x="6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1"/>
                    <a:pt x="10" y="2"/>
                  </a:cubicBezTo>
                  <a:cubicBezTo>
                    <a:pt x="10" y="2"/>
                    <a:pt x="11" y="3"/>
                    <a:pt x="11" y="4"/>
                  </a:cubicBezTo>
                  <a:cubicBezTo>
                    <a:pt x="11" y="4"/>
                    <a:pt x="12" y="5"/>
                    <a:pt x="12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0" name="Freeform 48">
              <a:extLst>
                <a:ext uri="{FF2B5EF4-FFF2-40B4-BE49-F238E27FC236}">
                  <a16:creationId xmlns:a16="http://schemas.microsoft.com/office/drawing/2014/main" id="{8141824A-6AD4-4B53-B837-71461DD538C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498115" y="6388691"/>
              <a:ext cx="94161" cy="130778"/>
            </a:xfrm>
            <a:custGeom>
              <a:avLst/>
              <a:gdLst>
                <a:gd name="T0" fmla="*/ 32 w 54"/>
                <a:gd name="T1" fmla="*/ 12 h 75"/>
                <a:gd name="T2" fmla="*/ 32 w 54"/>
                <a:gd name="T3" fmla="*/ 75 h 75"/>
                <a:gd name="T4" fmla="*/ 22 w 54"/>
                <a:gd name="T5" fmla="*/ 75 h 75"/>
                <a:gd name="T6" fmla="*/ 22 w 54"/>
                <a:gd name="T7" fmla="*/ 12 h 75"/>
                <a:gd name="T8" fmla="*/ 0 w 54"/>
                <a:gd name="T9" fmla="*/ 12 h 75"/>
                <a:gd name="T10" fmla="*/ 0 w 54"/>
                <a:gd name="T11" fmla="*/ 0 h 75"/>
                <a:gd name="T12" fmla="*/ 54 w 54"/>
                <a:gd name="T13" fmla="*/ 0 h 75"/>
                <a:gd name="T14" fmla="*/ 54 w 54"/>
                <a:gd name="T15" fmla="*/ 12 h 75"/>
                <a:gd name="T16" fmla="*/ 32 w 54"/>
                <a:gd name="T17" fmla="*/ 12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4" h="75">
                  <a:moveTo>
                    <a:pt x="32" y="12"/>
                  </a:moveTo>
                  <a:lnTo>
                    <a:pt x="32" y="75"/>
                  </a:lnTo>
                  <a:lnTo>
                    <a:pt x="22" y="75"/>
                  </a:lnTo>
                  <a:lnTo>
                    <a:pt x="22" y="12"/>
                  </a:lnTo>
                  <a:lnTo>
                    <a:pt x="0" y="12"/>
                  </a:lnTo>
                  <a:lnTo>
                    <a:pt x="0" y="0"/>
                  </a:lnTo>
                  <a:lnTo>
                    <a:pt x="54" y="0"/>
                  </a:lnTo>
                  <a:lnTo>
                    <a:pt x="54" y="12"/>
                  </a:lnTo>
                  <a:lnTo>
                    <a:pt x="32" y="1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1" name="Freeform 49">
              <a:extLst>
                <a:ext uri="{FF2B5EF4-FFF2-40B4-BE49-F238E27FC236}">
                  <a16:creationId xmlns:a16="http://schemas.microsoft.com/office/drawing/2014/main" id="{1CEF1D95-CD6C-417A-9539-CB4DBAA5E07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09713" y="6383459"/>
              <a:ext cx="78468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9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1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2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9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7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8" y="17"/>
                    <a:pt x="9" y="17"/>
                  </a:cubicBezTo>
                  <a:cubicBezTo>
                    <a:pt x="10" y="16"/>
                    <a:pt x="10" y="16"/>
                    <a:pt x="11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8" y="20"/>
                    <a:pt x="29" y="22"/>
                    <a:pt x="30" y="24"/>
                  </a:cubicBezTo>
                  <a:cubicBezTo>
                    <a:pt x="30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2" name="Freeform 50">
              <a:extLst>
                <a:ext uri="{FF2B5EF4-FFF2-40B4-BE49-F238E27FC236}">
                  <a16:creationId xmlns:a16="http://schemas.microsoft.com/office/drawing/2014/main" id="{BF6CB5D3-9648-4D73-AB7C-5374814E5BA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5618" y="6418333"/>
              <a:ext cx="85443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7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2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3 w 33"/>
                <a:gd name="T73" fmla="*/ 8 h 40"/>
                <a:gd name="T74" fmla="*/ 10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9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19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2" y="32"/>
                    <a:pt x="23" y="32"/>
                    <a:pt x="23" y="32"/>
                  </a:cubicBezTo>
                  <a:cubicBezTo>
                    <a:pt x="24" y="31"/>
                    <a:pt x="25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1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5" y="13"/>
                  </a:cubicBezTo>
                  <a:cubicBezTo>
                    <a:pt x="24" y="12"/>
                    <a:pt x="24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0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3" name="Freeform 51">
              <a:extLst>
                <a:ext uri="{FF2B5EF4-FFF2-40B4-BE49-F238E27FC236}">
                  <a16:creationId xmlns:a16="http://schemas.microsoft.com/office/drawing/2014/main" id="{55F0E322-3AEE-482E-8E59-9FB04FACA9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57320" y="6383459"/>
              <a:ext cx="83698" cy="137753"/>
            </a:xfrm>
            <a:custGeom>
              <a:avLst/>
              <a:gdLst>
                <a:gd name="T0" fmla="*/ 33 w 33"/>
                <a:gd name="T1" fmla="*/ 35 h 54"/>
                <a:gd name="T2" fmla="*/ 31 w 33"/>
                <a:gd name="T3" fmla="*/ 43 h 54"/>
                <a:gd name="T4" fmla="*/ 28 w 33"/>
                <a:gd name="T5" fmla="*/ 49 h 54"/>
                <a:gd name="T6" fmla="*/ 23 w 33"/>
                <a:gd name="T7" fmla="*/ 53 h 54"/>
                <a:gd name="T8" fmla="*/ 17 w 33"/>
                <a:gd name="T9" fmla="*/ 54 h 54"/>
                <a:gd name="T10" fmla="*/ 12 w 33"/>
                <a:gd name="T11" fmla="*/ 53 h 54"/>
                <a:gd name="T12" fmla="*/ 8 w 33"/>
                <a:gd name="T13" fmla="*/ 50 h 54"/>
                <a:gd name="T14" fmla="*/ 8 w 33"/>
                <a:gd name="T15" fmla="*/ 53 h 54"/>
                <a:gd name="T16" fmla="*/ 0 w 33"/>
                <a:gd name="T17" fmla="*/ 53 h 54"/>
                <a:gd name="T18" fmla="*/ 0 w 33"/>
                <a:gd name="T19" fmla="*/ 4 h 54"/>
                <a:gd name="T20" fmla="*/ 8 w 33"/>
                <a:gd name="T21" fmla="*/ 0 h 54"/>
                <a:gd name="T22" fmla="*/ 8 w 33"/>
                <a:gd name="T23" fmla="*/ 19 h 54"/>
                <a:gd name="T24" fmla="*/ 10 w 33"/>
                <a:gd name="T25" fmla="*/ 17 h 54"/>
                <a:gd name="T26" fmla="*/ 12 w 33"/>
                <a:gd name="T27" fmla="*/ 16 h 54"/>
                <a:gd name="T28" fmla="*/ 14 w 33"/>
                <a:gd name="T29" fmla="*/ 14 h 54"/>
                <a:gd name="T30" fmla="*/ 18 w 33"/>
                <a:gd name="T31" fmla="*/ 14 h 54"/>
                <a:gd name="T32" fmla="*/ 24 w 33"/>
                <a:gd name="T33" fmla="*/ 15 h 54"/>
                <a:gd name="T34" fmla="*/ 28 w 33"/>
                <a:gd name="T35" fmla="*/ 19 h 54"/>
                <a:gd name="T36" fmla="*/ 31 w 33"/>
                <a:gd name="T37" fmla="*/ 25 h 54"/>
                <a:gd name="T38" fmla="*/ 33 w 33"/>
                <a:gd name="T39" fmla="*/ 35 h 54"/>
                <a:gd name="T40" fmla="*/ 25 w 33"/>
                <a:gd name="T41" fmla="*/ 35 h 54"/>
                <a:gd name="T42" fmla="*/ 23 w 33"/>
                <a:gd name="T43" fmla="*/ 24 h 54"/>
                <a:gd name="T44" fmla="*/ 16 w 33"/>
                <a:gd name="T45" fmla="*/ 21 h 54"/>
                <a:gd name="T46" fmla="*/ 14 w 33"/>
                <a:gd name="T47" fmla="*/ 21 h 54"/>
                <a:gd name="T48" fmla="*/ 11 w 33"/>
                <a:gd name="T49" fmla="*/ 23 h 54"/>
                <a:gd name="T50" fmla="*/ 9 w 33"/>
                <a:gd name="T51" fmla="*/ 24 h 54"/>
                <a:gd name="T52" fmla="*/ 8 w 33"/>
                <a:gd name="T53" fmla="*/ 26 h 54"/>
                <a:gd name="T54" fmla="*/ 8 w 33"/>
                <a:gd name="T55" fmla="*/ 42 h 54"/>
                <a:gd name="T56" fmla="*/ 9 w 33"/>
                <a:gd name="T57" fmla="*/ 44 h 54"/>
                <a:gd name="T58" fmla="*/ 11 w 33"/>
                <a:gd name="T59" fmla="*/ 45 h 54"/>
                <a:gd name="T60" fmla="*/ 14 w 33"/>
                <a:gd name="T61" fmla="*/ 47 h 54"/>
                <a:gd name="T62" fmla="*/ 17 w 33"/>
                <a:gd name="T63" fmla="*/ 47 h 54"/>
                <a:gd name="T64" fmla="*/ 23 w 33"/>
                <a:gd name="T65" fmla="*/ 44 h 54"/>
                <a:gd name="T66" fmla="*/ 25 w 33"/>
                <a:gd name="T67" fmla="*/ 35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3" h="54">
                  <a:moveTo>
                    <a:pt x="33" y="35"/>
                  </a:moveTo>
                  <a:cubicBezTo>
                    <a:pt x="33" y="38"/>
                    <a:pt x="32" y="41"/>
                    <a:pt x="31" y="43"/>
                  </a:cubicBezTo>
                  <a:cubicBezTo>
                    <a:pt x="30" y="46"/>
                    <a:pt x="29" y="48"/>
                    <a:pt x="28" y="49"/>
                  </a:cubicBezTo>
                  <a:cubicBezTo>
                    <a:pt x="27" y="51"/>
                    <a:pt x="25" y="52"/>
                    <a:pt x="23" y="53"/>
                  </a:cubicBezTo>
                  <a:cubicBezTo>
                    <a:pt x="21" y="54"/>
                    <a:pt x="19" y="54"/>
                    <a:pt x="17" y="54"/>
                  </a:cubicBezTo>
                  <a:cubicBezTo>
                    <a:pt x="16" y="54"/>
                    <a:pt x="14" y="54"/>
                    <a:pt x="12" y="53"/>
                  </a:cubicBezTo>
                  <a:cubicBezTo>
                    <a:pt x="10" y="52"/>
                    <a:pt x="9" y="51"/>
                    <a:pt x="8" y="50"/>
                  </a:cubicBezTo>
                  <a:cubicBezTo>
                    <a:pt x="8" y="53"/>
                    <a:pt x="8" y="53"/>
                    <a:pt x="8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19"/>
                    <a:pt x="8" y="19"/>
                    <a:pt x="8" y="19"/>
                  </a:cubicBezTo>
                  <a:cubicBezTo>
                    <a:pt x="9" y="18"/>
                    <a:pt x="9" y="17"/>
                    <a:pt x="10" y="17"/>
                  </a:cubicBezTo>
                  <a:cubicBezTo>
                    <a:pt x="11" y="16"/>
                    <a:pt x="11" y="16"/>
                    <a:pt x="12" y="16"/>
                  </a:cubicBezTo>
                  <a:cubicBezTo>
                    <a:pt x="13" y="15"/>
                    <a:pt x="13" y="15"/>
                    <a:pt x="14" y="14"/>
                  </a:cubicBezTo>
                  <a:cubicBezTo>
                    <a:pt x="15" y="14"/>
                    <a:pt x="16" y="14"/>
                    <a:pt x="18" y="14"/>
                  </a:cubicBezTo>
                  <a:cubicBezTo>
                    <a:pt x="20" y="14"/>
                    <a:pt x="22" y="14"/>
                    <a:pt x="24" y="15"/>
                  </a:cubicBezTo>
                  <a:cubicBezTo>
                    <a:pt x="25" y="16"/>
                    <a:pt x="27" y="17"/>
                    <a:pt x="28" y="19"/>
                  </a:cubicBezTo>
                  <a:cubicBezTo>
                    <a:pt x="30" y="21"/>
                    <a:pt x="31" y="23"/>
                    <a:pt x="31" y="25"/>
                  </a:cubicBezTo>
                  <a:cubicBezTo>
                    <a:pt x="32" y="28"/>
                    <a:pt x="33" y="31"/>
                    <a:pt x="33" y="35"/>
                  </a:cubicBezTo>
                  <a:close/>
                  <a:moveTo>
                    <a:pt x="25" y="35"/>
                  </a:moveTo>
                  <a:cubicBezTo>
                    <a:pt x="25" y="30"/>
                    <a:pt x="24" y="27"/>
                    <a:pt x="23" y="24"/>
                  </a:cubicBezTo>
                  <a:cubicBezTo>
                    <a:pt x="21" y="22"/>
                    <a:pt x="19" y="21"/>
                    <a:pt x="16" y="21"/>
                  </a:cubicBezTo>
                  <a:cubicBezTo>
                    <a:pt x="15" y="21"/>
                    <a:pt x="15" y="21"/>
                    <a:pt x="14" y="21"/>
                  </a:cubicBezTo>
                  <a:cubicBezTo>
                    <a:pt x="13" y="22"/>
                    <a:pt x="12" y="22"/>
                    <a:pt x="11" y="23"/>
                  </a:cubicBezTo>
                  <a:cubicBezTo>
                    <a:pt x="11" y="23"/>
                    <a:pt x="10" y="24"/>
                    <a:pt x="9" y="24"/>
                  </a:cubicBezTo>
                  <a:cubicBezTo>
                    <a:pt x="9" y="25"/>
                    <a:pt x="8" y="25"/>
                    <a:pt x="8" y="26"/>
                  </a:cubicBezTo>
                  <a:cubicBezTo>
                    <a:pt x="8" y="42"/>
                    <a:pt x="8" y="42"/>
                    <a:pt x="8" y="42"/>
                  </a:cubicBezTo>
                  <a:cubicBezTo>
                    <a:pt x="8" y="43"/>
                    <a:pt x="9" y="43"/>
                    <a:pt x="9" y="44"/>
                  </a:cubicBezTo>
                  <a:cubicBezTo>
                    <a:pt x="10" y="44"/>
                    <a:pt x="11" y="45"/>
                    <a:pt x="11" y="45"/>
                  </a:cubicBezTo>
                  <a:cubicBezTo>
                    <a:pt x="12" y="46"/>
                    <a:pt x="13" y="46"/>
                    <a:pt x="14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9" y="47"/>
                    <a:pt x="21" y="46"/>
                    <a:pt x="23" y="44"/>
                  </a:cubicBezTo>
                  <a:cubicBezTo>
                    <a:pt x="24" y="42"/>
                    <a:pt x="25" y="39"/>
                    <a:pt x="25" y="3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4" name="Freeform 52">
              <a:extLst>
                <a:ext uri="{FF2B5EF4-FFF2-40B4-BE49-F238E27FC236}">
                  <a16:creationId xmlns:a16="http://schemas.microsoft.com/office/drawing/2014/main" id="{0D3C59AD-7CCF-4166-9D21-3C3484889312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956713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1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1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4" y="31"/>
                    <a:pt x="24" y="31"/>
                    <a:pt x="25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1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8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5" name="Freeform 53">
              <a:extLst>
                <a:ext uri="{FF2B5EF4-FFF2-40B4-BE49-F238E27FC236}">
                  <a16:creationId xmlns:a16="http://schemas.microsoft.com/office/drawing/2014/main" id="{9C9DA4CE-7B4D-42AE-9264-92B7D7757DD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050873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1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2" y="54"/>
                    <a:pt x="11" y="54"/>
                  </a:cubicBezTo>
                  <a:cubicBezTo>
                    <a:pt x="10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6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2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6" name="Freeform 54">
              <a:extLst>
                <a:ext uri="{FF2B5EF4-FFF2-40B4-BE49-F238E27FC236}">
                  <a16:creationId xmlns:a16="http://schemas.microsoft.com/office/drawing/2014/main" id="{DBCBD0D2-5C9C-4B12-8CF8-9CA320825E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118877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7" name="Freeform 55">
              <a:extLst>
                <a:ext uri="{FF2B5EF4-FFF2-40B4-BE49-F238E27FC236}">
                  <a16:creationId xmlns:a16="http://schemas.microsoft.com/office/drawing/2014/main" id="{CDCFBD31-7961-4587-876E-1FAFC4E74AB8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190370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2 w 33"/>
                <a:gd name="T5" fmla="*/ 23 h 40"/>
                <a:gd name="T6" fmla="*/ 7 w 33"/>
                <a:gd name="T7" fmla="*/ 23 h 40"/>
                <a:gd name="T8" fmla="*/ 8 w 33"/>
                <a:gd name="T9" fmla="*/ 28 h 40"/>
                <a:gd name="T10" fmla="*/ 10 w 33"/>
                <a:gd name="T11" fmla="*/ 31 h 40"/>
                <a:gd name="T12" fmla="*/ 13 w 33"/>
                <a:gd name="T13" fmla="*/ 33 h 40"/>
                <a:gd name="T14" fmla="*/ 17 w 33"/>
                <a:gd name="T15" fmla="*/ 33 h 40"/>
                <a:gd name="T16" fmla="*/ 19 w 33"/>
                <a:gd name="T17" fmla="*/ 33 h 40"/>
                <a:gd name="T18" fmla="*/ 21 w 33"/>
                <a:gd name="T19" fmla="*/ 32 h 40"/>
                <a:gd name="T20" fmla="*/ 23 w 33"/>
                <a:gd name="T21" fmla="*/ 32 h 40"/>
                <a:gd name="T22" fmla="*/ 25 w 33"/>
                <a:gd name="T23" fmla="*/ 30 h 40"/>
                <a:gd name="T24" fmla="*/ 29 w 33"/>
                <a:gd name="T25" fmla="*/ 35 h 40"/>
                <a:gd name="T26" fmla="*/ 27 w 33"/>
                <a:gd name="T27" fmla="*/ 37 h 40"/>
                <a:gd name="T28" fmla="*/ 24 w 33"/>
                <a:gd name="T29" fmla="*/ 39 h 40"/>
                <a:gd name="T30" fmla="*/ 20 w 33"/>
                <a:gd name="T31" fmla="*/ 40 h 40"/>
                <a:gd name="T32" fmla="*/ 16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2 w 33"/>
                <a:gd name="T41" fmla="*/ 31 h 40"/>
                <a:gd name="T42" fmla="*/ 0 w 33"/>
                <a:gd name="T43" fmla="*/ 26 h 40"/>
                <a:gd name="T44" fmla="*/ 0 w 33"/>
                <a:gd name="T45" fmla="*/ 20 h 40"/>
                <a:gd name="T46" fmla="*/ 1 w 33"/>
                <a:gd name="T47" fmla="*/ 12 h 40"/>
                <a:gd name="T48" fmla="*/ 4 w 33"/>
                <a:gd name="T49" fmla="*/ 5 h 40"/>
                <a:gd name="T50" fmla="*/ 10 w 33"/>
                <a:gd name="T51" fmla="*/ 1 h 40"/>
                <a:gd name="T52" fmla="*/ 16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5 w 33"/>
                <a:gd name="T63" fmla="*/ 17 h 40"/>
                <a:gd name="T64" fmla="*/ 24 w 33"/>
                <a:gd name="T65" fmla="*/ 13 h 40"/>
                <a:gd name="T66" fmla="*/ 23 w 33"/>
                <a:gd name="T67" fmla="*/ 10 h 40"/>
                <a:gd name="T68" fmla="*/ 20 w 33"/>
                <a:gd name="T69" fmla="*/ 8 h 40"/>
                <a:gd name="T70" fmla="*/ 16 w 33"/>
                <a:gd name="T71" fmla="*/ 7 h 40"/>
                <a:gd name="T72" fmla="*/ 12 w 33"/>
                <a:gd name="T73" fmla="*/ 8 h 40"/>
                <a:gd name="T74" fmla="*/ 10 w 33"/>
                <a:gd name="T75" fmla="*/ 9 h 40"/>
                <a:gd name="T76" fmla="*/ 8 w 33"/>
                <a:gd name="T77" fmla="*/ 12 h 40"/>
                <a:gd name="T78" fmla="*/ 7 w 33"/>
                <a:gd name="T79" fmla="*/ 17 h 40"/>
                <a:gd name="T80" fmla="*/ 25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2" y="22"/>
                    <a:pt x="32" y="22"/>
                    <a:pt x="32" y="23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7" y="25"/>
                    <a:pt x="8" y="26"/>
                    <a:pt x="8" y="28"/>
                  </a:cubicBezTo>
                  <a:cubicBezTo>
                    <a:pt x="9" y="29"/>
                    <a:pt x="10" y="30"/>
                    <a:pt x="10" y="31"/>
                  </a:cubicBezTo>
                  <a:cubicBezTo>
                    <a:pt x="11" y="32"/>
                    <a:pt x="12" y="32"/>
                    <a:pt x="13" y="33"/>
                  </a:cubicBezTo>
                  <a:cubicBezTo>
                    <a:pt x="14" y="33"/>
                    <a:pt x="16" y="33"/>
                    <a:pt x="17" y="33"/>
                  </a:cubicBezTo>
                  <a:cubicBezTo>
                    <a:pt x="18" y="33"/>
                    <a:pt x="18" y="33"/>
                    <a:pt x="19" y="33"/>
                  </a:cubicBezTo>
                  <a:cubicBezTo>
                    <a:pt x="20" y="33"/>
                    <a:pt x="20" y="33"/>
                    <a:pt x="21" y="32"/>
                  </a:cubicBezTo>
                  <a:cubicBezTo>
                    <a:pt x="22" y="32"/>
                    <a:pt x="22" y="32"/>
                    <a:pt x="23" y="32"/>
                  </a:cubicBezTo>
                  <a:cubicBezTo>
                    <a:pt x="23" y="31"/>
                    <a:pt x="24" y="31"/>
                    <a:pt x="25" y="30"/>
                  </a:cubicBezTo>
                  <a:cubicBezTo>
                    <a:pt x="29" y="35"/>
                    <a:pt x="29" y="35"/>
                    <a:pt x="29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6" y="38"/>
                    <a:pt x="25" y="38"/>
                    <a:pt x="24" y="39"/>
                  </a:cubicBezTo>
                  <a:cubicBezTo>
                    <a:pt x="23" y="39"/>
                    <a:pt x="22" y="40"/>
                    <a:pt x="20" y="40"/>
                  </a:cubicBezTo>
                  <a:cubicBezTo>
                    <a:pt x="19" y="40"/>
                    <a:pt x="18" y="40"/>
                    <a:pt x="16" y="40"/>
                  </a:cubicBezTo>
                  <a:cubicBezTo>
                    <a:pt x="15" y="40"/>
                    <a:pt x="13" y="40"/>
                    <a:pt x="12" y="39"/>
                  </a:cubicBezTo>
                  <a:cubicBezTo>
                    <a:pt x="10" y="39"/>
                    <a:pt x="9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3" y="33"/>
                    <a:pt x="2" y="31"/>
                  </a:cubicBezTo>
                  <a:cubicBezTo>
                    <a:pt x="1" y="30"/>
                    <a:pt x="1" y="28"/>
                    <a:pt x="0" y="26"/>
                  </a:cubicBezTo>
                  <a:cubicBezTo>
                    <a:pt x="0" y="24"/>
                    <a:pt x="0" y="22"/>
                    <a:pt x="0" y="20"/>
                  </a:cubicBezTo>
                  <a:cubicBezTo>
                    <a:pt x="0" y="17"/>
                    <a:pt x="0" y="14"/>
                    <a:pt x="1" y="12"/>
                  </a:cubicBezTo>
                  <a:cubicBezTo>
                    <a:pt x="2" y="9"/>
                    <a:pt x="3" y="7"/>
                    <a:pt x="4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4" y="0"/>
                    <a:pt x="16" y="0"/>
                  </a:cubicBezTo>
                  <a:cubicBezTo>
                    <a:pt x="19" y="0"/>
                    <a:pt x="22" y="1"/>
                    <a:pt x="24" y="2"/>
                  </a:cubicBezTo>
                  <a:cubicBezTo>
                    <a:pt x="26" y="3"/>
                    <a:pt x="27" y="4"/>
                    <a:pt x="29" y="6"/>
                  </a:cubicBezTo>
                  <a:cubicBezTo>
                    <a:pt x="30" y="8"/>
                    <a:pt x="31" y="10"/>
                    <a:pt x="32" y="12"/>
                  </a:cubicBezTo>
                  <a:cubicBezTo>
                    <a:pt x="32" y="14"/>
                    <a:pt x="33" y="17"/>
                    <a:pt x="33" y="19"/>
                  </a:cubicBezTo>
                  <a:close/>
                  <a:moveTo>
                    <a:pt x="25" y="17"/>
                  </a:moveTo>
                  <a:cubicBezTo>
                    <a:pt x="25" y="15"/>
                    <a:pt x="25" y="14"/>
                    <a:pt x="24" y="13"/>
                  </a:cubicBezTo>
                  <a:cubicBezTo>
                    <a:pt x="24" y="12"/>
                    <a:pt x="23" y="11"/>
                    <a:pt x="23" y="10"/>
                  </a:cubicBezTo>
                  <a:cubicBezTo>
                    <a:pt x="22" y="9"/>
                    <a:pt x="21" y="8"/>
                    <a:pt x="20" y="8"/>
                  </a:cubicBezTo>
                  <a:cubicBezTo>
                    <a:pt x="19" y="7"/>
                    <a:pt x="17" y="7"/>
                    <a:pt x="16" y="7"/>
                  </a:cubicBezTo>
                  <a:cubicBezTo>
                    <a:pt x="15" y="7"/>
                    <a:pt x="13" y="7"/>
                    <a:pt x="12" y="8"/>
                  </a:cubicBezTo>
                  <a:cubicBezTo>
                    <a:pt x="11" y="8"/>
                    <a:pt x="11" y="9"/>
                    <a:pt x="10" y="9"/>
                  </a:cubicBezTo>
                  <a:cubicBezTo>
                    <a:pt x="9" y="10"/>
                    <a:pt x="9" y="11"/>
                    <a:pt x="8" y="12"/>
                  </a:cubicBezTo>
                  <a:cubicBezTo>
                    <a:pt x="8" y="14"/>
                    <a:pt x="7" y="15"/>
                    <a:pt x="7" y="17"/>
                  </a:cubicBezTo>
                  <a:lnTo>
                    <a:pt x="25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8" name="Freeform 56">
              <a:extLst>
                <a:ext uri="{FF2B5EF4-FFF2-40B4-BE49-F238E27FC236}">
                  <a16:creationId xmlns:a16="http://schemas.microsoft.com/office/drawing/2014/main" id="{52482C08-723A-4738-9787-3516B3C171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294993" y="6418333"/>
              <a:ext cx="55799" cy="101135"/>
            </a:xfrm>
            <a:custGeom>
              <a:avLst/>
              <a:gdLst>
                <a:gd name="T0" fmla="*/ 20 w 22"/>
                <a:gd name="T1" fmla="*/ 9 h 39"/>
                <a:gd name="T2" fmla="*/ 18 w 22"/>
                <a:gd name="T3" fmla="*/ 8 h 39"/>
                <a:gd name="T4" fmla="*/ 15 w 22"/>
                <a:gd name="T5" fmla="*/ 7 h 39"/>
                <a:gd name="T6" fmla="*/ 9 w 22"/>
                <a:gd name="T7" fmla="*/ 10 h 39"/>
                <a:gd name="T8" fmla="*/ 7 w 22"/>
                <a:gd name="T9" fmla="*/ 17 h 39"/>
                <a:gd name="T10" fmla="*/ 7 w 22"/>
                <a:gd name="T11" fmla="*/ 39 h 39"/>
                <a:gd name="T12" fmla="*/ 0 w 22"/>
                <a:gd name="T13" fmla="*/ 39 h 39"/>
                <a:gd name="T14" fmla="*/ 0 w 22"/>
                <a:gd name="T15" fmla="*/ 1 h 39"/>
                <a:gd name="T16" fmla="*/ 7 w 22"/>
                <a:gd name="T17" fmla="*/ 1 h 39"/>
                <a:gd name="T18" fmla="*/ 7 w 22"/>
                <a:gd name="T19" fmla="*/ 5 h 39"/>
                <a:gd name="T20" fmla="*/ 9 w 22"/>
                <a:gd name="T21" fmla="*/ 3 h 39"/>
                <a:gd name="T22" fmla="*/ 11 w 22"/>
                <a:gd name="T23" fmla="*/ 1 h 39"/>
                <a:gd name="T24" fmla="*/ 13 w 22"/>
                <a:gd name="T25" fmla="*/ 0 h 39"/>
                <a:gd name="T26" fmla="*/ 16 w 22"/>
                <a:gd name="T27" fmla="*/ 0 h 39"/>
                <a:gd name="T28" fmla="*/ 20 w 22"/>
                <a:gd name="T29" fmla="*/ 1 h 39"/>
                <a:gd name="T30" fmla="*/ 22 w 22"/>
                <a:gd name="T31" fmla="*/ 2 h 39"/>
                <a:gd name="T32" fmla="*/ 20 w 22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2" h="39">
                  <a:moveTo>
                    <a:pt x="20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7" y="8"/>
                    <a:pt x="16" y="7"/>
                    <a:pt x="15" y="7"/>
                  </a:cubicBezTo>
                  <a:cubicBezTo>
                    <a:pt x="12" y="7"/>
                    <a:pt x="10" y="8"/>
                    <a:pt x="9" y="10"/>
                  </a:cubicBezTo>
                  <a:cubicBezTo>
                    <a:pt x="8" y="12"/>
                    <a:pt x="7" y="14"/>
                    <a:pt x="7" y="17"/>
                  </a:cubicBezTo>
                  <a:cubicBezTo>
                    <a:pt x="7" y="39"/>
                    <a:pt x="7" y="39"/>
                    <a:pt x="7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7" y="1"/>
                    <a:pt x="7" y="1"/>
                    <a:pt x="7" y="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8" y="4"/>
                    <a:pt x="8" y="3"/>
                    <a:pt x="9" y="3"/>
                  </a:cubicBezTo>
                  <a:cubicBezTo>
                    <a:pt x="9" y="2"/>
                    <a:pt x="10" y="2"/>
                    <a:pt x="11" y="1"/>
                  </a:cubicBezTo>
                  <a:cubicBezTo>
                    <a:pt x="11" y="1"/>
                    <a:pt x="12" y="1"/>
                    <a:pt x="13" y="0"/>
                  </a:cubicBezTo>
                  <a:cubicBezTo>
                    <a:pt x="14" y="0"/>
                    <a:pt x="15" y="0"/>
                    <a:pt x="16" y="0"/>
                  </a:cubicBezTo>
                  <a:cubicBezTo>
                    <a:pt x="17" y="0"/>
                    <a:pt x="19" y="0"/>
                    <a:pt x="20" y="1"/>
                  </a:cubicBezTo>
                  <a:cubicBezTo>
                    <a:pt x="21" y="1"/>
                    <a:pt x="22" y="1"/>
                    <a:pt x="22" y="2"/>
                  </a:cubicBezTo>
                  <a:lnTo>
                    <a:pt x="20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39" name="Freeform 57">
              <a:extLst>
                <a:ext uri="{FF2B5EF4-FFF2-40B4-BE49-F238E27FC236}">
                  <a16:creationId xmlns:a16="http://schemas.microsoft.com/office/drawing/2014/main" id="{5B72A8F0-33E3-42CD-88C2-C35BEC0E983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06591" y="6383459"/>
              <a:ext cx="55799" cy="137753"/>
            </a:xfrm>
            <a:custGeom>
              <a:avLst/>
              <a:gdLst>
                <a:gd name="T0" fmla="*/ 21 w 22"/>
                <a:gd name="T1" fmla="*/ 52 h 54"/>
                <a:gd name="T2" fmla="*/ 18 w 22"/>
                <a:gd name="T3" fmla="*/ 54 h 54"/>
                <a:gd name="T4" fmla="*/ 14 w 22"/>
                <a:gd name="T5" fmla="*/ 54 h 54"/>
                <a:gd name="T6" fmla="*/ 10 w 22"/>
                <a:gd name="T7" fmla="*/ 54 h 54"/>
                <a:gd name="T8" fmla="*/ 8 w 22"/>
                <a:gd name="T9" fmla="*/ 52 h 54"/>
                <a:gd name="T10" fmla="*/ 6 w 22"/>
                <a:gd name="T11" fmla="*/ 49 h 54"/>
                <a:gd name="T12" fmla="*/ 5 w 22"/>
                <a:gd name="T13" fmla="*/ 44 h 54"/>
                <a:gd name="T14" fmla="*/ 5 w 22"/>
                <a:gd name="T15" fmla="*/ 22 h 54"/>
                <a:gd name="T16" fmla="*/ 0 w 22"/>
                <a:gd name="T17" fmla="*/ 22 h 54"/>
                <a:gd name="T18" fmla="*/ 0 w 22"/>
                <a:gd name="T19" fmla="*/ 15 h 54"/>
                <a:gd name="T20" fmla="*/ 5 w 22"/>
                <a:gd name="T21" fmla="*/ 15 h 54"/>
                <a:gd name="T22" fmla="*/ 5 w 22"/>
                <a:gd name="T23" fmla="*/ 4 h 54"/>
                <a:gd name="T24" fmla="*/ 13 w 22"/>
                <a:gd name="T25" fmla="*/ 0 h 54"/>
                <a:gd name="T26" fmla="*/ 13 w 22"/>
                <a:gd name="T27" fmla="*/ 15 h 54"/>
                <a:gd name="T28" fmla="*/ 22 w 22"/>
                <a:gd name="T29" fmla="*/ 15 h 54"/>
                <a:gd name="T30" fmla="*/ 22 w 22"/>
                <a:gd name="T31" fmla="*/ 22 h 54"/>
                <a:gd name="T32" fmla="*/ 13 w 22"/>
                <a:gd name="T33" fmla="*/ 22 h 54"/>
                <a:gd name="T34" fmla="*/ 13 w 22"/>
                <a:gd name="T35" fmla="*/ 43 h 54"/>
                <a:gd name="T36" fmla="*/ 13 w 22"/>
                <a:gd name="T37" fmla="*/ 45 h 54"/>
                <a:gd name="T38" fmla="*/ 14 w 22"/>
                <a:gd name="T39" fmla="*/ 46 h 54"/>
                <a:gd name="T40" fmla="*/ 15 w 22"/>
                <a:gd name="T41" fmla="*/ 47 h 54"/>
                <a:gd name="T42" fmla="*/ 17 w 22"/>
                <a:gd name="T43" fmla="*/ 47 h 54"/>
                <a:gd name="T44" fmla="*/ 20 w 22"/>
                <a:gd name="T45" fmla="*/ 47 h 54"/>
                <a:gd name="T46" fmla="*/ 22 w 22"/>
                <a:gd name="T47" fmla="*/ 46 h 54"/>
                <a:gd name="T48" fmla="*/ 21 w 22"/>
                <a:gd name="T49" fmla="*/ 52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2" h="54">
                  <a:moveTo>
                    <a:pt x="21" y="52"/>
                  </a:moveTo>
                  <a:cubicBezTo>
                    <a:pt x="20" y="53"/>
                    <a:pt x="19" y="53"/>
                    <a:pt x="18" y="54"/>
                  </a:cubicBezTo>
                  <a:cubicBezTo>
                    <a:pt x="17" y="54"/>
                    <a:pt x="15" y="54"/>
                    <a:pt x="14" y="54"/>
                  </a:cubicBezTo>
                  <a:cubicBezTo>
                    <a:pt x="13" y="54"/>
                    <a:pt x="11" y="54"/>
                    <a:pt x="10" y="54"/>
                  </a:cubicBezTo>
                  <a:cubicBezTo>
                    <a:pt x="9" y="53"/>
                    <a:pt x="9" y="53"/>
                    <a:pt x="8" y="52"/>
                  </a:cubicBezTo>
                  <a:cubicBezTo>
                    <a:pt x="7" y="51"/>
                    <a:pt x="6" y="50"/>
                    <a:pt x="6" y="49"/>
                  </a:cubicBezTo>
                  <a:cubicBezTo>
                    <a:pt x="5" y="47"/>
                    <a:pt x="5" y="46"/>
                    <a:pt x="5" y="44"/>
                  </a:cubicBezTo>
                  <a:cubicBezTo>
                    <a:pt x="5" y="22"/>
                    <a:pt x="5" y="22"/>
                    <a:pt x="5" y="22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4"/>
                    <a:pt x="5" y="4"/>
                    <a:pt x="5" y="4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3" y="15"/>
                    <a:pt x="13" y="15"/>
                    <a:pt x="13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22"/>
                    <a:pt x="22" y="22"/>
                    <a:pt x="22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3" y="44"/>
                    <a:pt x="13" y="45"/>
                  </a:cubicBezTo>
                  <a:cubicBezTo>
                    <a:pt x="13" y="45"/>
                    <a:pt x="13" y="46"/>
                    <a:pt x="14" y="46"/>
                  </a:cubicBezTo>
                  <a:cubicBezTo>
                    <a:pt x="14" y="47"/>
                    <a:pt x="14" y="47"/>
                    <a:pt x="15" y="47"/>
                  </a:cubicBezTo>
                  <a:cubicBezTo>
                    <a:pt x="15" y="47"/>
                    <a:pt x="16" y="47"/>
                    <a:pt x="17" y="47"/>
                  </a:cubicBezTo>
                  <a:cubicBezTo>
                    <a:pt x="18" y="47"/>
                    <a:pt x="19" y="47"/>
                    <a:pt x="20" y="47"/>
                  </a:cubicBezTo>
                  <a:cubicBezTo>
                    <a:pt x="21" y="46"/>
                    <a:pt x="21" y="46"/>
                    <a:pt x="22" y="46"/>
                  </a:cubicBezTo>
                  <a:lnTo>
                    <a:pt x="21" y="5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0" name="Freeform 58">
              <a:extLst>
                <a:ext uri="{FF2B5EF4-FFF2-40B4-BE49-F238E27FC236}">
                  <a16:creationId xmlns:a16="http://schemas.microsoft.com/office/drawing/2014/main" id="{73FC54A2-6588-499B-968A-79F4CA9CF5F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485058" y="6383459"/>
              <a:ext cx="80211" cy="136010"/>
            </a:xfrm>
            <a:custGeom>
              <a:avLst/>
              <a:gdLst>
                <a:gd name="T0" fmla="*/ 23 w 31"/>
                <a:gd name="T1" fmla="*/ 53 h 53"/>
                <a:gd name="T2" fmla="*/ 23 w 31"/>
                <a:gd name="T3" fmla="*/ 32 h 53"/>
                <a:gd name="T4" fmla="*/ 21 w 31"/>
                <a:gd name="T5" fmla="*/ 24 h 53"/>
                <a:gd name="T6" fmla="*/ 15 w 31"/>
                <a:gd name="T7" fmla="*/ 21 h 53"/>
                <a:gd name="T8" fmla="*/ 12 w 31"/>
                <a:gd name="T9" fmla="*/ 22 h 53"/>
                <a:gd name="T10" fmla="*/ 10 w 31"/>
                <a:gd name="T11" fmla="*/ 24 h 53"/>
                <a:gd name="T12" fmla="*/ 8 w 31"/>
                <a:gd name="T13" fmla="*/ 27 h 53"/>
                <a:gd name="T14" fmla="*/ 7 w 31"/>
                <a:gd name="T15" fmla="*/ 31 h 53"/>
                <a:gd name="T16" fmla="*/ 7 w 31"/>
                <a:gd name="T17" fmla="*/ 53 h 53"/>
                <a:gd name="T18" fmla="*/ 0 w 31"/>
                <a:gd name="T19" fmla="*/ 53 h 53"/>
                <a:gd name="T20" fmla="*/ 0 w 31"/>
                <a:gd name="T21" fmla="*/ 4 h 53"/>
                <a:gd name="T22" fmla="*/ 7 w 31"/>
                <a:gd name="T23" fmla="*/ 0 h 53"/>
                <a:gd name="T24" fmla="*/ 7 w 31"/>
                <a:gd name="T25" fmla="*/ 19 h 53"/>
                <a:gd name="T26" fmla="*/ 9 w 31"/>
                <a:gd name="T27" fmla="*/ 17 h 53"/>
                <a:gd name="T28" fmla="*/ 12 w 31"/>
                <a:gd name="T29" fmla="*/ 15 h 53"/>
                <a:gd name="T30" fmla="*/ 14 w 31"/>
                <a:gd name="T31" fmla="*/ 14 h 53"/>
                <a:gd name="T32" fmla="*/ 17 w 31"/>
                <a:gd name="T33" fmla="*/ 14 h 53"/>
                <a:gd name="T34" fmla="*/ 23 w 31"/>
                <a:gd name="T35" fmla="*/ 15 h 53"/>
                <a:gd name="T36" fmla="*/ 27 w 31"/>
                <a:gd name="T37" fmla="*/ 18 h 53"/>
                <a:gd name="T38" fmla="*/ 30 w 31"/>
                <a:gd name="T39" fmla="*/ 24 h 53"/>
                <a:gd name="T40" fmla="*/ 31 w 31"/>
                <a:gd name="T41" fmla="*/ 31 h 53"/>
                <a:gd name="T42" fmla="*/ 31 w 31"/>
                <a:gd name="T43" fmla="*/ 53 h 53"/>
                <a:gd name="T44" fmla="*/ 23 w 31"/>
                <a:gd name="T45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1" h="53">
                  <a:moveTo>
                    <a:pt x="23" y="53"/>
                  </a:moveTo>
                  <a:cubicBezTo>
                    <a:pt x="23" y="32"/>
                    <a:pt x="23" y="32"/>
                    <a:pt x="23" y="32"/>
                  </a:cubicBezTo>
                  <a:cubicBezTo>
                    <a:pt x="23" y="28"/>
                    <a:pt x="23" y="25"/>
                    <a:pt x="21" y="24"/>
                  </a:cubicBezTo>
                  <a:cubicBezTo>
                    <a:pt x="20" y="22"/>
                    <a:pt x="18" y="21"/>
                    <a:pt x="15" y="21"/>
                  </a:cubicBezTo>
                  <a:cubicBezTo>
                    <a:pt x="14" y="21"/>
                    <a:pt x="13" y="21"/>
                    <a:pt x="12" y="22"/>
                  </a:cubicBezTo>
                  <a:cubicBezTo>
                    <a:pt x="11" y="22"/>
                    <a:pt x="10" y="23"/>
                    <a:pt x="10" y="24"/>
                  </a:cubicBezTo>
                  <a:cubicBezTo>
                    <a:pt x="9" y="24"/>
                    <a:pt x="8" y="25"/>
                    <a:pt x="8" y="27"/>
                  </a:cubicBezTo>
                  <a:cubicBezTo>
                    <a:pt x="8" y="28"/>
                    <a:pt x="7" y="29"/>
                    <a:pt x="7" y="31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7" y="0"/>
                    <a:pt x="7" y="0"/>
                    <a:pt x="7" y="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8" y="18"/>
                    <a:pt x="9" y="17"/>
                    <a:pt x="9" y="17"/>
                  </a:cubicBezTo>
                  <a:cubicBezTo>
                    <a:pt x="10" y="16"/>
                    <a:pt x="11" y="16"/>
                    <a:pt x="12" y="15"/>
                  </a:cubicBezTo>
                  <a:cubicBezTo>
                    <a:pt x="12" y="15"/>
                    <a:pt x="13" y="15"/>
                    <a:pt x="14" y="14"/>
                  </a:cubicBezTo>
                  <a:cubicBezTo>
                    <a:pt x="15" y="14"/>
                    <a:pt x="16" y="14"/>
                    <a:pt x="17" y="14"/>
                  </a:cubicBezTo>
                  <a:cubicBezTo>
                    <a:pt x="19" y="14"/>
                    <a:pt x="21" y="14"/>
                    <a:pt x="23" y="15"/>
                  </a:cubicBezTo>
                  <a:cubicBezTo>
                    <a:pt x="25" y="16"/>
                    <a:pt x="26" y="17"/>
                    <a:pt x="27" y="18"/>
                  </a:cubicBezTo>
                  <a:cubicBezTo>
                    <a:pt x="29" y="20"/>
                    <a:pt x="29" y="22"/>
                    <a:pt x="30" y="24"/>
                  </a:cubicBezTo>
                  <a:cubicBezTo>
                    <a:pt x="31" y="26"/>
                    <a:pt x="31" y="29"/>
                    <a:pt x="31" y="31"/>
                  </a:cubicBezTo>
                  <a:cubicBezTo>
                    <a:pt x="31" y="53"/>
                    <a:pt x="31" y="53"/>
                    <a:pt x="31" y="53"/>
                  </a:cubicBezTo>
                  <a:lnTo>
                    <a:pt x="23" y="5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1" name="Freeform 59">
              <a:extLst>
                <a:ext uri="{FF2B5EF4-FFF2-40B4-BE49-F238E27FC236}">
                  <a16:creationId xmlns:a16="http://schemas.microsoft.com/office/drawing/2014/main" id="{1E6AB002-C130-4648-A18E-BA496FF1756C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582706" y="6418333"/>
              <a:ext cx="83698" cy="102879"/>
            </a:xfrm>
            <a:custGeom>
              <a:avLst/>
              <a:gdLst>
                <a:gd name="T0" fmla="*/ 33 w 33"/>
                <a:gd name="T1" fmla="*/ 19 h 40"/>
                <a:gd name="T2" fmla="*/ 33 w 33"/>
                <a:gd name="T3" fmla="*/ 21 h 40"/>
                <a:gd name="T4" fmla="*/ 33 w 33"/>
                <a:gd name="T5" fmla="*/ 23 h 40"/>
                <a:gd name="T6" fmla="*/ 8 w 33"/>
                <a:gd name="T7" fmla="*/ 23 h 40"/>
                <a:gd name="T8" fmla="*/ 9 w 33"/>
                <a:gd name="T9" fmla="*/ 28 h 40"/>
                <a:gd name="T10" fmla="*/ 11 w 33"/>
                <a:gd name="T11" fmla="*/ 31 h 40"/>
                <a:gd name="T12" fmla="*/ 14 w 33"/>
                <a:gd name="T13" fmla="*/ 33 h 40"/>
                <a:gd name="T14" fmla="*/ 17 w 33"/>
                <a:gd name="T15" fmla="*/ 33 h 40"/>
                <a:gd name="T16" fmla="*/ 20 w 33"/>
                <a:gd name="T17" fmla="*/ 33 h 40"/>
                <a:gd name="T18" fmla="*/ 22 w 33"/>
                <a:gd name="T19" fmla="*/ 32 h 40"/>
                <a:gd name="T20" fmla="*/ 24 w 33"/>
                <a:gd name="T21" fmla="*/ 32 h 40"/>
                <a:gd name="T22" fmla="*/ 26 w 33"/>
                <a:gd name="T23" fmla="*/ 30 h 40"/>
                <a:gd name="T24" fmla="*/ 30 w 33"/>
                <a:gd name="T25" fmla="*/ 35 h 40"/>
                <a:gd name="T26" fmla="*/ 27 w 33"/>
                <a:gd name="T27" fmla="*/ 37 h 40"/>
                <a:gd name="T28" fmla="*/ 25 w 33"/>
                <a:gd name="T29" fmla="*/ 39 h 40"/>
                <a:gd name="T30" fmla="*/ 21 w 33"/>
                <a:gd name="T31" fmla="*/ 40 h 40"/>
                <a:gd name="T32" fmla="*/ 17 w 33"/>
                <a:gd name="T33" fmla="*/ 40 h 40"/>
                <a:gd name="T34" fmla="*/ 12 w 33"/>
                <a:gd name="T35" fmla="*/ 39 h 40"/>
                <a:gd name="T36" fmla="*/ 8 w 33"/>
                <a:gd name="T37" fmla="*/ 38 h 40"/>
                <a:gd name="T38" fmla="*/ 5 w 33"/>
                <a:gd name="T39" fmla="*/ 35 h 40"/>
                <a:gd name="T40" fmla="*/ 3 w 33"/>
                <a:gd name="T41" fmla="*/ 31 h 40"/>
                <a:gd name="T42" fmla="*/ 1 w 33"/>
                <a:gd name="T43" fmla="*/ 26 h 40"/>
                <a:gd name="T44" fmla="*/ 0 w 33"/>
                <a:gd name="T45" fmla="*/ 20 h 40"/>
                <a:gd name="T46" fmla="*/ 2 w 33"/>
                <a:gd name="T47" fmla="*/ 12 h 40"/>
                <a:gd name="T48" fmla="*/ 5 w 33"/>
                <a:gd name="T49" fmla="*/ 5 h 40"/>
                <a:gd name="T50" fmla="*/ 10 w 33"/>
                <a:gd name="T51" fmla="*/ 1 h 40"/>
                <a:gd name="T52" fmla="*/ 17 w 33"/>
                <a:gd name="T53" fmla="*/ 0 h 40"/>
                <a:gd name="T54" fmla="*/ 24 w 33"/>
                <a:gd name="T55" fmla="*/ 2 h 40"/>
                <a:gd name="T56" fmla="*/ 29 w 33"/>
                <a:gd name="T57" fmla="*/ 6 h 40"/>
                <a:gd name="T58" fmla="*/ 32 w 33"/>
                <a:gd name="T59" fmla="*/ 12 h 40"/>
                <a:gd name="T60" fmla="*/ 33 w 33"/>
                <a:gd name="T61" fmla="*/ 19 h 40"/>
                <a:gd name="T62" fmla="*/ 26 w 33"/>
                <a:gd name="T63" fmla="*/ 17 h 40"/>
                <a:gd name="T64" fmla="*/ 25 w 33"/>
                <a:gd name="T65" fmla="*/ 13 h 40"/>
                <a:gd name="T66" fmla="*/ 23 w 33"/>
                <a:gd name="T67" fmla="*/ 10 h 40"/>
                <a:gd name="T68" fmla="*/ 21 w 33"/>
                <a:gd name="T69" fmla="*/ 8 h 40"/>
                <a:gd name="T70" fmla="*/ 17 w 33"/>
                <a:gd name="T71" fmla="*/ 7 h 40"/>
                <a:gd name="T72" fmla="*/ 13 w 33"/>
                <a:gd name="T73" fmla="*/ 8 h 40"/>
                <a:gd name="T74" fmla="*/ 11 w 33"/>
                <a:gd name="T75" fmla="*/ 9 h 40"/>
                <a:gd name="T76" fmla="*/ 9 w 33"/>
                <a:gd name="T77" fmla="*/ 12 h 40"/>
                <a:gd name="T78" fmla="*/ 8 w 33"/>
                <a:gd name="T79" fmla="*/ 17 h 40"/>
                <a:gd name="T80" fmla="*/ 26 w 33"/>
                <a:gd name="T81" fmla="*/ 17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3" h="40">
                  <a:moveTo>
                    <a:pt x="33" y="19"/>
                  </a:moveTo>
                  <a:cubicBezTo>
                    <a:pt x="33" y="20"/>
                    <a:pt x="33" y="21"/>
                    <a:pt x="33" y="21"/>
                  </a:cubicBezTo>
                  <a:cubicBezTo>
                    <a:pt x="33" y="22"/>
                    <a:pt x="33" y="22"/>
                    <a:pt x="33" y="23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25"/>
                    <a:pt x="8" y="26"/>
                    <a:pt x="9" y="28"/>
                  </a:cubicBezTo>
                  <a:cubicBezTo>
                    <a:pt x="10" y="29"/>
                    <a:pt x="10" y="30"/>
                    <a:pt x="11" y="31"/>
                  </a:cubicBezTo>
                  <a:cubicBezTo>
                    <a:pt x="12" y="32"/>
                    <a:pt x="13" y="32"/>
                    <a:pt x="14" y="33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8" y="33"/>
                    <a:pt x="19" y="33"/>
                    <a:pt x="20" y="33"/>
                  </a:cubicBezTo>
                  <a:cubicBezTo>
                    <a:pt x="20" y="33"/>
                    <a:pt x="21" y="33"/>
                    <a:pt x="22" y="32"/>
                  </a:cubicBezTo>
                  <a:cubicBezTo>
                    <a:pt x="23" y="32"/>
                    <a:pt x="23" y="32"/>
                    <a:pt x="24" y="32"/>
                  </a:cubicBezTo>
                  <a:cubicBezTo>
                    <a:pt x="24" y="31"/>
                    <a:pt x="25" y="31"/>
                    <a:pt x="26" y="30"/>
                  </a:cubicBezTo>
                  <a:cubicBezTo>
                    <a:pt x="30" y="35"/>
                    <a:pt x="30" y="35"/>
                    <a:pt x="30" y="35"/>
                  </a:cubicBezTo>
                  <a:cubicBezTo>
                    <a:pt x="29" y="36"/>
                    <a:pt x="28" y="37"/>
                    <a:pt x="27" y="37"/>
                  </a:cubicBezTo>
                  <a:cubicBezTo>
                    <a:pt x="27" y="38"/>
                    <a:pt x="26" y="38"/>
                    <a:pt x="25" y="39"/>
                  </a:cubicBezTo>
                  <a:cubicBezTo>
                    <a:pt x="24" y="39"/>
                    <a:pt x="22" y="40"/>
                    <a:pt x="21" y="40"/>
                  </a:cubicBezTo>
                  <a:cubicBezTo>
                    <a:pt x="20" y="40"/>
                    <a:pt x="18" y="40"/>
                    <a:pt x="17" y="40"/>
                  </a:cubicBezTo>
                  <a:cubicBezTo>
                    <a:pt x="15" y="40"/>
                    <a:pt x="14" y="40"/>
                    <a:pt x="12" y="39"/>
                  </a:cubicBezTo>
                  <a:cubicBezTo>
                    <a:pt x="11" y="39"/>
                    <a:pt x="10" y="38"/>
                    <a:pt x="8" y="38"/>
                  </a:cubicBezTo>
                  <a:cubicBezTo>
                    <a:pt x="7" y="37"/>
                    <a:pt x="6" y="36"/>
                    <a:pt x="5" y="35"/>
                  </a:cubicBezTo>
                  <a:cubicBezTo>
                    <a:pt x="4" y="34"/>
                    <a:pt x="4" y="33"/>
                    <a:pt x="3" y="31"/>
                  </a:cubicBezTo>
                  <a:cubicBezTo>
                    <a:pt x="2" y="30"/>
                    <a:pt x="1" y="28"/>
                    <a:pt x="1" y="26"/>
                  </a:cubicBezTo>
                  <a:cubicBezTo>
                    <a:pt x="1" y="24"/>
                    <a:pt x="0" y="22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6" y="4"/>
                    <a:pt x="8" y="2"/>
                    <a:pt x="10" y="1"/>
                  </a:cubicBezTo>
                  <a:cubicBezTo>
                    <a:pt x="12" y="1"/>
                    <a:pt x="15" y="0"/>
                    <a:pt x="17" y="0"/>
                  </a:cubicBezTo>
                  <a:cubicBezTo>
                    <a:pt x="20" y="0"/>
                    <a:pt x="22" y="1"/>
                    <a:pt x="24" y="2"/>
                  </a:cubicBezTo>
                  <a:cubicBezTo>
                    <a:pt x="26" y="3"/>
                    <a:pt x="28" y="4"/>
                    <a:pt x="29" y="6"/>
                  </a:cubicBezTo>
                  <a:cubicBezTo>
                    <a:pt x="31" y="8"/>
                    <a:pt x="32" y="10"/>
                    <a:pt x="32" y="12"/>
                  </a:cubicBezTo>
                  <a:cubicBezTo>
                    <a:pt x="33" y="14"/>
                    <a:pt x="33" y="17"/>
                    <a:pt x="33" y="19"/>
                  </a:cubicBezTo>
                  <a:close/>
                  <a:moveTo>
                    <a:pt x="26" y="17"/>
                  </a:moveTo>
                  <a:cubicBezTo>
                    <a:pt x="26" y="15"/>
                    <a:pt x="25" y="14"/>
                    <a:pt x="25" y="13"/>
                  </a:cubicBezTo>
                  <a:cubicBezTo>
                    <a:pt x="25" y="12"/>
                    <a:pt x="24" y="11"/>
                    <a:pt x="23" y="10"/>
                  </a:cubicBezTo>
                  <a:cubicBezTo>
                    <a:pt x="23" y="9"/>
                    <a:pt x="22" y="8"/>
                    <a:pt x="21" y="8"/>
                  </a:cubicBezTo>
                  <a:cubicBezTo>
                    <a:pt x="20" y="7"/>
                    <a:pt x="18" y="7"/>
                    <a:pt x="17" y="7"/>
                  </a:cubicBezTo>
                  <a:cubicBezTo>
                    <a:pt x="15" y="7"/>
                    <a:pt x="14" y="7"/>
                    <a:pt x="13" y="8"/>
                  </a:cubicBezTo>
                  <a:cubicBezTo>
                    <a:pt x="12" y="8"/>
                    <a:pt x="11" y="9"/>
                    <a:pt x="11" y="9"/>
                  </a:cubicBezTo>
                  <a:cubicBezTo>
                    <a:pt x="10" y="10"/>
                    <a:pt x="9" y="11"/>
                    <a:pt x="9" y="12"/>
                  </a:cubicBezTo>
                  <a:cubicBezTo>
                    <a:pt x="8" y="14"/>
                    <a:pt x="8" y="15"/>
                    <a:pt x="8" y="17"/>
                  </a:cubicBezTo>
                  <a:lnTo>
                    <a:pt x="26" y="17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2" name="Freeform 60">
              <a:extLst>
                <a:ext uri="{FF2B5EF4-FFF2-40B4-BE49-F238E27FC236}">
                  <a16:creationId xmlns:a16="http://schemas.microsoft.com/office/drawing/2014/main" id="{B0044278-9F7F-4596-96D2-ACFBE0DEC0B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727435" y="6421821"/>
              <a:ext cx="122060" cy="97648"/>
            </a:xfrm>
            <a:custGeom>
              <a:avLst/>
              <a:gdLst>
                <a:gd name="T0" fmla="*/ 56 w 70"/>
                <a:gd name="T1" fmla="*/ 56 h 56"/>
                <a:gd name="T2" fmla="*/ 46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5 w 70"/>
                <a:gd name="T9" fmla="*/ 56 h 56"/>
                <a:gd name="T10" fmla="*/ 0 w 70"/>
                <a:gd name="T11" fmla="*/ 0 h 56"/>
                <a:gd name="T12" fmla="*/ 10 w 70"/>
                <a:gd name="T13" fmla="*/ 0 h 56"/>
                <a:gd name="T14" fmla="*/ 21 w 70"/>
                <a:gd name="T15" fmla="*/ 38 h 56"/>
                <a:gd name="T16" fmla="*/ 31 w 70"/>
                <a:gd name="T17" fmla="*/ 0 h 56"/>
                <a:gd name="T18" fmla="*/ 40 w 70"/>
                <a:gd name="T19" fmla="*/ 0 h 56"/>
                <a:gd name="T20" fmla="*/ 50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6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6" y="56"/>
                  </a:moveTo>
                  <a:lnTo>
                    <a:pt x="46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5" y="56"/>
                  </a:lnTo>
                  <a:lnTo>
                    <a:pt x="0" y="0"/>
                  </a:lnTo>
                  <a:lnTo>
                    <a:pt x="10" y="0"/>
                  </a:lnTo>
                  <a:lnTo>
                    <a:pt x="21" y="38"/>
                  </a:lnTo>
                  <a:lnTo>
                    <a:pt x="31" y="0"/>
                  </a:lnTo>
                  <a:lnTo>
                    <a:pt x="40" y="0"/>
                  </a:lnTo>
                  <a:lnTo>
                    <a:pt x="50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6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3" name="Freeform 61">
              <a:extLst>
                <a:ext uri="{FF2B5EF4-FFF2-40B4-BE49-F238E27FC236}">
                  <a16:creationId xmlns:a16="http://schemas.microsoft.com/office/drawing/2014/main" id="{79F75E0D-27A7-44C1-BF19-495F4768F995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1859957" y="6418333"/>
              <a:ext cx="87186" cy="102879"/>
            </a:xfrm>
            <a:custGeom>
              <a:avLst/>
              <a:gdLst>
                <a:gd name="T0" fmla="*/ 34 w 34"/>
                <a:gd name="T1" fmla="*/ 20 h 40"/>
                <a:gd name="T2" fmla="*/ 33 w 34"/>
                <a:gd name="T3" fmla="*/ 28 h 40"/>
                <a:gd name="T4" fmla="*/ 29 w 34"/>
                <a:gd name="T5" fmla="*/ 35 h 40"/>
                <a:gd name="T6" fmla="*/ 24 w 34"/>
                <a:gd name="T7" fmla="*/ 39 h 40"/>
                <a:gd name="T8" fmla="*/ 17 w 34"/>
                <a:gd name="T9" fmla="*/ 40 h 40"/>
                <a:gd name="T10" fmla="*/ 10 w 34"/>
                <a:gd name="T11" fmla="*/ 39 h 40"/>
                <a:gd name="T12" fmla="*/ 5 w 34"/>
                <a:gd name="T13" fmla="*/ 35 h 40"/>
                <a:gd name="T14" fmla="*/ 1 w 34"/>
                <a:gd name="T15" fmla="*/ 28 h 40"/>
                <a:gd name="T16" fmla="*/ 0 w 34"/>
                <a:gd name="T17" fmla="*/ 20 h 40"/>
                <a:gd name="T18" fmla="*/ 1 w 34"/>
                <a:gd name="T19" fmla="*/ 12 h 40"/>
                <a:gd name="T20" fmla="*/ 5 w 34"/>
                <a:gd name="T21" fmla="*/ 5 h 40"/>
                <a:gd name="T22" fmla="*/ 11 w 34"/>
                <a:gd name="T23" fmla="*/ 1 h 40"/>
                <a:gd name="T24" fmla="*/ 17 w 34"/>
                <a:gd name="T25" fmla="*/ 0 h 40"/>
                <a:gd name="T26" fmla="*/ 24 w 34"/>
                <a:gd name="T27" fmla="*/ 1 h 40"/>
                <a:gd name="T28" fmla="*/ 29 w 34"/>
                <a:gd name="T29" fmla="*/ 5 h 40"/>
                <a:gd name="T30" fmla="*/ 33 w 34"/>
                <a:gd name="T31" fmla="*/ 12 h 40"/>
                <a:gd name="T32" fmla="*/ 34 w 34"/>
                <a:gd name="T33" fmla="*/ 20 h 40"/>
                <a:gd name="T34" fmla="*/ 27 w 34"/>
                <a:gd name="T35" fmla="*/ 20 h 40"/>
                <a:gd name="T36" fmla="*/ 26 w 34"/>
                <a:gd name="T37" fmla="*/ 15 h 40"/>
                <a:gd name="T38" fmla="*/ 24 w 34"/>
                <a:gd name="T39" fmla="*/ 11 h 40"/>
                <a:gd name="T40" fmla="*/ 21 w 34"/>
                <a:gd name="T41" fmla="*/ 8 h 40"/>
                <a:gd name="T42" fmla="*/ 17 w 34"/>
                <a:gd name="T43" fmla="*/ 7 h 40"/>
                <a:gd name="T44" fmla="*/ 13 w 34"/>
                <a:gd name="T45" fmla="*/ 8 h 40"/>
                <a:gd name="T46" fmla="*/ 10 w 34"/>
                <a:gd name="T47" fmla="*/ 11 h 40"/>
                <a:gd name="T48" fmla="*/ 8 w 34"/>
                <a:gd name="T49" fmla="*/ 15 h 40"/>
                <a:gd name="T50" fmla="*/ 8 w 34"/>
                <a:gd name="T51" fmla="*/ 20 h 40"/>
                <a:gd name="T52" fmla="*/ 8 w 34"/>
                <a:gd name="T53" fmla="*/ 26 h 40"/>
                <a:gd name="T54" fmla="*/ 10 w 34"/>
                <a:gd name="T55" fmla="*/ 30 h 40"/>
                <a:gd name="T56" fmla="*/ 13 w 34"/>
                <a:gd name="T57" fmla="*/ 32 h 40"/>
                <a:gd name="T58" fmla="*/ 17 w 34"/>
                <a:gd name="T59" fmla="*/ 33 h 40"/>
                <a:gd name="T60" fmla="*/ 21 w 34"/>
                <a:gd name="T61" fmla="*/ 32 h 40"/>
                <a:gd name="T62" fmla="*/ 24 w 34"/>
                <a:gd name="T63" fmla="*/ 29 h 40"/>
                <a:gd name="T64" fmla="*/ 26 w 34"/>
                <a:gd name="T65" fmla="*/ 25 h 40"/>
                <a:gd name="T66" fmla="*/ 27 w 34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4" h="40">
                  <a:moveTo>
                    <a:pt x="34" y="20"/>
                  </a:moveTo>
                  <a:cubicBezTo>
                    <a:pt x="34" y="23"/>
                    <a:pt x="34" y="26"/>
                    <a:pt x="33" y="28"/>
                  </a:cubicBezTo>
                  <a:cubicBezTo>
                    <a:pt x="32" y="31"/>
                    <a:pt x="31" y="33"/>
                    <a:pt x="29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2" y="40"/>
                    <a:pt x="10" y="39"/>
                  </a:cubicBezTo>
                  <a:cubicBezTo>
                    <a:pt x="8" y="38"/>
                    <a:pt x="6" y="36"/>
                    <a:pt x="5" y="35"/>
                  </a:cubicBezTo>
                  <a:cubicBezTo>
                    <a:pt x="3" y="33"/>
                    <a:pt x="2" y="31"/>
                    <a:pt x="1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1" y="12"/>
                  </a:cubicBezTo>
                  <a:cubicBezTo>
                    <a:pt x="2" y="9"/>
                    <a:pt x="4" y="7"/>
                    <a:pt x="5" y="5"/>
                  </a:cubicBezTo>
                  <a:cubicBezTo>
                    <a:pt x="7" y="4"/>
                    <a:pt x="8" y="2"/>
                    <a:pt x="11" y="1"/>
                  </a:cubicBezTo>
                  <a:cubicBezTo>
                    <a:pt x="13" y="1"/>
                    <a:pt x="15" y="0"/>
                    <a:pt x="17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29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4" y="17"/>
                    <a:pt x="34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3" y="10"/>
                    <a:pt x="22" y="9"/>
                    <a:pt x="21" y="8"/>
                  </a:cubicBezTo>
                  <a:cubicBezTo>
                    <a:pt x="20" y="8"/>
                    <a:pt x="18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9" y="12"/>
                    <a:pt x="9" y="13"/>
                    <a:pt x="8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8" y="26"/>
                  </a:cubicBezTo>
                  <a:cubicBezTo>
                    <a:pt x="9" y="27"/>
                    <a:pt x="10" y="28"/>
                    <a:pt x="10" y="30"/>
                  </a:cubicBezTo>
                  <a:cubicBezTo>
                    <a:pt x="11" y="31"/>
                    <a:pt x="12" y="32"/>
                    <a:pt x="13" y="32"/>
                  </a:cubicBezTo>
                  <a:cubicBezTo>
                    <a:pt x="15" y="33"/>
                    <a:pt x="16" y="33"/>
                    <a:pt x="17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2" y="31"/>
                    <a:pt x="23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4" name="Freeform 62">
              <a:extLst>
                <a:ext uri="{FF2B5EF4-FFF2-40B4-BE49-F238E27FC236}">
                  <a16:creationId xmlns:a16="http://schemas.microsoft.com/office/drawing/2014/main" id="{E5B9E395-C74C-4D98-8911-EE2C765D8BE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1968067" y="6418333"/>
              <a:ext cx="57543" cy="101135"/>
            </a:xfrm>
            <a:custGeom>
              <a:avLst/>
              <a:gdLst>
                <a:gd name="T0" fmla="*/ 21 w 23"/>
                <a:gd name="T1" fmla="*/ 9 h 39"/>
                <a:gd name="T2" fmla="*/ 18 w 23"/>
                <a:gd name="T3" fmla="*/ 8 h 39"/>
                <a:gd name="T4" fmla="*/ 15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9 w 23"/>
                <a:gd name="T21" fmla="*/ 3 h 39"/>
                <a:gd name="T22" fmla="*/ 11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0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19" y="8"/>
                    <a:pt x="18" y="8"/>
                  </a:cubicBezTo>
                  <a:cubicBezTo>
                    <a:pt x="18" y="8"/>
                    <a:pt x="17" y="7"/>
                    <a:pt x="15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8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9" y="3"/>
                  </a:cubicBezTo>
                  <a:cubicBezTo>
                    <a:pt x="10" y="2"/>
                    <a:pt x="11" y="2"/>
                    <a:pt x="11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19" y="0"/>
                    <a:pt x="20" y="1"/>
                  </a:cubicBezTo>
                  <a:cubicBezTo>
                    <a:pt x="21" y="1"/>
                    <a:pt x="22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5" name="Freeform 63">
              <a:extLst>
                <a:ext uri="{FF2B5EF4-FFF2-40B4-BE49-F238E27FC236}">
                  <a16:creationId xmlns:a16="http://schemas.microsoft.com/office/drawing/2014/main" id="{53BB8418-388C-4142-9A80-8BF00A87F7B0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043046" y="6383459"/>
              <a:ext cx="19181" cy="136010"/>
            </a:xfrm>
            <a:custGeom>
              <a:avLst/>
              <a:gdLst>
                <a:gd name="T0" fmla="*/ 0 w 11"/>
                <a:gd name="T1" fmla="*/ 78 h 78"/>
                <a:gd name="T2" fmla="*/ 0 w 11"/>
                <a:gd name="T3" fmla="*/ 6 h 78"/>
                <a:gd name="T4" fmla="*/ 11 w 11"/>
                <a:gd name="T5" fmla="*/ 0 h 78"/>
                <a:gd name="T6" fmla="*/ 11 w 11"/>
                <a:gd name="T7" fmla="*/ 78 h 78"/>
                <a:gd name="T8" fmla="*/ 0 w 11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" h="78">
                  <a:moveTo>
                    <a:pt x="0" y="78"/>
                  </a:moveTo>
                  <a:lnTo>
                    <a:pt x="0" y="6"/>
                  </a:lnTo>
                  <a:lnTo>
                    <a:pt x="11" y="0"/>
                  </a:lnTo>
                  <a:lnTo>
                    <a:pt x="11" y="78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6" name="Freeform 64">
              <a:extLst>
                <a:ext uri="{FF2B5EF4-FFF2-40B4-BE49-F238E27FC236}">
                  <a16:creationId xmlns:a16="http://schemas.microsoft.com/office/drawing/2014/main" id="{0256DB41-B3C1-4FEB-B394-9762C00E7F70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084896" y="6383459"/>
              <a:ext cx="80211" cy="137753"/>
            </a:xfrm>
            <a:custGeom>
              <a:avLst/>
              <a:gdLst>
                <a:gd name="T0" fmla="*/ 24 w 32"/>
                <a:gd name="T1" fmla="*/ 53 h 54"/>
                <a:gd name="T2" fmla="*/ 24 w 32"/>
                <a:gd name="T3" fmla="*/ 50 h 54"/>
                <a:gd name="T4" fmla="*/ 22 w 32"/>
                <a:gd name="T5" fmla="*/ 51 h 54"/>
                <a:gd name="T6" fmla="*/ 20 w 32"/>
                <a:gd name="T7" fmla="*/ 53 h 54"/>
                <a:gd name="T8" fmla="*/ 17 w 32"/>
                <a:gd name="T9" fmla="*/ 54 h 54"/>
                <a:gd name="T10" fmla="*/ 14 w 32"/>
                <a:gd name="T11" fmla="*/ 54 h 54"/>
                <a:gd name="T12" fmla="*/ 9 w 32"/>
                <a:gd name="T13" fmla="*/ 53 h 54"/>
                <a:gd name="T14" fmla="*/ 4 w 32"/>
                <a:gd name="T15" fmla="*/ 49 h 54"/>
                <a:gd name="T16" fmla="*/ 1 w 32"/>
                <a:gd name="T17" fmla="*/ 43 h 54"/>
                <a:gd name="T18" fmla="*/ 0 w 32"/>
                <a:gd name="T19" fmla="*/ 33 h 54"/>
                <a:gd name="T20" fmla="*/ 1 w 32"/>
                <a:gd name="T21" fmla="*/ 25 h 54"/>
                <a:gd name="T22" fmla="*/ 4 w 32"/>
                <a:gd name="T23" fmla="*/ 19 h 54"/>
                <a:gd name="T24" fmla="*/ 9 w 32"/>
                <a:gd name="T25" fmla="*/ 15 h 54"/>
                <a:gd name="T26" fmla="*/ 15 w 32"/>
                <a:gd name="T27" fmla="*/ 14 h 54"/>
                <a:gd name="T28" fmla="*/ 18 w 32"/>
                <a:gd name="T29" fmla="*/ 14 h 54"/>
                <a:gd name="T30" fmla="*/ 20 w 32"/>
                <a:gd name="T31" fmla="*/ 15 h 54"/>
                <a:gd name="T32" fmla="*/ 22 w 32"/>
                <a:gd name="T33" fmla="*/ 17 h 54"/>
                <a:gd name="T34" fmla="*/ 24 w 32"/>
                <a:gd name="T35" fmla="*/ 18 h 54"/>
                <a:gd name="T36" fmla="*/ 24 w 32"/>
                <a:gd name="T37" fmla="*/ 4 h 54"/>
                <a:gd name="T38" fmla="*/ 32 w 32"/>
                <a:gd name="T39" fmla="*/ 0 h 54"/>
                <a:gd name="T40" fmla="*/ 32 w 32"/>
                <a:gd name="T41" fmla="*/ 53 h 54"/>
                <a:gd name="T42" fmla="*/ 24 w 32"/>
                <a:gd name="T43" fmla="*/ 53 h 54"/>
                <a:gd name="T44" fmla="*/ 24 w 32"/>
                <a:gd name="T45" fmla="*/ 26 h 54"/>
                <a:gd name="T46" fmla="*/ 23 w 32"/>
                <a:gd name="T47" fmla="*/ 24 h 54"/>
                <a:gd name="T48" fmla="*/ 21 w 32"/>
                <a:gd name="T49" fmla="*/ 23 h 54"/>
                <a:gd name="T50" fmla="*/ 18 w 32"/>
                <a:gd name="T51" fmla="*/ 22 h 54"/>
                <a:gd name="T52" fmla="*/ 15 w 32"/>
                <a:gd name="T53" fmla="*/ 21 h 54"/>
                <a:gd name="T54" fmla="*/ 9 w 32"/>
                <a:gd name="T55" fmla="*/ 24 h 54"/>
                <a:gd name="T56" fmla="*/ 7 w 32"/>
                <a:gd name="T57" fmla="*/ 33 h 54"/>
                <a:gd name="T58" fmla="*/ 8 w 32"/>
                <a:gd name="T59" fmla="*/ 39 h 54"/>
                <a:gd name="T60" fmla="*/ 9 w 32"/>
                <a:gd name="T61" fmla="*/ 44 h 54"/>
                <a:gd name="T62" fmla="*/ 12 w 32"/>
                <a:gd name="T63" fmla="*/ 46 h 54"/>
                <a:gd name="T64" fmla="*/ 16 w 32"/>
                <a:gd name="T65" fmla="*/ 47 h 54"/>
                <a:gd name="T66" fmla="*/ 18 w 32"/>
                <a:gd name="T67" fmla="*/ 47 h 54"/>
                <a:gd name="T68" fmla="*/ 21 w 32"/>
                <a:gd name="T69" fmla="*/ 46 h 54"/>
                <a:gd name="T70" fmla="*/ 23 w 32"/>
                <a:gd name="T71" fmla="*/ 44 h 54"/>
                <a:gd name="T72" fmla="*/ 24 w 32"/>
                <a:gd name="T73" fmla="*/ 42 h 54"/>
                <a:gd name="T74" fmla="*/ 24 w 32"/>
                <a:gd name="T75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2" h="54">
                  <a:moveTo>
                    <a:pt x="24" y="53"/>
                  </a:moveTo>
                  <a:cubicBezTo>
                    <a:pt x="24" y="50"/>
                    <a:pt x="24" y="50"/>
                    <a:pt x="24" y="50"/>
                  </a:cubicBezTo>
                  <a:cubicBezTo>
                    <a:pt x="24" y="50"/>
                    <a:pt x="23" y="51"/>
                    <a:pt x="22" y="51"/>
                  </a:cubicBezTo>
                  <a:cubicBezTo>
                    <a:pt x="21" y="52"/>
                    <a:pt x="21" y="52"/>
                    <a:pt x="20" y="53"/>
                  </a:cubicBezTo>
                  <a:cubicBezTo>
                    <a:pt x="19" y="53"/>
                    <a:pt x="18" y="54"/>
                    <a:pt x="17" y="54"/>
                  </a:cubicBezTo>
                  <a:cubicBezTo>
                    <a:pt x="16" y="54"/>
                    <a:pt x="15" y="54"/>
                    <a:pt x="14" y="54"/>
                  </a:cubicBezTo>
                  <a:cubicBezTo>
                    <a:pt x="12" y="54"/>
                    <a:pt x="10" y="54"/>
                    <a:pt x="9" y="53"/>
                  </a:cubicBezTo>
                  <a:cubicBezTo>
                    <a:pt x="7" y="52"/>
                    <a:pt x="5" y="51"/>
                    <a:pt x="4" y="49"/>
                  </a:cubicBezTo>
                  <a:cubicBezTo>
                    <a:pt x="3" y="48"/>
                    <a:pt x="1" y="45"/>
                    <a:pt x="1" y="43"/>
                  </a:cubicBezTo>
                  <a:cubicBezTo>
                    <a:pt x="0" y="40"/>
                    <a:pt x="0" y="37"/>
                    <a:pt x="0" y="33"/>
                  </a:cubicBezTo>
                  <a:cubicBezTo>
                    <a:pt x="0" y="30"/>
                    <a:pt x="0" y="27"/>
                    <a:pt x="1" y="25"/>
                  </a:cubicBezTo>
                  <a:cubicBezTo>
                    <a:pt x="2" y="22"/>
                    <a:pt x="3" y="20"/>
                    <a:pt x="4" y="19"/>
                  </a:cubicBezTo>
                  <a:cubicBezTo>
                    <a:pt x="6" y="17"/>
                    <a:pt x="7" y="16"/>
                    <a:pt x="9" y="15"/>
                  </a:cubicBezTo>
                  <a:cubicBezTo>
                    <a:pt x="11" y="14"/>
                    <a:pt x="13" y="14"/>
                    <a:pt x="15" y="14"/>
                  </a:cubicBezTo>
                  <a:cubicBezTo>
                    <a:pt x="16" y="14"/>
                    <a:pt x="17" y="14"/>
                    <a:pt x="18" y="14"/>
                  </a:cubicBezTo>
                  <a:cubicBezTo>
                    <a:pt x="18" y="15"/>
                    <a:pt x="19" y="15"/>
                    <a:pt x="20" y="15"/>
                  </a:cubicBezTo>
                  <a:cubicBezTo>
                    <a:pt x="21" y="16"/>
                    <a:pt x="22" y="16"/>
                    <a:pt x="22" y="17"/>
                  </a:cubicBezTo>
                  <a:cubicBezTo>
                    <a:pt x="23" y="17"/>
                    <a:pt x="24" y="18"/>
                    <a:pt x="24" y="18"/>
                  </a:cubicBezTo>
                  <a:cubicBezTo>
                    <a:pt x="24" y="4"/>
                    <a:pt x="24" y="4"/>
                    <a:pt x="24" y="4"/>
                  </a:cubicBezTo>
                  <a:cubicBezTo>
                    <a:pt x="32" y="0"/>
                    <a:pt x="32" y="0"/>
                    <a:pt x="32" y="0"/>
                  </a:cubicBezTo>
                  <a:cubicBezTo>
                    <a:pt x="32" y="53"/>
                    <a:pt x="32" y="53"/>
                    <a:pt x="32" y="53"/>
                  </a:cubicBezTo>
                  <a:lnTo>
                    <a:pt x="24" y="53"/>
                  </a:lnTo>
                  <a:close/>
                  <a:moveTo>
                    <a:pt x="24" y="26"/>
                  </a:moveTo>
                  <a:cubicBezTo>
                    <a:pt x="24" y="26"/>
                    <a:pt x="23" y="25"/>
                    <a:pt x="23" y="24"/>
                  </a:cubicBezTo>
                  <a:cubicBezTo>
                    <a:pt x="22" y="24"/>
                    <a:pt x="22" y="23"/>
                    <a:pt x="21" y="23"/>
                  </a:cubicBezTo>
                  <a:cubicBezTo>
                    <a:pt x="20" y="22"/>
                    <a:pt x="19" y="22"/>
                    <a:pt x="18" y="22"/>
                  </a:cubicBezTo>
                  <a:cubicBezTo>
                    <a:pt x="17" y="21"/>
                    <a:pt x="16" y="21"/>
                    <a:pt x="15" y="21"/>
                  </a:cubicBezTo>
                  <a:cubicBezTo>
                    <a:pt x="13" y="21"/>
                    <a:pt x="11" y="22"/>
                    <a:pt x="9" y="24"/>
                  </a:cubicBezTo>
                  <a:cubicBezTo>
                    <a:pt x="8" y="26"/>
                    <a:pt x="7" y="29"/>
                    <a:pt x="7" y="33"/>
                  </a:cubicBezTo>
                  <a:cubicBezTo>
                    <a:pt x="7" y="36"/>
                    <a:pt x="7" y="38"/>
                    <a:pt x="8" y="39"/>
                  </a:cubicBezTo>
                  <a:cubicBezTo>
                    <a:pt x="8" y="41"/>
                    <a:pt x="9" y="43"/>
                    <a:pt x="9" y="44"/>
                  </a:cubicBezTo>
                  <a:cubicBezTo>
                    <a:pt x="10" y="45"/>
                    <a:pt x="11" y="46"/>
                    <a:pt x="12" y="46"/>
                  </a:cubicBezTo>
                  <a:cubicBezTo>
                    <a:pt x="13" y="47"/>
                    <a:pt x="14" y="47"/>
                    <a:pt x="16" y="47"/>
                  </a:cubicBezTo>
                  <a:cubicBezTo>
                    <a:pt x="17" y="47"/>
                    <a:pt x="18" y="47"/>
                    <a:pt x="18" y="47"/>
                  </a:cubicBezTo>
                  <a:cubicBezTo>
                    <a:pt x="19" y="46"/>
                    <a:pt x="20" y="46"/>
                    <a:pt x="21" y="46"/>
                  </a:cubicBezTo>
                  <a:cubicBezTo>
                    <a:pt x="21" y="45"/>
                    <a:pt x="22" y="45"/>
                    <a:pt x="23" y="44"/>
                  </a:cubicBezTo>
                  <a:cubicBezTo>
                    <a:pt x="23" y="43"/>
                    <a:pt x="24" y="43"/>
                    <a:pt x="24" y="42"/>
                  </a:cubicBezTo>
                  <a:lnTo>
                    <a:pt x="24" y="2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7" name="Freeform 65">
              <a:extLst>
                <a:ext uri="{FF2B5EF4-FFF2-40B4-BE49-F238E27FC236}">
                  <a16:creationId xmlns:a16="http://schemas.microsoft.com/office/drawing/2014/main" id="{F2BC9C1F-3F30-47A6-B503-20FB179B7F3A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229624" y="6421821"/>
              <a:ext cx="122060" cy="97648"/>
            </a:xfrm>
            <a:custGeom>
              <a:avLst/>
              <a:gdLst>
                <a:gd name="T0" fmla="*/ 55 w 70"/>
                <a:gd name="T1" fmla="*/ 56 h 56"/>
                <a:gd name="T2" fmla="*/ 45 w 70"/>
                <a:gd name="T3" fmla="*/ 56 h 56"/>
                <a:gd name="T4" fmla="*/ 35 w 70"/>
                <a:gd name="T5" fmla="*/ 16 h 56"/>
                <a:gd name="T6" fmla="*/ 25 w 70"/>
                <a:gd name="T7" fmla="*/ 56 h 56"/>
                <a:gd name="T8" fmla="*/ 16 w 70"/>
                <a:gd name="T9" fmla="*/ 56 h 56"/>
                <a:gd name="T10" fmla="*/ 0 w 70"/>
                <a:gd name="T11" fmla="*/ 0 h 56"/>
                <a:gd name="T12" fmla="*/ 12 w 70"/>
                <a:gd name="T13" fmla="*/ 0 h 56"/>
                <a:gd name="T14" fmla="*/ 20 w 70"/>
                <a:gd name="T15" fmla="*/ 38 h 56"/>
                <a:gd name="T16" fmla="*/ 31 w 70"/>
                <a:gd name="T17" fmla="*/ 0 h 56"/>
                <a:gd name="T18" fmla="*/ 39 w 70"/>
                <a:gd name="T19" fmla="*/ 0 h 56"/>
                <a:gd name="T20" fmla="*/ 51 w 70"/>
                <a:gd name="T21" fmla="*/ 38 h 56"/>
                <a:gd name="T22" fmla="*/ 60 w 70"/>
                <a:gd name="T23" fmla="*/ 0 h 56"/>
                <a:gd name="T24" fmla="*/ 70 w 70"/>
                <a:gd name="T25" fmla="*/ 0 h 56"/>
                <a:gd name="T26" fmla="*/ 55 w 70"/>
                <a:gd name="T2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0" h="56">
                  <a:moveTo>
                    <a:pt x="55" y="56"/>
                  </a:moveTo>
                  <a:lnTo>
                    <a:pt x="45" y="56"/>
                  </a:lnTo>
                  <a:lnTo>
                    <a:pt x="35" y="16"/>
                  </a:lnTo>
                  <a:lnTo>
                    <a:pt x="25" y="56"/>
                  </a:lnTo>
                  <a:lnTo>
                    <a:pt x="16" y="56"/>
                  </a:lnTo>
                  <a:lnTo>
                    <a:pt x="0" y="0"/>
                  </a:lnTo>
                  <a:lnTo>
                    <a:pt x="12" y="0"/>
                  </a:lnTo>
                  <a:lnTo>
                    <a:pt x="20" y="38"/>
                  </a:lnTo>
                  <a:lnTo>
                    <a:pt x="31" y="0"/>
                  </a:lnTo>
                  <a:lnTo>
                    <a:pt x="39" y="0"/>
                  </a:lnTo>
                  <a:lnTo>
                    <a:pt x="51" y="38"/>
                  </a:lnTo>
                  <a:lnTo>
                    <a:pt x="60" y="0"/>
                  </a:lnTo>
                  <a:lnTo>
                    <a:pt x="70" y="0"/>
                  </a:lnTo>
                  <a:lnTo>
                    <a:pt x="55" y="56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8" name="Freeform 66">
              <a:extLst>
                <a:ext uri="{FF2B5EF4-FFF2-40B4-BE49-F238E27FC236}">
                  <a16:creationId xmlns:a16="http://schemas.microsoft.com/office/drawing/2014/main" id="{F2E1921C-CA0E-4886-93CA-956A6497CF03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2362147" y="6418333"/>
              <a:ext cx="88930" cy="102879"/>
            </a:xfrm>
            <a:custGeom>
              <a:avLst/>
              <a:gdLst>
                <a:gd name="T0" fmla="*/ 35 w 35"/>
                <a:gd name="T1" fmla="*/ 20 h 40"/>
                <a:gd name="T2" fmla="*/ 33 w 35"/>
                <a:gd name="T3" fmla="*/ 28 h 40"/>
                <a:gd name="T4" fmla="*/ 30 w 35"/>
                <a:gd name="T5" fmla="*/ 35 h 40"/>
                <a:gd name="T6" fmla="*/ 24 w 35"/>
                <a:gd name="T7" fmla="*/ 39 h 40"/>
                <a:gd name="T8" fmla="*/ 17 w 35"/>
                <a:gd name="T9" fmla="*/ 40 h 40"/>
                <a:gd name="T10" fmla="*/ 11 w 35"/>
                <a:gd name="T11" fmla="*/ 39 h 40"/>
                <a:gd name="T12" fmla="*/ 5 w 35"/>
                <a:gd name="T13" fmla="*/ 35 h 40"/>
                <a:gd name="T14" fmla="*/ 2 w 35"/>
                <a:gd name="T15" fmla="*/ 28 h 40"/>
                <a:gd name="T16" fmla="*/ 0 w 35"/>
                <a:gd name="T17" fmla="*/ 20 h 40"/>
                <a:gd name="T18" fmla="*/ 2 w 35"/>
                <a:gd name="T19" fmla="*/ 12 h 40"/>
                <a:gd name="T20" fmla="*/ 5 w 35"/>
                <a:gd name="T21" fmla="*/ 5 h 40"/>
                <a:gd name="T22" fmla="*/ 11 w 35"/>
                <a:gd name="T23" fmla="*/ 1 h 40"/>
                <a:gd name="T24" fmla="*/ 18 w 35"/>
                <a:gd name="T25" fmla="*/ 0 h 40"/>
                <a:gd name="T26" fmla="*/ 24 w 35"/>
                <a:gd name="T27" fmla="*/ 1 h 40"/>
                <a:gd name="T28" fmla="*/ 30 w 35"/>
                <a:gd name="T29" fmla="*/ 5 h 40"/>
                <a:gd name="T30" fmla="*/ 33 w 35"/>
                <a:gd name="T31" fmla="*/ 12 h 40"/>
                <a:gd name="T32" fmla="*/ 35 w 35"/>
                <a:gd name="T33" fmla="*/ 20 h 40"/>
                <a:gd name="T34" fmla="*/ 27 w 35"/>
                <a:gd name="T35" fmla="*/ 20 h 40"/>
                <a:gd name="T36" fmla="*/ 26 w 35"/>
                <a:gd name="T37" fmla="*/ 15 h 40"/>
                <a:gd name="T38" fmla="*/ 24 w 35"/>
                <a:gd name="T39" fmla="*/ 11 h 40"/>
                <a:gd name="T40" fmla="*/ 21 w 35"/>
                <a:gd name="T41" fmla="*/ 8 h 40"/>
                <a:gd name="T42" fmla="*/ 17 w 35"/>
                <a:gd name="T43" fmla="*/ 7 h 40"/>
                <a:gd name="T44" fmla="*/ 13 w 35"/>
                <a:gd name="T45" fmla="*/ 8 h 40"/>
                <a:gd name="T46" fmla="*/ 10 w 35"/>
                <a:gd name="T47" fmla="*/ 11 h 40"/>
                <a:gd name="T48" fmla="*/ 9 w 35"/>
                <a:gd name="T49" fmla="*/ 15 h 40"/>
                <a:gd name="T50" fmla="*/ 8 w 35"/>
                <a:gd name="T51" fmla="*/ 20 h 40"/>
                <a:gd name="T52" fmla="*/ 9 w 35"/>
                <a:gd name="T53" fmla="*/ 26 h 40"/>
                <a:gd name="T54" fmla="*/ 11 w 35"/>
                <a:gd name="T55" fmla="*/ 30 h 40"/>
                <a:gd name="T56" fmla="*/ 14 w 35"/>
                <a:gd name="T57" fmla="*/ 32 h 40"/>
                <a:gd name="T58" fmla="*/ 18 w 35"/>
                <a:gd name="T59" fmla="*/ 33 h 40"/>
                <a:gd name="T60" fmla="*/ 21 w 35"/>
                <a:gd name="T61" fmla="*/ 32 h 40"/>
                <a:gd name="T62" fmla="*/ 24 w 35"/>
                <a:gd name="T63" fmla="*/ 29 h 40"/>
                <a:gd name="T64" fmla="*/ 26 w 35"/>
                <a:gd name="T65" fmla="*/ 25 h 40"/>
                <a:gd name="T66" fmla="*/ 27 w 35"/>
                <a:gd name="T67" fmla="*/ 2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5" h="40">
                  <a:moveTo>
                    <a:pt x="35" y="20"/>
                  </a:moveTo>
                  <a:cubicBezTo>
                    <a:pt x="35" y="23"/>
                    <a:pt x="34" y="26"/>
                    <a:pt x="33" y="28"/>
                  </a:cubicBezTo>
                  <a:cubicBezTo>
                    <a:pt x="32" y="31"/>
                    <a:pt x="31" y="33"/>
                    <a:pt x="30" y="35"/>
                  </a:cubicBezTo>
                  <a:cubicBezTo>
                    <a:pt x="28" y="37"/>
                    <a:pt x="26" y="38"/>
                    <a:pt x="24" y="39"/>
                  </a:cubicBezTo>
                  <a:cubicBezTo>
                    <a:pt x="22" y="40"/>
                    <a:pt x="20" y="40"/>
                    <a:pt x="17" y="40"/>
                  </a:cubicBezTo>
                  <a:cubicBezTo>
                    <a:pt x="15" y="40"/>
                    <a:pt x="13" y="40"/>
                    <a:pt x="11" y="39"/>
                  </a:cubicBezTo>
                  <a:cubicBezTo>
                    <a:pt x="8" y="38"/>
                    <a:pt x="7" y="36"/>
                    <a:pt x="5" y="35"/>
                  </a:cubicBezTo>
                  <a:cubicBezTo>
                    <a:pt x="4" y="33"/>
                    <a:pt x="2" y="31"/>
                    <a:pt x="2" y="28"/>
                  </a:cubicBezTo>
                  <a:cubicBezTo>
                    <a:pt x="1" y="26"/>
                    <a:pt x="0" y="23"/>
                    <a:pt x="0" y="20"/>
                  </a:cubicBezTo>
                  <a:cubicBezTo>
                    <a:pt x="0" y="17"/>
                    <a:pt x="1" y="14"/>
                    <a:pt x="2" y="12"/>
                  </a:cubicBezTo>
                  <a:cubicBezTo>
                    <a:pt x="3" y="9"/>
                    <a:pt x="4" y="7"/>
                    <a:pt x="5" y="5"/>
                  </a:cubicBezTo>
                  <a:cubicBezTo>
                    <a:pt x="7" y="4"/>
                    <a:pt x="9" y="2"/>
                    <a:pt x="11" y="1"/>
                  </a:cubicBezTo>
                  <a:cubicBezTo>
                    <a:pt x="13" y="1"/>
                    <a:pt x="15" y="0"/>
                    <a:pt x="18" y="0"/>
                  </a:cubicBezTo>
                  <a:cubicBezTo>
                    <a:pt x="20" y="0"/>
                    <a:pt x="22" y="1"/>
                    <a:pt x="24" y="1"/>
                  </a:cubicBezTo>
                  <a:cubicBezTo>
                    <a:pt x="26" y="2"/>
                    <a:pt x="28" y="4"/>
                    <a:pt x="30" y="5"/>
                  </a:cubicBezTo>
                  <a:cubicBezTo>
                    <a:pt x="31" y="7"/>
                    <a:pt x="32" y="9"/>
                    <a:pt x="33" y="12"/>
                  </a:cubicBezTo>
                  <a:cubicBezTo>
                    <a:pt x="34" y="14"/>
                    <a:pt x="35" y="17"/>
                    <a:pt x="35" y="20"/>
                  </a:cubicBezTo>
                  <a:close/>
                  <a:moveTo>
                    <a:pt x="27" y="20"/>
                  </a:moveTo>
                  <a:cubicBezTo>
                    <a:pt x="27" y="18"/>
                    <a:pt x="27" y="16"/>
                    <a:pt x="26" y="15"/>
                  </a:cubicBezTo>
                  <a:cubicBezTo>
                    <a:pt x="26" y="13"/>
                    <a:pt x="25" y="12"/>
                    <a:pt x="24" y="11"/>
                  </a:cubicBezTo>
                  <a:cubicBezTo>
                    <a:pt x="24" y="10"/>
                    <a:pt x="23" y="9"/>
                    <a:pt x="21" y="8"/>
                  </a:cubicBezTo>
                  <a:cubicBezTo>
                    <a:pt x="20" y="8"/>
                    <a:pt x="19" y="7"/>
                    <a:pt x="17" y="7"/>
                  </a:cubicBezTo>
                  <a:cubicBezTo>
                    <a:pt x="16" y="7"/>
                    <a:pt x="14" y="8"/>
                    <a:pt x="13" y="8"/>
                  </a:cubicBezTo>
                  <a:cubicBezTo>
                    <a:pt x="12" y="9"/>
                    <a:pt x="11" y="10"/>
                    <a:pt x="10" y="11"/>
                  </a:cubicBezTo>
                  <a:cubicBezTo>
                    <a:pt x="10" y="12"/>
                    <a:pt x="9" y="13"/>
                    <a:pt x="9" y="15"/>
                  </a:cubicBezTo>
                  <a:cubicBezTo>
                    <a:pt x="8" y="16"/>
                    <a:pt x="8" y="18"/>
                    <a:pt x="8" y="20"/>
                  </a:cubicBezTo>
                  <a:cubicBezTo>
                    <a:pt x="8" y="22"/>
                    <a:pt x="8" y="24"/>
                    <a:pt x="9" y="26"/>
                  </a:cubicBezTo>
                  <a:cubicBezTo>
                    <a:pt x="9" y="27"/>
                    <a:pt x="10" y="28"/>
                    <a:pt x="11" y="30"/>
                  </a:cubicBezTo>
                  <a:cubicBezTo>
                    <a:pt x="11" y="31"/>
                    <a:pt x="12" y="32"/>
                    <a:pt x="14" y="32"/>
                  </a:cubicBezTo>
                  <a:cubicBezTo>
                    <a:pt x="15" y="33"/>
                    <a:pt x="16" y="33"/>
                    <a:pt x="18" y="33"/>
                  </a:cubicBezTo>
                  <a:cubicBezTo>
                    <a:pt x="19" y="33"/>
                    <a:pt x="20" y="33"/>
                    <a:pt x="21" y="32"/>
                  </a:cubicBezTo>
                  <a:cubicBezTo>
                    <a:pt x="23" y="31"/>
                    <a:pt x="24" y="30"/>
                    <a:pt x="24" y="29"/>
                  </a:cubicBezTo>
                  <a:cubicBezTo>
                    <a:pt x="25" y="28"/>
                    <a:pt x="26" y="27"/>
                    <a:pt x="26" y="25"/>
                  </a:cubicBezTo>
                  <a:cubicBezTo>
                    <a:pt x="27" y="24"/>
                    <a:pt x="27" y="22"/>
                    <a:pt x="27" y="2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49" name="Freeform 67">
              <a:extLst>
                <a:ext uri="{FF2B5EF4-FFF2-40B4-BE49-F238E27FC236}">
                  <a16:creationId xmlns:a16="http://schemas.microsoft.com/office/drawing/2014/main" id="{33147323-CD74-4B45-8B3D-9FC2D6ABC4D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468514" y="6418333"/>
              <a:ext cx="59286" cy="101135"/>
            </a:xfrm>
            <a:custGeom>
              <a:avLst/>
              <a:gdLst>
                <a:gd name="T0" fmla="*/ 21 w 23"/>
                <a:gd name="T1" fmla="*/ 9 h 39"/>
                <a:gd name="T2" fmla="*/ 19 w 23"/>
                <a:gd name="T3" fmla="*/ 8 h 39"/>
                <a:gd name="T4" fmla="*/ 16 w 23"/>
                <a:gd name="T5" fmla="*/ 7 h 39"/>
                <a:gd name="T6" fmla="*/ 10 w 23"/>
                <a:gd name="T7" fmla="*/ 10 h 39"/>
                <a:gd name="T8" fmla="*/ 8 w 23"/>
                <a:gd name="T9" fmla="*/ 17 h 39"/>
                <a:gd name="T10" fmla="*/ 8 w 23"/>
                <a:gd name="T11" fmla="*/ 39 h 39"/>
                <a:gd name="T12" fmla="*/ 0 w 23"/>
                <a:gd name="T13" fmla="*/ 39 h 39"/>
                <a:gd name="T14" fmla="*/ 0 w 23"/>
                <a:gd name="T15" fmla="*/ 1 h 39"/>
                <a:gd name="T16" fmla="*/ 8 w 23"/>
                <a:gd name="T17" fmla="*/ 1 h 39"/>
                <a:gd name="T18" fmla="*/ 8 w 23"/>
                <a:gd name="T19" fmla="*/ 5 h 39"/>
                <a:gd name="T20" fmla="*/ 10 w 23"/>
                <a:gd name="T21" fmla="*/ 3 h 39"/>
                <a:gd name="T22" fmla="*/ 12 w 23"/>
                <a:gd name="T23" fmla="*/ 1 h 39"/>
                <a:gd name="T24" fmla="*/ 14 w 23"/>
                <a:gd name="T25" fmla="*/ 0 h 39"/>
                <a:gd name="T26" fmla="*/ 17 w 23"/>
                <a:gd name="T27" fmla="*/ 0 h 39"/>
                <a:gd name="T28" fmla="*/ 21 w 23"/>
                <a:gd name="T29" fmla="*/ 1 h 39"/>
                <a:gd name="T30" fmla="*/ 23 w 23"/>
                <a:gd name="T31" fmla="*/ 2 h 39"/>
                <a:gd name="T32" fmla="*/ 21 w 23"/>
                <a:gd name="T33" fmla="*/ 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3" h="39">
                  <a:moveTo>
                    <a:pt x="21" y="9"/>
                  </a:moveTo>
                  <a:cubicBezTo>
                    <a:pt x="20" y="8"/>
                    <a:pt x="20" y="8"/>
                    <a:pt x="19" y="8"/>
                  </a:cubicBezTo>
                  <a:cubicBezTo>
                    <a:pt x="18" y="8"/>
                    <a:pt x="17" y="7"/>
                    <a:pt x="16" y="7"/>
                  </a:cubicBezTo>
                  <a:cubicBezTo>
                    <a:pt x="13" y="7"/>
                    <a:pt x="11" y="8"/>
                    <a:pt x="10" y="10"/>
                  </a:cubicBezTo>
                  <a:cubicBezTo>
                    <a:pt x="9" y="12"/>
                    <a:pt x="8" y="14"/>
                    <a:pt x="8" y="17"/>
                  </a:cubicBezTo>
                  <a:cubicBezTo>
                    <a:pt x="8" y="39"/>
                    <a:pt x="8" y="39"/>
                    <a:pt x="8" y="39"/>
                  </a:cubicBezTo>
                  <a:cubicBezTo>
                    <a:pt x="0" y="39"/>
                    <a:pt x="0" y="39"/>
                    <a:pt x="0" y="39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8" y="1"/>
                    <a:pt x="8" y="1"/>
                    <a:pt x="8" y="1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8" y="4"/>
                    <a:pt x="9" y="3"/>
                    <a:pt x="10" y="3"/>
                  </a:cubicBezTo>
                  <a:cubicBezTo>
                    <a:pt x="10" y="2"/>
                    <a:pt x="11" y="2"/>
                    <a:pt x="12" y="1"/>
                  </a:cubicBezTo>
                  <a:cubicBezTo>
                    <a:pt x="12" y="1"/>
                    <a:pt x="13" y="1"/>
                    <a:pt x="14" y="0"/>
                  </a:cubicBezTo>
                  <a:cubicBezTo>
                    <a:pt x="15" y="0"/>
                    <a:pt x="16" y="0"/>
                    <a:pt x="17" y="0"/>
                  </a:cubicBezTo>
                  <a:cubicBezTo>
                    <a:pt x="18" y="0"/>
                    <a:pt x="20" y="0"/>
                    <a:pt x="21" y="1"/>
                  </a:cubicBezTo>
                  <a:cubicBezTo>
                    <a:pt x="22" y="1"/>
                    <a:pt x="23" y="1"/>
                    <a:pt x="23" y="2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0" name="Freeform 68">
              <a:extLst>
                <a:ext uri="{FF2B5EF4-FFF2-40B4-BE49-F238E27FC236}">
                  <a16:creationId xmlns:a16="http://schemas.microsoft.com/office/drawing/2014/main" id="{646502BE-8655-4E99-B8D3-19E6C1D2B9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545237" y="6383459"/>
              <a:ext cx="76723" cy="136010"/>
            </a:xfrm>
            <a:custGeom>
              <a:avLst/>
              <a:gdLst>
                <a:gd name="T0" fmla="*/ 31 w 44"/>
                <a:gd name="T1" fmla="*/ 78 h 78"/>
                <a:gd name="T2" fmla="*/ 19 w 44"/>
                <a:gd name="T3" fmla="*/ 50 h 78"/>
                <a:gd name="T4" fmla="*/ 10 w 44"/>
                <a:gd name="T5" fmla="*/ 61 h 78"/>
                <a:gd name="T6" fmla="*/ 10 w 44"/>
                <a:gd name="T7" fmla="*/ 78 h 78"/>
                <a:gd name="T8" fmla="*/ 0 w 44"/>
                <a:gd name="T9" fmla="*/ 78 h 78"/>
                <a:gd name="T10" fmla="*/ 0 w 44"/>
                <a:gd name="T11" fmla="*/ 6 h 78"/>
                <a:gd name="T12" fmla="*/ 10 w 44"/>
                <a:gd name="T13" fmla="*/ 0 h 78"/>
                <a:gd name="T14" fmla="*/ 10 w 44"/>
                <a:gd name="T15" fmla="*/ 47 h 78"/>
                <a:gd name="T16" fmla="*/ 28 w 44"/>
                <a:gd name="T17" fmla="*/ 22 h 78"/>
                <a:gd name="T18" fmla="*/ 41 w 44"/>
                <a:gd name="T19" fmla="*/ 22 h 78"/>
                <a:gd name="T20" fmla="*/ 26 w 44"/>
                <a:gd name="T21" fmla="*/ 41 h 78"/>
                <a:gd name="T22" fmla="*/ 44 w 44"/>
                <a:gd name="T23" fmla="*/ 78 h 78"/>
                <a:gd name="T24" fmla="*/ 31 w 44"/>
                <a:gd name="T25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" h="78">
                  <a:moveTo>
                    <a:pt x="31" y="78"/>
                  </a:moveTo>
                  <a:lnTo>
                    <a:pt x="19" y="50"/>
                  </a:lnTo>
                  <a:lnTo>
                    <a:pt x="10" y="61"/>
                  </a:lnTo>
                  <a:lnTo>
                    <a:pt x="10" y="78"/>
                  </a:lnTo>
                  <a:lnTo>
                    <a:pt x="0" y="78"/>
                  </a:lnTo>
                  <a:lnTo>
                    <a:pt x="0" y="6"/>
                  </a:lnTo>
                  <a:lnTo>
                    <a:pt x="10" y="0"/>
                  </a:lnTo>
                  <a:lnTo>
                    <a:pt x="10" y="47"/>
                  </a:lnTo>
                  <a:lnTo>
                    <a:pt x="28" y="22"/>
                  </a:lnTo>
                  <a:lnTo>
                    <a:pt x="41" y="22"/>
                  </a:lnTo>
                  <a:lnTo>
                    <a:pt x="26" y="41"/>
                  </a:lnTo>
                  <a:lnTo>
                    <a:pt x="44" y="78"/>
                  </a:lnTo>
                  <a:lnTo>
                    <a:pt x="31" y="7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1" name="Freeform 69">
              <a:extLst>
                <a:ext uri="{FF2B5EF4-FFF2-40B4-BE49-F238E27FC236}">
                  <a16:creationId xmlns:a16="http://schemas.microsoft.com/office/drawing/2014/main" id="{7B89F1B5-6B06-45D2-838B-039A44EFFD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628936" y="6418333"/>
              <a:ext cx="74980" cy="102879"/>
            </a:xfrm>
            <a:custGeom>
              <a:avLst/>
              <a:gdLst>
                <a:gd name="T0" fmla="*/ 28 w 29"/>
                <a:gd name="T1" fmla="*/ 4 h 40"/>
                <a:gd name="T2" fmla="*/ 25 w 29"/>
                <a:gd name="T3" fmla="*/ 10 h 40"/>
                <a:gd name="T4" fmla="*/ 20 w 29"/>
                <a:gd name="T5" fmla="*/ 8 h 40"/>
                <a:gd name="T6" fmla="*/ 15 w 29"/>
                <a:gd name="T7" fmla="*/ 7 h 40"/>
                <a:gd name="T8" fmla="*/ 11 w 29"/>
                <a:gd name="T9" fmla="*/ 8 h 40"/>
                <a:gd name="T10" fmla="*/ 9 w 29"/>
                <a:gd name="T11" fmla="*/ 10 h 40"/>
                <a:gd name="T12" fmla="*/ 10 w 29"/>
                <a:gd name="T13" fmla="*/ 12 h 40"/>
                <a:gd name="T14" fmla="*/ 11 w 29"/>
                <a:gd name="T15" fmla="*/ 13 h 40"/>
                <a:gd name="T16" fmla="*/ 13 w 29"/>
                <a:gd name="T17" fmla="*/ 14 h 40"/>
                <a:gd name="T18" fmla="*/ 17 w 29"/>
                <a:gd name="T19" fmla="*/ 16 h 40"/>
                <a:gd name="T20" fmla="*/ 22 w 29"/>
                <a:gd name="T21" fmla="*/ 18 h 40"/>
                <a:gd name="T22" fmla="*/ 26 w 29"/>
                <a:gd name="T23" fmla="*/ 21 h 40"/>
                <a:gd name="T24" fmla="*/ 29 w 29"/>
                <a:gd name="T25" fmla="*/ 24 h 40"/>
                <a:gd name="T26" fmla="*/ 29 w 29"/>
                <a:gd name="T27" fmla="*/ 29 h 40"/>
                <a:gd name="T28" fmla="*/ 28 w 29"/>
                <a:gd name="T29" fmla="*/ 34 h 40"/>
                <a:gd name="T30" fmla="*/ 25 w 29"/>
                <a:gd name="T31" fmla="*/ 38 h 40"/>
                <a:gd name="T32" fmla="*/ 21 w 29"/>
                <a:gd name="T33" fmla="*/ 40 h 40"/>
                <a:gd name="T34" fmla="*/ 15 w 29"/>
                <a:gd name="T35" fmla="*/ 40 h 40"/>
                <a:gd name="T36" fmla="*/ 7 w 29"/>
                <a:gd name="T37" fmla="*/ 39 h 40"/>
                <a:gd name="T38" fmla="*/ 0 w 29"/>
                <a:gd name="T39" fmla="*/ 35 h 40"/>
                <a:gd name="T40" fmla="*/ 4 w 29"/>
                <a:gd name="T41" fmla="*/ 30 h 40"/>
                <a:gd name="T42" fmla="*/ 9 w 29"/>
                <a:gd name="T43" fmla="*/ 32 h 40"/>
                <a:gd name="T44" fmla="*/ 15 w 29"/>
                <a:gd name="T45" fmla="*/ 33 h 40"/>
                <a:gd name="T46" fmla="*/ 20 w 29"/>
                <a:gd name="T47" fmla="*/ 32 h 40"/>
                <a:gd name="T48" fmla="*/ 22 w 29"/>
                <a:gd name="T49" fmla="*/ 29 h 40"/>
                <a:gd name="T50" fmla="*/ 21 w 29"/>
                <a:gd name="T51" fmla="*/ 27 h 40"/>
                <a:gd name="T52" fmla="*/ 20 w 29"/>
                <a:gd name="T53" fmla="*/ 26 h 40"/>
                <a:gd name="T54" fmla="*/ 17 w 29"/>
                <a:gd name="T55" fmla="*/ 24 h 40"/>
                <a:gd name="T56" fmla="*/ 13 w 29"/>
                <a:gd name="T57" fmla="*/ 23 h 40"/>
                <a:gd name="T58" fmla="*/ 8 w 29"/>
                <a:gd name="T59" fmla="*/ 20 h 40"/>
                <a:gd name="T60" fmla="*/ 4 w 29"/>
                <a:gd name="T61" fmla="*/ 18 h 40"/>
                <a:gd name="T62" fmla="*/ 2 w 29"/>
                <a:gd name="T63" fmla="*/ 15 h 40"/>
                <a:gd name="T64" fmla="*/ 2 w 29"/>
                <a:gd name="T65" fmla="*/ 11 h 40"/>
                <a:gd name="T66" fmla="*/ 3 w 29"/>
                <a:gd name="T67" fmla="*/ 6 h 40"/>
                <a:gd name="T68" fmla="*/ 6 w 29"/>
                <a:gd name="T69" fmla="*/ 3 h 40"/>
                <a:gd name="T70" fmla="*/ 10 w 29"/>
                <a:gd name="T71" fmla="*/ 1 h 40"/>
                <a:gd name="T72" fmla="*/ 15 w 29"/>
                <a:gd name="T73" fmla="*/ 0 h 40"/>
                <a:gd name="T74" fmla="*/ 22 w 29"/>
                <a:gd name="T75" fmla="*/ 1 h 40"/>
                <a:gd name="T76" fmla="*/ 28 w 29"/>
                <a:gd name="T77" fmla="*/ 4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29" h="40">
                  <a:moveTo>
                    <a:pt x="28" y="4"/>
                  </a:moveTo>
                  <a:cubicBezTo>
                    <a:pt x="25" y="10"/>
                    <a:pt x="25" y="10"/>
                    <a:pt x="25" y="10"/>
                  </a:cubicBezTo>
                  <a:cubicBezTo>
                    <a:pt x="23" y="9"/>
                    <a:pt x="22" y="8"/>
                    <a:pt x="20" y="8"/>
                  </a:cubicBezTo>
                  <a:cubicBezTo>
                    <a:pt x="18" y="7"/>
                    <a:pt x="17" y="7"/>
                    <a:pt x="15" y="7"/>
                  </a:cubicBezTo>
                  <a:cubicBezTo>
                    <a:pt x="13" y="7"/>
                    <a:pt x="12" y="7"/>
                    <a:pt x="11" y="8"/>
                  </a:cubicBezTo>
                  <a:cubicBezTo>
                    <a:pt x="10" y="8"/>
                    <a:pt x="9" y="9"/>
                    <a:pt x="9" y="10"/>
                  </a:cubicBezTo>
                  <a:cubicBezTo>
                    <a:pt x="9" y="11"/>
                    <a:pt x="10" y="11"/>
                    <a:pt x="10" y="12"/>
                  </a:cubicBezTo>
                  <a:cubicBezTo>
                    <a:pt x="10" y="12"/>
                    <a:pt x="10" y="13"/>
                    <a:pt x="11" y="13"/>
                  </a:cubicBezTo>
                  <a:cubicBezTo>
                    <a:pt x="11" y="13"/>
                    <a:pt x="12" y="14"/>
                    <a:pt x="13" y="14"/>
                  </a:cubicBezTo>
                  <a:cubicBezTo>
                    <a:pt x="14" y="15"/>
                    <a:pt x="15" y="15"/>
                    <a:pt x="17" y="16"/>
                  </a:cubicBezTo>
                  <a:cubicBezTo>
                    <a:pt x="19" y="17"/>
                    <a:pt x="21" y="18"/>
                    <a:pt x="22" y="18"/>
                  </a:cubicBezTo>
                  <a:cubicBezTo>
                    <a:pt x="24" y="19"/>
                    <a:pt x="25" y="20"/>
                    <a:pt x="26" y="21"/>
                  </a:cubicBezTo>
                  <a:cubicBezTo>
                    <a:pt x="27" y="22"/>
                    <a:pt x="28" y="23"/>
                    <a:pt x="29" y="24"/>
                  </a:cubicBezTo>
                  <a:cubicBezTo>
                    <a:pt x="29" y="25"/>
                    <a:pt x="29" y="27"/>
                    <a:pt x="29" y="29"/>
                  </a:cubicBezTo>
                  <a:cubicBezTo>
                    <a:pt x="29" y="31"/>
                    <a:pt x="29" y="33"/>
                    <a:pt x="28" y="34"/>
                  </a:cubicBezTo>
                  <a:cubicBezTo>
                    <a:pt x="28" y="36"/>
                    <a:pt x="26" y="37"/>
                    <a:pt x="25" y="38"/>
                  </a:cubicBezTo>
                  <a:cubicBezTo>
                    <a:pt x="24" y="39"/>
                    <a:pt x="22" y="39"/>
                    <a:pt x="21" y="40"/>
                  </a:cubicBezTo>
                  <a:cubicBezTo>
                    <a:pt x="19" y="40"/>
                    <a:pt x="17" y="40"/>
                    <a:pt x="15" y="40"/>
                  </a:cubicBezTo>
                  <a:cubicBezTo>
                    <a:pt x="13" y="40"/>
                    <a:pt x="10" y="40"/>
                    <a:pt x="7" y="39"/>
                  </a:cubicBezTo>
                  <a:cubicBezTo>
                    <a:pt x="5" y="38"/>
                    <a:pt x="2" y="37"/>
                    <a:pt x="0" y="35"/>
                  </a:cubicBezTo>
                  <a:cubicBezTo>
                    <a:pt x="4" y="30"/>
                    <a:pt x="4" y="30"/>
                    <a:pt x="4" y="30"/>
                  </a:cubicBezTo>
                  <a:cubicBezTo>
                    <a:pt x="6" y="31"/>
                    <a:pt x="7" y="32"/>
                    <a:pt x="9" y="32"/>
                  </a:cubicBezTo>
                  <a:cubicBezTo>
                    <a:pt x="11" y="33"/>
                    <a:pt x="13" y="33"/>
                    <a:pt x="15" y="33"/>
                  </a:cubicBezTo>
                  <a:cubicBezTo>
                    <a:pt x="17" y="33"/>
                    <a:pt x="19" y="33"/>
                    <a:pt x="20" y="32"/>
                  </a:cubicBezTo>
                  <a:cubicBezTo>
                    <a:pt x="21" y="31"/>
                    <a:pt x="22" y="30"/>
                    <a:pt x="22" y="29"/>
                  </a:cubicBezTo>
                  <a:cubicBezTo>
                    <a:pt x="22" y="28"/>
                    <a:pt x="22" y="28"/>
                    <a:pt x="21" y="27"/>
                  </a:cubicBezTo>
                  <a:cubicBezTo>
                    <a:pt x="21" y="27"/>
                    <a:pt x="20" y="26"/>
                    <a:pt x="20" y="26"/>
                  </a:cubicBezTo>
                  <a:cubicBezTo>
                    <a:pt x="19" y="25"/>
                    <a:pt x="18" y="25"/>
                    <a:pt x="17" y="24"/>
                  </a:cubicBezTo>
                  <a:cubicBezTo>
                    <a:pt x="16" y="24"/>
                    <a:pt x="15" y="23"/>
                    <a:pt x="13" y="23"/>
                  </a:cubicBezTo>
                  <a:cubicBezTo>
                    <a:pt x="11" y="22"/>
                    <a:pt x="9" y="21"/>
                    <a:pt x="8" y="20"/>
                  </a:cubicBezTo>
                  <a:cubicBezTo>
                    <a:pt x="6" y="19"/>
                    <a:pt x="5" y="19"/>
                    <a:pt x="4" y="18"/>
                  </a:cubicBezTo>
                  <a:cubicBezTo>
                    <a:pt x="3" y="17"/>
                    <a:pt x="3" y="16"/>
                    <a:pt x="2" y="15"/>
                  </a:cubicBezTo>
                  <a:cubicBezTo>
                    <a:pt x="2" y="13"/>
                    <a:pt x="2" y="12"/>
                    <a:pt x="2" y="11"/>
                  </a:cubicBezTo>
                  <a:cubicBezTo>
                    <a:pt x="2" y="9"/>
                    <a:pt x="2" y="7"/>
                    <a:pt x="3" y="6"/>
                  </a:cubicBezTo>
                  <a:cubicBezTo>
                    <a:pt x="3" y="5"/>
                    <a:pt x="4" y="4"/>
                    <a:pt x="6" y="3"/>
                  </a:cubicBezTo>
                  <a:cubicBezTo>
                    <a:pt x="7" y="2"/>
                    <a:pt x="8" y="1"/>
                    <a:pt x="10" y="1"/>
                  </a:cubicBezTo>
                  <a:cubicBezTo>
                    <a:pt x="11" y="0"/>
                    <a:pt x="13" y="0"/>
                    <a:pt x="15" y="0"/>
                  </a:cubicBezTo>
                  <a:cubicBezTo>
                    <a:pt x="17" y="0"/>
                    <a:pt x="20" y="0"/>
                    <a:pt x="22" y="1"/>
                  </a:cubicBezTo>
                  <a:cubicBezTo>
                    <a:pt x="24" y="2"/>
                    <a:pt x="26" y="3"/>
                    <a:pt x="28" y="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  <p:sp>
          <p:nvSpPr>
            <p:cNvPr id="252" name="Freeform 70">
              <a:extLst>
                <a:ext uri="{FF2B5EF4-FFF2-40B4-BE49-F238E27FC236}">
                  <a16:creationId xmlns:a16="http://schemas.microsoft.com/office/drawing/2014/main" id="{07A005EC-C937-4146-8D02-C00C5931EBCD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2723096" y="6489826"/>
              <a:ext cx="27899" cy="31387"/>
            </a:xfrm>
            <a:custGeom>
              <a:avLst/>
              <a:gdLst>
                <a:gd name="T0" fmla="*/ 11 w 11"/>
                <a:gd name="T1" fmla="*/ 6 h 12"/>
                <a:gd name="T2" fmla="*/ 11 w 11"/>
                <a:gd name="T3" fmla="*/ 9 h 12"/>
                <a:gd name="T4" fmla="*/ 10 w 11"/>
                <a:gd name="T5" fmla="*/ 10 h 12"/>
                <a:gd name="T6" fmla="*/ 8 w 11"/>
                <a:gd name="T7" fmla="*/ 12 h 12"/>
                <a:gd name="T8" fmla="*/ 6 w 11"/>
                <a:gd name="T9" fmla="*/ 12 h 12"/>
                <a:gd name="T10" fmla="*/ 3 w 11"/>
                <a:gd name="T11" fmla="*/ 12 h 12"/>
                <a:gd name="T12" fmla="*/ 1 w 11"/>
                <a:gd name="T13" fmla="*/ 10 h 12"/>
                <a:gd name="T14" fmla="*/ 0 w 11"/>
                <a:gd name="T15" fmla="*/ 9 h 12"/>
                <a:gd name="T16" fmla="*/ 0 w 11"/>
                <a:gd name="T17" fmla="*/ 6 h 12"/>
                <a:gd name="T18" fmla="*/ 0 w 11"/>
                <a:gd name="T19" fmla="*/ 4 h 12"/>
                <a:gd name="T20" fmla="*/ 1 w 11"/>
                <a:gd name="T21" fmla="*/ 2 h 12"/>
                <a:gd name="T22" fmla="*/ 3 w 11"/>
                <a:gd name="T23" fmla="*/ 1 h 12"/>
                <a:gd name="T24" fmla="*/ 6 w 11"/>
                <a:gd name="T25" fmla="*/ 0 h 12"/>
                <a:gd name="T26" fmla="*/ 8 w 11"/>
                <a:gd name="T27" fmla="*/ 1 h 12"/>
                <a:gd name="T28" fmla="*/ 10 w 11"/>
                <a:gd name="T29" fmla="*/ 2 h 12"/>
                <a:gd name="T30" fmla="*/ 11 w 11"/>
                <a:gd name="T31" fmla="*/ 4 h 12"/>
                <a:gd name="T32" fmla="*/ 11 w 11"/>
                <a:gd name="T33" fmla="*/ 6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" h="12">
                  <a:moveTo>
                    <a:pt x="11" y="6"/>
                  </a:moveTo>
                  <a:cubicBezTo>
                    <a:pt x="11" y="7"/>
                    <a:pt x="11" y="8"/>
                    <a:pt x="11" y="9"/>
                  </a:cubicBezTo>
                  <a:cubicBezTo>
                    <a:pt x="11" y="9"/>
                    <a:pt x="10" y="10"/>
                    <a:pt x="10" y="10"/>
                  </a:cubicBezTo>
                  <a:cubicBezTo>
                    <a:pt x="9" y="11"/>
                    <a:pt x="9" y="11"/>
                    <a:pt x="8" y="12"/>
                  </a:cubicBezTo>
                  <a:cubicBezTo>
                    <a:pt x="7" y="12"/>
                    <a:pt x="6" y="12"/>
                    <a:pt x="6" y="12"/>
                  </a:cubicBezTo>
                  <a:cubicBezTo>
                    <a:pt x="5" y="12"/>
                    <a:pt x="4" y="12"/>
                    <a:pt x="3" y="12"/>
                  </a:cubicBezTo>
                  <a:cubicBezTo>
                    <a:pt x="3" y="11"/>
                    <a:pt x="2" y="11"/>
                    <a:pt x="1" y="10"/>
                  </a:cubicBezTo>
                  <a:cubicBezTo>
                    <a:pt x="1" y="10"/>
                    <a:pt x="1" y="9"/>
                    <a:pt x="0" y="9"/>
                  </a:cubicBezTo>
                  <a:cubicBezTo>
                    <a:pt x="0" y="8"/>
                    <a:pt x="0" y="7"/>
                    <a:pt x="0" y="6"/>
                  </a:cubicBezTo>
                  <a:cubicBezTo>
                    <a:pt x="0" y="6"/>
                    <a:pt x="0" y="5"/>
                    <a:pt x="0" y="4"/>
                  </a:cubicBezTo>
                  <a:cubicBezTo>
                    <a:pt x="1" y="3"/>
                    <a:pt x="1" y="3"/>
                    <a:pt x="1" y="2"/>
                  </a:cubicBezTo>
                  <a:cubicBezTo>
                    <a:pt x="2" y="2"/>
                    <a:pt x="3" y="1"/>
                    <a:pt x="3" y="1"/>
                  </a:cubicBezTo>
                  <a:cubicBezTo>
                    <a:pt x="4" y="1"/>
                    <a:pt x="5" y="0"/>
                    <a:pt x="6" y="0"/>
                  </a:cubicBezTo>
                  <a:cubicBezTo>
                    <a:pt x="6" y="0"/>
                    <a:pt x="7" y="1"/>
                    <a:pt x="8" y="1"/>
                  </a:cubicBezTo>
                  <a:cubicBezTo>
                    <a:pt x="9" y="1"/>
                    <a:pt x="9" y="2"/>
                    <a:pt x="10" y="2"/>
                  </a:cubicBezTo>
                  <a:cubicBezTo>
                    <a:pt x="10" y="3"/>
                    <a:pt x="11" y="3"/>
                    <a:pt x="11" y="4"/>
                  </a:cubicBezTo>
                  <a:cubicBezTo>
                    <a:pt x="11" y="5"/>
                    <a:pt x="11" y="6"/>
                    <a:pt x="11" y="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>
                <a:solidFill>
                  <a:schemeClr val="bg1"/>
                </a:solidFill>
              </a:endParaRPr>
            </a:p>
          </p:txBody>
        </p:sp>
      </p:grpSp>
      <p:sp>
        <p:nvSpPr>
          <p:cNvPr id="263" name="Title 1">
            <a:extLst>
              <a:ext uri="{FF2B5EF4-FFF2-40B4-BE49-F238E27FC236}">
                <a16:creationId xmlns:a16="http://schemas.microsoft.com/office/drawing/2014/main" id="{3F36D6CC-3534-47CC-AECE-83EDA4639F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44880" y="2158329"/>
            <a:ext cx="4000436" cy="860400"/>
          </a:xfrm>
          <a:prstGeom prst="rect">
            <a:avLst/>
          </a:prstGeom>
        </p:spPr>
        <p:txBody>
          <a:bodyPr/>
          <a:lstStyle>
            <a:lvl1pPr>
              <a:defRPr sz="2999" b="0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264" name="Subtitle 2">
            <a:extLst>
              <a:ext uri="{FF2B5EF4-FFF2-40B4-BE49-F238E27FC236}">
                <a16:creationId xmlns:a16="http://schemas.microsoft.com/office/drawing/2014/main" id="{C26FB38E-4E99-4AFB-8C8C-F03F7A963D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5072" y="3200329"/>
            <a:ext cx="4020628" cy="64574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1999">
                <a:solidFill>
                  <a:schemeClr val="bg1"/>
                </a:solidFill>
                <a:latin typeface="EYInterstate Light" panose="02000506000000020004" pitchFamily="2" charset="0"/>
                <a:cs typeface="Arial" pitchFamily="34" charset="0"/>
              </a:defRPr>
            </a:lvl1pPr>
            <a:lvl2pPr marL="0" indent="0" algn="l">
              <a:buNone/>
              <a:defRPr sz="1599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3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09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7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48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182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5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subtitle style</a:t>
            </a:r>
            <a:endParaRPr lang="en-GB" dirty="0"/>
          </a:p>
        </p:txBody>
      </p: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E95BC52-A56D-4358-A294-750179EBB698}"/>
              </a:ext>
            </a:extLst>
          </p:cNvPr>
          <p:cNvGrpSpPr/>
          <p:nvPr userDrawn="1"/>
        </p:nvGrpSpPr>
        <p:grpSpPr>
          <a:xfrm>
            <a:off x="489367" y="876060"/>
            <a:ext cx="4855295" cy="3374475"/>
            <a:chOff x="6855933" y="899048"/>
            <a:chExt cx="4855295" cy="3374475"/>
          </a:xfrm>
          <a:solidFill>
            <a:schemeClr val="tx2"/>
          </a:solidFill>
        </p:grpSpPr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ECBD2AD5-9A79-4CFE-A808-769ADC8898F3}"/>
                </a:ext>
              </a:extLst>
            </p:cNvPr>
            <p:cNvSpPr/>
            <p:nvPr/>
          </p:nvSpPr>
          <p:spPr>
            <a:xfrm>
              <a:off x="6855933" y="899048"/>
              <a:ext cx="4855295" cy="3374475"/>
            </a:xfrm>
            <a:custGeom>
              <a:avLst/>
              <a:gdLst>
                <a:gd name="connsiteX0" fmla="*/ 6731 w 4855294"/>
                <a:gd name="connsiteY0" fmla="*/ 863542 h 3374474"/>
                <a:gd name="connsiteX1" fmla="*/ 6731 w 4855294"/>
                <a:gd name="connsiteY1" fmla="*/ 3095901 h 3374474"/>
                <a:gd name="connsiteX2" fmla="*/ 145659 w 4855294"/>
                <a:gd name="connsiteY2" fmla="*/ 3095901 h 3374474"/>
                <a:gd name="connsiteX3" fmla="*/ 145659 w 4855294"/>
                <a:gd name="connsiteY3" fmla="*/ 988380 h 3374474"/>
                <a:gd name="connsiteX4" fmla="*/ 4715918 w 4855294"/>
                <a:gd name="connsiteY4" fmla="*/ 179673 h 3374474"/>
                <a:gd name="connsiteX5" fmla="*/ 4715918 w 4855294"/>
                <a:gd name="connsiteY5" fmla="*/ 3234829 h 3374474"/>
                <a:gd name="connsiteX6" fmla="*/ 840208 w 4855294"/>
                <a:gd name="connsiteY6" fmla="*/ 3234829 h 3374474"/>
                <a:gd name="connsiteX7" fmla="*/ 840208 w 4855294"/>
                <a:gd name="connsiteY7" fmla="*/ 3373757 h 3374474"/>
                <a:gd name="connsiteX8" fmla="*/ 4854846 w 4855294"/>
                <a:gd name="connsiteY8" fmla="*/ 3373757 h 3374474"/>
                <a:gd name="connsiteX9" fmla="*/ 4854846 w 4855294"/>
                <a:gd name="connsiteY9" fmla="*/ 6731 h 3374474"/>
                <a:gd name="connsiteX10" fmla="*/ 6731 w 4855294"/>
                <a:gd name="connsiteY10" fmla="*/ 863542 h 33744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4855294" h="3374474">
                  <a:moveTo>
                    <a:pt x="6731" y="863542"/>
                  </a:moveTo>
                  <a:lnTo>
                    <a:pt x="6731" y="3095901"/>
                  </a:lnTo>
                  <a:lnTo>
                    <a:pt x="145659" y="3095901"/>
                  </a:lnTo>
                  <a:lnTo>
                    <a:pt x="145659" y="988380"/>
                  </a:lnTo>
                  <a:lnTo>
                    <a:pt x="4715918" y="179673"/>
                  </a:lnTo>
                  <a:lnTo>
                    <a:pt x="4715918" y="3234829"/>
                  </a:lnTo>
                  <a:lnTo>
                    <a:pt x="840208" y="3234829"/>
                  </a:lnTo>
                  <a:lnTo>
                    <a:pt x="840208" y="3373757"/>
                  </a:lnTo>
                  <a:lnTo>
                    <a:pt x="4854846" y="3373757"/>
                  </a:lnTo>
                  <a:lnTo>
                    <a:pt x="4854846" y="6731"/>
                  </a:lnTo>
                  <a:lnTo>
                    <a:pt x="6731" y="863542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EE673CB-A779-4F64-B72D-93428DD2B26D}"/>
                </a:ext>
              </a:extLst>
            </p:cNvPr>
            <p:cNvSpPr/>
            <p:nvPr/>
          </p:nvSpPr>
          <p:spPr>
            <a:xfrm>
              <a:off x="6855933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88144C98-507D-403B-8819-FBBF64A82FA3}"/>
                </a:ext>
              </a:extLst>
            </p:cNvPr>
            <p:cNvSpPr/>
            <p:nvPr/>
          </p:nvSpPr>
          <p:spPr>
            <a:xfrm>
              <a:off x="7133789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21919CB3-2430-4DA6-BF41-59A1EF9C03CB}"/>
                </a:ext>
              </a:extLst>
            </p:cNvPr>
            <p:cNvSpPr/>
            <p:nvPr/>
          </p:nvSpPr>
          <p:spPr>
            <a:xfrm>
              <a:off x="7411555" y="4127146"/>
              <a:ext cx="143595" cy="143595"/>
            </a:xfrm>
            <a:custGeom>
              <a:avLst/>
              <a:gdLst>
                <a:gd name="connsiteX0" fmla="*/ 6731 w 143594"/>
                <a:gd name="connsiteY0" fmla="*/ 6731 h 143594"/>
                <a:gd name="connsiteX1" fmla="*/ 145659 w 143594"/>
                <a:gd name="connsiteY1" fmla="*/ 6731 h 143594"/>
                <a:gd name="connsiteX2" fmla="*/ 145659 w 143594"/>
                <a:gd name="connsiteY2" fmla="*/ 145659 h 143594"/>
                <a:gd name="connsiteX3" fmla="*/ 6731 w 143594"/>
                <a:gd name="connsiteY3" fmla="*/ 145659 h 143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43594" h="143594">
                  <a:moveTo>
                    <a:pt x="6731" y="6731"/>
                  </a:moveTo>
                  <a:lnTo>
                    <a:pt x="145659" y="6731"/>
                  </a:lnTo>
                  <a:lnTo>
                    <a:pt x="145659" y="145659"/>
                  </a:lnTo>
                  <a:lnTo>
                    <a:pt x="6731" y="145659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sz="1799"/>
            </a:p>
          </p:txBody>
        </p:sp>
      </p:grpSp>
      <p:grpSp>
        <p:nvGrpSpPr>
          <p:cNvPr id="82" name="Group 4">
            <a:extLst>
              <a:ext uri="{FF2B5EF4-FFF2-40B4-BE49-F238E27FC236}">
                <a16:creationId xmlns:a16="http://schemas.microsoft.com/office/drawing/2014/main" id="{C5FADEE5-07C4-41A9-88D6-C6D2ED1362B8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364788" y="4960938"/>
            <a:ext cx="1225550" cy="1435100"/>
            <a:chOff x="6529" y="3125"/>
            <a:chExt cx="772" cy="904"/>
          </a:xfrm>
        </p:grpSpPr>
        <p:sp>
          <p:nvSpPr>
            <p:cNvPr id="83" name="Freeform 5">
              <a:extLst>
                <a:ext uri="{FF2B5EF4-FFF2-40B4-BE49-F238E27FC236}">
                  <a16:creationId xmlns:a16="http://schemas.microsoft.com/office/drawing/2014/main" id="{5A2C465B-7D43-431D-A35E-50762E7696F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529" y="3125"/>
              <a:ext cx="619" cy="226"/>
            </a:xfrm>
            <a:custGeom>
              <a:avLst/>
              <a:gdLst>
                <a:gd name="T0" fmla="*/ 2473 w 2473"/>
                <a:gd name="T1" fmla="*/ 0 h 902"/>
                <a:gd name="T2" fmla="*/ 0 w 2473"/>
                <a:gd name="T3" fmla="*/ 902 h 902"/>
                <a:gd name="T4" fmla="*/ 2473 w 2473"/>
                <a:gd name="T5" fmla="*/ 466 h 902"/>
                <a:gd name="T6" fmla="*/ 2473 w 2473"/>
                <a:gd name="T7" fmla="*/ 0 h 9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473" h="902">
                  <a:moveTo>
                    <a:pt x="2473" y="0"/>
                  </a:moveTo>
                  <a:lnTo>
                    <a:pt x="0" y="902"/>
                  </a:lnTo>
                  <a:lnTo>
                    <a:pt x="2473" y="466"/>
                  </a:lnTo>
                  <a:lnTo>
                    <a:pt x="247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84" name="Freeform 6">
              <a:extLst>
                <a:ext uri="{FF2B5EF4-FFF2-40B4-BE49-F238E27FC236}">
                  <a16:creationId xmlns:a16="http://schemas.microsoft.com/office/drawing/2014/main" id="{AC35E6C1-71A8-4C9D-A1A5-682B0BD0A03F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529" y="3444"/>
              <a:ext cx="772" cy="585"/>
            </a:xfrm>
            <a:custGeom>
              <a:avLst/>
              <a:gdLst>
                <a:gd name="T0" fmla="*/ 233 w 3088"/>
                <a:gd name="T1" fmla="*/ 1588 h 2339"/>
                <a:gd name="T2" fmla="*/ 253 w 3088"/>
                <a:gd name="T3" fmla="*/ 1795 h 2339"/>
                <a:gd name="T4" fmla="*/ 151 w 3088"/>
                <a:gd name="T5" fmla="*/ 1810 h 2339"/>
                <a:gd name="T6" fmla="*/ 351 w 3088"/>
                <a:gd name="T7" fmla="*/ 1761 h 2339"/>
                <a:gd name="T8" fmla="*/ 416 w 3088"/>
                <a:gd name="T9" fmla="*/ 1857 h 2339"/>
                <a:gd name="T10" fmla="*/ 1140 w 3088"/>
                <a:gd name="T11" fmla="*/ 1652 h 2339"/>
                <a:gd name="T12" fmla="*/ 1216 w 3088"/>
                <a:gd name="T13" fmla="*/ 1738 h 2339"/>
                <a:gd name="T14" fmla="*/ 696 w 3088"/>
                <a:gd name="T15" fmla="*/ 1546 h 2339"/>
                <a:gd name="T16" fmla="*/ 738 w 3088"/>
                <a:gd name="T17" fmla="*/ 1710 h 2339"/>
                <a:gd name="T18" fmla="*/ 860 w 3088"/>
                <a:gd name="T19" fmla="*/ 1854 h 2339"/>
                <a:gd name="T20" fmla="*/ 832 w 3088"/>
                <a:gd name="T21" fmla="*/ 1684 h 2339"/>
                <a:gd name="T22" fmla="*/ 2021 w 3088"/>
                <a:gd name="T23" fmla="*/ 1860 h 2339"/>
                <a:gd name="T24" fmla="*/ 2158 w 3088"/>
                <a:gd name="T25" fmla="*/ 1747 h 2339"/>
                <a:gd name="T26" fmla="*/ 2100 w 3088"/>
                <a:gd name="T27" fmla="*/ 1730 h 2339"/>
                <a:gd name="T28" fmla="*/ 2059 w 3088"/>
                <a:gd name="T29" fmla="*/ 1684 h 2339"/>
                <a:gd name="T30" fmla="*/ 1309 w 3088"/>
                <a:gd name="T31" fmla="*/ 1734 h 2339"/>
                <a:gd name="T32" fmla="*/ 1445 w 3088"/>
                <a:gd name="T33" fmla="*/ 1844 h 2339"/>
                <a:gd name="T34" fmla="*/ 1473 w 3088"/>
                <a:gd name="T35" fmla="*/ 1923 h 2339"/>
                <a:gd name="T36" fmla="*/ 1369 w 3088"/>
                <a:gd name="T37" fmla="*/ 1781 h 2339"/>
                <a:gd name="T38" fmla="*/ 1727 w 3088"/>
                <a:gd name="T39" fmla="*/ 1677 h 2339"/>
                <a:gd name="T40" fmla="*/ 1632 w 3088"/>
                <a:gd name="T41" fmla="*/ 1778 h 2339"/>
                <a:gd name="T42" fmla="*/ 1822 w 3088"/>
                <a:gd name="T43" fmla="*/ 1710 h 2339"/>
                <a:gd name="T44" fmla="*/ 1686 w 3088"/>
                <a:gd name="T45" fmla="*/ 1786 h 2339"/>
                <a:gd name="T46" fmla="*/ 1708 w 3088"/>
                <a:gd name="T47" fmla="*/ 1817 h 2339"/>
                <a:gd name="T48" fmla="*/ 2240 w 3088"/>
                <a:gd name="T49" fmla="*/ 1766 h 2339"/>
                <a:gd name="T50" fmla="*/ 2227 w 3088"/>
                <a:gd name="T51" fmla="*/ 1653 h 2339"/>
                <a:gd name="T52" fmla="*/ 2290 w 3088"/>
                <a:gd name="T53" fmla="*/ 1866 h 2339"/>
                <a:gd name="T54" fmla="*/ 2321 w 3088"/>
                <a:gd name="T55" fmla="*/ 1709 h 2339"/>
                <a:gd name="T56" fmla="*/ 2908 w 3088"/>
                <a:gd name="T57" fmla="*/ 1750 h 2339"/>
                <a:gd name="T58" fmla="*/ 2730 w 3088"/>
                <a:gd name="T59" fmla="*/ 1683 h 2339"/>
                <a:gd name="T60" fmla="*/ 2852 w 3088"/>
                <a:gd name="T61" fmla="*/ 1860 h 2339"/>
                <a:gd name="T62" fmla="*/ 2639 w 3088"/>
                <a:gd name="T63" fmla="*/ 1783 h 2339"/>
                <a:gd name="T64" fmla="*/ 2605 w 3088"/>
                <a:gd name="T65" fmla="*/ 1853 h 2339"/>
                <a:gd name="T66" fmla="*/ 2464 w 3088"/>
                <a:gd name="T67" fmla="*/ 1861 h 2339"/>
                <a:gd name="T68" fmla="*/ 2495 w 3088"/>
                <a:gd name="T69" fmla="*/ 1812 h 2339"/>
                <a:gd name="T70" fmla="*/ 2998 w 3088"/>
                <a:gd name="T71" fmla="*/ 1639 h 2339"/>
                <a:gd name="T72" fmla="*/ 975 w 3088"/>
                <a:gd name="T73" fmla="*/ 1860 h 2339"/>
                <a:gd name="T74" fmla="*/ 2416 w 3088"/>
                <a:gd name="T75" fmla="*/ 2069 h 2339"/>
                <a:gd name="T76" fmla="*/ 2510 w 3088"/>
                <a:gd name="T77" fmla="*/ 2251 h 2339"/>
                <a:gd name="T78" fmla="*/ 2485 w 3088"/>
                <a:gd name="T79" fmla="*/ 2074 h 2339"/>
                <a:gd name="T80" fmla="*/ 627 w 3088"/>
                <a:gd name="T81" fmla="*/ 2078 h 2339"/>
                <a:gd name="T82" fmla="*/ 672 w 3088"/>
                <a:gd name="T83" fmla="*/ 2089 h 2339"/>
                <a:gd name="T84" fmla="*/ 202 w 3088"/>
                <a:gd name="T85" fmla="*/ 2135 h 2339"/>
                <a:gd name="T86" fmla="*/ 310 w 3088"/>
                <a:gd name="T87" fmla="*/ 2174 h 2339"/>
                <a:gd name="T88" fmla="*/ 503 w 3088"/>
                <a:gd name="T89" fmla="*/ 2174 h 2339"/>
                <a:gd name="T90" fmla="*/ 374 w 3088"/>
                <a:gd name="T91" fmla="*/ 2185 h 2339"/>
                <a:gd name="T92" fmla="*/ 439 w 3088"/>
                <a:gd name="T93" fmla="*/ 2185 h 2339"/>
                <a:gd name="T94" fmla="*/ 2197 w 3088"/>
                <a:gd name="T95" fmla="*/ 2040 h 2339"/>
                <a:gd name="T96" fmla="*/ 1597 w 3088"/>
                <a:gd name="T97" fmla="*/ 2027 h 2339"/>
                <a:gd name="T98" fmla="*/ 1937 w 3088"/>
                <a:gd name="T99" fmla="*/ 2047 h 2339"/>
                <a:gd name="T100" fmla="*/ 2002 w 3088"/>
                <a:gd name="T101" fmla="*/ 2254 h 2339"/>
                <a:gd name="T102" fmla="*/ 2061 w 3088"/>
                <a:gd name="T103" fmla="*/ 2041 h 2339"/>
                <a:gd name="T104" fmla="*/ 2002 w 3088"/>
                <a:gd name="T105" fmla="*/ 2073 h 2339"/>
                <a:gd name="T106" fmla="*/ 767 w 3088"/>
                <a:gd name="T107" fmla="*/ 1934 h 2339"/>
                <a:gd name="T108" fmla="*/ 1202 w 3088"/>
                <a:gd name="T109" fmla="*/ 2037 h 2339"/>
                <a:gd name="T110" fmla="*/ 1108 w 3088"/>
                <a:gd name="T111" fmla="*/ 2086 h 2339"/>
                <a:gd name="T112" fmla="*/ 1280 w 3088"/>
                <a:gd name="T113" fmla="*/ 2078 h 2339"/>
                <a:gd name="T114" fmla="*/ 1385 w 3088"/>
                <a:gd name="T115" fmla="*/ 2249 h 2339"/>
                <a:gd name="T116" fmla="*/ 1403 w 3088"/>
                <a:gd name="T117" fmla="*/ 2332 h 2339"/>
                <a:gd name="T118" fmla="*/ 1354 w 3088"/>
                <a:gd name="T119" fmla="*/ 2200 h 2339"/>
                <a:gd name="T120" fmla="*/ 993 w 3088"/>
                <a:gd name="T121" fmla="*/ 2123 h 2339"/>
                <a:gd name="T122" fmla="*/ 397 w 3088"/>
                <a:gd name="T123" fmla="*/ 963 h 2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88" h="2339">
                  <a:moveTo>
                    <a:pt x="257" y="1763"/>
                  </a:moveTo>
                  <a:lnTo>
                    <a:pt x="257" y="1763"/>
                  </a:lnTo>
                  <a:lnTo>
                    <a:pt x="257" y="1755"/>
                  </a:lnTo>
                  <a:lnTo>
                    <a:pt x="256" y="1749"/>
                  </a:lnTo>
                  <a:lnTo>
                    <a:pt x="253" y="1736"/>
                  </a:lnTo>
                  <a:lnTo>
                    <a:pt x="247" y="1725"/>
                  </a:lnTo>
                  <a:lnTo>
                    <a:pt x="241" y="1716"/>
                  </a:lnTo>
                  <a:lnTo>
                    <a:pt x="233" y="1709"/>
                  </a:lnTo>
                  <a:lnTo>
                    <a:pt x="225" y="1704"/>
                  </a:lnTo>
                  <a:lnTo>
                    <a:pt x="219" y="1699"/>
                  </a:lnTo>
                  <a:lnTo>
                    <a:pt x="212" y="1696"/>
                  </a:lnTo>
                  <a:lnTo>
                    <a:pt x="212" y="1696"/>
                  </a:lnTo>
                  <a:lnTo>
                    <a:pt x="220" y="1690"/>
                  </a:lnTo>
                  <a:lnTo>
                    <a:pt x="226" y="1685"/>
                  </a:lnTo>
                  <a:lnTo>
                    <a:pt x="232" y="1678"/>
                  </a:lnTo>
                  <a:lnTo>
                    <a:pt x="237" y="1671"/>
                  </a:lnTo>
                  <a:lnTo>
                    <a:pt x="242" y="1663"/>
                  </a:lnTo>
                  <a:lnTo>
                    <a:pt x="244" y="1654"/>
                  </a:lnTo>
                  <a:lnTo>
                    <a:pt x="246" y="1645"/>
                  </a:lnTo>
                  <a:lnTo>
                    <a:pt x="246" y="1635"/>
                  </a:lnTo>
                  <a:lnTo>
                    <a:pt x="246" y="1635"/>
                  </a:lnTo>
                  <a:lnTo>
                    <a:pt x="246" y="1626"/>
                  </a:lnTo>
                  <a:lnTo>
                    <a:pt x="245" y="1618"/>
                  </a:lnTo>
                  <a:lnTo>
                    <a:pt x="243" y="1610"/>
                  </a:lnTo>
                  <a:lnTo>
                    <a:pt x="241" y="1602"/>
                  </a:lnTo>
                  <a:lnTo>
                    <a:pt x="237" y="1594"/>
                  </a:lnTo>
                  <a:lnTo>
                    <a:pt x="233" y="1588"/>
                  </a:lnTo>
                  <a:lnTo>
                    <a:pt x="227" y="1582"/>
                  </a:lnTo>
                  <a:lnTo>
                    <a:pt x="222" y="1577"/>
                  </a:lnTo>
                  <a:lnTo>
                    <a:pt x="215" y="1572"/>
                  </a:lnTo>
                  <a:lnTo>
                    <a:pt x="209" y="1568"/>
                  </a:lnTo>
                  <a:lnTo>
                    <a:pt x="201" y="1565"/>
                  </a:lnTo>
                  <a:lnTo>
                    <a:pt x="192" y="1561"/>
                  </a:lnTo>
                  <a:lnTo>
                    <a:pt x="183" y="1559"/>
                  </a:lnTo>
                  <a:lnTo>
                    <a:pt x="173" y="1557"/>
                  </a:lnTo>
                  <a:lnTo>
                    <a:pt x="163" y="1557"/>
                  </a:lnTo>
                  <a:lnTo>
                    <a:pt x="152" y="1556"/>
                  </a:lnTo>
                  <a:lnTo>
                    <a:pt x="22" y="1556"/>
                  </a:lnTo>
                  <a:lnTo>
                    <a:pt x="22" y="1860"/>
                  </a:lnTo>
                  <a:lnTo>
                    <a:pt x="151" y="1860"/>
                  </a:lnTo>
                  <a:lnTo>
                    <a:pt x="151" y="1860"/>
                  </a:lnTo>
                  <a:lnTo>
                    <a:pt x="163" y="1860"/>
                  </a:lnTo>
                  <a:lnTo>
                    <a:pt x="174" y="1859"/>
                  </a:lnTo>
                  <a:lnTo>
                    <a:pt x="185" y="1857"/>
                  </a:lnTo>
                  <a:lnTo>
                    <a:pt x="195" y="1854"/>
                  </a:lnTo>
                  <a:lnTo>
                    <a:pt x="205" y="1850"/>
                  </a:lnTo>
                  <a:lnTo>
                    <a:pt x="214" y="1846"/>
                  </a:lnTo>
                  <a:lnTo>
                    <a:pt x="222" y="1840"/>
                  </a:lnTo>
                  <a:lnTo>
                    <a:pt x="228" y="1835"/>
                  </a:lnTo>
                  <a:lnTo>
                    <a:pt x="235" y="1828"/>
                  </a:lnTo>
                  <a:lnTo>
                    <a:pt x="241" y="1821"/>
                  </a:lnTo>
                  <a:lnTo>
                    <a:pt x="246" y="1813"/>
                  </a:lnTo>
                  <a:lnTo>
                    <a:pt x="249" y="1804"/>
                  </a:lnTo>
                  <a:lnTo>
                    <a:pt x="253" y="1795"/>
                  </a:lnTo>
                  <a:lnTo>
                    <a:pt x="255" y="1785"/>
                  </a:lnTo>
                  <a:lnTo>
                    <a:pt x="256" y="1774"/>
                  </a:lnTo>
                  <a:lnTo>
                    <a:pt x="257" y="1763"/>
                  </a:lnTo>
                  <a:lnTo>
                    <a:pt x="257" y="1763"/>
                  </a:lnTo>
                  <a:close/>
                  <a:moveTo>
                    <a:pt x="151" y="1810"/>
                  </a:moveTo>
                  <a:lnTo>
                    <a:pt x="78" y="1810"/>
                  </a:lnTo>
                  <a:lnTo>
                    <a:pt x="78" y="1722"/>
                  </a:lnTo>
                  <a:lnTo>
                    <a:pt x="151" y="1722"/>
                  </a:lnTo>
                  <a:lnTo>
                    <a:pt x="151" y="1722"/>
                  </a:lnTo>
                  <a:lnTo>
                    <a:pt x="162" y="1723"/>
                  </a:lnTo>
                  <a:lnTo>
                    <a:pt x="171" y="1725"/>
                  </a:lnTo>
                  <a:lnTo>
                    <a:pt x="179" y="1728"/>
                  </a:lnTo>
                  <a:lnTo>
                    <a:pt x="185" y="1733"/>
                  </a:lnTo>
                  <a:lnTo>
                    <a:pt x="191" y="1739"/>
                  </a:lnTo>
                  <a:lnTo>
                    <a:pt x="194" y="1747"/>
                  </a:lnTo>
                  <a:lnTo>
                    <a:pt x="196" y="1755"/>
                  </a:lnTo>
                  <a:lnTo>
                    <a:pt x="198" y="1765"/>
                  </a:lnTo>
                  <a:lnTo>
                    <a:pt x="198" y="1765"/>
                  </a:lnTo>
                  <a:lnTo>
                    <a:pt x="196" y="1775"/>
                  </a:lnTo>
                  <a:lnTo>
                    <a:pt x="194" y="1784"/>
                  </a:lnTo>
                  <a:lnTo>
                    <a:pt x="190" y="1792"/>
                  </a:lnTo>
                  <a:lnTo>
                    <a:pt x="185" y="1797"/>
                  </a:lnTo>
                  <a:lnTo>
                    <a:pt x="179" y="1803"/>
                  </a:lnTo>
                  <a:lnTo>
                    <a:pt x="171" y="1806"/>
                  </a:lnTo>
                  <a:lnTo>
                    <a:pt x="161" y="1808"/>
                  </a:lnTo>
                  <a:lnTo>
                    <a:pt x="151" y="1810"/>
                  </a:lnTo>
                  <a:lnTo>
                    <a:pt x="151" y="1810"/>
                  </a:lnTo>
                  <a:close/>
                  <a:moveTo>
                    <a:pt x="150" y="1673"/>
                  </a:moveTo>
                  <a:lnTo>
                    <a:pt x="78" y="1673"/>
                  </a:lnTo>
                  <a:lnTo>
                    <a:pt x="78" y="1608"/>
                  </a:lnTo>
                  <a:lnTo>
                    <a:pt x="148" y="1608"/>
                  </a:lnTo>
                  <a:lnTo>
                    <a:pt x="148" y="1608"/>
                  </a:lnTo>
                  <a:lnTo>
                    <a:pt x="157" y="1609"/>
                  </a:lnTo>
                  <a:lnTo>
                    <a:pt x="166" y="1610"/>
                  </a:lnTo>
                  <a:lnTo>
                    <a:pt x="172" y="1612"/>
                  </a:lnTo>
                  <a:lnTo>
                    <a:pt x="178" y="1615"/>
                  </a:lnTo>
                  <a:lnTo>
                    <a:pt x="182" y="1621"/>
                  </a:lnTo>
                  <a:lnTo>
                    <a:pt x="185" y="1626"/>
                  </a:lnTo>
                  <a:lnTo>
                    <a:pt x="187" y="1633"/>
                  </a:lnTo>
                  <a:lnTo>
                    <a:pt x="188" y="1641"/>
                  </a:lnTo>
                  <a:lnTo>
                    <a:pt x="188" y="1641"/>
                  </a:lnTo>
                  <a:lnTo>
                    <a:pt x="188" y="1646"/>
                  </a:lnTo>
                  <a:lnTo>
                    <a:pt x="187" y="1652"/>
                  </a:lnTo>
                  <a:lnTo>
                    <a:pt x="184" y="1657"/>
                  </a:lnTo>
                  <a:lnTo>
                    <a:pt x="181" y="1662"/>
                  </a:lnTo>
                  <a:lnTo>
                    <a:pt x="175" y="1666"/>
                  </a:lnTo>
                  <a:lnTo>
                    <a:pt x="169" y="1669"/>
                  </a:lnTo>
                  <a:lnTo>
                    <a:pt x="161" y="1672"/>
                  </a:lnTo>
                  <a:lnTo>
                    <a:pt x="150" y="1673"/>
                  </a:lnTo>
                  <a:lnTo>
                    <a:pt x="150" y="1673"/>
                  </a:lnTo>
                  <a:close/>
                  <a:moveTo>
                    <a:pt x="296" y="1764"/>
                  </a:moveTo>
                  <a:lnTo>
                    <a:pt x="296" y="1639"/>
                  </a:lnTo>
                  <a:lnTo>
                    <a:pt x="351" y="1639"/>
                  </a:lnTo>
                  <a:lnTo>
                    <a:pt x="351" y="1761"/>
                  </a:lnTo>
                  <a:lnTo>
                    <a:pt x="351" y="1761"/>
                  </a:lnTo>
                  <a:lnTo>
                    <a:pt x="351" y="1773"/>
                  </a:lnTo>
                  <a:lnTo>
                    <a:pt x="353" y="1785"/>
                  </a:lnTo>
                  <a:lnTo>
                    <a:pt x="356" y="1794"/>
                  </a:lnTo>
                  <a:lnTo>
                    <a:pt x="361" y="1802"/>
                  </a:lnTo>
                  <a:lnTo>
                    <a:pt x="366" y="1807"/>
                  </a:lnTo>
                  <a:lnTo>
                    <a:pt x="373" y="1812"/>
                  </a:lnTo>
                  <a:lnTo>
                    <a:pt x="382" y="1814"/>
                  </a:lnTo>
                  <a:lnTo>
                    <a:pt x="392" y="1815"/>
                  </a:lnTo>
                  <a:lnTo>
                    <a:pt x="392" y="1815"/>
                  </a:lnTo>
                  <a:lnTo>
                    <a:pt x="402" y="1814"/>
                  </a:lnTo>
                  <a:lnTo>
                    <a:pt x="409" y="1812"/>
                  </a:lnTo>
                  <a:lnTo>
                    <a:pt x="417" y="1807"/>
                  </a:lnTo>
                  <a:lnTo>
                    <a:pt x="423" y="1802"/>
                  </a:lnTo>
                  <a:lnTo>
                    <a:pt x="427" y="1794"/>
                  </a:lnTo>
                  <a:lnTo>
                    <a:pt x="430" y="1784"/>
                  </a:lnTo>
                  <a:lnTo>
                    <a:pt x="433" y="1773"/>
                  </a:lnTo>
                  <a:lnTo>
                    <a:pt x="433" y="1761"/>
                  </a:lnTo>
                  <a:lnTo>
                    <a:pt x="433" y="1639"/>
                  </a:lnTo>
                  <a:lnTo>
                    <a:pt x="488" y="1639"/>
                  </a:lnTo>
                  <a:lnTo>
                    <a:pt x="488" y="1860"/>
                  </a:lnTo>
                  <a:lnTo>
                    <a:pt x="433" y="1860"/>
                  </a:lnTo>
                  <a:lnTo>
                    <a:pt x="433" y="1843"/>
                  </a:lnTo>
                  <a:lnTo>
                    <a:pt x="433" y="1843"/>
                  </a:lnTo>
                  <a:lnTo>
                    <a:pt x="428" y="1848"/>
                  </a:lnTo>
                  <a:lnTo>
                    <a:pt x="422" y="1853"/>
                  </a:lnTo>
                  <a:lnTo>
                    <a:pt x="416" y="1857"/>
                  </a:lnTo>
                  <a:lnTo>
                    <a:pt x="409" y="1859"/>
                  </a:lnTo>
                  <a:lnTo>
                    <a:pt x="403" y="1862"/>
                  </a:lnTo>
                  <a:lnTo>
                    <a:pt x="395" y="1864"/>
                  </a:lnTo>
                  <a:lnTo>
                    <a:pt x="387" y="1865"/>
                  </a:lnTo>
                  <a:lnTo>
                    <a:pt x="380" y="1866"/>
                  </a:lnTo>
                  <a:lnTo>
                    <a:pt x="380" y="1866"/>
                  </a:lnTo>
                  <a:lnTo>
                    <a:pt x="366" y="1865"/>
                  </a:lnTo>
                  <a:lnTo>
                    <a:pt x="355" y="1862"/>
                  </a:lnTo>
                  <a:lnTo>
                    <a:pt x="345" y="1859"/>
                  </a:lnTo>
                  <a:lnTo>
                    <a:pt x="336" y="1855"/>
                  </a:lnTo>
                  <a:lnTo>
                    <a:pt x="328" y="1849"/>
                  </a:lnTo>
                  <a:lnTo>
                    <a:pt x="321" y="1844"/>
                  </a:lnTo>
                  <a:lnTo>
                    <a:pt x="316" y="1836"/>
                  </a:lnTo>
                  <a:lnTo>
                    <a:pt x="310" y="1828"/>
                  </a:lnTo>
                  <a:lnTo>
                    <a:pt x="307" y="1821"/>
                  </a:lnTo>
                  <a:lnTo>
                    <a:pt x="304" y="1813"/>
                  </a:lnTo>
                  <a:lnTo>
                    <a:pt x="299" y="1795"/>
                  </a:lnTo>
                  <a:lnTo>
                    <a:pt x="297" y="1779"/>
                  </a:lnTo>
                  <a:lnTo>
                    <a:pt x="296" y="1764"/>
                  </a:lnTo>
                  <a:lnTo>
                    <a:pt x="296" y="1764"/>
                  </a:lnTo>
                  <a:close/>
                  <a:moveTo>
                    <a:pt x="1135" y="1860"/>
                  </a:moveTo>
                  <a:lnTo>
                    <a:pt x="1079" y="1860"/>
                  </a:lnTo>
                  <a:lnTo>
                    <a:pt x="1079" y="1639"/>
                  </a:lnTo>
                  <a:lnTo>
                    <a:pt x="1135" y="1639"/>
                  </a:lnTo>
                  <a:lnTo>
                    <a:pt x="1135" y="1657"/>
                  </a:lnTo>
                  <a:lnTo>
                    <a:pt x="1135" y="1657"/>
                  </a:lnTo>
                  <a:lnTo>
                    <a:pt x="1140" y="1652"/>
                  </a:lnTo>
                  <a:lnTo>
                    <a:pt x="1146" y="1646"/>
                  </a:lnTo>
                  <a:lnTo>
                    <a:pt x="1152" y="1643"/>
                  </a:lnTo>
                  <a:lnTo>
                    <a:pt x="1159" y="1640"/>
                  </a:lnTo>
                  <a:lnTo>
                    <a:pt x="1167" y="1636"/>
                  </a:lnTo>
                  <a:lnTo>
                    <a:pt x="1173" y="1635"/>
                  </a:lnTo>
                  <a:lnTo>
                    <a:pt x="1182" y="1634"/>
                  </a:lnTo>
                  <a:lnTo>
                    <a:pt x="1190" y="1633"/>
                  </a:lnTo>
                  <a:lnTo>
                    <a:pt x="1190" y="1633"/>
                  </a:lnTo>
                  <a:lnTo>
                    <a:pt x="1200" y="1634"/>
                  </a:lnTo>
                  <a:lnTo>
                    <a:pt x="1208" y="1635"/>
                  </a:lnTo>
                  <a:lnTo>
                    <a:pt x="1217" y="1637"/>
                  </a:lnTo>
                  <a:lnTo>
                    <a:pt x="1225" y="1640"/>
                  </a:lnTo>
                  <a:lnTo>
                    <a:pt x="1233" y="1643"/>
                  </a:lnTo>
                  <a:lnTo>
                    <a:pt x="1239" y="1648"/>
                  </a:lnTo>
                  <a:lnTo>
                    <a:pt x="1245" y="1653"/>
                  </a:lnTo>
                  <a:lnTo>
                    <a:pt x="1250" y="1659"/>
                  </a:lnTo>
                  <a:lnTo>
                    <a:pt x="1256" y="1666"/>
                  </a:lnTo>
                  <a:lnTo>
                    <a:pt x="1259" y="1674"/>
                  </a:lnTo>
                  <a:lnTo>
                    <a:pt x="1264" y="1682"/>
                  </a:lnTo>
                  <a:lnTo>
                    <a:pt x="1266" y="1690"/>
                  </a:lnTo>
                  <a:lnTo>
                    <a:pt x="1268" y="1700"/>
                  </a:lnTo>
                  <a:lnTo>
                    <a:pt x="1270" y="1711"/>
                  </a:lnTo>
                  <a:lnTo>
                    <a:pt x="1271" y="1722"/>
                  </a:lnTo>
                  <a:lnTo>
                    <a:pt x="1271" y="1734"/>
                  </a:lnTo>
                  <a:lnTo>
                    <a:pt x="1271" y="1860"/>
                  </a:lnTo>
                  <a:lnTo>
                    <a:pt x="1216" y="1860"/>
                  </a:lnTo>
                  <a:lnTo>
                    <a:pt x="1216" y="1738"/>
                  </a:lnTo>
                  <a:lnTo>
                    <a:pt x="1216" y="1738"/>
                  </a:lnTo>
                  <a:lnTo>
                    <a:pt x="1216" y="1725"/>
                  </a:lnTo>
                  <a:lnTo>
                    <a:pt x="1214" y="1714"/>
                  </a:lnTo>
                  <a:lnTo>
                    <a:pt x="1211" y="1705"/>
                  </a:lnTo>
                  <a:lnTo>
                    <a:pt x="1206" y="1697"/>
                  </a:lnTo>
                  <a:lnTo>
                    <a:pt x="1201" y="1691"/>
                  </a:lnTo>
                  <a:lnTo>
                    <a:pt x="1194" y="1687"/>
                  </a:lnTo>
                  <a:lnTo>
                    <a:pt x="1186" y="1685"/>
                  </a:lnTo>
                  <a:lnTo>
                    <a:pt x="1176" y="1684"/>
                  </a:lnTo>
                  <a:lnTo>
                    <a:pt x="1176" y="1684"/>
                  </a:lnTo>
                  <a:lnTo>
                    <a:pt x="1167" y="1685"/>
                  </a:lnTo>
                  <a:lnTo>
                    <a:pt x="1158" y="1687"/>
                  </a:lnTo>
                  <a:lnTo>
                    <a:pt x="1151" y="1691"/>
                  </a:lnTo>
                  <a:lnTo>
                    <a:pt x="1146" y="1697"/>
                  </a:lnTo>
                  <a:lnTo>
                    <a:pt x="1140" y="1705"/>
                  </a:lnTo>
                  <a:lnTo>
                    <a:pt x="1137" y="1715"/>
                  </a:lnTo>
                  <a:lnTo>
                    <a:pt x="1135" y="1726"/>
                  </a:lnTo>
                  <a:lnTo>
                    <a:pt x="1135" y="1738"/>
                  </a:lnTo>
                  <a:lnTo>
                    <a:pt x="1135" y="1860"/>
                  </a:lnTo>
                  <a:close/>
                  <a:moveTo>
                    <a:pt x="593" y="1742"/>
                  </a:moveTo>
                  <a:lnTo>
                    <a:pt x="593" y="1860"/>
                  </a:lnTo>
                  <a:lnTo>
                    <a:pt x="537" y="1860"/>
                  </a:lnTo>
                  <a:lnTo>
                    <a:pt x="537" y="1639"/>
                  </a:lnTo>
                  <a:lnTo>
                    <a:pt x="593" y="1639"/>
                  </a:lnTo>
                  <a:lnTo>
                    <a:pt x="593" y="1742"/>
                  </a:lnTo>
                  <a:close/>
                  <a:moveTo>
                    <a:pt x="641" y="1573"/>
                  </a:moveTo>
                  <a:lnTo>
                    <a:pt x="696" y="1546"/>
                  </a:lnTo>
                  <a:lnTo>
                    <a:pt x="696" y="1747"/>
                  </a:lnTo>
                  <a:lnTo>
                    <a:pt x="696" y="1860"/>
                  </a:lnTo>
                  <a:lnTo>
                    <a:pt x="641" y="1860"/>
                  </a:lnTo>
                  <a:lnTo>
                    <a:pt x="641" y="1573"/>
                  </a:lnTo>
                  <a:close/>
                  <a:moveTo>
                    <a:pt x="871" y="1654"/>
                  </a:moveTo>
                  <a:lnTo>
                    <a:pt x="871" y="1654"/>
                  </a:lnTo>
                  <a:lnTo>
                    <a:pt x="866" y="1648"/>
                  </a:lnTo>
                  <a:lnTo>
                    <a:pt x="861" y="1645"/>
                  </a:lnTo>
                  <a:lnTo>
                    <a:pt x="854" y="1641"/>
                  </a:lnTo>
                  <a:lnTo>
                    <a:pt x="849" y="1639"/>
                  </a:lnTo>
                  <a:lnTo>
                    <a:pt x="842" y="1636"/>
                  </a:lnTo>
                  <a:lnTo>
                    <a:pt x="835" y="1634"/>
                  </a:lnTo>
                  <a:lnTo>
                    <a:pt x="822" y="1633"/>
                  </a:lnTo>
                  <a:lnTo>
                    <a:pt x="822" y="1633"/>
                  </a:lnTo>
                  <a:lnTo>
                    <a:pt x="812" y="1634"/>
                  </a:lnTo>
                  <a:lnTo>
                    <a:pt x="802" y="1635"/>
                  </a:lnTo>
                  <a:lnTo>
                    <a:pt x="794" y="1637"/>
                  </a:lnTo>
                  <a:lnTo>
                    <a:pt x="786" y="1641"/>
                  </a:lnTo>
                  <a:lnTo>
                    <a:pt x="778" y="1645"/>
                  </a:lnTo>
                  <a:lnTo>
                    <a:pt x="770" y="1651"/>
                  </a:lnTo>
                  <a:lnTo>
                    <a:pt x="764" y="1657"/>
                  </a:lnTo>
                  <a:lnTo>
                    <a:pt x="758" y="1664"/>
                  </a:lnTo>
                  <a:lnTo>
                    <a:pt x="753" y="1672"/>
                  </a:lnTo>
                  <a:lnTo>
                    <a:pt x="748" y="1680"/>
                  </a:lnTo>
                  <a:lnTo>
                    <a:pt x="744" y="1689"/>
                  </a:lnTo>
                  <a:lnTo>
                    <a:pt x="741" y="1699"/>
                  </a:lnTo>
                  <a:lnTo>
                    <a:pt x="738" y="1710"/>
                  </a:lnTo>
                  <a:lnTo>
                    <a:pt x="736" y="1722"/>
                  </a:lnTo>
                  <a:lnTo>
                    <a:pt x="735" y="1734"/>
                  </a:lnTo>
                  <a:lnTo>
                    <a:pt x="735" y="1747"/>
                  </a:lnTo>
                  <a:lnTo>
                    <a:pt x="735" y="1747"/>
                  </a:lnTo>
                  <a:lnTo>
                    <a:pt x="735" y="1761"/>
                  </a:lnTo>
                  <a:lnTo>
                    <a:pt x="736" y="1773"/>
                  </a:lnTo>
                  <a:lnTo>
                    <a:pt x="738" y="1785"/>
                  </a:lnTo>
                  <a:lnTo>
                    <a:pt x="741" y="1796"/>
                  </a:lnTo>
                  <a:lnTo>
                    <a:pt x="744" y="1807"/>
                  </a:lnTo>
                  <a:lnTo>
                    <a:pt x="747" y="1817"/>
                  </a:lnTo>
                  <a:lnTo>
                    <a:pt x="752" y="1826"/>
                  </a:lnTo>
                  <a:lnTo>
                    <a:pt x="757" y="1834"/>
                  </a:lnTo>
                  <a:lnTo>
                    <a:pt x="764" y="1841"/>
                  </a:lnTo>
                  <a:lnTo>
                    <a:pt x="769" y="1847"/>
                  </a:lnTo>
                  <a:lnTo>
                    <a:pt x="777" y="1853"/>
                  </a:lnTo>
                  <a:lnTo>
                    <a:pt x="785" y="1857"/>
                  </a:lnTo>
                  <a:lnTo>
                    <a:pt x="792" y="1860"/>
                  </a:lnTo>
                  <a:lnTo>
                    <a:pt x="801" y="1864"/>
                  </a:lnTo>
                  <a:lnTo>
                    <a:pt x="811" y="1865"/>
                  </a:lnTo>
                  <a:lnTo>
                    <a:pt x="821" y="1866"/>
                  </a:lnTo>
                  <a:lnTo>
                    <a:pt x="821" y="1866"/>
                  </a:lnTo>
                  <a:lnTo>
                    <a:pt x="828" y="1865"/>
                  </a:lnTo>
                  <a:lnTo>
                    <a:pt x="834" y="1864"/>
                  </a:lnTo>
                  <a:lnTo>
                    <a:pt x="841" y="1862"/>
                  </a:lnTo>
                  <a:lnTo>
                    <a:pt x="848" y="1860"/>
                  </a:lnTo>
                  <a:lnTo>
                    <a:pt x="853" y="1857"/>
                  </a:lnTo>
                  <a:lnTo>
                    <a:pt x="860" y="1854"/>
                  </a:lnTo>
                  <a:lnTo>
                    <a:pt x="865" y="1849"/>
                  </a:lnTo>
                  <a:lnTo>
                    <a:pt x="871" y="1844"/>
                  </a:lnTo>
                  <a:lnTo>
                    <a:pt x="871" y="1860"/>
                  </a:lnTo>
                  <a:lnTo>
                    <a:pt x="926" y="1860"/>
                  </a:lnTo>
                  <a:lnTo>
                    <a:pt x="926" y="1546"/>
                  </a:lnTo>
                  <a:lnTo>
                    <a:pt x="871" y="1573"/>
                  </a:lnTo>
                  <a:lnTo>
                    <a:pt x="871" y="1654"/>
                  </a:lnTo>
                  <a:close/>
                  <a:moveTo>
                    <a:pt x="832" y="1815"/>
                  </a:moveTo>
                  <a:lnTo>
                    <a:pt x="832" y="1815"/>
                  </a:lnTo>
                  <a:lnTo>
                    <a:pt x="826" y="1814"/>
                  </a:lnTo>
                  <a:lnTo>
                    <a:pt x="818" y="1812"/>
                  </a:lnTo>
                  <a:lnTo>
                    <a:pt x="811" y="1808"/>
                  </a:lnTo>
                  <a:lnTo>
                    <a:pt x="805" y="1802"/>
                  </a:lnTo>
                  <a:lnTo>
                    <a:pt x="799" y="1793"/>
                  </a:lnTo>
                  <a:lnTo>
                    <a:pt x="795" y="1781"/>
                  </a:lnTo>
                  <a:lnTo>
                    <a:pt x="791" y="1765"/>
                  </a:lnTo>
                  <a:lnTo>
                    <a:pt x="790" y="1746"/>
                  </a:lnTo>
                  <a:lnTo>
                    <a:pt x="790" y="1746"/>
                  </a:lnTo>
                  <a:lnTo>
                    <a:pt x="791" y="1728"/>
                  </a:lnTo>
                  <a:lnTo>
                    <a:pt x="795" y="1715"/>
                  </a:lnTo>
                  <a:lnTo>
                    <a:pt x="799" y="1704"/>
                  </a:lnTo>
                  <a:lnTo>
                    <a:pt x="805" y="1696"/>
                  </a:lnTo>
                  <a:lnTo>
                    <a:pt x="810" y="1689"/>
                  </a:lnTo>
                  <a:lnTo>
                    <a:pt x="818" y="1686"/>
                  </a:lnTo>
                  <a:lnTo>
                    <a:pt x="824" y="1684"/>
                  </a:lnTo>
                  <a:lnTo>
                    <a:pt x="832" y="1684"/>
                  </a:lnTo>
                  <a:lnTo>
                    <a:pt x="832" y="1684"/>
                  </a:lnTo>
                  <a:lnTo>
                    <a:pt x="839" y="1684"/>
                  </a:lnTo>
                  <a:lnTo>
                    <a:pt x="845" y="1686"/>
                  </a:lnTo>
                  <a:lnTo>
                    <a:pt x="852" y="1688"/>
                  </a:lnTo>
                  <a:lnTo>
                    <a:pt x="856" y="1691"/>
                  </a:lnTo>
                  <a:lnTo>
                    <a:pt x="861" y="1695"/>
                  </a:lnTo>
                  <a:lnTo>
                    <a:pt x="865" y="1698"/>
                  </a:lnTo>
                  <a:lnTo>
                    <a:pt x="871" y="1706"/>
                  </a:lnTo>
                  <a:lnTo>
                    <a:pt x="871" y="1793"/>
                  </a:lnTo>
                  <a:lnTo>
                    <a:pt x="871" y="1793"/>
                  </a:lnTo>
                  <a:lnTo>
                    <a:pt x="864" y="1801"/>
                  </a:lnTo>
                  <a:lnTo>
                    <a:pt x="856" y="1807"/>
                  </a:lnTo>
                  <a:lnTo>
                    <a:pt x="852" y="1811"/>
                  </a:lnTo>
                  <a:lnTo>
                    <a:pt x="845" y="1813"/>
                  </a:lnTo>
                  <a:lnTo>
                    <a:pt x="840" y="1814"/>
                  </a:lnTo>
                  <a:lnTo>
                    <a:pt x="832" y="1815"/>
                  </a:lnTo>
                  <a:lnTo>
                    <a:pt x="832" y="1815"/>
                  </a:lnTo>
                  <a:close/>
                  <a:moveTo>
                    <a:pt x="2069" y="1633"/>
                  </a:moveTo>
                  <a:lnTo>
                    <a:pt x="2069" y="1633"/>
                  </a:lnTo>
                  <a:lnTo>
                    <a:pt x="2064" y="1634"/>
                  </a:lnTo>
                  <a:lnTo>
                    <a:pt x="2057" y="1635"/>
                  </a:lnTo>
                  <a:lnTo>
                    <a:pt x="2044" y="1639"/>
                  </a:lnTo>
                  <a:lnTo>
                    <a:pt x="2032" y="1645"/>
                  </a:lnTo>
                  <a:lnTo>
                    <a:pt x="2021" y="1654"/>
                  </a:lnTo>
                  <a:lnTo>
                    <a:pt x="2021" y="1551"/>
                  </a:lnTo>
                  <a:lnTo>
                    <a:pt x="1966" y="1579"/>
                  </a:lnTo>
                  <a:lnTo>
                    <a:pt x="1966" y="1860"/>
                  </a:lnTo>
                  <a:lnTo>
                    <a:pt x="2021" y="1860"/>
                  </a:lnTo>
                  <a:lnTo>
                    <a:pt x="2021" y="1844"/>
                  </a:lnTo>
                  <a:lnTo>
                    <a:pt x="2021" y="1844"/>
                  </a:lnTo>
                  <a:lnTo>
                    <a:pt x="2025" y="1849"/>
                  </a:lnTo>
                  <a:lnTo>
                    <a:pt x="2032" y="1854"/>
                  </a:lnTo>
                  <a:lnTo>
                    <a:pt x="2037" y="1857"/>
                  </a:lnTo>
                  <a:lnTo>
                    <a:pt x="2044" y="1860"/>
                  </a:lnTo>
                  <a:lnTo>
                    <a:pt x="2049" y="1862"/>
                  </a:lnTo>
                  <a:lnTo>
                    <a:pt x="2057" y="1864"/>
                  </a:lnTo>
                  <a:lnTo>
                    <a:pt x="2064" y="1865"/>
                  </a:lnTo>
                  <a:lnTo>
                    <a:pt x="2070" y="1866"/>
                  </a:lnTo>
                  <a:lnTo>
                    <a:pt x="2070" y="1866"/>
                  </a:lnTo>
                  <a:lnTo>
                    <a:pt x="2080" y="1865"/>
                  </a:lnTo>
                  <a:lnTo>
                    <a:pt x="2090" y="1864"/>
                  </a:lnTo>
                  <a:lnTo>
                    <a:pt x="2099" y="1861"/>
                  </a:lnTo>
                  <a:lnTo>
                    <a:pt x="2108" y="1857"/>
                  </a:lnTo>
                  <a:lnTo>
                    <a:pt x="2116" y="1853"/>
                  </a:lnTo>
                  <a:lnTo>
                    <a:pt x="2122" y="1848"/>
                  </a:lnTo>
                  <a:lnTo>
                    <a:pt x="2129" y="1841"/>
                  </a:lnTo>
                  <a:lnTo>
                    <a:pt x="2134" y="1835"/>
                  </a:lnTo>
                  <a:lnTo>
                    <a:pt x="2140" y="1826"/>
                  </a:lnTo>
                  <a:lnTo>
                    <a:pt x="2144" y="1817"/>
                  </a:lnTo>
                  <a:lnTo>
                    <a:pt x="2148" y="1807"/>
                  </a:lnTo>
                  <a:lnTo>
                    <a:pt x="2151" y="1797"/>
                  </a:lnTo>
                  <a:lnTo>
                    <a:pt x="2154" y="1786"/>
                  </a:lnTo>
                  <a:lnTo>
                    <a:pt x="2155" y="1774"/>
                  </a:lnTo>
                  <a:lnTo>
                    <a:pt x="2157" y="1761"/>
                  </a:lnTo>
                  <a:lnTo>
                    <a:pt x="2158" y="1747"/>
                  </a:lnTo>
                  <a:lnTo>
                    <a:pt x="2158" y="1747"/>
                  </a:lnTo>
                  <a:lnTo>
                    <a:pt x="2157" y="1734"/>
                  </a:lnTo>
                  <a:lnTo>
                    <a:pt x="2155" y="1722"/>
                  </a:lnTo>
                  <a:lnTo>
                    <a:pt x="2153" y="1710"/>
                  </a:lnTo>
                  <a:lnTo>
                    <a:pt x="2151" y="1699"/>
                  </a:lnTo>
                  <a:lnTo>
                    <a:pt x="2148" y="1689"/>
                  </a:lnTo>
                  <a:lnTo>
                    <a:pt x="2143" y="1680"/>
                  </a:lnTo>
                  <a:lnTo>
                    <a:pt x="2139" y="1672"/>
                  </a:lnTo>
                  <a:lnTo>
                    <a:pt x="2133" y="1664"/>
                  </a:lnTo>
                  <a:lnTo>
                    <a:pt x="2128" y="1657"/>
                  </a:lnTo>
                  <a:lnTo>
                    <a:pt x="2121" y="1651"/>
                  </a:lnTo>
                  <a:lnTo>
                    <a:pt x="2113" y="1645"/>
                  </a:lnTo>
                  <a:lnTo>
                    <a:pt x="2106" y="1641"/>
                  </a:lnTo>
                  <a:lnTo>
                    <a:pt x="2098" y="1637"/>
                  </a:lnTo>
                  <a:lnTo>
                    <a:pt x="2089" y="1635"/>
                  </a:lnTo>
                  <a:lnTo>
                    <a:pt x="2079" y="1634"/>
                  </a:lnTo>
                  <a:lnTo>
                    <a:pt x="2069" y="1633"/>
                  </a:lnTo>
                  <a:lnTo>
                    <a:pt x="2069" y="1633"/>
                  </a:lnTo>
                  <a:close/>
                  <a:moveTo>
                    <a:pt x="2059" y="1684"/>
                  </a:moveTo>
                  <a:lnTo>
                    <a:pt x="2059" y="1684"/>
                  </a:lnTo>
                  <a:lnTo>
                    <a:pt x="2067" y="1685"/>
                  </a:lnTo>
                  <a:lnTo>
                    <a:pt x="2075" y="1687"/>
                  </a:lnTo>
                  <a:lnTo>
                    <a:pt x="2081" y="1691"/>
                  </a:lnTo>
                  <a:lnTo>
                    <a:pt x="2088" y="1698"/>
                  </a:lnTo>
                  <a:lnTo>
                    <a:pt x="2094" y="1706"/>
                  </a:lnTo>
                  <a:lnTo>
                    <a:pt x="2097" y="1717"/>
                  </a:lnTo>
                  <a:lnTo>
                    <a:pt x="2100" y="1730"/>
                  </a:lnTo>
                  <a:lnTo>
                    <a:pt x="2101" y="1746"/>
                  </a:lnTo>
                  <a:lnTo>
                    <a:pt x="2101" y="1746"/>
                  </a:lnTo>
                  <a:lnTo>
                    <a:pt x="2100" y="1762"/>
                  </a:lnTo>
                  <a:lnTo>
                    <a:pt x="2098" y="1776"/>
                  </a:lnTo>
                  <a:lnTo>
                    <a:pt x="2096" y="1787"/>
                  </a:lnTo>
                  <a:lnTo>
                    <a:pt x="2091" y="1797"/>
                  </a:lnTo>
                  <a:lnTo>
                    <a:pt x="2085" y="1805"/>
                  </a:lnTo>
                  <a:lnTo>
                    <a:pt x="2078" y="1811"/>
                  </a:lnTo>
                  <a:lnTo>
                    <a:pt x="2070" y="1814"/>
                  </a:lnTo>
                  <a:lnTo>
                    <a:pt x="2061" y="1815"/>
                  </a:lnTo>
                  <a:lnTo>
                    <a:pt x="2061" y="1815"/>
                  </a:lnTo>
                  <a:lnTo>
                    <a:pt x="2053" y="1814"/>
                  </a:lnTo>
                  <a:lnTo>
                    <a:pt x="2046" y="1813"/>
                  </a:lnTo>
                  <a:lnTo>
                    <a:pt x="2041" y="1810"/>
                  </a:lnTo>
                  <a:lnTo>
                    <a:pt x="2035" y="1807"/>
                  </a:lnTo>
                  <a:lnTo>
                    <a:pt x="2026" y="1800"/>
                  </a:lnTo>
                  <a:lnTo>
                    <a:pt x="2021" y="1794"/>
                  </a:lnTo>
                  <a:lnTo>
                    <a:pt x="2021" y="1706"/>
                  </a:lnTo>
                  <a:lnTo>
                    <a:pt x="2021" y="1706"/>
                  </a:lnTo>
                  <a:lnTo>
                    <a:pt x="2024" y="1701"/>
                  </a:lnTo>
                  <a:lnTo>
                    <a:pt x="2029" y="1697"/>
                  </a:lnTo>
                  <a:lnTo>
                    <a:pt x="2033" y="1693"/>
                  </a:lnTo>
                  <a:lnTo>
                    <a:pt x="2037" y="1689"/>
                  </a:lnTo>
                  <a:lnTo>
                    <a:pt x="2043" y="1687"/>
                  </a:lnTo>
                  <a:lnTo>
                    <a:pt x="2048" y="1685"/>
                  </a:lnTo>
                  <a:lnTo>
                    <a:pt x="2054" y="1684"/>
                  </a:lnTo>
                  <a:lnTo>
                    <a:pt x="2059" y="1684"/>
                  </a:lnTo>
                  <a:lnTo>
                    <a:pt x="2059" y="1684"/>
                  </a:lnTo>
                  <a:close/>
                  <a:moveTo>
                    <a:pt x="1445" y="1654"/>
                  </a:moveTo>
                  <a:lnTo>
                    <a:pt x="1445" y="1654"/>
                  </a:lnTo>
                  <a:lnTo>
                    <a:pt x="1440" y="1650"/>
                  </a:lnTo>
                  <a:lnTo>
                    <a:pt x="1435" y="1645"/>
                  </a:lnTo>
                  <a:lnTo>
                    <a:pt x="1428" y="1642"/>
                  </a:lnTo>
                  <a:lnTo>
                    <a:pt x="1423" y="1639"/>
                  </a:lnTo>
                  <a:lnTo>
                    <a:pt x="1416" y="1636"/>
                  </a:lnTo>
                  <a:lnTo>
                    <a:pt x="1409" y="1634"/>
                  </a:lnTo>
                  <a:lnTo>
                    <a:pt x="1403" y="1634"/>
                  </a:lnTo>
                  <a:lnTo>
                    <a:pt x="1396" y="1633"/>
                  </a:lnTo>
                  <a:lnTo>
                    <a:pt x="1396" y="1633"/>
                  </a:lnTo>
                  <a:lnTo>
                    <a:pt x="1386" y="1634"/>
                  </a:lnTo>
                  <a:lnTo>
                    <a:pt x="1376" y="1635"/>
                  </a:lnTo>
                  <a:lnTo>
                    <a:pt x="1367" y="1637"/>
                  </a:lnTo>
                  <a:lnTo>
                    <a:pt x="1360" y="1641"/>
                  </a:lnTo>
                  <a:lnTo>
                    <a:pt x="1352" y="1645"/>
                  </a:lnTo>
                  <a:lnTo>
                    <a:pt x="1344" y="1651"/>
                  </a:lnTo>
                  <a:lnTo>
                    <a:pt x="1338" y="1657"/>
                  </a:lnTo>
                  <a:lnTo>
                    <a:pt x="1332" y="1664"/>
                  </a:lnTo>
                  <a:lnTo>
                    <a:pt x="1327" y="1672"/>
                  </a:lnTo>
                  <a:lnTo>
                    <a:pt x="1322" y="1680"/>
                  </a:lnTo>
                  <a:lnTo>
                    <a:pt x="1318" y="1689"/>
                  </a:lnTo>
                  <a:lnTo>
                    <a:pt x="1314" y="1699"/>
                  </a:lnTo>
                  <a:lnTo>
                    <a:pt x="1312" y="1710"/>
                  </a:lnTo>
                  <a:lnTo>
                    <a:pt x="1310" y="1722"/>
                  </a:lnTo>
                  <a:lnTo>
                    <a:pt x="1309" y="1734"/>
                  </a:lnTo>
                  <a:lnTo>
                    <a:pt x="1309" y="1747"/>
                  </a:lnTo>
                  <a:lnTo>
                    <a:pt x="1309" y="1747"/>
                  </a:lnTo>
                  <a:lnTo>
                    <a:pt x="1309" y="1761"/>
                  </a:lnTo>
                  <a:lnTo>
                    <a:pt x="1310" y="1773"/>
                  </a:lnTo>
                  <a:lnTo>
                    <a:pt x="1312" y="1785"/>
                  </a:lnTo>
                  <a:lnTo>
                    <a:pt x="1314" y="1796"/>
                  </a:lnTo>
                  <a:lnTo>
                    <a:pt x="1318" y="1807"/>
                  </a:lnTo>
                  <a:lnTo>
                    <a:pt x="1321" y="1817"/>
                  </a:lnTo>
                  <a:lnTo>
                    <a:pt x="1327" y="1826"/>
                  </a:lnTo>
                  <a:lnTo>
                    <a:pt x="1331" y="1834"/>
                  </a:lnTo>
                  <a:lnTo>
                    <a:pt x="1338" y="1841"/>
                  </a:lnTo>
                  <a:lnTo>
                    <a:pt x="1343" y="1847"/>
                  </a:lnTo>
                  <a:lnTo>
                    <a:pt x="1351" y="1853"/>
                  </a:lnTo>
                  <a:lnTo>
                    <a:pt x="1359" y="1857"/>
                  </a:lnTo>
                  <a:lnTo>
                    <a:pt x="1366" y="1860"/>
                  </a:lnTo>
                  <a:lnTo>
                    <a:pt x="1375" y="1864"/>
                  </a:lnTo>
                  <a:lnTo>
                    <a:pt x="1385" y="1865"/>
                  </a:lnTo>
                  <a:lnTo>
                    <a:pt x="1395" y="1865"/>
                  </a:lnTo>
                  <a:lnTo>
                    <a:pt x="1395" y="1865"/>
                  </a:lnTo>
                  <a:lnTo>
                    <a:pt x="1402" y="1865"/>
                  </a:lnTo>
                  <a:lnTo>
                    <a:pt x="1408" y="1864"/>
                  </a:lnTo>
                  <a:lnTo>
                    <a:pt x="1415" y="1862"/>
                  </a:lnTo>
                  <a:lnTo>
                    <a:pt x="1421" y="1860"/>
                  </a:lnTo>
                  <a:lnTo>
                    <a:pt x="1428" y="1857"/>
                  </a:lnTo>
                  <a:lnTo>
                    <a:pt x="1434" y="1853"/>
                  </a:lnTo>
                  <a:lnTo>
                    <a:pt x="1439" y="1849"/>
                  </a:lnTo>
                  <a:lnTo>
                    <a:pt x="1445" y="1844"/>
                  </a:lnTo>
                  <a:lnTo>
                    <a:pt x="1445" y="1849"/>
                  </a:lnTo>
                  <a:lnTo>
                    <a:pt x="1445" y="1849"/>
                  </a:lnTo>
                  <a:lnTo>
                    <a:pt x="1445" y="1858"/>
                  </a:lnTo>
                  <a:lnTo>
                    <a:pt x="1444" y="1868"/>
                  </a:lnTo>
                  <a:lnTo>
                    <a:pt x="1441" y="1878"/>
                  </a:lnTo>
                  <a:lnTo>
                    <a:pt x="1439" y="1882"/>
                  </a:lnTo>
                  <a:lnTo>
                    <a:pt x="1436" y="1887"/>
                  </a:lnTo>
                  <a:lnTo>
                    <a:pt x="1433" y="1891"/>
                  </a:lnTo>
                  <a:lnTo>
                    <a:pt x="1428" y="1896"/>
                  </a:lnTo>
                  <a:lnTo>
                    <a:pt x="1421" y="1899"/>
                  </a:lnTo>
                  <a:lnTo>
                    <a:pt x="1415" y="1901"/>
                  </a:lnTo>
                  <a:lnTo>
                    <a:pt x="1407" y="1904"/>
                  </a:lnTo>
                  <a:lnTo>
                    <a:pt x="1397" y="1905"/>
                  </a:lnTo>
                  <a:lnTo>
                    <a:pt x="1386" y="1908"/>
                  </a:lnTo>
                  <a:lnTo>
                    <a:pt x="1374" y="1908"/>
                  </a:lnTo>
                  <a:lnTo>
                    <a:pt x="1372" y="1908"/>
                  </a:lnTo>
                  <a:lnTo>
                    <a:pt x="1391" y="1951"/>
                  </a:lnTo>
                  <a:lnTo>
                    <a:pt x="1392" y="1951"/>
                  </a:lnTo>
                  <a:lnTo>
                    <a:pt x="1392" y="1951"/>
                  </a:lnTo>
                  <a:lnTo>
                    <a:pt x="1405" y="1951"/>
                  </a:lnTo>
                  <a:lnTo>
                    <a:pt x="1417" y="1948"/>
                  </a:lnTo>
                  <a:lnTo>
                    <a:pt x="1429" y="1946"/>
                  </a:lnTo>
                  <a:lnTo>
                    <a:pt x="1439" y="1943"/>
                  </a:lnTo>
                  <a:lnTo>
                    <a:pt x="1449" y="1940"/>
                  </a:lnTo>
                  <a:lnTo>
                    <a:pt x="1458" y="1935"/>
                  </a:lnTo>
                  <a:lnTo>
                    <a:pt x="1466" y="1929"/>
                  </a:lnTo>
                  <a:lnTo>
                    <a:pt x="1473" y="1923"/>
                  </a:lnTo>
                  <a:lnTo>
                    <a:pt x="1480" y="1915"/>
                  </a:lnTo>
                  <a:lnTo>
                    <a:pt x="1484" y="1907"/>
                  </a:lnTo>
                  <a:lnTo>
                    <a:pt x="1490" y="1898"/>
                  </a:lnTo>
                  <a:lnTo>
                    <a:pt x="1493" y="1888"/>
                  </a:lnTo>
                  <a:lnTo>
                    <a:pt x="1497" y="1877"/>
                  </a:lnTo>
                  <a:lnTo>
                    <a:pt x="1499" y="1866"/>
                  </a:lnTo>
                  <a:lnTo>
                    <a:pt x="1500" y="1854"/>
                  </a:lnTo>
                  <a:lnTo>
                    <a:pt x="1500" y="1839"/>
                  </a:lnTo>
                  <a:lnTo>
                    <a:pt x="1500" y="1639"/>
                  </a:lnTo>
                  <a:lnTo>
                    <a:pt x="1445" y="1639"/>
                  </a:lnTo>
                  <a:lnTo>
                    <a:pt x="1445" y="1654"/>
                  </a:lnTo>
                  <a:close/>
                  <a:moveTo>
                    <a:pt x="1445" y="1706"/>
                  </a:moveTo>
                  <a:lnTo>
                    <a:pt x="1445" y="1793"/>
                  </a:lnTo>
                  <a:lnTo>
                    <a:pt x="1445" y="1793"/>
                  </a:lnTo>
                  <a:lnTo>
                    <a:pt x="1438" y="1801"/>
                  </a:lnTo>
                  <a:lnTo>
                    <a:pt x="1429" y="1808"/>
                  </a:lnTo>
                  <a:lnTo>
                    <a:pt x="1425" y="1811"/>
                  </a:lnTo>
                  <a:lnTo>
                    <a:pt x="1419" y="1813"/>
                  </a:lnTo>
                  <a:lnTo>
                    <a:pt x="1413" y="1814"/>
                  </a:lnTo>
                  <a:lnTo>
                    <a:pt x="1406" y="1815"/>
                  </a:lnTo>
                  <a:lnTo>
                    <a:pt x="1406" y="1815"/>
                  </a:lnTo>
                  <a:lnTo>
                    <a:pt x="1398" y="1814"/>
                  </a:lnTo>
                  <a:lnTo>
                    <a:pt x="1392" y="1812"/>
                  </a:lnTo>
                  <a:lnTo>
                    <a:pt x="1384" y="1807"/>
                  </a:lnTo>
                  <a:lnTo>
                    <a:pt x="1378" y="1802"/>
                  </a:lnTo>
                  <a:lnTo>
                    <a:pt x="1373" y="1793"/>
                  </a:lnTo>
                  <a:lnTo>
                    <a:pt x="1369" y="1781"/>
                  </a:lnTo>
                  <a:lnTo>
                    <a:pt x="1365" y="1765"/>
                  </a:lnTo>
                  <a:lnTo>
                    <a:pt x="1364" y="1746"/>
                  </a:lnTo>
                  <a:lnTo>
                    <a:pt x="1364" y="1746"/>
                  </a:lnTo>
                  <a:lnTo>
                    <a:pt x="1365" y="1728"/>
                  </a:lnTo>
                  <a:lnTo>
                    <a:pt x="1369" y="1715"/>
                  </a:lnTo>
                  <a:lnTo>
                    <a:pt x="1373" y="1704"/>
                  </a:lnTo>
                  <a:lnTo>
                    <a:pt x="1378" y="1696"/>
                  </a:lnTo>
                  <a:lnTo>
                    <a:pt x="1384" y="1689"/>
                  </a:lnTo>
                  <a:lnTo>
                    <a:pt x="1392" y="1686"/>
                  </a:lnTo>
                  <a:lnTo>
                    <a:pt x="1398" y="1684"/>
                  </a:lnTo>
                  <a:lnTo>
                    <a:pt x="1406" y="1684"/>
                  </a:lnTo>
                  <a:lnTo>
                    <a:pt x="1406" y="1684"/>
                  </a:lnTo>
                  <a:lnTo>
                    <a:pt x="1413" y="1684"/>
                  </a:lnTo>
                  <a:lnTo>
                    <a:pt x="1419" y="1686"/>
                  </a:lnTo>
                  <a:lnTo>
                    <a:pt x="1426" y="1688"/>
                  </a:lnTo>
                  <a:lnTo>
                    <a:pt x="1430" y="1690"/>
                  </a:lnTo>
                  <a:lnTo>
                    <a:pt x="1435" y="1695"/>
                  </a:lnTo>
                  <a:lnTo>
                    <a:pt x="1439" y="1698"/>
                  </a:lnTo>
                  <a:lnTo>
                    <a:pt x="1445" y="1706"/>
                  </a:lnTo>
                  <a:lnTo>
                    <a:pt x="1445" y="1706"/>
                  </a:lnTo>
                  <a:close/>
                  <a:moveTo>
                    <a:pt x="1671" y="1693"/>
                  </a:moveTo>
                  <a:lnTo>
                    <a:pt x="1671" y="1693"/>
                  </a:lnTo>
                  <a:lnTo>
                    <a:pt x="1684" y="1686"/>
                  </a:lnTo>
                  <a:lnTo>
                    <a:pt x="1697" y="1682"/>
                  </a:lnTo>
                  <a:lnTo>
                    <a:pt x="1712" y="1678"/>
                  </a:lnTo>
                  <a:lnTo>
                    <a:pt x="1727" y="1677"/>
                  </a:lnTo>
                  <a:lnTo>
                    <a:pt x="1727" y="1677"/>
                  </a:lnTo>
                  <a:lnTo>
                    <a:pt x="1737" y="1678"/>
                  </a:lnTo>
                  <a:lnTo>
                    <a:pt x="1745" y="1679"/>
                  </a:lnTo>
                  <a:lnTo>
                    <a:pt x="1751" y="1682"/>
                  </a:lnTo>
                  <a:lnTo>
                    <a:pt x="1757" y="1686"/>
                  </a:lnTo>
                  <a:lnTo>
                    <a:pt x="1761" y="1690"/>
                  </a:lnTo>
                  <a:lnTo>
                    <a:pt x="1765" y="1696"/>
                  </a:lnTo>
                  <a:lnTo>
                    <a:pt x="1767" y="1701"/>
                  </a:lnTo>
                  <a:lnTo>
                    <a:pt x="1767" y="1709"/>
                  </a:lnTo>
                  <a:lnTo>
                    <a:pt x="1767" y="1725"/>
                  </a:lnTo>
                  <a:lnTo>
                    <a:pt x="1767" y="1725"/>
                  </a:lnTo>
                  <a:lnTo>
                    <a:pt x="1757" y="1720"/>
                  </a:lnTo>
                  <a:lnTo>
                    <a:pt x="1745" y="1717"/>
                  </a:lnTo>
                  <a:lnTo>
                    <a:pt x="1733" y="1715"/>
                  </a:lnTo>
                  <a:lnTo>
                    <a:pt x="1719" y="1714"/>
                  </a:lnTo>
                  <a:lnTo>
                    <a:pt x="1719" y="1714"/>
                  </a:lnTo>
                  <a:lnTo>
                    <a:pt x="1704" y="1715"/>
                  </a:lnTo>
                  <a:lnTo>
                    <a:pt x="1689" y="1718"/>
                  </a:lnTo>
                  <a:lnTo>
                    <a:pt x="1674" y="1722"/>
                  </a:lnTo>
                  <a:lnTo>
                    <a:pt x="1667" y="1726"/>
                  </a:lnTo>
                  <a:lnTo>
                    <a:pt x="1660" y="1730"/>
                  </a:lnTo>
                  <a:lnTo>
                    <a:pt x="1654" y="1734"/>
                  </a:lnTo>
                  <a:lnTo>
                    <a:pt x="1649" y="1740"/>
                  </a:lnTo>
                  <a:lnTo>
                    <a:pt x="1643" y="1746"/>
                  </a:lnTo>
                  <a:lnTo>
                    <a:pt x="1639" y="1752"/>
                  </a:lnTo>
                  <a:lnTo>
                    <a:pt x="1636" y="1760"/>
                  </a:lnTo>
                  <a:lnTo>
                    <a:pt x="1633" y="1769"/>
                  </a:lnTo>
                  <a:lnTo>
                    <a:pt x="1632" y="1778"/>
                  </a:lnTo>
                  <a:lnTo>
                    <a:pt x="1631" y="1786"/>
                  </a:lnTo>
                  <a:lnTo>
                    <a:pt x="1631" y="1786"/>
                  </a:lnTo>
                  <a:lnTo>
                    <a:pt x="1632" y="1797"/>
                  </a:lnTo>
                  <a:lnTo>
                    <a:pt x="1633" y="1807"/>
                  </a:lnTo>
                  <a:lnTo>
                    <a:pt x="1636" y="1815"/>
                  </a:lnTo>
                  <a:lnTo>
                    <a:pt x="1639" y="1824"/>
                  </a:lnTo>
                  <a:lnTo>
                    <a:pt x="1642" y="1830"/>
                  </a:lnTo>
                  <a:lnTo>
                    <a:pt x="1648" y="1837"/>
                  </a:lnTo>
                  <a:lnTo>
                    <a:pt x="1652" y="1843"/>
                  </a:lnTo>
                  <a:lnTo>
                    <a:pt x="1659" y="1848"/>
                  </a:lnTo>
                  <a:lnTo>
                    <a:pt x="1664" y="1853"/>
                  </a:lnTo>
                  <a:lnTo>
                    <a:pt x="1671" y="1856"/>
                  </a:lnTo>
                  <a:lnTo>
                    <a:pt x="1685" y="1861"/>
                  </a:lnTo>
                  <a:lnTo>
                    <a:pt x="1700" y="1865"/>
                  </a:lnTo>
                  <a:lnTo>
                    <a:pt x="1714" y="1866"/>
                  </a:lnTo>
                  <a:lnTo>
                    <a:pt x="1714" y="1866"/>
                  </a:lnTo>
                  <a:lnTo>
                    <a:pt x="1726" y="1864"/>
                  </a:lnTo>
                  <a:lnTo>
                    <a:pt x="1734" y="1862"/>
                  </a:lnTo>
                  <a:lnTo>
                    <a:pt x="1740" y="1860"/>
                  </a:lnTo>
                  <a:lnTo>
                    <a:pt x="1748" y="1857"/>
                  </a:lnTo>
                  <a:lnTo>
                    <a:pt x="1755" y="1853"/>
                  </a:lnTo>
                  <a:lnTo>
                    <a:pt x="1761" y="1848"/>
                  </a:lnTo>
                  <a:lnTo>
                    <a:pt x="1767" y="1843"/>
                  </a:lnTo>
                  <a:lnTo>
                    <a:pt x="1767" y="1860"/>
                  </a:lnTo>
                  <a:lnTo>
                    <a:pt x="1822" y="1860"/>
                  </a:lnTo>
                  <a:lnTo>
                    <a:pt x="1822" y="1710"/>
                  </a:lnTo>
                  <a:lnTo>
                    <a:pt x="1822" y="1710"/>
                  </a:lnTo>
                  <a:lnTo>
                    <a:pt x="1822" y="1701"/>
                  </a:lnTo>
                  <a:lnTo>
                    <a:pt x="1821" y="1694"/>
                  </a:lnTo>
                  <a:lnTo>
                    <a:pt x="1819" y="1686"/>
                  </a:lnTo>
                  <a:lnTo>
                    <a:pt x="1817" y="1678"/>
                  </a:lnTo>
                  <a:lnTo>
                    <a:pt x="1812" y="1672"/>
                  </a:lnTo>
                  <a:lnTo>
                    <a:pt x="1809" y="1665"/>
                  </a:lnTo>
                  <a:lnTo>
                    <a:pt x="1803" y="1659"/>
                  </a:lnTo>
                  <a:lnTo>
                    <a:pt x="1798" y="1654"/>
                  </a:lnTo>
                  <a:lnTo>
                    <a:pt x="1792" y="1650"/>
                  </a:lnTo>
                  <a:lnTo>
                    <a:pt x="1786" y="1645"/>
                  </a:lnTo>
                  <a:lnTo>
                    <a:pt x="1778" y="1642"/>
                  </a:lnTo>
                  <a:lnTo>
                    <a:pt x="1770" y="1639"/>
                  </a:lnTo>
                  <a:lnTo>
                    <a:pt x="1761" y="1636"/>
                  </a:lnTo>
                  <a:lnTo>
                    <a:pt x="1753" y="1635"/>
                  </a:lnTo>
                  <a:lnTo>
                    <a:pt x="1743" y="1634"/>
                  </a:lnTo>
                  <a:lnTo>
                    <a:pt x="1733" y="1633"/>
                  </a:lnTo>
                  <a:lnTo>
                    <a:pt x="1733" y="1633"/>
                  </a:lnTo>
                  <a:lnTo>
                    <a:pt x="1721" y="1634"/>
                  </a:lnTo>
                  <a:lnTo>
                    <a:pt x="1711" y="1634"/>
                  </a:lnTo>
                  <a:lnTo>
                    <a:pt x="1700" y="1636"/>
                  </a:lnTo>
                  <a:lnTo>
                    <a:pt x="1689" y="1639"/>
                  </a:lnTo>
                  <a:lnTo>
                    <a:pt x="1679" y="1642"/>
                  </a:lnTo>
                  <a:lnTo>
                    <a:pt x="1669" y="1645"/>
                  </a:lnTo>
                  <a:lnTo>
                    <a:pt x="1659" y="1650"/>
                  </a:lnTo>
                  <a:lnTo>
                    <a:pt x="1649" y="1655"/>
                  </a:lnTo>
                  <a:lnTo>
                    <a:pt x="1671" y="1693"/>
                  </a:lnTo>
                  <a:close/>
                  <a:moveTo>
                    <a:pt x="1686" y="1786"/>
                  </a:moveTo>
                  <a:lnTo>
                    <a:pt x="1686" y="1786"/>
                  </a:lnTo>
                  <a:lnTo>
                    <a:pt x="1686" y="1780"/>
                  </a:lnTo>
                  <a:lnTo>
                    <a:pt x="1689" y="1773"/>
                  </a:lnTo>
                  <a:lnTo>
                    <a:pt x="1692" y="1768"/>
                  </a:lnTo>
                  <a:lnTo>
                    <a:pt x="1696" y="1763"/>
                  </a:lnTo>
                  <a:lnTo>
                    <a:pt x="1702" y="1760"/>
                  </a:lnTo>
                  <a:lnTo>
                    <a:pt x="1708" y="1758"/>
                  </a:lnTo>
                  <a:lnTo>
                    <a:pt x="1716" y="1755"/>
                  </a:lnTo>
                  <a:lnTo>
                    <a:pt x="1724" y="1755"/>
                  </a:lnTo>
                  <a:lnTo>
                    <a:pt x="1724" y="1755"/>
                  </a:lnTo>
                  <a:lnTo>
                    <a:pt x="1736" y="1755"/>
                  </a:lnTo>
                  <a:lnTo>
                    <a:pt x="1747" y="1758"/>
                  </a:lnTo>
                  <a:lnTo>
                    <a:pt x="1757" y="1761"/>
                  </a:lnTo>
                  <a:lnTo>
                    <a:pt x="1767" y="1766"/>
                  </a:lnTo>
                  <a:lnTo>
                    <a:pt x="1767" y="1796"/>
                  </a:lnTo>
                  <a:lnTo>
                    <a:pt x="1767" y="1796"/>
                  </a:lnTo>
                  <a:lnTo>
                    <a:pt x="1765" y="1801"/>
                  </a:lnTo>
                  <a:lnTo>
                    <a:pt x="1760" y="1805"/>
                  </a:lnTo>
                  <a:lnTo>
                    <a:pt x="1756" y="1810"/>
                  </a:lnTo>
                  <a:lnTo>
                    <a:pt x="1750" y="1813"/>
                  </a:lnTo>
                  <a:lnTo>
                    <a:pt x="1745" y="1816"/>
                  </a:lnTo>
                  <a:lnTo>
                    <a:pt x="1738" y="1818"/>
                  </a:lnTo>
                  <a:lnTo>
                    <a:pt x="1732" y="1819"/>
                  </a:lnTo>
                  <a:lnTo>
                    <a:pt x="1724" y="1821"/>
                  </a:lnTo>
                  <a:lnTo>
                    <a:pt x="1724" y="1821"/>
                  </a:lnTo>
                  <a:lnTo>
                    <a:pt x="1716" y="1819"/>
                  </a:lnTo>
                  <a:lnTo>
                    <a:pt x="1708" y="1817"/>
                  </a:lnTo>
                  <a:lnTo>
                    <a:pt x="1702" y="1815"/>
                  </a:lnTo>
                  <a:lnTo>
                    <a:pt x="1696" y="1811"/>
                  </a:lnTo>
                  <a:lnTo>
                    <a:pt x="1692" y="1806"/>
                  </a:lnTo>
                  <a:lnTo>
                    <a:pt x="1689" y="1801"/>
                  </a:lnTo>
                  <a:lnTo>
                    <a:pt x="1687" y="1794"/>
                  </a:lnTo>
                  <a:lnTo>
                    <a:pt x="1686" y="1786"/>
                  </a:lnTo>
                  <a:lnTo>
                    <a:pt x="1686" y="1786"/>
                  </a:lnTo>
                  <a:close/>
                  <a:moveTo>
                    <a:pt x="2333" y="1796"/>
                  </a:moveTo>
                  <a:lnTo>
                    <a:pt x="2333" y="1796"/>
                  </a:lnTo>
                  <a:lnTo>
                    <a:pt x="2325" y="1803"/>
                  </a:lnTo>
                  <a:lnTo>
                    <a:pt x="2315" y="1808"/>
                  </a:lnTo>
                  <a:lnTo>
                    <a:pt x="2310" y="1811"/>
                  </a:lnTo>
                  <a:lnTo>
                    <a:pt x="2303" y="1813"/>
                  </a:lnTo>
                  <a:lnTo>
                    <a:pt x="2297" y="1814"/>
                  </a:lnTo>
                  <a:lnTo>
                    <a:pt x="2290" y="1815"/>
                  </a:lnTo>
                  <a:lnTo>
                    <a:pt x="2290" y="1815"/>
                  </a:lnTo>
                  <a:lnTo>
                    <a:pt x="2285" y="1814"/>
                  </a:lnTo>
                  <a:lnTo>
                    <a:pt x="2278" y="1814"/>
                  </a:lnTo>
                  <a:lnTo>
                    <a:pt x="2270" y="1812"/>
                  </a:lnTo>
                  <a:lnTo>
                    <a:pt x="2261" y="1807"/>
                  </a:lnTo>
                  <a:lnTo>
                    <a:pt x="2254" y="1802"/>
                  </a:lnTo>
                  <a:lnTo>
                    <a:pt x="2250" y="1797"/>
                  </a:lnTo>
                  <a:lnTo>
                    <a:pt x="2247" y="1793"/>
                  </a:lnTo>
                  <a:lnTo>
                    <a:pt x="2245" y="1787"/>
                  </a:lnTo>
                  <a:lnTo>
                    <a:pt x="2243" y="1781"/>
                  </a:lnTo>
                  <a:lnTo>
                    <a:pt x="2242" y="1774"/>
                  </a:lnTo>
                  <a:lnTo>
                    <a:pt x="2240" y="1766"/>
                  </a:lnTo>
                  <a:lnTo>
                    <a:pt x="2376" y="1766"/>
                  </a:lnTo>
                  <a:lnTo>
                    <a:pt x="2376" y="1766"/>
                  </a:lnTo>
                  <a:lnTo>
                    <a:pt x="2377" y="1750"/>
                  </a:lnTo>
                  <a:lnTo>
                    <a:pt x="2377" y="1750"/>
                  </a:lnTo>
                  <a:lnTo>
                    <a:pt x="2377" y="1737"/>
                  </a:lnTo>
                  <a:lnTo>
                    <a:pt x="2375" y="1725"/>
                  </a:lnTo>
                  <a:lnTo>
                    <a:pt x="2374" y="1712"/>
                  </a:lnTo>
                  <a:lnTo>
                    <a:pt x="2371" y="1701"/>
                  </a:lnTo>
                  <a:lnTo>
                    <a:pt x="2367" y="1691"/>
                  </a:lnTo>
                  <a:lnTo>
                    <a:pt x="2363" y="1682"/>
                  </a:lnTo>
                  <a:lnTo>
                    <a:pt x="2357" y="1673"/>
                  </a:lnTo>
                  <a:lnTo>
                    <a:pt x="2352" y="1665"/>
                  </a:lnTo>
                  <a:lnTo>
                    <a:pt x="2345" y="1657"/>
                  </a:lnTo>
                  <a:lnTo>
                    <a:pt x="2339" y="1652"/>
                  </a:lnTo>
                  <a:lnTo>
                    <a:pt x="2331" y="1646"/>
                  </a:lnTo>
                  <a:lnTo>
                    <a:pt x="2322" y="1642"/>
                  </a:lnTo>
                  <a:lnTo>
                    <a:pt x="2313" y="1639"/>
                  </a:lnTo>
                  <a:lnTo>
                    <a:pt x="2304" y="1635"/>
                  </a:lnTo>
                  <a:lnTo>
                    <a:pt x="2294" y="1634"/>
                  </a:lnTo>
                  <a:lnTo>
                    <a:pt x="2283" y="1633"/>
                  </a:lnTo>
                  <a:lnTo>
                    <a:pt x="2283" y="1633"/>
                  </a:lnTo>
                  <a:lnTo>
                    <a:pt x="2274" y="1634"/>
                  </a:lnTo>
                  <a:lnTo>
                    <a:pt x="2264" y="1635"/>
                  </a:lnTo>
                  <a:lnTo>
                    <a:pt x="2254" y="1639"/>
                  </a:lnTo>
                  <a:lnTo>
                    <a:pt x="2244" y="1642"/>
                  </a:lnTo>
                  <a:lnTo>
                    <a:pt x="2235" y="1646"/>
                  </a:lnTo>
                  <a:lnTo>
                    <a:pt x="2227" y="1653"/>
                  </a:lnTo>
                  <a:lnTo>
                    <a:pt x="2219" y="1658"/>
                  </a:lnTo>
                  <a:lnTo>
                    <a:pt x="2213" y="1666"/>
                  </a:lnTo>
                  <a:lnTo>
                    <a:pt x="2206" y="1674"/>
                  </a:lnTo>
                  <a:lnTo>
                    <a:pt x="2201" y="1683"/>
                  </a:lnTo>
                  <a:lnTo>
                    <a:pt x="2196" y="1693"/>
                  </a:lnTo>
                  <a:lnTo>
                    <a:pt x="2192" y="1703"/>
                  </a:lnTo>
                  <a:lnTo>
                    <a:pt x="2189" y="1714"/>
                  </a:lnTo>
                  <a:lnTo>
                    <a:pt x="2186" y="1726"/>
                  </a:lnTo>
                  <a:lnTo>
                    <a:pt x="2185" y="1737"/>
                  </a:lnTo>
                  <a:lnTo>
                    <a:pt x="2184" y="1750"/>
                  </a:lnTo>
                  <a:lnTo>
                    <a:pt x="2184" y="1750"/>
                  </a:lnTo>
                  <a:lnTo>
                    <a:pt x="2185" y="1762"/>
                  </a:lnTo>
                  <a:lnTo>
                    <a:pt x="2186" y="1774"/>
                  </a:lnTo>
                  <a:lnTo>
                    <a:pt x="2189" y="1786"/>
                  </a:lnTo>
                  <a:lnTo>
                    <a:pt x="2192" y="1797"/>
                  </a:lnTo>
                  <a:lnTo>
                    <a:pt x="2196" y="1807"/>
                  </a:lnTo>
                  <a:lnTo>
                    <a:pt x="2201" y="1817"/>
                  </a:lnTo>
                  <a:lnTo>
                    <a:pt x="2206" y="1826"/>
                  </a:lnTo>
                  <a:lnTo>
                    <a:pt x="2213" y="1834"/>
                  </a:lnTo>
                  <a:lnTo>
                    <a:pt x="2221" y="1840"/>
                  </a:lnTo>
                  <a:lnTo>
                    <a:pt x="2228" y="1847"/>
                  </a:lnTo>
                  <a:lnTo>
                    <a:pt x="2237" y="1853"/>
                  </a:lnTo>
                  <a:lnTo>
                    <a:pt x="2246" y="1857"/>
                  </a:lnTo>
                  <a:lnTo>
                    <a:pt x="2256" y="1860"/>
                  </a:lnTo>
                  <a:lnTo>
                    <a:pt x="2267" y="1864"/>
                  </a:lnTo>
                  <a:lnTo>
                    <a:pt x="2278" y="1865"/>
                  </a:lnTo>
                  <a:lnTo>
                    <a:pt x="2290" y="1866"/>
                  </a:lnTo>
                  <a:lnTo>
                    <a:pt x="2290" y="1866"/>
                  </a:lnTo>
                  <a:lnTo>
                    <a:pt x="2301" y="1865"/>
                  </a:lnTo>
                  <a:lnTo>
                    <a:pt x="2311" y="1864"/>
                  </a:lnTo>
                  <a:lnTo>
                    <a:pt x="2322" y="1860"/>
                  </a:lnTo>
                  <a:lnTo>
                    <a:pt x="2332" y="1857"/>
                  </a:lnTo>
                  <a:lnTo>
                    <a:pt x="2342" y="1851"/>
                  </a:lnTo>
                  <a:lnTo>
                    <a:pt x="2351" y="1846"/>
                  </a:lnTo>
                  <a:lnTo>
                    <a:pt x="2360" y="1838"/>
                  </a:lnTo>
                  <a:lnTo>
                    <a:pt x="2368" y="1830"/>
                  </a:lnTo>
                  <a:lnTo>
                    <a:pt x="2333" y="1796"/>
                  </a:lnTo>
                  <a:close/>
                  <a:moveTo>
                    <a:pt x="2242" y="1726"/>
                  </a:moveTo>
                  <a:lnTo>
                    <a:pt x="2242" y="1726"/>
                  </a:lnTo>
                  <a:lnTo>
                    <a:pt x="2243" y="1716"/>
                  </a:lnTo>
                  <a:lnTo>
                    <a:pt x="2245" y="1707"/>
                  </a:lnTo>
                  <a:lnTo>
                    <a:pt x="2248" y="1699"/>
                  </a:lnTo>
                  <a:lnTo>
                    <a:pt x="2254" y="1693"/>
                  </a:lnTo>
                  <a:lnTo>
                    <a:pt x="2259" y="1687"/>
                  </a:lnTo>
                  <a:lnTo>
                    <a:pt x="2266" y="1684"/>
                  </a:lnTo>
                  <a:lnTo>
                    <a:pt x="2274" y="1680"/>
                  </a:lnTo>
                  <a:lnTo>
                    <a:pt x="2282" y="1680"/>
                  </a:lnTo>
                  <a:lnTo>
                    <a:pt x="2282" y="1680"/>
                  </a:lnTo>
                  <a:lnTo>
                    <a:pt x="2292" y="1682"/>
                  </a:lnTo>
                  <a:lnTo>
                    <a:pt x="2301" y="1684"/>
                  </a:lnTo>
                  <a:lnTo>
                    <a:pt x="2308" y="1688"/>
                  </a:lnTo>
                  <a:lnTo>
                    <a:pt x="2313" y="1695"/>
                  </a:lnTo>
                  <a:lnTo>
                    <a:pt x="2318" y="1701"/>
                  </a:lnTo>
                  <a:lnTo>
                    <a:pt x="2321" y="1709"/>
                  </a:lnTo>
                  <a:lnTo>
                    <a:pt x="2323" y="1718"/>
                  </a:lnTo>
                  <a:lnTo>
                    <a:pt x="2324" y="1726"/>
                  </a:lnTo>
                  <a:lnTo>
                    <a:pt x="2242" y="1726"/>
                  </a:lnTo>
                  <a:close/>
                  <a:moveTo>
                    <a:pt x="2864" y="1796"/>
                  </a:moveTo>
                  <a:lnTo>
                    <a:pt x="2864" y="1796"/>
                  </a:lnTo>
                  <a:lnTo>
                    <a:pt x="2855" y="1803"/>
                  </a:lnTo>
                  <a:lnTo>
                    <a:pt x="2846" y="1808"/>
                  </a:lnTo>
                  <a:lnTo>
                    <a:pt x="2840" y="1811"/>
                  </a:lnTo>
                  <a:lnTo>
                    <a:pt x="2834" y="1813"/>
                  </a:lnTo>
                  <a:lnTo>
                    <a:pt x="2828" y="1814"/>
                  </a:lnTo>
                  <a:lnTo>
                    <a:pt x="2820" y="1815"/>
                  </a:lnTo>
                  <a:lnTo>
                    <a:pt x="2820" y="1815"/>
                  </a:lnTo>
                  <a:lnTo>
                    <a:pt x="2814" y="1814"/>
                  </a:lnTo>
                  <a:lnTo>
                    <a:pt x="2808" y="1814"/>
                  </a:lnTo>
                  <a:lnTo>
                    <a:pt x="2800" y="1812"/>
                  </a:lnTo>
                  <a:lnTo>
                    <a:pt x="2792" y="1807"/>
                  </a:lnTo>
                  <a:lnTo>
                    <a:pt x="2784" y="1802"/>
                  </a:lnTo>
                  <a:lnTo>
                    <a:pt x="2781" y="1797"/>
                  </a:lnTo>
                  <a:lnTo>
                    <a:pt x="2778" y="1793"/>
                  </a:lnTo>
                  <a:lnTo>
                    <a:pt x="2776" y="1787"/>
                  </a:lnTo>
                  <a:lnTo>
                    <a:pt x="2773" y="1781"/>
                  </a:lnTo>
                  <a:lnTo>
                    <a:pt x="2771" y="1774"/>
                  </a:lnTo>
                  <a:lnTo>
                    <a:pt x="2770" y="1766"/>
                  </a:lnTo>
                  <a:lnTo>
                    <a:pt x="2907" y="1766"/>
                  </a:lnTo>
                  <a:lnTo>
                    <a:pt x="2907" y="1766"/>
                  </a:lnTo>
                  <a:lnTo>
                    <a:pt x="2908" y="1750"/>
                  </a:lnTo>
                  <a:lnTo>
                    <a:pt x="2908" y="1750"/>
                  </a:lnTo>
                  <a:lnTo>
                    <a:pt x="2907" y="1737"/>
                  </a:lnTo>
                  <a:lnTo>
                    <a:pt x="2906" y="1725"/>
                  </a:lnTo>
                  <a:lnTo>
                    <a:pt x="2904" y="1712"/>
                  </a:lnTo>
                  <a:lnTo>
                    <a:pt x="2901" y="1701"/>
                  </a:lnTo>
                  <a:lnTo>
                    <a:pt x="2897" y="1691"/>
                  </a:lnTo>
                  <a:lnTo>
                    <a:pt x="2893" y="1682"/>
                  </a:lnTo>
                  <a:lnTo>
                    <a:pt x="2888" y="1673"/>
                  </a:lnTo>
                  <a:lnTo>
                    <a:pt x="2883" y="1665"/>
                  </a:lnTo>
                  <a:lnTo>
                    <a:pt x="2876" y="1657"/>
                  </a:lnTo>
                  <a:lnTo>
                    <a:pt x="2868" y="1652"/>
                  </a:lnTo>
                  <a:lnTo>
                    <a:pt x="2861" y="1646"/>
                  </a:lnTo>
                  <a:lnTo>
                    <a:pt x="2853" y="1642"/>
                  </a:lnTo>
                  <a:lnTo>
                    <a:pt x="2844" y="1639"/>
                  </a:lnTo>
                  <a:lnTo>
                    <a:pt x="2834" y="1635"/>
                  </a:lnTo>
                  <a:lnTo>
                    <a:pt x="2824" y="1634"/>
                  </a:lnTo>
                  <a:lnTo>
                    <a:pt x="2814" y="1633"/>
                  </a:lnTo>
                  <a:lnTo>
                    <a:pt x="2814" y="1633"/>
                  </a:lnTo>
                  <a:lnTo>
                    <a:pt x="2803" y="1634"/>
                  </a:lnTo>
                  <a:lnTo>
                    <a:pt x="2793" y="1635"/>
                  </a:lnTo>
                  <a:lnTo>
                    <a:pt x="2783" y="1639"/>
                  </a:lnTo>
                  <a:lnTo>
                    <a:pt x="2775" y="1642"/>
                  </a:lnTo>
                  <a:lnTo>
                    <a:pt x="2766" y="1646"/>
                  </a:lnTo>
                  <a:lnTo>
                    <a:pt x="2757" y="1653"/>
                  </a:lnTo>
                  <a:lnTo>
                    <a:pt x="2750" y="1658"/>
                  </a:lnTo>
                  <a:lnTo>
                    <a:pt x="2743" y="1666"/>
                  </a:lnTo>
                  <a:lnTo>
                    <a:pt x="2736" y="1674"/>
                  </a:lnTo>
                  <a:lnTo>
                    <a:pt x="2730" y="1683"/>
                  </a:lnTo>
                  <a:lnTo>
                    <a:pt x="2726" y="1693"/>
                  </a:lnTo>
                  <a:lnTo>
                    <a:pt x="2722" y="1703"/>
                  </a:lnTo>
                  <a:lnTo>
                    <a:pt x="2719" y="1714"/>
                  </a:lnTo>
                  <a:lnTo>
                    <a:pt x="2716" y="1726"/>
                  </a:lnTo>
                  <a:lnTo>
                    <a:pt x="2715" y="1737"/>
                  </a:lnTo>
                  <a:lnTo>
                    <a:pt x="2715" y="1750"/>
                  </a:lnTo>
                  <a:lnTo>
                    <a:pt x="2715" y="1750"/>
                  </a:lnTo>
                  <a:lnTo>
                    <a:pt x="2715" y="1762"/>
                  </a:lnTo>
                  <a:lnTo>
                    <a:pt x="2716" y="1774"/>
                  </a:lnTo>
                  <a:lnTo>
                    <a:pt x="2718" y="1786"/>
                  </a:lnTo>
                  <a:lnTo>
                    <a:pt x="2722" y="1797"/>
                  </a:lnTo>
                  <a:lnTo>
                    <a:pt x="2726" y="1807"/>
                  </a:lnTo>
                  <a:lnTo>
                    <a:pt x="2732" y="1817"/>
                  </a:lnTo>
                  <a:lnTo>
                    <a:pt x="2737" y="1826"/>
                  </a:lnTo>
                  <a:lnTo>
                    <a:pt x="2744" y="1834"/>
                  </a:lnTo>
                  <a:lnTo>
                    <a:pt x="2750" y="1840"/>
                  </a:lnTo>
                  <a:lnTo>
                    <a:pt x="2758" y="1847"/>
                  </a:lnTo>
                  <a:lnTo>
                    <a:pt x="2767" y="1853"/>
                  </a:lnTo>
                  <a:lnTo>
                    <a:pt x="2777" y="1857"/>
                  </a:lnTo>
                  <a:lnTo>
                    <a:pt x="2787" y="1860"/>
                  </a:lnTo>
                  <a:lnTo>
                    <a:pt x="2797" y="1864"/>
                  </a:lnTo>
                  <a:lnTo>
                    <a:pt x="2809" y="1865"/>
                  </a:lnTo>
                  <a:lnTo>
                    <a:pt x="2820" y="1866"/>
                  </a:lnTo>
                  <a:lnTo>
                    <a:pt x="2820" y="1866"/>
                  </a:lnTo>
                  <a:lnTo>
                    <a:pt x="2831" y="1865"/>
                  </a:lnTo>
                  <a:lnTo>
                    <a:pt x="2842" y="1864"/>
                  </a:lnTo>
                  <a:lnTo>
                    <a:pt x="2852" y="1860"/>
                  </a:lnTo>
                  <a:lnTo>
                    <a:pt x="2862" y="1857"/>
                  </a:lnTo>
                  <a:lnTo>
                    <a:pt x="2872" y="1851"/>
                  </a:lnTo>
                  <a:lnTo>
                    <a:pt x="2882" y="1846"/>
                  </a:lnTo>
                  <a:lnTo>
                    <a:pt x="2890" y="1838"/>
                  </a:lnTo>
                  <a:lnTo>
                    <a:pt x="2898" y="1830"/>
                  </a:lnTo>
                  <a:lnTo>
                    <a:pt x="2864" y="1796"/>
                  </a:lnTo>
                  <a:close/>
                  <a:moveTo>
                    <a:pt x="2771" y="1726"/>
                  </a:moveTo>
                  <a:lnTo>
                    <a:pt x="2771" y="1726"/>
                  </a:lnTo>
                  <a:lnTo>
                    <a:pt x="2772" y="1716"/>
                  </a:lnTo>
                  <a:lnTo>
                    <a:pt x="2776" y="1707"/>
                  </a:lnTo>
                  <a:lnTo>
                    <a:pt x="2779" y="1699"/>
                  </a:lnTo>
                  <a:lnTo>
                    <a:pt x="2783" y="1693"/>
                  </a:lnTo>
                  <a:lnTo>
                    <a:pt x="2790" y="1687"/>
                  </a:lnTo>
                  <a:lnTo>
                    <a:pt x="2797" y="1684"/>
                  </a:lnTo>
                  <a:lnTo>
                    <a:pt x="2804" y="1680"/>
                  </a:lnTo>
                  <a:lnTo>
                    <a:pt x="2813" y="1680"/>
                  </a:lnTo>
                  <a:lnTo>
                    <a:pt x="2813" y="1680"/>
                  </a:lnTo>
                  <a:lnTo>
                    <a:pt x="2823" y="1682"/>
                  </a:lnTo>
                  <a:lnTo>
                    <a:pt x="2831" y="1684"/>
                  </a:lnTo>
                  <a:lnTo>
                    <a:pt x="2839" y="1688"/>
                  </a:lnTo>
                  <a:lnTo>
                    <a:pt x="2844" y="1695"/>
                  </a:lnTo>
                  <a:lnTo>
                    <a:pt x="2849" y="1701"/>
                  </a:lnTo>
                  <a:lnTo>
                    <a:pt x="2852" y="1709"/>
                  </a:lnTo>
                  <a:lnTo>
                    <a:pt x="2854" y="1718"/>
                  </a:lnTo>
                  <a:lnTo>
                    <a:pt x="2855" y="1726"/>
                  </a:lnTo>
                  <a:lnTo>
                    <a:pt x="2771" y="1726"/>
                  </a:lnTo>
                  <a:close/>
                  <a:moveTo>
                    <a:pt x="2639" y="1783"/>
                  </a:moveTo>
                  <a:lnTo>
                    <a:pt x="2639" y="1783"/>
                  </a:lnTo>
                  <a:lnTo>
                    <a:pt x="2639" y="1791"/>
                  </a:lnTo>
                  <a:lnTo>
                    <a:pt x="2640" y="1796"/>
                  </a:lnTo>
                  <a:lnTo>
                    <a:pt x="2642" y="1802"/>
                  </a:lnTo>
                  <a:lnTo>
                    <a:pt x="2644" y="1806"/>
                  </a:lnTo>
                  <a:lnTo>
                    <a:pt x="2648" y="1810"/>
                  </a:lnTo>
                  <a:lnTo>
                    <a:pt x="2652" y="1812"/>
                  </a:lnTo>
                  <a:lnTo>
                    <a:pt x="2656" y="1813"/>
                  </a:lnTo>
                  <a:lnTo>
                    <a:pt x="2663" y="1813"/>
                  </a:lnTo>
                  <a:lnTo>
                    <a:pt x="2663" y="1813"/>
                  </a:lnTo>
                  <a:lnTo>
                    <a:pt x="2671" y="1813"/>
                  </a:lnTo>
                  <a:lnTo>
                    <a:pt x="2680" y="1811"/>
                  </a:lnTo>
                  <a:lnTo>
                    <a:pt x="2688" y="1807"/>
                  </a:lnTo>
                  <a:lnTo>
                    <a:pt x="2696" y="1803"/>
                  </a:lnTo>
                  <a:lnTo>
                    <a:pt x="2690" y="1855"/>
                  </a:lnTo>
                  <a:lnTo>
                    <a:pt x="2690" y="1855"/>
                  </a:lnTo>
                  <a:lnTo>
                    <a:pt x="2680" y="1859"/>
                  </a:lnTo>
                  <a:lnTo>
                    <a:pt x="2668" y="1862"/>
                  </a:lnTo>
                  <a:lnTo>
                    <a:pt x="2655" y="1865"/>
                  </a:lnTo>
                  <a:lnTo>
                    <a:pt x="2643" y="1866"/>
                  </a:lnTo>
                  <a:lnTo>
                    <a:pt x="2643" y="1866"/>
                  </a:lnTo>
                  <a:lnTo>
                    <a:pt x="2636" y="1865"/>
                  </a:lnTo>
                  <a:lnTo>
                    <a:pt x="2628" y="1864"/>
                  </a:lnTo>
                  <a:lnTo>
                    <a:pt x="2621" y="1861"/>
                  </a:lnTo>
                  <a:lnTo>
                    <a:pt x="2616" y="1859"/>
                  </a:lnTo>
                  <a:lnTo>
                    <a:pt x="2610" y="1856"/>
                  </a:lnTo>
                  <a:lnTo>
                    <a:pt x="2605" y="1853"/>
                  </a:lnTo>
                  <a:lnTo>
                    <a:pt x="2601" y="1848"/>
                  </a:lnTo>
                  <a:lnTo>
                    <a:pt x="2597" y="1843"/>
                  </a:lnTo>
                  <a:lnTo>
                    <a:pt x="2591" y="1833"/>
                  </a:lnTo>
                  <a:lnTo>
                    <a:pt x="2587" y="1821"/>
                  </a:lnTo>
                  <a:lnTo>
                    <a:pt x="2585" y="1810"/>
                  </a:lnTo>
                  <a:lnTo>
                    <a:pt x="2584" y="1797"/>
                  </a:lnTo>
                  <a:lnTo>
                    <a:pt x="2584" y="1689"/>
                  </a:lnTo>
                  <a:lnTo>
                    <a:pt x="2549" y="1689"/>
                  </a:lnTo>
                  <a:lnTo>
                    <a:pt x="2549" y="1639"/>
                  </a:lnTo>
                  <a:lnTo>
                    <a:pt x="2584" y="1639"/>
                  </a:lnTo>
                  <a:lnTo>
                    <a:pt x="2584" y="1581"/>
                  </a:lnTo>
                  <a:lnTo>
                    <a:pt x="2639" y="1554"/>
                  </a:lnTo>
                  <a:lnTo>
                    <a:pt x="2639" y="1639"/>
                  </a:lnTo>
                  <a:lnTo>
                    <a:pt x="2688" y="1639"/>
                  </a:lnTo>
                  <a:lnTo>
                    <a:pt x="2688" y="1689"/>
                  </a:lnTo>
                  <a:lnTo>
                    <a:pt x="2639" y="1689"/>
                  </a:lnTo>
                  <a:lnTo>
                    <a:pt x="2639" y="1783"/>
                  </a:lnTo>
                  <a:close/>
                  <a:moveTo>
                    <a:pt x="2532" y="1855"/>
                  </a:moveTo>
                  <a:lnTo>
                    <a:pt x="2532" y="1855"/>
                  </a:lnTo>
                  <a:lnTo>
                    <a:pt x="2522" y="1859"/>
                  </a:lnTo>
                  <a:lnTo>
                    <a:pt x="2511" y="1862"/>
                  </a:lnTo>
                  <a:lnTo>
                    <a:pt x="2499" y="1865"/>
                  </a:lnTo>
                  <a:lnTo>
                    <a:pt x="2487" y="1866"/>
                  </a:lnTo>
                  <a:lnTo>
                    <a:pt x="2487" y="1866"/>
                  </a:lnTo>
                  <a:lnTo>
                    <a:pt x="2478" y="1865"/>
                  </a:lnTo>
                  <a:lnTo>
                    <a:pt x="2471" y="1864"/>
                  </a:lnTo>
                  <a:lnTo>
                    <a:pt x="2464" y="1861"/>
                  </a:lnTo>
                  <a:lnTo>
                    <a:pt x="2458" y="1859"/>
                  </a:lnTo>
                  <a:lnTo>
                    <a:pt x="2453" y="1856"/>
                  </a:lnTo>
                  <a:lnTo>
                    <a:pt x="2448" y="1853"/>
                  </a:lnTo>
                  <a:lnTo>
                    <a:pt x="2443" y="1848"/>
                  </a:lnTo>
                  <a:lnTo>
                    <a:pt x="2440" y="1843"/>
                  </a:lnTo>
                  <a:lnTo>
                    <a:pt x="2434" y="1833"/>
                  </a:lnTo>
                  <a:lnTo>
                    <a:pt x="2430" y="1821"/>
                  </a:lnTo>
                  <a:lnTo>
                    <a:pt x="2427" y="1810"/>
                  </a:lnTo>
                  <a:lnTo>
                    <a:pt x="2427" y="1797"/>
                  </a:lnTo>
                  <a:lnTo>
                    <a:pt x="2427" y="1689"/>
                  </a:lnTo>
                  <a:lnTo>
                    <a:pt x="2393" y="1689"/>
                  </a:lnTo>
                  <a:lnTo>
                    <a:pt x="2393" y="1639"/>
                  </a:lnTo>
                  <a:lnTo>
                    <a:pt x="2427" y="1639"/>
                  </a:lnTo>
                  <a:lnTo>
                    <a:pt x="2427" y="1581"/>
                  </a:lnTo>
                  <a:lnTo>
                    <a:pt x="2482" y="1554"/>
                  </a:lnTo>
                  <a:lnTo>
                    <a:pt x="2482" y="1639"/>
                  </a:lnTo>
                  <a:lnTo>
                    <a:pt x="2528" y="1639"/>
                  </a:lnTo>
                  <a:lnTo>
                    <a:pt x="2528" y="1689"/>
                  </a:lnTo>
                  <a:lnTo>
                    <a:pt x="2482" y="1689"/>
                  </a:lnTo>
                  <a:lnTo>
                    <a:pt x="2482" y="1783"/>
                  </a:lnTo>
                  <a:lnTo>
                    <a:pt x="2482" y="1783"/>
                  </a:lnTo>
                  <a:lnTo>
                    <a:pt x="2482" y="1791"/>
                  </a:lnTo>
                  <a:lnTo>
                    <a:pt x="2483" y="1796"/>
                  </a:lnTo>
                  <a:lnTo>
                    <a:pt x="2485" y="1802"/>
                  </a:lnTo>
                  <a:lnTo>
                    <a:pt x="2488" y="1806"/>
                  </a:lnTo>
                  <a:lnTo>
                    <a:pt x="2491" y="1810"/>
                  </a:lnTo>
                  <a:lnTo>
                    <a:pt x="2495" y="1812"/>
                  </a:lnTo>
                  <a:lnTo>
                    <a:pt x="2500" y="1813"/>
                  </a:lnTo>
                  <a:lnTo>
                    <a:pt x="2505" y="1813"/>
                  </a:lnTo>
                  <a:lnTo>
                    <a:pt x="2505" y="1813"/>
                  </a:lnTo>
                  <a:lnTo>
                    <a:pt x="2514" y="1813"/>
                  </a:lnTo>
                  <a:lnTo>
                    <a:pt x="2523" y="1811"/>
                  </a:lnTo>
                  <a:lnTo>
                    <a:pt x="2531" y="1807"/>
                  </a:lnTo>
                  <a:lnTo>
                    <a:pt x="2538" y="1803"/>
                  </a:lnTo>
                  <a:lnTo>
                    <a:pt x="2532" y="1855"/>
                  </a:lnTo>
                  <a:close/>
                  <a:moveTo>
                    <a:pt x="3074" y="1700"/>
                  </a:moveTo>
                  <a:lnTo>
                    <a:pt x="3074" y="1700"/>
                  </a:lnTo>
                  <a:lnTo>
                    <a:pt x="3066" y="1695"/>
                  </a:lnTo>
                  <a:lnTo>
                    <a:pt x="3057" y="1691"/>
                  </a:lnTo>
                  <a:lnTo>
                    <a:pt x="3047" y="1689"/>
                  </a:lnTo>
                  <a:lnTo>
                    <a:pt x="3037" y="1688"/>
                  </a:lnTo>
                  <a:lnTo>
                    <a:pt x="3037" y="1688"/>
                  </a:lnTo>
                  <a:lnTo>
                    <a:pt x="3028" y="1689"/>
                  </a:lnTo>
                  <a:lnTo>
                    <a:pt x="3020" y="1691"/>
                  </a:lnTo>
                  <a:lnTo>
                    <a:pt x="3013" y="1696"/>
                  </a:lnTo>
                  <a:lnTo>
                    <a:pt x="3007" y="1701"/>
                  </a:lnTo>
                  <a:lnTo>
                    <a:pt x="3003" y="1708"/>
                  </a:lnTo>
                  <a:lnTo>
                    <a:pt x="3001" y="1717"/>
                  </a:lnTo>
                  <a:lnTo>
                    <a:pt x="2999" y="1728"/>
                  </a:lnTo>
                  <a:lnTo>
                    <a:pt x="2998" y="1740"/>
                  </a:lnTo>
                  <a:lnTo>
                    <a:pt x="2998" y="1860"/>
                  </a:lnTo>
                  <a:lnTo>
                    <a:pt x="2943" y="1860"/>
                  </a:lnTo>
                  <a:lnTo>
                    <a:pt x="2943" y="1639"/>
                  </a:lnTo>
                  <a:lnTo>
                    <a:pt x="2998" y="1639"/>
                  </a:lnTo>
                  <a:lnTo>
                    <a:pt x="2998" y="1657"/>
                  </a:lnTo>
                  <a:lnTo>
                    <a:pt x="2998" y="1657"/>
                  </a:lnTo>
                  <a:lnTo>
                    <a:pt x="3003" y="1652"/>
                  </a:lnTo>
                  <a:lnTo>
                    <a:pt x="3009" y="1646"/>
                  </a:lnTo>
                  <a:lnTo>
                    <a:pt x="3014" y="1643"/>
                  </a:lnTo>
                  <a:lnTo>
                    <a:pt x="3021" y="1640"/>
                  </a:lnTo>
                  <a:lnTo>
                    <a:pt x="3026" y="1636"/>
                  </a:lnTo>
                  <a:lnTo>
                    <a:pt x="3033" y="1635"/>
                  </a:lnTo>
                  <a:lnTo>
                    <a:pt x="3039" y="1634"/>
                  </a:lnTo>
                  <a:lnTo>
                    <a:pt x="3047" y="1633"/>
                  </a:lnTo>
                  <a:lnTo>
                    <a:pt x="3047" y="1633"/>
                  </a:lnTo>
                  <a:lnTo>
                    <a:pt x="3058" y="1634"/>
                  </a:lnTo>
                  <a:lnTo>
                    <a:pt x="3069" y="1637"/>
                  </a:lnTo>
                  <a:lnTo>
                    <a:pt x="3079" y="1641"/>
                  </a:lnTo>
                  <a:lnTo>
                    <a:pt x="3088" y="1646"/>
                  </a:lnTo>
                  <a:lnTo>
                    <a:pt x="3074" y="1700"/>
                  </a:lnTo>
                  <a:close/>
                  <a:moveTo>
                    <a:pt x="593" y="1579"/>
                  </a:moveTo>
                  <a:lnTo>
                    <a:pt x="593" y="1607"/>
                  </a:lnTo>
                  <a:lnTo>
                    <a:pt x="537" y="1607"/>
                  </a:lnTo>
                  <a:lnTo>
                    <a:pt x="537" y="1551"/>
                  </a:lnTo>
                  <a:lnTo>
                    <a:pt x="593" y="1551"/>
                  </a:lnTo>
                  <a:lnTo>
                    <a:pt x="593" y="1579"/>
                  </a:lnTo>
                  <a:close/>
                  <a:moveTo>
                    <a:pt x="975" y="1639"/>
                  </a:moveTo>
                  <a:lnTo>
                    <a:pt x="1030" y="1639"/>
                  </a:lnTo>
                  <a:lnTo>
                    <a:pt x="1030" y="1738"/>
                  </a:lnTo>
                  <a:lnTo>
                    <a:pt x="1030" y="1860"/>
                  </a:lnTo>
                  <a:lnTo>
                    <a:pt x="975" y="1860"/>
                  </a:lnTo>
                  <a:lnTo>
                    <a:pt x="975" y="1639"/>
                  </a:lnTo>
                  <a:close/>
                  <a:moveTo>
                    <a:pt x="1030" y="1579"/>
                  </a:moveTo>
                  <a:lnTo>
                    <a:pt x="1030" y="1607"/>
                  </a:lnTo>
                  <a:lnTo>
                    <a:pt x="975" y="1607"/>
                  </a:lnTo>
                  <a:lnTo>
                    <a:pt x="975" y="1551"/>
                  </a:lnTo>
                  <a:lnTo>
                    <a:pt x="1030" y="1551"/>
                  </a:lnTo>
                  <a:lnTo>
                    <a:pt x="1030" y="1579"/>
                  </a:lnTo>
                  <a:close/>
                  <a:moveTo>
                    <a:pt x="2539" y="2042"/>
                  </a:moveTo>
                  <a:lnTo>
                    <a:pt x="2539" y="2042"/>
                  </a:lnTo>
                  <a:lnTo>
                    <a:pt x="2534" y="2038"/>
                  </a:lnTo>
                  <a:lnTo>
                    <a:pt x="2528" y="2033"/>
                  </a:lnTo>
                  <a:lnTo>
                    <a:pt x="2523" y="2030"/>
                  </a:lnTo>
                  <a:lnTo>
                    <a:pt x="2516" y="2027"/>
                  </a:lnTo>
                  <a:lnTo>
                    <a:pt x="2511" y="2025"/>
                  </a:lnTo>
                  <a:lnTo>
                    <a:pt x="2504" y="2024"/>
                  </a:lnTo>
                  <a:lnTo>
                    <a:pt x="2490" y="2021"/>
                  </a:lnTo>
                  <a:lnTo>
                    <a:pt x="2490" y="2021"/>
                  </a:lnTo>
                  <a:lnTo>
                    <a:pt x="2480" y="2022"/>
                  </a:lnTo>
                  <a:lnTo>
                    <a:pt x="2471" y="2024"/>
                  </a:lnTo>
                  <a:lnTo>
                    <a:pt x="2462" y="2027"/>
                  </a:lnTo>
                  <a:lnTo>
                    <a:pt x="2453" y="2030"/>
                  </a:lnTo>
                  <a:lnTo>
                    <a:pt x="2446" y="2035"/>
                  </a:lnTo>
                  <a:lnTo>
                    <a:pt x="2439" y="2039"/>
                  </a:lnTo>
                  <a:lnTo>
                    <a:pt x="2432" y="2046"/>
                  </a:lnTo>
                  <a:lnTo>
                    <a:pt x="2426" y="2052"/>
                  </a:lnTo>
                  <a:lnTo>
                    <a:pt x="2421" y="2060"/>
                  </a:lnTo>
                  <a:lnTo>
                    <a:pt x="2416" y="2069"/>
                  </a:lnTo>
                  <a:lnTo>
                    <a:pt x="2413" y="2078"/>
                  </a:lnTo>
                  <a:lnTo>
                    <a:pt x="2409" y="2089"/>
                  </a:lnTo>
                  <a:lnTo>
                    <a:pt x="2406" y="2099"/>
                  </a:lnTo>
                  <a:lnTo>
                    <a:pt x="2405" y="2111"/>
                  </a:lnTo>
                  <a:lnTo>
                    <a:pt x="2404" y="2123"/>
                  </a:lnTo>
                  <a:lnTo>
                    <a:pt x="2403" y="2136"/>
                  </a:lnTo>
                  <a:lnTo>
                    <a:pt x="2403" y="2136"/>
                  </a:lnTo>
                  <a:lnTo>
                    <a:pt x="2404" y="2149"/>
                  </a:lnTo>
                  <a:lnTo>
                    <a:pt x="2405" y="2161"/>
                  </a:lnTo>
                  <a:lnTo>
                    <a:pt x="2406" y="2174"/>
                  </a:lnTo>
                  <a:lnTo>
                    <a:pt x="2409" y="2186"/>
                  </a:lnTo>
                  <a:lnTo>
                    <a:pt x="2411" y="2196"/>
                  </a:lnTo>
                  <a:lnTo>
                    <a:pt x="2416" y="2206"/>
                  </a:lnTo>
                  <a:lnTo>
                    <a:pt x="2420" y="2214"/>
                  </a:lnTo>
                  <a:lnTo>
                    <a:pt x="2426" y="2222"/>
                  </a:lnTo>
                  <a:lnTo>
                    <a:pt x="2431" y="2230"/>
                  </a:lnTo>
                  <a:lnTo>
                    <a:pt x="2438" y="2235"/>
                  </a:lnTo>
                  <a:lnTo>
                    <a:pt x="2445" y="2241"/>
                  </a:lnTo>
                  <a:lnTo>
                    <a:pt x="2452" y="2245"/>
                  </a:lnTo>
                  <a:lnTo>
                    <a:pt x="2461" y="2250"/>
                  </a:lnTo>
                  <a:lnTo>
                    <a:pt x="2470" y="2252"/>
                  </a:lnTo>
                  <a:lnTo>
                    <a:pt x="2479" y="2253"/>
                  </a:lnTo>
                  <a:lnTo>
                    <a:pt x="2489" y="2254"/>
                  </a:lnTo>
                  <a:lnTo>
                    <a:pt x="2489" y="2254"/>
                  </a:lnTo>
                  <a:lnTo>
                    <a:pt x="2495" y="2253"/>
                  </a:lnTo>
                  <a:lnTo>
                    <a:pt x="2503" y="2252"/>
                  </a:lnTo>
                  <a:lnTo>
                    <a:pt x="2510" y="2251"/>
                  </a:lnTo>
                  <a:lnTo>
                    <a:pt x="2515" y="2249"/>
                  </a:lnTo>
                  <a:lnTo>
                    <a:pt x="2522" y="2245"/>
                  </a:lnTo>
                  <a:lnTo>
                    <a:pt x="2528" y="2242"/>
                  </a:lnTo>
                  <a:lnTo>
                    <a:pt x="2534" y="2238"/>
                  </a:lnTo>
                  <a:lnTo>
                    <a:pt x="2539" y="2232"/>
                  </a:lnTo>
                  <a:lnTo>
                    <a:pt x="2539" y="2249"/>
                  </a:lnTo>
                  <a:lnTo>
                    <a:pt x="2595" y="2249"/>
                  </a:lnTo>
                  <a:lnTo>
                    <a:pt x="2595" y="1934"/>
                  </a:lnTo>
                  <a:lnTo>
                    <a:pt x="2539" y="1962"/>
                  </a:lnTo>
                  <a:lnTo>
                    <a:pt x="2539" y="2042"/>
                  </a:lnTo>
                  <a:close/>
                  <a:moveTo>
                    <a:pt x="2501" y="2203"/>
                  </a:moveTo>
                  <a:lnTo>
                    <a:pt x="2501" y="2203"/>
                  </a:lnTo>
                  <a:lnTo>
                    <a:pt x="2493" y="2202"/>
                  </a:lnTo>
                  <a:lnTo>
                    <a:pt x="2487" y="2200"/>
                  </a:lnTo>
                  <a:lnTo>
                    <a:pt x="2479" y="2197"/>
                  </a:lnTo>
                  <a:lnTo>
                    <a:pt x="2472" y="2190"/>
                  </a:lnTo>
                  <a:lnTo>
                    <a:pt x="2467" y="2181"/>
                  </a:lnTo>
                  <a:lnTo>
                    <a:pt x="2462" y="2169"/>
                  </a:lnTo>
                  <a:lnTo>
                    <a:pt x="2460" y="2154"/>
                  </a:lnTo>
                  <a:lnTo>
                    <a:pt x="2459" y="2134"/>
                  </a:lnTo>
                  <a:lnTo>
                    <a:pt x="2459" y="2134"/>
                  </a:lnTo>
                  <a:lnTo>
                    <a:pt x="2460" y="2117"/>
                  </a:lnTo>
                  <a:lnTo>
                    <a:pt x="2462" y="2103"/>
                  </a:lnTo>
                  <a:lnTo>
                    <a:pt x="2467" y="2092"/>
                  </a:lnTo>
                  <a:lnTo>
                    <a:pt x="2472" y="2084"/>
                  </a:lnTo>
                  <a:lnTo>
                    <a:pt x="2479" y="2079"/>
                  </a:lnTo>
                  <a:lnTo>
                    <a:pt x="2485" y="2074"/>
                  </a:lnTo>
                  <a:lnTo>
                    <a:pt x="2493" y="2073"/>
                  </a:lnTo>
                  <a:lnTo>
                    <a:pt x="2500" y="2072"/>
                  </a:lnTo>
                  <a:lnTo>
                    <a:pt x="2500" y="2072"/>
                  </a:lnTo>
                  <a:lnTo>
                    <a:pt x="2507" y="2073"/>
                  </a:lnTo>
                  <a:lnTo>
                    <a:pt x="2514" y="2074"/>
                  </a:lnTo>
                  <a:lnTo>
                    <a:pt x="2520" y="2076"/>
                  </a:lnTo>
                  <a:lnTo>
                    <a:pt x="2525" y="2080"/>
                  </a:lnTo>
                  <a:lnTo>
                    <a:pt x="2530" y="2083"/>
                  </a:lnTo>
                  <a:lnTo>
                    <a:pt x="2534" y="2086"/>
                  </a:lnTo>
                  <a:lnTo>
                    <a:pt x="2539" y="2094"/>
                  </a:lnTo>
                  <a:lnTo>
                    <a:pt x="2539" y="2181"/>
                  </a:lnTo>
                  <a:lnTo>
                    <a:pt x="2539" y="2181"/>
                  </a:lnTo>
                  <a:lnTo>
                    <a:pt x="2533" y="2189"/>
                  </a:lnTo>
                  <a:lnTo>
                    <a:pt x="2525" y="2196"/>
                  </a:lnTo>
                  <a:lnTo>
                    <a:pt x="2520" y="2199"/>
                  </a:lnTo>
                  <a:lnTo>
                    <a:pt x="2514" y="2201"/>
                  </a:lnTo>
                  <a:lnTo>
                    <a:pt x="2507" y="2202"/>
                  </a:lnTo>
                  <a:lnTo>
                    <a:pt x="2501" y="2203"/>
                  </a:lnTo>
                  <a:lnTo>
                    <a:pt x="2501" y="2203"/>
                  </a:lnTo>
                  <a:close/>
                  <a:moveTo>
                    <a:pt x="672" y="2089"/>
                  </a:moveTo>
                  <a:lnTo>
                    <a:pt x="672" y="2089"/>
                  </a:lnTo>
                  <a:lnTo>
                    <a:pt x="664" y="2084"/>
                  </a:lnTo>
                  <a:lnTo>
                    <a:pt x="656" y="2080"/>
                  </a:lnTo>
                  <a:lnTo>
                    <a:pt x="646" y="2078"/>
                  </a:lnTo>
                  <a:lnTo>
                    <a:pt x="636" y="2076"/>
                  </a:lnTo>
                  <a:lnTo>
                    <a:pt x="636" y="2076"/>
                  </a:lnTo>
                  <a:lnTo>
                    <a:pt x="627" y="2078"/>
                  </a:lnTo>
                  <a:lnTo>
                    <a:pt x="618" y="2080"/>
                  </a:lnTo>
                  <a:lnTo>
                    <a:pt x="611" y="2084"/>
                  </a:lnTo>
                  <a:lnTo>
                    <a:pt x="606" y="2090"/>
                  </a:lnTo>
                  <a:lnTo>
                    <a:pt x="601" y="2096"/>
                  </a:lnTo>
                  <a:lnTo>
                    <a:pt x="599" y="2105"/>
                  </a:lnTo>
                  <a:lnTo>
                    <a:pt x="597" y="2116"/>
                  </a:lnTo>
                  <a:lnTo>
                    <a:pt x="596" y="2128"/>
                  </a:lnTo>
                  <a:lnTo>
                    <a:pt x="596" y="2249"/>
                  </a:lnTo>
                  <a:lnTo>
                    <a:pt x="542" y="2249"/>
                  </a:lnTo>
                  <a:lnTo>
                    <a:pt x="542" y="2027"/>
                  </a:lnTo>
                  <a:lnTo>
                    <a:pt x="596" y="2027"/>
                  </a:lnTo>
                  <a:lnTo>
                    <a:pt x="596" y="2046"/>
                  </a:lnTo>
                  <a:lnTo>
                    <a:pt x="596" y="2046"/>
                  </a:lnTo>
                  <a:lnTo>
                    <a:pt x="601" y="2040"/>
                  </a:lnTo>
                  <a:lnTo>
                    <a:pt x="607" y="2035"/>
                  </a:lnTo>
                  <a:lnTo>
                    <a:pt x="613" y="2031"/>
                  </a:lnTo>
                  <a:lnTo>
                    <a:pt x="619" y="2028"/>
                  </a:lnTo>
                  <a:lnTo>
                    <a:pt x="625" y="2025"/>
                  </a:lnTo>
                  <a:lnTo>
                    <a:pt x="631" y="2024"/>
                  </a:lnTo>
                  <a:lnTo>
                    <a:pt x="639" y="2022"/>
                  </a:lnTo>
                  <a:lnTo>
                    <a:pt x="646" y="2021"/>
                  </a:lnTo>
                  <a:lnTo>
                    <a:pt x="646" y="2021"/>
                  </a:lnTo>
                  <a:lnTo>
                    <a:pt x="657" y="2022"/>
                  </a:lnTo>
                  <a:lnTo>
                    <a:pt x="668" y="2026"/>
                  </a:lnTo>
                  <a:lnTo>
                    <a:pt x="679" y="2030"/>
                  </a:lnTo>
                  <a:lnTo>
                    <a:pt x="688" y="2036"/>
                  </a:lnTo>
                  <a:lnTo>
                    <a:pt x="672" y="2089"/>
                  </a:lnTo>
                  <a:close/>
                  <a:moveTo>
                    <a:pt x="241" y="2027"/>
                  </a:moveTo>
                  <a:lnTo>
                    <a:pt x="295" y="2027"/>
                  </a:lnTo>
                  <a:lnTo>
                    <a:pt x="232" y="2249"/>
                  </a:lnTo>
                  <a:lnTo>
                    <a:pt x="184" y="2249"/>
                  </a:lnTo>
                  <a:lnTo>
                    <a:pt x="160" y="2157"/>
                  </a:lnTo>
                  <a:lnTo>
                    <a:pt x="160" y="2157"/>
                  </a:lnTo>
                  <a:lnTo>
                    <a:pt x="148" y="2108"/>
                  </a:lnTo>
                  <a:lnTo>
                    <a:pt x="148" y="2108"/>
                  </a:lnTo>
                  <a:lnTo>
                    <a:pt x="142" y="2132"/>
                  </a:lnTo>
                  <a:lnTo>
                    <a:pt x="136" y="2158"/>
                  </a:lnTo>
                  <a:lnTo>
                    <a:pt x="110" y="2249"/>
                  </a:lnTo>
                  <a:lnTo>
                    <a:pt x="63" y="2249"/>
                  </a:lnTo>
                  <a:lnTo>
                    <a:pt x="63" y="2247"/>
                  </a:lnTo>
                  <a:lnTo>
                    <a:pt x="0" y="2027"/>
                  </a:lnTo>
                  <a:lnTo>
                    <a:pt x="57" y="2027"/>
                  </a:lnTo>
                  <a:lnTo>
                    <a:pt x="77" y="2110"/>
                  </a:lnTo>
                  <a:lnTo>
                    <a:pt x="77" y="2110"/>
                  </a:lnTo>
                  <a:lnTo>
                    <a:pt x="83" y="2136"/>
                  </a:lnTo>
                  <a:lnTo>
                    <a:pt x="88" y="2164"/>
                  </a:lnTo>
                  <a:lnTo>
                    <a:pt x="88" y="2164"/>
                  </a:lnTo>
                  <a:lnTo>
                    <a:pt x="95" y="2136"/>
                  </a:lnTo>
                  <a:lnTo>
                    <a:pt x="102" y="2108"/>
                  </a:lnTo>
                  <a:lnTo>
                    <a:pt x="125" y="2027"/>
                  </a:lnTo>
                  <a:lnTo>
                    <a:pt x="172" y="2027"/>
                  </a:lnTo>
                  <a:lnTo>
                    <a:pt x="195" y="2108"/>
                  </a:lnTo>
                  <a:lnTo>
                    <a:pt x="195" y="2108"/>
                  </a:lnTo>
                  <a:lnTo>
                    <a:pt x="202" y="2135"/>
                  </a:lnTo>
                  <a:lnTo>
                    <a:pt x="209" y="2165"/>
                  </a:lnTo>
                  <a:lnTo>
                    <a:pt x="209" y="2165"/>
                  </a:lnTo>
                  <a:lnTo>
                    <a:pt x="213" y="2139"/>
                  </a:lnTo>
                  <a:lnTo>
                    <a:pt x="220" y="2108"/>
                  </a:lnTo>
                  <a:lnTo>
                    <a:pt x="241" y="2027"/>
                  </a:lnTo>
                  <a:close/>
                  <a:moveTo>
                    <a:pt x="406" y="2021"/>
                  </a:moveTo>
                  <a:lnTo>
                    <a:pt x="406" y="2021"/>
                  </a:lnTo>
                  <a:lnTo>
                    <a:pt x="396" y="2022"/>
                  </a:lnTo>
                  <a:lnTo>
                    <a:pt x="385" y="2024"/>
                  </a:lnTo>
                  <a:lnTo>
                    <a:pt x="375" y="2027"/>
                  </a:lnTo>
                  <a:lnTo>
                    <a:pt x="366" y="2030"/>
                  </a:lnTo>
                  <a:lnTo>
                    <a:pt x="358" y="2035"/>
                  </a:lnTo>
                  <a:lnTo>
                    <a:pt x="349" y="2040"/>
                  </a:lnTo>
                  <a:lnTo>
                    <a:pt x="341" y="2047"/>
                  </a:lnTo>
                  <a:lnTo>
                    <a:pt x="334" y="2054"/>
                  </a:lnTo>
                  <a:lnTo>
                    <a:pt x="328" y="2062"/>
                  </a:lnTo>
                  <a:lnTo>
                    <a:pt x="322" y="2071"/>
                  </a:lnTo>
                  <a:lnTo>
                    <a:pt x="317" y="2081"/>
                  </a:lnTo>
                  <a:lnTo>
                    <a:pt x="313" y="2091"/>
                  </a:lnTo>
                  <a:lnTo>
                    <a:pt x="310" y="2102"/>
                  </a:lnTo>
                  <a:lnTo>
                    <a:pt x="308" y="2113"/>
                  </a:lnTo>
                  <a:lnTo>
                    <a:pt x="306" y="2125"/>
                  </a:lnTo>
                  <a:lnTo>
                    <a:pt x="306" y="2138"/>
                  </a:lnTo>
                  <a:lnTo>
                    <a:pt x="306" y="2138"/>
                  </a:lnTo>
                  <a:lnTo>
                    <a:pt x="306" y="2150"/>
                  </a:lnTo>
                  <a:lnTo>
                    <a:pt x="308" y="2163"/>
                  </a:lnTo>
                  <a:lnTo>
                    <a:pt x="310" y="2174"/>
                  </a:lnTo>
                  <a:lnTo>
                    <a:pt x="313" y="2185"/>
                  </a:lnTo>
                  <a:lnTo>
                    <a:pt x="317" y="2194"/>
                  </a:lnTo>
                  <a:lnTo>
                    <a:pt x="322" y="2204"/>
                  </a:lnTo>
                  <a:lnTo>
                    <a:pt x="328" y="2213"/>
                  </a:lnTo>
                  <a:lnTo>
                    <a:pt x="334" y="2221"/>
                  </a:lnTo>
                  <a:lnTo>
                    <a:pt x="341" y="2229"/>
                  </a:lnTo>
                  <a:lnTo>
                    <a:pt x="349" y="2235"/>
                  </a:lnTo>
                  <a:lnTo>
                    <a:pt x="358" y="2241"/>
                  </a:lnTo>
                  <a:lnTo>
                    <a:pt x="366" y="2245"/>
                  </a:lnTo>
                  <a:lnTo>
                    <a:pt x="375" y="2249"/>
                  </a:lnTo>
                  <a:lnTo>
                    <a:pt x="385" y="2252"/>
                  </a:lnTo>
                  <a:lnTo>
                    <a:pt x="396" y="2253"/>
                  </a:lnTo>
                  <a:lnTo>
                    <a:pt x="406" y="2254"/>
                  </a:lnTo>
                  <a:lnTo>
                    <a:pt x="406" y="2254"/>
                  </a:lnTo>
                  <a:lnTo>
                    <a:pt x="417" y="2253"/>
                  </a:lnTo>
                  <a:lnTo>
                    <a:pt x="428" y="2252"/>
                  </a:lnTo>
                  <a:lnTo>
                    <a:pt x="438" y="2249"/>
                  </a:lnTo>
                  <a:lnTo>
                    <a:pt x="447" y="2245"/>
                  </a:lnTo>
                  <a:lnTo>
                    <a:pt x="456" y="2241"/>
                  </a:lnTo>
                  <a:lnTo>
                    <a:pt x="465" y="2235"/>
                  </a:lnTo>
                  <a:lnTo>
                    <a:pt x="472" y="2229"/>
                  </a:lnTo>
                  <a:lnTo>
                    <a:pt x="479" y="2221"/>
                  </a:lnTo>
                  <a:lnTo>
                    <a:pt x="486" y="2213"/>
                  </a:lnTo>
                  <a:lnTo>
                    <a:pt x="491" y="2204"/>
                  </a:lnTo>
                  <a:lnTo>
                    <a:pt x="496" y="2194"/>
                  </a:lnTo>
                  <a:lnTo>
                    <a:pt x="500" y="2185"/>
                  </a:lnTo>
                  <a:lnTo>
                    <a:pt x="503" y="2174"/>
                  </a:lnTo>
                  <a:lnTo>
                    <a:pt x="505" y="2163"/>
                  </a:lnTo>
                  <a:lnTo>
                    <a:pt x="508" y="2150"/>
                  </a:lnTo>
                  <a:lnTo>
                    <a:pt x="508" y="2138"/>
                  </a:lnTo>
                  <a:lnTo>
                    <a:pt x="508" y="2138"/>
                  </a:lnTo>
                  <a:lnTo>
                    <a:pt x="508" y="2125"/>
                  </a:lnTo>
                  <a:lnTo>
                    <a:pt x="505" y="2113"/>
                  </a:lnTo>
                  <a:lnTo>
                    <a:pt x="503" y="2102"/>
                  </a:lnTo>
                  <a:lnTo>
                    <a:pt x="500" y="2091"/>
                  </a:lnTo>
                  <a:lnTo>
                    <a:pt x="496" y="2081"/>
                  </a:lnTo>
                  <a:lnTo>
                    <a:pt x="491" y="2071"/>
                  </a:lnTo>
                  <a:lnTo>
                    <a:pt x="486" y="2062"/>
                  </a:lnTo>
                  <a:lnTo>
                    <a:pt x="479" y="2054"/>
                  </a:lnTo>
                  <a:lnTo>
                    <a:pt x="472" y="2047"/>
                  </a:lnTo>
                  <a:lnTo>
                    <a:pt x="465" y="2040"/>
                  </a:lnTo>
                  <a:lnTo>
                    <a:pt x="456" y="2035"/>
                  </a:lnTo>
                  <a:lnTo>
                    <a:pt x="447" y="2030"/>
                  </a:lnTo>
                  <a:lnTo>
                    <a:pt x="438" y="2027"/>
                  </a:lnTo>
                  <a:lnTo>
                    <a:pt x="428" y="2024"/>
                  </a:lnTo>
                  <a:lnTo>
                    <a:pt x="417" y="2022"/>
                  </a:lnTo>
                  <a:lnTo>
                    <a:pt x="406" y="2021"/>
                  </a:lnTo>
                  <a:lnTo>
                    <a:pt x="406" y="2021"/>
                  </a:lnTo>
                  <a:close/>
                  <a:moveTo>
                    <a:pt x="406" y="2202"/>
                  </a:moveTo>
                  <a:lnTo>
                    <a:pt x="406" y="2202"/>
                  </a:lnTo>
                  <a:lnTo>
                    <a:pt x="396" y="2201"/>
                  </a:lnTo>
                  <a:lnTo>
                    <a:pt x="387" y="2198"/>
                  </a:lnTo>
                  <a:lnTo>
                    <a:pt x="381" y="2192"/>
                  </a:lnTo>
                  <a:lnTo>
                    <a:pt x="374" y="2185"/>
                  </a:lnTo>
                  <a:lnTo>
                    <a:pt x="369" y="2176"/>
                  </a:lnTo>
                  <a:lnTo>
                    <a:pt x="364" y="2165"/>
                  </a:lnTo>
                  <a:lnTo>
                    <a:pt x="362" y="2151"/>
                  </a:lnTo>
                  <a:lnTo>
                    <a:pt x="362" y="2138"/>
                  </a:lnTo>
                  <a:lnTo>
                    <a:pt x="362" y="2138"/>
                  </a:lnTo>
                  <a:lnTo>
                    <a:pt x="362" y="2124"/>
                  </a:lnTo>
                  <a:lnTo>
                    <a:pt x="364" y="2111"/>
                  </a:lnTo>
                  <a:lnTo>
                    <a:pt x="369" y="2101"/>
                  </a:lnTo>
                  <a:lnTo>
                    <a:pt x="374" y="2091"/>
                  </a:lnTo>
                  <a:lnTo>
                    <a:pt x="381" y="2083"/>
                  </a:lnTo>
                  <a:lnTo>
                    <a:pt x="387" y="2078"/>
                  </a:lnTo>
                  <a:lnTo>
                    <a:pt x="396" y="2074"/>
                  </a:lnTo>
                  <a:lnTo>
                    <a:pt x="406" y="2073"/>
                  </a:lnTo>
                  <a:lnTo>
                    <a:pt x="406" y="2073"/>
                  </a:lnTo>
                  <a:lnTo>
                    <a:pt x="416" y="2074"/>
                  </a:lnTo>
                  <a:lnTo>
                    <a:pt x="425" y="2078"/>
                  </a:lnTo>
                  <a:lnTo>
                    <a:pt x="433" y="2083"/>
                  </a:lnTo>
                  <a:lnTo>
                    <a:pt x="439" y="2091"/>
                  </a:lnTo>
                  <a:lnTo>
                    <a:pt x="445" y="2101"/>
                  </a:lnTo>
                  <a:lnTo>
                    <a:pt x="448" y="2111"/>
                  </a:lnTo>
                  <a:lnTo>
                    <a:pt x="450" y="2124"/>
                  </a:lnTo>
                  <a:lnTo>
                    <a:pt x="451" y="2138"/>
                  </a:lnTo>
                  <a:lnTo>
                    <a:pt x="451" y="2138"/>
                  </a:lnTo>
                  <a:lnTo>
                    <a:pt x="450" y="2151"/>
                  </a:lnTo>
                  <a:lnTo>
                    <a:pt x="448" y="2165"/>
                  </a:lnTo>
                  <a:lnTo>
                    <a:pt x="445" y="2176"/>
                  </a:lnTo>
                  <a:lnTo>
                    <a:pt x="439" y="2185"/>
                  </a:lnTo>
                  <a:lnTo>
                    <a:pt x="433" y="2192"/>
                  </a:lnTo>
                  <a:lnTo>
                    <a:pt x="425" y="2198"/>
                  </a:lnTo>
                  <a:lnTo>
                    <a:pt x="416" y="2201"/>
                  </a:lnTo>
                  <a:lnTo>
                    <a:pt x="406" y="2202"/>
                  </a:lnTo>
                  <a:lnTo>
                    <a:pt x="406" y="2202"/>
                  </a:lnTo>
                  <a:close/>
                  <a:moveTo>
                    <a:pt x="2269" y="2089"/>
                  </a:moveTo>
                  <a:lnTo>
                    <a:pt x="2269" y="2089"/>
                  </a:lnTo>
                  <a:lnTo>
                    <a:pt x="2260" y="2084"/>
                  </a:lnTo>
                  <a:lnTo>
                    <a:pt x="2251" y="2080"/>
                  </a:lnTo>
                  <a:lnTo>
                    <a:pt x="2242" y="2078"/>
                  </a:lnTo>
                  <a:lnTo>
                    <a:pt x="2233" y="2076"/>
                  </a:lnTo>
                  <a:lnTo>
                    <a:pt x="2233" y="2076"/>
                  </a:lnTo>
                  <a:lnTo>
                    <a:pt x="2223" y="2078"/>
                  </a:lnTo>
                  <a:lnTo>
                    <a:pt x="2215" y="2080"/>
                  </a:lnTo>
                  <a:lnTo>
                    <a:pt x="2208" y="2084"/>
                  </a:lnTo>
                  <a:lnTo>
                    <a:pt x="2203" y="2090"/>
                  </a:lnTo>
                  <a:lnTo>
                    <a:pt x="2198" y="2096"/>
                  </a:lnTo>
                  <a:lnTo>
                    <a:pt x="2195" y="2105"/>
                  </a:lnTo>
                  <a:lnTo>
                    <a:pt x="2193" y="2116"/>
                  </a:lnTo>
                  <a:lnTo>
                    <a:pt x="2193" y="2128"/>
                  </a:lnTo>
                  <a:lnTo>
                    <a:pt x="2193" y="2249"/>
                  </a:lnTo>
                  <a:lnTo>
                    <a:pt x="2138" y="2249"/>
                  </a:lnTo>
                  <a:lnTo>
                    <a:pt x="2138" y="2027"/>
                  </a:lnTo>
                  <a:lnTo>
                    <a:pt x="2193" y="2027"/>
                  </a:lnTo>
                  <a:lnTo>
                    <a:pt x="2193" y="2046"/>
                  </a:lnTo>
                  <a:lnTo>
                    <a:pt x="2193" y="2046"/>
                  </a:lnTo>
                  <a:lnTo>
                    <a:pt x="2197" y="2040"/>
                  </a:lnTo>
                  <a:lnTo>
                    <a:pt x="2203" y="2035"/>
                  </a:lnTo>
                  <a:lnTo>
                    <a:pt x="2208" y="2031"/>
                  </a:lnTo>
                  <a:lnTo>
                    <a:pt x="2215" y="2028"/>
                  </a:lnTo>
                  <a:lnTo>
                    <a:pt x="2222" y="2025"/>
                  </a:lnTo>
                  <a:lnTo>
                    <a:pt x="2228" y="2024"/>
                  </a:lnTo>
                  <a:lnTo>
                    <a:pt x="2235" y="2022"/>
                  </a:lnTo>
                  <a:lnTo>
                    <a:pt x="2242" y="2021"/>
                  </a:lnTo>
                  <a:lnTo>
                    <a:pt x="2242" y="2021"/>
                  </a:lnTo>
                  <a:lnTo>
                    <a:pt x="2253" y="2022"/>
                  </a:lnTo>
                  <a:lnTo>
                    <a:pt x="2264" y="2026"/>
                  </a:lnTo>
                  <a:lnTo>
                    <a:pt x="2275" y="2030"/>
                  </a:lnTo>
                  <a:lnTo>
                    <a:pt x="2283" y="2036"/>
                  </a:lnTo>
                  <a:lnTo>
                    <a:pt x="2269" y="2089"/>
                  </a:lnTo>
                  <a:close/>
                  <a:moveTo>
                    <a:pt x="1836" y="2027"/>
                  </a:moveTo>
                  <a:lnTo>
                    <a:pt x="1891" y="2027"/>
                  </a:lnTo>
                  <a:lnTo>
                    <a:pt x="1828" y="2249"/>
                  </a:lnTo>
                  <a:lnTo>
                    <a:pt x="1780" y="2249"/>
                  </a:lnTo>
                  <a:lnTo>
                    <a:pt x="1756" y="2157"/>
                  </a:lnTo>
                  <a:lnTo>
                    <a:pt x="1756" y="2157"/>
                  </a:lnTo>
                  <a:lnTo>
                    <a:pt x="1744" y="2108"/>
                  </a:lnTo>
                  <a:lnTo>
                    <a:pt x="1744" y="2108"/>
                  </a:lnTo>
                  <a:lnTo>
                    <a:pt x="1738" y="2132"/>
                  </a:lnTo>
                  <a:lnTo>
                    <a:pt x="1732" y="2158"/>
                  </a:lnTo>
                  <a:lnTo>
                    <a:pt x="1707" y="2249"/>
                  </a:lnTo>
                  <a:lnTo>
                    <a:pt x="1660" y="2249"/>
                  </a:lnTo>
                  <a:lnTo>
                    <a:pt x="1659" y="2247"/>
                  </a:lnTo>
                  <a:lnTo>
                    <a:pt x="1597" y="2027"/>
                  </a:lnTo>
                  <a:lnTo>
                    <a:pt x="1653" y="2027"/>
                  </a:lnTo>
                  <a:lnTo>
                    <a:pt x="1674" y="2110"/>
                  </a:lnTo>
                  <a:lnTo>
                    <a:pt x="1674" y="2110"/>
                  </a:lnTo>
                  <a:lnTo>
                    <a:pt x="1680" y="2136"/>
                  </a:lnTo>
                  <a:lnTo>
                    <a:pt x="1685" y="2164"/>
                  </a:lnTo>
                  <a:lnTo>
                    <a:pt x="1685" y="2164"/>
                  </a:lnTo>
                  <a:lnTo>
                    <a:pt x="1691" y="2136"/>
                  </a:lnTo>
                  <a:lnTo>
                    <a:pt x="1699" y="2108"/>
                  </a:lnTo>
                  <a:lnTo>
                    <a:pt x="1722" y="2027"/>
                  </a:lnTo>
                  <a:lnTo>
                    <a:pt x="1768" y="2027"/>
                  </a:lnTo>
                  <a:lnTo>
                    <a:pt x="1791" y="2108"/>
                  </a:lnTo>
                  <a:lnTo>
                    <a:pt x="1791" y="2108"/>
                  </a:lnTo>
                  <a:lnTo>
                    <a:pt x="1798" y="2135"/>
                  </a:lnTo>
                  <a:lnTo>
                    <a:pt x="1804" y="2165"/>
                  </a:lnTo>
                  <a:lnTo>
                    <a:pt x="1804" y="2165"/>
                  </a:lnTo>
                  <a:lnTo>
                    <a:pt x="1810" y="2139"/>
                  </a:lnTo>
                  <a:lnTo>
                    <a:pt x="1817" y="2108"/>
                  </a:lnTo>
                  <a:lnTo>
                    <a:pt x="1836" y="2027"/>
                  </a:lnTo>
                  <a:close/>
                  <a:moveTo>
                    <a:pt x="2002" y="2021"/>
                  </a:moveTo>
                  <a:lnTo>
                    <a:pt x="2002" y="2021"/>
                  </a:lnTo>
                  <a:lnTo>
                    <a:pt x="1992" y="2022"/>
                  </a:lnTo>
                  <a:lnTo>
                    <a:pt x="1981" y="2024"/>
                  </a:lnTo>
                  <a:lnTo>
                    <a:pt x="1971" y="2027"/>
                  </a:lnTo>
                  <a:lnTo>
                    <a:pt x="1962" y="2030"/>
                  </a:lnTo>
                  <a:lnTo>
                    <a:pt x="1953" y="2035"/>
                  </a:lnTo>
                  <a:lnTo>
                    <a:pt x="1945" y="2041"/>
                  </a:lnTo>
                  <a:lnTo>
                    <a:pt x="1937" y="2047"/>
                  </a:lnTo>
                  <a:lnTo>
                    <a:pt x="1930" y="2054"/>
                  </a:lnTo>
                  <a:lnTo>
                    <a:pt x="1924" y="2062"/>
                  </a:lnTo>
                  <a:lnTo>
                    <a:pt x="1918" y="2071"/>
                  </a:lnTo>
                  <a:lnTo>
                    <a:pt x="1913" y="2081"/>
                  </a:lnTo>
                  <a:lnTo>
                    <a:pt x="1909" y="2091"/>
                  </a:lnTo>
                  <a:lnTo>
                    <a:pt x="1906" y="2102"/>
                  </a:lnTo>
                  <a:lnTo>
                    <a:pt x="1903" y="2114"/>
                  </a:lnTo>
                  <a:lnTo>
                    <a:pt x="1902" y="2125"/>
                  </a:lnTo>
                  <a:lnTo>
                    <a:pt x="1902" y="2138"/>
                  </a:lnTo>
                  <a:lnTo>
                    <a:pt x="1902" y="2138"/>
                  </a:lnTo>
                  <a:lnTo>
                    <a:pt x="1902" y="2150"/>
                  </a:lnTo>
                  <a:lnTo>
                    <a:pt x="1903" y="2163"/>
                  </a:lnTo>
                  <a:lnTo>
                    <a:pt x="1906" y="2174"/>
                  </a:lnTo>
                  <a:lnTo>
                    <a:pt x="1909" y="2185"/>
                  </a:lnTo>
                  <a:lnTo>
                    <a:pt x="1913" y="2194"/>
                  </a:lnTo>
                  <a:lnTo>
                    <a:pt x="1918" y="2204"/>
                  </a:lnTo>
                  <a:lnTo>
                    <a:pt x="1924" y="2213"/>
                  </a:lnTo>
                  <a:lnTo>
                    <a:pt x="1930" y="2221"/>
                  </a:lnTo>
                  <a:lnTo>
                    <a:pt x="1937" y="2229"/>
                  </a:lnTo>
                  <a:lnTo>
                    <a:pt x="1945" y="2235"/>
                  </a:lnTo>
                  <a:lnTo>
                    <a:pt x="1953" y="2241"/>
                  </a:lnTo>
                  <a:lnTo>
                    <a:pt x="1962" y="2245"/>
                  </a:lnTo>
                  <a:lnTo>
                    <a:pt x="1971" y="2249"/>
                  </a:lnTo>
                  <a:lnTo>
                    <a:pt x="1981" y="2252"/>
                  </a:lnTo>
                  <a:lnTo>
                    <a:pt x="1992" y="2253"/>
                  </a:lnTo>
                  <a:lnTo>
                    <a:pt x="2002" y="2254"/>
                  </a:lnTo>
                  <a:lnTo>
                    <a:pt x="2002" y="2254"/>
                  </a:lnTo>
                  <a:lnTo>
                    <a:pt x="2013" y="2253"/>
                  </a:lnTo>
                  <a:lnTo>
                    <a:pt x="2024" y="2252"/>
                  </a:lnTo>
                  <a:lnTo>
                    <a:pt x="2034" y="2249"/>
                  </a:lnTo>
                  <a:lnTo>
                    <a:pt x="2043" y="2245"/>
                  </a:lnTo>
                  <a:lnTo>
                    <a:pt x="2052" y="2241"/>
                  </a:lnTo>
                  <a:lnTo>
                    <a:pt x="2061" y="2235"/>
                  </a:lnTo>
                  <a:lnTo>
                    <a:pt x="2068" y="2229"/>
                  </a:lnTo>
                  <a:lnTo>
                    <a:pt x="2075" y="2221"/>
                  </a:lnTo>
                  <a:lnTo>
                    <a:pt x="2081" y="2213"/>
                  </a:lnTo>
                  <a:lnTo>
                    <a:pt x="2087" y="2204"/>
                  </a:lnTo>
                  <a:lnTo>
                    <a:pt x="2091" y="2194"/>
                  </a:lnTo>
                  <a:lnTo>
                    <a:pt x="2096" y="2185"/>
                  </a:lnTo>
                  <a:lnTo>
                    <a:pt x="2099" y="2174"/>
                  </a:lnTo>
                  <a:lnTo>
                    <a:pt x="2101" y="2163"/>
                  </a:lnTo>
                  <a:lnTo>
                    <a:pt x="2104" y="2150"/>
                  </a:lnTo>
                  <a:lnTo>
                    <a:pt x="2104" y="2138"/>
                  </a:lnTo>
                  <a:lnTo>
                    <a:pt x="2104" y="2138"/>
                  </a:lnTo>
                  <a:lnTo>
                    <a:pt x="2104" y="2125"/>
                  </a:lnTo>
                  <a:lnTo>
                    <a:pt x="2101" y="2114"/>
                  </a:lnTo>
                  <a:lnTo>
                    <a:pt x="2099" y="2102"/>
                  </a:lnTo>
                  <a:lnTo>
                    <a:pt x="2096" y="2091"/>
                  </a:lnTo>
                  <a:lnTo>
                    <a:pt x="2091" y="2081"/>
                  </a:lnTo>
                  <a:lnTo>
                    <a:pt x="2087" y="2071"/>
                  </a:lnTo>
                  <a:lnTo>
                    <a:pt x="2081" y="2062"/>
                  </a:lnTo>
                  <a:lnTo>
                    <a:pt x="2075" y="2054"/>
                  </a:lnTo>
                  <a:lnTo>
                    <a:pt x="2068" y="2047"/>
                  </a:lnTo>
                  <a:lnTo>
                    <a:pt x="2061" y="2041"/>
                  </a:lnTo>
                  <a:lnTo>
                    <a:pt x="2052" y="2035"/>
                  </a:lnTo>
                  <a:lnTo>
                    <a:pt x="2043" y="2030"/>
                  </a:lnTo>
                  <a:lnTo>
                    <a:pt x="2034" y="2027"/>
                  </a:lnTo>
                  <a:lnTo>
                    <a:pt x="2024" y="2024"/>
                  </a:lnTo>
                  <a:lnTo>
                    <a:pt x="2013" y="2022"/>
                  </a:lnTo>
                  <a:lnTo>
                    <a:pt x="2002" y="2021"/>
                  </a:lnTo>
                  <a:lnTo>
                    <a:pt x="2002" y="2021"/>
                  </a:lnTo>
                  <a:close/>
                  <a:moveTo>
                    <a:pt x="2002" y="2202"/>
                  </a:moveTo>
                  <a:lnTo>
                    <a:pt x="2002" y="2202"/>
                  </a:lnTo>
                  <a:lnTo>
                    <a:pt x="1992" y="2201"/>
                  </a:lnTo>
                  <a:lnTo>
                    <a:pt x="1984" y="2198"/>
                  </a:lnTo>
                  <a:lnTo>
                    <a:pt x="1977" y="2192"/>
                  </a:lnTo>
                  <a:lnTo>
                    <a:pt x="1970" y="2185"/>
                  </a:lnTo>
                  <a:lnTo>
                    <a:pt x="1964" y="2176"/>
                  </a:lnTo>
                  <a:lnTo>
                    <a:pt x="1960" y="2165"/>
                  </a:lnTo>
                  <a:lnTo>
                    <a:pt x="1958" y="2151"/>
                  </a:lnTo>
                  <a:lnTo>
                    <a:pt x="1958" y="2138"/>
                  </a:lnTo>
                  <a:lnTo>
                    <a:pt x="1958" y="2138"/>
                  </a:lnTo>
                  <a:lnTo>
                    <a:pt x="1958" y="2124"/>
                  </a:lnTo>
                  <a:lnTo>
                    <a:pt x="1960" y="2112"/>
                  </a:lnTo>
                  <a:lnTo>
                    <a:pt x="1964" y="2101"/>
                  </a:lnTo>
                  <a:lnTo>
                    <a:pt x="1970" y="2091"/>
                  </a:lnTo>
                  <a:lnTo>
                    <a:pt x="1977" y="2083"/>
                  </a:lnTo>
                  <a:lnTo>
                    <a:pt x="1984" y="2078"/>
                  </a:lnTo>
                  <a:lnTo>
                    <a:pt x="1992" y="2074"/>
                  </a:lnTo>
                  <a:lnTo>
                    <a:pt x="2002" y="2073"/>
                  </a:lnTo>
                  <a:lnTo>
                    <a:pt x="2002" y="2073"/>
                  </a:lnTo>
                  <a:lnTo>
                    <a:pt x="2012" y="2074"/>
                  </a:lnTo>
                  <a:lnTo>
                    <a:pt x="2021" y="2078"/>
                  </a:lnTo>
                  <a:lnTo>
                    <a:pt x="2029" y="2083"/>
                  </a:lnTo>
                  <a:lnTo>
                    <a:pt x="2035" y="2091"/>
                  </a:lnTo>
                  <a:lnTo>
                    <a:pt x="2041" y="2101"/>
                  </a:lnTo>
                  <a:lnTo>
                    <a:pt x="2044" y="2112"/>
                  </a:lnTo>
                  <a:lnTo>
                    <a:pt x="2046" y="2124"/>
                  </a:lnTo>
                  <a:lnTo>
                    <a:pt x="2047" y="2138"/>
                  </a:lnTo>
                  <a:lnTo>
                    <a:pt x="2047" y="2138"/>
                  </a:lnTo>
                  <a:lnTo>
                    <a:pt x="2046" y="2151"/>
                  </a:lnTo>
                  <a:lnTo>
                    <a:pt x="2044" y="2165"/>
                  </a:lnTo>
                  <a:lnTo>
                    <a:pt x="2041" y="2176"/>
                  </a:lnTo>
                  <a:lnTo>
                    <a:pt x="2035" y="2185"/>
                  </a:lnTo>
                  <a:lnTo>
                    <a:pt x="2029" y="2192"/>
                  </a:lnTo>
                  <a:lnTo>
                    <a:pt x="2021" y="2198"/>
                  </a:lnTo>
                  <a:lnTo>
                    <a:pt x="2012" y="2201"/>
                  </a:lnTo>
                  <a:lnTo>
                    <a:pt x="2002" y="2202"/>
                  </a:lnTo>
                  <a:lnTo>
                    <a:pt x="2002" y="2202"/>
                  </a:lnTo>
                  <a:close/>
                  <a:moveTo>
                    <a:pt x="837" y="2100"/>
                  </a:moveTo>
                  <a:lnTo>
                    <a:pt x="904" y="2249"/>
                  </a:lnTo>
                  <a:lnTo>
                    <a:pt x="843" y="2249"/>
                  </a:lnTo>
                  <a:lnTo>
                    <a:pt x="797" y="2146"/>
                  </a:lnTo>
                  <a:lnTo>
                    <a:pt x="767" y="2182"/>
                  </a:lnTo>
                  <a:lnTo>
                    <a:pt x="767" y="2249"/>
                  </a:lnTo>
                  <a:lnTo>
                    <a:pt x="713" y="2249"/>
                  </a:lnTo>
                  <a:lnTo>
                    <a:pt x="713" y="1962"/>
                  </a:lnTo>
                  <a:lnTo>
                    <a:pt x="767" y="1934"/>
                  </a:lnTo>
                  <a:lnTo>
                    <a:pt x="767" y="2112"/>
                  </a:lnTo>
                  <a:lnTo>
                    <a:pt x="767" y="2112"/>
                  </a:lnTo>
                  <a:lnTo>
                    <a:pt x="788" y="2083"/>
                  </a:lnTo>
                  <a:lnTo>
                    <a:pt x="832" y="2027"/>
                  </a:lnTo>
                  <a:lnTo>
                    <a:pt x="896" y="2027"/>
                  </a:lnTo>
                  <a:lnTo>
                    <a:pt x="837" y="2100"/>
                  </a:lnTo>
                  <a:close/>
                  <a:moveTo>
                    <a:pt x="1097" y="2249"/>
                  </a:moveTo>
                  <a:lnTo>
                    <a:pt x="1042" y="2249"/>
                  </a:lnTo>
                  <a:lnTo>
                    <a:pt x="1042" y="2027"/>
                  </a:lnTo>
                  <a:lnTo>
                    <a:pt x="1097" y="2027"/>
                  </a:lnTo>
                  <a:lnTo>
                    <a:pt x="1097" y="2046"/>
                  </a:lnTo>
                  <a:lnTo>
                    <a:pt x="1097" y="2046"/>
                  </a:lnTo>
                  <a:lnTo>
                    <a:pt x="1103" y="2040"/>
                  </a:lnTo>
                  <a:lnTo>
                    <a:pt x="1108" y="2036"/>
                  </a:lnTo>
                  <a:lnTo>
                    <a:pt x="1115" y="2031"/>
                  </a:lnTo>
                  <a:lnTo>
                    <a:pt x="1121" y="2028"/>
                  </a:lnTo>
                  <a:lnTo>
                    <a:pt x="1129" y="2026"/>
                  </a:lnTo>
                  <a:lnTo>
                    <a:pt x="1137" y="2024"/>
                  </a:lnTo>
                  <a:lnTo>
                    <a:pt x="1144" y="2022"/>
                  </a:lnTo>
                  <a:lnTo>
                    <a:pt x="1153" y="2021"/>
                  </a:lnTo>
                  <a:lnTo>
                    <a:pt x="1153" y="2021"/>
                  </a:lnTo>
                  <a:lnTo>
                    <a:pt x="1163" y="2022"/>
                  </a:lnTo>
                  <a:lnTo>
                    <a:pt x="1172" y="2024"/>
                  </a:lnTo>
                  <a:lnTo>
                    <a:pt x="1180" y="2026"/>
                  </a:lnTo>
                  <a:lnTo>
                    <a:pt x="1189" y="2028"/>
                  </a:lnTo>
                  <a:lnTo>
                    <a:pt x="1195" y="2032"/>
                  </a:lnTo>
                  <a:lnTo>
                    <a:pt x="1202" y="2037"/>
                  </a:lnTo>
                  <a:lnTo>
                    <a:pt x="1208" y="2041"/>
                  </a:lnTo>
                  <a:lnTo>
                    <a:pt x="1214" y="2048"/>
                  </a:lnTo>
                  <a:lnTo>
                    <a:pt x="1218" y="2054"/>
                  </a:lnTo>
                  <a:lnTo>
                    <a:pt x="1223" y="2062"/>
                  </a:lnTo>
                  <a:lnTo>
                    <a:pt x="1226" y="2070"/>
                  </a:lnTo>
                  <a:lnTo>
                    <a:pt x="1229" y="2080"/>
                  </a:lnTo>
                  <a:lnTo>
                    <a:pt x="1232" y="2090"/>
                  </a:lnTo>
                  <a:lnTo>
                    <a:pt x="1233" y="2100"/>
                  </a:lnTo>
                  <a:lnTo>
                    <a:pt x="1234" y="2111"/>
                  </a:lnTo>
                  <a:lnTo>
                    <a:pt x="1235" y="2123"/>
                  </a:lnTo>
                  <a:lnTo>
                    <a:pt x="1235" y="2249"/>
                  </a:lnTo>
                  <a:lnTo>
                    <a:pt x="1180" y="2249"/>
                  </a:lnTo>
                  <a:lnTo>
                    <a:pt x="1180" y="2126"/>
                  </a:lnTo>
                  <a:lnTo>
                    <a:pt x="1180" y="2126"/>
                  </a:lnTo>
                  <a:lnTo>
                    <a:pt x="1179" y="2114"/>
                  </a:lnTo>
                  <a:lnTo>
                    <a:pt x="1178" y="2102"/>
                  </a:lnTo>
                  <a:lnTo>
                    <a:pt x="1174" y="2093"/>
                  </a:lnTo>
                  <a:lnTo>
                    <a:pt x="1170" y="2085"/>
                  </a:lnTo>
                  <a:lnTo>
                    <a:pt x="1164" y="2080"/>
                  </a:lnTo>
                  <a:lnTo>
                    <a:pt x="1158" y="2075"/>
                  </a:lnTo>
                  <a:lnTo>
                    <a:pt x="1149" y="2073"/>
                  </a:lnTo>
                  <a:lnTo>
                    <a:pt x="1139" y="2072"/>
                  </a:lnTo>
                  <a:lnTo>
                    <a:pt x="1139" y="2072"/>
                  </a:lnTo>
                  <a:lnTo>
                    <a:pt x="1130" y="2073"/>
                  </a:lnTo>
                  <a:lnTo>
                    <a:pt x="1121" y="2075"/>
                  </a:lnTo>
                  <a:lnTo>
                    <a:pt x="1114" y="2080"/>
                  </a:lnTo>
                  <a:lnTo>
                    <a:pt x="1108" y="2086"/>
                  </a:lnTo>
                  <a:lnTo>
                    <a:pt x="1104" y="2093"/>
                  </a:lnTo>
                  <a:lnTo>
                    <a:pt x="1100" y="2103"/>
                  </a:lnTo>
                  <a:lnTo>
                    <a:pt x="1098" y="2114"/>
                  </a:lnTo>
                  <a:lnTo>
                    <a:pt x="1097" y="2126"/>
                  </a:lnTo>
                  <a:lnTo>
                    <a:pt x="1097" y="2249"/>
                  </a:lnTo>
                  <a:close/>
                  <a:moveTo>
                    <a:pt x="1408" y="2042"/>
                  </a:moveTo>
                  <a:lnTo>
                    <a:pt x="1408" y="2042"/>
                  </a:lnTo>
                  <a:lnTo>
                    <a:pt x="1403" y="2038"/>
                  </a:lnTo>
                  <a:lnTo>
                    <a:pt x="1397" y="2033"/>
                  </a:lnTo>
                  <a:lnTo>
                    <a:pt x="1392" y="2030"/>
                  </a:lnTo>
                  <a:lnTo>
                    <a:pt x="1385" y="2027"/>
                  </a:lnTo>
                  <a:lnTo>
                    <a:pt x="1378" y="2025"/>
                  </a:lnTo>
                  <a:lnTo>
                    <a:pt x="1372" y="2024"/>
                  </a:lnTo>
                  <a:lnTo>
                    <a:pt x="1365" y="2022"/>
                  </a:lnTo>
                  <a:lnTo>
                    <a:pt x="1359" y="2021"/>
                  </a:lnTo>
                  <a:lnTo>
                    <a:pt x="1359" y="2021"/>
                  </a:lnTo>
                  <a:lnTo>
                    <a:pt x="1349" y="2022"/>
                  </a:lnTo>
                  <a:lnTo>
                    <a:pt x="1340" y="2024"/>
                  </a:lnTo>
                  <a:lnTo>
                    <a:pt x="1331" y="2026"/>
                  </a:lnTo>
                  <a:lnTo>
                    <a:pt x="1322" y="2030"/>
                  </a:lnTo>
                  <a:lnTo>
                    <a:pt x="1314" y="2033"/>
                  </a:lnTo>
                  <a:lnTo>
                    <a:pt x="1308" y="2039"/>
                  </a:lnTo>
                  <a:lnTo>
                    <a:pt x="1301" y="2046"/>
                  </a:lnTo>
                  <a:lnTo>
                    <a:pt x="1295" y="2052"/>
                  </a:lnTo>
                  <a:lnTo>
                    <a:pt x="1289" y="2060"/>
                  </a:lnTo>
                  <a:lnTo>
                    <a:pt x="1285" y="2069"/>
                  </a:lnTo>
                  <a:lnTo>
                    <a:pt x="1280" y="2078"/>
                  </a:lnTo>
                  <a:lnTo>
                    <a:pt x="1277" y="2089"/>
                  </a:lnTo>
                  <a:lnTo>
                    <a:pt x="1275" y="2099"/>
                  </a:lnTo>
                  <a:lnTo>
                    <a:pt x="1273" y="2111"/>
                  </a:lnTo>
                  <a:lnTo>
                    <a:pt x="1271" y="2123"/>
                  </a:lnTo>
                  <a:lnTo>
                    <a:pt x="1271" y="2135"/>
                  </a:lnTo>
                  <a:lnTo>
                    <a:pt x="1271" y="2135"/>
                  </a:lnTo>
                  <a:lnTo>
                    <a:pt x="1271" y="2149"/>
                  </a:lnTo>
                  <a:lnTo>
                    <a:pt x="1273" y="2161"/>
                  </a:lnTo>
                  <a:lnTo>
                    <a:pt x="1275" y="2174"/>
                  </a:lnTo>
                  <a:lnTo>
                    <a:pt x="1277" y="2186"/>
                  </a:lnTo>
                  <a:lnTo>
                    <a:pt x="1280" y="2196"/>
                  </a:lnTo>
                  <a:lnTo>
                    <a:pt x="1285" y="2206"/>
                  </a:lnTo>
                  <a:lnTo>
                    <a:pt x="1289" y="2214"/>
                  </a:lnTo>
                  <a:lnTo>
                    <a:pt x="1295" y="2222"/>
                  </a:lnTo>
                  <a:lnTo>
                    <a:pt x="1300" y="2230"/>
                  </a:lnTo>
                  <a:lnTo>
                    <a:pt x="1307" y="2235"/>
                  </a:lnTo>
                  <a:lnTo>
                    <a:pt x="1313" y="2241"/>
                  </a:lnTo>
                  <a:lnTo>
                    <a:pt x="1321" y="2245"/>
                  </a:lnTo>
                  <a:lnTo>
                    <a:pt x="1330" y="2249"/>
                  </a:lnTo>
                  <a:lnTo>
                    <a:pt x="1339" y="2252"/>
                  </a:lnTo>
                  <a:lnTo>
                    <a:pt x="1348" y="2253"/>
                  </a:lnTo>
                  <a:lnTo>
                    <a:pt x="1357" y="2254"/>
                  </a:lnTo>
                  <a:lnTo>
                    <a:pt x="1357" y="2254"/>
                  </a:lnTo>
                  <a:lnTo>
                    <a:pt x="1364" y="2253"/>
                  </a:lnTo>
                  <a:lnTo>
                    <a:pt x="1372" y="2252"/>
                  </a:lnTo>
                  <a:lnTo>
                    <a:pt x="1378" y="2251"/>
                  </a:lnTo>
                  <a:lnTo>
                    <a:pt x="1385" y="2249"/>
                  </a:lnTo>
                  <a:lnTo>
                    <a:pt x="1391" y="2245"/>
                  </a:lnTo>
                  <a:lnTo>
                    <a:pt x="1397" y="2242"/>
                  </a:lnTo>
                  <a:lnTo>
                    <a:pt x="1403" y="2238"/>
                  </a:lnTo>
                  <a:lnTo>
                    <a:pt x="1408" y="2232"/>
                  </a:lnTo>
                  <a:lnTo>
                    <a:pt x="1408" y="2238"/>
                  </a:lnTo>
                  <a:lnTo>
                    <a:pt x="1408" y="2238"/>
                  </a:lnTo>
                  <a:lnTo>
                    <a:pt x="1408" y="2246"/>
                  </a:lnTo>
                  <a:lnTo>
                    <a:pt x="1407" y="2256"/>
                  </a:lnTo>
                  <a:lnTo>
                    <a:pt x="1404" y="2266"/>
                  </a:lnTo>
                  <a:lnTo>
                    <a:pt x="1402" y="2271"/>
                  </a:lnTo>
                  <a:lnTo>
                    <a:pt x="1399" y="2275"/>
                  </a:lnTo>
                  <a:lnTo>
                    <a:pt x="1395" y="2279"/>
                  </a:lnTo>
                  <a:lnTo>
                    <a:pt x="1391" y="2284"/>
                  </a:lnTo>
                  <a:lnTo>
                    <a:pt x="1385" y="2287"/>
                  </a:lnTo>
                  <a:lnTo>
                    <a:pt x="1378" y="2290"/>
                  </a:lnTo>
                  <a:lnTo>
                    <a:pt x="1370" y="2293"/>
                  </a:lnTo>
                  <a:lnTo>
                    <a:pt x="1361" y="2295"/>
                  </a:lnTo>
                  <a:lnTo>
                    <a:pt x="1350" y="2296"/>
                  </a:lnTo>
                  <a:lnTo>
                    <a:pt x="1337" y="2296"/>
                  </a:lnTo>
                  <a:lnTo>
                    <a:pt x="1334" y="2296"/>
                  </a:lnTo>
                  <a:lnTo>
                    <a:pt x="1354" y="2339"/>
                  </a:lnTo>
                  <a:lnTo>
                    <a:pt x="1355" y="2339"/>
                  </a:lnTo>
                  <a:lnTo>
                    <a:pt x="1355" y="2339"/>
                  </a:lnTo>
                  <a:lnTo>
                    <a:pt x="1369" y="2339"/>
                  </a:lnTo>
                  <a:lnTo>
                    <a:pt x="1381" y="2338"/>
                  </a:lnTo>
                  <a:lnTo>
                    <a:pt x="1392" y="2335"/>
                  </a:lnTo>
                  <a:lnTo>
                    <a:pt x="1403" y="2332"/>
                  </a:lnTo>
                  <a:lnTo>
                    <a:pt x="1413" y="2328"/>
                  </a:lnTo>
                  <a:lnTo>
                    <a:pt x="1421" y="2324"/>
                  </a:lnTo>
                  <a:lnTo>
                    <a:pt x="1429" y="2318"/>
                  </a:lnTo>
                  <a:lnTo>
                    <a:pt x="1436" y="2311"/>
                  </a:lnTo>
                  <a:lnTo>
                    <a:pt x="1442" y="2304"/>
                  </a:lnTo>
                  <a:lnTo>
                    <a:pt x="1448" y="2296"/>
                  </a:lnTo>
                  <a:lnTo>
                    <a:pt x="1452" y="2286"/>
                  </a:lnTo>
                  <a:lnTo>
                    <a:pt x="1456" y="2276"/>
                  </a:lnTo>
                  <a:lnTo>
                    <a:pt x="1459" y="2266"/>
                  </a:lnTo>
                  <a:lnTo>
                    <a:pt x="1461" y="2254"/>
                  </a:lnTo>
                  <a:lnTo>
                    <a:pt x="1462" y="2242"/>
                  </a:lnTo>
                  <a:lnTo>
                    <a:pt x="1462" y="2229"/>
                  </a:lnTo>
                  <a:lnTo>
                    <a:pt x="1462" y="2027"/>
                  </a:lnTo>
                  <a:lnTo>
                    <a:pt x="1408" y="2027"/>
                  </a:lnTo>
                  <a:lnTo>
                    <a:pt x="1408" y="2042"/>
                  </a:lnTo>
                  <a:close/>
                  <a:moveTo>
                    <a:pt x="1408" y="2094"/>
                  </a:moveTo>
                  <a:lnTo>
                    <a:pt x="1408" y="2181"/>
                  </a:lnTo>
                  <a:lnTo>
                    <a:pt x="1408" y="2181"/>
                  </a:lnTo>
                  <a:lnTo>
                    <a:pt x="1401" y="2189"/>
                  </a:lnTo>
                  <a:lnTo>
                    <a:pt x="1393" y="2197"/>
                  </a:lnTo>
                  <a:lnTo>
                    <a:pt x="1387" y="2199"/>
                  </a:lnTo>
                  <a:lnTo>
                    <a:pt x="1382" y="2201"/>
                  </a:lnTo>
                  <a:lnTo>
                    <a:pt x="1376" y="2202"/>
                  </a:lnTo>
                  <a:lnTo>
                    <a:pt x="1369" y="2203"/>
                  </a:lnTo>
                  <a:lnTo>
                    <a:pt x="1369" y="2203"/>
                  </a:lnTo>
                  <a:lnTo>
                    <a:pt x="1362" y="2202"/>
                  </a:lnTo>
                  <a:lnTo>
                    <a:pt x="1354" y="2200"/>
                  </a:lnTo>
                  <a:lnTo>
                    <a:pt x="1348" y="2197"/>
                  </a:lnTo>
                  <a:lnTo>
                    <a:pt x="1341" y="2190"/>
                  </a:lnTo>
                  <a:lnTo>
                    <a:pt x="1335" y="2181"/>
                  </a:lnTo>
                  <a:lnTo>
                    <a:pt x="1331" y="2169"/>
                  </a:lnTo>
                  <a:lnTo>
                    <a:pt x="1329" y="2154"/>
                  </a:lnTo>
                  <a:lnTo>
                    <a:pt x="1328" y="2134"/>
                  </a:lnTo>
                  <a:lnTo>
                    <a:pt x="1328" y="2134"/>
                  </a:lnTo>
                  <a:lnTo>
                    <a:pt x="1329" y="2117"/>
                  </a:lnTo>
                  <a:lnTo>
                    <a:pt x="1331" y="2103"/>
                  </a:lnTo>
                  <a:lnTo>
                    <a:pt x="1335" y="2092"/>
                  </a:lnTo>
                  <a:lnTo>
                    <a:pt x="1341" y="2084"/>
                  </a:lnTo>
                  <a:lnTo>
                    <a:pt x="1348" y="2079"/>
                  </a:lnTo>
                  <a:lnTo>
                    <a:pt x="1354" y="2074"/>
                  </a:lnTo>
                  <a:lnTo>
                    <a:pt x="1362" y="2073"/>
                  </a:lnTo>
                  <a:lnTo>
                    <a:pt x="1369" y="2072"/>
                  </a:lnTo>
                  <a:lnTo>
                    <a:pt x="1369" y="2072"/>
                  </a:lnTo>
                  <a:lnTo>
                    <a:pt x="1376" y="2073"/>
                  </a:lnTo>
                  <a:lnTo>
                    <a:pt x="1383" y="2074"/>
                  </a:lnTo>
                  <a:lnTo>
                    <a:pt x="1388" y="2076"/>
                  </a:lnTo>
                  <a:lnTo>
                    <a:pt x="1394" y="2080"/>
                  </a:lnTo>
                  <a:lnTo>
                    <a:pt x="1398" y="2083"/>
                  </a:lnTo>
                  <a:lnTo>
                    <a:pt x="1402" y="2086"/>
                  </a:lnTo>
                  <a:lnTo>
                    <a:pt x="1408" y="2094"/>
                  </a:lnTo>
                  <a:lnTo>
                    <a:pt x="1408" y="2094"/>
                  </a:lnTo>
                  <a:close/>
                  <a:moveTo>
                    <a:pt x="938" y="2027"/>
                  </a:moveTo>
                  <a:lnTo>
                    <a:pt x="993" y="2027"/>
                  </a:lnTo>
                  <a:lnTo>
                    <a:pt x="993" y="2123"/>
                  </a:lnTo>
                  <a:lnTo>
                    <a:pt x="993" y="2249"/>
                  </a:lnTo>
                  <a:lnTo>
                    <a:pt x="938" y="2249"/>
                  </a:lnTo>
                  <a:lnTo>
                    <a:pt x="938" y="2027"/>
                  </a:lnTo>
                  <a:close/>
                  <a:moveTo>
                    <a:pt x="993" y="1967"/>
                  </a:moveTo>
                  <a:lnTo>
                    <a:pt x="993" y="1995"/>
                  </a:lnTo>
                  <a:lnTo>
                    <a:pt x="938" y="1995"/>
                  </a:lnTo>
                  <a:lnTo>
                    <a:pt x="938" y="1940"/>
                  </a:lnTo>
                  <a:lnTo>
                    <a:pt x="993" y="1940"/>
                  </a:lnTo>
                  <a:lnTo>
                    <a:pt x="993" y="1967"/>
                  </a:lnTo>
                  <a:close/>
                  <a:moveTo>
                    <a:pt x="2309" y="1962"/>
                  </a:moveTo>
                  <a:lnTo>
                    <a:pt x="2364" y="1934"/>
                  </a:lnTo>
                  <a:lnTo>
                    <a:pt x="2364" y="2127"/>
                  </a:lnTo>
                  <a:lnTo>
                    <a:pt x="2364" y="2249"/>
                  </a:lnTo>
                  <a:lnTo>
                    <a:pt x="2309" y="2249"/>
                  </a:lnTo>
                  <a:lnTo>
                    <a:pt x="2309" y="1962"/>
                  </a:lnTo>
                  <a:close/>
                  <a:moveTo>
                    <a:pt x="397" y="757"/>
                  </a:moveTo>
                  <a:lnTo>
                    <a:pt x="850" y="757"/>
                  </a:lnTo>
                  <a:lnTo>
                    <a:pt x="850" y="495"/>
                  </a:lnTo>
                  <a:lnTo>
                    <a:pt x="397" y="495"/>
                  </a:lnTo>
                  <a:lnTo>
                    <a:pt x="397" y="288"/>
                  </a:lnTo>
                  <a:lnTo>
                    <a:pt x="898" y="288"/>
                  </a:lnTo>
                  <a:lnTo>
                    <a:pt x="732" y="0"/>
                  </a:lnTo>
                  <a:lnTo>
                    <a:pt x="22" y="0"/>
                  </a:lnTo>
                  <a:lnTo>
                    <a:pt x="22" y="1251"/>
                  </a:lnTo>
                  <a:lnTo>
                    <a:pt x="1023" y="1251"/>
                  </a:lnTo>
                  <a:lnTo>
                    <a:pt x="1023" y="963"/>
                  </a:lnTo>
                  <a:lnTo>
                    <a:pt x="397" y="963"/>
                  </a:lnTo>
                  <a:lnTo>
                    <a:pt x="397" y="757"/>
                  </a:lnTo>
                  <a:close/>
                  <a:moveTo>
                    <a:pt x="1690" y="0"/>
                  </a:moveTo>
                  <a:lnTo>
                    <a:pt x="1477" y="409"/>
                  </a:lnTo>
                  <a:lnTo>
                    <a:pt x="1265" y="0"/>
                  </a:lnTo>
                  <a:lnTo>
                    <a:pt x="850" y="0"/>
                  </a:lnTo>
                  <a:lnTo>
                    <a:pt x="1287" y="757"/>
                  </a:lnTo>
                  <a:lnTo>
                    <a:pt x="1287" y="1251"/>
                  </a:lnTo>
                  <a:lnTo>
                    <a:pt x="1661" y="1251"/>
                  </a:lnTo>
                  <a:lnTo>
                    <a:pt x="1661" y="757"/>
                  </a:lnTo>
                  <a:lnTo>
                    <a:pt x="2099" y="0"/>
                  </a:lnTo>
                  <a:lnTo>
                    <a:pt x="169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</p:spTree>
    <p:extLst>
      <p:ext uri="{BB962C8B-B14F-4D97-AF65-F5344CB8AC3E}">
        <p14:creationId xmlns:p14="http://schemas.microsoft.com/office/powerpoint/2010/main" val="155942700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319088"/>
            <a:ext cx="10978515" cy="652462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0356C28-34FC-48BD-943E-82B485EB0C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9" name="Parallelogram 8">
            <a:extLst>
              <a:ext uri="{FF2B5EF4-FFF2-40B4-BE49-F238E27FC236}">
                <a16:creationId xmlns:a16="http://schemas.microsoft.com/office/drawing/2014/main" id="{A3C9806C-46CF-45EE-8ECD-A4424F085FC6}"/>
              </a:ext>
            </a:extLst>
          </p:cNvPr>
          <p:cNvSpPr>
            <a:spLocks/>
          </p:cNvSpPr>
          <p:nvPr userDrawn="1"/>
        </p:nvSpPr>
        <p:spPr>
          <a:xfrm>
            <a:off x="601178" y="973454"/>
            <a:ext cx="324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0" name="Parallelogram 9">
            <a:extLst>
              <a:ext uri="{FF2B5EF4-FFF2-40B4-BE49-F238E27FC236}">
                <a16:creationId xmlns:a16="http://schemas.microsoft.com/office/drawing/2014/main" id="{5C4186CA-3062-49AA-B4A6-4F5659A20A0D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1" name="Parallelogram 10">
            <a:extLst>
              <a:ext uri="{FF2B5EF4-FFF2-40B4-BE49-F238E27FC236}">
                <a16:creationId xmlns:a16="http://schemas.microsoft.com/office/drawing/2014/main" id="{2130826B-32F8-4F0D-8B25-C68C977272C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C94627AC-8D4A-4490-B169-C1CC0106F256}"/>
              </a:ext>
            </a:extLst>
          </p:cNvPr>
          <p:cNvSpPr txBox="1">
            <a:spLocks/>
          </p:cNvSpPr>
          <p:nvPr userDrawn="1"/>
        </p:nvSpPr>
        <p:spPr>
          <a:xfrm>
            <a:off x="1284599" y="6414783"/>
            <a:ext cx="3086100" cy="1800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800" dirty="0"/>
              <a:t>Presentation title</a:t>
            </a:r>
          </a:p>
        </p:txBody>
      </p:sp>
      <p:sp>
        <p:nvSpPr>
          <p:cNvPr id="14" name="Slide Number Placeholder 4">
            <a:extLst>
              <a:ext uri="{FF2B5EF4-FFF2-40B4-BE49-F238E27FC236}">
                <a16:creationId xmlns:a16="http://schemas.microsoft.com/office/drawing/2014/main" id="{998835E0-350D-4B34-8AD3-448FF6EFBAAF}"/>
              </a:ext>
            </a:extLst>
          </p:cNvPr>
          <p:cNvSpPr txBox="1">
            <a:spLocks/>
          </p:cNvSpPr>
          <p:nvPr userDrawn="1"/>
        </p:nvSpPr>
        <p:spPr>
          <a:xfrm>
            <a:off x="609601" y="6414783"/>
            <a:ext cx="663066" cy="180000"/>
          </a:xfrm>
          <a:prstGeom prst="rect">
            <a:avLst/>
          </a:prstGeom>
        </p:spPr>
        <p:txBody>
          <a:bodyPr lIns="0" tIns="0" rIns="0" bIns="0" anchor="ctr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 dirty="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 dirty="0"/>
          </a:p>
        </p:txBody>
      </p:sp>
      <p:sp>
        <p:nvSpPr>
          <p:cNvPr id="15" name="Parallelogram 14">
            <a:extLst>
              <a:ext uri="{FF2B5EF4-FFF2-40B4-BE49-F238E27FC236}">
                <a16:creationId xmlns:a16="http://schemas.microsoft.com/office/drawing/2014/main" id="{6A73B01D-677D-49FB-81C4-785A3B42AC4C}"/>
              </a:ext>
            </a:extLst>
          </p:cNvPr>
          <p:cNvSpPr>
            <a:spLocks/>
          </p:cNvSpPr>
          <p:nvPr userDrawn="1"/>
        </p:nvSpPr>
        <p:spPr>
          <a:xfrm>
            <a:off x="1157188" y="6414783"/>
            <a:ext cx="84940" cy="180000"/>
          </a:xfrm>
          <a:prstGeom prst="parallelogram">
            <a:avLst>
              <a:gd name="adj" fmla="val 72658"/>
            </a:avLst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6" name="Parallelogram 15">
            <a:extLst>
              <a:ext uri="{FF2B5EF4-FFF2-40B4-BE49-F238E27FC236}">
                <a16:creationId xmlns:a16="http://schemas.microsoft.com/office/drawing/2014/main" id="{BE6C5454-86D9-4538-A291-93E41C297B1A}"/>
              </a:ext>
            </a:extLst>
          </p:cNvPr>
          <p:cNvSpPr>
            <a:spLocks/>
          </p:cNvSpPr>
          <p:nvPr userDrawn="1"/>
        </p:nvSpPr>
        <p:spPr>
          <a:xfrm>
            <a:off x="1199658" y="6414783"/>
            <a:ext cx="84940" cy="180000"/>
          </a:xfrm>
          <a:prstGeom prst="parallelogram">
            <a:avLst>
              <a:gd name="adj" fmla="val 72658"/>
            </a:avLst>
          </a:prstGeom>
          <a:solidFill>
            <a:schemeClr val="bg1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166615957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Let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arallelogram 3">
            <a:extLst>
              <a:ext uri="{FF2B5EF4-FFF2-40B4-BE49-F238E27FC236}">
                <a16:creationId xmlns:a16="http://schemas.microsoft.com/office/drawing/2014/main" id="{82814E3B-B412-4632-B8D2-29DEAD7B3733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5" name="Parallelogram 4">
            <a:extLst>
              <a:ext uri="{FF2B5EF4-FFF2-40B4-BE49-F238E27FC236}">
                <a16:creationId xmlns:a16="http://schemas.microsoft.com/office/drawing/2014/main" id="{CF5C369C-18B6-42FB-9BFD-BB510D91EFFA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</p:spTree>
    <p:extLst>
      <p:ext uri="{BB962C8B-B14F-4D97-AF65-F5344CB8AC3E}">
        <p14:creationId xmlns:p14="http://schemas.microsoft.com/office/powerpoint/2010/main" val="2908186010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99121" y="1"/>
            <a:ext cx="3999231" cy="6156104"/>
          </a:xfrm>
        </p:spPr>
        <p:txBody>
          <a:bodyPr/>
          <a:lstStyle/>
          <a:p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7444422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918" y="1137921"/>
            <a:ext cx="7299642" cy="873760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09919" y="2311401"/>
            <a:ext cx="3580117" cy="384470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C7BD71A-882B-40FB-A05F-48ECC69FF73D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4329444" y="2311403"/>
            <a:ext cx="3580117" cy="1254759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D87D58C8-1517-42AA-8B2A-E449A3F6F02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29444" y="4236721"/>
            <a:ext cx="3580117" cy="1944160"/>
          </a:xfrm>
        </p:spPr>
        <p:txBody>
          <a:bodyPr numCol="1"/>
          <a:lstStyle>
            <a:lvl1pPr marL="0" indent="0">
              <a:buNone/>
              <a:defRPr sz="1799">
                <a:solidFill>
                  <a:schemeClr val="bg1"/>
                </a:solidFill>
                <a:latin typeface="Georgia" panose="02040502050405020303" pitchFamily="18" charset="0"/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3" name="Line 10">
            <a:extLst>
              <a:ext uri="{FF2B5EF4-FFF2-40B4-BE49-F238E27FC236}">
                <a16:creationId xmlns:a16="http://schemas.microsoft.com/office/drawing/2014/main" id="{E820DC59-E206-4DC0-9012-584F8EBAF730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9" y="907750"/>
            <a:ext cx="7723854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7217148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80593A0-4211-460E-B6CF-FE2D9CE6D9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" y="2"/>
            <a:ext cx="2384460" cy="6857999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95294" y="294200"/>
            <a:ext cx="8892000" cy="59040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2695293" y="1137921"/>
            <a:ext cx="2742882" cy="5018184"/>
          </a:xfrm>
        </p:spPr>
        <p:txBody>
          <a:bodyPr/>
          <a:lstStyle>
            <a:lvl1pPr marL="0" indent="0">
              <a:buNone/>
              <a:defRPr sz="17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578D3272-120F-430D-AFB5-E93227EEEAAF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5727083" y="1137921"/>
            <a:ext cx="2803842" cy="5018184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FF4A6F8-D9C6-4FEE-9324-5200D308BB1F}"/>
              </a:ext>
            </a:extLst>
          </p:cNvPr>
          <p:cNvSpPr>
            <a:spLocks noGrp="1"/>
          </p:cNvSpPr>
          <p:nvPr userDrawn="1">
            <p:ph idx="12" hasCustomPrompt="1"/>
          </p:nvPr>
        </p:nvSpPr>
        <p:spPr>
          <a:xfrm>
            <a:off x="8819833" y="1137923"/>
            <a:ext cx="2768600" cy="2796151"/>
          </a:xfrm>
        </p:spPr>
        <p:txBody>
          <a:bodyPr numCol="1"/>
          <a:lstStyle>
            <a:lvl1pPr marL="0" indent="0">
              <a:buNone/>
              <a:defRPr sz="1399">
                <a:solidFill>
                  <a:schemeClr val="bg1"/>
                </a:solidFill>
              </a:defRPr>
            </a:lvl1pPr>
            <a:lvl2pPr marL="356438" indent="0">
              <a:buNone/>
              <a:defRPr sz="1799">
                <a:solidFill>
                  <a:schemeClr val="bg1"/>
                </a:solidFill>
              </a:defRPr>
            </a:lvl2pPr>
            <a:lvl3pPr marL="712875" indent="0">
              <a:buNone/>
              <a:defRPr sz="1599">
                <a:solidFill>
                  <a:schemeClr val="bg1"/>
                </a:solidFill>
              </a:defRPr>
            </a:lvl3pPr>
            <a:lvl4pPr marL="1069313" indent="0">
              <a:buNone/>
              <a:defRPr sz="1399">
                <a:solidFill>
                  <a:schemeClr val="bg1"/>
                </a:solidFill>
              </a:defRPr>
            </a:lvl4pPr>
            <a:lvl5pPr marL="1425751" indent="0"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Text</a:t>
            </a:r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B63A7CBA-3151-452E-BD2F-D3E65CE1595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2695294" y="907750"/>
            <a:ext cx="8892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104974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9" y="1137920"/>
            <a:ext cx="8238744" cy="4834800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buNone/>
              <a:defRPr sz="1799">
                <a:solidFill>
                  <a:schemeClr val="bg1"/>
                </a:solidFill>
              </a:defRPr>
            </a:lvl2pPr>
            <a:lvl3pPr marL="0" indent="0">
              <a:spcBef>
                <a:spcPts val="0"/>
              </a:spcBef>
              <a:buNone/>
              <a:defRPr sz="1599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buNone/>
              <a:defRPr sz="1399">
                <a:solidFill>
                  <a:schemeClr val="bg1"/>
                </a:solidFill>
              </a:defRPr>
            </a:lvl4pPr>
            <a:lvl5pPr marL="0" indent="0">
              <a:spcBef>
                <a:spcPts val="0"/>
              </a:spcBef>
              <a:buNone/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9" name="Line 10">
            <a:extLst>
              <a:ext uri="{FF2B5EF4-FFF2-40B4-BE49-F238E27FC236}">
                <a16:creationId xmlns:a16="http://schemas.microsoft.com/office/drawing/2014/main" id="{CF130104-FAF2-4309-9701-573F3774313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95054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CBA94B7-7BDE-4510-A417-A765301D1371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97C43D-4F1B-43DA-A0C6-DA6B6708E16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2800" y="2851522"/>
            <a:ext cx="4447800" cy="1202318"/>
          </a:xfrm>
        </p:spPr>
        <p:txBody>
          <a:bodyPr vert="horz" lIns="0" tIns="0" rIns="0" bIns="0" rtlCol="0" anchor="ctr" anchorCtr="0">
            <a:noAutofit/>
          </a:bodyPr>
          <a:lstStyle>
            <a:lvl1pPr marL="0" indent="0">
              <a:buNone/>
              <a:defRPr kumimoji="0" lang="en-IN" sz="3598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EYInterstate Light" panose="02000506000000020004" pitchFamily="2" charset="0"/>
                <a:ea typeface="+mj-ea"/>
                <a:cs typeface="+mj-cs"/>
              </a:defRPr>
            </a:lvl1pPr>
          </a:lstStyle>
          <a:p>
            <a:pPr marL="356438" marR="0" lvl="0" indent="-356438" defTabSz="1007383" fontAlgn="auto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tabLst/>
            </a:pPr>
            <a:r>
              <a:rPr lang="en-US" dirty="0"/>
              <a:t>Chapter Title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4316225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arallelogram 10">
            <a:extLst>
              <a:ext uri="{FF2B5EF4-FFF2-40B4-BE49-F238E27FC236}">
                <a16:creationId xmlns:a16="http://schemas.microsoft.com/office/drawing/2014/main" id="{1CA1861C-5FDB-4203-A132-9CF18C56F211}"/>
              </a:ext>
            </a:extLst>
          </p:cNvPr>
          <p:cNvSpPr>
            <a:spLocks/>
          </p:cNvSpPr>
          <p:nvPr userDrawn="1"/>
        </p:nvSpPr>
        <p:spPr>
          <a:xfrm rot="5400000">
            <a:off x="-1470861" y="5306715"/>
            <a:ext cx="3060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12" name="Parallelogram 11">
            <a:extLst>
              <a:ext uri="{FF2B5EF4-FFF2-40B4-BE49-F238E27FC236}">
                <a16:creationId xmlns:a16="http://schemas.microsoft.com/office/drawing/2014/main" id="{2151C8A0-D00F-44D1-B828-3C8CCE8DF64F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10220924" y="1909329"/>
            <a:ext cx="3852000" cy="36000"/>
          </a:xfrm>
          <a:prstGeom prst="parallelogram">
            <a:avLst/>
          </a:prstGeom>
          <a:solidFill>
            <a:schemeClr val="tx2">
              <a:lumMod val="10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9" dirty="0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8F291EB0-15F5-4E9A-A38B-CE3AC1452E21}"/>
              </a:ext>
            </a:extLst>
          </p:cNvPr>
          <p:cNvSpPr txBox="1">
            <a:spLocks/>
          </p:cNvSpPr>
          <p:nvPr userDrawn="1"/>
        </p:nvSpPr>
        <p:spPr>
          <a:xfrm>
            <a:off x="477351" y="1488927"/>
            <a:ext cx="2338388" cy="858838"/>
          </a:xfrm>
          <a:prstGeom prst="rect">
            <a:avLst/>
          </a:prstGeom>
        </p:spPr>
        <p:txBody>
          <a:bodyPr/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B5D2AC0-B4F7-4455-9AE0-201966050A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13351" y="2526765"/>
            <a:ext cx="5292000" cy="1800000"/>
          </a:xfrm>
        </p:spPr>
        <p:txBody>
          <a:bodyPr lIns="90000" tIns="46800" rIns="90000" bIns="46800"/>
          <a:lstStyle>
            <a:lvl1pPr marL="0" indent="0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F1BA83A2-78F0-4F7E-836B-9B4B87820F9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13351" y="4632765"/>
            <a:ext cx="5292000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Name Surname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034CE9DD-CE12-4D9F-8FD6-A2522F36C8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3351" y="4971442"/>
            <a:ext cx="5292000" cy="316838"/>
          </a:xfrm>
        </p:spPr>
        <p:txBody>
          <a:bodyPr lIns="90000" tIns="46800" rIns="90000" bIns="46800"/>
          <a:lstStyle>
            <a:lvl1pPr marL="0" indent="0" algn="l" defTabSz="913943" rtl="0" eaLnBrk="1" latinLnBrk="0" hangingPunct="1">
              <a:spcBef>
                <a:spcPts val="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Arial" pitchFamily="34" charset="0"/>
              <a:buNone/>
              <a:defRPr lang="en-US" sz="1599" kern="1200" dirty="0" smtClean="0">
                <a:solidFill>
                  <a:srgbClr val="2E2E38"/>
                </a:solidFill>
                <a:latin typeface="+mn-lt"/>
                <a:ea typeface="+mn-ea"/>
                <a:cs typeface="+mn-cs"/>
              </a:defRPr>
            </a:lvl1pPr>
            <a:lvl2pPr marL="356438" indent="0">
              <a:buNone/>
              <a:defRPr lang="en-US" sz="1999" smtClean="0">
                <a:latin typeface="+mn-lt"/>
              </a:defRPr>
            </a:lvl2pPr>
            <a:lvl3pPr>
              <a:defRPr lang="en-US" sz="1799" smtClean="0">
                <a:latin typeface="+mn-lt"/>
              </a:defRPr>
            </a:lvl3pPr>
            <a:lvl4pPr>
              <a:defRPr lang="en-US" sz="1599" smtClean="0">
                <a:latin typeface="+mn-lt"/>
              </a:defRPr>
            </a:lvl4pPr>
            <a:lvl5pPr>
              <a:defRPr lang="en-IN" sz="1599">
                <a:latin typeface="+mn-lt"/>
              </a:defRPr>
            </a:lvl5pPr>
          </a:lstStyle>
          <a:p>
            <a:pPr marL="0" lvl="0" indent="0">
              <a:spcBef>
                <a:spcPts val="0"/>
              </a:spcBef>
              <a:buNone/>
            </a:pPr>
            <a:r>
              <a:rPr lang="en-US" dirty="0"/>
              <a:t>Job Title</a:t>
            </a:r>
          </a:p>
        </p:txBody>
      </p:sp>
    </p:spTree>
    <p:extLst>
      <p:ext uri="{BB962C8B-B14F-4D97-AF65-F5344CB8AC3E}">
        <p14:creationId xmlns:p14="http://schemas.microsoft.com/office/powerpoint/2010/main" val="398783854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E28D7EA5-A532-4D8B-9984-8F3D1FEA98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453176" y="2060235"/>
            <a:ext cx="5292000" cy="3025522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2799" dirty="0" smtClean="0">
                <a:latin typeface="Georgia" panose="02040502050405020303" pitchFamily="18" charset="0"/>
              </a:defRPr>
            </a:lvl1pPr>
          </a:lstStyle>
          <a:p>
            <a:pPr marL="356438" lvl="0" indent="-356438" algn="ctr">
              <a:spcBef>
                <a:spcPts val="0"/>
              </a:spcBef>
            </a:pPr>
            <a:r>
              <a:rPr lang="en-US" dirty="0"/>
              <a:t>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9F9B9C3C-16F2-40B2-A460-0480520ECF8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453176" y="5506678"/>
            <a:ext cx="5292000" cy="316838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Name Surname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8E04541C-CC5D-4455-8271-73223AE0A8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453176" y="5818717"/>
            <a:ext cx="5292000" cy="316838"/>
          </a:xfrm>
        </p:spPr>
        <p:txBody>
          <a:bodyPr vert="horz" lIns="0" tIns="0" rIns="0" bIns="0" rtlCol="0" anchor="t" anchorCtr="0">
            <a:noAutofit/>
          </a:bodyPr>
          <a:lstStyle>
            <a:lvl1pPr marL="0" indent="0" algn="ctr">
              <a:buNone/>
              <a:defRPr lang="en-US" sz="1599" dirty="0" smtClean="0">
                <a:solidFill>
                  <a:srgbClr val="2E2E38"/>
                </a:solidFill>
                <a:latin typeface="+mn-lt"/>
              </a:defRPr>
            </a:lvl1pPr>
          </a:lstStyle>
          <a:p>
            <a:pPr marL="356438" lvl="0" indent="-356438" algn="ctr">
              <a:spcBef>
                <a:spcPts val="0"/>
              </a:spcBef>
              <a:spcAft>
                <a:spcPts val="600"/>
              </a:spcAft>
            </a:pPr>
            <a:r>
              <a:rPr lang="en-US" dirty="0"/>
              <a:t>Job Title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BD672D3-B116-471A-8511-D80D5D920D93}"/>
              </a:ext>
            </a:extLst>
          </p:cNvPr>
          <p:cNvSpPr txBox="1">
            <a:spLocks/>
          </p:cNvSpPr>
          <p:nvPr userDrawn="1"/>
        </p:nvSpPr>
        <p:spPr>
          <a:xfrm>
            <a:off x="4929982" y="979789"/>
            <a:ext cx="2338388" cy="882687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sz="11194" dirty="0">
                <a:solidFill>
                  <a:schemeClr val="tx2"/>
                </a:solidFill>
                <a:latin typeface="Georgia" panose="02040502050405020303" pitchFamily="18" charset="0"/>
              </a:rPr>
              <a:t>“ </a:t>
            </a:r>
          </a:p>
        </p:txBody>
      </p:sp>
    </p:spTree>
    <p:extLst>
      <p:ext uri="{BB962C8B-B14F-4D97-AF65-F5344CB8AC3E}">
        <p14:creationId xmlns:p14="http://schemas.microsoft.com/office/powerpoint/2010/main" val="1678355327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628F8CDB-776D-4811-AE2C-217236ECDEC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227180" y="0"/>
            <a:ext cx="5971170" cy="6858000"/>
          </a:xfrm>
        </p:spPr>
        <p:txBody>
          <a:bodyPr/>
          <a:lstStyle/>
          <a:p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6E96BA-E9E4-496B-8CA5-6DA27B8AD7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17222" y="2578743"/>
            <a:ext cx="4537959" cy="1055708"/>
          </a:xfrm>
        </p:spPr>
        <p:txBody>
          <a:bodyPr/>
          <a:lstStyle>
            <a:lvl1pPr marL="0" indent="0">
              <a:buNone/>
              <a:defRPr sz="2999"/>
            </a:lvl1pPr>
          </a:lstStyle>
          <a:p>
            <a:pPr lvl="0"/>
            <a:r>
              <a:rPr lang="en-IN" dirty="0"/>
              <a:t>Chapter Title</a:t>
            </a:r>
          </a:p>
          <a:p>
            <a:pPr lvl="0"/>
            <a:r>
              <a:rPr lang="en-IN" dirty="0"/>
              <a:t>EY Interstate Light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1173C8A3-BA2F-497B-A214-45B02D73AF2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7222" y="3840384"/>
            <a:ext cx="4537959" cy="1055708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IN" dirty="0"/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4976418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tandard slide_no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95A2BE92-ABF7-4A82-BC35-00F28F500FED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609917" y="1137922"/>
            <a:ext cx="4957505" cy="4267457"/>
          </a:xfrm>
        </p:spPr>
        <p:txBody>
          <a:bodyPr/>
          <a:lstStyle/>
          <a:p>
            <a:endParaRPr lang="en-IN"/>
          </a:p>
        </p:txBody>
      </p:sp>
      <p:sp>
        <p:nvSpPr>
          <p:cNvPr id="10" name="Text Placeholder 16">
            <a:extLst>
              <a:ext uri="{FF2B5EF4-FFF2-40B4-BE49-F238E27FC236}">
                <a16:creationId xmlns:a16="http://schemas.microsoft.com/office/drawing/2014/main" id="{DA81FCAA-64D2-4A9C-B16E-9C4E3BB431B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33462" y="3813288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03CDC117-35F2-47B2-85B2-29CB8EE7E09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133462" y="4055931"/>
            <a:ext cx="3089275" cy="180000"/>
          </a:xfrm>
        </p:spPr>
        <p:txBody>
          <a:bodyPr/>
          <a:lstStyle>
            <a:lvl1pPr marL="0" indent="0">
              <a:buNone/>
              <a:defRPr sz="1199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 to go here</a:t>
            </a:r>
            <a:endParaRPr lang="en-GB" dirty="0"/>
          </a:p>
        </p:txBody>
      </p:sp>
      <p:sp>
        <p:nvSpPr>
          <p:cNvPr id="14" name="Picture Placeholder 19">
            <a:extLst>
              <a:ext uri="{FF2B5EF4-FFF2-40B4-BE49-F238E27FC236}">
                <a16:creationId xmlns:a16="http://schemas.microsoft.com/office/drawing/2014/main" id="{00A15EA9-2372-4E06-83C2-1E13AB1FA62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123008" y="3578084"/>
            <a:ext cx="778959" cy="778959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DB83DAE-9FEB-4E9C-85BA-A34BD23927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123008" y="1137922"/>
            <a:ext cx="5465425" cy="37380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Key Takeaways</a:t>
            </a:r>
          </a:p>
        </p:txBody>
      </p:sp>
      <p:sp>
        <p:nvSpPr>
          <p:cNvPr id="15" name="Text Placeholder 8">
            <a:extLst>
              <a:ext uri="{FF2B5EF4-FFF2-40B4-BE49-F238E27FC236}">
                <a16:creationId xmlns:a16="http://schemas.microsoft.com/office/drawing/2014/main" id="{C1ABE303-7041-4312-AD03-0E872AEF99B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123008" y="1635009"/>
            <a:ext cx="5465425" cy="1611554"/>
          </a:xfrm>
        </p:spPr>
        <p:txBody>
          <a:bodyPr/>
          <a:lstStyle>
            <a:lvl1pPr marL="0" indent="0">
              <a:buNone/>
              <a:defRPr sz="1599"/>
            </a:lvl1pPr>
          </a:lstStyle>
          <a:p>
            <a:pPr lvl="0"/>
            <a:r>
              <a:rPr lang="en-US" dirty="0"/>
              <a:t>Content EY Interstate Light, 16pt, Lorem ipsum dolor, 12pt, </a:t>
            </a:r>
            <a:r>
              <a:rPr lang="en-US" dirty="0" err="1"/>
              <a:t>Utinam</a:t>
            </a:r>
            <a:r>
              <a:rPr lang="en-US" dirty="0"/>
              <a:t> </a:t>
            </a:r>
            <a:r>
              <a:rPr lang="en-US" dirty="0" err="1"/>
              <a:t>nonumy</a:t>
            </a:r>
            <a:r>
              <a:rPr lang="en-US" dirty="0"/>
              <a:t> </a:t>
            </a:r>
            <a:r>
              <a:rPr lang="en-US" dirty="0" err="1"/>
              <a:t>abhorreant</a:t>
            </a:r>
            <a:r>
              <a:rPr lang="en-US" dirty="0"/>
              <a:t> </a:t>
            </a:r>
            <a:r>
              <a:rPr lang="en-US" dirty="0" err="1"/>
              <a:t>sead</a:t>
            </a:r>
            <a:r>
              <a:rPr lang="en-US" dirty="0"/>
              <a:t>. </a:t>
            </a:r>
            <a:r>
              <a:rPr lang="en-US" dirty="0" err="1"/>
              <a:t>Putant</a:t>
            </a:r>
            <a:r>
              <a:rPr lang="en-US" dirty="0"/>
              <a:t> </a:t>
            </a:r>
            <a:r>
              <a:rPr lang="en-US" dirty="0" err="1"/>
              <a:t>probatus</a:t>
            </a:r>
            <a:r>
              <a:rPr lang="en-US" dirty="0"/>
              <a:t> id vis, ad his </a:t>
            </a:r>
            <a:r>
              <a:rPr lang="en-US" dirty="0" err="1"/>
              <a:t>meis</a:t>
            </a:r>
            <a:r>
              <a:rPr lang="en-US" dirty="0"/>
              <a:t> </a:t>
            </a:r>
            <a:r>
              <a:rPr lang="en-US" dirty="0" err="1"/>
              <a:t>habemus</a:t>
            </a:r>
            <a:r>
              <a:rPr lang="en-US" dirty="0"/>
              <a:t> </a:t>
            </a:r>
            <a:r>
              <a:rPr lang="en-US" dirty="0" err="1"/>
              <a:t>repudiare</a:t>
            </a:r>
            <a:r>
              <a:rPr lang="en-US" dirty="0"/>
              <a:t>, has an </a:t>
            </a:r>
            <a:r>
              <a:rPr lang="en-US" dirty="0" err="1"/>
              <a:t>pericula</a:t>
            </a:r>
            <a:r>
              <a:rPr lang="en-US" dirty="0"/>
              <a:t> </a:t>
            </a:r>
            <a:r>
              <a:rPr lang="en-US" dirty="0" err="1"/>
              <a:t>tractatos</a:t>
            </a:r>
            <a:r>
              <a:rPr lang="en-US" dirty="0"/>
              <a:t>.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debitis</a:t>
            </a:r>
            <a:r>
              <a:rPr lang="en-US" dirty="0"/>
              <a:t> </a:t>
            </a:r>
            <a:r>
              <a:rPr lang="en-US" dirty="0" err="1"/>
              <a:t>dissentias</a:t>
            </a:r>
            <a:r>
              <a:rPr lang="en-US" dirty="0"/>
              <a:t> ad. </a:t>
            </a:r>
            <a:r>
              <a:rPr lang="en-US" dirty="0" err="1"/>
              <a:t>Patrioque</a:t>
            </a:r>
            <a:r>
              <a:rPr lang="en-US" dirty="0"/>
              <a:t> </a:t>
            </a:r>
            <a:r>
              <a:rPr lang="en-US" dirty="0" err="1"/>
              <a:t>voluptatum</a:t>
            </a:r>
            <a:r>
              <a:rPr lang="en-US" dirty="0"/>
              <a:t> </a:t>
            </a:r>
            <a:r>
              <a:rPr lang="en-US" dirty="0" err="1"/>
              <a:t>sed</a:t>
            </a:r>
            <a:r>
              <a:rPr lang="en-US" dirty="0"/>
              <a:t> ex, id </a:t>
            </a:r>
            <a:r>
              <a:rPr lang="en-US" dirty="0" err="1"/>
              <a:t>admodum</a:t>
            </a:r>
            <a:r>
              <a:rPr lang="en-US" dirty="0"/>
              <a:t>.</a:t>
            </a:r>
          </a:p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398278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07BA1-EA97-432B-8AAE-BE8FEE62458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8350" cy="6858000"/>
          </a:xfrm>
          <a:ln>
            <a:noFill/>
          </a:ln>
        </p:spPr>
        <p:txBody>
          <a:bodyPr/>
          <a:lstStyle>
            <a:lvl1pPr marL="0" indent="0" algn="ctr">
              <a:buNone/>
              <a:defRPr/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176912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 slide_no_first_level_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4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919" y="1137920"/>
            <a:ext cx="8238744" cy="4834800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  <a:lvl2pPr marL="356438">
              <a:defRPr>
                <a:solidFill>
                  <a:schemeClr val="bg1"/>
                </a:solidFill>
              </a:defRPr>
            </a:lvl2pPr>
            <a:lvl3pPr marL="712875">
              <a:defRPr>
                <a:solidFill>
                  <a:schemeClr val="bg1"/>
                </a:solidFill>
              </a:defRPr>
            </a:lvl3pPr>
            <a:lvl4pPr marL="1069313">
              <a:defRPr>
                <a:solidFill>
                  <a:schemeClr val="bg1"/>
                </a:solidFill>
              </a:defRPr>
            </a:lvl4pPr>
            <a:lvl5pPr marL="1425751">
              <a:defRPr sz="1199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1" name="Line 10">
            <a:extLst>
              <a:ext uri="{FF2B5EF4-FFF2-40B4-BE49-F238E27FC236}">
                <a16:creationId xmlns:a16="http://schemas.microsoft.com/office/drawing/2014/main" id="{8D4CA674-C969-4C5C-9EA4-6D41FE961DE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431444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, no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6" name="Line 10">
            <a:extLst>
              <a:ext uri="{FF2B5EF4-FFF2-40B4-BE49-F238E27FC236}">
                <a16:creationId xmlns:a16="http://schemas.microsoft.com/office/drawing/2014/main" id="{97A26880-8DD7-4A78-ADAF-91ED2E744A7C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6115159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lumns, no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918" y="1137919"/>
            <a:ext cx="5387605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0829" y="1137919"/>
            <a:ext cx="5387605" cy="4834800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Line 10">
            <a:extLst>
              <a:ext uri="{FF2B5EF4-FFF2-40B4-BE49-F238E27FC236}">
                <a16:creationId xmlns:a16="http://schemas.microsoft.com/office/drawing/2014/main" id="{9B070B28-7AAC-47E5-9EB5-96B8B8B88057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919374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s with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2648" y="1869442"/>
            <a:ext cx="5393208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9632" y="1869442"/>
            <a:ext cx="5393208" cy="4256075"/>
          </a:xfrm>
        </p:spPr>
        <p:txBody>
          <a:bodyPr/>
          <a:lstStyle>
            <a:lvl1pPr>
              <a:defRPr sz="1999">
                <a:solidFill>
                  <a:schemeClr val="bg1"/>
                </a:solidFill>
              </a:defRPr>
            </a:lvl1pPr>
            <a:lvl2pPr>
              <a:defRPr sz="1799">
                <a:solidFill>
                  <a:schemeClr val="bg1"/>
                </a:solidFill>
              </a:defRPr>
            </a:lvl2pPr>
            <a:lvl3pPr>
              <a:defRPr sz="1599">
                <a:solidFill>
                  <a:schemeClr val="bg1"/>
                </a:solidFill>
              </a:defRPr>
            </a:lvl3pPr>
            <a:lvl4pPr>
              <a:defRPr sz="1399">
                <a:solidFill>
                  <a:schemeClr val="bg1"/>
                </a:solidFill>
              </a:defRPr>
            </a:lvl4pPr>
            <a:lvl5pPr>
              <a:defRPr sz="1199">
                <a:solidFill>
                  <a:schemeClr val="bg1"/>
                </a:solidFill>
              </a:defRPr>
            </a:lvl5pPr>
            <a:lvl6pPr>
              <a:defRPr sz="1799"/>
            </a:lvl6pPr>
            <a:lvl7pPr>
              <a:defRPr sz="1799"/>
            </a:lvl7pPr>
            <a:lvl8pPr>
              <a:defRPr sz="1799"/>
            </a:lvl8pPr>
            <a:lvl9pPr>
              <a:defRPr sz="1799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2"/>
          </p:nvPr>
        </p:nvSpPr>
        <p:spPr>
          <a:xfrm>
            <a:off x="609918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199632" y="1137920"/>
            <a:ext cx="5393208" cy="640800"/>
          </a:xfrm>
        </p:spPr>
        <p:txBody>
          <a:bodyPr anchor="t" anchorCtr="0"/>
          <a:lstStyle>
            <a:lvl1pPr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919" y="294200"/>
            <a:ext cx="10978515" cy="59088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4" name="Line 10">
            <a:extLst>
              <a:ext uri="{FF2B5EF4-FFF2-40B4-BE49-F238E27FC236}">
                <a16:creationId xmlns:a16="http://schemas.microsoft.com/office/drawing/2014/main" id="{9773E7D9-2434-4381-A00D-27B62C086733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918" y="907750"/>
            <a:ext cx="1098000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61966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193563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cused da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7871967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871068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454035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038415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0052CFA6-7CF5-41BD-9D94-2D0DAE108428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835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IN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182437594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al leg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07799" y="719139"/>
            <a:ext cx="4677635" cy="5210062"/>
          </a:xfrm>
        </p:spPr>
        <p:txBody>
          <a:bodyPr/>
          <a:lstStyle>
            <a:lvl1pPr marL="0" indent="0" algn="l" defTabSz="994865" rtl="0" fontAlgn="base">
              <a:lnSpc>
                <a:spcPct val="100000"/>
              </a:lnSpc>
              <a:spcBef>
                <a:spcPct val="70000"/>
              </a:spcBef>
              <a:spcAft>
                <a:spcPct val="0"/>
              </a:spcAft>
              <a:buSzPct val="100000"/>
              <a:buNone/>
              <a:defRPr lang="en-US" sz="1199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1pPr>
            <a:lvl2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2pPr>
            <a:lvl3pPr marL="176125" indent="-176125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900" b="1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3pPr>
            <a:lvl4pPr marL="0" indent="0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ct val="100000"/>
              <a:buNone/>
              <a:defRPr lang="en-US" sz="800" kern="1200" noProof="0" dirty="0" smtClean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4pPr>
            <a:lvl5pPr marL="188819" indent="-188819" algn="l" defTabSz="994865" rtl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70000"/>
              <a:buFont typeface="Arial" pitchFamily="34" charset="0"/>
              <a:buChar char="►"/>
              <a:defRPr lang="en-US" sz="800" kern="1200" noProof="0" dirty="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Arial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598632909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87797169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10980626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3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49025B-9A19-4622-B02A-C1D86C000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6" y="442965"/>
            <a:ext cx="10980626" cy="776236"/>
          </a:xfrm>
        </p:spPr>
        <p:txBody>
          <a:bodyPr lIns="0" anchor="b"/>
          <a:lstStyle>
            <a:lvl1pPr algn="l" defTabSz="85680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7601996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Numbered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277974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5"/>
          <p:cNvSpPr>
            <a:spLocks noGrp="1"/>
          </p:cNvSpPr>
          <p:nvPr>
            <p:ph sz="quarter" idx="10"/>
          </p:nvPr>
        </p:nvSpPr>
        <p:spPr>
          <a:xfrm>
            <a:off x="607806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3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/>
          <p:cNvSpPr>
            <a:spLocks noGrp="1"/>
          </p:cNvSpPr>
          <p:nvPr>
            <p:ph sz="quarter" idx="11"/>
          </p:nvPr>
        </p:nvSpPr>
        <p:spPr>
          <a:xfrm>
            <a:off x="6185621" y="1490949"/>
            <a:ext cx="5402813" cy="4860000"/>
          </a:xfrm>
        </p:spPr>
        <p:txBody>
          <a:bodyPr/>
          <a:lstStyle>
            <a:lvl1pPr marL="0" indent="0">
              <a:buClr>
                <a:schemeClr val="tx1"/>
              </a:buClr>
              <a:buFontTx/>
              <a:buNone/>
              <a:defRPr sz="900">
                <a:solidFill>
                  <a:schemeClr val="tx1"/>
                </a:solidFill>
              </a:defRPr>
            </a:lvl1pPr>
            <a:lvl2pPr marL="0" indent="0">
              <a:spcBef>
                <a:spcPts val="600"/>
              </a:spcBef>
              <a:buClr>
                <a:schemeClr val="tx1"/>
              </a:buClr>
              <a:buFontTx/>
              <a:buNone/>
              <a:defRPr sz="1199">
                <a:solidFill>
                  <a:schemeClr val="tx1"/>
                </a:solidFill>
              </a:defRPr>
            </a:lvl2pPr>
            <a:lvl3pPr marL="0" indent="0">
              <a:buClr>
                <a:schemeClr val="tx1"/>
              </a:buClr>
              <a:buFontTx/>
              <a:buNone/>
              <a:defRPr lang="en-US" sz="1199" b="1" baseline="0" dirty="0">
                <a:solidFill>
                  <a:srgbClr val="747480"/>
                </a:solidFill>
                <a:latin typeface="EYInterstate Light" panose="02000506000000020004" pitchFamily="2" charset="0"/>
                <a:cs typeface="+mn-cs"/>
              </a:defRPr>
            </a:lvl3pPr>
            <a:lvl4pPr marL="172546" indent="-168233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4pPr>
            <a:lvl5pPr marL="319212" indent="-145226">
              <a:buClrTx/>
              <a:buSzPct val="100000"/>
              <a:buFont typeface="EYInterstate Light" panose="02000506000000020004" pitchFamily="2" charset="0"/>
              <a:buChar char="•"/>
              <a:defRPr sz="9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marL="2878" lvl="2" algn="l" defTabSz="901559" rtl="0" eaLnBrk="1" fontAlgn="base" hangingPunct="1">
              <a:spcBef>
                <a:spcPct val="20000"/>
              </a:spcBef>
              <a:spcAft>
                <a:spcPct val="40000"/>
              </a:spcAft>
              <a:buClr>
                <a:schemeClr val="tx2"/>
              </a:buClr>
              <a:buSzPct val="75000"/>
              <a:buFont typeface="Arial Unicode MS" pitchFamily="34" charset="-128"/>
              <a:tabLst>
                <a:tab pos="1462336" algn="l"/>
                <a:tab pos="2924672" algn="l"/>
                <a:tab pos="4225966" algn="r"/>
              </a:tabLst>
            </a:pPr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33E1463A-2994-4BF0-9709-FD6CE08C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7808" y="442965"/>
            <a:ext cx="10962109" cy="776236"/>
          </a:xfrm>
        </p:spPr>
        <p:txBody>
          <a:bodyPr lIns="0" anchor="b"/>
          <a:lstStyle>
            <a:lvl1pPr algn="l" defTabSz="85680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399" b="0" kern="1200" dirty="0">
                <a:solidFill>
                  <a:srgbClr val="2E2E38"/>
                </a:solidFill>
                <a:latin typeface="EYInterstate Light" panose="02000506000000020004" pitchFamily="2" charset="0"/>
                <a:ea typeface="+mj-ea"/>
                <a:cs typeface="Arial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46458901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42D689-B85E-4F90-88AE-DE8139AE37F5}"/>
              </a:ext>
            </a:extLst>
          </p:cNvPr>
          <p:cNvSpPr/>
          <p:nvPr userDrawn="1"/>
        </p:nvSpPr>
        <p:spPr>
          <a:xfrm>
            <a:off x="7261830" y="6229350"/>
            <a:ext cx="4936520" cy="628650"/>
          </a:xfrm>
          <a:prstGeom prst="rect">
            <a:avLst/>
          </a:prstGeom>
          <a:solidFill>
            <a:schemeClr val="tx2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0"/>
          <a:lstStyle/>
          <a:p>
            <a:pPr algn="ctr"/>
            <a:endParaRPr lang="en-GB" sz="999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5181334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Standard slide_Qu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3831A62-7AD4-4C22-A376-B72D448A32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09920" y="6471243"/>
            <a:ext cx="5715371" cy="19625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marL="0" algn="l" defTabSz="913486" rtl="0" eaLnBrk="1" latinLnBrk="0" hangingPunct="1">
              <a:defRPr lang="en-IN" sz="8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</a:lstStyle>
          <a:p>
            <a:r>
              <a:rPr lang="en-US" dirty="0"/>
              <a:t>EY and SAP internal use only</a:t>
            </a:r>
          </a:p>
        </p:txBody>
      </p:sp>
    </p:spTree>
    <p:extLst>
      <p:ext uri="{BB962C8B-B14F-4D97-AF65-F5344CB8AC3E}">
        <p14:creationId xmlns:p14="http://schemas.microsoft.com/office/powerpoint/2010/main" val="178864234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334441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8062" y="1600201"/>
            <a:ext cx="6388292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8061" y="4037607"/>
            <a:ext cx="6388292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6D27EAB-4BE9-8020-C82B-96126788B1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40230" y="5888111"/>
            <a:ext cx="2339811" cy="568781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EEAC47AD-3C86-EC28-C365-4BBC1D446DF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10512"/>
            <a:ext cx="4002571" cy="5047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3463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88">
          <p15:clr>
            <a:srgbClr val="FBAE40"/>
          </p15:clr>
        </p15:guide>
      </p15:sldGuideLst>
    </p:ext>
  </p:extLs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Cover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person in a red dress walking through a archway&#10;&#10;Description automatically generated">
            <a:extLst>
              <a:ext uri="{FF2B5EF4-FFF2-40B4-BE49-F238E27FC236}">
                <a16:creationId xmlns:a16="http://schemas.microsoft.com/office/drawing/2014/main" id="{8D733A8F-0643-869B-6F91-532A2DAF780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3790"/>
          <a:stretch/>
        </p:blipFill>
        <p:spPr>
          <a:xfrm>
            <a:off x="0" y="1"/>
            <a:ext cx="121983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9519" y="478976"/>
            <a:ext cx="6388292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D339-36A2-E854-A497-9F753205B7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9519" y="2916382"/>
            <a:ext cx="6388292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bg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8" name="Picture 7" descr="A black and white logo&#10;&#10;Description automatically generated">
            <a:extLst>
              <a:ext uri="{FF2B5EF4-FFF2-40B4-BE49-F238E27FC236}">
                <a16:creationId xmlns:a16="http://schemas.microsoft.com/office/drawing/2014/main" id="{26D27EAB-4BE9-8020-C82B-96126788B176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340230" y="5888111"/>
            <a:ext cx="2339811" cy="568781"/>
          </a:xfrm>
          <a:prstGeom prst="rect">
            <a:avLst/>
          </a:prstGeom>
        </p:spPr>
      </p:pic>
      <p:pic>
        <p:nvPicPr>
          <p:cNvPr id="18" name="Picture 17" descr="A group of bags with gold handles&#10;&#10;Description automatically generated">
            <a:extLst>
              <a:ext uri="{FF2B5EF4-FFF2-40B4-BE49-F238E27FC236}">
                <a16:creationId xmlns:a16="http://schemas.microsoft.com/office/drawing/2014/main" id="{D43CD980-17CF-8D0A-F22D-5143DDDF65D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292" b="34629"/>
          <a:stretch/>
        </p:blipFill>
        <p:spPr>
          <a:xfrm>
            <a:off x="-4" y="2974032"/>
            <a:ext cx="4955583" cy="38839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2261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88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5758" y="2133601"/>
            <a:ext cx="10071559" cy="1325563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dirty="0">
                <a:solidFill>
                  <a:schemeClr val="accent1"/>
                </a:solidFill>
                <a:latin typeface="AirIndia" pitchFamily="82" charset="77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pic>
        <p:nvPicPr>
          <p:cNvPr id="7" name="Picture 6" descr="A red and purple and yellow square&#10;&#10;Description automatically generated with medium confidence">
            <a:extLst>
              <a:ext uri="{FF2B5EF4-FFF2-40B4-BE49-F238E27FC236}">
                <a16:creationId xmlns:a16="http://schemas.microsoft.com/office/drawing/2014/main" id="{416A0339-9659-77BD-A28D-91C750E0BC8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48919" y="4041648"/>
            <a:ext cx="5911425" cy="2816352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525758" y="3455980"/>
            <a:ext cx="5474834" cy="179060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691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">
          <p15:clr>
            <a:srgbClr val="FBAE40"/>
          </p15:clr>
        </p15:guide>
      </p15:sldGuideLst>
    </p:ext>
  </p:extLs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yellow building with a gold frame&#10;&#10;Description automatically generated">
            <a:extLst>
              <a:ext uri="{FF2B5EF4-FFF2-40B4-BE49-F238E27FC236}">
                <a16:creationId xmlns:a16="http://schemas.microsoft.com/office/drawing/2014/main" id="{52625ACE-6BB0-92F8-DF05-1597530177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6666"/>
          <a:stretch/>
        </p:blipFill>
        <p:spPr>
          <a:xfrm>
            <a:off x="0" y="1718726"/>
            <a:ext cx="5793826" cy="51389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599" y="1475552"/>
            <a:ext cx="5487340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3599" y="3459164"/>
            <a:ext cx="5434597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748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599" y="1475552"/>
            <a:ext cx="5487340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3599" y="3459164"/>
            <a:ext cx="5434597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6" name="Picture 5" descr="A building with a dome on the water&#10;&#10;Description automatically generated">
            <a:extLst>
              <a:ext uri="{FF2B5EF4-FFF2-40B4-BE49-F238E27FC236}">
                <a16:creationId xmlns:a16="http://schemas.microsoft.com/office/drawing/2014/main" id="{52633A0A-DE60-008C-F44B-4634AF78885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0326"/>
          <a:stretch/>
        </p:blipFill>
        <p:spPr>
          <a:xfrm>
            <a:off x="0" y="2183966"/>
            <a:ext cx="5794216" cy="467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063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599" y="1475552"/>
            <a:ext cx="5487340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3599" y="3459164"/>
            <a:ext cx="5434597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" name="Picture 3" descr="An airplane flying in the sky&#10;&#10;Description automatically generated">
            <a:extLst>
              <a:ext uri="{FF2B5EF4-FFF2-40B4-BE49-F238E27FC236}">
                <a16:creationId xmlns:a16="http://schemas.microsoft.com/office/drawing/2014/main" id="{9498DA3E-4290-73C0-4C62-3B40E93C9F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7470"/>
          <a:stretch/>
        </p:blipFill>
        <p:spPr>
          <a:xfrm>
            <a:off x="1" y="1719072"/>
            <a:ext cx="5717977" cy="5138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722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&amp; Content Layou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4452D-6719-3A3C-48DC-057312D60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0995" y="6492876"/>
            <a:ext cx="857691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D37B8DCE-B813-ECB6-504B-646AA8A70E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376" y="304800"/>
            <a:ext cx="10983598" cy="914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0176C6B-4C1B-92FA-CF20-B7F8064C9C6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10690" y="1587998"/>
            <a:ext cx="10980283" cy="4520204"/>
          </a:xfrm>
        </p:spPr>
        <p:txBody>
          <a:bodyPr>
            <a:normAutofit/>
          </a:bodyPr>
          <a:lstStyle>
            <a:lvl1pPr marL="32004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800"/>
            </a:lvl1pPr>
            <a:lvl2pPr marL="6858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600"/>
            </a:lvl2pPr>
            <a:lvl3pPr marL="11430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400"/>
            </a:lvl3pPr>
            <a:lvl4pPr marL="16002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200"/>
            </a:lvl4pPr>
            <a:lvl5pPr marL="205740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  <a:defRPr sz="12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5EAFBD2D-C2BB-8088-2AF6-FCA057912F15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16421" y="990600"/>
            <a:ext cx="10971239" cy="457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b="1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Sub-heading</a:t>
            </a:r>
            <a:endParaRPr lang="en-US"/>
          </a:p>
        </p:txBody>
      </p:sp>
      <p:pic>
        <p:nvPicPr>
          <p:cNvPr id="2" name="Picture 1" descr="A close-up of a logo&#10;&#10;Description automatically generated">
            <a:extLst>
              <a:ext uri="{FF2B5EF4-FFF2-40B4-BE49-F238E27FC236}">
                <a16:creationId xmlns:a16="http://schemas.microsoft.com/office/drawing/2014/main" id="{60B4ED90-1C19-538C-AD30-CF248331DB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3879" t="-2216" r="16423" b="36975"/>
          <a:stretch/>
        </p:blipFill>
        <p:spPr>
          <a:xfrm>
            <a:off x="0" y="6363685"/>
            <a:ext cx="914876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5631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92">
          <p15:clr>
            <a:srgbClr val="FBAE40"/>
          </p15:clr>
        </p15:guide>
        <p15:guide id="4" orient="horz" pos="912">
          <p15:clr>
            <a:srgbClr val="FBAE40"/>
          </p15:clr>
        </p15:guide>
      </p15:sldGuideLst>
    </p:ext>
  </p:extLs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15658912-D983-FCD7-8563-DCAA4AD6C8B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561696" y="1587999"/>
            <a:ext cx="5026737" cy="4588965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4000" dirty="0">
                <a:solidFill>
                  <a:srgbClr val="FF0000"/>
                </a:solidFill>
              </a:defRPr>
            </a:lvl1pPr>
          </a:lstStyle>
          <a:p>
            <a:pPr lvl="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endParaRPr lang="en-US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C3759EA-CF74-7437-28A8-380740239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0995" y="6492876"/>
            <a:ext cx="857691" cy="365125"/>
          </a:xfrm>
          <a:prstGeom prst="rect">
            <a:avLst/>
          </a:prstGeom>
        </p:spPr>
        <p:txBody>
          <a:bodyPr anchor="ctr"/>
          <a:lstStyle>
            <a:lvl1pPr>
              <a:defRPr lang="en-US" sz="1200" smtClean="0">
                <a:solidFill>
                  <a:schemeClr val="accent1"/>
                </a:solidFill>
              </a:defRPr>
            </a:lvl1pPr>
          </a:lstStyle>
          <a:p>
            <a:pPr algn="ctr"/>
            <a:fld id="{3A41A254-7326-714E-AF55-4C213D6394DE}" type="slidenum">
              <a:rPr lang="en-IN" smtClean="0"/>
              <a:pPr algn="ctr"/>
              <a:t>‹#›</a:t>
            </a:fld>
            <a:endParaRPr lang="en-IN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0A9E431-EC2B-5717-285E-278016CA82B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0691" y="1600201"/>
            <a:ext cx="5488485" cy="456183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GB" sz="1800" dirty="0"/>
            </a:lvl1pPr>
            <a:lvl2pPr>
              <a:defRPr lang="en-GB" sz="1600" dirty="0"/>
            </a:lvl2pPr>
            <a:lvl3pPr>
              <a:defRPr lang="en-GB" sz="1400" dirty="0"/>
            </a:lvl3pPr>
            <a:lvl4pPr>
              <a:defRPr lang="en-GB" sz="1200" dirty="0"/>
            </a:lvl4pPr>
            <a:lvl5pPr>
              <a:defRPr lang="en-US" sz="1200" dirty="0"/>
            </a:lvl5pPr>
          </a:lstStyle>
          <a:p>
            <a:pPr lvl="0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GB"/>
              <a:t>Click to edit Master text styles</a:t>
            </a:r>
          </a:p>
          <a:p>
            <a:pPr lvl="1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GB"/>
              <a:t>Second level</a:t>
            </a:r>
          </a:p>
          <a:p>
            <a:pPr lvl="2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GB"/>
              <a:t>Third level</a:t>
            </a:r>
          </a:p>
          <a:p>
            <a:pPr lvl="3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GB"/>
              <a:t>Fourth level</a:t>
            </a:r>
          </a:p>
          <a:p>
            <a:pPr lvl="4" indent="-320040">
              <a:lnSpc>
                <a:spcPct val="100000"/>
              </a:lnSpc>
              <a:buSzPct val="112000"/>
              <a:buFontTx/>
              <a:buBlip>
                <a:blip r:embed="rId2"/>
              </a:buBlip>
            </a:pPr>
            <a:r>
              <a:rPr lang="en-GB"/>
              <a:t>Fifth level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607FE69-5627-2F02-8D78-2B38708079C2}"/>
              </a:ext>
            </a:extLst>
          </p:cNvPr>
          <p:cNvSpPr>
            <a:spLocks noGrp="1"/>
          </p:cNvSpPr>
          <p:nvPr>
            <p:ph type="subTitle" idx="10" hasCustomPrompt="1"/>
          </p:nvPr>
        </p:nvSpPr>
        <p:spPr>
          <a:xfrm>
            <a:off x="616421" y="990600"/>
            <a:ext cx="10971239" cy="457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000" b="1" dirty="0"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Sub-heading</a:t>
            </a:r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99127A2E-2194-FA16-2895-A983F804DE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918" y="304800"/>
            <a:ext cx="10978515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dirty="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/>
          </a:p>
        </p:txBody>
      </p:sp>
      <p:pic>
        <p:nvPicPr>
          <p:cNvPr id="7" name="Picture 6" descr="A close-up of a logo&#10;&#10;Description automatically generated">
            <a:extLst>
              <a:ext uri="{FF2B5EF4-FFF2-40B4-BE49-F238E27FC236}">
                <a16:creationId xmlns:a16="http://schemas.microsoft.com/office/drawing/2014/main" id="{C089A545-7420-C6A8-55C6-91018ACE18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3879" t="-2216" r="16423" b="36975"/>
          <a:stretch/>
        </p:blipFill>
        <p:spPr>
          <a:xfrm>
            <a:off x="0" y="6363685"/>
            <a:ext cx="914876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5929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92">
          <p15:clr>
            <a:srgbClr val="FBAE40"/>
          </p15:clr>
        </p15:guide>
      </p15:sldGuideLst>
    </p:ext>
  </p:extLs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4E09-83C2-64E7-9110-8776CF1B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0995" y="6492876"/>
            <a:ext cx="857691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7">
            <a:extLst>
              <a:ext uri="{FF2B5EF4-FFF2-40B4-BE49-F238E27FC236}">
                <a16:creationId xmlns:a16="http://schemas.microsoft.com/office/drawing/2014/main" id="{8B5B5505-B75C-A9AE-5EE1-1C13D23353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7376" y="304800"/>
            <a:ext cx="10983598" cy="914400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Picture 4" descr="A close-up of a logo&#10;&#10;Description automatically generated">
            <a:extLst>
              <a:ext uri="{FF2B5EF4-FFF2-40B4-BE49-F238E27FC236}">
                <a16:creationId xmlns:a16="http://schemas.microsoft.com/office/drawing/2014/main" id="{6B0F032F-D65A-0255-D2B4-F805BB188F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5"/>
            <a:ext cx="914876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355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92">
          <p15:clr>
            <a:srgbClr val="FBAE40"/>
          </p15:clr>
        </p15:guide>
      </p15:sldGuideLst>
    </p:ext>
  </p:extLs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B54E09-83C2-64E7-9110-8776CF1BC1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30995" y="6492876"/>
            <a:ext cx="857691" cy="365125"/>
          </a:xfrm>
          <a:prstGeom prst="rect">
            <a:avLst/>
          </a:prstGeom>
        </p:spPr>
        <p:txBody>
          <a:bodyPr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fld id="{3A41A254-7326-714E-AF55-4C213D6394D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 descr="A close-up of a logo&#10;&#10;Description automatically generated">
            <a:extLst>
              <a:ext uri="{FF2B5EF4-FFF2-40B4-BE49-F238E27FC236}">
                <a16:creationId xmlns:a16="http://schemas.microsoft.com/office/drawing/2014/main" id="{12BD0675-B4A3-C2D7-F0F5-5CFD25D415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3879" t="-2216" r="16423" b="36975"/>
          <a:stretch/>
        </p:blipFill>
        <p:spPr>
          <a:xfrm>
            <a:off x="0" y="6363685"/>
            <a:ext cx="914876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22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each with palm trees and rocks&#10;&#10;Description automatically generated">
            <a:extLst>
              <a:ext uri="{FF2B5EF4-FFF2-40B4-BE49-F238E27FC236}">
                <a16:creationId xmlns:a16="http://schemas.microsoft.com/office/drawing/2014/main" id="{318F61C2-D69B-52CC-1407-6BDD573A1D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30494" y="-25399"/>
            <a:ext cx="12259341" cy="6908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5D8806-B30C-5D48-17A9-922DBA16C5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9175" y="1008602"/>
            <a:ext cx="5489258" cy="2420399"/>
          </a:xfrm>
        </p:spPr>
        <p:txBody>
          <a:bodyPr anchor="b">
            <a:normAutofit/>
          </a:bodyPr>
          <a:lstStyle>
            <a:lvl1pPr algn="l">
              <a:defRPr sz="6600" b="0" i="0">
                <a:solidFill>
                  <a:srgbClr val="962067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  <p:pic>
        <p:nvPicPr>
          <p:cNvPr id="11" name="Picture 10" descr="A colorful objects with gold and purple shapes&#10;&#10;Description automatically generated with medium confidence">
            <a:extLst>
              <a:ext uri="{FF2B5EF4-FFF2-40B4-BE49-F238E27FC236}">
                <a16:creationId xmlns:a16="http://schemas.microsoft.com/office/drawing/2014/main" id="{B2C22E4F-BAB3-388A-ABC6-B85601289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13"/>
          <a:stretch/>
        </p:blipFill>
        <p:spPr>
          <a:xfrm>
            <a:off x="0" y="2569124"/>
            <a:ext cx="3014033" cy="4288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186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344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n airplane flying in the sky&#10;&#10;Description automatically generated">
            <a:extLst>
              <a:ext uri="{FF2B5EF4-FFF2-40B4-BE49-F238E27FC236}">
                <a16:creationId xmlns:a16="http://schemas.microsoft.com/office/drawing/2014/main" id="{BA4976FA-1590-E7FA-325A-4D49C92DB52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17621" b="3087"/>
          <a:stretch/>
        </p:blipFill>
        <p:spPr>
          <a:xfrm>
            <a:off x="0" y="0"/>
            <a:ext cx="12198350" cy="6858000"/>
          </a:xfrm>
          <a:prstGeom prst="rect">
            <a:avLst/>
          </a:prstGeom>
        </p:spPr>
      </p:pic>
      <p:pic>
        <p:nvPicPr>
          <p:cNvPr id="4" name="Picture 3" descr="An airplane flying in the sky&#10;&#10;Description automatically generated">
            <a:extLst>
              <a:ext uri="{FF2B5EF4-FFF2-40B4-BE49-F238E27FC236}">
                <a16:creationId xmlns:a16="http://schemas.microsoft.com/office/drawing/2014/main" id="{374C5802-21C8-3499-47DB-A5413E3AB8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630" b="3036"/>
          <a:stretch/>
        </p:blipFill>
        <p:spPr>
          <a:xfrm>
            <a:off x="-30496" y="-17145"/>
            <a:ext cx="12259342" cy="6892290"/>
          </a:xfrm>
          <a:prstGeom prst="rect">
            <a:avLst/>
          </a:prstGeom>
        </p:spPr>
      </p:pic>
      <p:pic>
        <p:nvPicPr>
          <p:cNvPr id="3" name="Picture 2" descr="A group of bags with gold handles&#10;&#10;Description automatically generated">
            <a:extLst>
              <a:ext uri="{FF2B5EF4-FFF2-40B4-BE49-F238E27FC236}">
                <a16:creationId xmlns:a16="http://schemas.microsoft.com/office/drawing/2014/main" id="{A983B41F-6A5B-CE62-91F1-BC22A04047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292" b="34629"/>
          <a:stretch/>
        </p:blipFill>
        <p:spPr>
          <a:xfrm>
            <a:off x="-4" y="2974032"/>
            <a:ext cx="4955583" cy="3883969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7DC3906F-921E-6E1D-753F-E155F5842C7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686779" y="4800600"/>
            <a:ext cx="5489258" cy="1752600"/>
          </a:xfrm>
        </p:spPr>
        <p:txBody>
          <a:bodyPr anchor="b">
            <a:normAutofit/>
          </a:bodyPr>
          <a:lstStyle>
            <a:lvl1pPr algn="l">
              <a:defRPr sz="5400" b="1" i="0">
                <a:solidFill>
                  <a:schemeClr val="bg1"/>
                </a:solidFill>
                <a:latin typeface="AirIndia" pitchFamily="82" charset="77"/>
              </a:defRPr>
            </a:lvl1pPr>
          </a:lstStyle>
          <a:p>
            <a:r>
              <a:rPr lang="en-GB"/>
              <a:t>Thank you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960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440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89580A17-C42C-DB86-00EC-A7C42254D4D1}"/>
              </a:ext>
            </a:extLst>
          </p:cNvPr>
          <p:cNvSpPr txBox="1">
            <a:spLocks/>
          </p:cNvSpPr>
          <p:nvPr userDrawn="1"/>
        </p:nvSpPr>
        <p:spPr>
          <a:xfrm>
            <a:off x="11818339" y="6492016"/>
            <a:ext cx="381198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000" b="1" kern="1200">
                <a:solidFill>
                  <a:schemeClr val="tx1">
                    <a:tint val="75000"/>
                  </a:schemeClr>
                </a:solidFill>
                <a:latin typeface="Concourse T3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FACC139-E314-47E7-89DC-E53FA425EA44}" type="slidenum">
              <a:rPr lang="en-IN" sz="800" b="0" i="0" smtClean="0">
                <a:latin typeface="Montserrat Light" pitchFamily="2" charset="77"/>
              </a:rPr>
              <a:pPr/>
              <a:t>‹#›</a:t>
            </a:fld>
            <a:endParaRPr lang="en-IN" sz="800" b="0" i="0">
              <a:latin typeface="Montserrat Light" pitchFamily="2" charset="77"/>
            </a:endParaRPr>
          </a:p>
        </p:txBody>
      </p:sp>
      <p:pic>
        <p:nvPicPr>
          <p:cNvPr id="6" name="Picture 5" descr="A colorful objects with gold and purple shapes&#10;&#10;Description automatically generated with medium confidence">
            <a:extLst>
              <a:ext uri="{FF2B5EF4-FFF2-40B4-BE49-F238E27FC236}">
                <a16:creationId xmlns:a16="http://schemas.microsoft.com/office/drawing/2014/main" id="{466397C4-8F5B-47CB-BB31-6076EF1DC06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13"/>
          <a:stretch/>
        </p:blipFill>
        <p:spPr>
          <a:xfrm>
            <a:off x="0" y="3744902"/>
            <a:ext cx="2187748" cy="31130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183383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 Divider -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6D9B3-83BC-FA03-3BFF-4E45C7F3A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599" y="1475552"/>
            <a:ext cx="5487340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F3CE7A17-E74C-0BB2-D16A-ABDD0CD57389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3599" y="3459164"/>
            <a:ext cx="5434597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  <p:pic>
        <p:nvPicPr>
          <p:cNvPr id="4" name="Picture 3" descr="An airplane flying in the sky&#10;&#10;Description automatically generated">
            <a:extLst>
              <a:ext uri="{FF2B5EF4-FFF2-40B4-BE49-F238E27FC236}">
                <a16:creationId xmlns:a16="http://schemas.microsoft.com/office/drawing/2014/main" id="{9498DA3E-4290-73C0-4C62-3B40E93C9F2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r="37470"/>
          <a:stretch/>
        </p:blipFill>
        <p:spPr>
          <a:xfrm>
            <a:off x="3" y="3977126"/>
            <a:ext cx="3204515" cy="2880000"/>
          </a:xfrm>
          <a:prstGeom prst="rect">
            <a:avLst/>
          </a:prstGeom>
        </p:spPr>
      </p:pic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517D01BF-3242-1FD7-DBAF-34CCCEB7C78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519228" y="5820525"/>
            <a:ext cx="2339811" cy="568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1965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ection Divider -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olorful objects with gold and purple shapes&#10;&#10;Description automatically generated with medium confidence">
            <a:extLst>
              <a:ext uri="{FF2B5EF4-FFF2-40B4-BE49-F238E27FC236}">
                <a16:creationId xmlns:a16="http://schemas.microsoft.com/office/drawing/2014/main" id="{B2C22E4F-BAB3-388A-ABC6-B856012897D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1313"/>
          <a:stretch/>
        </p:blipFill>
        <p:spPr>
          <a:xfrm>
            <a:off x="0" y="3744902"/>
            <a:ext cx="2187748" cy="3113098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E51BD44-F165-D94F-8B5D-2D5C27EF890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13599" y="1475552"/>
            <a:ext cx="5487340" cy="1983612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6000" b="1" i="0" kern="1200" dirty="0">
                <a:solidFill>
                  <a:schemeClr val="accent3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pPr lvl="0"/>
            <a:r>
              <a:rPr lang="en-GB"/>
              <a:t>DIVIDER SLIDE</a:t>
            </a:r>
            <a:endParaRPr lang="en-US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1042C05-3262-95A9-86A4-9E070B834A21}"/>
              </a:ext>
            </a:extLst>
          </p:cNvPr>
          <p:cNvSpPr>
            <a:spLocks noGrp="1"/>
          </p:cNvSpPr>
          <p:nvPr>
            <p:ph type="subTitle" idx="10"/>
          </p:nvPr>
        </p:nvSpPr>
        <p:spPr>
          <a:xfrm>
            <a:off x="6113599" y="3459164"/>
            <a:ext cx="5434597" cy="1253359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>
                <a:solidFill>
                  <a:schemeClr val="accent3"/>
                </a:solidFill>
                <a:latin typeface="Nunito Sans" pitchFamily="2" charset="77"/>
              </a:defRPr>
            </a:lvl1pPr>
          </a:lstStyle>
          <a:p>
            <a:pPr marL="0" lvl="0" indent="0">
              <a:buFontTx/>
              <a:buNone/>
            </a:pPr>
            <a:r>
              <a:rPr lang="en-GB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8185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orient="horz" pos="1344">
          <p15:clr>
            <a:srgbClr val="FBAE40"/>
          </p15:clr>
        </p15:guide>
        <p15:guide id="5" pos="336">
          <p15:clr>
            <a:srgbClr val="FBAE40"/>
          </p15:clr>
        </p15:guide>
      </p15:sldGuideLst>
    </p:ext>
  </p:extLs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Divi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 up of a logo&#10;&#10;Description automatically generated">
            <a:extLst>
              <a:ext uri="{FF2B5EF4-FFF2-40B4-BE49-F238E27FC236}">
                <a16:creationId xmlns:a16="http://schemas.microsoft.com/office/drawing/2014/main" id="{85B66112-3E19-BD47-78BA-8A32B3A14F7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10512"/>
            <a:ext cx="4002571" cy="504748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2B1A4798-5147-427A-5AB6-1123E55EEF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208062" y="1600201"/>
            <a:ext cx="6388292" cy="2420399"/>
          </a:xfrm>
        </p:spPr>
        <p:txBody>
          <a:bodyPr anchor="b">
            <a:normAutofit/>
          </a:bodyPr>
          <a:lstStyle>
            <a:lvl1pPr algn="l">
              <a:defRPr sz="6000" b="1" i="0">
                <a:solidFill>
                  <a:srgbClr val="DA0E28"/>
                </a:solidFill>
                <a:latin typeface="AirIndia" pitchFamily="82" charset="77"/>
              </a:defRPr>
            </a:lvl1pPr>
          </a:lstStyle>
          <a:p>
            <a:r>
              <a:rPr lang="en-GB"/>
              <a:t>CLICK TO EDIT TITLE</a:t>
            </a:r>
            <a:endParaRPr lang="en-US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B14CF230-B523-D8E5-49B9-EBA620245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8061" y="4037607"/>
            <a:ext cx="6388292" cy="1350818"/>
          </a:xfrm>
        </p:spPr>
        <p:txBody>
          <a:bodyPr>
            <a:normAutofit/>
          </a:bodyPr>
          <a:lstStyle>
            <a:lvl1pPr marL="0" indent="0" algn="l">
              <a:buFontTx/>
              <a:buNone/>
              <a:defRPr sz="2800">
                <a:solidFill>
                  <a:schemeClr val="tx1"/>
                </a:solidFill>
                <a:latin typeface="Nunito Sans" pitchFamily="2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9" name="Picture 8" descr="A red text on a black background&#10;&#10;Description automatically generated">
            <a:extLst>
              <a:ext uri="{FF2B5EF4-FFF2-40B4-BE49-F238E27FC236}">
                <a16:creationId xmlns:a16="http://schemas.microsoft.com/office/drawing/2014/main" id="{145701AE-CCF2-9A8E-79C2-91F4247CDFF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287058" y="5792387"/>
            <a:ext cx="2659524" cy="931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13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">
          <p15:clr>
            <a:srgbClr val="FBAE40"/>
          </p15:clr>
        </p15:guide>
      </p15:sldGuideLst>
    </p:ext>
  </p:extLs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D5BB415-BC84-2F6C-235C-F089EFBC2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CDC91D-BFE4-4C1A-A18A-4610617C81A9}" type="datetimeFigureOut">
              <a:rPr lang="en-IN" smtClean="0"/>
              <a:t>09-09-2024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C73CAD-7E5B-89D8-8A45-C345F23C9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F714DE-53D1-A2D2-1EF9-DE49003B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1102F4-2746-43E2-A86B-C4D901F88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2502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4.xml"/><Relationship Id="rId18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7.xml"/><Relationship Id="rId3" Type="http://schemas.openxmlformats.org/officeDocument/2006/relationships/slideLayout" Target="../slideLayouts/slideLayout34.xml"/><Relationship Id="rId21" Type="http://schemas.openxmlformats.org/officeDocument/2006/relationships/slideLayout" Target="../slideLayouts/slideLayout52.xml"/><Relationship Id="rId34" Type="http://schemas.openxmlformats.org/officeDocument/2006/relationships/slideLayout" Target="../slideLayouts/slideLayout65.xml"/><Relationship Id="rId7" Type="http://schemas.openxmlformats.org/officeDocument/2006/relationships/slideLayout" Target="../slideLayouts/slideLayout38.xml"/><Relationship Id="rId12" Type="http://schemas.openxmlformats.org/officeDocument/2006/relationships/slideLayout" Target="../slideLayouts/slideLayout43.xml"/><Relationship Id="rId17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56.xml"/><Relationship Id="rId33" Type="http://schemas.openxmlformats.org/officeDocument/2006/relationships/slideLayout" Target="../slideLayouts/slideLayout64.xml"/><Relationship Id="rId2" Type="http://schemas.openxmlformats.org/officeDocument/2006/relationships/slideLayout" Target="../slideLayouts/slideLayout33.xml"/><Relationship Id="rId16" Type="http://schemas.openxmlformats.org/officeDocument/2006/relationships/slideLayout" Target="../slideLayouts/slideLayout47.xml"/><Relationship Id="rId20" Type="http://schemas.openxmlformats.org/officeDocument/2006/relationships/slideLayout" Target="../slideLayouts/slideLayout51.xml"/><Relationship Id="rId29" Type="http://schemas.openxmlformats.org/officeDocument/2006/relationships/slideLayout" Target="../slideLayouts/slideLayout60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11" Type="http://schemas.openxmlformats.org/officeDocument/2006/relationships/slideLayout" Target="../slideLayouts/slideLayout42.xml"/><Relationship Id="rId24" Type="http://schemas.openxmlformats.org/officeDocument/2006/relationships/slideLayout" Target="../slideLayouts/slideLayout55.xml"/><Relationship Id="rId32" Type="http://schemas.openxmlformats.org/officeDocument/2006/relationships/slideLayout" Target="../slideLayouts/slideLayout63.xml"/><Relationship Id="rId5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54.xml"/><Relationship Id="rId28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41.xml"/><Relationship Id="rId19" Type="http://schemas.openxmlformats.org/officeDocument/2006/relationships/slideLayout" Target="../slideLayouts/slideLayout50.xml"/><Relationship Id="rId31" Type="http://schemas.openxmlformats.org/officeDocument/2006/relationships/slideLayout" Target="../slideLayouts/slideLayout62.xml"/><Relationship Id="rId4" Type="http://schemas.openxmlformats.org/officeDocument/2006/relationships/slideLayout" Target="../slideLayouts/slideLayout35.xml"/><Relationship Id="rId9" Type="http://schemas.openxmlformats.org/officeDocument/2006/relationships/slideLayout" Target="../slideLayouts/slideLayout40.xml"/><Relationship Id="rId14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53.xml"/><Relationship Id="rId27" Type="http://schemas.openxmlformats.org/officeDocument/2006/relationships/slideLayout" Target="../slideLayouts/slideLayout58.xml"/><Relationship Id="rId30" Type="http://schemas.openxmlformats.org/officeDocument/2006/relationships/slideLayout" Target="../slideLayouts/slideLayout61.xml"/><Relationship Id="rId35" Type="http://schemas.openxmlformats.org/officeDocument/2006/relationships/theme" Target="../theme/theme2.xml"/><Relationship Id="rId8" Type="http://schemas.openxmlformats.org/officeDocument/2006/relationships/slideLayout" Target="../slideLayouts/slideLayout3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8.xml"/><Relationship Id="rId18" Type="http://schemas.openxmlformats.org/officeDocument/2006/relationships/slideLayout" Target="../slideLayouts/slideLayout83.xml"/><Relationship Id="rId26" Type="http://schemas.openxmlformats.org/officeDocument/2006/relationships/slideLayout" Target="../slideLayouts/slideLayout91.xml"/><Relationship Id="rId3" Type="http://schemas.openxmlformats.org/officeDocument/2006/relationships/slideLayout" Target="../slideLayouts/slideLayout68.xml"/><Relationship Id="rId21" Type="http://schemas.openxmlformats.org/officeDocument/2006/relationships/slideLayout" Target="../slideLayouts/slideLayout86.xml"/><Relationship Id="rId34" Type="http://schemas.openxmlformats.org/officeDocument/2006/relationships/theme" Target="../theme/theme3.xml"/><Relationship Id="rId7" Type="http://schemas.openxmlformats.org/officeDocument/2006/relationships/slideLayout" Target="../slideLayouts/slideLayout72.xml"/><Relationship Id="rId12" Type="http://schemas.openxmlformats.org/officeDocument/2006/relationships/slideLayout" Target="../slideLayouts/slideLayout77.xml"/><Relationship Id="rId17" Type="http://schemas.openxmlformats.org/officeDocument/2006/relationships/slideLayout" Target="../slideLayouts/slideLayout82.xml"/><Relationship Id="rId25" Type="http://schemas.openxmlformats.org/officeDocument/2006/relationships/slideLayout" Target="../slideLayouts/slideLayout90.xml"/><Relationship Id="rId33" Type="http://schemas.openxmlformats.org/officeDocument/2006/relationships/slideLayout" Target="../slideLayouts/slideLayout98.xml"/><Relationship Id="rId2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81.xml"/><Relationship Id="rId20" Type="http://schemas.openxmlformats.org/officeDocument/2006/relationships/slideLayout" Target="../slideLayouts/slideLayout85.xml"/><Relationship Id="rId29" Type="http://schemas.openxmlformats.org/officeDocument/2006/relationships/slideLayout" Target="../slideLayouts/slideLayout94.xml"/><Relationship Id="rId1" Type="http://schemas.openxmlformats.org/officeDocument/2006/relationships/slideLayout" Target="../slideLayouts/slideLayout66.xml"/><Relationship Id="rId6" Type="http://schemas.openxmlformats.org/officeDocument/2006/relationships/slideLayout" Target="../slideLayouts/slideLayout71.xml"/><Relationship Id="rId11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89.xml"/><Relationship Id="rId32" Type="http://schemas.openxmlformats.org/officeDocument/2006/relationships/slideLayout" Target="../slideLayouts/slideLayout97.xml"/><Relationship Id="rId5" Type="http://schemas.openxmlformats.org/officeDocument/2006/relationships/slideLayout" Target="../slideLayouts/slideLayout70.xml"/><Relationship Id="rId15" Type="http://schemas.openxmlformats.org/officeDocument/2006/relationships/slideLayout" Target="../slideLayouts/slideLayout80.xml"/><Relationship Id="rId23" Type="http://schemas.openxmlformats.org/officeDocument/2006/relationships/slideLayout" Target="../slideLayouts/slideLayout88.xml"/><Relationship Id="rId28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75.xml"/><Relationship Id="rId19" Type="http://schemas.openxmlformats.org/officeDocument/2006/relationships/slideLayout" Target="../slideLayouts/slideLayout84.xml"/><Relationship Id="rId31" Type="http://schemas.openxmlformats.org/officeDocument/2006/relationships/slideLayout" Target="../slideLayouts/slideLayout96.xml"/><Relationship Id="rId4" Type="http://schemas.openxmlformats.org/officeDocument/2006/relationships/slideLayout" Target="../slideLayouts/slideLayout69.xml"/><Relationship Id="rId9" Type="http://schemas.openxmlformats.org/officeDocument/2006/relationships/slideLayout" Target="../slideLayouts/slideLayout74.xml"/><Relationship Id="rId14" Type="http://schemas.openxmlformats.org/officeDocument/2006/relationships/slideLayout" Target="../slideLayouts/slideLayout79.xml"/><Relationship Id="rId22" Type="http://schemas.openxmlformats.org/officeDocument/2006/relationships/slideLayout" Target="../slideLayouts/slideLayout87.xml"/><Relationship Id="rId27" Type="http://schemas.openxmlformats.org/officeDocument/2006/relationships/slideLayout" Target="../slideLayouts/slideLayout92.xml"/><Relationship Id="rId30" Type="http://schemas.openxmlformats.org/officeDocument/2006/relationships/slideLayout" Target="../slideLayouts/slideLayout95.xml"/><Relationship Id="rId8" Type="http://schemas.openxmlformats.org/officeDocument/2006/relationships/slideLayout" Target="../slideLayouts/slideLayout7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6.xml"/><Relationship Id="rId13" Type="http://schemas.openxmlformats.org/officeDocument/2006/relationships/slideLayout" Target="../slideLayouts/slideLayout111.xml"/><Relationship Id="rId18" Type="http://schemas.openxmlformats.org/officeDocument/2006/relationships/theme" Target="../theme/theme4.xml"/><Relationship Id="rId3" Type="http://schemas.openxmlformats.org/officeDocument/2006/relationships/slideLayout" Target="../slideLayouts/slideLayout101.xml"/><Relationship Id="rId7" Type="http://schemas.openxmlformats.org/officeDocument/2006/relationships/slideLayout" Target="../slideLayouts/slideLayout105.xml"/><Relationship Id="rId12" Type="http://schemas.openxmlformats.org/officeDocument/2006/relationships/slideLayout" Target="../slideLayouts/slideLayout110.xml"/><Relationship Id="rId17" Type="http://schemas.openxmlformats.org/officeDocument/2006/relationships/slideLayout" Target="../slideLayouts/slideLayout115.xml"/><Relationship Id="rId2" Type="http://schemas.openxmlformats.org/officeDocument/2006/relationships/slideLayout" Target="../slideLayouts/slideLayout100.xml"/><Relationship Id="rId16" Type="http://schemas.openxmlformats.org/officeDocument/2006/relationships/slideLayout" Target="../slideLayouts/slideLayout114.xml"/><Relationship Id="rId1" Type="http://schemas.openxmlformats.org/officeDocument/2006/relationships/slideLayout" Target="../slideLayouts/slideLayout99.xml"/><Relationship Id="rId6" Type="http://schemas.openxmlformats.org/officeDocument/2006/relationships/slideLayout" Target="../slideLayouts/slideLayout104.xml"/><Relationship Id="rId11" Type="http://schemas.openxmlformats.org/officeDocument/2006/relationships/slideLayout" Target="../slideLayouts/slideLayout109.xml"/><Relationship Id="rId5" Type="http://schemas.openxmlformats.org/officeDocument/2006/relationships/slideLayout" Target="../slideLayouts/slideLayout103.xml"/><Relationship Id="rId1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08.xml"/><Relationship Id="rId4" Type="http://schemas.openxmlformats.org/officeDocument/2006/relationships/slideLayout" Target="../slideLayouts/slideLayout102.xml"/><Relationship Id="rId9" Type="http://schemas.openxmlformats.org/officeDocument/2006/relationships/slideLayout" Target="../slideLayouts/slideLayout107.xml"/><Relationship Id="rId14" Type="http://schemas.openxmlformats.org/officeDocument/2006/relationships/slideLayout" Target="../slideLayouts/slideLayout1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3CDF1934-D2B2-4AA9-8EA1-1E51865790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60000" cy="369423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D35872E-4184-4A23-95E6-82765736F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F1107F2-2963-451C-9226-045532588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0DA7FBA8-90E2-4391-A0BA-B3AB343753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344867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pic>
        <p:nvPicPr>
          <p:cNvPr id="4" name="Picture 3" descr="A close-up of a logo&#10;&#10;Description automatically generated">
            <a:extLst>
              <a:ext uri="{FF2B5EF4-FFF2-40B4-BE49-F238E27FC236}">
                <a16:creationId xmlns:a16="http://schemas.microsoft.com/office/drawing/2014/main" id="{01E80BD4-A940-76A2-FE28-778FE3A3CC9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3"/>
          <a:srcRect l="23879" t="-2216" r="16423" b="36975"/>
          <a:stretch/>
        </p:blipFill>
        <p:spPr>
          <a:xfrm>
            <a:off x="0" y="6363684"/>
            <a:ext cx="914400" cy="49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934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1" r:id="rId1"/>
    <p:sldLayoutId id="2147484083" r:id="rId2"/>
    <p:sldLayoutId id="2147484084" r:id="rId3"/>
    <p:sldLayoutId id="2147484085" r:id="rId4"/>
    <p:sldLayoutId id="2147484087" r:id="rId5"/>
    <p:sldLayoutId id="2147484088" r:id="rId6"/>
    <p:sldLayoutId id="2147484089" r:id="rId7"/>
    <p:sldLayoutId id="2147484090" r:id="rId8"/>
    <p:sldLayoutId id="2147484091" r:id="rId9"/>
    <p:sldLayoutId id="2147484092" r:id="rId10"/>
    <p:sldLayoutId id="2147484093" r:id="rId11"/>
    <p:sldLayoutId id="2147484094" r:id="rId12"/>
    <p:sldLayoutId id="2147484095" r:id="rId13"/>
    <p:sldLayoutId id="2147484096" r:id="rId14"/>
    <p:sldLayoutId id="2147484097" r:id="rId15"/>
    <p:sldLayoutId id="2147484098" r:id="rId16"/>
    <p:sldLayoutId id="2147484099" r:id="rId17"/>
    <p:sldLayoutId id="2147484100" r:id="rId18"/>
    <p:sldLayoutId id="2147484101" r:id="rId19"/>
    <p:sldLayoutId id="2147484102" r:id="rId20"/>
    <p:sldLayoutId id="2147484103" r:id="rId21"/>
    <p:sldLayoutId id="2147484104" r:id="rId22"/>
    <p:sldLayoutId id="2147484105" r:id="rId23"/>
    <p:sldLayoutId id="2147484106" r:id="rId24"/>
    <p:sldLayoutId id="2147484107" r:id="rId25"/>
    <p:sldLayoutId id="2147484108" r:id="rId26"/>
    <p:sldLayoutId id="2147484109" r:id="rId27"/>
    <p:sldLayoutId id="2147484110" r:id="rId28"/>
    <p:sldLayoutId id="2147484111" r:id="rId29"/>
    <p:sldLayoutId id="2147484112" r:id="rId30"/>
    <p:sldLayoutId id="2147484125" r:id="rId31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8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3CDF1934-D2B2-4AA9-8EA1-1E51865790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5" y="6356350"/>
            <a:ext cx="303213" cy="311150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D35872E-4184-4A23-95E6-82765736F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F1107F2-2963-451C-9226-045532588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0DA7FBA8-90E2-4391-A0BA-B3AB343753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8" y="344867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6903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66" r:id="rId1"/>
    <p:sldLayoutId id="2147484167" r:id="rId2"/>
    <p:sldLayoutId id="2147484168" r:id="rId3"/>
    <p:sldLayoutId id="2147484169" r:id="rId4"/>
    <p:sldLayoutId id="2147484170" r:id="rId5"/>
    <p:sldLayoutId id="2147484171" r:id="rId6"/>
    <p:sldLayoutId id="2147484172" r:id="rId7"/>
    <p:sldLayoutId id="2147484173" r:id="rId8"/>
    <p:sldLayoutId id="2147484175" r:id="rId9"/>
    <p:sldLayoutId id="2147484176" r:id="rId10"/>
    <p:sldLayoutId id="2147484177" r:id="rId11"/>
    <p:sldLayoutId id="2147484178" r:id="rId12"/>
    <p:sldLayoutId id="2147484179" r:id="rId13"/>
    <p:sldLayoutId id="2147484180" r:id="rId14"/>
    <p:sldLayoutId id="2147484181" r:id="rId15"/>
    <p:sldLayoutId id="2147484182" r:id="rId16"/>
    <p:sldLayoutId id="2147484183" r:id="rId17"/>
    <p:sldLayoutId id="2147484184" r:id="rId18"/>
    <p:sldLayoutId id="2147484185" r:id="rId19"/>
    <p:sldLayoutId id="2147484186" r:id="rId20"/>
    <p:sldLayoutId id="2147484187" r:id="rId21"/>
    <p:sldLayoutId id="2147484188" r:id="rId22"/>
    <p:sldLayoutId id="2147484189" r:id="rId23"/>
    <p:sldLayoutId id="2147484190" r:id="rId24"/>
    <p:sldLayoutId id="2147484191" r:id="rId25"/>
    <p:sldLayoutId id="2147484192" r:id="rId26"/>
    <p:sldLayoutId id="2147484193" r:id="rId27"/>
    <p:sldLayoutId id="2147484194" r:id="rId28"/>
    <p:sldLayoutId id="2147484195" r:id="rId29"/>
    <p:sldLayoutId id="2147484196" r:id="rId30"/>
    <p:sldLayoutId id="2147484197" r:id="rId31"/>
    <p:sldLayoutId id="2147484198" r:id="rId32"/>
    <p:sldLayoutId id="2147484199" r:id="rId33"/>
    <p:sldLayoutId id="2147484200" r:id="rId3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616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20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3232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8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848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6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6464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4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3080" indent="-356616" algn="l" defTabSz="914400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200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919" y="1137920"/>
            <a:ext cx="10978515" cy="494792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grpSp>
        <p:nvGrpSpPr>
          <p:cNvPr id="11" name="Group 4">
            <a:extLst>
              <a:ext uri="{FF2B5EF4-FFF2-40B4-BE49-F238E27FC236}">
                <a16:creationId xmlns:a16="http://schemas.microsoft.com/office/drawing/2014/main" id="{3CDF1934-D2B2-4AA9-8EA1-1E5186579043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1287126" y="6356350"/>
            <a:ext cx="303213" cy="311150"/>
            <a:chOff x="7110" y="4004"/>
            <a:chExt cx="191" cy="196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CD35872E-4184-4A23-95E6-82765736F9D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9F1107F2-2963-451C-9226-045532588C4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0DA7FBA8-90E2-4391-A0BA-B3AB3437530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799"/>
            </a:p>
          </p:txBody>
        </p:sp>
      </p:grpSp>
      <p:sp>
        <p:nvSpPr>
          <p:cNvPr id="21" name="Date Placeholder 1">
            <a:extLst>
              <a:ext uri="{FF2B5EF4-FFF2-40B4-BE49-F238E27FC236}">
                <a16:creationId xmlns:a16="http://schemas.microsoft.com/office/drawing/2014/main" id="{A9B702AF-19B6-4F5E-8D83-4C8DC525EA2D}"/>
              </a:ext>
            </a:extLst>
          </p:cNvPr>
          <p:cNvSpPr txBox="1">
            <a:spLocks/>
          </p:cNvSpPr>
          <p:nvPr userDrawn="1"/>
        </p:nvSpPr>
        <p:spPr>
          <a:xfrm>
            <a:off x="1352728" y="6414783"/>
            <a:ext cx="1191258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fld id="{7DBDBB20-DA7B-4EA8-9594-84A1D3A4EA29}" type="datetime3">
              <a:rPr lang="en-US" sz="800" smtClean="0"/>
              <a:t>9 September 2024</a:t>
            </a:fld>
            <a:endParaRPr lang="en-IN" sz="800" dirty="0"/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F5D667A6-D967-4BCE-95CA-C796E5DCAADD}"/>
              </a:ext>
            </a:extLst>
          </p:cNvPr>
          <p:cNvSpPr txBox="1">
            <a:spLocks/>
          </p:cNvSpPr>
          <p:nvPr userDrawn="1"/>
        </p:nvSpPr>
        <p:spPr>
          <a:xfrm>
            <a:off x="3162989" y="6414783"/>
            <a:ext cx="3086100" cy="180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800" dirty="0"/>
              <a:t>Presentation title</a:t>
            </a:r>
          </a:p>
        </p:txBody>
      </p:sp>
      <p:sp>
        <p:nvSpPr>
          <p:cNvPr id="24" name="Slide Number Placeholder 4">
            <a:extLst>
              <a:ext uri="{FF2B5EF4-FFF2-40B4-BE49-F238E27FC236}">
                <a16:creationId xmlns:a16="http://schemas.microsoft.com/office/drawing/2014/main" id="{E59D4E9C-D280-4A0D-B23D-22954AB0CEC9}"/>
              </a:ext>
            </a:extLst>
          </p:cNvPr>
          <p:cNvSpPr txBox="1">
            <a:spLocks/>
          </p:cNvSpPr>
          <p:nvPr userDrawn="1"/>
        </p:nvSpPr>
        <p:spPr>
          <a:xfrm>
            <a:off x="609601" y="6414783"/>
            <a:ext cx="663066" cy="180000"/>
          </a:xfrm>
          <a:prstGeom prst="rect">
            <a:avLst/>
          </a:prstGeom>
        </p:spPr>
        <p:txBody>
          <a:bodyPr lIns="0"/>
          <a:lstStyle>
            <a:defPPr>
              <a:defRPr lang="en-US"/>
            </a:defPPr>
            <a:lvl1pPr>
              <a:defRPr sz="800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GB" sz="800" dirty="0"/>
              <a:t>Page </a:t>
            </a:r>
            <a:fld id="{D5B76411-544C-4F9A-8EDE-9EEB2BD21F95}" type="slidenum">
              <a:rPr lang="en-IN" sz="800" smtClean="0"/>
              <a:t>‹#›</a:t>
            </a:fld>
            <a:endParaRPr sz="800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919" y="344867"/>
            <a:ext cx="10978515" cy="59088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59743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03" r:id="rId1"/>
    <p:sldLayoutId id="2147484204" r:id="rId2"/>
    <p:sldLayoutId id="2147484205" r:id="rId3"/>
    <p:sldLayoutId id="2147484206" r:id="rId4"/>
    <p:sldLayoutId id="2147484208" r:id="rId5"/>
    <p:sldLayoutId id="2147484210" r:id="rId6"/>
    <p:sldLayoutId id="2147484212" r:id="rId7"/>
    <p:sldLayoutId id="2147484213" r:id="rId8"/>
    <p:sldLayoutId id="2147484214" r:id="rId9"/>
    <p:sldLayoutId id="2147484215" r:id="rId10"/>
    <p:sldLayoutId id="2147484216" r:id="rId11"/>
    <p:sldLayoutId id="2147484217" r:id="rId12"/>
    <p:sldLayoutId id="2147484218" r:id="rId13"/>
    <p:sldLayoutId id="2147484219" r:id="rId14"/>
    <p:sldLayoutId id="2147484220" r:id="rId15"/>
    <p:sldLayoutId id="2147484221" r:id="rId16"/>
    <p:sldLayoutId id="2147484222" r:id="rId17"/>
    <p:sldLayoutId id="2147484223" r:id="rId18"/>
    <p:sldLayoutId id="2147484224" r:id="rId19"/>
    <p:sldLayoutId id="2147484225" r:id="rId20"/>
    <p:sldLayoutId id="2147484226" r:id="rId21"/>
    <p:sldLayoutId id="2147484227" r:id="rId22"/>
    <p:sldLayoutId id="2147484228" r:id="rId23"/>
    <p:sldLayoutId id="2147484229" r:id="rId24"/>
    <p:sldLayoutId id="2147484230" r:id="rId25"/>
    <p:sldLayoutId id="2147484231" r:id="rId26"/>
    <p:sldLayoutId id="2147484232" r:id="rId27"/>
    <p:sldLayoutId id="2147484233" r:id="rId28"/>
    <p:sldLayoutId id="2147484234" r:id="rId29"/>
    <p:sldLayoutId id="2147484235" r:id="rId30"/>
    <p:sldLayoutId id="2147484236" r:id="rId31"/>
    <p:sldLayoutId id="2147484237" r:id="rId32"/>
    <p:sldLayoutId id="2147484238" r:id="rId33"/>
  </p:sldLayoutIdLst>
  <p:hf hdr="0"/>
  <p:txStyles>
    <p:titleStyle>
      <a:lvl1pPr algn="l" defTabSz="913943" rtl="0" eaLnBrk="1" latinLnBrk="0" hangingPunct="1">
        <a:lnSpc>
          <a:spcPct val="85000"/>
        </a:lnSpc>
        <a:spcBef>
          <a:spcPct val="0"/>
        </a:spcBef>
        <a:buNone/>
        <a:defRPr sz="2399" b="0" kern="1200">
          <a:solidFill>
            <a:schemeClr val="bg1"/>
          </a:solidFill>
          <a:latin typeface="EYInterstate Light" panose="02000506000000020004" pitchFamily="2" charset="0"/>
          <a:ea typeface="+mj-ea"/>
          <a:cs typeface="Arial" pitchFamily="34" charset="0"/>
        </a:defRPr>
      </a:lvl1pPr>
    </p:titleStyle>
    <p:bodyStyle>
      <a:lvl1pPr marL="35643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9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1pPr>
      <a:lvl2pPr marL="712875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7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2pPr>
      <a:lvl3pPr marL="1069313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5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3pPr>
      <a:lvl4pPr marL="1425751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3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4pPr>
      <a:lvl5pPr marL="1782188" indent="-356438" algn="l" defTabSz="913943" rtl="0" eaLnBrk="1" latinLnBrk="0" hangingPunct="1">
        <a:spcBef>
          <a:spcPct val="20000"/>
        </a:spcBef>
        <a:buClr>
          <a:schemeClr val="tx2"/>
        </a:buClr>
        <a:buSzPct val="70000"/>
        <a:buFont typeface="Arial" pitchFamily="34" charset="0"/>
        <a:buChar char="►"/>
        <a:defRPr sz="1199" kern="1200">
          <a:solidFill>
            <a:schemeClr val="bg1"/>
          </a:solidFill>
          <a:latin typeface="EYInterstate Light" panose="02000506000000020004" pitchFamily="2" charset="0"/>
          <a:ea typeface="+mn-ea"/>
          <a:cs typeface="+mn-cs"/>
        </a:defRPr>
      </a:lvl5pPr>
      <a:lvl6pPr marL="2513343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6pPr>
      <a:lvl7pPr marL="2970314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7pPr>
      <a:lvl8pPr marL="3427286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8pPr>
      <a:lvl9pPr marL="3884257" indent="-228486" algn="l" defTabSz="913943" rtl="0" eaLnBrk="1" latinLnBrk="0" hangingPunct="1">
        <a:spcBef>
          <a:spcPct val="20000"/>
        </a:spcBef>
        <a:buFont typeface="Arial" pitchFamily="34" charset="0"/>
        <a:buChar char="•"/>
        <a:defRPr sz="199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69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3943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0914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7886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4857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1828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8800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5771" algn="l" defTabSz="91394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842">
          <p15:clr>
            <a:srgbClr val="F26B43"/>
          </p15:clr>
        </p15:guide>
        <p15:guide id="3" pos="384">
          <p15:clr>
            <a:srgbClr val="F26B43"/>
          </p15:clr>
        </p15:guide>
        <p15:guide id="4" pos="7302">
          <p15:clr>
            <a:srgbClr val="F26B43"/>
          </p15:clr>
        </p15:guide>
        <p15:guide id="5" orient="horz" pos="712">
          <p15:clr>
            <a:srgbClr val="F26B43"/>
          </p15:clr>
        </p15:guide>
        <p15:guide id="6" orient="horz" pos="3840">
          <p15:clr>
            <a:srgbClr val="F26B43"/>
          </p15:clr>
        </p15:guide>
        <p15:guide id="7" orient="horz" pos="4199">
          <p15:clr>
            <a:srgbClr val="F26B43"/>
          </p15:clr>
        </p15:guide>
        <p15:guide id="8" orient="horz" pos="173">
          <p15:clr>
            <a:srgbClr val="F26B43"/>
          </p15:clr>
        </p15:guide>
        <p15:guide id="9" orient="horz" pos="3995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DDEF0-7AF8-5F17-BBC5-8B04639B1F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681038"/>
            <a:ext cx="10978515" cy="9191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B40AF1-B2D1-340A-5F66-CB24C4B8D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918" y="2057400"/>
            <a:ext cx="10978515" cy="4119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613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40" r:id="rId1"/>
    <p:sldLayoutId id="2147484241" r:id="rId2"/>
    <p:sldLayoutId id="2147484242" r:id="rId3"/>
    <p:sldLayoutId id="2147484243" r:id="rId4"/>
    <p:sldLayoutId id="2147484244" r:id="rId5"/>
    <p:sldLayoutId id="2147484245" r:id="rId6"/>
    <p:sldLayoutId id="2147484246" r:id="rId7"/>
    <p:sldLayoutId id="2147484247" r:id="rId8"/>
    <p:sldLayoutId id="2147484248" r:id="rId9"/>
    <p:sldLayoutId id="2147484249" r:id="rId10"/>
    <p:sldLayoutId id="2147484250" r:id="rId11"/>
    <p:sldLayoutId id="2147484251" r:id="rId12"/>
    <p:sldLayoutId id="2147484252" r:id="rId13"/>
    <p:sldLayoutId id="2147484253" r:id="rId14"/>
    <p:sldLayoutId id="2147484254" r:id="rId15"/>
    <p:sldLayoutId id="2147484256" r:id="rId16"/>
    <p:sldLayoutId id="2147484257" r:id="rId17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i="0" kern="1200">
          <a:solidFill>
            <a:schemeClr val="tx1"/>
          </a:solidFill>
          <a:latin typeface="AirIndia" pitchFamily="82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9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20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0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88CA4-707D-E173-828C-E5A2B552E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14775" y="1721499"/>
            <a:ext cx="8086919" cy="2609869"/>
          </a:xfrm>
        </p:spPr>
        <p:txBody>
          <a:bodyPr>
            <a:normAutofit fontScale="90000"/>
          </a:bodyPr>
          <a:lstStyle/>
          <a:p>
            <a:r>
              <a:rPr lang="en-IN" sz="5400" dirty="0"/>
              <a:t>Steering Committee Meeting for HR Tech</a:t>
            </a:r>
            <a:br>
              <a:rPr lang="en-IN" dirty="0"/>
            </a:br>
            <a:r>
              <a:rPr lang="en-IN" sz="2800" b="0" dirty="0">
                <a:latin typeface="Arial" panose="020B0604020202020204" pitchFamily="34" charset="0"/>
                <a:cs typeface="Arial" panose="020B0604020202020204" pitchFamily="34" charset="0"/>
              </a:rPr>
              <a:t>UK – AI Merger</a:t>
            </a:r>
            <a:br>
              <a:rPr lang="en-IN" sz="2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IN" sz="2800" b="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2800" b="0" dirty="0">
                <a:latin typeface="Arial" panose="020B0604020202020204" pitchFamily="34" charset="0"/>
                <a:cs typeface="Arial" panose="020B0604020202020204" pitchFamily="34" charset="0"/>
              </a:rPr>
              <a:t>05-Sep-2024</a:t>
            </a:r>
            <a:endParaRPr lang="en-IN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E96CAC2-193D-58DF-0042-14E7097FE08A}"/>
              </a:ext>
            </a:extLst>
          </p:cNvPr>
          <p:cNvSpPr txBox="1"/>
          <p:nvPr/>
        </p:nvSpPr>
        <p:spPr>
          <a:xfrm>
            <a:off x="9057723" y="5154876"/>
            <a:ext cx="2943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FF"/>
                </a:solidFill>
                <a:latin typeface="AirIndia" panose="04050608020B02020302" pitchFamily="82" charset="0"/>
              </a:rPr>
              <a:t>Digital &amp; Technology</a:t>
            </a:r>
            <a:endParaRPr lang="en-IN" sz="2400" dirty="0">
              <a:solidFill>
                <a:srgbClr val="FFFFFF"/>
              </a:solidFill>
              <a:latin typeface="AirIndia" panose="04050608020B020203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4257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15E46A27-4EBA-40F1-9556-5D82AE98B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918" y="319088"/>
            <a:ext cx="10978515" cy="652462"/>
          </a:xfrm>
        </p:spPr>
        <p:txBody>
          <a:bodyPr anchor="ctr"/>
          <a:lstStyle/>
          <a:p>
            <a:r>
              <a:rPr lang="en-US" sz="2800" b="1" dirty="0"/>
              <a:t>Todays Agenda</a:t>
            </a:r>
            <a:endParaRPr lang="en-IN" sz="2800" b="1" dirty="0"/>
          </a:p>
        </p:txBody>
      </p:sp>
      <p:graphicFrame>
        <p:nvGraphicFramePr>
          <p:cNvPr id="38" name="Table 38">
            <a:extLst>
              <a:ext uri="{FF2B5EF4-FFF2-40B4-BE49-F238E27FC236}">
                <a16:creationId xmlns:a16="http://schemas.microsoft.com/office/drawing/2014/main" id="{CD450463-F773-5DB2-8B5C-C0BC4E1B48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747893"/>
              </p:ext>
            </p:extLst>
          </p:nvPr>
        </p:nvGraphicFramePr>
        <p:xfrm>
          <a:off x="609600" y="1364803"/>
          <a:ext cx="10979151" cy="4525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1084118350"/>
                    </a:ext>
                  </a:extLst>
                </a:gridCol>
                <a:gridCol w="6557818">
                  <a:extLst>
                    <a:ext uri="{9D8B030D-6E8A-4147-A177-3AD203B41FA5}">
                      <a16:colId xmlns:a16="http://schemas.microsoft.com/office/drawing/2014/main" val="3089960042"/>
                    </a:ext>
                  </a:extLst>
                </a:gridCol>
                <a:gridCol w="2490933">
                  <a:extLst>
                    <a:ext uri="{9D8B030D-6E8A-4147-A177-3AD203B41FA5}">
                      <a16:colId xmlns:a16="http://schemas.microsoft.com/office/drawing/2014/main" val="1371098592"/>
                    </a:ext>
                  </a:extLst>
                </a:gridCol>
              </a:tblGrid>
              <a:tr h="11677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ea typeface="+mn-ea"/>
                          <a:cs typeface="Arial" panose="020B0604020202020204" pitchFamily="34" charset="0"/>
                        </a:rPr>
                        <a:t>1</a:t>
                      </a:r>
                      <a:endParaRPr kumimoji="0" lang="en-IN" sz="6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unito Sans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>
                          <a:srgbClr val="27ACAA"/>
                        </a:buClr>
                        <a:buSzPct val="70000"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ea typeface="+mn-ea"/>
                          <a:cs typeface="Arial" panose="020B0604020202020204" pitchFamily="34" charset="0"/>
                        </a:rPr>
                        <a:t>Core HR System – SAP SuccessFactors (SF)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Organization Structure; Employee Central; Recruitment &amp; Onboarding; Performance &amp; Goal Management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7449722"/>
                  </a:ext>
                </a:extLst>
              </a:tr>
              <a:tr h="278582"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0371616"/>
                  </a:ext>
                </a:extLst>
              </a:tr>
              <a:tr h="1373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ea typeface="+mn-ea"/>
                          <a:cs typeface="Arial" panose="020B0604020202020204" pitchFamily="34" charset="0"/>
                        </a:rPr>
                        <a:t>2</a:t>
                      </a:r>
                      <a:endParaRPr kumimoji="0" lang="en-IN" sz="6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unito Sans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Payroll – PeopleStrong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-Merger Principles, Approach &amp; Plan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-Upcoming Activities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-Payroll Mock Run 1 (Aug Payroll Parallel Run)</a:t>
                      </a:r>
                      <a:endParaRPr kumimoji="0" lang="en-US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unito Sans" pitchFamily="2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-RAID</a:t>
                      </a:r>
                      <a:endParaRPr kumimoji="0" lang="en-IN" sz="14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252198"/>
                  </a:ext>
                </a:extLst>
              </a:tr>
              <a:tr h="278582"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IN" sz="1400" dirty="0"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9214889"/>
                  </a:ext>
                </a:extLst>
              </a:tr>
              <a:tr h="137383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66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ea typeface="+mn-ea"/>
                          <a:cs typeface="Arial" panose="020B0604020202020204" pitchFamily="34" charset="0"/>
                        </a:rPr>
                        <a:t>3</a:t>
                      </a:r>
                      <a:endParaRPr kumimoji="0" lang="en-IN" sz="66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Nunito Sans" pitchFamily="2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1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Other HR Tech Apps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-Learning &amp; Development (TCS </a:t>
                      </a:r>
                      <a:r>
                        <a:rPr kumimoji="0" lang="en-IN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iDL</a:t>
                      </a: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, </a:t>
                      </a:r>
                      <a:r>
                        <a:rPr kumimoji="0" lang="en-IN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Disprz</a:t>
                      </a: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-Staff Travel (</a:t>
                      </a:r>
                      <a:r>
                        <a:rPr kumimoji="0" lang="en-IN" sz="1400" b="0" i="0" u="none" strike="noStrike" kern="0" cap="none" spc="0" normalizeH="0" baseline="0" noProof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iFly</a:t>
                      </a: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)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40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Nunito Sans" pitchFamily="2" charset="0"/>
                          <a:cs typeface="Arial" panose="020B0604020202020204" pitchFamily="34" charset="0"/>
                        </a:rPr>
                        <a:t>-Rewards &amp; Recognition (Advantage Club)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IN" sz="1400" dirty="0">
                        <a:solidFill>
                          <a:schemeClr val="tx1"/>
                        </a:solidFill>
                        <a:latin typeface="Nunito Sans" pitchFamily="2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1977096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8997DF6D-FC9C-FE57-53FB-ED2FBE3DD35C}"/>
              </a:ext>
            </a:extLst>
          </p:cNvPr>
          <p:cNvSpPr/>
          <p:nvPr/>
        </p:nvSpPr>
        <p:spPr>
          <a:xfrm>
            <a:off x="10881360" y="6156960"/>
            <a:ext cx="1016000" cy="652462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n-IN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31942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25A7-49DC-297E-30A1-C837B7D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Payroll - PeopleStrong</a:t>
            </a:r>
          </a:p>
        </p:txBody>
      </p:sp>
    </p:spTree>
    <p:extLst>
      <p:ext uri="{BB962C8B-B14F-4D97-AF65-F5344CB8AC3E}">
        <p14:creationId xmlns:p14="http://schemas.microsoft.com/office/powerpoint/2010/main" val="18412685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55524-A3AE-EA79-78E3-8760C97223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F308F19-6752-EC66-2194-270823A2D422}"/>
              </a:ext>
            </a:extLst>
          </p:cNvPr>
          <p:cNvSpPr txBox="1">
            <a:spLocks/>
          </p:cNvSpPr>
          <p:nvPr/>
        </p:nvSpPr>
        <p:spPr>
          <a:xfrm>
            <a:off x="294640" y="319088"/>
            <a:ext cx="11293793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Payroll (PeopleStrong) - Merger Principles &amp; Approach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93D884-F596-120F-1165-8E52F1BFC9A0}"/>
              </a:ext>
            </a:extLst>
          </p:cNvPr>
          <p:cNvSpPr txBox="1"/>
          <p:nvPr/>
        </p:nvSpPr>
        <p:spPr>
          <a:xfrm>
            <a:off x="294640" y="943157"/>
            <a:ext cx="11775440" cy="1569660"/>
          </a:xfrm>
          <a:prstGeom prst="rect">
            <a:avLst/>
          </a:prstGeom>
          <a:noFill/>
          <a:ln>
            <a:solidFill>
              <a:srgbClr val="C00000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highlight>
                  <a:srgbClr val="FFE600"/>
                </a:highlight>
                <a:latin typeface="AirIndia" panose="04050608020B02020302"/>
                <a:cs typeface="Arial" panose="020B0604020202020204" pitchFamily="34" charset="0"/>
              </a:rPr>
              <a:t>Merger Guiding Principles</a:t>
            </a:r>
            <a:endParaRPr lang="en-IN" sz="1200" b="1" strike="sngStrike" dirty="0">
              <a:highlight>
                <a:srgbClr val="FFE600"/>
              </a:highlight>
              <a:latin typeface="AirIndia" panose="04050608020B02020302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UK Crew Salary to be processed by UK Payroll team within UK SAP S4 HANA till merger Go-Live (12</a:t>
            </a:r>
            <a:r>
              <a:rPr lang="en-US" sz="1200" baseline="30000" dirty="0">
                <a:latin typeface="AirIndia" panose="04050608020B02020302"/>
                <a:cs typeface="Arial" panose="020B0604020202020204" pitchFamily="34" charset="0"/>
              </a:rPr>
              <a:t>th</a:t>
            </a: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 Nov 24).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latin typeface="AirIndia" panose="04050608020B02020302"/>
                <a:cs typeface="Arial" panose="020B0604020202020204" pitchFamily="34" charset="0"/>
              </a:rPr>
              <a:t>Separate (New) AI PeopleStrong (PS) instance will be configured with UK pay components – UK pay components &amp; structures to be harmonized post-merger by Apr 2025.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Payroll markers &amp; rates for variable pay components (flying hours, layover count, SIM training hours, etc.) for UK &amp; AI Crew (Cabin &amp; Pilots) will be of AI post-merger.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UK Crew (Cabin &amp; Pilots) will operate on UK ARMS crew management &amp; tracking system till 11th Nov 24 &amp; will be onboarded on to AI CAE post 11th Nov 24 midnight.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Salary for Nov 24 to be processed partially by UK (till 11th Nov EOD) &amp; partially by AI (12th Nov onwards). AI will pay to employee salary in one shot to employees on 30th Nov 24.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There will be 2 Form 16 for UK employees’ post-merger &amp; their settlement will be done by UK Payroll team prior to merger.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latin typeface="AirIndia" panose="04050608020B02020302"/>
                <a:cs typeface="Arial" panose="020B0604020202020204" pitchFamily="34" charset="0"/>
              </a:rPr>
              <a:t>UK active employee’s past 5 year’s Payroll data will be migrated from UK SAP S4 HANA (Source) to new AI PeopleStrong (PS) instance (Target) – Salary Slips &amp; Form 16.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8F502A3-88C0-80D5-98C9-0B6FD049C509}"/>
              </a:ext>
            </a:extLst>
          </p:cNvPr>
          <p:cNvGrpSpPr/>
          <p:nvPr/>
        </p:nvGrpSpPr>
        <p:grpSpPr>
          <a:xfrm>
            <a:off x="144085" y="2924992"/>
            <a:ext cx="11925995" cy="4100203"/>
            <a:chOff x="144085" y="2620192"/>
            <a:chExt cx="11925995" cy="4100203"/>
          </a:xfrm>
        </p:grpSpPr>
        <p:graphicFrame>
          <p:nvGraphicFramePr>
            <p:cNvPr id="6" name="Diagram 5">
              <a:extLst>
                <a:ext uri="{FF2B5EF4-FFF2-40B4-BE49-F238E27FC236}">
                  <a16:creationId xmlns:a16="http://schemas.microsoft.com/office/drawing/2014/main" id="{12445EDB-5E20-8E28-5710-2FA1FF39D90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89607769"/>
                </p:ext>
              </p:extLst>
            </p:nvPr>
          </p:nvGraphicFramePr>
          <p:xfrm>
            <a:off x="294640" y="2637404"/>
            <a:ext cx="11775440" cy="4082991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2" r:lo="rId3" r:qs="rId4" r:cs="rId5"/>
            </a:graphicData>
          </a:graphic>
        </p:graphicFrame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55B2FFF-4AA9-6D85-6F1D-34FCBE342AC3}"/>
                </a:ext>
              </a:extLst>
            </p:cNvPr>
            <p:cNvCxnSpPr/>
            <p:nvPr/>
          </p:nvCxnSpPr>
          <p:spPr>
            <a:xfrm>
              <a:off x="294640" y="2876366"/>
              <a:ext cx="11699092" cy="0"/>
            </a:xfrm>
            <a:prstGeom prst="straightConnector1">
              <a:avLst/>
            </a:prstGeom>
            <a:ln>
              <a:solidFill>
                <a:schemeClr val="tx1">
                  <a:lumMod val="95000"/>
                  <a:lumOff val="5000"/>
                </a:schemeClr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26" name="Picture 2" descr="First Webpage!">
              <a:extLst>
                <a:ext uri="{FF2B5EF4-FFF2-40B4-BE49-F238E27FC236}">
                  <a16:creationId xmlns:a16="http://schemas.microsoft.com/office/drawing/2014/main" id="{2D28ADCC-A2F4-9AEE-CF84-5E0D5CC025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80227" y="2635902"/>
              <a:ext cx="239692" cy="239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E89C1D8-5C29-1A19-1072-03485F9FAE18}"/>
                </a:ext>
              </a:extLst>
            </p:cNvPr>
            <p:cNvSpPr txBox="1"/>
            <p:nvPr/>
          </p:nvSpPr>
          <p:spPr>
            <a:xfrm>
              <a:off x="3002680" y="2893205"/>
              <a:ext cx="91723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/>
                <a:t>31</a:t>
              </a:r>
              <a:r>
                <a:rPr lang="en-IN" sz="1100" b="1" baseline="30000" dirty="0"/>
                <a:t>st</a:t>
              </a:r>
              <a:r>
                <a:rPr lang="en-IN" sz="1100" b="1" dirty="0"/>
                <a:t> Oct 24</a:t>
              </a:r>
            </a:p>
          </p:txBody>
        </p:sp>
        <p:pic>
          <p:nvPicPr>
            <p:cNvPr id="20" name="Picture 2" descr="First Webpage!">
              <a:extLst>
                <a:ext uri="{FF2B5EF4-FFF2-40B4-BE49-F238E27FC236}">
                  <a16:creationId xmlns:a16="http://schemas.microsoft.com/office/drawing/2014/main" id="{76F164FA-0FFB-5B84-1D11-11A60E4810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4334520" y="2875593"/>
              <a:ext cx="239692" cy="239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1042E09C-5BD0-7923-1CCE-BECAC5AF4541}"/>
                </a:ext>
              </a:extLst>
            </p:cNvPr>
            <p:cNvSpPr txBox="1"/>
            <p:nvPr/>
          </p:nvSpPr>
          <p:spPr>
            <a:xfrm>
              <a:off x="4334520" y="2622582"/>
              <a:ext cx="861133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/>
                <a:t>1</a:t>
              </a:r>
              <a:r>
                <a:rPr lang="en-IN" sz="1100" b="1" baseline="30000" dirty="0"/>
                <a:t>st</a:t>
              </a:r>
              <a:r>
                <a:rPr lang="en-IN" sz="1100" b="1" dirty="0"/>
                <a:t> Nov 24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939B20EF-884D-DFE1-D1E7-730B5B783BA0}"/>
                </a:ext>
              </a:extLst>
            </p:cNvPr>
            <p:cNvSpPr txBox="1"/>
            <p:nvPr/>
          </p:nvSpPr>
          <p:spPr>
            <a:xfrm>
              <a:off x="144085" y="2899014"/>
              <a:ext cx="93166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/>
                <a:t>Timeline -&gt;</a:t>
              </a:r>
            </a:p>
          </p:txBody>
        </p:sp>
        <p:pic>
          <p:nvPicPr>
            <p:cNvPr id="23" name="Picture 2" descr="First Webpage!">
              <a:extLst>
                <a:ext uri="{FF2B5EF4-FFF2-40B4-BE49-F238E27FC236}">
                  <a16:creationId xmlns:a16="http://schemas.microsoft.com/office/drawing/2014/main" id="{145B0DEA-568B-BF09-0598-4ED5C785845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89287" y="2620192"/>
              <a:ext cx="239692" cy="239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C5A25A9-0DF6-CC41-814C-0958D87A9C23}"/>
                </a:ext>
              </a:extLst>
            </p:cNvPr>
            <p:cNvSpPr txBox="1"/>
            <p:nvPr/>
          </p:nvSpPr>
          <p:spPr>
            <a:xfrm>
              <a:off x="6411740" y="2877495"/>
              <a:ext cx="9541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/>
                <a:t>11</a:t>
              </a:r>
              <a:r>
                <a:rPr lang="en-IN" sz="1100" b="1" baseline="30000" dirty="0"/>
                <a:t>th</a:t>
              </a:r>
              <a:r>
                <a:rPr lang="en-IN" sz="1100" b="1" dirty="0"/>
                <a:t> Nov 24</a:t>
              </a:r>
            </a:p>
          </p:txBody>
        </p:sp>
        <p:pic>
          <p:nvPicPr>
            <p:cNvPr id="25" name="Picture 2" descr="First Webpage!">
              <a:extLst>
                <a:ext uri="{FF2B5EF4-FFF2-40B4-BE49-F238E27FC236}">
                  <a16:creationId xmlns:a16="http://schemas.microsoft.com/office/drawing/2014/main" id="{59C4DBF1-7FC6-79D3-53C8-39E303795B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800000">
              <a:off x="9103065" y="2884193"/>
              <a:ext cx="239692" cy="239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6050F4A-DA39-2690-958E-014E04435FF0}"/>
                </a:ext>
              </a:extLst>
            </p:cNvPr>
            <p:cNvSpPr txBox="1"/>
            <p:nvPr/>
          </p:nvSpPr>
          <p:spPr>
            <a:xfrm>
              <a:off x="9103065" y="2631182"/>
              <a:ext cx="95410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/>
                <a:t>30</a:t>
              </a:r>
              <a:r>
                <a:rPr lang="en-IN" sz="1100" b="1" baseline="30000" dirty="0"/>
                <a:t>th</a:t>
              </a:r>
              <a:r>
                <a:rPr lang="en-IN" sz="1100" b="1" dirty="0"/>
                <a:t> Nov 24</a:t>
              </a:r>
            </a:p>
          </p:txBody>
        </p:sp>
        <p:pic>
          <p:nvPicPr>
            <p:cNvPr id="27" name="Picture 2" descr="First Webpage!">
              <a:extLst>
                <a:ext uri="{FF2B5EF4-FFF2-40B4-BE49-F238E27FC236}">
                  <a16:creationId xmlns:a16="http://schemas.microsoft.com/office/drawing/2014/main" id="{16B66500-1BC5-5988-227C-0D67066DE2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160689" y="2631182"/>
              <a:ext cx="239692" cy="239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B8378D4-B93A-5D21-C7F3-9952BB7B4034}"/>
                </a:ext>
              </a:extLst>
            </p:cNvPr>
            <p:cNvSpPr txBox="1"/>
            <p:nvPr/>
          </p:nvSpPr>
          <p:spPr>
            <a:xfrm>
              <a:off x="10483142" y="2888485"/>
              <a:ext cx="936475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100" b="1" dirty="0"/>
                <a:t>31</a:t>
              </a:r>
              <a:r>
                <a:rPr lang="en-IN" sz="1100" b="1" baseline="30000" dirty="0"/>
                <a:t>st</a:t>
              </a:r>
              <a:r>
                <a:rPr lang="en-IN" sz="1100" b="1" dirty="0"/>
                <a:t> Dec 24</a:t>
              </a:r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60136502-DE87-9E5F-23FA-2C1615A28624}"/>
              </a:ext>
            </a:extLst>
          </p:cNvPr>
          <p:cNvSpPr txBox="1"/>
          <p:nvPr/>
        </p:nvSpPr>
        <p:spPr>
          <a:xfrm>
            <a:off x="5794749" y="2565431"/>
            <a:ext cx="8031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>
                <a:highlight>
                  <a:srgbClr val="FFE600"/>
                </a:highlight>
                <a:latin typeface="AirIndia" panose="04050608020B02020302"/>
              </a:rPr>
              <a:t>Approach</a:t>
            </a:r>
          </a:p>
        </p:txBody>
      </p:sp>
    </p:spTree>
    <p:extLst>
      <p:ext uri="{BB962C8B-B14F-4D97-AF65-F5344CB8AC3E}">
        <p14:creationId xmlns:p14="http://schemas.microsoft.com/office/powerpoint/2010/main" val="3979587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1BC652-C760-AFED-2B21-CD96394CDE5B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Payroll (PeopleStrong) - Program Plan &amp; Current Status</a:t>
            </a:r>
            <a:endParaRPr lang="en-US" sz="2800" dirty="0"/>
          </a:p>
        </p:txBody>
      </p:sp>
      <p:sp>
        <p:nvSpPr>
          <p:cNvPr id="6" name="Flowchart: Connector 5">
            <a:extLst>
              <a:ext uri="{FF2B5EF4-FFF2-40B4-BE49-F238E27FC236}">
                <a16:creationId xmlns:a16="http://schemas.microsoft.com/office/drawing/2014/main" id="{3EC06841-7104-C3D1-774F-AAD1E993A862}"/>
              </a:ext>
            </a:extLst>
          </p:cNvPr>
          <p:cNvSpPr/>
          <p:nvPr/>
        </p:nvSpPr>
        <p:spPr>
          <a:xfrm>
            <a:off x="10504175" y="253670"/>
            <a:ext cx="142400" cy="215469"/>
          </a:xfrm>
          <a:prstGeom prst="flowChartConnector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FD6B2853-2ACC-6ACC-8AEA-0AF61C2E76D5}"/>
              </a:ext>
            </a:extLst>
          </p:cNvPr>
          <p:cNvSpPr/>
          <p:nvPr/>
        </p:nvSpPr>
        <p:spPr>
          <a:xfrm>
            <a:off x="11264979" y="253670"/>
            <a:ext cx="142400" cy="215469"/>
          </a:xfrm>
          <a:prstGeom prst="flowChartConnector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FF682-917C-A249-A98E-F041E8CD923F}"/>
              </a:ext>
            </a:extLst>
          </p:cNvPr>
          <p:cNvSpPr txBox="1"/>
          <p:nvPr/>
        </p:nvSpPr>
        <p:spPr>
          <a:xfrm>
            <a:off x="10573209" y="257642"/>
            <a:ext cx="785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Completed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2CB14B3-FBC3-103C-1C12-DB282286E09F}"/>
              </a:ext>
            </a:extLst>
          </p:cNvPr>
          <p:cNvSpPr txBox="1"/>
          <p:nvPr/>
        </p:nvSpPr>
        <p:spPr>
          <a:xfrm>
            <a:off x="11361413" y="268498"/>
            <a:ext cx="7859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Yet to Start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E1FE3F60-02F1-3E33-5119-FBA8B3202737}"/>
              </a:ext>
            </a:extLst>
          </p:cNvPr>
          <p:cNvGrpSpPr/>
          <p:nvPr/>
        </p:nvGrpSpPr>
        <p:grpSpPr>
          <a:xfrm>
            <a:off x="233680" y="1032997"/>
            <a:ext cx="11592559" cy="5458414"/>
            <a:chOff x="75112" y="761330"/>
            <a:chExt cx="12212886" cy="489569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DC9D4544-85DC-4B4D-0089-4BF878CFEF17}"/>
                </a:ext>
              </a:extLst>
            </p:cNvPr>
            <p:cNvGrpSpPr/>
            <p:nvPr/>
          </p:nvGrpSpPr>
          <p:grpSpPr>
            <a:xfrm>
              <a:off x="75112" y="894080"/>
              <a:ext cx="12190348" cy="4729921"/>
              <a:chOff x="75112" y="1738569"/>
              <a:chExt cx="12190348" cy="337811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3A1DE09-2264-3D94-ACD0-79B73F7FD7B8}"/>
                  </a:ext>
                </a:extLst>
              </p:cNvPr>
              <p:cNvSpPr txBox="1"/>
              <p:nvPr/>
            </p:nvSpPr>
            <p:spPr>
              <a:xfrm>
                <a:off x="240033" y="1738569"/>
                <a:ext cx="90601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b="1" dirty="0"/>
                  <a:t>Timeline</a:t>
                </a:r>
              </a:p>
            </p:txBody>
          </p:sp>
          <p:sp>
            <p:nvSpPr>
              <p:cNvPr id="87" name="Arrow: Down 86">
                <a:extLst>
                  <a:ext uri="{FF2B5EF4-FFF2-40B4-BE49-F238E27FC236}">
                    <a16:creationId xmlns:a16="http://schemas.microsoft.com/office/drawing/2014/main" id="{290875D7-8142-4714-E06E-EA7563899A51}"/>
                  </a:ext>
                </a:extLst>
              </p:cNvPr>
              <p:cNvSpPr/>
              <p:nvPr/>
            </p:nvSpPr>
            <p:spPr>
              <a:xfrm rot="16200000">
                <a:off x="1243440" y="1789078"/>
                <a:ext cx="100078" cy="176728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88" name="Connector: Curved 87">
                <a:extLst>
                  <a:ext uri="{FF2B5EF4-FFF2-40B4-BE49-F238E27FC236}">
                    <a16:creationId xmlns:a16="http://schemas.microsoft.com/office/drawing/2014/main" id="{02FFE8FC-0F0E-08CA-EEA7-08E78CFB5DF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505162" y="1884723"/>
                <a:ext cx="9905998" cy="4433"/>
              </a:xfrm>
              <a:prstGeom prst="curvedConnector3">
                <a:avLst/>
              </a:prstGeom>
              <a:ln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9" name="TextBox 88">
                <a:extLst>
                  <a:ext uri="{FF2B5EF4-FFF2-40B4-BE49-F238E27FC236}">
                    <a16:creationId xmlns:a16="http://schemas.microsoft.com/office/drawing/2014/main" id="{27BFE284-21D7-0470-80FE-ADCC1CC183C0}"/>
                  </a:ext>
                </a:extLst>
              </p:cNvPr>
              <p:cNvSpPr txBox="1"/>
              <p:nvPr/>
            </p:nvSpPr>
            <p:spPr>
              <a:xfrm>
                <a:off x="1412298" y="1935878"/>
                <a:ext cx="70243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May 24</a:t>
                </a:r>
              </a:p>
            </p:txBody>
          </p:sp>
          <p:sp>
            <p:nvSpPr>
              <p:cNvPr id="90" name="Circle: Hollow 89">
                <a:extLst>
                  <a:ext uri="{FF2B5EF4-FFF2-40B4-BE49-F238E27FC236}">
                    <a16:creationId xmlns:a16="http://schemas.microsoft.com/office/drawing/2014/main" id="{8DD7834E-D7F7-F1C8-E91F-7DE89BE8531C}"/>
                  </a:ext>
                </a:extLst>
              </p:cNvPr>
              <p:cNvSpPr/>
              <p:nvPr/>
            </p:nvSpPr>
            <p:spPr>
              <a:xfrm>
                <a:off x="1662216" y="1837023"/>
                <a:ext cx="176728" cy="107842"/>
              </a:xfrm>
              <a:prstGeom prst="don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1" name="TextBox 90">
                <a:extLst>
                  <a:ext uri="{FF2B5EF4-FFF2-40B4-BE49-F238E27FC236}">
                    <a16:creationId xmlns:a16="http://schemas.microsoft.com/office/drawing/2014/main" id="{489C3BC1-3C4B-B279-4607-4BD11F58FC7B}"/>
                  </a:ext>
                </a:extLst>
              </p:cNvPr>
              <p:cNvSpPr txBox="1"/>
              <p:nvPr/>
            </p:nvSpPr>
            <p:spPr>
              <a:xfrm>
                <a:off x="2038490" y="1939817"/>
                <a:ext cx="716863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June 24</a:t>
                </a:r>
              </a:p>
            </p:txBody>
          </p:sp>
          <p:sp>
            <p:nvSpPr>
              <p:cNvPr id="92" name="Circle: Hollow 91">
                <a:extLst>
                  <a:ext uri="{FF2B5EF4-FFF2-40B4-BE49-F238E27FC236}">
                    <a16:creationId xmlns:a16="http://schemas.microsoft.com/office/drawing/2014/main" id="{4071E142-EEC2-1C66-4091-8996A44C1873}"/>
                  </a:ext>
                </a:extLst>
              </p:cNvPr>
              <p:cNvSpPr/>
              <p:nvPr/>
            </p:nvSpPr>
            <p:spPr>
              <a:xfrm>
                <a:off x="2227448" y="1830802"/>
                <a:ext cx="176728" cy="107842"/>
              </a:xfrm>
              <a:prstGeom prst="don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3" name="TextBox 92">
                <a:extLst>
                  <a:ext uri="{FF2B5EF4-FFF2-40B4-BE49-F238E27FC236}">
                    <a16:creationId xmlns:a16="http://schemas.microsoft.com/office/drawing/2014/main" id="{43A29F98-9897-FC0B-294B-7A420ED1CD90}"/>
                  </a:ext>
                </a:extLst>
              </p:cNvPr>
              <p:cNvSpPr txBox="1"/>
              <p:nvPr/>
            </p:nvSpPr>
            <p:spPr>
              <a:xfrm>
                <a:off x="5419870" y="1939817"/>
                <a:ext cx="6767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Sep 24</a:t>
                </a:r>
              </a:p>
            </p:txBody>
          </p:sp>
          <p:sp>
            <p:nvSpPr>
              <p:cNvPr id="94" name="Circle: Hollow 93">
                <a:extLst>
                  <a:ext uri="{FF2B5EF4-FFF2-40B4-BE49-F238E27FC236}">
                    <a16:creationId xmlns:a16="http://schemas.microsoft.com/office/drawing/2014/main" id="{AD6B0A7B-E579-78B5-98DE-E17F46CBA9D1}"/>
                  </a:ext>
                </a:extLst>
              </p:cNvPr>
              <p:cNvSpPr/>
              <p:nvPr/>
            </p:nvSpPr>
            <p:spPr>
              <a:xfrm>
                <a:off x="5608828" y="1830802"/>
                <a:ext cx="176728" cy="107842"/>
              </a:xfrm>
              <a:prstGeom prst="don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80D4B506-E990-0E8F-7424-908082C125CE}"/>
                  </a:ext>
                </a:extLst>
              </p:cNvPr>
              <p:cNvSpPr txBox="1"/>
              <p:nvPr/>
            </p:nvSpPr>
            <p:spPr>
              <a:xfrm>
                <a:off x="3582125" y="1939817"/>
                <a:ext cx="67037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July 24</a:t>
                </a:r>
              </a:p>
            </p:txBody>
          </p:sp>
          <p:sp>
            <p:nvSpPr>
              <p:cNvPr id="96" name="Circle: Hollow 95">
                <a:extLst>
                  <a:ext uri="{FF2B5EF4-FFF2-40B4-BE49-F238E27FC236}">
                    <a16:creationId xmlns:a16="http://schemas.microsoft.com/office/drawing/2014/main" id="{AD969F9F-AACF-071B-9D45-B8F8E0010307}"/>
                  </a:ext>
                </a:extLst>
              </p:cNvPr>
              <p:cNvSpPr/>
              <p:nvPr/>
            </p:nvSpPr>
            <p:spPr>
              <a:xfrm>
                <a:off x="3771083" y="1830802"/>
                <a:ext cx="176728" cy="107842"/>
              </a:xfrm>
              <a:prstGeom prst="don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9ACEBD76-C5DA-19B8-5924-9D471F5C7D5C}"/>
                  </a:ext>
                </a:extLst>
              </p:cNvPr>
              <p:cNvSpPr txBox="1"/>
              <p:nvPr/>
            </p:nvSpPr>
            <p:spPr>
              <a:xfrm>
                <a:off x="4269117" y="1942602"/>
                <a:ext cx="69923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Aug 24</a:t>
                </a:r>
              </a:p>
            </p:txBody>
          </p:sp>
          <p:sp>
            <p:nvSpPr>
              <p:cNvPr id="98" name="Circle: Hollow 97">
                <a:extLst>
                  <a:ext uri="{FF2B5EF4-FFF2-40B4-BE49-F238E27FC236}">
                    <a16:creationId xmlns:a16="http://schemas.microsoft.com/office/drawing/2014/main" id="{335A576C-9877-DC89-8A88-A9A98FF37D1D}"/>
                  </a:ext>
                </a:extLst>
              </p:cNvPr>
              <p:cNvSpPr/>
              <p:nvPr/>
            </p:nvSpPr>
            <p:spPr>
              <a:xfrm>
                <a:off x="4458075" y="1833587"/>
                <a:ext cx="176728" cy="107842"/>
              </a:xfrm>
              <a:prstGeom prst="don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9262041D-EFB6-A49B-5DF4-64951375A202}"/>
                  </a:ext>
                </a:extLst>
              </p:cNvPr>
              <p:cNvSpPr txBox="1"/>
              <p:nvPr/>
            </p:nvSpPr>
            <p:spPr>
              <a:xfrm>
                <a:off x="8160567" y="1933556"/>
                <a:ext cx="6543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Oct 24</a:t>
                </a:r>
              </a:p>
            </p:txBody>
          </p:sp>
          <p:sp>
            <p:nvSpPr>
              <p:cNvPr id="100" name="Circle: Hollow 99">
                <a:extLst>
                  <a:ext uri="{FF2B5EF4-FFF2-40B4-BE49-F238E27FC236}">
                    <a16:creationId xmlns:a16="http://schemas.microsoft.com/office/drawing/2014/main" id="{D61B8262-1B55-E759-4DD9-2583E35F3F9D}"/>
                  </a:ext>
                </a:extLst>
              </p:cNvPr>
              <p:cNvSpPr/>
              <p:nvPr/>
            </p:nvSpPr>
            <p:spPr>
              <a:xfrm>
                <a:off x="8349525" y="1824541"/>
                <a:ext cx="176728" cy="107842"/>
              </a:xfrm>
              <a:prstGeom prst="don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xtBox 100">
                <a:extLst>
                  <a:ext uri="{FF2B5EF4-FFF2-40B4-BE49-F238E27FC236}">
                    <a16:creationId xmlns:a16="http://schemas.microsoft.com/office/drawing/2014/main" id="{B5E4540E-9CF9-38EF-F4D2-C24CC9BE9EED}"/>
                  </a:ext>
                </a:extLst>
              </p:cNvPr>
              <p:cNvSpPr txBox="1"/>
              <p:nvPr/>
            </p:nvSpPr>
            <p:spPr>
              <a:xfrm>
                <a:off x="10010118" y="1922923"/>
                <a:ext cx="68800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200" dirty="0"/>
                  <a:t>Nov 24</a:t>
                </a:r>
              </a:p>
            </p:txBody>
          </p:sp>
          <p:sp>
            <p:nvSpPr>
              <p:cNvPr id="102" name="Circle: Hollow 101">
                <a:extLst>
                  <a:ext uri="{FF2B5EF4-FFF2-40B4-BE49-F238E27FC236}">
                    <a16:creationId xmlns:a16="http://schemas.microsoft.com/office/drawing/2014/main" id="{52053EBA-0E6F-44E3-9454-AE56D18EFACC}"/>
                  </a:ext>
                </a:extLst>
              </p:cNvPr>
              <p:cNvSpPr/>
              <p:nvPr/>
            </p:nvSpPr>
            <p:spPr>
              <a:xfrm>
                <a:off x="10199076" y="1813908"/>
                <a:ext cx="176728" cy="107842"/>
              </a:xfrm>
              <a:prstGeom prst="donu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E0D94503-6D3F-22A6-B1D8-37A916A83349}"/>
                  </a:ext>
                </a:extLst>
              </p:cNvPr>
              <p:cNvSpPr txBox="1"/>
              <p:nvPr/>
            </p:nvSpPr>
            <p:spPr>
              <a:xfrm>
                <a:off x="282471" y="2247632"/>
                <a:ext cx="93006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dirty="0"/>
                  <a:t>Progress</a:t>
                </a:r>
              </a:p>
            </p:txBody>
          </p:sp>
          <p:sp>
            <p:nvSpPr>
              <p:cNvPr id="104" name="Arrow: Down 103">
                <a:extLst>
                  <a:ext uri="{FF2B5EF4-FFF2-40B4-BE49-F238E27FC236}">
                    <a16:creationId xmlns:a16="http://schemas.microsoft.com/office/drawing/2014/main" id="{42CBD3E4-BAF0-27FE-7161-133B707C9C10}"/>
                  </a:ext>
                </a:extLst>
              </p:cNvPr>
              <p:cNvSpPr/>
              <p:nvPr/>
            </p:nvSpPr>
            <p:spPr>
              <a:xfrm rot="16200000">
                <a:off x="1264699" y="2303460"/>
                <a:ext cx="100078" cy="176728"/>
              </a:xfrm>
              <a:prstGeom prst="downArrow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5" name="Rectangle: Rounded Corners 104">
                <a:extLst>
                  <a:ext uri="{FF2B5EF4-FFF2-40B4-BE49-F238E27FC236}">
                    <a16:creationId xmlns:a16="http://schemas.microsoft.com/office/drawing/2014/main" id="{DA61C810-4909-BB36-EEF0-6341D9C6FEDE}"/>
                  </a:ext>
                </a:extLst>
              </p:cNvPr>
              <p:cNvSpPr/>
              <p:nvPr/>
            </p:nvSpPr>
            <p:spPr>
              <a:xfrm>
                <a:off x="1643379" y="2237934"/>
                <a:ext cx="9696893" cy="30777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6" name="Rectangle: Rounded Corners 105">
                <a:extLst>
                  <a:ext uri="{FF2B5EF4-FFF2-40B4-BE49-F238E27FC236}">
                    <a16:creationId xmlns:a16="http://schemas.microsoft.com/office/drawing/2014/main" id="{CAC67240-C82B-34BE-9D07-C473AB43B915}"/>
                  </a:ext>
                </a:extLst>
              </p:cNvPr>
              <p:cNvSpPr/>
              <p:nvPr/>
            </p:nvSpPr>
            <p:spPr>
              <a:xfrm>
                <a:off x="1685910" y="2285175"/>
                <a:ext cx="4911688" cy="208733"/>
              </a:xfrm>
              <a:prstGeom prst="round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07" name="TextBox 106">
                <a:extLst>
                  <a:ext uri="{FF2B5EF4-FFF2-40B4-BE49-F238E27FC236}">
                    <a16:creationId xmlns:a16="http://schemas.microsoft.com/office/drawing/2014/main" id="{74B6BAE6-7D7F-BC60-7880-180597F0C2B7}"/>
                  </a:ext>
                </a:extLst>
              </p:cNvPr>
              <p:cNvSpPr txBox="1"/>
              <p:nvPr/>
            </p:nvSpPr>
            <p:spPr>
              <a:xfrm>
                <a:off x="174245" y="3824924"/>
                <a:ext cx="1465719" cy="324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1400" b="1" dirty="0"/>
                  <a:t>PeopleStrong</a:t>
                </a:r>
              </a:p>
            </p:txBody>
          </p: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6214CB2E-0F1D-4EB7-900C-A33EC96133D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662216" y="3978813"/>
                <a:ext cx="9696893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9" name="Flowchart: Connector 108">
                <a:extLst>
                  <a:ext uri="{FF2B5EF4-FFF2-40B4-BE49-F238E27FC236}">
                    <a16:creationId xmlns:a16="http://schemas.microsoft.com/office/drawing/2014/main" id="{A92183E3-E148-AA8D-C57E-3D6430679F80}"/>
                  </a:ext>
                </a:extLst>
              </p:cNvPr>
              <p:cNvSpPr/>
              <p:nvPr/>
            </p:nvSpPr>
            <p:spPr>
              <a:xfrm>
                <a:off x="2053033" y="3901869"/>
                <a:ext cx="142400" cy="153888"/>
              </a:xfrm>
              <a:prstGeom prst="flowChartConnector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10" name="Straight Arrow Connector 109">
                <a:extLst>
                  <a:ext uri="{FF2B5EF4-FFF2-40B4-BE49-F238E27FC236}">
                    <a16:creationId xmlns:a16="http://schemas.microsoft.com/office/drawing/2014/main" id="{17B3712C-BB6D-573D-64DE-E7DF011432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17097" y="3292269"/>
                <a:ext cx="0" cy="6096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36994455-2857-4183-74FA-1AB6B6CB4237}"/>
                  </a:ext>
                </a:extLst>
              </p:cNvPr>
              <p:cNvSpPr txBox="1"/>
              <p:nvPr/>
            </p:nvSpPr>
            <p:spPr>
              <a:xfrm>
                <a:off x="1635116" y="2923238"/>
                <a:ext cx="1101324" cy="74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Discovery Workshops &amp; End State Agreement</a:t>
                </a:r>
              </a:p>
              <a:p>
                <a:r>
                  <a:rPr lang="en-IN" sz="800" dirty="0"/>
                  <a:t>(6</a:t>
                </a:r>
                <a:r>
                  <a:rPr lang="en-IN" sz="800" baseline="30000" dirty="0"/>
                  <a:t>th</a:t>
                </a:r>
                <a:r>
                  <a:rPr lang="en-IN" sz="800" dirty="0"/>
                  <a:t> May)</a:t>
                </a:r>
              </a:p>
            </p:txBody>
          </p:sp>
          <p:sp>
            <p:nvSpPr>
              <p:cNvPr id="112" name="Flowchart: Connector 111">
                <a:extLst>
                  <a:ext uri="{FF2B5EF4-FFF2-40B4-BE49-F238E27FC236}">
                    <a16:creationId xmlns:a16="http://schemas.microsoft.com/office/drawing/2014/main" id="{2572C87F-BF8F-8315-EBA9-9FBB3E011F5C}"/>
                  </a:ext>
                </a:extLst>
              </p:cNvPr>
              <p:cNvSpPr/>
              <p:nvPr/>
            </p:nvSpPr>
            <p:spPr>
              <a:xfrm>
                <a:off x="5090021" y="3901868"/>
                <a:ext cx="142400" cy="153888"/>
              </a:xfrm>
              <a:prstGeom prst="flowChartConnector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A3C761A3-CD3D-3927-1FB3-62B4614A1B7C}"/>
                  </a:ext>
                </a:extLst>
              </p:cNvPr>
              <p:cNvSpPr txBox="1"/>
              <p:nvPr/>
            </p:nvSpPr>
            <p:spPr>
              <a:xfrm>
                <a:off x="4451913" y="3041914"/>
                <a:ext cx="1057735" cy="876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Finalize data migration &amp; payroll processing  approach</a:t>
                </a:r>
              </a:p>
              <a:p>
                <a:r>
                  <a:rPr lang="en-IN" sz="800" dirty="0"/>
                  <a:t>(26</a:t>
                </a:r>
                <a:r>
                  <a:rPr lang="en-IN" sz="800" baseline="30000" dirty="0"/>
                  <a:t>th</a:t>
                </a:r>
                <a:r>
                  <a:rPr lang="en-IN" sz="800" dirty="0"/>
                  <a:t> Aug)</a:t>
                </a:r>
              </a:p>
            </p:txBody>
          </p:sp>
          <p:sp>
            <p:nvSpPr>
              <p:cNvPr id="114" name="Flowchart: Connector 113">
                <a:extLst>
                  <a:ext uri="{FF2B5EF4-FFF2-40B4-BE49-F238E27FC236}">
                    <a16:creationId xmlns:a16="http://schemas.microsoft.com/office/drawing/2014/main" id="{9166FADA-B593-F72B-6FC6-08FA294484E9}"/>
                  </a:ext>
                </a:extLst>
              </p:cNvPr>
              <p:cNvSpPr/>
              <p:nvPr/>
            </p:nvSpPr>
            <p:spPr>
              <a:xfrm>
                <a:off x="3220336" y="3918158"/>
                <a:ext cx="142400" cy="153888"/>
              </a:xfrm>
              <a:prstGeom prst="flowChartConnector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15" name="Straight Arrow Connector 114">
                <a:extLst>
                  <a:ext uri="{FF2B5EF4-FFF2-40B4-BE49-F238E27FC236}">
                    <a16:creationId xmlns:a16="http://schemas.microsoft.com/office/drawing/2014/main" id="{E7383A60-6AD4-38DC-7836-1307CB8183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1536" y="3300266"/>
                <a:ext cx="0" cy="60960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5CECF892-0BE6-33C7-A6CC-CC149B2A005F}"/>
                  </a:ext>
                </a:extLst>
              </p:cNvPr>
              <p:cNvSpPr txBox="1"/>
              <p:nvPr/>
            </p:nvSpPr>
            <p:spPr>
              <a:xfrm>
                <a:off x="2714447" y="2814455"/>
                <a:ext cx="1155649" cy="74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Finalize UK-AI Data Mapping &amp; Transformation requirements</a:t>
                </a:r>
              </a:p>
              <a:p>
                <a:r>
                  <a:rPr lang="en-IN" sz="800" dirty="0"/>
                  <a:t>(25</a:t>
                </a:r>
                <a:r>
                  <a:rPr lang="en-IN" sz="800" baseline="30000" dirty="0"/>
                  <a:t>th</a:t>
                </a:r>
                <a:r>
                  <a:rPr lang="en-IN" sz="800" dirty="0"/>
                  <a:t> June)</a:t>
                </a:r>
              </a:p>
            </p:txBody>
          </p:sp>
          <p:sp>
            <p:nvSpPr>
              <p:cNvPr id="117" name="Flowchart: Connector 116">
                <a:extLst>
                  <a:ext uri="{FF2B5EF4-FFF2-40B4-BE49-F238E27FC236}">
                    <a16:creationId xmlns:a16="http://schemas.microsoft.com/office/drawing/2014/main" id="{43DE1AA5-A975-B7CE-6E5F-174D678A681A}"/>
                  </a:ext>
                </a:extLst>
              </p:cNvPr>
              <p:cNvSpPr/>
              <p:nvPr/>
            </p:nvSpPr>
            <p:spPr>
              <a:xfrm>
                <a:off x="3676404" y="3919372"/>
                <a:ext cx="142400" cy="153888"/>
              </a:xfrm>
              <a:prstGeom prst="flowChartConnector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18" name="TextBox 117">
                <a:extLst>
                  <a:ext uri="{FF2B5EF4-FFF2-40B4-BE49-F238E27FC236}">
                    <a16:creationId xmlns:a16="http://schemas.microsoft.com/office/drawing/2014/main" id="{15024F9F-8EC1-188E-6194-A15CF7DD6E4E}"/>
                  </a:ext>
                </a:extLst>
              </p:cNvPr>
              <p:cNvSpPr txBox="1"/>
              <p:nvPr/>
            </p:nvSpPr>
            <p:spPr>
              <a:xfrm>
                <a:off x="3220336" y="4384163"/>
                <a:ext cx="1237737" cy="616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HR to share UK Pay structures &amp; components</a:t>
                </a:r>
              </a:p>
              <a:p>
                <a:r>
                  <a:rPr lang="en-IN" sz="800" dirty="0"/>
                  <a:t>(27</a:t>
                </a:r>
                <a:r>
                  <a:rPr lang="en-IN" sz="800" baseline="30000" dirty="0"/>
                  <a:t>th</a:t>
                </a:r>
                <a:r>
                  <a:rPr lang="en-IN" sz="800" dirty="0"/>
                  <a:t> June)</a:t>
                </a:r>
              </a:p>
            </p:txBody>
          </p:sp>
          <p:cxnSp>
            <p:nvCxnSpPr>
              <p:cNvPr id="119" name="Straight Arrow Connector 118">
                <a:extLst>
                  <a:ext uri="{FF2B5EF4-FFF2-40B4-BE49-F238E27FC236}">
                    <a16:creationId xmlns:a16="http://schemas.microsoft.com/office/drawing/2014/main" id="{02C2D8A6-62EF-83AB-7FEF-C6A5A64E8EB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738432" y="4103132"/>
                <a:ext cx="0" cy="2908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0" name="TextBox 119">
                <a:extLst>
                  <a:ext uri="{FF2B5EF4-FFF2-40B4-BE49-F238E27FC236}">
                    <a16:creationId xmlns:a16="http://schemas.microsoft.com/office/drawing/2014/main" id="{B8B97930-E791-FDD3-5105-85A79E6FBEA0}"/>
                  </a:ext>
                </a:extLst>
              </p:cNvPr>
              <p:cNvSpPr txBox="1"/>
              <p:nvPr/>
            </p:nvSpPr>
            <p:spPr>
              <a:xfrm>
                <a:off x="5094741" y="4370310"/>
                <a:ext cx="913617" cy="7463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Contract Signing of PS License contract</a:t>
                </a:r>
              </a:p>
              <a:p>
                <a:r>
                  <a:rPr lang="en-IN" sz="800" dirty="0"/>
                  <a:t>(4</a:t>
                </a:r>
                <a:r>
                  <a:rPr lang="en-IN" sz="800" baseline="30000" dirty="0"/>
                  <a:t>th</a:t>
                </a:r>
                <a:r>
                  <a:rPr lang="en-IN" sz="800" dirty="0"/>
                  <a:t> Sep)</a:t>
                </a:r>
              </a:p>
            </p:txBody>
          </p:sp>
          <p:sp>
            <p:nvSpPr>
              <p:cNvPr id="121" name="Flowchart: Connector 120">
                <a:extLst>
                  <a:ext uri="{FF2B5EF4-FFF2-40B4-BE49-F238E27FC236}">
                    <a16:creationId xmlns:a16="http://schemas.microsoft.com/office/drawing/2014/main" id="{775CFA7C-5E60-5DC1-23C6-F7117209F7FB}"/>
                  </a:ext>
                </a:extLst>
              </p:cNvPr>
              <p:cNvSpPr/>
              <p:nvPr/>
            </p:nvSpPr>
            <p:spPr>
              <a:xfrm>
                <a:off x="7016439" y="3918224"/>
                <a:ext cx="142400" cy="153888"/>
              </a:xfrm>
              <a:prstGeom prst="flowChartConnector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22" name="Straight Arrow Connector 121">
                <a:extLst>
                  <a:ext uri="{FF2B5EF4-FFF2-40B4-BE49-F238E27FC236}">
                    <a16:creationId xmlns:a16="http://schemas.microsoft.com/office/drawing/2014/main" id="{F5E24492-6CEB-CCBB-5D89-E4FA506BDDB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67916" y="3316870"/>
                <a:ext cx="0" cy="55954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A0AB6A90-6855-013F-FF5C-94D6C459F1A8}"/>
                  </a:ext>
                </a:extLst>
              </p:cNvPr>
              <p:cNvSpPr txBox="1"/>
              <p:nvPr/>
            </p:nvSpPr>
            <p:spPr>
              <a:xfrm>
                <a:off x="6758580" y="3126255"/>
                <a:ext cx="869665" cy="35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End </a:t>
                </a:r>
                <a:br>
                  <a:rPr lang="en-IN" sz="800" dirty="0"/>
                </a:br>
                <a:r>
                  <a:rPr lang="en-IN" sz="800" dirty="0"/>
                  <a:t>(20</a:t>
                </a:r>
                <a:r>
                  <a:rPr lang="en-IN" sz="800" baseline="30000" dirty="0"/>
                  <a:t>th</a:t>
                </a:r>
                <a:r>
                  <a:rPr lang="en-IN" sz="800" dirty="0"/>
                  <a:t> Sep)</a:t>
                </a:r>
              </a:p>
            </p:txBody>
          </p:sp>
          <p:cxnSp>
            <p:nvCxnSpPr>
              <p:cNvPr id="124" name="Straight Arrow Connector 123">
                <a:extLst>
                  <a:ext uri="{FF2B5EF4-FFF2-40B4-BE49-F238E27FC236}">
                    <a16:creationId xmlns:a16="http://schemas.microsoft.com/office/drawing/2014/main" id="{70B9C34E-7E3C-7B4A-1212-228F9E8EC73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34376" y="4070352"/>
                <a:ext cx="0" cy="30794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5" name="Flowchart: Connector 124">
                <a:extLst>
                  <a:ext uri="{FF2B5EF4-FFF2-40B4-BE49-F238E27FC236}">
                    <a16:creationId xmlns:a16="http://schemas.microsoft.com/office/drawing/2014/main" id="{9B1780E7-7384-9F53-DF98-DE091FCDE380}"/>
                  </a:ext>
                </a:extLst>
              </p:cNvPr>
              <p:cNvSpPr/>
              <p:nvPr/>
            </p:nvSpPr>
            <p:spPr>
              <a:xfrm>
                <a:off x="6157662" y="3910637"/>
                <a:ext cx="142400" cy="153888"/>
              </a:xfrm>
              <a:prstGeom prst="flowChartConnector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26" name="Straight Arrow Connector 125">
                <a:extLst>
                  <a:ext uri="{FF2B5EF4-FFF2-40B4-BE49-F238E27FC236}">
                    <a16:creationId xmlns:a16="http://schemas.microsoft.com/office/drawing/2014/main" id="{29227A30-E676-E51E-E26D-A023DABB1FC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19265" y="3329435"/>
                <a:ext cx="6022" cy="58069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27" name="TextBox 126">
                <a:extLst>
                  <a:ext uri="{FF2B5EF4-FFF2-40B4-BE49-F238E27FC236}">
                    <a16:creationId xmlns:a16="http://schemas.microsoft.com/office/drawing/2014/main" id="{3573246B-3E28-F1FD-051F-5417ADD0E2C4}"/>
                  </a:ext>
                </a:extLst>
              </p:cNvPr>
              <p:cNvSpPr txBox="1"/>
              <p:nvPr/>
            </p:nvSpPr>
            <p:spPr>
              <a:xfrm>
                <a:off x="5924044" y="3135083"/>
                <a:ext cx="727729" cy="35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Start </a:t>
                </a:r>
                <a:br>
                  <a:rPr lang="en-IN" sz="800" dirty="0"/>
                </a:br>
                <a:r>
                  <a:rPr lang="en-IN" sz="800" dirty="0"/>
                  <a:t>(6</a:t>
                </a:r>
                <a:r>
                  <a:rPr lang="en-IN" sz="800" baseline="30000" dirty="0"/>
                  <a:t>th</a:t>
                </a:r>
                <a:r>
                  <a:rPr lang="en-IN" sz="800" dirty="0"/>
                  <a:t> Sep)</a:t>
                </a:r>
              </a:p>
            </p:txBody>
          </p:sp>
          <p:cxnSp>
            <p:nvCxnSpPr>
              <p:cNvPr id="128" name="Straight Arrow Connector 127">
                <a:extLst>
                  <a:ext uri="{FF2B5EF4-FFF2-40B4-BE49-F238E27FC236}">
                    <a16:creationId xmlns:a16="http://schemas.microsoft.com/office/drawing/2014/main" id="{264C310A-6FE4-77D8-8C4A-0A2CBF73791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34628" y="3430771"/>
                <a:ext cx="745235" cy="0"/>
              </a:xfrm>
              <a:prstGeom prst="straightConnector1">
                <a:avLst/>
              </a:prstGeom>
              <a:ln>
                <a:prstDash val="lgDashDot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9" name="Flowchart: Connector 128">
                <a:extLst>
                  <a:ext uri="{FF2B5EF4-FFF2-40B4-BE49-F238E27FC236}">
                    <a16:creationId xmlns:a16="http://schemas.microsoft.com/office/drawing/2014/main" id="{D21F724C-2B51-FAE3-0A86-E829B1FDE110}"/>
                  </a:ext>
                </a:extLst>
              </p:cNvPr>
              <p:cNvSpPr/>
              <p:nvPr/>
            </p:nvSpPr>
            <p:spPr>
              <a:xfrm>
                <a:off x="9034658" y="3889222"/>
                <a:ext cx="142400" cy="153888"/>
              </a:xfrm>
              <a:prstGeom prst="flowChartConnector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0" name="Straight Arrow Connector 129">
                <a:extLst>
                  <a:ext uri="{FF2B5EF4-FFF2-40B4-BE49-F238E27FC236}">
                    <a16:creationId xmlns:a16="http://schemas.microsoft.com/office/drawing/2014/main" id="{FAF85711-CD99-E044-74BF-227C4FA452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092916" y="3450424"/>
                <a:ext cx="5460" cy="3880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E08F5D8F-1780-A9DA-E2D8-11B6D159F8E9}"/>
                  </a:ext>
                </a:extLst>
              </p:cNvPr>
              <p:cNvSpPr txBox="1"/>
              <p:nvPr/>
            </p:nvSpPr>
            <p:spPr>
              <a:xfrm>
                <a:off x="8761563" y="3223751"/>
                <a:ext cx="785900" cy="35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Start</a:t>
                </a:r>
              </a:p>
              <a:p>
                <a:r>
                  <a:rPr lang="en-IN" sz="800" dirty="0"/>
                  <a:t>(3</a:t>
                </a:r>
                <a:r>
                  <a:rPr lang="en-IN" sz="800" baseline="30000" dirty="0"/>
                  <a:t>rd</a:t>
                </a:r>
                <a:r>
                  <a:rPr lang="en-IN" sz="800" dirty="0"/>
                  <a:t> Oct)</a:t>
                </a:r>
              </a:p>
            </p:txBody>
          </p:sp>
          <p:sp>
            <p:nvSpPr>
              <p:cNvPr id="132" name="Flowchart: Connector 131">
                <a:extLst>
                  <a:ext uri="{FF2B5EF4-FFF2-40B4-BE49-F238E27FC236}">
                    <a16:creationId xmlns:a16="http://schemas.microsoft.com/office/drawing/2014/main" id="{A3173090-96F0-CB59-C9A8-FB6CBB6E67E8}"/>
                  </a:ext>
                </a:extLst>
              </p:cNvPr>
              <p:cNvSpPr/>
              <p:nvPr/>
            </p:nvSpPr>
            <p:spPr>
              <a:xfrm>
                <a:off x="9508843" y="3890545"/>
                <a:ext cx="142400" cy="153888"/>
              </a:xfrm>
              <a:prstGeom prst="flowChartConnector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33" name="Straight Arrow Connector 132">
                <a:extLst>
                  <a:ext uri="{FF2B5EF4-FFF2-40B4-BE49-F238E27FC236}">
                    <a16:creationId xmlns:a16="http://schemas.microsoft.com/office/drawing/2014/main" id="{B4E8C71A-9F9B-2B29-C3E3-550516EE88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567101" y="3466259"/>
                <a:ext cx="5460" cy="3880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F114E43B-07E8-E9F0-4B4A-D8788439B6E9}"/>
                  </a:ext>
                </a:extLst>
              </p:cNvPr>
              <p:cNvSpPr txBox="1"/>
              <p:nvPr/>
            </p:nvSpPr>
            <p:spPr>
              <a:xfrm>
                <a:off x="9336144" y="3235451"/>
                <a:ext cx="749931" cy="35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End</a:t>
                </a:r>
              </a:p>
              <a:p>
                <a:r>
                  <a:rPr lang="en-IN" sz="800" dirty="0"/>
                  <a:t>(16</a:t>
                </a:r>
                <a:r>
                  <a:rPr lang="en-IN" sz="800" baseline="30000" dirty="0"/>
                  <a:t>th</a:t>
                </a:r>
                <a:r>
                  <a:rPr lang="en-IN" sz="800" dirty="0"/>
                  <a:t> Oct)</a:t>
                </a:r>
              </a:p>
            </p:txBody>
          </p:sp>
          <p:cxnSp>
            <p:nvCxnSpPr>
              <p:cNvPr id="135" name="Straight Arrow Connector 134">
                <a:extLst>
                  <a:ext uri="{FF2B5EF4-FFF2-40B4-BE49-F238E27FC236}">
                    <a16:creationId xmlns:a16="http://schemas.microsoft.com/office/drawing/2014/main" id="{39686A72-E2EE-B046-F283-DA988A6602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9134197" y="3613215"/>
                <a:ext cx="374646" cy="5916"/>
              </a:xfrm>
              <a:prstGeom prst="straightConnector1">
                <a:avLst/>
              </a:prstGeom>
              <a:ln>
                <a:prstDash val="lgDashDot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9" name="Flowchart: Connector 138">
                <a:extLst>
                  <a:ext uri="{FF2B5EF4-FFF2-40B4-BE49-F238E27FC236}">
                    <a16:creationId xmlns:a16="http://schemas.microsoft.com/office/drawing/2014/main" id="{B5A8AF4B-501B-4631-B6D0-0A9FDF5F71CA}"/>
                  </a:ext>
                </a:extLst>
              </p:cNvPr>
              <p:cNvSpPr/>
              <p:nvPr/>
            </p:nvSpPr>
            <p:spPr>
              <a:xfrm>
                <a:off x="10118090" y="3894762"/>
                <a:ext cx="142400" cy="153888"/>
              </a:xfrm>
              <a:prstGeom prst="flowChartConnector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 dirty="0"/>
              </a:p>
            </p:txBody>
          </p:sp>
          <p:sp>
            <p:nvSpPr>
              <p:cNvPr id="140" name="TextBox 139">
                <a:extLst>
                  <a:ext uri="{FF2B5EF4-FFF2-40B4-BE49-F238E27FC236}">
                    <a16:creationId xmlns:a16="http://schemas.microsoft.com/office/drawing/2014/main" id="{F9A1C68E-F673-EEE1-7BE0-EEED706A3B4C}"/>
                  </a:ext>
                </a:extLst>
              </p:cNvPr>
              <p:cNvSpPr txBox="1"/>
              <p:nvPr/>
            </p:nvSpPr>
            <p:spPr>
              <a:xfrm>
                <a:off x="10010118" y="4356306"/>
                <a:ext cx="1240228" cy="6165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Historical payroll data migration completion</a:t>
                </a:r>
              </a:p>
              <a:p>
                <a:r>
                  <a:rPr lang="en-IN" sz="800" dirty="0"/>
                  <a:t>(31</a:t>
                </a:r>
                <a:r>
                  <a:rPr lang="en-IN" sz="800" baseline="30000" dirty="0"/>
                  <a:t>st</a:t>
                </a:r>
                <a:r>
                  <a:rPr lang="en-IN" sz="800" dirty="0"/>
                  <a:t> Oct)</a:t>
                </a:r>
              </a:p>
            </p:txBody>
          </p:sp>
          <p:sp>
            <p:nvSpPr>
              <p:cNvPr id="141" name="Flowchart: Connector 140">
                <a:extLst>
                  <a:ext uri="{FF2B5EF4-FFF2-40B4-BE49-F238E27FC236}">
                    <a16:creationId xmlns:a16="http://schemas.microsoft.com/office/drawing/2014/main" id="{DE1FE0AB-B9E9-972E-DA3E-70AF9865E81B}"/>
                  </a:ext>
                </a:extLst>
              </p:cNvPr>
              <p:cNvSpPr/>
              <p:nvPr/>
            </p:nvSpPr>
            <p:spPr>
              <a:xfrm>
                <a:off x="11117321" y="3878596"/>
                <a:ext cx="142400" cy="153888"/>
              </a:xfrm>
              <a:prstGeom prst="flowChartConnector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42" name="TextBox 141">
                <a:extLst>
                  <a:ext uri="{FF2B5EF4-FFF2-40B4-BE49-F238E27FC236}">
                    <a16:creationId xmlns:a16="http://schemas.microsoft.com/office/drawing/2014/main" id="{3C1CD48D-C7D2-3978-192B-2B02A05B81BA}"/>
                  </a:ext>
                </a:extLst>
              </p:cNvPr>
              <p:cNvSpPr txBox="1"/>
              <p:nvPr/>
            </p:nvSpPr>
            <p:spPr>
              <a:xfrm>
                <a:off x="11135618" y="3247894"/>
                <a:ext cx="1129842" cy="48676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b="1" dirty="0">
                    <a:highlight>
                      <a:srgbClr val="FFFF00"/>
                    </a:highlight>
                  </a:rPr>
                  <a:t>Live Payroll Processing 12</a:t>
                </a:r>
                <a:r>
                  <a:rPr lang="en-IN" sz="800" b="1" baseline="30000" dirty="0">
                    <a:highlight>
                      <a:srgbClr val="FFFF00"/>
                    </a:highlight>
                  </a:rPr>
                  <a:t>th</a:t>
                </a:r>
                <a:r>
                  <a:rPr lang="en-IN" sz="800" b="1" dirty="0">
                    <a:highlight>
                      <a:srgbClr val="FFFF00"/>
                    </a:highlight>
                  </a:rPr>
                  <a:t> Nov onwards -&gt;</a:t>
                </a:r>
              </a:p>
            </p:txBody>
          </p:sp>
          <p:cxnSp>
            <p:nvCxnSpPr>
              <p:cNvPr id="143" name="Straight Arrow Connector 142">
                <a:extLst>
                  <a:ext uri="{FF2B5EF4-FFF2-40B4-BE49-F238E27FC236}">
                    <a16:creationId xmlns:a16="http://schemas.microsoft.com/office/drawing/2014/main" id="{8C823CF9-B31A-F209-18B2-91B03480188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0180146" y="4060247"/>
                <a:ext cx="0" cy="29081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4" name="Flowchart: Connector 143">
                <a:extLst>
                  <a:ext uri="{FF2B5EF4-FFF2-40B4-BE49-F238E27FC236}">
                    <a16:creationId xmlns:a16="http://schemas.microsoft.com/office/drawing/2014/main" id="{E49F26AA-D42D-6410-EE37-34CBBF2CC64E}"/>
                  </a:ext>
                </a:extLst>
              </p:cNvPr>
              <p:cNvSpPr/>
              <p:nvPr/>
            </p:nvSpPr>
            <p:spPr>
              <a:xfrm>
                <a:off x="10300765" y="3887857"/>
                <a:ext cx="142400" cy="153888"/>
              </a:xfrm>
              <a:prstGeom prst="flowChartConnector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45" name="Straight Arrow Connector 144">
                <a:extLst>
                  <a:ext uri="{FF2B5EF4-FFF2-40B4-BE49-F238E27FC236}">
                    <a16:creationId xmlns:a16="http://schemas.microsoft.com/office/drawing/2014/main" id="{6779E46B-A3E0-96E1-09B5-40CE73D9469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59023" y="3430771"/>
                <a:ext cx="5460" cy="3880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6" name="TextBox 145">
                <a:extLst>
                  <a:ext uri="{FF2B5EF4-FFF2-40B4-BE49-F238E27FC236}">
                    <a16:creationId xmlns:a16="http://schemas.microsoft.com/office/drawing/2014/main" id="{828A420A-D04F-8400-C856-12B22A07759B}"/>
                  </a:ext>
                </a:extLst>
              </p:cNvPr>
              <p:cNvSpPr txBox="1"/>
              <p:nvPr/>
            </p:nvSpPr>
            <p:spPr>
              <a:xfrm>
                <a:off x="10041286" y="3210798"/>
                <a:ext cx="715718" cy="35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Start</a:t>
                </a:r>
              </a:p>
              <a:p>
                <a:r>
                  <a:rPr lang="en-IN" sz="800" dirty="0"/>
                  <a:t>(1</a:t>
                </a:r>
                <a:r>
                  <a:rPr lang="en-IN" sz="800" baseline="30000" dirty="0"/>
                  <a:t>st</a:t>
                </a:r>
                <a:r>
                  <a:rPr lang="en-IN" sz="800" dirty="0"/>
                  <a:t> Nov)</a:t>
                </a:r>
              </a:p>
            </p:txBody>
          </p:sp>
          <p:sp>
            <p:nvSpPr>
              <p:cNvPr id="147" name="Flowchart: Connector 146">
                <a:extLst>
                  <a:ext uri="{FF2B5EF4-FFF2-40B4-BE49-F238E27FC236}">
                    <a16:creationId xmlns:a16="http://schemas.microsoft.com/office/drawing/2014/main" id="{55E9EFDD-A6DE-40A8-2CB5-96F5B9E37F7B}"/>
                  </a:ext>
                </a:extLst>
              </p:cNvPr>
              <p:cNvSpPr/>
              <p:nvPr/>
            </p:nvSpPr>
            <p:spPr>
              <a:xfrm>
                <a:off x="10709052" y="3877740"/>
                <a:ext cx="142400" cy="153888"/>
              </a:xfrm>
              <a:prstGeom prst="flowChartConnector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48" name="Straight Arrow Connector 147">
                <a:extLst>
                  <a:ext uri="{FF2B5EF4-FFF2-40B4-BE49-F238E27FC236}">
                    <a16:creationId xmlns:a16="http://schemas.microsoft.com/office/drawing/2014/main" id="{00D09147-C046-F6E6-E17F-52D06D61E03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785598" y="3426022"/>
                <a:ext cx="5460" cy="3880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9" name="TextBox 148">
                <a:extLst>
                  <a:ext uri="{FF2B5EF4-FFF2-40B4-BE49-F238E27FC236}">
                    <a16:creationId xmlns:a16="http://schemas.microsoft.com/office/drawing/2014/main" id="{7C8B58B6-B03B-649B-0F66-1B070B145649}"/>
                  </a:ext>
                </a:extLst>
              </p:cNvPr>
              <p:cNvSpPr txBox="1"/>
              <p:nvPr/>
            </p:nvSpPr>
            <p:spPr>
              <a:xfrm>
                <a:off x="10569657" y="3193767"/>
                <a:ext cx="722821" cy="35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End</a:t>
                </a:r>
              </a:p>
              <a:p>
                <a:r>
                  <a:rPr lang="en-IN" sz="800" dirty="0"/>
                  <a:t>(8</a:t>
                </a:r>
                <a:r>
                  <a:rPr lang="en-IN" sz="800" baseline="30000" dirty="0"/>
                  <a:t>th</a:t>
                </a:r>
                <a:r>
                  <a:rPr lang="en-IN" sz="800" dirty="0"/>
                  <a:t> Nov)</a:t>
                </a:r>
              </a:p>
            </p:txBody>
          </p:sp>
          <p:cxnSp>
            <p:nvCxnSpPr>
              <p:cNvPr id="150" name="Straight Arrow Connector 149">
                <a:extLst>
                  <a:ext uri="{FF2B5EF4-FFF2-40B4-BE49-F238E27FC236}">
                    <a16:creationId xmlns:a16="http://schemas.microsoft.com/office/drawing/2014/main" id="{55EDC2AF-A9AD-13BC-2060-E5E192598A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374297" y="3611448"/>
                <a:ext cx="402157" cy="7683"/>
              </a:xfrm>
              <a:prstGeom prst="straightConnector1">
                <a:avLst/>
              </a:prstGeom>
              <a:ln>
                <a:prstDash val="lgDashDot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Arrow Connector 153">
                <a:extLst>
                  <a:ext uri="{FF2B5EF4-FFF2-40B4-BE49-F238E27FC236}">
                    <a16:creationId xmlns:a16="http://schemas.microsoft.com/office/drawing/2014/main" id="{A00A1302-63C5-A9DB-206C-5154F41450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1184078" y="3426022"/>
                <a:ext cx="0" cy="454667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55" name="TextBox 154">
                <a:extLst>
                  <a:ext uri="{FF2B5EF4-FFF2-40B4-BE49-F238E27FC236}">
                    <a16:creationId xmlns:a16="http://schemas.microsoft.com/office/drawing/2014/main" id="{EF8552AD-A147-04C6-76C4-FFBC58996532}"/>
                  </a:ext>
                </a:extLst>
              </p:cNvPr>
              <p:cNvSpPr txBox="1"/>
              <p:nvPr/>
            </p:nvSpPr>
            <p:spPr>
              <a:xfrm>
                <a:off x="75112" y="2730113"/>
                <a:ext cx="1564852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400" b="1" dirty="0"/>
                  <a:t>HR Tech System</a:t>
                </a:r>
              </a:p>
            </p:txBody>
          </p:sp>
          <p:sp>
            <p:nvSpPr>
              <p:cNvPr id="156" name="Arrow: Down 155">
                <a:extLst>
                  <a:ext uri="{FF2B5EF4-FFF2-40B4-BE49-F238E27FC236}">
                    <a16:creationId xmlns:a16="http://schemas.microsoft.com/office/drawing/2014/main" id="{FB987802-665B-84D2-0451-7DEC848C80A2}"/>
                  </a:ext>
                </a:extLst>
              </p:cNvPr>
              <p:cNvSpPr/>
              <p:nvPr/>
            </p:nvSpPr>
            <p:spPr>
              <a:xfrm>
                <a:off x="772478" y="3037891"/>
                <a:ext cx="100078" cy="176728"/>
              </a:xfrm>
              <a:prstGeom prst="downArrow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7" name="Flowchart: Connector 156">
                <a:extLst>
                  <a:ext uri="{FF2B5EF4-FFF2-40B4-BE49-F238E27FC236}">
                    <a16:creationId xmlns:a16="http://schemas.microsoft.com/office/drawing/2014/main" id="{A0D826A5-EBFB-BDE5-0D64-853468E13749}"/>
                  </a:ext>
                </a:extLst>
              </p:cNvPr>
              <p:cNvSpPr/>
              <p:nvPr/>
            </p:nvSpPr>
            <p:spPr>
              <a:xfrm>
                <a:off x="5364290" y="3903363"/>
                <a:ext cx="142400" cy="153888"/>
              </a:xfrm>
              <a:prstGeom prst="flowChartConnector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158" name="Flowchart: Connector 157">
                <a:extLst>
                  <a:ext uri="{FF2B5EF4-FFF2-40B4-BE49-F238E27FC236}">
                    <a16:creationId xmlns:a16="http://schemas.microsoft.com/office/drawing/2014/main" id="{536578BD-B80F-C956-D705-655DC398DEDA}"/>
                  </a:ext>
                </a:extLst>
              </p:cNvPr>
              <p:cNvSpPr/>
              <p:nvPr/>
            </p:nvSpPr>
            <p:spPr>
              <a:xfrm>
                <a:off x="7754167" y="3890669"/>
                <a:ext cx="142400" cy="153888"/>
              </a:xfrm>
              <a:prstGeom prst="flowChartConnector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59" name="Straight Arrow Connector 158">
                <a:extLst>
                  <a:ext uri="{FF2B5EF4-FFF2-40B4-BE49-F238E27FC236}">
                    <a16:creationId xmlns:a16="http://schemas.microsoft.com/office/drawing/2014/main" id="{1FF55EF2-E27E-65C6-6AF3-F4A3F5B5F9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12425" y="3430101"/>
                <a:ext cx="5460" cy="3880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0" name="TextBox 159">
                <a:extLst>
                  <a:ext uri="{FF2B5EF4-FFF2-40B4-BE49-F238E27FC236}">
                    <a16:creationId xmlns:a16="http://schemas.microsoft.com/office/drawing/2014/main" id="{B4F71D60-AA10-DCF5-BD44-72B3A8AC29D6}"/>
                  </a:ext>
                </a:extLst>
              </p:cNvPr>
              <p:cNvSpPr txBox="1"/>
              <p:nvPr/>
            </p:nvSpPr>
            <p:spPr>
              <a:xfrm>
                <a:off x="7462457" y="3233897"/>
                <a:ext cx="785900" cy="35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Start</a:t>
                </a:r>
              </a:p>
              <a:p>
                <a:r>
                  <a:rPr lang="en-IN" sz="800" dirty="0"/>
                  <a:t>(23</a:t>
                </a:r>
                <a:r>
                  <a:rPr lang="en-IN" sz="800" baseline="30000" dirty="0"/>
                  <a:t>rd</a:t>
                </a:r>
                <a:r>
                  <a:rPr lang="en-IN" sz="800" dirty="0"/>
                  <a:t> Sep)</a:t>
                </a:r>
              </a:p>
            </p:txBody>
          </p:sp>
          <p:sp>
            <p:nvSpPr>
              <p:cNvPr id="161" name="Flowchart: Connector 160">
                <a:extLst>
                  <a:ext uri="{FF2B5EF4-FFF2-40B4-BE49-F238E27FC236}">
                    <a16:creationId xmlns:a16="http://schemas.microsoft.com/office/drawing/2014/main" id="{3E1E6033-F429-A68E-22DF-088D4821C926}"/>
                  </a:ext>
                </a:extLst>
              </p:cNvPr>
              <p:cNvSpPr/>
              <p:nvPr/>
            </p:nvSpPr>
            <p:spPr>
              <a:xfrm>
                <a:off x="8463182" y="3910655"/>
                <a:ext cx="142400" cy="153888"/>
              </a:xfrm>
              <a:prstGeom prst="flowChartConnector">
                <a:avLst/>
              </a:prstGeom>
              <a:solidFill>
                <a:srgbClr val="0070C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62" name="Straight Arrow Connector 161">
                <a:extLst>
                  <a:ext uri="{FF2B5EF4-FFF2-40B4-BE49-F238E27FC236}">
                    <a16:creationId xmlns:a16="http://schemas.microsoft.com/office/drawing/2014/main" id="{ED424576-6F3C-BC9E-34F3-04E1ECCA7E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521440" y="3464599"/>
                <a:ext cx="5460" cy="38802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63" name="TextBox 162">
                <a:extLst>
                  <a:ext uri="{FF2B5EF4-FFF2-40B4-BE49-F238E27FC236}">
                    <a16:creationId xmlns:a16="http://schemas.microsoft.com/office/drawing/2014/main" id="{AD541325-D111-4CC9-1A67-BB5DF60E3049}"/>
                  </a:ext>
                </a:extLst>
              </p:cNvPr>
              <p:cNvSpPr txBox="1"/>
              <p:nvPr/>
            </p:nvSpPr>
            <p:spPr>
              <a:xfrm>
                <a:off x="8194056" y="3267092"/>
                <a:ext cx="812601" cy="3569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800" dirty="0"/>
                  <a:t>End </a:t>
                </a:r>
                <a:br>
                  <a:rPr lang="en-IN" sz="800" dirty="0"/>
                </a:br>
                <a:r>
                  <a:rPr lang="en-IN" sz="800" dirty="0"/>
                  <a:t>(1</a:t>
                </a:r>
                <a:r>
                  <a:rPr lang="en-IN" sz="800" baseline="30000" dirty="0"/>
                  <a:t>st</a:t>
                </a:r>
                <a:r>
                  <a:rPr lang="en-IN" sz="800" dirty="0"/>
                  <a:t> Oct)</a:t>
                </a:r>
              </a:p>
            </p:txBody>
          </p:sp>
          <p:cxnSp>
            <p:nvCxnSpPr>
              <p:cNvPr id="164" name="Straight Arrow Connector 163">
                <a:extLst>
                  <a:ext uri="{FF2B5EF4-FFF2-40B4-BE49-F238E27FC236}">
                    <a16:creationId xmlns:a16="http://schemas.microsoft.com/office/drawing/2014/main" id="{9E3AECDD-36BE-E5C8-B5D6-175945C9998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844562" y="3592892"/>
                <a:ext cx="642099" cy="0"/>
              </a:xfrm>
              <a:prstGeom prst="straightConnector1">
                <a:avLst/>
              </a:prstGeom>
              <a:ln>
                <a:prstDash val="lgDashDotDot"/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9E1DACA0-2B3B-20DD-7B6C-515552654EF3}"/>
                </a:ext>
              </a:extLst>
            </p:cNvPr>
            <p:cNvCxnSpPr>
              <a:cxnSpLocks/>
            </p:cNvCxnSpPr>
            <p:nvPr/>
          </p:nvCxnSpPr>
          <p:spPr>
            <a:xfrm>
              <a:off x="5434376" y="3262505"/>
              <a:ext cx="1762" cy="67071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94D53AE8-0FB6-2C69-D9D9-CBD16206E985}"/>
                </a:ext>
              </a:extLst>
            </p:cNvPr>
            <p:cNvSpPr txBox="1"/>
            <p:nvPr/>
          </p:nvSpPr>
          <p:spPr>
            <a:xfrm>
              <a:off x="5168524" y="2606021"/>
              <a:ext cx="869665" cy="10450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Merger Documents Sign-off from HR</a:t>
              </a:r>
            </a:p>
            <a:p>
              <a:r>
                <a:rPr lang="en-IN" sz="800" dirty="0"/>
                <a:t>(4</a:t>
              </a:r>
              <a:r>
                <a:rPr lang="en-IN" sz="800" baseline="30000" dirty="0"/>
                <a:t>th</a:t>
              </a:r>
              <a:r>
                <a:rPr lang="en-IN" sz="800" dirty="0"/>
                <a:t> Sep)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423A24AA-8F80-2433-6664-27D81A1C88F0}"/>
                </a:ext>
              </a:extLst>
            </p:cNvPr>
            <p:cNvSpPr txBox="1"/>
            <p:nvPr/>
          </p:nvSpPr>
          <p:spPr>
            <a:xfrm>
              <a:off x="11158156" y="3860759"/>
              <a:ext cx="1129842" cy="3180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b="1" dirty="0">
                  <a:highlight>
                    <a:srgbClr val="FFFF00"/>
                  </a:highlight>
                </a:rPr>
                <a:t>12</a:t>
              </a:r>
              <a:r>
                <a:rPr lang="en-IN" sz="800" b="1" baseline="30000" dirty="0">
                  <a:highlight>
                    <a:srgbClr val="FFFF00"/>
                  </a:highlight>
                </a:rPr>
                <a:t>th</a:t>
              </a:r>
              <a:r>
                <a:rPr lang="en-IN" sz="800" b="1" dirty="0">
                  <a:highlight>
                    <a:srgbClr val="FFFF00"/>
                  </a:highlight>
                </a:rPr>
                <a:t> NOV</a:t>
              </a:r>
            </a:p>
          </p:txBody>
        </p:sp>
        <p:cxnSp>
          <p:nvCxnSpPr>
            <p:cNvPr id="172" name="Straight Arrow Connector 171">
              <a:extLst>
                <a:ext uri="{FF2B5EF4-FFF2-40B4-BE49-F238E27FC236}">
                  <a16:creationId xmlns:a16="http://schemas.microsoft.com/office/drawing/2014/main" id="{86003E63-2B06-E260-A7D0-5538DCB8E71B}"/>
                </a:ext>
              </a:extLst>
            </p:cNvPr>
            <p:cNvCxnSpPr>
              <a:cxnSpLocks/>
            </p:cNvCxnSpPr>
            <p:nvPr/>
          </p:nvCxnSpPr>
          <p:spPr>
            <a:xfrm>
              <a:off x="5156364" y="3079677"/>
              <a:ext cx="0" cy="85354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4" name="Rectangle 173">
              <a:extLst>
                <a:ext uri="{FF2B5EF4-FFF2-40B4-BE49-F238E27FC236}">
                  <a16:creationId xmlns:a16="http://schemas.microsoft.com/office/drawing/2014/main" id="{85CE8276-F2DB-466A-335C-8C3C63CBF8B4}"/>
                </a:ext>
              </a:extLst>
            </p:cNvPr>
            <p:cNvSpPr/>
            <p:nvPr/>
          </p:nvSpPr>
          <p:spPr>
            <a:xfrm>
              <a:off x="7444084" y="2447215"/>
              <a:ext cx="1294094" cy="3203290"/>
            </a:xfrm>
            <a:prstGeom prst="rect">
              <a:avLst/>
            </a:prstGeom>
            <a:noFill/>
            <a:ln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F737E6FA-83CE-976F-CB1B-789F1AFC4615}"/>
                </a:ext>
              </a:extLst>
            </p:cNvPr>
            <p:cNvSpPr txBox="1"/>
            <p:nvPr/>
          </p:nvSpPr>
          <p:spPr>
            <a:xfrm>
              <a:off x="7529210" y="2096638"/>
              <a:ext cx="1209162" cy="681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 dirty="0">
                  <a:highlight>
                    <a:srgbClr val="FFFF00"/>
                  </a:highlight>
                </a:rPr>
                <a:t>Aug Parallel payroll mock run &amp; data validation</a:t>
              </a:r>
            </a:p>
          </p:txBody>
        </p:sp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B13B2160-F604-1D81-4BFE-56213FF3F76E}"/>
                </a:ext>
              </a:extLst>
            </p:cNvPr>
            <p:cNvSpPr/>
            <p:nvPr/>
          </p:nvSpPr>
          <p:spPr>
            <a:xfrm>
              <a:off x="8738372" y="2447864"/>
              <a:ext cx="1294094" cy="3203290"/>
            </a:xfrm>
            <a:prstGeom prst="rect">
              <a:avLst/>
            </a:prstGeom>
            <a:noFill/>
            <a:ln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7" name="TextBox 176">
              <a:extLst>
                <a:ext uri="{FF2B5EF4-FFF2-40B4-BE49-F238E27FC236}">
                  <a16:creationId xmlns:a16="http://schemas.microsoft.com/office/drawing/2014/main" id="{1EE9F354-BC1F-BA34-D30C-968FB6CD8268}"/>
                </a:ext>
              </a:extLst>
            </p:cNvPr>
            <p:cNvSpPr txBox="1"/>
            <p:nvPr/>
          </p:nvSpPr>
          <p:spPr>
            <a:xfrm>
              <a:off x="8814913" y="2099195"/>
              <a:ext cx="1215335" cy="681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 dirty="0">
                  <a:highlight>
                    <a:srgbClr val="FFFF00"/>
                  </a:highlight>
                </a:rPr>
                <a:t>Sep Parallel payroll mock run &amp; data validation</a:t>
              </a:r>
            </a:p>
          </p:txBody>
        </p:sp>
        <p:sp>
          <p:nvSpPr>
            <p:cNvPr id="178" name="Rectangle 177">
              <a:extLst>
                <a:ext uri="{FF2B5EF4-FFF2-40B4-BE49-F238E27FC236}">
                  <a16:creationId xmlns:a16="http://schemas.microsoft.com/office/drawing/2014/main" id="{DA2E52F3-7040-CEB4-E31B-497A380DA7C5}"/>
                </a:ext>
              </a:extLst>
            </p:cNvPr>
            <p:cNvSpPr/>
            <p:nvPr/>
          </p:nvSpPr>
          <p:spPr>
            <a:xfrm>
              <a:off x="10043550" y="2453730"/>
              <a:ext cx="998129" cy="3203290"/>
            </a:xfrm>
            <a:prstGeom prst="rect">
              <a:avLst/>
            </a:prstGeom>
            <a:noFill/>
            <a:ln>
              <a:prstDash val="lgDashDotDot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9" name="TextBox 178">
              <a:extLst>
                <a:ext uri="{FF2B5EF4-FFF2-40B4-BE49-F238E27FC236}">
                  <a16:creationId xmlns:a16="http://schemas.microsoft.com/office/drawing/2014/main" id="{78809139-EEA8-E8F7-197F-FE2E57FB1896}"/>
                </a:ext>
              </a:extLst>
            </p:cNvPr>
            <p:cNvSpPr txBox="1"/>
            <p:nvPr/>
          </p:nvSpPr>
          <p:spPr>
            <a:xfrm>
              <a:off x="9972436" y="2113072"/>
              <a:ext cx="1211642" cy="681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IN" sz="800" b="1" dirty="0">
                  <a:highlight>
                    <a:srgbClr val="FFFF00"/>
                  </a:highlight>
                </a:rPr>
                <a:t>Oct Parallel payroll mock run &amp; data validation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F7009F7-E369-B43E-2CA4-02651214742E}"/>
                </a:ext>
              </a:extLst>
            </p:cNvPr>
            <p:cNvSpPr txBox="1"/>
            <p:nvPr/>
          </p:nvSpPr>
          <p:spPr>
            <a:xfrm>
              <a:off x="6135112" y="2335560"/>
              <a:ext cx="1091126" cy="681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800" dirty="0"/>
                <a:t>Configuration of UK pay structure in AI PS instance</a:t>
              </a:r>
            </a:p>
          </p:txBody>
        </p:sp>
        <p:sp>
          <p:nvSpPr>
            <p:cNvPr id="12" name="Arrow: Down 11">
              <a:extLst>
                <a:ext uri="{FF2B5EF4-FFF2-40B4-BE49-F238E27FC236}">
                  <a16:creationId xmlns:a16="http://schemas.microsoft.com/office/drawing/2014/main" id="{8FFF0BA1-9230-F21E-1B40-019AE7DE7BB0}"/>
                </a:ext>
              </a:extLst>
            </p:cNvPr>
            <p:cNvSpPr/>
            <p:nvPr/>
          </p:nvSpPr>
          <p:spPr>
            <a:xfrm>
              <a:off x="6436699" y="1100176"/>
              <a:ext cx="419965" cy="482774"/>
            </a:xfrm>
            <a:prstGeom prst="downArrow">
              <a:avLst/>
            </a:prstGeom>
            <a:solidFill>
              <a:srgbClr val="C9DFFF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C85176B-877F-625C-EE79-361BC0774EE1}"/>
                </a:ext>
              </a:extLst>
            </p:cNvPr>
            <p:cNvSpPr txBox="1"/>
            <p:nvPr/>
          </p:nvSpPr>
          <p:spPr>
            <a:xfrm>
              <a:off x="6767808" y="1087971"/>
              <a:ext cx="1112694" cy="3862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1100" b="1" dirty="0"/>
                <a:t>We are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A10215-8335-E609-D960-A8D0D2A1BFBE}"/>
                </a:ext>
              </a:extLst>
            </p:cNvPr>
            <p:cNvSpPr txBox="1"/>
            <p:nvPr/>
          </p:nvSpPr>
          <p:spPr>
            <a:xfrm>
              <a:off x="6345686" y="761330"/>
              <a:ext cx="813152" cy="34077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sz="900" b="1" dirty="0"/>
                <a:t>12</a:t>
              </a:r>
              <a:r>
                <a:rPr lang="en-IN" sz="900" b="1" baseline="30000" dirty="0"/>
                <a:t>th</a:t>
              </a:r>
              <a:r>
                <a:rPr lang="en-IN" sz="900" b="1" dirty="0"/>
                <a:t> Sep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705547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73B39-2B3A-59A1-3BF3-803E5A255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86D2559-9DC2-D6C1-C578-48133BCD9C8C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Payroll (PeopleStrong) – Upcoming Activities</a:t>
            </a:r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14FA8D4-59C9-9D91-E8E0-8BECB9435A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727494"/>
              </p:ext>
            </p:extLst>
          </p:nvPr>
        </p:nvGraphicFramePr>
        <p:xfrm>
          <a:off x="223520" y="971550"/>
          <a:ext cx="11734800" cy="5796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833120">
                  <a:extLst>
                    <a:ext uri="{9D8B030D-6E8A-4147-A177-3AD203B41FA5}">
                      <a16:colId xmlns:a16="http://schemas.microsoft.com/office/drawing/2014/main" val="4218145287"/>
                    </a:ext>
                  </a:extLst>
                </a:gridCol>
                <a:gridCol w="1666240">
                  <a:extLst>
                    <a:ext uri="{9D8B030D-6E8A-4147-A177-3AD203B41FA5}">
                      <a16:colId xmlns:a16="http://schemas.microsoft.com/office/drawing/2014/main" val="2964084376"/>
                    </a:ext>
                  </a:extLst>
                </a:gridCol>
                <a:gridCol w="863600">
                  <a:extLst>
                    <a:ext uri="{9D8B030D-6E8A-4147-A177-3AD203B41FA5}">
                      <a16:colId xmlns:a16="http://schemas.microsoft.com/office/drawing/2014/main" val="2317451346"/>
                    </a:ext>
                  </a:extLst>
                </a:gridCol>
                <a:gridCol w="1107440">
                  <a:extLst>
                    <a:ext uri="{9D8B030D-6E8A-4147-A177-3AD203B41FA5}">
                      <a16:colId xmlns:a16="http://schemas.microsoft.com/office/drawing/2014/main" val="3093718393"/>
                    </a:ext>
                  </a:extLst>
                </a:gridCol>
                <a:gridCol w="1117600">
                  <a:extLst>
                    <a:ext uri="{9D8B030D-6E8A-4147-A177-3AD203B41FA5}">
                      <a16:colId xmlns:a16="http://schemas.microsoft.com/office/drawing/2014/main" val="3101636339"/>
                    </a:ext>
                  </a:extLst>
                </a:gridCol>
                <a:gridCol w="1381760">
                  <a:extLst>
                    <a:ext uri="{9D8B030D-6E8A-4147-A177-3AD203B41FA5}">
                      <a16:colId xmlns:a16="http://schemas.microsoft.com/office/drawing/2014/main" val="4035576382"/>
                    </a:ext>
                  </a:extLst>
                </a:gridCol>
                <a:gridCol w="4765040">
                  <a:extLst>
                    <a:ext uri="{9D8B030D-6E8A-4147-A177-3AD203B41FA5}">
                      <a16:colId xmlns:a16="http://schemas.microsoft.com/office/drawing/2014/main" val="2913180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S.No.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Milestone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Priority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Planned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Actual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Status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Comments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42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1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New PS Instance Procurement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High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30-Aug-24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4-Sep-24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Completed</a:t>
                      </a:r>
                      <a:endParaRPr lang="en-IN" sz="16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-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67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2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Payroll System (Engine) Setup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High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6-Sep-24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13-Sep-24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In Progress</a:t>
                      </a:r>
                      <a:endParaRPr lang="en-IN" sz="16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Setting up basic functionalities in new PS (Payroll engine) instance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79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3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HR to share Aug payroll input &amp; Data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High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6-Sep-24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17-Sep-24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In Progress</a:t>
                      </a:r>
                      <a:endParaRPr lang="en-IN" sz="16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HR (Anuj Khanna, Ajay Aggarwal) to share following:</a:t>
                      </a:r>
                    </a:p>
                    <a:p>
                      <a:r>
                        <a:rPr lang="en-US" sz="1600" dirty="0">
                          <a:latin typeface="AirIndia" panose="04050608020B02020302"/>
                        </a:rPr>
                        <a:t>-Employee Master Data (Shared)</a:t>
                      </a:r>
                    </a:p>
                    <a:p>
                      <a:r>
                        <a:rPr lang="en-US" sz="1600" dirty="0">
                          <a:latin typeface="AirIndia" panose="04050608020B02020302"/>
                        </a:rPr>
                        <a:t>-Sample CTC Report (Shared)</a:t>
                      </a:r>
                    </a:p>
                    <a:p>
                      <a:r>
                        <a:rPr lang="en-US" sz="1600" dirty="0">
                          <a:latin typeface="AirIndia" panose="04050608020B02020302"/>
                        </a:rPr>
                        <a:t>-Salary Register (To be shared)</a:t>
                      </a:r>
                    </a:p>
                    <a:p>
                      <a:r>
                        <a:rPr lang="en-US" sz="1600" dirty="0">
                          <a:latin typeface="AirIndia" panose="04050608020B02020302"/>
                        </a:rPr>
                        <a:t>-Tax Computation Sheets (To be shared)</a:t>
                      </a:r>
                    </a:p>
                    <a:p>
                      <a:r>
                        <a:rPr lang="en-US" sz="1600" dirty="0">
                          <a:latin typeface="AirIndia" panose="04050608020B02020302"/>
                        </a:rPr>
                        <a:t>-Payroll Inputs for Aug (To be shared)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0485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UK Pay Components &amp; Structure Configurations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High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12-Sep-24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16-Oct-24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In Progress</a:t>
                      </a:r>
                      <a:endParaRPr lang="en-IN" sz="16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Configuring new PS instance with UK pay components &amp; structures as per UK payroll policies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3688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5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Mock Run 1 – Aug Payroll Processing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High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23-Sep-24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27-Sep-24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AirIndia" panose="04050608020B02020302"/>
                        </a:rPr>
                        <a:t>Yet to Start</a:t>
                      </a:r>
                      <a:endParaRPr lang="en-IN" sz="1600" b="0" dirty="0">
                        <a:solidFill>
                          <a:schemeClr val="bg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-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975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6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Mock Run 1 – Aug Payroll Sign-off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High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30-Sep-24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1-Oct-24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0" dirty="0">
                          <a:solidFill>
                            <a:schemeClr val="bg1"/>
                          </a:solidFill>
                          <a:latin typeface="AirIndia" panose="04050608020B02020302"/>
                        </a:rPr>
                        <a:t>Yet to Start</a:t>
                      </a:r>
                      <a:endParaRPr lang="en-IN" sz="1600" b="0" dirty="0">
                        <a:solidFill>
                          <a:schemeClr val="bg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8C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AirIndia" panose="04050608020B02020302"/>
                        </a:rPr>
                        <a:t>Validation around Gross salary &amp; tax calculations</a:t>
                      </a:r>
                      <a:endParaRPr lang="en-IN" sz="16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46226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28028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77AD4F-938B-68CD-3DF1-3A5323E201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CAEE3AA-84D2-2B5E-76E0-797FCCFC1BDA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Payroll (PeopleStrong) – Mock Run 1 (Aug Payroll)</a:t>
            </a:r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178B11-3957-D0F9-6B34-FEE20D8CEB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922101"/>
              </p:ext>
            </p:extLst>
          </p:nvPr>
        </p:nvGraphicFramePr>
        <p:xfrm>
          <a:off x="223520" y="971550"/>
          <a:ext cx="11714480" cy="441452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11200">
                  <a:extLst>
                    <a:ext uri="{9D8B030D-6E8A-4147-A177-3AD203B41FA5}">
                      <a16:colId xmlns:a16="http://schemas.microsoft.com/office/drawing/2014/main" val="4218145287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964084376"/>
                    </a:ext>
                  </a:extLst>
                </a:gridCol>
                <a:gridCol w="1290320">
                  <a:extLst>
                    <a:ext uri="{9D8B030D-6E8A-4147-A177-3AD203B41FA5}">
                      <a16:colId xmlns:a16="http://schemas.microsoft.com/office/drawing/2014/main" val="2317451346"/>
                    </a:ext>
                  </a:extLst>
                </a:gridCol>
                <a:gridCol w="1778000">
                  <a:extLst>
                    <a:ext uri="{9D8B030D-6E8A-4147-A177-3AD203B41FA5}">
                      <a16:colId xmlns:a16="http://schemas.microsoft.com/office/drawing/2014/main" val="3093718393"/>
                    </a:ext>
                  </a:extLst>
                </a:gridCol>
                <a:gridCol w="1717040">
                  <a:extLst>
                    <a:ext uri="{9D8B030D-6E8A-4147-A177-3AD203B41FA5}">
                      <a16:colId xmlns:a16="http://schemas.microsoft.com/office/drawing/2014/main" val="3101636339"/>
                    </a:ext>
                  </a:extLst>
                </a:gridCol>
                <a:gridCol w="2966720">
                  <a:extLst>
                    <a:ext uri="{9D8B030D-6E8A-4147-A177-3AD203B41FA5}">
                      <a16:colId xmlns:a16="http://schemas.microsoft.com/office/drawing/2014/main" val="403557638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irIndia" panose="04050608020B02020302"/>
                        </a:rPr>
                        <a:t>S.No.</a:t>
                      </a:r>
                      <a:endParaRPr lang="en-IN" sz="18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irIndia" panose="04050608020B02020302"/>
                        </a:rPr>
                        <a:t>Milestone</a:t>
                      </a:r>
                      <a:endParaRPr lang="en-IN" sz="18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irIndia" panose="04050608020B02020302"/>
                        </a:rPr>
                        <a:t>Priority</a:t>
                      </a:r>
                      <a:endParaRPr lang="en-IN" sz="18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irIndia" panose="04050608020B02020302"/>
                        </a:rPr>
                        <a:t>Planned</a:t>
                      </a:r>
                      <a:endParaRPr lang="en-IN" sz="18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irIndia" panose="04050608020B02020302"/>
                        </a:rPr>
                        <a:t>Actual</a:t>
                      </a:r>
                      <a:endParaRPr lang="en-IN" sz="18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>
                          <a:latin typeface="AirIndia" panose="04050608020B02020302"/>
                        </a:rPr>
                        <a:t>Status</a:t>
                      </a:r>
                      <a:endParaRPr lang="en-IN" sz="18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42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Payroll Input to be shared by UK HR for Aug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11-Sep-24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11-Sep-24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67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Input Validation &amp; Clarification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High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irIndia" panose="04050608020B0202030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13-Sep-24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13-Sep-24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0" dirty="0">
                          <a:solidFill>
                            <a:schemeClr val="bg1"/>
                          </a:solidFill>
                          <a:latin typeface="AirIndia" panose="04050608020B02020302"/>
                        </a:rPr>
                        <a:t>Yet to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67990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Employee Master Data Upload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High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irIndia" panose="04050608020B0202030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17-Sep-24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17-Sep-24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Yet to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48564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Compensation Data Upload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High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irIndia" panose="04050608020B0202030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AirIndia" panose="04050608020B02020302"/>
                        </a:rPr>
                        <a:t>17-Sep-24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AirIndia" panose="04050608020B02020302"/>
                        </a:rPr>
                        <a:t>17-Sep-24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Yet to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36886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Employee Master &amp; Compensation Data 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High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irIndia" panose="04050608020B0202030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20-Sep-24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20-Sep-24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Yet to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7596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Head Count Validation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High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irIndia" panose="04050608020B0202030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20-Sep-24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20-Sep-24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Yet to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46226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Aug month payroll parallel processing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High</a:t>
                      </a:r>
                      <a:endParaRPr kumimoji="0" lang="en-IN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irIndia" panose="04050608020B02020302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27-Sep-24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27-Sep-24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Yet to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22874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Aug month payroll validation &amp; sign-off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High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1-Oct-24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dirty="0">
                          <a:latin typeface="AirIndia" panose="04050608020B02020302"/>
                        </a:rPr>
                        <a:t>1-Oct-24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Yet to Start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04323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479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67165-F35F-6F6E-4DB1-328A9AF0F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37A8AEA-1BDC-6A3A-1EFA-94B75D12045B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Payroll (PeopleStrong) – RAID (Risks, Actions, Issues, Decisions)</a:t>
            </a:r>
            <a:endParaRPr lang="en-US" sz="2800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3F1E0C1-B8D9-C59C-B18E-7FC15667E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6410833"/>
              </p:ext>
            </p:extLst>
          </p:nvPr>
        </p:nvGraphicFramePr>
        <p:xfrm>
          <a:off x="223520" y="971550"/>
          <a:ext cx="11450321" cy="566928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964084376"/>
                    </a:ext>
                  </a:extLst>
                </a:gridCol>
                <a:gridCol w="2092960">
                  <a:extLst>
                    <a:ext uri="{9D8B030D-6E8A-4147-A177-3AD203B41FA5}">
                      <a16:colId xmlns:a16="http://schemas.microsoft.com/office/drawing/2014/main" val="2317451346"/>
                    </a:ext>
                  </a:extLst>
                </a:gridCol>
                <a:gridCol w="944880">
                  <a:extLst>
                    <a:ext uri="{9D8B030D-6E8A-4147-A177-3AD203B41FA5}">
                      <a16:colId xmlns:a16="http://schemas.microsoft.com/office/drawing/2014/main" val="3093718393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1181576070"/>
                    </a:ext>
                  </a:extLst>
                </a:gridCol>
                <a:gridCol w="4328160">
                  <a:extLst>
                    <a:ext uri="{9D8B030D-6E8A-4147-A177-3AD203B41FA5}">
                      <a16:colId xmlns:a16="http://schemas.microsoft.com/office/drawing/2014/main" val="452817869"/>
                    </a:ext>
                  </a:extLst>
                </a:gridCol>
                <a:gridCol w="985520">
                  <a:extLst>
                    <a:ext uri="{9D8B030D-6E8A-4147-A177-3AD203B41FA5}">
                      <a16:colId xmlns:a16="http://schemas.microsoft.com/office/drawing/2014/main" val="3101636339"/>
                    </a:ext>
                  </a:extLst>
                </a:gridCol>
                <a:gridCol w="1209041">
                  <a:extLst>
                    <a:ext uri="{9D8B030D-6E8A-4147-A177-3AD203B41FA5}">
                      <a16:colId xmlns:a16="http://schemas.microsoft.com/office/drawing/2014/main" val="291318016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Type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Description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Impact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Probability of Occurrence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Mitigation Plan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Status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Target Date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422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Decision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Payroll calculation logic for UK Crew needs to be defined by HR, IFS &amp; Flight Ops &amp; Payroll teams for the 1st to 11th Nov period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-Decision to be shared by HR by 20</a:t>
                      </a:r>
                      <a:r>
                        <a:rPr lang="en-IN" sz="1200" b="0" baseline="3000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th</a:t>
                      </a:r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 Sep 24</a:t>
                      </a:r>
                    </a:p>
                    <a:p>
                      <a:r>
                        <a:rPr lang="en-IN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-In case decision is not received, UK &amp; AI respective logics to be followed pre &amp; post-merger Go-Live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irIndia" panose="04050608020B02020302"/>
                        </a:rPr>
                        <a:t>20</a:t>
                      </a:r>
                      <a:r>
                        <a:rPr lang="en-IN" sz="12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200" dirty="0">
                          <a:latin typeface="AirIndia" panose="04050608020B02020302"/>
                        </a:rPr>
                        <a:t> Sep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1569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Payroll calculations if not vetted correctly may result into wrong payouts to Vistara employees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-To mitigate, parallel payroll processing mock runs to be done for Aug, Sep months to validate &amp; correct any anomalies prior to merger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irIndia" panose="04050608020B02020302"/>
                        </a:rPr>
                        <a:t>16</a:t>
                      </a:r>
                      <a:r>
                        <a:rPr lang="en-IN" sz="12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2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677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Risk of incorrect payouts to harmonized Org employees due to different pay structures for Air India &amp; Vistara employees’ post-merger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Medium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-Ensuring creation of identifier in AI SF to distinguish ex-UK &amp; AI employee post-merger​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-Ensuring PeopleStrong SOP update to do regular audit checks (monthly) prior to processing payroll for the identifier being passed from AI to PS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16</a:t>
                      </a:r>
                      <a:r>
                        <a:rPr lang="en-IN" sz="12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2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759242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Issue in reimbursement reconciliation for Vistara employees’ post-merger in case they have already claimed reimbursement in Vistara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-All dues for Vistara employees to be cleared by Vistara payroll team prior to merger Go-Live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-Arrears (if any) to be shared by UK team to AI PS team for processing with AI salary payout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30</a:t>
                      </a:r>
                      <a:r>
                        <a:rPr lang="en-IN" sz="12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2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673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Risk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dirty="0">
                          <a:latin typeface="AirIndia" panose="04050608020B02020302"/>
                        </a:rPr>
                        <a:t>Risk of incorrect calculation of taxes since movement of Vistara employees is happening mid-year</a:t>
                      </a:r>
                      <a:endParaRPr lang="en-IN" sz="1200" dirty="0"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irIndia" panose="04050608020B02020302"/>
                        </a:rPr>
                        <a:t>Low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-Settlement for Vistara employees will be processed due to closure of PF &amp; issuance of Form 16​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-Gratuity &amp; Leave Encashment to be carried forwarded to AI, to be managed through Tata Group DOJ in PS system​ (to be created in AI SF)</a:t>
                      </a:r>
                    </a:p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  <a:latin typeface="AirIndia" panose="04050608020B02020302"/>
                        </a:rPr>
                        <a:t>-2 Form 16s for Vistara employees to be maintained</a:t>
                      </a:r>
                      <a:endParaRPr lang="en-IN" sz="1200" b="0" dirty="0">
                        <a:solidFill>
                          <a:schemeClr val="tx1"/>
                        </a:solidFill>
                        <a:latin typeface="AirIndia" panose="04050608020B0202030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N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irIndia" panose="04050608020B02020302"/>
                          <a:ea typeface="+mn-ea"/>
                          <a:cs typeface="+mn-cs"/>
                        </a:rPr>
                        <a:t>In Progress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irIndia" panose="04050608020B02020302"/>
                        </a:rPr>
                        <a:t>30</a:t>
                      </a:r>
                      <a:r>
                        <a:rPr lang="en-IN" sz="1200" baseline="30000" dirty="0">
                          <a:latin typeface="AirIndia" panose="04050608020B02020302"/>
                        </a:rPr>
                        <a:t>th</a:t>
                      </a:r>
                      <a:r>
                        <a:rPr lang="en-IN" sz="1200" dirty="0">
                          <a:latin typeface="AirIndia" panose="04050608020B02020302"/>
                        </a:rPr>
                        <a:t> Oct 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6799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65069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A25A7-49DC-297E-30A1-C837B7D9FD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Other HR Tech Apps</a:t>
            </a:r>
          </a:p>
        </p:txBody>
      </p:sp>
    </p:spTree>
    <p:extLst>
      <p:ext uri="{BB962C8B-B14F-4D97-AF65-F5344CB8AC3E}">
        <p14:creationId xmlns:p14="http://schemas.microsoft.com/office/powerpoint/2010/main" val="5069885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1BC652-C760-AFED-2B21-CD96394CDE5B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Other HR Tech Applications Business Assumptions, Decisions &amp; Open Points</a:t>
            </a:r>
            <a:endParaRPr lang="en-US" sz="2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67E204-DBBF-5570-DC0C-30CA877C3120}"/>
              </a:ext>
            </a:extLst>
          </p:cNvPr>
          <p:cNvSpPr txBox="1"/>
          <p:nvPr/>
        </p:nvSpPr>
        <p:spPr>
          <a:xfrm>
            <a:off x="609917" y="1094347"/>
            <a:ext cx="7063091" cy="5478423"/>
          </a:xfrm>
          <a:prstGeom prst="rect">
            <a:avLst/>
          </a:prstGeom>
          <a:noFill/>
          <a:ln>
            <a:solidFill>
              <a:srgbClr val="C00000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irIndia"/>
                <a:cs typeface="Arial" panose="020B0604020202020204" pitchFamily="34" charset="0"/>
              </a:rPr>
              <a:t>Business Assumptions &amp; Decisions</a:t>
            </a:r>
          </a:p>
          <a:p>
            <a:pPr algn="ctr"/>
            <a:endParaRPr lang="en-IN" sz="1400" b="1" dirty="0">
              <a:latin typeface="AirIndia"/>
              <a:cs typeface="Arial" panose="020B0604020202020204" pitchFamily="34" charset="0"/>
            </a:endParaRPr>
          </a:p>
          <a:p>
            <a:pPr algn="ctr"/>
            <a:endParaRPr lang="en-IN" sz="1400" b="1" dirty="0">
              <a:latin typeface="AirIndia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irIndia"/>
                <a:cs typeface="Arial" panose="020B0604020202020204" pitchFamily="34" charset="0"/>
              </a:rPr>
              <a:t>Learning &amp; Development (TCS </a:t>
            </a:r>
            <a:r>
              <a:rPr lang="en-IN" sz="1400" b="1" dirty="0" err="1">
                <a:latin typeface="AirIndia"/>
                <a:cs typeface="Arial" panose="020B0604020202020204" pitchFamily="34" charset="0"/>
              </a:rPr>
              <a:t>iDL</a:t>
            </a:r>
            <a:r>
              <a:rPr lang="en-IN" sz="1400" b="1" dirty="0">
                <a:latin typeface="AirIndia"/>
                <a:cs typeface="Arial" panose="020B0604020202020204" pitchFamily="34" charset="0"/>
              </a:rPr>
              <a:t> &amp; </a:t>
            </a:r>
            <a:r>
              <a:rPr lang="en-IN" sz="1400" b="1" dirty="0" err="1">
                <a:latin typeface="AirIndia"/>
                <a:cs typeface="Arial" panose="020B0604020202020204" pitchFamily="34" charset="0"/>
              </a:rPr>
              <a:t>Disprz</a:t>
            </a:r>
            <a:r>
              <a:rPr lang="en-IN" sz="1400" b="1" dirty="0">
                <a:latin typeface="AirIndia"/>
                <a:cs typeface="Arial" panose="020B0604020202020204" pitchFamily="34" charset="0"/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UK learning history data elements will be migrated by HR Tech team within TCS </a:t>
            </a:r>
            <a:r>
              <a:rPr lang="en-US" sz="1400" dirty="0" err="1">
                <a:latin typeface="AirIndia"/>
                <a:cs typeface="Arial" panose="020B0604020202020204" pitchFamily="34" charset="0"/>
              </a:rPr>
              <a:t>iDL</a:t>
            </a:r>
            <a:r>
              <a:rPr lang="en-US" sz="1400" dirty="0">
                <a:latin typeface="AirIndia"/>
                <a:cs typeface="Arial" panose="020B0604020202020204" pitchFamily="34" charset="0"/>
              </a:rPr>
              <a:t> from UK SuccessFactors (UAT Completion: 31</a:t>
            </a:r>
            <a:r>
              <a:rPr lang="en-US" sz="1400" baseline="30000" dirty="0">
                <a:latin typeface="AirIndia"/>
                <a:cs typeface="Arial" panose="020B0604020202020204" pitchFamily="34" charset="0"/>
              </a:rPr>
              <a:t>st</a:t>
            </a:r>
            <a:r>
              <a:rPr lang="en-US" sz="1400" dirty="0">
                <a:latin typeface="AirIndia"/>
                <a:cs typeface="Arial" panose="020B0604020202020204" pitchFamily="34" charset="0"/>
              </a:rPr>
              <a:t> Oct 24, Full Data Migration: 11</a:t>
            </a:r>
            <a:r>
              <a:rPr lang="en-US" sz="1400" baseline="30000" dirty="0">
                <a:latin typeface="AirIndia"/>
                <a:cs typeface="Arial" panose="020B0604020202020204" pitchFamily="34" charset="0"/>
              </a:rPr>
              <a:t>th</a:t>
            </a:r>
            <a:r>
              <a:rPr lang="en-US" sz="1400" dirty="0">
                <a:latin typeface="AirIndia"/>
                <a:cs typeface="Arial" panose="020B0604020202020204" pitchFamily="34" charset="0"/>
              </a:rPr>
              <a:t> Nov 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No additional licenses are forecasted currently for merged entity for </a:t>
            </a:r>
            <a:r>
              <a:rPr lang="en-US" sz="1400" dirty="0" err="1">
                <a:latin typeface="AirIndia"/>
                <a:cs typeface="Arial" panose="020B0604020202020204" pitchFamily="34" charset="0"/>
              </a:rPr>
              <a:t>Disprz</a:t>
            </a:r>
            <a:r>
              <a:rPr lang="en-US" sz="1400" dirty="0">
                <a:latin typeface="AirIndia"/>
                <a:cs typeface="Arial" panose="020B0604020202020204" pitchFamily="34" charset="0"/>
              </a:rPr>
              <a:t> for FY 24-25; current quota of </a:t>
            </a:r>
            <a:r>
              <a:rPr lang="en-US" sz="1400" dirty="0" err="1">
                <a:latin typeface="AirIndia"/>
                <a:cs typeface="Arial" panose="020B0604020202020204" pitchFamily="34" charset="0"/>
              </a:rPr>
              <a:t>Disprz</a:t>
            </a:r>
            <a:r>
              <a:rPr lang="en-US" sz="1400" dirty="0">
                <a:latin typeface="AirIndia"/>
                <a:cs typeface="Arial" panose="020B0604020202020204" pitchFamily="34" charset="0"/>
              </a:rPr>
              <a:t> licenses are enough &amp; will be re-assigned by AI HR in case of any additional requirements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Following reconfiguration changes need to be done (ETA: 31</a:t>
            </a:r>
            <a:r>
              <a:rPr lang="en-US" sz="1400" baseline="30000" dirty="0">
                <a:latin typeface="AirIndia"/>
                <a:cs typeface="Arial" panose="020B0604020202020204" pitchFamily="34" charset="0"/>
              </a:rPr>
              <a:t>st</a:t>
            </a:r>
            <a:r>
              <a:rPr lang="en-US" sz="1400" dirty="0">
                <a:latin typeface="AirIndia"/>
                <a:cs typeface="Arial" panose="020B0604020202020204" pitchFamily="34" charset="0"/>
              </a:rPr>
              <a:t> Oct 24):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Bulk Cool Off Period functionality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On demand trainings audit trail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Anonymous survey submission feature</a:t>
            </a:r>
            <a:endParaRPr lang="en-IN" sz="1400" dirty="0">
              <a:latin typeface="AirIndia"/>
              <a:cs typeface="Arial" panose="020B0604020202020204" pitchFamily="34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No data migration to be done from UK e-learning application (currently used by UK engineering team) to AI TCS </a:t>
            </a:r>
            <a:r>
              <a:rPr lang="en-US" sz="1400" dirty="0" err="1">
                <a:latin typeface="AirIndia"/>
                <a:cs typeface="Arial" panose="020B0604020202020204" pitchFamily="34" charset="0"/>
              </a:rPr>
              <a:t>iDL</a:t>
            </a:r>
            <a:r>
              <a:rPr lang="en-US" sz="1400" dirty="0">
                <a:latin typeface="AirIndia"/>
                <a:cs typeface="Arial" panose="020B0604020202020204" pitchFamily="34" charset="0"/>
              </a:rPr>
              <a:t> system – business to keep offline records at their end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00" dirty="0">
              <a:latin typeface="AirIndia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irIndia"/>
                <a:cs typeface="Arial" panose="020B0604020202020204" pitchFamily="34" charset="0"/>
              </a:rPr>
              <a:t>Staff Travel (</a:t>
            </a:r>
            <a:r>
              <a:rPr lang="en-IN" sz="1400" b="1" dirty="0" err="1">
                <a:latin typeface="AirIndia"/>
                <a:cs typeface="Arial" panose="020B0604020202020204" pitchFamily="34" charset="0"/>
              </a:rPr>
              <a:t>iFly</a:t>
            </a:r>
            <a:r>
              <a:rPr lang="en-IN" sz="1400" b="1" dirty="0">
                <a:latin typeface="AirIndia"/>
                <a:cs typeface="Arial" panose="020B0604020202020204" pitchFamily="34" charset="0"/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Need to upload a fixed passage quota applicable for remaining FY 24-25 for UK employees’ post-merger basis policy decision taken by AI HR (ETA: 11</a:t>
            </a:r>
            <a:r>
              <a:rPr lang="en-US" sz="1400" baseline="30000" dirty="0">
                <a:latin typeface="AirIndia"/>
                <a:cs typeface="Arial" panose="020B0604020202020204" pitchFamily="34" charset="0"/>
              </a:rPr>
              <a:t>th</a:t>
            </a:r>
            <a:r>
              <a:rPr lang="en-US" sz="1400" dirty="0">
                <a:latin typeface="AirIndia"/>
                <a:cs typeface="Arial" panose="020B0604020202020204" pitchFamily="34" charset="0"/>
              </a:rPr>
              <a:t> Nov 24)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IN" sz="1400" dirty="0">
              <a:latin typeface="AirIndia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irIndia"/>
                <a:cs typeface="Arial" panose="020B0604020202020204" pitchFamily="34" charset="0"/>
              </a:rPr>
              <a:t>Rewards &amp; Recognition (Advantage Club):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No historical data related to Rewards &amp; Recognition of Vistara employees needs to be migrated to AI Advantage Club</a:t>
            </a:r>
            <a:endParaRPr lang="en-IN" sz="1400" dirty="0">
              <a:latin typeface="AirIndi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C2C86B-F0D2-DAA3-7A45-329B093B1F5D}"/>
              </a:ext>
            </a:extLst>
          </p:cNvPr>
          <p:cNvSpPr txBox="1"/>
          <p:nvPr/>
        </p:nvSpPr>
        <p:spPr>
          <a:xfrm>
            <a:off x="7847937" y="1093418"/>
            <a:ext cx="4267863" cy="3323987"/>
          </a:xfrm>
          <a:prstGeom prst="rect">
            <a:avLst/>
          </a:prstGeom>
          <a:noFill/>
          <a:ln>
            <a:solidFill>
              <a:srgbClr val="C00000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irIndia"/>
                <a:cs typeface="Arial" panose="020B0604020202020204" pitchFamily="34" charset="0"/>
              </a:rPr>
              <a:t>Upcoming Activities</a:t>
            </a:r>
          </a:p>
          <a:p>
            <a:pPr algn="ctr"/>
            <a:endParaRPr lang="en-IN" sz="1400" b="1" dirty="0">
              <a:latin typeface="AirIndia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>
                <a:latin typeface="AirIndia"/>
                <a:cs typeface="Arial" panose="020B0604020202020204" pitchFamily="34" charset="0"/>
              </a:rPr>
              <a:t>Learning &amp; Development (TCS </a:t>
            </a:r>
            <a:r>
              <a:rPr lang="en-IN" sz="1400" b="1" dirty="0" err="1">
                <a:latin typeface="AirIndia"/>
                <a:cs typeface="Arial" panose="020B0604020202020204" pitchFamily="34" charset="0"/>
              </a:rPr>
              <a:t>iDL</a:t>
            </a:r>
            <a:r>
              <a:rPr lang="en-IN" sz="1400" b="1" dirty="0">
                <a:latin typeface="AirIndia"/>
                <a:cs typeface="Arial" panose="020B0604020202020204" pitchFamily="34" charset="0"/>
              </a:rPr>
              <a:t>):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irIndia"/>
                <a:cs typeface="Arial" panose="020B0604020202020204" pitchFamily="34" charset="0"/>
              </a:rPr>
              <a:t>Learning history migration mock run to commence from 18</a:t>
            </a:r>
            <a:r>
              <a:rPr lang="en-IN" sz="1400" baseline="30000" dirty="0">
                <a:latin typeface="AirIndia"/>
                <a:cs typeface="Arial" panose="020B0604020202020204" pitchFamily="34" charset="0"/>
              </a:rPr>
              <a:t>th</a:t>
            </a:r>
            <a:r>
              <a:rPr lang="en-IN" sz="1400" dirty="0">
                <a:latin typeface="AirIndia"/>
                <a:cs typeface="Arial" panose="020B0604020202020204" pitchFamily="34" charset="0"/>
              </a:rPr>
              <a:t> Sep 24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irIndia"/>
                <a:cs typeface="Arial" panose="020B0604020202020204" pitchFamily="34" charset="0"/>
              </a:rPr>
              <a:t>Following learning history data points to be uploaded from UK SuccessFactors LMS to AI TCS </a:t>
            </a:r>
            <a:r>
              <a:rPr lang="en-IN" sz="1400" dirty="0" err="1">
                <a:latin typeface="AirIndia"/>
                <a:cs typeface="Arial" panose="020B0604020202020204" pitchFamily="34" charset="0"/>
              </a:rPr>
              <a:t>iON</a:t>
            </a:r>
            <a:r>
              <a:rPr lang="en-IN" sz="1400" dirty="0">
                <a:latin typeface="AirIndia"/>
                <a:cs typeface="Arial" panose="020B0604020202020204" pitchFamily="34" charset="0"/>
              </a:rPr>
              <a:t> as part of mock run: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Past learning records including completed courses information (Name, SAP ID, Course Name, Course Duration, Completion Status, Learning Hours gained for learning history data).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400" dirty="0">
                <a:latin typeface="AirIndia"/>
                <a:cs typeface="Arial" panose="020B0604020202020204" pitchFamily="34" charset="0"/>
              </a:rPr>
              <a:t>Past learning certificates in the form of PDFs.</a:t>
            </a:r>
            <a:endParaRPr lang="en-IN" sz="1400" dirty="0">
              <a:latin typeface="AirIndi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80864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1BC652-C760-AFED-2B21-CD96394CDE5B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Merger Documents Sign-off Status</a:t>
            </a:r>
            <a:endParaRPr lang="en-US" sz="28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E942608-FF30-0D26-F6D7-F4C88EDC51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083028"/>
              </p:ext>
            </p:extLst>
          </p:nvPr>
        </p:nvGraphicFramePr>
        <p:xfrm>
          <a:off x="609916" y="934720"/>
          <a:ext cx="10978517" cy="5217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884">
                  <a:extLst>
                    <a:ext uri="{9D8B030D-6E8A-4147-A177-3AD203B41FA5}">
                      <a16:colId xmlns:a16="http://schemas.microsoft.com/office/drawing/2014/main" val="2266326651"/>
                    </a:ext>
                  </a:extLst>
                </a:gridCol>
                <a:gridCol w="5212080">
                  <a:extLst>
                    <a:ext uri="{9D8B030D-6E8A-4147-A177-3AD203B41FA5}">
                      <a16:colId xmlns:a16="http://schemas.microsoft.com/office/drawing/2014/main" val="1978286745"/>
                    </a:ext>
                  </a:extLst>
                </a:gridCol>
                <a:gridCol w="3785553">
                  <a:extLst>
                    <a:ext uri="{9D8B030D-6E8A-4147-A177-3AD203B41FA5}">
                      <a16:colId xmlns:a16="http://schemas.microsoft.com/office/drawing/2014/main" val="243727596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HR Tech Application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Documents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Sign-off Pending with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42986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SuccessFactors – Employee Central &amp; Onboarding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Employee Central &amp; Onboarding - Key Business Assumptions &amp; Decisions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Employee Central &amp; Onboarding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Employee Central &amp; Onboarding - Data Mapping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926226"/>
                  </a:ext>
                </a:extLst>
              </a:tr>
              <a:tr h="502802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SuccessFactors – Performance &amp; Goal Management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Performance &amp; Goal Management - Key Business Assumptions &amp; Decisions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Performance &amp; Goal Management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Performance &amp; Goal Management - Data Mapping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5505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SuccessFactors – Recruitment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Recruitment - Key Business Assumptions &amp; Decisions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Recruitment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Recruitment - Data Mapping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06277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PeopleStrong (Payroll)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PeopleStrong - Pay Components Data Field Mapping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PeopleStrong - Business Decisions &amp; Assumptions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PeopleStrong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18289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Advantage Club (R&amp;R)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Advantage Club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Advantage Club - Key Business Assumptions &amp; Decisions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18242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TCS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iDL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&amp;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Disprz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(Learning &amp; Development)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Learning &amp; Development - Business Decisions &amp; Assumptions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Learning &amp; Development - TCS 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iDL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Program Plan</a:t>
                      </a:r>
                    </a:p>
                    <a:p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Learning &amp; Development - 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Disprz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3. </a:t>
                      </a:r>
                      <a:r>
                        <a:rPr lang="en-IN" sz="1200" dirty="0">
                          <a:highlight>
                            <a:srgbClr val="00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Signed by all stakeholders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95889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iFly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SkyFam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 </a:t>
                      </a:r>
                      <a:r>
                        <a:rPr lang="en-IN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iFly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IN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SkyFam</a:t>
                      </a:r>
                      <a:r>
                        <a:rPr lang="en-IN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- Program Plan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iFly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(</a:t>
                      </a:r>
                      <a:r>
                        <a:rPr lang="en-US" sz="1200" b="0" i="0" kern="1200" dirty="0" err="1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SkyFam</a:t>
                      </a:r>
                      <a:r>
                        <a:rPr lang="en-US" sz="1200" b="0" i="0" kern="1200" dirty="0">
                          <a:solidFill>
                            <a:schemeClr val="dk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) - Key Business Assumptions &amp; Decisions</a:t>
                      </a:r>
                      <a:endParaRPr lang="en-IN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1. Abhinav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Rajmalwar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Akanksha Jain, Vikrant Bhatnagar</a:t>
                      </a:r>
                    </a:p>
                    <a:p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 Abhinav </a:t>
                      </a:r>
                      <a:r>
                        <a:rPr lang="en-IN" sz="1200" dirty="0" err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Rajmalwar</a:t>
                      </a:r>
                      <a:r>
                        <a:rPr lang="en-I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, Akanksha Jain, Vikrant Bhatnagar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14503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460001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19B1B-73F0-BECC-2860-C943EB91B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CF8D6-1D31-87D5-FDCB-3A1504F173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Appendix</a:t>
            </a:r>
          </a:p>
        </p:txBody>
      </p:sp>
    </p:spTree>
    <p:extLst>
      <p:ext uri="{BB962C8B-B14F-4D97-AF65-F5344CB8AC3E}">
        <p14:creationId xmlns:p14="http://schemas.microsoft.com/office/powerpoint/2010/main" val="685631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2E1BC652-C760-AFED-2B21-CD96394CDE5B}"/>
              </a:ext>
            </a:extLst>
          </p:cNvPr>
          <p:cNvSpPr txBox="1">
            <a:spLocks/>
          </p:cNvSpPr>
          <p:nvPr/>
        </p:nvSpPr>
        <p:spPr>
          <a:xfrm>
            <a:off x="609918" y="319088"/>
            <a:ext cx="10978515" cy="65246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i="0" kern="1200">
                <a:solidFill>
                  <a:schemeClr val="tx1"/>
                </a:solidFill>
                <a:latin typeface="AirIndia" pitchFamily="82" charset="77"/>
                <a:ea typeface="+mj-ea"/>
                <a:cs typeface="+mj-cs"/>
              </a:defRPr>
            </a:lvl1pPr>
          </a:lstStyle>
          <a:p>
            <a:r>
              <a:rPr lang="en-IN" sz="2800" dirty="0"/>
              <a:t>Payroll (</a:t>
            </a:r>
            <a:r>
              <a:rPr lang="en-IN" sz="2800" dirty="0" err="1"/>
              <a:t>PeopleStrong</a:t>
            </a:r>
            <a:r>
              <a:rPr lang="en-IN" sz="2800" dirty="0"/>
              <a:t>) Business Assumptions, Decisions &amp; Open Points</a:t>
            </a:r>
            <a:endParaRPr lang="en-US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CEA3493-CC1C-222C-C1C9-666140FCA6B3}"/>
              </a:ext>
            </a:extLst>
          </p:cNvPr>
          <p:cNvSpPr txBox="1"/>
          <p:nvPr/>
        </p:nvSpPr>
        <p:spPr>
          <a:xfrm>
            <a:off x="609918" y="1297547"/>
            <a:ext cx="7203122" cy="5093702"/>
          </a:xfrm>
          <a:prstGeom prst="rect">
            <a:avLst/>
          </a:prstGeom>
          <a:noFill/>
          <a:ln>
            <a:solidFill>
              <a:srgbClr val="C00000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Business Assumptions &amp; Decisions</a:t>
            </a:r>
          </a:p>
          <a:p>
            <a:pPr algn="ctr">
              <a:spcAft>
                <a:spcPts val="600"/>
              </a:spcAft>
            </a:pPr>
            <a:endParaRPr lang="en-IN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AI &amp; UK pay structures will not be harmonized pre-merger – separate UK pay structures &amp; components to be configured in a separate (new) AI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PeopleStrong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(PS) instance with UK payroll policies.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Salary for UK employees for Nov 24 to be processed partially by UK (up till 12th Nov) &amp; partially by AI from PeopleStrong (13th Nov onwards).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Payroll markers &amp; rates for variable pay components 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(flying hours, layover count, SIM training hours, etc.) 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for UK &amp; AI Crew (Cabin &amp; Pilots) will be of AI post-merger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UK active employee’s past 5 year’s Payroll data will be migrated from UK SAP S4 HANA (Source) to new AI PeopleStrong (PS) instance (Target) – Salary Slips &amp; Form 16.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3 mock runs (parallel payroll processing) to be done for Aug, Sep &amp; Oct months in Test PS environment – UK team to 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No historical data migration for BRE considered since all reimbursements to be settled prior to merger by UK payroll team.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There will be 2 Form 16 for UK employees’ post-merger &amp; their settlement will be done by UK Payroll team prior to merger.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PS Instance Testing: UAT Completion – 16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Oct 24; Full data migration completion by 18</a:t>
            </a:r>
            <a:r>
              <a:rPr lang="en-US" sz="1400" baseline="30000" dirty="0"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Oct 24.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76CC6B9-D7EF-30C9-66D7-AF5EF8A952AF}"/>
              </a:ext>
            </a:extLst>
          </p:cNvPr>
          <p:cNvSpPr txBox="1"/>
          <p:nvPr/>
        </p:nvSpPr>
        <p:spPr>
          <a:xfrm>
            <a:off x="7955280" y="1297547"/>
            <a:ext cx="3633153" cy="2246769"/>
          </a:xfrm>
          <a:prstGeom prst="rect">
            <a:avLst/>
          </a:prstGeom>
          <a:noFill/>
          <a:ln>
            <a:solidFill>
              <a:srgbClr val="C00000"/>
            </a:solidFill>
            <a:prstDash val="lgDashDotDot"/>
          </a:ln>
        </p:spPr>
        <p:txBody>
          <a:bodyPr wrap="square" rtlCol="0">
            <a:spAutoFit/>
          </a:bodyPr>
          <a:lstStyle/>
          <a:p>
            <a:pPr algn="ctr"/>
            <a:r>
              <a:rPr lang="en-IN" sz="1400" b="1" dirty="0">
                <a:latin typeface="Arial" panose="020B0604020202020204" pitchFamily="34" charset="0"/>
                <a:cs typeface="Arial" panose="020B0604020202020204" pitchFamily="34" charset="0"/>
              </a:rPr>
              <a:t>Open Points &amp; Risks</a:t>
            </a:r>
          </a:p>
          <a:p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Potential risk for parallel mock run 1 – delay anticipated of ~1 week due to delay in finalization of instance strategy for merged entity &amp; contract closure</a:t>
            </a:r>
            <a:b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IN" sz="1400" u="sng" dirty="0">
                <a:latin typeface="Arial" panose="020B0604020202020204" pitchFamily="34" charset="0"/>
                <a:cs typeface="Arial" panose="020B0604020202020204" pitchFamily="34" charset="0"/>
              </a:rPr>
              <a:t>Mitigation Plan:</a:t>
            </a:r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 Additional resources to be deployed by PeopleStrong team to complete configurations within planned timelines for being ready for mock run 1</a:t>
            </a:r>
            <a:endParaRPr lang="en-IN" sz="1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91852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7B3D0-C257-C795-570C-133BB03F4E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9064713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heme/theme1.xml><?xml version="1.0" encoding="utf-8"?>
<a:theme xmlns:a="http://schemas.openxmlformats.org/drawingml/2006/main" name="2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4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5_EY light background">
  <a:themeElements>
    <a:clrScheme name="Custom 8">
      <a:dk1>
        <a:srgbClr val="FFFFFF"/>
      </a:dk1>
      <a:lt1>
        <a:srgbClr val="2E2E38"/>
      </a:lt1>
      <a:dk2>
        <a:srgbClr val="FFE600"/>
      </a:dk2>
      <a:lt2>
        <a:srgbClr val="000000"/>
      </a:lt2>
      <a:accent1>
        <a:srgbClr val="2DB757"/>
      </a:accent1>
      <a:accent2>
        <a:srgbClr val="27ACAA"/>
      </a:accent2>
      <a:accent3>
        <a:srgbClr val="188CE5"/>
      </a:accent3>
      <a:accent4>
        <a:srgbClr val="3D108A"/>
      </a:accent4>
      <a:accent5>
        <a:srgbClr val="FF4136"/>
      </a:accent5>
      <a:accent6>
        <a:srgbClr val="FF6D00"/>
      </a:accent6>
      <a:hlink>
        <a:srgbClr val="0000FF"/>
      </a:hlink>
      <a:folHlink>
        <a:srgbClr val="800080"/>
      </a:folHlink>
    </a:clrScheme>
    <a:fontScheme name="Custom 1">
      <a:majorFont>
        <a:latin typeface="EYInterstate Light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9525">
          <a:solidFill>
            <a:schemeClr val="accent1"/>
          </a:solidFill>
        </a:ln>
      </a:spPr>
      <a:bodyPr rtlCol="0" anchor="t" anchorCtr="0"/>
      <a:lstStyle>
        <a:defPPr algn="ctr">
          <a:defRPr sz="12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accent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36576" rIns="0" bIns="0" rtlCol="0">
        <a:spAutoFit/>
      </a:bodyPr>
      <a:lstStyle>
        <a:defPPr marL="356616" indent="-356616">
          <a:lnSpc>
            <a:spcPct val="85000"/>
          </a:lnSpc>
          <a:spcAft>
            <a:spcPts val="600"/>
          </a:spcAft>
          <a:buClr>
            <a:schemeClr val="accent2"/>
          </a:buClr>
          <a:buSzPct val="70000"/>
          <a:buFont typeface="Arial" pitchFamily="34" charset="0"/>
          <a:buChar char="►"/>
          <a:defRPr sz="1200" dirty="0" err="1" smtClean="0">
            <a:solidFill>
              <a:schemeClr val="bg1"/>
            </a:solidFill>
          </a:defRPr>
        </a:defPPr>
      </a:lstStyle>
    </a:txDef>
  </a:objectDefaults>
  <a:extraClrSchemeLst/>
</a:theme>
</file>

<file path=ppt/theme/theme4.xml><?xml version="1.0" encoding="utf-8"?>
<a:theme xmlns:a="http://schemas.openxmlformats.org/drawingml/2006/main" name="2_Air India Master">
  <a:themeElements>
    <a:clrScheme name="Airn India">
      <a:dk1>
        <a:srgbClr val="000000"/>
      </a:dk1>
      <a:lt1>
        <a:srgbClr val="FFFFFF"/>
      </a:lt1>
      <a:dk2>
        <a:srgbClr val="44546A"/>
      </a:dk2>
      <a:lt2>
        <a:srgbClr val="F9F6EE"/>
      </a:lt2>
      <a:accent1>
        <a:srgbClr val="DA0E28"/>
      </a:accent1>
      <a:accent2>
        <a:srgbClr val="B61032"/>
      </a:accent2>
      <a:accent3>
        <a:srgbClr val="531251"/>
      </a:accent3>
      <a:accent4>
        <a:srgbClr val="F8C1B3"/>
      </a:accent4>
      <a:accent5>
        <a:srgbClr val="F9F6EE"/>
      </a:accent5>
      <a:accent6>
        <a:srgbClr val="FED9A0"/>
      </a:accent6>
      <a:hlink>
        <a:srgbClr val="9E7947"/>
      </a:hlink>
      <a:folHlink>
        <a:srgbClr val="954F72"/>
      </a:folHlink>
    </a:clrScheme>
    <a:fontScheme name="Nunito Air India">
      <a:majorFont>
        <a:latin typeface="Nunito Sans Black"/>
        <a:ea typeface=""/>
        <a:cs typeface=""/>
      </a:majorFont>
      <a:minorFont>
        <a:latin typeface="Nuni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230808_Air India - Presentation Template OPT-1_V06.1" id="{835D2566-5E6C-2349-8CA5-03FC33C08E0A}" vid="{162A5BAB-29F1-3E40-B823-E28B40D34168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C69E71116404940AFEA9AF3E9777A6D" ma:contentTypeVersion="13" ma:contentTypeDescription="Create a new document." ma:contentTypeScope="" ma:versionID="96f22ad9cac9c4dcdabbf9d46a7f30d1">
  <xsd:schema xmlns:xsd="http://www.w3.org/2001/XMLSchema" xmlns:xs="http://www.w3.org/2001/XMLSchema" xmlns:p="http://schemas.microsoft.com/office/2006/metadata/properties" xmlns:ns3="9c6169ce-e585-4204-95fc-7c3076d10b19" xmlns:ns4="41cf1f75-1b55-401b-bbab-ae1fdf58df2e" targetNamespace="http://schemas.microsoft.com/office/2006/metadata/properties" ma:root="true" ma:fieldsID="a3c1a7537c59e71dd2ecf5da26cac13a" ns3:_="" ns4:_="">
    <xsd:import namespace="9c6169ce-e585-4204-95fc-7c3076d10b19"/>
    <xsd:import namespace="41cf1f75-1b55-401b-bbab-ae1fdf58df2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c6169ce-e585-4204-95fc-7c3076d10b1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cf1f75-1b55-401b-bbab-ae1fdf58df2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0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B87A7AE-4117-4BFF-A6F6-ECE3F3EACE2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FA004CA-84BB-431F-9A56-DEE8489B989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c6169ce-e585-4204-95fc-7c3076d10b19"/>
    <ds:schemaRef ds:uri="41cf1f75-1b55-401b-bbab-ae1fdf58df2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662CC65-22A2-443C-8349-302CC3C8F680}">
  <ds:schemaRefs>
    <ds:schemaRef ds:uri="41cf1f75-1b55-401b-bbab-ae1fdf58df2e"/>
    <ds:schemaRef ds:uri="http://purl.org/dc/dcmitype/"/>
    <ds:schemaRef ds:uri="9c6169ce-e585-4204-95fc-7c3076d10b19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c627367-8bb7-4ccb-accc-dcf8fe2e1aa0}" enabled="1" method="Standard" siteId="{41591cc6-574f-45d5-819b-9a4773330aec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2492</Words>
  <Application>Microsoft Office PowerPoint</Application>
  <PresentationFormat>Custom</PresentationFormat>
  <Paragraphs>352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AirIndia</vt:lpstr>
      <vt:lpstr>Arial</vt:lpstr>
      <vt:lpstr>Arial Unicode MS</vt:lpstr>
      <vt:lpstr>EYInterstate</vt:lpstr>
      <vt:lpstr>EYInterstate Light</vt:lpstr>
      <vt:lpstr>Georgia</vt:lpstr>
      <vt:lpstr>Montserrat Light</vt:lpstr>
      <vt:lpstr>Nunito Sans</vt:lpstr>
      <vt:lpstr>2_EY light background</vt:lpstr>
      <vt:lpstr>4_EY light background</vt:lpstr>
      <vt:lpstr>5_EY light background</vt:lpstr>
      <vt:lpstr>2_Air India Master</vt:lpstr>
      <vt:lpstr>Steering Committee Meeting for HR Tech UK – AI Merger  05-Sep-2024</vt:lpstr>
      <vt:lpstr>Todays Agenda</vt:lpstr>
      <vt:lpstr>2. Payroll - PeopleStrong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Other HR Tech Apps</vt:lpstr>
      <vt:lpstr>PowerPoint Presentation</vt:lpstr>
      <vt:lpstr>PowerPoint Presentation</vt:lpstr>
      <vt:lpstr>3. Appendix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2016-03-16T05:57:48Z</dcterms:created>
  <dcterms:modified xsi:type="dcterms:W3CDTF">2024-09-12T09:48:11Z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0x010100AC69E71116404940AFEA9AF3E9777A6D</vt:lpwstr>
  </property>
</Properties>
</file>