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37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C8B16D-4ED2-45AF-8BBA-931807705CA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5CDDD1-DF00-4A02-8DC0-453394422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5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025B2-B771-9A5C-7184-7A51A76B2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89808-50DD-BA5B-9BBB-8C973C64B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1F4BA-AC4E-8306-DB35-8FC82BE17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Include some examples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E786-156D-D172-13C3-3BEA2EC9D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420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BEA2-CBE7-3ECD-B272-A446D8153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61170-11A2-859C-217F-218E3D759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DB61E-3747-7B66-6ED7-44D8FD0AD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B0C73-BF8F-A47A-BCB3-4E838372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A5869-F82C-4D28-B569-9E5D6D9C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2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B371-EF2A-9B7F-73ED-368B17E1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0023F-5F1F-2726-615E-D07AD0C91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A9710-B5EE-EF7C-E80C-0FEBB650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ED7D6-E6B4-C341-0D4D-B6BC7D81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96158-8036-C75F-4A4A-693792CC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5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5F7A-C87D-336A-44E9-4E856514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C6468-FAAB-98AA-3A85-DF4F863C0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A29BA-002F-282A-276D-A01EE673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9653E-472F-62C3-DC34-6F7B8FC0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48303-E0FF-4522-07FA-B2B69D09F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2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1F39-2562-C757-710D-297A4869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EAF5-8B5B-717E-62E4-0FD5D4887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41EFE-6D5C-D25E-7768-2B9CE021D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0C44A-2DBA-2B29-7715-D17AFAAF1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DAEAA-0E45-E089-ED63-CE4F8911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397F4-F904-C708-A919-0157EE00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0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2748B-1E7D-B1BB-FA40-3AC4E325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F200F-B60D-338B-AC05-3A587CD44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77DC6-4CF4-5F86-06A6-AD76A9475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C2E00-A36B-05B3-6A8C-5D4FF42F8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CE571-98F1-5D7A-9106-5C41C25C0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064E75-AEF5-9D97-B358-D05DEE82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45ED9-706E-CFB2-D425-AE86E311A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52CC6-B050-AA5F-3F77-343A007D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6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0F52-61DD-95C9-73FE-A6263383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DC2A3-F745-C083-025D-79715A13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E8B99-88D9-8709-D094-B41D768E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FE798-0126-D6FB-6947-EBE3BF77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2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9BEB6-D135-8602-CB6F-F52EA0978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76477-6D97-7D4F-204D-FC2C4853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BBBEF-B92C-E804-6FB2-3F23C8A6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86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B4C04-369D-9653-EEC0-D332B9B3F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905AE-A0D9-B191-74D6-98A09C5B4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F93C9-BA5F-58CE-5943-0340CD19F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7EB39-B3D6-D9F6-C92F-2AF036483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E3467-8663-067A-FCA9-142FB4FC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0202E-F0A6-E733-1540-B0B163F6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747F-6C4D-A0B0-286D-81384FB4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0B1DCF-9ED2-CCAA-7F6C-CB3E75935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A4F08-25DF-4E43-C916-5D9ACFBA4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73DE8-0E39-D084-E552-1A16E21C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B1EF2-6B01-7076-990C-F80F5129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6A29C-5131-540F-EFAF-95D7E6D3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44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D67B-BB86-12F5-B341-38BC43B6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111B7-CDEC-6F68-7FBC-692A9F3E3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506AA-2F67-388E-7B96-03D97266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AB3EE-B2D5-0585-CCB4-9BBDBC0E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11440-A3B1-32C4-B583-E6A9827E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4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1E903F-975E-D281-F615-253181EA2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CFBCC-D47C-BB42-C8D0-926F02196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DE81D-0FCD-8A29-D9DD-6C660B69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251E0-9EA6-1374-7585-430E2EC7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1622C-699B-E873-AD7D-E6B08AF83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39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59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CD74D-DE0C-7501-0F86-27FCE7A03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649C2-93E3-0BFB-150D-F891ABA6E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129B7-D6A7-38BA-0A1A-8C61E2C03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0FA88-64E8-4E43-99A9-F6859B69EA0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494C1-11AF-2007-4AC4-12EF3C47C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F77BC-33F1-A616-42D2-DAECB177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2C659-0B84-4548-BA34-472A0B3BC91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B9C5F-E463-78A1-CA45-75134E4878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41087" y="6642100"/>
            <a:ext cx="1935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Air India General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6860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DC63-0E45-1F82-8D26-E4938FA29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73B68-1DF7-CC73-FD3A-958AF1554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8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642B3-0CC2-EBFA-21F8-BCC68CF4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3D92F5B-0C2F-9D12-7325-7231362A1007}"/>
              </a:ext>
            </a:extLst>
          </p:cNvPr>
          <p:cNvSpPr/>
          <p:nvPr/>
        </p:nvSpPr>
        <p:spPr>
          <a:xfrm>
            <a:off x="103637" y="1764892"/>
            <a:ext cx="11204531" cy="12269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048E64-87F5-BD41-7CBA-7BA978DFC189}"/>
              </a:ext>
            </a:extLst>
          </p:cNvPr>
          <p:cNvSpPr txBox="1"/>
          <p:nvPr/>
        </p:nvSpPr>
        <p:spPr>
          <a:xfrm>
            <a:off x="106599" y="1762638"/>
            <a:ext cx="206219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L1 Priority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Area Coverage: 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97" name="Title 11">
            <a:extLst>
              <a:ext uri="{FF2B5EF4-FFF2-40B4-BE49-F238E27FC236}">
                <a16:creationId xmlns:a16="http://schemas.microsoft.com/office/drawing/2014/main" id="{F4CB0451-68C0-69FE-1C69-D9011724194F}"/>
              </a:ext>
            </a:extLst>
          </p:cNvPr>
          <p:cNvSpPr txBox="1">
            <a:spLocks/>
          </p:cNvSpPr>
          <p:nvPr/>
        </p:nvSpPr>
        <p:spPr>
          <a:xfrm>
            <a:off x="4358180" y="-717"/>
            <a:ext cx="3991284" cy="34188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1800">
                <a:solidFill>
                  <a:srgbClr val="DA0E28"/>
                </a:solidFill>
                <a:latin typeface="AirIndia"/>
              </a:rPr>
              <a:t>HR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DA0E28"/>
                </a:solidFill>
                <a:effectLst/>
                <a:uLnTx/>
                <a:uFillTx/>
                <a:latin typeface="AirIndia"/>
                <a:ea typeface="+mj-ea"/>
                <a:cs typeface="+mj-cs"/>
              </a:rPr>
              <a:t>Summary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9B7CCA-DD1E-1E80-6263-31792F120547}"/>
              </a:ext>
            </a:extLst>
          </p:cNvPr>
          <p:cNvSpPr txBox="1"/>
          <p:nvPr/>
        </p:nvSpPr>
        <p:spPr>
          <a:xfrm>
            <a:off x="2860954" y="1205768"/>
            <a:ext cx="106924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Workshops Completed/Total Workshops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F82544C-27D4-5582-AE5C-7AD5EBEE8B7D}"/>
              </a:ext>
            </a:extLst>
          </p:cNvPr>
          <p:cNvSpPr/>
          <p:nvPr/>
        </p:nvSpPr>
        <p:spPr>
          <a:xfrm>
            <a:off x="1130510" y="792410"/>
            <a:ext cx="960569" cy="408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0CB2A13-BBCF-7FD0-EAEC-77733DD7EA65}"/>
              </a:ext>
            </a:extLst>
          </p:cNvPr>
          <p:cNvSpPr/>
          <p:nvPr/>
        </p:nvSpPr>
        <p:spPr>
          <a:xfrm>
            <a:off x="1179278" y="792410"/>
            <a:ext cx="960569" cy="408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9/12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A58CD3-E1D6-B55A-D1F8-BA5677449C87}"/>
              </a:ext>
            </a:extLst>
          </p:cNvPr>
          <p:cNvSpPr txBox="1"/>
          <p:nvPr/>
        </p:nvSpPr>
        <p:spPr>
          <a:xfrm>
            <a:off x="758513" y="1262039"/>
            <a:ext cx="17183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Priority Process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Areas Covered/Total Priority Areas</a:t>
            </a:r>
          </a:p>
        </p:txBody>
      </p:sp>
      <p:sp>
        <p:nvSpPr>
          <p:cNvPr id="8" name="Rectangle: Rounded Corners 71">
            <a:extLst>
              <a:ext uri="{FF2B5EF4-FFF2-40B4-BE49-F238E27FC236}">
                <a16:creationId xmlns:a16="http://schemas.microsoft.com/office/drawing/2014/main" id="{1CD6E820-E252-EE6D-4D1E-ADA9A9F6AAB9}"/>
              </a:ext>
            </a:extLst>
          </p:cNvPr>
          <p:cNvSpPr/>
          <p:nvPr/>
        </p:nvSpPr>
        <p:spPr>
          <a:xfrm>
            <a:off x="2860954" y="796153"/>
            <a:ext cx="960569" cy="408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9" name="Rectangle: Rounded Corners 72">
            <a:extLst>
              <a:ext uri="{FF2B5EF4-FFF2-40B4-BE49-F238E27FC236}">
                <a16:creationId xmlns:a16="http://schemas.microsoft.com/office/drawing/2014/main" id="{A436F82E-5797-A98F-3842-AFF7EDFFAECA}"/>
              </a:ext>
            </a:extLst>
          </p:cNvPr>
          <p:cNvSpPr/>
          <p:nvPr/>
        </p:nvSpPr>
        <p:spPr>
          <a:xfrm>
            <a:off x="2909722" y="796153"/>
            <a:ext cx="960569" cy="408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13/16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9DABB-8F9F-7307-637D-8ECDF2A5F196}"/>
              </a:ext>
            </a:extLst>
          </p:cNvPr>
          <p:cNvSpPr txBox="1"/>
          <p:nvPr/>
        </p:nvSpPr>
        <p:spPr>
          <a:xfrm>
            <a:off x="4604798" y="1199468"/>
            <a:ext cx="106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Use Cases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Identified</a:t>
            </a:r>
          </a:p>
        </p:txBody>
      </p:sp>
      <p:sp>
        <p:nvSpPr>
          <p:cNvPr id="10" name="Rectangle: Rounded Corners 71">
            <a:extLst>
              <a:ext uri="{FF2B5EF4-FFF2-40B4-BE49-F238E27FC236}">
                <a16:creationId xmlns:a16="http://schemas.microsoft.com/office/drawing/2014/main" id="{0EF7486B-4844-9364-214C-128471A96286}"/>
              </a:ext>
            </a:extLst>
          </p:cNvPr>
          <p:cNvSpPr/>
          <p:nvPr/>
        </p:nvSpPr>
        <p:spPr>
          <a:xfrm>
            <a:off x="4604798" y="789853"/>
            <a:ext cx="960569" cy="408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1" name="Rectangle: Rounded Corners 72">
            <a:extLst>
              <a:ext uri="{FF2B5EF4-FFF2-40B4-BE49-F238E27FC236}">
                <a16:creationId xmlns:a16="http://schemas.microsoft.com/office/drawing/2014/main" id="{68C39255-4E66-B4FF-CA2D-C501326B5656}"/>
              </a:ext>
            </a:extLst>
          </p:cNvPr>
          <p:cNvSpPr/>
          <p:nvPr/>
        </p:nvSpPr>
        <p:spPr>
          <a:xfrm>
            <a:off x="4653566" y="789853"/>
            <a:ext cx="960569" cy="408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8E1551-E3FE-26F9-35EF-ADDE275B09E6}"/>
              </a:ext>
            </a:extLst>
          </p:cNvPr>
          <p:cNvSpPr txBox="1"/>
          <p:nvPr/>
        </p:nvSpPr>
        <p:spPr>
          <a:xfrm>
            <a:off x="6306756" y="1189887"/>
            <a:ext cx="106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Stakeholders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Engaged</a:t>
            </a:r>
          </a:p>
        </p:txBody>
      </p:sp>
      <p:sp>
        <p:nvSpPr>
          <p:cNvPr id="19" name="Rectangle: Rounded Corners 71">
            <a:extLst>
              <a:ext uri="{FF2B5EF4-FFF2-40B4-BE49-F238E27FC236}">
                <a16:creationId xmlns:a16="http://schemas.microsoft.com/office/drawing/2014/main" id="{4A461B7A-11A0-72C3-CF65-06D29E362733}"/>
              </a:ext>
            </a:extLst>
          </p:cNvPr>
          <p:cNvSpPr/>
          <p:nvPr/>
        </p:nvSpPr>
        <p:spPr>
          <a:xfrm>
            <a:off x="6306756" y="780272"/>
            <a:ext cx="960569" cy="408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20" name="Rectangle: Rounded Corners 72">
            <a:extLst>
              <a:ext uri="{FF2B5EF4-FFF2-40B4-BE49-F238E27FC236}">
                <a16:creationId xmlns:a16="http://schemas.microsoft.com/office/drawing/2014/main" id="{0DB5698E-CBDA-09AE-3E98-3FDB90F3DA51}"/>
              </a:ext>
            </a:extLst>
          </p:cNvPr>
          <p:cNvSpPr/>
          <p:nvPr/>
        </p:nvSpPr>
        <p:spPr>
          <a:xfrm>
            <a:off x="6355524" y="780272"/>
            <a:ext cx="960569" cy="408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</a:br>
            <a:r>
              <a:rPr lang="en-IN">
                <a:solidFill>
                  <a:srgbClr val="C00000"/>
                </a:solidFill>
                <a:latin typeface="Nunito Sans"/>
              </a:rPr>
              <a:t>10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80DFC7-8123-E2CC-1E32-3AD2E77F3339}"/>
              </a:ext>
            </a:extLst>
          </p:cNvPr>
          <p:cNvSpPr txBox="1"/>
          <p:nvPr/>
        </p:nvSpPr>
        <p:spPr>
          <a:xfrm>
            <a:off x="9514449" y="1203810"/>
            <a:ext cx="1455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No. of Process for which documents under review</a:t>
            </a:r>
          </a:p>
        </p:txBody>
      </p:sp>
      <p:sp>
        <p:nvSpPr>
          <p:cNvPr id="32" name="Rectangle: Rounded Corners 71">
            <a:extLst>
              <a:ext uri="{FF2B5EF4-FFF2-40B4-BE49-F238E27FC236}">
                <a16:creationId xmlns:a16="http://schemas.microsoft.com/office/drawing/2014/main" id="{0955AF7A-F859-FDB0-D24D-DEDC851D4CA4}"/>
              </a:ext>
            </a:extLst>
          </p:cNvPr>
          <p:cNvSpPr/>
          <p:nvPr/>
        </p:nvSpPr>
        <p:spPr>
          <a:xfrm>
            <a:off x="9661422" y="751257"/>
            <a:ext cx="960569" cy="408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35" name="Rectangle: Rounded Corners 72">
            <a:extLst>
              <a:ext uri="{FF2B5EF4-FFF2-40B4-BE49-F238E27FC236}">
                <a16:creationId xmlns:a16="http://schemas.microsoft.com/office/drawing/2014/main" id="{89E9C9DE-87AB-560A-37F0-335183F34E23}"/>
              </a:ext>
            </a:extLst>
          </p:cNvPr>
          <p:cNvSpPr/>
          <p:nvPr/>
        </p:nvSpPr>
        <p:spPr>
          <a:xfrm>
            <a:off x="9710190" y="751257"/>
            <a:ext cx="960569" cy="408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</a:br>
            <a:r>
              <a:rPr lang="en-IN">
                <a:solidFill>
                  <a:srgbClr val="C00000"/>
                </a:solidFill>
                <a:latin typeface="Nunito Sans"/>
              </a:rPr>
              <a:t>2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F43562-1BE1-5D1D-E5A0-3A144B0BBFBC}"/>
              </a:ext>
            </a:extLst>
          </p:cNvPr>
          <p:cNvSpPr txBox="1"/>
          <p:nvPr/>
        </p:nvSpPr>
        <p:spPr>
          <a:xfrm>
            <a:off x="275656" y="422089"/>
            <a:ext cx="7815066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Phase 1 – Discovery &amp; Mapping (Completed)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2A5768-E17C-9A58-41B1-C4BFE928E7F6}"/>
              </a:ext>
            </a:extLst>
          </p:cNvPr>
          <p:cNvSpPr txBox="1"/>
          <p:nvPr/>
        </p:nvSpPr>
        <p:spPr>
          <a:xfrm>
            <a:off x="8401618" y="403141"/>
            <a:ext cx="350033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Phase 2 – Deep Dive &amp; Validation (In-Progress)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1C065B8-B0F4-97C5-89BB-423435FA1753}"/>
              </a:ext>
            </a:extLst>
          </p:cNvPr>
          <p:cNvCxnSpPr/>
          <p:nvPr/>
        </p:nvCxnSpPr>
        <p:spPr>
          <a:xfrm>
            <a:off x="389937" y="678110"/>
            <a:ext cx="76883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E621B19-A09A-B663-229F-D0D9153512D5}"/>
              </a:ext>
            </a:extLst>
          </p:cNvPr>
          <p:cNvCxnSpPr>
            <a:cxnSpLocks/>
          </p:cNvCxnSpPr>
          <p:nvPr/>
        </p:nvCxnSpPr>
        <p:spPr>
          <a:xfrm>
            <a:off x="8637063" y="670490"/>
            <a:ext cx="31861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7652AD1B-290D-49D7-B500-52D0A08BEC73}"/>
              </a:ext>
            </a:extLst>
          </p:cNvPr>
          <p:cNvGraphicFramePr>
            <a:graphicFrameLocks noGrp="1"/>
          </p:cNvGraphicFramePr>
          <p:nvPr/>
        </p:nvGraphicFramePr>
        <p:xfrm>
          <a:off x="169387" y="3137323"/>
          <a:ext cx="11853226" cy="323299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25717">
                  <a:extLst>
                    <a:ext uri="{9D8B030D-6E8A-4147-A177-3AD203B41FA5}">
                      <a16:colId xmlns:a16="http://schemas.microsoft.com/office/drawing/2014/main" val="1467742036"/>
                    </a:ext>
                  </a:extLst>
                </a:gridCol>
                <a:gridCol w="3323015">
                  <a:extLst>
                    <a:ext uri="{9D8B030D-6E8A-4147-A177-3AD203B41FA5}">
                      <a16:colId xmlns:a16="http://schemas.microsoft.com/office/drawing/2014/main" val="3932334559"/>
                    </a:ext>
                  </a:extLst>
                </a:gridCol>
                <a:gridCol w="1354477">
                  <a:extLst>
                    <a:ext uri="{9D8B030D-6E8A-4147-A177-3AD203B41FA5}">
                      <a16:colId xmlns:a16="http://schemas.microsoft.com/office/drawing/2014/main" val="3636338840"/>
                    </a:ext>
                  </a:extLst>
                </a:gridCol>
                <a:gridCol w="999021">
                  <a:extLst>
                    <a:ext uri="{9D8B030D-6E8A-4147-A177-3AD203B41FA5}">
                      <a16:colId xmlns:a16="http://schemas.microsoft.com/office/drawing/2014/main" val="3749550346"/>
                    </a:ext>
                  </a:extLst>
                </a:gridCol>
                <a:gridCol w="2084547">
                  <a:extLst>
                    <a:ext uri="{9D8B030D-6E8A-4147-A177-3AD203B41FA5}">
                      <a16:colId xmlns:a16="http://schemas.microsoft.com/office/drawing/2014/main" val="4013012856"/>
                    </a:ext>
                  </a:extLst>
                </a:gridCol>
                <a:gridCol w="1588279">
                  <a:extLst>
                    <a:ext uri="{9D8B030D-6E8A-4147-A177-3AD203B41FA5}">
                      <a16:colId xmlns:a16="http://schemas.microsoft.com/office/drawing/2014/main" val="3693250901"/>
                    </a:ext>
                  </a:extLst>
                </a:gridCol>
                <a:gridCol w="1078170">
                  <a:extLst>
                    <a:ext uri="{9D8B030D-6E8A-4147-A177-3AD203B41FA5}">
                      <a16:colId xmlns:a16="http://schemas.microsoft.com/office/drawing/2014/main" val="2138090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+mn-lt"/>
                        </a:rPr>
                        <a:t>Initiative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+mn-lt"/>
                        </a:rPr>
                        <a:t>Initiative 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+mn-lt"/>
                        </a:rPr>
                        <a:t>L1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B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>
                          <a:latin typeface="+mn-lt"/>
                        </a:rPr>
                        <a:t>Tentative Implementation Cost</a:t>
                      </a:r>
                    </a:p>
                    <a:p>
                      <a:pPr algn="ctr"/>
                      <a:endParaRPr lang="en-IN" sz="10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+mn-lt"/>
                        </a:rPr>
                        <a:t>Value Articulation(CX, Cost, Revenue)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+mn-lt"/>
                        </a:rPr>
                        <a:t>FY27 Savings Value</a:t>
                      </a:r>
                      <a:br>
                        <a:rPr lang="en-IN" sz="1000">
                          <a:latin typeface="+mn-lt"/>
                        </a:rPr>
                      </a:br>
                      <a:r>
                        <a:rPr lang="en-IN" sz="1000">
                          <a:latin typeface="+mn-lt"/>
                        </a:rPr>
                        <a:t>(P&amp;L Impact – Revenue/Cost)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B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latin typeface="+mn-lt"/>
                        </a:rPr>
                        <a:t>3 Year Savings (P&amp;L impact – Revenue/Cost)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035906"/>
                  </a:ext>
                </a:extLst>
              </a:tr>
              <a:tr h="379394">
                <a:tc>
                  <a:txBody>
                    <a:bodyPr/>
                    <a:lstStyle/>
                    <a:p>
                      <a:r>
                        <a:rPr lang="en-US" sz="1000">
                          <a:latin typeface="Aptos" panose="020B0004020202020204" pitchFamily="34" charset="0"/>
                        </a:rPr>
                        <a:t>Hiring Process – HR Agent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Automating the end-to-end recruitment process including </a:t>
                      </a:r>
                      <a:r>
                        <a:rPr lang="en-US" sz="1000"/>
                        <a:t>requisition creation, sourcing, screening, interviews, offer release, and pre-joining documentation.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Hiring – Flying &amp; Non – Flying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1.05 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+mn-lt"/>
                        </a:rPr>
                        <a:t>Improved candidate experience with faster turnaround and digital workflows</a:t>
                      </a:r>
                      <a:r>
                        <a:rPr lang="en-US" sz="1100">
                          <a:latin typeface="+mn-lt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SLA compliance improves governance and reduces penalties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IN" sz="1000"/>
                      </a:br>
                      <a:endParaRPr lang="en-IN" sz="1000"/>
                    </a:p>
                    <a:p>
                      <a:pPr algn="ctr"/>
                      <a:r>
                        <a:rPr lang="en-IN" sz="1000"/>
                        <a:t>NIL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642902"/>
                  </a:ext>
                </a:extLst>
              </a:tr>
              <a:tr h="626957">
                <a:tc>
                  <a:txBody>
                    <a:bodyPr/>
                    <a:lstStyle/>
                    <a:p>
                      <a:r>
                        <a:rPr lang="en-IN" sz="1000">
                          <a:latin typeface="Aptos" panose="020B0004020202020204" pitchFamily="34" charset="0"/>
                        </a:rPr>
                        <a:t>Onboarding – HR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Automating the onboarding process to eliminate redundant tasks, improve efficiency, and deliver an enhanced candidate experience</a:t>
                      </a:r>
                      <a:endParaRPr lang="en-US" sz="1000" b="0" i="0">
                        <a:solidFill>
                          <a:srgbClr val="424242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Onboarding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1.05 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/>
                        <a:t>Reduced manual work and higher employee efficiency.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900"/>
                        <a:t>Improved candidate experience.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870915"/>
                  </a:ext>
                </a:extLst>
              </a:tr>
              <a:tr h="380110">
                <a:tc>
                  <a:txBody>
                    <a:bodyPr/>
                    <a:lstStyle/>
                    <a:p>
                      <a:r>
                        <a:rPr lang="en-US" sz="1000">
                          <a:latin typeface="Aptos" panose="020B0004020202020204" pitchFamily="34" charset="0"/>
                        </a:rPr>
                        <a:t>HR Helpdesk – Query resolution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Moving the complete Helpdesk and employee query resolution to DG or Agentic., thereby improving efficiency, better TAT and on time query resolution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1000"/>
                        <a:t>Helpdesk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1.25 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900"/>
                        <a:t>On time query resolution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900"/>
                        <a:t>Effective utilization of resources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900"/>
                        <a:t>Improved employee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/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7545990"/>
                  </a:ext>
                </a:extLst>
              </a:tr>
              <a:tr h="377155">
                <a:tc>
                  <a:txBody>
                    <a:bodyPr/>
                    <a:lstStyle/>
                    <a:p>
                      <a:endParaRPr lang="en-IN" sz="1000" b="1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3.35 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solidFill>
                            <a:schemeClr val="bg1"/>
                          </a:solidFill>
                        </a:rPr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>
                          <a:solidFill>
                            <a:schemeClr val="bg1"/>
                          </a:solidFill>
                        </a:rPr>
                        <a:t>NIL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874546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737DE8EB-7E9E-520C-BB97-2081AFE07949}"/>
              </a:ext>
            </a:extLst>
          </p:cNvPr>
          <p:cNvGrpSpPr/>
          <p:nvPr/>
        </p:nvGrpSpPr>
        <p:grpSpPr>
          <a:xfrm>
            <a:off x="1433877" y="1857326"/>
            <a:ext cx="940980" cy="450949"/>
            <a:chOff x="1399032" y="1088136"/>
            <a:chExt cx="1138047" cy="950976"/>
          </a:xfrm>
        </p:grpSpPr>
        <p:sp>
          <p:nvSpPr>
            <p:cNvPr id="60" name="Rectangle: Rounded Corners 1">
              <a:extLst>
                <a:ext uri="{FF2B5EF4-FFF2-40B4-BE49-F238E27FC236}">
                  <a16:creationId xmlns:a16="http://schemas.microsoft.com/office/drawing/2014/main" id="{1D2B1A2F-8CFB-F4B3-F93A-42C19A8D27CF}"/>
                </a:ext>
              </a:extLst>
            </p:cNvPr>
            <p:cNvSpPr/>
            <p:nvPr/>
          </p:nvSpPr>
          <p:spPr>
            <a:xfrm>
              <a:off x="1399032" y="1088136"/>
              <a:ext cx="1060704" cy="950976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Rectangle: Rounded Corners 2">
              <a:extLst>
                <a:ext uri="{FF2B5EF4-FFF2-40B4-BE49-F238E27FC236}">
                  <a16:creationId xmlns:a16="http://schemas.microsoft.com/office/drawing/2014/main" id="{BBAB9DF9-75B2-7B72-B947-B012AA4EED60}"/>
                </a:ext>
              </a:extLst>
            </p:cNvPr>
            <p:cNvSpPr/>
            <p:nvPr/>
          </p:nvSpPr>
          <p:spPr>
            <a:xfrm>
              <a:off x="1476375" y="1088136"/>
              <a:ext cx="1060704" cy="9509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018057E-0F71-5543-9961-97084A3AD268}"/>
                </a:ext>
              </a:extLst>
            </p:cNvPr>
            <p:cNvSpPr txBox="1"/>
            <p:nvPr/>
          </p:nvSpPr>
          <p:spPr>
            <a:xfrm>
              <a:off x="1399855" y="1358572"/>
              <a:ext cx="1106424" cy="37798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IN" sz="1100"/>
                <a:t>BGV</a:t>
              </a:r>
              <a:endParaRPr lang="en-IN" sz="1100">
                <a:effectLst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D75CE45-DEAA-F22F-0B8E-341AC6638DF1}"/>
              </a:ext>
            </a:extLst>
          </p:cNvPr>
          <p:cNvGrpSpPr/>
          <p:nvPr/>
        </p:nvGrpSpPr>
        <p:grpSpPr>
          <a:xfrm>
            <a:off x="2860954" y="1845048"/>
            <a:ext cx="1138047" cy="463227"/>
            <a:chOff x="1399032" y="1088136"/>
            <a:chExt cx="1138047" cy="950976"/>
          </a:xfrm>
        </p:grpSpPr>
        <p:sp>
          <p:nvSpPr>
            <p:cNvPr id="79" name="Rectangle: Rounded Corners 1">
              <a:extLst>
                <a:ext uri="{FF2B5EF4-FFF2-40B4-BE49-F238E27FC236}">
                  <a16:creationId xmlns:a16="http://schemas.microsoft.com/office/drawing/2014/main" id="{56064647-4FF6-55D3-09A4-83E46CDD4FBE}"/>
                </a:ext>
              </a:extLst>
            </p:cNvPr>
            <p:cNvSpPr/>
            <p:nvPr/>
          </p:nvSpPr>
          <p:spPr>
            <a:xfrm>
              <a:off x="1399032" y="1088136"/>
              <a:ext cx="1060704" cy="950976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Rectangle: Rounded Corners 2">
              <a:extLst>
                <a:ext uri="{FF2B5EF4-FFF2-40B4-BE49-F238E27FC236}">
                  <a16:creationId xmlns:a16="http://schemas.microsoft.com/office/drawing/2014/main" id="{FB00F015-F330-3716-4C4B-68E56C459D13}"/>
                </a:ext>
              </a:extLst>
            </p:cNvPr>
            <p:cNvSpPr/>
            <p:nvPr/>
          </p:nvSpPr>
          <p:spPr>
            <a:xfrm>
              <a:off x="1476375" y="1088136"/>
              <a:ext cx="1060704" cy="9509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F210834-AD15-2A5D-9F1E-E621B17A58D0}"/>
                </a:ext>
              </a:extLst>
            </p:cNvPr>
            <p:cNvSpPr txBox="1"/>
            <p:nvPr/>
          </p:nvSpPr>
          <p:spPr>
            <a:xfrm>
              <a:off x="1425961" y="1365571"/>
              <a:ext cx="1106424" cy="37798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100"/>
                <a:t>Recruitment</a:t>
              </a:r>
              <a:endParaRPr lang="en-IN" sz="110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A2BFF3E-47AE-3A8D-4153-7BF33E78F4C0}"/>
              </a:ext>
            </a:extLst>
          </p:cNvPr>
          <p:cNvGrpSpPr/>
          <p:nvPr/>
        </p:nvGrpSpPr>
        <p:grpSpPr>
          <a:xfrm>
            <a:off x="4323790" y="1840761"/>
            <a:ext cx="1141079" cy="462675"/>
            <a:chOff x="1399032" y="1026543"/>
            <a:chExt cx="1141079" cy="1012569"/>
          </a:xfrm>
        </p:grpSpPr>
        <p:sp>
          <p:nvSpPr>
            <p:cNvPr id="83" name="Rectangle: Rounded Corners 1">
              <a:extLst>
                <a:ext uri="{FF2B5EF4-FFF2-40B4-BE49-F238E27FC236}">
                  <a16:creationId xmlns:a16="http://schemas.microsoft.com/office/drawing/2014/main" id="{74D73F10-EFB3-6120-A3A8-A154C876D83A}"/>
                </a:ext>
              </a:extLst>
            </p:cNvPr>
            <p:cNvSpPr/>
            <p:nvPr/>
          </p:nvSpPr>
          <p:spPr>
            <a:xfrm>
              <a:off x="1399032" y="1088136"/>
              <a:ext cx="1060704" cy="950976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Rectangle: Rounded Corners 2">
              <a:extLst>
                <a:ext uri="{FF2B5EF4-FFF2-40B4-BE49-F238E27FC236}">
                  <a16:creationId xmlns:a16="http://schemas.microsoft.com/office/drawing/2014/main" id="{EA94E029-185D-B3AB-7115-85AD621AB0EC}"/>
                </a:ext>
              </a:extLst>
            </p:cNvPr>
            <p:cNvSpPr/>
            <p:nvPr/>
          </p:nvSpPr>
          <p:spPr>
            <a:xfrm>
              <a:off x="1466850" y="1088136"/>
              <a:ext cx="1060704" cy="9509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>
                  <a:solidFill>
                    <a:schemeClr val="tx1"/>
                  </a:solidFill>
                </a:rPr>
                <a:t>Onboarding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539316F-E370-08C0-8149-D41E1A49D2D4}"/>
                </a:ext>
              </a:extLst>
            </p:cNvPr>
            <p:cNvSpPr txBox="1"/>
            <p:nvPr/>
          </p:nvSpPr>
          <p:spPr>
            <a:xfrm>
              <a:off x="1433687" y="1026543"/>
              <a:ext cx="1106424" cy="37798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endParaRPr lang="en-US" sz="110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DDC3B9C-9F65-8BC3-0CA8-81F4EF861C07}"/>
              </a:ext>
            </a:extLst>
          </p:cNvPr>
          <p:cNvGrpSpPr/>
          <p:nvPr/>
        </p:nvGrpSpPr>
        <p:grpSpPr>
          <a:xfrm>
            <a:off x="5850724" y="1855802"/>
            <a:ext cx="1139718" cy="487319"/>
            <a:chOff x="1399032" y="1088136"/>
            <a:chExt cx="1139718" cy="950976"/>
          </a:xfrm>
        </p:grpSpPr>
        <p:sp>
          <p:nvSpPr>
            <p:cNvPr id="87" name="Rectangle: Rounded Corners 1">
              <a:extLst>
                <a:ext uri="{FF2B5EF4-FFF2-40B4-BE49-F238E27FC236}">
                  <a16:creationId xmlns:a16="http://schemas.microsoft.com/office/drawing/2014/main" id="{D53D1A60-E92E-B9E2-6058-B99D078C1BB9}"/>
                </a:ext>
              </a:extLst>
            </p:cNvPr>
            <p:cNvSpPr/>
            <p:nvPr/>
          </p:nvSpPr>
          <p:spPr>
            <a:xfrm>
              <a:off x="1399032" y="1088136"/>
              <a:ext cx="1060704" cy="950976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8" name="Rectangle: Rounded Corners 2">
              <a:extLst>
                <a:ext uri="{FF2B5EF4-FFF2-40B4-BE49-F238E27FC236}">
                  <a16:creationId xmlns:a16="http://schemas.microsoft.com/office/drawing/2014/main" id="{720462CA-A0BB-F951-16C3-2734F71A0DE9}"/>
                </a:ext>
              </a:extLst>
            </p:cNvPr>
            <p:cNvSpPr/>
            <p:nvPr/>
          </p:nvSpPr>
          <p:spPr>
            <a:xfrm>
              <a:off x="1466850" y="1088136"/>
              <a:ext cx="1060704" cy="9509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AB570F1-1435-8AF8-D1A1-86763A92F053}"/>
                </a:ext>
              </a:extLst>
            </p:cNvPr>
            <p:cNvSpPr txBox="1"/>
            <p:nvPr/>
          </p:nvSpPr>
          <p:spPr>
            <a:xfrm>
              <a:off x="1432326" y="1199552"/>
              <a:ext cx="1106424" cy="62255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100"/>
                <a:t>Exit Management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29B1EA8-261F-7445-BCA4-3F0635BA9648}"/>
              </a:ext>
            </a:extLst>
          </p:cNvPr>
          <p:cNvGrpSpPr/>
          <p:nvPr/>
        </p:nvGrpSpPr>
        <p:grpSpPr>
          <a:xfrm>
            <a:off x="7287241" y="1838692"/>
            <a:ext cx="1114377" cy="487320"/>
            <a:chOff x="1399032" y="1088136"/>
            <a:chExt cx="1138047" cy="950976"/>
          </a:xfrm>
        </p:grpSpPr>
        <p:sp>
          <p:nvSpPr>
            <p:cNvPr id="91" name="Rectangle: Rounded Corners 1">
              <a:extLst>
                <a:ext uri="{FF2B5EF4-FFF2-40B4-BE49-F238E27FC236}">
                  <a16:creationId xmlns:a16="http://schemas.microsoft.com/office/drawing/2014/main" id="{78422D02-D3E7-4AA1-297F-EB6702D97897}"/>
                </a:ext>
              </a:extLst>
            </p:cNvPr>
            <p:cNvSpPr/>
            <p:nvPr/>
          </p:nvSpPr>
          <p:spPr>
            <a:xfrm>
              <a:off x="1399032" y="1088136"/>
              <a:ext cx="1060704" cy="950976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2" name="Rectangle: Rounded Corners 2">
              <a:extLst>
                <a:ext uri="{FF2B5EF4-FFF2-40B4-BE49-F238E27FC236}">
                  <a16:creationId xmlns:a16="http://schemas.microsoft.com/office/drawing/2014/main" id="{AF950084-F31D-DE33-8E71-B85F86D712CA}"/>
                </a:ext>
              </a:extLst>
            </p:cNvPr>
            <p:cNvSpPr/>
            <p:nvPr/>
          </p:nvSpPr>
          <p:spPr>
            <a:xfrm>
              <a:off x="1476375" y="1088136"/>
              <a:ext cx="1060704" cy="9509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1C60208-87DE-7C36-BC43-491378C1ED39}"/>
                </a:ext>
              </a:extLst>
            </p:cNvPr>
            <p:cNvSpPr txBox="1"/>
            <p:nvPr/>
          </p:nvSpPr>
          <p:spPr>
            <a:xfrm>
              <a:off x="1410741" y="1207753"/>
              <a:ext cx="1106424" cy="7462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IN" sz="1100">
                  <a:effectLst/>
                </a:rPr>
                <a:t>Employee Letters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5791B0B-D551-4A7A-FA6E-86242C7BEC87}"/>
              </a:ext>
            </a:extLst>
          </p:cNvPr>
          <p:cNvGrpSpPr/>
          <p:nvPr/>
        </p:nvGrpSpPr>
        <p:grpSpPr>
          <a:xfrm>
            <a:off x="8756440" y="1874847"/>
            <a:ext cx="1138047" cy="463227"/>
            <a:chOff x="1399032" y="1088136"/>
            <a:chExt cx="1138047" cy="950976"/>
          </a:xfrm>
        </p:grpSpPr>
        <p:sp>
          <p:nvSpPr>
            <p:cNvPr id="95" name="Rectangle: Rounded Corners 1">
              <a:extLst>
                <a:ext uri="{FF2B5EF4-FFF2-40B4-BE49-F238E27FC236}">
                  <a16:creationId xmlns:a16="http://schemas.microsoft.com/office/drawing/2014/main" id="{7D2BB376-E172-DB5C-A438-9F0F1C3AE81E}"/>
                </a:ext>
              </a:extLst>
            </p:cNvPr>
            <p:cNvSpPr/>
            <p:nvPr/>
          </p:nvSpPr>
          <p:spPr>
            <a:xfrm>
              <a:off x="1399032" y="1088136"/>
              <a:ext cx="1060704" cy="950976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Rectangle: Rounded Corners 2">
              <a:extLst>
                <a:ext uri="{FF2B5EF4-FFF2-40B4-BE49-F238E27FC236}">
                  <a16:creationId xmlns:a16="http://schemas.microsoft.com/office/drawing/2014/main" id="{68247209-E3D9-B50E-17B0-DE41C0D08499}"/>
                </a:ext>
              </a:extLst>
            </p:cNvPr>
            <p:cNvSpPr/>
            <p:nvPr/>
          </p:nvSpPr>
          <p:spPr>
            <a:xfrm>
              <a:off x="1476375" y="1088136"/>
              <a:ext cx="1060704" cy="9509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A23FB11-9D99-83B6-B659-0A9FB46D3800}"/>
                </a:ext>
              </a:extLst>
            </p:cNvPr>
            <p:cNvSpPr txBox="1"/>
            <p:nvPr/>
          </p:nvSpPr>
          <p:spPr>
            <a:xfrm>
              <a:off x="1425961" y="1365572"/>
              <a:ext cx="1106424" cy="53706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100"/>
                <a:t>Car Lease</a:t>
              </a:r>
              <a:endParaRPr lang="en-IN" sz="110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ADBEA79-4541-EE79-A699-2A45BB4F7E88}"/>
              </a:ext>
            </a:extLst>
          </p:cNvPr>
          <p:cNvGrpSpPr/>
          <p:nvPr/>
        </p:nvGrpSpPr>
        <p:grpSpPr>
          <a:xfrm>
            <a:off x="10090484" y="1868905"/>
            <a:ext cx="1141079" cy="462675"/>
            <a:chOff x="1399032" y="1026543"/>
            <a:chExt cx="1141079" cy="1012569"/>
          </a:xfrm>
        </p:grpSpPr>
        <p:sp>
          <p:nvSpPr>
            <p:cNvPr id="100" name="Rectangle: Rounded Corners 1">
              <a:extLst>
                <a:ext uri="{FF2B5EF4-FFF2-40B4-BE49-F238E27FC236}">
                  <a16:creationId xmlns:a16="http://schemas.microsoft.com/office/drawing/2014/main" id="{72DD028D-0C31-9357-5F05-2D4C028A2C94}"/>
                </a:ext>
              </a:extLst>
            </p:cNvPr>
            <p:cNvSpPr/>
            <p:nvPr/>
          </p:nvSpPr>
          <p:spPr>
            <a:xfrm>
              <a:off x="1399032" y="1088136"/>
              <a:ext cx="1060704" cy="950976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Rectangle: Rounded Corners 2">
              <a:extLst>
                <a:ext uri="{FF2B5EF4-FFF2-40B4-BE49-F238E27FC236}">
                  <a16:creationId xmlns:a16="http://schemas.microsoft.com/office/drawing/2014/main" id="{EDFA39F0-F6AF-DB77-9963-5AA715E7647B}"/>
                </a:ext>
              </a:extLst>
            </p:cNvPr>
            <p:cNvSpPr/>
            <p:nvPr/>
          </p:nvSpPr>
          <p:spPr>
            <a:xfrm>
              <a:off x="1466850" y="1088136"/>
              <a:ext cx="1060704" cy="9509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>
                  <a:solidFill>
                    <a:schemeClr val="tx1"/>
                  </a:solidFill>
                </a:rPr>
                <a:t>Medical Insurance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D483944-E1DB-00E5-BB86-6E999F74FEE5}"/>
                </a:ext>
              </a:extLst>
            </p:cNvPr>
            <p:cNvSpPr txBox="1"/>
            <p:nvPr/>
          </p:nvSpPr>
          <p:spPr>
            <a:xfrm>
              <a:off x="1433687" y="1026543"/>
              <a:ext cx="1106424" cy="37798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endParaRPr lang="en-US" sz="1100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9204D7F-7727-4F52-AB4E-8A987EBFA9C9}"/>
              </a:ext>
            </a:extLst>
          </p:cNvPr>
          <p:cNvGrpSpPr/>
          <p:nvPr/>
        </p:nvGrpSpPr>
        <p:grpSpPr>
          <a:xfrm>
            <a:off x="1388181" y="2436515"/>
            <a:ext cx="1141079" cy="462675"/>
            <a:chOff x="1399032" y="1026543"/>
            <a:chExt cx="1141079" cy="1012569"/>
          </a:xfrm>
        </p:grpSpPr>
        <p:sp>
          <p:nvSpPr>
            <p:cNvPr id="108" name="Rectangle: Rounded Corners 1">
              <a:extLst>
                <a:ext uri="{FF2B5EF4-FFF2-40B4-BE49-F238E27FC236}">
                  <a16:creationId xmlns:a16="http://schemas.microsoft.com/office/drawing/2014/main" id="{18F78BDC-3248-CF61-0222-27174C205611}"/>
                </a:ext>
              </a:extLst>
            </p:cNvPr>
            <p:cNvSpPr/>
            <p:nvPr/>
          </p:nvSpPr>
          <p:spPr>
            <a:xfrm>
              <a:off x="1399032" y="1088136"/>
              <a:ext cx="1060704" cy="950976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2" name="Rectangle: Rounded Corners 2">
              <a:extLst>
                <a:ext uri="{FF2B5EF4-FFF2-40B4-BE49-F238E27FC236}">
                  <a16:creationId xmlns:a16="http://schemas.microsoft.com/office/drawing/2014/main" id="{C1E000FD-A8A4-9D16-3433-0873FCF6C495}"/>
                </a:ext>
              </a:extLst>
            </p:cNvPr>
            <p:cNvSpPr/>
            <p:nvPr/>
          </p:nvSpPr>
          <p:spPr>
            <a:xfrm>
              <a:off x="1466850" y="1088136"/>
              <a:ext cx="1060704" cy="9509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>
                  <a:solidFill>
                    <a:schemeClr val="tx1"/>
                  </a:solidFill>
                </a:rPr>
                <a:t>Leave Management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BCC0CE4-76FA-FEF1-9A0B-A9048F601246}"/>
                </a:ext>
              </a:extLst>
            </p:cNvPr>
            <p:cNvSpPr txBox="1"/>
            <p:nvPr/>
          </p:nvSpPr>
          <p:spPr>
            <a:xfrm>
              <a:off x="1433687" y="1026543"/>
              <a:ext cx="1106424" cy="37798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endParaRPr lang="en-US" sz="110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E520C05-3247-E224-005C-C49CB8835B63}"/>
              </a:ext>
            </a:extLst>
          </p:cNvPr>
          <p:cNvGrpSpPr/>
          <p:nvPr/>
        </p:nvGrpSpPr>
        <p:grpSpPr>
          <a:xfrm>
            <a:off x="2938297" y="2461880"/>
            <a:ext cx="1125301" cy="488116"/>
            <a:chOff x="7105129" y="2075681"/>
            <a:chExt cx="1145650" cy="510981"/>
          </a:xfrm>
        </p:grpSpPr>
        <p:sp>
          <p:nvSpPr>
            <p:cNvPr id="116" name="Rectangle: Rounded Corners 1">
              <a:extLst>
                <a:ext uri="{FF2B5EF4-FFF2-40B4-BE49-F238E27FC236}">
                  <a16:creationId xmlns:a16="http://schemas.microsoft.com/office/drawing/2014/main" id="{F410DA67-B673-232A-810F-9E00F44F67D5}"/>
                </a:ext>
              </a:extLst>
            </p:cNvPr>
            <p:cNvSpPr/>
            <p:nvPr/>
          </p:nvSpPr>
          <p:spPr>
            <a:xfrm>
              <a:off x="7105129" y="2075681"/>
              <a:ext cx="1060704" cy="510628"/>
            </a:xfrm>
            <a:prstGeom prst="roundRect">
              <a:avLst/>
            </a:prstGeom>
            <a:solidFill>
              <a:srgbClr val="FDB03A"/>
            </a:solidFill>
            <a:ln>
              <a:solidFill>
                <a:srgbClr val="FDB0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7" name="Rectangle: Rounded Corners 2">
              <a:extLst>
                <a:ext uri="{FF2B5EF4-FFF2-40B4-BE49-F238E27FC236}">
                  <a16:creationId xmlns:a16="http://schemas.microsoft.com/office/drawing/2014/main" id="{57342028-CE7D-7538-149C-CA364219E6F1}"/>
                </a:ext>
              </a:extLst>
            </p:cNvPr>
            <p:cNvSpPr/>
            <p:nvPr/>
          </p:nvSpPr>
          <p:spPr>
            <a:xfrm>
              <a:off x="7190075" y="2076034"/>
              <a:ext cx="1060704" cy="510628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DB0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>
                  <a:solidFill>
                    <a:schemeClr val="tx1"/>
                  </a:solidFill>
                </a:rPr>
                <a:t>HR Helpdesk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8BD940C-3023-25E6-BD54-539FFCC96DAF}"/>
              </a:ext>
            </a:extLst>
          </p:cNvPr>
          <p:cNvSpPr/>
          <p:nvPr/>
        </p:nvSpPr>
        <p:spPr>
          <a:xfrm>
            <a:off x="11381428" y="2163606"/>
            <a:ext cx="162054" cy="14645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140C6C-DBA5-E034-820D-FFAF0B15FEBA}"/>
              </a:ext>
            </a:extLst>
          </p:cNvPr>
          <p:cNvSpPr/>
          <p:nvPr/>
        </p:nvSpPr>
        <p:spPr>
          <a:xfrm>
            <a:off x="11376168" y="2364402"/>
            <a:ext cx="162054" cy="14645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EEEC35-5DC9-30B9-6D2D-8EC9C687A5F8}"/>
              </a:ext>
            </a:extLst>
          </p:cNvPr>
          <p:cNvSpPr txBox="1"/>
          <p:nvPr/>
        </p:nvSpPr>
        <p:spPr>
          <a:xfrm>
            <a:off x="11276288" y="2151749"/>
            <a:ext cx="11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Completed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92BD3-B6BB-62D1-0B3F-1DC8B5BE62D2}"/>
              </a:ext>
            </a:extLst>
          </p:cNvPr>
          <p:cNvSpPr txBox="1"/>
          <p:nvPr/>
        </p:nvSpPr>
        <p:spPr>
          <a:xfrm>
            <a:off x="11289770" y="2360394"/>
            <a:ext cx="11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In Progress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F99C9F-437D-A43A-0E71-3B4246D1B488}"/>
              </a:ext>
            </a:extLst>
          </p:cNvPr>
          <p:cNvSpPr/>
          <p:nvPr/>
        </p:nvSpPr>
        <p:spPr>
          <a:xfrm>
            <a:off x="11380989" y="2566959"/>
            <a:ext cx="162054" cy="1464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EAC1DD-D087-83A4-5291-69C1FA5C84B7}"/>
              </a:ext>
            </a:extLst>
          </p:cNvPr>
          <p:cNvSpPr txBox="1"/>
          <p:nvPr/>
        </p:nvSpPr>
        <p:spPr>
          <a:xfrm>
            <a:off x="11276288" y="2534495"/>
            <a:ext cx="1106424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1">
                <a:solidFill>
                  <a:srgbClr val="000000"/>
                </a:solidFill>
                <a:latin typeface="Nunito Sans"/>
              </a:rPr>
              <a:t>Descoped</a:t>
            </a:r>
            <a:endParaRPr lang="en-IN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3A95058-C3EE-4509-CAE8-5D415E941B77}"/>
              </a:ext>
            </a:extLst>
          </p:cNvPr>
          <p:cNvGrpSpPr/>
          <p:nvPr/>
        </p:nvGrpSpPr>
        <p:grpSpPr>
          <a:xfrm>
            <a:off x="4260238" y="2440311"/>
            <a:ext cx="1254602" cy="501018"/>
            <a:chOff x="5855168" y="2740099"/>
            <a:chExt cx="1305830" cy="660875"/>
          </a:xfrm>
        </p:grpSpPr>
        <p:sp>
          <p:nvSpPr>
            <p:cNvPr id="33" name="Rectangle: Rounded Corners 1">
              <a:extLst>
                <a:ext uri="{FF2B5EF4-FFF2-40B4-BE49-F238E27FC236}">
                  <a16:creationId xmlns:a16="http://schemas.microsoft.com/office/drawing/2014/main" id="{EB2A81EA-D122-9805-FE9E-CC5FB88678B3}"/>
                </a:ext>
              </a:extLst>
            </p:cNvPr>
            <p:cNvSpPr/>
            <p:nvPr/>
          </p:nvSpPr>
          <p:spPr>
            <a:xfrm>
              <a:off x="5855168" y="2752886"/>
              <a:ext cx="1060704" cy="648088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unito Sans"/>
                <a:ea typeface="+mn-ea"/>
                <a:cs typeface="+mn-cs"/>
              </a:endParaRPr>
            </a:p>
          </p:txBody>
        </p:sp>
        <p:sp>
          <p:nvSpPr>
            <p:cNvPr id="34" name="Rectangle: Rounded Corners 2">
              <a:extLst>
                <a:ext uri="{FF2B5EF4-FFF2-40B4-BE49-F238E27FC236}">
                  <a16:creationId xmlns:a16="http://schemas.microsoft.com/office/drawing/2014/main" id="{7F3162DF-0205-5A5D-3FCB-DA04D23FE51F}"/>
                </a:ext>
              </a:extLst>
            </p:cNvPr>
            <p:cNvSpPr/>
            <p:nvPr/>
          </p:nvSpPr>
          <p:spPr>
            <a:xfrm>
              <a:off x="5900883" y="2740099"/>
              <a:ext cx="1260115" cy="64808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lang="en-IN" sz="1000" dirty="0">
                  <a:solidFill>
                    <a:srgbClr val="000000"/>
                  </a:solidFill>
                  <a:latin typeface="Nunito Sans"/>
                  <a:ea typeface="+mn-ea"/>
                  <a:cs typeface="+mn-cs"/>
                </a:rPr>
                <a:t>Retiree support &amp; Trust Compliance</a:t>
              </a:r>
              <a:endParaRPr lang="en-US" dirty="0"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D5A39D1-0E94-38B7-BFE7-CB55445FB4C6}"/>
              </a:ext>
            </a:extLst>
          </p:cNvPr>
          <p:cNvGrpSpPr/>
          <p:nvPr/>
        </p:nvGrpSpPr>
        <p:grpSpPr>
          <a:xfrm>
            <a:off x="5821593" y="2430615"/>
            <a:ext cx="1254602" cy="501018"/>
            <a:chOff x="5855168" y="2740099"/>
            <a:chExt cx="1305830" cy="660875"/>
          </a:xfrm>
        </p:grpSpPr>
        <p:sp>
          <p:nvSpPr>
            <p:cNvPr id="37" name="Rectangle: Rounded Corners 1">
              <a:extLst>
                <a:ext uri="{FF2B5EF4-FFF2-40B4-BE49-F238E27FC236}">
                  <a16:creationId xmlns:a16="http://schemas.microsoft.com/office/drawing/2014/main" id="{19181E22-E6D4-52AE-7598-4FBE0946CABB}"/>
                </a:ext>
              </a:extLst>
            </p:cNvPr>
            <p:cNvSpPr/>
            <p:nvPr/>
          </p:nvSpPr>
          <p:spPr>
            <a:xfrm>
              <a:off x="5855168" y="2752886"/>
              <a:ext cx="1060704" cy="648088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unito Sans"/>
                <a:ea typeface="+mn-ea"/>
                <a:cs typeface="+mn-cs"/>
              </a:endParaRPr>
            </a:p>
          </p:txBody>
        </p:sp>
        <p:sp>
          <p:nvSpPr>
            <p:cNvPr id="38" name="Rectangle: Rounded Corners 2">
              <a:extLst>
                <a:ext uri="{FF2B5EF4-FFF2-40B4-BE49-F238E27FC236}">
                  <a16:creationId xmlns:a16="http://schemas.microsoft.com/office/drawing/2014/main" id="{2F2C8BFE-431E-6175-3D2B-7C69CE35079A}"/>
                </a:ext>
              </a:extLst>
            </p:cNvPr>
            <p:cNvSpPr/>
            <p:nvPr/>
          </p:nvSpPr>
          <p:spPr>
            <a:xfrm>
              <a:off x="5900883" y="2740099"/>
              <a:ext cx="1260115" cy="64808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lang="en-IN" sz="1000" dirty="0">
                  <a:solidFill>
                    <a:srgbClr val="000000"/>
                  </a:solidFill>
                  <a:latin typeface="Nunito Sans"/>
                  <a:ea typeface="+mn-ea"/>
                  <a:cs typeface="+mn-cs"/>
                </a:rPr>
                <a:t>Personal File management</a:t>
              </a:r>
              <a:endParaRPr lang="en-US" dirty="0"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CACB272-82EB-947A-6F72-1F2358F21886}"/>
              </a:ext>
            </a:extLst>
          </p:cNvPr>
          <p:cNvGrpSpPr/>
          <p:nvPr/>
        </p:nvGrpSpPr>
        <p:grpSpPr>
          <a:xfrm>
            <a:off x="7264431" y="2430615"/>
            <a:ext cx="1254602" cy="501018"/>
            <a:chOff x="5855168" y="2740099"/>
            <a:chExt cx="1305830" cy="660875"/>
          </a:xfrm>
        </p:grpSpPr>
        <p:sp>
          <p:nvSpPr>
            <p:cNvPr id="41" name="Rectangle: Rounded Corners 1">
              <a:extLst>
                <a:ext uri="{FF2B5EF4-FFF2-40B4-BE49-F238E27FC236}">
                  <a16:creationId xmlns:a16="http://schemas.microsoft.com/office/drawing/2014/main" id="{3D9A9612-0199-676C-8951-DD123CA6B4A4}"/>
                </a:ext>
              </a:extLst>
            </p:cNvPr>
            <p:cNvSpPr/>
            <p:nvPr/>
          </p:nvSpPr>
          <p:spPr>
            <a:xfrm>
              <a:off x="5855168" y="2752886"/>
              <a:ext cx="1060704" cy="648088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unito Sans"/>
                <a:ea typeface="+mn-ea"/>
                <a:cs typeface="+mn-cs"/>
              </a:endParaRPr>
            </a:p>
          </p:txBody>
        </p:sp>
        <p:sp>
          <p:nvSpPr>
            <p:cNvPr id="43" name="Rectangle: Rounded Corners 2">
              <a:extLst>
                <a:ext uri="{FF2B5EF4-FFF2-40B4-BE49-F238E27FC236}">
                  <a16:creationId xmlns:a16="http://schemas.microsoft.com/office/drawing/2014/main" id="{8ACB69BA-3B00-1FA6-7A77-938D178F439E}"/>
                </a:ext>
              </a:extLst>
            </p:cNvPr>
            <p:cNvSpPr/>
            <p:nvPr/>
          </p:nvSpPr>
          <p:spPr>
            <a:xfrm>
              <a:off x="5900883" y="2740099"/>
              <a:ext cx="1260115" cy="64808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lang="en-IN" sz="1000" dirty="0">
                  <a:solidFill>
                    <a:srgbClr val="000000"/>
                  </a:solidFill>
                  <a:latin typeface="Nunito Sans"/>
                  <a:ea typeface="+mn-ea"/>
                  <a:cs typeface="+mn-cs"/>
                </a:rPr>
                <a:t>L&amp;D Ops Processes</a:t>
              </a:r>
              <a:endParaRPr lang="en-US" dirty="0"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3790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c627367-8bb7-4ccb-accc-dcf8fe2e1aa0}" enabled="1" method="Standard" siteId="{41591cc6-574f-45d5-819b-9a4773330aec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289</Words>
  <Application>Microsoft Office PowerPoint</Application>
  <PresentationFormat>Widescreen</PresentationFormat>
  <Paragraphs>74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AirIndia</vt:lpstr>
      <vt:lpstr>Aptos</vt:lpstr>
      <vt:lpstr>Aptos Display</vt:lpstr>
      <vt:lpstr>Arial</vt:lpstr>
      <vt:lpstr>Nunito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Malika Jain</dc:creator>
  <cp:lastModifiedBy>Malika Jain</cp:lastModifiedBy>
  <cp:revision>1</cp:revision>
  <dcterms:created xsi:type="dcterms:W3CDTF">2026-01-07T05:36:22Z</dcterms:created>
  <dcterms:modified xsi:type="dcterms:W3CDTF">2026-01-07T06:52:32Z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Air India General - Internal use only</vt:lpwstr>
  </property>
</Properties>
</file>