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infographic combining domestic and international payroll transformation.
[Sources]
- Air India ZTZT Payroll Domestic &amp; International Updated With Resource Estimates, 27 June 2026, slides 7, 9, 11 and 12.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384048" cy="768096"/>
          </a:xfrm>
          <a:prstGeom prst="chevron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182880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INDIA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"/>
            <a:ext cx="1" cy="438912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1680" y="12801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TOUCH, ZERO TRUST PAYROLL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457200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global control framework across domestic and international payroll</a:t>
            </a:r>
            <a:endParaRPr lang="en-US" sz="1000" dirty="0"/>
          </a:p>
        </p:txBody>
      </p:sp>
      <p:pic>
        <p:nvPicPr>
          <p:cNvPr id="8" name="Image 0" descr="/mnt/data/3f02b39151.png"/>
          <p:cNvPicPr>
            <a:picLocks noChangeAspect="1"/>
          </p:cNvPicPr>
          <p:nvPr/>
        </p:nvPicPr>
        <p:blipFill>
          <a:blip r:embed="rId3"/>
          <a:srcRect t="35287" b="35287"/>
          <a:stretch/>
        </p:blipFill>
        <p:spPr>
          <a:xfrm>
            <a:off x="8366760" y="91440"/>
            <a:ext cx="3822192" cy="7498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91440"/>
            <a:ext cx="3822192" cy="74980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561320" y="182880"/>
            <a:ext cx="13258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016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698480" y="22860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643616" y="384048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CONTROL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98480" y="548640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FEB 2027</a:t>
            </a:r>
            <a:endParaRPr lang="en-US" sz="630" dirty="0"/>
          </a:p>
        </p:txBody>
      </p:sp>
      <p:sp>
        <p:nvSpPr>
          <p:cNvPr id="14" name="Shape 11"/>
          <p:cNvSpPr/>
          <p:nvPr/>
        </p:nvSpPr>
        <p:spPr>
          <a:xfrm>
            <a:off x="128016" y="987552"/>
            <a:ext cx="2926080" cy="283464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01168" y="1037844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 — TWO SCALES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8016" y="1243584"/>
            <a:ext cx="2926080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20624" y="1435608"/>
            <a:ext cx="1042416" cy="104241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5488" y="168249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12064" y="204825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 AUTO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1618488" y="1517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2212848" y="160020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payheads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618488" y="1901952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7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 automated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18488" y="2157984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 manual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18488" y="2414016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6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semi-auto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84048" y="2688336"/>
            <a:ext cx="2404872" cy="1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65760" y="28163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298448" y="2761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3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627632" y="28254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139696" y="276148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3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323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2496312" y="2825496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65760" y="309981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36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302 unique components  |  611 country instances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172968" y="987552"/>
            <a:ext cx="3246120" cy="283464"/>
          </a:xfrm>
          <a:prstGeom prst="roundRect">
            <a:avLst>
              <a:gd name="adj" fmla="val 19355"/>
            </a:avLst>
          </a:prstGeom>
          <a:solidFill>
            <a:srgbClr val="062650"/>
          </a:solidFill>
          <a:ln w="12700">
            <a:solidFill>
              <a:srgbClr val="06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3246120" y="1037844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TOUCH, ZERO TRUST — DESIGN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172968" y="1243584"/>
            <a:ext cx="3246120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3364992" y="1408176"/>
            <a:ext cx="292608" cy="292608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3364992" y="14813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776472" y="13990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AT SOURCE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3776472" y="15819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input trusted by default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3776472" y="1792224"/>
            <a:ext cx="2286000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3364992" y="1865376"/>
            <a:ext cx="292608" cy="292608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3364992" y="19385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76472" y="18562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ROUTINE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3776472" y="20391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handle exceptions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3776472" y="2249424"/>
            <a:ext cx="2286000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3364992" y="2322576"/>
            <a:ext cx="292608" cy="292608"/>
          </a:xfrm>
          <a:prstGeom prst="ellipse">
            <a:avLst/>
          </a:prstGeom>
          <a:solidFill>
            <a:srgbClr val="65459B"/>
          </a:solidFill>
          <a:ln w="12700">
            <a:solidFill>
              <a:srgbClr val="6545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3364992" y="23957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776472" y="23134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BEFORE PAY</a:t>
            </a:r>
            <a:endParaRPr lang="en-US" sz="820" dirty="0"/>
          </a:p>
        </p:txBody>
      </p:sp>
      <p:sp>
        <p:nvSpPr>
          <p:cNvPr id="48" name="Text 45"/>
          <p:cNvSpPr/>
          <p:nvPr/>
        </p:nvSpPr>
        <p:spPr>
          <a:xfrm>
            <a:off x="3776472" y="24963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anomalies, maker-checker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3776472" y="2706624"/>
            <a:ext cx="2286000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3364992" y="2779776"/>
            <a:ext cx="292608" cy="292608"/>
          </a:xfrm>
          <a:prstGeom prst="ellipse">
            <a:avLst/>
          </a:prstGeom>
          <a:solidFill>
            <a:srgbClr val="24733B"/>
          </a:solidFill>
          <a:ln w="12700">
            <a:solidFill>
              <a:srgbClr val="247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3364992" y="28529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776472" y="27706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EVERY ACTION</a:t>
            </a:r>
            <a:endParaRPr lang="en-US" sz="820" dirty="0"/>
          </a:p>
        </p:txBody>
      </p:sp>
      <p:sp>
        <p:nvSpPr>
          <p:cNvPr id="53" name="Text 50"/>
          <p:cNvSpPr/>
          <p:nvPr/>
        </p:nvSpPr>
        <p:spPr>
          <a:xfrm>
            <a:off x="3776472" y="29535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Traceable, attributable, immutable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3401568" y="3218688"/>
            <a:ext cx="2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 BEFORE AUTOMATING  •  DELIVER HIGHEST RISK FIRST</a:t>
            </a:r>
            <a:endParaRPr lang="en-US" sz="680" dirty="0"/>
          </a:p>
        </p:txBody>
      </p:sp>
      <p:sp>
        <p:nvSpPr>
          <p:cNvPr id="55" name="Shape 52"/>
          <p:cNvSpPr/>
          <p:nvPr/>
        </p:nvSpPr>
        <p:spPr>
          <a:xfrm>
            <a:off x="6537960" y="987552"/>
            <a:ext cx="5522976" cy="283464"/>
          </a:xfrm>
          <a:prstGeom prst="roundRect">
            <a:avLst>
              <a:gd name="adj" fmla="val 19355"/>
            </a:avLst>
          </a:prstGeom>
          <a:solidFill>
            <a:srgbClr val="062650"/>
          </a:solidFill>
          <a:ln w="12700">
            <a:solidFill>
              <a:srgbClr val="06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6611112" y="1037844"/>
            <a:ext cx="5376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TO-BE ARCHITECTURE — ONE CONTROL SPINE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537960" y="1243584"/>
            <a:ext cx="5522976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5"/>
          <p:cNvSpPr/>
          <p:nvPr/>
        </p:nvSpPr>
        <p:spPr>
          <a:xfrm>
            <a:off x="6748272" y="1508760"/>
            <a:ext cx="859536" cy="1115568"/>
          </a:xfrm>
          <a:prstGeom prst="roundRect">
            <a:avLst>
              <a:gd name="adj" fmla="val 5319"/>
            </a:avLst>
          </a:prstGeom>
          <a:solidFill>
            <a:srgbClr val="F2F5F9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6"/>
          <p:cNvSpPr/>
          <p:nvPr/>
        </p:nvSpPr>
        <p:spPr>
          <a:xfrm>
            <a:off x="7040880" y="1609344"/>
            <a:ext cx="274320" cy="274320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7040880" y="16824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6821424" y="198424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6821424" y="22219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 • CAE • AMOS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inputs</a:t>
            </a:r>
            <a:endParaRPr lang="en-US" sz="620" dirty="0"/>
          </a:p>
        </p:txBody>
      </p:sp>
      <p:sp>
        <p:nvSpPr>
          <p:cNvPr id="63" name="Shape 60"/>
          <p:cNvSpPr/>
          <p:nvPr/>
        </p:nvSpPr>
        <p:spPr>
          <a:xfrm>
            <a:off x="7635240" y="1947672"/>
            <a:ext cx="109728" cy="201168"/>
          </a:xfrm>
          <a:prstGeom prst="chevron">
            <a:avLst/>
          </a:prstGeom>
          <a:solidFill>
            <a:srgbClr val="A8B0BB"/>
          </a:solidFill>
          <a:ln w="12700">
            <a:solidFill>
              <a:srgbClr val="A8B0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7772400" y="1508760"/>
            <a:ext cx="859536" cy="1115568"/>
          </a:xfrm>
          <a:prstGeom prst="roundRect">
            <a:avLst>
              <a:gd name="adj" fmla="val 5319"/>
            </a:avLst>
          </a:prstGeom>
          <a:solidFill>
            <a:srgbClr val="F2F5F9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2"/>
          <p:cNvSpPr/>
          <p:nvPr/>
        </p:nvSpPr>
        <p:spPr>
          <a:xfrm>
            <a:off x="8065008" y="1609344"/>
            <a:ext cx="274320" cy="274320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8065008" y="16824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7845552" y="198424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7845552" y="22219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APIs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EIP</a:t>
            </a:r>
            <a:endParaRPr lang="en-US" sz="620" dirty="0"/>
          </a:p>
        </p:txBody>
      </p:sp>
      <p:sp>
        <p:nvSpPr>
          <p:cNvPr id="69" name="Shape 66"/>
          <p:cNvSpPr/>
          <p:nvPr/>
        </p:nvSpPr>
        <p:spPr>
          <a:xfrm>
            <a:off x="8659368" y="1947672"/>
            <a:ext cx="109728" cy="201168"/>
          </a:xfrm>
          <a:prstGeom prst="chevron">
            <a:avLst/>
          </a:prstGeom>
          <a:solidFill>
            <a:srgbClr val="A8B0BB"/>
          </a:solidFill>
          <a:ln w="12700">
            <a:solidFill>
              <a:srgbClr val="A8B0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7"/>
          <p:cNvSpPr/>
          <p:nvPr/>
        </p:nvSpPr>
        <p:spPr>
          <a:xfrm>
            <a:off x="8796528" y="1508760"/>
            <a:ext cx="859536" cy="1115568"/>
          </a:xfrm>
          <a:prstGeom prst="roundRect">
            <a:avLst>
              <a:gd name="adj" fmla="val 5319"/>
            </a:avLst>
          </a:prstGeom>
          <a:solidFill>
            <a:srgbClr val="FFF2E7"/>
          </a:solidFill>
          <a:ln w="12700">
            <a:solidFill>
              <a:srgbClr val="F36F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9089136" y="1609344"/>
            <a:ext cx="274320" cy="274320"/>
          </a:xfrm>
          <a:prstGeom prst="ellipse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9089136" y="16824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8869680" y="198424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8869680" y="22219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rules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controls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9683496" y="1947672"/>
            <a:ext cx="109728" cy="201168"/>
          </a:xfrm>
          <a:prstGeom prst="chevron">
            <a:avLst/>
          </a:prstGeom>
          <a:solidFill>
            <a:srgbClr val="A8B0BB"/>
          </a:solidFill>
          <a:ln w="12700">
            <a:solidFill>
              <a:srgbClr val="A8B0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3"/>
          <p:cNvSpPr/>
          <p:nvPr/>
        </p:nvSpPr>
        <p:spPr>
          <a:xfrm>
            <a:off x="9820656" y="1508760"/>
            <a:ext cx="859536" cy="1115568"/>
          </a:xfrm>
          <a:prstGeom prst="roundRect">
            <a:avLst>
              <a:gd name="adj" fmla="val 5319"/>
            </a:avLst>
          </a:prstGeom>
          <a:solidFill>
            <a:srgbClr val="F2F5F9"/>
          </a:solidFill>
          <a:ln w="12700">
            <a:solidFill>
              <a:srgbClr val="6545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10113264" y="1609344"/>
            <a:ext cx="274320" cy="274320"/>
          </a:xfrm>
          <a:prstGeom prst="ellipse">
            <a:avLst/>
          </a:prstGeom>
          <a:solidFill>
            <a:srgbClr val="65459B"/>
          </a:solidFill>
          <a:ln w="12700">
            <a:solidFill>
              <a:srgbClr val="6545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10113264" y="16824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9893808" y="198424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9893808" y="22219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 • ADP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• GSA</a:t>
            </a:r>
            <a:endParaRPr lang="en-US" sz="620" dirty="0"/>
          </a:p>
        </p:txBody>
      </p:sp>
      <p:sp>
        <p:nvSpPr>
          <p:cNvPr id="81" name="Shape 78"/>
          <p:cNvSpPr/>
          <p:nvPr/>
        </p:nvSpPr>
        <p:spPr>
          <a:xfrm>
            <a:off x="10707624" y="1947672"/>
            <a:ext cx="109728" cy="201168"/>
          </a:xfrm>
          <a:prstGeom prst="chevron">
            <a:avLst/>
          </a:prstGeom>
          <a:solidFill>
            <a:srgbClr val="A8B0BB"/>
          </a:solidFill>
          <a:ln w="12700">
            <a:solidFill>
              <a:srgbClr val="A8B0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9"/>
          <p:cNvSpPr/>
          <p:nvPr/>
        </p:nvSpPr>
        <p:spPr>
          <a:xfrm>
            <a:off x="10844784" y="1508760"/>
            <a:ext cx="859536" cy="1115568"/>
          </a:xfrm>
          <a:prstGeom prst="roundRect">
            <a:avLst>
              <a:gd name="adj" fmla="val 5319"/>
            </a:avLst>
          </a:prstGeom>
          <a:solidFill>
            <a:srgbClr val="EEF7F0"/>
          </a:solidFill>
          <a:ln w="12700">
            <a:solidFill>
              <a:srgbClr val="247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0"/>
          <p:cNvSpPr/>
          <p:nvPr/>
        </p:nvSpPr>
        <p:spPr>
          <a:xfrm>
            <a:off x="11137392" y="1609344"/>
            <a:ext cx="274320" cy="274320"/>
          </a:xfrm>
          <a:prstGeom prst="ellipse">
            <a:avLst/>
          </a:prstGeom>
          <a:solidFill>
            <a:srgbClr val="24733B"/>
          </a:solidFill>
          <a:ln w="12700">
            <a:solidFill>
              <a:srgbClr val="247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1"/>
          <p:cNvSpPr/>
          <p:nvPr/>
        </p:nvSpPr>
        <p:spPr>
          <a:xfrm>
            <a:off x="11137392" y="168249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10917936" y="198424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+ RECON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0917936" y="22219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Banks • SAP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620" dirty="0"/>
          </a:p>
        </p:txBody>
      </p:sp>
      <p:sp>
        <p:nvSpPr>
          <p:cNvPr id="87" name="Text 84"/>
          <p:cNvSpPr/>
          <p:nvPr/>
        </p:nvSpPr>
        <p:spPr>
          <a:xfrm>
            <a:off x="6784848" y="28254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7424928" y="282549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184/184 payheads straight-through</a:t>
            </a:r>
            <a:endParaRPr lang="en-US" sz="740" dirty="0"/>
          </a:p>
        </p:txBody>
      </p:sp>
      <p:sp>
        <p:nvSpPr>
          <p:cNvPr id="89" name="Text 86"/>
          <p:cNvSpPr/>
          <p:nvPr/>
        </p:nvSpPr>
        <p:spPr>
          <a:xfrm>
            <a:off x="9528048" y="282549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A37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10387584" y="282549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35/35 countries connected or controlled</a:t>
            </a:r>
            <a:endParaRPr lang="en-US" sz="710" dirty="0"/>
          </a:p>
        </p:txBody>
      </p:sp>
      <p:sp>
        <p:nvSpPr>
          <p:cNvPr id="91" name="Text 88"/>
          <p:cNvSpPr/>
          <p:nvPr/>
        </p:nvSpPr>
        <p:spPr>
          <a:xfrm>
            <a:off x="6784848" y="3136392"/>
            <a:ext cx="4983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7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controls: least privilege  •  pre-execution validation  •  secure delivery  •  immutable audit</a:t>
            </a:r>
            <a:endParaRPr lang="en-US" sz="680" dirty="0"/>
          </a:p>
        </p:txBody>
      </p:sp>
      <p:sp>
        <p:nvSpPr>
          <p:cNvPr id="92" name="Shape 89"/>
          <p:cNvSpPr/>
          <p:nvPr/>
        </p:nvSpPr>
        <p:spPr>
          <a:xfrm>
            <a:off x="128016" y="3566160"/>
            <a:ext cx="11932920" cy="338328"/>
          </a:xfrm>
          <a:prstGeom prst="roundRect">
            <a:avLst>
              <a:gd name="adj" fmla="val 13514"/>
            </a:avLst>
          </a:prstGeom>
          <a:solidFill>
            <a:srgbClr val="FFF0F1"/>
          </a:solidFill>
          <a:ln w="8890">
            <a:solidFill>
              <a:srgbClr val="F2C7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10896" y="3657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770" dirty="0"/>
          </a:p>
        </p:txBody>
      </p:sp>
      <p:sp>
        <p:nvSpPr>
          <p:cNvPr id="94" name="Text 91"/>
          <p:cNvSpPr/>
          <p:nvPr/>
        </p:nvSpPr>
        <p:spPr>
          <a:xfrm>
            <a:off x="1042416" y="3639312"/>
            <a:ext cx="10680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inputs, fragmented vendor/GSA handoffs and inconsistent reconciliation create payroll and compliance exposure.</a:t>
            </a:r>
            <a:endParaRPr lang="en-US" sz="830" dirty="0"/>
          </a:p>
        </p:txBody>
      </p:sp>
      <p:sp>
        <p:nvSpPr>
          <p:cNvPr id="95" name="Shape 92"/>
          <p:cNvSpPr/>
          <p:nvPr/>
        </p:nvSpPr>
        <p:spPr>
          <a:xfrm>
            <a:off x="128016" y="4050792"/>
            <a:ext cx="9948672" cy="283464"/>
          </a:xfrm>
          <a:prstGeom prst="roundRect">
            <a:avLst>
              <a:gd name="adj" fmla="val 19355"/>
            </a:avLst>
          </a:prstGeom>
          <a:solidFill>
            <a:srgbClr val="062650"/>
          </a:solidFill>
          <a:ln w="12700">
            <a:solidFill>
              <a:srgbClr val="06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3"/>
          <p:cNvSpPr/>
          <p:nvPr/>
        </p:nvSpPr>
        <p:spPr>
          <a:xfrm>
            <a:off x="201168" y="4101084"/>
            <a:ext cx="9802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DELIVERY ROADMAP — STARTING 1 AUGUST 2026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128016" y="4306824"/>
            <a:ext cx="994867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5"/>
          <p:cNvSpPr/>
          <p:nvPr/>
        </p:nvSpPr>
        <p:spPr>
          <a:xfrm>
            <a:off x="347472" y="4553712"/>
            <a:ext cx="2057400" cy="1618488"/>
          </a:xfrm>
          <a:prstGeom prst="roundRect">
            <a:avLst>
              <a:gd name="adj" fmla="val 3226"/>
            </a:avLst>
          </a:prstGeom>
          <a:solidFill>
            <a:srgbClr val="FAFBFC"/>
          </a:solidFill>
          <a:ln w="152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6"/>
          <p:cNvSpPr/>
          <p:nvPr/>
        </p:nvSpPr>
        <p:spPr>
          <a:xfrm>
            <a:off x="347472" y="4553712"/>
            <a:ext cx="2057400" cy="2468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7"/>
          <p:cNvSpPr/>
          <p:nvPr/>
        </p:nvSpPr>
        <p:spPr>
          <a:xfrm>
            <a:off x="420624" y="4608576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AUG – 30 SEP</a:t>
            </a:r>
            <a:endParaRPr lang="en-US" sz="740" dirty="0"/>
          </a:p>
        </p:txBody>
      </p:sp>
      <p:sp>
        <p:nvSpPr>
          <p:cNvPr id="101" name="Text 98"/>
          <p:cNvSpPr/>
          <p:nvPr/>
        </p:nvSpPr>
        <p:spPr>
          <a:xfrm>
            <a:off x="438912" y="4928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+ CRITICAL</a:t>
            </a:r>
            <a:endParaRPr lang="en-US" sz="800" dirty="0"/>
          </a:p>
        </p:txBody>
      </p:sp>
      <p:sp>
        <p:nvSpPr>
          <p:cNvPr id="102" name="Shape 99"/>
          <p:cNvSpPr/>
          <p:nvPr/>
        </p:nvSpPr>
        <p:spPr>
          <a:xfrm>
            <a:off x="475488" y="5202936"/>
            <a:ext cx="1801368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0"/>
          <p:cNvSpPr/>
          <p:nvPr/>
        </p:nvSpPr>
        <p:spPr>
          <a:xfrm>
            <a:off x="475488" y="5330952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694944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</a:t>
            </a:r>
            <a:endParaRPr lang="en-US" sz="710" dirty="0"/>
          </a:p>
        </p:txBody>
      </p:sp>
      <p:sp>
        <p:nvSpPr>
          <p:cNvPr id="105" name="Text 102"/>
          <p:cNvSpPr/>
          <p:nvPr/>
        </p:nvSpPr>
        <p:spPr>
          <a:xfrm>
            <a:off x="475488" y="551383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Domestic: FnF / life events, CAE feed</a:t>
            </a:r>
            <a:endParaRPr lang="en-US" sz="670" dirty="0"/>
          </a:p>
        </p:txBody>
      </p:sp>
      <p:sp>
        <p:nvSpPr>
          <p:cNvPr id="106" name="Shape 103"/>
          <p:cNvSpPr/>
          <p:nvPr/>
        </p:nvSpPr>
        <p:spPr>
          <a:xfrm>
            <a:off x="475488" y="5705856"/>
            <a:ext cx="164592" cy="164592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4"/>
          <p:cNvSpPr/>
          <p:nvPr/>
        </p:nvSpPr>
        <p:spPr>
          <a:xfrm>
            <a:off x="694944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</a:t>
            </a:r>
            <a:endParaRPr lang="en-US" sz="710" dirty="0"/>
          </a:p>
        </p:txBody>
      </p:sp>
      <p:sp>
        <p:nvSpPr>
          <p:cNvPr id="108" name="Text 105"/>
          <p:cNvSpPr/>
          <p:nvPr/>
        </p:nvSpPr>
        <p:spPr>
          <a:xfrm>
            <a:off x="475488" y="588873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Intl: requirements, US/CA ADP, vendor finalisation</a:t>
            </a:r>
            <a:endParaRPr lang="en-US" sz="660" dirty="0"/>
          </a:p>
        </p:txBody>
      </p:sp>
      <p:sp>
        <p:nvSpPr>
          <p:cNvPr id="109" name="Shape 106"/>
          <p:cNvSpPr/>
          <p:nvPr/>
        </p:nvSpPr>
        <p:spPr>
          <a:xfrm>
            <a:off x="2459736" y="5102352"/>
            <a:ext cx="109728" cy="219456"/>
          </a:xfrm>
          <a:prstGeom prst="chevron">
            <a:avLst/>
          </a:prstGeom>
          <a:solidFill>
            <a:srgbClr val="9FA8B4"/>
          </a:solidFill>
          <a:ln w="12700">
            <a:solidFill>
              <a:srgbClr val="9FA8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7"/>
          <p:cNvSpPr/>
          <p:nvPr/>
        </p:nvSpPr>
        <p:spPr>
          <a:xfrm>
            <a:off x="2542032" y="4553712"/>
            <a:ext cx="2057400" cy="1618488"/>
          </a:xfrm>
          <a:prstGeom prst="roundRect">
            <a:avLst>
              <a:gd name="adj" fmla="val 3226"/>
            </a:avLst>
          </a:prstGeom>
          <a:solidFill>
            <a:srgbClr val="FAFBFC"/>
          </a:solidFill>
          <a:ln w="15240">
            <a:solidFill>
              <a:srgbClr val="F36F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8"/>
          <p:cNvSpPr/>
          <p:nvPr/>
        </p:nvSpPr>
        <p:spPr>
          <a:xfrm>
            <a:off x="2542032" y="4553712"/>
            <a:ext cx="2057400" cy="246888"/>
          </a:xfrm>
          <a:prstGeom prst="rect">
            <a:avLst/>
          </a:prstGeom>
          <a:solidFill>
            <a:srgbClr val="F36F21"/>
          </a:solidFill>
          <a:ln w="12700">
            <a:solidFill>
              <a:srgbClr val="F36F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9"/>
          <p:cNvSpPr/>
          <p:nvPr/>
        </p:nvSpPr>
        <p:spPr>
          <a:xfrm>
            <a:off x="2615184" y="4608576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– NOV</a:t>
            </a:r>
            <a:endParaRPr lang="en-US" sz="740" dirty="0"/>
          </a:p>
        </p:txBody>
      </p:sp>
      <p:sp>
        <p:nvSpPr>
          <p:cNvPr id="113" name="Text 110"/>
          <p:cNvSpPr/>
          <p:nvPr/>
        </p:nvSpPr>
        <p:spPr>
          <a:xfrm>
            <a:off x="2633472" y="4928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HIGH-VOLUME INPUTS</a:t>
            </a:r>
            <a:endParaRPr lang="en-US" sz="800" dirty="0"/>
          </a:p>
        </p:txBody>
      </p:sp>
      <p:sp>
        <p:nvSpPr>
          <p:cNvPr id="114" name="Shape 111"/>
          <p:cNvSpPr/>
          <p:nvPr/>
        </p:nvSpPr>
        <p:spPr>
          <a:xfrm>
            <a:off x="2670048" y="5202936"/>
            <a:ext cx="1801368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2"/>
          <p:cNvSpPr/>
          <p:nvPr/>
        </p:nvSpPr>
        <p:spPr>
          <a:xfrm>
            <a:off x="2670048" y="5330952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3"/>
          <p:cNvSpPr/>
          <p:nvPr/>
        </p:nvSpPr>
        <p:spPr>
          <a:xfrm>
            <a:off x="2889504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</a:t>
            </a:r>
            <a:endParaRPr lang="en-US" sz="710" dirty="0"/>
          </a:p>
        </p:txBody>
      </p:sp>
      <p:sp>
        <p:nvSpPr>
          <p:cNvPr id="117" name="Text 114"/>
          <p:cNvSpPr/>
          <p:nvPr/>
        </p:nvSpPr>
        <p:spPr>
          <a:xfrm>
            <a:off x="2670048" y="551383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Domestic: HRBP, bonus, attendance</a:t>
            </a:r>
            <a:endParaRPr lang="en-US" sz="670" dirty="0"/>
          </a:p>
        </p:txBody>
      </p:sp>
      <p:sp>
        <p:nvSpPr>
          <p:cNvPr id="118" name="Shape 115"/>
          <p:cNvSpPr/>
          <p:nvPr/>
        </p:nvSpPr>
        <p:spPr>
          <a:xfrm>
            <a:off x="2670048" y="5705856"/>
            <a:ext cx="164592" cy="164592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6"/>
          <p:cNvSpPr/>
          <p:nvPr/>
        </p:nvSpPr>
        <p:spPr>
          <a:xfrm>
            <a:off x="2889504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</a:t>
            </a:r>
            <a:endParaRPr lang="en-US" sz="710" dirty="0"/>
          </a:p>
        </p:txBody>
      </p:sp>
      <p:sp>
        <p:nvSpPr>
          <p:cNvPr id="120" name="Text 117"/>
          <p:cNvSpPr/>
          <p:nvPr/>
        </p:nvSpPr>
        <p:spPr>
          <a:xfrm>
            <a:off x="2670048" y="588873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Intl: remaining ADP + new vendor</a:t>
            </a:r>
            <a:endParaRPr lang="en-US" sz="660" dirty="0"/>
          </a:p>
        </p:txBody>
      </p:sp>
      <p:sp>
        <p:nvSpPr>
          <p:cNvPr id="121" name="Shape 118"/>
          <p:cNvSpPr/>
          <p:nvPr/>
        </p:nvSpPr>
        <p:spPr>
          <a:xfrm>
            <a:off x="4654296" y="5102352"/>
            <a:ext cx="109728" cy="219456"/>
          </a:xfrm>
          <a:prstGeom prst="chevron">
            <a:avLst/>
          </a:prstGeom>
          <a:solidFill>
            <a:srgbClr val="9FA8B4"/>
          </a:solidFill>
          <a:ln w="12700">
            <a:solidFill>
              <a:srgbClr val="9FA8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9"/>
          <p:cNvSpPr/>
          <p:nvPr/>
        </p:nvSpPr>
        <p:spPr>
          <a:xfrm>
            <a:off x="4736592" y="4553712"/>
            <a:ext cx="2057400" cy="1618488"/>
          </a:xfrm>
          <a:prstGeom prst="roundRect">
            <a:avLst>
              <a:gd name="adj" fmla="val 3226"/>
            </a:avLst>
          </a:prstGeom>
          <a:solidFill>
            <a:srgbClr val="FAFBFC"/>
          </a:solidFill>
          <a:ln w="15240">
            <a:solidFill>
              <a:srgbClr val="247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0"/>
          <p:cNvSpPr/>
          <p:nvPr/>
        </p:nvSpPr>
        <p:spPr>
          <a:xfrm>
            <a:off x="4736592" y="4553712"/>
            <a:ext cx="2057400" cy="246888"/>
          </a:xfrm>
          <a:prstGeom prst="rect">
            <a:avLst/>
          </a:prstGeom>
          <a:solidFill>
            <a:srgbClr val="24733B"/>
          </a:solidFill>
          <a:ln w="12700">
            <a:solidFill>
              <a:srgbClr val="247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121"/>
          <p:cNvSpPr/>
          <p:nvPr/>
        </p:nvSpPr>
        <p:spPr>
          <a:xfrm>
            <a:off x="4809744" y="4608576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– JAN</a:t>
            </a:r>
            <a:endParaRPr lang="en-US" sz="740" dirty="0"/>
          </a:p>
        </p:txBody>
      </p:sp>
      <p:sp>
        <p:nvSpPr>
          <p:cNvPr id="125" name="Text 122"/>
          <p:cNvSpPr/>
          <p:nvPr/>
        </p:nvSpPr>
        <p:spPr>
          <a:xfrm>
            <a:off x="4828032" y="4928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 + CUTOVER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4864608" y="5202936"/>
            <a:ext cx="1801368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4"/>
          <p:cNvSpPr/>
          <p:nvPr/>
        </p:nvSpPr>
        <p:spPr>
          <a:xfrm>
            <a:off x="4864608" y="5330952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125"/>
          <p:cNvSpPr/>
          <p:nvPr/>
        </p:nvSpPr>
        <p:spPr>
          <a:xfrm>
            <a:off x="5084064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</a:t>
            </a:r>
            <a:endParaRPr lang="en-US" sz="710" dirty="0"/>
          </a:p>
        </p:txBody>
      </p:sp>
      <p:sp>
        <p:nvSpPr>
          <p:cNvPr id="129" name="Text 126"/>
          <p:cNvSpPr/>
          <p:nvPr/>
        </p:nvSpPr>
        <p:spPr>
          <a:xfrm>
            <a:off x="4864608" y="551383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Domestic: remaining feeds, UAT, completion</a:t>
            </a:r>
            <a:endParaRPr lang="en-US" sz="670" dirty="0"/>
          </a:p>
        </p:txBody>
      </p:sp>
      <p:sp>
        <p:nvSpPr>
          <p:cNvPr id="130" name="Shape 127"/>
          <p:cNvSpPr/>
          <p:nvPr/>
        </p:nvSpPr>
        <p:spPr>
          <a:xfrm>
            <a:off x="4864608" y="5705856"/>
            <a:ext cx="164592" cy="164592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8"/>
          <p:cNvSpPr/>
          <p:nvPr/>
        </p:nvSpPr>
        <p:spPr>
          <a:xfrm>
            <a:off x="5084064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</a:t>
            </a:r>
            <a:endParaRPr lang="en-US" sz="710" dirty="0"/>
          </a:p>
        </p:txBody>
      </p:sp>
      <p:sp>
        <p:nvSpPr>
          <p:cNvPr id="132" name="Text 129"/>
          <p:cNvSpPr/>
          <p:nvPr/>
        </p:nvSpPr>
        <p:spPr>
          <a:xfrm>
            <a:off x="4864608" y="588873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Intl: China, Italy, GSA, bank routes</a:t>
            </a:r>
            <a:endParaRPr lang="en-US" sz="660" dirty="0"/>
          </a:p>
        </p:txBody>
      </p:sp>
      <p:sp>
        <p:nvSpPr>
          <p:cNvPr id="133" name="Shape 130"/>
          <p:cNvSpPr/>
          <p:nvPr/>
        </p:nvSpPr>
        <p:spPr>
          <a:xfrm>
            <a:off x="6848856" y="5102352"/>
            <a:ext cx="109728" cy="219456"/>
          </a:xfrm>
          <a:prstGeom prst="chevron">
            <a:avLst/>
          </a:prstGeom>
          <a:solidFill>
            <a:srgbClr val="9FA8B4"/>
          </a:solidFill>
          <a:ln w="12700">
            <a:solidFill>
              <a:srgbClr val="9FA8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1"/>
          <p:cNvSpPr/>
          <p:nvPr/>
        </p:nvSpPr>
        <p:spPr>
          <a:xfrm>
            <a:off x="6931152" y="4553712"/>
            <a:ext cx="2834640" cy="1609344"/>
          </a:xfrm>
          <a:prstGeom prst="roundRect">
            <a:avLst>
              <a:gd name="adj" fmla="val 3226"/>
            </a:avLst>
          </a:prstGeom>
          <a:solidFill>
            <a:srgbClr val="FAFBFC"/>
          </a:solidFill>
          <a:ln w="15240">
            <a:solidFill>
              <a:srgbClr val="06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2"/>
          <p:cNvSpPr/>
          <p:nvPr/>
        </p:nvSpPr>
        <p:spPr>
          <a:xfrm>
            <a:off x="6931152" y="4553712"/>
            <a:ext cx="2834640" cy="246888"/>
          </a:xfrm>
          <a:prstGeom prst="rect">
            <a:avLst/>
          </a:prstGeom>
          <a:solidFill>
            <a:srgbClr val="062650"/>
          </a:solidFill>
          <a:ln w="12700">
            <a:solidFill>
              <a:srgbClr val="06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3"/>
          <p:cNvSpPr/>
          <p:nvPr/>
        </p:nvSpPr>
        <p:spPr>
          <a:xfrm>
            <a:off x="7004304" y="4608576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 2027</a:t>
            </a:r>
            <a:endParaRPr lang="en-US" sz="740" dirty="0"/>
          </a:p>
        </p:txBody>
      </p:sp>
      <p:sp>
        <p:nvSpPr>
          <p:cNvPr id="137" name="Text 134"/>
          <p:cNvSpPr/>
          <p:nvPr/>
        </p:nvSpPr>
        <p:spPr>
          <a:xfrm>
            <a:off x="7022592" y="49286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STABILISATION</a:t>
            </a:r>
            <a:endParaRPr lang="en-US" sz="800" dirty="0"/>
          </a:p>
        </p:txBody>
      </p:sp>
      <p:sp>
        <p:nvSpPr>
          <p:cNvPr id="138" name="Shape 135"/>
          <p:cNvSpPr/>
          <p:nvPr/>
        </p:nvSpPr>
        <p:spPr>
          <a:xfrm>
            <a:off x="7059168" y="5202936"/>
            <a:ext cx="2578608" cy="1"/>
          </a:xfrm>
          <a:prstGeom prst="line">
            <a:avLst/>
          </a:prstGeom>
          <a:noFill/>
          <a:ln w="889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6"/>
          <p:cNvSpPr/>
          <p:nvPr/>
        </p:nvSpPr>
        <p:spPr>
          <a:xfrm>
            <a:off x="7059168" y="5330952"/>
            <a:ext cx="164592" cy="16459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7"/>
          <p:cNvSpPr/>
          <p:nvPr/>
        </p:nvSpPr>
        <p:spPr>
          <a:xfrm>
            <a:off x="7278624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</a:t>
            </a:r>
            <a:endParaRPr lang="en-US" sz="710" dirty="0"/>
          </a:p>
        </p:txBody>
      </p:sp>
      <p:sp>
        <p:nvSpPr>
          <p:cNvPr id="141" name="Text 138"/>
          <p:cNvSpPr/>
          <p:nvPr/>
        </p:nvSpPr>
        <p:spPr>
          <a:xfrm>
            <a:off x="7059168" y="551383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 hypercare and embedded controls</a:t>
            </a:r>
            <a:endParaRPr lang="en-US" sz="670" dirty="0"/>
          </a:p>
        </p:txBody>
      </p:sp>
      <p:sp>
        <p:nvSpPr>
          <p:cNvPr id="142" name="Shape 139"/>
          <p:cNvSpPr/>
          <p:nvPr/>
        </p:nvSpPr>
        <p:spPr>
          <a:xfrm>
            <a:off x="7059168" y="5705856"/>
            <a:ext cx="164592" cy="164592"/>
          </a:xfrm>
          <a:prstGeom prst="ellipse">
            <a:avLst/>
          </a:prstGeom>
          <a:solidFill>
            <a:srgbClr val="0A376B"/>
          </a:solidFill>
          <a:ln w="12700">
            <a:solidFill>
              <a:srgbClr val="0A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0"/>
          <p:cNvSpPr/>
          <p:nvPr/>
        </p:nvSpPr>
        <p:spPr>
          <a:xfrm>
            <a:off x="7278624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202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</a:t>
            </a:r>
            <a:endParaRPr lang="en-US" sz="710" dirty="0"/>
          </a:p>
        </p:txBody>
      </p:sp>
      <p:sp>
        <p:nvSpPr>
          <p:cNvPr id="144" name="Text 141"/>
          <p:cNvSpPr/>
          <p:nvPr/>
        </p:nvSpPr>
        <p:spPr>
          <a:xfrm>
            <a:off x="7059168" y="5888736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5A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completion + consolidated reconciliation</a:t>
            </a:r>
            <a:endParaRPr lang="en-US" sz="660" dirty="0"/>
          </a:p>
        </p:txBody>
      </p:sp>
      <p:sp>
        <p:nvSpPr>
          <p:cNvPr id="145" name="Shape 142"/>
          <p:cNvSpPr/>
          <p:nvPr/>
        </p:nvSpPr>
        <p:spPr>
          <a:xfrm>
            <a:off x="10204704" y="4050792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24733B"/>
          </a:solidFill>
          <a:ln w="12700">
            <a:solidFill>
              <a:srgbClr val="2473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3"/>
          <p:cNvSpPr/>
          <p:nvPr/>
        </p:nvSpPr>
        <p:spPr>
          <a:xfrm>
            <a:off x="10277856" y="410108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STATE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10204704" y="4306824"/>
            <a:ext cx="1856232" cy="2011680"/>
          </a:xfrm>
          <a:prstGeom prst="roundRect">
            <a:avLst>
              <a:gd name="adj" fmla="val 3448"/>
            </a:avLst>
          </a:prstGeom>
          <a:solidFill>
            <a:srgbClr val="062650"/>
          </a:solidFill>
          <a:ln w="10160">
            <a:solidFill>
              <a:srgbClr val="0626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Text 145"/>
          <p:cNvSpPr/>
          <p:nvPr/>
        </p:nvSpPr>
        <p:spPr>
          <a:xfrm>
            <a:off x="10378440" y="4517136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400" dirty="0"/>
          </a:p>
        </p:txBody>
      </p:sp>
      <p:sp>
        <p:nvSpPr>
          <p:cNvPr id="149" name="Text 146"/>
          <p:cNvSpPr/>
          <p:nvPr/>
        </p:nvSpPr>
        <p:spPr>
          <a:xfrm>
            <a:off x="10332720" y="483717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B9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PAYROLL</a:t>
            </a:r>
            <a:endParaRPr lang="en-US" sz="720" dirty="0"/>
          </a:p>
        </p:txBody>
      </p:sp>
      <p:sp>
        <p:nvSpPr>
          <p:cNvPr id="150" name="Shape 147"/>
          <p:cNvSpPr/>
          <p:nvPr/>
        </p:nvSpPr>
        <p:spPr>
          <a:xfrm>
            <a:off x="10387584" y="5102352"/>
            <a:ext cx="109728" cy="109728"/>
          </a:xfrm>
          <a:prstGeom prst="ellipse">
            <a:avLst/>
          </a:prstGeom>
          <a:solidFill>
            <a:srgbClr val="64D27B"/>
          </a:solidFill>
          <a:ln w="12700">
            <a:solidFill>
              <a:srgbClr val="64D2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8"/>
          <p:cNvSpPr/>
          <p:nvPr/>
        </p:nvSpPr>
        <p:spPr>
          <a:xfrm>
            <a:off x="10392156" y="5120640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00" dirty="0"/>
          </a:p>
        </p:txBody>
      </p:sp>
      <p:sp>
        <p:nvSpPr>
          <p:cNvPr id="152" name="Text 149"/>
          <p:cNvSpPr/>
          <p:nvPr/>
        </p:nvSpPr>
        <p:spPr>
          <a:xfrm>
            <a:off x="10561320" y="50749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184/184 domestic</a:t>
            </a:r>
            <a:endParaRPr lang="en-US" sz="680" dirty="0"/>
          </a:p>
        </p:txBody>
      </p:sp>
      <p:sp>
        <p:nvSpPr>
          <p:cNvPr id="153" name="Shape 150"/>
          <p:cNvSpPr/>
          <p:nvPr/>
        </p:nvSpPr>
        <p:spPr>
          <a:xfrm>
            <a:off x="10387584" y="5321808"/>
            <a:ext cx="109728" cy="109728"/>
          </a:xfrm>
          <a:prstGeom prst="ellipse">
            <a:avLst/>
          </a:prstGeom>
          <a:solidFill>
            <a:srgbClr val="64D27B"/>
          </a:solidFill>
          <a:ln w="12700">
            <a:solidFill>
              <a:srgbClr val="64D2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Text 151"/>
          <p:cNvSpPr/>
          <p:nvPr/>
        </p:nvSpPr>
        <p:spPr>
          <a:xfrm>
            <a:off x="10392156" y="5340096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00" dirty="0"/>
          </a:p>
        </p:txBody>
      </p:sp>
      <p:sp>
        <p:nvSpPr>
          <p:cNvPr id="155" name="Text 152"/>
          <p:cNvSpPr/>
          <p:nvPr/>
        </p:nvSpPr>
        <p:spPr>
          <a:xfrm>
            <a:off x="10561320" y="529437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35/35 countries</a:t>
            </a:r>
            <a:endParaRPr lang="en-US" sz="680" dirty="0"/>
          </a:p>
        </p:txBody>
      </p:sp>
      <p:sp>
        <p:nvSpPr>
          <p:cNvPr id="156" name="Shape 153"/>
          <p:cNvSpPr/>
          <p:nvPr/>
        </p:nvSpPr>
        <p:spPr>
          <a:xfrm>
            <a:off x="10387584" y="5541264"/>
            <a:ext cx="109728" cy="109728"/>
          </a:xfrm>
          <a:prstGeom prst="ellipse">
            <a:avLst/>
          </a:prstGeom>
          <a:solidFill>
            <a:srgbClr val="64D27B"/>
          </a:solidFill>
          <a:ln w="12700">
            <a:solidFill>
              <a:srgbClr val="64D2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4"/>
          <p:cNvSpPr/>
          <p:nvPr/>
        </p:nvSpPr>
        <p:spPr>
          <a:xfrm>
            <a:off x="10392156" y="5559552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00" dirty="0"/>
          </a:p>
        </p:txBody>
      </p:sp>
      <p:sp>
        <p:nvSpPr>
          <p:cNvPr id="158" name="Text 155"/>
          <p:cNvSpPr/>
          <p:nvPr/>
        </p:nvSpPr>
        <p:spPr>
          <a:xfrm>
            <a:off x="10561320" y="551383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manual workflow handoffs*</a:t>
            </a:r>
            <a:endParaRPr lang="en-US" sz="680" dirty="0"/>
          </a:p>
        </p:txBody>
      </p:sp>
      <p:sp>
        <p:nvSpPr>
          <p:cNvPr id="159" name="Shape 156"/>
          <p:cNvSpPr/>
          <p:nvPr/>
        </p:nvSpPr>
        <p:spPr>
          <a:xfrm>
            <a:off x="10387584" y="5760720"/>
            <a:ext cx="109728" cy="109728"/>
          </a:xfrm>
          <a:prstGeom prst="ellipse">
            <a:avLst/>
          </a:prstGeom>
          <a:solidFill>
            <a:srgbClr val="64D27B"/>
          </a:solidFill>
          <a:ln w="12700">
            <a:solidFill>
              <a:srgbClr val="64D2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Text 157"/>
          <p:cNvSpPr/>
          <p:nvPr/>
        </p:nvSpPr>
        <p:spPr>
          <a:xfrm>
            <a:off x="10392156" y="5779008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00" dirty="0"/>
          </a:p>
        </p:txBody>
      </p:sp>
      <p:sp>
        <p:nvSpPr>
          <p:cNvPr id="161" name="Text 158"/>
          <p:cNvSpPr/>
          <p:nvPr/>
        </p:nvSpPr>
        <p:spPr>
          <a:xfrm>
            <a:off x="10561320" y="57332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audit trail</a:t>
            </a:r>
            <a:endParaRPr lang="en-US" sz="680" dirty="0"/>
          </a:p>
        </p:txBody>
      </p:sp>
      <p:sp>
        <p:nvSpPr>
          <p:cNvPr id="162" name="Shape 159"/>
          <p:cNvSpPr/>
          <p:nvPr/>
        </p:nvSpPr>
        <p:spPr>
          <a:xfrm>
            <a:off x="10387584" y="5980176"/>
            <a:ext cx="109728" cy="109728"/>
          </a:xfrm>
          <a:prstGeom prst="ellipse">
            <a:avLst/>
          </a:prstGeom>
          <a:solidFill>
            <a:srgbClr val="64D27B"/>
          </a:solidFill>
          <a:ln w="12700">
            <a:solidFill>
              <a:srgbClr val="64D2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Text 160"/>
          <p:cNvSpPr/>
          <p:nvPr/>
        </p:nvSpPr>
        <p:spPr>
          <a:xfrm>
            <a:off x="10392156" y="5998464"/>
            <a:ext cx="1005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62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00" dirty="0"/>
          </a:p>
        </p:txBody>
      </p:sp>
      <p:sp>
        <p:nvSpPr>
          <p:cNvPr id="164" name="Text 161"/>
          <p:cNvSpPr/>
          <p:nvPr/>
        </p:nvSpPr>
        <p:spPr>
          <a:xfrm>
            <a:off x="10561320" y="59527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Consolidated reconciliation</a:t>
            </a:r>
            <a:endParaRPr lang="en-US" sz="680" dirty="0"/>
          </a:p>
        </p:txBody>
      </p:sp>
      <p:sp>
        <p:nvSpPr>
          <p:cNvPr id="165" name="Text 162"/>
          <p:cNvSpPr/>
          <p:nvPr/>
        </p:nvSpPr>
        <p:spPr>
          <a:xfrm>
            <a:off x="10332720" y="6208776"/>
            <a:ext cx="1600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80" dirty="0">
                <a:solidFill>
                  <a:srgbClr val="B8C4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*GSA remains partner-operated, with governance, visibility and auditability.</a:t>
            </a:r>
            <a:endParaRPr lang="en-US" sz="480" dirty="0"/>
          </a:p>
        </p:txBody>
      </p:sp>
      <p:sp>
        <p:nvSpPr>
          <p:cNvPr id="166" name="Text 163"/>
          <p:cNvSpPr/>
          <p:nvPr/>
        </p:nvSpPr>
        <p:spPr>
          <a:xfrm>
            <a:off x="146304" y="6592824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7A8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INDIA GENERAL  |  INTERNAL USE ONLY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390</Words>
  <Application>Microsoft Office PowerPoint</Application>
  <PresentationFormat>Widescreen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Air India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ZTZT Payroll CEO Infographic</dc:title>
  <dc:subject>Domestic and International Zero Touch Zero Trust Payroll</dc:subject>
  <dc:creator>Kunal Kansra</dc:creator>
  <cp:lastModifiedBy>Kunal Kansra</cp:lastModifiedBy>
  <cp:revision>4</cp:revision>
  <dcterms:created xsi:type="dcterms:W3CDTF">2026-08-11T06:53:28Z</dcterms:created>
  <dcterms:modified xsi:type="dcterms:W3CDTF">2026-08-11T06:59:30Z</dcterms:modified>
</cp:coreProperties>
</file>