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3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76" r:id="rId4"/>
    <p:sldMasterId id="2147484164" r:id="rId5"/>
    <p:sldMasterId id="2147484201" r:id="rId6"/>
    <p:sldMasterId id="2147484239" r:id="rId7"/>
  </p:sldMasterIdLst>
  <p:notesMasterIdLst>
    <p:notesMasterId r:id="rId32"/>
  </p:notesMasterIdLst>
  <p:handoutMasterIdLst>
    <p:handoutMasterId r:id="rId33"/>
  </p:handoutMasterIdLst>
  <p:sldIdLst>
    <p:sldId id="2147481660" r:id="rId8"/>
    <p:sldId id="2147375656" r:id="rId9"/>
    <p:sldId id="2147482886" r:id="rId10"/>
    <p:sldId id="2147375658" r:id="rId11"/>
    <p:sldId id="2147375661" r:id="rId12"/>
    <p:sldId id="2147482891" r:id="rId13"/>
    <p:sldId id="2147482892" r:id="rId14"/>
    <p:sldId id="2147482884" r:id="rId15"/>
    <p:sldId id="2147375662" r:id="rId16"/>
    <p:sldId id="2147482883" r:id="rId17"/>
    <p:sldId id="2147482890" r:id="rId18"/>
    <p:sldId id="2147482888" r:id="rId19"/>
    <p:sldId id="2147482889" r:id="rId20"/>
    <p:sldId id="2147482885" r:id="rId21"/>
    <p:sldId id="2147482866" r:id="rId22"/>
    <p:sldId id="2147482881" r:id="rId23"/>
    <p:sldId id="2147482882" r:id="rId24"/>
    <p:sldId id="2147482875" r:id="rId25"/>
    <p:sldId id="2147482876" r:id="rId26"/>
    <p:sldId id="2147482877" r:id="rId27"/>
    <p:sldId id="2147482870" r:id="rId28"/>
    <p:sldId id="2147482871" r:id="rId29"/>
    <p:sldId id="2147482872" r:id="rId30"/>
    <p:sldId id="2147481690" r:id="rId31"/>
  </p:sldIdLst>
  <p:sldSz cx="12198350" cy="6858000"/>
  <p:notesSz cx="7102475" cy="10234613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orient="horz" pos="335" userDrawn="1">
          <p15:clr>
            <a:srgbClr val="A4A3A4"/>
          </p15:clr>
        </p15:guide>
        <p15:guide id="4" orient="horz" pos="190" userDrawn="1">
          <p15:clr>
            <a:srgbClr val="A4A3A4"/>
          </p15:clr>
        </p15:guide>
        <p15:guide id="5" pos="386" userDrawn="1">
          <p15:clr>
            <a:srgbClr val="A4A3A4"/>
          </p15:clr>
        </p15:guide>
        <p15:guide id="6" pos="7298" userDrawn="1">
          <p15:clr>
            <a:srgbClr val="A4A3A4"/>
          </p15:clr>
        </p15:guide>
        <p15:guide id="7" orient="horz" pos="709" userDrawn="1">
          <p15:clr>
            <a:srgbClr val="A4A3A4"/>
          </p15:clr>
        </p15:guide>
        <p15:guide id="8" orient="horz" pos="3886" userDrawn="1">
          <p15:clr>
            <a:srgbClr val="A4A3A4"/>
          </p15:clr>
        </p15:guide>
        <p15:guide id="9" orient="horz" pos="41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CE5"/>
    <a:srgbClr val="C9DFFF"/>
    <a:srgbClr val="37FFFF"/>
    <a:srgbClr val="FFE600"/>
    <a:srgbClr val="FFFFFF"/>
    <a:srgbClr val="E9E0E4"/>
    <a:srgbClr val="DFE0E4"/>
    <a:srgbClr val="2E2E38"/>
    <a:srgbClr val="C4C4C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3741" autoAdjust="0"/>
  </p:normalViewPr>
  <p:slideViewPr>
    <p:cSldViewPr snapToGrid="0" snapToObjects="1" showGuides="1">
      <p:cViewPr varScale="1">
        <p:scale>
          <a:sx n="63" d="100"/>
          <a:sy n="63" d="100"/>
        </p:scale>
        <p:origin x="800" y="56"/>
      </p:cViewPr>
      <p:guideLst>
        <p:guide orient="horz" pos="2160"/>
        <p:guide pos="3842"/>
        <p:guide orient="horz" pos="335"/>
        <p:guide orient="horz" pos="190"/>
        <p:guide pos="386"/>
        <p:guide pos="7298"/>
        <p:guide orient="horz" pos="709"/>
        <p:guide orient="horz" pos="3886"/>
        <p:guide orient="horz" pos="4178"/>
      </p:guideLst>
    </p:cSldViewPr>
  </p:slideViewPr>
  <p:outlineViewPr>
    <p:cViewPr>
      <p:scale>
        <a:sx n="33" d="100"/>
        <a:sy n="33" d="100"/>
      </p:scale>
      <p:origin x="0" y="-302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commentAuthors" Target="commentAuthor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Transition Status</c:v>
                </c:pt>
              </c:strCache>
            </c:strRef>
          </c:tx>
          <c:spPr>
            <a:ln>
              <a:noFill/>
            </a:ln>
          </c:spPr>
          <c:explosion val="6"/>
          <c:dPt>
            <c:idx val="0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AD-43B9-85C0-5F20D5563E97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AD-43B9-85C0-5F20D5563E97}"/>
              </c:ext>
            </c:extLst>
          </c:dPt>
          <c:cat>
            <c:strRef>
              <c:f>Sheet1!$A$2:$A$3</c:f>
              <c:strCache>
                <c:ptCount val="2"/>
                <c:pt idx="0">
                  <c:v>Current Week</c:v>
                </c:pt>
                <c:pt idx="1">
                  <c:v>Total Weeks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330</c:v>
                </c:pt>
                <c:pt idx="1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AD-43B9-85C0-5F20D5563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r">
              <a:defRPr sz="13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23/09/2024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3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r">
              <a:defRPr sz="13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23/09/2024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8" tIns="49534" rIns="99068" bIns="49534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61442"/>
            <a:ext cx="5681980" cy="4605576"/>
          </a:xfrm>
          <a:prstGeom prst="rect">
            <a:avLst/>
          </a:prstGeom>
        </p:spPr>
        <p:txBody>
          <a:bodyPr vert="horz" lIns="99068" tIns="49534" rIns="99068" bIns="4953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670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7464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2105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765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100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042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765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100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7248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3618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7003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95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png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png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 userDrawn="1"/>
        </p:nvGrpSpPr>
        <p:grpSpPr>
          <a:xfrm>
            <a:off x="489367" y="876060"/>
            <a:ext cx="4855295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752043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319088"/>
            <a:ext cx="10978515" cy="652462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3C9806C-46CF-45EE-8ECD-A4424F085FC6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C4186CA-3062-49AA-B4A6-4F5659A20A0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30826B-32F8-4F0D-8B25-C68C977272C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360700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192088"/>
            <a:ext cx="10978515" cy="652462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7C61F77C-1062-4790-9726-D7CEE4F6C165}"/>
              </a:ext>
            </a:extLst>
          </p:cNvPr>
          <p:cNvSpPr>
            <a:spLocks/>
          </p:cNvSpPr>
          <p:nvPr userDrawn="1"/>
        </p:nvSpPr>
        <p:spPr>
          <a:xfrm>
            <a:off x="601178" y="846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51630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82814E3B-B412-4632-B8D2-29DEAD7B3733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F5C369C-18B6-42FB-9BFD-BB510D91EFF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5039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9121" y="1"/>
            <a:ext cx="3999231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919" y="2311401"/>
            <a:ext cx="3580117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9444" y="2311403"/>
            <a:ext cx="3580117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9444" y="4236721"/>
            <a:ext cx="3580117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9" y="907750"/>
            <a:ext cx="772385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84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2384460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7083" y="1137921"/>
            <a:ext cx="280384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9833" y="1137923"/>
            <a:ext cx="2768600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5294" y="907750"/>
            <a:ext cx="8892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45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800" y="2851522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88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CA1861C-5FDB-4203-A132-9CF18C56F211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51C8A0-D00F-44D1-B828-3C8CCE8DF64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3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351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351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51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45983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3176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3176" y="550667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3176" y="581871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9982" y="979789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31612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222" y="2578743"/>
            <a:ext cx="4537959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2" y="3840384"/>
            <a:ext cx="4537959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22330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917" y="1137922"/>
            <a:ext cx="4957505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3462" y="3813288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3462" y="4055931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3008" y="3578084"/>
            <a:ext cx="778959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3008" y="1137922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54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84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790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060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9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1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141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9051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7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916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995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953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854011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3541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3993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10980626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9025B-9A19-4622-B02A-C1D86C00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6" y="442965"/>
            <a:ext cx="10980626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811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0655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185621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1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E1463A-2994-4BF0-9709-FD6CE08C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8" y="442965"/>
            <a:ext cx="10962109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4878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2D689-B85E-4F90-88AE-DE8139AE37F5}"/>
              </a:ext>
            </a:extLst>
          </p:cNvPr>
          <p:cNvSpPr/>
          <p:nvPr userDrawn="1"/>
        </p:nvSpPr>
        <p:spPr>
          <a:xfrm>
            <a:off x="7261830" y="6229350"/>
            <a:ext cx="4936520" cy="6286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GB" sz="999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2884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20" y="6471243"/>
            <a:ext cx="5715371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486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EY and SAP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958724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945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5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58"/>
            <a:ext cx="4328932" cy="1046323"/>
          </a:xfrm>
        </p:spPr>
        <p:txBody>
          <a:bodyPr/>
          <a:lstStyle>
            <a:lvl1pPr marL="0" indent="0" algn="l"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 b="1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4" y="5605200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6019189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216807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914642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50501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5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58"/>
            <a:ext cx="4328932" cy="1046323"/>
          </a:xfrm>
        </p:spPr>
        <p:txBody>
          <a:bodyPr/>
          <a:lstStyle>
            <a:lvl1pPr marL="0" indent="0" algn="l"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 b="1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4" y="5605200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84" y="6019189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84" y="6216807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22124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2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6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6" y="4021755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5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0" y="4021755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38711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2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 userDrawn="1"/>
        </p:nvGrpSpPr>
        <p:grpSpPr>
          <a:xfrm>
            <a:off x="489366" y="876058"/>
            <a:ext cx="4855295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84728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lane on the runway">
            <a:extLst>
              <a:ext uri="{FF2B5EF4-FFF2-40B4-BE49-F238E27FC236}">
                <a16:creationId xmlns:a16="http://schemas.microsoft.com/office/drawing/2014/main" id="{A1F0499A-FC9F-A7DD-75DD-5611BFAC1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1999" cy="687173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089591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kumimoji="0" lang="en-IN" sz="3200" b="1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" panose="02000503020000020004" pitchFamily="2" charset="0"/>
                <a:ea typeface="+mj-ea"/>
                <a:cs typeface="+mj-cs"/>
              </a:defRPr>
            </a:lvl1pPr>
          </a:lstStyle>
          <a:p>
            <a:pPr marL="356616" marR="0" lvl="0" indent="-356616" defTabSz="100788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3E0DB412-1671-4FC0-A33F-A732C0F90FC9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5E8DF72-171D-464C-9F9E-D48F6963EF69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696AEF97-375C-41D8-9121-6720A75294D1}"/>
              </a:ext>
            </a:extLst>
          </p:cNvPr>
          <p:cNvSpPr>
            <a:spLocks/>
          </p:cNvSpPr>
          <p:nvPr userDrawn="1"/>
        </p:nvSpPr>
        <p:spPr>
          <a:xfrm flipV="1">
            <a:off x="609600" y="3937300"/>
            <a:ext cx="4447800" cy="64304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644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8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3C9806C-46CF-45EE-8ECD-A4424F085FC6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C4186CA-3062-49AA-B4A6-4F5659A20A0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30826B-32F8-4F0D-8B25-C68C977272C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468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8" y="319088"/>
            <a:ext cx="10978515" cy="65246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7C61F77C-1062-4790-9726-D7CEE4F6C165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6D5B2EE-6D1D-4D0A-BDAB-3A432B26DA5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A1E90D6-B228-4B4F-B633-336EA6E3F6EC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AAD7E4D5-4D15-81FB-3643-DA1790DE9C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21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8AF056-40E8-4041-884B-171A9BD679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48FA769-309D-4D8D-A2EB-F86117E535AD}"/>
              </a:ext>
            </a:extLst>
          </p:cNvPr>
          <p:cNvSpPr/>
          <p:nvPr userDrawn="1"/>
        </p:nvSpPr>
        <p:spPr>
          <a:xfrm flipH="1">
            <a:off x="0" y="0"/>
            <a:ext cx="12198350" cy="6858000"/>
          </a:xfrm>
          <a:custGeom>
            <a:avLst/>
            <a:gdLst>
              <a:gd name="connsiteX0" fmla="*/ 0 w 12192000"/>
              <a:gd name="connsiteY0" fmla="*/ 0 h 6858000"/>
              <a:gd name="connsiteX1" fmla="*/ 8305800 w 12192000"/>
              <a:gd name="connsiteY1" fmla="*/ 0 h 6858000"/>
              <a:gd name="connsiteX2" fmla="*/ 8400156 w 12192000"/>
              <a:gd name="connsiteY2" fmla="*/ 93013 h 6858000"/>
              <a:gd name="connsiteX3" fmla="*/ 12095500 w 12192000"/>
              <a:gd name="connsiteY3" fmla="*/ 93013 h 6858000"/>
              <a:gd name="connsiteX4" fmla="*/ 12095500 w 12192000"/>
              <a:gd name="connsiteY4" fmla="*/ 3735730 h 6858000"/>
              <a:gd name="connsiteX5" fmla="*/ 12192000 w 12192000"/>
              <a:gd name="connsiteY5" fmla="*/ 3830855 h 6858000"/>
              <a:gd name="connsiteX6" fmla="*/ 12192000 w 12192000"/>
              <a:gd name="connsiteY6" fmla="*/ 6858000 h 6858000"/>
              <a:gd name="connsiteX7" fmla="*/ 3885134 w 12192000"/>
              <a:gd name="connsiteY7" fmla="*/ 6858000 h 6858000"/>
              <a:gd name="connsiteX8" fmla="*/ 3766333 w 12192000"/>
              <a:gd name="connsiteY8" fmla="*/ 6765460 h 6858000"/>
              <a:gd name="connsiteX9" fmla="*/ 90414 w 12192000"/>
              <a:gd name="connsiteY9" fmla="*/ 6765460 h 6858000"/>
              <a:gd name="connsiteX10" fmla="*/ 90414 w 12192000"/>
              <a:gd name="connsiteY10" fmla="*/ 3902112 h 6858000"/>
              <a:gd name="connsiteX11" fmla="*/ 0 w 12192000"/>
              <a:gd name="connsiteY11" fmla="*/ 38316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8305800" y="0"/>
                </a:lnTo>
                <a:lnTo>
                  <a:pt x="8400156" y="93013"/>
                </a:lnTo>
                <a:lnTo>
                  <a:pt x="12095500" y="93013"/>
                </a:lnTo>
                <a:lnTo>
                  <a:pt x="12095500" y="3735730"/>
                </a:lnTo>
                <a:lnTo>
                  <a:pt x="12192000" y="3830855"/>
                </a:lnTo>
                <a:lnTo>
                  <a:pt x="12192000" y="6858000"/>
                </a:lnTo>
                <a:lnTo>
                  <a:pt x="3885134" y="6858000"/>
                </a:lnTo>
                <a:lnTo>
                  <a:pt x="3766333" y="6765460"/>
                </a:lnTo>
                <a:lnTo>
                  <a:pt x="90414" y="6765460"/>
                </a:lnTo>
                <a:lnTo>
                  <a:pt x="90414" y="3902112"/>
                </a:lnTo>
                <a:lnTo>
                  <a:pt x="0" y="3831684"/>
                </a:lnTo>
                <a:close/>
              </a:path>
            </a:pathLst>
          </a:custGeom>
          <a:solidFill>
            <a:schemeClr val="tx1">
              <a:lumMod val="100000"/>
              <a:alpha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IN" sz="1000" b="1">
              <a:solidFill>
                <a:schemeClr val="tx2"/>
              </a:solidFill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82814E3B-B412-4632-B8D2-29DEAD7B3733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F5C369C-18B6-42FB-9BFD-BB510D91EFF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188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9120" y="1"/>
            <a:ext cx="3999231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918" y="2311401"/>
            <a:ext cx="3580117" cy="3844704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9443" y="2311401"/>
            <a:ext cx="3580117" cy="1254759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9443" y="4236721"/>
            <a:ext cx="3580117" cy="1944160"/>
          </a:xfrm>
        </p:spPr>
        <p:txBody>
          <a:bodyPr numCol="1"/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772385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1986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84460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7083" y="1137921"/>
            <a:ext cx="2803842" cy="5018184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9832" y="1137921"/>
            <a:ext cx="2768600" cy="2796151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5294" y="907750"/>
            <a:ext cx="8892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978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4547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800" y="2851522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616" marR="0" lvl="0" indent="-356616" defTabSz="100788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4401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CA1861C-5FDB-4203-A132-9CF18C56F211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51C8A0-D00F-44D1-B828-3C8CCE8DF64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3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200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350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350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50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00077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3175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3175" y="550667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3175" y="581871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9981" y="979787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200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5547784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221" y="2578743"/>
            <a:ext cx="4537959" cy="1055708"/>
          </a:xfrm>
        </p:spPr>
        <p:txBody>
          <a:bodyPr/>
          <a:lstStyle>
            <a:lvl1pPr marL="0" indent="0">
              <a:buNone/>
              <a:defRPr sz="3000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1" y="3840384"/>
            <a:ext cx="4537959" cy="10557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19199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917" y="1137920"/>
            <a:ext cx="4957505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3461" y="3813288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3461" y="405593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3007" y="3578083"/>
            <a:ext cx="778959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3008" y="1137920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4626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008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616">
              <a:defRPr>
                <a:solidFill>
                  <a:schemeClr val="bg1"/>
                </a:solidFill>
              </a:defRPr>
            </a:lvl2pPr>
            <a:lvl3pPr marL="713232">
              <a:defRPr>
                <a:solidFill>
                  <a:schemeClr val="bg1"/>
                </a:solidFill>
              </a:defRPr>
            </a:lvl3pPr>
            <a:lvl4pPr marL="1069848">
              <a:defRPr>
                <a:solidFill>
                  <a:schemeClr val="bg1"/>
                </a:solidFill>
              </a:defRPr>
            </a:lvl4pPr>
            <a:lvl5pPr marL="1426464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6509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7230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1137919"/>
            <a:ext cx="5387605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1123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0"/>
            <a:ext cx="5393208" cy="42560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0"/>
            <a:ext cx="5393208" cy="42560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2408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9683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0756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909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309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9678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0758756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5363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2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213" indent="-176213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913" indent="-188913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8678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3726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10980626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200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632" indent="-168317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372" indent="-145299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9" lvl="2" algn="l" defTabSz="902010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3068" algn="l"/>
                <a:tab pos="2926135" algn="l"/>
                <a:tab pos="4228080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9025B-9A19-4622-B02A-C1D86C00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6" y="442965"/>
            <a:ext cx="10980626" cy="776236"/>
          </a:xfrm>
        </p:spPr>
        <p:txBody>
          <a:bodyPr lIns="0" anchor="b"/>
          <a:lstStyle>
            <a:lvl1pPr algn="l" defTabSz="857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5987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0879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200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632" indent="-168317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372" indent="-145299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9" lvl="2" algn="l" defTabSz="902010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3068" algn="l"/>
                <a:tab pos="2926135" algn="l"/>
                <a:tab pos="4228080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185620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200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200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632" indent="-168317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372" indent="-145299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9" lvl="2" algn="l" defTabSz="902010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3068" algn="l"/>
                <a:tab pos="2926135" algn="l"/>
                <a:tab pos="4228080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E1463A-2994-4BF0-9709-FD6CE08C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7" y="442965"/>
            <a:ext cx="10962109" cy="776236"/>
          </a:xfrm>
        </p:spPr>
        <p:txBody>
          <a:bodyPr lIns="0" anchor="b"/>
          <a:lstStyle>
            <a:lvl1pPr algn="l" defTabSz="857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368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2D689-B85E-4F90-88AE-DE8139AE37F5}"/>
              </a:ext>
            </a:extLst>
          </p:cNvPr>
          <p:cNvSpPr/>
          <p:nvPr userDrawn="1"/>
        </p:nvSpPr>
        <p:spPr>
          <a:xfrm>
            <a:off x="7261830" y="6229350"/>
            <a:ext cx="4936520" cy="6286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GB" sz="10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4879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19" y="6471243"/>
            <a:ext cx="5715371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EY and SAP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551607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6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4328932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5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5" y="5605202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5" y="6019189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5" y="6216807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914642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4170796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6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4328932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5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5" y="5605202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85" y="6019189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85" y="6216807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852120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64814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 userDrawn="1"/>
        </p:nvGrpSpPr>
        <p:grpSpPr>
          <a:xfrm>
            <a:off x="489367" y="876060"/>
            <a:ext cx="4855295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559427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319088"/>
            <a:ext cx="10978515" cy="652462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3C9806C-46CF-45EE-8ECD-A4424F085FC6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C4186CA-3062-49AA-B4A6-4F5659A20A0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30826B-32F8-4F0D-8B25-C68C977272C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94627AC-8D4A-4490-B169-C1CC0106F256}"/>
              </a:ext>
            </a:extLst>
          </p:cNvPr>
          <p:cNvSpPr txBox="1">
            <a:spLocks/>
          </p:cNvSpPr>
          <p:nvPr userDrawn="1"/>
        </p:nvSpPr>
        <p:spPr>
          <a:xfrm>
            <a:off x="1284599" y="6414783"/>
            <a:ext cx="3086100" cy="1800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" dirty="0"/>
              <a:t>Presentation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998835E0-350D-4B34-8AD3-448FF6EFBAAF}"/>
              </a:ext>
            </a:extLst>
          </p:cNvPr>
          <p:cNvSpPr txBox="1">
            <a:spLocks/>
          </p:cNvSpPr>
          <p:nvPr userDrawn="1"/>
        </p:nvSpPr>
        <p:spPr>
          <a:xfrm>
            <a:off x="609601" y="6414783"/>
            <a:ext cx="663066" cy="1800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 dirty="0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6A73B01D-677D-49FB-81C4-785A3B42AC4C}"/>
              </a:ext>
            </a:extLst>
          </p:cNvPr>
          <p:cNvSpPr>
            <a:spLocks/>
          </p:cNvSpPr>
          <p:nvPr userDrawn="1"/>
        </p:nvSpPr>
        <p:spPr>
          <a:xfrm>
            <a:off x="1157188" y="6414783"/>
            <a:ext cx="84940" cy="180000"/>
          </a:xfrm>
          <a:prstGeom prst="parallelogram">
            <a:avLst>
              <a:gd name="adj" fmla="val 72658"/>
            </a:avLst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BE6C5454-86D9-4538-A291-93E41C297B1A}"/>
              </a:ext>
            </a:extLst>
          </p:cNvPr>
          <p:cNvSpPr>
            <a:spLocks/>
          </p:cNvSpPr>
          <p:nvPr userDrawn="1"/>
        </p:nvSpPr>
        <p:spPr>
          <a:xfrm>
            <a:off x="1199658" y="6414783"/>
            <a:ext cx="84940" cy="180000"/>
          </a:xfrm>
          <a:prstGeom prst="parallelogram">
            <a:avLst>
              <a:gd name="adj" fmla="val 72658"/>
            </a:avLst>
          </a:prstGeom>
          <a:solidFill>
            <a:schemeClr val="bg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16661595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82814E3B-B412-4632-B8D2-29DEAD7B3733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F5C369C-18B6-42FB-9BFD-BB510D91EFF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90818601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9121" y="1"/>
            <a:ext cx="3999231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919" y="2311401"/>
            <a:ext cx="3580117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9444" y="2311403"/>
            <a:ext cx="3580117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9444" y="4236721"/>
            <a:ext cx="3580117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9" y="907750"/>
            <a:ext cx="772385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1714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2384460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7083" y="1137921"/>
            <a:ext cx="280384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9833" y="1137923"/>
            <a:ext cx="2768600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5294" y="907750"/>
            <a:ext cx="8892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0497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9505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800" y="2851522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3162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CA1861C-5FDB-4203-A132-9CF18C56F211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51C8A0-D00F-44D1-B828-3C8CCE8DF64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3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351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351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51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9878385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3176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3176" y="550667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3176" y="581871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9982" y="979789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6783553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222" y="2578743"/>
            <a:ext cx="4537959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2" y="3840384"/>
            <a:ext cx="4537959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4976418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917" y="1137922"/>
            <a:ext cx="4957505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3462" y="3813288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3462" y="4055931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3008" y="3578084"/>
            <a:ext cx="778959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3008" y="1137922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827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7691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144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11515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9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9193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96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356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87196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106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540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8415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8243759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6329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79716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10980626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9025B-9A19-4622-B02A-C1D86C00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6" y="442965"/>
            <a:ext cx="10980626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760199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77974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185621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1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E1463A-2994-4BF0-9709-FD6CE08C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8" y="442965"/>
            <a:ext cx="10962109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645890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2D689-B85E-4F90-88AE-DE8139AE37F5}"/>
              </a:ext>
            </a:extLst>
          </p:cNvPr>
          <p:cNvSpPr/>
          <p:nvPr userDrawn="1"/>
        </p:nvSpPr>
        <p:spPr>
          <a:xfrm>
            <a:off x="7261830" y="6229350"/>
            <a:ext cx="4936520" cy="6286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GB" sz="999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8133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20" y="6471243"/>
            <a:ext cx="5715371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486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EY and SAP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8864234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34441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8062" y="1600201"/>
            <a:ext cx="6388292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8061" y="4037607"/>
            <a:ext cx="6388292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6D27EAB-4BE9-8020-C82B-96126788B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40230" y="5888111"/>
            <a:ext cx="2339811" cy="568781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EEAC47AD-3C86-EC28-C365-4BBC1D446D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10512"/>
            <a:ext cx="4002571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46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a red dress walking through a archway&#10;&#10;Description automatically generated">
            <a:extLst>
              <a:ext uri="{FF2B5EF4-FFF2-40B4-BE49-F238E27FC236}">
                <a16:creationId xmlns:a16="http://schemas.microsoft.com/office/drawing/2014/main" id="{8D733A8F-0643-869B-6F91-532A2DAF78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790"/>
          <a:stretch/>
        </p:blipFill>
        <p:spPr>
          <a:xfrm>
            <a:off x="0" y="1"/>
            <a:ext cx="1219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519" y="478976"/>
            <a:ext cx="6388292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519" y="2916382"/>
            <a:ext cx="6388292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6D27EAB-4BE9-8020-C82B-96126788B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40230" y="5888111"/>
            <a:ext cx="2339811" cy="568781"/>
          </a:xfrm>
          <a:prstGeom prst="rect">
            <a:avLst/>
          </a:prstGeom>
        </p:spPr>
      </p:pic>
      <p:pic>
        <p:nvPicPr>
          <p:cNvPr id="18" name="Picture 17" descr="A group of bags with gold handles&#10;&#10;Description automatically generated">
            <a:extLst>
              <a:ext uri="{FF2B5EF4-FFF2-40B4-BE49-F238E27FC236}">
                <a16:creationId xmlns:a16="http://schemas.microsoft.com/office/drawing/2014/main" id="{D43CD980-17CF-8D0A-F22D-5143DDDF6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92" b="34629"/>
          <a:stretch/>
        </p:blipFill>
        <p:spPr>
          <a:xfrm>
            <a:off x="-4" y="2974032"/>
            <a:ext cx="4955583" cy="38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26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58" y="2133601"/>
            <a:ext cx="10071559" cy="132556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dirty="0">
                <a:solidFill>
                  <a:schemeClr val="accent1"/>
                </a:solidFill>
                <a:latin typeface="AirIndia" pitchFamily="82" charset="77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pic>
        <p:nvPicPr>
          <p:cNvPr id="7" name="Picture 6" descr="A red and purple and yellow square&#10;&#10;Description automatically generated with medium confidence">
            <a:extLst>
              <a:ext uri="{FF2B5EF4-FFF2-40B4-BE49-F238E27FC236}">
                <a16:creationId xmlns:a16="http://schemas.microsoft.com/office/drawing/2014/main" id="{416A0339-9659-77BD-A28D-91C750E0BC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48919" y="4041648"/>
            <a:ext cx="5911425" cy="281635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5758" y="3455980"/>
            <a:ext cx="5474834" cy="179060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building with a gold frame&#10;&#10;Description automatically generated">
            <a:extLst>
              <a:ext uri="{FF2B5EF4-FFF2-40B4-BE49-F238E27FC236}">
                <a16:creationId xmlns:a16="http://schemas.microsoft.com/office/drawing/2014/main" id="{52625ACE-6BB0-92F8-DF05-159753017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6666"/>
          <a:stretch/>
        </p:blipFill>
        <p:spPr>
          <a:xfrm>
            <a:off x="0" y="1718726"/>
            <a:ext cx="5793826" cy="51389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4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6" name="Picture 5" descr="A building with a dome on the water&#10;&#10;Description automatically generated">
            <a:extLst>
              <a:ext uri="{FF2B5EF4-FFF2-40B4-BE49-F238E27FC236}">
                <a16:creationId xmlns:a16="http://schemas.microsoft.com/office/drawing/2014/main" id="{52633A0A-DE60-008C-F44B-4634AF788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0326"/>
          <a:stretch/>
        </p:blipFill>
        <p:spPr>
          <a:xfrm>
            <a:off x="0" y="2183966"/>
            <a:ext cx="5794216" cy="467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9498DA3E-4290-73C0-4C62-3B40E93C9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7470"/>
          <a:stretch/>
        </p:blipFill>
        <p:spPr>
          <a:xfrm>
            <a:off x="1" y="1719072"/>
            <a:ext cx="5717977" cy="51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22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ontent Layou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452D-6719-3A3C-48DC-057312D6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7B8DCE-B813-ECB6-504B-646AA8A70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376" y="304800"/>
            <a:ext cx="10983598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176C6B-4C1B-92FA-CF20-B7F8064C9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690" y="1587998"/>
            <a:ext cx="10980283" cy="4520204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800"/>
            </a:lvl1pPr>
            <a:lvl2pPr marL="6858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600"/>
            </a:lvl2pPr>
            <a:lvl3pPr marL="11430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400"/>
            </a:lvl3pPr>
            <a:lvl4pPr marL="16002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4pPr>
            <a:lvl5pPr marL="20574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AFBD2D-C2BB-8088-2AF6-FCA057912F1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421" y="990600"/>
            <a:ext cx="10971239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0B4ED90-1C19-538C-AD30-CF248331DB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63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  <p15:guide id="4" orient="horz" pos="91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5658912-D983-FCD7-8563-DCAA4AD6C8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1696" y="1587999"/>
            <a:ext cx="5026737" cy="4588965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>
                <a:solidFill>
                  <a:srgbClr val="FF0000"/>
                </a:solidFill>
              </a:defRPr>
            </a:lvl1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C3759EA-CF74-7437-28A8-38074023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>
              <a:defRPr lang="en-US" sz="1200" smtClean="0">
                <a:solidFill>
                  <a:schemeClr val="accent1"/>
                </a:solidFill>
              </a:defRPr>
            </a:lvl1pPr>
          </a:lstStyle>
          <a:p>
            <a:pPr algn="ctr"/>
            <a:fld id="{3A41A254-7326-714E-AF55-4C213D6394DE}" type="slidenum">
              <a:rPr lang="en-IN" smtClean="0"/>
              <a:pPr algn="ctr"/>
              <a:t>‹#›</a:t>
            </a:fld>
            <a:endParaRPr lang="en-IN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A9E431-EC2B-5717-285E-278016CA8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691" y="1600201"/>
            <a:ext cx="5488485" cy="456183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1800" dirty="0"/>
            </a:lvl1pPr>
            <a:lvl2pPr>
              <a:defRPr lang="en-GB" sz="1600" dirty="0"/>
            </a:lvl2pPr>
            <a:lvl3pPr>
              <a:defRPr lang="en-GB" sz="1400" dirty="0"/>
            </a:lvl3pPr>
            <a:lvl4pPr>
              <a:defRPr lang="en-GB" sz="1200" dirty="0"/>
            </a:lvl4pPr>
            <a:lvl5pPr>
              <a:defRPr lang="en-US" sz="1200" dirty="0"/>
            </a:lvl5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Click to edit Master text styles</a:t>
            </a:r>
          </a:p>
          <a:p>
            <a:pPr lvl="1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Second level</a:t>
            </a:r>
          </a:p>
          <a:p>
            <a:pPr lvl="2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Third level</a:t>
            </a:r>
          </a:p>
          <a:p>
            <a:pPr lvl="3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Fourth level</a:t>
            </a:r>
          </a:p>
          <a:p>
            <a:pPr lvl="4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07FE69-5627-2F02-8D78-2B38708079C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421" y="990600"/>
            <a:ext cx="10971239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127A2E-2194-FA16-2895-A983F804D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18" y="304800"/>
            <a:ext cx="10978515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C089A545-7420-C6A8-55C6-91018ACE1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92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B5B5505-B75C-A9AE-5EE1-1C13D2335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376" y="304800"/>
            <a:ext cx="10983598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B0F032F-D65A-0255-D2B4-F805BB188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2BD0675-B4A3-C2D7-F0F5-5CFD25D415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each with palm trees and rocks&#10;&#10;Description automatically generated">
            <a:extLst>
              <a:ext uri="{FF2B5EF4-FFF2-40B4-BE49-F238E27FC236}">
                <a16:creationId xmlns:a16="http://schemas.microsoft.com/office/drawing/2014/main" id="{318F61C2-D69B-52CC-1407-6BDD573A1D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0494" y="-25399"/>
            <a:ext cx="12259341" cy="690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175" y="1008602"/>
            <a:ext cx="5489258" cy="2420399"/>
          </a:xfrm>
        </p:spPr>
        <p:txBody>
          <a:bodyPr anchor="b">
            <a:normAutofit/>
          </a:bodyPr>
          <a:lstStyle>
            <a:lvl1pPr algn="l">
              <a:defRPr sz="6600" b="0" i="0">
                <a:solidFill>
                  <a:srgbClr val="962067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pic>
        <p:nvPicPr>
          <p:cNvPr id="11" name="Picture 10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B2C22E4F-BAB3-388A-ABC6-B85601289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2569124"/>
            <a:ext cx="3014033" cy="42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86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344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airplane flying in the sky&#10;&#10;Description automatically generated">
            <a:extLst>
              <a:ext uri="{FF2B5EF4-FFF2-40B4-BE49-F238E27FC236}">
                <a16:creationId xmlns:a16="http://schemas.microsoft.com/office/drawing/2014/main" id="{BA4976FA-1590-E7FA-325A-4D49C92DB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7621" b="3087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374C5802-21C8-3499-47DB-A5413E3AB8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630" b="3036"/>
          <a:stretch/>
        </p:blipFill>
        <p:spPr>
          <a:xfrm>
            <a:off x="-30496" y="-17145"/>
            <a:ext cx="12259342" cy="6892290"/>
          </a:xfrm>
          <a:prstGeom prst="rect">
            <a:avLst/>
          </a:prstGeom>
        </p:spPr>
      </p:pic>
      <p:pic>
        <p:nvPicPr>
          <p:cNvPr id="3" name="Picture 2" descr="A group of bags with gold handles&#10;&#10;Description automatically generated">
            <a:extLst>
              <a:ext uri="{FF2B5EF4-FFF2-40B4-BE49-F238E27FC236}">
                <a16:creationId xmlns:a16="http://schemas.microsoft.com/office/drawing/2014/main" id="{A983B41F-6A5B-CE62-91F1-BC22A0404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92" b="34629"/>
          <a:stretch/>
        </p:blipFill>
        <p:spPr>
          <a:xfrm>
            <a:off x="-4" y="2974032"/>
            <a:ext cx="4955583" cy="388396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C3906F-921E-6E1D-753F-E155F5842C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6779" y="4800600"/>
            <a:ext cx="5489258" cy="1752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96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40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9580A17-C42C-DB86-00EC-A7C42254D4D1}"/>
              </a:ext>
            </a:extLst>
          </p:cNvPr>
          <p:cNvSpPr txBox="1">
            <a:spLocks/>
          </p:cNvSpPr>
          <p:nvPr userDrawn="1"/>
        </p:nvSpPr>
        <p:spPr>
          <a:xfrm>
            <a:off x="11818339" y="6492016"/>
            <a:ext cx="381198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b="1" kern="1200">
                <a:solidFill>
                  <a:schemeClr val="tx1">
                    <a:tint val="75000"/>
                  </a:schemeClr>
                </a:solidFill>
                <a:latin typeface="Concourse T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ACC139-E314-47E7-89DC-E53FA425EA44}" type="slidenum">
              <a:rPr lang="en-IN" sz="800" b="0" i="0" smtClean="0">
                <a:latin typeface="Montserrat Light" pitchFamily="2" charset="77"/>
              </a:rPr>
              <a:pPr/>
              <a:t>‹#›</a:t>
            </a:fld>
            <a:endParaRPr lang="en-IN" sz="800" b="0" i="0">
              <a:latin typeface="Montserrat Light" pitchFamily="2" charset="77"/>
            </a:endParaRPr>
          </a:p>
        </p:txBody>
      </p:sp>
      <p:pic>
        <p:nvPicPr>
          <p:cNvPr id="6" name="Picture 5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466397C4-8F5B-47CB-BB31-6076EF1DC0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3744902"/>
            <a:ext cx="2187748" cy="31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3383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9498DA3E-4290-73C0-4C62-3B40E93C9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7470"/>
          <a:stretch/>
        </p:blipFill>
        <p:spPr>
          <a:xfrm>
            <a:off x="3" y="3977126"/>
            <a:ext cx="3204515" cy="2880000"/>
          </a:xfrm>
          <a:prstGeom prst="rect">
            <a:avLst/>
          </a:prstGeom>
        </p:spPr>
      </p:pic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17D01BF-3242-1FD7-DBAF-34CCCEB7C7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19228" y="5820525"/>
            <a:ext cx="2339811" cy="56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9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Divider -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B2C22E4F-BAB3-388A-ABC6-B85601289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3744902"/>
            <a:ext cx="2187748" cy="311309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51BD44-F165-D94F-8B5D-2D5C27EF89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042C05-3262-95A9-86A4-9E070B834A2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8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344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85B66112-3E19-BD47-78BA-8A32B3A14F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10512"/>
            <a:ext cx="4002571" cy="50474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1A4798-5147-427A-5AB6-1123E55EE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8062" y="1600201"/>
            <a:ext cx="6388292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rgbClr val="DA0E28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14CF230-B523-D8E5-49B9-EBA620245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8061" y="4037607"/>
            <a:ext cx="6388292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145701AE-CCF2-9A8E-79C2-91F4247CDF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87058" y="5792387"/>
            <a:ext cx="2659524" cy="93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1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BB415-BC84-2F6C-235C-F089EFBC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C91D-BFE4-4C1A-A18A-4610617C81A9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73CAD-7E5B-89D8-8A45-C345F23C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714DE-53D1-A2D2-1EF9-DE49003B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102F4-2746-43E2-A86B-C4D901F8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5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86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94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96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8" Type="http://schemas.openxmlformats.org/officeDocument/2006/relationships/slideLayout" Target="../slideLayouts/slideLayout7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60000" cy="369423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344867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01E80BD4-A940-76A2-FE28-778FE3A3CC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3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3" r:id="rId2"/>
    <p:sldLayoutId id="2147484084" r:id="rId3"/>
    <p:sldLayoutId id="2147484085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  <p:sldLayoutId id="2147484094" r:id="rId12"/>
    <p:sldLayoutId id="2147484095" r:id="rId13"/>
    <p:sldLayoutId id="2147484096" r:id="rId14"/>
    <p:sldLayoutId id="2147484097" r:id="rId15"/>
    <p:sldLayoutId id="2147484098" r:id="rId16"/>
    <p:sldLayoutId id="2147484099" r:id="rId17"/>
    <p:sldLayoutId id="2147484100" r:id="rId18"/>
    <p:sldLayoutId id="2147484101" r:id="rId19"/>
    <p:sldLayoutId id="2147484102" r:id="rId20"/>
    <p:sldLayoutId id="2147484103" r:id="rId21"/>
    <p:sldLayoutId id="2147484104" r:id="rId22"/>
    <p:sldLayoutId id="2147484105" r:id="rId23"/>
    <p:sldLayoutId id="2147484106" r:id="rId24"/>
    <p:sldLayoutId id="2147484107" r:id="rId25"/>
    <p:sldLayoutId id="2147484108" r:id="rId26"/>
    <p:sldLayoutId id="2147484109" r:id="rId27"/>
    <p:sldLayoutId id="2147484110" r:id="rId28"/>
    <p:sldLayoutId id="2147484111" r:id="rId29"/>
    <p:sldLayoutId id="2147484112" r:id="rId30"/>
    <p:sldLayoutId id="2147484125" r:id="rId3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8" y="344867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690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5" r:id="rId9"/>
    <p:sldLayoutId id="2147484176" r:id="rId10"/>
    <p:sldLayoutId id="2147484177" r:id="rId11"/>
    <p:sldLayoutId id="2147484178" r:id="rId12"/>
    <p:sldLayoutId id="2147484179" r:id="rId13"/>
    <p:sldLayoutId id="2147484180" r:id="rId14"/>
    <p:sldLayoutId id="2147484181" r:id="rId15"/>
    <p:sldLayoutId id="2147484182" r:id="rId16"/>
    <p:sldLayoutId id="2147484183" r:id="rId17"/>
    <p:sldLayoutId id="2147484184" r:id="rId18"/>
    <p:sldLayoutId id="2147484185" r:id="rId19"/>
    <p:sldLayoutId id="2147484186" r:id="rId20"/>
    <p:sldLayoutId id="2147484187" r:id="rId21"/>
    <p:sldLayoutId id="2147484188" r:id="rId22"/>
    <p:sldLayoutId id="2147484189" r:id="rId23"/>
    <p:sldLayoutId id="2147484190" r:id="rId24"/>
    <p:sldLayoutId id="2147484191" r:id="rId25"/>
    <p:sldLayoutId id="2147484192" r:id="rId26"/>
    <p:sldLayoutId id="2147484193" r:id="rId27"/>
    <p:sldLayoutId id="2147484194" r:id="rId28"/>
    <p:sldLayoutId id="2147484195" r:id="rId29"/>
    <p:sldLayoutId id="2147484196" r:id="rId30"/>
    <p:sldLayoutId id="2147484197" r:id="rId31"/>
    <p:sldLayoutId id="2147484198" r:id="rId32"/>
    <p:sldLayoutId id="2147484199" r:id="rId33"/>
    <p:sldLayoutId id="2147484200" r:id="rId3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21" name="Date Placeholder 1">
            <a:extLst>
              <a:ext uri="{FF2B5EF4-FFF2-40B4-BE49-F238E27FC236}">
                <a16:creationId xmlns:a16="http://schemas.microsoft.com/office/drawing/2014/main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728" y="6414783"/>
            <a:ext cx="119125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800" smtClean="0"/>
              <a:t>23 September 2024</a:t>
            </a:fld>
            <a:endParaRPr lang="en-IN" sz="800" dirty="0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F5D667A6-D967-4BCE-95CA-C796E5DCAADD}"/>
              </a:ext>
            </a:extLst>
          </p:cNvPr>
          <p:cNvSpPr txBox="1">
            <a:spLocks/>
          </p:cNvSpPr>
          <p:nvPr userDrawn="1"/>
        </p:nvSpPr>
        <p:spPr>
          <a:xfrm>
            <a:off x="3162989" y="6414783"/>
            <a:ext cx="3086100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" dirty="0"/>
              <a:t>Presentation title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601" y="6414783"/>
            <a:ext cx="663066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344867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74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3" r:id="rId1"/>
    <p:sldLayoutId id="2147484204" r:id="rId2"/>
    <p:sldLayoutId id="2147484205" r:id="rId3"/>
    <p:sldLayoutId id="2147484206" r:id="rId4"/>
    <p:sldLayoutId id="2147484208" r:id="rId5"/>
    <p:sldLayoutId id="2147484210" r:id="rId6"/>
    <p:sldLayoutId id="2147484212" r:id="rId7"/>
    <p:sldLayoutId id="2147484213" r:id="rId8"/>
    <p:sldLayoutId id="2147484214" r:id="rId9"/>
    <p:sldLayoutId id="2147484215" r:id="rId10"/>
    <p:sldLayoutId id="2147484216" r:id="rId11"/>
    <p:sldLayoutId id="2147484217" r:id="rId12"/>
    <p:sldLayoutId id="2147484218" r:id="rId13"/>
    <p:sldLayoutId id="2147484219" r:id="rId14"/>
    <p:sldLayoutId id="2147484220" r:id="rId15"/>
    <p:sldLayoutId id="2147484221" r:id="rId16"/>
    <p:sldLayoutId id="2147484222" r:id="rId17"/>
    <p:sldLayoutId id="2147484223" r:id="rId18"/>
    <p:sldLayoutId id="2147484224" r:id="rId19"/>
    <p:sldLayoutId id="2147484225" r:id="rId20"/>
    <p:sldLayoutId id="2147484226" r:id="rId21"/>
    <p:sldLayoutId id="2147484227" r:id="rId22"/>
    <p:sldLayoutId id="2147484228" r:id="rId23"/>
    <p:sldLayoutId id="2147484229" r:id="rId24"/>
    <p:sldLayoutId id="2147484230" r:id="rId25"/>
    <p:sldLayoutId id="2147484231" r:id="rId26"/>
    <p:sldLayoutId id="2147484232" r:id="rId27"/>
    <p:sldLayoutId id="2147484233" r:id="rId28"/>
    <p:sldLayoutId id="2147484234" r:id="rId29"/>
    <p:sldLayoutId id="2147484235" r:id="rId30"/>
    <p:sldLayoutId id="2147484236" r:id="rId31"/>
    <p:sldLayoutId id="2147484237" r:id="rId32"/>
    <p:sldLayoutId id="2147484238" r:id="rId33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DDEF0-7AF8-5F17-BBC5-8B04639B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681038"/>
            <a:ext cx="10978515" cy="919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40AF1-B2D1-340A-5F66-CB24C4B8D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18" y="2057400"/>
            <a:ext cx="10978515" cy="411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1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  <p:sldLayoutId id="2147484243" r:id="rId4"/>
    <p:sldLayoutId id="2147484244" r:id="rId5"/>
    <p:sldLayoutId id="2147484245" r:id="rId6"/>
    <p:sldLayoutId id="2147484246" r:id="rId7"/>
    <p:sldLayoutId id="2147484247" r:id="rId8"/>
    <p:sldLayoutId id="2147484248" r:id="rId9"/>
    <p:sldLayoutId id="2147484249" r:id="rId10"/>
    <p:sldLayoutId id="2147484250" r:id="rId11"/>
    <p:sldLayoutId id="2147484251" r:id="rId12"/>
    <p:sldLayoutId id="2147484252" r:id="rId13"/>
    <p:sldLayoutId id="2147484253" r:id="rId14"/>
    <p:sldLayoutId id="2147484254" r:id="rId15"/>
    <p:sldLayoutId id="2147484256" r:id="rId16"/>
    <p:sldLayoutId id="214748425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irIndia" pitchFamily="8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8CA4-707D-E173-828C-E5A2B552E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4775" y="1721499"/>
            <a:ext cx="8086919" cy="2609869"/>
          </a:xfrm>
        </p:spPr>
        <p:txBody>
          <a:bodyPr>
            <a:normAutofit fontScale="90000"/>
          </a:bodyPr>
          <a:lstStyle/>
          <a:p>
            <a:r>
              <a:rPr lang="en-IN" sz="5400" dirty="0"/>
              <a:t>Steering Committee Meeting for HR Tech</a:t>
            </a:r>
            <a:br>
              <a:rPr lang="en-IN" dirty="0"/>
            </a:br>
            <a: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  <a:t>UK – AI Merger</a:t>
            </a:r>
            <a:b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  <a:t>23-Sep-2024</a:t>
            </a:r>
            <a:endParaRPr lang="en-IN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6CAC2-193D-58DF-0042-14E7097FE08A}"/>
              </a:ext>
            </a:extLst>
          </p:cNvPr>
          <p:cNvSpPr txBox="1"/>
          <p:nvPr/>
        </p:nvSpPr>
        <p:spPr>
          <a:xfrm>
            <a:off x="9057723" y="5154876"/>
            <a:ext cx="294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AirIndia" panose="04050608020B02020302" pitchFamily="82" charset="0"/>
              </a:rPr>
              <a:t>Digital &amp; Technology</a:t>
            </a:r>
            <a:endParaRPr lang="en-IN" sz="2400" dirty="0">
              <a:solidFill>
                <a:srgbClr val="FFFFFF"/>
              </a:solidFill>
              <a:latin typeface="AirIndia" panose="04050608020B020203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25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US" sz="2800" b="1" dirty="0"/>
              <a:t>Todays Agenda</a:t>
            </a:r>
            <a:endParaRPr lang="en-IN" sz="2800" b="1" dirty="0"/>
          </a:p>
        </p:txBody>
      </p:sp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CD450463-F773-5DB2-8B5C-C0BC4E1B4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9070"/>
              </p:ext>
            </p:extLst>
          </p:nvPr>
        </p:nvGraphicFramePr>
        <p:xfrm>
          <a:off x="609600" y="1364803"/>
          <a:ext cx="10979151" cy="4525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1084118350"/>
                    </a:ext>
                  </a:extLst>
                </a:gridCol>
                <a:gridCol w="6557818">
                  <a:extLst>
                    <a:ext uri="{9D8B030D-6E8A-4147-A177-3AD203B41FA5}">
                      <a16:colId xmlns:a16="http://schemas.microsoft.com/office/drawing/2014/main" val="3089960042"/>
                    </a:ext>
                  </a:extLst>
                </a:gridCol>
                <a:gridCol w="2490933">
                  <a:extLst>
                    <a:ext uri="{9D8B030D-6E8A-4147-A177-3AD203B41FA5}">
                      <a16:colId xmlns:a16="http://schemas.microsoft.com/office/drawing/2014/main" val="1371098592"/>
                    </a:ext>
                  </a:extLst>
                </a:gridCol>
              </a:tblGrid>
              <a:tr h="11677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kumimoji="0" lang="en-IN" sz="6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27ACAA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Core HR System – SAP SuccessFactors (SF)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Organization Structure; Employee Central; Recruitment &amp; Onboarding; Performance &amp; Goal Management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449722"/>
                  </a:ext>
                </a:extLst>
              </a:tr>
              <a:tr h="278582"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371616"/>
                  </a:ext>
                </a:extLst>
              </a:tr>
              <a:tr h="1373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IN" sz="6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Payroll System – PeopleStrong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-Merger Principles &amp; Approach (Plan)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-Upcoming Activities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-Payroll Mock Runs (Mock Runs Validation Criteria &amp; Mock Run 1 Update)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-RAID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2198"/>
                  </a:ext>
                </a:extLst>
              </a:tr>
              <a:tr h="278582"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14889"/>
                  </a:ext>
                </a:extLst>
              </a:tr>
              <a:tr h="1373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en-IN" sz="6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Other HR Tech Apps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-Learning &amp; Development (TCS </a:t>
                      </a:r>
                      <a:r>
                        <a:rPr kumimoji="0" lang="en-IN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iDL</a:t>
                      </a: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IN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Disprz</a:t>
                      </a: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-Staff Travel (</a:t>
                      </a:r>
                      <a:r>
                        <a:rPr kumimoji="0" lang="en-IN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iFly</a:t>
                      </a: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-Rewards &amp; Recognition (Advantage Club)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7709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997DF6D-FC9C-FE57-53FB-ED2FBE3DD35C}"/>
              </a:ext>
            </a:extLst>
          </p:cNvPr>
          <p:cNvSpPr/>
          <p:nvPr/>
        </p:nvSpPr>
        <p:spPr>
          <a:xfrm>
            <a:off x="10881360" y="6156960"/>
            <a:ext cx="1016000" cy="652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42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922F-9817-EDC6-0A01-3F9629BD6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7BFD-D5CD-AB0E-1BAC-1D7BDFC9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cs typeface="+mj-cs"/>
              </a:rPr>
              <a:t>1. Merger Project - SF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7A8FA64-025E-AD5D-1A01-7D8625CB7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5758" y="5194855"/>
            <a:ext cx="1225550" cy="1435100"/>
            <a:chOff x="6529" y="3125"/>
            <a:chExt cx="772" cy="904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5C776D38-3417-DCFB-D87F-1D115C285C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DD24BAFA-91E9-A02D-D116-C7DCAAE8A2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682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US" b="1" dirty="0">
                <a:latin typeface="Arial" panose="020B0604020202020204" pitchFamily="34" charset="0"/>
              </a:rPr>
              <a:t>Merger Project – Plan on a Page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434108-4910-C79C-0D33-8D0EB5D56BD1}"/>
              </a:ext>
            </a:extLst>
          </p:cNvPr>
          <p:cNvCxnSpPr>
            <a:cxnSpLocks/>
          </p:cNvCxnSpPr>
          <p:nvPr/>
        </p:nvCxnSpPr>
        <p:spPr>
          <a:xfrm>
            <a:off x="720275" y="3238375"/>
            <a:ext cx="11228569" cy="0"/>
          </a:xfrm>
          <a:prstGeom prst="straightConnector1">
            <a:avLst/>
          </a:prstGeom>
          <a:noFill/>
          <a:ln w="952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  <a:tailEnd type="none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F0DFCD-7A6C-4AA0-3F83-7845445D95A4}"/>
              </a:ext>
            </a:extLst>
          </p:cNvPr>
          <p:cNvSpPr txBox="1"/>
          <p:nvPr/>
        </p:nvSpPr>
        <p:spPr bwMode="gray">
          <a:xfrm rot="16200000">
            <a:off x="-1113962" y="2870628"/>
            <a:ext cx="3070312" cy="43328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wrap="square" lIns="0" tIns="27375" rIns="0" bIns="0" rtlCol="0" anchor="ctr">
            <a:noAutofit/>
          </a:bodyPr>
          <a:lstStyle/>
          <a:p>
            <a:pPr algn="ctr" defTabSz="912964">
              <a:lnSpc>
                <a:spcPct val="85000"/>
              </a:lnSpc>
              <a:spcBef>
                <a:spcPts val="450"/>
              </a:spcBef>
              <a:spcAft>
                <a:spcPts val="450"/>
              </a:spcAft>
              <a:buClr>
                <a:srgbClr val="27ACAA"/>
              </a:buClr>
              <a:buSzPct val="70000"/>
              <a:defRPr/>
            </a:pPr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SuccessFactors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D13DC1A-D238-6493-5EE4-BFBF5A28B75C}"/>
              </a:ext>
            </a:extLst>
          </p:cNvPr>
          <p:cNvGrpSpPr/>
          <p:nvPr/>
        </p:nvGrpSpPr>
        <p:grpSpPr>
          <a:xfrm>
            <a:off x="1447142" y="1224517"/>
            <a:ext cx="10182120" cy="327594"/>
            <a:chOff x="3297986" y="854404"/>
            <a:chExt cx="8331275" cy="327594"/>
          </a:xfrm>
          <a:solidFill>
            <a:schemeClr val="bg1"/>
          </a:solidFill>
        </p:grpSpPr>
        <p:sp>
          <p:nvSpPr>
            <p:cNvPr id="49" name="Arrow: Chevron 48">
              <a:extLst>
                <a:ext uri="{FF2B5EF4-FFF2-40B4-BE49-F238E27FC236}">
                  <a16:creationId xmlns:a16="http://schemas.microsoft.com/office/drawing/2014/main" id="{BF03BD2A-98A7-5EB0-522C-72BB285464DB}"/>
                </a:ext>
              </a:extLst>
            </p:cNvPr>
            <p:cNvSpPr/>
            <p:nvPr/>
          </p:nvSpPr>
          <p:spPr bwMode="gray">
            <a:xfrm>
              <a:off x="3297986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Jun’ 24</a:t>
              </a:r>
            </a:p>
          </p:txBody>
        </p:sp>
        <p:sp>
          <p:nvSpPr>
            <p:cNvPr id="50" name="Arrow: Chevron 49">
              <a:extLst>
                <a:ext uri="{FF2B5EF4-FFF2-40B4-BE49-F238E27FC236}">
                  <a16:creationId xmlns:a16="http://schemas.microsoft.com/office/drawing/2014/main" id="{E03153F8-6F5A-D776-B41B-14F66509FC95}"/>
                </a:ext>
              </a:extLst>
            </p:cNvPr>
            <p:cNvSpPr/>
            <p:nvPr/>
          </p:nvSpPr>
          <p:spPr bwMode="gray">
            <a:xfrm>
              <a:off x="4336258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Jul’ 24</a:t>
              </a:r>
            </a:p>
          </p:txBody>
        </p:sp>
        <p:sp>
          <p:nvSpPr>
            <p:cNvPr id="51" name="Arrow: Chevron 50">
              <a:extLst>
                <a:ext uri="{FF2B5EF4-FFF2-40B4-BE49-F238E27FC236}">
                  <a16:creationId xmlns:a16="http://schemas.microsoft.com/office/drawing/2014/main" id="{EA22AEDF-5225-B8EA-056D-D36639C4F4DE}"/>
                </a:ext>
              </a:extLst>
            </p:cNvPr>
            <p:cNvSpPr/>
            <p:nvPr/>
          </p:nvSpPr>
          <p:spPr bwMode="gray">
            <a:xfrm>
              <a:off x="5374530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Aug’ 24</a:t>
              </a:r>
            </a:p>
          </p:txBody>
        </p:sp>
        <p:sp>
          <p:nvSpPr>
            <p:cNvPr id="52" name="Arrow: Chevron 51">
              <a:extLst>
                <a:ext uri="{FF2B5EF4-FFF2-40B4-BE49-F238E27FC236}">
                  <a16:creationId xmlns:a16="http://schemas.microsoft.com/office/drawing/2014/main" id="{FBE62410-26D3-2EF9-F3A4-886380386549}"/>
                </a:ext>
              </a:extLst>
            </p:cNvPr>
            <p:cNvSpPr/>
            <p:nvPr/>
          </p:nvSpPr>
          <p:spPr bwMode="gray">
            <a:xfrm>
              <a:off x="6412800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Sep’ 24</a:t>
              </a:r>
            </a:p>
          </p:txBody>
        </p:sp>
        <p:sp>
          <p:nvSpPr>
            <p:cNvPr id="53" name="Arrow: Chevron 52">
              <a:extLst>
                <a:ext uri="{FF2B5EF4-FFF2-40B4-BE49-F238E27FC236}">
                  <a16:creationId xmlns:a16="http://schemas.microsoft.com/office/drawing/2014/main" id="{2AF1A770-05C9-C3D2-83F5-C980B88665DA}"/>
                </a:ext>
              </a:extLst>
            </p:cNvPr>
            <p:cNvSpPr/>
            <p:nvPr/>
          </p:nvSpPr>
          <p:spPr bwMode="gray">
            <a:xfrm>
              <a:off x="8489342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Nov’ 24</a:t>
              </a:r>
            </a:p>
          </p:txBody>
        </p:sp>
        <p:sp>
          <p:nvSpPr>
            <p:cNvPr id="54" name="Arrow: Chevron 53">
              <a:extLst>
                <a:ext uri="{FF2B5EF4-FFF2-40B4-BE49-F238E27FC236}">
                  <a16:creationId xmlns:a16="http://schemas.microsoft.com/office/drawing/2014/main" id="{EBFEB677-201A-5E7C-7364-8C87DF0BAEEA}"/>
                </a:ext>
              </a:extLst>
            </p:cNvPr>
            <p:cNvSpPr/>
            <p:nvPr/>
          </p:nvSpPr>
          <p:spPr bwMode="gray">
            <a:xfrm>
              <a:off x="9527612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Dec’ 24</a:t>
              </a:r>
            </a:p>
          </p:txBody>
        </p:sp>
        <p:sp>
          <p:nvSpPr>
            <p:cNvPr id="55" name="Arrow: Chevron 54">
              <a:extLst>
                <a:ext uri="{FF2B5EF4-FFF2-40B4-BE49-F238E27FC236}">
                  <a16:creationId xmlns:a16="http://schemas.microsoft.com/office/drawing/2014/main" id="{079F07FF-82A5-E656-60D5-7E81C4E9506D}"/>
                </a:ext>
              </a:extLst>
            </p:cNvPr>
            <p:cNvSpPr/>
            <p:nvPr/>
          </p:nvSpPr>
          <p:spPr bwMode="gray">
            <a:xfrm>
              <a:off x="10565881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2025</a:t>
              </a:r>
            </a:p>
          </p:txBody>
        </p:sp>
        <p:sp>
          <p:nvSpPr>
            <p:cNvPr id="56" name="Arrow: Chevron 55">
              <a:extLst>
                <a:ext uri="{FF2B5EF4-FFF2-40B4-BE49-F238E27FC236}">
                  <a16:creationId xmlns:a16="http://schemas.microsoft.com/office/drawing/2014/main" id="{1F9B7422-666F-45C0-335C-B2729FD67E4A}"/>
                </a:ext>
              </a:extLst>
            </p:cNvPr>
            <p:cNvSpPr/>
            <p:nvPr/>
          </p:nvSpPr>
          <p:spPr bwMode="gray">
            <a:xfrm>
              <a:off x="7451071" y="854404"/>
              <a:ext cx="1063380" cy="327594"/>
            </a:xfrm>
            <a:prstGeom prst="chevron">
              <a:avLst>
                <a:gd name="adj" fmla="val 27818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29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Oct’ 24</a:t>
              </a:r>
            </a:p>
          </p:txBody>
        </p:sp>
      </p:grpSp>
      <p:sp>
        <p:nvSpPr>
          <p:cNvPr id="57" name="Arrow: Chevron 56">
            <a:extLst>
              <a:ext uri="{FF2B5EF4-FFF2-40B4-BE49-F238E27FC236}">
                <a16:creationId xmlns:a16="http://schemas.microsoft.com/office/drawing/2014/main" id="{7787D231-85ED-72DB-CA55-DFC67C480B19}"/>
              </a:ext>
            </a:extLst>
          </p:cNvPr>
          <p:cNvSpPr/>
          <p:nvPr/>
        </p:nvSpPr>
        <p:spPr bwMode="gray">
          <a:xfrm>
            <a:off x="6014719" y="3300121"/>
            <a:ext cx="648000" cy="356450"/>
          </a:xfrm>
          <a:prstGeom prst="chevron">
            <a:avLst>
              <a:gd name="adj" fmla="val 27818"/>
            </a:avLst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algn="ctr" defTabSz="912964">
              <a:defRPr/>
            </a:pPr>
            <a:r>
              <a:rPr lang="en-US" sz="800" kern="0" dirty="0">
                <a:solidFill>
                  <a:srgbClr val="2E2E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 Over </a:t>
            </a:r>
          </a:p>
          <a:p>
            <a:pPr algn="ctr" defTabSz="912964">
              <a:defRPr/>
            </a:pPr>
            <a:r>
              <a:rPr lang="en-US" sz="800" kern="0" dirty="0">
                <a:solidFill>
                  <a:srgbClr val="2E2E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BAB5E3-612E-FB1D-D041-24AF36DC0E34}"/>
              </a:ext>
            </a:extLst>
          </p:cNvPr>
          <p:cNvSpPr txBox="1"/>
          <p:nvPr/>
        </p:nvSpPr>
        <p:spPr>
          <a:xfrm>
            <a:off x="719049" y="2592348"/>
            <a:ext cx="1276814" cy="123815"/>
          </a:xfrm>
          <a:prstGeom prst="rect">
            <a:avLst/>
          </a:prstGeom>
          <a:noFill/>
        </p:spPr>
        <p:txBody>
          <a:bodyPr wrap="square" lIns="0" tIns="36575" rIns="0" bIns="0" rtlCol="0" anchor="t">
            <a:spAutoFit/>
          </a:bodyPr>
          <a:lstStyle/>
          <a:p>
            <a:pPr marL="0" marR="0" lvl="0" indent="0" defTabSz="914335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Build &amp; Test </a:t>
            </a:r>
            <a:endParaRPr kumimoji="0" lang="en-GB" sz="1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D816882F-118B-A5EA-8271-D8D54181B0E5}"/>
              </a:ext>
            </a:extLst>
          </p:cNvPr>
          <p:cNvSpPr/>
          <p:nvPr/>
        </p:nvSpPr>
        <p:spPr bwMode="gray">
          <a:xfrm>
            <a:off x="3885177" y="2438064"/>
            <a:ext cx="977985" cy="327255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Extend Config</a:t>
            </a:r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2F24E075-9EDF-384E-D209-960209FBE121}"/>
              </a:ext>
            </a:extLst>
          </p:cNvPr>
          <p:cNvSpPr/>
          <p:nvPr/>
        </p:nvSpPr>
        <p:spPr bwMode="gray">
          <a:xfrm>
            <a:off x="4692793" y="2844456"/>
            <a:ext cx="684000" cy="327594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Mock </a:t>
            </a:r>
            <a:r>
              <a:rPr lang="en-US" sz="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58C9CB31-2E60-2CC9-B627-CEE4C6477D41}"/>
              </a:ext>
            </a:extLst>
          </p:cNvPr>
          <p:cNvSpPr/>
          <p:nvPr/>
        </p:nvSpPr>
        <p:spPr bwMode="gray">
          <a:xfrm>
            <a:off x="3882801" y="2832375"/>
            <a:ext cx="836291" cy="327594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Data Prep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609553-0C86-438D-6C5D-0DF4EC0E8EB9}"/>
              </a:ext>
            </a:extLst>
          </p:cNvPr>
          <p:cNvSpPr txBox="1"/>
          <p:nvPr/>
        </p:nvSpPr>
        <p:spPr>
          <a:xfrm>
            <a:off x="1896073" y="2033032"/>
            <a:ext cx="563712" cy="350864"/>
          </a:xfrm>
          <a:prstGeom prst="rect">
            <a:avLst/>
          </a:prstGeom>
          <a:noFill/>
        </p:spPr>
        <p:txBody>
          <a:bodyPr wrap="square" lIns="0" tIns="36575" rIns="0" bIns="0" rtlCol="0">
            <a:spAutoFit/>
          </a:bodyPr>
          <a:lstStyle/>
          <a:p>
            <a:pPr defTabSz="914335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GB" sz="800" ker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Kick-off workshop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DDC86F-127C-965E-7D8E-A919E477F185}"/>
              </a:ext>
            </a:extLst>
          </p:cNvPr>
          <p:cNvSpPr txBox="1"/>
          <p:nvPr/>
        </p:nvSpPr>
        <p:spPr>
          <a:xfrm>
            <a:off x="3851421" y="2038866"/>
            <a:ext cx="1598045" cy="141576"/>
          </a:xfrm>
          <a:prstGeom prst="rect">
            <a:avLst/>
          </a:prstGeom>
          <a:noFill/>
        </p:spPr>
        <p:txBody>
          <a:bodyPr wrap="square" lIns="0" tIns="36575" rIns="0" bIns="0" rtlCol="0">
            <a:spAutoFit/>
          </a:bodyPr>
          <a:lstStyle/>
          <a:p>
            <a:pPr defTabSz="914335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GB" sz="8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Merger Plan Finalization</a:t>
            </a: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F259323E-48BF-CE7B-8593-C5BD4F4D7E99}"/>
              </a:ext>
            </a:extLst>
          </p:cNvPr>
          <p:cNvSpPr/>
          <p:nvPr/>
        </p:nvSpPr>
        <p:spPr>
          <a:xfrm>
            <a:off x="2379645" y="1809622"/>
            <a:ext cx="83036" cy="123956"/>
          </a:xfrm>
          <a:prstGeom prst="diamond">
            <a:avLst/>
          </a:prstGeom>
          <a:solidFill>
            <a:srgbClr val="FFE600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t" anchorCtr="0"/>
          <a:lstStyle/>
          <a:p>
            <a:pPr algn="ctr" defTabSz="914335">
              <a:defRPr/>
            </a:pPr>
            <a:endParaRPr lang="en-GB" sz="800" ker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BA778F60-E546-7CF5-F0F2-8A271A9833E5}"/>
              </a:ext>
            </a:extLst>
          </p:cNvPr>
          <p:cNvSpPr/>
          <p:nvPr/>
        </p:nvSpPr>
        <p:spPr>
          <a:xfrm>
            <a:off x="3689084" y="2074105"/>
            <a:ext cx="83036" cy="123956"/>
          </a:xfrm>
          <a:prstGeom prst="diamond">
            <a:avLst/>
          </a:prstGeom>
          <a:solidFill>
            <a:srgbClr val="FFE600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t" anchorCtr="0"/>
          <a:lstStyle/>
          <a:p>
            <a:pPr algn="ctr" defTabSz="914335">
              <a:defRPr/>
            </a:pPr>
            <a:endParaRPr lang="en-GB" sz="800" kern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5CF650-D8DB-0E91-5970-0D5A3C60FDDF}"/>
              </a:ext>
            </a:extLst>
          </p:cNvPr>
          <p:cNvSpPr txBox="1"/>
          <p:nvPr/>
        </p:nvSpPr>
        <p:spPr>
          <a:xfrm>
            <a:off x="721096" y="1749311"/>
            <a:ext cx="1144497" cy="190820"/>
          </a:xfrm>
          <a:prstGeom prst="rect">
            <a:avLst/>
          </a:prstGeom>
          <a:noFill/>
        </p:spPr>
        <p:txBody>
          <a:bodyPr wrap="square" lIns="0" tIns="36575" rIns="0" bIns="0" rtlCol="0" anchor="ctr">
            <a:spAutoFit/>
          </a:bodyPr>
          <a:lstStyle/>
          <a:p>
            <a:pPr defTabSz="914335"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GB" sz="1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Initiate &amp; Design</a:t>
            </a:r>
            <a:endParaRPr lang="en-GB" sz="10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Arrow: Chevron 67">
            <a:extLst>
              <a:ext uri="{FF2B5EF4-FFF2-40B4-BE49-F238E27FC236}">
                <a16:creationId xmlns:a16="http://schemas.microsoft.com/office/drawing/2014/main" id="{0E032FE1-91AE-A16E-5570-AFC3053FE19E}"/>
              </a:ext>
            </a:extLst>
          </p:cNvPr>
          <p:cNvSpPr/>
          <p:nvPr/>
        </p:nvSpPr>
        <p:spPr bwMode="gray">
          <a:xfrm>
            <a:off x="2453930" y="1673645"/>
            <a:ext cx="828000" cy="327591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Asses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1B1DCF-9720-F4EC-7A75-E98E958B2CB4}"/>
              </a:ext>
            </a:extLst>
          </p:cNvPr>
          <p:cNvSpPr txBox="1"/>
          <p:nvPr/>
        </p:nvSpPr>
        <p:spPr>
          <a:xfrm>
            <a:off x="8451834" y="4374793"/>
            <a:ext cx="833823" cy="141576"/>
          </a:xfrm>
          <a:prstGeom prst="rect">
            <a:avLst/>
          </a:prstGeom>
          <a:noFill/>
        </p:spPr>
        <p:txBody>
          <a:bodyPr wrap="square" lIns="0" tIns="36575" rIns="0" bIns="0" rtlCol="0" anchor="ctr">
            <a:spAutoFit/>
          </a:bodyPr>
          <a:lstStyle/>
          <a:p>
            <a:pPr defTabSz="914335">
              <a:lnSpc>
                <a:spcPct val="85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GB" sz="8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state</a:t>
            </a:r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ED9339EB-26D7-CE24-38CF-7A930A46A7D7}"/>
              </a:ext>
            </a:extLst>
          </p:cNvPr>
          <p:cNvSpPr/>
          <p:nvPr/>
        </p:nvSpPr>
        <p:spPr>
          <a:xfrm>
            <a:off x="8290053" y="4363658"/>
            <a:ext cx="123366" cy="137158"/>
          </a:xfrm>
          <a:prstGeom prst="star5">
            <a:avLst/>
          </a:prstGeom>
          <a:solidFill>
            <a:srgbClr val="FFE600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t" anchorCtr="0"/>
          <a:lstStyle/>
          <a:p>
            <a:pPr algn="ctr" defTabSz="914335">
              <a:defRPr/>
            </a:pPr>
            <a:endParaRPr lang="en-GB" sz="800" kern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A4F112F-8EC0-0B58-CCBA-3AAE92936CD0}"/>
              </a:ext>
            </a:extLst>
          </p:cNvPr>
          <p:cNvCxnSpPr>
            <a:cxnSpLocks/>
          </p:cNvCxnSpPr>
          <p:nvPr/>
        </p:nvCxnSpPr>
        <p:spPr>
          <a:xfrm>
            <a:off x="765256" y="4813074"/>
            <a:ext cx="11082772" cy="0"/>
          </a:xfrm>
          <a:prstGeom prst="line">
            <a:avLst/>
          </a:prstGeom>
          <a:noFill/>
          <a:ln w="0" cap="flat" cmpd="sng" algn="ctr">
            <a:solidFill>
              <a:srgbClr val="FFE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67495D4-F286-2D24-CC96-385E825BF12F}"/>
              </a:ext>
            </a:extLst>
          </p:cNvPr>
          <p:cNvSpPr txBox="1"/>
          <p:nvPr/>
        </p:nvSpPr>
        <p:spPr>
          <a:xfrm>
            <a:off x="712998" y="4029461"/>
            <a:ext cx="1445173" cy="123815"/>
          </a:xfrm>
          <a:prstGeom prst="rect">
            <a:avLst/>
          </a:prstGeom>
          <a:noFill/>
        </p:spPr>
        <p:txBody>
          <a:bodyPr wrap="square" lIns="0" tIns="36575" rIns="0" bIns="0" rtlCol="0" anchor="t">
            <a:spAutoFit/>
          </a:bodyPr>
          <a:lstStyle/>
          <a:p>
            <a:pPr defTabSz="914335">
              <a:lnSpc>
                <a:spcPct val="50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GB" sz="1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 Over 2 </a:t>
            </a:r>
            <a:endParaRPr lang="en-GB" sz="10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A49A2E0-AF46-B19E-F687-1DA4C9C2E123}"/>
              </a:ext>
            </a:extLst>
          </p:cNvPr>
          <p:cNvCxnSpPr>
            <a:cxnSpLocks/>
          </p:cNvCxnSpPr>
          <p:nvPr/>
        </p:nvCxnSpPr>
        <p:spPr>
          <a:xfrm>
            <a:off x="719947" y="3961150"/>
            <a:ext cx="11228897" cy="0"/>
          </a:xfrm>
          <a:prstGeom prst="straightConnector1">
            <a:avLst/>
          </a:prstGeom>
          <a:noFill/>
          <a:ln w="952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  <a:tailEnd type="none"/>
          </a:ln>
          <a:effectLst/>
        </p:spPr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4D1914F-5856-A4E5-26A3-76BE858CB160}"/>
              </a:ext>
            </a:extLst>
          </p:cNvPr>
          <p:cNvSpPr txBox="1"/>
          <p:nvPr/>
        </p:nvSpPr>
        <p:spPr>
          <a:xfrm>
            <a:off x="712998" y="3398070"/>
            <a:ext cx="1292220" cy="123815"/>
          </a:xfrm>
          <a:prstGeom prst="rect">
            <a:avLst/>
          </a:prstGeom>
          <a:noFill/>
        </p:spPr>
        <p:txBody>
          <a:bodyPr wrap="square" lIns="0" tIns="36575" rIns="0" bIns="0" rtlCol="0" anchor="t">
            <a:spAutoFit/>
          </a:bodyPr>
          <a:lstStyle/>
          <a:p>
            <a:pPr defTabSz="914335">
              <a:lnSpc>
                <a:spcPct val="50000"/>
              </a:lnSpc>
              <a:spcAft>
                <a:spcPts val="600"/>
              </a:spcAft>
              <a:buClr>
                <a:srgbClr val="FFE600"/>
              </a:buClr>
              <a:buSzPct val="70000"/>
              <a:defRPr/>
            </a:pPr>
            <a:r>
              <a:rPr lang="en-GB" sz="1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 Over 1 </a:t>
            </a:r>
            <a:endParaRPr lang="en-GB" sz="10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5" name="Table 3">
            <a:extLst>
              <a:ext uri="{FF2B5EF4-FFF2-40B4-BE49-F238E27FC236}">
                <a16:creationId xmlns:a16="http://schemas.microsoft.com/office/drawing/2014/main" id="{58A24964-241C-D7AA-94BA-E8D6D04D29A6}"/>
              </a:ext>
            </a:extLst>
          </p:cNvPr>
          <p:cNvGraphicFramePr>
            <a:graphicFrameLocks noGrp="1"/>
          </p:cNvGraphicFramePr>
          <p:nvPr/>
        </p:nvGraphicFramePr>
        <p:xfrm>
          <a:off x="797959" y="5160450"/>
          <a:ext cx="10596081" cy="1310640"/>
        </p:xfrm>
        <a:graphic>
          <a:graphicData uri="http://schemas.openxmlformats.org/drawingml/2006/table">
            <a:tbl>
              <a:tblPr firstRow="1" bandRow="1"/>
              <a:tblGrid>
                <a:gridCol w="3532027">
                  <a:extLst>
                    <a:ext uri="{9D8B030D-6E8A-4147-A177-3AD203B41FA5}">
                      <a16:colId xmlns:a16="http://schemas.microsoft.com/office/drawing/2014/main" val="4013862513"/>
                    </a:ext>
                  </a:extLst>
                </a:gridCol>
                <a:gridCol w="3532027">
                  <a:extLst>
                    <a:ext uri="{9D8B030D-6E8A-4147-A177-3AD203B41FA5}">
                      <a16:colId xmlns:a16="http://schemas.microsoft.com/office/drawing/2014/main" val="2210419123"/>
                    </a:ext>
                  </a:extLst>
                </a:gridCol>
                <a:gridCol w="3532027">
                  <a:extLst>
                    <a:ext uri="{9D8B030D-6E8A-4147-A177-3AD203B41FA5}">
                      <a16:colId xmlns:a16="http://schemas.microsoft.com/office/drawing/2014/main" val="3743118789"/>
                    </a:ext>
                  </a:extLst>
                </a:gridCol>
              </a:tblGrid>
              <a:tr h="262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9pPr>
                    </a:lstStyle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Mock Loads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9pPr>
                    </a:lstStyle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Cut Over 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"/>
                        </a:defRPr>
                      </a:lvl9pPr>
                    </a:lstStyle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Cut Over 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478943"/>
                  </a:ext>
                </a:extLst>
              </a:tr>
              <a:tr h="7186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9pPr>
                    </a:lstStyle>
                    <a:p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Mock 2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Employee data load; Leave data; Pay data; HR validation</a:t>
                      </a:r>
                      <a:endParaRPr lang="en-IN" sz="1000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New harmonized structure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Seconded Employees – employment history data load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Candidate data load</a:t>
                      </a:r>
                      <a:endParaRPr lang="en-IN" sz="1000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Non-Seconded Employees – complete data load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Seconded Employees – delta data load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Inter-company transfer event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Goal template; APR forms; Rating – data load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Leave balances – data load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i="1" u="none" strike="noStrike" noProof="0" dirty="0">
                          <a:solidFill>
                            <a:schemeClr val="bg1"/>
                          </a:solidFill>
                          <a:latin typeface="EYInterstate Light"/>
                        </a:rPr>
                        <a:t>Pay data – data load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26402"/>
                  </a:ext>
                </a:extLst>
              </a:tr>
            </a:tbl>
          </a:graphicData>
        </a:graphic>
      </p:graphicFrame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D1D8B4EF-0A66-3061-9460-4CE6F7600030}"/>
              </a:ext>
            </a:extLst>
          </p:cNvPr>
          <p:cNvSpPr/>
          <p:nvPr/>
        </p:nvSpPr>
        <p:spPr>
          <a:xfrm>
            <a:off x="2325272" y="4638012"/>
            <a:ext cx="219132" cy="163005"/>
          </a:xfrm>
          <a:prstGeom prst="triangle">
            <a:avLst/>
          </a:prstGeom>
          <a:solidFill>
            <a:srgbClr val="FFE600"/>
          </a:solidFill>
          <a:ln w="9525" cap="flat" cmpd="sng" algn="ctr">
            <a:solidFill>
              <a:srgbClr val="2DB757"/>
            </a:solidFill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FC0B3C5-029B-86BF-EECC-B64C18E09C3A}"/>
              </a:ext>
            </a:extLst>
          </p:cNvPr>
          <p:cNvCxnSpPr>
            <a:cxnSpLocks/>
          </p:cNvCxnSpPr>
          <p:nvPr/>
        </p:nvCxnSpPr>
        <p:spPr>
          <a:xfrm>
            <a:off x="8367756" y="1334191"/>
            <a:ext cx="0" cy="3466179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0F99206D-1F71-29B2-FBDF-2A6C3BF7DB63}"/>
              </a:ext>
            </a:extLst>
          </p:cNvPr>
          <p:cNvSpPr/>
          <p:nvPr/>
        </p:nvSpPr>
        <p:spPr>
          <a:xfrm>
            <a:off x="8258190" y="4655653"/>
            <a:ext cx="219132" cy="163005"/>
          </a:xfrm>
          <a:prstGeom prst="triangle">
            <a:avLst/>
          </a:prstGeom>
          <a:solidFill>
            <a:srgbClr val="FFE600"/>
          </a:solidFill>
          <a:ln w="952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7A0E315-F769-09DC-9ACB-FAB7242D19B9}"/>
              </a:ext>
            </a:extLst>
          </p:cNvPr>
          <p:cNvGrpSpPr/>
          <p:nvPr/>
        </p:nvGrpSpPr>
        <p:grpSpPr>
          <a:xfrm>
            <a:off x="5336713" y="1576223"/>
            <a:ext cx="840362" cy="3447795"/>
            <a:chOff x="4532538" y="1266413"/>
            <a:chExt cx="840362" cy="5504837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B182DEE-2A27-51E9-D13B-6A810FE0FE89}"/>
                </a:ext>
              </a:extLst>
            </p:cNvPr>
            <p:cNvCxnSpPr/>
            <p:nvPr/>
          </p:nvCxnSpPr>
          <p:spPr bwMode="auto">
            <a:xfrm>
              <a:off x="4919429" y="1266413"/>
              <a:ext cx="36000" cy="5499600"/>
            </a:xfrm>
            <a:prstGeom prst="line">
              <a:avLst/>
            </a:prstGeom>
            <a:noFill/>
            <a:ln w="9525" cap="flat" cmpd="sng" algn="ctr">
              <a:solidFill>
                <a:srgbClr val="FF413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924841C-C381-0233-C394-B1A55ED0BAC7}"/>
                </a:ext>
              </a:extLst>
            </p:cNvPr>
            <p:cNvSpPr/>
            <p:nvPr/>
          </p:nvSpPr>
          <p:spPr bwMode="auto">
            <a:xfrm>
              <a:off x="4532538" y="6293029"/>
              <a:ext cx="840362" cy="478221"/>
            </a:xfrm>
            <a:prstGeom prst="rect">
              <a:avLst/>
            </a:prstGeom>
            <a:gradFill rotWithShape="1">
              <a:gsLst>
                <a:gs pos="0">
                  <a:srgbClr val="FF4136">
                    <a:shade val="51000"/>
                    <a:satMod val="130000"/>
                  </a:srgbClr>
                </a:gs>
                <a:gs pos="80000">
                  <a:srgbClr val="FF4136">
                    <a:shade val="93000"/>
                    <a:satMod val="130000"/>
                  </a:srgbClr>
                </a:gs>
                <a:gs pos="100000">
                  <a:srgbClr val="FF4136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413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01917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We are here</a:t>
              </a:r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3D97687-36F3-4AB4-B090-8DA95C1A33B7}"/>
              </a:ext>
            </a:extLst>
          </p:cNvPr>
          <p:cNvCxnSpPr>
            <a:cxnSpLocks/>
            <a:endCxn id="76" idx="0"/>
          </p:cNvCxnSpPr>
          <p:nvPr/>
        </p:nvCxnSpPr>
        <p:spPr>
          <a:xfrm>
            <a:off x="2434838" y="1469815"/>
            <a:ext cx="0" cy="3168197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3" name="Arrow: Chevron 82">
            <a:extLst>
              <a:ext uri="{FF2B5EF4-FFF2-40B4-BE49-F238E27FC236}">
                <a16:creationId xmlns:a16="http://schemas.microsoft.com/office/drawing/2014/main" id="{1CE7FE86-D9DF-2763-2702-D4C30C82DACA}"/>
              </a:ext>
            </a:extLst>
          </p:cNvPr>
          <p:cNvSpPr/>
          <p:nvPr/>
        </p:nvSpPr>
        <p:spPr bwMode="gray">
          <a:xfrm>
            <a:off x="2457207" y="2071646"/>
            <a:ext cx="936000" cy="307578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Harmonized Structure</a:t>
            </a:r>
          </a:p>
        </p:txBody>
      </p:sp>
      <p:sp>
        <p:nvSpPr>
          <p:cNvPr id="84" name="Arrow: Chevron 83">
            <a:extLst>
              <a:ext uri="{FF2B5EF4-FFF2-40B4-BE49-F238E27FC236}">
                <a16:creationId xmlns:a16="http://schemas.microsoft.com/office/drawing/2014/main" id="{DE411EFF-7FE5-C630-7FC8-B231DE01E8BF}"/>
              </a:ext>
            </a:extLst>
          </p:cNvPr>
          <p:cNvSpPr/>
          <p:nvPr/>
        </p:nvSpPr>
        <p:spPr bwMode="gray">
          <a:xfrm>
            <a:off x="5447984" y="2857311"/>
            <a:ext cx="684000" cy="324000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Mock 2</a:t>
            </a:r>
          </a:p>
        </p:txBody>
      </p:sp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3ED6CDD7-C718-1F91-3236-C3D3234F447D}"/>
              </a:ext>
            </a:extLst>
          </p:cNvPr>
          <p:cNvSpPr/>
          <p:nvPr/>
        </p:nvSpPr>
        <p:spPr bwMode="gray">
          <a:xfrm>
            <a:off x="7544284" y="4039550"/>
            <a:ext cx="720000" cy="327594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Data Prep</a:t>
            </a: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0D6759C3-93E1-DC36-66F9-8C0D51D7EB88}"/>
              </a:ext>
            </a:extLst>
          </p:cNvPr>
          <p:cNvSpPr/>
          <p:nvPr/>
        </p:nvSpPr>
        <p:spPr bwMode="gray">
          <a:xfrm>
            <a:off x="7672556" y="4425752"/>
            <a:ext cx="684000" cy="356450"/>
          </a:xfrm>
          <a:prstGeom prst="chevron">
            <a:avLst>
              <a:gd name="adj" fmla="val 27818"/>
            </a:avLst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algn="ctr" defTabSz="912964">
              <a:defRPr/>
            </a:pPr>
            <a:r>
              <a:rPr lang="en-US" sz="800" kern="0" dirty="0">
                <a:solidFill>
                  <a:srgbClr val="2E2E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 Over </a:t>
            </a:r>
          </a:p>
          <a:p>
            <a:pPr algn="ctr" defTabSz="912964">
              <a:defRPr/>
            </a:pPr>
            <a:r>
              <a:rPr lang="en-US" sz="800" kern="0" dirty="0">
                <a:solidFill>
                  <a:srgbClr val="2E2E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A163BFF5-E2BB-78AD-E336-36102ADEE4E5}"/>
              </a:ext>
            </a:extLst>
          </p:cNvPr>
          <p:cNvSpPr/>
          <p:nvPr/>
        </p:nvSpPr>
        <p:spPr bwMode="gray">
          <a:xfrm>
            <a:off x="3234787" y="1673645"/>
            <a:ext cx="756000" cy="327591"/>
          </a:xfrm>
          <a:prstGeom prst="chevron">
            <a:avLst>
              <a:gd name="adj" fmla="val 27818"/>
            </a:avLst>
          </a:prstGeom>
          <a:solidFill>
            <a:srgbClr val="2E2E38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29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49793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Overall Status Update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DCD82CE-7299-C48C-4DD0-5487DCCDD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38450"/>
              </p:ext>
            </p:extLst>
          </p:nvPr>
        </p:nvGraphicFramePr>
        <p:xfrm>
          <a:off x="609601" y="1191338"/>
          <a:ext cx="7976414" cy="1219200"/>
        </p:xfrm>
        <a:graphic>
          <a:graphicData uri="http://schemas.openxmlformats.org/drawingml/2006/table">
            <a:tbl>
              <a:tblPr/>
              <a:tblGrid>
                <a:gridCol w="4206948">
                  <a:extLst>
                    <a:ext uri="{9D8B030D-6E8A-4147-A177-3AD203B41FA5}">
                      <a16:colId xmlns:a16="http://schemas.microsoft.com/office/drawing/2014/main" val="2293263166"/>
                    </a:ext>
                  </a:extLst>
                </a:gridCol>
                <a:gridCol w="3769466">
                  <a:extLst>
                    <a:ext uri="{9D8B030D-6E8A-4147-A177-3AD203B41FA5}">
                      <a16:colId xmlns:a16="http://schemas.microsoft.com/office/drawing/2014/main" val="2381221428"/>
                    </a:ext>
                  </a:extLst>
                </a:gridCol>
              </a:tblGrid>
              <a:tr h="20403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Executive summary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29170"/>
                  </a:ext>
                </a:extLst>
              </a:tr>
              <a:tr h="20403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Workstream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Merger Project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916199"/>
                  </a:ext>
                </a:extLst>
              </a:tr>
              <a:tr h="164029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 Period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9-Sept to 20-Sept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782760"/>
                  </a:ext>
                </a:extLst>
              </a:tr>
              <a:tr h="164029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Overall status</a:t>
                      </a:r>
                      <a:endParaRPr lang="en-IN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Needs Attention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083085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416E576-147D-5159-A0AB-CE4536C9413E}"/>
              </a:ext>
            </a:extLst>
          </p:cNvPr>
          <p:cNvGraphicFramePr>
            <a:graphicFrameLocks noGrp="1"/>
          </p:cNvGraphicFramePr>
          <p:nvPr/>
        </p:nvGraphicFramePr>
        <p:xfrm>
          <a:off x="635001" y="2978635"/>
          <a:ext cx="5348081" cy="1293623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5348081">
                  <a:extLst>
                    <a:ext uri="{9D8B030D-6E8A-4147-A177-3AD203B41FA5}">
                      <a16:colId xmlns:a16="http://schemas.microsoft.com/office/drawing/2014/main" val="1709282595"/>
                    </a:ext>
                  </a:extLst>
                </a:gridCol>
              </a:tblGrid>
              <a:tr h="129362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Mock 1 Sign off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 Data Extraction</a:t>
                      </a:r>
                      <a:endParaRPr kumimoji="0" lang="en-IN" sz="1400" b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 Data Mapping SF format</a:t>
                      </a:r>
                    </a:p>
                  </a:txBody>
                  <a:tcPr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65025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CF1774F-0CCA-8A5B-8D74-419BB83C01A4}"/>
              </a:ext>
            </a:extLst>
          </p:cNvPr>
          <p:cNvGraphicFramePr>
            <a:graphicFrameLocks noGrp="1"/>
          </p:cNvGraphicFramePr>
          <p:nvPr/>
        </p:nvGraphicFramePr>
        <p:xfrm>
          <a:off x="635002" y="2611578"/>
          <a:ext cx="5353668" cy="304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tableStyleId>{2D5ABB26-0587-4C30-8999-92F81FD0307C}</a:tableStyleId>
              </a:tblPr>
              <a:tblGrid>
                <a:gridCol w="5353668">
                  <a:extLst>
                    <a:ext uri="{9D8B030D-6E8A-4147-A177-3AD203B41FA5}">
                      <a16:colId xmlns:a16="http://schemas.microsoft.com/office/drawing/2014/main" val="606153579"/>
                    </a:ext>
                  </a:extLst>
                </a:gridCol>
              </a:tblGrid>
              <a:tr h="2477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Accomplishments during the reporting period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027543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4A39759-BDBF-0742-6405-30E8F0D89DE7}"/>
              </a:ext>
            </a:extLst>
          </p:cNvPr>
          <p:cNvGraphicFramePr>
            <a:graphicFrameLocks noGrp="1"/>
          </p:cNvGraphicFramePr>
          <p:nvPr/>
        </p:nvGraphicFramePr>
        <p:xfrm>
          <a:off x="6259718" y="2976229"/>
          <a:ext cx="5348081" cy="1293624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5348081">
                  <a:extLst>
                    <a:ext uri="{9D8B030D-6E8A-4147-A177-3AD203B41FA5}">
                      <a16:colId xmlns:a16="http://schemas.microsoft.com/office/drawing/2014/main" val="1709282595"/>
                    </a:ext>
                  </a:extLst>
                </a:gridCol>
              </a:tblGrid>
              <a:tr h="129362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 data load validation from HR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Integration Design Document – UK Payroll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Technical Validation of Loads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endParaRPr kumimoji="0" lang="en-IN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65025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D473859-9C66-9E9A-1379-15E52799DD7E}"/>
              </a:ext>
            </a:extLst>
          </p:cNvPr>
          <p:cNvGraphicFramePr>
            <a:graphicFrameLocks noGrp="1"/>
          </p:cNvGraphicFramePr>
          <p:nvPr/>
        </p:nvGraphicFramePr>
        <p:xfrm>
          <a:off x="6254132" y="2611578"/>
          <a:ext cx="5353667" cy="304800"/>
        </p:xfrm>
        <a:graphic>
          <a:graphicData uri="http://schemas.openxmlformats.org/drawingml/2006/table">
            <a:tbl>
              <a:tblPr>
                <a:effectLst/>
                <a:tableStyleId>{2D5ABB26-0587-4C30-8999-92F81FD0307C}</a:tableStyleId>
              </a:tblPr>
              <a:tblGrid>
                <a:gridCol w="5353667">
                  <a:extLst>
                    <a:ext uri="{9D8B030D-6E8A-4147-A177-3AD203B41FA5}">
                      <a16:colId xmlns:a16="http://schemas.microsoft.com/office/drawing/2014/main" val="606153579"/>
                    </a:ext>
                  </a:extLst>
                </a:gridCol>
              </a:tblGrid>
              <a:tr h="27789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Update on open items from last meeting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027543"/>
                  </a:ext>
                </a:extLst>
              </a:tr>
            </a:tbl>
          </a:graphicData>
        </a:graphic>
      </p:graphicFrame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55DACC70-FCEF-1358-35E6-9E9F8C772D1A}"/>
              </a:ext>
            </a:extLst>
          </p:cNvPr>
          <p:cNvSpPr/>
          <p:nvPr/>
        </p:nvSpPr>
        <p:spPr>
          <a:xfrm>
            <a:off x="635001" y="4891295"/>
            <a:ext cx="5511113" cy="274320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97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Items in progress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2976112-16E8-B333-34E9-77BBD388323C}"/>
              </a:ext>
            </a:extLst>
          </p:cNvPr>
          <p:cNvGraphicFramePr>
            <a:graphicFrameLocks noGrp="1"/>
          </p:cNvGraphicFramePr>
          <p:nvPr/>
        </p:nvGraphicFramePr>
        <p:xfrm>
          <a:off x="635001" y="5260661"/>
          <a:ext cx="5466731" cy="1002804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5466731">
                  <a:extLst>
                    <a:ext uri="{9D8B030D-6E8A-4147-A177-3AD203B41FA5}">
                      <a16:colId xmlns:a16="http://schemas.microsoft.com/office/drawing/2014/main" val="1709282595"/>
                    </a:ext>
                  </a:extLst>
                </a:gridCol>
              </a:tblGrid>
              <a:tr h="100280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Load – Mock 2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endParaRPr kumimoji="0" lang="en-US" sz="1400" b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650250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81ABBFA1-8B67-ACFF-4DA3-6922FA6AFB71}"/>
              </a:ext>
            </a:extLst>
          </p:cNvPr>
          <p:cNvGraphicFramePr>
            <a:graphicFrameLocks noGrp="1"/>
          </p:cNvGraphicFramePr>
          <p:nvPr/>
        </p:nvGraphicFramePr>
        <p:xfrm>
          <a:off x="6259718" y="5236023"/>
          <a:ext cx="5348081" cy="1002804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5348081">
                  <a:extLst>
                    <a:ext uri="{9D8B030D-6E8A-4147-A177-3AD203B41FA5}">
                      <a16:colId xmlns:a16="http://schemas.microsoft.com/office/drawing/2014/main" val="1709282595"/>
                    </a:ext>
                  </a:extLst>
                </a:gridCol>
              </a:tblGrid>
              <a:tr h="100280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UAT Execution &amp; Sign Off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Cut over 1 plan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650250"/>
                  </a:ext>
                </a:extLst>
              </a:tr>
            </a:tbl>
          </a:graphicData>
        </a:graphic>
      </p:graphicFrame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B5AB12CF-3212-C2C6-BA96-109212D0E2E2}"/>
              </a:ext>
            </a:extLst>
          </p:cNvPr>
          <p:cNvGraphicFramePr/>
          <p:nvPr/>
        </p:nvGraphicFramePr>
        <p:xfrm>
          <a:off x="9362930" y="358066"/>
          <a:ext cx="2673410" cy="1630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202E3EBD-5B73-E20C-0AB8-84918384C1FE}"/>
              </a:ext>
            </a:extLst>
          </p:cNvPr>
          <p:cNvSpPr txBox="1"/>
          <p:nvPr/>
        </p:nvSpPr>
        <p:spPr>
          <a:xfrm>
            <a:off x="10430826" y="10381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97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F17651-5CC4-D611-962A-662BE0C40C36}"/>
              </a:ext>
            </a:extLst>
          </p:cNvPr>
          <p:cNvSpPr txBox="1"/>
          <p:nvPr/>
        </p:nvSpPr>
        <p:spPr>
          <a:xfrm flipH="1">
            <a:off x="9010989" y="109419"/>
            <a:ext cx="3187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97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Implementation completion </a:t>
            </a:r>
          </a:p>
        </p:txBody>
      </p:sp>
      <p:sp>
        <p:nvSpPr>
          <p:cNvPr id="48" name="Arrow: Pentagon 47">
            <a:extLst>
              <a:ext uri="{FF2B5EF4-FFF2-40B4-BE49-F238E27FC236}">
                <a16:creationId xmlns:a16="http://schemas.microsoft.com/office/drawing/2014/main" id="{A9289F95-C888-94DD-9CCC-EB30AFF0AA43}"/>
              </a:ext>
            </a:extLst>
          </p:cNvPr>
          <p:cNvSpPr/>
          <p:nvPr/>
        </p:nvSpPr>
        <p:spPr>
          <a:xfrm>
            <a:off x="6249837" y="4891295"/>
            <a:ext cx="5511113" cy="268376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97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Upcoming focus areas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85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Mock 1 – Employee Central Update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Group 78">
            <a:extLst>
              <a:ext uri="{FF2B5EF4-FFF2-40B4-BE49-F238E27FC236}">
                <a16:creationId xmlns:a16="http://schemas.microsoft.com/office/drawing/2014/main" id="{5E11F27D-D16E-3619-6DC0-CCAB1DDF3818}"/>
              </a:ext>
            </a:extLst>
          </p:cNvPr>
          <p:cNvGraphicFramePr>
            <a:graphicFrameLocks noGrp="1"/>
          </p:cNvGraphicFramePr>
          <p:nvPr/>
        </p:nvGraphicFramePr>
        <p:xfrm>
          <a:off x="630175" y="1144523"/>
          <a:ext cx="10958255" cy="5093714"/>
        </p:xfrm>
        <a:graphic>
          <a:graphicData uri="http://schemas.openxmlformats.org/drawingml/2006/table">
            <a:tbl>
              <a:tblPr firstRow="1"/>
              <a:tblGrid>
                <a:gridCol w="49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424">
                  <a:extLst>
                    <a:ext uri="{9D8B030D-6E8A-4147-A177-3AD203B41FA5}">
                      <a16:colId xmlns:a16="http://schemas.microsoft.com/office/drawing/2014/main" val="318707820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274930664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2840670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339681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Object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Validation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Basic Import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Anuj Khanna </a:t>
                      </a:r>
                    </a:p>
                    <a:p>
                      <a:pPr algn="ctr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(Sign-off received on 13</a:t>
                      </a:r>
                      <a:r>
                        <a:rPr lang="en-IN" sz="13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Sep 24)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4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Seconded + Others</a:t>
                      </a: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3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rowSpan="13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 pre-load validation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 load download from AI system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File comparison between Pre vs Post load 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SF Portlets validations – select employees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SF Reports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Formal Education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847298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Work Experience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07679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Biographical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846296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Personal Information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88569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Contact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873348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Addresses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154320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Emergency Contact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494712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National ID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15633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Employment Details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802375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Job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734700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Position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3077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Bank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78310"/>
                  </a:ext>
                </a:extLst>
              </a:tr>
              <a:tr h="543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Compensation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Seconded + Others</a:t>
                      </a:r>
                      <a:endParaRPr 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Dummy values to validate if all components are configured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585898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1A215D8-2FE0-9192-07D1-FA68EC3F4EC1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6A14E9F7-6DB8-22E4-BF1D-E04ACE9AD1B0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17820-2F2F-90D0-0A30-00FCCAF9E198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DB60531-EF88-CA92-E433-1E21378E4D6A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06932F-DFBB-33C3-13C5-31BF48DF085C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89C4C88-0C9C-4023-FC85-2F3B45FD1AFB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252DF2-E88A-B99F-4153-451C02F10FEB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DC384D2-9DC1-FC08-EF78-E8D3CC8D34CC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7F111F-D263-57DE-EAE2-3100791A8168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2EAF2BE2-54FB-6B29-C533-9039D24B68DF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D09B86-CCA9-F561-465F-4343A273F414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5648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Mock 1 – REC &amp; PMGM Update </a:t>
            </a:r>
            <a:endParaRPr lang="en-US" b="1" dirty="0"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A215D8-2FE0-9192-07D1-FA68EC3F4EC1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6A14E9F7-6DB8-22E4-BF1D-E04ACE9AD1B0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17820-2F2F-90D0-0A30-00FCCAF9E198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DB60531-EF88-CA92-E433-1E21378E4D6A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06932F-DFBB-33C3-13C5-31BF48DF085C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89C4C88-0C9C-4023-FC85-2F3B45FD1AFB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252DF2-E88A-B99F-4153-451C02F10FEB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DC384D2-9DC1-FC08-EF78-E8D3CC8D34CC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7F111F-D263-57DE-EAE2-3100791A8168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2EAF2BE2-54FB-6B29-C533-9039D24B68DF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D09B86-CCA9-F561-465F-4343A273F414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9E691A3-63E7-5954-7D2C-17E58FE3BBC5}"/>
              </a:ext>
            </a:extLst>
          </p:cNvPr>
          <p:cNvSpPr txBox="1"/>
          <p:nvPr/>
        </p:nvSpPr>
        <p:spPr>
          <a:xfrm>
            <a:off x="609918" y="3390568"/>
            <a:ext cx="610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</a:rPr>
              <a:t>PMGM Update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34337-7F4E-885F-9FE8-6FC64C1CFE03}"/>
              </a:ext>
            </a:extLst>
          </p:cNvPr>
          <p:cNvSpPr txBox="1"/>
          <p:nvPr/>
        </p:nvSpPr>
        <p:spPr>
          <a:xfrm>
            <a:off x="630175" y="1178723"/>
            <a:ext cx="610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</a:rPr>
              <a:t>REC Update </a:t>
            </a:r>
            <a:endParaRPr lang="en-IN" sz="1600" dirty="0">
              <a:solidFill>
                <a:schemeClr val="bg1"/>
              </a:solidFill>
            </a:endParaRPr>
          </a:p>
        </p:txBody>
      </p:sp>
      <p:graphicFrame>
        <p:nvGraphicFramePr>
          <p:cNvPr id="18" name="Group 78">
            <a:extLst>
              <a:ext uri="{FF2B5EF4-FFF2-40B4-BE49-F238E27FC236}">
                <a16:creationId xmlns:a16="http://schemas.microsoft.com/office/drawing/2014/main" id="{82928F64-881A-DB2B-3671-7874B004C2F9}"/>
              </a:ext>
            </a:extLst>
          </p:cNvPr>
          <p:cNvGraphicFramePr>
            <a:graphicFrameLocks noGrp="1"/>
          </p:cNvGraphicFramePr>
          <p:nvPr/>
        </p:nvGraphicFramePr>
        <p:xfrm>
          <a:off x="630178" y="1520377"/>
          <a:ext cx="10958255" cy="1621435"/>
        </p:xfrm>
        <a:graphic>
          <a:graphicData uri="http://schemas.openxmlformats.org/drawingml/2006/table">
            <a:tbl>
              <a:tblPr firstRow="1"/>
              <a:tblGrid>
                <a:gridCol w="49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424">
                  <a:extLst>
                    <a:ext uri="{9D8B030D-6E8A-4147-A177-3AD203B41FA5}">
                      <a16:colId xmlns:a16="http://schemas.microsoft.com/office/drawing/2014/main" val="318707820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274930664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2840670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341275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Object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Validation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Candidate Data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Neha Singh, Sunanda Seth, Nidhi Datta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(Sign-off received on 4</a:t>
                      </a:r>
                      <a:r>
                        <a:rPr lang="en-US" sz="13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Sep 24)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 pre-load validation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 load download from AI system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File comparison between Pre vs Post load 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SF Reports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</a:tbl>
          </a:graphicData>
        </a:graphic>
      </p:graphicFrame>
      <p:graphicFrame>
        <p:nvGraphicFramePr>
          <p:cNvPr id="19" name="Group 78">
            <a:extLst>
              <a:ext uri="{FF2B5EF4-FFF2-40B4-BE49-F238E27FC236}">
                <a16:creationId xmlns:a16="http://schemas.microsoft.com/office/drawing/2014/main" id="{4D64C923-4077-4CBB-4E29-7A0412723533}"/>
              </a:ext>
            </a:extLst>
          </p:cNvPr>
          <p:cNvGraphicFramePr>
            <a:graphicFrameLocks noGrp="1"/>
          </p:cNvGraphicFramePr>
          <p:nvPr/>
        </p:nvGraphicFramePr>
        <p:xfrm>
          <a:off x="630178" y="3790442"/>
          <a:ext cx="10958255" cy="2316480"/>
        </p:xfrm>
        <a:graphic>
          <a:graphicData uri="http://schemas.openxmlformats.org/drawingml/2006/table">
            <a:tbl>
              <a:tblPr firstRow="1"/>
              <a:tblGrid>
                <a:gridCol w="49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424">
                  <a:extLst>
                    <a:ext uri="{9D8B030D-6E8A-4147-A177-3AD203B41FA5}">
                      <a16:colId xmlns:a16="http://schemas.microsoft.com/office/drawing/2014/main" val="318707820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274930664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2840670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197463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Object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Validation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 Forms (PDF)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Madhurima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Bhattacharyya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Sign-off received 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 4</a:t>
                      </a:r>
                      <a:r>
                        <a:rPr kumimoji="0" lang="en-US" sz="13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Sep 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Seconded + Others</a:t>
                      </a: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 pre-load validation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 load download from AI system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File comparison between Pre vs Post load 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SF Portlets validations – select employees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SF Reports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  <a:tr h="396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 Templates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220272"/>
                  </a:ext>
                </a:extLst>
              </a:tr>
              <a:tr h="396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Ratings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Dummy data loaded for employees to validate configuration and data load procedures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0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Mock 1 – Key Observations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Group 78">
            <a:extLst>
              <a:ext uri="{FF2B5EF4-FFF2-40B4-BE49-F238E27FC236}">
                <a16:creationId xmlns:a16="http://schemas.microsoft.com/office/drawing/2014/main" id="{5E11F27D-D16E-3619-6DC0-CCAB1DDF3818}"/>
              </a:ext>
            </a:extLst>
          </p:cNvPr>
          <p:cNvGraphicFramePr>
            <a:graphicFrameLocks noGrp="1"/>
          </p:cNvGraphicFramePr>
          <p:nvPr/>
        </p:nvGraphicFramePr>
        <p:xfrm>
          <a:off x="630175" y="1205482"/>
          <a:ext cx="10958259" cy="4656838"/>
        </p:xfrm>
        <a:graphic>
          <a:graphicData uri="http://schemas.openxmlformats.org/drawingml/2006/table">
            <a:tbl>
              <a:tblPr firstRow="1"/>
              <a:tblGrid>
                <a:gridCol w="57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9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9697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</a:tblGrid>
              <a:tr h="522734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Observations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Corrective Action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Foundation objects effective date for historical data was prior to effective start date. Caused errors in Hire date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Effective date corrected at Object level – Config change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associations organization structures for history employee data load</a:t>
                      </a:r>
                    </a:p>
                  </a:txBody>
                  <a:tcPr marL="95250" marR="6350" marT="6350" marB="0"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Association validation disabled for history load and enabled post load – data change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858368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 data multiple duplicate records created</a:t>
                      </a:r>
                    </a:p>
                  </a:txBody>
                  <a:tcPr marL="95250" marR="6350" marT="6350" marB="0"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Setting change in SF – Config change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398427"/>
                  </a:ext>
                </a:extLst>
              </a:tr>
              <a:tr h="9202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Performance ratings data not received</a:t>
                      </a:r>
                    </a:p>
                  </a:txBody>
                  <a:tcPr marL="95250" marR="6350" marT="6350" marB="0"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Dummy data loaded for employees to validate configuration and data load procedures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ratings data will be uploaded in Mock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948168"/>
                  </a:ext>
                </a:extLst>
              </a:tr>
              <a:tr h="9202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Compensation data not received</a:t>
                      </a:r>
                    </a:p>
                  </a:txBody>
                  <a:tcPr marL="95250" marR="6350" marT="6350" marB="0"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Dummy values updated against pay components to validate configurations and UK pay component availability in system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pay data will be uploaded in Mock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641843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 due to Delta foundation object creation in production post instance refresh.</a:t>
                      </a:r>
                    </a:p>
                  </a:txBody>
                  <a:tcPr marL="95250" marR="6350" marT="6350" marB="0"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re-created to enable loads – Data change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05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68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Mock 2 – Employee Central Update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Group 78">
            <a:extLst>
              <a:ext uri="{FF2B5EF4-FFF2-40B4-BE49-F238E27FC236}">
                <a16:creationId xmlns:a16="http://schemas.microsoft.com/office/drawing/2014/main" id="{5E11F27D-D16E-3619-6DC0-CCAB1DDF3818}"/>
              </a:ext>
            </a:extLst>
          </p:cNvPr>
          <p:cNvGraphicFramePr>
            <a:graphicFrameLocks noGrp="1"/>
          </p:cNvGraphicFramePr>
          <p:nvPr/>
        </p:nvGraphicFramePr>
        <p:xfrm>
          <a:off x="630175" y="1162178"/>
          <a:ext cx="10958255" cy="5131738"/>
        </p:xfrm>
        <a:graphic>
          <a:graphicData uri="http://schemas.openxmlformats.org/drawingml/2006/table">
            <a:tbl>
              <a:tblPr firstRow="1"/>
              <a:tblGrid>
                <a:gridCol w="49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424">
                  <a:extLst>
                    <a:ext uri="{9D8B030D-6E8A-4147-A177-3AD203B41FA5}">
                      <a16:colId xmlns:a16="http://schemas.microsoft.com/office/drawing/2014/main" val="318707820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274930664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2840670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339681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Object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Validation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Basic Import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Pending</a:t>
                      </a:r>
                    </a:p>
                    <a:p>
                      <a:pPr algn="ctr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Target - 25 Sep 24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Seconded (1260) + Others (1905)</a:t>
                      </a: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rowSpan="1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System pre-load validation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 load download from AI system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File comparison between Pre vs Post load 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SF Portlets validations – select employees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Biographical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846296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Personal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88569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Contact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873348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Addresses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154320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Emergency Contact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494712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National ID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15633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Employment Details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802375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Job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734700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Position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3077"/>
                  </a:ext>
                </a:extLst>
              </a:tr>
              <a:tr h="323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Bank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78310"/>
                  </a:ext>
                </a:extLst>
              </a:tr>
              <a:tr h="543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Compensation Information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Seconded + Others</a:t>
                      </a:r>
                      <a:endParaRPr 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Actual data uploaded.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3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Values and components to be validated.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585898"/>
                  </a:ext>
                </a:extLst>
              </a:tr>
              <a:tr h="5434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Leave Data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Seconded + 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3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85661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1A215D8-2FE0-9192-07D1-FA68EC3F4EC1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6A14E9F7-6DB8-22E4-BF1D-E04ACE9AD1B0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17820-2F2F-90D0-0A30-00FCCAF9E198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DB60531-EF88-CA92-E433-1E21378E4D6A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06932F-DFBB-33C3-13C5-31BF48DF085C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89C4C88-0C9C-4023-FC85-2F3B45FD1AFB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252DF2-E88A-B99F-4153-451C02F10FEB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DC384D2-9DC1-FC08-EF78-E8D3CC8D34CC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7F111F-D263-57DE-EAE2-3100791A8168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2EAF2BE2-54FB-6B29-C533-9039D24B68DF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D09B86-CCA9-F561-465F-4343A273F414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915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Mock 2 – REC &amp; PMGM Update </a:t>
            </a:r>
            <a:endParaRPr lang="en-US" b="1" dirty="0"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A215D8-2FE0-9192-07D1-FA68EC3F4EC1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6A14E9F7-6DB8-22E4-BF1D-E04ACE9AD1B0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F17820-2F2F-90D0-0A30-00FCCAF9E198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DB60531-EF88-CA92-E433-1E21378E4D6A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06932F-DFBB-33C3-13C5-31BF48DF085C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89C4C88-0C9C-4023-FC85-2F3B45FD1AFB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252DF2-E88A-B99F-4153-451C02F10FEB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DC384D2-9DC1-FC08-EF78-E8D3CC8D34CC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7F111F-D263-57DE-EAE2-3100791A8168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2EAF2BE2-54FB-6B29-C533-9039D24B68DF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D09B86-CCA9-F561-465F-4343A273F414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9E691A3-63E7-5954-7D2C-17E58FE3BBC5}"/>
              </a:ext>
            </a:extLst>
          </p:cNvPr>
          <p:cNvSpPr txBox="1"/>
          <p:nvPr/>
        </p:nvSpPr>
        <p:spPr>
          <a:xfrm>
            <a:off x="609918" y="3390568"/>
            <a:ext cx="610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</a:rPr>
              <a:t>PMGM Update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34337-7F4E-885F-9FE8-6FC64C1CFE03}"/>
              </a:ext>
            </a:extLst>
          </p:cNvPr>
          <p:cNvSpPr txBox="1"/>
          <p:nvPr/>
        </p:nvSpPr>
        <p:spPr>
          <a:xfrm>
            <a:off x="630175" y="1178723"/>
            <a:ext cx="610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</a:rPr>
              <a:t>REC Update </a:t>
            </a:r>
            <a:endParaRPr lang="en-IN" sz="1600" dirty="0">
              <a:solidFill>
                <a:schemeClr val="bg1"/>
              </a:solidFill>
            </a:endParaRPr>
          </a:p>
        </p:txBody>
      </p:sp>
      <p:graphicFrame>
        <p:nvGraphicFramePr>
          <p:cNvPr id="18" name="Group 78">
            <a:extLst>
              <a:ext uri="{FF2B5EF4-FFF2-40B4-BE49-F238E27FC236}">
                <a16:creationId xmlns:a16="http://schemas.microsoft.com/office/drawing/2014/main" id="{82928F64-881A-DB2B-3671-7874B004C2F9}"/>
              </a:ext>
            </a:extLst>
          </p:cNvPr>
          <p:cNvGraphicFramePr>
            <a:graphicFrameLocks noGrp="1"/>
          </p:cNvGraphicFramePr>
          <p:nvPr/>
        </p:nvGraphicFramePr>
        <p:xfrm>
          <a:off x="630178" y="1520377"/>
          <a:ext cx="10958255" cy="1225195"/>
        </p:xfrm>
        <a:graphic>
          <a:graphicData uri="http://schemas.openxmlformats.org/drawingml/2006/table">
            <a:tbl>
              <a:tblPr firstRow="1"/>
              <a:tblGrid>
                <a:gridCol w="49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424">
                  <a:extLst>
                    <a:ext uri="{9D8B030D-6E8A-4147-A177-3AD203B41FA5}">
                      <a16:colId xmlns:a16="http://schemas.microsoft.com/office/drawing/2014/main" val="318707820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274930664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2840670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341275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Object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Validation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Candidate Data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Target 100000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Completed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58500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3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</a:tbl>
          </a:graphicData>
        </a:graphic>
      </p:graphicFrame>
      <p:graphicFrame>
        <p:nvGraphicFramePr>
          <p:cNvPr id="19" name="Group 78">
            <a:extLst>
              <a:ext uri="{FF2B5EF4-FFF2-40B4-BE49-F238E27FC236}">
                <a16:creationId xmlns:a16="http://schemas.microsoft.com/office/drawing/2014/main" id="{4D64C923-4077-4CBB-4E29-7A0412723533}"/>
              </a:ext>
            </a:extLst>
          </p:cNvPr>
          <p:cNvGraphicFramePr>
            <a:graphicFrameLocks noGrp="1"/>
          </p:cNvGraphicFramePr>
          <p:nvPr/>
        </p:nvGraphicFramePr>
        <p:xfrm>
          <a:off x="630178" y="3790442"/>
          <a:ext cx="10958255" cy="2667567"/>
        </p:xfrm>
        <a:graphic>
          <a:graphicData uri="http://schemas.openxmlformats.org/drawingml/2006/table">
            <a:tbl>
              <a:tblPr firstRow="1"/>
              <a:tblGrid>
                <a:gridCol w="49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424">
                  <a:extLst>
                    <a:ext uri="{9D8B030D-6E8A-4147-A177-3AD203B41FA5}">
                      <a16:colId xmlns:a16="http://schemas.microsoft.com/office/drawing/2014/main" val="3187078203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511187">
                  <a:extLst>
                    <a:ext uri="{9D8B030D-6E8A-4147-A177-3AD203B41FA5}">
                      <a16:colId xmlns:a16="http://schemas.microsoft.com/office/drawing/2014/main" val="3274930664"/>
                    </a:ext>
                  </a:extLst>
                </a:gridCol>
                <a:gridCol w="764653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2840670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197463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Object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Validation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 Forms (PDF)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Seconded + Others</a:t>
                      </a: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23-24 -1820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22-23 -1539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21-22 - 1237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981383"/>
                  </a:ext>
                </a:extLst>
              </a:tr>
              <a:tr h="396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 Templates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endParaRPr lang="en-US" sz="12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220272"/>
                  </a:ext>
                </a:extLst>
              </a:tr>
              <a:tr h="396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3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Ratings</a:t>
                      </a:r>
                    </a:p>
                  </a:txBody>
                  <a:tcPr marL="95250" marR="6350" marT="6350" marB="0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23-24 -  1820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22-23 - 1539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21-22 - 1237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20-21 - 910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Yr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19-20 - 889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2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US" b="1" dirty="0">
                <a:latin typeface="Arial" panose="020B0604020202020204" pitchFamily="34" charset="0"/>
              </a:rPr>
              <a:t>Risks – Actions – Issues - Decisions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6D2DD7-0EA8-B7D2-1145-18613BC2CB85}"/>
              </a:ext>
            </a:extLst>
          </p:cNvPr>
          <p:cNvGraphicFramePr>
            <a:graphicFrameLocks noGrp="1"/>
          </p:cNvGraphicFramePr>
          <p:nvPr/>
        </p:nvGraphicFramePr>
        <p:xfrm>
          <a:off x="609598" y="1138236"/>
          <a:ext cx="11358881" cy="5157202"/>
        </p:xfrm>
        <a:graphic>
          <a:graphicData uri="http://schemas.openxmlformats.org/drawingml/2006/table">
            <a:tbl>
              <a:tblPr firstRow="1"/>
              <a:tblGrid>
                <a:gridCol w="1135265">
                  <a:extLst>
                    <a:ext uri="{9D8B030D-6E8A-4147-A177-3AD203B41FA5}">
                      <a16:colId xmlns:a16="http://schemas.microsoft.com/office/drawing/2014/main" val="513726922"/>
                    </a:ext>
                  </a:extLst>
                </a:gridCol>
                <a:gridCol w="1040659">
                  <a:extLst>
                    <a:ext uri="{9D8B030D-6E8A-4147-A177-3AD203B41FA5}">
                      <a16:colId xmlns:a16="http://schemas.microsoft.com/office/drawing/2014/main" val="2099557558"/>
                    </a:ext>
                  </a:extLst>
                </a:gridCol>
                <a:gridCol w="5035106">
                  <a:extLst>
                    <a:ext uri="{9D8B030D-6E8A-4147-A177-3AD203B41FA5}">
                      <a16:colId xmlns:a16="http://schemas.microsoft.com/office/drawing/2014/main" val="682312559"/>
                    </a:ext>
                  </a:extLst>
                </a:gridCol>
                <a:gridCol w="977588">
                  <a:extLst>
                    <a:ext uri="{9D8B030D-6E8A-4147-A177-3AD203B41FA5}">
                      <a16:colId xmlns:a16="http://schemas.microsoft.com/office/drawing/2014/main" val="3005588726"/>
                    </a:ext>
                  </a:extLst>
                </a:gridCol>
                <a:gridCol w="1270344">
                  <a:extLst>
                    <a:ext uri="{9D8B030D-6E8A-4147-A177-3AD203B41FA5}">
                      <a16:colId xmlns:a16="http://schemas.microsoft.com/office/drawing/2014/main" val="873441257"/>
                    </a:ext>
                  </a:extLst>
                </a:gridCol>
                <a:gridCol w="1009480">
                  <a:extLst>
                    <a:ext uri="{9D8B030D-6E8A-4147-A177-3AD203B41FA5}">
                      <a16:colId xmlns:a16="http://schemas.microsoft.com/office/drawing/2014/main" val="3227394816"/>
                    </a:ext>
                  </a:extLst>
                </a:gridCol>
                <a:gridCol w="890439">
                  <a:extLst>
                    <a:ext uri="{9D8B030D-6E8A-4147-A177-3AD203B41FA5}">
                      <a16:colId xmlns:a16="http://schemas.microsoft.com/office/drawing/2014/main" val="3117507020"/>
                    </a:ext>
                  </a:extLst>
                </a:gridCol>
              </a:tblGrid>
              <a:tr h="5984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07617"/>
                  </a:ext>
                </a:extLst>
              </a:tr>
              <a:tr h="7189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Integration 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Procure and Provision new payroll instance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Amit (AI)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05-Sep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546931"/>
                  </a:ext>
                </a:extLst>
              </a:tr>
              <a:tr h="7189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Integration 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People Strong New payroll Instance configuration In progress. Target to complete and hand for CPI configuration by 3</a:t>
                      </a:r>
                      <a:r>
                        <a:rPr lang="en-US" sz="1400" b="0" kern="12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rd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Oct 24.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Amit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03-Oct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43071"/>
                  </a:ext>
                </a:extLst>
              </a:tr>
              <a:tr h="11382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Integration 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CPI Build –  Three Integration flows for UK pay components will be completed by 18</a:t>
                      </a:r>
                      <a:r>
                        <a:rPr lang="en-US" sz="1400" b="0" kern="12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Oct.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Parallel Mock Run on PeopleStrong to be reassessed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Vansh (EY) &amp; Amit (AI)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18-Oct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837394"/>
                  </a:ext>
                </a:extLst>
              </a:tr>
              <a:tr h="598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Half day leave: We will discount the half day leave for UK employees and upload the leave.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Anuj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968952"/>
                  </a:ext>
                </a:extLst>
              </a:tr>
              <a:tr h="1245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Vistara Holiday Calendars &amp; Work Schedule , Time Types are different compared to AI policy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Vistara Time policy deployment only for historical data loads will be a challenge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Workaround (Custom Portlet for leaves) snapshots to be shared with HR for review &amp; sign-off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Shivender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(EY)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 Sep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912709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D296F45E-9437-2FFF-619E-19900846B4B0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8AF6E7FF-D300-1AD6-6E9A-0744D92C7D5E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DAC6C5-397F-E6FD-6A8C-D74645337908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A281ED68-8C4C-8F27-51EE-8859076BD409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3C1E6E-A58B-646D-E6DD-1DA3ED901DE1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2B4ED4F7-B6FF-A6CA-54F1-BA38E70AAB7A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1BEFDD-6BDA-6A40-1B51-9A5617AC20CB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8D0E29DB-1DFC-2C50-2A60-8D38E8756CEC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9492F1-F900-37F5-D0A5-408158764B47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28BF98D7-EEAB-493B-60B2-D3FF476EC9B0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A6BDE2-C6E1-F9A6-6365-27DB5E10DC1C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202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Mock 2 &amp; UAT Phase: Planned Activities for 20 Sep 2024 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Group 78">
            <a:extLst>
              <a:ext uri="{FF2B5EF4-FFF2-40B4-BE49-F238E27FC236}">
                <a16:creationId xmlns:a16="http://schemas.microsoft.com/office/drawing/2014/main" id="{5E11F27D-D16E-3619-6DC0-CCAB1DDF3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164962"/>
              </p:ext>
            </p:extLst>
          </p:nvPr>
        </p:nvGraphicFramePr>
        <p:xfrm>
          <a:off x="630175" y="1205482"/>
          <a:ext cx="10967212" cy="4429693"/>
        </p:xfrm>
        <a:graphic>
          <a:graphicData uri="http://schemas.openxmlformats.org/drawingml/2006/table">
            <a:tbl>
              <a:tblPr firstRow="1"/>
              <a:tblGrid>
                <a:gridCol w="49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153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983153">
                  <a:extLst>
                    <a:ext uri="{9D8B030D-6E8A-4147-A177-3AD203B41FA5}">
                      <a16:colId xmlns:a16="http://schemas.microsoft.com/office/drawing/2014/main" val="2703642918"/>
                    </a:ext>
                  </a:extLst>
                </a:gridCol>
                <a:gridCol w="983153">
                  <a:extLst>
                    <a:ext uri="{9D8B030D-6E8A-4147-A177-3AD203B41FA5}">
                      <a16:colId xmlns:a16="http://schemas.microsoft.com/office/drawing/2014/main" val="3047451876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  <a:gridCol w="3875787">
                  <a:extLst>
                    <a:ext uri="{9D8B030D-6E8A-4147-A177-3AD203B41FA5}">
                      <a16:colId xmlns:a16="http://schemas.microsoft.com/office/drawing/2014/main" val="3463147607"/>
                    </a:ext>
                  </a:extLst>
                </a:gridCol>
              </a:tblGrid>
              <a:tr h="349378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Milestone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Plan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Target / Actual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accomplishments/ latest status update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807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 Data Loads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25-Sep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Needs Attention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Upload for Leaves Pending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99103"/>
                  </a:ext>
                </a:extLst>
              </a:tr>
              <a:tr h="6285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 – Data validation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25-Sep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 Track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708414"/>
                  </a:ext>
                </a:extLst>
              </a:tr>
              <a:tr h="6285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UAT Test Execution (End to End) for EC / REC / PMGM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25-Sep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 Track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928046"/>
                  </a:ext>
                </a:extLst>
              </a:tr>
              <a:tr h="6285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RBP Validation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25-Sep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 Track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249300"/>
                  </a:ext>
                </a:extLst>
              </a:tr>
              <a:tr h="10830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 2 and UAT Sign off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25-Sep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 Track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EYInterstate" panose="02000503020000020004" pitchFamily="2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Not Started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162923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A8F0437-68D6-E0CE-3B56-CF40D7DEF4D2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181DC088-D6C7-450B-0F21-D010AD9A132B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09555A-93F1-BF3E-DD52-6846A3EB0C85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A830B721-1EDF-B30D-5E3E-C826BC5BABC4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16B5CA-340C-CD10-9DD1-F8E5A21FAB2C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DF79B8DA-BF19-57D3-1C75-B445FC582CE2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25D44A-130E-1930-A35E-FE5D3DD11541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BAC4C894-C4E6-D6F2-A5EA-C319A84B3900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4F09B0-4DC1-120B-2D24-4A05CCC05124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B019EC09-2D18-436E-FFBE-F42962727FDB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98555A-8B5E-CA91-774A-FF0161933816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17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US" b="1" dirty="0">
                <a:latin typeface="Arial" panose="020B0604020202020204" pitchFamily="34" charset="0"/>
              </a:rPr>
              <a:t>Configuration &amp; Cut Over 1: Upcoming Activities for </a:t>
            </a:r>
            <a:r>
              <a:rPr lang="en-IN" b="1" dirty="0">
                <a:latin typeface="Arial" panose="020B0604020202020204" pitchFamily="34" charset="0"/>
              </a:rPr>
              <a:t>04 Oct 2024 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2" name="Group 78">
            <a:extLst>
              <a:ext uri="{FF2B5EF4-FFF2-40B4-BE49-F238E27FC236}">
                <a16:creationId xmlns:a16="http://schemas.microsoft.com/office/drawing/2014/main" id="{E760F5C1-4F2E-3EEA-347F-37DC55971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04095"/>
              </p:ext>
            </p:extLst>
          </p:nvPr>
        </p:nvGraphicFramePr>
        <p:xfrm>
          <a:off x="630176" y="1205482"/>
          <a:ext cx="10958256" cy="2041256"/>
        </p:xfrm>
        <a:graphic>
          <a:graphicData uri="http://schemas.openxmlformats.org/drawingml/2006/table">
            <a:tbl>
              <a:tblPr firstRow="1"/>
              <a:tblGrid>
                <a:gridCol w="89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3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2165">
                  <a:extLst>
                    <a:ext uri="{9D8B030D-6E8A-4147-A177-3AD203B41FA5}">
                      <a16:colId xmlns:a16="http://schemas.microsoft.com/office/drawing/2014/main" val="942559623"/>
                    </a:ext>
                  </a:extLst>
                </a:gridCol>
                <a:gridCol w="1832165">
                  <a:extLst>
                    <a:ext uri="{9D8B030D-6E8A-4147-A177-3AD203B41FA5}">
                      <a16:colId xmlns:a16="http://schemas.microsoft.com/office/drawing/2014/main" val="3047451876"/>
                    </a:ext>
                  </a:extLst>
                </a:gridCol>
                <a:gridCol w="1832165">
                  <a:extLst>
                    <a:ext uri="{9D8B030D-6E8A-4147-A177-3AD203B41FA5}">
                      <a16:colId xmlns:a16="http://schemas.microsoft.com/office/drawing/2014/main" val="1927182818"/>
                    </a:ext>
                  </a:extLst>
                </a:gridCol>
              </a:tblGrid>
              <a:tr h="243713"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271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85434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28151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70868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13586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56303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399020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41737" algn="l" defTabSz="685434" rtl="0" eaLnBrk="1" latinLnBrk="0" hangingPunct="1">
                        <a:defRPr sz="1349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Milestone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Target date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Migrate all Configurations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01-Oct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Yet to Start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708414"/>
                  </a:ext>
                </a:extLst>
              </a:tr>
              <a:tr h="434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Manual Configuration in Production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03-Oct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Yet to Start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62923"/>
                  </a:ext>
                </a:extLst>
              </a:tr>
              <a:tr h="434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Employee Data - Seconded to AI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04-Oct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Yet to Start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99106"/>
                  </a:ext>
                </a:extLst>
              </a:tr>
              <a:tr h="434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Candidate Data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04-Oct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Yet to Start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308676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1A80EC3F-93D3-8A2E-19C2-C05D190DFF1D}"/>
              </a:ext>
            </a:extLst>
          </p:cNvPr>
          <p:cNvGrpSpPr/>
          <p:nvPr/>
        </p:nvGrpSpPr>
        <p:grpSpPr>
          <a:xfrm>
            <a:off x="6373295" y="6433964"/>
            <a:ext cx="5098043" cy="269170"/>
            <a:chOff x="312133" y="6510128"/>
            <a:chExt cx="5098043" cy="269170"/>
          </a:xfrm>
        </p:grpSpPr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64E8ECB9-1648-2252-C86A-46EDE1B4BEF0}"/>
                </a:ext>
              </a:extLst>
            </p:cNvPr>
            <p:cNvSpPr/>
            <p:nvPr/>
          </p:nvSpPr>
          <p:spPr>
            <a:xfrm>
              <a:off x="312133" y="6552296"/>
              <a:ext cx="144000" cy="144000"/>
            </a:xfrm>
            <a:prstGeom prst="flowChartConnector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solidFill>
                <a:srgbClr val="92D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15CBD3-9B66-0A37-1BCD-3AB430B4D4D1}"/>
                </a:ext>
              </a:extLst>
            </p:cNvPr>
            <p:cNvSpPr txBox="1"/>
            <p:nvPr/>
          </p:nvSpPr>
          <p:spPr>
            <a:xfrm>
              <a:off x="436680" y="6510128"/>
              <a:ext cx="792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On Track</a:t>
              </a: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99F932F9-C1A0-6EB9-CACA-4279C9F74923}"/>
                </a:ext>
              </a:extLst>
            </p:cNvPr>
            <p:cNvSpPr/>
            <p:nvPr/>
          </p:nvSpPr>
          <p:spPr>
            <a:xfrm>
              <a:off x="1186756" y="6571448"/>
              <a:ext cx="144000" cy="144000"/>
            </a:xfrm>
            <a:prstGeom prst="flowChartConnector">
              <a:avLst/>
            </a:prstGeom>
            <a:solidFill>
              <a:srgbClr val="FFC000"/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DEAE89-5C5E-5F67-B287-6DE0B1339938}"/>
                </a:ext>
              </a:extLst>
            </p:cNvPr>
            <p:cNvSpPr txBox="1"/>
            <p:nvPr/>
          </p:nvSpPr>
          <p:spPr>
            <a:xfrm>
              <a:off x="1333775" y="6522684"/>
              <a:ext cx="144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Needs Attention</a:t>
              </a:r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2825DEF6-E337-CF57-CA91-79873F8D0279}"/>
                </a:ext>
              </a:extLst>
            </p:cNvPr>
            <p:cNvSpPr/>
            <p:nvPr/>
          </p:nvSpPr>
          <p:spPr>
            <a:xfrm>
              <a:off x="2564192" y="6571448"/>
              <a:ext cx="144000" cy="144000"/>
            </a:xfrm>
            <a:prstGeom prst="flowChartConnector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E5925B-92BC-20F3-16F6-4BDCCDDDF4EE}"/>
                </a:ext>
              </a:extLst>
            </p:cNvPr>
            <p:cNvSpPr txBox="1"/>
            <p:nvPr/>
          </p:nvSpPr>
          <p:spPr>
            <a:xfrm>
              <a:off x="2742928" y="652484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Delayed</a:t>
              </a:r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DAEFF1E1-2005-048E-CD57-1F576F358FCB}"/>
                </a:ext>
              </a:extLst>
            </p:cNvPr>
            <p:cNvSpPr/>
            <p:nvPr/>
          </p:nvSpPr>
          <p:spPr>
            <a:xfrm>
              <a:off x="3389665" y="6571448"/>
              <a:ext cx="144000" cy="144000"/>
            </a:xfrm>
            <a:prstGeom prst="flowChartConnector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00D3EC-5F1C-4E48-F71D-124D0BD0BB73}"/>
                </a:ext>
              </a:extLst>
            </p:cNvPr>
            <p:cNvSpPr txBox="1"/>
            <p:nvPr/>
          </p:nvSpPr>
          <p:spPr>
            <a:xfrm>
              <a:off x="3551760" y="6517704"/>
              <a:ext cx="936000" cy="14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Completed</a:t>
              </a:r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71DB41AF-3240-AC7F-BFCA-E308C84F61E2}"/>
                </a:ext>
              </a:extLst>
            </p:cNvPr>
            <p:cNvSpPr/>
            <p:nvPr/>
          </p:nvSpPr>
          <p:spPr>
            <a:xfrm>
              <a:off x="4372772" y="6571448"/>
              <a:ext cx="144000" cy="144000"/>
            </a:xfrm>
            <a:prstGeom prst="flowChartConnector">
              <a:avLst/>
            </a:prstGeom>
            <a:solidFill>
              <a:schemeClr val="bg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D2B21E-29CD-0F5C-0B67-29A5969317E9}"/>
                </a:ext>
              </a:extLst>
            </p:cNvPr>
            <p:cNvSpPr txBox="1"/>
            <p:nvPr/>
          </p:nvSpPr>
          <p:spPr>
            <a:xfrm>
              <a:off x="4556023" y="6525660"/>
              <a:ext cx="854153" cy="25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</a:rPr>
                <a:t>To 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7555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IN" b="1" dirty="0">
                <a:latin typeface="Arial" panose="020B0604020202020204" pitchFamily="34" charset="0"/>
              </a:rPr>
              <a:t>Data Cut Over Plan</a:t>
            </a:r>
            <a:endParaRPr 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4784D8F-C53A-E21E-7A46-3937E0EBE2A4}"/>
              </a:ext>
            </a:extLst>
          </p:cNvPr>
          <p:cNvGraphicFramePr>
            <a:graphicFrameLocks noGrp="1"/>
          </p:cNvGraphicFramePr>
          <p:nvPr/>
        </p:nvGraphicFramePr>
        <p:xfrm>
          <a:off x="609919" y="1256859"/>
          <a:ext cx="10978514" cy="5072816"/>
        </p:xfrm>
        <a:graphic>
          <a:graphicData uri="http://schemas.openxmlformats.org/drawingml/2006/table">
            <a:tbl>
              <a:tblPr firstRow="1" bandRow="1"/>
              <a:tblGrid>
                <a:gridCol w="2239858">
                  <a:extLst>
                    <a:ext uri="{9D8B030D-6E8A-4147-A177-3AD203B41FA5}">
                      <a16:colId xmlns:a16="http://schemas.microsoft.com/office/drawing/2014/main" val="2399829406"/>
                    </a:ext>
                  </a:extLst>
                </a:gridCol>
                <a:gridCol w="6968478">
                  <a:extLst>
                    <a:ext uri="{9D8B030D-6E8A-4147-A177-3AD203B41FA5}">
                      <a16:colId xmlns:a16="http://schemas.microsoft.com/office/drawing/2014/main" val="2763213448"/>
                    </a:ext>
                  </a:extLst>
                </a:gridCol>
                <a:gridCol w="1770178">
                  <a:extLst>
                    <a:ext uri="{9D8B030D-6E8A-4147-A177-3AD203B41FA5}">
                      <a16:colId xmlns:a16="http://schemas.microsoft.com/office/drawing/2014/main" val="1185869847"/>
                    </a:ext>
                  </a:extLst>
                </a:gridCol>
              </a:tblGrid>
              <a:tr h="449750">
                <a:tc>
                  <a:txBody>
                    <a:bodyPr/>
                    <a:lstStyle/>
                    <a:p>
                      <a:pPr marL="0" algn="l" defTabSz="832640" rtl="0" eaLnBrk="1" latinLnBrk="0" hangingPunct="1">
                        <a:defRPr/>
                      </a:pPr>
                      <a:r>
                        <a:rPr lang="en-US" sz="13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832640" rtl="0" eaLnBrk="1" latinLnBrk="0" hangingPunct="1">
                        <a:defRPr/>
                      </a:pPr>
                      <a:r>
                        <a:rPr lang="en-US" sz="13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Key 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Key 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926973"/>
                  </a:ext>
                </a:extLst>
              </a:tr>
              <a:tr h="330219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Cut Over 1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UK Non - Seconded to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Cut-off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15-Oct-24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275862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algn="l" defTabSz="832640" rtl="0" eaLnBrk="1" latinLnBrk="0" hangingPunct="1">
                        <a:defRPr/>
                      </a:pPr>
                      <a:endParaRPr lang="en-US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Extraction – Historical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18-Oct-24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623421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algn="l" defTabSz="832640" rtl="0" eaLnBrk="1" latinLnBrk="0" hangingPunct="1">
                        <a:defRPr/>
                      </a:pPr>
                      <a:endParaRPr lang="en-US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Cleansing / Mapping to SF formats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25-Oct-24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973131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Upload in AI 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31-Oct-24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549609"/>
                  </a:ext>
                </a:extLst>
              </a:tr>
              <a:tr h="330219"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Cut Over 2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UK Seconded to AI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Delta for Non - Seconded to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Cut-off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28-Oct-24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887139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algn="l" defTabSz="832640" rtl="0" eaLnBrk="1" latinLnBrk="0" hangingPunct="1">
                        <a:defRPr/>
                      </a:pPr>
                      <a:endParaRPr lang="en-US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31-Oct-24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051110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algn="l" defTabSz="832640" rtl="0" eaLnBrk="1" latinLnBrk="0" hangingPunct="1">
                        <a:defRPr/>
                      </a:pPr>
                      <a:endParaRPr lang="en-US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Cleansing / Mapping to SF formats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07-Nov-24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684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Upload Extract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10-Nov-24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0504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Vistara Instance Black 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09-Nov-24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123019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Delta Data Extraction for Non-Seconded Employees (delta from 15 Oct to 08 Nov)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09-Nov-24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86194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Delta Data Extraction for Seconded to AI Employees (delta from 28 Oct to 08 Nov)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09-Nov-24</a:t>
                      </a:r>
                      <a:endParaRPr lang="en-US" sz="1300" b="0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251039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Upload Extract 2 (Delta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11-Nov-24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08519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UK Employees Transfer 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12-Nov-24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253431"/>
                  </a:ext>
                </a:extLst>
              </a:tr>
              <a:tr h="33021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3943" rtl="0" eaLnBrk="1" fontAlgn="ctr" latinLnBrk="0" hangingPunct="1"/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UK Instance Lock and Release Clone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2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14-Nov-24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086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66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25A7-49DC-297E-30A1-C837B7D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Payroll - PeopleStrong</a:t>
            </a:r>
          </a:p>
        </p:txBody>
      </p:sp>
    </p:spTree>
    <p:extLst>
      <p:ext uri="{BB962C8B-B14F-4D97-AF65-F5344CB8AC3E}">
        <p14:creationId xmlns:p14="http://schemas.microsoft.com/office/powerpoint/2010/main" val="184126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5524-A3AE-EA79-78E3-8760C972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308F19-6752-EC66-2194-270823A2D422}"/>
              </a:ext>
            </a:extLst>
          </p:cNvPr>
          <p:cNvSpPr txBox="1">
            <a:spLocks/>
          </p:cNvSpPr>
          <p:nvPr/>
        </p:nvSpPr>
        <p:spPr>
          <a:xfrm>
            <a:off x="294640" y="319088"/>
            <a:ext cx="11293793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Merger Principles &amp; Approach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3D884-F596-120F-1165-8E52F1BFC9A0}"/>
              </a:ext>
            </a:extLst>
          </p:cNvPr>
          <p:cNvSpPr txBox="1"/>
          <p:nvPr/>
        </p:nvSpPr>
        <p:spPr>
          <a:xfrm>
            <a:off x="294640" y="900625"/>
            <a:ext cx="11775440" cy="2123658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highlight>
                  <a:srgbClr val="FFE600"/>
                </a:highlight>
                <a:latin typeface="AirIndia" panose="04050608020B02020302"/>
                <a:cs typeface="Arial" panose="020B0604020202020204" pitchFamily="34" charset="0"/>
              </a:rPr>
              <a:t>Merger Guiding Principles</a:t>
            </a:r>
            <a:endParaRPr lang="en-IN" sz="1200" b="1" strike="sngStrike" dirty="0">
              <a:highlight>
                <a:srgbClr val="FFE600"/>
              </a:highlight>
              <a:latin typeface="AirIndia" panose="04050608020B0202030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UK Payroll team to process UK employees’ salary in SAP S4 HANA till merger Go-Live. Nov 24 salary processed partially by UK (till 11th Nov 24) &amp; partially by AI (12th Nov 24 onwards); AI to pay one shot salary to UK employees on 30th Nov 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UK Crew (Pilots &amp; Cabin) pay components and structures to be harmonized prior to merger Go-Live (12</a:t>
            </a:r>
            <a:r>
              <a:rPr lang="en-US" sz="1200" baseline="30000" dirty="0">
                <a:latin typeface="AirIndia" panose="04050608020B02020302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 Nov 24); UK rest of the employee’s pay components &amp; structures to be harmonized post-merger by Mar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Separate (New) AI PeopleStrong (PS) instance to be configured with UK pay components.</a:t>
            </a:r>
            <a:endParaRPr lang="en-IN" sz="1200" dirty="0">
              <a:latin typeface="AirIndia" panose="04050608020B0202030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Post-merger, payroll markers &amp; rates for variable pay (flying hours, layover allowance, etc.) for UK &amp; AI Crew will be of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UK Crew to use UK ARMS system till 11th Nov 24, then switch to AI CAE post 11th Nov 24 midnight.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Since merger date is mid-month, following are the guiding principles for 1</a:t>
            </a:r>
            <a:r>
              <a:rPr lang="en-US" sz="1200" baseline="30000" dirty="0">
                <a:latin typeface="AirIndia" panose="04050608020B02020302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-11</a:t>
            </a:r>
            <a:r>
              <a:rPr lang="en-US" sz="1200" baseline="30000" dirty="0">
                <a:latin typeface="AirIndia" panose="04050608020B02020302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 Nov payroll calculations for UK Crew: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For slab-based payroll markers, cumulative logic will apply; for all payroll markers, AI rates &amp; calculation logics to apply for Nov month.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For guaranteed flying hours, UK Crew to be paid guaranteed flying hours for Nov 24 month in the same month salary payout (Nov 24).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D6F95D68-FC68-694C-A1C8-A30B2C6DFF87}"/>
              </a:ext>
            </a:extLst>
          </p:cNvPr>
          <p:cNvSpPr txBox="1"/>
          <p:nvPr/>
        </p:nvSpPr>
        <p:spPr>
          <a:xfrm>
            <a:off x="5692600" y="3003783"/>
            <a:ext cx="1213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highlight>
                  <a:srgbClr val="FFE600"/>
                </a:highlight>
                <a:latin typeface="AirIndia" panose="04050608020B02020302"/>
              </a:rPr>
              <a:t>Approach (Plan)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4A9CB4-B3E0-1D92-E792-403BC87C6C3C}"/>
              </a:ext>
            </a:extLst>
          </p:cNvPr>
          <p:cNvGrpSpPr/>
          <p:nvPr/>
        </p:nvGrpSpPr>
        <p:grpSpPr>
          <a:xfrm>
            <a:off x="201168" y="3209279"/>
            <a:ext cx="12174629" cy="3574033"/>
            <a:chOff x="201168" y="2831931"/>
            <a:chExt cx="12174629" cy="396479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D5559D5-2BC5-5B2B-2D37-F7E6CF155206}"/>
                </a:ext>
              </a:extLst>
            </p:cNvPr>
            <p:cNvGrpSpPr/>
            <p:nvPr/>
          </p:nvGrpSpPr>
          <p:grpSpPr>
            <a:xfrm>
              <a:off x="201168" y="2831931"/>
              <a:ext cx="12174629" cy="3768818"/>
              <a:chOff x="201168" y="1057101"/>
              <a:chExt cx="12174629" cy="594034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CF56CE5-DE34-7AA1-BF16-F46918C52D1C}"/>
                  </a:ext>
                </a:extLst>
              </p:cNvPr>
              <p:cNvGrpSpPr/>
              <p:nvPr/>
            </p:nvGrpSpPr>
            <p:grpSpPr>
              <a:xfrm>
                <a:off x="201168" y="1057101"/>
                <a:ext cx="12174629" cy="5434307"/>
                <a:chOff x="75112" y="792625"/>
                <a:chExt cx="12566192" cy="4864395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1067DE5B-340C-324E-80E6-A98BA635C15B}"/>
                    </a:ext>
                  </a:extLst>
                </p:cNvPr>
                <p:cNvGrpSpPr/>
                <p:nvPr/>
              </p:nvGrpSpPr>
              <p:grpSpPr>
                <a:xfrm>
                  <a:off x="75112" y="894080"/>
                  <a:ext cx="12461182" cy="4573417"/>
                  <a:chOff x="75112" y="1738569"/>
                  <a:chExt cx="12461182" cy="3266341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0BBCE22-FC85-831D-4AA2-C7189E99DF0D}"/>
                      </a:ext>
                    </a:extLst>
                  </p:cNvPr>
                  <p:cNvSpPr txBox="1"/>
                  <p:nvPr/>
                </p:nvSpPr>
                <p:spPr>
                  <a:xfrm>
                    <a:off x="240033" y="1738569"/>
                    <a:ext cx="906017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400" b="1" dirty="0"/>
                      <a:t>Timeline</a:t>
                    </a:r>
                  </a:p>
                </p:txBody>
              </p:sp>
              <p:sp>
                <p:nvSpPr>
                  <p:cNvPr id="46" name="Arrow: Down 45">
                    <a:extLst>
                      <a:ext uri="{FF2B5EF4-FFF2-40B4-BE49-F238E27FC236}">
                        <a16:creationId xmlns:a16="http://schemas.microsoft.com/office/drawing/2014/main" id="{538DD85E-0453-CD1B-B366-C02243BA19B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43440" y="1789078"/>
                    <a:ext cx="100078" cy="176728"/>
                  </a:xfrm>
                  <a:prstGeom prst="down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47" name="Connector: Curved 46">
                    <a:extLst>
                      <a:ext uri="{FF2B5EF4-FFF2-40B4-BE49-F238E27FC236}">
                        <a16:creationId xmlns:a16="http://schemas.microsoft.com/office/drawing/2014/main" id="{C32109BA-DB06-9D6D-A05C-23E7480C61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05162" y="1849097"/>
                    <a:ext cx="10760298" cy="12797"/>
                  </a:xfrm>
                  <a:prstGeom prst="curvedConnector3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C901477-093E-05D0-6427-BD47C94F46F6}"/>
                      </a:ext>
                    </a:extLst>
                  </p:cNvPr>
                  <p:cNvSpPr txBox="1"/>
                  <p:nvPr/>
                </p:nvSpPr>
                <p:spPr>
                  <a:xfrm>
                    <a:off x="1412298" y="1935878"/>
                    <a:ext cx="70243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May 24</a:t>
                    </a:r>
                  </a:p>
                </p:txBody>
              </p:sp>
              <p:sp>
                <p:nvSpPr>
                  <p:cNvPr id="49" name="Circle: Hollow 48">
                    <a:extLst>
                      <a:ext uri="{FF2B5EF4-FFF2-40B4-BE49-F238E27FC236}">
                        <a16:creationId xmlns:a16="http://schemas.microsoft.com/office/drawing/2014/main" id="{5209D73A-BED5-DA56-F3BF-141123F7FD40}"/>
                      </a:ext>
                    </a:extLst>
                  </p:cNvPr>
                  <p:cNvSpPr/>
                  <p:nvPr/>
                </p:nvSpPr>
                <p:spPr>
                  <a:xfrm>
                    <a:off x="1662216" y="1837023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E02F7862-D629-E699-47FB-64B31114A260}"/>
                      </a:ext>
                    </a:extLst>
                  </p:cNvPr>
                  <p:cNvSpPr txBox="1"/>
                  <p:nvPr/>
                </p:nvSpPr>
                <p:spPr>
                  <a:xfrm>
                    <a:off x="2038490" y="1939817"/>
                    <a:ext cx="71686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June 24</a:t>
                    </a:r>
                  </a:p>
                </p:txBody>
              </p:sp>
              <p:sp>
                <p:nvSpPr>
                  <p:cNvPr id="51" name="Circle: Hollow 50">
                    <a:extLst>
                      <a:ext uri="{FF2B5EF4-FFF2-40B4-BE49-F238E27FC236}">
                        <a16:creationId xmlns:a16="http://schemas.microsoft.com/office/drawing/2014/main" id="{8133E59B-E413-8CBF-D191-520E30E8AEBA}"/>
                      </a:ext>
                    </a:extLst>
                  </p:cNvPr>
                  <p:cNvSpPr/>
                  <p:nvPr/>
                </p:nvSpPr>
                <p:spPr>
                  <a:xfrm>
                    <a:off x="2227448" y="1830802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0DDD5127-BC3D-B133-8D3A-A1E7F0646825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870" y="1939817"/>
                    <a:ext cx="67678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Sep 24</a:t>
                    </a:r>
                  </a:p>
                </p:txBody>
              </p:sp>
              <p:sp>
                <p:nvSpPr>
                  <p:cNvPr id="53" name="Circle: Hollow 52">
                    <a:extLst>
                      <a:ext uri="{FF2B5EF4-FFF2-40B4-BE49-F238E27FC236}">
                        <a16:creationId xmlns:a16="http://schemas.microsoft.com/office/drawing/2014/main" id="{F34746AB-A8A0-6D32-FEDC-34DE68282309}"/>
                      </a:ext>
                    </a:extLst>
                  </p:cNvPr>
                  <p:cNvSpPr/>
                  <p:nvPr/>
                </p:nvSpPr>
                <p:spPr>
                  <a:xfrm>
                    <a:off x="5608828" y="1830802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06E79FC-76CE-5045-D31B-ED0606C301DA}"/>
                      </a:ext>
                    </a:extLst>
                  </p:cNvPr>
                  <p:cNvSpPr txBox="1"/>
                  <p:nvPr/>
                </p:nvSpPr>
                <p:spPr>
                  <a:xfrm>
                    <a:off x="3582125" y="1939817"/>
                    <a:ext cx="67037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July 24</a:t>
                    </a:r>
                  </a:p>
                </p:txBody>
              </p:sp>
              <p:sp>
                <p:nvSpPr>
                  <p:cNvPr id="55" name="Circle: Hollow 54">
                    <a:extLst>
                      <a:ext uri="{FF2B5EF4-FFF2-40B4-BE49-F238E27FC236}">
                        <a16:creationId xmlns:a16="http://schemas.microsoft.com/office/drawing/2014/main" id="{38CC9B42-074A-1A38-0C82-A2DC87E44E60}"/>
                      </a:ext>
                    </a:extLst>
                  </p:cNvPr>
                  <p:cNvSpPr/>
                  <p:nvPr/>
                </p:nvSpPr>
                <p:spPr>
                  <a:xfrm>
                    <a:off x="3771083" y="1830802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3D006E-A432-508A-D5AB-5D61D4840017}"/>
                      </a:ext>
                    </a:extLst>
                  </p:cNvPr>
                  <p:cNvSpPr txBox="1"/>
                  <p:nvPr/>
                </p:nvSpPr>
                <p:spPr>
                  <a:xfrm>
                    <a:off x="4269117" y="1942602"/>
                    <a:ext cx="69923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Aug 24</a:t>
                    </a:r>
                  </a:p>
                </p:txBody>
              </p:sp>
              <p:sp>
                <p:nvSpPr>
                  <p:cNvPr id="57" name="Circle: Hollow 56">
                    <a:extLst>
                      <a:ext uri="{FF2B5EF4-FFF2-40B4-BE49-F238E27FC236}">
                        <a16:creationId xmlns:a16="http://schemas.microsoft.com/office/drawing/2014/main" id="{3837AF17-A4AB-2261-EA25-D5BD9AC6D9EB}"/>
                      </a:ext>
                    </a:extLst>
                  </p:cNvPr>
                  <p:cNvSpPr/>
                  <p:nvPr/>
                </p:nvSpPr>
                <p:spPr>
                  <a:xfrm>
                    <a:off x="4458075" y="1833587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A6450704-66CA-B533-AD11-1A46AF028A73}"/>
                      </a:ext>
                    </a:extLst>
                  </p:cNvPr>
                  <p:cNvSpPr txBox="1"/>
                  <p:nvPr/>
                </p:nvSpPr>
                <p:spPr>
                  <a:xfrm>
                    <a:off x="8160567" y="1933556"/>
                    <a:ext cx="65434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Oct 24</a:t>
                    </a:r>
                  </a:p>
                </p:txBody>
              </p:sp>
              <p:sp>
                <p:nvSpPr>
                  <p:cNvPr id="59" name="Circle: Hollow 58">
                    <a:extLst>
                      <a:ext uri="{FF2B5EF4-FFF2-40B4-BE49-F238E27FC236}">
                        <a16:creationId xmlns:a16="http://schemas.microsoft.com/office/drawing/2014/main" id="{C62F00FF-6F56-3284-614C-D3C0159C966F}"/>
                      </a:ext>
                    </a:extLst>
                  </p:cNvPr>
                  <p:cNvSpPr/>
                  <p:nvPr/>
                </p:nvSpPr>
                <p:spPr>
                  <a:xfrm>
                    <a:off x="8349525" y="1824541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8BAEBDD1-6E89-8D97-D387-5B487B8E986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6925" y="1922923"/>
                    <a:ext cx="688009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200" dirty="0"/>
                      <a:t>Nov 24</a:t>
                    </a:r>
                  </a:p>
                </p:txBody>
              </p:sp>
              <p:sp>
                <p:nvSpPr>
                  <p:cNvPr id="61" name="Circle: Hollow 60">
                    <a:extLst>
                      <a:ext uri="{FF2B5EF4-FFF2-40B4-BE49-F238E27FC236}">
                        <a16:creationId xmlns:a16="http://schemas.microsoft.com/office/drawing/2014/main" id="{5A09E638-1250-C7A3-07E9-49C845D2FEA6}"/>
                      </a:ext>
                    </a:extLst>
                  </p:cNvPr>
                  <p:cNvSpPr/>
                  <p:nvPr/>
                </p:nvSpPr>
                <p:spPr>
                  <a:xfrm>
                    <a:off x="10595883" y="1813908"/>
                    <a:ext cx="176728" cy="107842"/>
                  </a:xfrm>
                  <a:prstGeom prst="donu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8FA6742A-827D-CD7D-00D7-8CC76CCB946A}"/>
                      </a:ext>
                    </a:extLst>
                  </p:cNvPr>
                  <p:cNvSpPr txBox="1"/>
                  <p:nvPr/>
                </p:nvSpPr>
                <p:spPr>
                  <a:xfrm>
                    <a:off x="282471" y="2247632"/>
                    <a:ext cx="93006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400" dirty="0"/>
                      <a:t>Progress</a:t>
                    </a:r>
                  </a:p>
                </p:txBody>
              </p:sp>
              <p:sp>
                <p:nvSpPr>
                  <p:cNvPr id="63" name="Arrow: Down 62">
                    <a:extLst>
                      <a:ext uri="{FF2B5EF4-FFF2-40B4-BE49-F238E27FC236}">
                        <a16:creationId xmlns:a16="http://schemas.microsoft.com/office/drawing/2014/main" id="{441C62F0-BF70-3C0C-3D57-1D6C951BB4D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264699" y="2303460"/>
                    <a:ext cx="100078" cy="176728"/>
                  </a:xfrm>
                  <a:prstGeom prst="downArrow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24" name="Rectangle: Rounded Corners 1023">
                    <a:extLst>
                      <a:ext uri="{FF2B5EF4-FFF2-40B4-BE49-F238E27FC236}">
                        <a16:creationId xmlns:a16="http://schemas.microsoft.com/office/drawing/2014/main" id="{BB8814E1-B913-E77D-A961-2B96B5807C23}"/>
                      </a:ext>
                    </a:extLst>
                  </p:cNvPr>
                  <p:cNvSpPr/>
                  <p:nvPr/>
                </p:nvSpPr>
                <p:spPr>
                  <a:xfrm>
                    <a:off x="1643379" y="2237934"/>
                    <a:ext cx="10542855" cy="290810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25" name="Rectangle: Rounded Corners 1024">
                    <a:extLst>
                      <a:ext uri="{FF2B5EF4-FFF2-40B4-BE49-F238E27FC236}">
                        <a16:creationId xmlns:a16="http://schemas.microsoft.com/office/drawing/2014/main" id="{4BCA6B00-5082-EDE1-C9C5-019DB04861A7}"/>
                      </a:ext>
                    </a:extLst>
                  </p:cNvPr>
                  <p:cNvSpPr/>
                  <p:nvPr/>
                </p:nvSpPr>
                <p:spPr>
                  <a:xfrm>
                    <a:off x="1685908" y="2285174"/>
                    <a:ext cx="6126516" cy="18763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7609D594-B7D3-0B7E-5C9C-B59586BA04E0}"/>
                      </a:ext>
                    </a:extLst>
                  </p:cNvPr>
                  <p:cNvSpPr txBox="1"/>
                  <p:nvPr/>
                </p:nvSpPr>
                <p:spPr>
                  <a:xfrm>
                    <a:off x="174245" y="3824924"/>
                    <a:ext cx="1465719" cy="3245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400" b="1" dirty="0"/>
                      <a:t>PeopleStrong</a:t>
                    </a:r>
                  </a:p>
                </p:txBody>
              </p:sp>
              <p:cxnSp>
                <p:nvCxnSpPr>
                  <p:cNvPr id="1028" name="Straight Connector 1027">
                    <a:extLst>
                      <a:ext uri="{FF2B5EF4-FFF2-40B4-BE49-F238E27FC236}">
                        <a16:creationId xmlns:a16="http://schemas.microsoft.com/office/drawing/2014/main" id="{1A1E508C-658E-0EE6-6782-0E8233DA42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62216" y="3978813"/>
                    <a:ext cx="10663538" cy="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9" name="Flowchart: Connector 1028">
                    <a:extLst>
                      <a:ext uri="{FF2B5EF4-FFF2-40B4-BE49-F238E27FC236}">
                        <a16:creationId xmlns:a16="http://schemas.microsoft.com/office/drawing/2014/main" id="{E58C4E05-50DB-CB69-133E-4C1C07FD3608}"/>
                      </a:ext>
                    </a:extLst>
                  </p:cNvPr>
                  <p:cNvSpPr/>
                  <p:nvPr/>
                </p:nvSpPr>
                <p:spPr>
                  <a:xfrm>
                    <a:off x="2053033" y="3901869"/>
                    <a:ext cx="142400" cy="153888"/>
                  </a:xfrm>
                  <a:prstGeom prst="flowChartConnector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30" name="Straight Arrow Connector 1029">
                    <a:extLst>
                      <a:ext uri="{FF2B5EF4-FFF2-40B4-BE49-F238E27FC236}">
                        <a16:creationId xmlns:a16="http://schemas.microsoft.com/office/drawing/2014/main" id="{20A854F5-A9ED-02CB-536D-F9879FED34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7097" y="3292269"/>
                    <a:ext cx="0" cy="6096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1" name="TextBox 1030">
                    <a:extLst>
                      <a:ext uri="{FF2B5EF4-FFF2-40B4-BE49-F238E27FC236}">
                        <a16:creationId xmlns:a16="http://schemas.microsoft.com/office/drawing/2014/main" id="{D3EFA627-1DA5-FFA6-5753-40FB334FED3B}"/>
                      </a:ext>
                    </a:extLst>
                  </p:cNvPr>
                  <p:cNvSpPr txBox="1"/>
                  <p:nvPr/>
                </p:nvSpPr>
                <p:spPr>
                  <a:xfrm>
                    <a:off x="1565196" y="2819971"/>
                    <a:ext cx="1101324" cy="37384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Discovery Workshops &amp; End State Agreement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(6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May)</a:t>
                    </a:r>
                  </a:p>
                </p:txBody>
              </p:sp>
              <p:sp>
                <p:nvSpPr>
                  <p:cNvPr id="1032" name="Flowchart: Connector 1031">
                    <a:extLst>
                      <a:ext uri="{FF2B5EF4-FFF2-40B4-BE49-F238E27FC236}">
                        <a16:creationId xmlns:a16="http://schemas.microsoft.com/office/drawing/2014/main" id="{4EA45EFE-3B52-1EC0-7DBC-140AAB568EE2}"/>
                      </a:ext>
                    </a:extLst>
                  </p:cNvPr>
                  <p:cNvSpPr/>
                  <p:nvPr/>
                </p:nvSpPr>
                <p:spPr>
                  <a:xfrm>
                    <a:off x="3220336" y="3918158"/>
                    <a:ext cx="142400" cy="153888"/>
                  </a:xfrm>
                  <a:prstGeom prst="flowChartConnector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33" name="Straight Arrow Connector 1032">
                    <a:extLst>
                      <a:ext uri="{FF2B5EF4-FFF2-40B4-BE49-F238E27FC236}">
                        <a16:creationId xmlns:a16="http://schemas.microsoft.com/office/drawing/2014/main" id="{95D4A5CE-29B8-6EDE-5CE0-5065A5461C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1536" y="3300266"/>
                    <a:ext cx="0" cy="60960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4" name="TextBox 1033">
                    <a:extLst>
                      <a:ext uri="{FF2B5EF4-FFF2-40B4-BE49-F238E27FC236}">
                        <a16:creationId xmlns:a16="http://schemas.microsoft.com/office/drawing/2014/main" id="{B4703D72-170B-328B-7CE8-AC0B60D0D30F}"/>
                      </a:ext>
                    </a:extLst>
                  </p:cNvPr>
                  <p:cNvSpPr txBox="1"/>
                  <p:nvPr/>
                </p:nvSpPr>
                <p:spPr>
                  <a:xfrm>
                    <a:off x="2657058" y="2691657"/>
                    <a:ext cx="1155649" cy="452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Finalize UK-AI Data Mapping &amp; Transformation requirements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(25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June)</a:t>
                    </a:r>
                  </a:p>
                </p:txBody>
              </p:sp>
              <p:sp>
                <p:nvSpPr>
                  <p:cNvPr id="1035" name="Flowchart: Connector 1034">
                    <a:extLst>
                      <a:ext uri="{FF2B5EF4-FFF2-40B4-BE49-F238E27FC236}">
                        <a16:creationId xmlns:a16="http://schemas.microsoft.com/office/drawing/2014/main" id="{666174A6-A4EB-E576-07A5-C7389F94AA1A}"/>
                      </a:ext>
                    </a:extLst>
                  </p:cNvPr>
                  <p:cNvSpPr/>
                  <p:nvPr/>
                </p:nvSpPr>
                <p:spPr>
                  <a:xfrm>
                    <a:off x="3676404" y="3919372"/>
                    <a:ext cx="142400" cy="153888"/>
                  </a:xfrm>
                  <a:prstGeom prst="flowChartConnector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36" name="TextBox 1035">
                    <a:extLst>
                      <a:ext uri="{FF2B5EF4-FFF2-40B4-BE49-F238E27FC236}">
                        <a16:creationId xmlns:a16="http://schemas.microsoft.com/office/drawing/2014/main" id="{C30F5DF9-7FA8-C6F6-0D24-667112DF6F96}"/>
                      </a:ext>
                    </a:extLst>
                  </p:cNvPr>
                  <p:cNvSpPr txBox="1"/>
                  <p:nvPr/>
                </p:nvSpPr>
                <p:spPr>
                  <a:xfrm>
                    <a:off x="3220336" y="4384163"/>
                    <a:ext cx="1237737" cy="37384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HR to share UK Pay structures &amp; components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(27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June)</a:t>
                    </a:r>
                  </a:p>
                </p:txBody>
              </p:sp>
              <p:cxnSp>
                <p:nvCxnSpPr>
                  <p:cNvPr id="1037" name="Straight Arrow Connector 1036">
                    <a:extLst>
                      <a:ext uri="{FF2B5EF4-FFF2-40B4-BE49-F238E27FC236}">
                        <a16:creationId xmlns:a16="http://schemas.microsoft.com/office/drawing/2014/main" id="{643AFFFC-C9EB-D7E2-D559-FD89AA1D3A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738432" y="4103132"/>
                    <a:ext cx="0" cy="29081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8" name="TextBox 1037">
                    <a:extLst>
                      <a:ext uri="{FF2B5EF4-FFF2-40B4-BE49-F238E27FC236}">
                        <a16:creationId xmlns:a16="http://schemas.microsoft.com/office/drawing/2014/main" id="{A0530290-04F8-1918-AB9B-6C28E4F99580}"/>
                      </a:ext>
                    </a:extLst>
                  </p:cNvPr>
                  <p:cNvSpPr txBox="1"/>
                  <p:nvPr/>
                </p:nvSpPr>
                <p:spPr>
                  <a:xfrm>
                    <a:off x="5094741" y="4370310"/>
                    <a:ext cx="913617" cy="452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Contract Signing of PS License contract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(4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Sep)</a:t>
                    </a:r>
                  </a:p>
                </p:txBody>
              </p:sp>
              <p:sp>
                <p:nvSpPr>
                  <p:cNvPr id="1039" name="Flowchart: Connector 1038">
                    <a:extLst>
                      <a:ext uri="{FF2B5EF4-FFF2-40B4-BE49-F238E27FC236}">
                        <a16:creationId xmlns:a16="http://schemas.microsoft.com/office/drawing/2014/main" id="{6EA3AAC2-EA63-43DC-4F45-CC6712F216C8}"/>
                      </a:ext>
                    </a:extLst>
                  </p:cNvPr>
                  <p:cNvSpPr/>
                  <p:nvPr/>
                </p:nvSpPr>
                <p:spPr>
                  <a:xfrm>
                    <a:off x="7016439" y="3918224"/>
                    <a:ext cx="142400" cy="153888"/>
                  </a:xfrm>
                  <a:prstGeom prst="flowChartConnector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40" name="Straight Arrow Connector 1039">
                    <a:extLst>
                      <a:ext uri="{FF2B5EF4-FFF2-40B4-BE49-F238E27FC236}">
                        <a16:creationId xmlns:a16="http://schemas.microsoft.com/office/drawing/2014/main" id="{B9228B76-A04E-D69A-7238-5121B75B8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7916" y="3316870"/>
                    <a:ext cx="0" cy="55954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1" name="TextBox 1040">
                    <a:extLst>
                      <a:ext uri="{FF2B5EF4-FFF2-40B4-BE49-F238E27FC236}">
                        <a16:creationId xmlns:a16="http://schemas.microsoft.com/office/drawing/2014/main" id="{0D097819-232E-810E-974C-8ACAB6874CC5}"/>
                      </a:ext>
                    </a:extLst>
                  </p:cNvPr>
                  <p:cNvSpPr txBox="1"/>
                  <p:nvPr/>
                </p:nvSpPr>
                <p:spPr>
                  <a:xfrm>
                    <a:off x="6876212" y="2996563"/>
                    <a:ext cx="869665" cy="216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End </a:t>
                    </a:r>
                    <a:b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</a:b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(20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Sep)</a:t>
                    </a:r>
                  </a:p>
                </p:txBody>
              </p:sp>
              <p:cxnSp>
                <p:nvCxnSpPr>
                  <p:cNvPr id="1042" name="Straight Arrow Connector 1041">
                    <a:extLst>
                      <a:ext uri="{FF2B5EF4-FFF2-40B4-BE49-F238E27FC236}">
                        <a16:creationId xmlns:a16="http://schemas.microsoft.com/office/drawing/2014/main" id="{63C93F89-AB3B-F65B-6449-A232BB63F0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34376" y="4070352"/>
                    <a:ext cx="0" cy="30794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3" name="Flowchart: Connector 1042">
                    <a:extLst>
                      <a:ext uri="{FF2B5EF4-FFF2-40B4-BE49-F238E27FC236}">
                        <a16:creationId xmlns:a16="http://schemas.microsoft.com/office/drawing/2014/main" id="{BB26212D-2CFB-516F-0E5A-E11504F857D1}"/>
                      </a:ext>
                    </a:extLst>
                  </p:cNvPr>
                  <p:cNvSpPr/>
                  <p:nvPr/>
                </p:nvSpPr>
                <p:spPr>
                  <a:xfrm>
                    <a:off x="6157662" y="3910637"/>
                    <a:ext cx="142400" cy="153888"/>
                  </a:xfrm>
                  <a:prstGeom prst="flowChartConnector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44" name="Straight Arrow Connector 1043">
                    <a:extLst>
                      <a:ext uri="{FF2B5EF4-FFF2-40B4-BE49-F238E27FC236}">
                        <a16:creationId xmlns:a16="http://schemas.microsoft.com/office/drawing/2014/main" id="{03466667-132B-1DDF-D51F-F1A1E844B3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19265" y="3329435"/>
                    <a:ext cx="6022" cy="5806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5" name="TextBox 1044">
                    <a:extLst>
                      <a:ext uri="{FF2B5EF4-FFF2-40B4-BE49-F238E27FC236}">
                        <a16:creationId xmlns:a16="http://schemas.microsoft.com/office/drawing/2014/main" id="{106631D7-3949-A1E9-2972-0E2A02634F3D}"/>
                      </a:ext>
                    </a:extLst>
                  </p:cNvPr>
                  <p:cNvSpPr txBox="1"/>
                  <p:nvPr/>
                </p:nvSpPr>
                <p:spPr>
                  <a:xfrm>
                    <a:off x="5805392" y="3010248"/>
                    <a:ext cx="727729" cy="216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Start </a:t>
                    </a:r>
                    <a:b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</a:b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(6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Sep)</a:t>
                    </a:r>
                  </a:p>
                </p:txBody>
              </p:sp>
              <p:cxnSp>
                <p:nvCxnSpPr>
                  <p:cNvPr id="1046" name="Straight Arrow Connector 1045">
                    <a:extLst>
                      <a:ext uri="{FF2B5EF4-FFF2-40B4-BE49-F238E27FC236}">
                        <a16:creationId xmlns:a16="http://schemas.microsoft.com/office/drawing/2014/main" id="{5CFC58A8-4848-FFE7-39F0-016AB3A973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53694" y="3430771"/>
                    <a:ext cx="745235" cy="0"/>
                  </a:xfrm>
                  <a:prstGeom prst="straightConnector1">
                    <a:avLst/>
                  </a:prstGeom>
                  <a:ln>
                    <a:prstDash val="lgDashDotDot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7" name="Flowchart: Connector 1046">
                    <a:extLst>
                      <a:ext uri="{FF2B5EF4-FFF2-40B4-BE49-F238E27FC236}">
                        <a16:creationId xmlns:a16="http://schemas.microsoft.com/office/drawing/2014/main" id="{DD948AE3-E6B7-3E33-791D-61A5DEB287EF}"/>
                      </a:ext>
                    </a:extLst>
                  </p:cNvPr>
                  <p:cNvSpPr/>
                  <p:nvPr/>
                </p:nvSpPr>
                <p:spPr>
                  <a:xfrm>
                    <a:off x="8936176" y="3889222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48" name="Straight Arrow Connector 1047">
                    <a:extLst>
                      <a:ext uri="{FF2B5EF4-FFF2-40B4-BE49-F238E27FC236}">
                        <a16:creationId xmlns:a16="http://schemas.microsoft.com/office/drawing/2014/main" id="{18950875-E025-C210-A1BF-CCF15E2370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94433" y="3450424"/>
                    <a:ext cx="5460" cy="3880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9" name="TextBox 1048">
                    <a:extLst>
                      <a:ext uri="{FF2B5EF4-FFF2-40B4-BE49-F238E27FC236}">
                        <a16:creationId xmlns:a16="http://schemas.microsoft.com/office/drawing/2014/main" id="{00D73491-6528-81A7-3687-DC4BFEE69DDE}"/>
                      </a:ext>
                    </a:extLst>
                  </p:cNvPr>
                  <p:cNvSpPr txBox="1"/>
                  <p:nvPr/>
                </p:nvSpPr>
                <p:spPr>
                  <a:xfrm>
                    <a:off x="8651768" y="3151940"/>
                    <a:ext cx="785901" cy="3411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Start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nd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Oct)</a:t>
                    </a:r>
                  </a:p>
                </p:txBody>
              </p:sp>
              <p:sp>
                <p:nvSpPr>
                  <p:cNvPr id="1050" name="Flowchart: Connector 1049">
                    <a:extLst>
                      <a:ext uri="{FF2B5EF4-FFF2-40B4-BE49-F238E27FC236}">
                        <a16:creationId xmlns:a16="http://schemas.microsoft.com/office/drawing/2014/main" id="{5E999249-0290-4189-7C31-561587C21A88}"/>
                      </a:ext>
                    </a:extLst>
                  </p:cNvPr>
                  <p:cNvSpPr/>
                  <p:nvPr/>
                </p:nvSpPr>
                <p:spPr>
                  <a:xfrm>
                    <a:off x="9410360" y="3890545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51" name="Straight Arrow Connector 1050">
                    <a:extLst>
                      <a:ext uri="{FF2B5EF4-FFF2-40B4-BE49-F238E27FC236}">
                        <a16:creationId xmlns:a16="http://schemas.microsoft.com/office/drawing/2014/main" id="{7CF69116-9EB2-911D-1E18-1C02A0FB7F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468618" y="3466259"/>
                    <a:ext cx="5460" cy="3880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2" name="TextBox 1051">
                    <a:extLst>
                      <a:ext uri="{FF2B5EF4-FFF2-40B4-BE49-F238E27FC236}">
                        <a16:creationId xmlns:a16="http://schemas.microsoft.com/office/drawing/2014/main" id="{B6273F88-C245-4389-97CC-237BF7387812}"/>
                      </a:ext>
                    </a:extLst>
                  </p:cNvPr>
                  <p:cNvSpPr txBox="1"/>
                  <p:nvPr/>
                </p:nvSpPr>
                <p:spPr>
                  <a:xfrm>
                    <a:off x="9227055" y="3156722"/>
                    <a:ext cx="749931" cy="3411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End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(9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Oct)</a:t>
                    </a:r>
                  </a:p>
                </p:txBody>
              </p:sp>
              <p:cxnSp>
                <p:nvCxnSpPr>
                  <p:cNvPr id="1053" name="Straight Arrow Connector 1052">
                    <a:extLst>
                      <a:ext uri="{FF2B5EF4-FFF2-40B4-BE49-F238E27FC236}">
                        <a16:creationId xmlns:a16="http://schemas.microsoft.com/office/drawing/2014/main" id="{8DC2DDE0-F167-CF6A-9B8E-52F1087779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35714" y="3613215"/>
                    <a:ext cx="374646" cy="5916"/>
                  </a:xfrm>
                  <a:prstGeom prst="straightConnector1">
                    <a:avLst/>
                  </a:prstGeom>
                  <a:ln>
                    <a:prstDash val="lgDashDotDot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4" name="Flowchart: Connector 1053">
                    <a:extLst>
                      <a:ext uri="{FF2B5EF4-FFF2-40B4-BE49-F238E27FC236}">
                        <a16:creationId xmlns:a16="http://schemas.microsoft.com/office/drawing/2014/main" id="{38546A3C-D37D-859F-116B-9E2835AFF1BA}"/>
                      </a:ext>
                    </a:extLst>
                  </p:cNvPr>
                  <p:cNvSpPr/>
                  <p:nvPr/>
                </p:nvSpPr>
                <p:spPr>
                  <a:xfrm>
                    <a:off x="10608870" y="3894762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055" name="TextBox 1054">
                    <a:extLst>
                      <a:ext uri="{FF2B5EF4-FFF2-40B4-BE49-F238E27FC236}">
                        <a16:creationId xmlns:a16="http://schemas.microsoft.com/office/drawing/2014/main" id="{1327E3C4-61D1-B646-2B0D-1796EB754B3A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1367" y="4291605"/>
                    <a:ext cx="858386" cy="713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Historical payroll data migration completion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(31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Oct)</a:t>
                    </a:r>
                  </a:p>
                </p:txBody>
              </p:sp>
              <p:sp>
                <p:nvSpPr>
                  <p:cNvPr id="1056" name="Flowchart: Connector 1055">
                    <a:extLst>
                      <a:ext uri="{FF2B5EF4-FFF2-40B4-BE49-F238E27FC236}">
                        <a16:creationId xmlns:a16="http://schemas.microsoft.com/office/drawing/2014/main" id="{81DAF097-5513-3788-8BEC-C50EF5263290}"/>
                      </a:ext>
                    </a:extLst>
                  </p:cNvPr>
                  <p:cNvSpPr/>
                  <p:nvPr/>
                </p:nvSpPr>
                <p:spPr>
                  <a:xfrm>
                    <a:off x="11388152" y="3878596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57" name="TextBox 1056">
                    <a:extLst>
                      <a:ext uri="{FF2B5EF4-FFF2-40B4-BE49-F238E27FC236}">
                        <a16:creationId xmlns:a16="http://schemas.microsoft.com/office/drawing/2014/main" id="{B9E00D97-6980-F806-C96D-46411CCE7760}"/>
                      </a:ext>
                    </a:extLst>
                  </p:cNvPr>
                  <p:cNvSpPr txBox="1"/>
                  <p:nvPr/>
                </p:nvSpPr>
                <p:spPr>
                  <a:xfrm>
                    <a:off x="11406452" y="3247894"/>
                    <a:ext cx="1129842" cy="2951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</a:rPr>
                      <a:t>Live Payroll Processing 12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</a:rPr>
                      <a:t> Nov onwards -&gt;</a:t>
                    </a:r>
                  </a:p>
                </p:txBody>
              </p:sp>
              <p:cxnSp>
                <p:nvCxnSpPr>
                  <p:cNvPr id="1058" name="Straight Arrow Connector 1057">
                    <a:extLst>
                      <a:ext uri="{FF2B5EF4-FFF2-40B4-BE49-F238E27FC236}">
                        <a16:creationId xmlns:a16="http://schemas.microsoft.com/office/drawing/2014/main" id="{2667A250-83A8-5AD1-5810-5A7256AA7E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670927" y="4060247"/>
                    <a:ext cx="0" cy="29081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9" name="Flowchart: Connector 1058">
                    <a:extLst>
                      <a:ext uri="{FF2B5EF4-FFF2-40B4-BE49-F238E27FC236}">
                        <a16:creationId xmlns:a16="http://schemas.microsoft.com/office/drawing/2014/main" id="{A1FE6292-E682-DA06-01F2-2D4955041FB3}"/>
                      </a:ext>
                    </a:extLst>
                  </p:cNvPr>
                  <p:cNvSpPr/>
                  <p:nvPr/>
                </p:nvSpPr>
                <p:spPr>
                  <a:xfrm>
                    <a:off x="9947863" y="3887857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60" name="Straight Arrow Connector 1059">
                    <a:extLst>
                      <a:ext uri="{FF2B5EF4-FFF2-40B4-BE49-F238E27FC236}">
                        <a16:creationId xmlns:a16="http://schemas.microsoft.com/office/drawing/2014/main" id="{8698FA5A-7306-7DB1-A853-A174A67631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06122" y="3430771"/>
                    <a:ext cx="5460" cy="3880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61" name="TextBox 1060">
                    <a:extLst>
                      <a:ext uri="{FF2B5EF4-FFF2-40B4-BE49-F238E27FC236}">
                        <a16:creationId xmlns:a16="http://schemas.microsoft.com/office/drawing/2014/main" id="{A2E57D94-DE8B-60EB-0F83-807767672E25}"/>
                      </a:ext>
                    </a:extLst>
                  </p:cNvPr>
                  <p:cNvSpPr txBox="1"/>
                  <p:nvPr/>
                </p:nvSpPr>
                <p:spPr>
                  <a:xfrm>
                    <a:off x="9677347" y="3112960"/>
                    <a:ext cx="715718" cy="3411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Start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(21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Oct)</a:t>
                    </a:r>
                  </a:p>
                </p:txBody>
              </p:sp>
              <p:sp>
                <p:nvSpPr>
                  <p:cNvPr id="1062" name="Flowchart: Connector 1061">
                    <a:extLst>
                      <a:ext uri="{FF2B5EF4-FFF2-40B4-BE49-F238E27FC236}">
                        <a16:creationId xmlns:a16="http://schemas.microsoft.com/office/drawing/2014/main" id="{2B70BFF0-598D-E4C5-1B90-2FFD2FDD634A}"/>
                      </a:ext>
                    </a:extLst>
                  </p:cNvPr>
                  <p:cNvSpPr/>
                  <p:nvPr/>
                </p:nvSpPr>
                <p:spPr>
                  <a:xfrm>
                    <a:off x="10356151" y="3877740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63" name="Straight Arrow Connector 1062">
                    <a:extLst>
                      <a:ext uri="{FF2B5EF4-FFF2-40B4-BE49-F238E27FC236}">
                        <a16:creationId xmlns:a16="http://schemas.microsoft.com/office/drawing/2014/main" id="{5CB52B9B-9AC6-B776-C390-3BEA41CBFE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432697" y="3426022"/>
                    <a:ext cx="5460" cy="3880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64" name="TextBox 1063">
                    <a:extLst>
                      <a:ext uri="{FF2B5EF4-FFF2-40B4-BE49-F238E27FC236}">
                        <a16:creationId xmlns:a16="http://schemas.microsoft.com/office/drawing/2014/main" id="{134CB269-A4EF-B27B-3FD4-BEBD3115C72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94022" y="3102513"/>
                    <a:ext cx="722821" cy="3411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End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(28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th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Oct)</a:t>
                    </a:r>
                  </a:p>
                </p:txBody>
              </p:sp>
              <p:cxnSp>
                <p:nvCxnSpPr>
                  <p:cNvPr id="1065" name="Straight Arrow Connector 1064">
                    <a:extLst>
                      <a:ext uri="{FF2B5EF4-FFF2-40B4-BE49-F238E27FC236}">
                        <a16:creationId xmlns:a16="http://schemas.microsoft.com/office/drawing/2014/main" id="{FDE9629A-0FAA-5084-0E4D-418EF97D76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21396" y="3611448"/>
                    <a:ext cx="402157" cy="7683"/>
                  </a:xfrm>
                  <a:prstGeom prst="straightConnector1">
                    <a:avLst/>
                  </a:prstGeom>
                  <a:ln>
                    <a:prstDash val="lgDashDotDot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6" name="Straight Arrow Connector 1065">
                    <a:extLst>
                      <a:ext uri="{FF2B5EF4-FFF2-40B4-BE49-F238E27FC236}">
                        <a16:creationId xmlns:a16="http://schemas.microsoft.com/office/drawing/2014/main" id="{F02E6F41-2045-5BC9-7E3E-02CDED0197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454909" y="3426022"/>
                    <a:ext cx="0" cy="45466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67" name="TextBox 1066">
                    <a:extLst>
                      <a:ext uri="{FF2B5EF4-FFF2-40B4-BE49-F238E27FC236}">
                        <a16:creationId xmlns:a16="http://schemas.microsoft.com/office/drawing/2014/main" id="{B4130528-8E12-A6F7-5D0F-11306DE19B5D}"/>
                      </a:ext>
                    </a:extLst>
                  </p:cNvPr>
                  <p:cNvSpPr txBox="1"/>
                  <p:nvPr/>
                </p:nvSpPr>
                <p:spPr>
                  <a:xfrm>
                    <a:off x="75112" y="2730113"/>
                    <a:ext cx="15648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sz="1400" b="1" dirty="0"/>
                      <a:t>HR Tech System</a:t>
                    </a:r>
                  </a:p>
                </p:txBody>
              </p:sp>
              <p:sp>
                <p:nvSpPr>
                  <p:cNvPr id="1068" name="Arrow: Down 1067">
                    <a:extLst>
                      <a:ext uri="{FF2B5EF4-FFF2-40B4-BE49-F238E27FC236}">
                        <a16:creationId xmlns:a16="http://schemas.microsoft.com/office/drawing/2014/main" id="{01774CA5-C747-2C4D-E419-9DB3D372A8A3}"/>
                      </a:ext>
                    </a:extLst>
                  </p:cNvPr>
                  <p:cNvSpPr/>
                  <p:nvPr/>
                </p:nvSpPr>
                <p:spPr>
                  <a:xfrm>
                    <a:off x="772478" y="3037891"/>
                    <a:ext cx="100078" cy="176728"/>
                  </a:xfrm>
                  <a:prstGeom prst="down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69" name="Flowchart: Connector 1068">
                    <a:extLst>
                      <a:ext uri="{FF2B5EF4-FFF2-40B4-BE49-F238E27FC236}">
                        <a16:creationId xmlns:a16="http://schemas.microsoft.com/office/drawing/2014/main" id="{45429009-6CEF-028C-8FE1-1FC9DB17FE73}"/>
                      </a:ext>
                    </a:extLst>
                  </p:cNvPr>
                  <p:cNvSpPr/>
                  <p:nvPr/>
                </p:nvSpPr>
                <p:spPr>
                  <a:xfrm>
                    <a:off x="5364290" y="3903363"/>
                    <a:ext cx="142400" cy="153888"/>
                  </a:xfrm>
                  <a:prstGeom prst="flowChartConnector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70" name="Flowchart: Connector 1069">
                    <a:extLst>
                      <a:ext uri="{FF2B5EF4-FFF2-40B4-BE49-F238E27FC236}">
                        <a16:creationId xmlns:a16="http://schemas.microsoft.com/office/drawing/2014/main" id="{C0ABC715-9A2F-C5E9-8FE7-213F27E471F6}"/>
                      </a:ext>
                    </a:extLst>
                  </p:cNvPr>
                  <p:cNvSpPr/>
                  <p:nvPr/>
                </p:nvSpPr>
                <p:spPr>
                  <a:xfrm>
                    <a:off x="7754167" y="3890669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71" name="Straight Arrow Connector 1070">
                    <a:extLst>
                      <a:ext uri="{FF2B5EF4-FFF2-40B4-BE49-F238E27FC236}">
                        <a16:creationId xmlns:a16="http://schemas.microsoft.com/office/drawing/2014/main" id="{9440D39D-2DAE-340F-F065-21E7C68076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12425" y="3430101"/>
                    <a:ext cx="5460" cy="3880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2" name="TextBox 1071">
                    <a:extLst>
                      <a:ext uri="{FF2B5EF4-FFF2-40B4-BE49-F238E27FC236}">
                        <a16:creationId xmlns:a16="http://schemas.microsoft.com/office/drawing/2014/main" id="{84FC4A20-5E65-73F9-D894-F8FC756CD8B1}"/>
                      </a:ext>
                    </a:extLst>
                  </p:cNvPr>
                  <p:cNvSpPr txBox="1"/>
                  <p:nvPr/>
                </p:nvSpPr>
                <p:spPr>
                  <a:xfrm>
                    <a:off x="7505997" y="3156058"/>
                    <a:ext cx="785901" cy="216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Start</a:t>
                    </a:r>
                  </a:p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(23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rd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Sep)</a:t>
                    </a:r>
                  </a:p>
                </p:txBody>
              </p:sp>
              <p:sp>
                <p:nvSpPr>
                  <p:cNvPr id="1073" name="Flowchart: Connector 1072">
                    <a:extLst>
                      <a:ext uri="{FF2B5EF4-FFF2-40B4-BE49-F238E27FC236}">
                        <a16:creationId xmlns:a16="http://schemas.microsoft.com/office/drawing/2014/main" id="{5B3079AD-6B99-2821-252F-22705C88763E}"/>
                      </a:ext>
                    </a:extLst>
                  </p:cNvPr>
                  <p:cNvSpPr/>
                  <p:nvPr/>
                </p:nvSpPr>
                <p:spPr>
                  <a:xfrm>
                    <a:off x="8463182" y="3910655"/>
                    <a:ext cx="142400" cy="153888"/>
                  </a:xfrm>
                  <a:prstGeom prst="flowChartConnector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074" name="Straight Arrow Connector 1073">
                    <a:extLst>
                      <a:ext uri="{FF2B5EF4-FFF2-40B4-BE49-F238E27FC236}">
                        <a16:creationId xmlns:a16="http://schemas.microsoft.com/office/drawing/2014/main" id="{F75E839A-FFB1-40C5-0684-A1BE955DCB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21440" y="3464599"/>
                    <a:ext cx="5460" cy="38802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5" name="TextBox 1074">
                    <a:extLst>
                      <a:ext uri="{FF2B5EF4-FFF2-40B4-BE49-F238E27FC236}">
                        <a16:creationId xmlns:a16="http://schemas.microsoft.com/office/drawing/2014/main" id="{694D35A4-B11E-EC1E-23AF-AB90013E32AD}"/>
                      </a:ext>
                    </a:extLst>
                  </p:cNvPr>
                  <p:cNvSpPr txBox="1"/>
                  <p:nvPr/>
                </p:nvSpPr>
                <p:spPr>
                  <a:xfrm>
                    <a:off x="8160568" y="3142941"/>
                    <a:ext cx="812602" cy="2164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End </a:t>
                    </a:r>
                    <a:b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</a:b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(1</a:t>
                    </a:r>
                    <a:r>
                      <a:rPr lang="en-IN" sz="800" b="1" baseline="300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</a:t>
                    </a:r>
                    <a:r>
                      <a:rPr lang="en-IN" sz="800" b="1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 Oct)</a:t>
                    </a:r>
                  </a:p>
                </p:txBody>
              </p:sp>
              <p:cxnSp>
                <p:nvCxnSpPr>
                  <p:cNvPr id="1076" name="Straight Arrow Connector 1075">
                    <a:extLst>
                      <a:ext uri="{FF2B5EF4-FFF2-40B4-BE49-F238E27FC236}">
                        <a16:creationId xmlns:a16="http://schemas.microsoft.com/office/drawing/2014/main" id="{7E6D1D1F-E03A-27F0-1C09-14ED01F8B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44562" y="3592892"/>
                    <a:ext cx="642099" cy="0"/>
                  </a:xfrm>
                  <a:prstGeom prst="straightConnector1">
                    <a:avLst/>
                  </a:prstGeom>
                  <a:ln>
                    <a:prstDash val="lgDashDotDot"/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589888B7-2204-D11F-ADA6-FB788B5FB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34376" y="3262505"/>
                  <a:ext cx="1762" cy="67071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FBD9B6D-4F39-3207-1A04-40AB1C8FEB0F}"/>
                    </a:ext>
                  </a:extLst>
                </p:cNvPr>
                <p:cNvSpPr txBox="1"/>
                <p:nvPr/>
              </p:nvSpPr>
              <p:spPr>
                <a:xfrm>
                  <a:off x="5037679" y="2319447"/>
                  <a:ext cx="869665" cy="6336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</a:rPr>
                    <a:t>Merger Documents Sign-off from HR</a:t>
                  </a:r>
                </a:p>
                <a:p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</a:rPr>
                    <a:t>(4</a:t>
                  </a:r>
                  <a:r>
                    <a:rPr lang="en-IN" sz="800" b="1" baseline="30000" dirty="0">
                      <a:solidFill>
                        <a:schemeClr val="tx2">
                          <a:lumMod val="50000"/>
                        </a:schemeClr>
                      </a:solidFill>
                    </a:rPr>
                    <a:t>th</a:t>
                  </a:r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</a:rPr>
                    <a:t> Sep)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8B70DC0-2C16-E9D7-3270-1F5ADFF8FC01}"/>
                    </a:ext>
                  </a:extLst>
                </p:cNvPr>
                <p:cNvSpPr txBox="1"/>
                <p:nvPr/>
              </p:nvSpPr>
              <p:spPr>
                <a:xfrm>
                  <a:off x="11511462" y="3860759"/>
                  <a:ext cx="1129842" cy="1928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  <a:highlight>
                        <a:srgbClr val="FFFF00"/>
                      </a:highlight>
                    </a:rPr>
                    <a:t>12</a:t>
                  </a:r>
                  <a:r>
                    <a:rPr lang="en-IN" sz="800" b="1" baseline="30000" dirty="0">
                      <a:solidFill>
                        <a:schemeClr val="tx2">
                          <a:lumMod val="50000"/>
                        </a:schemeClr>
                      </a:solidFill>
                      <a:highlight>
                        <a:srgbClr val="FFFF00"/>
                      </a:highlight>
                    </a:rPr>
                    <a:t>th</a:t>
                  </a:r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  <a:highlight>
                        <a:srgbClr val="FFFF00"/>
                      </a:highlight>
                    </a:rPr>
                    <a:t> NOV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26B1538-B5F6-ED49-2806-A6879A17D0F0}"/>
                    </a:ext>
                  </a:extLst>
                </p:cNvPr>
                <p:cNvSpPr/>
                <p:nvPr/>
              </p:nvSpPr>
              <p:spPr>
                <a:xfrm>
                  <a:off x="7444084" y="2447215"/>
                  <a:ext cx="1294094" cy="3203290"/>
                </a:xfrm>
                <a:prstGeom prst="rect">
                  <a:avLst/>
                </a:prstGeom>
                <a:noFill/>
                <a:ln>
                  <a:prstDash val="lgDashDot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4B6F0BF-6ADE-61D3-50AB-E350D1DFE550}"/>
                    </a:ext>
                  </a:extLst>
                </p:cNvPr>
                <p:cNvSpPr txBox="1"/>
                <p:nvPr/>
              </p:nvSpPr>
              <p:spPr>
                <a:xfrm>
                  <a:off x="7529210" y="2019925"/>
                  <a:ext cx="1209162" cy="4132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  <a:highlight>
                        <a:srgbClr val="FFFF00"/>
                      </a:highlight>
                    </a:rPr>
                    <a:t>Aug Parallel payroll mock run &amp; data validation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5370A07-7329-DB8B-F0EE-6C82B4A659E3}"/>
                    </a:ext>
                  </a:extLst>
                </p:cNvPr>
                <p:cNvSpPr/>
                <p:nvPr/>
              </p:nvSpPr>
              <p:spPr>
                <a:xfrm>
                  <a:off x="8738372" y="2447864"/>
                  <a:ext cx="983443" cy="3203291"/>
                </a:xfrm>
                <a:prstGeom prst="rect">
                  <a:avLst/>
                </a:prstGeom>
                <a:noFill/>
                <a:ln>
                  <a:prstDash val="lgDashDot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F58DFC3-5229-655E-F81C-FA8E450C92C8}"/>
                    </a:ext>
                  </a:extLst>
                </p:cNvPr>
                <p:cNvSpPr txBox="1"/>
                <p:nvPr/>
              </p:nvSpPr>
              <p:spPr>
                <a:xfrm>
                  <a:off x="8617949" y="2035936"/>
                  <a:ext cx="1215335" cy="4132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  <a:highlight>
                        <a:srgbClr val="FFFF00"/>
                      </a:highlight>
                    </a:rPr>
                    <a:t>Sep Parallel payroll mock run &amp; data validation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CF7B749-5210-6601-E6A8-9B885AC1E391}"/>
                    </a:ext>
                  </a:extLst>
                </p:cNvPr>
                <p:cNvSpPr/>
                <p:nvPr/>
              </p:nvSpPr>
              <p:spPr>
                <a:xfrm>
                  <a:off x="9721817" y="2453729"/>
                  <a:ext cx="1096038" cy="3203291"/>
                </a:xfrm>
                <a:prstGeom prst="rect">
                  <a:avLst/>
                </a:prstGeom>
                <a:noFill/>
                <a:ln>
                  <a:prstDash val="lgDashDot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7D8976E-BD30-1115-5470-C4919E96A2D0}"/>
                    </a:ext>
                  </a:extLst>
                </p:cNvPr>
                <p:cNvSpPr txBox="1"/>
                <p:nvPr/>
              </p:nvSpPr>
              <p:spPr>
                <a:xfrm>
                  <a:off x="9783675" y="2047029"/>
                  <a:ext cx="1211641" cy="4132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  <a:highlight>
                        <a:srgbClr val="FFFF00"/>
                      </a:highlight>
                    </a:rPr>
                    <a:t>Oct Parallel payroll mock run &amp; data validation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DD87A4C-90B3-A461-19C3-162768951F64}"/>
                    </a:ext>
                  </a:extLst>
                </p:cNvPr>
                <p:cNvSpPr txBox="1"/>
                <p:nvPr/>
              </p:nvSpPr>
              <p:spPr>
                <a:xfrm>
                  <a:off x="5938908" y="2019925"/>
                  <a:ext cx="1412840" cy="7225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800" b="1" dirty="0">
                      <a:solidFill>
                        <a:schemeClr val="tx2">
                          <a:lumMod val="50000"/>
                        </a:schemeClr>
                      </a:solidFill>
                    </a:rPr>
                    <a:t>Configuration of UK pay components &amp; structures in AI PS test instance</a:t>
                  </a:r>
                </a:p>
              </p:txBody>
            </p:sp>
            <p:sp>
              <p:nvSpPr>
                <p:cNvPr id="42" name="Arrow: Down 41">
                  <a:extLst>
                    <a:ext uri="{FF2B5EF4-FFF2-40B4-BE49-F238E27FC236}">
                      <a16:creationId xmlns:a16="http://schemas.microsoft.com/office/drawing/2014/main" id="{6630AEB8-DCDD-A33E-3849-C2431E3F4D35}"/>
                    </a:ext>
                  </a:extLst>
                </p:cNvPr>
                <p:cNvSpPr/>
                <p:nvPr/>
              </p:nvSpPr>
              <p:spPr>
                <a:xfrm>
                  <a:off x="7570203" y="1100177"/>
                  <a:ext cx="419965" cy="482773"/>
                </a:xfrm>
                <a:prstGeom prst="downArrow">
                  <a:avLst/>
                </a:prstGeom>
                <a:solidFill>
                  <a:srgbClr val="C9DF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B544D4A-7E01-C5A6-85C3-91200DD91508}"/>
                    </a:ext>
                  </a:extLst>
                </p:cNvPr>
                <p:cNvSpPr txBox="1"/>
                <p:nvPr/>
              </p:nvSpPr>
              <p:spPr>
                <a:xfrm>
                  <a:off x="6650366" y="1056930"/>
                  <a:ext cx="1112694" cy="386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100" b="1" dirty="0"/>
                    <a:t>We are here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268E7FF-39FA-8038-34D2-E41E48C7525B}"/>
                    </a:ext>
                  </a:extLst>
                </p:cNvPr>
                <p:cNvSpPr txBox="1"/>
                <p:nvPr/>
              </p:nvSpPr>
              <p:spPr>
                <a:xfrm>
                  <a:off x="7479189" y="792625"/>
                  <a:ext cx="813152" cy="325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900" b="1" dirty="0"/>
                    <a:t>23rd Sep</a:t>
                  </a:r>
                </a:p>
              </p:txBody>
            </p: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7D81EFC-A0F4-6C00-DD8B-B1FE844A7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32947" y="4797013"/>
                <a:ext cx="0" cy="4816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Flowchart: Connector 8">
                <a:extLst>
                  <a:ext uri="{FF2B5EF4-FFF2-40B4-BE49-F238E27FC236}">
                    <a16:creationId xmlns:a16="http://schemas.microsoft.com/office/drawing/2014/main" id="{ADFC646C-A76F-D72E-6780-537A76F625CE}"/>
                  </a:ext>
                </a:extLst>
              </p:cNvPr>
              <p:cNvSpPr/>
              <p:nvPr/>
            </p:nvSpPr>
            <p:spPr>
              <a:xfrm>
                <a:off x="8690569" y="4545081"/>
                <a:ext cx="137963" cy="240713"/>
              </a:xfrm>
              <a:prstGeom prst="flowChartConnector">
                <a:avLst/>
              </a:prstGeom>
              <a:solidFill>
                <a:srgbClr val="F2E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89F876-B8E5-6A18-7140-214862AFB31A}"/>
                  </a:ext>
                </a:extLst>
              </p:cNvPr>
              <p:cNvSpPr txBox="1"/>
              <p:nvPr/>
            </p:nvSpPr>
            <p:spPr>
              <a:xfrm>
                <a:off x="8384308" y="5211517"/>
                <a:ext cx="79473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b="1" dirty="0">
                    <a:solidFill>
                      <a:srgbClr val="0000CC"/>
                    </a:solidFill>
                  </a:rPr>
                  <a:t>CAE Mock Run Completion</a:t>
                </a:r>
              </a:p>
              <a:p>
                <a:r>
                  <a:rPr lang="en-IN" sz="800" b="1" dirty="0">
                    <a:solidFill>
                      <a:srgbClr val="0000CC"/>
                    </a:solidFill>
                  </a:rPr>
                  <a:t>(2</a:t>
                </a:r>
                <a:r>
                  <a:rPr lang="en-IN" sz="800" b="1" baseline="30000" dirty="0">
                    <a:solidFill>
                      <a:srgbClr val="0000CC"/>
                    </a:solidFill>
                  </a:rPr>
                  <a:t>nd</a:t>
                </a:r>
                <a:r>
                  <a:rPr lang="en-IN" sz="800" b="1" dirty="0">
                    <a:solidFill>
                      <a:srgbClr val="0000CC"/>
                    </a:solidFill>
                  </a:rPr>
                  <a:t> Oct)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A94AD76-67BA-1A58-2504-5B4F915565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50691" y="4759521"/>
                <a:ext cx="0" cy="454890"/>
              </a:xfrm>
              <a:prstGeom prst="straightConnector1">
                <a:avLst/>
              </a:prstGeom>
              <a:ln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AF7EC4B5-FA37-A1E8-A905-07B05FB1988B}"/>
                  </a:ext>
                </a:extLst>
              </p:cNvPr>
              <p:cNvSpPr/>
              <p:nvPr/>
            </p:nvSpPr>
            <p:spPr>
              <a:xfrm>
                <a:off x="10277695" y="4542056"/>
                <a:ext cx="137963" cy="240713"/>
              </a:xfrm>
              <a:prstGeom prst="flowChartConnector">
                <a:avLst/>
              </a:prstGeom>
              <a:solidFill>
                <a:srgbClr val="F2E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73828A-9810-A2E0-E2FD-7AF30983B057}"/>
                  </a:ext>
                </a:extLst>
              </p:cNvPr>
              <p:cNvSpPr txBox="1"/>
              <p:nvPr/>
            </p:nvSpPr>
            <p:spPr>
              <a:xfrm>
                <a:off x="9565285" y="6658892"/>
                <a:ext cx="2488433" cy="338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 b="1" dirty="0">
                    <a:solidFill>
                      <a:srgbClr val="0000CC"/>
                    </a:solidFill>
                  </a:rPr>
                  <a:t>Parallel Run between UK ARMS &amp; AI CAE</a:t>
                </a:r>
              </a:p>
              <a:p>
                <a:pPr algn="ctr"/>
                <a:r>
                  <a:rPr lang="en-IN" sz="800" b="1" dirty="0">
                    <a:solidFill>
                      <a:srgbClr val="0000CC"/>
                    </a:solidFill>
                  </a:rPr>
                  <a:t>(28</a:t>
                </a:r>
                <a:r>
                  <a:rPr lang="en-IN" sz="800" b="1" baseline="30000" dirty="0">
                    <a:solidFill>
                      <a:srgbClr val="0000CC"/>
                    </a:solidFill>
                  </a:rPr>
                  <a:t>th</a:t>
                </a:r>
                <a:r>
                  <a:rPr lang="en-IN" sz="800" b="1" dirty="0">
                    <a:solidFill>
                      <a:srgbClr val="0000CC"/>
                    </a:solidFill>
                  </a:rPr>
                  <a:t> Oct to 11</a:t>
                </a:r>
                <a:r>
                  <a:rPr lang="en-IN" sz="800" b="1" baseline="30000" dirty="0">
                    <a:solidFill>
                      <a:srgbClr val="0000CC"/>
                    </a:solidFill>
                  </a:rPr>
                  <a:t>th</a:t>
                </a:r>
                <a:r>
                  <a:rPr lang="en-IN" sz="800" b="1" dirty="0">
                    <a:solidFill>
                      <a:srgbClr val="0000CC"/>
                    </a:solidFill>
                  </a:rPr>
                  <a:t> Nov)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092C22E-2ABE-8CFD-BFAC-7B852FD1D7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34042" y="4829734"/>
                <a:ext cx="3775" cy="1745827"/>
              </a:xfrm>
              <a:prstGeom prst="straightConnector1">
                <a:avLst/>
              </a:prstGeom>
              <a:ln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DDFA7A20-0CF8-4E7B-99D1-7C7BB6952D7E}"/>
                  </a:ext>
                </a:extLst>
              </p:cNvPr>
              <p:cNvSpPr/>
              <p:nvPr/>
            </p:nvSpPr>
            <p:spPr>
              <a:xfrm>
                <a:off x="11020853" y="4514485"/>
                <a:ext cx="137963" cy="240713"/>
              </a:xfrm>
              <a:prstGeom prst="flowChartConnector">
                <a:avLst/>
              </a:prstGeom>
              <a:solidFill>
                <a:srgbClr val="F2E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92D38BB-A121-D8AA-77BE-42B3CFDAEA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80975" y="4773339"/>
                <a:ext cx="0" cy="1765573"/>
              </a:xfrm>
              <a:prstGeom prst="straightConnector1">
                <a:avLst/>
              </a:prstGeom>
              <a:ln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0681807-C01F-D185-35D4-A58EEF473A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6694" y="6561426"/>
                <a:ext cx="647921" cy="0"/>
              </a:xfrm>
              <a:prstGeom prst="straightConnector1">
                <a:avLst/>
              </a:prstGeom>
              <a:ln>
                <a:prstDash val="lgDashDot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E63C08E-DF62-F504-4D6F-2C0EFFA53DFD}"/>
                  </a:ext>
                </a:extLst>
              </p:cNvPr>
              <p:cNvSpPr txBox="1"/>
              <p:nvPr/>
            </p:nvSpPr>
            <p:spPr>
              <a:xfrm>
                <a:off x="11029241" y="5293928"/>
                <a:ext cx="1340182" cy="1115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b="1" dirty="0">
                    <a:solidFill>
                      <a:schemeClr val="tx2">
                        <a:lumMod val="50000"/>
                      </a:schemeClr>
                    </a:solidFill>
                  </a:rPr>
                  <a:t>-UK Payroll team to share payroll inputs for non-flying &amp; flying components (1</a:t>
                </a:r>
                <a:r>
                  <a:rPr lang="en-IN" sz="800" b="1" baseline="30000" dirty="0">
                    <a:solidFill>
                      <a:schemeClr val="tx2">
                        <a:lumMod val="50000"/>
                      </a:schemeClr>
                    </a:solidFill>
                  </a:rPr>
                  <a:t>st</a:t>
                </a:r>
                <a:r>
                  <a:rPr lang="en-IN" sz="800" b="1" dirty="0">
                    <a:solidFill>
                      <a:schemeClr val="tx2">
                        <a:lumMod val="50000"/>
                      </a:schemeClr>
                    </a:solidFill>
                  </a:rPr>
                  <a:t> to 11</a:t>
                </a:r>
                <a:r>
                  <a:rPr lang="en-IN" sz="800" b="1" baseline="30000" dirty="0">
                    <a:solidFill>
                      <a:schemeClr val="tx2">
                        <a:lumMod val="50000"/>
                      </a:schemeClr>
                    </a:solidFill>
                  </a:rPr>
                  <a:t>th</a:t>
                </a:r>
                <a:r>
                  <a:rPr lang="en-IN" sz="800" b="1" dirty="0">
                    <a:solidFill>
                      <a:schemeClr val="tx2">
                        <a:lumMod val="50000"/>
                      </a:schemeClr>
                    </a:solidFill>
                  </a:rPr>
                  <a:t> Nov)</a:t>
                </a:r>
              </a:p>
            </p:txBody>
          </p:sp>
        </p:grp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49DD2E2B-DF32-202B-0085-B3359AD5E49A}"/>
                </a:ext>
              </a:extLst>
            </p:cNvPr>
            <p:cNvSpPr/>
            <p:nvPr/>
          </p:nvSpPr>
          <p:spPr>
            <a:xfrm>
              <a:off x="10219870" y="5040435"/>
              <a:ext cx="102116" cy="152719"/>
            </a:xfrm>
            <a:prstGeom prst="flowChartConnector">
              <a:avLst/>
            </a:prstGeom>
            <a:solidFill>
              <a:srgbClr val="F2E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7EE28A-4B31-0593-3E25-2BC589E6B2BF}"/>
                </a:ext>
              </a:extLst>
            </p:cNvPr>
            <p:cNvSpPr txBox="1"/>
            <p:nvPr/>
          </p:nvSpPr>
          <p:spPr>
            <a:xfrm>
              <a:off x="9034387" y="5473290"/>
              <a:ext cx="8878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0000CC"/>
                  </a:solidFill>
                </a:rPr>
                <a:t>Harmonized employee master, UK roster data upload completion from ARMS to CAE for Live Run</a:t>
              </a:r>
            </a:p>
            <a:p>
              <a:r>
                <a:rPr lang="en-US" sz="800" b="1" dirty="0">
                  <a:solidFill>
                    <a:srgbClr val="0000CC"/>
                  </a:solidFill>
                </a:rPr>
                <a:t>(28</a:t>
              </a:r>
              <a:r>
                <a:rPr lang="en-US" sz="800" b="1" baseline="30000" dirty="0">
                  <a:solidFill>
                    <a:srgbClr val="0000CC"/>
                  </a:solidFill>
                </a:rPr>
                <a:t>th</a:t>
              </a:r>
              <a:r>
                <a:rPr lang="en-US" sz="800" b="1" dirty="0">
                  <a:solidFill>
                    <a:srgbClr val="0000CC"/>
                  </a:solidFill>
                </a:rPr>
                <a:t> Oct)</a:t>
              </a:r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671299AB-7A98-115D-BBD7-3B13EDBA1521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rot="5400000" flipH="1" flipV="1">
              <a:off x="9734544" y="4936906"/>
              <a:ext cx="280136" cy="79263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E936F229-24D1-5658-E3A8-FB101D255D6F}"/>
              </a:ext>
            </a:extLst>
          </p:cNvPr>
          <p:cNvSpPr/>
          <p:nvPr/>
        </p:nvSpPr>
        <p:spPr>
          <a:xfrm>
            <a:off x="9430344" y="5202374"/>
            <a:ext cx="137963" cy="13766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A978F4-D6E3-2061-F50A-9139BEBE8599}"/>
              </a:ext>
            </a:extLst>
          </p:cNvPr>
          <p:cNvSpPr txBox="1"/>
          <p:nvPr/>
        </p:nvSpPr>
        <p:spPr>
          <a:xfrm>
            <a:off x="6086298" y="5759602"/>
            <a:ext cx="1857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tx2">
                    <a:lumMod val="50000"/>
                  </a:schemeClr>
                </a:solidFill>
              </a:rPr>
              <a:t>-HRIS &amp; BRE configuration completion in new AI PS instance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FCEDD53-BBF8-8703-A262-01168E13C224}"/>
              </a:ext>
            </a:extLst>
          </p:cNvPr>
          <p:cNvCxnSpPr>
            <a:cxnSpLocks/>
            <a:stCxn id="20" idx="4"/>
            <a:endCxn id="22" idx="0"/>
          </p:cNvCxnSpPr>
          <p:nvPr/>
        </p:nvCxnSpPr>
        <p:spPr>
          <a:xfrm rot="5400000">
            <a:off x="8047529" y="4307804"/>
            <a:ext cx="419561" cy="2484035"/>
          </a:xfrm>
          <a:prstGeom prst="bentConnector3">
            <a:avLst>
              <a:gd name="adj1" fmla="val 24271"/>
            </a:avLst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479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2C1E-26C2-710F-E07B-D048D41E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A6E038-7129-6CD8-CF9A-83EDBE31866A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Dependencies &amp; Pending Decisions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FDB91-B908-EF2F-1AA3-8105F0F57F38}"/>
              </a:ext>
            </a:extLst>
          </p:cNvPr>
          <p:cNvSpPr txBox="1"/>
          <p:nvPr/>
        </p:nvSpPr>
        <p:spPr>
          <a:xfrm>
            <a:off x="396923" y="1939031"/>
            <a:ext cx="11404504" cy="1815882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highlight>
                  <a:srgbClr val="FFE600"/>
                </a:highlight>
                <a:latin typeface="AirIndia" panose="04050608020B02020302"/>
                <a:cs typeface="Arial" panose="020B0604020202020204" pitchFamily="34" charset="0"/>
              </a:rPr>
              <a:t>Dependencies</a:t>
            </a:r>
            <a:endParaRPr lang="en-US" sz="1600" b="1" dirty="0">
              <a:highlight>
                <a:srgbClr val="FFE600"/>
              </a:highlight>
              <a:latin typeface="AirIndia" panose="04050608020B02020302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irIndia" panose="04050608020B02020302"/>
                <a:cs typeface="Arial" panose="020B0604020202020204" pitchFamily="34" charset="0"/>
              </a:rPr>
              <a:t>CAE needs AI employee IDs &amp; email IDs for mock run </a:t>
            </a:r>
            <a:r>
              <a:rPr lang="en-US" sz="1600" b="1" dirty="0">
                <a:solidFill>
                  <a:srgbClr val="00B050"/>
                </a:solidFill>
                <a:latin typeface="AirIndia" panose="04050608020B02020302"/>
                <a:cs typeface="Arial" panose="020B0604020202020204" pitchFamily="34" charset="0"/>
              </a:rPr>
              <a:t>[Resolved]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irIndia" panose="04050608020B02020302"/>
                <a:cs typeface="Arial" panose="020B0604020202020204" pitchFamily="34" charset="0"/>
              </a:rPr>
              <a:t>UK IFS &amp; Ops to share flying allowance inputs for payroll mock runs &amp; 1st-11th Nov with AI team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irIndia" panose="04050608020B02020302"/>
                <a:cs typeface="Arial" panose="020B0604020202020204" pitchFamily="34" charset="0"/>
              </a:rPr>
              <a:t>[Ongoing]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irIndia" panose="04050608020B02020302"/>
                <a:cs typeface="Arial" panose="020B0604020202020204" pitchFamily="34" charset="0"/>
              </a:rPr>
              <a:t>UK IFS &amp; Ops to share details of Forex card allowances with AI team for overlapping period (boarded prior to merger date &amp; landing on or post merger-date scenarios)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irIndia" panose="04050608020B02020302"/>
                <a:cs typeface="Arial" panose="020B0604020202020204" pitchFamily="34" charset="0"/>
              </a:rPr>
              <a:t>[Ongoing]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b="1" dirty="0">
              <a:latin typeface="AirIndia" panose="04050608020B0202030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88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3B39-2B3A-59A1-3BF3-803E5A25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6D2559-9DC2-D6C1-C578-48133BCD9C8C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– Upcoming Activities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4FA8D4-59C9-9D91-E8E0-8BECB9435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58371"/>
              </p:ext>
            </p:extLst>
          </p:nvPr>
        </p:nvGraphicFramePr>
        <p:xfrm>
          <a:off x="223520" y="971550"/>
          <a:ext cx="11734800" cy="4937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3120">
                  <a:extLst>
                    <a:ext uri="{9D8B030D-6E8A-4147-A177-3AD203B41FA5}">
                      <a16:colId xmlns:a16="http://schemas.microsoft.com/office/drawing/2014/main" val="4218145287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964084376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317451346"/>
                    </a:ext>
                  </a:extLst>
                </a:gridCol>
                <a:gridCol w="1507338">
                  <a:extLst>
                    <a:ext uri="{9D8B030D-6E8A-4147-A177-3AD203B41FA5}">
                      <a16:colId xmlns:a16="http://schemas.microsoft.com/office/drawing/2014/main" val="3093718393"/>
                    </a:ext>
                  </a:extLst>
                </a:gridCol>
                <a:gridCol w="1272844">
                  <a:extLst>
                    <a:ext uri="{9D8B030D-6E8A-4147-A177-3AD203B41FA5}">
                      <a16:colId xmlns:a16="http://schemas.microsoft.com/office/drawing/2014/main" val="3101636339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4035576382"/>
                    </a:ext>
                  </a:extLst>
                </a:gridCol>
                <a:gridCol w="4043274">
                  <a:extLst>
                    <a:ext uri="{9D8B030D-6E8A-4147-A177-3AD203B41FA5}">
                      <a16:colId xmlns:a16="http://schemas.microsoft.com/office/drawing/2014/main" val="2913180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S.No.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Milestone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Priority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Planned Completion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Actual Completion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Status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Comments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4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1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New PS Instance Procurement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High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30-Aug-24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4-Sep-24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Completed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-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67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2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HR to share Aug payroll input &amp; Data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High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9-Sep-24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13-Sep-24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Completed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HR (Anuj Khanna, Ajay Aggarwal) to share following:</a:t>
                      </a:r>
                    </a:p>
                    <a:p>
                      <a:r>
                        <a:rPr lang="en-US" sz="1200" dirty="0">
                          <a:latin typeface="AirIndia" panose="04050608020B02020302"/>
                        </a:rPr>
                        <a:t>-Employee Master Data (Shared)</a:t>
                      </a:r>
                    </a:p>
                    <a:p>
                      <a:r>
                        <a:rPr lang="en-US" sz="1200" dirty="0">
                          <a:latin typeface="AirIndia" panose="04050608020B02020302"/>
                        </a:rPr>
                        <a:t>-Sample CTC Report (Shared)</a:t>
                      </a:r>
                    </a:p>
                    <a:p>
                      <a:r>
                        <a:rPr lang="en-US" sz="1200" dirty="0">
                          <a:latin typeface="AirIndia" panose="04050608020B02020302"/>
                        </a:rPr>
                        <a:t>-Salary Register (Shared)</a:t>
                      </a:r>
                    </a:p>
                    <a:p>
                      <a:r>
                        <a:rPr lang="en-US" sz="1200" dirty="0">
                          <a:latin typeface="AirIndia" panose="04050608020B02020302"/>
                        </a:rPr>
                        <a:t>-Tax Computation Sheets (Shared)</a:t>
                      </a:r>
                    </a:p>
                    <a:p>
                      <a:r>
                        <a:rPr lang="en-US" sz="1200" dirty="0">
                          <a:latin typeface="AirIndia" panose="04050608020B02020302"/>
                        </a:rPr>
                        <a:t>-Payroll Inputs for Aug (Shared)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3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3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Payroll System (Engine) Setup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High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20-Sep-24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20-Sep-24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Completed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Configuring new AI PS test instance with UK pay components &amp; structures as per UK payroll policies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79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Mock Run 1 – Aug Payroll Processing*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High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27-Sep-24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27-Sep-24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AirIndia" panose="04050608020B02020302"/>
                        </a:rPr>
                        <a:t>In Progress</a:t>
                      </a:r>
                      <a:endParaRPr lang="en-IN" sz="1200" b="0" dirty="0">
                        <a:solidFill>
                          <a:schemeClr val="bg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-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7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5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Mock Run 1 – Aug Payroll Sign-off*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High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1-Oct-24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1-Oct-24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Yet to Start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Validation around Gross salary &amp; tax calculations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62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HRIS &amp; BRE System Setup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7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7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bg1"/>
                          </a:solidFill>
                          <a:latin typeface="AirIndia" panose="04050608020B02020302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241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Integration with SF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10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10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5411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6BD690-3ADA-BC9B-8591-6E39ECAFF0E6}"/>
              </a:ext>
            </a:extLst>
          </p:cNvPr>
          <p:cNvSpPr txBox="1"/>
          <p:nvPr/>
        </p:nvSpPr>
        <p:spPr>
          <a:xfrm>
            <a:off x="146304" y="5907417"/>
            <a:ext cx="4083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irIndia" panose="04050608020B02020302"/>
              </a:rPr>
              <a:t>*Mock Run Detailed Plan covered in subsequent slide</a:t>
            </a:r>
          </a:p>
        </p:txBody>
      </p:sp>
    </p:spTree>
    <p:extLst>
      <p:ext uri="{BB962C8B-B14F-4D97-AF65-F5344CB8AC3E}">
        <p14:creationId xmlns:p14="http://schemas.microsoft.com/office/powerpoint/2010/main" val="2772802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AD4F-938B-68CD-3DF1-3A5323E20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AEE3AA-84D2-2B5E-76E0-797FCCFC1BDA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– Mock Runs (Payroll Parallel Run)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178B11-3957-D0F9-6B34-FEE20D8CE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191381"/>
              </p:ext>
            </p:extLst>
          </p:nvPr>
        </p:nvGraphicFramePr>
        <p:xfrm>
          <a:off x="223520" y="3898582"/>
          <a:ext cx="11714480" cy="2377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4218145287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964084376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231745134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093718393"/>
                    </a:ext>
                  </a:extLst>
                </a:gridCol>
                <a:gridCol w="1717040">
                  <a:extLst>
                    <a:ext uri="{9D8B030D-6E8A-4147-A177-3AD203B41FA5}">
                      <a16:colId xmlns:a16="http://schemas.microsoft.com/office/drawing/2014/main" val="3101636339"/>
                    </a:ext>
                  </a:extLst>
                </a:gridCol>
                <a:gridCol w="2966720">
                  <a:extLst>
                    <a:ext uri="{9D8B030D-6E8A-4147-A177-3AD203B41FA5}">
                      <a16:colId xmlns:a16="http://schemas.microsoft.com/office/drawing/2014/main" val="4035576382"/>
                    </a:ext>
                  </a:extLst>
                </a:gridCol>
              </a:tblGrid>
              <a:tr h="11946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S.No.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Milestone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Priority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Planned Completion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Actual Completion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Status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42236"/>
                  </a:ext>
                </a:extLst>
              </a:tr>
              <a:tr h="11946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Payroll Input to be shared by UK HR for Aug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9-Sep-24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13-Sep-24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Completed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73501"/>
                  </a:ext>
                </a:extLst>
              </a:tr>
              <a:tr h="11946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Payroll System (Engine) Setup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High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20-Sep-24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irIndia" panose="04050608020B02020302"/>
                        </a:rPr>
                        <a:t>20-Sep-24</a:t>
                      </a:r>
                      <a:endParaRPr lang="en-IN" sz="14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Completed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398495"/>
                  </a:ext>
                </a:extLst>
              </a:tr>
              <a:tr h="11946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Aug month payroll parallel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27-Sep-24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27-Sep-24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287445"/>
                  </a:ext>
                </a:extLst>
              </a:tr>
              <a:tr h="11946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Aug month payroll validation &amp; sign-off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1-Oct-24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irIndia" panose="04050608020B02020302"/>
                        </a:rPr>
                        <a:t>1-Oct-24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432348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3510F3-22E0-5FCE-1957-947AC34F5C76}"/>
              </a:ext>
            </a:extLst>
          </p:cNvPr>
          <p:cNvSpPr/>
          <p:nvPr/>
        </p:nvSpPr>
        <p:spPr>
          <a:xfrm>
            <a:off x="223520" y="960916"/>
            <a:ext cx="11714480" cy="2547827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Mock Runs Objective &amp; Validation Criteria</a:t>
            </a:r>
          </a:p>
          <a:p>
            <a:pPr algn="ctr"/>
            <a:endParaRPr lang="en-IN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Objective: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Ensure accurate payroll transition from SAP S4 HANA to PeopleStrong (PS) for Vistara employees.</a:t>
            </a:r>
            <a:endParaRPr lang="en-IN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Mock Run 1 (Aug) Validation Criteria: </a:t>
            </a:r>
            <a:r>
              <a:rPr lang="en-IN" sz="1400" dirty="0">
                <a:solidFill>
                  <a:schemeClr val="tx1"/>
                </a:solidFill>
              </a:rPr>
              <a:t>Testing – (1) UK employees master data update, (2) Payroll register calculation, (3) UK FBP component on BRE, (4) UK </a:t>
            </a:r>
            <a:r>
              <a:rPr lang="en-US" sz="1400" dirty="0">
                <a:solidFill>
                  <a:schemeClr val="tx1"/>
                </a:solidFill>
              </a:rPr>
              <a:t>additional allowances which will continue in AI - validation with UK pay register</a:t>
            </a:r>
            <a:r>
              <a:rPr lang="en-IN" sz="1400" dirty="0">
                <a:solidFill>
                  <a:schemeClr val="tx1"/>
                </a:solidFill>
              </a:rPr>
              <a:t> for all UK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Mock Run 2 (Sep) Validation Criteria:</a:t>
            </a:r>
            <a:r>
              <a:rPr lang="en-IN" sz="1400" dirty="0">
                <a:solidFill>
                  <a:schemeClr val="tx1"/>
                </a:solidFill>
              </a:rPr>
              <a:t> Testing – (1) Mock Run 1 observations, (2) Payroll register calculation, (3) UK FBP component on BRE, (4) UK </a:t>
            </a:r>
            <a:r>
              <a:rPr lang="en-US" sz="1400" dirty="0">
                <a:solidFill>
                  <a:schemeClr val="tx1"/>
                </a:solidFill>
              </a:rPr>
              <a:t>additional allowances, for all UK employees &amp; (5) Tax calculation for a sample set of UK employees (past months investment inputs to be checked manually).</a:t>
            </a:r>
            <a:endParaRPr lang="en-IN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Mock Run 3 (Oct) Validation Criteria:</a:t>
            </a:r>
            <a:r>
              <a:rPr lang="en-IN" sz="1400" dirty="0">
                <a:solidFill>
                  <a:schemeClr val="tx1"/>
                </a:solidFill>
              </a:rPr>
              <a:t> Testing – (1) Mock Run 2 observations, (2) Payroll register calculation, (3) UK FBP component on BRE, (4) UK </a:t>
            </a:r>
            <a:r>
              <a:rPr lang="en-US" sz="1400" dirty="0">
                <a:solidFill>
                  <a:schemeClr val="tx1"/>
                </a:solidFill>
              </a:rPr>
              <a:t>additional allowances, for all UK employees &amp; (5) Tax calculation for a sample set of UK employees (past months investment inputs to be checked manually).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F833B-9847-E3D3-49D8-DD138959A6EE}"/>
              </a:ext>
            </a:extLst>
          </p:cNvPr>
          <p:cNvSpPr txBox="1"/>
          <p:nvPr/>
        </p:nvSpPr>
        <p:spPr>
          <a:xfrm>
            <a:off x="4504828" y="3549774"/>
            <a:ext cx="3219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highlight>
                  <a:srgbClr val="FFE600"/>
                </a:highlight>
                <a:latin typeface="AirIndia" panose="04050608020B02020302"/>
              </a:rPr>
              <a:t>Mock 1 - Aug Payroll Parallel Run Update</a:t>
            </a:r>
          </a:p>
        </p:txBody>
      </p:sp>
    </p:spTree>
    <p:extLst>
      <p:ext uri="{BB962C8B-B14F-4D97-AF65-F5344CB8AC3E}">
        <p14:creationId xmlns:p14="http://schemas.microsoft.com/office/powerpoint/2010/main" val="136747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7165-F35F-6F6E-4DB1-328A9AF0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7A8AEA-1BDC-6A3A-1EFA-94B75D1204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1588432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– RAID (Risks, Actions, Issues, Decisions)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F1E0C1-B8D9-C59C-B18E-7FC15667E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155544"/>
              </p:ext>
            </p:extLst>
          </p:nvPr>
        </p:nvGraphicFramePr>
        <p:xfrm>
          <a:off x="223520" y="971550"/>
          <a:ext cx="11450321" cy="4648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964084376"/>
                    </a:ext>
                  </a:extLst>
                </a:gridCol>
                <a:gridCol w="2092960">
                  <a:extLst>
                    <a:ext uri="{9D8B030D-6E8A-4147-A177-3AD203B41FA5}">
                      <a16:colId xmlns:a16="http://schemas.microsoft.com/office/drawing/2014/main" val="2317451346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09371839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181576070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452817869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3101636339"/>
                    </a:ext>
                  </a:extLst>
                </a:gridCol>
                <a:gridCol w="1209041">
                  <a:extLst>
                    <a:ext uri="{9D8B030D-6E8A-4147-A177-3AD203B41FA5}">
                      <a16:colId xmlns:a16="http://schemas.microsoft.com/office/drawing/2014/main" val="2913180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Type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Description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Impact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Probability of Occurrence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Mitigation Plan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Mitigation Plan Status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Target Date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4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Payroll calculations if not vetted correctly may result into wrong payouts to Vistara employees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-To mitigate, parallel payroll processing mock runs to be done for Aug, Sep months to validate &amp; correct any anomalies prior to merger</a:t>
                      </a:r>
                      <a:endParaRPr lang="en-IN" sz="11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bg1"/>
                          </a:solidFill>
                          <a:latin typeface="AirIndia" panose="04050608020B02020302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AirIndia" panose="04050608020B02020302"/>
                        </a:rPr>
                        <a:t>16</a:t>
                      </a:r>
                      <a:r>
                        <a:rPr lang="en-IN" sz="11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1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7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Risk of incorrect payouts to harmonized Org employees due to different pay structures for Air India &amp; Vistara employees’ post-merger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-Ensuring creation of identifier in AI SF to distinguish ex-UK &amp; AI employee post-merger​</a:t>
                      </a:r>
                    </a:p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-Ensuring PeopleStrong SOP update to do regular audit checks (monthly) prior to processing payroll for the identifier being passed from AI to PS</a:t>
                      </a:r>
                      <a:endParaRPr lang="en-IN" sz="11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16</a:t>
                      </a:r>
                      <a:r>
                        <a:rPr lang="en-IN" sz="11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1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2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Issue in reimbursement reconciliation for Vistara employees’ post-merger in case they have already claimed reimbursement in Vistara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-All dues for Vistara employees to be cleared by Vistara payroll team prior to merger Go-Live</a:t>
                      </a:r>
                    </a:p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-Arrears (if any) to be shared by UK team to AI PS team for processing with AI salary payout</a:t>
                      </a:r>
                      <a:endParaRPr lang="en-IN" sz="11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30</a:t>
                      </a:r>
                      <a:r>
                        <a:rPr lang="en-IN" sz="11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1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67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irIndia" panose="04050608020B02020302"/>
                        </a:rPr>
                        <a:t>Risk of incorrect calculation of taxes since movement of Vistara employees is happening mid-year</a:t>
                      </a:r>
                      <a:endParaRPr lang="en-IN" sz="11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-Settlement for Vistara employees will be processed due to closure of PF &amp; issuance of Form 16​</a:t>
                      </a:r>
                    </a:p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-Gratuity &amp; Leave Encashment to be carried forwarded to AI, to be managed through Tata Group DOJ in PS system​ (to be created in AI SF)</a:t>
                      </a:r>
                    </a:p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-2 Form 16s for Vistara employees to be maintained</a:t>
                      </a:r>
                      <a:endParaRPr lang="en-IN" sz="11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AirIndia" panose="04050608020B02020302"/>
                        </a:rPr>
                        <a:t>30</a:t>
                      </a:r>
                      <a:r>
                        <a:rPr lang="en-IN" sz="11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1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79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50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25A7-49DC-297E-30A1-C837B7D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Other HR Tech Apps</a:t>
            </a:r>
          </a:p>
        </p:txBody>
      </p:sp>
    </p:spTree>
    <p:extLst>
      <p:ext uri="{BB962C8B-B14F-4D97-AF65-F5344CB8AC3E}">
        <p14:creationId xmlns:p14="http://schemas.microsoft.com/office/powerpoint/2010/main" val="506988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1BC652-C760-AFED-2B21-CD96394CDE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Other HR Tech Applications Business Assumptions, Decisions &amp; Open Points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7E204-DBBF-5570-DC0C-30CA877C3120}"/>
              </a:ext>
            </a:extLst>
          </p:cNvPr>
          <p:cNvSpPr txBox="1"/>
          <p:nvPr/>
        </p:nvSpPr>
        <p:spPr>
          <a:xfrm>
            <a:off x="609917" y="1094347"/>
            <a:ext cx="7063091" cy="4893647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AirIndia"/>
                <a:cs typeface="Arial" panose="020B0604020202020204" pitchFamily="34" charset="0"/>
              </a:rPr>
              <a:t>Business Assumptions &amp; Decisions</a:t>
            </a:r>
          </a:p>
          <a:p>
            <a:pPr algn="ctr"/>
            <a:endParaRPr lang="en-IN" sz="1200" b="1" dirty="0">
              <a:latin typeface="AirIndia"/>
              <a:cs typeface="Arial" panose="020B0604020202020204" pitchFamily="34" charset="0"/>
            </a:endParaRPr>
          </a:p>
          <a:p>
            <a:pPr algn="ctr"/>
            <a:endParaRPr lang="en-IN" sz="1200" b="1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AirIndia"/>
                <a:cs typeface="Arial" panose="020B0604020202020204" pitchFamily="34" charset="0"/>
              </a:rPr>
              <a:t>Learning &amp; Development (TCS </a:t>
            </a:r>
            <a:r>
              <a:rPr lang="en-IN" sz="1200" b="1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IN" sz="1200" b="1" dirty="0">
                <a:latin typeface="AirIndia"/>
                <a:cs typeface="Arial" panose="020B0604020202020204" pitchFamily="34" charset="0"/>
              </a:rPr>
              <a:t> &amp; </a:t>
            </a:r>
            <a:r>
              <a:rPr lang="en-IN" sz="1200" b="1" dirty="0" err="1">
                <a:latin typeface="AirIndia"/>
                <a:cs typeface="Arial" panose="020B0604020202020204" pitchFamily="34" charset="0"/>
              </a:rPr>
              <a:t>Disprz</a:t>
            </a:r>
            <a:r>
              <a:rPr lang="en-IN" sz="1200" b="1" dirty="0">
                <a:latin typeface="AirIndia"/>
                <a:cs typeface="Arial" panose="020B060402020202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UK learning history data elements will be migrated by HR Tech team within TCS </a:t>
            </a:r>
            <a:r>
              <a:rPr lang="en-US" sz="1200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from UK SuccessFactors (UAT Completion: 31</a:t>
            </a:r>
            <a:r>
              <a:rPr lang="en-US" sz="1200" baseline="30000" dirty="0">
                <a:latin typeface="AirIndia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Oct 24, Full Data Migration: 11</a:t>
            </a:r>
            <a:r>
              <a:rPr lang="en-US" sz="1200" baseline="30000" dirty="0">
                <a:latin typeface="AirIndia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Nov 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No additional licenses are forecasted currently for merged entity for </a:t>
            </a:r>
            <a:r>
              <a:rPr lang="en-US" sz="1200" dirty="0" err="1">
                <a:latin typeface="AirIndia"/>
                <a:cs typeface="Arial" panose="020B0604020202020204" pitchFamily="34" charset="0"/>
              </a:rPr>
              <a:t>Disprz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for FY 24-25; current quota of </a:t>
            </a:r>
            <a:r>
              <a:rPr lang="en-US" sz="1200" dirty="0" err="1">
                <a:latin typeface="AirIndia"/>
                <a:cs typeface="Arial" panose="020B0604020202020204" pitchFamily="34" charset="0"/>
              </a:rPr>
              <a:t>Disprz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licenses are enough &amp; will be re-assigned by AI HR in case of any additional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Following reconfiguration changes need to be done (ETA: 31</a:t>
            </a:r>
            <a:r>
              <a:rPr lang="en-US" sz="1200" baseline="30000" dirty="0">
                <a:latin typeface="AirIndia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Oct 24):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Bulk Cool Off Period functionality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On demand trainings audit trail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Anonymous survey submission feature</a:t>
            </a:r>
            <a:endParaRPr lang="en-IN" sz="1200" dirty="0">
              <a:latin typeface="AirIndia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No data migration to be done from UK e-learning application (currently used by UK engineering team) to AI TCS </a:t>
            </a:r>
            <a:r>
              <a:rPr lang="en-US" sz="1200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system – business to keep offline records at their 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200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AirIndia"/>
                <a:cs typeface="Arial" panose="020B0604020202020204" pitchFamily="34" charset="0"/>
              </a:rPr>
              <a:t>Staff Travel (</a:t>
            </a:r>
            <a:r>
              <a:rPr lang="en-IN" sz="1200" b="1" dirty="0" err="1">
                <a:latin typeface="AirIndia"/>
                <a:cs typeface="Arial" panose="020B0604020202020204" pitchFamily="34" charset="0"/>
              </a:rPr>
              <a:t>iFly</a:t>
            </a:r>
            <a:r>
              <a:rPr lang="en-IN" sz="1200" b="1" dirty="0">
                <a:latin typeface="AirIndia"/>
                <a:cs typeface="Arial" panose="020B060402020202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Need to upload a fixed passage quota applicable for remaining FY 24-25 for UK employees’ post-merger basis policy decision taken by AI HR (ETA: 11</a:t>
            </a:r>
            <a:r>
              <a:rPr lang="en-US" sz="1200" baseline="30000" dirty="0">
                <a:latin typeface="AirIndia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irIndia"/>
                <a:cs typeface="Arial" panose="020B0604020202020204" pitchFamily="34" charset="0"/>
              </a:rPr>
              <a:t> Nov 24) along with one time upload of UK employee’s dependent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Harmonization of onload priorities for staff travel across all group airlines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200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AirIndia"/>
                <a:cs typeface="Arial" panose="020B0604020202020204" pitchFamily="34" charset="0"/>
              </a:rPr>
              <a:t>Rewards &amp; Recognition (Advantage Club):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No historical data related to Rewards &amp; Recognition of Vistara employees needs to be migrated to AI Advantage Club</a:t>
            </a:r>
            <a:endParaRPr lang="en-IN" sz="1200" dirty="0">
              <a:latin typeface="AirIndi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2C86B-F0D2-DAA3-7A45-329B093B1F5D}"/>
              </a:ext>
            </a:extLst>
          </p:cNvPr>
          <p:cNvSpPr txBox="1"/>
          <p:nvPr/>
        </p:nvSpPr>
        <p:spPr>
          <a:xfrm>
            <a:off x="7847937" y="1093418"/>
            <a:ext cx="4267863" cy="3231654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AirIndia"/>
                <a:cs typeface="Arial" panose="020B0604020202020204" pitchFamily="34" charset="0"/>
              </a:rPr>
              <a:t>Upcoming Activities</a:t>
            </a:r>
          </a:p>
          <a:p>
            <a:pPr algn="ctr"/>
            <a:endParaRPr lang="en-IN" sz="1200" b="1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AirIndia"/>
                <a:cs typeface="Arial" panose="020B0604020202020204" pitchFamily="34" charset="0"/>
              </a:rPr>
              <a:t>Learning &amp; Development (TCS </a:t>
            </a:r>
            <a:r>
              <a:rPr lang="en-IN" sz="1200" b="1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IN" sz="1200" b="1" dirty="0">
                <a:latin typeface="AirIndia"/>
                <a:cs typeface="Arial" panose="020B060402020202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irIndia"/>
                <a:cs typeface="Arial" panose="020B0604020202020204" pitchFamily="34" charset="0"/>
              </a:rPr>
              <a:t>Learning history migration mock run commenced from 18</a:t>
            </a:r>
            <a:r>
              <a:rPr lang="en-IN" sz="1200" baseline="30000" dirty="0">
                <a:latin typeface="AirIndia"/>
                <a:cs typeface="Arial" panose="020B0604020202020204" pitchFamily="34" charset="0"/>
              </a:rPr>
              <a:t>th</a:t>
            </a:r>
            <a:r>
              <a:rPr lang="en-IN" sz="1200" dirty="0">
                <a:latin typeface="AirIndia"/>
                <a:cs typeface="Arial" panose="020B0604020202020204" pitchFamily="34" charset="0"/>
              </a:rPr>
              <a:t> Sep 24 – data preparation &amp; upload in progress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irIndia"/>
                <a:cs typeface="Arial" panose="020B0604020202020204" pitchFamily="34" charset="0"/>
              </a:rPr>
              <a:t>Following learning history data points to be uploaded from UK SuccessFactors LMS to AI TCS </a:t>
            </a:r>
            <a:r>
              <a:rPr lang="en-IN" sz="1200" dirty="0" err="1">
                <a:latin typeface="AirIndia"/>
                <a:cs typeface="Arial" panose="020B0604020202020204" pitchFamily="34" charset="0"/>
              </a:rPr>
              <a:t>iON</a:t>
            </a:r>
            <a:r>
              <a:rPr lang="en-IN" sz="1200" dirty="0">
                <a:latin typeface="AirIndia"/>
                <a:cs typeface="Arial" panose="020B0604020202020204" pitchFamily="34" charset="0"/>
              </a:rPr>
              <a:t> as part of mock run: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Past learning records including completed courses information (Name, SAP ID, Course Name, Course Duration, Completion Status, Learning Hours gained for learning history data).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/>
                <a:cs typeface="Arial" panose="020B0604020202020204" pitchFamily="34" charset="0"/>
              </a:rPr>
              <a:t>Past learning certificates in the form of PDFs.</a:t>
            </a:r>
            <a:endParaRPr lang="en-IN" sz="1200" dirty="0">
              <a:latin typeface="AirIndi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86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1BC652-C760-AFED-2B21-CD96394CDE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Merger Documents Sign-off Status</a:t>
            </a:r>
            <a:endParaRPr lang="en-US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42608-FF30-0D26-F6D7-F4C88EDC5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83028"/>
              </p:ext>
            </p:extLst>
          </p:nvPr>
        </p:nvGraphicFramePr>
        <p:xfrm>
          <a:off x="609916" y="934720"/>
          <a:ext cx="10978517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884">
                  <a:extLst>
                    <a:ext uri="{9D8B030D-6E8A-4147-A177-3AD203B41FA5}">
                      <a16:colId xmlns:a16="http://schemas.microsoft.com/office/drawing/2014/main" val="226632665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1978286745"/>
                    </a:ext>
                  </a:extLst>
                </a:gridCol>
                <a:gridCol w="3785553">
                  <a:extLst>
                    <a:ext uri="{9D8B030D-6E8A-4147-A177-3AD203B41FA5}">
                      <a16:colId xmlns:a16="http://schemas.microsoft.com/office/drawing/2014/main" val="2437275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Tech 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Pending with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298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SuccessFactors – Employee Central &amp; Onboarding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Employee Central &amp; Onboarding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Employee Central &amp; Onboarding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Employee Central &amp; Onboarding - Data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26226"/>
                  </a:ext>
                </a:extLst>
              </a:tr>
              <a:tr h="502802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SuccessFactors – Performance &amp; Goal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Performance &amp; Goal Management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Performance &amp; Goal Management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Performance &amp; Goal Management - Data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55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SuccessFactors – Recruitment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Recruitment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Recruitment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Recruitment - Data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62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PeopleStrong (Payroll)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PeopleStrong - Pay Components Data Field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PeopleStrong - Business Decisions &amp; Assumptions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PeopleStrong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8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 Club (R&amp;R)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Advantage Club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Advantage Club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82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TCS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iDL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Disprz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(Learning &amp; Development)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 &amp; Development - Business Decisions &amp; Assumptions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 &amp; Development - TCS 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iDL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Program Plan</a:t>
                      </a:r>
                    </a:p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Learning &amp; Development - 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Disprz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58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iFly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SkyFam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 </a:t>
                      </a:r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iFly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SkyFam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iFly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SkyFam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Abhinav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Rajmalwar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Akanksha Jain, Vikrant Bhatnagar</a:t>
                      </a: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Abhinav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Rajmalwar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Akanksha Jain, Vikrant Bhatnagar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45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000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3D0-C257-C795-570C-133BB03F4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906471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Air India Master">
  <a:themeElements>
    <a:clrScheme name="Airn India">
      <a:dk1>
        <a:srgbClr val="000000"/>
      </a:dk1>
      <a:lt1>
        <a:srgbClr val="FFFFFF"/>
      </a:lt1>
      <a:dk2>
        <a:srgbClr val="44546A"/>
      </a:dk2>
      <a:lt2>
        <a:srgbClr val="F9F6EE"/>
      </a:lt2>
      <a:accent1>
        <a:srgbClr val="DA0E28"/>
      </a:accent1>
      <a:accent2>
        <a:srgbClr val="B61032"/>
      </a:accent2>
      <a:accent3>
        <a:srgbClr val="531251"/>
      </a:accent3>
      <a:accent4>
        <a:srgbClr val="F8C1B3"/>
      </a:accent4>
      <a:accent5>
        <a:srgbClr val="F9F6EE"/>
      </a:accent5>
      <a:accent6>
        <a:srgbClr val="FED9A0"/>
      </a:accent6>
      <a:hlink>
        <a:srgbClr val="9E7947"/>
      </a:hlink>
      <a:folHlink>
        <a:srgbClr val="954F72"/>
      </a:folHlink>
    </a:clrScheme>
    <a:fontScheme name="Nunito Air India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0808_Air India - Presentation Template OPT-1_V06.1" id="{835D2566-5E6C-2349-8CA5-03FC33C08E0A}" vid="{162A5BAB-29F1-3E40-B823-E28B40D3416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69E71116404940AFEA9AF3E9777A6D" ma:contentTypeVersion="13" ma:contentTypeDescription="Create a new document." ma:contentTypeScope="" ma:versionID="96f22ad9cac9c4dcdabbf9d46a7f30d1">
  <xsd:schema xmlns:xsd="http://www.w3.org/2001/XMLSchema" xmlns:xs="http://www.w3.org/2001/XMLSchema" xmlns:p="http://schemas.microsoft.com/office/2006/metadata/properties" xmlns:ns3="9c6169ce-e585-4204-95fc-7c3076d10b19" xmlns:ns4="41cf1f75-1b55-401b-bbab-ae1fdf58df2e" targetNamespace="http://schemas.microsoft.com/office/2006/metadata/properties" ma:root="true" ma:fieldsID="a3c1a7537c59e71dd2ecf5da26cac13a" ns3:_="" ns4:_="">
    <xsd:import namespace="9c6169ce-e585-4204-95fc-7c3076d10b19"/>
    <xsd:import namespace="41cf1f75-1b55-401b-bbab-ae1fdf58df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169ce-e585-4204-95fc-7c3076d10b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f1f75-1b55-401b-bbab-ae1fdf58df2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62CC65-22A2-443C-8349-302CC3C8F680}">
  <ds:schemaRefs>
    <ds:schemaRef ds:uri="41cf1f75-1b55-401b-bbab-ae1fdf58df2e"/>
    <ds:schemaRef ds:uri="http://purl.org/dc/dcmitype/"/>
    <ds:schemaRef ds:uri="9c6169ce-e585-4204-95fc-7c3076d10b19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B87A7AE-4117-4BFF-A6F6-ECE3F3EACE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A004CA-84BB-431F-9A56-DEE8489B9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169ce-e585-4204-95fc-7c3076d10b19"/>
    <ds:schemaRef ds:uri="41cf1f75-1b55-401b-bbab-ae1fdf58df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3522</Words>
  <Application>Microsoft Office PowerPoint</Application>
  <PresentationFormat>Custom</PresentationFormat>
  <Paragraphs>778</Paragraphs>
  <Slides>24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AirIndia</vt:lpstr>
      <vt:lpstr>Arial</vt:lpstr>
      <vt:lpstr>Arial Unicode MS</vt:lpstr>
      <vt:lpstr>EYInterstate</vt:lpstr>
      <vt:lpstr>EYInterstate Light</vt:lpstr>
      <vt:lpstr>Georgia</vt:lpstr>
      <vt:lpstr>Montserrat Light</vt:lpstr>
      <vt:lpstr>Nunito Sans</vt:lpstr>
      <vt:lpstr>Symbol</vt:lpstr>
      <vt:lpstr>2_EY light background</vt:lpstr>
      <vt:lpstr>4_EY light background</vt:lpstr>
      <vt:lpstr>5_EY light background</vt:lpstr>
      <vt:lpstr>2_Air India Master</vt:lpstr>
      <vt:lpstr>Steering Committee Meeting for HR Tech UK – AI Merger  23-Sep-2024</vt:lpstr>
      <vt:lpstr>Todays Agenda</vt:lpstr>
      <vt:lpstr>1. Merger Project - SF</vt:lpstr>
      <vt:lpstr>Merger Project – Plan on a Page</vt:lpstr>
      <vt:lpstr>Overall Status Update</vt:lpstr>
      <vt:lpstr>Mock 1 – Employee Central Update</vt:lpstr>
      <vt:lpstr>Mock 1 – REC &amp; PMGM Update </vt:lpstr>
      <vt:lpstr>Mock 1 – Key Observations</vt:lpstr>
      <vt:lpstr>Mock 2 – Employee Central Update</vt:lpstr>
      <vt:lpstr>Mock 2 – REC &amp; PMGM Update </vt:lpstr>
      <vt:lpstr>Risks – Actions – Issues - Decisions</vt:lpstr>
      <vt:lpstr>Mock 2 &amp; UAT Phase: Planned Activities for 20 Sep 2024 </vt:lpstr>
      <vt:lpstr>Configuration &amp; Cut Over 1: Upcoming Activities for 04 Oct 2024 </vt:lpstr>
      <vt:lpstr>Data Cut Over Plan</vt:lpstr>
      <vt:lpstr>2. Payroll - PeopleStrong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Other HR Tech Apps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2024-09-23T05:25:55Z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0x010100AC69E71116404940AFEA9AF3E9777A6D</vt:lpwstr>
  </property>
</Properties>
</file>