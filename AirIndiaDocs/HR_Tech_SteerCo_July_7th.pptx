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6"/>
  </p:notesMasterIdLst>
  <p:sldIdLst>
    <p:sldId id="256" r:id="rId5"/>
    <p:sldId id="2147482933" r:id="rId6"/>
    <p:sldId id="2147483627" r:id="rId7"/>
    <p:sldId id="2147483606" r:id="rId8"/>
    <p:sldId id="260" r:id="rId9"/>
    <p:sldId id="270" r:id="rId10"/>
    <p:sldId id="269" r:id="rId11"/>
    <p:sldId id="2147483617" r:id="rId12"/>
    <p:sldId id="267" r:id="rId13"/>
    <p:sldId id="2147483629" r:id="rId14"/>
    <p:sldId id="2147483647" r:id="rId15"/>
    <p:sldId id="259" r:id="rId16"/>
    <p:sldId id="258" r:id="rId17"/>
    <p:sldId id="263" r:id="rId18"/>
    <p:sldId id="261" r:id="rId19"/>
    <p:sldId id="264" r:id="rId20"/>
    <p:sldId id="265" r:id="rId21"/>
    <p:sldId id="2147483426" r:id="rId22"/>
    <p:sldId id="262" r:id="rId23"/>
    <p:sldId id="266" r:id="rId24"/>
    <p:sldId id="268" r:id="rId25"/>
  </p:sldIdLst>
  <p:sldSz cx="12192000" cy="6858000"/>
  <p:notesSz cx="6858000" cy="9144000"/>
  <p:embeddedFontLst>
    <p:embeddedFont>
      <p:font typeface="AirIndia" panose="04050608020B02020302" pitchFamily="82"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Nunito Sans" pitchFamily="2" charset="0"/>
      <p:regular r:id="rId35"/>
      <p:bold r:id="rId36"/>
      <p:italic r:id="rId37"/>
      <p:boldItalic r:id="rId38"/>
    </p:embeddedFont>
    <p:embeddedFont>
      <p:font typeface="Segoe UI" panose="020B0502040204020203"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026C07-246F-CFBA-D3C2-18C90E07F6A6}" name="Kunal Kansra" initials="KK" userId="S::kunal.kansra@airindia.com::922aa739-7778-437b-afaf-7a265fb2f933" providerId="AD"/>
  <p188:author id="{8D1A450E-B6BF-FD6B-544F-2ED17AD0030B}" name="Nitin Sehrawat" initials="NS" userId="S::nitin.sehrawat@airindia.com::f77df6bd-2889-457f-9d43-2ab6a4995bdc" providerId="AD"/>
  <p188:author id="{D8AEE157-49BD-4855-9D21-C768C6F80600}" name="Rajiv Dahiya" initials="RD" userId="S::rajiv.dahiya@airindia.com::4d5ca1c2-8edc-4bc1-a11c-0304dcfa41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2067"/>
    <a:srgbClr val="FF6161"/>
    <a:srgbClr val="EE23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3690" autoAdjust="0"/>
  </p:normalViewPr>
  <p:slideViewPr>
    <p:cSldViewPr showGuides="1">
      <p:cViewPr varScale="1">
        <p:scale>
          <a:sx n="59" d="100"/>
          <a:sy n="59" d="100"/>
        </p:scale>
        <p:origin x="28" y="64"/>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7.xml"/><Relationship Id="rId34" Type="http://schemas.openxmlformats.org/officeDocument/2006/relationships/font" Target="fonts/font8.fntdata"/><Relationship Id="rId42" Type="http://schemas.openxmlformats.org/officeDocument/2006/relationships/font" Target="fonts/font16.fntdata"/><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15.fntdata"/></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7518AA-1E39-4973-99AD-90C5D721AA5A}" type="doc">
      <dgm:prSet loTypeId="urn:microsoft.com/office/officeart/2005/8/layout/hProcess11" loCatId="process" qsTypeId="urn:microsoft.com/office/officeart/2005/8/quickstyle/simple1" qsCatId="simple" csTypeId="urn:microsoft.com/office/officeart/2005/8/colors/accent0_1" csCatId="mainScheme" phldr="1"/>
      <dgm:spPr/>
    </dgm:pt>
    <dgm:pt modelId="{B45121B9-90B9-4A6F-AB83-584D2BD988DC}">
      <dgm:prSet phldrT="[Text]"/>
      <dgm:spPr/>
      <dgm:t>
        <a:bodyPr/>
        <a:lstStyle/>
        <a:p>
          <a:r>
            <a:rPr lang="en-IN" b="1" dirty="0"/>
            <a:t>RFP Closure</a:t>
          </a:r>
          <a:endParaRPr lang="en-IN" b="1" dirty="0">
            <a:solidFill>
              <a:srgbClr val="00B050"/>
            </a:solidFill>
          </a:endParaRPr>
        </a:p>
      </dgm:t>
    </dgm:pt>
    <dgm:pt modelId="{E0DB8647-FDA0-4746-9454-B53D3CB51B39}" type="parTrans" cxnId="{0DF515AC-D25B-4BEC-B220-1B11F264681B}">
      <dgm:prSet/>
      <dgm:spPr/>
      <dgm:t>
        <a:bodyPr/>
        <a:lstStyle/>
        <a:p>
          <a:endParaRPr lang="en-IN"/>
        </a:p>
      </dgm:t>
    </dgm:pt>
    <dgm:pt modelId="{055C0249-CC3C-4DDF-B59C-C1A1FEEEB9DD}" type="sibTrans" cxnId="{0DF515AC-D25B-4BEC-B220-1B11F264681B}">
      <dgm:prSet/>
      <dgm:spPr/>
      <dgm:t>
        <a:bodyPr/>
        <a:lstStyle/>
        <a:p>
          <a:endParaRPr lang="en-IN"/>
        </a:p>
      </dgm:t>
    </dgm:pt>
    <dgm:pt modelId="{4944BFC3-310B-4894-A1DB-9855DEAB1C49}">
      <dgm:prSet phldrT="[Text]"/>
      <dgm:spPr/>
      <dgm:t>
        <a:bodyPr/>
        <a:lstStyle/>
        <a:p>
          <a:r>
            <a:rPr lang="en-IN" b="1" dirty="0"/>
            <a:t>Functional &amp; Tech DD Analysis Completion</a:t>
          </a:r>
        </a:p>
      </dgm:t>
    </dgm:pt>
    <dgm:pt modelId="{7FC542C8-6410-46B0-8CC4-9FF8242B4760}" type="parTrans" cxnId="{0693700E-33C0-417B-9DBE-44DEEBA26C8C}">
      <dgm:prSet/>
      <dgm:spPr/>
      <dgm:t>
        <a:bodyPr/>
        <a:lstStyle/>
        <a:p>
          <a:endParaRPr lang="en-IN"/>
        </a:p>
      </dgm:t>
    </dgm:pt>
    <dgm:pt modelId="{C5014C9C-899D-4999-AB78-86CE154B99FA}" type="sibTrans" cxnId="{0693700E-33C0-417B-9DBE-44DEEBA26C8C}">
      <dgm:prSet/>
      <dgm:spPr/>
      <dgm:t>
        <a:bodyPr/>
        <a:lstStyle/>
        <a:p>
          <a:endParaRPr lang="en-IN"/>
        </a:p>
      </dgm:t>
    </dgm:pt>
    <dgm:pt modelId="{0A3224C6-CA2E-4B42-B812-1F31A0864E31}">
      <dgm:prSet phldrT="[Text]"/>
      <dgm:spPr/>
      <dgm:t>
        <a:bodyPr/>
        <a:lstStyle/>
        <a:p>
          <a:r>
            <a:rPr lang="en-IN" b="1" dirty="0"/>
            <a:t>Commercial Discussions &amp; Contract Assignment</a:t>
          </a:r>
        </a:p>
      </dgm:t>
    </dgm:pt>
    <dgm:pt modelId="{F3CAC623-2A0B-48AC-8DC0-5A3779399D73}" type="parTrans" cxnId="{E2D96507-1AD8-4043-94A9-CDD5E8430D97}">
      <dgm:prSet/>
      <dgm:spPr/>
      <dgm:t>
        <a:bodyPr/>
        <a:lstStyle/>
        <a:p>
          <a:endParaRPr lang="en-IN"/>
        </a:p>
      </dgm:t>
    </dgm:pt>
    <dgm:pt modelId="{6EEFF073-7975-407E-9004-AB2EE3F53B92}" type="sibTrans" cxnId="{E2D96507-1AD8-4043-94A9-CDD5E8430D97}">
      <dgm:prSet/>
      <dgm:spPr/>
      <dgm:t>
        <a:bodyPr/>
        <a:lstStyle/>
        <a:p>
          <a:endParaRPr lang="en-IN"/>
        </a:p>
      </dgm:t>
    </dgm:pt>
    <dgm:pt modelId="{92FEA95A-58B3-47AF-8C46-3AEFC707F4A5}">
      <dgm:prSet/>
      <dgm:spPr/>
      <dgm:t>
        <a:bodyPr/>
        <a:lstStyle/>
        <a:p>
          <a:r>
            <a:rPr lang="en-IN" b="1" dirty="0"/>
            <a:t>Requirement Gathering Workshops Completion</a:t>
          </a:r>
        </a:p>
      </dgm:t>
    </dgm:pt>
    <dgm:pt modelId="{63EC894A-3D7B-4797-B193-B7DD02EC5D8D}" type="parTrans" cxnId="{3EE66541-388B-49F7-A149-EAAC09FE6F1C}">
      <dgm:prSet/>
      <dgm:spPr/>
      <dgm:t>
        <a:bodyPr/>
        <a:lstStyle/>
        <a:p>
          <a:endParaRPr lang="en-IN"/>
        </a:p>
      </dgm:t>
    </dgm:pt>
    <dgm:pt modelId="{29BBC626-1D2A-452D-97B5-AA0B596B5B0B}" type="sibTrans" cxnId="{3EE66541-388B-49F7-A149-EAAC09FE6F1C}">
      <dgm:prSet/>
      <dgm:spPr/>
      <dgm:t>
        <a:bodyPr/>
        <a:lstStyle/>
        <a:p>
          <a:endParaRPr lang="en-IN"/>
        </a:p>
      </dgm:t>
    </dgm:pt>
    <dgm:pt modelId="{73CA1DB7-3F49-41D4-8AD8-10C73C8A183F}">
      <dgm:prSet/>
      <dgm:spPr/>
      <dgm:t>
        <a:bodyPr/>
        <a:lstStyle/>
        <a:p>
          <a:r>
            <a:rPr lang="en-IN" b="1" dirty="0"/>
            <a:t>System Configurations &amp; Integrations Start</a:t>
          </a:r>
        </a:p>
      </dgm:t>
    </dgm:pt>
    <dgm:pt modelId="{E98115F7-DFB9-43B5-80DD-107E1B36BF5A}" type="parTrans" cxnId="{A3E4F2F8-F0C6-4DE5-AE01-E978050129EB}">
      <dgm:prSet/>
      <dgm:spPr/>
      <dgm:t>
        <a:bodyPr/>
        <a:lstStyle/>
        <a:p>
          <a:endParaRPr lang="en-IN"/>
        </a:p>
      </dgm:t>
    </dgm:pt>
    <dgm:pt modelId="{682BC2E2-5622-498D-8742-13072FBACA20}" type="sibTrans" cxnId="{A3E4F2F8-F0C6-4DE5-AE01-E978050129EB}">
      <dgm:prSet/>
      <dgm:spPr/>
      <dgm:t>
        <a:bodyPr/>
        <a:lstStyle/>
        <a:p>
          <a:endParaRPr lang="en-IN"/>
        </a:p>
      </dgm:t>
    </dgm:pt>
    <dgm:pt modelId="{C3BC1349-08D0-45B0-A77A-17AF1A891AD7}">
      <dgm:prSet/>
      <dgm:spPr/>
      <dgm:t>
        <a:bodyPr/>
        <a:lstStyle/>
        <a:p>
          <a:r>
            <a:rPr lang="en-IN" b="1" dirty="0"/>
            <a:t>System Configurations &amp; Integrations Completion</a:t>
          </a:r>
        </a:p>
      </dgm:t>
    </dgm:pt>
    <dgm:pt modelId="{F07F5BC7-1C3D-4F62-AD36-06A1AD537C53}" type="parTrans" cxnId="{1ED482D6-12DB-46FF-B8F1-9E24FF2A22FE}">
      <dgm:prSet/>
      <dgm:spPr/>
      <dgm:t>
        <a:bodyPr/>
        <a:lstStyle/>
        <a:p>
          <a:endParaRPr lang="en-IN"/>
        </a:p>
      </dgm:t>
    </dgm:pt>
    <dgm:pt modelId="{115375C7-84E3-4774-8648-65B7D9800339}" type="sibTrans" cxnId="{1ED482D6-12DB-46FF-B8F1-9E24FF2A22FE}">
      <dgm:prSet/>
      <dgm:spPr/>
      <dgm:t>
        <a:bodyPr/>
        <a:lstStyle/>
        <a:p>
          <a:endParaRPr lang="en-IN"/>
        </a:p>
      </dgm:t>
    </dgm:pt>
    <dgm:pt modelId="{D659BFEE-4457-4658-9A60-40B9F98CC5D2}">
      <dgm:prSet/>
      <dgm:spPr/>
      <dgm:t>
        <a:bodyPr/>
        <a:lstStyle/>
        <a:p>
          <a:r>
            <a:rPr lang="en-US" b="1" dirty="0"/>
            <a:t>UAT Completion &amp; End User Trainings</a:t>
          </a:r>
          <a:endParaRPr lang="en-IN" b="1" dirty="0"/>
        </a:p>
      </dgm:t>
    </dgm:pt>
    <dgm:pt modelId="{283A8254-DCCD-4723-AFC2-B80839F402D0}" type="parTrans" cxnId="{496CD1EB-F390-4325-B355-DDD623F691B9}">
      <dgm:prSet/>
      <dgm:spPr/>
      <dgm:t>
        <a:bodyPr/>
        <a:lstStyle/>
        <a:p>
          <a:endParaRPr lang="en-IN"/>
        </a:p>
      </dgm:t>
    </dgm:pt>
    <dgm:pt modelId="{3725C0CB-4824-4DE9-83ED-7CC3AA831A1B}" type="sibTrans" cxnId="{496CD1EB-F390-4325-B355-DDD623F691B9}">
      <dgm:prSet/>
      <dgm:spPr/>
      <dgm:t>
        <a:bodyPr/>
        <a:lstStyle/>
        <a:p>
          <a:endParaRPr lang="en-IN"/>
        </a:p>
      </dgm:t>
    </dgm:pt>
    <dgm:pt modelId="{B7FA122B-4D0C-4BB8-B725-112068FBAA33}">
      <dgm:prSet/>
      <dgm:spPr/>
      <dgm:t>
        <a:bodyPr/>
        <a:lstStyle/>
        <a:p>
          <a:r>
            <a:rPr lang="en-US" b="1" dirty="0">
              <a:solidFill>
                <a:srgbClr val="7030A0"/>
              </a:solidFill>
            </a:rPr>
            <a:t>CAB Approval, Production Deployment &amp; Go-Live</a:t>
          </a:r>
          <a:endParaRPr lang="en-IN" b="1" dirty="0">
            <a:solidFill>
              <a:srgbClr val="7030A0"/>
            </a:solidFill>
          </a:endParaRPr>
        </a:p>
      </dgm:t>
    </dgm:pt>
    <dgm:pt modelId="{699B3189-D7AF-4B17-BEBE-BAFF716B1764}" type="parTrans" cxnId="{55D3E7DE-F010-4451-B8D4-D155B4764761}">
      <dgm:prSet/>
      <dgm:spPr/>
      <dgm:t>
        <a:bodyPr/>
        <a:lstStyle/>
        <a:p>
          <a:endParaRPr lang="en-IN"/>
        </a:p>
      </dgm:t>
    </dgm:pt>
    <dgm:pt modelId="{6979AE05-BB18-487C-B81E-3704769E6058}" type="sibTrans" cxnId="{55D3E7DE-F010-4451-B8D4-D155B4764761}">
      <dgm:prSet/>
      <dgm:spPr/>
      <dgm:t>
        <a:bodyPr/>
        <a:lstStyle/>
        <a:p>
          <a:endParaRPr lang="en-IN"/>
        </a:p>
      </dgm:t>
    </dgm:pt>
    <dgm:pt modelId="{F6869485-6A2C-49BE-92BA-AC080C322DA0}" type="pres">
      <dgm:prSet presAssocID="{697518AA-1E39-4973-99AD-90C5D721AA5A}" presName="Name0" presStyleCnt="0">
        <dgm:presLayoutVars>
          <dgm:dir/>
          <dgm:resizeHandles val="exact"/>
        </dgm:presLayoutVars>
      </dgm:prSet>
      <dgm:spPr/>
    </dgm:pt>
    <dgm:pt modelId="{4C93C5DD-B123-49E8-B51F-2893D7279F82}" type="pres">
      <dgm:prSet presAssocID="{697518AA-1E39-4973-99AD-90C5D721AA5A}" presName="arrow" presStyleLbl="bgShp" presStyleIdx="0" presStyleCnt="1"/>
      <dgm:spPr/>
    </dgm:pt>
    <dgm:pt modelId="{662E6796-E7E2-4E57-9933-DD4AF89BC3F8}" type="pres">
      <dgm:prSet presAssocID="{697518AA-1E39-4973-99AD-90C5D721AA5A}" presName="points" presStyleCnt="0"/>
      <dgm:spPr/>
    </dgm:pt>
    <dgm:pt modelId="{985DDF4A-9866-428B-9774-41E5BCFE8927}" type="pres">
      <dgm:prSet presAssocID="{B45121B9-90B9-4A6F-AB83-584D2BD988DC}" presName="compositeA" presStyleCnt="0"/>
      <dgm:spPr/>
    </dgm:pt>
    <dgm:pt modelId="{5AB983DF-2501-4EDE-8DD3-3EBB19C37DCE}" type="pres">
      <dgm:prSet presAssocID="{B45121B9-90B9-4A6F-AB83-584D2BD988DC}" presName="textA" presStyleLbl="revTx" presStyleIdx="0" presStyleCnt="8">
        <dgm:presLayoutVars>
          <dgm:bulletEnabled val="1"/>
        </dgm:presLayoutVars>
      </dgm:prSet>
      <dgm:spPr/>
    </dgm:pt>
    <dgm:pt modelId="{CBDB3E6B-3376-404C-BCC3-7869D484290B}" type="pres">
      <dgm:prSet presAssocID="{B45121B9-90B9-4A6F-AB83-584D2BD988DC}" presName="circleA" presStyleLbl="node1" presStyleIdx="0" presStyleCnt="8"/>
      <dgm:spPr>
        <a:solidFill>
          <a:srgbClr val="00B050"/>
        </a:solidFill>
      </dgm:spPr>
    </dgm:pt>
    <dgm:pt modelId="{12135D5F-632A-4372-BB39-70BBA3C06712}" type="pres">
      <dgm:prSet presAssocID="{B45121B9-90B9-4A6F-AB83-584D2BD988DC}" presName="spaceA" presStyleCnt="0"/>
      <dgm:spPr/>
    </dgm:pt>
    <dgm:pt modelId="{145D7D17-EC39-41D0-876E-F63A235814D7}" type="pres">
      <dgm:prSet presAssocID="{055C0249-CC3C-4DDF-B59C-C1A1FEEEB9DD}" presName="space" presStyleCnt="0"/>
      <dgm:spPr/>
    </dgm:pt>
    <dgm:pt modelId="{0FEBCE80-B30C-41FC-B219-E8C1CCB9A2E8}" type="pres">
      <dgm:prSet presAssocID="{4944BFC3-310B-4894-A1DB-9855DEAB1C49}" presName="compositeB" presStyleCnt="0"/>
      <dgm:spPr/>
    </dgm:pt>
    <dgm:pt modelId="{C7A9C43B-0F5F-463A-BE32-7BEEF4EDC0EE}" type="pres">
      <dgm:prSet presAssocID="{4944BFC3-310B-4894-A1DB-9855DEAB1C49}" presName="textB" presStyleLbl="revTx" presStyleIdx="1" presStyleCnt="8">
        <dgm:presLayoutVars>
          <dgm:bulletEnabled val="1"/>
        </dgm:presLayoutVars>
      </dgm:prSet>
      <dgm:spPr/>
    </dgm:pt>
    <dgm:pt modelId="{C024BDCB-48D7-4011-B1E9-CE328789AAFE}" type="pres">
      <dgm:prSet presAssocID="{4944BFC3-310B-4894-A1DB-9855DEAB1C49}" presName="circleB" presStyleLbl="node1" presStyleIdx="1" presStyleCnt="8"/>
      <dgm:spPr>
        <a:solidFill>
          <a:srgbClr val="00B050"/>
        </a:solidFill>
      </dgm:spPr>
    </dgm:pt>
    <dgm:pt modelId="{E2C98062-14CA-4622-A2DA-91D6E8D1FE8F}" type="pres">
      <dgm:prSet presAssocID="{4944BFC3-310B-4894-A1DB-9855DEAB1C49}" presName="spaceB" presStyleCnt="0"/>
      <dgm:spPr/>
    </dgm:pt>
    <dgm:pt modelId="{8B41E22F-D0DD-43DE-9370-E2ACFBB17918}" type="pres">
      <dgm:prSet presAssocID="{C5014C9C-899D-4999-AB78-86CE154B99FA}" presName="space" presStyleCnt="0"/>
      <dgm:spPr/>
    </dgm:pt>
    <dgm:pt modelId="{946E8FA6-8CC5-4C3F-9AAB-9BD8206373F1}" type="pres">
      <dgm:prSet presAssocID="{0A3224C6-CA2E-4B42-B812-1F31A0864E31}" presName="compositeA" presStyleCnt="0"/>
      <dgm:spPr/>
    </dgm:pt>
    <dgm:pt modelId="{AB0CBBD6-3083-405B-AB0D-9B6272053F78}" type="pres">
      <dgm:prSet presAssocID="{0A3224C6-CA2E-4B42-B812-1F31A0864E31}" presName="textA" presStyleLbl="revTx" presStyleIdx="2" presStyleCnt="8">
        <dgm:presLayoutVars>
          <dgm:bulletEnabled val="1"/>
        </dgm:presLayoutVars>
      </dgm:prSet>
      <dgm:spPr/>
    </dgm:pt>
    <dgm:pt modelId="{FCD722CB-B3F2-4723-AEAC-A4A8D283E42B}" type="pres">
      <dgm:prSet presAssocID="{0A3224C6-CA2E-4B42-B812-1F31A0864E31}" presName="circleA" presStyleLbl="node1" presStyleIdx="2" presStyleCnt="8"/>
      <dgm:spPr>
        <a:solidFill>
          <a:srgbClr val="C00000"/>
        </a:solidFill>
      </dgm:spPr>
    </dgm:pt>
    <dgm:pt modelId="{1CFF95A5-B79B-4DFA-B720-AB050FA979D2}" type="pres">
      <dgm:prSet presAssocID="{0A3224C6-CA2E-4B42-B812-1F31A0864E31}" presName="spaceA" presStyleCnt="0"/>
      <dgm:spPr/>
    </dgm:pt>
    <dgm:pt modelId="{EA589594-D977-4A69-AFA0-9B8F46752285}" type="pres">
      <dgm:prSet presAssocID="{6EEFF073-7975-407E-9004-AB2EE3F53B92}" presName="space" presStyleCnt="0"/>
      <dgm:spPr/>
    </dgm:pt>
    <dgm:pt modelId="{C6A7DED6-74EB-448D-8CAD-5188A1BD59A1}" type="pres">
      <dgm:prSet presAssocID="{92FEA95A-58B3-47AF-8C46-3AEFC707F4A5}" presName="compositeB" presStyleCnt="0"/>
      <dgm:spPr/>
    </dgm:pt>
    <dgm:pt modelId="{22A1F75A-C54F-481F-B4D4-E49189945EFC}" type="pres">
      <dgm:prSet presAssocID="{92FEA95A-58B3-47AF-8C46-3AEFC707F4A5}" presName="textB" presStyleLbl="revTx" presStyleIdx="3" presStyleCnt="8">
        <dgm:presLayoutVars>
          <dgm:bulletEnabled val="1"/>
        </dgm:presLayoutVars>
      </dgm:prSet>
      <dgm:spPr/>
    </dgm:pt>
    <dgm:pt modelId="{B681403E-CFD6-4FAC-A728-2953933ED0DE}" type="pres">
      <dgm:prSet presAssocID="{92FEA95A-58B3-47AF-8C46-3AEFC707F4A5}" presName="circleB" presStyleLbl="node1" presStyleIdx="3" presStyleCnt="8"/>
      <dgm:spPr>
        <a:solidFill>
          <a:srgbClr val="00B050"/>
        </a:solidFill>
      </dgm:spPr>
    </dgm:pt>
    <dgm:pt modelId="{8435BE96-6CDE-4CF7-A368-4D2F6E299CFD}" type="pres">
      <dgm:prSet presAssocID="{92FEA95A-58B3-47AF-8C46-3AEFC707F4A5}" presName="spaceB" presStyleCnt="0"/>
      <dgm:spPr/>
    </dgm:pt>
    <dgm:pt modelId="{B1CA651C-E1B6-4FE5-8E84-2B9A54E18FA4}" type="pres">
      <dgm:prSet presAssocID="{29BBC626-1D2A-452D-97B5-AA0B596B5B0B}" presName="space" presStyleCnt="0"/>
      <dgm:spPr/>
    </dgm:pt>
    <dgm:pt modelId="{6C82E1DE-F3B8-4C57-80ED-CCB95C414A59}" type="pres">
      <dgm:prSet presAssocID="{73CA1DB7-3F49-41D4-8AD8-10C73C8A183F}" presName="compositeA" presStyleCnt="0"/>
      <dgm:spPr/>
    </dgm:pt>
    <dgm:pt modelId="{A2164D32-FAD1-499E-B166-EFB2F628D479}" type="pres">
      <dgm:prSet presAssocID="{73CA1DB7-3F49-41D4-8AD8-10C73C8A183F}" presName="textA" presStyleLbl="revTx" presStyleIdx="4" presStyleCnt="8">
        <dgm:presLayoutVars>
          <dgm:bulletEnabled val="1"/>
        </dgm:presLayoutVars>
      </dgm:prSet>
      <dgm:spPr/>
    </dgm:pt>
    <dgm:pt modelId="{6170C87F-815A-4ED8-B280-9E2E3B47ACC6}" type="pres">
      <dgm:prSet presAssocID="{73CA1DB7-3F49-41D4-8AD8-10C73C8A183F}" presName="circleA" presStyleLbl="node1" presStyleIdx="4" presStyleCnt="8"/>
      <dgm:spPr>
        <a:solidFill>
          <a:srgbClr val="00B050"/>
        </a:solidFill>
      </dgm:spPr>
    </dgm:pt>
    <dgm:pt modelId="{0F80C5BA-68F2-49FD-B682-3CD0FF738A95}" type="pres">
      <dgm:prSet presAssocID="{73CA1DB7-3F49-41D4-8AD8-10C73C8A183F}" presName="spaceA" presStyleCnt="0"/>
      <dgm:spPr/>
    </dgm:pt>
    <dgm:pt modelId="{AE36FF11-8C25-436F-9308-FED3B215C59B}" type="pres">
      <dgm:prSet presAssocID="{682BC2E2-5622-498D-8742-13072FBACA20}" presName="space" presStyleCnt="0"/>
      <dgm:spPr/>
    </dgm:pt>
    <dgm:pt modelId="{DD6B9082-8004-4004-8F0A-652933C441DA}" type="pres">
      <dgm:prSet presAssocID="{C3BC1349-08D0-45B0-A77A-17AF1A891AD7}" presName="compositeB" presStyleCnt="0"/>
      <dgm:spPr/>
    </dgm:pt>
    <dgm:pt modelId="{DD033695-7977-4764-8529-9681ADB30D00}" type="pres">
      <dgm:prSet presAssocID="{C3BC1349-08D0-45B0-A77A-17AF1A891AD7}" presName="textB" presStyleLbl="revTx" presStyleIdx="5" presStyleCnt="8">
        <dgm:presLayoutVars>
          <dgm:bulletEnabled val="1"/>
        </dgm:presLayoutVars>
      </dgm:prSet>
      <dgm:spPr/>
    </dgm:pt>
    <dgm:pt modelId="{746EC6C4-C80A-4D80-B547-6095F96184A0}" type="pres">
      <dgm:prSet presAssocID="{C3BC1349-08D0-45B0-A77A-17AF1A891AD7}" presName="circleB" presStyleLbl="node1" presStyleIdx="5" presStyleCnt="8"/>
      <dgm:spPr/>
    </dgm:pt>
    <dgm:pt modelId="{EA39CFA5-F53C-442A-80E6-E6FFF2905FFB}" type="pres">
      <dgm:prSet presAssocID="{C3BC1349-08D0-45B0-A77A-17AF1A891AD7}" presName="spaceB" presStyleCnt="0"/>
      <dgm:spPr/>
    </dgm:pt>
    <dgm:pt modelId="{C4292978-9315-41E2-BE91-E53B97D0D84B}" type="pres">
      <dgm:prSet presAssocID="{115375C7-84E3-4774-8648-65B7D9800339}" presName="space" presStyleCnt="0"/>
      <dgm:spPr/>
    </dgm:pt>
    <dgm:pt modelId="{4B1B2FCA-B2E1-4A5B-BB0C-8A35065E4EDE}" type="pres">
      <dgm:prSet presAssocID="{D659BFEE-4457-4658-9A60-40B9F98CC5D2}" presName="compositeA" presStyleCnt="0"/>
      <dgm:spPr/>
    </dgm:pt>
    <dgm:pt modelId="{AD440EF7-44B7-4AD1-B976-7DD0F1A3CF20}" type="pres">
      <dgm:prSet presAssocID="{D659BFEE-4457-4658-9A60-40B9F98CC5D2}" presName="textA" presStyleLbl="revTx" presStyleIdx="6" presStyleCnt="8">
        <dgm:presLayoutVars>
          <dgm:bulletEnabled val="1"/>
        </dgm:presLayoutVars>
      </dgm:prSet>
      <dgm:spPr/>
    </dgm:pt>
    <dgm:pt modelId="{AA550A64-0BF0-4A6E-9714-2D0272C3ABDD}" type="pres">
      <dgm:prSet presAssocID="{D659BFEE-4457-4658-9A60-40B9F98CC5D2}" presName="circleA" presStyleLbl="node1" presStyleIdx="6" presStyleCnt="8"/>
      <dgm:spPr/>
    </dgm:pt>
    <dgm:pt modelId="{C229A4DB-7026-4B2A-99D5-3AC35773C489}" type="pres">
      <dgm:prSet presAssocID="{D659BFEE-4457-4658-9A60-40B9F98CC5D2}" presName="spaceA" presStyleCnt="0"/>
      <dgm:spPr/>
    </dgm:pt>
    <dgm:pt modelId="{7F4BF459-034C-4A82-B1F0-31C7457B746A}" type="pres">
      <dgm:prSet presAssocID="{3725C0CB-4824-4DE9-83ED-7CC3AA831A1B}" presName="space" presStyleCnt="0"/>
      <dgm:spPr/>
    </dgm:pt>
    <dgm:pt modelId="{BA47B2A5-A7FD-4DA0-A772-DE646043F20E}" type="pres">
      <dgm:prSet presAssocID="{B7FA122B-4D0C-4BB8-B725-112068FBAA33}" presName="compositeB" presStyleCnt="0"/>
      <dgm:spPr/>
    </dgm:pt>
    <dgm:pt modelId="{39C5C8A1-DCAC-42EF-BFE3-75CAFB3D1182}" type="pres">
      <dgm:prSet presAssocID="{B7FA122B-4D0C-4BB8-B725-112068FBAA33}" presName="textB" presStyleLbl="revTx" presStyleIdx="7" presStyleCnt="8">
        <dgm:presLayoutVars>
          <dgm:bulletEnabled val="1"/>
        </dgm:presLayoutVars>
      </dgm:prSet>
      <dgm:spPr/>
    </dgm:pt>
    <dgm:pt modelId="{97C00991-1122-46D0-92D7-BF83EFEE462E}" type="pres">
      <dgm:prSet presAssocID="{B7FA122B-4D0C-4BB8-B725-112068FBAA33}" presName="circleB" presStyleLbl="node1" presStyleIdx="7" presStyleCnt="8"/>
      <dgm:spPr/>
    </dgm:pt>
    <dgm:pt modelId="{ECB1660C-6857-4B52-8F94-5E792C290EBF}" type="pres">
      <dgm:prSet presAssocID="{B7FA122B-4D0C-4BB8-B725-112068FBAA33}" presName="spaceB" presStyleCnt="0"/>
      <dgm:spPr/>
    </dgm:pt>
  </dgm:ptLst>
  <dgm:cxnLst>
    <dgm:cxn modelId="{E2D96507-1AD8-4043-94A9-CDD5E8430D97}" srcId="{697518AA-1E39-4973-99AD-90C5D721AA5A}" destId="{0A3224C6-CA2E-4B42-B812-1F31A0864E31}" srcOrd="2" destOrd="0" parTransId="{F3CAC623-2A0B-48AC-8DC0-5A3779399D73}" sibTransId="{6EEFF073-7975-407E-9004-AB2EE3F53B92}"/>
    <dgm:cxn modelId="{0693700E-33C0-417B-9DBE-44DEEBA26C8C}" srcId="{697518AA-1E39-4973-99AD-90C5D721AA5A}" destId="{4944BFC3-310B-4894-A1DB-9855DEAB1C49}" srcOrd="1" destOrd="0" parTransId="{7FC542C8-6410-46B0-8CC4-9FF8242B4760}" sibTransId="{C5014C9C-899D-4999-AB78-86CE154B99FA}"/>
    <dgm:cxn modelId="{B18B040F-3541-4B9C-AE55-B62C818FE86B}" type="presOf" srcId="{73CA1DB7-3F49-41D4-8AD8-10C73C8A183F}" destId="{A2164D32-FAD1-499E-B166-EFB2F628D479}" srcOrd="0" destOrd="0" presId="urn:microsoft.com/office/officeart/2005/8/layout/hProcess11"/>
    <dgm:cxn modelId="{A1B51832-B368-4382-83F3-DB65C049326A}" type="presOf" srcId="{697518AA-1E39-4973-99AD-90C5D721AA5A}" destId="{F6869485-6A2C-49BE-92BA-AC080C322DA0}" srcOrd="0" destOrd="0" presId="urn:microsoft.com/office/officeart/2005/8/layout/hProcess11"/>
    <dgm:cxn modelId="{A8F28A3A-2DA9-43B0-999D-2C98AAAB8340}" type="presOf" srcId="{B45121B9-90B9-4A6F-AB83-584D2BD988DC}" destId="{5AB983DF-2501-4EDE-8DD3-3EBB19C37DCE}" srcOrd="0" destOrd="0" presId="urn:microsoft.com/office/officeart/2005/8/layout/hProcess11"/>
    <dgm:cxn modelId="{A800D83E-16B8-4C16-B42D-4BCE508DC9CB}" type="presOf" srcId="{4944BFC3-310B-4894-A1DB-9855DEAB1C49}" destId="{C7A9C43B-0F5F-463A-BE32-7BEEF4EDC0EE}" srcOrd="0" destOrd="0" presId="urn:microsoft.com/office/officeart/2005/8/layout/hProcess11"/>
    <dgm:cxn modelId="{3EE66541-388B-49F7-A149-EAAC09FE6F1C}" srcId="{697518AA-1E39-4973-99AD-90C5D721AA5A}" destId="{92FEA95A-58B3-47AF-8C46-3AEFC707F4A5}" srcOrd="3" destOrd="0" parTransId="{63EC894A-3D7B-4797-B193-B7DD02EC5D8D}" sibTransId="{29BBC626-1D2A-452D-97B5-AA0B596B5B0B}"/>
    <dgm:cxn modelId="{C9C17C47-1D8C-480C-95F2-EEF08EC406C5}" type="presOf" srcId="{92FEA95A-58B3-47AF-8C46-3AEFC707F4A5}" destId="{22A1F75A-C54F-481F-B4D4-E49189945EFC}" srcOrd="0" destOrd="0" presId="urn:microsoft.com/office/officeart/2005/8/layout/hProcess11"/>
    <dgm:cxn modelId="{AD157B9D-9960-464F-A982-2939BB10B42D}" type="presOf" srcId="{D659BFEE-4457-4658-9A60-40B9F98CC5D2}" destId="{AD440EF7-44B7-4AD1-B976-7DD0F1A3CF20}" srcOrd="0" destOrd="0" presId="urn:microsoft.com/office/officeart/2005/8/layout/hProcess11"/>
    <dgm:cxn modelId="{0DF515AC-D25B-4BEC-B220-1B11F264681B}" srcId="{697518AA-1E39-4973-99AD-90C5D721AA5A}" destId="{B45121B9-90B9-4A6F-AB83-584D2BD988DC}" srcOrd="0" destOrd="0" parTransId="{E0DB8647-FDA0-4746-9454-B53D3CB51B39}" sibTransId="{055C0249-CC3C-4DDF-B59C-C1A1FEEEB9DD}"/>
    <dgm:cxn modelId="{5D4908D1-CBB7-45E2-B9F7-202AFBB8124B}" type="presOf" srcId="{0A3224C6-CA2E-4B42-B812-1F31A0864E31}" destId="{AB0CBBD6-3083-405B-AB0D-9B6272053F78}" srcOrd="0" destOrd="0" presId="urn:microsoft.com/office/officeart/2005/8/layout/hProcess11"/>
    <dgm:cxn modelId="{1ED482D6-12DB-46FF-B8F1-9E24FF2A22FE}" srcId="{697518AA-1E39-4973-99AD-90C5D721AA5A}" destId="{C3BC1349-08D0-45B0-A77A-17AF1A891AD7}" srcOrd="5" destOrd="0" parTransId="{F07F5BC7-1C3D-4F62-AD36-06A1AD537C53}" sibTransId="{115375C7-84E3-4774-8648-65B7D9800339}"/>
    <dgm:cxn modelId="{55D3E7DE-F010-4451-B8D4-D155B4764761}" srcId="{697518AA-1E39-4973-99AD-90C5D721AA5A}" destId="{B7FA122B-4D0C-4BB8-B725-112068FBAA33}" srcOrd="7" destOrd="0" parTransId="{699B3189-D7AF-4B17-BEBE-BAFF716B1764}" sibTransId="{6979AE05-BB18-487C-B81E-3704769E6058}"/>
    <dgm:cxn modelId="{496CD1EB-F390-4325-B355-DDD623F691B9}" srcId="{697518AA-1E39-4973-99AD-90C5D721AA5A}" destId="{D659BFEE-4457-4658-9A60-40B9F98CC5D2}" srcOrd="6" destOrd="0" parTransId="{283A8254-DCCD-4723-AFC2-B80839F402D0}" sibTransId="{3725C0CB-4824-4DE9-83ED-7CC3AA831A1B}"/>
    <dgm:cxn modelId="{7AF950EF-7A68-4C3F-BF29-74D14A1381B0}" type="presOf" srcId="{C3BC1349-08D0-45B0-A77A-17AF1A891AD7}" destId="{DD033695-7977-4764-8529-9681ADB30D00}" srcOrd="0" destOrd="0" presId="urn:microsoft.com/office/officeart/2005/8/layout/hProcess11"/>
    <dgm:cxn modelId="{63412EF5-D9E0-4EF6-BF38-67D767C05A3A}" type="presOf" srcId="{B7FA122B-4D0C-4BB8-B725-112068FBAA33}" destId="{39C5C8A1-DCAC-42EF-BFE3-75CAFB3D1182}" srcOrd="0" destOrd="0" presId="urn:microsoft.com/office/officeart/2005/8/layout/hProcess11"/>
    <dgm:cxn modelId="{A3E4F2F8-F0C6-4DE5-AE01-E978050129EB}" srcId="{697518AA-1E39-4973-99AD-90C5D721AA5A}" destId="{73CA1DB7-3F49-41D4-8AD8-10C73C8A183F}" srcOrd="4" destOrd="0" parTransId="{E98115F7-DFB9-43B5-80DD-107E1B36BF5A}" sibTransId="{682BC2E2-5622-498D-8742-13072FBACA20}"/>
    <dgm:cxn modelId="{1308C86D-0A92-485E-8A3B-646FBDFC9483}" type="presParOf" srcId="{F6869485-6A2C-49BE-92BA-AC080C322DA0}" destId="{4C93C5DD-B123-49E8-B51F-2893D7279F82}" srcOrd="0" destOrd="0" presId="urn:microsoft.com/office/officeart/2005/8/layout/hProcess11"/>
    <dgm:cxn modelId="{9088C73C-44B6-405A-A62F-5675FED8AC2E}" type="presParOf" srcId="{F6869485-6A2C-49BE-92BA-AC080C322DA0}" destId="{662E6796-E7E2-4E57-9933-DD4AF89BC3F8}" srcOrd="1" destOrd="0" presId="urn:microsoft.com/office/officeart/2005/8/layout/hProcess11"/>
    <dgm:cxn modelId="{A3DFC460-EED4-4735-BF1A-74CC88E3E77B}" type="presParOf" srcId="{662E6796-E7E2-4E57-9933-DD4AF89BC3F8}" destId="{985DDF4A-9866-428B-9774-41E5BCFE8927}" srcOrd="0" destOrd="0" presId="urn:microsoft.com/office/officeart/2005/8/layout/hProcess11"/>
    <dgm:cxn modelId="{9E0874B2-2E3F-4F44-9D7B-1D3C1810C652}" type="presParOf" srcId="{985DDF4A-9866-428B-9774-41E5BCFE8927}" destId="{5AB983DF-2501-4EDE-8DD3-3EBB19C37DCE}" srcOrd="0" destOrd="0" presId="urn:microsoft.com/office/officeart/2005/8/layout/hProcess11"/>
    <dgm:cxn modelId="{173E6718-9C0E-435A-858A-D5F112DB9F60}" type="presParOf" srcId="{985DDF4A-9866-428B-9774-41E5BCFE8927}" destId="{CBDB3E6B-3376-404C-BCC3-7869D484290B}" srcOrd="1" destOrd="0" presId="urn:microsoft.com/office/officeart/2005/8/layout/hProcess11"/>
    <dgm:cxn modelId="{81F9563D-B044-488B-ABA7-A60A605E2B68}" type="presParOf" srcId="{985DDF4A-9866-428B-9774-41E5BCFE8927}" destId="{12135D5F-632A-4372-BB39-70BBA3C06712}" srcOrd="2" destOrd="0" presId="urn:microsoft.com/office/officeart/2005/8/layout/hProcess11"/>
    <dgm:cxn modelId="{E5BCE020-C0E4-4C85-9CCC-92FC67DA09E4}" type="presParOf" srcId="{662E6796-E7E2-4E57-9933-DD4AF89BC3F8}" destId="{145D7D17-EC39-41D0-876E-F63A235814D7}" srcOrd="1" destOrd="0" presId="urn:microsoft.com/office/officeart/2005/8/layout/hProcess11"/>
    <dgm:cxn modelId="{6E070DBB-AB9D-450D-AB36-DC8A84186C79}" type="presParOf" srcId="{662E6796-E7E2-4E57-9933-DD4AF89BC3F8}" destId="{0FEBCE80-B30C-41FC-B219-E8C1CCB9A2E8}" srcOrd="2" destOrd="0" presId="urn:microsoft.com/office/officeart/2005/8/layout/hProcess11"/>
    <dgm:cxn modelId="{B1D78DB0-180D-496B-8244-587016FCE8D0}" type="presParOf" srcId="{0FEBCE80-B30C-41FC-B219-E8C1CCB9A2E8}" destId="{C7A9C43B-0F5F-463A-BE32-7BEEF4EDC0EE}" srcOrd="0" destOrd="0" presId="urn:microsoft.com/office/officeart/2005/8/layout/hProcess11"/>
    <dgm:cxn modelId="{3A52AC7A-2761-4777-A34D-F5E33384EDBD}" type="presParOf" srcId="{0FEBCE80-B30C-41FC-B219-E8C1CCB9A2E8}" destId="{C024BDCB-48D7-4011-B1E9-CE328789AAFE}" srcOrd="1" destOrd="0" presId="urn:microsoft.com/office/officeart/2005/8/layout/hProcess11"/>
    <dgm:cxn modelId="{5C553A96-0E56-416B-A5CC-C1C161D9C72D}" type="presParOf" srcId="{0FEBCE80-B30C-41FC-B219-E8C1CCB9A2E8}" destId="{E2C98062-14CA-4622-A2DA-91D6E8D1FE8F}" srcOrd="2" destOrd="0" presId="urn:microsoft.com/office/officeart/2005/8/layout/hProcess11"/>
    <dgm:cxn modelId="{CD2C1B6A-6455-4269-AE0D-EC4692317FF3}" type="presParOf" srcId="{662E6796-E7E2-4E57-9933-DD4AF89BC3F8}" destId="{8B41E22F-D0DD-43DE-9370-E2ACFBB17918}" srcOrd="3" destOrd="0" presId="urn:microsoft.com/office/officeart/2005/8/layout/hProcess11"/>
    <dgm:cxn modelId="{B3B6C27F-2500-45FA-B1AB-512995E674EE}" type="presParOf" srcId="{662E6796-E7E2-4E57-9933-DD4AF89BC3F8}" destId="{946E8FA6-8CC5-4C3F-9AAB-9BD8206373F1}" srcOrd="4" destOrd="0" presId="urn:microsoft.com/office/officeart/2005/8/layout/hProcess11"/>
    <dgm:cxn modelId="{810E49FE-9929-48DE-9245-A56AA11C84E6}" type="presParOf" srcId="{946E8FA6-8CC5-4C3F-9AAB-9BD8206373F1}" destId="{AB0CBBD6-3083-405B-AB0D-9B6272053F78}" srcOrd="0" destOrd="0" presId="urn:microsoft.com/office/officeart/2005/8/layout/hProcess11"/>
    <dgm:cxn modelId="{C1FE38A7-F63C-46E1-98D9-8C66418D7422}" type="presParOf" srcId="{946E8FA6-8CC5-4C3F-9AAB-9BD8206373F1}" destId="{FCD722CB-B3F2-4723-AEAC-A4A8D283E42B}" srcOrd="1" destOrd="0" presId="urn:microsoft.com/office/officeart/2005/8/layout/hProcess11"/>
    <dgm:cxn modelId="{288BA03B-B148-4EF4-906A-360AD93EC692}" type="presParOf" srcId="{946E8FA6-8CC5-4C3F-9AAB-9BD8206373F1}" destId="{1CFF95A5-B79B-4DFA-B720-AB050FA979D2}" srcOrd="2" destOrd="0" presId="urn:microsoft.com/office/officeart/2005/8/layout/hProcess11"/>
    <dgm:cxn modelId="{7A68BCE6-75F3-4E33-B0C3-C6FF7B30BDA4}" type="presParOf" srcId="{662E6796-E7E2-4E57-9933-DD4AF89BC3F8}" destId="{EA589594-D977-4A69-AFA0-9B8F46752285}" srcOrd="5" destOrd="0" presId="urn:microsoft.com/office/officeart/2005/8/layout/hProcess11"/>
    <dgm:cxn modelId="{1329C8A9-15F6-4993-B217-DD1F7D2A2A07}" type="presParOf" srcId="{662E6796-E7E2-4E57-9933-DD4AF89BC3F8}" destId="{C6A7DED6-74EB-448D-8CAD-5188A1BD59A1}" srcOrd="6" destOrd="0" presId="urn:microsoft.com/office/officeart/2005/8/layout/hProcess11"/>
    <dgm:cxn modelId="{A069E2E9-F151-49BE-B062-D86C80AB7A87}" type="presParOf" srcId="{C6A7DED6-74EB-448D-8CAD-5188A1BD59A1}" destId="{22A1F75A-C54F-481F-B4D4-E49189945EFC}" srcOrd="0" destOrd="0" presId="urn:microsoft.com/office/officeart/2005/8/layout/hProcess11"/>
    <dgm:cxn modelId="{F113AE50-18AF-4F03-922B-5461C56CCC58}" type="presParOf" srcId="{C6A7DED6-74EB-448D-8CAD-5188A1BD59A1}" destId="{B681403E-CFD6-4FAC-A728-2953933ED0DE}" srcOrd="1" destOrd="0" presId="urn:microsoft.com/office/officeart/2005/8/layout/hProcess11"/>
    <dgm:cxn modelId="{0F45FB03-42CB-49EA-9558-EA4D3271A99A}" type="presParOf" srcId="{C6A7DED6-74EB-448D-8CAD-5188A1BD59A1}" destId="{8435BE96-6CDE-4CF7-A368-4D2F6E299CFD}" srcOrd="2" destOrd="0" presId="urn:microsoft.com/office/officeart/2005/8/layout/hProcess11"/>
    <dgm:cxn modelId="{5B616C34-403E-4525-8DF9-ECE0DA6F68F9}" type="presParOf" srcId="{662E6796-E7E2-4E57-9933-DD4AF89BC3F8}" destId="{B1CA651C-E1B6-4FE5-8E84-2B9A54E18FA4}" srcOrd="7" destOrd="0" presId="urn:microsoft.com/office/officeart/2005/8/layout/hProcess11"/>
    <dgm:cxn modelId="{742E7E04-1637-4E96-BF67-B5E54F7D2271}" type="presParOf" srcId="{662E6796-E7E2-4E57-9933-DD4AF89BC3F8}" destId="{6C82E1DE-F3B8-4C57-80ED-CCB95C414A59}" srcOrd="8" destOrd="0" presId="urn:microsoft.com/office/officeart/2005/8/layout/hProcess11"/>
    <dgm:cxn modelId="{EBA39CAD-D673-4F42-B1AC-41B59E06CA0E}" type="presParOf" srcId="{6C82E1DE-F3B8-4C57-80ED-CCB95C414A59}" destId="{A2164D32-FAD1-499E-B166-EFB2F628D479}" srcOrd="0" destOrd="0" presId="urn:microsoft.com/office/officeart/2005/8/layout/hProcess11"/>
    <dgm:cxn modelId="{A27C8763-8FE2-4930-8AF5-38E348E49C96}" type="presParOf" srcId="{6C82E1DE-F3B8-4C57-80ED-CCB95C414A59}" destId="{6170C87F-815A-4ED8-B280-9E2E3B47ACC6}" srcOrd="1" destOrd="0" presId="urn:microsoft.com/office/officeart/2005/8/layout/hProcess11"/>
    <dgm:cxn modelId="{2EA5485E-5311-4FBA-971E-5E2B98EAD8E1}" type="presParOf" srcId="{6C82E1DE-F3B8-4C57-80ED-CCB95C414A59}" destId="{0F80C5BA-68F2-49FD-B682-3CD0FF738A95}" srcOrd="2" destOrd="0" presId="urn:microsoft.com/office/officeart/2005/8/layout/hProcess11"/>
    <dgm:cxn modelId="{F83A61EE-8B2A-46C0-8A89-5FCFD25AB527}" type="presParOf" srcId="{662E6796-E7E2-4E57-9933-DD4AF89BC3F8}" destId="{AE36FF11-8C25-436F-9308-FED3B215C59B}" srcOrd="9" destOrd="0" presId="urn:microsoft.com/office/officeart/2005/8/layout/hProcess11"/>
    <dgm:cxn modelId="{DE7E3E98-1557-48FD-ACDE-91ECB22211BF}" type="presParOf" srcId="{662E6796-E7E2-4E57-9933-DD4AF89BC3F8}" destId="{DD6B9082-8004-4004-8F0A-652933C441DA}" srcOrd="10" destOrd="0" presId="urn:microsoft.com/office/officeart/2005/8/layout/hProcess11"/>
    <dgm:cxn modelId="{DB3AE307-0F3D-43C9-821F-0AB56A194582}" type="presParOf" srcId="{DD6B9082-8004-4004-8F0A-652933C441DA}" destId="{DD033695-7977-4764-8529-9681ADB30D00}" srcOrd="0" destOrd="0" presId="urn:microsoft.com/office/officeart/2005/8/layout/hProcess11"/>
    <dgm:cxn modelId="{F4D84676-DA34-4ADB-B3E4-C96724F3ADA5}" type="presParOf" srcId="{DD6B9082-8004-4004-8F0A-652933C441DA}" destId="{746EC6C4-C80A-4D80-B547-6095F96184A0}" srcOrd="1" destOrd="0" presId="urn:microsoft.com/office/officeart/2005/8/layout/hProcess11"/>
    <dgm:cxn modelId="{82D1BACC-A531-45A9-A809-E5239DC51935}" type="presParOf" srcId="{DD6B9082-8004-4004-8F0A-652933C441DA}" destId="{EA39CFA5-F53C-442A-80E6-E6FFF2905FFB}" srcOrd="2" destOrd="0" presId="urn:microsoft.com/office/officeart/2005/8/layout/hProcess11"/>
    <dgm:cxn modelId="{B5AF00F5-5C6B-477F-A2CB-3D05CDAE466A}" type="presParOf" srcId="{662E6796-E7E2-4E57-9933-DD4AF89BC3F8}" destId="{C4292978-9315-41E2-BE91-E53B97D0D84B}" srcOrd="11" destOrd="0" presId="urn:microsoft.com/office/officeart/2005/8/layout/hProcess11"/>
    <dgm:cxn modelId="{A6DC0C5E-89C2-45E8-8BCF-71C4D056CEEB}" type="presParOf" srcId="{662E6796-E7E2-4E57-9933-DD4AF89BC3F8}" destId="{4B1B2FCA-B2E1-4A5B-BB0C-8A35065E4EDE}" srcOrd="12" destOrd="0" presId="urn:microsoft.com/office/officeart/2005/8/layout/hProcess11"/>
    <dgm:cxn modelId="{23E196B9-D22B-482D-8485-29AE0766B107}" type="presParOf" srcId="{4B1B2FCA-B2E1-4A5B-BB0C-8A35065E4EDE}" destId="{AD440EF7-44B7-4AD1-B976-7DD0F1A3CF20}" srcOrd="0" destOrd="0" presId="urn:microsoft.com/office/officeart/2005/8/layout/hProcess11"/>
    <dgm:cxn modelId="{98E3810F-E20B-44D6-A59C-DA86583BB265}" type="presParOf" srcId="{4B1B2FCA-B2E1-4A5B-BB0C-8A35065E4EDE}" destId="{AA550A64-0BF0-4A6E-9714-2D0272C3ABDD}" srcOrd="1" destOrd="0" presId="urn:microsoft.com/office/officeart/2005/8/layout/hProcess11"/>
    <dgm:cxn modelId="{95784C97-D4D5-4F71-91B2-F0B897CCCA3D}" type="presParOf" srcId="{4B1B2FCA-B2E1-4A5B-BB0C-8A35065E4EDE}" destId="{C229A4DB-7026-4B2A-99D5-3AC35773C489}" srcOrd="2" destOrd="0" presId="urn:microsoft.com/office/officeart/2005/8/layout/hProcess11"/>
    <dgm:cxn modelId="{44EB7DEC-95C2-4A8D-8FF5-C32D10C4811D}" type="presParOf" srcId="{662E6796-E7E2-4E57-9933-DD4AF89BC3F8}" destId="{7F4BF459-034C-4A82-B1F0-31C7457B746A}" srcOrd="13" destOrd="0" presId="urn:microsoft.com/office/officeart/2005/8/layout/hProcess11"/>
    <dgm:cxn modelId="{90ED9616-2C1D-4A4D-BE4C-A823DAB3B63F}" type="presParOf" srcId="{662E6796-E7E2-4E57-9933-DD4AF89BC3F8}" destId="{BA47B2A5-A7FD-4DA0-A772-DE646043F20E}" srcOrd="14" destOrd="0" presId="urn:microsoft.com/office/officeart/2005/8/layout/hProcess11"/>
    <dgm:cxn modelId="{CF123E84-584C-4B95-AD71-D9C0968CA6A9}" type="presParOf" srcId="{BA47B2A5-A7FD-4DA0-A772-DE646043F20E}" destId="{39C5C8A1-DCAC-42EF-BFE3-75CAFB3D1182}" srcOrd="0" destOrd="0" presId="urn:microsoft.com/office/officeart/2005/8/layout/hProcess11"/>
    <dgm:cxn modelId="{AA85F8CD-5B47-4AC5-B50B-29AA415F6931}" type="presParOf" srcId="{BA47B2A5-A7FD-4DA0-A772-DE646043F20E}" destId="{97C00991-1122-46D0-92D7-BF83EFEE462E}" srcOrd="1" destOrd="0" presId="urn:microsoft.com/office/officeart/2005/8/layout/hProcess11"/>
    <dgm:cxn modelId="{F96799B6-20C1-4510-9BBD-7B23D25C01EA}" type="presParOf" srcId="{BA47B2A5-A7FD-4DA0-A772-DE646043F20E}" destId="{ECB1660C-6857-4B52-8F94-5E792C290EBF}"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7518AA-1E39-4973-99AD-90C5D721AA5A}" type="doc">
      <dgm:prSet loTypeId="urn:microsoft.com/office/officeart/2005/8/layout/hProcess11" loCatId="process" qsTypeId="urn:microsoft.com/office/officeart/2005/8/quickstyle/simple1" qsCatId="simple" csTypeId="urn:microsoft.com/office/officeart/2005/8/colors/accent0_1" csCatId="mainScheme" phldr="1"/>
      <dgm:spPr/>
    </dgm:pt>
    <dgm:pt modelId="{B45121B9-90B9-4A6F-AB83-584D2BD988DC}">
      <dgm:prSet phldrT="[Text]"/>
      <dgm:spPr/>
      <dgm:t>
        <a:bodyPr/>
        <a:lstStyle/>
        <a:p>
          <a:r>
            <a:rPr lang="en-IN" b="1" dirty="0"/>
            <a:t>Commercial Discussions with SF</a:t>
          </a:r>
          <a:endParaRPr lang="en-IN" b="1" dirty="0">
            <a:solidFill>
              <a:srgbClr val="00B050"/>
            </a:solidFill>
          </a:endParaRPr>
        </a:p>
      </dgm:t>
    </dgm:pt>
    <dgm:pt modelId="{E0DB8647-FDA0-4746-9454-B53D3CB51B39}" type="parTrans" cxnId="{0DF515AC-D25B-4BEC-B220-1B11F264681B}">
      <dgm:prSet/>
      <dgm:spPr/>
      <dgm:t>
        <a:bodyPr/>
        <a:lstStyle/>
        <a:p>
          <a:endParaRPr lang="en-IN"/>
        </a:p>
      </dgm:t>
    </dgm:pt>
    <dgm:pt modelId="{055C0249-CC3C-4DDF-B59C-C1A1FEEEB9DD}" type="sibTrans" cxnId="{0DF515AC-D25B-4BEC-B220-1B11F264681B}">
      <dgm:prSet/>
      <dgm:spPr/>
      <dgm:t>
        <a:bodyPr/>
        <a:lstStyle/>
        <a:p>
          <a:endParaRPr lang="en-IN"/>
        </a:p>
      </dgm:t>
    </dgm:pt>
    <dgm:pt modelId="{4944BFC3-310B-4894-A1DB-9855DEAB1C49}">
      <dgm:prSet phldrT="[Text]"/>
      <dgm:spPr/>
      <dgm:t>
        <a:bodyPr/>
        <a:lstStyle/>
        <a:p>
          <a:r>
            <a:rPr lang="en-IN" b="1" dirty="0"/>
            <a:t>Addendum Contract Signing with SAP</a:t>
          </a:r>
        </a:p>
      </dgm:t>
    </dgm:pt>
    <dgm:pt modelId="{7FC542C8-6410-46B0-8CC4-9FF8242B4760}" type="parTrans" cxnId="{0693700E-33C0-417B-9DBE-44DEEBA26C8C}">
      <dgm:prSet/>
      <dgm:spPr/>
      <dgm:t>
        <a:bodyPr/>
        <a:lstStyle/>
        <a:p>
          <a:endParaRPr lang="en-IN"/>
        </a:p>
      </dgm:t>
    </dgm:pt>
    <dgm:pt modelId="{C5014C9C-899D-4999-AB78-86CE154B99FA}" type="sibTrans" cxnId="{0693700E-33C0-417B-9DBE-44DEEBA26C8C}">
      <dgm:prSet/>
      <dgm:spPr/>
      <dgm:t>
        <a:bodyPr/>
        <a:lstStyle/>
        <a:p>
          <a:endParaRPr lang="en-IN"/>
        </a:p>
      </dgm:t>
    </dgm:pt>
    <dgm:pt modelId="{0A3224C6-CA2E-4B42-B812-1F31A0864E31}">
      <dgm:prSet phldrT="[Text]"/>
      <dgm:spPr/>
      <dgm:t>
        <a:bodyPr/>
        <a:lstStyle/>
        <a:p>
          <a:r>
            <a:rPr lang="en-IN" b="1" dirty="0"/>
            <a:t>Requirement Gathering Workshop</a:t>
          </a:r>
        </a:p>
      </dgm:t>
    </dgm:pt>
    <dgm:pt modelId="{F3CAC623-2A0B-48AC-8DC0-5A3779399D73}" type="parTrans" cxnId="{E2D96507-1AD8-4043-94A9-CDD5E8430D97}">
      <dgm:prSet/>
      <dgm:spPr/>
      <dgm:t>
        <a:bodyPr/>
        <a:lstStyle/>
        <a:p>
          <a:endParaRPr lang="en-IN"/>
        </a:p>
      </dgm:t>
    </dgm:pt>
    <dgm:pt modelId="{6EEFF073-7975-407E-9004-AB2EE3F53B92}" type="sibTrans" cxnId="{E2D96507-1AD8-4043-94A9-CDD5E8430D97}">
      <dgm:prSet/>
      <dgm:spPr/>
      <dgm:t>
        <a:bodyPr/>
        <a:lstStyle/>
        <a:p>
          <a:endParaRPr lang="en-IN"/>
        </a:p>
      </dgm:t>
    </dgm:pt>
    <dgm:pt modelId="{92FEA95A-58B3-47AF-8C46-3AEFC707F4A5}">
      <dgm:prSet/>
      <dgm:spPr/>
      <dgm:t>
        <a:bodyPr/>
        <a:lstStyle/>
        <a:p>
          <a:r>
            <a:rPr lang="en-IN" b="1" dirty="0"/>
            <a:t>System Configurations &amp; Integrations Start</a:t>
          </a:r>
        </a:p>
      </dgm:t>
    </dgm:pt>
    <dgm:pt modelId="{63EC894A-3D7B-4797-B193-B7DD02EC5D8D}" type="parTrans" cxnId="{3EE66541-388B-49F7-A149-EAAC09FE6F1C}">
      <dgm:prSet/>
      <dgm:spPr/>
      <dgm:t>
        <a:bodyPr/>
        <a:lstStyle/>
        <a:p>
          <a:endParaRPr lang="en-IN"/>
        </a:p>
      </dgm:t>
    </dgm:pt>
    <dgm:pt modelId="{29BBC626-1D2A-452D-97B5-AA0B596B5B0B}" type="sibTrans" cxnId="{3EE66541-388B-49F7-A149-EAAC09FE6F1C}">
      <dgm:prSet/>
      <dgm:spPr/>
      <dgm:t>
        <a:bodyPr/>
        <a:lstStyle/>
        <a:p>
          <a:endParaRPr lang="en-IN"/>
        </a:p>
      </dgm:t>
    </dgm:pt>
    <dgm:pt modelId="{73CA1DB7-3F49-41D4-8AD8-10C73C8A183F}">
      <dgm:prSet/>
      <dgm:spPr/>
      <dgm:t>
        <a:bodyPr/>
        <a:lstStyle/>
        <a:p>
          <a:r>
            <a:rPr lang="en-IN" b="1" dirty="0"/>
            <a:t>System Configurations &amp; Integrations Completion</a:t>
          </a:r>
        </a:p>
      </dgm:t>
    </dgm:pt>
    <dgm:pt modelId="{E98115F7-DFB9-43B5-80DD-107E1B36BF5A}" type="parTrans" cxnId="{A3E4F2F8-F0C6-4DE5-AE01-E978050129EB}">
      <dgm:prSet/>
      <dgm:spPr/>
      <dgm:t>
        <a:bodyPr/>
        <a:lstStyle/>
        <a:p>
          <a:endParaRPr lang="en-IN"/>
        </a:p>
      </dgm:t>
    </dgm:pt>
    <dgm:pt modelId="{682BC2E2-5622-498D-8742-13072FBACA20}" type="sibTrans" cxnId="{A3E4F2F8-F0C6-4DE5-AE01-E978050129EB}">
      <dgm:prSet/>
      <dgm:spPr/>
      <dgm:t>
        <a:bodyPr/>
        <a:lstStyle/>
        <a:p>
          <a:endParaRPr lang="en-IN"/>
        </a:p>
      </dgm:t>
    </dgm:pt>
    <dgm:pt modelId="{C3BC1349-08D0-45B0-A77A-17AF1A891AD7}">
      <dgm:prSet/>
      <dgm:spPr/>
      <dgm:t>
        <a:bodyPr/>
        <a:lstStyle/>
        <a:p>
          <a:r>
            <a:rPr lang="en-US" b="1" dirty="0"/>
            <a:t>Historical Data migration from myAI and UAT Completion &amp; End User Trainings</a:t>
          </a:r>
          <a:endParaRPr lang="en-IN" b="1" dirty="0"/>
        </a:p>
      </dgm:t>
    </dgm:pt>
    <dgm:pt modelId="{F07F5BC7-1C3D-4F62-AD36-06A1AD537C53}" type="parTrans" cxnId="{1ED482D6-12DB-46FF-B8F1-9E24FF2A22FE}">
      <dgm:prSet/>
      <dgm:spPr/>
      <dgm:t>
        <a:bodyPr/>
        <a:lstStyle/>
        <a:p>
          <a:endParaRPr lang="en-IN"/>
        </a:p>
      </dgm:t>
    </dgm:pt>
    <dgm:pt modelId="{115375C7-84E3-4774-8648-65B7D9800339}" type="sibTrans" cxnId="{1ED482D6-12DB-46FF-B8F1-9E24FF2A22FE}">
      <dgm:prSet/>
      <dgm:spPr/>
      <dgm:t>
        <a:bodyPr/>
        <a:lstStyle/>
        <a:p>
          <a:endParaRPr lang="en-IN"/>
        </a:p>
      </dgm:t>
    </dgm:pt>
    <dgm:pt modelId="{B7FA122B-4D0C-4BB8-B725-112068FBAA33}">
      <dgm:prSet/>
      <dgm:spPr/>
      <dgm:t>
        <a:bodyPr/>
        <a:lstStyle/>
        <a:p>
          <a:endParaRPr lang="en-IN" b="1" dirty="0">
            <a:solidFill>
              <a:srgbClr val="7030A0"/>
            </a:solidFill>
          </a:endParaRPr>
        </a:p>
      </dgm:t>
    </dgm:pt>
    <dgm:pt modelId="{699B3189-D7AF-4B17-BEBE-BAFF716B1764}" type="parTrans" cxnId="{55D3E7DE-F010-4451-B8D4-D155B4764761}">
      <dgm:prSet/>
      <dgm:spPr/>
      <dgm:t>
        <a:bodyPr/>
        <a:lstStyle/>
        <a:p>
          <a:endParaRPr lang="en-IN"/>
        </a:p>
      </dgm:t>
    </dgm:pt>
    <dgm:pt modelId="{6979AE05-BB18-487C-B81E-3704769E6058}" type="sibTrans" cxnId="{55D3E7DE-F010-4451-B8D4-D155B4764761}">
      <dgm:prSet/>
      <dgm:spPr/>
      <dgm:t>
        <a:bodyPr/>
        <a:lstStyle/>
        <a:p>
          <a:endParaRPr lang="en-IN"/>
        </a:p>
      </dgm:t>
    </dgm:pt>
    <dgm:pt modelId="{D659BFEE-4457-4658-9A60-40B9F98CC5D2}">
      <dgm:prSet/>
      <dgm:spPr/>
      <dgm:t>
        <a:bodyPr/>
        <a:lstStyle/>
        <a:p>
          <a:r>
            <a:rPr lang="en-US" b="1" dirty="0">
              <a:solidFill>
                <a:srgbClr val="7030A0"/>
              </a:solidFill>
            </a:rPr>
            <a:t>CAB Approval, Production Deployment &amp; Go-Live</a:t>
          </a:r>
          <a:endParaRPr lang="en-IN" b="1" dirty="0"/>
        </a:p>
      </dgm:t>
    </dgm:pt>
    <dgm:pt modelId="{3725C0CB-4824-4DE9-83ED-7CC3AA831A1B}" type="sibTrans" cxnId="{496CD1EB-F390-4325-B355-DDD623F691B9}">
      <dgm:prSet/>
      <dgm:spPr/>
      <dgm:t>
        <a:bodyPr/>
        <a:lstStyle/>
        <a:p>
          <a:endParaRPr lang="en-IN"/>
        </a:p>
      </dgm:t>
    </dgm:pt>
    <dgm:pt modelId="{283A8254-DCCD-4723-AFC2-B80839F402D0}" type="parTrans" cxnId="{496CD1EB-F390-4325-B355-DDD623F691B9}">
      <dgm:prSet/>
      <dgm:spPr/>
      <dgm:t>
        <a:bodyPr/>
        <a:lstStyle/>
        <a:p>
          <a:endParaRPr lang="en-IN"/>
        </a:p>
      </dgm:t>
    </dgm:pt>
    <dgm:pt modelId="{F6869485-6A2C-49BE-92BA-AC080C322DA0}" type="pres">
      <dgm:prSet presAssocID="{697518AA-1E39-4973-99AD-90C5D721AA5A}" presName="Name0" presStyleCnt="0">
        <dgm:presLayoutVars>
          <dgm:dir/>
          <dgm:resizeHandles val="exact"/>
        </dgm:presLayoutVars>
      </dgm:prSet>
      <dgm:spPr/>
    </dgm:pt>
    <dgm:pt modelId="{4C93C5DD-B123-49E8-B51F-2893D7279F82}" type="pres">
      <dgm:prSet presAssocID="{697518AA-1E39-4973-99AD-90C5D721AA5A}" presName="arrow" presStyleLbl="bgShp" presStyleIdx="0" presStyleCnt="1"/>
      <dgm:spPr/>
    </dgm:pt>
    <dgm:pt modelId="{662E6796-E7E2-4E57-9933-DD4AF89BC3F8}" type="pres">
      <dgm:prSet presAssocID="{697518AA-1E39-4973-99AD-90C5D721AA5A}" presName="points" presStyleCnt="0"/>
      <dgm:spPr/>
    </dgm:pt>
    <dgm:pt modelId="{985DDF4A-9866-428B-9774-41E5BCFE8927}" type="pres">
      <dgm:prSet presAssocID="{B45121B9-90B9-4A6F-AB83-584D2BD988DC}" presName="compositeA" presStyleCnt="0"/>
      <dgm:spPr/>
    </dgm:pt>
    <dgm:pt modelId="{5AB983DF-2501-4EDE-8DD3-3EBB19C37DCE}" type="pres">
      <dgm:prSet presAssocID="{B45121B9-90B9-4A6F-AB83-584D2BD988DC}" presName="textA" presStyleLbl="revTx" presStyleIdx="0" presStyleCnt="8">
        <dgm:presLayoutVars>
          <dgm:bulletEnabled val="1"/>
        </dgm:presLayoutVars>
      </dgm:prSet>
      <dgm:spPr/>
    </dgm:pt>
    <dgm:pt modelId="{CBDB3E6B-3376-404C-BCC3-7869D484290B}" type="pres">
      <dgm:prSet presAssocID="{B45121B9-90B9-4A6F-AB83-584D2BD988DC}" presName="circleA" presStyleLbl="node1" presStyleIdx="0" presStyleCnt="8"/>
      <dgm:spPr>
        <a:solidFill>
          <a:srgbClr val="00B050"/>
        </a:solidFill>
      </dgm:spPr>
    </dgm:pt>
    <dgm:pt modelId="{12135D5F-632A-4372-BB39-70BBA3C06712}" type="pres">
      <dgm:prSet presAssocID="{B45121B9-90B9-4A6F-AB83-584D2BD988DC}" presName="spaceA" presStyleCnt="0"/>
      <dgm:spPr/>
    </dgm:pt>
    <dgm:pt modelId="{145D7D17-EC39-41D0-876E-F63A235814D7}" type="pres">
      <dgm:prSet presAssocID="{055C0249-CC3C-4DDF-B59C-C1A1FEEEB9DD}" presName="space" presStyleCnt="0"/>
      <dgm:spPr/>
    </dgm:pt>
    <dgm:pt modelId="{0FEBCE80-B30C-41FC-B219-E8C1CCB9A2E8}" type="pres">
      <dgm:prSet presAssocID="{4944BFC3-310B-4894-A1DB-9855DEAB1C49}" presName="compositeB" presStyleCnt="0"/>
      <dgm:spPr/>
    </dgm:pt>
    <dgm:pt modelId="{C7A9C43B-0F5F-463A-BE32-7BEEF4EDC0EE}" type="pres">
      <dgm:prSet presAssocID="{4944BFC3-310B-4894-A1DB-9855DEAB1C49}" presName="textB" presStyleLbl="revTx" presStyleIdx="1" presStyleCnt="8">
        <dgm:presLayoutVars>
          <dgm:bulletEnabled val="1"/>
        </dgm:presLayoutVars>
      </dgm:prSet>
      <dgm:spPr/>
    </dgm:pt>
    <dgm:pt modelId="{C024BDCB-48D7-4011-B1E9-CE328789AAFE}" type="pres">
      <dgm:prSet presAssocID="{4944BFC3-310B-4894-A1DB-9855DEAB1C49}" presName="circleB" presStyleLbl="node1" presStyleIdx="1" presStyleCnt="8"/>
      <dgm:spPr>
        <a:solidFill>
          <a:srgbClr val="00B050"/>
        </a:solidFill>
      </dgm:spPr>
    </dgm:pt>
    <dgm:pt modelId="{E2C98062-14CA-4622-A2DA-91D6E8D1FE8F}" type="pres">
      <dgm:prSet presAssocID="{4944BFC3-310B-4894-A1DB-9855DEAB1C49}" presName="spaceB" presStyleCnt="0"/>
      <dgm:spPr/>
    </dgm:pt>
    <dgm:pt modelId="{8B41E22F-D0DD-43DE-9370-E2ACFBB17918}" type="pres">
      <dgm:prSet presAssocID="{C5014C9C-899D-4999-AB78-86CE154B99FA}" presName="space" presStyleCnt="0"/>
      <dgm:spPr/>
    </dgm:pt>
    <dgm:pt modelId="{946E8FA6-8CC5-4C3F-9AAB-9BD8206373F1}" type="pres">
      <dgm:prSet presAssocID="{0A3224C6-CA2E-4B42-B812-1F31A0864E31}" presName="compositeA" presStyleCnt="0"/>
      <dgm:spPr/>
    </dgm:pt>
    <dgm:pt modelId="{AB0CBBD6-3083-405B-AB0D-9B6272053F78}" type="pres">
      <dgm:prSet presAssocID="{0A3224C6-CA2E-4B42-B812-1F31A0864E31}" presName="textA" presStyleLbl="revTx" presStyleIdx="2" presStyleCnt="8">
        <dgm:presLayoutVars>
          <dgm:bulletEnabled val="1"/>
        </dgm:presLayoutVars>
      </dgm:prSet>
      <dgm:spPr/>
    </dgm:pt>
    <dgm:pt modelId="{FCD722CB-B3F2-4723-AEAC-A4A8D283E42B}" type="pres">
      <dgm:prSet presAssocID="{0A3224C6-CA2E-4B42-B812-1F31A0864E31}" presName="circleA" presStyleLbl="node1" presStyleIdx="2" presStyleCnt="8"/>
      <dgm:spPr>
        <a:solidFill>
          <a:srgbClr val="00B050"/>
        </a:solidFill>
      </dgm:spPr>
    </dgm:pt>
    <dgm:pt modelId="{1CFF95A5-B79B-4DFA-B720-AB050FA979D2}" type="pres">
      <dgm:prSet presAssocID="{0A3224C6-CA2E-4B42-B812-1F31A0864E31}" presName="spaceA" presStyleCnt="0"/>
      <dgm:spPr/>
    </dgm:pt>
    <dgm:pt modelId="{EA589594-D977-4A69-AFA0-9B8F46752285}" type="pres">
      <dgm:prSet presAssocID="{6EEFF073-7975-407E-9004-AB2EE3F53B92}" presName="space" presStyleCnt="0"/>
      <dgm:spPr/>
    </dgm:pt>
    <dgm:pt modelId="{C6A7DED6-74EB-448D-8CAD-5188A1BD59A1}" type="pres">
      <dgm:prSet presAssocID="{92FEA95A-58B3-47AF-8C46-3AEFC707F4A5}" presName="compositeB" presStyleCnt="0"/>
      <dgm:spPr/>
    </dgm:pt>
    <dgm:pt modelId="{22A1F75A-C54F-481F-B4D4-E49189945EFC}" type="pres">
      <dgm:prSet presAssocID="{92FEA95A-58B3-47AF-8C46-3AEFC707F4A5}" presName="textB" presStyleLbl="revTx" presStyleIdx="3" presStyleCnt="8">
        <dgm:presLayoutVars>
          <dgm:bulletEnabled val="1"/>
        </dgm:presLayoutVars>
      </dgm:prSet>
      <dgm:spPr/>
    </dgm:pt>
    <dgm:pt modelId="{B681403E-CFD6-4FAC-A728-2953933ED0DE}" type="pres">
      <dgm:prSet presAssocID="{92FEA95A-58B3-47AF-8C46-3AEFC707F4A5}" presName="circleB" presStyleLbl="node1" presStyleIdx="3" presStyleCnt="8"/>
      <dgm:spPr>
        <a:solidFill>
          <a:schemeClr val="accent6"/>
        </a:solidFill>
      </dgm:spPr>
    </dgm:pt>
    <dgm:pt modelId="{8435BE96-6CDE-4CF7-A368-4D2F6E299CFD}" type="pres">
      <dgm:prSet presAssocID="{92FEA95A-58B3-47AF-8C46-3AEFC707F4A5}" presName="spaceB" presStyleCnt="0"/>
      <dgm:spPr/>
    </dgm:pt>
    <dgm:pt modelId="{B1CA651C-E1B6-4FE5-8E84-2B9A54E18FA4}" type="pres">
      <dgm:prSet presAssocID="{29BBC626-1D2A-452D-97B5-AA0B596B5B0B}" presName="space" presStyleCnt="0"/>
      <dgm:spPr/>
    </dgm:pt>
    <dgm:pt modelId="{6C82E1DE-F3B8-4C57-80ED-CCB95C414A59}" type="pres">
      <dgm:prSet presAssocID="{73CA1DB7-3F49-41D4-8AD8-10C73C8A183F}" presName="compositeA" presStyleCnt="0"/>
      <dgm:spPr/>
    </dgm:pt>
    <dgm:pt modelId="{A2164D32-FAD1-499E-B166-EFB2F628D479}" type="pres">
      <dgm:prSet presAssocID="{73CA1DB7-3F49-41D4-8AD8-10C73C8A183F}" presName="textA" presStyleLbl="revTx" presStyleIdx="4" presStyleCnt="8">
        <dgm:presLayoutVars>
          <dgm:bulletEnabled val="1"/>
        </dgm:presLayoutVars>
      </dgm:prSet>
      <dgm:spPr/>
    </dgm:pt>
    <dgm:pt modelId="{6170C87F-815A-4ED8-B280-9E2E3B47ACC6}" type="pres">
      <dgm:prSet presAssocID="{73CA1DB7-3F49-41D4-8AD8-10C73C8A183F}" presName="circleA" presStyleLbl="node1" presStyleIdx="4" presStyleCnt="8"/>
      <dgm:spPr/>
    </dgm:pt>
    <dgm:pt modelId="{0F80C5BA-68F2-49FD-B682-3CD0FF738A95}" type="pres">
      <dgm:prSet presAssocID="{73CA1DB7-3F49-41D4-8AD8-10C73C8A183F}" presName="spaceA" presStyleCnt="0"/>
      <dgm:spPr/>
    </dgm:pt>
    <dgm:pt modelId="{AE36FF11-8C25-436F-9308-FED3B215C59B}" type="pres">
      <dgm:prSet presAssocID="{682BC2E2-5622-498D-8742-13072FBACA20}" presName="space" presStyleCnt="0"/>
      <dgm:spPr/>
    </dgm:pt>
    <dgm:pt modelId="{DD6B9082-8004-4004-8F0A-652933C441DA}" type="pres">
      <dgm:prSet presAssocID="{C3BC1349-08D0-45B0-A77A-17AF1A891AD7}" presName="compositeB" presStyleCnt="0"/>
      <dgm:spPr/>
    </dgm:pt>
    <dgm:pt modelId="{DD033695-7977-4764-8529-9681ADB30D00}" type="pres">
      <dgm:prSet presAssocID="{C3BC1349-08D0-45B0-A77A-17AF1A891AD7}" presName="textB" presStyleLbl="revTx" presStyleIdx="5" presStyleCnt="8">
        <dgm:presLayoutVars>
          <dgm:bulletEnabled val="1"/>
        </dgm:presLayoutVars>
      </dgm:prSet>
      <dgm:spPr/>
    </dgm:pt>
    <dgm:pt modelId="{746EC6C4-C80A-4D80-B547-6095F96184A0}" type="pres">
      <dgm:prSet presAssocID="{C3BC1349-08D0-45B0-A77A-17AF1A891AD7}" presName="circleB" presStyleLbl="node1" presStyleIdx="5" presStyleCnt="8"/>
      <dgm:spPr/>
    </dgm:pt>
    <dgm:pt modelId="{EA39CFA5-F53C-442A-80E6-E6FFF2905FFB}" type="pres">
      <dgm:prSet presAssocID="{C3BC1349-08D0-45B0-A77A-17AF1A891AD7}" presName="spaceB" presStyleCnt="0"/>
      <dgm:spPr/>
    </dgm:pt>
    <dgm:pt modelId="{C4292978-9315-41E2-BE91-E53B97D0D84B}" type="pres">
      <dgm:prSet presAssocID="{115375C7-84E3-4774-8648-65B7D9800339}" presName="space" presStyleCnt="0"/>
      <dgm:spPr/>
    </dgm:pt>
    <dgm:pt modelId="{4B1B2FCA-B2E1-4A5B-BB0C-8A35065E4EDE}" type="pres">
      <dgm:prSet presAssocID="{D659BFEE-4457-4658-9A60-40B9F98CC5D2}" presName="compositeA" presStyleCnt="0"/>
      <dgm:spPr/>
    </dgm:pt>
    <dgm:pt modelId="{AD440EF7-44B7-4AD1-B976-7DD0F1A3CF20}" type="pres">
      <dgm:prSet presAssocID="{D659BFEE-4457-4658-9A60-40B9F98CC5D2}" presName="textA" presStyleLbl="revTx" presStyleIdx="6" presStyleCnt="8">
        <dgm:presLayoutVars>
          <dgm:bulletEnabled val="1"/>
        </dgm:presLayoutVars>
      </dgm:prSet>
      <dgm:spPr/>
    </dgm:pt>
    <dgm:pt modelId="{AA550A64-0BF0-4A6E-9714-2D0272C3ABDD}" type="pres">
      <dgm:prSet presAssocID="{D659BFEE-4457-4658-9A60-40B9F98CC5D2}" presName="circleA" presStyleLbl="node1" presStyleIdx="6" presStyleCnt="8"/>
      <dgm:spPr/>
    </dgm:pt>
    <dgm:pt modelId="{C229A4DB-7026-4B2A-99D5-3AC35773C489}" type="pres">
      <dgm:prSet presAssocID="{D659BFEE-4457-4658-9A60-40B9F98CC5D2}" presName="spaceA" presStyleCnt="0"/>
      <dgm:spPr/>
    </dgm:pt>
    <dgm:pt modelId="{7F4BF459-034C-4A82-B1F0-31C7457B746A}" type="pres">
      <dgm:prSet presAssocID="{3725C0CB-4824-4DE9-83ED-7CC3AA831A1B}" presName="space" presStyleCnt="0"/>
      <dgm:spPr/>
    </dgm:pt>
    <dgm:pt modelId="{BA47B2A5-A7FD-4DA0-A772-DE646043F20E}" type="pres">
      <dgm:prSet presAssocID="{B7FA122B-4D0C-4BB8-B725-112068FBAA33}" presName="compositeB" presStyleCnt="0"/>
      <dgm:spPr/>
    </dgm:pt>
    <dgm:pt modelId="{39C5C8A1-DCAC-42EF-BFE3-75CAFB3D1182}" type="pres">
      <dgm:prSet presAssocID="{B7FA122B-4D0C-4BB8-B725-112068FBAA33}" presName="textB" presStyleLbl="revTx" presStyleIdx="7" presStyleCnt="8">
        <dgm:presLayoutVars>
          <dgm:bulletEnabled val="1"/>
        </dgm:presLayoutVars>
      </dgm:prSet>
      <dgm:spPr/>
    </dgm:pt>
    <dgm:pt modelId="{97C00991-1122-46D0-92D7-BF83EFEE462E}" type="pres">
      <dgm:prSet presAssocID="{B7FA122B-4D0C-4BB8-B725-112068FBAA33}" presName="circleB" presStyleLbl="node1" presStyleIdx="7" presStyleCnt="8"/>
      <dgm:spPr/>
    </dgm:pt>
    <dgm:pt modelId="{ECB1660C-6857-4B52-8F94-5E792C290EBF}" type="pres">
      <dgm:prSet presAssocID="{B7FA122B-4D0C-4BB8-B725-112068FBAA33}" presName="spaceB" presStyleCnt="0"/>
      <dgm:spPr/>
    </dgm:pt>
  </dgm:ptLst>
  <dgm:cxnLst>
    <dgm:cxn modelId="{E2D96507-1AD8-4043-94A9-CDD5E8430D97}" srcId="{697518AA-1E39-4973-99AD-90C5D721AA5A}" destId="{0A3224C6-CA2E-4B42-B812-1F31A0864E31}" srcOrd="2" destOrd="0" parTransId="{F3CAC623-2A0B-48AC-8DC0-5A3779399D73}" sibTransId="{6EEFF073-7975-407E-9004-AB2EE3F53B92}"/>
    <dgm:cxn modelId="{0693700E-33C0-417B-9DBE-44DEEBA26C8C}" srcId="{697518AA-1E39-4973-99AD-90C5D721AA5A}" destId="{4944BFC3-310B-4894-A1DB-9855DEAB1C49}" srcOrd="1" destOrd="0" parTransId="{7FC542C8-6410-46B0-8CC4-9FF8242B4760}" sibTransId="{C5014C9C-899D-4999-AB78-86CE154B99FA}"/>
    <dgm:cxn modelId="{B18B040F-3541-4B9C-AE55-B62C818FE86B}" type="presOf" srcId="{73CA1DB7-3F49-41D4-8AD8-10C73C8A183F}" destId="{A2164D32-FAD1-499E-B166-EFB2F628D479}" srcOrd="0" destOrd="0" presId="urn:microsoft.com/office/officeart/2005/8/layout/hProcess11"/>
    <dgm:cxn modelId="{A1B51832-B368-4382-83F3-DB65C049326A}" type="presOf" srcId="{697518AA-1E39-4973-99AD-90C5D721AA5A}" destId="{F6869485-6A2C-49BE-92BA-AC080C322DA0}" srcOrd="0" destOrd="0" presId="urn:microsoft.com/office/officeart/2005/8/layout/hProcess11"/>
    <dgm:cxn modelId="{A8F28A3A-2DA9-43B0-999D-2C98AAAB8340}" type="presOf" srcId="{B45121B9-90B9-4A6F-AB83-584D2BD988DC}" destId="{5AB983DF-2501-4EDE-8DD3-3EBB19C37DCE}" srcOrd="0" destOrd="0" presId="urn:microsoft.com/office/officeart/2005/8/layout/hProcess11"/>
    <dgm:cxn modelId="{A800D83E-16B8-4C16-B42D-4BCE508DC9CB}" type="presOf" srcId="{4944BFC3-310B-4894-A1DB-9855DEAB1C49}" destId="{C7A9C43B-0F5F-463A-BE32-7BEEF4EDC0EE}" srcOrd="0" destOrd="0" presId="urn:microsoft.com/office/officeart/2005/8/layout/hProcess11"/>
    <dgm:cxn modelId="{3EE66541-388B-49F7-A149-EAAC09FE6F1C}" srcId="{697518AA-1E39-4973-99AD-90C5D721AA5A}" destId="{92FEA95A-58B3-47AF-8C46-3AEFC707F4A5}" srcOrd="3" destOrd="0" parTransId="{63EC894A-3D7B-4797-B193-B7DD02EC5D8D}" sibTransId="{29BBC626-1D2A-452D-97B5-AA0B596B5B0B}"/>
    <dgm:cxn modelId="{C9C17C47-1D8C-480C-95F2-EEF08EC406C5}" type="presOf" srcId="{92FEA95A-58B3-47AF-8C46-3AEFC707F4A5}" destId="{22A1F75A-C54F-481F-B4D4-E49189945EFC}" srcOrd="0" destOrd="0" presId="urn:microsoft.com/office/officeart/2005/8/layout/hProcess11"/>
    <dgm:cxn modelId="{AD157B9D-9960-464F-A982-2939BB10B42D}" type="presOf" srcId="{D659BFEE-4457-4658-9A60-40B9F98CC5D2}" destId="{AD440EF7-44B7-4AD1-B976-7DD0F1A3CF20}" srcOrd="0" destOrd="0" presId="urn:microsoft.com/office/officeart/2005/8/layout/hProcess11"/>
    <dgm:cxn modelId="{0DF515AC-D25B-4BEC-B220-1B11F264681B}" srcId="{697518AA-1E39-4973-99AD-90C5D721AA5A}" destId="{B45121B9-90B9-4A6F-AB83-584D2BD988DC}" srcOrd="0" destOrd="0" parTransId="{E0DB8647-FDA0-4746-9454-B53D3CB51B39}" sibTransId="{055C0249-CC3C-4DDF-B59C-C1A1FEEEB9DD}"/>
    <dgm:cxn modelId="{5D4908D1-CBB7-45E2-B9F7-202AFBB8124B}" type="presOf" srcId="{0A3224C6-CA2E-4B42-B812-1F31A0864E31}" destId="{AB0CBBD6-3083-405B-AB0D-9B6272053F78}" srcOrd="0" destOrd="0" presId="urn:microsoft.com/office/officeart/2005/8/layout/hProcess11"/>
    <dgm:cxn modelId="{1ED482D6-12DB-46FF-B8F1-9E24FF2A22FE}" srcId="{697518AA-1E39-4973-99AD-90C5D721AA5A}" destId="{C3BC1349-08D0-45B0-A77A-17AF1A891AD7}" srcOrd="5" destOrd="0" parTransId="{F07F5BC7-1C3D-4F62-AD36-06A1AD537C53}" sibTransId="{115375C7-84E3-4774-8648-65B7D9800339}"/>
    <dgm:cxn modelId="{55D3E7DE-F010-4451-B8D4-D155B4764761}" srcId="{697518AA-1E39-4973-99AD-90C5D721AA5A}" destId="{B7FA122B-4D0C-4BB8-B725-112068FBAA33}" srcOrd="7" destOrd="0" parTransId="{699B3189-D7AF-4B17-BEBE-BAFF716B1764}" sibTransId="{6979AE05-BB18-487C-B81E-3704769E6058}"/>
    <dgm:cxn modelId="{496CD1EB-F390-4325-B355-DDD623F691B9}" srcId="{697518AA-1E39-4973-99AD-90C5D721AA5A}" destId="{D659BFEE-4457-4658-9A60-40B9F98CC5D2}" srcOrd="6" destOrd="0" parTransId="{283A8254-DCCD-4723-AFC2-B80839F402D0}" sibTransId="{3725C0CB-4824-4DE9-83ED-7CC3AA831A1B}"/>
    <dgm:cxn modelId="{7AF950EF-7A68-4C3F-BF29-74D14A1381B0}" type="presOf" srcId="{C3BC1349-08D0-45B0-A77A-17AF1A891AD7}" destId="{DD033695-7977-4764-8529-9681ADB30D00}" srcOrd="0" destOrd="0" presId="urn:microsoft.com/office/officeart/2005/8/layout/hProcess11"/>
    <dgm:cxn modelId="{63412EF5-D9E0-4EF6-BF38-67D767C05A3A}" type="presOf" srcId="{B7FA122B-4D0C-4BB8-B725-112068FBAA33}" destId="{39C5C8A1-DCAC-42EF-BFE3-75CAFB3D1182}" srcOrd="0" destOrd="0" presId="urn:microsoft.com/office/officeart/2005/8/layout/hProcess11"/>
    <dgm:cxn modelId="{A3E4F2F8-F0C6-4DE5-AE01-E978050129EB}" srcId="{697518AA-1E39-4973-99AD-90C5D721AA5A}" destId="{73CA1DB7-3F49-41D4-8AD8-10C73C8A183F}" srcOrd="4" destOrd="0" parTransId="{E98115F7-DFB9-43B5-80DD-107E1B36BF5A}" sibTransId="{682BC2E2-5622-498D-8742-13072FBACA20}"/>
    <dgm:cxn modelId="{1308C86D-0A92-485E-8A3B-646FBDFC9483}" type="presParOf" srcId="{F6869485-6A2C-49BE-92BA-AC080C322DA0}" destId="{4C93C5DD-B123-49E8-B51F-2893D7279F82}" srcOrd="0" destOrd="0" presId="urn:microsoft.com/office/officeart/2005/8/layout/hProcess11"/>
    <dgm:cxn modelId="{9088C73C-44B6-405A-A62F-5675FED8AC2E}" type="presParOf" srcId="{F6869485-6A2C-49BE-92BA-AC080C322DA0}" destId="{662E6796-E7E2-4E57-9933-DD4AF89BC3F8}" srcOrd="1" destOrd="0" presId="urn:microsoft.com/office/officeart/2005/8/layout/hProcess11"/>
    <dgm:cxn modelId="{A3DFC460-EED4-4735-BF1A-74CC88E3E77B}" type="presParOf" srcId="{662E6796-E7E2-4E57-9933-DD4AF89BC3F8}" destId="{985DDF4A-9866-428B-9774-41E5BCFE8927}" srcOrd="0" destOrd="0" presId="urn:microsoft.com/office/officeart/2005/8/layout/hProcess11"/>
    <dgm:cxn modelId="{9E0874B2-2E3F-4F44-9D7B-1D3C1810C652}" type="presParOf" srcId="{985DDF4A-9866-428B-9774-41E5BCFE8927}" destId="{5AB983DF-2501-4EDE-8DD3-3EBB19C37DCE}" srcOrd="0" destOrd="0" presId="urn:microsoft.com/office/officeart/2005/8/layout/hProcess11"/>
    <dgm:cxn modelId="{173E6718-9C0E-435A-858A-D5F112DB9F60}" type="presParOf" srcId="{985DDF4A-9866-428B-9774-41E5BCFE8927}" destId="{CBDB3E6B-3376-404C-BCC3-7869D484290B}" srcOrd="1" destOrd="0" presId="urn:microsoft.com/office/officeart/2005/8/layout/hProcess11"/>
    <dgm:cxn modelId="{81F9563D-B044-488B-ABA7-A60A605E2B68}" type="presParOf" srcId="{985DDF4A-9866-428B-9774-41E5BCFE8927}" destId="{12135D5F-632A-4372-BB39-70BBA3C06712}" srcOrd="2" destOrd="0" presId="urn:microsoft.com/office/officeart/2005/8/layout/hProcess11"/>
    <dgm:cxn modelId="{E5BCE020-C0E4-4C85-9CCC-92FC67DA09E4}" type="presParOf" srcId="{662E6796-E7E2-4E57-9933-DD4AF89BC3F8}" destId="{145D7D17-EC39-41D0-876E-F63A235814D7}" srcOrd="1" destOrd="0" presId="urn:microsoft.com/office/officeart/2005/8/layout/hProcess11"/>
    <dgm:cxn modelId="{6E070DBB-AB9D-450D-AB36-DC8A84186C79}" type="presParOf" srcId="{662E6796-E7E2-4E57-9933-DD4AF89BC3F8}" destId="{0FEBCE80-B30C-41FC-B219-E8C1CCB9A2E8}" srcOrd="2" destOrd="0" presId="urn:microsoft.com/office/officeart/2005/8/layout/hProcess11"/>
    <dgm:cxn modelId="{B1D78DB0-180D-496B-8244-587016FCE8D0}" type="presParOf" srcId="{0FEBCE80-B30C-41FC-B219-E8C1CCB9A2E8}" destId="{C7A9C43B-0F5F-463A-BE32-7BEEF4EDC0EE}" srcOrd="0" destOrd="0" presId="urn:microsoft.com/office/officeart/2005/8/layout/hProcess11"/>
    <dgm:cxn modelId="{3A52AC7A-2761-4777-A34D-F5E33384EDBD}" type="presParOf" srcId="{0FEBCE80-B30C-41FC-B219-E8C1CCB9A2E8}" destId="{C024BDCB-48D7-4011-B1E9-CE328789AAFE}" srcOrd="1" destOrd="0" presId="urn:microsoft.com/office/officeart/2005/8/layout/hProcess11"/>
    <dgm:cxn modelId="{5C553A96-0E56-416B-A5CC-C1C161D9C72D}" type="presParOf" srcId="{0FEBCE80-B30C-41FC-B219-E8C1CCB9A2E8}" destId="{E2C98062-14CA-4622-A2DA-91D6E8D1FE8F}" srcOrd="2" destOrd="0" presId="urn:microsoft.com/office/officeart/2005/8/layout/hProcess11"/>
    <dgm:cxn modelId="{CD2C1B6A-6455-4269-AE0D-EC4692317FF3}" type="presParOf" srcId="{662E6796-E7E2-4E57-9933-DD4AF89BC3F8}" destId="{8B41E22F-D0DD-43DE-9370-E2ACFBB17918}" srcOrd="3" destOrd="0" presId="urn:microsoft.com/office/officeart/2005/8/layout/hProcess11"/>
    <dgm:cxn modelId="{B3B6C27F-2500-45FA-B1AB-512995E674EE}" type="presParOf" srcId="{662E6796-E7E2-4E57-9933-DD4AF89BC3F8}" destId="{946E8FA6-8CC5-4C3F-9AAB-9BD8206373F1}" srcOrd="4" destOrd="0" presId="urn:microsoft.com/office/officeart/2005/8/layout/hProcess11"/>
    <dgm:cxn modelId="{810E49FE-9929-48DE-9245-A56AA11C84E6}" type="presParOf" srcId="{946E8FA6-8CC5-4C3F-9AAB-9BD8206373F1}" destId="{AB0CBBD6-3083-405B-AB0D-9B6272053F78}" srcOrd="0" destOrd="0" presId="urn:microsoft.com/office/officeart/2005/8/layout/hProcess11"/>
    <dgm:cxn modelId="{C1FE38A7-F63C-46E1-98D9-8C66418D7422}" type="presParOf" srcId="{946E8FA6-8CC5-4C3F-9AAB-9BD8206373F1}" destId="{FCD722CB-B3F2-4723-AEAC-A4A8D283E42B}" srcOrd="1" destOrd="0" presId="urn:microsoft.com/office/officeart/2005/8/layout/hProcess11"/>
    <dgm:cxn modelId="{288BA03B-B148-4EF4-906A-360AD93EC692}" type="presParOf" srcId="{946E8FA6-8CC5-4C3F-9AAB-9BD8206373F1}" destId="{1CFF95A5-B79B-4DFA-B720-AB050FA979D2}" srcOrd="2" destOrd="0" presId="urn:microsoft.com/office/officeart/2005/8/layout/hProcess11"/>
    <dgm:cxn modelId="{7A68BCE6-75F3-4E33-B0C3-C6FF7B30BDA4}" type="presParOf" srcId="{662E6796-E7E2-4E57-9933-DD4AF89BC3F8}" destId="{EA589594-D977-4A69-AFA0-9B8F46752285}" srcOrd="5" destOrd="0" presId="urn:microsoft.com/office/officeart/2005/8/layout/hProcess11"/>
    <dgm:cxn modelId="{1329C8A9-15F6-4993-B217-DD1F7D2A2A07}" type="presParOf" srcId="{662E6796-E7E2-4E57-9933-DD4AF89BC3F8}" destId="{C6A7DED6-74EB-448D-8CAD-5188A1BD59A1}" srcOrd="6" destOrd="0" presId="urn:microsoft.com/office/officeart/2005/8/layout/hProcess11"/>
    <dgm:cxn modelId="{A069E2E9-F151-49BE-B062-D86C80AB7A87}" type="presParOf" srcId="{C6A7DED6-74EB-448D-8CAD-5188A1BD59A1}" destId="{22A1F75A-C54F-481F-B4D4-E49189945EFC}" srcOrd="0" destOrd="0" presId="urn:microsoft.com/office/officeart/2005/8/layout/hProcess11"/>
    <dgm:cxn modelId="{F113AE50-18AF-4F03-922B-5461C56CCC58}" type="presParOf" srcId="{C6A7DED6-74EB-448D-8CAD-5188A1BD59A1}" destId="{B681403E-CFD6-4FAC-A728-2953933ED0DE}" srcOrd="1" destOrd="0" presId="urn:microsoft.com/office/officeart/2005/8/layout/hProcess11"/>
    <dgm:cxn modelId="{0F45FB03-42CB-49EA-9558-EA4D3271A99A}" type="presParOf" srcId="{C6A7DED6-74EB-448D-8CAD-5188A1BD59A1}" destId="{8435BE96-6CDE-4CF7-A368-4D2F6E299CFD}" srcOrd="2" destOrd="0" presId="urn:microsoft.com/office/officeart/2005/8/layout/hProcess11"/>
    <dgm:cxn modelId="{5B616C34-403E-4525-8DF9-ECE0DA6F68F9}" type="presParOf" srcId="{662E6796-E7E2-4E57-9933-DD4AF89BC3F8}" destId="{B1CA651C-E1B6-4FE5-8E84-2B9A54E18FA4}" srcOrd="7" destOrd="0" presId="urn:microsoft.com/office/officeart/2005/8/layout/hProcess11"/>
    <dgm:cxn modelId="{742E7E04-1637-4E96-BF67-B5E54F7D2271}" type="presParOf" srcId="{662E6796-E7E2-4E57-9933-DD4AF89BC3F8}" destId="{6C82E1DE-F3B8-4C57-80ED-CCB95C414A59}" srcOrd="8" destOrd="0" presId="urn:microsoft.com/office/officeart/2005/8/layout/hProcess11"/>
    <dgm:cxn modelId="{EBA39CAD-D673-4F42-B1AC-41B59E06CA0E}" type="presParOf" srcId="{6C82E1DE-F3B8-4C57-80ED-CCB95C414A59}" destId="{A2164D32-FAD1-499E-B166-EFB2F628D479}" srcOrd="0" destOrd="0" presId="urn:microsoft.com/office/officeart/2005/8/layout/hProcess11"/>
    <dgm:cxn modelId="{A27C8763-8FE2-4930-8AF5-38E348E49C96}" type="presParOf" srcId="{6C82E1DE-F3B8-4C57-80ED-CCB95C414A59}" destId="{6170C87F-815A-4ED8-B280-9E2E3B47ACC6}" srcOrd="1" destOrd="0" presId="urn:microsoft.com/office/officeart/2005/8/layout/hProcess11"/>
    <dgm:cxn modelId="{2EA5485E-5311-4FBA-971E-5E2B98EAD8E1}" type="presParOf" srcId="{6C82E1DE-F3B8-4C57-80ED-CCB95C414A59}" destId="{0F80C5BA-68F2-49FD-B682-3CD0FF738A95}" srcOrd="2" destOrd="0" presId="urn:microsoft.com/office/officeart/2005/8/layout/hProcess11"/>
    <dgm:cxn modelId="{F83A61EE-8B2A-46C0-8A89-5FCFD25AB527}" type="presParOf" srcId="{662E6796-E7E2-4E57-9933-DD4AF89BC3F8}" destId="{AE36FF11-8C25-436F-9308-FED3B215C59B}" srcOrd="9" destOrd="0" presId="urn:microsoft.com/office/officeart/2005/8/layout/hProcess11"/>
    <dgm:cxn modelId="{DE7E3E98-1557-48FD-ACDE-91ECB22211BF}" type="presParOf" srcId="{662E6796-E7E2-4E57-9933-DD4AF89BC3F8}" destId="{DD6B9082-8004-4004-8F0A-652933C441DA}" srcOrd="10" destOrd="0" presId="urn:microsoft.com/office/officeart/2005/8/layout/hProcess11"/>
    <dgm:cxn modelId="{DB3AE307-0F3D-43C9-821F-0AB56A194582}" type="presParOf" srcId="{DD6B9082-8004-4004-8F0A-652933C441DA}" destId="{DD033695-7977-4764-8529-9681ADB30D00}" srcOrd="0" destOrd="0" presId="urn:microsoft.com/office/officeart/2005/8/layout/hProcess11"/>
    <dgm:cxn modelId="{F4D84676-DA34-4ADB-B3E4-C96724F3ADA5}" type="presParOf" srcId="{DD6B9082-8004-4004-8F0A-652933C441DA}" destId="{746EC6C4-C80A-4D80-B547-6095F96184A0}" srcOrd="1" destOrd="0" presId="urn:microsoft.com/office/officeart/2005/8/layout/hProcess11"/>
    <dgm:cxn modelId="{82D1BACC-A531-45A9-A809-E5239DC51935}" type="presParOf" srcId="{DD6B9082-8004-4004-8F0A-652933C441DA}" destId="{EA39CFA5-F53C-442A-80E6-E6FFF2905FFB}" srcOrd="2" destOrd="0" presId="urn:microsoft.com/office/officeart/2005/8/layout/hProcess11"/>
    <dgm:cxn modelId="{B5AF00F5-5C6B-477F-A2CB-3D05CDAE466A}" type="presParOf" srcId="{662E6796-E7E2-4E57-9933-DD4AF89BC3F8}" destId="{C4292978-9315-41E2-BE91-E53B97D0D84B}" srcOrd="11" destOrd="0" presId="urn:microsoft.com/office/officeart/2005/8/layout/hProcess11"/>
    <dgm:cxn modelId="{A6DC0C5E-89C2-45E8-8BCF-71C4D056CEEB}" type="presParOf" srcId="{662E6796-E7E2-4E57-9933-DD4AF89BC3F8}" destId="{4B1B2FCA-B2E1-4A5B-BB0C-8A35065E4EDE}" srcOrd="12" destOrd="0" presId="urn:microsoft.com/office/officeart/2005/8/layout/hProcess11"/>
    <dgm:cxn modelId="{23E196B9-D22B-482D-8485-29AE0766B107}" type="presParOf" srcId="{4B1B2FCA-B2E1-4A5B-BB0C-8A35065E4EDE}" destId="{AD440EF7-44B7-4AD1-B976-7DD0F1A3CF20}" srcOrd="0" destOrd="0" presId="urn:microsoft.com/office/officeart/2005/8/layout/hProcess11"/>
    <dgm:cxn modelId="{98E3810F-E20B-44D6-A59C-DA86583BB265}" type="presParOf" srcId="{4B1B2FCA-B2E1-4A5B-BB0C-8A35065E4EDE}" destId="{AA550A64-0BF0-4A6E-9714-2D0272C3ABDD}" srcOrd="1" destOrd="0" presId="urn:microsoft.com/office/officeart/2005/8/layout/hProcess11"/>
    <dgm:cxn modelId="{95784C97-D4D5-4F71-91B2-F0B897CCCA3D}" type="presParOf" srcId="{4B1B2FCA-B2E1-4A5B-BB0C-8A35065E4EDE}" destId="{C229A4DB-7026-4B2A-99D5-3AC35773C489}" srcOrd="2" destOrd="0" presId="urn:microsoft.com/office/officeart/2005/8/layout/hProcess11"/>
    <dgm:cxn modelId="{44EB7DEC-95C2-4A8D-8FF5-C32D10C4811D}" type="presParOf" srcId="{662E6796-E7E2-4E57-9933-DD4AF89BC3F8}" destId="{7F4BF459-034C-4A82-B1F0-31C7457B746A}" srcOrd="13" destOrd="0" presId="urn:microsoft.com/office/officeart/2005/8/layout/hProcess11"/>
    <dgm:cxn modelId="{90ED9616-2C1D-4A4D-BE4C-A823DAB3B63F}" type="presParOf" srcId="{662E6796-E7E2-4E57-9933-DD4AF89BC3F8}" destId="{BA47B2A5-A7FD-4DA0-A772-DE646043F20E}" srcOrd="14" destOrd="0" presId="urn:microsoft.com/office/officeart/2005/8/layout/hProcess11"/>
    <dgm:cxn modelId="{CF123E84-584C-4B95-AD71-D9C0968CA6A9}" type="presParOf" srcId="{BA47B2A5-A7FD-4DA0-A772-DE646043F20E}" destId="{39C5C8A1-DCAC-42EF-BFE3-75CAFB3D1182}" srcOrd="0" destOrd="0" presId="urn:microsoft.com/office/officeart/2005/8/layout/hProcess11"/>
    <dgm:cxn modelId="{AA85F8CD-5B47-4AC5-B50B-29AA415F6931}" type="presParOf" srcId="{BA47B2A5-A7FD-4DA0-A772-DE646043F20E}" destId="{97C00991-1122-46D0-92D7-BF83EFEE462E}" srcOrd="1" destOrd="0" presId="urn:microsoft.com/office/officeart/2005/8/layout/hProcess11"/>
    <dgm:cxn modelId="{F96799B6-20C1-4510-9BBD-7B23D25C01EA}" type="presParOf" srcId="{BA47B2A5-A7FD-4DA0-A772-DE646043F20E}" destId="{ECB1660C-6857-4B52-8F94-5E792C290EBF}"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3C5DD-B123-49E8-B51F-2893D7279F82}">
      <dsp:nvSpPr>
        <dsp:cNvPr id="0" name=""/>
        <dsp:cNvSpPr/>
      </dsp:nvSpPr>
      <dsp:spPr>
        <a:xfrm>
          <a:off x="0" y="603842"/>
          <a:ext cx="11049000" cy="805122"/>
        </a:xfrm>
        <a:prstGeom prst="notched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983DF-2501-4EDE-8DD3-3EBB19C37DCE}">
      <dsp:nvSpPr>
        <dsp:cNvPr id="0" name=""/>
        <dsp:cNvSpPr/>
      </dsp:nvSpPr>
      <dsp:spPr>
        <a:xfrm>
          <a:off x="394"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IN" sz="1000" b="1" kern="1200" dirty="0"/>
            <a:t>RFP Closure</a:t>
          </a:r>
          <a:endParaRPr lang="en-IN" sz="1000" b="1" kern="1200" dirty="0">
            <a:solidFill>
              <a:srgbClr val="00B050"/>
            </a:solidFill>
          </a:endParaRPr>
        </a:p>
      </dsp:txBody>
      <dsp:txXfrm>
        <a:off x="394" y="0"/>
        <a:ext cx="1190815" cy="805122"/>
      </dsp:txXfrm>
    </dsp:sp>
    <dsp:sp modelId="{CBDB3E6B-3376-404C-BCC3-7869D484290B}">
      <dsp:nvSpPr>
        <dsp:cNvPr id="0" name=""/>
        <dsp:cNvSpPr/>
      </dsp:nvSpPr>
      <dsp:spPr>
        <a:xfrm>
          <a:off x="495162"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A9C43B-0F5F-463A-BE32-7BEEF4EDC0EE}">
      <dsp:nvSpPr>
        <dsp:cNvPr id="0" name=""/>
        <dsp:cNvSpPr/>
      </dsp:nvSpPr>
      <dsp:spPr>
        <a:xfrm>
          <a:off x="1250750"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IN" sz="1000" b="1" kern="1200" dirty="0"/>
            <a:t>Functional &amp; Tech DD Analysis Completion</a:t>
          </a:r>
        </a:p>
      </dsp:txBody>
      <dsp:txXfrm>
        <a:off x="1250750" y="1207684"/>
        <a:ext cx="1190815" cy="805122"/>
      </dsp:txXfrm>
    </dsp:sp>
    <dsp:sp modelId="{C024BDCB-48D7-4011-B1E9-CE328789AAFE}">
      <dsp:nvSpPr>
        <dsp:cNvPr id="0" name=""/>
        <dsp:cNvSpPr/>
      </dsp:nvSpPr>
      <dsp:spPr>
        <a:xfrm>
          <a:off x="1745518"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0CBBD6-3083-405B-AB0D-9B6272053F78}">
      <dsp:nvSpPr>
        <dsp:cNvPr id="0" name=""/>
        <dsp:cNvSpPr/>
      </dsp:nvSpPr>
      <dsp:spPr>
        <a:xfrm>
          <a:off x="2501107"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IN" sz="1000" b="1" kern="1200" dirty="0"/>
            <a:t>Commercial Discussions &amp; Contract Assignment</a:t>
          </a:r>
        </a:p>
      </dsp:txBody>
      <dsp:txXfrm>
        <a:off x="2501107" y="0"/>
        <a:ext cx="1190815" cy="805122"/>
      </dsp:txXfrm>
    </dsp:sp>
    <dsp:sp modelId="{FCD722CB-B3F2-4723-AEAC-A4A8D283E42B}">
      <dsp:nvSpPr>
        <dsp:cNvPr id="0" name=""/>
        <dsp:cNvSpPr/>
      </dsp:nvSpPr>
      <dsp:spPr>
        <a:xfrm>
          <a:off x="2995874" y="905763"/>
          <a:ext cx="201280" cy="201280"/>
        </a:xfrm>
        <a:prstGeom prst="ellipse">
          <a:avLst/>
        </a:prstGeom>
        <a:solidFill>
          <a:srgbClr val="C0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A1F75A-C54F-481F-B4D4-E49189945EFC}">
      <dsp:nvSpPr>
        <dsp:cNvPr id="0" name=""/>
        <dsp:cNvSpPr/>
      </dsp:nvSpPr>
      <dsp:spPr>
        <a:xfrm>
          <a:off x="3751463"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IN" sz="1000" b="1" kern="1200" dirty="0"/>
            <a:t>Requirement Gathering Workshops Completion</a:t>
          </a:r>
        </a:p>
      </dsp:txBody>
      <dsp:txXfrm>
        <a:off x="3751463" y="1207684"/>
        <a:ext cx="1190815" cy="805122"/>
      </dsp:txXfrm>
    </dsp:sp>
    <dsp:sp modelId="{B681403E-CFD6-4FAC-A728-2953933ED0DE}">
      <dsp:nvSpPr>
        <dsp:cNvPr id="0" name=""/>
        <dsp:cNvSpPr/>
      </dsp:nvSpPr>
      <dsp:spPr>
        <a:xfrm>
          <a:off x="4246231"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164D32-FAD1-499E-B166-EFB2F628D479}">
      <dsp:nvSpPr>
        <dsp:cNvPr id="0" name=""/>
        <dsp:cNvSpPr/>
      </dsp:nvSpPr>
      <dsp:spPr>
        <a:xfrm>
          <a:off x="5001820"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IN" sz="1000" b="1" kern="1200" dirty="0"/>
            <a:t>System Configurations &amp; Integrations Start</a:t>
          </a:r>
        </a:p>
      </dsp:txBody>
      <dsp:txXfrm>
        <a:off x="5001820" y="0"/>
        <a:ext cx="1190815" cy="805122"/>
      </dsp:txXfrm>
    </dsp:sp>
    <dsp:sp modelId="{6170C87F-815A-4ED8-B280-9E2E3B47ACC6}">
      <dsp:nvSpPr>
        <dsp:cNvPr id="0" name=""/>
        <dsp:cNvSpPr/>
      </dsp:nvSpPr>
      <dsp:spPr>
        <a:xfrm>
          <a:off x="5496587"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033695-7977-4764-8529-9681ADB30D00}">
      <dsp:nvSpPr>
        <dsp:cNvPr id="0" name=""/>
        <dsp:cNvSpPr/>
      </dsp:nvSpPr>
      <dsp:spPr>
        <a:xfrm>
          <a:off x="6252176"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IN" sz="1000" b="1" kern="1200" dirty="0"/>
            <a:t>System Configurations &amp; Integrations Completion</a:t>
          </a:r>
        </a:p>
      </dsp:txBody>
      <dsp:txXfrm>
        <a:off x="6252176" y="1207684"/>
        <a:ext cx="1190815" cy="805122"/>
      </dsp:txXfrm>
    </dsp:sp>
    <dsp:sp modelId="{746EC6C4-C80A-4D80-B547-6095F96184A0}">
      <dsp:nvSpPr>
        <dsp:cNvPr id="0" name=""/>
        <dsp:cNvSpPr/>
      </dsp:nvSpPr>
      <dsp:spPr>
        <a:xfrm>
          <a:off x="6746944"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440EF7-44B7-4AD1-B976-7DD0F1A3CF20}">
      <dsp:nvSpPr>
        <dsp:cNvPr id="0" name=""/>
        <dsp:cNvSpPr/>
      </dsp:nvSpPr>
      <dsp:spPr>
        <a:xfrm>
          <a:off x="7502533"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dirty="0"/>
            <a:t>UAT Completion &amp; End User Trainings</a:t>
          </a:r>
          <a:endParaRPr lang="en-IN" sz="1000" b="1" kern="1200" dirty="0"/>
        </a:p>
      </dsp:txBody>
      <dsp:txXfrm>
        <a:off x="7502533" y="0"/>
        <a:ext cx="1190815" cy="805122"/>
      </dsp:txXfrm>
    </dsp:sp>
    <dsp:sp modelId="{AA550A64-0BF0-4A6E-9714-2D0272C3ABDD}">
      <dsp:nvSpPr>
        <dsp:cNvPr id="0" name=""/>
        <dsp:cNvSpPr/>
      </dsp:nvSpPr>
      <dsp:spPr>
        <a:xfrm>
          <a:off x="7997300"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C5C8A1-DCAC-42EF-BFE3-75CAFB3D1182}">
      <dsp:nvSpPr>
        <dsp:cNvPr id="0" name=""/>
        <dsp:cNvSpPr/>
      </dsp:nvSpPr>
      <dsp:spPr>
        <a:xfrm>
          <a:off x="8752889"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solidFill>
                <a:srgbClr val="7030A0"/>
              </a:solidFill>
            </a:rPr>
            <a:t>CAB Approval, Production Deployment &amp; Go-Live</a:t>
          </a:r>
          <a:endParaRPr lang="en-IN" sz="1000" b="1" kern="1200" dirty="0">
            <a:solidFill>
              <a:srgbClr val="7030A0"/>
            </a:solidFill>
          </a:endParaRPr>
        </a:p>
      </dsp:txBody>
      <dsp:txXfrm>
        <a:off x="8752889" y="1207684"/>
        <a:ext cx="1190815" cy="805122"/>
      </dsp:txXfrm>
    </dsp:sp>
    <dsp:sp modelId="{97C00991-1122-46D0-92D7-BF83EFEE462E}">
      <dsp:nvSpPr>
        <dsp:cNvPr id="0" name=""/>
        <dsp:cNvSpPr/>
      </dsp:nvSpPr>
      <dsp:spPr>
        <a:xfrm>
          <a:off x="9247657"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3C5DD-B123-49E8-B51F-2893D7279F82}">
      <dsp:nvSpPr>
        <dsp:cNvPr id="0" name=""/>
        <dsp:cNvSpPr/>
      </dsp:nvSpPr>
      <dsp:spPr>
        <a:xfrm>
          <a:off x="0" y="603842"/>
          <a:ext cx="11049000" cy="805122"/>
        </a:xfrm>
        <a:prstGeom prst="notched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983DF-2501-4EDE-8DD3-3EBB19C37DCE}">
      <dsp:nvSpPr>
        <dsp:cNvPr id="0" name=""/>
        <dsp:cNvSpPr/>
      </dsp:nvSpPr>
      <dsp:spPr>
        <a:xfrm>
          <a:off x="394"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IN" sz="800" b="1" kern="1200" dirty="0"/>
            <a:t>Commercial Discussions with SF</a:t>
          </a:r>
          <a:endParaRPr lang="en-IN" sz="800" b="1" kern="1200" dirty="0">
            <a:solidFill>
              <a:srgbClr val="00B050"/>
            </a:solidFill>
          </a:endParaRPr>
        </a:p>
      </dsp:txBody>
      <dsp:txXfrm>
        <a:off x="394" y="0"/>
        <a:ext cx="1190815" cy="805122"/>
      </dsp:txXfrm>
    </dsp:sp>
    <dsp:sp modelId="{CBDB3E6B-3376-404C-BCC3-7869D484290B}">
      <dsp:nvSpPr>
        <dsp:cNvPr id="0" name=""/>
        <dsp:cNvSpPr/>
      </dsp:nvSpPr>
      <dsp:spPr>
        <a:xfrm>
          <a:off x="495162"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A9C43B-0F5F-463A-BE32-7BEEF4EDC0EE}">
      <dsp:nvSpPr>
        <dsp:cNvPr id="0" name=""/>
        <dsp:cNvSpPr/>
      </dsp:nvSpPr>
      <dsp:spPr>
        <a:xfrm>
          <a:off x="1250750"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IN" sz="800" b="1" kern="1200" dirty="0"/>
            <a:t>Addendum Contract Signing with SAP</a:t>
          </a:r>
        </a:p>
      </dsp:txBody>
      <dsp:txXfrm>
        <a:off x="1250750" y="1207684"/>
        <a:ext cx="1190815" cy="805122"/>
      </dsp:txXfrm>
    </dsp:sp>
    <dsp:sp modelId="{C024BDCB-48D7-4011-B1E9-CE328789AAFE}">
      <dsp:nvSpPr>
        <dsp:cNvPr id="0" name=""/>
        <dsp:cNvSpPr/>
      </dsp:nvSpPr>
      <dsp:spPr>
        <a:xfrm>
          <a:off x="1745518"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0CBBD6-3083-405B-AB0D-9B6272053F78}">
      <dsp:nvSpPr>
        <dsp:cNvPr id="0" name=""/>
        <dsp:cNvSpPr/>
      </dsp:nvSpPr>
      <dsp:spPr>
        <a:xfrm>
          <a:off x="2501107"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IN" sz="800" b="1" kern="1200" dirty="0"/>
            <a:t>Requirement Gathering Workshop</a:t>
          </a:r>
        </a:p>
      </dsp:txBody>
      <dsp:txXfrm>
        <a:off x="2501107" y="0"/>
        <a:ext cx="1190815" cy="805122"/>
      </dsp:txXfrm>
    </dsp:sp>
    <dsp:sp modelId="{FCD722CB-B3F2-4723-AEAC-A4A8D283E42B}">
      <dsp:nvSpPr>
        <dsp:cNvPr id="0" name=""/>
        <dsp:cNvSpPr/>
      </dsp:nvSpPr>
      <dsp:spPr>
        <a:xfrm>
          <a:off x="2995874" y="905763"/>
          <a:ext cx="201280" cy="201280"/>
        </a:xfrm>
        <a:prstGeom prst="ellipse">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A1F75A-C54F-481F-B4D4-E49189945EFC}">
      <dsp:nvSpPr>
        <dsp:cNvPr id="0" name=""/>
        <dsp:cNvSpPr/>
      </dsp:nvSpPr>
      <dsp:spPr>
        <a:xfrm>
          <a:off x="3751463"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IN" sz="800" b="1" kern="1200" dirty="0"/>
            <a:t>System Configurations &amp; Integrations Start</a:t>
          </a:r>
        </a:p>
      </dsp:txBody>
      <dsp:txXfrm>
        <a:off x="3751463" y="1207684"/>
        <a:ext cx="1190815" cy="805122"/>
      </dsp:txXfrm>
    </dsp:sp>
    <dsp:sp modelId="{B681403E-CFD6-4FAC-A728-2953933ED0DE}">
      <dsp:nvSpPr>
        <dsp:cNvPr id="0" name=""/>
        <dsp:cNvSpPr/>
      </dsp:nvSpPr>
      <dsp:spPr>
        <a:xfrm>
          <a:off x="4246231" y="905763"/>
          <a:ext cx="201280" cy="201280"/>
        </a:xfrm>
        <a:prstGeom prst="ellipse">
          <a:avLst/>
        </a:prstGeom>
        <a:solidFill>
          <a:schemeClr val="accent6"/>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164D32-FAD1-499E-B166-EFB2F628D479}">
      <dsp:nvSpPr>
        <dsp:cNvPr id="0" name=""/>
        <dsp:cNvSpPr/>
      </dsp:nvSpPr>
      <dsp:spPr>
        <a:xfrm>
          <a:off x="5001820"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IN" sz="800" b="1" kern="1200" dirty="0"/>
            <a:t>System Configurations &amp; Integrations Completion</a:t>
          </a:r>
        </a:p>
      </dsp:txBody>
      <dsp:txXfrm>
        <a:off x="5001820" y="0"/>
        <a:ext cx="1190815" cy="805122"/>
      </dsp:txXfrm>
    </dsp:sp>
    <dsp:sp modelId="{6170C87F-815A-4ED8-B280-9E2E3B47ACC6}">
      <dsp:nvSpPr>
        <dsp:cNvPr id="0" name=""/>
        <dsp:cNvSpPr/>
      </dsp:nvSpPr>
      <dsp:spPr>
        <a:xfrm>
          <a:off x="5496587"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033695-7977-4764-8529-9681ADB30D00}">
      <dsp:nvSpPr>
        <dsp:cNvPr id="0" name=""/>
        <dsp:cNvSpPr/>
      </dsp:nvSpPr>
      <dsp:spPr>
        <a:xfrm>
          <a:off x="6252176"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US" sz="800" b="1" kern="1200" dirty="0"/>
            <a:t>Historical Data migration from myAI and UAT Completion &amp; End User Trainings</a:t>
          </a:r>
          <a:endParaRPr lang="en-IN" sz="800" b="1" kern="1200" dirty="0"/>
        </a:p>
      </dsp:txBody>
      <dsp:txXfrm>
        <a:off x="6252176" y="1207684"/>
        <a:ext cx="1190815" cy="805122"/>
      </dsp:txXfrm>
    </dsp:sp>
    <dsp:sp modelId="{746EC6C4-C80A-4D80-B547-6095F96184A0}">
      <dsp:nvSpPr>
        <dsp:cNvPr id="0" name=""/>
        <dsp:cNvSpPr/>
      </dsp:nvSpPr>
      <dsp:spPr>
        <a:xfrm>
          <a:off x="6746944"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440EF7-44B7-4AD1-B976-7DD0F1A3CF20}">
      <dsp:nvSpPr>
        <dsp:cNvPr id="0" name=""/>
        <dsp:cNvSpPr/>
      </dsp:nvSpPr>
      <dsp:spPr>
        <a:xfrm>
          <a:off x="7502533" y="0"/>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US" sz="800" b="1" kern="1200" dirty="0">
              <a:solidFill>
                <a:srgbClr val="7030A0"/>
              </a:solidFill>
            </a:rPr>
            <a:t>CAB Approval, Production Deployment &amp; Go-Live</a:t>
          </a:r>
          <a:endParaRPr lang="en-IN" sz="800" b="1" kern="1200" dirty="0"/>
        </a:p>
      </dsp:txBody>
      <dsp:txXfrm>
        <a:off x="7502533" y="0"/>
        <a:ext cx="1190815" cy="805122"/>
      </dsp:txXfrm>
    </dsp:sp>
    <dsp:sp modelId="{AA550A64-0BF0-4A6E-9714-2D0272C3ABDD}">
      <dsp:nvSpPr>
        <dsp:cNvPr id="0" name=""/>
        <dsp:cNvSpPr/>
      </dsp:nvSpPr>
      <dsp:spPr>
        <a:xfrm>
          <a:off x="7997300"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C5C8A1-DCAC-42EF-BFE3-75CAFB3D1182}">
      <dsp:nvSpPr>
        <dsp:cNvPr id="0" name=""/>
        <dsp:cNvSpPr/>
      </dsp:nvSpPr>
      <dsp:spPr>
        <a:xfrm>
          <a:off x="8752889" y="1207684"/>
          <a:ext cx="1190815" cy="805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endParaRPr lang="en-IN" sz="800" b="1" kern="1200" dirty="0">
            <a:solidFill>
              <a:srgbClr val="7030A0"/>
            </a:solidFill>
          </a:endParaRPr>
        </a:p>
      </dsp:txBody>
      <dsp:txXfrm>
        <a:off x="8752889" y="1207684"/>
        <a:ext cx="1190815" cy="805122"/>
      </dsp:txXfrm>
    </dsp:sp>
    <dsp:sp modelId="{97C00991-1122-46D0-92D7-BF83EFEE462E}">
      <dsp:nvSpPr>
        <dsp:cNvPr id="0" name=""/>
        <dsp:cNvSpPr/>
      </dsp:nvSpPr>
      <dsp:spPr>
        <a:xfrm>
          <a:off x="9247657" y="905763"/>
          <a:ext cx="201280" cy="20128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23F9EB-A667-4D58-BCF6-E209520FBA94}" type="datetimeFigureOut">
              <a:rPr lang="en-US" smtClean="0"/>
              <a:t>7/7/2026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B7408-9A06-41BD-8B00-CEBD8D6DDF3F}" type="slidenum">
              <a:rPr lang="en-US" smtClean="0"/>
              <a:t>‹#›</a:t>
            </a:fld>
            <a:endParaRPr lang="en-US"/>
          </a:p>
        </p:txBody>
      </p:sp>
    </p:spTree>
    <p:extLst>
      <p:ext uri="{BB962C8B-B14F-4D97-AF65-F5344CB8AC3E}">
        <p14:creationId xmlns:p14="http://schemas.microsoft.com/office/powerpoint/2010/main" val="212768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C18D-A29E-FFFE-3F02-078656C9F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86122-E4BE-F50B-22B9-F87F934F6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6304B-F938-7697-2B26-1CA5576F84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F55871-9BB7-DD10-FFFF-D53347B007C0}"/>
              </a:ext>
            </a:extLst>
          </p:cNvPr>
          <p:cNvSpPr>
            <a:spLocks noGrp="1"/>
          </p:cNvSpPr>
          <p:nvPr>
            <p:ph type="sldNum" sz="quarter" idx="5"/>
          </p:nvPr>
        </p:nvSpPr>
        <p:spPr/>
        <p:txBody>
          <a:bodyPr/>
          <a:lstStyle/>
          <a:p>
            <a:fld id="{F67B7408-9A06-41BD-8B00-CEBD8D6DDF3F}" type="slidenum">
              <a:rPr lang="en-US" smtClean="0"/>
              <a:t>4</a:t>
            </a:fld>
            <a:endParaRPr lang="en-US"/>
          </a:p>
        </p:txBody>
      </p:sp>
    </p:spTree>
    <p:extLst>
      <p:ext uri="{BB962C8B-B14F-4D97-AF65-F5344CB8AC3E}">
        <p14:creationId xmlns:p14="http://schemas.microsoft.com/office/powerpoint/2010/main" val="487118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CD016-4642-C258-328B-F11E45759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8ABFB-6787-FA8E-DBDE-BF0943B92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8F2F7-DFC0-AADA-609D-CB21CE95FD6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357B9E0-82D4-874D-5434-DDDCA3C5DD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6718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A47CE-1C6F-8943-E03D-12DC2516B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B6C79-C305-1C04-0BAE-691E84C73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00FA1-DCE0-0858-0633-9E735F02106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3E8A12E-940E-AB6C-CAE6-1018017A16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82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1DE5-CBCC-BCA1-0872-D43102301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67B30-C74A-10E6-34FB-637C3A488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AA45B-D8CE-9F65-E2D1-01311E6B00C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45A83B5-5A88-CDED-F6CD-161415C593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367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322FC-F66D-C9ED-C205-B1AAF8FA0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2646B-0227-E820-1DC0-88592EB95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9DAEC-FD99-0C8B-9609-6A74C28E40E3}"/>
              </a:ext>
            </a:extLst>
          </p:cNvPr>
          <p:cNvSpPr>
            <a:spLocks noGrp="1"/>
          </p:cNvSpPr>
          <p:nvPr>
            <p:ph type="body" idx="1"/>
          </p:nvPr>
        </p:nvSpPr>
        <p:spPr/>
        <p:txBody>
          <a:bodyPr/>
          <a:lstStyle/>
          <a:p>
            <a:pPr fontAlgn="t"/>
            <a:r>
              <a:rPr lang="en-IN" dirty="0"/>
              <a:t>Notes:</a:t>
            </a:r>
            <a:br>
              <a:rPr lang="en-IN" dirty="0"/>
            </a:br>
            <a:r>
              <a:rPr lang="en-US" b="0" i="0" dirty="0">
                <a:effectLst/>
                <a:latin typeface="Segoe UI" panose="020B0502040204020203" pitchFamily="34" charset="0"/>
              </a:rPr>
              <a:t>We originally started this track because the existing SuccessFactors RCM experience had several usability and process gaps, both for internal admin users and candidates.</a:t>
            </a:r>
          </a:p>
          <a:p>
            <a:pPr fontAlgn="t"/>
            <a:r>
              <a:rPr lang="en-US" b="0" i="0" dirty="0">
                <a:effectLst/>
                <a:latin typeface="Segoe UI" panose="020B0502040204020203" pitchFamily="34" charset="0"/>
              </a:rPr>
              <a:t>The initial approach was to procure a new hiring experience tool through an RFP. The intent was to retain SF RCM as the base system and integrate a new front-end or experience layer to address these gaps. As part of this, multiple vendors were functionally evaluated, and technical due diligence was completed for three vendors.</a:t>
            </a:r>
          </a:p>
          <a:p>
            <a:pPr fontAlgn="t"/>
            <a:r>
              <a:rPr lang="en-US" b="0" i="0" dirty="0">
                <a:effectLst/>
                <a:latin typeface="Segoe UI" panose="020B0502040204020203" pitchFamily="34" charset="0"/>
              </a:rPr>
              <a:t>In parallel, we also evaluated SF Smart Recruiter. This was anyway a mandatory upgrade path from SuccessFactors RCM, although originally expected only after a couple of years. During functional analysis, Smart Recruiter appeared to address the same core issues that the RFP was trying to solve.</a:t>
            </a:r>
          </a:p>
          <a:p>
            <a:pPr fontAlgn="t"/>
            <a:r>
              <a:rPr lang="en-US" b="0" i="0" dirty="0">
                <a:effectLst/>
                <a:latin typeface="Segoe UI" panose="020B0502040204020203" pitchFamily="34" charset="0"/>
              </a:rPr>
              <a:t>Therefore, the current recommendation is to advance the SF Smart Recruiter upgrade instead of introducing a separate tool. This reduces integration complexity, supports single-system usage, and may also provide cost optimization if the current RCM license construct can be replaced or adjusted against Smart Recruiter licensing. This commercial impact still needs to be formally confirmed with SAP.</a:t>
            </a:r>
          </a:p>
          <a:p>
            <a:pPr fontAlgn="t"/>
            <a:r>
              <a:rPr lang="en-US" b="0" i="0" dirty="0">
                <a:effectLst/>
                <a:latin typeface="Segoe UI" panose="020B0502040204020203" pitchFamily="34" charset="0"/>
              </a:rPr>
              <a:t>Functionally, SF Smart Recruiter is now finalized as the preferred path. The immediate next step is for Procurement to initiate discussions with SAP on commercial quotes, licensing, and negotiations, along with identification of an implementation partner.</a:t>
            </a:r>
          </a:p>
          <a:p>
            <a:pPr fontAlgn="t"/>
            <a:r>
              <a:rPr lang="en-US" b="0" i="0" dirty="0">
                <a:effectLst/>
                <a:latin typeface="Segoe UI" panose="020B0502040204020203" pitchFamily="34" charset="0"/>
              </a:rPr>
              <a:t>One impact to highlight is that the overall Go-Live timeline may need to be re-baselined. Earlier timelines were tracking towards July-end, but given the change in approach and dependency on SAP commercials and implementation partner onboarding, the revised Go-Live may move to September-end.</a:t>
            </a:r>
          </a:p>
          <a:p>
            <a:endParaRPr lang="en-IN" dirty="0"/>
          </a:p>
        </p:txBody>
      </p:sp>
      <p:sp>
        <p:nvSpPr>
          <p:cNvPr id="4" name="Slide Number Placeholder 3">
            <a:extLst>
              <a:ext uri="{FF2B5EF4-FFF2-40B4-BE49-F238E27FC236}">
                <a16:creationId xmlns:a16="http://schemas.microsoft.com/office/drawing/2014/main" id="{A4EBCEE0-9A37-ABB0-75BE-10EBF94723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5421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0B03-14FD-E502-411C-843D1B944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5129B-71EC-81BC-E237-1495D7442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A7431-5EBD-C149-89BD-F58A03126827}"/>
              </a:ext>
            </a:extLst>
          </p:cNvPr>
          <p:cNvSpPr>
            <a:spLocks noGrp="1"/>
          </p:cNvSpPr>
          <p:nvPr>
            <p:ph type="body" idx="1"/>
          </p:nvPr>
        </p:nvSpPr>
        <p:spPr/>
        <p:txBody>
          <a:bodyPr/>
          <a:lstStyle/>
          <a:p>
            <a:pPr algn="l" fontAlgn="base">
              <a:lnSpc>
                <a:spcPts val="1500"/>
              </a:lnSpc>
            </a:pPr>
            <a:r>
              <a:rPr lang="en-US" sz="1800" b="1" i="1" dirty="0">
                <a:solidFill>
                  <a:srgbClr val="000000"/>
                </a:solidFill>
                <a:effectLst/>
                <a:latin typeface="Aptos" panose="020B0004020202020204" pitchFamily="34" charset="0"/>
              </a:rPr>
              <a:t>Appendix: Key Timeline of Actions</a:t>
            </a:r>
            <a:endParaRPr lang="en-US" sz="1800" b="0" i="0" dirty="0">
              <a:solidFill>
                <a:srgbClr val="242424"/>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05 Jun 2026</a:t>
            </a:r>
            <a:r>
              <a:rPr lang="en-US" sz="1800" b="0" i="1" dirty="0">
                <a:solidFill>
                  <a:srgbClr val="000000"/>
                </a:solidFill>
                <a:effectLst/>
                <a:latin typeface="Aptos" panose="020B0004020202020204" pitchFamily="34" charset="0"/>
              </a:rPr>
              <a:t> – Requirement for SAP SuccessFactors LMS Implementation Partner shared by D&amp;T Procurement; PR31625 referenced; budget of INR 45 lakhs indicated.</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06 Jun 2026</a:t>
            </a:r>
            <a:r>
              <a:rPr lang="en-US" sz="1800" b="0" i="1" dirty="0">
                <a:solidFill>
                  <a:srgbClr val="000000"/>
                </a:solidFill>
                <a:effectLst/>
                <a:latin typeface="Aptos" panose="020B0004020202020204" pitchFamily="34" charset="0"/>
              </a:rPr>
              <a:t> – Finance requested additional governance details on current TCS LMS, business case, gaps, cost-benefit, penalties/claims, and HR sign-off.</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09 Jun 2026</a:t>
            </a:r>
            <a:r>
              <a:rPr lang="en-US" sz="1800" b="0" i="1" dirty="0">
                <a:solidFill>
                  <a:srgbClr val="000000"/>
                </a:solidFill>
                <a:effectLst/>
                <a:latin typeface="Aptos" panose="020B0004020202020204" pitchFamily="34" charset="0"/>
              </a:rPr>
              <a:t> – D&amp;T shared detailed responses to Finance queries, including current LMS background, gaps, TCS limitations, and </a:t>
            </a:r>
            <a:r>
              <a:rPr lang="en-US" sz="1800" b="0" i="1" dirty="0" err="1">
                <a:solidFill>
                  <a:srgbClr val="000000"/>
                </a:solidFill>
                <a:effectLst/>
                <a:latin typeface="Aptos" panose="020B0004020202020204" pitchFamily="34" charset="0"/>
              </a:rPr>
              <a:t>SteerCo</a:t>
            </a:r>
            <a:r>
              <a:rPr lang="en-US" sz="1800" b="0" i="1" dirty="0">
                <a:solidFill>
                  <a:srgbClr val="000000"/>
                </a:solidFill>
                <a:effectLst/>
                <a:latin typeface="Aptos" panose="020B0004020202020204" pitchFamily="34" charset="0"/>
              </a:rPr>
              <a:t> alignment.</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09 Jun 2026</a:t>
            </a:r>
            <a:r>
              <a:rPr lang="en-US" sz="1800" b="0" i="1" dirty="0">
                <a:solidFill>
                  <a:srgbClr val="000000"/>
                </a:solidFill>
                <a:effectLst/>
                <a:latin typeface="Aptos" panose="020B0004020202020204" pitchFamily="34" charset="0"/>
              </a:rPr>
              <a:t> – HR confirmed that sufficient exploration had been completed and that CHRO and CDTO had approved moving ahead with SAP SuccessFactors LMS.</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10 Jun 2026</a:t>
            </a:r>
            <a:r>
              <a:rPr lang="en-US" sz="1800" b="0" i="1" dirty="0">
                <a:solidFill>
                  <a:srgbClr val="000000"/>
                </a:solidFill>
                <a:effectLst/>
                <a:latin typeface="Aptos" panose="020B0004020202020204" pitchFamily="34" charset="0"/>
              </a:rPr>
              <a:t> – HR shared signed-off BRD for SF LMS implementation by Head TLC.</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11 Jun 2026</a:t>
            </a:r>
            <a:r>
              <a:rPr lang="en-US" sz="1800" b="0" i="1" dirty="0">
                <a:solidFill>
                  <a:srgbClr val="000000"/>
                </a:solidFill>
                <a:effectLst/>
                <a:latin typeface="Aptos" panose="020B0004020202020204" pitchFamily="34" charset="0"/>
              </a:rPr>
              <a:t> – D&amp;T requested status and timelines for interviewing/evaluating implementation partners.</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15 Jun 2026</a:t>
            </a:r>
            <a:r>
              <a:rPr lang="en-US" sz="1800" b="0" i="1" dirty="0">
                <a:solidFill>
                  <a:srgbClr val="000000"/>
                </a:solidFill>
                <a:effectLst/>
                <a:latin typeface="Aptos" panose="020B0004020202020204" pitchFamily="34" charset="0"/>
              </a:rPr>
              <a:t> – D&amp;T again requested partner profiles/interviews, highlighting delay against </a:t>
            </a:r>
            <a:r>
              <a:rPr lang="en-US" sz="1800" b="0" i="1" dirty="0" err="1">
                <a:solidFill>
                  <a:srgbClr val="000000"/>
                </a:solidFill>
                <a:effectLst/>
                <a:latin typeface="Aptos" panose="020B0004020202020204" pitchFamily="34" charset="0"/>
              </a:rPr>
              <a:t>SteerCo</a:t>
            </a:r>
            <a:r>
              <a:rPr lang="en-US" sz="1800" b="0" i="1" dirty="0">
                <a:solidFill>
                  <a:srgbClr val="000000"/>
                </a:solidFill>
                <a:effectLst/>
                <a:latin typeface="Aptos" panose="020B0004020202020204" pitchFamily="34" charset="0"/>
              </a:rPr>
              <a:t>-aligned go-live timelines.</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15 Jun 2026</a:t>
            </a:r>
            <a:r>
              <a:rPr lang="en-US" sz="1800" b="0" i="1" dirty="0">
                <a:solidFill>
                  <a:srgbClr val="000000"/>
                </a:solidFill>
                <a:effectLst/>
                <a:latin typeface="Aptos" panose="020B0004020202020204" pitchFamily="34" charset="0"/>
              </a:rPr>
              <a:t> – D&amp;T Procurement requested Central Procurement to seek quotes from partners, subject to closure of queries.</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15 Jun 2026</a:t>
            </a:r>
            <a:r>
              <a:rPr lang="en-US" sz="1800" b="0" i="1" dirty="0">
                <a:solidFill>
                  <a:srgbClr val="000000"/>
                </a:solidFill>
                <a:effectLst/>
                <a:latin typeface="Aptos" panose="020B0004020202020204" pitchFamily="34" charset="0"/>
              </a:rPr>
              <a:t> – Finance requested commercial comparison between TCS iDL and SuccessFactors LMS.</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15 Jun 2026</a:t>
            </a:r>
            <a:r>
              <a:rPr lang="en-US" sz="1800" b="0" i="1" dirty="0">
                <a:solidFill>
                  <a:srgbClr val="000000"/>
                </a:solidFill>
                <a:effectLst/>
                <a:latin typeface="Aptos" panose="020B0004020202020204" pitchFamily="34" charset="0"/>
              </a:rPr>
              <a:t> – D&amp;T Procurement shared cost comparison, indicating annual savings of approx. INR 8.56 lakhs through migration.</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15 Jun 2026</a:t>
            </a:r>
            <a:r>
              <a:rPr lang="en-US" sz="1800" b="0" i="1" dirty="0">
                <a:solidFill>
                  <a:srgbClr val="000000"/>
                </a:solidFill>
                <a:effectLst/>
                <a:latin typeface="Aptos" panose="020B0004020202020204" pitchFamily="34" charset="0"/>
              </a:rPr>
              <a:t> – Finance confirmed alignment and gave go-ahead to move forward.</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18 Jun 2026</a:t>
            </a:r>
            <a:r>
              <a:rPr lang="en-US" sz="1800" b="0" i="1" dirty="0">
                <a:solidFill>
                  <a:srgbClr val="000000"/>
                </a:solidFill>
                <a:effectLst/>
                <a:latin typeface="Aptos" panose="020B0004020202020204" pitchFamily="34" charset="0"/>
              </a:rPr>
              <a:t> – D&amp;T requested next steps and evaluation timelines, reiterating the need to begin implementation by 1 July.</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19 Jun 2026</a:t>
            </a:r>
            <a:r>
              <a:rPr lang="en-US" sz="1800" b="0" i="1" dirty="0">
                <a:solidFill>
                  <a:srgbClr val="000000"/>
                </a:solidFill>
                <a:effectLst/>
                <a:latin typeface="Aptos" panose="020B0004020202020204" pitchFamily="34" charset="0"/>
              </a:rPr>
              <a:t> – D&amp;T requested ETA for partner profiles, as the plan was already behind schedule.</a:t>
            </a:r>
            <a:endParaRPr lang="en-US" sz="1800" b="0" i="0" dirty="0">
              <a:solidFill>
                <a:srgbClr val="000000"/>
              </a:solidFill>
              <a:effectLst/>
              <a:latin typeface="Aptos" panose="020B0004020202020204" pitchFamily="34" charset="0"/>
            </a:endParaRPr>
          </a:p>
          <a:p>
            <a:pPr algn="l">
              <a:lnSpc>
                <a:spcPts val="1500"/>
              </a:lnSpc>
              <a:buFont typeface="Arial" panose="020B0604020202020204" pitchFamily="34" charset="0"/>
              <a:buChar char="•"/>
            </a:pPr>
            <a:r>
              <a:rPr lang="en-US" sz="1800" b="1" i="1" dirty="0">
                <a:solidFill>
                  <a:srgbClr val="000000"/>
                </a:solidFill>
                <a:effectLst/>
                <a:latin typeface="Aptos" panose="020B0004020202020204" pitchFamily="34" charset="0"/>
              </a:rPr>
              <a:t>19 Jun 2026</a:t>
            </a:r>
            <a:r>
              <a:rPr lang="en-US" sz="1800" b="0" i="1" dirty="0">
                <a:solidFill>
                  <a:srgbClr val="000000"/>
                </a:solidFill>
                <a:effectLst/>
                <a:latin typeface="Aptos" panose="020B0004020202020204" pitchFamily="34" charset="0"/>
              </a:rPr>
              <a:t> – Central Procurement shared proposed RFP timeline with award currently planned for 18 July.</a:t>
            </a:r>
            <a:endParaRPr lang="en-US" sz="1800" b="0" i="0" dirty="0">
              <a:solidFill>
                <a:srgbClr val="000000"/>
              </a:solidFill>
              <a:effectLst/>
              <a:latin typeface="Aptos" panose="020B0004020202020204" pitchFamily="34" charset="0"/>
            </a:endParaRPr>
          </a:p>
          <a:p>
            <a:endParaRPr lang="en-IN" dirty="0"/>
          </a:p>
        </p:txBody>
      </p:sp>
      <p:sp>
        <p:nvSpPr>
          <p:cNvPr id="4" name="Slide Number Placeholder 3">
            <a:extLst>
              <a:ext uri="{FF2B5EF4-FFF2-40B4-BE49-F238E27FC236}">
                <a16:creationId xmlns:a16="http://schemas.microsoft.com/office/drawing/2014/main" id="{A5958C83-94B3-B8A6-473A-4C55804272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967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325D0-A795-36AF-CBE7-0917F6F9A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BEDAC-F2D7-3638-BCED-38335C1EC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2EEBE-4D75-C627-90EE-8823B9A27C1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627ACAC-18E5-1F0F-D5D6-E7908E4FD0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1113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Single-slide graphical representation of Service Requests FY26 categories and effort split.
Data used:
- Effort split: Low Effort 105, Medium Effort 43, High Effort 1; Total 149.
- Category split: Job Code Creation &amp; Updates 38; Access, Role &amp; Report Provisioning 33; Foundation Object Configuration &amp; Mapping 16; Routine Operational Updates 15; Form Processing 11; Moderate Configuration Updates 10; Resignation Workflow Reversal / Correction 8; Letter &amp; Template Updates 7; Report Scheduling &amp; Automation 6; Holiday Calendar Maintenance 4; High-Urgency / Priority Requests 1.
[Sources]
- Attached deck: HR_Tech_SteerCo_July_7th.pptx, Service Requests FY26 update slide.
- Uploaded screenshot of Service Requests FY26 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5436-4665-FD26-76DD-6A760BDA2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D36F1-7D0E-89AE-DE24-7F9598D15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0CE0C1-3713-38AA-BD99-55D7EE346B5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A85BB99-099E-0BD9-9902-8F884B826B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0795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47C3D-906E-2DDC-F080-A4532E851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CB3AA-A0F8-6217-3B4B-C2E14E61D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1E405-A65E-9442-8A35-5C81D75489F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1C995E8-FEA7-F7BF-8A70-D94500F02F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6694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5338B-BD3F-4373-3F9C-1C89865F0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61C4B-9B4F-C4C6-28A6-5A8AF761E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3C75E-FD4F-3CEA-27E4-BF6A8FB7DBA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03D09E2-6D02-7F2A-6939-E9BD527DF0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976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5" name="Picture 4" descr="A red background with a gold and purple figure&#10;&#10;Description automatically generated">
            <a:extLst>
              <a:ext uri="{FF2B5EF4-FFF2-40B4-BE49-F238E27FC236}">
                <a16:creationId xmlns:a16="http://schemas.microsoft.com/office/drawing/2014/main" id="{89B26D62-2982-895C-4C5E-CADCB2E222A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5205351" y="1600200"/>
            <a:ext cx="6384966" cy="2420399"/>
          </a:xfrm>
        </p:spPr>
        <p:txBody>
          <a:bodyPr anchor="b">
            <a:normAutofit/>
          </a:bodyPr>
          <a:lstStyle>
            <a:lvl1pPr algn="l">
              <a:defRPr sz="6000" b="1" i="0">
                <a:solidFill>
                  <a:schemeClr val="bg1"/>
                </a:solidFill>
                <a:latin typeface="AirIndia" pitchFamily="82" charset="77"/>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3D40D339-36A2-E854-A497-9F753205B7CC}"/>
              </a:ext>
            </a:extLst>
          </p:cNvPr>
          <p:cNvSpPr>
            <a:spLocks noGrp="1"/>
          </p:cNvSpPr>
          <p:nvPr>
            <p:ph type="subTitle" idx="1"/>
          </p:nvPr>
        </p:nvSpPr>
        <p:spPr>
          <a:xfrm>
            <a:off x="5205350" y="4037607"/>
            <a:ext cx="6384966" cy="1350818"/>
          </a:xfrm>
        </p:spPr>
        <p:txBody>
          <a:bodyPr>
            <a:normAutofit/>
          </a:bodyPr>
          <a:lstStyle>
            <a:lvl1pPr marL="0" indent="0" algn="l">
              <a:buFontTx/>
              <a:buNone/>
              <a:defRPr sz="280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109799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userDrawn="1">
          <p15:clr>
            <a:srgbClr val="FBAE40"/>
          </p15:clr>
        </p15:guide>
        <p15:guide id="4" orient="horz" pos="14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Cover Slide">
    <p:spTree>
      <p:nvGrpSpPr>
        <p:cNvPr id="1" name=""/>
        <p:cNvGrpSpPr/>
        <p:nvPr/>
      </p:nvGrpSpPr>
      <p:grpSpPr>
        <a:xfrm>
          <a:off x="0" y="0"/>
          <a:ext cx="0" cy="0"/>
          <a:chOff x="0" y="0"/>
          <a:chExt cx="0" cy="0"/>
        </a:xfrm>
      </p:grpSpPr>
      <p:pic>
        <p:nvPicPr>
          <p:cNvPr id="5" name="Picture 4" descr="A person in a red dress in front of a large building&#10;&#10;Description automatically generated">
            <a:extLst>
              <a:ext uri="{FF2B5EF4-FFF2-40B4-BE49-F238E27FC236}">
                <a16:creationId xmlns:a16="http://schemas.microsoft.com/office/drawing/2014/main" id="{760CAD27-C4FB-B99A-C7A2-0E210F9DE0E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549233" y="478975"/>
            <a:ext cx="6384966" cy="2420399"/>
          </a:xfrm>
        </p:spPr>
        <p:txBody>
          <a:bodyPr anchor="b">
            <a:normAutofit/>
          </a:bodyPr>
          <a:lstStyle>
            <a:lvl1pPr algn="l">
              <a:defRPr sz="6000" b="1" i="0">
                <a:solidFill>
                  <a:schemeClr val="bg1"/>
                </a:solidFill>
                <a:latin typeface="AirIndia" pitchFamily="82" charset="77"/>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3D40D339-36A2-E854-A497-9F753205B7CC}"/>
              </a:ext>
            </a:extLst>
          </p:cNvPr>
          <p:cNvSpPr>
            <a:spLocks noGrp="1"/>
          </p:cNvSpPr>
          <p:nvPr>
            <p:ph type="subTitle" idx="1"/>
          </p:nvPr>
        </p:nvSpPr>
        <p:spPr>
          <a:xfrm>
            <a:off x="549233" y="2916382"/>
            <a:ext cx="6384966" cy="1350818"/>
          </a:xfrm>
        </p:spPr>
        <p:txBody>
          <a:bodyPr>
            <a:normAutofit/>
          </a:bodyPr>
          <a:lstStyle>
            <a:lvl1pPr marL="0" indent="0" algn="l">
              <a:buFontTx/>
              <a:buNone/>
              <a:defRPr sz="280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3037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userDrawn="1">
          <p15:clr>
            <a:srgbClr val="FBAE40"/>
          </p15:clr>
        </p15:guide>
        <p15:guide id="4" orient="horz" pos="1488" userDrawn="1">
          <p15:clr>
            <a:srgbClr val="FBAE40"/>
          </p15:clr>
        </p15:guide>
        <p15:guide id="5" pos="3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A close-up of a person&#10;&#10;Description automatically generated">
            <a:extLst>
              <a:ext uri="{FF2B5EF4-FFF2-40B4-BE49-F238E27FC236}">
                <a16:creationId xmlns:a16="http://schemas.microsoft.com/office/drawing/2014/main" id="{A8809EBD-4F03-089D-9B17-0892C74FE77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525484" y="2133600"/>
            <a:ext cx="10066316" cy="1325563"/>
          </a:xfrm>
        </p:spPr>
        <p:txBody>
          <a:bodyPr vert="horz" lIns="91440" tIns="45720" rIns="91440" bIns="45720" rtlCol="0" anchor="b">
            <a:noAutofit/>
          </a:bodyPr>
          <a:lstStyle>
            <a:lvl1pPr>
              <a:defRPr lang="en-US" sz="6000" b="1" i="0" dirty="0">
                <a:solidFill>
                  <a:schemeClr val="accent1"/>
                </a:solidFill>
                <a:latin typeface="AirIndia" pitchFamily="82" charset="77"/>
              </a:defRPr>
            </a:lvl1pPr>
          </a:lstStyle>
          <a:p>
            <a:pPr lvl="0"/>
            <a:r>
              <a:rPr lang="en-GB" dirty="0"/>
              <a:t>DIVIDER SLIDE</a:t>
            </a:r>
            <a:endParaRPr lang="en-US" dirty="0"/>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525484" y="3455979"/>
            <a:ext cx="5471984" cy="1790607"/>
          </a:xfrm>
        </p:spPr>
        <p:txBody>
          <a:bodyPr vert="horz" lIns="91440" tIns="45720" rIns="91440" bIns="45720" rtlCol="0">
            <a:normAutofit/>
          </a:bodyPr>
          <a:lstStyle>
            <a:lvl1pPr>
              <a:defRPr lang="en-US" dirty="0">
                <a:latin typeface="Nunito Sans" pitchFamily="2" charset="77"/>
              </a:defRPr>
            </a:lvl1pPr>
          </a:lstStyle>
          <a:p>
            <a:pPr marL="0" lvl="0" indent="0">
              <a:buFontTx/>
              <a:buNone/>
            </a:pPr>
            <a:r>
              <a:rPr lang="en-US"/>
              <a:t>Click to edit Master subtitle style</a:t>
            </a:r>
            <a:endParaRPr lang="en-US" dirty="0"/>
          </a:p>
        </p:txBody>
      </p:sp>
    </p:spTree>
    <p:extLst>
      <p:ext uri="{BB962C8B-B14F-4D97-AF65-F5344CB8AC3E}">
        <p14:creationId xmlns:p14="http://schemas.microsoft.com/office/powerpoint/2010/main" val="33616951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Divider - 2">
    <p:spTree>
      <p:nvGrpSpPr>
        <p:cNvPr id="1" name=""/>
        <p:cNvGrpSpPr/>
        <p:nvPr/>
      </p:nvGrpSpPr>
      <p:grpSpPr>
        <a:xfrm>
          <a:off x="0" y="0"/>
          <a:ext cx="0" cy="0"/>
          <a:chOff x="0" y="0"/>
          <a:chExt cx="0" cy="0"/>
        </a:xfrm>
      </p:grpSpPr>
      <p:pic>
        <p:nvPicPr>
          <p:cNvPr id="4" name="Picture 3" descr="A close-up of a building&#10;&#10;Description automatically generated">
            <a:extLst>
              <a:ext uri="{FF2B5EF4-FFF2-40B4-BE49-F238E27FC236}">
                <a16:creationId xmlns:a16="http://schemas.microsoft.com/office/drawing/2014/main" id="{4BF3DACE-7AF7-507E-BB2C-74CBFB108C0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dirty="0"/>
              <a:t>DIVIDER SLIDE</a:t>
            </a:r>
            <a:endParaRPr lang="en-US" dirty="0"/>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endParaRPr lang="en-US" dirty="0"/>
          </a:p>
        </p:txBody>
      </p:sp>
    </p:spTree>
    <p:extLst>
      <p:ext uri="{BB962C8B-B14F-4D97-AF65-F5344CB8AC3E}">
        <p14:creationId xmlns:p14="http://schemas.microsoft.com/office/powerpoint/2010/main" val="38444943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Divider - 2">
    <p:spTree>
      <p:nvGrpSpPr>
        <p:cNvPr id="1" name=""/>
        <p:cNvGrpSpPr/>
        <p:nvPr/>
      </p:nvGrpSpPr>
      <p:grpSpPr>
        <a:xfrm>
          <a:off x="0" y="0"/>
          <a:ext cx="0" cy="0"/>
          <a:chOff x="0" y="0"/>
          <a:chExt cx="0" cy="0"/>
        </a:xfrm>
      </p:grpSpPr>
      <p:pic>
        <p:nvPicPr>
          <p:cNvPr id="4" name="Picture 3" descr="A building with a dome and a shield&#10;&#10;Description automatically generated with medium confidence">
            <a:extLst>
              <a:ext uri="{FF2B5EF4-FFF2-40B4-BE49-F238E27FC236}">
                <a16:creationId xmlns:a16="http://schemas.microsoft.com/office/drawing/2014/main" id="{84590AF8-3315-DD8B-5187-80D0BBE65AD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dirty="0"/>
              <a:t>DIVIDER SLIDE</a:t>
            </a:r>
            <a:endParaRPr lang="en-US" dirty="0"/>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endParaRPr lang="en-US" dirty="0"/>
          </a:p>
        </p:txBody>
      </p:sp>
    </p:spTree>
    <p:extLst>
      <p:ext uri="{BB962C8B-B14F-4D97-AF65-F5344CB8AC3E}">
        <p14:creationId xmlns:p14="http://schemas.microsoft.com/office/powerpoint/2010/main" val="36945138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Section Divider - 2">
    <p:spTree>
      <p:nvGrpSpPr>
        <p:cNvPr id="1" name=""/>
        <p:cNvGrpSpPr/>
        <p:nvPr/>
      </p:nvGrpSpPr>
      <p:grpSpPr>
        <a:xfrm>
          <a:off x="0" y="0"/>
          <a:ext cx="0" cy="0"/>
          <a:chOff x="0" y="0"/>
          <a:chExt cx="0" cy="0"/>
        </a:xfrm>
      </p:grpSpPr>
      <p:pic>
        <p:nvPicPr>
          <p:cNvPr id="6" name="Picture 5" descr="An airplane flying in the sky&#10;&#10;Description automatically generated">
            <a:extLst>
              <a:ext uri="{FF2B5EF4-FFF2-40B4-BE49-F238E27FC236}">
                <a16:creationId xmlns:a16="http://schemas.microsoft.com/office/drawing/2014/main" id="{5427E8E9-5E7C-EE80-E075-E8D3836B38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dirty="0"/>
              <a:t>DIVIDER SLIDE</a:t>
            </a:r>
            <a:endParaRPr lang="en-US" dirty="0"/>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endParaRPr lang="en-US" dirty="0"/>
          </a:p>
        </p:txBody>
      </p:sp>
    </p:spTree>
    <p:extLst>
      <p:ext uri="{BB962C8B-B14F-4D97-AF65-F5344CB8AC3E}">
        <p14:creationId xmlns:p14="http://schemas.microsoft.com/office/powerpoint/2010/main" val="7390086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mp; Content Layout - 1">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D44452D-6719-3A3C-48DC-057312D60730}"/>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dirty="0"/>
          </a:p>
        </p:txBody>
      </p:sp>
      <p:sp>
        <p:nvSpPr>
          <p:cNvPr id="8" name="Title 7">
            <a:extLst>
              <a:ext uri="{FF2B5EF4-FFF2-40B4-BE49-F238E27FC236}">
                <a16:creationId xmlns:a16="http://schemas.microsoft.com/office/drawing/2014/main" id="{D37B8DCE-B813-ECB6-504B-646AA8A70E7F}"/>
              </a:ext>
            </a:extLst>
          </p:cNvPr>
          <p:cNvSpPr>
            <a:spLocks noGrp="1"/>
          </p:cNvSpPr>
          <p:nvPr>
            <p:ph type="title" hasCustomPrompt="1"/>
          </p:nvPr>
        </p:nvSpPr>
        <p:spPr>
          <a:xfrm>
            <a:off x="607060" y="304800"/>
            <a:ext cx="10977880" cy="914400"/>
          </a:xfrm>
        </p:spPr>
        <p:txBody>
          <a:bodyPr>
            <a:normAutofit/>
          </a:bodyPr>
          <a:lstStyle>
            <a:lvl1pPr>
              <a:defRPr sz="3200">
                <a:solidFill>
                  <a:schemeClr val="accent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70176C6B-4C1B-92FA-CF20-B7F8064C9C6C}"/>
              </a:ext>
            </a:extLst>
          </p:cNvPr>
          <p:cNvSpPr>
            <a:spLocks noGrp="1"/>
          </p:cNvSpPr>
          <p:nvPr>
            <p:ph type="body" sz="quarter" idx="13"/>
          </p:nvPr>
        </p:nvSpPr>
        <p:spPr>
          <a:xfrm>
            <a:off x="610372" y="1587998"/>
            <a:ext cx="10974567" cy="4520204"/>
          </a:xfrm>
        </p:spPr>
        <p:txBody>
          <a:bodyPr>
            <a:normAutofit/>
          </a:bodyPr>
          <a:lstStyle>
            <a:lvl1pPr marL="320040" indent="-320040">
              <a:lnSpc>
                <a:spcPct val="100000"/>
              </a:lnSpc>
              <a:buSzPct val="112000"/>
              <a:buFontTx/>
              <a:buBlip>
                <a:blip r:embed="rId2"/>
              </a:buBlip>
              <a:defRPr sz="1800"/>
            </a:lvl1pPr>
            <a:lvl2pPr marL="685800" indent="-320040">
              <a:lnSpc>
                <a:spcPct val="100000"/>
              </a:lnSpc>
              <a:buSzPct val="112000"/>
              <a:buFontTx/>
              <a:buBlip>
                <a:blip r:embed="rId2"/>
              </a:buBlip>
              <a:defRPr sz="1600"/>
            </a:lvl2pPr>
            <a:lvl3pPr marL="1143000" indent="-320040">
              <a:lnSpc>
                <a:spcPct val="100000"/>
              </a:lnSpc>
              <a:buSzPct val="112000"/>
              <a:buFontTx/>
              <a:buBlip>
                <a:blip r:embed="rId2"/>
              </a:buBlip>
              <a:defRPr sz="1400"/>
            </a:lvl3pPr>
            <a:lvl4pPr marL="1600200" indent="-320040">
              <a:lnSpc>
                <a:spcPct val="100000"/>
              </a:lnSpc>
              <a:buSzPct val="112000"/>
              <a:buFontTx/>
              <a:buBlip>
                <a:blip r:embed="rId2"/>
              </a:buBlip>
              <a:defRPr sz="1200"/>
            </a:lvl4pPr>
            <a:lvl5pPr marL="2057400" indent="-320040">
              <a:lnSpc>
                <a:spcPct val="100000"/>
              </a:lnSpc>
              <a:buSzPct val="112000"/>
              <a:buFontTx/>
              <a:buBlip>
                <a:blip r:embed="rId2"/>
              </a:buBlip>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a:extLst>
              <a:ext uri="{FF2B5EF4-FFF2-40B4-BE49-F238E27FC236}">
                <a16:creationId xmlns:a16="http://schemas.microsoft.com/office/drawing/2014/main" id="{5EAFBD2D-C2BB-8088-2AF6-FCA057912F15}"/>
              </a:ext>
            </a:extLst>
          </p:cNvPr>
          <p:cNvSpPr>
            <a:spLocks noGrp="1"/>
          </p:cNvSpPr>
          <p:nvPr>
            <p:ph type="subTitle" idx="10" hasCustomPrompt="1"/>
          </p:nvPr>
        </p:nvSpPr>
        <p:spPr>
          <a:xfrm>
            <a:off x="616100" y="990600"/>
            <a:ext cx="10965528" cy="457200"/>
          </a:xfrm>
        </p:spPr>
        <p:txBody>
          <a:bodyPr vert="horz" lIns="91440" tIns="45720" rIns="91440" bIns="45720" rtlCol="0" anchor="ctr">
            <a:normAutofit/>
          </a:bodyPr>
          <a:lstStyle>
            <a:lvl1pPr>
              <a:defRPr lang="en-US" sz="2000" b="1" dirty="0">
                <a:latin typeface="Nunito Sans" pitchFamily="2" charset="77"/>
              </a:defRPr>
            </a:lvl1pPr>
          </a:lstStyle>
          <a:p>
            <a:pPr marL="0" lvl="0" indent="0">
              <a:buFontTx/>
              <a:buNone/>
            </a:pPr>
            <a:r>
              <a:rPr lang="en-GB" dirty="0"/>
              <a:t>Sub-heading</a:t>
            </a:r>
            <a:endParaRPr lang="en-US" dirty="0"/>
          </a:p>
        </p:txBody>
      </p:sp>
      <p:pic>
        <p:nvPicPr>
          <p:cNvPr id="2" name="Picture 1" descr="A close-up of a logo&#10;&#10;Description automatically generated">
            <a:extLst>
              <a:ext uri="{FF2B5EF4-FFF2-40B4-BE49-F238E27FC236}">
                <a16:creationId xmlns:a16="http://schemas.microsoft.com/office/drawing/2014/main" id="{60B4ED90-1C19-538C-AD30-CF248331DB73}"/>
              </a:ext>
            </a:extLst>
          </p:cNvPr>
          <p:cNvPicPr>
            <a:picLocks noChangeAspect="1"/>
          </p:cNvPicPr>
          <p:nvPr userDrawn="1"/>
        </p:nvPicPr>
        <p:blipFill rotWithShape="1">
          <a:blip r:embed="rId3"/>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33673662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92" userDrawn="1">
          <p15:clr>
            <a:srgbClr val="FBAE40"/>
          </p15:clr>
        </p15:guide>
        <p15:guide id="4" orient="horz" pos="91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 1">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15658912-D983-FCD7-8563-DCAA4AD6C8BA}"/>
              </a:ext>
            </a:extLst>
          </p:cNvPr>
          <p:cNvSpPr>
            <a:spLocks noGrp="1"/>
          </p:cNvSpPr>
          <p:nvPr>
            <p:ph type="pic" sz="quarter" idx="13"/>
          </p:nvPr>
        </p:nvSpPr>
        <p:spPr>
          <a:xfrm>
            <a:off x="6558280" y="1587998"/>
            <a:ext cx="5024120" cy="4588965"/>
          </a:xfrm>
        </p:spPr>
        <p:txBody>
          <a:bodyPr vert="horz" lIns="91440" tIns="45720" rIns="91440" bIns="45720" rtlCol="0" anchor="ctr">
            <a:normAutofit/>
          </a:bodyPr>
          <a:lstStyle>
            <a:lvl1pPr algn="ctr">
              <a:defRPr lang="en-US" sz="4000" dirty="0">
                <a:solidFill>
                  <a:srgbClr val="FF0000"/>
                </a:solidFill>
              </a:defRPr>
            </a:lvl1pPr>
          </a:lstStyle>
          <a:p>
            <a:pPr lvl="0" indent="-320040">
              <a:lnSpc>
                <a:spcPct val="100000"/>
              </a:lnSpc>
              <a:buSzPct val="112000"/>
              <a:buFontTx/>
              <a:buBlip>
                <a:blip r:embed="rId2"/>
              </a:buBlip>
            </a:pPr>
            <a:r>
              <a:rPr lang="en-US"/>
              <a:t>Click icon to add picture</a:t>
            </a:r>
            <a:endParaRPr lang="en-US" dirty="0"/>
          </a:p>
        </p:txBody>
      </p:sp>
      <p:sp>
        <p:nvSpPr>
          <p:cNvPr id="11" name="Slide Number Placeholder 5">
            <a:extLst>
              <a:ext uri="{FF2B5EF4-FFF2-40B4-BE49-F238E27FC236}">
                <a16:creationId xmlns:a16="http://schemas.microsoft.com/office/drawing/2014/main" id="{8C3759EA-CF74-7437-28A8-3807402391D1}"/>
              </a:ext>
            </a:extLst>
          </p:cNvPr>
          <p:cNvSpPr>
            <a:spLocks noGrp="1"/>
          </p:cNvSpPr>
          <p:nvPr>
            <p:ph type="sldNum" sz="quarter" idx="12"/>
          </p:nvPr>
        </p:nvSpPr>
        <p:spPr>
          <a:xfrm>
            <a:off x="11125200" y="6492875"/>
            <a:ext cx="857245" cy="365125"/>
          </a:xfrm>
          <a:prstGeom prst="rect">
            <a:avLst/>
          </a:prstGeom>
        </p:spPr>
        <p:txBody>
          <a:bodyPr anchor="ctr"/>
          <a:lstStyle>
            <a:lvl1pPr>
              <a:defRPr lang="en-US" sz="1200" smtClean="0">
                <a:solidFill>
                  <a:schemeClr val="accent1"/>
                </a:solidFill>
              </a:defRPr>
            </a:lvl1pPr>
          </a:lstStyle>
          <a:p>
            <a:pPr algn="ctr"/>
            <a:fld id="{3A41A254-7326-714E-AF55-4C213D6394DE}" type="slidenum">
              <a:rPr lang="en-IN" smtClean="0"/>
              <a:pPr algn="ctr"/>
              <a:t>‹#›</a:t>
            </a:fld>
            <a:endParaRPr lang="en-IN" dirty="0"/>
          </a:p>
        </p:txBody>
      </p:sp>
      <p:sp>
        <p:nvSpPr>
          <p:cNvPr id="12" name="Text Placeholder 9">
            <a:extLst>
              <a:ext uri="{FF2B5EF4-FFF2-40B4-BE49-F238E27FC236}">
                <a16:creationId xmlns:a16="http://schemas.microsoft.com/office/drawing/2014/main" id="{C0A9E431-EC2B-5717-285E-278016CA82BF}"/>
              </a:ext>
            </a:extLst>
          </p:cNvPr>
          <p:cNvSpPr>
            <a:spLocks noGrp="1"/>
          </p:cNvSpPr>
          <p:nvPr>
            <p:ph type="body" sz="quarter" idx="14"/>
          </p:nvPr>
        </p:nvSpPr>
        <p:spPr>
          <a:xfrm>
            <a:off x="610373" y="1600200"/>
            <a:ext cx="5485628" cy="4561839"/>
          </a:xfrm>
        </p:spPr>
        <p:txBody>
          <a:bodyPr vert="horz" lIns="91440" tIns="45720" rIns="91440" bIns="45720" rtlCol="0">
            <a:normAutofit/>
          </a:bodyPr>
          <a:lstStyle>
            <a:lvl1pPr>
              <a:defRPr lang="en-GB" sz="1800" dirty="0"/>
            </a:lvl1pPr>
            <a:lvl2pPr>
              <a:defRPr lang="en-GB" sz="1600" dirty="0"/>
            </a:lvl2pPr>
            <a:lvl3pPr>
              <a:defRPr lang="en-GB" sz="1400" dirty="0"/>
            </a:lvl3pPr>
            <a:lvl4pPr>
              <a:defRPr lang="en-GB" sz="1200" dirty="0"/>
            </a:lvl4pPr>
            <a:lvl5pPr>
              <a:defRPr lang="en-US" sz="1200" dirty="0"/>
            </a:lvl5pPr>
          </a:lstStyle>
          <a:p>
            <a:pPr lvl="0" indent="-320040">
              <a:lnSpc>
                <a:spcPct val="100000"/>
              </a:lnSpc>
              <a:buSzPct val="112000"/>
              <a:buFontTx/>
              <a:buBlip>
                <a:blip r:embed="rId2"/>
              </a:buBlip>
            </a:pPr>
            <a:r>
              <a:rPr lang="en-US"/>
              <a:t>Click to edit Master text styles</a:t>
            </a:r>
          </a:p>
          <a:p>
            <a:pPr lvl="1" indent="-320040">
              <a:lnSpc>
                <a:spcPct val="100000"/>
              </a:lnSpc>
              <a:buSzPct val="112000"/>
              <a:buFontTx/>
              <a:buBlip>
                <a:blip r:embed="rId2"/>
              </a:buBlip>
            </a:pPr>
            <a:r>
              <a:rPr lang="en-US"/>
              <a:t>Second level</a:t>
            </a:r>
          </a:p>
          <a:p>
            <a:pPr lvl="2" indent="-320040">
              <a:lnSpc>
                <a:spcPct val="100000"/>
              </a:lnSpc>
              <a:buSzPct val="112000"/>
              <a:buFontTx/>
              <a:buBlip>
                <a:blip r:embed="rId2"/>
              </a:buBlip>
            </a:pPr>
            <a:r>
              <a:rPr lang="en-US"/>
              <a:t>Third level</a:t>
            </a:r>
          </a:p>
          <a:p>
            <a:pPr lvl="3" indent="-320040">
              <a:lnSpc>
                <a:spcPct val="100000"/>
              </a:lnSpc>
              <a:buSzPct val="112000"/>
              <a:buFontTx/>
              <a:buBlip>
                <a:blip r:embed="rId2"/>
              </a:buBlip>
            </a:pPr>
            <a:r>
              <a:rPr lang="en-US"/>
              <a:t>Fourth level</a:t>
            </a:r>
          </a:p>
          <a:p>
            <a:pPr lvl="4" indent="-320040">
              <a:lnSpc>
                <a:spcPct val="100000"/>
              </a:lnSpc>
              <a:buSzPct val="112000"/>
              <a:buFontTx/>
              <a:buBlip>
                <a:blip r:embed="rId2"/>
              </a:buBlip>
            </a:pPr>
            <a:r>
              <a:rPr lang="en-US"/>
              <a:t>Fifth level</a:t>
            </a:r>
            <a:endParaRPr lang="en-US" dirty="0"/>
          </a:p>
        </p:txBody>
      </p:sp>
      <p:sp>
        <p:nvSpPr>
          <p:cNvPr id="4" name="Subtitle 2">
            <a:extLst>
              <a:ext uri="{FF2B5EF4-FFF2-40B4-BE49-F238E27FC236}">
                <a16:creationId xmlns:a16="http://schemas.microsoft.com/office/drawing/2014/main" id="{7607FE69-5627-2F02-8D78-2B38708079C2}"/>
              </a:ext>
            </a:extLst>
          </p:cNvPr>
          <p:cNvSpPr>
            <a:spLocks noGrp="1"/>
          </p:cNvSpPr>
          <p:nvPr>
            <p:ph type="subTitle" idx="10" hasCustomPrompt="1"/>
          </p:nvPr>
        </p:nvSpPr>
        <p:spPr>
          <a:xfrm>
            <a:off x="616100" y="990600"/>
            <a:ext cx="10965528" cy="457200"/>
          </a:xfrm>
        </p:spPr>
        <p:txBody>
          <a:bodyPr vert="horz" lIns="91440" tIns="45720" rIns="91440" bIns="45720" rtlCol="0" anchor="ctr">
            <a:normAutofit/>
          </a:bodyPr>
          <a:lstStyle>
            <a:lvl1pPr>
              <a:defRPr lang="en-US" sz="2000" b="1" dirty="0">
                <a:latin typeface="Nunito Sans" pitchFamily="2" charset="77"/>
              </a:defRPr>
            </a:lvl1pPr>
          </a:lstStyle>
          <a:p>
            <a:pPr marL="0" lvl="0" indent="0">
              <a:buFontTx/>
              <a:buNone/>
            </a:pPr>
            <a:r>
              <a:rPr lang="en-GB" dirty="0"/>
              <a:t>Sub-heading</a:t>
            </a:r>
            <a:endParaRPr lang="en-US" dirty="0"/>
          </a:p>
        </p:txBody>
      </p:sp>
      <p:sp>
        <p:nvSpPr>
          <p:cNvPr id="6" name="Title 5">
            <a:extLst>
              <a:ext uri="{FF2B5EF4-FFF2-40B4-BE49-F238E27FC236}">
                <a16:creationId xmlns:a16="http://schemas.microsoft.com/office/drawing/2014/main" id="{99127A2E-2194-FA16-2895-A983F804DEBC}"/>
              </a:ext>
            </a:extLst>
          </p:cNvPr>
          <p:cNvSpPr>
            <a:spLocks noGrp="1"/>
          </p:cNvSpPr>
          <p:nvPr>
            <p:ph type="title" hasCustomPrompt="1"/>
          </p:nvPr>
        </p:nvSpPr>
        <p:spPr>
          <a:xfrm>
            <a:off x="609600" y="304800"/>
            <a:ext cx="10972800" cy="914400"/>
          </a:xfrm>
        </p:spPr>
        <p:txBody>
          <a:bodyPr vert="horz" lIns="91440" tIns="45720" rIns="91440" bIns="45720" rtlCol="0" anchor="ctr">
            <a:normAutofit/>
          </a:bodyPr>
          <a:lstStyle>
            <a:lvl1pPr>
              <a:defRPr lang="en-US" sz="3200" dirty="0">
                <a:solidFill>
                  <a:schemeClr val="accent1"/>
                </a:solidFill>
              </a:defRPr>
            </a:lvl1pPr>
          </a:lstStyle>
          <a:p>
            <a:pPr lvl="0"/>
            <a:r>
              <a:rPr lang="en-GB" dirty="0"/>
              <a:t>CLICK TO EDIT MASTER TITLE STYLE</a:t>
            </a:r>
            <a:endParaRPr lang="en-US" dirty="0"/>
          </a:p>
        </p:txBody>
      </p:sp>
      <p:pic>
        <p:nvPicPr>
          <p:cNvPr id="7" name="Picture 6" descr="A close-up of a logo&#10;&#10;Description automatically generated">
            <a:extLst>
              <a:ext uri="{FF2B5EF4-FFF2-40B4-BE49-F238E27FC236}">
                <a16:creationId xmlns:a16="http://schemas.microsoft.com/office/drawing/2014/main" id="{C089A545-7420-C6A8-55C6-91018ACE1836}"/>
              </a:ext>
            </a:extLst>
          </p:cNvPr>
          <p:cNvPicPr>
            <a:picLocks noChangeAspect="1"/>
          </p:cNvPicPr>
          <p:nvPr userDrawn="1"/>
        </p:nvPicPr>
        <p:blipFill rotWithShape="1">
          <a:blip r:embed="rId3"/>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2158592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DB54E09-83C2-64E7-9110-8776CF1BC192}"/>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dirty="0"/>
          </a:p>
        </p:txBody>
      </p:sp>
      <p:sp>
        <p:nvSpPr>
          <p:cNvPr id="2" name="Title 7">
            <a:extLst>
              <a:ext uri="{FF2B5EF4-FFF2-40B4-BE49-F238E27FC236}">
                <a16:creationId xmlns:a16="http://schemas.microsoft.com/office/drawing/2014/main" id="{8B5B5505-B75C-A9AE-5EE1-1C13D23353A9}"/>
              </a:ext>
            </a:extLst>
          </p:cNvPr>
          <p:cNvSpPr>
            <a:spLocks noGrp="1"/>
          </p:cNvSpPr>
          <p:nvPr>
            <p:ph type="title" hasCustomPrompt="1"/>
          </p:nvPr>
        </p:nvSpPr>
        <p:spPr>
          <a:xfrm>
            <a:off x="607060" y="304800"/>
            <a:ext cx="10977880" cy="914400"/>
          </a:xfrm>
        </p:spPr>
        <p:txBody>
          <a:bodyPr>
            <a:normAutofit/>
          </a:bodyPr>
          <a:lstStyle>
            <a:lvl1pPr>
              <a:defRPr sz="3200">
                <a:solidFill>
                  <a:schemeClr val="accent1"/>
                </a:solidFill>
              </a:defRPr>
            </a:lvl1pPr>
          </a:lstStyle>
          <a:p>
            <a:r>
              <a:rPr lang="en-US" dirty="0"/>
              <a:t>CLICK TO EDIT MASTER TITLE STYLE</a:t>
            </a:r>
          </a:p>
        </p:txBody>
      </p:sp>
      <p:pic>
        <p:nvPicPr>
          <p:cNvPr id="5" name="Picture 4" descr="A close-up of a logo&#10;&#10;Description automatically generated">
            <a:extLst>
              <a:ext uri="{FF2B5EF4-FFF2-40B4-BE49-F238E27FC236}">
                <a16:creationId xmlns:a16="http://schemas.microsoft.com/office/drawing/2014/main" id="{6B0F032F-D65A-0255-D2B4-F805BB188F3D}"/>
              </a:ext>
            </a:extLst>
          </p:cNvPr>
          <p:cNvPicPr>
            <a:picLocks noChangeAspect="1"/>
          </p:cNvPicPr>
          <p:nvPr userDrawn="1"/>
        </p:nvPicPr>
        <p:blipFill rotWithShape="1">
          <a:blip r:embed="rId2"/>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857599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DB54E09-83C2-64E7-9110-8776CF1BC192}"/>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dirty="0"/>
          </a:p>
        </p:txBody>
      </p:sp>
      <p:pic>
        <p:nvPicPr>
          <p:cNvPr id="3" name="Picture 2" descr="A close-up of a logo&#10;&#10;Description automatically generated">
            <a:extLst>
              <a:ext uri="{FF2B5EF4-FFF2-40B4-BE49-F238E27FC236}">
                <a16:creationId xmlns:a16="http://schemas.microsoft.com/office/drawing/2014/main" id="{12BD0675-B4A3-C2D7-F0F5-5CFD25D415BF}"/>
              </a:ext>
            </a:extLst>
          </p:cNvPr>
          <p:cNvPicPr>
            <a:picLocks noChangeAspect="1"/>
          </p:cNvPicPr>
          <p:nvPr userDrawn="1"/>
        </p:nvPicPr>
        <p:blipFill rotWithShape="1">
          <a:blip r:embed="rId2"/>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7164552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4" name="Picture 3" descr="A person standing on a beach with palm trees&#10;&#10;Description automatically generated">
            <a:extLst>
              <a:ext uri="{FF2B5EF4-FFF2-40B4-BE49-F238E27FC236}">
                <a16:creationId xmlns:a16="http://schemas.microsoft.com/office/drawing/2014/main" id="{C7D329FF-FF14-46C2-412E-08A9D4AD95A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6096000" y="1008601"/>
            <a:ext cx="5486400" cy="2420399"/>
          </a:xfrm>
        </p:spPr>
        <p:txBody>
          <a:bodyPr anchor="b">
            <a:normAutofit/>
          </a:bodyPr>
          <a:lstStyle>
            <a:lvl1pPr algn="l">
              <a:defRPr sz="6600" b="0" i="0">
                <a:solidFill>
                  <a:srgbClr val="962067"/>
                </a:solidFill>
                <a:latin typeface="AirIndia" pitchFamily="82" charset="77"/>
              </a:defRPr>
            </a:lvl1pPr>
          </a:lstStyle>
          <a:p>
            <a:r>
              <a:rPr lang="en-GB" dirty="0"/>
              <a:t>Thank you</a:t>
            </a:r>
            <a:endParaRPr lang="en-US" dirty="0"/>
          </a:p>
        </p:txBody>
      </p:sp>
    </p:spTree>
    <p:extLst>
      <p:ext uri="{BB962C8B-B14F-4D97-AF65-F5344CB8AC3E}">
        <p14:creationId xmlns:p14="http://schemas.microsoft.com/office/powerpoint/2010/main" val="40512436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userDrawn="1">
          <p15:clr>
            <a:srgbClr val="FBAE40"/>
          </p15:clr>
        </p15:guide>
        <p15:guide id="4" orient="horz" pos="1344" userDrawn="1">
          <p15:clr>
            <a:srgbClr val="FBAE40"/>
          </p15:clr>
        </p15:guide>
        <p15:guide id="5" pos="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hank You">
    <p:spTree>
      <p:nvGrpSpPr>
        <p:cNvPr id="1" name=""/>
        <p:cNvGrpSpPr/>
        <p:nvPr/>
      </p:nvGrpSpPr>
      <p:grpSpPr>
        <a:xfrm>
          <a:off x="0" y="0"/>
          <a:ext cx="0" cy="0"/>
          <a:chOff x="0" y="0"/>
          <a:chExt cx="0" cy="0"/>
        </a:xfrm>
      </p:grpSpPr>
      <p:pic>
        <p:nvPicPr>
          <p:cNvPr id="4" name="Picture 3" descr="A plane flying in the sky&#10;&#10;Description automatically generated">
            <a:extLst>
              <a:ext uri="{FF2B5EF4-FFF2-40B4-BE49-F238E27FC236}">
                <a16:creationId xmlns:a16="http://schemas.microsoft.com/office/drawing/2014/main" id="{55762A92-547E-5F52-4F9B-5EA30AB79EA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DC3906F-921E-6E1D-753F-E155F5842C7D}"/>
              </a:ext>
            </a:extLst>
          </p:cNvPr>
          <p:cNvSpPr>
            <a:spLocks noGrp="1"/>
          </p:cNvSpPr>
          <p:nvPr>
            <p:ph type="ctrTitle" hasCustomPrompt="1"/>
          </p:nvPr>
        </p:nvSpPr>
        <p:spPr>
          <a:xfrm>
            <a:off x="6683298" y="4800600"/>
            <a:ext cx="5203902" cy="1752600"/>
          </a:xfrm>
        </p:spPr>
        <p:txBody>
          <a:bodyPr anchor="b">
            <a:normAutofit/>
          </a:bodyPr>
          <a:lstStyle>
            <a:lvl1pPr algn="l">
              <a:defRPr sz="5400" b="1" i="0">
                <a:solidFill>
                  <a:schemeClr val="bg1"/>
                </a:solidFill>
                <a:latin typeface="AirIndia" pitchFamily="82" charset="77"/>
              </a:defRPr>
            </a:lvl1pPr>
          </a:lstStyle>
          <a:p>
            <a:r>
              <a:rPr lang="en-GB" dirty="0"/>
              <a:t>Thank you</a:t>
            </a:r>
            <a:endParaRPr lang="en-US" dirty="0"/>
          </a:p>
        </p:txBody>
      </p:sp>
    </p:spTree>
    <p:extLst>
      <p:ext uri="{BB962C8B-B14F-4D97-AF65-F5344CB8AC3E}">
        <p14:creationId xmlns:p14="http://schemas.microsoft.com/office/powerpoint/2010/main" val="19639350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userDrawn="1">
          <p15:clr>
            <a:srgbClr val="FBAE40"/>
          </p15:clr>
        </p15:guide>
        <p15:guide id="4" orient="horz" pos="1440" userDrawn="1">
          <p15:clr>
            <a:srgbClr val="FBAE40"/>
          </p15:clr>
        </p15:guide>
        <p15:guide id="5" pos="3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749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5DDEF0-7AF8-5F17-BBC5-8B04639B1F0E}"/>
              </a:ext>
            </a:extLst>
          </p:cNvPr>
          <p:cNvSpPr>
            <a:spLocks noGrp="1"/>
          </p:cNvSpPr>
          <p:nvPr>
            <p:ph type="title"/>
          </p:nvPr>
        </p:nvSpPr>
        <p:spPr>
          <a:xfrm>
            <a:off x="609600" y="681037"/>
            <a:ext cx="10972800" cy="9191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6B40AF1-B2D1-340A-5F66-CB24C4B8D868}"/>
              </a:ext>
            </a:extLst>
          </p:cNvPr>
          <p:cNvSpPr>
            <a:spLocks noGrp="1"/>
          </p:cNvSpPr>
          <p:nvPr>
            <p:ph type="body" idx="1"/>
          </p:nvPr>
        </p:nvSpPr>
        <p:spPr>
          <a:xfrm>
            <a:off x="609600" y="2057399"/>
            <a:ext cx="10972800" cy="4119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6225153"/>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50" r:id="rId3"/>
    <p:sldLayoutId id="2147483669" r:id="rId4"/>
    <p:sldLayoutId id="2147483671" r:id="rId5"/>
    <p:sldLayoutId id="2147483674" r:id="rId6"/>
    <p:sldLayoutId id="2147483651" r:id="rId7"/>
    <p:sldLayoutId id="2147483656" r:id="rId8"/>
    <p:sldLayoutId id="2147483655" r:id="rId9"/>
    <p:sldLayoutId id="2147483659" r:id="rId10"/>
    <p:sldLayoutId id="2147483664" r:id="rId11"/>
    <p:sldLayoutId id="2147483666" r:id="rId12"/>
    <p:sldLayoutId id="2147483675" r:id="rId13"/>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094815C-32A6-A0BF-0C2C-9167C897ED3C}"/>
              </a:ext>
            </a:extLst>
          </p:cNvPr>
          <p:cNvSpPr>
            <a:spLocks noGrp="1"/>
          </p:cNvSpPr>
          <p:nvPr>
            <p:ph type="ctrTitle"/>
          </p:nvPr>
        </p:nvSpPr>
        <p:spPr>
          <a:xfrm>
            <a:off x="5205351" y="1600200"/>
            <a:ext cx="6384966" cy="3276599"/>
          </a:xfrm>
        </p:spPr>
        <p:txBody>
          <a:bodyPr>
            <a:normAutofit/>
          </a:bodyPr>
          <a:lstStyle/>
          <a:p>
            <a:r>
              <a:rPr lang="en-US" dirty="0"/>
              <a:t>HR Tech </a:t>
            </a:r>
            <a:r>
              <a:rPr lang="en-US" dirty="0" err="1"/>
              <a:t>SteerCo</a:t>
            </a:r>
            <a:r>
              <a:rPr lang="en-US" dirty="0"/>
              <a:t> Update</a:t>
            </a:r>
          </a:p>
        </p:txBody>
      </p:sp>
      <p:sp>
        <p:nvSpPr>
          <p:cNvPr id="7" name="Subtitle 6">
            <a:extLst>
              <a:ext uri="{FF2B5EF4-FFF2-40B4-BE49-F238E27FC236}">
                <a16:creationId xmlns:a16="http://schemas.microsoft.com/office/drawing/2014/main" id="{999B9E5B-895F-3F5C-C87D-B472648C2710}"/>
              </a:ext>
            </a:extLst>
          </p:cNvPr>
          <p:cNvSpPr>
            <a:spLocks noGrp="1"/>
          </p:cNvSpPr>
          <p:nvPr>
            <p:ph type="subTitle" idx="1"/>
          </p:nvPr>
        </p:nvSpPr>
        <p:spPr>
          <a:xfrm>
            <a:off x="5205350" y="4876799"/>
            <a:ext cx="6384966" cy="511625"/>
          </a:xfrm>
        </p:spPr>
        <p:txBody>
          <a:bodyPr>
            <a:normAutofit fontScale="47500" lnSpcReduction="20000"/>
          </a:bodyPr>
          <a:lstStyle/>
          <a:p>
            <a:r>
              <a:rPr lang="en-US" dirty="0"/>
              <a:t>Digital &amp; Technology</a:t>
            </a:r>
          </a:p>
          <a:p>
            <a:r>
              <a:rPr lang="en-US" dirty="0"/>
              <a:t>7</a:t>
            </a:r>
            <a:r>
              <a:rPr lang="en-US" baseline="30000" dirty="0"/>
              <a:t>th</a:t>
            </a:r>
            <a:r>
              <a:rPr lang="en-US" dirty="0"/>
              <a:t> July 2026</a:t>
            </a:r>
          </a:p>
        </p:txBody>
      </p:sp>
      <p:grpSp>
        <p:nvGrpSpPr>
          <p:cNvPr id="11" name="Group 10">
            <a:extLst>
              <a:ext uri="{FF2B5EF4-FFF2-40B4-BE49-F238E27FC236}">
                <a16:creationId xmlns:a16="http://schemas.microsoft.com/office/drawing/2014/main" id="{BD677359-C9C1-D5E6-1F9E-C23D3A27800C}"/>
              </a:ext>
            </a:extLst>
          </p:cNvPr>
          <p:cNvGrpSpPr/>
          <p:nvPr/>
        </p:nvGrpSpPr>
        <p:grpSpPr>
          <a:xfrm>
            <a:off x="-685800" y="0"/>
            <a:ext cx="533400" cy="4014737"/>
            <a:chOff x="-685800" y="0"/>
            <a:chExt cx="533400" cy="4014737"/>
          </a:xfrm>
        </p:grpSpPr>
        <p:sp>
          <p:nvSpPr>
            <p:cNvPr id="2" name="Rectangle 1">
              <a:extLst>
                <a:ext uri="{FF2B5EF4-FFF2-40B4-BE49-F238E27FC236}">
                  <a16:creationId xmlns:a16="http://schemas.microsoft.com/office/drawing/2014/main" id="{3E0D5341-9538-7647-4008-AFF6A4928B72}"/>
                </a:ext>
              </a:extLst>
            </p:cNvPr>
            <p:cNvSpPr/>
            <p:nvPr/>
          </p:nvSpPr>
          <p:spPr>
            <a:xfrm>
              <a:off x="-685800" y="0"/>
              <a:ext cx="533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16B34D-664B-D388-F725-54524DB66A57}"/>
                </a:ext>
              </a:extLst>
            </p:cNvPr>
            <p:cNvSpPr/>
            <p:nvPr/>
          </p:nvSpPr>
          <p:spPr>
            <a:xfrm>
              <a:off x="-685800" y="580223"/>
              <a:ext cx="533400" cy="5334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E2B92FE-8920-F41F-5C21-7B598A01B847}"/>
                </a:ext>
              </a:extLst>
            </p:cNvPr>
            <p:cNvSpPr/>
            <p:nvPr/>
          </p:nvSpPr>
          <p:spPr>
            <a:xfrm>
              <a:off x="-685800" y="1160446"/>
              <a:ext cx="533400" cy="5334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1F3D7B-9E16-EB02-32C7-5D901CBB0B6C}"/>
                </a:ext>
              </a:extLst>
            </p:cNvPr>
            <p:cNvSpPr/>
            <p:nvPr/>
          </p:nvSpPr>
          <p:spPr>
            <a:xfrm>
              <a:off x="-685800" y="2320892"/>
              <a:ext cx="533400" cy="5334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76AB42-88E3-FE66-65B1-00FB6D33F4F2}"/>
                </a:ext>
              </a:extLst>
            </p:cNvPr>
            <p:cNvSpPr/>
            <p:nvPr/>
          </p:nvSpPr>
          <p:spPr>
            <a:xfrm>
              <a:off x="-685800" y="2901115"/>
              <a:ext cx="533400" cy="5334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B4FBB17-1C26-FE71-6E90-07D0903A24CB}"/>
                </a:ext>
              </a:extLst>
            </p:cNvPr>
            <p:cNvSpPr/>
            <p:nvPr/>
          </p:nvSpPr>
          <p:spPr>
            <a:xfrm>
              <a:off x="-685800" y="3481337"/>
              <a:ext cx="533400" cy="5334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12D772-FAE2-54B9-8C08-7C7B5E11F50F}"/>
                </a:ext>
              </a:extLst>
            </p:cNvPr>
            <p:cNvSpPr/>
            <p:nvPr/>
          </p:nvSpPr>
          <p:spPr>
            <a:xfrm>
              <a:off x="-685800" y="1740669"/>
              <a:ext cx="533400" cy="5334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48033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800AA6-B4CD-3CB5-B858-EC617B5C350C}"/>
              </a:ext>
            </a:extLst>
          </p:cNvPr>
          <p:cNvSpPr txBox="1"/>
          <p:nvPr/>
        </p:nvSpPr>
        <p:spPr>
          <a:xfrm>
            <a:off x="209441" y="210956"/>
            <a:ext cx="6097904" cy="707518"/>
          </a:xfrm>
          <a:prstGeom prst="rect">
            <a:avLst/>
          </a:prstGeom>
          <a:noFill/>
        </p:spPr>
        <p:txBody>
          <a:bodyPr wrap="square">
            <a:spAutoFit/>
          </a:bodyPr>
          <a:lstStyle/>
          <a:p>
            <a:r>
              <a:rPr lang="en-IN" sz="3998" b="1">
                <a:solidFill>
                  <a:schemeClr val="accent3"/>
                </a:solidFill>
              </a:rPr>
              <a:t>Contents</a:t>
            </a:r>
          </a:p>
        </p:txBody>
      </p:sp>
      <p:sp>
        <p:nvSpPr>
          <p:cNvPr id="2" name="Rectangle 1">
            <a:extLst>
              <a:ext uri="{FF2B5EF4-FFF2-40B4-BE49-F238E27FC236}">
                <a16:creationId xmlns:a16="http://schemas.microsoft.com/office/drawing/2014/main" id="{300078AC-27C5-D5AE-ED59-1A5C76724D33}"/>
              </a:ext>
            </a:extLst>
          </p:cNvPr>
          <p:cNvSpPr/>
          <p:nvPr/>
        </p:nvSpPr>
        <p:spPr>
          <a:xfrm>
            <a:off x="5791199" y="819122"/>
            <a:ext cx="6224838" cy="52252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en-IN" sz="2399" b="1" dirty="0">
                <a:solidFill>
                  <a:schemeClr val="bg1"/>
                </a:solidFill>
              </a:rPr>
              <a:t>1. </a:t>
            </a:r>
            <a:r>
              <a:rPr lang="en-US" sz="2400" b="1" dirty="0" err="1"/>
              <a:t>SteerCo</a:t>
            </a:r>
            <a:r>
              <a:rPr lang="en-US" sz="2400" b="1" dirty="0"/>
              <a:t> Recap: Progress &amp; Next Steps</a:t>
            </a:r>
            <a:endParaRPr lang="en-IN" sz="2400" b="1" dirty="0"/>
          </a:p>
        </p:txBody>
      </p:sp>
      <p:sp>
        <p:nvSpPr>
          <p:cNvPr id="4" name="Rectangle 3">
            <a:extLst>
              <a:ext uri="{FF2B5EF4-FFF2-40B4-BE49-F238E27FC236}">
                <a16:creationId xmlns:a16="http://schemas.microsoft.com/office/drawing/2014/main" id="{946D0DD4-6741-2CB8-BE23-595BFD8F561D}"/>
              </a:ext>
            </a:extLst>
          </p:cNvPr>
          <p:cNvSpPr/>
          <p:nvPr/>
        </p:nvSpPr>
        <p:spPr>
          <a:xfrm>
            <a:off x="5791199" y="2199112"/>
            <a:ext cx="6224838" cy="8506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399" b="1" dirty="0">
                <a:solidFill>
                  <a:schemeClr val="bg1"/>
                </a:solidFill>
              </a:rPr>
              <a:t>3. New Tools Implementation Progress Update</a:t>
            </a:r>
            <a:endParaRPr lang="en-IN" sz="2399" b="1" dirty="0">
              <a:solidFill>
                <a:schemeClr val="bg1"/>
              </a:solidFill>
            </a:endParaRPr>
          </a:p>
        </p:txBody>
      </p:sp>
      <p:sp>
        <p:nvSpPr>
          <p:cNvPr id="8" name="Rectangle 7">
            <a:extLst>
              <a:ext uri="{FF2B5EF4-FFF2-40B4-BE49-F238E27FC236}">
                <a16:creationId xmlns:a16="http://schemas.microsoft.com/office/drawing/2014/main" id="{E5E371C5-36CD-2B7B-558D-8D6E638F77D3}"/>
              </a:ext>
            </a:extLst>
          </p:cNvPr>
          <p:cNvSpPr/>
          <p:nvPr/>
        </p:nvSpPr>
        <p:spPr>
          <a:xfrm>
            <a:off x="5790397" y="3205044"/>
            <a:ext cx="6224838" cy="85060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399" b="1" dirty="0">
                <a:solidFill>
                  <a:schemeClr val="bg1"/>
                </a:solidFill>
              </a:rPr>
              <a:t>4. ZTZT Payroll Automation Progress Update</a:t>
            </a:r>
            <a:endParaRPr lang="en-IN" sz="2399" b="1" dirty="0">
              <a:solidFill>
                <a:schemeClr val="bg1"/>
              </a:solidFill>
            </a:endParaRPr>
          </a:p>
        </p:txBody>
      </p:sp>
      <p:sp>
        <p:nvSpPr>
          <p:cNvPr id="3" name="Rectangle 2">
            <a:extLst>
              <a:ext uri="{FF2B5EF4-FFF2-40B4-BE49-F238E27FC236}">
                <a16:creationId xmlns:a16="http://schemas.microsoft.com/office/drawing/2014/main" id="{024EDCEB-CABE-CA7B-3511-6EA94FA417B4}"/>
              </a:ext>
            </a:extLst>
          </p:cNvPr>
          <p:cNvSpPr/>
          <p:nvPr/>
        </p:nvSpPr>
        <p:spPr>
          <a:xfrm>
            <a:off x="5799220" y="1419300"/>
            <a:ext cx="6224838" cy="70216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399" b="1" dirty="0">
                <a:solidFill>
                  <a:schemeClr val="bg1"/>
                </a:solidFill>
              </a:rPr>
              <a:t>2. Q1 &amp; Q2 FY 27 Roadmap Update</a:t>
            </a:r>
            <a:endParaRPr lang="en-IN" sz="2399" b="1" dirty="0">
              <a:solidFill>
                <a:schemeClr val="bg1"/>
              </a:solidFill>
            </a:endParaRPr>
          </a:p>
        </p:txBody>
      </p:sp>
      <p:sp>
        <p:nvSpPr>
          <p:cNvPr id="6" name="Rectangle 5">
            <a:extLst>
              <a:ext uri="{FF2B5EF4-FFF2-40B4-BE49-F238E27FC236}">
                <a16:creationId xmlns:a16="http://schemas.microsoft.com/office/drawing/2014/main" id="{50873F2F-BBF9-3EA5-1FDD-B8D6D2D1E0CF}"/>
              </a:ext>
            </a:extLst>
          </p:cNvPr>
          <p:cNvSpPr/>
          <p:nvPr/>
        </p:nvSpPr>
        <p:spPr>
          <a:xfrm>
            <a:off x="5790397" y="4220911"/>
            <a:ext cx="6224838" cy="86961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399" b="1" dirty="0">
                <a:solidFill>
                  <a:schemeClr val="bg1"/>
                </a:solidFill>
              </a:rPr>
              <a:t>6. Service Requests Update</a:t>
            </a:r>
            <a:br>
              <a:rPr lang="en-US" sz="2399" b="1" dirty="0">
                <a:solidFill>
                  <a:schemeClr val="bg1"/>
                </a:solidFill>
              </a:rPr>
            </a:br>
            <a:r>
              <a:rPr lang="en-US" sz="2399" b="1" dirty="0">
                <a:solidFill>
                  <a:schemeClr val="bg1"/>
                </a:solidFill>
              </a:rPr>
              <a:t>(Apr 26 till date)</a:t>
            </a:r>
            <a:endParaRPr lang="en-IN" sz="2399" b="1" dirty="0">
              <a:solidFill>
                <a:schemeClr val="bg1"/>
              </a:solidFill>
            </a:endParaRPr>
          </a:p>
        </p:txBody>
      </p:sp>
    </p:spTree>
    <p:extLst>
      <p:ext uri="{BB962C8B-B14F-4D97-AF65-F5344CB8AC3E}">
        <p14:creationId xmlns:p14="http://schemas.microsoft.com/office/powerpoint/2010/main" val="15194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688DD-51C8-EEBA-177F-971713EA6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F9C2D-273C-BE11-F3B0-1C24C9146BFD}"/>
              </a:ext>
            </a:extLst>
          </p:cNvPr>
          <p:cNvSpPr>
            <a:spLocks noGrp="1"/>
          </p:cNvSpPr>
          <p:nvPr>
            <p:ph type="ctrTitle"/>
          </p:nvPr>
        </p:nvSpPr>
        <p:spPr>
          <a:xfrm>
            <a:off x="3912738" y="1724004"/>
            <a:ext cx="8082709" cy="2608510"/>
          </a:xfrm>
        </p:spPr>
        <p:txBody>
          <a:bodyPr>
            <a:normAutofit/>
          </a:bodyPr>
          <a:lstStyle/>
          <a:p>
            <a:r>
              <a:rPr lang="en-IN" sz="6000" b="1" dirty="0">
                <a:solidFill>
                  <a:schemeClr val="bg1"/>
                </a:solidFill>
              </a:rPr>
              <a:t>1. </a:t>
            </a:r>
            <a:r>
              <a:rPr lang="en-US" sz="6000" b="1" dirty="0" err="1"/>
              <a:t>SteerCo</a:t>
            </a:r>
            <a:r>
              <a:rPr lang="en-US" sz="6000" b="1" dirty="0"/>
              <a:t> Recap: Progress &amp; Next Steps</a:t>
            </a:r>
            <a:endParaRPr lang="en-IN"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FCC7273-2698-A9AD-A93A-3F21112F0C6C}"/>
              </a:ext>
            </a:extLst>
          </p:cNvPr>
          <p:cNvSpPr txBox="1"/>
          <p:nvPr/>
        </p:nvSpPr>
        <p:spPr>
          <a:xfrm>
            <a:off x="9226281" y="5528266"/>
            <a:ext cx="2769166" cy="369140"/>
          </a:xfrm>
          <a:prstGeom prst="rect">
            <a:avLst/>
          </a:prstGeom>
          <a:noFill/>
        </p:spPr>
        <p:txBody>
          <a:bodyPr wrap="square" rtlCol="0">
            <a:spAutoFit/>
          </a:bodyPr>
          <a:lstStyle/>
          <a:p>
            <a:r>
              <a:rPr lang="en-US" sz="1799">
                <a:solidFill>
                  <a:srgbClr val="FFFFFF"/>
                </a:solidFill>
                <a:latin typeface="AirIndia" panose="04050608020B02020302" pitchFamily="82" charset="0"/>
              </a:rPr>
              <a:t>Digital &amp; Technology</a:t>
            </a:r>
            <a:endParaRPr lang="en-IN" sz="1799">
              <a:solidFill>
                <a:srgbClr val="FFFFFF"/>
              </a:solidFill>
              <a:latin typeface="AirIndia" panose="04050608020B02020302" pitchFamily="82" charset="0"/>
            </a:endParaRPr>
          </a:p>
        </p:txBody>
      </p:sp>
    </p:spTree>
    <p:extLst>
      <p:ext uri="{BB962C8B-B14F-4D97-AF65-F5344CB8AC3E}">
        <p14:creationId xmlns:p14="http://schemas.microsoft.com/office/powerpoint/2010/main" val="391460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019B-A7F8-F012-B764-C2ED5EE1DA6C}"/>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FF97DE4B-3379-506C-6AED-9929446C8FB4}"/>
              </a:ext>
            </a:extLst>
          </p:cNvPr>
          <p:cNvSpPr txBox="1">
            <a:spLocks/>
          </p:cNvSpPr>
          <p:nvPr/>
        </p:nvSpPr>
        <p:spPr>
          <a:xfrm>
            <a:off x="185056" y="299695"/>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endParaRPr lang="en-US" sz="2799">
              <a:solidFill>
                <a:srgbClr val="C00000"/>
              </a:solidFill>
            </a:endParaRPr>
          </a:p>
        </p:txBody>
      </p:sp>
      <p:sp>
        <p:nvSpPr>
          <p:cNvPr id="3" name="Title 11">
            <a:extLst>
              <a:ext uri="{FF2B5EF4-FFF2-40B4-BE49-F238E27FC236}">
                <a16:creationId xmlns:a16="http://schemas.microsoft.com/office/drawing/2014/main" id="{4C164577-74FB-AAB5-3D2D-20F8E572EAA3}"/>
              </a:ext>
            </a:extLst>
          </p:cNvPr>
          <p:cNvSpPr txBox="1">
            <a:spLocks/>
          </p:cNvSpPr>
          <p:nvPr/>
        </p:nvSpPr>
        <p:spPr>
          <a:xfrm>
            <a:off x="185056" y="277211"/>
            <a:ext cx="10299866"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dirty="0" err="1">
                <a:solidFill>
                  <a:schemeClr val="accent1"/>
                </a:solidFill>
                <a:latin typeface="Arial" panose="020B0604020202020204" pitchFamily="34" charset="0"/>
                <a:cs typeface="Arial" panose="020B0604020202020204" pitchFamily="34" charset="0"/>
              </a:rPr>
              <a:t>SteerCo</a:t>
            </a:r>
            <a:r>
              <a:rPr lang="en-US" sz="2400" dirty="0">
                <a:solidFill>
                  <a:schemeClr val="accent1"/>
                </a:solidFill>
                <a:latin typeface="Arial" panose="020B0604020202020204" pitchFamily="34" charset="0"/>
                <a:cs typeface="Arial" panose="020B0604020202020204" pitchFamily="34" charset="0"/>
              </a:rPr>
              <a:t> Recap: Progress &amp; Next Steps</a:t>
            </a:r>
            <a:endParaRPr lang="en-US" sz="2400" b="0" dirty="0">
              <a:solidFill>
                <a:schemeClr val="accent1"/>
              </a:solidFill>
              <a:latin typeface="AirIndia"/>
            </a:endParaRPr>
          </a:p>
        </p:txBody>
      </p:sp>
      <p:graphicFrame>
        <p:nvGraphicFramePr>
          <p:cNvPr id="2" name="Table 1">
            <a:extLst>
              <a:ext uri="{FF2B5EF4-FFF2-40B4-BE49-F238E27FC236}">
                <a16:creationId xmlns:a16="http://schemas.microsoft.com/office/drawing/2014/main" id="{8B6B7A91-5DE3-52FD-13AB-2F8852A88697}"/>
              </a:ext>
            </a:extLst>
          </p:cNvPr>
          <p:cNvGraphicFramePr>
            <a:graphicFrameLocks noGrp="1"/>
          </p:cNvGraphicFramePr>
          <p:nvPr>
            <p:extLst>
              <p:ext uri="{D42A27DB-BD31-4B8C-83A1-F6EECF244321}">
                <p14:modId xmlns:p14="http://schemas.microsoft.com/office/powerpoint/2010/main" val="3526410446"/>
              </p:ext>
            </p:extLst>
          </p:nvPr>
        </p:nvGraphicFramePr>
        <p:xfrm>
          <a:off x="185057" y="772887"/>
          <a:ext cx="11930744" cy="5655995"/>
        </p:xfrm>
        <a:graphic>
          <a:graphicData uri="http://schemas.openxmlformats.org/drawingml/2006/table">
            <a:tbl>
              <a:tblPr/>
              <a:tblGrid>
                <a:gridCol w="496358">
                  <a:extLst>
                    <a:ext uri="{9D8B030D-6E8A-4147-A177-3AD203B41FA5}">
                      <a16:colId xmlns:a16="http://schemas.microsoft.com/office/drawing/2014/main" val="877923062"/>
                    </a:ext>
                  </a:extLst>
                </a:gridCol>
                <a:gridCol w="4423985">
                  <a:extLst>
                    <a:ext uri="{9D8B030D-6E8A-4147-A177-3AD203B41FA5}">
                      <a16:colId xmlns:a16="http://schemas.microsoft.com/office/drawing/2014/main" val="806668254"/>
                    </a:ext>
                  </a:extLst>
                </a:gridCol>
                <a:gridCol w="1600200">
                  <a:extLst>
                    <a:ext uri="{9D8B030D-6E8A-4147-A177-3AD203B41FA5}">
                      <a16:colId xmlns:a16="http://schemas.microsoft.com/office/drawing/2014/main" val="3016393833"/>
                    </a:ext>
                  </a:extLst>
                </a:gridCol>
                <a:gridCol w="1143000">
                  <a:extLst>
                    <a:ext uri="{9D8B030D-6E8A-4147-A177-3AD203B41FA5}">
                      <a16:colId xmlns:a16="http://schemas.microsoft.com/office/drawing/2014/main" val="2882441636"/>
                    </a:ext>
                  </a:extLst>
                </a:gridCol>
                <a:gridCol w="838200">
                  <a:extLst>
                    <a:ext uri="{9D8B030D-6E8A-4147-A177-3AD203B41FA5}">
                      <a16:colId xmlns:a16="http://schemas.microsoft.com/office/drawing/2014/main" val="453079517"/>
                    </a:ext>
                  </a:extLst>
                </a:gridCol>
                <a:gridCol w="3429001">
                  <a:extLst>
                    <a:ext uri="{9D8B030D-6E8A-4147-A177-3AD203B41FA5}">
                      <a16:colId xmlns:a16="http://schemas.microsoft.com/office/drawing/2014/main" val="3292231619"/>
                    </a:ext>
                  </a:extLst>
                </a:gridCol>
              </a:tblGrid>
              <a:tr h="232832">
                <a:tc>
                  <a:txBody>
                    <a:bodyPr/>
                    <a:lstStyle/>
                    <a:p>
                      <a:pPr algn="l"/>
                      <a:r>
                        <a:rPr lang="en-IN" sz="1200" b="1" dirty="0">
                          <a:solidFill>
                            <a:schemeClr val="bg1"/>
                          </a:solidFill>
                          <a:effectLst/>
                          <a:latin typeface="Calibri" panose="020F0502020204030204" pitchFamily="34" charset="0"/>
                        </a:rPr>
                        <a:t>S.No</a:t>
                      </a:r>
                      <a:endParaRPr lang="en-IN" sz="1200" dirty="0">
                        <a:solidFill>
                          <a:schemeClr val="bg1"/>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l"/>
                      <a:r>
                        <a:rPr lang="en-IN" sz="1200" b="1" dirty="0">
                          <a:solidFill>
                            <a:schemeClr val="bg1"/>
                          </a:solidFill>
                          <a:effectLst/>
                          <a:latin typeface="Calibri" panose="020F0502020204030204" pitchFamily="34" charset="0"/>
                        </a:rPr>
                        <a:t>Key Action Item/Discussion Point</a:t>
                      </a:r>
                      <a:endParaRPr lang="en-IN" sz="1200" dirty="0">
                        <a:solidFill>
                          <a:schemeClr val="bg1"/>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l"/>
                      <a:r>
                        <a:rPr lang="en-IN" sz="1200" b="1" dirty="0">
                          <a:solidFill>
                            <a:schemeClr val="bg1"/>
                          </a:solidFill>
                          <a:effectLst/>
                          <a:latin typeface="Calibri" panose="020F0502020204030204" pitchFamily="34" charset="0"/>
                        </a:rPr>
                        <a:t>Owner</a:t>
                      </a:r>
                      <a:endParaRPr lang="en-IN" sz="1200" dirty="0">
                        <a:solidFill>
                          <a:schemeClr val="bg1"/>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l"/>
                      <a:r>
                        <a:rPr lang="en-IN" sz="1200" b="1" dirty="0">
                          <a:solidFill>
                            <a:schemeClr val="bg1"/>
                          </a:solidFill>
                          <a:effectLst/>
                          <a:latin typeface="Calibri" panose="020F0502020204030204" pitchFamily="34" charset="0"/>
                        </a:rPr>
                        <a:t>ETA</a:t>
                      </a:r>
                      <a:endParaRPr lang="en-IN" sz="1200" dirty="0">
                        <a:solidFill>
                          <a:schemeClr val="bg1"/>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l"/>
                      <a:r>
                        <a:rPr lang="en-IN" sz="1200" b="1" dirty="0">
                          <a:solidFill>
                            <a:schemeClr val="bg1"/>
                          </a:solidFill>
                          <a:effectLst/>
                          <a:latin typeface="Calibri" panose="020F0502020204030204" pitchFamily="34" charset="0"/>
                        </a:rPr>
                        <a:t>Status</a:t>
                      </a:r>
                      <a:endParaRPr lang="en-IN" sz="1200" dirty="0">
                        <a:solidFill>
                          <a:schemeClr val="bg1"/>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l"/>
                      <a:r>
                        <a:rPr lang="en-IN" sz="1200" b="1" dirty="0">
                          <a:solidFill>
                            <a:schemeClr val="bg1"/>
                          </a:solidFill>
                          <a:effectLst/>
                          <a:latin typeface="Aptos" panose="020B0004020202020204" pitchFamily="34" charset="0"/>
                        </a:rPr>
                        <a:t>Comments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14799210"/>
                  </a:ext>
                </a:extLst>
              </a:tr>
              <a:tr h="594481">
                <a:tc>
                  <a:txBody>
                    <a:bodyPr/>
                    <a:lstStyle/>
                    <a:p>
                      <a:pPr algn="ctr"/>
                      <a:r>
                        <a:rPr lang="en-IN" sz="1200" dirty="0">
                          <a:effectLst/>
                          <a:latin typeface="Aptos" panose="020B00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dirty="0">
                          <a:solidFill>
                            <a:schemeClr val="tx1"/>
                          </a:solidFill>
                          <a:effectLst/>
                          <a:latin typeface="Calibri" panose="020F0502020204030204" pitchFamily="34" charset="0"/>
                        </a:rPr>
                        <a:t>Complete end-to-end mapping of domestic payroll flow (including Exit F&amp;F) and all touchpoints along with proposed solution, cost &amp; timeline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Shripad Joshi/Amit Sood/</a:t>
                      </a:r>
                      <a:r>
                        <a:rPr lang="en-IN" sz="1200" dirty="0" err="1">
                          <a:effectLst/>
                          <a:latin typeface="Aptos" panose="020B0004020202020204" pitchFamily="34" charset="0"/>
                        </a:rPr>
                        <a:t>Rasmeeta</a:t>
                      </a:r>
                      <a:endParaRPr lang="en-IN" sz="1200" dirty="0">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IN" sz="1200" dirty="0">
                          <a:effectLst/>
                          <a:latin typeface="Aptos" panose="020B0004020202020204" pitchFamily="34" charset="0"/>
                        </a:rPr>
                        <a:t>27-May-26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B050"/>
                          </a:solidFill>
                          <a:effectLst/>
                          <a:latin typeface="Aptos" panose="020B0004020202020204" pitchFamily="34" charset="0"/>
                        </a:rPr>
                        <a:t>Completed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b="0" dirty="0">
                          <a:effectLst/>
                          <a:latin typeface="Aptos" panose="020B0004020202020204" pitchFamily="34" charset="0"/>
                        </a:rPr>
                        <a:t>End to end mapping of payroll components &amp; flow completed for Domestic payroll; International payroll in progress</a:t>
                      </a:r>
                      <a:endParaRPr lang="en-IN" sz="1200" b="1" dirty="0">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3675565"/>
                  </a:ext>
                </a:extLst>
              </a:tr>
              <a:tr h="390827">
                <a:tc>
                  <a:txBody>
                    <a:bodyPr/>
                    <a:lstStyle/>
                    <a:p>
                      <a:pPr algn="ctr"/>
                      <a:r>
                        <a:rPr lang="en-IN" sz="1200" dirty="0">
                          <a:effectLst/>
                          <a:latin typeface="Aptos" panose="020B00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dirty="0">
                          <a:solidFill>
                            <a:schemeClr val="tx1"/>
                          </a:solidFill>
                          <a:effectLst/>
                          <a:latin typeface="Calibri" panose="020F0502020204030204" pitchFamily="34" charset="0"/>
                        </a:rPr>
                        <a:t>Review and close TCS iDL exit commercials with no minimum payment commitment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Sood/Shripad/Procurement Team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IN" sz="1200" dirty="0">
                          <a:effectLst/>
                          <a:latin typeface="Aptos" panose="020B0004020202020204" pitchFamily="34" charset="0"/>
                        </a:rPr>
                        <a:t>21-Aug-26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FFC000"/>
                          </a:solidFill>
                          <a:effectLst/>
                          <a:latin typeface="Aptos" panose="020B0004020202020204" pitchFamily="34" charset="0"/>
                        </a:rPr>
                        <a:t>In Progress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45 days exit period notice provided to TCS </a:t>
                      </a:r>
                      <a:r>
                        <a:rPr lang="en-IN" sz="1200" b="0" dirty="0" err="1">
                          <a:effectLst/>
                          <a:latin typeface="Aptos" panose="020B0004020202020204" pitchFamily="34" charset="0"/>
                        </a:rPr>
                        <a:t>iON</a:t>
                      </a:r>
                      <a:endParaRPr lang="en-IN" sz="1200" b="0" dirty="0">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2501765"/>
                  </a:ext>
                </a:extLst>
              </a:tr>
              <a:tr h="342189">
                <a:tc>
                  <a:txBody>
                    <a:bodyPr/>
                    <a:lstStyle/>
                    <a:p>
                      <a:pPr algn="ctr"/>
                      <a:r>
                        <a:rPr lang="en-IN" sz="1200" dirty="0">
                          <a:effectLst/>
                          <a:latin typeface="Aptos" panose="020B00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b="0" dirty="0">
                          <a:effectLst/>
                          <a:latin typeface="Aptos" panose="020B0004020202020204" pitchFamily="34" charset="0"/>
                        </a:rPr>
                        <a:t>SuccessFactors LMS implementation - Expedite vendor onboarding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Sood/Procurement Team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strike="noStrike" dirty="0">
                          <a:effectLst/>
                          <a:latin typeface="Aptos" panose="020B0004020202020204" pitchFamily="34" charset="0"/>
                        </a:rPr>
                        <a:t>20-July-26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FFC000"/>
                          </a:solidFill>
                          <a:effectLst/>
                          <a:latin typeface="Aptos" panose="020B0004020202020204" pitchFamily="34" charset="0"/>
                        </a:rPr>
                        <a:t>In Progress</a:t>
                      </a:r>
                      <a:endParaRPr lang="en-IN" sz="1200" b="1" dirty="0">
                        <a:solidFill>
                          <a:srgbClr val="00B050"/>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Budget approval provided, RFP floated – vendor queries addressal in progress – vendor onboarding to be completed by 20</a:t>
                      </a:r>
                      <a:r>
                        <a:rPr lang="en-IN" sz="1200" b="0" baseline="30000" dirty="0">
                          <a:effectLst/>
                          <a:latin typeface="Aptos" panose="020B0004020202020204" pitchFamily="34" charset="0"/>
                        </a:rPr>
                        <a:t>th</a:t>
                      </a:r>
                      <a:r>
                        <a:rPr lang="en-IN" sz="1200" b="0" dirty="0">
                          <a:effectLst/>
                          <a:latin typeface="Aptos" panose="020B0004020202020204" pitchFamily="34" charset="0"/>
                        </a:rPr>
                        <a:t> July basis ETA shared by Central Procurement team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32385417"/>
                  </a:ext>
                </a:extLst>
              </a:tr>
              <a:tr h="675443">
                <a:tc>
                  <a:txBody>
                    <a:bodyPr/>
                    <a:lstStyle/>
                    <a:p>
                      <a:pPr algn="ctr"/>
                      <a:r>
                        <a:rPr lang="en-IN" sz="1200" dirty="0">
                          <a:effectLst/>
                          <a:latin typeface="Aptos" panose="020B00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b="0" dirty="0">
                          <a:effectLst/>
                          <a:latin typeface="Aptos" panose="020B0004020202020204" pitchFamily="34" charset="0"/>
                        </a:rPr>
                        <a:t>Explore attendance management coverage for international locations, starting with US and UK</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Sood/Shripad Joshi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TBD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1" dirty="0">
                          <a:solidFill>
                            <a:srgbClr val="FFC000"/>
                          </a:solidFill>
                          <a:effectLst/>
                          <a:latin typeface="Aptos" panose="020B0004020202020204" pitchFamily="34" charset="0"/>
                        </a:rPr>
                        <a:t>In Progress</a:t>
                      </a:r>
                      <a:endParaRPr lang="en-IN" sz="1200" b="1" dirty="0">
                        <a:solidFill>
                          <a:srgbClr val="00B050"/>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err="1">
                          <a:effectLst/>
                          <a:latin typeface="Aptos" panose="020B0004020202020204" pitchFamily="34" charset="0"/>
                        </a:rPr>
                        <a:t>Zoho</a:t>
                      </a:r>
                      <a:r>
                        <a:rPr lang="en-IN" sz="1200" b="0" dirty="0">
                          <a:effectLst/>
                          <a:latin typeface="Aptos" panose="020B0004020202020204" pitchFamily="34" charset="0"/>
                        </a:rPr>
                        <a:t> has timesheet capability – team is working with </a:t>
                      </a:r>
                      <a:r>
                        <a:rPr lang="en-IN" sz="1200" b="0" dirty="0" err="1">
                          <a:effectLst/>
                          <a:latin typeface="Aptos" panose="020B0004020202020204" pitchFamily="34" charset="0"/>
                        </a:rPr>
                        <a:t>Zoho</a:t>
                      </a:r>
                      <a:r>
                        <a:rPr lang="en-IN" sz="1200" b="0" dirty="0">
                          <a:effectLst/>
                          <a:latin typeface="Aptos" panose="020B0004020202020204" pitchFamily="34" charset="0"/>
                        </a:rPr>
                        <a:t> to estimate the efforts required to onboard international employees on to </a:t>
                      </a:r>
                      <a:r>
                        <a:rPr lang="en-IN" sz="1200" b="0" dirty="0" err="1">
                          <a:effectLst/>
                          <a:latin typeface="Aptos" panose="020B0004020202020204" pitchFamily="34" charset="0"/>
                        </a:rPr>
                        <a:t>Zoho</a:t>
                      </a:r>
                      <a:r>
                        <a:rPr lang="en-IN" sz="1200" b="0" dirty="0">
                          <a:effectLst/>
                          <a:latin typeface="Aptos" panose="020B0004020202020204" pitchFamily="34" charset="0"/>
                        </a:rPr>
                        <a:t> app</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9305346"/>
                  </a:ext>
                </a:extLst>
              </a:tr>
              <a:tr h="232832">
                <a:tc>
                  <a:txBody>
                    <a:bodyPr/>
                    <a:lstStyle/>
                    <a:p>
                      <a:pPr algn="ctr"/>
                      <a:r>
                        <a:rPr lang="en-IN" sz="1200" dirty="0">
                          <a:effectLst/>
                          <a:latin typeface="Aptos" panose="020B00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200" b="0" dirty="0">
                          <a:effectLst/>
                          <a:latin typeface="Aptos" panose="020B0004020202020204" pitchFamily="34" charset="0"/>
                        </a:rPr>
                        <a:t>Send extension note for revised Attendance Management Phase 2 timeline to 30th Sep 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6-July-26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B050"/>
                          </a:solidFill>
                          <a:effectLst/>
                          <a:latin typeface="Aptos" panose="020B0004020202020204" pitchFamily="34" charset="0"/>
                        </a:rPr>
                        <a:t>Completed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1" dirty="0">
                          <a:effectLst/>
                          <a:latin typeface="Aptos" panose="020B0004020202020204" pitchFamily="34"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56220945"/>
                  </a:ext>
                </a:extLst>
              </a:tr>
              <a:tr h="454138">
                <a:tc>
                  <a:txBody>
                    <a:bodyPr/>
                    <a:lstStyle/>
                    <a:p>
                      <a:pPr algn="ctr"/>
                      <a:r>
                        <a:rPr lang="en-IN" sz="1200" dirty="0">
                          <a:effectLst/>
                          <a:latin typeface="Aptos" panose="020B00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ffectLst/>
                          <a:latin typeface="Aptos" panose="020B0004020202020204" pitchFamily="34" charset="0"/>
                        </a:rPr>
                        <a:t>Renegotiate ITSM / ServiceNow license commercials and confirm license availability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Vikram Singh/Jatinder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1-July-26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B050"/>
                          </a:solidFill>
                          <a:effectLst/>
                          <a:latin typeface="Aptos" panose="020B0004020202020204" pitchFamily="34" charset="0"/>
                        </a:rPr>
                        <a:t>Completed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ServiceNow team had proposed a solution to remove dependency on licenses; UAT completed by HR &amp; solution moved to Prod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53462821"/>
                  </a:ext>
                </a:extLst>
              </a:tr>
              <a:tr h="454138">
                <a:tc>
                  <a:txBody>
                    <a:bodyPr/>
                    <a:lstStyle/>
                    <a:p>
                      <a:pPr algn="ctr"/>
                      <a:r>
                        <a:rPr lang="en-IN" sz="1200" dirty="0">
                          <a:effectLst/>
                          <a:latin typeface="Aptos" panose="020B0004020202020204" pitchFamily="34" charset="0"/>
                        </a:rPr>
                        <a:t>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ffectLst/>
                          <a:latin typeface="Aptos" panose="020B0004020202020204" pitchFamily="34" charset="0"/>
                        </a:rPr>
                        <a:t>Prioritize Statutory Forms &amp; letter generation in myAI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Q2 2026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1" dirty="0">
                          <a:solidFill>
                            <a:srgbClr val="FFC000"/>
                          </a:solidFill>
                          <a:effectLst/>
                          <a:latin typeface="Aptos" panose="020B0004020202020204" pitchFamily="34" charset="0"/>
                        </a:rPr>
                        <a:t>In Progress</a:t>
                      </a:r>
                      <a:endParaRPr lang="en-IN" sz="1200" b="1" dirty="0">
                        <a:solidFill>
                          <a:srgbClr val="00B050"/>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Owing to multiple operational priorities for business-critical functions, will need to be prioritized in Q2 2026 by myAI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0524871"/>
                  </a:ext>
                </a:extLst>
              </a:tr>
              <a:tr h="454138">
                <a:tc>
                  <a:txBody>
                    <a:bodyPr/>
                    <a:lstStyle/>
                    <a:p>
                      <a:pPr algn="ctr"/>
                      <a:r>
                        <a:rPr lang="en-IN" sz="1200" dirty="0">
                          <a:effectLst/>
                          <a:latin typeface="Aptos" panose="020B0004020202020204" pitchFamily="34" charset="0"/>
                        </a:rPr>
                        <a:t>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ffectLst/>
                          <a:latin typeface="Aptos" panose="020B0004020202020204" pitchFamily="34" charset="0"/>
                        </a:rPr>
                        <a:t>Reprioritize FY 27 Project Plan considering Audit and Board commitments &amp; Employee experience for pilots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Sood/Shripad Joshi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15-July-26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FFC000"/>
                          </a:solidFill>
                          <a:effectLst/>
                          <a:latin typeface="Aptos" panose="020B0004020202020204" pitchFamily="34" charset="0"/>
                        </a:rPr>
                        <a:t>In Progress</a:t>
                      </a:r>
                      <a:endParaRPr lang="en-IN" sz="1200" b="1" dirty="0">
                        <a:solidFill>
                          <a:srgbClr val="00B050"/>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Review with CHRO &amp; CDTO pending to reprioritize the roadmap deliverables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7160085"/>
                  </a:ext>
                </a:extLst>
              </a:tr>
              <a:tr h="454138">
                <a:tc>
                  <a:txBody>
                    <a:bodyPr/>
                    <a:lstStyle/>
                    <a:p>
                      <a:pPr algn="ctr"/>
                      <a:r>
                        <a:rPr lang="en-IN" sz="1200" dirty="0">
                          <a:effectLst/>
                          <a:latin typeface="Aptos" panose="020B0004020202020204" pitchFamily="34" charset="0"/>
                        </a:rPr>
                        <a:t>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ffectLst/>
                          <a:latin typeface="Aptos" panose="020B0004020202020204" pitchFamily="34" charset="0"/>
                        </a:rPr>
                        <a:t>Automate HR Helpdesk Queries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Q3 2026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FFC000"/>
                          </a:solidFill>
                          <a:effectLst/>
                          <a:latin typeface="Aptos" panose="020B0004020202020204" pitchFamily="34" charset="0"/>
                        </a:rPr>
                        <a:t>In Progress</a:t>
                      </a:r>
                      <a:endParaRPr lang="en-IN" sz="1200" b="1" dirty="0">
                        <a:solidFill>
                          <a:srgbClr val="00B050"/>
                        </a:solidFill>
                        <a:effectLst/>
                        <a:latin typeface="Aptos" panose="020B000402020202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To be prioritized as part of Q3 deliverable for Agentic track for HR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38158251"/>
                  </a:ext>
                </a:extLst>
              </a:tr>
              <a:tr h="454138">
                <a:tc>
                  <a:txBody>
                    <a:bodyPr/>
                    <a:lstStyle/>
                    <a:p>
                      <a:pPr algn="ctr"/>
                      <a:r>
                        <a:rPr lang="en-IN" sz="1200" dirty="0">
                          <a:effectLst/>
                          <a:latin typeface="Aptos" panose="020B0004020202020204" pitchFamily="34" charset="0"/>
                        </a:rPr>
                        <a:t>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ffectLst/>
                          <a:latin typeface="Aptos" panose="020B0004020202020204" pitchFamily="34" charset="0"/>
                        </a:rPr>
                        <a:t>Assigned assets visibility on </a:t>
                      </a:r>
                      <a:r>
                        <a:rPr lang="en-US" sz="1200" b="0" dirty="0" err="1">
                          <a:effectLst/>
                          <a:latin typeface="Aptos" panose="020B0004020202020204" pitchFamily="34" charset="0"/>
                        </a:rPr>
                        <a:t>myAi</a:t>
                      </a:r>
                      <a:r>
                        <a:rPr lang="en-US" sz="1200" b="0" dirty="0">
                          <a:effectLst/>
                          <a:latin typeface="Aptos" panose="020B0004020202020204" pitchFamily="34" charset="0"/>
                        </a:rPr>
                        <a:t> &amp; current cost estimation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dirty="0">
                          <a:effectLst/>
                          <a:latin typeface="Aptos" panose="020B0004020202020204" pitchFamily="34" charset="0"/>
                        </a:rPr>
                        <a:t>Amit Sood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IN" sz="1200" dirty="0">
                          <a:effectLst/>
                          <a:latin typeface="Aptos" panose="020B0004020202020204" pitchFamily="34" charset="0"/>
                        </a:rPr>
                        <a:t>30-June-2026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B050"/>
                          </a:solidFill>
                          <a:effectLst/>
                          <a:latin typeface="Aptos" panose="020B0004020202020204" pitchFamily="34" charset="0"/>
                        </a:rPr>
                        <a:t>Completed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IN" sz="1200" b="0" dirty="0">
                          <a:effectLst/>
                          <a:latin typeface="Aptos" panose="020B0004020202020204" pitchFamily="34" charset="0"/>
                        </a:rPr>
                        <a:t>HAM (Hardware Asset Management) live on myAI</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27987159"/>
                  </a:ext>
                </a:extLst>
              </a:tr>
            </a:tbl>
          </a:graphicData>
        </a:graphic>
      </p:graphicFrame>
    </p:spTree>
    <p:extLst>
      <p:ext uri="{BB962C8B-B14F-4D97-AF65-F5344CB8AC3E}">
        <p14:creationId xmlns:p14="http://schemas.microsoft.com/office/powerpoint/2010/main" val="110008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5C8AA-0D2C-6A37-129F-DD4229DF8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A97C6-504B-E753-5DE8-190AA79386E1}"/>
              </a:ext>
            </a:extLst>
          </p:cNvPr>
          <p:cNvSpPr>
            <a:spLocks noGrp="1"/>
          </p:cNvSpPr>
          <p:nvPr>
            <p:ph type="ctrTitle"/>
          </p:nvPr>
        </p:nvSpPr>
        <p:spPr>
          <a:xfrm>
            <a:off x="3912738" y="1724004"/>
            <a:ext cx="8082709" cy="2608510"/>
          </a:xfrm>
        </p:spPr>
        <p:txBody>
          <a:bodyPr>
            <a:normAutofit/>
          </a:bodyPr>
          <a:lstStyle/>
          <a:p>
            <a:r>
              <a:rPr lang="en-IN" sz="6000" b="1" dirty="0">
                <a:solidFill>
                  <a:schemeClr val="bg1"/>
                </a:solidFill>
              </a:rPr>
              <a:t>2. Q1 &amp; Q2 FY 27 Roadmap Update</a:t>
            </a:r>
            <a:endParaRPr lang="en-IN"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ACB6B82-2006-5EEA-0D9F-B41472577E63}"/>
              </a:ext>
            </a:extLst>
          </p:cNvPr>
          <p:cNvSpPr txBox="1"/>
          <p:nvPr/>
        </p:nvSpPr>
        <p:spPr>
          <a:xfrm>
            <a:off x="9226281" y="5528266"/>
            <a:ext cx="2769166" cy="369140"/>
          </a:xfrm>
          <a:prstGeom prst="rect">
            <a:avLst/>
          </a:prstGeom>
          <a:noFill/>
        </p:spPr>
        <p:txBody>
          <a:bodyPr wrap="square" rtlCol="0">
            <a:spAutoFit/>
          </a:bodyPr>
          <a:lstStyle/>
          <a:p>
            <a:r>
              <a:rPr lang="en-US" sz="1799">
                <a:solidFill>
                  <a:srgbClr val="FFFFFF"/>
                </a:solidFill>
                <a:latin typeface="AirIndia" panose="04050608020B02020302" pitchFamily="82" charset="0"/>
              </a:rPr>
              <a:t>Digital &amp; Technology</a:t>
            </a:r>
            <a:endParaRPr lang="en-IN" sz="1799">
              <a:solidFill>
                <a:srgbClr val="FFFFFF"/>
              </a:solidFill>
              <a:latin typeface="AirIndia" panose="04050608020B02020302" pitchFamily="82" charset="0"/>
            </a:endParaRPr>
          </a:p>
        </p:txBody>
      </p:sp>
    </p:spTree>
    <p:extLst>
      <p:ext uri="{BB962C8B-B14F-4D97-AF65-F5344CB8AC3E}">
        <p14:creationId xmlns:p14="http://schemas.microsoft.com/office/powerpoint/2010/main" val="3686447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78992"/>
            <a:ext cx="11338560" cy="18288"/>
          </a:xfrm>
          <a:prstGeom prst="rect">
            <a:avLst/>
          </a:prstGeom>
          <a:solidFill>
            <a:srgbClr val="DA0E28"/>
          </a:solidFill>
          <a:ln>
            <a:solidFill>
              <a:srgbClr val="DA0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261872"/>
            <a:ext cx="3154680" cy="1188720"/>
          </a:xfrm>
          <a:prstGeom prst="roundRect">
            <a:avLst/>
          </a:prstGeom>
          <a:solidFill>
            <a:srgbClr val="F7F8FB"/>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472" y="1186619"/>
            <a:ext cx="1106201" cy="1064907"/>
          </a:xfrm>
          <a:prstGeom prst="rect">
            <a:avLst/>
          </a:prstGeom>
          <a:noFill/>
        </p:spPr>
        <p:txBody>
          <a:bodyPr wrap="none" lIns="36576" tIns="9144" rIns="36576" bIns="9144" anchor="ctr">
            <a:spAutoFit/>
          </a:bodyPr>
          <a:lstStyle/>
          <a:p>
            <a:pPr algn="ctr"/>
            <a:r>
              <a:rPr sz="6800" b="1" dirty="0">
                <a:solidFill>
                  <a:schemeClr val="accent3">
                    <a:lumMod val="90000"/>
                    <a:lumOff val="10000"/>
                  </a:schemeClr>
                </a:solidFill>
                <a:latin typeface="Cambria" pitchFamily="34" charset="0"/>
                <a:ea typeface="Cambria" pitchFamily="34" charset="-122"/>
              </a:rPr>
              <a:t>45</a:t>
            </a:r>
          </a:p>
        </p:txBody>
      </p:sp>
      <p:sp>
        <p:nvSpPr>
          <p:cNvPr id="11" name="TextBox 10"/>
          <p:cNvSpPr txBox="1"/>
          <p:nvPr/>
        </p:nvSpPr>
        <p:spPr>
          <a:xfrm>
            <a:off x="1664208" y="1481328"/>
            <a:ext cx="1158779" cy="510909"/>
          </a:xfrm>
          <a:prstGeom prst="rect">
            <a:avLst/>
          </a:prstGeom>
          <a:noFill/>
        </p:spPr>
        <p:txBody>
          <a:bodyPr wrap="none" lIns="36576" tIns="9144" rIns="36576" bIns="9144" anchor="t">
            <a:spAutoFit/>
          </a:bodyPr>
          <a:lstStyle/>
          <a:p>
            <a:pPr algn="l"/>
            <a:r>
              <a:rPr sz="1600" b="1" dirty="0">
                <a:solidFill>
                  <a:srgbClr val="5B6472"/>
                </a:solidFill>
                <a:latin typeface="Aptos"/>
              </a:rPr>
              <a:t>TOTAL FY27
INITIATIVES</a:t>
            </a:r>
          </a:p>
        </p:txBody>
      </p:sp>
      <p:sp>
        <p:nvSpPr>
          <p:cNvPr id="12" name="TextBox 11"/>
          <p:cNvSpPr txBox="1"/>
          <p:nvPr/>
        </p:nvSpPr>
        <p:spPr>
          <a:xfrm>
            <a:off x="640080" y="2139696"/>
            <a:ext cx="2816352" cy="295466"/>
          </a:xfrm>
          <a:prstGeom prst="rect">
            <a:avLst/>
          </a:prstGeom>
          <a:noFill/>
        </p:spPr>
        <p:txBody>
          <a:bodyPr wrap="square" lIns="36576" tIns="9144" rIns="36576" bIns="9144" anchor="t">
            <a:spAutoFit/>
          </a:bodyPr>
          <a:lstStyle/>
          <a:p>
            <a:pPr algn="ctr"/>
            <a:r>
              <a:rPr sz="900" b="0">
                <a:solidFill>
                  <a:srgbClr val="5B6472"/>
                </a:solidFill>
                <a:latin typeface="Aptos"/>
              </a:rPr>
              <a:t>Portfolio across HRMS, Payroll, Talent, Experience and Analytics</a:t>
            </a:r>
          </a:p>
        </p:txBody>
      </p:sp>
      <p:sp>
        <p:nvSpPr>
          <p:cNvPr id="13" name="Rounded Rectangle 12"/>
          <p:cNvSpPr/>
          <p:nvPr/>
        </p:nvSpPr>
        <p:spPr>
          <a:xfrm>
            <a:off x="411480" y="2706624"/>
            <a:ext cx="3154680" cy="621792"/>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676313" y="2740433"/>
            <a:ext cx="320729" cy="572464"/>
          </a:xfrm>
          <a:prstGeom prst="rect">
            <a:avLst/>
          </a:prstGeom>
          <a:noFill/>
        </p:spPr>
        <p:txBody>
          <a:bodyPr wrap="none" lIns="36576" tIns="9144" rIns="36576" bIns="9144" anchor="ctr">
            <a:spAutoFit/>
          </a:bodyPr>
          <a:lstStyle/>
          <a:p>
            <a:pPr algn="ctr"/>
            <a:r>
              <a:rPr sz="3600" b="1" dirty="0">
                <a:solidFill>
                  <a:srgbClr val="00B050"/>
                </a:solidFill>
                <a:latin typeface="Aptos"/>
              </a:rPr>
              <a:t>8</a:t>
            </a:r>
          </a:p>
        </p:txBody>
      </p:sp>
      <p:sp>
        <p:nvSpPr>
          <p:cNvPr id="15" name="TextBox 14"/>
          <p:cNvSpPr txBox="1"/>
          <p:nvPr/>
        </p:nvSpPr>
        <p:spPr>
          <a:xfrm>
            <a:off x="1216152" y="2834640"/>
            <a:ext cx="855362" cy="203133"/>
          </a:xfrm>
          <a:prstGeom prst="rect">
            <a:avLst/>
          </a:prstGeom>
          <a:noFill/>
        </p:spPr>
        <p:txBody>
          <a:bodyPr wrap="none" lIns="36576" tIns="9144" rIns="36576" bIns="9144" anchor="t">
            <a:spAutoFit/>
          </a:bodyPr>
          <a:lstStyle/>
          <a:p>
            <a:pPr algn="l"/>
            <a:r>
              <a:rPr sz="1200" b="1">
                <a:solidFill>
                  <a:srgbClr val="1E2761"/>
                </a:solidFill>
                <a:latin typeface="Aptos"/>
              </a:rPr>
              <a:t>Completed</a:t>
            </a:r>
          </a:p>
        </p:txBody>
      </p:sp>
      <p:sp>
        <p:nvSpPr>
          <p:cNvPr id="16" name="TextBox 15"/>
          <p:cNvSpPr txBox="1"/>
          <p:nvPr/>
        </p:nvSpPr>
        <p:spPr>
          <a:xfrm>
            <a:off x="1216152" y="3081528"/>
            <a:ext cx="926664" cy="180049"/>
          </a:xfrm>
          <a:prstGeom prst="rect">
            <a:avLst/>
          </a:prstGeom>
          <a:noFill/>
        </p:spPr>
        <p:txBody>
          <a:bodyPr wrap="none" lIns="36576" tIns="9144" rIns="36576" bIns="9144" anchor="t">
            <a:spAutoFit/>
          </a:bodyPr>
          <a:lstStyle/>
          <a:p>
            <a:pPr algn="l"/>
            <a:r>
              <a:rPr sz="1050" b="0">
                <a:solidFill>
                  <a:srgbClr val="5B6472"/>
                </a:solidFill>
                <a:latin typeface="Aptos"/>
              </a:rPr>
              <a:t>Delivered / live</a:t>
            </a:r>
          </a:p>
        </p:txBody>
      </p:sp>
      <p:sp>
        <p:nvSpPr>
          <p:cNvPr id="17" name="Rounded Rectangle 16"/>
          <p:cNvSpPr/>
          <p:nvPr/>
        </p:nvSpPr>
        <p:spPr>
          <a:xfrm>
            <a:off x="411480" y="3456432"/>
            <a:ext cx="3154680" cy="621792"/>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552880" y="3490241"/>
            <a:ext cx="567592" cy="572464"/>
          </a:xfrm>
          <a:prstGeom prst="rect">
            <a:avLst/>
          </a:prstGeom>
          <a:noFill/>
        </p:spPr>
        <p:txBody>
          <a:bodyPr wrap="none" lIns="36576" tIns="9144" rIns="36576" bIns="9144" anchor="ctr">
            <a:spAutoFit/>
          </a:bodyPr>
          <a:lstStyle/>
          <a:p>
            <a:pPr algn="ctr"/>
            <a:r>
              <a:rPr sz="3600" b="1">
                <a:solidFill>
                  <a:srgbClr val="B48900"/>
                </a:solidFill>
                <a:latin typeface="Aptos"/>
              </a:rPr>
              <a:t>10</a:t>
            </a:r>
          </a:p>
        </p:txBody>
      </p:sp>
      <p:sp>
        <p:nvSpPr>
          <p:cNvPr id="19" name="TextBox 18"/>
          <p:cNvSpPr txBox="1"/>
          <p:nvPr/>
        </p:nvSpPr>
        <p:spPr>
          <a:xfrm>
            <a:off x="1216152" y="3584448"/>
            <a:ext cx="852798" cy="203133"/>
          </a:xfrm>
          <a:prstGeom prst="rect">
            <a:avLst/>
          </a:prstGeom>
          <a:noFill/>
        </p:spPr>
        <p:txBody>
          <a:bodyPr wrap="none" lIns="36576" tIns="9144" rIns="36576" bIns="9144" anchor="t">
            <a:spAutoFit/>
          </a:bodyPr>
          <a:lstStyle/>
          <a:p>
            <a:pPr algn="l"/>
            <a:r>
              <a:rPr sz="1200" b="1">
                <a:solidFill>
                  <a:srgbClr val="1E2761"/>
                </a:solidFill>
                <a:latin typeface="Aptos"/>
              </a:rPr>
              <a:t>In Progress</a:t>
            </a:r>
          </a:p>
        </p:txBody>
      </p:sp>
      <p:sp>
        <p:nvSpPr>
          <p:cNvPr id="20" name="TextBox 19"/>
          <p:cNvSpPr txBox="1"/>
          <p:nvPr/>
        </p:nvSpPr>
        <p:spPr>
          <a:xfrm>
            <a:off x="1216152" y="3831335"/>
            <a:ext cx="909031" cy="180049"/>
          </a:xfrm>
          <a:prstGeom prst="rect">
            <a:avLst/>
          </a:prstGeom>
          <a:noFill/>
        </p:spPr>
        <p:txBody>
          <a:bodyPr wrap="none" lIns="36576" tIns="9144" rIns="36576" bIns="9144" anchor="t">
            <a:spAutoFit/>
          </a:bodyPr>
          <a:lstStyle/>
          <a:p>
            <a:pPr algn="l"/>
            <a:r>
              <a:rPr sz="1050" b="0">
                <a:solidFill>
                  <a:srgbClr val="5B6472"/>
                </a:solidFill>
                <a:latin typeface="Aptos"/>
              </a:rPr>
              <a:t>Active delivery</a:t>
            </a:r>
          </a:p>
        </p:txBody>
      </p:sp>
      <p:sp>
        <p:nvSpPr>
          <p:cNvPr id="21" name="Rounded Rectangle 20"/>
          <p:cNvSpPr/>
          <p:nvPr/>
        </p:nvSpPr>
        <p:spPr>
          <a:xfrm>
            <a:off x="411480" y="4206240"/>
            <a:ext cx="3154680" cy="621792"/>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552880" y="4240049"/>
            <a:ext cx="567592" cy="572464"/>
          </a:xfrm>
          <a:prstGeom prst="rect">
            <a:avLst/>
          </a:prstGeom>
          <a:noFill/>
        </p:spPr>
        <p:txBody>
          <a:bodyPr wrap="none" lIns="36576" tIns="9144" rIns="36576" bIns="9144" anchor="ctr">
            <a:spAutoFit/>
          </a:bodyPr>
          <a:lstStyle/>
          <a:p>
            <a:pPr algn="ctr"/>
            <a:r>
              <a:rPr sz="3600" b="1">
                <a:solidFill>
                  <a:srgbClr val="205273"/>
                </a:solidFill>
                <a:latin typeface="Aptos"/>
              </a:rPr>
              <a:t>26</a:t>
            </a:r>
          </a:p>
        </p:txBody>
      </p:sp>
      <p:sp>
        <p:nvSpPr>
          <p:cNvPr id="23" name="TextBox 22"/>
          <p:cNvSpPr txBox="1"/>
          <p:nvPr/>
        </p:nvSpPr>
        <p:spPr>
          <a:xfrm>
            <a:off x="1216152" y="4334255"/>
            <a:ext cx="987065" cy="203133"/>
          </a:xfrm>
          <a:prstGeom prst="rect">
            <a:avLst/>
          </a:prstGeom>
          <a:noFill/>
        </p:spPr>
        <p:txBody>
          <a:bodyPr wrap="none" lIns="36576" tIns="9144" rIns="36576" bIns="9144" anchor="t">
            <a:spAutoFit/>
          </a:bodyPr>
          <a:lstStyle/>
          <a:p>
            <a:pPr algn="l"/>
            <a:r>
              <a:rPr sz="1200" b="1">
                <a:solidFill>
                  <a:srgbClr val="1E2761"/>
                </a:solidFill>
                <a:latin typeface="Aptos"/>
              </a:rPr>
              <a:t>To Be Started</a:t>
            </a:r>
          </a:p>
        </p:txBody>
      </p:sp>
      <p:sp>
        <p:nvSpPr>
          <p:cNvPr id="24" name="TextBox 23"/>
          <p:cNvSpPr txBox="1"/>
          <p:nvPr/>
        </p:nvSpPr>
        <p:spPr>
          <a:xfrm>
            <a:off x="1216152" y="4581144"/>
            <a:ext cx="990784" cy="180049"/>
          </a:xfrm>
          <a:prstGeom prst="rect">
            <a:avLst/>
          </a:prstGeom>
          <a:noFill/>
        </p:spPr>
        <p:txBody>
          <a:bodyPr wrap="none" lIns="36576" tIns="9144" rIns="36576" bIns="9144" anchor="t">
            <a:spAutoFit/>
          </a:bodyPr>
          <a:lstStyle/>
          <a:p>
            <a:pPr algn="l"/>
            <a:r>
              <a:rPr sz="1050" b="0">
                <a:solidFill>
                  <a:srgbClr val="5B6472"/>
                </a:solidFill>
                <a:latin typeface="Aptos"/>
              </a:rPr>
              <a:t>Queued / future</a:t>
            </a:r>
          </a:p>
        </p:txBody>
      </p:sp>
      <p:sp>
        <p:nvSpPr>
          <p:cNvPr id="25" name="Rounded Rectangle 24"/>
          <p:cNvSpPr/>
          <p:nvPr/>
        </p:nvSpPr>
        <p:spPr>
          <a:xfrm>
            <a:off x="411480" y="4956048"/>
            <a:ext cx="3154680" cy="621792"/>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676313" y="4989857"/>
            <a:ext cx="320729" cy="572464"/>
          </a:xfrm>
          <a:prstGeom prst="rect">
            <a:avLst/>
          </a:prstGeom>
          <a:noFill/>
        </p:spPr>
        <p:txBody>
          <a:bodyPr wrap="none" lIns="36576" tIns="9144" rIns="36576" bIns="9144" anchor="ctr">
            <a:spAutoFit/>
          </a:bodyPr>
          <a:lstStyle/>
          <a:p>
            <a:pPr algn="ctr"/>
            <a:r>
              <a:rPr sz="3600" b="1">
                <a:solidFill>
                  <a:srgbClr val="C00000"/>
                </a:solidFill>
                <a:latin typeface="Aptos"/>
              </a:rPr>
              <a:t>1</a:t>
            </a:r>
          </a:p>
        </p:txBody>
      </p:sp>
      <p:sp>
        <p:nvSpPr>
          <p:cNvPr id="27" name="TextBox 26"/>
          <p:cNvSpPr txBox="1"/>
          <p:nvPr/>
        </p:nvSpPr>
        <p:spPr>
          <a:xfrm>
            <a:off x="1216152" y="5084064"/>
            <a:ext cx="1252779" cy="203133"/>
          </a:xfrm>
          <a:prstGeom prst="rect">
            <a:avLst/>
          </a:prstGeom>
          <a:noFill/>
        </p:spPr>
        <p:txBody>
          <a:bodyPr wrap="none" lIns="36576" tIns="9144" rIns="36576" bIns="9144" anchor="t">
            <a:spAutoFit/>
          </a:bodyPr>
          <a:lstStyle/>
          <a:p>
            <a:pPr algn="l"/>
            <a:r>
              <a:rPr sz="1200" b="1">
                <a:solidFill>
                  <a:srgbClr val="1E2761"/>
                </a:solidFill>
                <a:latin typeface="Aptos"/>
              </a:rPr>
              <a:t>Delayed / At Risk</a:t>
            </a:r>
          </a:p>
        </p:txBody>
      </p:sp>
      <p:sp>
        <p:nvSpPr>
          <p:cNvPr id="28" name="TextBox 27"/>
          <p:cNvSpPr txBox="1"/>
          <p:nvPr/>
        </p:nvSpPr>
        <p:spPr>
          <a:xfrm>
            <a:off x="1216152" y="5330952"/>
            <a:ext cx="1282531" cy="180049"/>
          </a:xfrm>
          <a:prstGeom prst="rect">
            <a:avLst/>
          </a:prstGeom>
          <a:noFill/>
        </p:spPr>
        <p:txBody>
          <a:bodyPr wrap="none" lIns="36576" tIns="9144" rIns="36576" bIns="9144" anchor="t">
            <a:spAutoFit/>
          </a:bodyPr>
          <a:lstStyle/>
          <a:p>
            <a:pPr algn="l"/>
            <a:r>
              <a:rPr sz="1050" b="0">
                <a:solidFill>
                  <a:srgbClr val="5B6472"/>
                </a:solidFill>
                <a:latin typeface="Aptos"/>
              </a:rPr>
              <a:t>Leadership watchlist</a:t>
            </a:r>
          </a:p>
        </p:txBody>
      </p:sp>
      <p:sp>
        <p:nvSpPr>
          <p:cNvPr id="29" name="TextBox 28"/>
          <p:cNvSpPr txBox="1"/>
          <p:nvPr/>
        </p:nvSpPr>
        <p:spPr>
          <a:xfrm>
            <a:off x="411480" y="5791200"/>
            <a:ext cx="2136932" cy="187744"/>
          </a:xfrm>
          <a:prstGeom prst="rect">
            <a:avLst/>
          </a:prstGeom>
          <a:noFill/>
        </p:spPr>
        <p:txBody>
          <a:bodyPr wrap="none" lIns="36576" tIns="9144" rIns="36576" bIns="9144" anchor="t">
            <a:spAutoFit/>
          </a:bodyPr>
          <a:lstStyle/>
          <a:p>
            <a:pPr algn="l"/>
            <a:r>
              <a:rPr sz="1100" b="1">
                <a:solidFill>
                  <a:srgbClr val="C00000"/>
                </a:solidFill>
                <a:latin typeface="Aptos"/>
              </a:rPr>
              <a:t>EXECUTIVE WORKSTREAM LENS</a:t>
            </a:r>
          </a:p>
        </p:txBody>
      </p:sp>
      <p:sp>
        <p:nvSpPr>
          <p:cNvPr id="30" name="TextBox 29"/>
          <p:cNvSpPr txBox="1"/>
          <p:nvPr/>
        </p:nvSpPr>
        <p:spPr>
          <a:xfrm>
            <a:off x="493776" y="6028944"/>
            <a:ext cx="1458861" cy="180049"/>
          </a:xfrm>
          <a:prstGeom prst="rect">
            <a:avLst/>
          </a:prstGeom>
          <a:noFill/>
        </p:spPr>
        <p:txBody>
          <a:bodyPr wrap="none" lIns="36576" tIns="9144" rIns="36576" bIns="9144" anchor="t">
            <a:spAutoFit/>
          </a:bodyPr>
          <a:lstStyle/>
          <a:p>
            <a:pPr algn="l"/>
            <a:r>
              <a:rPr sz="1050" b="0">
                <a:solidFill>
                  <a:srgbClr val="2A2F3A"/>
                </a:solidFill>
                <a:latin typeface="Aptos"/>
              </a:rPr>
              <a:t>HRMS &amp; Employee Data</a:t>
            </a:r>
          </a:p>
        </p:txBody>
      </p:sp>
      <p:sp>
        <p:nvSpPr>
          <p:cNvPr id="31" name="TextBox 30"/>
          <p:cNvSpPr txBox="1"/>
          <p:nvPr/>
        </p:nvSpPr>
        <p:spPr>
          <a:xfrm>
            <a:off x="3246422" y="6028944"/>
            <a:ext cx="146002" cy="180049"/>
          </a:xfrm>
          <a:prstGeom prst="rect">
            <a:avLst/>
          </a:prstGeom>
          <a:noFill/>
        </p:spPr>
        <p:txBody>
          <a:bodyPr wrap="none" lIns="36576" tIns="9144" rIns="36576" bIns="9144" anchor="t">
            <a:spAutoFit/>
          </a:bodyPr>
          <a:lstStyle/>
          <a:p>
            <a:pPr algn="r"/>
            <a:r>
              <a:rPr sz="1050" b="1">
                <a:solidFill>
                  <a:srgbClr val="1E2761"/>
                </a:solidFill>
                <a:latin typeface="Aptos"/>
              </a:rPr>
              <a:t>8</a:t>
            </a:r>
          </a:p>
        </p:txBody>
      </p:sp>
      <p:sp>
        <p:nvSpPr>
          <p:cNvPr id="32" name="TextBox 31"/>
          <p:cNvSpPr txBox="1"/>
          <p:nvPr/>
        </p:nvSpPr>
        <p:spPr>
          <a:xfrm>
            <a:off x="493776" y="6184392"/>
            <a:ext cx="1898084" cy="180049"/>
          </a:xfrm>
          <a:prstGeom prst="rect">
            <a:avLst/>
          </a:prstGeom>
          <a:noFill/>
        </p:spPr>
        <p:txBody>
          <a:bodyPr wrap="none" lIns="36576" tIns="9144" rIns="36576" bIns="9144" anchor="t">
            <a:spAutoFit/>
          </a:bodyPr>
          <a:lstStyle/>
          <a:p>
            <a:pPr algn="l"/>
            <a:r>
              <a:rPr sz="1050" b="0">
                <a:solidFill>
                  <a:srgbClr val="2A2F3A"/>
                </a:solidFill>
                <a:latin typeface="Aptos"/>
              </a:rPr>
              <a:t>Talent Acquisition &amp; Experience</a:t>
            </a:r>
          </a:p>
        </p:txBody>
      </p:sp>
      <p:sp>
        <p:nvSpPr>
          <p:cNvPr id="33" name="TextBox 32"/>
          <p:cNvSpPr txBox="1"/>
          <p:nvPr/>
        </p:nvSpPr>
        <p:spPr>
          <a:xfrm>
            <a:off x="3246422" y="6184392"/>
            <a:ext cx="146002" cy="180049"/>
          </a:xfrm>
          <a:prstGeom prst="rect">
            <a:avLst/>
          </a:prstGeom>
          <a:noFill/>
        </p:spPr>
        <p:txBody>
          <a:bodyPr wrap="none" lIns="36576" tIns="9144" rIns="36576" bIns="9144" anchor="t">
            <a:spAutoFit/>
          </a:bodyPr>
          <a:lstStyle/>
          <a:p>
            <a:pPr algn="r"/>
            <a:r>
              <a:rPr sz="1050" b="1">
                <a:solidFill>
                  <a:srgbClr val="1E2761"/>
                </a:solidFill>
                <a:latin typeface="Aptos"/>
              </a:rPr>
              <a:t>9</a:t>
            </a:r>
          </a:p>
        </p:txBody>
      </p:sp>
      <p:sp>
        <p:nvSpPr>
          <p:cNvPr id="34" name="TextBox 33"/>
          <p:cNvSpPr txBox="1"/>
          <p:nvPr/>
        </p:nvSpPr>
        <p:spPr>
          <a:xfrm>
            <a:off x="493776" y="6339840"/>
            <a:ext cx="1888466" cy="180049"/>
          </a:xfrm>
          <a:prstGeom prst="rect">
            <a:avLst/>
          </a:prstGeom>
          <a:noFill/>
        </p:spPr>
        <p:txBody>
          <a:bodyPr wrap="none" lIns="36576" tIns="9144" rIns="36576" bIns="9144" anchor="t">
            <a:spAutoFit/>
          </a:bodyPr>
          <a:lstStyle/>
          <a:p>
            <a:pPr algn="l"/>
            <a:r>
              <a:rPr sz="1050" b="0">
                <a:solidFill>
                  <a:srgbClr val="2A2F3A"/>
                </a:solidFill>
                <a:latin typeface="Aptos"/>
              </a:rPr>
              <a:t>Performance / Talent / Learning</a:t>
            </a:r>
          </a:p>
        </p:txBody>
      </p:sp>
      <p:sp>
        <p:nvSpPr>
          <p:cNvPr id="35" name="TextBox 34"/>
          <p:cNvSpPr txBox="1"/>
          <p:nvPr/>
        </p:nvSpPr>
        <p:spPr>
          <a:xfrm>
            <a:off x="3246422" y="6339840"/>
            <a:ext cx="146002" cy="180049"/>
          </a:xfrm>
          <a:prstGeom prst="rect">
            <a:avLst/>
          </a:prstGeom>
          <a:noFill/>
        </p:spPr>
        <p:txBody>
          <a:bodyPr wrap="none" lIns="36576" tIns="9144" rIns="36576" bIns="9144" anchor="t">
            <a:spAutoFit/>
          </a:bodyPr>
          <a:lstStyle/>
          <a:p>
            <a:pPr algn="r"/>
            <a:r>
              <a:rPr sz="1050" b="1">
                <a:solidFill>
                  <a:srgbClr val="1E2761"/>
                </a:solidFill>
                <a:latin typeface="Aptos"/>
              </a:rPr>
              <a:t>8</a:t>
            </a:r>
          </a:p>
        </p:txBody>
      </p:sp>
      <p:sp>
        <p:nvSpPr>
          <p:cNvPr id="36" name="TextBox 35"/>
          <p:cNvSpPr txBox="1"/>
          <p:nvPr/>
        </p:nvSpPr>
        <p:spPr>
          <a:xfrm>
            <a:off x="493776" y="6495288"/>
            <a:ext cx="1849994" cy="180049"/>
          </a:xfrm>
          <a:prstGeom prst="rect">
            <a:avLst/>
          </a:prstGeom>
          <a:noFill/>
        </p:spPr>
        <p:txBody>
          <a:bodyPr wrap="none" lIns="36576" tIns="9144" rIns="36576" bIns="9144" anchor="t">
            <a:spAutoFit/>
          </a:bodyPr>
          <a:lstStyle/>
          <a:p>
            <a:pPr algn="l"/>
            <a:r>
              <a:rPr sz="1050" b="0">
                <a:solidFill>
                  <a:srgbClr val="2A2F3A"/>
                </a:solidFill>
                <a:latin typeface="Aptos"/>
              </a:rPr>
              <a:t>Payroll / Compliance / Finance</a:t>
            </a:r>
          </a:p>
        </p:txBody>
      </p:sp>
      <p:sp>
        <p:nvSpPr>
          <p:cNvPr id="37" name="TextBox 36"/>
          <p:cNvSpPr txBox="1"/>
          <p:nvPr/>
        </p:nvSpPr>
        <p:spPr>
          <a:xfrm>
            <a:off x="3246422" y="6495288"/>
            <a:ext cx="146002" cy="180049"/>
          </a:xfrm>
          <a:prstGeom prst="rect">
            <a:avLst/>
          </a:prstGeom>
          <a:noFill/>
        </p:spPr>
        <p:txBody>
          <a:bodyPr wrap="none" lIns="36576" tIns="9144" rIns="36576" bIns="9144" anchor="t">
            <a:spAutoFit/>
          </a:bodyPr>
          <a:lstStyle/>
          <a:p>
            <a:pPr algn="r"/>
            <a:r>
              <a:rPr sz="1050" b="1">
                <a:solidFill>
                  <a:srgbClr val="1E2761"/>
                </a:solidFill>
                <a:latin typeface="Aptos"/>
              </a:rPr>
              <a:t>7</a:t>
            </a:r>
          </a:p>
        </p:txBody>
      </p:sp>
      <p:sp>
        <p:nvSpPr>
          <p:cNvPr id="38" name="TextBox 37"/>
          <p:cNvSpPr txBox="1"/>
          <p:nvPr/>
        </p:nvSpPr>
        <p:spPr>
          <a:xfrm>
            <a:off x="493776" y="6650736"/>
            <a:ext cx="1963807" cy="180049"/>
          </a:xfrm>
          <a:prstGeom prst="rect">
            <a:avLst/>
          </a:prstGeom>
          <a:noFill/>
        </p:spPr>
        <p:txBody>
          <a:bodyPr wrap="none" lIns="36576" tIns="9144" rIns="36576" bIns="9144" anchor="t">
            <a:spAutoFit/>
          </a:bodyPr>
          <a:lstStyle/>
          <a:p>
            <a:pPr algn="l"/>
            <a:r>
              <a:rPr sz="1050" b="0">
                <a:solidFill>
                  <a:srgbClr val="2A2F3A"/>
                </a:solidFill>
                <a:latin typeface="Aptos"/>
              </a:rPr>
              <a:t>Analytics &amp; Decision Intelligence</a:t>
            </a:r>
          </a:p>
        </p:txBody>
      </p:sp>
      <p:sp>
        <p:nvSpPr>
          <p:cNvPr id="39" name="TextBox 38"/>
          <p:cNvSpPr txBox="1"/>
          <p:nvPr/>
        </p:nvSpPr>
        <p:spPr>
          <a:xfrm>
            <a:off x="3174286" y="6650736"/>
            <a:ext cx="218138" cy="180049"/>
          </a:xfrm>
          <a:prstGeom prst="rect">
            <a:avLst/>
          </a:prstGeom>
          <a:noFill/>
        </p:spPr>
        <p:txBody>
          <a:bodyPr wrap="none" lIns="36576" tIns="9144" rIns="36576" bIns="9144" anchor="t">
            <a:spAutoFit/>
          </a:bodyPr>
          <a:lstStyle/>
          <a:p>
            <a:pPr algn="r"/>
            <a:r>
              <a:rPr sz="1050" b="1">
                <a:solidFill>
                  <a:srgbClr val="1E2761"/>
                </a:solidFill>
                <a:latin typeface="Aptos"/>
              </a:rPr>
              <a:t>15</a:t>
            </a:r>
          </a:p>
        </p:txBody>
      </p:sp>
      <p:sp>
        <p:nvSpPr>
          <p:cNvPr id="40" name="TextBox 39"/>
          <p:cNvSpPr txBox="1"/>
          <p:nvPr/>
        </p:nvSpPr>
        <p:spPr>
          <a:xfrm>
            <a:off x="3886200" y="1280160"/>
            <a:ext cx="1987211" cy="233910"/>
          </a:xfrm>
          <a:prstGeom prst="rect">
            <a:avLst/>
          </a:prstGeom>
          <a:noFill/>
        </p:spPr>
        <p:txBody>
          <a:bodyPr wrap="none" lIns="36576" tIns="9144" rIns="36576" bIns="9144" anchor="t">
            <a:spAutoFit/>
          </a:bodyPr>
          <a:lstStyle/>
          <a:p>
            <a:pPr algn="l"/>
            <a:r>
              <a:rPr sz="1400" b="1" dirty="0">
                <a:solidFill>
                  <a:srgbClr val="C00000"/>
                </a:solidFill>
                <a:latin typeface="Aptos"/>
              </a:rPr>
              <a:t>DELIVERED INITIATIVES</a:t>
            </a:r>
          </a:p>
        </p:txBody>
      </p:sp>
      <p:sp>
        <p:nvSpPr>
          <p:cNvPr id="41" name="TextBox 40"/>
          <p:cNvSpPr txBox="1"/>
          <p:nvPr/>
        </p:nvSpPr>
        <p:spPr>
          <a:xfrm>
            <a:off x="3886200" y="1554480"/>
            <a:ext cx="7147919" cy="180049"/>
          </a:xfrm>
          <a:prstGeom prst="rect">
            <a:avLst/>
          </a:prstGeom>
          <a:noFill/>
        </p:spPr>
        <p:txBody>
          <a:bodyPr wrap="none" lIns="36576" tIns="9144" rIns="36576" bIns="9144" anchor="t">
            <a:spAutoFit/>
          </a:bodyPr>
          <a:lstStyle/>
          <a:p>
            <a:pPr algn="l"/>
            <a:r>
              <a:rPr sz="1050" b="0">
                <a:solidFill>
                  <a:srgbClr val="2A2F3A"/>
                </a:solidFill>
                <a:latin typeface="Aptos"/>
              </a:rPr>
              <a:t>Conservative estimated / projected value from selected delivered capabilities; figures to be validated with process owners.</a:t>
            </a:r>
          </a:p>
        </p:txBody>
      </p:sp>
      <p:sp>
        <p:nvSpPr>
          <p:cNvPr id="42" name="Rounded Rectangle 41"/>
          <p:cNvSpPr/>
          <p:nvPr/>
        </p:nvSpPr>
        <p:spPr>
          <a:xfrm>
            <a:off x="3886200" y="1938528"/>
            <a:ext cx="3886200" cy="960120"/>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Rectangle 42"/>
          <p:cNvSpPr/>
          <p:nvPr/>
        </p:nvSpPr>
        <p:spPr>
          <a:xfrm>
            <a:off x="3886200" y="1938528"/>
            <a:ext cx="91440" cy="96012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Oval 43"/>
          <p:cNvSpPr/>
          <p:nvPr/>
        </p:nvSpPr>
        <p:spPr>
          <a:xfrm>
            <a:off x="4069080" y="2093976"/>
            <a:ext cx="347472" cy="347472"/>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4169815" y="2131968"/>
            <a:ext cx="146001" cy="180049"/>
          </a:xfrm>
          <a:prstGeom prst="rect">
            <a:avLst/>
          </a:prstGeom>
          <a:noFill/>
        </p:spPr>
        <p:txBody>
          <a:bodyPr wrap="none" lIns="36576" tIns="9144" rIns="36576" bIns="9144" anchor="ctr">
            <a:spAutoFit/>
          </a:bodyPr>
          <a:lstStyle/>
          <a:p>
            <a:pPr algn="ctr"/>
            <a:r>
              <a:rPr sz="1050" b="1">
                <a:solidFill>
                  <a:srgbClr val="FFFFFF"/>
                </a:solidFill>
                <a:latin typeface="Aptos"/>
              </a:rPr>
              <a:t>1</a:t>
            </a:r>
          </a:p>
        </p:txBody>
      </p:sp>
      <p:sp>
        <p:nvSpPr>
          <p:cNvPr id="46" name="TextBox 45"/>
          <p:cNvSpPr txBox="1"/>
          <p:nvPr/>
        </p:nvSpPr>
        <p:spPr>
          <a:xfrm>
            <a:off x="4526280" y="2057400"/>
            <a:ext cx="2439899" cy="187744"/>
          </a:xfrm>
          <a:prstGeom prst="rect">
            <a:avLst/>
          </a:prstGeom>
          <a:noFill/>
        </p:spPr>
        <p:txBody>
          <a:bodyPr wrap="none" lIns="36576" tIns="9144" rIns="36576" bIns="9144" anchor="t">
            <a:spAutoFit/>
          </a:bodyPr>
          <a:lstStyle/>
          <a:p>
            <a:pPr algn="l"/>
            <a:r>
              <a:rPr sz="1100" b="1">
                <a:solidFill>
                  <a:srgbClr val="1E2761"/>
                </a:solidFill>
                <a:latin typeface="Aptos"/>
              </a:rPr>
              <a:t>Comp Planning &amp; Letters Automation</a:t>
            </a:r>
          </a:p>
        </p:txBody>
      </p:sp>
      <p:sp>
        <p:nvSpPr>
          <p:cNvPr id="47" name="TextBox 46"/>
          <p:cNvSpPr txBox="1"/>
          <p:nvPr/>
        </p:nvSpPr>
        <p:spPr>
          <a:xfrm>
            <a:off x="4526280" y="2331720"/>
            <a:ext cx="3085653" cy="480131"/>
          </a:xfrm>
          <a:prstGeom prst="rect">
            <a:avLst/>
          </a:prstGeom>
          <a:noFill/>
        </p:spPr>
        <p:txBody>
          <a:bodyPr wrap="square" lIns="36576" tIns="9144" rIns="36576" bIns="9144" anchor="t">
            <a:spAutoFit/>
          </a:bodyPr>
          <a:lstStyle/>
          <a:p>
            <a:pPr algn="l"/>
            <a:r>
              <a:rPr sz="1000" b="0" dirty="0">
                <a:solidFill>
                  <a:srgbClr val="5B6472"/>
                </a:solidFill>
                <a:latin typeface="Aptos"/>
              </a:rPr>
              <a:t>Estimated 60-70% reduction in manual letter effort during increment / bonus cycles; projected to lower template errors and rework by ~30-40%.</a:t>
            </a:r>
          </a:p>
        </p:txBody>
      </p:sp>
      <p:sp>
        <p:nvSpPr>
          <p:cNvPr id="48" name="Rounded Rectangle 47"/>
          <p:cNvSpPr/>
          <p:nvPr/>
        </p:nvSpPr>
        <p:spPr>
          <a:xfrm>
            <a:off x="7973568" y="1938528"/>
            <a:ext cx="3749039" cy="960120"/>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Rectangle 48"/>
          <p:cNvSpPr/>
          <p:nvPr/>
        </p:nvSpPr>
        <p:spPr>
          <a:xfrm>
            <a:off x="7973568" y="1938528"/>
            <a:ext cx="91440" cy="96012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Oval 49"/>
          <p:cNvSpPr/>
          <p:nvPr/>
        </p:nvSpPr>
        <p:spPr>
          <a:xfrm>
            <a:off x="8156448" y="2093976"/>
            <a:ext cx="347472" cy="347472"/>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257183" y="2131968"/>
            <a:ext cx="146001" cy="180049"/>
          </a:xfrm>
          <a:prstGeom prst="rect">
            <a:avLst/>
          </a:prstGeom>
          <a:noFill/>
        </p:spPr>
        <p:txBody>
          <a:bodyPr wrap="none" lIns="36576" tIns="9144" rIns="36576" bIns="9144" anchor="ctr">
            <a:spAutoFit/>
          </a:bodyPr>
          <a:lstStyle/>
          <a:p>
            <a:pPr algn="ctr"/>
            <a:r>
              <a:rPr sz="1050" b="1">
                <a:solidFill>
                  <a:srgbClr val="FFFFFF"/>
                </a:solidFill>
                <a:latin typeface="Aptos"/>
              </a:rPr>
              <a:t>2</a:t>
            </a:r>
          </a:p>
        </p:txBody>
      </p:sp>
      <p:sp>
        <p:nvSpPr>
          <p:cNvPr id="52" name="TextBox 51"/>
          <p:cNvSpPr txBox="1"/>
          <p:nvPr/>
        </p:nvSpPr>
        <p:spPr>
          <a:xfrm>
            <a:off x="8613648" y="2057400"/>
            <a:ext cx="1766637" cy="187744"/>
          </a:xfrm>
          <a:prstGeom prst="rect">
            <a:avLst/>
          </a:prstGeom>
          <a:noFill/>
        </p:spPr>
        <p:txBody>
          <a:bodyPr wrap="none" lIns="36576" tIns="9144" rIns="36576" bIns="9144" anchor="t">
            <a:spAutoFit/>
          </a:bodyPr>
          <a:lstStyle/>
          <a:p>
            <a:pPr algn="l"/>
            <a:r>
              <a:rPr sz="1100" b="1">
                <a:solidFill>
                  <a:srgbClr val="1E2761"/>
                </a:solidFill>
                <a:latin typeface="Aptos"/>
              </a:rPr>
              <a:t>Crew Upgrade Automation</a:t>
            </a:r>
          </a:p>
        </p:txBody>
      </p:sp>
      <p:sp>
        <p:nvSpPr>
          <p:cNvPr id="53" name="TextBox 52"/>
          <p:cNvSpPr txBox="1"/>
          <p:nvPr/>
        </p:nvSpPr>
        <p:spPr>
          <a:xfrm>
            <a:off x="8595360" y="2331720"/>
            <a:ext cx="8640970" cy="526298"/>
          </a:xfrm>
          <a:prstGeom prst="rect">
            <a:avLst/>
          </a:prstGeom>
          <a:noFill/>
        </p:spPr>
        <p:txBody>
          <a:bodyPr wrap="square" lIns="36576" tIns="9144" rIns="36576" bIns="9144" anchor="t">
            <a:spAutoFit/>
          </a:bodyPr>
          <a:lstStyle/>
          <a:p>
            <a:pPr algn="l"/>
            <a:r>
              <a:rPr sz="1100" b="0" dirty="0">
                <a:solidFill>
                  <a:srgbClr val="5B6472"/>
                </a:solidFill>
                <a:latin typeface="Aptos"/>
              </a:rPr>
              <a:t>Projected 50-60% faster upgrade processing </a:t>
            </a:r>
            <a:endParaRPr lang="en-IN" sz="1100" b="0" dirty="0">
              <a:solidFill>
                <a:srgbClr val="5B6472"/>
              </a:solidFill>
              <a:latin typeface="Aptos"/>
            </a:endParaRPr>
          </a:p>
          <a:p>
            <a:pPr algn="l"/>
            <a:r>
              <a:rPr sz="1100" b="0" dirty="0">
                <a:solidFill>
                  <a:srgbClr val="5B6472"/>
                </a:solidFill>
                <a:latin typeface="Aptos"/>
              </a:rPr>
              <a:t>through rule-based eligibility checks; improves </a:t>
            </a:r>
            <a:endParaRPr lang="en-IN" sz="1100" b="0" dirty="0">
              <a:solidFill>
                <a:srgbClr val="5B6472"/>
              </a:solidFill>
              <a:latin typeface="Aptos"/>
            </a:endParaRPr>
          </a:p>
          <a:p>
            <a:pPr algn="l"/>
            <a:r>
              <a:rPr sz="1100" b="0" dirty="0">
                <a:solidFill>
                  <a:srgbClr val="5B6472"/>
                </a:solidFill>
                <a:latin typeface="Aptos"/>
              </a:rPr>
              <a:t>consistency and auditability of crew movements.</a:t>
            </a:r>
          </a:p>
        </p:txBody>
      </p:sp>
      <p:sp>
        <p:nvSpPr>
          <p:cNvPr id="54" name="Rounded Rectangle 53"/>
          <p:cNvSpPr/>
          <p:nvPr/>
        </p:nvSpPr>
        <p:spPr>
          <a:xfrm>
            <a:off x="3886200" y="3172967"/>
            <a:ext cx="3886200" cy="1103483"/>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Rectangle 54"/>
          <p:cNvSpPr/>
          <p:nvPr/>
        </p:nvSpPr>
        <p:spPr>
          <a:xfrm>
            <a:off x="3886200" y="3172967"/>
            <a:ext cx="91440" cy="1067081"/>
          </a:xfrm>
          <a:prstGeom prst="rect">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6" name="Oval 55"/>
          <p:cNvSpPr/>
          <p:nvPr/>
        </p:nvSpPr>
        <p:spPr>
          <a:xfrm>
            <a:off x="4069080" y="3328416"/>
            <a:ext cx="347472" cy="347472"/>
          </a:xfrm>
          <a:prstGeom prst="ellipse">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4169815" y="3366408"/>
            <a:ext cx="146001" cy="180049"/>
          </a:xfrm>
          <a:prstGeom prst="rect">
            <a:avLst/>
          </a:prstGeom>
          <a:noFill/>
        </p:spPr>
        <p:txBody>
          <a:bodyPr wrap="none" lIns="36576" tIns="9144" rIns="36576" bIns="9144" anchor="ctr">
            <a:spAutoFit/>
          </a:bodyPr>
          <a:lstStyle/>
          <a:p>
            <a:pPr algn="ctr"/>
            <a:r>
              <a:rPr sz="1050" b="1">
                <a:solidFill>
                  <a:srgbClr val="FFFFFF"/>
                </a:solidFill>
                <a:latin typeface="Aptos"/>
              </a:rPr>
              <a:t>3</a:t>
            </a:r>
          </a:p>
        </p:txBody>
      </p:sp>
      <p:sp>
        <p:nvSpPr>
          <p:cNvPr id="58" name="TextBox 57"/>
          <p:cNvSpPr txBox="1"/>
          <p:nvPr/>
        </p:nvSpPr>
        <p:spPr>
          <a:xfrm>
            <a:off x="4526280" y="3291840"/>
            <a:ext cx="1697709" cy="187744"/>
          </a:xfrm>
          <a:prstGeom prst="rect">
            <a:avLst/>
          </a:prstGeom>
          <a:noFill/>
        </p:spPr>
        <p:txBody>
          <a:bodyPr wrap="none" lIns="36576" tIns="9144" rIns="36576" bIns="9144" anchor="t">
            <a:spAutoFit/>
          </a:bodyPr>
          <a:lstStyle/>
          <a:p>
            <a:pPr algn="l"/>
            <a:r>
              <a:rPr sz="1100" b="1">
                <a:solidFill>
                  <a:srgbClr val="1E2761"/>
                </a:solidFill>
                <a:latin typeface="Aptos"/>
              </a:rPr>
              <a:t>PMGM Team Touchpoints</a:t>
            </a:r>
          </a:p>
        </p:txBody>
      </p:sp>
      <p:sp>
        <p:nvSpPr>
          <p:cNvPr id="59" name="TextBox 58"/>
          <p:cNvSpPr txBox="1"/>
          <p:nvPr/>
        </p:nvSpPr>
        <p:spPr>
          <a:xfrm>
            <a:off x="4526280" y="3566160"/>
            <a:ext cx="3223863" cy="634020"/>
          </a:xfrm>
          <a:prstGeom prst="rect">
            <a:avLst/>
          </a:prstGeom>
          <a:noFill/>
        </p:spPr>
        <p:txBody>
          <a:bodyPr wrap="square" lIns="36576" tIns="9144" rIns="36576" bIns="9144" anchor="t">
            <a:spAutoFit/>
          </a:bodyPr>
          <a:lstStyle/>
          <a:p>
            <a:pPr algn="l"/>
            <a:r>
              <a:rPr sz="1000" b="0" dirty="0">
                <a:solidFill>
                  <a:srgbClr val="5B6472"/>
                </a:solidFill>
                <a:latin typeface="Aptos"/>
              </a:rPr>
              <a:t>Estimated &gt;80% digitization of scheduled </a:t>
            </a:r>
            <a:endParaRPr lang="en-IN" sz="1000" b="0" dirty="0">
              <a:solidFill>
                <a:srgbClr val="5B6472"/>
              </a:solidFill>
              <a:latin typeface="Aptos"/>
            </a:endParaRPr>
          </a:p>
          <a:p>
            <a:pPr algn="l"/>
            <a:r>
              <a:rPr sz="1000" b="0" dirty="0">
                <a:solidFill>
                  <a:srgbClr val="5B6472"/>
                </a:solidFill>
                <a:latin typeface="Aptos"/>
              </a:rPr>
              <a:t>manager-employee touchpoint documentation; </a:t>
            </a:r>
            <a:endParaRPr lang="en-IN" sz="1000" b="0" dirty="0">
              <a:solidFill>
                <a:srgbClr val="5B6472"/>
              </a:solidFill>
              <a:latin typeface="Aptos"/>
            </a:endParaRPr>
          </a:p>
          <a:p>
            <a:pPr algn="l"/>
            <a:r>
              <a:rPr sz="1000" b="0" dirty="0">
                <a:solidFill>
                  <a:srgbClr val="5B6472"/>
                </a:solidFill>
                <a:latin typeface="Aptos"/>
              </a:rPr>
              <a:t>strengthens PMGM cycle compliance and leadership </a:t>
            </a:r>
            <a:endParaRPr lang="en-IN" sz="1000" b="0" dirty="0">
              <a:solidFill>
                <a:srgbClr val="5B6472"/>
              </a:solidFill>
              <a:latin typeface="Aptos"/>
            </a:endParaRPr>
          </a:p>
          <a:p>
            <a:pPr algn="l"/>
            <a:r>
              <a:rPr sz="1000" b="0" dirty="0">
                <a:solidFill>
                  <a:srgbClr val="5B6472"/>
                </a:solidFill>
                <a:latin typeface="Aptos"/>
              </a:rPr>
              <a:t>visibility.</a:t>
            </a:r>
          </a:p>
        </p:txBody>
      </p:sp>
      <p:sp>
        <p:nvSpPr>
          <p:cNvPr id="60" name="Rounded Rectangle 59"/>
          <p:cNvSpPr/>
          <p:nvPr/>
        </p:nvSpPr>
        <p:spPr>
          <a:xfrm>
            <a:off x="7973568" y="3172968"/>
            <a:ext cx="3749039" cy="1103482"/>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Rectangle 60"/>
          <p:cNvSpPr/>
          <p:nvPr/>
        </p:nvSpPr>
        <p:spPr>
          <a:xfrm>
            <a:off x="7973568" y="3172967"/>
            <a:ext cx="91440" cy="1067017"/>
          </a:xfrm>
          <a:prstGeom prst="rect">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2" name="Oval 61"/>
          <p:cNvSpPr/>
          <p:nvPr/>
        </p:nvSpPr>
        <p:spPr>
          <a:xfrm>
            <a:off x="8156448" y="3328416"/>
            <a:ext cx="347472" cy="347472"/>
          </a:xfrm>
          <a:prstGeom prst="ellipse">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8257183" y="3366408"/>
            <a:ext cx="146001" cy="180049"/>
          </a:xfrm>
          <a:prstGeom prst="rect">
            <a:avLst/>
          </a:prstGeom>
          <a:noFill/>
        </p:spPr>
        <p:txBody>
          <a:bodyPr wrap="none" lIns="36576" tIns="9144" rIns="36576" bIns="9144" anchor="ctr">
            <a:spAutoFit/>
          </a:bodyPr>
          <a:lstStyle/>
          <a:p>
            <a:pPr algn="ctr"/>
            <a:r>
              <a:rPr sz="1050" b="1">
                <a:solidFill>
                  <a:srgbClr val="FFFFFF"/>
                </a:solidFill>
                <a:latin typeface="Aptos"/>
              </a:rPr>
              <a:t>4</a:t>
            </a:r>
          </a:p>
        </p:txBody>
      </p:sp>
      <p:sp>
        <p:nvSpPr>
          <p:cNvPr id="64" name="TextBox 63"/>
          <p:cNvSpPr txBox="1"/>
          <p:nvPr/>
        </p:nvSpPr>
        <p:spPr>
          <a:xfrm>
            <a:off x="8613648" y="3291840"/>
            <a:ext cx="2310056" cy="187744"/>
          </a:xfrm>
          <a:prstGeom prst="rect">
            <a:avLst/>
          </a:prstGeom>
          <a:noFill/>
        </p:spPr>
        <p:txBody>
          <a:bodyPr wrap="none" lIns="36576" tIns="9144" rIns="36576" bIns="9144" anchor="t">
            <a:spAutoFit/>
          </a:bodyPr>
          <a:lstStyle/>
          <a:p>
            <a:pPr algn="l"/>
            <a:r>
              <a:rPr sz="1100" b="1">
                <a:solidFill>
                  <a:srgbClr val="1E2761"/>
                </a:solidFill>
                <a:latin typeface="Aptos"/>
              </a:rPr>
              <a:t>PeopleStrong BRE Expense Module</a:t>
            </a:r>
          </a:p>
        </p:txBody>
      </p:sp>
      <p:sp>
        <p:nvSpPr>
          <p:cNvPr id="65" name="TextBox 64"/>
          <p:cNvSpPr txBox="1"/>
          <p:nvPr/>
        </p:nvSpPr>
        <p:spPr>
          <a:xfrm>
            <a:off x="8613648" y="3566160"/>
            <a:ext cx="2885534" cy="634020"/>
          </a:xfrm>
          <a:prstGeom prst="rect">
            <a:avLst/>
          </a:prstGeom>
          <a:noFill/>
        </p:spPr>
        <p:txBody>
          <a:bodyPr wrap="none" lIns="36576" tIns="9144" rIns="36576" bIns="9144" anchor="t">
            <a:spAutoFit/>
          </a:bodyPr>
          <a:lstStyle/>
          <a:p>
            <a:pPr algn="l"/>
            <a:r>
              <a:rPr sz="1000" b="0" dirty="0">
                <a:solidFill>
                  <a:srgbClr val="5B6472"/>
                </a:solidFill>
                <a:latin typeface="Aptos"/>
              </a:rPr>
              <a:t>Projected to close key audit guardrails by </a:t>
            </a:r>
            <a:endParaRPr lang="en-IN" sz="1000" b="0" dirty="0">
              <a:solidFill>
                <a:srgbClr val="5B6472"/>
              </a:solidFill>
              <a:latin typeface="Aptos"/>
            </a:endParaRPr>
          </a:p>
          <a:p>
            <a:pPr algn="l"/>
            <a:r>
              <a:rPr sz="1000" b="0" dirty="0">
                <a:solidFill>
                  <a:srgbClr val="5B6472"/>
                </a:solidFill>
                <a:latin typeface="Aptos"/>
              </a:rPr>
              <a:t>embedding rule-based controls; estimated 25-30%</a:t>
            </a:r>
            <a:endParaRPr lang="en-IN" sz="1000" b="0" dirty="0">
              <a:solidFill>
                <a:srgbClr val="5B6472"/>
              </a:solidFill>
              <a:latin typeface="Aptos"/>
            </a:endParaRPr>
          </a:p>
          <a:p>
            <a:pPr algn="l"/>
            <a:r>
              <a:rPr sz="1000" b="0" dirty="0">
                <a:solidFill>
                  <a:srgbClr val="5B6472"/>
                </a:solidFill>
                <a:latin typeface="Aptos"/>
              </a:rPr>
              <a:t> reduction in exception handling / policy </a:t>
            </a:r>
            <a:endParaRPr lang="en-IN" sz="1000" b="0" dirty="0">
              <a:solidFill>
                <a:srgbClr val="5B6472"/>
              </a:solidFill>
              <a:latin typeface="Aptos"/>
            </a:endParaRPr>
          </a:p>
          <a:p>
            <a:pPr algn="l"/>
            <a:r>
              <a:rPr sz="1000" b="0" dirty="0">
                <a:solidFill>
                  <a:srgbClr val="5B6472"/>
                </a:solidFill>
                <a:latin typeface="Aptos"/>
              </a:rPr>
              <a:t>clarifications.</a:t>
            </a:r>
          </a:p>
        </p:txBody>
      </p:sp>
      <p:sp>
        <p:nvSpPr>
          <p:cNvPr id="66" name="Rounded Rectangle 65"/>
          <p:cNvSpPr/>
          <p:nvPr/>
        </p:nvSpPr>
        <p:spPr>
          <a:xfrm>
            <a:off x="3886200" y="4407408"/>
            <a:ext cx="7836408" cy="1005840"/>
          </a:xfrm>
          <a:prstGeom prst="round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Rectangle 66"/>
          <p:cNvSpPr/>
          <p:nvPr/>
        </p:nvSpPr>
        <p:spPr>
          <a:xfrm>
            <a:off x="3886200" y="4407408"/>
            <a:ext cx="91440" cy="100584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Oval 67"/>
          <p:cNvSpPr/>
          <p:nvPr/>
        </p:nvSpPr>
        <p:spPr>
          <a:xfrm>
            <a:off x="4069080" y="4562856"/>
            <a:ext cx="347472" cy="347472"/>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4169815" y="4600848"/>
            <a:ext cx="146001" cy="180049"/>
          </a:xfrm>
          <a:prstGeom prst="rect">
            <a:avLst/>
          </a:prstGeom>
          <a:noFill/>
        </p:spPr>
        <p:txBody>
          <a:bodyPr wrap="none" lIns="36576" tIns="9144" rIns="36576" bIns="9144" anchor="ctr">
            <a:spAutoFit/>
          </a:bodyPr>
          <a:lstStyle/>
          <a:p>
            <a:pPr algn="ctr"/>
            <a:r>
              <a:rPr sz="1050" b="1">
                <a:solidFill>
                  <a:srgbClr val="FFFFFF"/>
                </a:solidFill>
                <a:latin typeface="Aptos"/>
              </a:rPr>
              <a:t>5</a:t>
            </a:r>
          </a:p>
        </p:txBody>
      </p:sp>
      <p:sp>
        <p:nvSpPr>
          <p:cNvPr id="70" name="TextBox 69"/>
          <p:cNvSpPr txBox="1"/>
          <p:nvPr/>
        </p:nvSpPr>
        <p:spPr>
          <a:xfrm>
            <a:off x="4526280" y="4526280"/>
            <a:ext cx="2324482" cy="187744"/>
          </a:xfrm>
          <a:prstGeom prst="rect">
            <a:avLst/>
          </a:prstGeom>
          <a:noFill/>
        </p:spPr>
        <p:txBody>
          <a:bodyPr wrap="none" lIns="36576" tIns="9144" rIns="36576" bIns="9144" anchor="t">
            <a:spAutoFit/>
          </a:bodyPr>
          <a:lstStyle/>
          <a:p>
            <a:pPr algn="l"/>
            <a:r>
              <a:rPr sz="1100" b="1">
                <a:solidFill>
                  <a:srgbClr val="1E2761"/>
                </a:solidFill>
                <a:latin typeface="Aptos"/>
              </a:rPr>
              <a:t>Life Ka Plan + Azure / SF Integration</a:t>
            </a:r>
          </a:p>
        </p:txBody>
      </p:sp>
      <p:sp>
        <p:nvSpPr>
          <p:cNvPr id="71" name="TextBox 70"/>
          <p:cNvSpPr txBox="1"/>
          <p:nvPr/>
        </p:nvSpPr>
        <p:spPr>
          <a:xfrm>
            <a:off x="4526280" y="4800600"/>
            <a:ext cx="5987345" cy="326243"/>
          </a:xfrm>
          <a:prstGeom prst="rect">
            <a:avLst/>
          </a:prstGeom>
          <a:noFill/>
        </p:spPr>
        <p:txBody>
          <a:bodyPr wrap="none" lIns="36576" tIns="9144" rIns="36576" bIns="9144" anchor="t">
            <a:spAutoFit/>
          </a:bodyPr>
          <a:lstStyle/>
          <a:p>
            <a:pPr algn="l"/>
            <a:r>
              <a:rPr sz="1000" b="0" dirty="0">
                <a:solidFill>
                  <a:srgbClr val="5B6472"/>
                </a:solidFill>
                <a:latin typeface="Aptos"/>
              </a:rPr>
              <a:t>Estimated near real-time access lifecycle with 95%+ data sync reliability target; reduces manual entry / exit </a:t>
            </a:r>
            <a:endParaRPr lang="en-IN" sz="1000" b="0" dirty="0">
              <a:solidFill>
                <a:srgbClr val="5B6472"/>
              </a:solidFill>
              <a:latin typeface="Aptos"/>
            </a:endParaRPr>
          </a:p>
          <a:p>
            <a:pPr algn="l"/>
            <a:r>
              <a:rPr sz="1000" b="0" dirty="0">
                <a:solidFill>
                  <a:srgbClr val="5B6472"/>
                </a:solidFill>
                <a:latin typeface="Aptos"/>
              </a:rPr>
              <a:t>dependency for employee insurance access.</a:t>
            </a:r>
          </a:p>
        </p:txBody>
      </p:sp>
      <p:sp>
        <p:nvSpPr>
          <p:cNvPr id="72" name="Rounded Rectangle 71"/>
          <p:cNvSpPr/>
          <p:nvPr/>
        </p:nvSpPr>
        <p:spPr>
          <a:xfrm>
            <a:off x="3886200" y="5696712"/>
            <a:ext cx="7836408" cy="475488"/>
          </a:xfrm>
          <a:prstGeom prst="roundRect">
            <a:avLst/>
          </a:prstGeom>
          <a:solidFill>
            <a:srgbClr val="F8F2F3"/>
          </a:solidFill>
          <a:ln w="9525">
            <a:solidFill>
              <a:srgbClr val="EED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4096512" y="5824728"/>
            <a:ext cx="412100" cy="180049"/>
          </a:xfrm>
          <a:prstGeom prst="rect">
            <a:avLst/>
          </a:prstGeom>
          <a:noFill/>
        </p:spPr>
        <p:txBody>
          <a:bodyPr wrap="none" lIns="36576" tIns="9144" rIns="36576" bIns="9144" anchor="t">
            <a:spAutoFit/>
          </a:bodyPr>
          <a:lstStyle/>
          <a:p>
            <a:pPr algn="l"/>
            <a:r>
              <a:rPr sz="1050" b="1">
                <a:solidFill>
                  <a:srgbClr val="C00000"/>
                </a:solidFill>
                <a:latin typeface="Aptos"/>
              </a:rPr>
              <a:t>Note:</a:t>
            </a:r>
          </a:p>
        </p:txBody>
      </p:sp>
      <p:sp>
        <p:nvSpPr>
          <p:cNvPr id="74" name="TextBox 73"/>
          <p:cNvSpPr txBox="1"/>
          <p:nvPr/>
        </p:nvSpPr>
        <p:spPr>
          <a:xfrm>
            <a:off x="4498848" y="5824728"/>
            <a:ext cx="7261732" cy="180049"/>
          </a:xfrm>
          <a:prstGeom prst="rect">
            <a:avLst/>
          </a:prstGeom>
          <a:noFill/>
        </p:spPr>
        <p:txBody>
          <a:bodyPr wrap="none" lIns="36576" tIns="9144" rIns="36576" bIns="9144" anchor="t">
            <a:spAutoFit/>
          </a:bodyPr>
          <a:lstStyle/>
          <a:p>
            <a:pPr algn="l"/>
            <a:r>
              <a:rPr sz="1050" b="0" dirty="0">
                <a:solidFill>
                  <a:srgbClr val="2A2F3A"/>
                </a:solidFill>
                <a:latin typeface="Aptos"/>
              </a:rPr>
              <a:t>Impact figures are intentionally conservative estimates / projections and should be baselined with post-go-live run-rate data.</a:t>
            </a:r>
          </a:p>
        </p:txBody>
      </p:sp>
      <p:sp>
        <p:nvSpPr>
          <p:cNvPr id="75" name="Text 0">
            <a:extLst>
              <a:ext uri="{FF2B5EF4-FFF2-40B4-BE49-F238E27FC236}">
                <a16:creationId xmlns:a16="http://schemas.microsoft.com/office/drawing/2014/main" id="{D9B40B1E-023E-19AA-2B28-B89252932C13}"/>
              </a:ext>
            </a:extLst>
          </p:cNvPr>
          <p:cNvSpPr/>
          <p:nvPr/>
        </p:nvSpPr>
        <p:spPr>
          <a:xfrm>
            <a:off x="411480" y="-27432"/>
            <a:ext cx="7772400" cy="502920"/>
          </a:xfrm>
          <a:prstGeom prst="rect">
            <a:avLst/>
          </a:prstGeom>
          <a:noFill/>
          <a:ln/>
        </p:spPr>
        <p:txBody>
          <a:bodyPr wrap="square" lIns="0" tIns="0" rIns="0" bIns="0" rtlCol="0" anchor="ctr"/>
          <a:lstStyle/>
          <a:p>
            <a:pPr marL="0" indent="0">
              <a:buNone/>
            </a:pPr>
            <a:r>
              <a:rPr lang="en-US" sz="3000" b="1" dirty="0">
                <a:solidFill>
                  <a:srgbClr val="C00000"/>
                </a:solidFill>
                <a:latin typeface="Cambria" pitchFamily="34" charset="0"/>
                <a:ea typeface="Cambria" pitchFamily="34" charset="-122"/>
                <a:cs typeface="Cambria" pitchFamily="34" charset="-120"/>
              </a:rPr>
              <a:t>FY27 HR Tech Portfolio</a:t>
            </a:r>
            <a:endParaRPr lang="en-US" sz="3000" dirty="0">
              <a:solidFill>
                <a:srgbClr val="C00000"/>
              </a:solidFill>
            </a:endParaRPr>
          </a:p>
        </p:txBody>
      </p:sp>
      <p:sp>
        <p:nvSpPr>
          <p:cNvPr id="76" name="Text 1">
            <a:extLst>
              <a:ext uri="{FF2B5EF4-FFF2-40B4-BE49-F238E27FC236}">
                <a16:creationId xmlns:a16="http://schemas.microsoft.com/office/drawing/2014/main" id="{5FBCA330-2483-7C9F-38E5-64B61A283190}"/>
              </a:ext>
            </a:extLst>
          </p:cNvPr>
          <p:cNvSpPr/>
          <p:nvPr/>
        </p:nvSpPr>
        <p:spPr>
          <a:xfrm>
            <a:off x="411480" y="457200"/>
            <a:ext cx="5486400" cy="365760"/>
          </a:xfrm>
          <a:prstGeom prst="rect">
            <a:avLst/>
          </a:prstGeom>
          <a:noFill/>
          <a:ln/>
        </p:spPr>
        <p:txBody>
          <a:bodyPr wrap="square" lIns="0" tIns="0" rIns="0" bIns="0" rtlCol="0" anchor="ctr"/>
          <a:lstStyle/>
          <a:p>
            <a:pPr marL="0" indent="0">
              <a:buNone/>
            </a:pPr>
            <a:r>
              <a:rPr lang="en-US" sz="1700" i="1" dirty="0">
                <a:solidFill>
                  <a:srgbClr val="A9822F"/>
                </a:solidFill>
                <a:latin typeface="Cambria" pitchFamily="34" charset="0"/>
                <a:ea typeface="Cambria" pitchFamily="34" charset="-122"/>
                <a:cs typeface="Cambria" pitchFamily="34" charset="-120"/>
              </a:rPr>
              <a:t>Status Snapshot</a:t>
            </a:r>
            <a:endParaRPr lang="en-US" sz="1700" dirty="0"/>
          </a:p>
        </p:txBody>
      </p:sp>
      <p:sp>
        <p:nvSpPr>
          <p:cNvPr id="77" name="Text 2">
            <a:extLst>
              <a:ext uri="{FF2B5EF4-FFF2-40B4-BE49-F238E27FC236}">
                <a16:creationId xmlns:a16="http://schemas.microsoft.com/office/drawing/2014/main" id="{B57CEE5C-6906-BD00-E6D1-2D655AB7914F}"/>
              </a:ext>
            </a:extLst>
          </p:cNvPr>
          <p:cNvSpPr/>
          <p:nvPr/>
        </p:nvSpPr>
        <p:spPr>
          <a:xfrm>
            <a:off x="411480" y="762000"/>
            <a:ext cx="8686800" cy="292608"/>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Single executive view   ·   45 initiatives   ·   Categorized across HRMS, Payroll, Talent, Experience and Analytics</a:t>
            </a:r>
            <a:endParaRPr lang="en-US" sz="1100" dirty="0"/>
          </a:p>
        </p:txBody>
      </p:sp>
      <p:sp>
        <p:nvSpPr>
          <p:cNvPr id="78" name="Shape 3">
            <a:extLst>
              <a:ext uri="{FF2B5EF4-FFF2-40B4-BE49-F238E27FC236}">
                <a16:creationId xmlns:a16="http://schemas.microsoft.com/office/drawing/2014/main" id="{1E0600F0-CA1F-5A40-CEC8-98AD44B2030C}"/>
              </a:ext>
            </a:extLst>
          </p:cNvPr>
          <p:cNvSpPr/>
          <p:nvPr/>
        </p:nvSpPr>
        <p:spPr>
          <a:xfrm>
            <a:off x="9646920" y="438912"/>
            <a:ext cx="2084832" cy="356616"/>
          </a:xfrm>
          <a:prstGeom prst="roundRect">
            <a:avLst>
              <a:gd name="adj" fmla="val 16667"/>
            </a:avLst>
          </a:prstGeom>
          <a:solidFill>
            <a:srgbClr val="C00000"/>
          </a:solidFill>
          <a:ln/>
        </p:spPr>
        <p:txBody>
          <a:bodyPr/>
          <a:lstStyle/>
          <a:p>
            <a:pPr algn="ctr"/>
            <a:r>
              <a:rPr lang="en-US" sz="1100" b="1" kern="0" spc="100" dirty="0">
                <a:solidFill>
                  <a:srgbClr val="FFFFFF"/>
                </a:solidFill>
                <a:latin typeface="Calibri" pitchFamily="34" charset="0"/>
                <a:ea typeface="Calibri" pitchFamily="34" charset="-122"/>
                <a:cs typeface="Calibri" pitchFamily="34" charset="-120"/>
              </a:rPr>
              <a:t>JUL 2026  ·  STEERCO</a:t>
            </a:r>
            <a:endParaRPr lang="en-US" sz="1100" dirty="0"/>
          </a:p>
        </p:txBody>
      </p:sp>
      <p:pic>
        <p:nvPicPr>
          <p:cNvPr id="79" name="Image 0" descr="icon_check.png">
            <a:extLst>
              <a:ext uri="{FF2B5EF4-FFF2-40B4-BE49-F238E27FC236}">
                <a16:creationId xmlns:a16="http://schemas.microsoft.com/office/drawing/2014/main" id="{03AD244A-9628-BF58-6D42-6C8DFE690196}"/>
              </a:ext>
            </a:extLst>
          </p:cNvPr>
          <p:cNvPicPr>
            <a:picLocks noChangeAspect="1"/>
          </p:cNvPicPr>
          <p:nvPr/>
        </p:nvPicPr>
        <p:blipFill>
          <a:blip r:embed="rId3"/>
          <a:stretch>
            <a:fillRect/>
          </a:stretch>
        </p:blipFill>
        <p:spPr>
          <a:xfrm>
            <a:off x="2822987" y="2889505"/>
            <a:ext cx="274320" cy="274320"/>
          </a:xfrm>
          <a:prstGeom prst="rect">
            <a:avLst/>
          </a:prstGeom>
        </p:spPr>
      </p:pic>
      <p:pic>
        <p:nvPicPr>
          <p:cNvPr id="80" name="Image 1" descr="icon_progress.png">
            <a:extLst>
              <a:ext uri="{FF2B5EF4-FFF2-40B4-BE49-F238E27FC236}">
                <a16:creationId xmlns:a16="http://schemas.microsoft.com/office/drawing/2014/main" id="{0FF31E24-D3EC-4E61-6B02-7105EDA73471}"/>
              </a:ext>
            </a:extLst>
          </p:cNvPr>
          <p:cNvPicPr>
            <a:picLocks noChangeAspect="1"/>
          </p:cNvPicPr>
          <p:nvPr/>
        </p:nvPicPr>
        <p:blipFill>
          <a:blip r:embed="rId4"/>
          <a:stretch>
            <a:fillRect/>
          </a:stretch>
        </p:blipFill>
        <p:spPr>
          <a:xfrm>
            <a:off x="2822987" y="3661737"/>
            <a:ext cx="274320" cy="274320"/>
          </a:xfrm>
          <a:prstGeom prst="rect">
            <a:avLst/>
          </a:prstGeom>
        </p:spPr>
      </p:pic>
      <p:pic>
        <p:nvPicPr>
          <p:cNvPr id="81" name="Image 2" descr="icon_queue.png">
            <a:extLst>
              <a:ext uri="{FF2B5EF4-FFF2-40B4-BE49-F238E27FC236}">
                <a16:creationId xmlns:a16="http://schemas.microsoft.com/office/drawing/2014/main" id="{04F5C80D-2C59-8F48-0C7A-7E6BF900AFF4}"/>
              </a:ext>
            </a:extLst>
          </p:cNvPr>
          <p:cNvPicPr>
            <a:picLocks noChangeAspect="1"/>
          </p:cNvPicPr>
          <p:nvPr/>
        </p:nvPicPr>
        <p:blipFill>
          <a:blip r:embed="rId5"/>
          <a:stretch>
            <a:fillRect/>
          </a:stretch>
        </p:blipFill>
        <p:spPr>
          <a:xfrm>
            <a:off x="2822987" y="4367784"/>
            <a:ext cx="274320" cy="274320"/>
          </a:xfrm>
          <a:prstGeom prst="rect">
            <a:avLst/>
          </a:prstGeom>
        </p:spPr>
      </p:pic>
      <p:pic>
        <p:nvPicPr>
          <p:cNvPr id="82" name="Image 3" descr="icon_alert.png">
            <a:extLst>
              <a:ext uri="{FF2B5EF4-FFF2-40B4-BE49-F238E27FC236}">
                <a16:creationId xmlns:a16="http://schemas.microsoft.com/office/drawing/2014/main" id="{2105FAE9-68EF-7677-4FD6-BC8535524D97}"/>
              </a:ext>
            </a:extLst>
          </p:cNvPr>
          <p:cNvPicPr>
            <a:picLocks noChangeAspect="1"/>
          </p:cNvPicPr>
          <p:nvPr/>
        </p:nvPicPr>
        <p:blipFill>
          <a:blip r:embed="rId6"/>
          <a:stretch>
            <a:fillRect/>
          </a:stretch>
        </p:blipFill>
        <p:spPr>
          <a:xfrm>
            <a:off x="2818723" y="5116616"/>
            <a:ext cx="27432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sz="quarter" idx="13"/>
          </p:nvPr>
        </p:nvSpPr>
        <p:spPr/>
        <p:txBody>
          <a:bodyPr/>
          <a:lstStyle/>
          <a:p>
            <a:endParaRPr/>
          </a:p>
        </p:txBody>
      </p:sp>
      <p:sp>
        <p:nvSpPr>
          <p:cNvPr id="4" name="Subtitle 3"/>
          <p:cNvSpPr>
            <a:spLocks noGrp="1"/>
          </p:cNvSpPr>
          <p:nvPr>
            <p:ph type="subTitle" idx="10"/>
          </p:nvPr>
        </p:nvSpPr>
        <p:spPr/>
        <p:txBody>
          <a:bodyPr/>
          <a:lstStyle/>
          <a:p>
            <a:endParaRPr/>
          </a:p>
        </p:txBody>
      </p:sp>
      <p:sp>
        <p:nvSpPr>
          <p:cNvPr id="5" name="Rectangle 4"/>
          <p:cNvSpPr/>
          <p:nvPr/>
        </p:nvSpPr>
        <p:spPr>
          <a:xfrm>
            <a:off x="0" y="0"/>
            <a:ext cx="1219200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219456"/>
            <a:ext cx="5458867" cy="480131"/>
          </a:xfrm>
          <a:prstGeom prst="rect">
            <a:avLst/>
          </a:prstGeom>
          <a:noFill/>
        </p:spPr>
        <p:txBody>
          <a:bodyPr wrap="none" lIns="36576" tIns="9144" rIns="36576" bIns="9144" anchor="t">
            <a:spAutoFit/>
          </a:bodyPr>
          <a:lstStyle/>
          <a:p>
            <a:pPr algn="l"/>
            <a:r>
              <a:rPr sz="3000" b="1" dirty="0">
                <a:solidFill>
                  <a:srgbClr val="C00000"/>
                </a:solidFill>
                <a:latin typeface="Aptos"/>
              </a:rPr>
              <a:t>FY27 Roadmap Reprioritization</a:t>
            </a:r>
          </a:p>
        </p:txBody>
      </p:sp>
      <p:sp>
        <p:nvSpPr>
          <p:cNvPr id="7" name="TextBox 6"/>
          <p:cNvSpPr txBox="1"/>
          <p:nvPr/>
        </p:nvSpPr>
        <p:spPr>
          <a:xfrm>
            <a:off x="411480" y="774989"/>
            <a:ext cx="7040880" cy="228600"/>
          </a:xfrm>
          <a:prstGeom prst="rect">
            <a:avLst/>
          </a:prstGeom>
          <a:noFill/>
        </p:spPr>
        <p:txBody>
          <a:bodyPr wrap="none" lIns="36576" tIns="9144" rIns="36576" bIns="9144" anchor="t">
            <a:spAutoFit/>
          </a:bodyPr>
          <a:lstStyle/>
          <a:p>
            <a:pPr algn="l"/>
            <a:r>
              <a:rPr sz="1050" b="0" dirty="0">
                <a:solidFill>
                  <a:srgbClr val="A9822F"/>
                </a:solidFill>
                <a:latin typeface="Aptos"/>
              </a:rPr>
              <a:t>Capacity trade-offs required to protect ZTZT end-to-end payroll automation</a:t>
            </a:r>
          </a:p>
        </p:txBody>
      </p:sp>
      <p:sp>
        <p:nvSpPr>
          <p:cNvPr id="8" name="Rounded Rectangle 7"/>
          <p:cNvSpPr/>
          <p:nvPr/>
        </p:nvSpPr>
        <p:spPr>
          <a:xfrm>
            <a:off x="10012680" y="292608"/>
            <a:ext cx="1417320" cy="310896"/>
          </a:xfrm>
          <a:prstGeom prst="roundRect">
            <a:avLst/>
          </a:prstGeom>
          <a:solidFill>
            <a:srgbClr val="C00000"/>
          </a:solidFill>
          <a:ln w="952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12680" y="338328"/>
            <a:ext cx="1417320" cy="256032"/>
          </a:xfrm>
          <a:prstGeom prst="rect">
            <a:avLst/>
          </a:prstGeom>
          <a:noFill/>
        </p:spPr>
        <p:txBody>
          <a:bodyPr wrap="none" lIns="36576" tIns="9144" rIns="36576" bIns="9144" anchor="ctr">
            <a:spAutoFit/>
          </a:bodyPr>
          <a:lstStyle/>
          <a:p>
            <a:pPr algn="ctr"/>
            <a:r>
              <a:rPr sz="850" b="1">
                <a:solidFill>
                  <a:srgbClr val="FFFFFF"/>
                </a:solidFill>
                <a:latin typeface="Aptos"/>
              </a:rPr>
              <a:t>DECISION ASK</a:t>
            </a:r>
          </a:p>
        </p:txBody>
      </p:sp>
      <p:sp>
        <p:nvSpPr>
          <p:cNvPr id="10" name="Rectangle 9"/>
          <p:cNvSpPr/>
          <p:nvPr/>
        </p:nvSpPr>
        <p:spPr>
          <a:xfrm>
            <a:off x="411480" y="1078992"/>
            <a:ext cx="11338560" cy="18288"/>
          </a:xfrm>
          <a:prstGeom prst="rect">
            <a:avLst/>
          </a:prstGeom>
          <a:solidFill>
            <a:srgbClr val="DA0E28"/>
          </a:solidFill>
          <a:ln>
            <a:solidFill>
              <a:srgbClr val="DA0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11480" y="1261872"/>
            <a:ext cx="11292840" cy="960120"/>
          </a:xfrm>
          <a:prstGeom prst="roundRect">
            <a:avLst/>
          </a:prstGeom>
          <a:solidFill>
            <a:srgbClr val="F7F8FB"/>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389888"/>
            <a:ext cx="1977273" cy="264688"/>
          </a:xfrm>
          <a:prstGeom prst="rect">
            <a:avLst/>
          </a:prstGeom>
          <a:noFill/>
        </p:spPr>
        <p:txBody>
          <a:bodyPr wrap="none" lIns="36576" tIns="9144" rIns="36576" bIns="9144" anchor="t">
            <a:spAutoFit/>
          </a:bodyPr>
          <a:lstStyle/>
          <a:p>
            <a:pPr algn="l"/>
            <a:r>
              <a:rPr sz="1600" b="1" dirty="0">
                <a:solidFill>
                  <a:srgbClr val="1E2761"/>
                </a:solidFill>
                <a:latin typeface="Aptos"/>
              </a:rPr>
              <a:t>Why reprioritize now</a:t>
            </a:r>
          </a:p>
        </p:txBody>
      </p:sp>
      <p:sp>
        <p:nvSpPr>
          <p:cNvPr id="13" name="TextBox 12"/>
          <p:cNvSpPr txBox="1"/>
          <p:nvPr/>
        </p:nvSpPr>
        <p:spPr>
          <a:xfrm>
            <a:off x="658368" y="1682497"/>
            <a:ext cx="6275832" cy="341632"/>
          </a:xfrm>
          <a:prstGeom prst="rect">
            <a:avLst/>
          </a:prstGeom>
          <a:noFill/>
        </p:spPr>
        <p:txBody>
          <a:bodyPr wrap="square" lIns="36576" tIns="9144" rIns="36576" bIns="9144" anchor="t">
            <a:spAutoFit/>
          </a:bodyPr>
          <a:lstStyle/>
          <a:p>
            <a:pPr algn="l"/>
            <a:r>
              <a:rPr sz="1050" b="0" dirty="0">
                <a:solidFill>
                  <a:srgbClr val="2A2F3A"/>
                </a:solidFill>
                <a:latin typeface="Aptos"/>
              </a:rPr>
              <a:t>ZTZT is an 8-month enterprise payroll transformation covering domestic + international payroll automation. It requires concentrated HR, D&amp;T, Finance, vendor and integration bandwidth through Jan/Feb 2027.</a:t>
            </a:r>
          </a:p>
        </p:txBody>
      </p:sp>
      <p:sp>
        <p:nvSpPr>
          <p:cNvPr id="14" name="TextBox 13"/>
          <p:cNvSpPr txBox="1"/>
          <p:nvPr/>
        </p:nvSpPr>
        <p:spPr>
          <a:xfrm>
            <a:off x="7452360" y="1380744"/>
            <a:ext cx="868680" cy="237744"/>
          </a:xfrm>
          <a:prstGeom prst="rect">
            <a:avLst/>
          </a:prstGeom>
          <a:noFill/>
        </p:spPr>
        <p:txBody>
          <a:bodyPr wrap="none" lIns="36576" tIns="9144" rIns="36576" bIns="9144" anchor="t">
            <a:spAutoFit/>
          </a:bodyPr>
          <a:lstStyle/>
          <a:p>
            <a:pPr algn="ctr"/>
            <a:r>
              <a:rPr sz="1350" b="1">
                <a:solidFill>
                  <a:srgbClr val="205273"/>
                </a:solidFill>
                <a:latin typeface="Aptos"/>
              </a:rPr>
              <a:t>184 + 309</a:t>
            </a:r>
          </a:p>
        </p:txBody>
      </p:sp>
      <p:sp>
        <p:nvSpPr>
          <p:cNvPr id="15" name="TextBox 14"/>
          <p:cNvSpPr txBox="1"/>
          <p:nvPr/>
        </p:nvSpPr>
        <p:spPr>
          <a:xfrm>
            <a:off x="7324344" y="1673352"/>
            <a:ext cx="1124712" cy="215444"/>
          </a:xfrm>
          <a:prstGeom prst="rect">
            <a:avLst/>
          </a:prstGeom>
          <a:noFill/>
        </p:spPr>
        <p:txBody>
          <a:bodyPr wrap="square" lIns="36576" tIns="9144" rIns="36576" bIns="9144" anchor="t">
            <a:spAutoFit/>
          </a:bodyPr>
          <a:lstStyle/>
          <a:p>
            <a:pPr algn="ctr"/>
            <a:r>
              <a:rPr sz="640" b="0" dirty="0">
                <a:solidFill>
                  <a:srgbClr val="5B6472"/>
                </a:solidFill>
                <a:latin typeface="Aptos"/>
              </a:rPr>
              <a:t>Domestic + international </a:t>
            </a:r>
            <a:r>
              <a:rPr sz="640" b="0" dirty="0" err="1">
                <a:solidFill>
                  <a:srgbClr val="5B6472"/>
                </a:solidFill>
                <a:latin typeface="Aptos"/>
              </a:rPr>
              <a:t>payheads</a:t>
            </a:r>
            <a:endParaRPr sz="640" b="0" dirty="0">
              <a:solidFill>
                <a:srgbClr val="5B6472"/>
              </a:solidFill>
              <a:latin typeface="Aptos"/>
            </a:endParaRPr>
          </a:p>
        </p:txBody>
      </p:sp>
      <p:sp>
        <p:nvSpPr>
          <p:cNvPr id="16" name="TextBox 15"/>
          <p:cNvSpPr txBox="1"/>
          <p:nvPr/>
        </p:nvSpPr>
        <p:spPr>
          <a:xfrm>
            <a:off x="8503920" y="1380744"/>
            <a:ext cx="868680" cy="237744"/>
          </a:xfrm>
          <a:prstGeom prst="rect">
            <a:avLst/>
          </a:prstGeom>
          <a:noFill/>
        </p:spPr>
        <p:txBody>
          <a:bodyPr wrap="none" lIns="36576" tIns="9144" rIns="36576" bIns="9144" anchor="t">
            <a:spAutoFit/>
          </a:bodyPr>
          <a:lstStyle/>
          <a:p>
            <a:pPr algn="ctr"/>
            <a:r>
              <a:rPr sz="1350" b="1">
                <a:solidFill>
                  <a:srgbClr val="7030A0"/>
                </a:solidFill>
                <a:latin typeface="Aptos"/>
              </a:rPr>
              <a:t>13</a:t>
            </a:r>
          </a:p>
        </p:txBody>
      </p:sp>
      <p:sp>
        <p:nvSpPr>
          <p:cNvPr id="17" name="TextBox 16"/>
          <p:cNvSpPr txBox="1"/>
          <p:nvPr/>
        </p:nvSpPr>
        <p:spPr>
          <a:xfrm>
            <a:off x="8375904" y="1673352"/>
            <a:ext cx="1124712" cy="256032"/>
          </a:xfrm>
          <a:prstGeom prst="rect">
            <a:avLst/>
          </a:prstGeom>
          <a:noFill/>
        </p:spPr>
        <p:txBody>
          <a:bodyPr wrap="none" lIns="36576" tIns="9144" rIns="36576" bIns="9144" anchor="t">
            <a:spAutoFit/>
          </a:bodyPr>
          <a:lstStyle/>
          <a:p>
            <a:pPr algn="ctr"/>
            <a:r>
              <a:rPr sz="640" b="0">
                <a:solidFill>
                  <a:srgbClr val="5B6472"/>
                </a:solidFill>
                <a:latin typeface="Aptos"/>
              </a:rPr>
              <a:t>External resources / POs</a:t>
            </a:r>
          </a:p>
        </p:txBody>
      </p:sp>
      <p:sp>
        <p:nvSpPr>
          <p:cNvPr id="18" name="TextBox 17"/>
          <p:cNvSpPr txBox="1"/>
          <p:nvPr/>
        </p:nvSpPr>
        <p:spPr>
          <a:xfrm>
            <a:off x="9555480" y="1380744"/>
            <a:ext cx="868680" cy="237744"/>
          </a:xfrm>
          <a:prstGeom prst="rect">
            <a:avLst/>
          </a:prstGeom>
          <a:noFill/>
        </p:spPr>
        <p:txBody>
          <a:bodyPr wrap="none" lIns="36576" tIns="9144" rIns="36576" bIns="9144" anchor="t">
            <a:spAutoFit/>
          </a:bodyPr>
          <a:lstStyle/>
          <a:p>
            <a:pPr algn="ctr"/>
            <a:r>
              <a:rPr sz="1350" b="1">
                <a:solidFill>
                  <a:srgbClr val="C00000"/>
                </a:solidFill>
                <a:latin typeface="Aptos"/>
              </a:rPr>
              <a:t>₹3 Cr</a:t>
            </a:r>
          </a:p>
        </p:txBody>
      </p:sp>
      <p:sp>
        <p:nvSpPr>
          <p:cNvPr id="19" name="TextBox 18"/>
          <p:cNvSpPr txBox="1"/>
          <p:nvPr/>
        </p:nvSpPr>
        <p:spPr>
          <a:xfrm>
            <a:off x="9427464" y="1673352"/>
            <a:ext cx="1124712" cy="256032"/>
          </a:xfrm>
          <a:prstGeom prst="rect">
            <a:avLst/>
          </a:prstGeom>
          <a:noFill/>
        </p:spPr>
        <p:txBody>
          <a:bodyPr wrap="none" lIns="36576" tIns="9144" rIns="36576" bIns="9144" anchor="t">
            <a:spAutoFit/>
          </a:bodyPr>
          <a:lstStyle/>
          <a:p>
            <a:pPr algn="ctr"/>
            <a:r>
              <a:rPr sz="640" b="0">
                <a:solidFill>
                  <a:srgbClr val="5B6472"/>
                </a:solidFill>
                <a:latin typeface="Aptos"/>
              </a:rPr>
              <a:t>CAPEX approval path</a:t>
            </a:r>
          </a:p>
        </p:txBody>
      </p:sp>
      <p:sp>
        <p:nvSpPr>
          <p:cNvPr id="20" name="TextBox 19"/>
          <p:cNvSpPr txBox="1"/>
          <p:nvPr/>
        </p:nvSpPr>
        <p:spPr>
          <a:xfrm>
            <a:off x="10607040" y="1380744"/>
            <a:ext cx="868680" cy="237744"/>
          </a:xfrm>
          <a:prstGeom prst="rect">
            <a:avLst/>
          </a:prstGeom>
          <a:noFill/>
        </p:spPr>
        <p:txBody>
          <a:bodyPr wrap="none" lIns="36576" tIns="9144" rIns="36576" bIns="9144" anchor="t">
            <a:spAutoFit/>
          </a:bodyPr>
          <a:lstStyle/>
          <a:p>
            <a:pPr algn="ctr"/>
            <a:r>
              <a:rPr sz="1350" b="1">
                <a:solidFill>
                  <a:srgbClr val="00B050"/>
                </a:solidFill>
                <a:latin typeface="Aptos"/>
              </a:rPr>
              <a:t>100%</a:t>
            </a:r>
          </a:p>
        </p:txBody>
      </p:sp>
      <p:sp>
        <p:nvSpPr>
          <p:cNvPr id="21" name="TextBox 20"/>
          <p:cNvSpPr txBox="1"/>
          <p:nvPr/>
        </p:nvSpPr>
        <p:spPr>
          <a:xfrm>
            <a:off x="10479024" y="1673352"/>
            <a:ext cx="1124712" cy="256032"/>
          </a:xfrm>
          <a:prstGeom prst="rect">
            <a:avLst/>
          </a:prstGeom>
          <a:noFill/>
        </p:spPr>
        <p:txBody>
          <a:bodyPr wrap="none" lIns="36576" tIns="9144" rIns="36576" bIns="9144" anchor="t">
            <a:spAutoFit/>
          </a:bodyPr>
          <a:lstStyle/>
          <a:p>
            <a:pPr algn="ctr"/>
            <a:r>
              <a:rPr sz="640" b="0">
                <a:solidFill>
                  <a:srgbClr val="5B6472"/>
                </a:solidFill>
                <a:latin typeface="Aptos"/>
              </a:rPr>
              <a:t>Manual touchpoints target</a:t>
            </a:r>
          </a:p>
        </p:txBody>
      </p:sp>
      <p:sp>
        <p:nvSpPr>
          <p:cNvPr id="22" name="TextBox 21"/>
          <p:cNvSpPr txBox="1"/>
          <p:nvPr/>
        </p:nvSpPr>
        <p:spPr>
          <a:xfrm>
            <a:off x="411480" y="2432304"/>
            <a:ext cx="4400307" cy="233910"/>
          </a:xfrm>
          <a:prstGeom prst="rect">
            <a:avLst/>
          </a:prstGeom>
          <a:noFill/>
        </p:spPr>
        <p:txBody>
          <a:bodyPr wrap="none" lIns="36576" tIns="9144" rIns="36576" bIns="9144" anchor="t">
            <a:spAutoFit/>
          </a:bodyPr>
          <a:lstStyle/>
          <a:p>
            <a:pPr algn="l"/>
            <a:r>
              <a:rPr sz="1400" b="1" dirty="0">
                <a:solidFill>
                  <a:srgbClr val="C00000"/>
                </a:solidFill>
                <a:latin typeface="Aptos"/>
              </a:rPr>
              <a:t>RECOMMENDED DEPRIORITIZATION / DEFERRAL LIST</a:t>
            </a:r>
          </a:p>
        </p:txBody>
      </p:sp>
      <p:sp>
        <p:nvSpPr>
          <p:cNvPr id="23" name="Rectangle 22"/>
          <p:cNvSpPr/>
          <p:nvPr/>
        </p:nvSpPr>
        <p:spPr>
          <a:xfrm>
            <a:off x="411480" y="2724912"/>
            <a:ext cx="2788920" cy="310896"/>
          </a:xfrm>
          <a:prstGeom prst="rect">
            <a:avLst/>
          </a:prstGeom>
          <a:solidFill>
            <a:srgbClr val="1E2761"/>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 y="2798064"/>
            <a:ext cx="1136658" cy="203133"/>
          </a:xfrm>
          <a:prstGeom prst="rect">
            <a:avLst/>
          </a:prstGeom>
          <a:noFill/>
        </p:spPr>
        <p:txBody>
          <a:bodyPr wrap="none" lIns="36576" tIns="9144" rIns="36576" bIns="9144" anchor="t">
            <a:spAutoFit/>
          </a:bodyPr>
          <a:lstStyle/>
          <a:p>
            <a:pPr algn="l"/>
            <a:r>
              <a:rPr sz="1200" b="1">
                <a:solidFill>
                  <a:srgbClr val="FFFFFF"/>
                </a:solidFill>
                <a:latin typeface="Aptos"/>
              </a:rPr>
              <a:t>Project / Scope</a:t>
            </a:r>
          </a:p>
        </p:txBody>
      </p:sp>
      <p:sp>
        <p:nvSpPr>
          <p:cNvPr id="25" name="Rectangle 24"/>
          <p:cNvSpPr/>
          <p:nvPr/>
        </p:nvSpPr>
        <p:spPr>
          <a:xfrm>
            <a:off x="3200400" y="2724912"/>
            <a:ext cx="1325880" cy="310896"/>
          </a:xfrm>
          <a:prstGeom prst="rect">
            <a:avLst/>
          </a:prstGeom>
          <a:solidFill>
            <a:srgbClr val="1E2761"/>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55264" y="2798064"/>
            <a:ext cx="694229" cy="203133"/>
          </a:xfrm>
          <a:prstGeom prst="rect">
            <a:avLst/>
          </a:prstGeom>
          <a:noFill/>
        </p:spPr>
        <p:txBody>
          <a:bodyPr wrap="none" lIns="36576" tIns="9144" rIns="36576" bIns="9144" anchor="t">
            <a:spAutoFit/>
          </a:bodyPr>
          <a:lstStyle/>
          <a:p>
            <a:pPr algn="l"/>
            <a:r>
              <a:rPr sz="1200" b="1">
                <a:solidFill>
                  <a:srgbClr val="FFFFFF"/>
                </a:solidFill>
                <a:latin typeface="Aptos"/>
              </a:rPr>
              <a:t>Decision</a:t>
            </a:r>
          </a:p>
        </p:txBody>
      </p:sp>
      <p:sp>
        <p:nvSpPr>
          <p:cNvPr id="27" name="Rectangle 26"/>
          <p:cNvSpPr/>
          <p:nvPr/>
        </p:nvSpPr>
        <p:spPr>
          <a:xfrm>
            <a:off x="4526280" y="2724912"/>
            <a:ext cx="5212080" cy="310896"/>
          </a:xfrm>
          <a:prstGeom prst="rect">
            <a:avLst/>
          </a:prstGeom>
          <a:solidFill>
            <a:srgbClr val="1E2761"/>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81144" y="2798064"/>
            <a:ext cx="1888979" cy="203133"/>
          </a:xfrm>
          <a:prstGeom prst="rect">
            <a:avLst/>
          </a:prstGeom>
          <a:noFill/>
        </p:spPr>
        <p:txBody>
          <a:bodyPr wrap="none" lIns="36576" tIns="9144" rIns="36576" bIns="9144" anchor="t">
            <a:spAutoFit/>
          </a:bodyPr>
          <a:lstStyle/>
          <a:p>
            <a:pPr algn="l"/>
            <a:r>
              <a:rPr sz="1200" b="1">
                <a:solidFill>
                  <a:srgbClr val="FFFFFF"/>
                </a:solidFill>
                <a:latin typeface="Aptos"/>
              </a:rPr>
              <a:t>Rationale / value trade-off</a:t>
            </a:r>
          </a:p>
        </p:txBody>
      </p:sp>
      <p:sp>
        <p:nvSpPr>
          <p:cNvPr id="29" name="Rectangle 28"/>
          <p:cNvSpPr/>
          <p:nvPr/>
        </p:nvSpPr>
        <p:spPr>
          <a:xfrm>
            <a:off x="9738360" y="2724912"/>
            <a:ext cx="1417320" cy="310896"/>
          </a:xfrm>
          <a:prstGeom prst="rect">
            <a:avLst/>
          </a:prstGeom>
          <a:solidFill>
            <a:srgbClr val="1E2761"/>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93224" y="2798064"/>
            <a:ext cx="726417" cy="203133"/>
          </a:xfrm>
          <a:prstGeom prst="rect">
            <a:avLst/>
          </a:prstGeom>
          <a:noFill/>
        </p:spPr>
        <p:txBody>
          <a:bodyPr wrap="none" lIns="36576" tIns="9144" rIns="36576" bIns="9144" anchor="t">
            <a:spAutoFit/>
          </a:bodyPr>
          <a:lstStyle/>
          <a:p>
            <a:pPr algn="l"/>
            <a:r>
              <a:rPr sz="1200" b="1">
                <a:solidFill>
                  <a:srgbClr val="FFFFFF"/>
                </a:solidFill>
                <a:latin typeface="Aptos"/>
              </a:rPr>
              <a:t>Guardrail</a:t>
            </a:r>
          </a:p>
        </p:txBody>
      </p:sp>
      <p:sp>
        <p:nvSpPr>
          <p:cNvPr id="31" name="Rectangle 30"/>
          <p:cNvSpPr/>
          <p:nvPr/>
        </p:nvSpPr>
        <p:spPr>
          <a:xfrm>
            <a:off x="411480" y="3035808"/>
            <a:ext cx="27889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32" name="TextBox 31"/>
          <p:cNvSpPr txBox="1"/>
          <p:nvPr/>
        </p:nvSpPr>
        <p:spPr>
          <a:xfrm>
            <a:off x="466344" y="3108960"/>
            <a:ext cx="2930161" cy="203133"/>
          </a:xfrm>
          <a:prstGeom prst="rect">
            <a:avLst/>
          </a:prstGeom>
          <a:noFill/>
        </p:spPr>
        <p:txBody>
          <a:bodyPr wrap="none" lIns="36576" tIns="9144" rIns="36576" bIns="9144" anchor="t">
            <a:spAutoFit/>
          </a:bodyPr>
          <a:lstStyle/>
          <a:p>
            <a:pPr algn="l"/>
            <a:r>
              <a:rPr sz="1200" b="1">
                <a:solidFill>
                  <a:srgbClr val="1E2761"/>
                </a:solidFill>
                <a:latin typeface="Aptos"/>
              </a:rPr>
              <a:t>Cabin Crew AON Assessment Integration</a:t>
            </a:r>
          </a:p>
        </p:txBody>
      </p:sp>
      <p:sp>
        <p:nvSpPr>
          <p:cNvPr id="33" name="Rectangle 32"/>
          <p:cNvSpPr/>
          <p:nvPr/>
        </p:nvSpPr>
        <p:spPr>
          <a:xfrm>
            <a:off x="3200400" y="3035808"/>
            <a:ext cx="13258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34" name="TextBox 33"/>
          <p:cNvSpPr txBox="1"/>
          <p:nvPr/>
        </p:nvSpPr>
        <p:spPr>
          <a:xfrm>
            <a:off x="3633854" y="3218688"/>
            <a:ext cx="458973" cy="203133"/>
          </a:xfrm>
          <a:prstGeom prst="rect">
            <a:avLst/>
          </a:prstGeom>
          <a:noFill/>
        </p:spPr>
        <p:txBody>
          <a:bodyPr wrap="none" lIns="36576" tIns="9144" rIns="36576" bIns="9144" anchor="t">
            <a:spAutoFit/>
          </a:bodyPr>
          <a:lstStyle/>
          <a:p>
            <a:pPr algn="ctr"/>
            <a:r>
              <a:rPr sz="1200" b="1">
                <a:solidFill>
                  <a:srgbClr val="B48900"/>
                </a:solidFill>
                <a:latin typeface="Aptos"/>
              </a:rPr>
              <a:t>Defer</a:t>
            </a:r>
          </a:p>
        </p:txBody>
      </p:sp>
      <p:sp>
        <p:nvSpPr>
          <p:cNvPr id="35" name="Rectangle 34"/>
          <p:cNvSpPr/>
          <p:nvPr/>
        </p:nvSpPr>
        <p:spPr>
          <a:xfrm>
            <a:off x="4526280" y="3035808"/>
            <a:ext cx="52120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36" name="TextBox 35"/>
          <p:cNvSpPr txBox="1"/>
          <p:nvPr/>
        </p:nvSpPr>
        <p:spPr>
          <a:xfrm>
            <a:off x="4581144" y="3108960"/>
            <a:ext cx="5157216" cy="387798"/>
          </a:xfrm>
          <a:prstGeom prst="rect">
            <a:avLst/>
          </a:prstGeom>
          <a:noFill/>
        </p:spPr>
        <p:txBody>
          <a:bodyPr wrap="square" lIns="36576" tIns="9144" rIns="36576" bIns="9144" anchor="t">
            <a:spAutoFit/>
          </a:bodyPr>
          <a:lstStyle/>
          <a:p>
            <a:pPr algn="l"/>
            <a:r>
              <a:rPr sz="1200" b="0">
                <a:solidFill>
                  <a:srgbClr val="2A2F3A"/>
                </a:solidFill>
                <a:latin typeface="Aptos"/>
              </a:rPr>
              <a:t>Non-payroll experience integration; resources better protected for ZTZT requirement, build and UAT cycles.</a:t>
            </a:r>
          </a:p>
        </p:txBody>
      </p:sp>
      <p:sp>
        <p:nvSpPr>
          <p:cNvPr id="37" name="Rectangle 36"/>
          <p:cNvSpPr/>
          <p:nvPr/>
        </p:nvSpPr>
        <p:spPr>
          <a:xfrm>
            <a:off x="9738360" y="3035808"/>
            <a:ext cx="14173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38" name="TextBox 37"/>
          <p:cNvSpPr txBox="1"/>
          <p:nvPr/>
        </p:nvSpPr>
        <p:spPr>
          <a:xfrm>
            <a:off x="9793224" y="3108960"/>
            <a:ext cx="1192186" cy="203133"/>
          </a:xfrm>
          <a:prstGeom prst="rect">
            <a:avLst/>
          </a:prstGeom>
          <a:noFill/>
        </p:spPr>
        <p:txBody>
          <a:bodyPr wrap="none" lIns="36576" tIns="9144" rIns="36576" bIns="9144" anchor="t">
            <a:spAutoFit/>
          </a:bodyPr>
          <a:lstStyle/>
          <a:p>
            <a:pPr algn="l"/>
            <a:r>
              <a:rPr sz="1200" b="0">
                <a:solidFill>
                  <a:srgbClr val="2A2F3A"/>
                </a:solidFill>
                <a:latin typeface="Aptos"/>
              </a:rPr>
              <a:t>Revive post-ZTZT</a:t>
            </a:r>
          </a:p>
        </p:txBody>
      </p:sp>
      <p:sp>
        <p:nvSpPr>
          <p:cNvPr id="39" name="Rectangle 38"/>
          <p:cNvSpPr/>
          <p:nvPr/>
        </p:nvSpPr>
        <p:spPr>
          <a:xfrm>
            <a:off x="411480" y="3611879"/>
            <a:ext cx="278892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0" name="TextBox 39"/>
          <p:cNvSpPr txBox="1"/>
          <p:nvPr/>
        </p:nvSpPr>
        <p:spPr>
          <a:xfrm>
            <a:off x="466344" y="3685031"/>
            <a:ext cx="2183803" cy="203133"/>
          </a:xfrm>
          <a:prstGeom prst="rect">
            <a:avLst/>
          </a:prstGeom>
          <a:noFill/>
        </p:spPr>
        <p:txBody>
          <a:bodyPr wrap="none" lIns="36576" tIns="9144" rIns="36576" bIns="9144" anchor="t">
            <a:spAutoFit/>
          </a:bodyPr>
          <a:lstStyle/>
          <a:p>
            <a:pPr algn="l"/>
            <a:r>
              <a:rPr sz="1200" b="1">
                <a:solidFill>
                  <a:srgbClr val="1E2761"/>
                </a:solidFill>
                <a:latin typeface="Aptos"/>
              </a:rPr>
              <a:t>TATA 1mg Integration for Pilots</a:t>
            </a:r>
          </a:p>
        </p:txBody>
      </p:sp>
      <p:sp>
        <p:nvSpPr>
          <p:cNvPr id="41" name="Rectangle 40"/>
          <p:cNvSpPr/>
          <p:nvPr/>
        </p:nvSpPr>
        <p:spPr>
          <a:xfrm>
            <a:off x="3200400" y="3611879"/>
            <a:ext cx="132588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2" name="TextBox 41"/>
          <p:cNvSpPr txBox="1"/>
          <p:nvPr/>
        </p:nvSpPr>
        <p:spPr>
          <a:xfrm>
            <a:off x="3633854" y="3794759"/>
            <a:ext cx="458973" cy="203133"/>
          </a:xfrm>
          <a:prstGeom prst="rect">
            <a:avLst/>
          </a:prstGeom>
          <a:noFill/>
        </p:spPr>
        <p:txBody>
          <a:bodyPr wrap="none" lIns="36576" tIns="9144" rIns="36576" bIns="9144" anchor="t">
            <a:spAutoFit/>
          </a:bodyPr>
          <a:lstStyle/>
          <a:p>
            <a:pPr algn="ctr"/>
            <a:r>
              <a:rPr sz="1200" b="1" dirty="0">
                <a:solidFill>
                  <a:srgbClr val="B48900"/>
                </a:solidFill>
                <a:latin typeface="Aptos"/>
              </a:rPr>
              <a:t>Defer</a:t>
            </a:r>
          </a:p>
        </p:txBody>
      </p:sp>
      <p:sp>
        <p:nvSpPr>
          <p:cNvPr id="43" name="Rectangle 42"/>
          <p:cNvSpPr/>
          <p:nvPr/>
        </p:nvSpPr>
        <p:spPr>
          <a:xfrm>
            <a:off x="4526280" y="3611879"/>
            <a:ext cx="521208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4" name="TextBox 43"/>
          <p:cNvSpPr txBox="1"/>
          <p:nvPr/>
        </p:nvSpPr>
        <p:spPr>
          <a:xfrm>
            <a:off x="4581144" y="3685031"/>
            <a:ext cx="5092699" cy="387799"/>
          </a:xfrm>
          <a:prstGeom prst="rect">
            <a:avLst/>
          </a:prstGeom>
          <a:noFill/>
        </p:spPr>
        <p:txBody>
          <a:bodyPr wrap="square" lIns="36576" tIns="9144" rIns="36576" bIns="9144" anchor="t">
            <a:spAutoFit/>
          </a:bodyPr>
          <a:lstStyle/>
          <a:p>
            <a:pPr algn="l"/>
            <a:r>
              <a:rPr sz="1200" b="0" dirty="0">
                <a:solidFill>
                  <a:srgbClr val="2A2F3A"/>
                </a:solidFill>
                <a:latin typeface="Aptos"/>
              </a:rPr>
              <a:t>Useful wellness / medical ecosystem integration, but not critical vs payroll automation and compliance accuracy.</a:t>
            </a:r>
          </a:p>
        </p:txBody>
      </p:sp>
      <p:sp>
        <p:nvSpPr>
          <p:cNvPr id="45" name="Rectangle 44"/>
          <p:cNvSpPr/>
          <p:nvPr/>
        </p:nvSpPr>
        <p:spPr>
          <a:xfrm>
            <a:off x="9738360" y="3611879"/>
            <a:ext cx="141732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6" name="TextBox 45"/>
          <p:cNvSpPr txBox="1"/>
          <p:nvPr/>
        </p:nvSpPr>
        <p:spPr>
          <a:xfrm>
            <a:off x="9793224" y="3685031"/>
            <a:ext cx="1362456" cy="387798"/>
          </a:xfrm>
          <a:prstGeom prst="rect">
            <a:avLst/>
          </a:prstGeom>
          <a:noFill/>
        </p:spPr>
        <p:txBody>
          <a:bodyPr wrap="square" lIns="36576" tIns="9144" rIns="36576" bIns="9144" anchor="t">
            <a:spAutoFit/>
          </a:bodyPr>
          <a:lstStyle/>
          <a:p>
            <a:pPr algn="l"/>
            <a:r>
              <a:rPr sz="1200" b="0" dirty="0">
                <a:solidFill>
                  <a:srgbClr val="2A2F3A"/>
                </a:solidFill>
                <a:latin typeface="Aptos"/>
              </a:rPr>
              <a:t>Proceed only if mandated</a:t>
            </a:r>
          </a:p>
        </p:txBody>
      </p:sp>
      <p:sp>
        <p:nvSpPr>
          <p:cNvPr id="47" name="Rectangle 46"/>
          <p:cNvSpPr/>
          <p:nvPr/>
        </p:nvSpPr>
        <p:spPr>
          <a:xfrm>
            <a:off x="411480" y="4187952"/>
            <a:ext cx="27889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8" name="TextBox 47"/>
          <p:cNvSpPr txBox="1"/>
          <p:nvPr/>
        </p:nvSpPr>
        <p:spPr>
          <a:xfrm>
            <a:off x="466344" y="4261104"/>
            <a:ext cx="2608663" cy="203133"/>
          </a:xfrm>
          <a:prstGeom prst="rect">
            <a:avLst/>
          </a:prstGeom>
          <a:noFill/>
        </p:spPr>
        <p:txBody>
          <a:bodyPr wrap="none" lIns="36576" tIns="9144" rIns="36576" bIns="9144" anchor="t">
            <a:spAutoFit/>
          </a:bodyPr>
          <a:lstStyle/>
          <a:p>
            <a:pPr algn="l"/>
            <a:r>
              <a:rPr sz="1200" b="1">
                <a:solidFill>
                  <a:srgbClr val="1E2761"/>
                </a:solidFill>
                <a:latin typeface="Aptos"/>
              </a:rPr>
              <a:t>ELT myAI Changes - non-compliance</a:t>
            </a:r>
          </a:p>
        </p:txBody>
      </p:sp>
      <p:sp>
        <p:nvSpPr>
          <p:cNvPr id="49" name="Rectangle 48"/>
          <p:cNvSpPr/>
          <p:nvPr/>
        </p:nvSpPr>
        <p:spPr>
          <a:xfrm>
            <a:off x="3200400" y="4187952"/>
            <a:ext cx="13258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1" name="Rectangle 50"/>
          <p:cNvSpPr/>
          <p:nvPr/>
        </p:nvSpPr>
        <p:spPr>
          <a:xfrm>
            <a:off x="4526280" y="4187952"/>
            <a:ext cx="52120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2" name="TextBox 51"/>
          <p:cNvSpPr txBox="1"/>
          <p:nvPr/>
        </p:nvSpPr>
        <p:spPr>
          <a:xfrm>
            <a:off x="4581144" y="4261104"/>
            <a:ext cx="5092699" cy="387798"/>
          </a:xfrm>
          <a:prstGeom prst="rect">
            <a:avLst/>
          </a:prstGeom>
          <a:noFill/>
        </p:spPr>
        <p:txBody>
          <a:bodyPr wrap="square" lIns="36576" tIns="9144" rIns="36576" bIns="9144" anchor="t">
            <a:spAutoFit/>
          </a:bodyPr>
          <a:lstStyle/>
          <a:p>
            <a:pPr algn="l"/>
            <a:r>
              <a:rPr sz="1200" b="0" dirty="0">
                <a:solidFill>
                  <a:srgbClr val="2A2F3A"/>
                </a:solidFill>
                <a:latin typeface="Aptos"/>
              </a:rPr>
              <a:t>Freeze all enhancement-only myAI scope; retain only statutory, audit, security or compliance fixes.</a:t>
            </a:r>
          </a:p>
        </p:txBody>
      </p:sp>
      <p:sp>
        <p:nvSpPr>
          <p:cNvPr id="53" name="Rectangle 52"/>
          <p:cNvSpPr/>
          <p:nvPr/>
        </p:nvSpPr>
        <p:spPr>
          <a:xfrm>
            <a:off x="9738360" y="4187952"/>
            <a:ext cx="14173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4" name="TextBox 53"/>
          <p:cNvSpPr txBox="1"/>
          <p:nvPr/>
        </p:nvSpPr>
        <p:spPr>
          <a:xfrm>
            <a:off x="9793224" y="4261104"/>
            <a:ext cx="1199174" cy="203133"/>
          </a:xfrm>
          <a:prstGeom prst="rect">
            <a:avLst/>
          </a:prstGeom>
          <a:noFill/>
        </p:spPr>
        <p:txBody>
          <a:bodyPr wrap="none" lIns="36576" tIns="9144" rIns="36576" bIns="9144" anchor="t">
            <a:spAutoFit/>
          </a:bodyPr>
          <a:lstStyle/>
          <a:p>
            <a:pPr algn="l"/>
            <a:r>
              <a:rPr sz="1200" b="0">
                <a:solidFill>
                  <a:srgbClr val="2A2F3A"/>
                </a:solidFill>
                <a:latin typeface="Aptos"/>
              </a:rPr>
              <a:t>Compliance only</a:t>
            </a:r>
          </a:p>
        </p:txBody>
      </p:sp>
      <p:sp>
        <p:nvSpPr>
          <p:cNvPr id="55" name="Rectangle 54"/>
          <p:cNvSpPr/>
          <p:nvPr/>
        </p:nvSpPr>
        <p:spPr>
          <a:xfrm>
            <a:off x="411480" y="4764024"/>
            <a:ext cx="278892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6" name="TextBox 55"/>
          <p:cNvSpPr txBox="1"/>
          <p:nvPr/>
        </p:nvSpPr>
        <p:spPr>
          <a:xfrm>
            <a:off x="466344" y="4837176"/>
            <a:ext cx="1682064" cy="203133"/>
          </a:xfrm>
          <a:prstGeom prst="rect">
            <a:avLst/>
          </a:prstGeom>
          <a:noFill/>
        </p:spPr>
        <p:txBody>
          <a:bodyPr wrap="none" lIns="36576" tIns="9144" rIns="36576" bIns="9144" anchor="t">
            <a:spAutoFit/>
          </a:bodyPr>
          <a:lstStyle/>
          <a:p>
            <a:pPr algn="l"/>
            <a:r>
              <a:rPr sz="1200" b="1">
                <a:solidFill>
                  <a:srgbClr val="1E2761"/>
                </a:solidFill>
                <a:latin typeface="Aptos"/>
              </a:rPr>
              <a:t>New BRE Tool &amp; HOTAC</a:t>
            </a:r>
          </a:p>
        </p:txBody>
      </p:sp>
      <p:sp>
        <p:nvSpPr>
          <p:cNvPr id="57" name="Rectangle 56"/>
          <p:cNvSpPr/>
          <p:nvPr/>
        </p:nvSpPr>
        <p:spPr>
          <a:xfrm>
            <a:off x="3200400" y="4764024"/>
            <a:ext cx="132588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8" name="TextBox 57"/>
          <p:cNvSpPr txBox="1"/>
          <p:nvPr/>
        </p:nvSpPr>
        <p:spPr>
          <a:xfrm>
            <a:off x="3633854" y="4946904"/>
            <a:ext cx="458973" cy="203133"/>
          </a:xfrm>
          <a:prstGeom prst="rect">
            <a:avLst/>
          </a:prstGeom>
          <a:noFill/>
        </p:spPr>
        <p:txBody>
          <a:bodyPr wrap="none" lIns="36576" tIns="9144" rIns="36576" bIns="9144" anchor="t">
            <a:spAutoFit/>
          </a:bodyPr>
          <a:lstStyle/>
          <a:p>
            <a:pPr algn="ctr"/>
            <a:r>
              <a:rPr sz="1200" b="1">
                <a:solidFill>
                  <a:srgbClr val="B48900"/>
                </a:solidFill>
                <a:latin typeface="Aptos"/>
              </a:rPr>
              <a:t>Defer</a:t>
            </a:r>
          </a:p>
        </p:txBody>
      </p:sp>
      <p:sp>
        <p:nvSpPr>
          <p:cNvPr id="59" name="Rectangle 58"/>
          <p:cNvSpPr/>
          <p:nvPr/>
        </p:nvSpPr>
        <p:spPr>
          <a:xfrm>
            <a:off x="4526280" y="4764024"/>
            <a:ext cx="521208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0" name="TextBox 59"/>
          <p:cNvSpPr txBox="1"/>
          <p:nvPr/>
        </p:nvSpPr>
        <p:spPr>
          <a:xfrm>
            <a:off x="4581144" y="4837176"/>
            <a:ext cx="5092699" cy="387798"/>
          </a:xfrm>
          <a:prstGeom prst="rect">
            <a:avLst/>
          </a:prstGeom>
          <a:noFill/>
        </p:spPr>
        <p:txBody>
          <a:bodyPr wrap="square" lIns="36576" tIns="9144" rIns="36576" bIns="9144" anchor="t">
            <a:spAutoFit/>
          </a:bodyPr>
          <a:lstStyle/>
          <a:p>
            <a:pPr algn="l"/>
            <a:r>
              <a:rPr sz="1200" b="0" dirty="0">
                <a:solidFill>
                  <a:srgbClr val="2A2F3A"/>
                </a:solidFill>
                <a:latin typeface="Aptos"/>
              </a:rPr>
              <a:t>Net-new platform/process build will compete with payroll integration and rule-definition capacity.</a:t>
            </a:r>
          </a:p>
        </p:txBody>
      </p:sp>
      <p:sp>
        <p:nvSpPr>
          <p:cNvPr id="61" name="Rectangle 60"/>
          <p:cNvSpPr/>
          <p:nvPr/>
        </p:nvSpPr>
        <p:spPr>
          <a:xfrm>
            <a:off x="9738360" y="4764024"/>
            <a:ext cx="1417320" cy="576072"/>
          </a:xfrm>
          <a:prstGeom prst="rect">
            <a:avLst/>
          </a:prstGeom>
          <a:solidFill>
            <a:srgbClr val="FAFBFD"/>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2" name="TextBox 61"/>
          <p:cNvSpPr txBox="1"/>
          <p:nvPr/>
        </p:nvSpPr>
        <p:spPr>
          <a:xfrm>
            <a:off x="9793224" y="4837176"/>
            <a:ext cx="1006494" cy="203133"/>
          </a:xfrm>
          <a:prstGeom prst="rect">
            <a:avLst/>
          </a:prstGeom>
          <a:noFill/>
        </p:spPr>
        <p:txBody>
          <a:bodyPr wrap="none" lIns="36576" tIns="9144" rIns="36576" bIns="9144" anchor="t">
            <a:spAutoFit/>
          </a:bodyPr>
          <a:lstStyle/>
          <a:p>
            <a:pPr algn="l"/>
            <a:r>
              <a:rPr sz="1200" b="0">
                <a:solidFill>
                  <a:srgbClr val="2A2F3A"/>
                </a:solidFill>
                <a:latin typeface="Aptos"/>
              </a:rPr>
              <a:t>BAU fixes only</a:t>
            </a:r>
          </a:p>
        </p:txBody>
      </p:sp>
      <p:sp>
        <p:nvSpPr>
          <p:cNvPr id="63" name="Rectangle 62"/>
          <p:cNvSpPr/>
          <p:nvPr/>
        </p:nvSpPr>
        <p:spPr>
          <a:xfrm>
            <a:off x="411480" y="5340096"/>
            <a:ext cx="27889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4" name="TextBox 63"/>
          <p:cNvSpPr txBox="1"/>
          <p:nvPr/>
        </p:nvSpPr>
        <p:spPr>
          <a:xfrm>
            <a:off x="466344" y="5413248"/>
            <a:ext cx="2383601" cy="203133"/>
          </a:xfrm>
          <a:prstGeom prst="rect">
            <a:avLst/>
          </a:prstGeom>
          <a:noFill/>
        </p:spPr>
        <p:txBody>
          <a:bodyPr wrap="none" lIns="36576" tIns="9144" rIns="36576" bIns="9144" anchor="t">
            <a:spAutoFit/>
          </a:bodyPr>
          <a:lstStyle/>
          <a:p>
            <a:pPr algn="l"/>
            <a:r>
              <a:rPr sz="1200" b="1">
                <a:solidFill>
                  <a:srgbClr val="1E2761"/>
                </a:solidFill>
                <a:latin typeface="Aptos"/>
              </a:rPr>
              <a:t>360 Degree Multi-Rater Feedback</a:t>
            </a:r>
          </a:p>
        </p:txBody>
      </p:sp>
      <p:sp>
        <p:nvSpPr>
          <p:cNvPr id="65" name="Rectangle 64"/>
          <p:cNvSpPr/>
          <p:nvPr/>
        </p:nvSpPr>
        <p:spPr>
          <a:xfrm>
            <a:off x="3200400" y="5340096"/>
            <a:ext cx="13258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6" name="TextBox 65"/>
          <p:cNvSpPr txBox="1"/>
          <p:nvPr/>
        </p:nvSpPr>
        <p:spPr>
          <a:xfrm>
            <a:off x="3633854" y="5522976"/>
            <a:ext cx="458973" cy="203133"/>
          </a:xfrm>
          <a:prstGeom prst="rect">
            <a:avLst/>
          </a:prstGeom>
          <a:noFill/>
        </p:spPr>
        <p:txBody>
          <a:bodyPr wrap="none" lIns="36576" tIns="9144" rIns="36576" bIns="9144" anchor="t">
            <a:spAutoFit/>
          </a:bodyPr>
          <a:lstStyle/>
          <a:p>
            <a:pPr algn="ctr"/>
            <a:r>
              <a:rPr sz="1200" b="1">
                <a:solidFill>
                  <a:srgbClr val="B48900"/>
                </a:solidFill>
                <a:latin typeface="Aptos"/>
              </a:rPr>
              <a:t>Defer</a:t>
            </a:r>
          </a:p>
        </p:txBody>
      </p:sp>
      <p:sp>
        <p:nvSpPr>
          <p:cNvPr id="67" name="Rectangle 66"/>
          <p:cNvSpPr/>
          <p:nvPr/>
        </p:nvSpPr>
        <p:spPr>
          <a:xfrm>
            <a:off x="4526280" y="5340096"/>
            <a:ext cx="521208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8" name="TextBox 67"/>
          <p:cNvSpPr txBox="1"/>
          <p:nvPr/>
        </p:nvSpPr>
        <p:spPr>
          <a:xfrm>
            <a:off x="4581144" y="5413248"/>
            <a:ext cx="5092699" cy="402336"/>
          </a:xfrm>
          <a:prstGeom prst="rect">
            <a:avLst/>
          </a:prstGeom>
          <a:noFill/>
        </p:spPr>
        <p:txBody>
          <a:bodyPr wrap="square" lIns="36576" tIns="9144" rIns="36576" bIns="9144" anchor="t">
            <a:spAutoFit/>
          </a:bodyPr>
          <a:lstStyle/>
          <a:p>
            <a:pPr algn="l"/>
            <a:r>
              <a:rPr sz="1200" b="0" dirty="0">
                <a:solidFill>
                  <a:srgbClr val="2A2F3A"/>
                </a:solidFill>
                <a:latin typeface="Aptos"/>
              </a:rPr>
              <a:t>Talent feedback capability can be sequenced after critical payroll stabilization; manual workaround possible.</a:t>
            </a:r>
          </a:p>
        </p:txBody>
      </p:sp>
      <p:sp>
        <p:nvSpPr>
          <p:cNvPr id="69" name="Rectangle 68"/>
          <p:cNvSpPr/>
          <p:nvPr/>
        </p:nvSpPr>
        <p:spPr>
          <a:xfrm>
            <a:off x="9738360" y="5340096"/>
            <a:ext cx="1417320" cy="576072"/>
          </a:xfrm>
          <a:prstGeom prst="rect">
            <a:avLst/>
          </a:prstGeom>
          <a:solidFill>
            <a:srgbClr val="FFFFFF"/>
          </a:solidFill>
          <a:ln w="9525">
            <a:solidFill>
              <a:srgbClr val="E1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70" name="TextBox 69"/>
          <p:cNvSpPr txBox="1"/>
          <p:nvPr/>
        </p:nvSpPr>
        <p:spPr>
          <a:xfrm>
            <a:off x="9793224" y="5413248"/>
            <a:ext cx="1093376" cy="203133"/>
          </a:xfrm>
          <a:prstGeom prst="rect">
            <a:avLst/>
          </a:prstGeom>
          <a:noFill/>
        </p:spPr>
        <p:txBody>
          <a:bodyPr wrap="none" lIns="36576" tIns="9144" rIns="36576" bIns="9144" anchor="t">
            <a:spAutoFit/>
          </a:bodyPr>
          <a:lstStyle/>
          <a:p>
            <a:pPr algn="l"/>
            <a:r>
              <a:rPr sz="1200" b="0">
                <a:solidFill>
                  <a:srgbClr val="2A2F3A"/>
                </a:solidFill>
                <a:latin typeface="Aptos"/>
              </a:rPr>
              <a:t>Reassess in Q4</a:t>
            </a:r>
          </a:p>
        </p:txBody>
      </p:sp>
      <p:sp>
        <p:nvSpPr>
          <p:cNvPr id="71" name="Rounded Rectangle 70"/>
          <p:cNvSpPr/>
          <p:nvPr/>
        </p:nvSpPr>
        <p:spPr>
          <a:xfrm>
            <a:off x="411480" y="5989320"/>
            <a:ext cx="11292840" cy="502920"/>
          </a:xfrm>
          <a:prstGeom prst="roundRect">
            <a:avLst/>
          </a:prstGeom>
          <a:solidFill>
            <a:srgbClr val="F8F2F3"/>
          </a:solidFill>
          <a:ln w="9525">
            <a:solidFill>
              <a:srgbClr val="EED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72" name="TextBox 71"/>
          <p:cNvSpPr txBox="1"/>
          <p:nvPr/>
        </p:nvSpPr>
        <p:spPr>
          <a:xfrm>
            <a:off x="621792" y="6108192"/>
            <a:ext cx="1118127" cy="233910"/>
          </a:xfrm>
          <a:prstGeom prst="rect">
            <a:avLst/>
          </a:prstGeom>
          <a:noFill/>
        </p:spPr>
        <p:txBody>
          <a:bodyPr wrap="none" lIns="36576" tIns="9144" rIns="36576" bIns="9144" anchor="t">
            <a:spAutoFit/>
          </a:bodyPr>
          <a:lstStyle/>
          <a:p>
            <a:pPr algn="l"/>
            <a:r>
              <a:rPr sz="1400" b="1">
                <a:solidFill>
                  <a:srgbClr val="C00000"/>
                </a:solidFill>
                <a:latin typeface="Aptos"/>
              </a:rPr>
              <a:t>SteerCo ask:</a:t>
            </a:r>
          </a:p>
        </p:txBody>
      </p:sp>
      <p:sp>
        <p:nvSpPr>
          <p:cNvPr id="73" name="TextBox 72"/>
          <p:cNvSpPr txBox="1"/>
          <p:nvPr/>
        </p:nvSpPr>
        <p:spPr>
          <a:xfrm>
            <a:off x="1751338" y="6108192"/>
            <a:ext cx="9952982" cy="233910"/>
          </a:xfrm>
          <a:prstGeom prst="rect">
            <a:avLst/>
          </a:prstGeom>
          <a:noFill/>
        </p:spPr>
        <p:txBody>
          <a:bodyPr wrap="square" lIns="36576" tIns="9144" rIns="36576" bIns="9144" anchor="t">
            <a:spAutoFit/>
          </a:bodyPr>
          <a:lstStyle/>
          <a:p>
            <a:pPr algn="l"/>
            <a:r>
              <a:rPr sz="1400" b="0" dirty="0">
                <a:solidFill>
                  <a:srgbClr val="2A2F3A"/>
                </a:solidFill>
                <a:latin typeface="Aptos"/>
              </a:rPr>
              <a:t>Approve temporary freeze on </a:t>
            </a:r>
            <a:r>
              <a:rPr lang="en-IN" sz="1400" b="0" dirty="0">
                <a:solidFill>
                  <a:srgbClr val="2A2F3A"/>
                </a:solidFill>
                <a:latin typeface="Aptos"/>
              </a:rPr>
              <a:t>above</a:t>
            </a:r>
            <a:r>
              <a:rPr sz="1400" b="0" dirty="0">
                <a:solidFill>
                  <a:srgbClr val="2A2F3A"/>
                </a:solidFill>
                <a:latin typeface="Aptos"/>
              </a:rPr>
              <a:t> roadmap items until ZTZT foundation, build and UAT bandwidth is secured.</a:t>
            </a:r>
          </a:p>
        </p:txBody>
      </p:sp>
      <p:sp>
        <p:nvSpPr>
          <p:cNvPr id="74" name="TextBox 73">
            <a:extLst>
              <a:ext uri="{FF2B5EF4-FFF2-40B4-BE49-F238E27FC236}">
                <a16:creationId xmlns:a16="http://schemas.microsoft.com/office/drawing/2014/main" id="{52D41124-4A70-F251-30F6-5B8BF10D5809}"/>
              </a:ext>
            </a:extLst>
          </p:cNvPr>
          <p:cNvSpPr txBox="1"/>
          <p:nvPr/>
        </p:nvSpPr>
        <p:spPr>
          <a:xfrm>
            <a:off x="3633853" y="4366711"/>
            <a:ext cx="458973" cy="203133"/>
          </a:xfrm>
          <a:prstGeom prst="rect">
            <a:avLst/>
          </a:prstGeom>
          <a:noFill/>
        </p:spPr>
        <p:txBody>
          <a:bodyPr wrap="none" lIns="36576" tIns="9144" rIns="36576" bIns="9144" anchor="t">
            <a:spAutoFit/>
          </a:bodyPr>
          <a:lstStyle/>
          <a:p>
            <a:pPr algn="ctr"/>
            <a:r>
              <a:rPr sz="1200" b="1" dirty="0">
                <a:solidFill>
                  <a:srgbClr val="B48900"/>
                </a:solidFill>
                <a:latin typeface="Aptos"/>
              </a:rPr>
              <a:t>Defer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A260-A553-0F94-18CB-AB45107FFAFB}"/>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5A2A52D-4735-1D8A-AA7D-8D122C1C349F}"/>
              </a:ext>
            </a:extLst>
          </p:cNvPr>
          <p:cNvGraphicFramePr>
            <a:graphicFrameLocks noGrp="1"/>
          </p:cNvGraphicFramePr>
          <p:nvPr>
            <p:extLst>
              <p:ext uri="{D42A27DB-BD31-4B8C-83A1-F6EECF244321}">
                <p14:modId xmlns:p14="http://schemas.microsoft.com/office/powerpoint/2010/main" val="3155597621"/>
              </p:ext>
            </p:extLst>
          </p:nvPr>
        </p:nvGraphicFramePr>
        <p:xfrm>
          <a:off x="843644" y="725326"/>
          <a:ext cx="11067458" cy="1554480"/>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124253">
                <a:tc>
                  <a:txBody>
                    <a:bodyPr/>
                    <a:lstStyle/>
                    <a:p>
                      <a:pPr algn="ctr"/>
                      <a:r>
                        <a:rPr lang="en-US" sz="900" dirty="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191159">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fr-FR" sz="900" b="1" i="0" u="none" strike="noStrike" kern="1200" dirty="0">
                          <a:solidFill>
                            <a:srgbClr val="00B050"/>
                          </a:solidFill>
                          <a:effectLst/>
                          <a:latin typeface="+mn-lt"/>
                          <a:ea typeface="+mn-ea"/>
                          <a:cs typeface="+mn-cs"/>
                        </a:rPr>
                        <a:t>Compensation Planning </a:t>
                      </a:r>
                      <a:r>
                        <a:rPr lang="fr-FR" sz="900" b="1" i="0" u="none" strike="noStrike" kern="1200" dirty="0" err="1">
                          <a:solidFill>
                            <a:srgbClr val="00B050"/>
                          </a:solidFill>
                          <a:effectLst/>
                          <a:latin typeface="+mn-lt"/>
                          <a:ea typeface="+mn-ea"/>
                          <a:cs typeface="+mn-cs"/>
                        </a:rPr>
                        <a:t>Templates</a:t>
                      </a:r>
                      <a:r>
                        <a:rPr lang="fr-FR" sz="900" b="1" i="0" u="none" strike="noStrike" kern="1200" dirty="0">
                          <a:solidFill>
                            <a:srgbClr val="00B050"/>
                          </a:solidFill>
                          <a:effectLst/>
                          <a:latin typeface="+mn-lt"/>
                          <a:ea typeface="+mn-ea"/>
                          <a:cs typeface="+mn-cs"/>
                        </a:rPr>
                        <a:t>, </a:t>
                      </a:r>
                      <a:r>
                        <a:rPr lang="fr-FR" sz="900" b="1" i="0" u="none" strike="noStrike" kern="1200" dirty="0" err="1">
                          <a:solidFill>
                            <a:srgbClr val="00B050"/>
                          </a:solidFill>
                          <a:effectLst/>
                          <a:latin typeface="+mn-lt"/>
                          <a:ea typeface="+mn-ea"/>
                          <a:cs typeface="+mn-cs"/>
                        </a:rPr>
                        <a:t>Increment</a:t>
                      </a:r>
                      <a:r>
                        <a:rPr lang="fr-FR" sz="900" b="1" i="0" u="none" strike="noStrike" kern="1200" dirty="0">
                          <a:solidFill>
                            <a:srgbClr val="00B050"/>
                          </a:solidFill>
                          <a:effectLst/>
                          <a:latin typeface="+mn-lt"/>
                          <a:ea typeface="+mn-ea"/>
                          <a:cs typeface="+mn-cs"/>
                        </a:rPr>
                        <a:t> &amp; Bonus </a:t>
                      </a:r>
                      <a:r>
                        <a:rPr lang="fr-FR" sz="900" b="1" i="0" u="none" strike="noStrike" kern="1200" dirty="0" err="1">
                          <a:solidFill>
                            <a:srgbClr val="00B050"/>
                          </a:solidFill>
                          <a:effectLst/>
                          <a:latin typeface="+mn-lt"/>
                          <a:ea typeface="+mn-ea"/>
                          <a:cs typeface="+mn-cs"/>
                        </a:rPr>
                        <a:t>Letters</a:t>
                      </a:r>
                      <a:r>
                        <a:rPr lang="fr-FR" sz="900" b="1" i="0" u="none" strike="noStrike" kern="1200" dirty="0">
                          <a:solidFill>
                            <a:srgbClr val="00B050"/>
                          </a:solidFill>
                          <a:effectLst/>
                          <a:latin typeface="+mn-lt"/>
                          <a:ea typeface="+mn-ea"/>
                          <a:cs typeface="+mn-cs"/>
                        </a:rPr>
                        <a:t> </a:t>
                      </a:r>
                      <a:r>
                        <a:rPr lang="fr-FR" sz="900" b="1" i="0" u="none" strike="noStrike" kern="1200" dirty="0" err="1">
                          <a:solidFill>
                            <a:srgbClr val="00B050"/>
                          </a:solidFill>
                          <a:effectLst/>
                          <a:latin typeface="+mn-lt"/>
                          <a:ea typeface="+mn-ea"/>
                          <a:cs typeface="+mn-cs"/>
                        </a:rPr>
                        <a:t>Templates</a:t>
                      </a:r>
                      <a:r>
                        <a:rPr lang="fr-FR" sz="900" b="1" i="0" u="none" strike="noStrike" kern="1200" dirty="0">
                          <a:solidFill>
                            <a:srgbClr val="00B050"/>
                          </a:solidFill>
                          <a:effectLst/>
                          <a:latin typeface="+mn-lt"/>
                          <a:ea typeface="+mn-ea"/>
                          <a:cs typeface="+mn-cs"/>
                        </a:rPr>
                        <a:t> </a:t>
                      </a:r>
                      <a:r>
                        <a:rPr lang="fr-FR" sz="900" b="1" i="0" u="none" strike="noStrike" kern="1200" dirty="0" err="1">
                          <a:solidFill>
                            <a:srgbClr val="00B050"/>
                          </a:solidFill>
                          <a:effectLst/>
                          <a:latin typeface="+mn-lt"/>
                          <a:ea typeface="+mn-ea"/>
                          <a:cs typeface="+mn-cs"/>
                        </a:rPr>
                        <a:t>Implementation</a:t>
                      </a:r>
                      <a:r>
                        <a:rPr lang="fr-FR" sz="900" b="1" i="0" u="none" strike="noStrike" kern="1200" dirty="0">
                          <a:solidFill>
                            <a:srgbClr val="00B050"/>
                          </a:solidFill>
                          <a:effectLst/>
                          <a:latin typeface="+mn-lt"/>
                          <a:ea typeface="+mn-ea"/>
                          <a:cs typeface="+mn-cs"/>
                        </a:rPr>
                        <a:t> Ph 1</a:t>
                      </a:r>
                      <a:endParaRPr lang="en-US" sz="900" b="1" i="0" u="none" strike="noStrike" kern="1200" dirty="0">
                        <a:solidFill>
                          <a:srgbClr val="00B050"/>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Standardizes and automates compensation communication, reducing manual effort and ensuring error‑free, timely rollouts.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Apr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0655"/>
                  </a:ext>
                </a:extLst>
              </a:tr>
              <a:tr h="191159">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rgbClr val="00B050"/>
                          </a:solidFill>
                          <a:effectLst/>
                          <a:latin typeface="+mn-lt"/>
                          <a:ea typeface="+mn-ea"/>
                          <a:cs typeface="+mn-cs"/>
                        </a:rPr>
                        <a:t>[</a:t>
                      </a:r>
                      <a:r>
                        <a:rPr lang="en-US" sz="900" b="1" i="0" u="none" strike="noStrike" kern="1200" dirty="0" err="1">
                          <a:solidFill>
                            <a:srgbClr val="00B050"/>
                          </a:solidFill>
                          <a:effectLst/>
                          <a:latin typeface="+mn-lt"/>
                          <a:ea typeface="+mn-ea"/>
                          <a:cs typeface="+mn-cs"/>
                        </a:rPr>
                        <a:t>Adhoc</a:t>
                      </a:r>
                      <a:r>
                        <a:rPr lang="en-US" sz="900" b="1" i="0" u="none" strike="noStrike" kern="1200" dirty="0">
                          <a:solidFill>
                            <a:srgbClr val="00B050"/>
                          </a:solidFill>
                          <a:effectLst/>
                          <a:latin typeface="+mn-lt"/>
                          <a:ea typeface="+mn-ea"/>
                          <a:cs typeface="+mn-cs"/>
                        </a:rPr>
                        <a:t>] Offer Letters Revamp Ph 1 – Optimizing offer letters (merging of multiple letters) &amp; incorporating wage code changes​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Reducing release TAT and rework while improving compliance and candidate experience​</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Apr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955853"/>
                  </a:ext>
                </a:extLst>
              </a:tr>
              <a:tr h="191159">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rgbClr val="00B050"/>
                          </a:solidFill>
                          <a:effectLst/>
                          <a:latin typeface="+mn-lt"/>
                          <a:ea typeface="+mn-ea"/>
                          <a:cs typeface="+mn-cs"/>
                        </a:rPr>
                        <a:t>Life ka Plan &amp; Azure SSO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IN" sz="900" kern="1200" dirty="0">
                          <a:solidFill>
                            <a:schemeClr val="tx1"/>
                          </a:solidFill>
                          <a:latin typeface="+mn-lt"/>
                          <a:ea typeface="+mn-ea"/>
                          <a:cs typeface="+mn-cs"/>
                        </a:rPr>
                        <a:t>E</a:t>
                      </a:r>
                      <a:r>
                        <a:rPr lang="en-US" sz="900" kern="1200" dirty="0">
                          <a:solidFill>
                            <a:schemeClr val="tx1"/>
                          </a:solidFill>
                          <a:latin typeface="+mn-lt"/>
                          <a:ea typeface="+mn-ea"/>
                          <a:cs typeface="+mn-cs"/>
                        </a:rPr>
                        <a:t>nsuring single source of truth (SuccessFactors) across systems &amp; 100% data accuracy​</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Apr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95030"/>
                  </a:ext>
                </a:extLst>
              </a:tr>
              <a:tr h="191159">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rgbClr val="00B050"/>
                          </a:solidFill>
                          <a:effectLst/>
                          <a:latin typeface="+mn-lt"/>
                          <a:ea typeface="+mn-ea"/>
                          <a:cs typeface="+mn-cs"/>
                        </a:rPr>
                        <a:t>Workforce Analytics – Employee Snapshot Related Dashboard revamp​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Provides deeper visibility into position structures, vacancies, and utilization through improved visuals and data accuracy, enabling better workforce planning.​</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Apr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625183"/>
                  </a:ext>
                </a:extLst>
              </a:tr>
            </a:tbl>
          </a:graphicData>
        </a:graphic>
      </p:graphicFrame>
      <p:sp>
        <p:nvSpPr>
          <p:cNvPr id="3" name="Title 11">
            <a:extLst>
              <a:ext uri="{FF2B5EF4-FFF2-40B4-BE49-F238E27FC236}">
                <a16:creationId xmlns:a16="http://schemas.microsoft.com/office/drawing/2014/main" id="{4ACBE23D-28B7-1813-07CC-3955D5E57745}"/>
              </a:ext>
            </a:extLst>
          </p:cNvPr>
          <p:cNvSpPr txBox="1">
            <a:spLocks/>
          </p:cNvSpPr>
          <p:nvPr/>
        </p:nvSpPr>
        <p:spPr>
          <a:xfrm>
            <a:off x="76200" y="176215"/>
            <a:ext cx="69966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FY 27 Q1  Release Plan – Key Initiatives</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sp>
        <p:nvSpPr>
          <p:cNvPr id="12" name="Rectangle 11">
            <a:extLst>
              <a:ext uri="{FF2B5EF4-FFF2-40B4-BE49-F238E27FC236}">
                <a16:creationId xmlns:a16="http://schemas.microsoft.com/office/drawing/2014/main" id="{7ED6779E-B2CD-6BDC-2B18-94CA7E2394D7}"/>
              </a:ext>
            </a:extLst>
          </p:cNvPr>
          <p:cNvSpPr/>
          <p:nvPr/>
        </p:nvSpPr>
        <p:spPr>
          <a:xfrm>
            <a:off x="8229600" y="305947"/>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3" name="Rectangle 12">
            <a:extLst>
              <a:ext uri="{FF2B5EF4-FFF2-40B4-BE49-F238E27FC236}">
                <a16:creationId xmlns:a16="http://schemas.microsoft.com/office/drawing/2014/main" id="{6D7E7541-7D16-B4E4-4405-60CBC7CA2777}"/>
              </a:ext>
            </a:extLst>
          </p:cNvPr>
          <p:cNvSpPr/>
          <p:nvPr/>
        </p:nvSpPr>
        <p:spPr>
          <a:xfrm>
            <a:off x="9239475" y="305566"/>
            <a:ext cx="90000" cy="90000"/>
          </a:xfrm>
          <a:prstGeom prst="rect">
            <a:avLst/>
          </a:prstGeom>
          <a:solidFill>
            <a:srgbClr val="B48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solidFill>
                <a:srgbClr val="B48900"/>
              </a:solidFill>
            </a:endParaRPr>
          </a:p>
        </p:txBody>
      </p:sp>
      <p:sp>
        <p:nvSpPr>
          <p:cNvPr id="14" name="Rectangle 13">
            <a:extLst>
              <a:ext uri="{FF2B5EF4-FFF2-40B4-BE49-F238E27FC236}">
                <a16:creationId xmlns:a16="http://schemas.microsoft.com/office/drawing/2014/main" id="{7159C434-C25C-D766-4265-D142887E066A}"/>
              </a:ext>
            </a:extLst>
          </p:cNvPr>
          <p:cNvSpPr/>
          <p:nvPr/>
        </p:nvSpPr>
        <p:spPr>
          <a:xfrm>
            <a:off x="10252487" y="326516"/>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5" name="TextBox 14">
            <a:extLst>
              <a:ext uri="{FF2B5EF4-FFF2-40B4-BE49-F238E27FC236}">
                <a16:creationId xmlns:a16="http://schemas.microsoft.com/office/drawing/2014/main" id="{40222D41-AA3B-4386-3530-38CBF187F2E0}"/>
              </a:ext>
            </a:extLst>
          </p:cNvPr>
          <p:cNvSpPr txBox="1"/>
          <p:nvPr/>
        </p:nvSpPr>
        <p:spPr>
          <a:xfrm>
            <a:off x="8285310" y="246495"/>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00B050"/>
                </a:solidFill>
              </a:rPr>
              <a:t>Completed</a:t>
            </a:r>
            <a:endParaRPr lang="en-IN" sz="1000" dirty="0"/>
          </a:p>
        </p:txBody>
      </p:sp>
      <p:sp>
        <p:nvSpPr>
          <p:cNvPr id="16" name="TextBox 20">
            <a:extLst>
              <a:ext uri="{FF2B5EF4-FFF2-40B4-BE49-F238E27FC236}">
                <a16:creationId xmlns:a16="http://schemas.microsoft.com/office/drawing/2014/main" id="{862C9D5A-B02A-25E0-F288-4FA97318B913}"/>
              </a:ext>
            </a:extLst>
          </p:cNvPr>
          <p:cNvSpPr txBox="1"/>
          <p:nvPr/>
        </p:nvSpPr>
        <p:spPr>
          <a:xfrm>
            <a:off x="9382105" y="264117"/>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B48900"/>
                </a:solidFill>
              </a:rPr>
              <a:t>In Progress</a:t>
            </a:r>
          </a:p>
        </p:txBody>
      </p:sp>
      <p:sp>
        <p:nvSpPr>
          <p:cNvPr id="17" name="TextBox 22">
            <a:extLst>
              <a:ext uri="{FF2B5EF4-FFF2-40B4-BE49-F238E27FC236}">
                <a16:creationId xmlns:a16="http://schemas.microsoft.com/office/drawing/2014/main" id="{737C720C-E954-F4E4-8267-19800D7AAB8B}"/>
              </a:ext>
            </a:extLst>
          </p:cNvPr>
          <p:cNvSpPr txBox="1"/>
          <p:nvPr/>
        </p:nvSpPr>
        <p:spPr>
          <a:xfrm>
            <a:off x="10363200" y="264116"/>
            <a:ext cx="6096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chemeClr val="accent1"/>
                </a:solidFill>
              </a:rPr>
              <a:t>At Risk</a:t>
            </a:r>
          </a:p>
        </p:txBody>
      </p:sp>
      <p:sp>
        <p:nvSpPr>
          <p:cNvPr id="5" name="TextBox 4">
            <a:extLst>
              <a:ext uri="{FF2B5EF4-FFF2-40B4-BE49-F238E27FC236}">
                <a16:creationId xmlns:a16="http://schemas.microsoft.com/office/drawing/2014/main" id="{B3FF8E8D-2002-EC58-2E8A-4CF42A101725}"/>
              </a:ext>
            </a:extLst>
          </p:cNvPr>
          <p:cNvSpPr txBox="1"/>
          <p:nvPr/>
        </p:nvSpPr>
        <p:spPr>
          <a:xfrm>
            <a:off x="119741" y="1900830"/>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Apr 26</a:t>
            </a:r>
          </a:p>
        </p:txBody>
      </p:sp>
      <p:sp>
        <p:nvSpPr>
          <p:cNvPr id="6" name="TextBox 5">
            <a:extLst>
              <a:ext uri="{FF2B5EF4-FFF2-40B4-BE49-F238E27FC236}">
                <a16:creationId xmlns:a16="http://schemas.microsoft.com/office/drawing/2014/main" id="{A7B45766-DA7B-C67F-62BB-8B3884FE48F1}"/>
              </a:ext>
            </a:extLst>
          </p:cNvPr>
          <p:cNvSpPr txBox="1"/>
          <p:nvPr/>
        </p:nvSpPr>
        <p:spPr>
          <a:xfrm>
            <a:off x="119741" y="3291335"/>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May 26</a:t>
            </a:r>
          </a:p>
        </p:txBody>
      </p:sp>
      <p:graphicFrame>
        <p:nvGraphicFramePr>
          <p:cNvPr id="9" name="Table 8">
            <a:extLst>
              <a:ext uri="{FF2B5EF4-FFF2-40B4-BE49-F238E27FC236}">
                <a16:creationId xmlns:a16="http://schemas.microsoft.com/office/drawing/2014/main" id="{316E42CF-D67D-9ED2-F73B-85FD0498CF36}"/>
              </a:ext>
            </a:extLst>
          </p:cNvPr>
          <p:cNvGraphicFramePr>
            <a:graphicFrameLocks noGrp="1"/>
          </p:cNvGraphicFramePr>
          <p:nvPr>
            <p:extLst>
              <p:ext uri="{D42A27DB-BD31-4B8C-83A1-F6EECF244321}">
                <p14:modId xmlns:p14="http://schemas.microsoft.com/office/powerpoint/2010/main" val="1871213548"/>
              </p:ext>
            </p:extLst>
          </p:nvPr>
        </p:nvGraphicFramePr>
        <p:xfrm>
          <a:off x="843643" y="2520795"/>
          <a:ext cx="11067458" cy="1920240"/>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156263">
                <a:tc>
                  <a:txBody>
                    <a:bodyPr/>
                    <a:lstStyle/>
                    <a:p>
                      <a:pPr algn="ctr"/>
                      <a:r>
                        <a:rPr lang="en-US" sz="90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End‑to‑End Crew Upgrade Automation (basis tenure, certification,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Automates upgrade decisions through rule‑based logic, improving fairness, process speed, and operational efficiency</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May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926250"/>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Creating Employee Masters (Rule-Based with Validations) – Phase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Creates a validated, rule-based employee master ensuring data integrity and reducing downstream system inconsistencies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May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9674832"/>
                  </a:ext>
                </a:extLst>
              </a:tr>
              <a:tr h="156263">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a:t>
                      </a:r>
                      <a:r>
                        <a:rPr lang="en-US" sz="900" b="1" dirty="0" err="1">
                          <a:solidFill>
                            <a:srgbClr val="00B050"/>
                          </a:solidFill>
                        </a:rPr>
                        <a:t>Adhoc</a:t>
                      </a:r>
                      <a:r>
                        <a:rPr lang="en-US" sz="900" b="1" dirty="0">
                          <a:solidFill>
                            <a:srgbClr val="00B050"/>
                          </a:solidFill>
                        </a:rPr>
                        <a:t>] Offer Letters Revamp Ph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Reducing release TAT and rework while improving compliance and candidate experience​</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May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545377"/>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Compensation Planning &amp; Increment Letter + Bonus Letter Generation FY 26 Phase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900" kern="1200" dirty="0">
                          <a:solidFill>
                            <a:schemeClr val="tx1"/>
                          </a:solidFill>
                          <a:latin typeface="+mn-lt"/>
                          <a:ea typeface="+mn-ea"/>
                          <a:cs typeface="+mn-cs"/>
                        </a:rPr>
                        <a:t>S</a:t>
                      </a:r>
                      <a:r>
                        <a:rPr lang="en-US" sz="900" kern="1200" dirty="0" err="1">
                          <a:solidFill>
                            <a:schemeClr val="tx1"/>
                          </a:solidFill>
                          <a:latin typeface="+mn-lt"/>
                          <a:ea typeface="+mn-ea"/>
                          <a:cs typeface="+mn-cs"/>
                        </a:rPr>
                        <a:t>tandardizes</a:t>
                      </a:r>
                      <a:r>
                        <a:rPr lang="en-US" sz="900" kern="1200" dirty="0">
                          <a:solidFill>
                            <a:schemeClr val="tx1"/>
                          </a:solidFill>
                          <a:latin typeface="+mn-lt"/>
                          <a:ea typeface="+mn-ea"/>
                          <a:cs typeface="+mn-cs"/>
                        </a:rPr>
                        <a:t> and automates compensation communication, reducing manual effort and ensuring error‑free, timely rollouts.​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28</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May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0865211"/>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FF0000"/>
                          </a:solidFill>
                        </a:rPr>
                        <a:t>[SkyFam] Weekend Duty Travel Alert on Email for SOD</a:t>
                      </a:r>
                      <a:r>
                        <a:rPr lang="en-US" sz="900" b="1" dirty="0">
                          <a:solidFill>
                            <a:schemeClr val="accent6">
                              <a:lumMod val="50000"/>
                            </a:schemeClr>
                          </a:solidFill>
                        </a:rPr>
                        <a:t>​</a:t>
                      </a:r>
                    </a:p>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i="1" dirty="0">
                          <a:solidFill>
                            <a:srgbClr val="FF0000"/>
                          </a:solidFill>
                        </a:rPr>
                        <a:t>(Delayed due to AIX Crew DH in progress)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Sends automated alerts for planned weekend travel, strengthening compliance, governance, and operational visibility.​</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strike="sngStrike" kern="1200" dirty="0">
                          <a:solidFill>
                            <a:schemeClr val="tx1"/>
                          </a:solidFill>
                          <a:latin typeface="+mn-lt"/>
                          <a:ea typeface="+mn-ea"/>
                          <a:cs typeface="+mn-cs"/>
                        </a:rPr>
                        <a:t>28</a:t>
                      </a:r>
                      <a:r>
                        <a:rPr lang="en-IN" sz="900" strike="sngStrike" kern="1200" baseline="30000" dirty="0">
                          <a:solidFill>
                            <a:schemeClr val="tx1"/>
                          </a:solidFill>
                          <a:latin typeface="+mn-lt"/>
                          <a:ea typeface="+mn-ea"/>
                          <a:cs typeface="+mn-cs"/>
                        </a:rPr>
                        <a:t>th</a:t>
                      </a:r>
                      <a:r>
                        <a:rPr lang="en-IN" sz="900" strike="sngStrike" kern="1200" dirty="0">
                          <a:solidFill>
                            <a:schemeClr val="tx1"/>
                          </a:solidFill>
                          <a:latin typeface="+mn-lt"/>
                          <a:ea typeface="+mn-ea"/>
                          <a:cs typeface="+mn-cs"/>
                        </a:rPr>
                        <a:t> May 2026</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strike="noStrike" kern="1200" dirty="0">
                          <a:solidFill>
                            <a:schemeClr val="tx1"/>
                          </a:solidFill>
                          <a:latin typeface="+mn-lt"/>
                          <a:ea typeface="+mn-ea"/>
                          <a:cs typeface="+mn-cs"/>
                        </a:rPr>
                        <a:t>21</a:t>
                      </a:r>
                      <a:r>
                        <a:rPr lang="en-IN" sz="900" strike="noStrike" kern="1200" baseline="30000" dirty="0">
                          <a:solidFill>
                            <a:schemeClr val="tx1"/>
                          </a:solidFill>
                          <a:latin typeface="+mn-lt"/>
                          <a:ea typeface="+mn-ea"/>
                          <a:cs typeface="+mn-cs"/>
                        </a:rPr>
                        <a:t>st</a:t>
                      </a:r>
                      <a:r>
                        <a:rPr lang="en-IN" sz="900" strike="noStrike" kern="1200" dirty="0">
                          <a:solidFill>
                            <a:schemeClr val="tx1"/>
                          </a:solidFill>
                          <a:latin typeface="+mn-lt"/>
                          <a:ea typeface="+mn-ea"/>
                          <a:cs typeface="+mn-cs"/>
                        </a:rPr>
                        <a:t> July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7521368"/>
                  </a:ext>
                </a:extLst>
              </a:tr>
            </a:tbl>
          </a:graphicData>
        </a:graphic>
      </p:graphicFrame>
      <p:graphicFrame>
        <p:nvGraphicFramePr>
          <p:cNvPr id="2" name="Table 1">
            <a:extLst>
              <a:ext uri="{FF2B5EF4-FFF2-40B4-BE49-F238E27FC236}">
                <a16:creationId xmlns:a16="http://schemas.microsoft.com/office/drawing/2014/main" id="{8F33684E-6153-39B7-FCA9-BB154F4E1BC4}"/>
              </a:ext>
            </a:extLst>
          </p:cNvPr>
          <p:cNvGraphicFramePr>
            <a:graphicFrameLocks noGrp="1"/>
          </p:cNvGraphicFramePr>
          <p:nvPr>
            <p:extLst>
              <p:ext uri="{D42A27DB-BD31-4B8C-83A1-F6EECF244321}">
                <p14:modId xmlns:p14="http://schemas.microsoft.com/office/powerpoint/2010/main" val="2005145718"/>
              </p:ext>
            </p:extLst>
          </p:nvPr>
        </p:nvGraphicFramePr>
        <p:xfrm>
          <a:off x="843643" y="4544865"/>
          <a:ext cx="11067458" cy="1920240"/>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0">
                <a:tc>
                  <a:txBody>
                    <a:bodyPr/>
                    <a:lstStyle/>
                    <a:p>
                      <a:pPr algn="ctr"/>
                      <a:r>
                        <a:rPr lang="en-US" sz="90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245124">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rgbClr val="00B050"/>
                          </a:solidFill>
                          <a:effectLst/>
                          <a:latin typeface="+mn-lt"/>
                          <a:ea typeface="+mn-ea"/>
                          <a:cs typeface="+mn-cs"/>
                        </a:rPr>
                        <a:t>Team Touchpoint on PMGM Automation</a:t>
                      </a:r>
                      <a:r>
                        <a:rPr lang="en-US" sz="900" b="1" i="0" u="none" strike="noStrike" kern="1200" dirty="0">
                          <a:solidFill>
                            <a:schemeClr val="accent6">
                              <a:lumMod val="50000"/>
                            </a:schemeClr>
                          </a:solidFill>
                          <a:effectLst/>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Automates scheduled manager–employee conversations, improving documentation quality and PMGM cycle compliance.​</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chemeClr val="tx1"/>
                          </a:solidFill>
                          <a:effectLst/>
                          <a:uLnTx/>
                          <a:uFillTx/>
                          <a:latin typeface="+mn-lt"/>
                          <a:ea typeface="+mn-ea"/>
                          <a:cs typeface="+mn-cs"/>
                        </a:rPr>
                        <a:t>27</a:t>
                      </a:r>
                      <a:r>
                        <a:rPr kumimoji="0" lang="en-IN" sz="900" b="0" i="0" u="none" strike="noStrike" kern="1200" cap="none" spc="0" normalizeH="0" baseline="30000" noProof="0" dirty="0">
                          <a:ln>
                            <a:noFill/>
                          </a:ln>
                          <a:solidFill>
                            <a:schemeClr val="tx1"/>
                          </a:solidFill>
                          <a:effectLst/>
                          <a:uLnTx/>
                          <a:uFillTx/>
                          <a:latin typeface="+mn-lt"/>
                          <a:ea typeface="+mn-ea"/>
                          <a:cs typeface="+mn-cs"/>
                        </a:rPr>
                        <a:t>th</a:t>
                      </a:r>
                      <a:r>
                        <a:rPr kumimoji="0" lang="en-IN" sz="900" b="0" i="0" u="none" strike="noStrike" kern="1200" cap="none" spc="0" normalizeH="0" baseline="0" noProof="0" dirty="0">
                          <a:ln>
                            <a:noFill/>
                          </a:ln>
                          <a:solidFill>
                            <a:schemeClr val="tx1"/>
                          </a:solidFill>
                          <a:effectLst/>
                          <a:uLnTx/>
                          <a:uFillTx/>
                          <a:latin typeface="+mn-lt"/>
                          <a:ea typeface="+mn-ea"/>
                          <a:cs typeface="+mn-cs"/>
                        </a:rPr>
                        <a:t> June 2026</a:t>
                      </a:r>
                      <a:endParaRPr kumimoji="0" lang="en-IN" sz="900" b="0" i="0" u="none" strike="noStrike" kern="1200" cap="none" spc="0" normalizeH="0" baseline="0" noProof="0" dirty="0">
                        <a:ln>
                          <a:noFill/>
                        </a:ln>
                        <a:solidFill>
                          <a:srgbClr val="C00000"/>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625183"/>
                  </a:ext>
                </a:extLst>
              </a:tr>
              <a:tr h="311976">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Workforce Analytics – Position Management Related Dashboard revamp​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Delivers a more intuitive, comprehensive view of employee demographics, movements, and trends, improving stakeholder understanding and analytics adoption.</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chemeClr val="tx1"/>
                          </a:solidFill>
                          <a:effectLst/>
                          <a:uLnTx/>
                          <a:uFillTx/>
                          <a:latin typeface="+mn-lt"/>
                          <a:ea typeface="+mn-ea"/>
                          <a:cs typeface="+mn-cs"/>
                        </a:rPr>
                        <a:t>27</a:t>
                      </a:r>
                      <a:r>
                        <a:rPr kumimoji="0" lang="en-IN" sz="900" b="0" i="0" u="none" strike="noStrike" kern="1200" cap="none" spc="0" normalizeH="0" baseline="30000" noProof="0" dirty="0">
                          <a:ln>
                            <a:noFill/>
                          </a:ln>
                          <a:solidFill>
                            <a:schemeClr val="tx1"/>
                          </a:solidFill>
                          <a:effectLst/>
                          <a:uLnTx/>
                          <a:uFillTx/>
                          <a:latin typeface="+mn-lt"/>
                          <a:ea typeface="+mn-ea"/>
                          <a:cs typeface="+mn-cs"/>
                        </a:rPr>
                        <a:t>th</a:t>
                      </a:r>
                      <a:r>
                        <a:rPr kumimoji="0" lang="en-IN" sz="900" b="0" i="0" u="none" strike="noStrike" kern="1200" cap="none" spc="0" normalizeH="0" baseline="0" noProof="0" dirty="0">
                          <a:ln>
                            <a:noFill/>
                          </a:ln>
                          <a:solidFill>
                            <a:schemeClr val="tx1"/>
                          </a:solidFill>
                          <a:effectLst/>
                          <a:uLnTx/>
                          <a:uFillTx/>
                          <a:latin typeface="+mn-lt"/>
                          <a:ea typeface="+mn-ea"/>
                          <a:cs typeface="+mn-cs"/>
                        </a:rPr>
                        <a:t> June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589768"/>
                  </a:ext>
                </a:extLst>
              </a:tr>
              <a:tr h="178272">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a:t>
                      </a:r>
                      <a:r>
                        <a:rPr lang="en-US" sz="900" b="1" dirty="0" err="1">
                          <a:solidFill>
                            <a:srgbClr val="00B050"/>
                          </a:solidFill>
                        </a:rPr>
                        <a:t>Adhoc</a:t>
                      </a:r>
                      <a:r>
                        <a:rPr lang="en-US" sz="900" b="1" dirty="0">
                          <a:solidFill>
                            <a:srgbClr val="00B050"/>
                          </a:solidFill>
                        </a:rPr>
                        <a:t>] Life ka Plan SF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Ensure single source of truth for Life Ka Plan (Insurance) portal for employee master &amp; ensuring seamless automated entry &amp; exit of employees making access active/inactive near real time</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sngStrike" kern="1200" cap="none" spc="0" normalizeH="0" baseline="0" noProof="0" dirty="0">
                          <a:ln>
                            <a:noFill/>
                          </a:ln>
                          <a:solidFill>
                            <a:schemeClr val="tx1"/>
                          </a:solidFill>
                          <a:effectLst/>
                          <a:uLnTx/>
                          <a:uFillTx/>
                          <a:latin typeface="+mn-lt"/>
                          <a:ea typeface="+mn-ea"/>
                          <a:cs typeface="+mn-cs"/>
                        </a:rPr>
                        <a:t>27</a:t>
                      </a:r>
                      <a:r>
                        <a:rPr kumimoji="0" lang="en-IN" sz="900" b="0" i="0" u="none" strike="sngStrike" kern="1200" cap="none" spc="0" normalizeH="0" baseline="30000" noProof="0" dirty="0">
                          <a:ln>
                            <a:noFill/>
                          </a:ln>
                          <a:solidFill>
                            <a:schemeClr val="tx1"/>
                          </a:solidFill>
                          <a:effectLst/>
                          <a:uLnTx/>
                          <a:uFillTx/>
                          <a:latin typeface="+mn-lt"/>
                          <a:ea typeface="+mn-ea"/>
                          <a:cs typeface="+mn-cs"/>
                        </a:rPr>
                        <a:t>th</a:t>
                      </a:r>
                      <a:r>
                        <a:rPr kumimoji="0" lang="en-IN" sz="900" b="0" i="0" u="none" strike="sngStrike" kern="1200" cap="none" spc="0" normalizeH="0" baseline="0" noProof="0" dirty="0">
                          <a:ln>
                            <a:noFill/>
                          </a:ln>
                          <a:solidFill>
                            <a:schemeClr val="tx1"/>
                          </a:solidFill>
                          <a:effectLst/>
                          <a:uLnTx/>
                          <a:uFillTx/>
                          <a:latin typeface="+mn-lt"/>
                          <a:ea typeface="+mn-ea"/>
                          <a:cs typeface="+mn-cs"/>
                        </a:rPr>
                        <a:t> June 2026</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chemeClr val="tx1"/>
                          </a:solidFill>
                          <a:effectLst/>
                          <a:uLnTx/>
                          <a:uFillTx/>
                          <a:latin typeface="+mn-lt"/>
                          <a:ea typeface="+mn-ea"/>
                          <a:cs typeface="+mn-cs"/>
                        </a:rPr>
                        <a:t>2</a:t>
                      </a:r>
                      <a:r>
                        <a:rPr kumimoji="0" lang="en-IN" sz="900" b="0" i="0" u="none" strike="noStrike" kern="1200" cap="none" spc="0" normalizeH="0" baseline="30000" noProof="0" dirty="0">
                          <a:ln>
                            <a:noFill/>
                          </a:ln>
                          <a:solidFill>
                            <a:schemeClr val="tx1"/>
                          </a:solidFill>
                          <a:effectLst/>
                          <a:uLnTx/>
                          <a:uFillTx/>
                          <a:latin typeface="+mn-lt"/>
                          <a:ea typeface="+mn-ea"/>
                          <a:cs typeface="+mn-cs"/>
                        </a:rPr>
                        <a:t>nd</a:t>
                      </a:r>
                      <a:r>
                        <a:rPr kumimoji="0" lang="en-IN" sz="900" b="0" i="0" u="none" strike="noStrike" kern="1200" cap="none" spc="0" normalizeH="0" baseline="0" noProof="0" dirty="0">
                          <a:ln>
                            <a:noFill/>
                          </a:ln>
                          <a:solidFill>
                            <a:schemeClr val="tx1"/>
                          </a:solidFill>
                          <a:effectLst/>
                          <a:uLnTx/>
                          <a:uFillTx/>
                          <a:latin typeface="+mn-lt"/>
                          <a:ea typeface="+mn-ea"/>
                          <a:cs typeface="+mn-cs"/>
                        </a:rPr>
                        <a:t> July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336070"/>
                  </a:ext>
                </a:extLst>
              </a:tr>
              <a:tr h="178272">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Creating Employee Masters (Rule-Based with Validations) – Phase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Creates a validated, rule-based employee master ensuring data integrity and reducing downstream system inconsistencies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rgbClr val="000000"/>
                          </a:solidFill>
                          <a:effectLst/>
                          <a:uLnTx/>
                          <a:uFillTx/>
                          <a:latin typeface="Nunito Sans"/>
                          <a:ea typeface="+mn-ea"/>
                          <a:cs typeface="+mn-cs"/>
                        </a:rPr>
                        <a:t>27</a:t>
                      </a:r>
                      <a:r>
                        <a:rPr kumimoji="0" lang="en-IN" sz="900" b="0" i="0" u="none" strike="noStrike" kern="1200" cap="none" spc="0" normalizeH="0" baseline="30000" noProof="0" dirty="0">
                          <a:ln>
                            <a:noFill/>
                          </a:ln>
                          <a:solidFill>
                            <a:srgbClr val="000000"/>
                          </a:solidFill>
                          <a:effectLst/>
                          <a:uLnTx/>
                          <a:uFillTx/>
                          <a:latin typeface="Nunito Sans"/>
                          <a:ea typeface="+mn-ea"/>
                          <a:cs typeface="+mn-cs"/>
                        </a:rPr>
                        <a:t>th</a:t>
                      </a:r>
                      <a:r>
                        <a:rPr kumimoji="0" lang="en-IN" sz="900" b="0" i="0" u="none" strike="noStrike" kern="1200" cap="none" spc="0" normalizeH="0" baseline="0" noProof="0" dirty="0">
                          <a:ln>
                            <a:noFill/>
                          </a:ln>
                          <a:solidFill>
                            <a:srgbClr val="000000"/>
                          </a:solidFill>
                          <a:effectLst/>
                          <a:uLnTx/>
                          <a:uFillTx/>
                          <a:latin typeface="Nunito Sans"/>
                          <a:ea typeface="+mn-ea"/>
                          <a:cs typeface="+mn-cs"/>
                        </a:rPr>
                        <a:t> June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498825"/>
                  </a:ext>
                </a:extLst>
              </a:tr>
              <a:tr h="178272">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rgbClr val="00B050"/>
                          </a:solidFill>
                        </a:rPr>
                        <a:t>PeopleStrong BRE New Module Implementation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900" kern="1200" dirty="0">
                          <a:solidFill>
                            <a:schemeClr val="tx1"/>
                          </a:solidFill>
                          <a:latin typeface="+mn-lt"/>
                          <a:ea typeface="+mn-ea"/>
                          <a:cs typeface="+mn-cs"/>
                        </a:rPr>
                        <a:t>Ensures enhanced compliance guardrails in place addressing audit observations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rgbClr val="000000"/>
                          </a:solidFill>
                          <a:effectLst/>
                          <a:uLnTx/>
                          <a:uFillTx/>
                          <a:latin typeface="Nunito Sans"/>
                          <a:ea typeface="+mn-ea"/>
                          <a:cs typeface="+mn-cs"/>
                        </a:rPr>
                        <a:t>1</a:t>
                      </a:r>
                      <a:r>
                        <a:rPr kumimoji="0" lang="en-IN" sz="900" b="0" i="0" u="none" strike="noStrike" kern="1200" cap="none" spc="0" normalizeH="0" baseline="30000" noProof="0" dirty="0">
                          <a:ln>
                            <a:noFill/>
                          </a:ln>
                          <a:solidFill>
                            <a:srgbClr val="000000"/>
                          </a:solidFill>
                          <a:effectLst/>
                          <a:uLnTx/>
                          <a:uFillTx/>
                          <a:latin typeface="Nunito Sans"/>
                          <a:ea typeface="+mn-ea"/>
                          <a:cs typeface="+mn-cs"/>
                        </a:rPr>
                        <a:t>st</a:t>
                      </a:r>
                      <a:r>
                        <a:rPr kumimoji="0" lang="en-IN" sz="900" b="0" i="0" u="none" strike="noStrike" kern="1200" cap="none" spc="0" normalizeH="0" baseline="0" noProof="0" dirty="0">
                          <a:ln>
                            <a:noFill/>
                          </a:ln>
                          <a:solidFill>
                            <a:srgbClr val="000000"/>
                          </a:solidFill>
                          <a:effectLst/>
                          <a:uLnTx/>
                          <a:uFillTx/>
                          <a:latin typeface="Nunito Sans"/>
                          <a:ea typeface="+mn-ea"/>
                          <a:cs typeface="+mn-cs"/>
                        </a:rPr>
                        <a:t> June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9428820"/>
                  </a:ext>
                </a:extLst>
              </a:tr>
            </a:tbl>
          </a:graphicData>
        </a:graphic>
      </p:graphicFrame>
      <p:sp>
        <p:nvSpPr>
          <p:cNvPr id="8" name="TextBox 7">
            <a:extLst>
              <a:ext uri="{FF2B5EF4-FFF2-40B4-BE49-F238E27FC236}">
                <a16:creationId xmlns:a16="http://schemas.microsoft.com/office/drawing/2014/main" id="{2574189D-49E5-4011-5C4B-7E1AD0F19573}"/>
              </a:ext>
            </a:extLst>
          </p:cNvPr>
          <p:cNvSpPr txBox="1"/>
          <p:nvPr/>
        </p:nvSpPr>
        <p:spPr>
          <a:xfrm>
            <a:off x="119741" y="5439125"/>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Jun 26</a:t>
            </a:r>
          </a:p>
        </p:txBody>
      </p:sp>
      <p:sp>
        <p:nvSpPr>
          <p:cNvPr id="10" name="TextBox 22">
            <a:extLst>
              <a:ext uri="{FF2B5EF4-FFF2-40B4-BE49-F238E27FC236}">
                <a16:creationId xmlns:a16="http://schemas.microsoft.com/office/drawing/2014/main" id="{87884FB2-CEAE-7B56-838B-0BB0690ED37B}"/>
              </a:ext>
            </a:extLst>
          </p:cNvPr>
          <p:cNvSpPr txBox="1"/>
          <p:nvPr/>
        </p:nvSpPr>
        <p:spPr>
          <a:xfrm>
            <a:off x="11430000" y="246495"/>
            <a:ext cx="6858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chemeClr val="tx1">
                    <a:lumMod val="50000"/>
                    <a:lumOff val="50000"/>
                  </a:schemeClr>
                </a:solidFill>
              </a:rPr>
              <a:t>On Hold</a:t>
            </a:r>
          </a:p>
        </p:txBody>
      </p:sp>
      <p:sp>
        <p:nvSpPr>
          <p:cNvPr id="11" name="Rectangle 10">
            <a:extLst>
              <a:ext uri="{FF2B5EF4-FFF2-40B4-BE49-F238E27FC236}">
                <a16:creationId xmlns:a16="http://schemas.microsoft.com/office/drawing/2014/main" id="{6696E149-7DDE-4405-2DAD-F3AAC9436A75}"/>
              </a:ext>
            </a:extLst>
          </p:cNvPr>
          <p:cNvSpPr/>
          <p:nvPr/>
        </p:nvSpPr>
        <p:spPr>
          <a:xfrm>
            <a:off x="11288184" y="324605"/>
            <a:ext cx="90000" cy="90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2845799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A841-2214-D5AD-FA24-4DAEC7B39F8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8FE80A37-46C2-7C26-54D4-46B8A0545EC7}"/>
              </a:ext>
            </a:extLst>
          </p:cNvPr>
          <p:cNvGraphicFramePr>
            <a:graphicFrameLocks noGrp="1"/>
          </p:cNvGraphicFramePr>
          <p:nvPr>
            <p:extLst>
              <p:ext uri="{D42A27DB-BD31-4B8C-83A1-F6EECF244321}">
                <p14:modId xmlns:p14="http://schemas.microsoft.com/office/powerpoint/2010/main" val="1620411318"/>
              </p:ext>
            </p:extLst>
          </p:nvPr>
        </p:nvGraphicFramePr>
        <p:xfrm>
          <a:off x="843644" y="725326"/>
          <a:ext cx="11067458" cy="1531436"/>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149961">
                <a:tc>
                  <a:txBody>
                    <a:bodyPr/>
                    <a:lstStyle/>
                    <a:p>
                      <a:pPr algn="ctr"/>
                      <a:r>
                        <a:rPr lang="en-US" sz="900" dirty="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239938">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Leave Pro-ration on Exit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Ensures fair and compliant leave settlement, reducing disputes and manual adjustments at exit.</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26</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July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0655"/>
                  </a:ext>
                </a:extLst>
              </a:tr>
              <a:tr h="239938">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Offer Letter Revamp Phase 3 – Optimizing offer letters (merging of multiple letters) &amp; incorporating wage code changes​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​Standardizes and modernizes offer communication to improve candidate experience and reduce errors.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July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955853"/>
                  </a:ext>
                </a:extLst>
              </a:tr>
              <a:tr h="149961">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Goal Setting Revamp​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Drives clearer performance alignment with business priorities, improving accountability &amp; outcomes.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July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95030"/>
                  </a:ext>
                </a:extLst>
              </a:tr>
              <a:tr h="239938">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Employee Attrition &amp; Overview Dashboard Enhancements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​Improves workforce retention decisions providing real-time insights - attrition trends &amp; key drivers.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July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625183"/>
                  </a:ext>
                </a:extLst>
              </a:tr>
              <a:tr h="149961">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AMS Dashboard Enhancements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IN" sz="900" kern="1200" dirty="0">
                          <a:solidFill>
                            <a:schemeClr val="tx1"/>
                          </a:solidFill>
                          <a:latin typeface="+mn-lt"/>
                          <a:ea typeface="+mn-ea"/>
                          <a:cs typeface="+mn-cs"/>
                        </a:rPr>
                        <a:t>Improves insights related to attendance &amp; in turn productivity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rgbClr val="000000"/>
                          </a:solidFill>
                          <a:effectLst/>
                          <a:uLnTx/>
                          <a:uFillTx/>
                          <a:latin typeface="Nunito Sans"/>
                          <a:ea typeface="+mn-ea"/>
                          <a:cs typeface="+mn-cs"/>
                        </a:rPr>
                        <a:t>26</a:t>
                      </a:r>
                      <a:r>
                        <a:rPr kumimoji="0" lang="en-IN" sz="900" b="0" i="0" u="none" strike="noStrike" kern="1200" cap="none" spc="0" normalizeH="0" baseline="30000" noProof="0" dirty="0">
                          <a:ln>
                            <a:noFill/>
                          </a:ln>
                          <a:solidFill>
                            <a:srgbClr val="000000"/>
                          </a:solidFill>
                          <a:effectLst/>
                          <a:uLnTx/>
                          <a:uFillTx/>
                          <a:latin typeface="Nunito Sans"/>
                          <a:ea typeface="+mn-ea"/>
                          <a:cs typeface="+mn-cs"/>
                        </a:rPr>
                        <a:t>th</a:t>
                      </a:r>
                      <a:r>
                        <a:rPr kumimoji="0" lang="en-IN" sz="900" b="0" i="0" u="none" strike="noStrike" kern="1200" cap="none" spc="0" normalizeH="0" baseline="0" noProof="0" dirty="0">
                          <a:ln>
                            <a:noFill/>
                          </a:ln>
                          <a:solidFill>
                            <a:srgbClr val="000000"/>
                          </a:solidFill>
                          <a:effectLst/>
                          <a:uLnTx/>
                          <a:uFillTx/>
                          <a:latin typeface="Nunito Sans"/>
                          <a:ea typeface="+mn-ea"/>
                          <a:cs typeface="+mn-cs"/>
                        </a:rPr>
                        <a:t> July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177131"/>
                  </a:ext>
                </a:extLst>
              </a:tr>
            </a:tbl>
          </a:graphicData>
        </a:graphic>
      </p:graphicFrame>
      <p:sp>
        <p:nvSpPr>
          <p:cNvPr id="3" name="Title 11">
            <a:extLst>
              <a:ext uri="{FF2B5EF4-FFF2-40B4-BE49-F238E27FC236}">
                <a16:creationId xmlns:a16="http://schemas.microsoft.com/office/drawing/2014/main" id="{EF40B132-14F6-1F5B-0A3F-153FF9CAC813}"/>
              </a:ext>
            </a:extLst>
          </p:cNvPr>
          <p:cNvSpPr txBox="1">
            <a:spLocks/>
          </p:cNvSpPr>
          <p:nvPr/>
        </p:nvSpPr>
        <p:spPr>
          <a:xfrm>
            <a:off x="76200" y="176215"/>
            <a:ext cx="69966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FY 27 Q2  Release Plan – Key Initiatives</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sp>
        <p:nvSpPr>
          <p:cNvPr id="12" name="Rectangle 11">
            <a:extLst>
              <a:ext uri="{FF2B5EF4-FFF2-40B4-BE49-F238E27FC236}">
                <a16:creationId xmlns:a16="http://schemas.microsoft.com/office/drawing/2014/main" id="{E8B48899-0713-5037-86A4-336CD620F7C0}"/>
              </a:ext>
            </a:extLst>
          </p:cNvPr>
          <p:cNvSpPr/>
          <p:nvPr/>
        </p:nvSpPr>
        <p:spPr>
          <a:xfrm>
            <a:off x="8229600" y="305947"/>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3" name="Rectangle 12">
            <a:extLst>
              <a:ext uri="{FF2B5EF4-FFF2-40B4-BE49-F238E27FC236}">
                <a16:creationId xmlns:a16="http://schemas.microsoft.com/office/drawing/2014/main" id="{26FDC118-CC53-E7D5-15B9-325A0AD4ECCD}"/>
              </a:ext>
            </a:extLst>
          </p:cNvPr>
          <p:cNvSpPr/>
          <p:nvPr/>
        </p:nvSpPr>
        <p:spPr>
          <a:xfrm>
            <a:off x="9239475" y="305566"/>
            <a:ext cx="90000" cy="90000"/>
          </a:xfrm>
          <a:prstGeom prst="rect">
            <a:avLst/>
          </a:prstGeom>
          <a:solidFill>
            <a:srgbClr val="B48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solidFill>
                <a:srgbClr val="B48900"/>
              </a:solidFill>
            </a:endParaRPr>
          </a:p>
        </p:txBody>
      </p:sp>
      <p:sp>
        <p:nvSpPr>
          <p:cNvPr id="14" name="Rectangle 13">
            <a:extLst>
              <a:ext uri="{FF2B5EF4-FFF2-40B4-BE49-F238E27FC236}">
                <a16:creationId xmlns:a16="http://schemas.microsoft.com/office/drawing/2014/main" id="{AD4A4E4A-9E16-38EE-DAC1-453089D8A2C3}"/>
              </a:ext>
            </a:extLst>
          </p:cNvPr>
          <p:cNvSpPr/>
          <p:nvPr/>
        </p:nvSpPr>
        <p:spPr>
          <a:xfrm>
            <a:off x="10252487" y="326516"/>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5" name="TextBox 14">
            <a:extLst>
              <a:ext uri="{FF2B5EF4-FFF2-40B4-BE49-F238E27FC236}">
                <a16:creationId xmlns:a16="http://schemas.microsoft.com/office/drawing/2014/main" id="{35380CB9-A878-85E4-A4B3-DA07BC46B1AE}"/>
              </a:ext>
            </a:extLst>
          </p:cNvPr>
          <p:cNvSpPr txBox="1"/>
          <p:nvPr/>
        </p:nvSpPr>
        <p:spPr>
          <a:xfrm>
            <a:off x="8285310" y="246495"/>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00B050"/>
                </a:solidFill>
              </a:rPr>
              <a:t>Completed</a:t>
            </a:r>
            <a:endParaRPr lang="en-IN" sz="1000" dirty="0"/>
          </a:p>
        </p:txBody>
      </p:sp>
      <p:sp>
        <p:nvSpPr>
          <p:cNvPr id="16" name="TextBox 20">
            <a:extLst>
              <a:ext uri="{FF2B5EF4-FFF2-40B4-BE49-F238E27FC236}">
                <a16:creationId xmlns:a16="http://schemas.microsoft.com/office/drawing/2014/main" id="{7C8C2608-39C5-F08C-B210-0410611C2742}"/>
              </a:ext>
            </a:extLst>
          </p:cNvPr>
          <p:cNvSpPr txBox="1"/>
          <p:nvPr/>
        </p:nvSpPr>
        <p:spPr>
          <a:xfrm>
            <a:off x="9382105" y="264117"/>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B48900"/>
                </a:solidFill>
              </a:rPr>
              <a:t>In Progress</a:t>
            </a:r>
          </a:p>
        </p:txBody>
      </p:sp>
      <p:sp>
        <p:nvSpPr>
          <p:cNvPr id="17" name="TextBox 22">
            <a:extLst>
              <a:ext uri="{FF2B5EF4-FFF2-40B4-BE49-F238E27FC236}">
                <a16:creationId xmlns:a16="http://schemas.microsoft.com/office/drawing/2014/main" id="{D5D9E314-CC9B-5FB8-3930-CBCD456046E8}"/>
              </a:ext>
            </a:extLst>
          </p:cNvPr>
          <p:cNvSpPr txBox="1"/>
          <p:nvPr/>
        </p:nvSpPr>
        <p:spPr>
          <a:xfrm>
            <a:off x="10363200" y="264116"/>
            <a:ext cx="6096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chemeClr val="accent1"/>
                </a:solidFill>
              </a:rPr>
              <a:t>At Risk</a:t>
            </a:r>
          </a:p>
        </p:txBody>
      </p:sp>
      <p:sp>
        <p:nvSpPr>
          <p:cNvPr id="5" name="TextBox 4">
            <a:extLst>
              <a:ext uri="{FF2B5EF4-FFF2-40B4-BE49-F238E27FC236}">
                <a16:creationId xmlns:a16="http://schemas.microsoft.com/office/drawing/2014/main" id="{6B8F4714-62A5-EF5D-C33E-648E74033CB5}"/>
              </a:ext>
            </a:extLst>
          </p:cNvPr>
          <p:cNvSpPr txBox="1"/>
          <p:nvPr/>
        </p:nvSpPr>
        <p:spPr>
          <a:xfrm>
            <a:off x="119741" y="1900830"/>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July 26</a:t>
            </a:r>
          </a:p>
        </p:txBody>
      </p:sp>
      <p:sp>
        <p:nvSpPr>
          <p:cNvPr id="6" name="TextBox 5">
            <a:extLst>
              <a:ext uri="{FF2B5EF4-FFF2-40B4-BE49-F238E27FC236}">
                <a16:creationId xmlns:a16="http://schemas.microsoft.com/office/drawing/2014/main" id="{CCF2E0F7-28D0-75D9-FBD2-79309CF020E0}"/>
              </a:ext>
            </a:extLst>
          </p:cNvPr>
          <p:cNvSpPr txBox="1"/>
          <p:nvPr/>
        </p:nvSpPr>
        <p:spPr>
          <a:xfrm>
            <a:off x="119741" y="3291335"/>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Aug 26</a:t>
            </a:r>
          </a:p>
        </p:txBody>
      </p:sp>
      <p:graphicFrame>
        <p:nvGraphicFramePr>
          <p:cNvPr id="9" name="Table 8">
            <a:extLst>
              <a:ext uri="{FF2B5EF4-FFF2-40B4-BE49-F238E27FC236}">
                <a16:creationId xmlns:a16="http://schemas.microsoft.com/office/drawing/2014/main" id="{936053E9-00D2-436B-C04C-8C869317CB46}"/>
              </a:ext>
            </a:extLst>
          </p:cNvPr>
          <p:cNvGraphicFramePr>
            <a:graphicFrameLocks noGrp="1"/>
          </p:cNvGraphicFramePr>
          <p:nvPr>
            <p:extLst>
              <p:ext uri="{D42A27DB-BD31-4B8C-83A1-F6EECF244321}">
                <p14:modId xmlns:p14="http://schemas.microsoft.com/office/powerpoint/2010/main" val="1914120937"/>
              </p:ext>
            </p:extLst>
          </p:nvPr>
        </p:nvGraphicFramePr>
        <p:xfrm>
          <a:off x="843643" y="2520795"/>
          <a:ext cx="11067458" cy="1188720"/>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156263">
                <a:tc>
                  <a:txBody>
                    <a:bodyPr/>
                    <a:lstStyle/>
                    <a:p>
                      <a:pPr algn="ctr"/>
                      <a:r>
                        <a:rPr lang="en-US" sz="90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Cross Boarding Phase 1 in 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Streamlines internal mobility by enabling seamless employee movement with minimal manual intervention.​</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900" kern="1200" dirty="0">
                          <a:solidFill>
                            <a:schemeClr val="tx1"/>
                          </a:solidFill>
                          <a:latin typeface="+mn-lt"/>
                          <a:ea typeface="+mn-ea"/>
                          <a:cs typeface="+mn-cs"/>
                        </a:rPr>
                        <a:t>26</a:t>
                      </a:r>
                      <a:r>
                        <a:rPr lang="en-IN" sz="900" kern="1200" baseline="30000" dirty="0">
                          <a:solidFill>
                            <a:schemeClr val="tx1"/>
                          </a:solidFill>
                          <a:latin typeface="+mn-lt"/>
                          <a:ea typeface="+mn-ea"/>
                          <a:cs typeface="+mn-cs"/>
                        </a:rPr>
                        <a:t>th</a:t>
                      </a:r>
                      <a:r>
                        <a:rPr lang="en-IN" sz="900" kern="1200" dirty="0">
                          <a:solidFill>
                            <a:schemeClr val="tx1"/>
                          </a:solidFill>
                          <a:latin typeface="+mn-lt"/>
                          <a:ea typeface="+mn-ea"/>
                          <a:cs typeface="+mn-cs"/>
                        </a:rPr>
                        <a:t> Aug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926250"/>
                  </a:ext>
                </a:extLst>
              </a:tr>
              <a:tr h="156263">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SkyFam – Consultant Auto-passage creation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Automates consultant onboarding records, ensuring faster processing and improved data accuracy.</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Aug 2026</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545377"/>
                  </a:ext>
                </a:extLst>
              </a:tr>
              <a:tr h="2500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HR Cost Dashboard Implementation​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Enables data-driven cost optimization by providing clear visibility into HR spending, workforce costs, and budget efficiency.</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rgbClr val="000000"/>
                          </a:solidFill>
                          <a:effectLst/>
                          <a:uLnTx/>
                          <a:uFillTx/>
                          <a:latin typeface="Nunito Sans"/>
                          <a:ea typeface="+mn-ea"/>
                          <a:cs typeface="+mn-cs"/>
                        </a:rPr>
                        <a:t>26</a:t>
                      </a:r>
                      <a:r>
                        <a:rPr kumimoji="0" lang="en-IN" sz="900" b="0" i="0" u="none" strike="noStrike" kern="1200" cap="none" spc="0" normalizeH="0" baseline="30000" noProof="0" dirty="0">
                          <a:ln>
                            <a:noFill/>
                          </a:ln>
                          <a:solidFill>
                            <a:srgbClr val="000000"/>
                          </a:solidFill>
                          <a:effectLst/>
                          <a:uLnTx/>
                          <a:uFillTx/>
                          <a:latin typeface="Nunito Sans"/>
                          <a:ea typeface="+mn-ea"/>
                          <a:cs typeface="+mn-cs"/>
                        </a:rPr>
                        <a:t>th</a:t>
                      </a:r>
                      <a:r>
                        <a:rPr kumimoji="0" lang="en-IN" sz="900" b="0" i="0" u="none" strike="noStrike" kern="1200" cap="none" spc="0" normalizeH="0" baseline="0" noProof="0" dirty="0">
                          <a:ln>
                            <a:noFill/>
                          </a:ln>
                          <a:solidFill>
                            <a:srgbClr val="000000"/>
                          </a:solidFill>
                          <a:effectLst/>
                          <a:uLnTx/>
                          <a:uFillTx/>
                          <a:latin typeface="Nunito Sans"/>
                          <a:ea typeface="+mn-ea"/>
                          <a:cs typeface="+mn-cs"/>
                        </a:rPr>
                        <a:t> Aug 2026</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0865211"/>
                  </a:ext>
                </a:extLst>
              </a:tr>
            </a:tbl>
          </a:graphicData>
        </a:graphic>
      </p:graphicFrame>
      <p:graphicFrame>
        <p:nvGraphicFramePr>
          <p:cNvPr id="2" name="Table 1">
            <a:extLst>
              <a:ext uri="{FF2B5EF4-FFF2-40B4-BE49-F238E27FC236}">
                <a16:creationId xmlns:a16="http://schemas.microsoft.com/office/drawing/2014/main" id="{F083BB4B-D8D0-9612-A7BD-03AC48BEF381}"/>
              </a:ext>
            </a:extLst>
          </p:cNvPr>
          <p:cNvGraphicFramePr>
            <a:graphicFrameLocks noGrp="1"/>
          </p:cNvGraphicFramePr>
          <p:nvPr>
            <p:extLst>
              <p:ext uri="{D42A27DB-BD31-4B8C-83A1-F6EECF244321}">
                <p14:modId xmlns:p14="http://schemas.microsoft.com/office/powerpoint/2010/main" val="2089246798"/>
              </p:ext>
            </p:extLst>
          </p:nvPr>
        </p:nvGraphicFramePr>
        <p:xfrm>
          <a:off x="843643" y="3886200"/>
          <a:ext cx="11067458" cy="2448739"/>
        </p:xfrm>
        <a:graphic>
          <a:graphicData uri="http://schemas.openxmlformats.org/drawingml/2006/table">
            <a:tbl>
              <a:tblPr firstRow="1" bandRow="1">
                <a:tableStyleId>{5C22544A-7EE6-4342-B048-85BDC9FD1C3A}</a:tableStyleId>
              </a:tblPr>
              <a:tblGrid>
                <a:gridCol w="3733639">
                  <a:extLst>
                    <a:ext uri="{9D8B030D-6E8A-4147-A177-3AD203B41FA5}">
                      <a16:colId xmlns:a16="http://schemas.microsoft.com/office/drawing/2014/main" val="3648978765"/>
                    </a:ext>
                  </a:extLst>
                </a:gridCol>
                <a:gridCol w="5541108">
                  <a:extLst>
                    <a:ext uri="{9D8B030D-6E8A-4147-A177-3AD203B41FA5}">
                      <a16:colId xmlns:a16="http://schemas.microsoft.com/office/drawing/2014/main" val="1868819459"/>
                    </a:ext>
                  </a:extLst>
                </a:gridCol>
                <a:gridCol w="1792711">
                  <a:extLst>
                    <a:ext uri="{9D8B030D-6E8A-4147-A177-3AD203B41FA5}">
                      <a16:colId xmlns:a16="http://schemas.microsoft.com/office/drawing/2014/main" val="3382319553"/>
                    </a:ext>
                  </a:extLst>
                </a:gridCol>
              </a:tblGrid>
              <a:tr h="231013">
                <a:tc>
                  <a:txBody>
                    <a:bodyPr/>
                    <a:lstStyle/>
                    <a:p>
                      <a:pPr algn="ctr"/>
                      <a:r>
                        <a:rPr lang="en-US" sz="900"/>
                        <a:t>Initiative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Key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900" dirty="0"/>
                        <a:t>Go-Live ETA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lumOff val="25000"/>
                      </a:schemeClr>
                    </a:solidFill>
                  </a:tcPr>
                </a:tc>
                <a:extLst>
                  <a:ext uri="{0D108BD9-81ED-4DB2-BD59-A6C34878D82A}">
                    <a16:rowId xmlns:a16="http://schemas.microsoft.com/office/drawing/2014/main" val="2747265447"/>
                  </a:ext>
                </a:extLst>
              </a:tr>
              <a:tr h="369621">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dirty="0">
                          <a:solidFill>
                            <a:schemeClr val="accent6">
                              <a:lumMod val="50000"/>
                            </a:schemeClr>
                          </a:solidFill>
                          <a:effectLst/>
                          <a:latin typeface="+mn-lt"/>
                          <a:ea typeface="+mn-ea"/>
                          <a:cs typeface="+mn-cs"/>
                        </a:rPr>
                        <a:t>AMS Phase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Enhances end-to-end HR service delivery through deeper automation and scalability, driving significant efficiency gains.</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chemeClr val="tx1"/>
                          </a:solidFill>
                          <a:effectLst/>
                          <a:uLnTx/>
                          <a:uFillTx/>
                          <a:latin typeface="+mn-lt"/>
                          <a:ea typeface="+mn-ea"/>
                          <a:cs typeface="+mn-cs"/>
                        </a:rPr>
                        <a:t>26</a:t>
                      </a:r>
                      <a:r>
                        <a:rPr kumimoji="0" lang="en-IN" sz="900" b="0" i="0" u="none" strike="noStrike" kern="1200" cap="none" spc="0" normalizeH="0" baseline="30000" noProof="0" dirty="0">
                          <a:ln>
                            <a:noFill/>
                          </a:ln>
                          <a:solidFill>
                            <a:schemeClr val="tx1"/>
                          </a:solidFill>
                          <a:effectLst/>
                          <a:uLnTx/>
                          <a:uFillTx/>
                          <a:latin typeface="+mn-lt"/>
                          <a:ea typeface="+mn-ea"/>
                          <a:cs typeface="+mn-cs"/>
                        </a:rPr>
                        <a:t>th</a:t>
                      </a:r>
                      <a:r>
                        <a:rPr kumimoji="0" lang="en-IN" sz="900" b="0" i="0" u="none" strike="noStrike" kern="1200" cap="none" spc="0" normalizeH="0" baseline="0" noProof="0" dirty="0">
                          <a:ln>
                            <a:noFill/>
                          </a:ln>
                          <a:solidFill>
                            <a:schemeClr val="tx1"/>
                          </a:solidFill>
                          <a:effectLst/>
                          <a:uLnTx/>
                          <a:uFillTx/>
                          <a:latin typeface="+mn-lt"/>
                          <a:ea typeface="+mn-ea"/>
                          <a:cs typeface="+mn-cs"/>
                        </a:rPr>
                        <a:t> Sep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625183"/>
                  </a:ext>
                </a:extLst>
              </a:tr>
              <a:tr h="3696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Engineering Upgrade Automation​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Reduces manual dependency and turnaround time by automating upgrade workflows, improving reliability and speed.​</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Sep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589768"/>
                  </a:ext>
                </a:extLst>
              </a:tr>
              <a:tr h="3696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Cross Boarding Phase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Expands internal mobility capabilities with advanced automation, improving employee experience and operational efficiency at scale.​</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Sep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336070"/>
                  </a:ext>
                </a:extLst>
              </a:tr>
              <a:tr h="3696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Manager Scorecard &amp; Team Insights Dashboard​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Provides leadership with strategic insights and KPIs to enable data-backed decisions and business alignment.​</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Sep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498825"/>
                  </a:ext>
                </a:extLst>
              </a:tr>
              <a:tr h="3696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a:solidFill>
                            <a:schemeClr val="accent6">
                              <a:lumMod val="50000"/>
                            </a:schemeClr>
                          </a:solidFill>
                        </a:rPr>
                        <a:t>Worker &amp; Employee Mapping in 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Enables accurate workforce data alignment for better reporting, compliance, and decision-making.​</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a:ln>
                            <a:noFill/>
                          </a:ln>
                          <a:solidFill>
                            <a:srgbClr val="000000"/>
                          </a:solidFill>
                          <a:effectLst/>
                          <a:uLnTx/>
                          <a:uFillTx/>
                          <a:latin typeface="Nunito Sans"/>
                          <a:ea typeface="+mn-ea"/>
                          <a:cs typeface="+mn-cs"/>
                        </a:rPr>
                        <a:t>26</a:t>
                      </a:r>
                      <a:r>
                        <a:rPr kumimoji="0" lang="en-IN" sz="900" b="0" i="0" u="none" strike="noStrike" kern="1200" cap="none" spc="0" normalizeH="0" baseline="30000" noProof="0">
                          <a:ln>
                            <a:noFill/>
                          </a:ln>
                          <a:solidFill>
                            <a:srgbClr val="000000"/>
                          </a:solidFill>
                          <a:effectLst/>
                          <a:uLnTx/>
                          <a:uFillTx/>
                          <a:latin typeface="Nunito Sans"/>
                          <a:ea typeface="+mn-ea"/>
                          <a:cs typeface="+mn-cs"/>
                        </a:rPr>
                        <a:t>th</a:t>
                      </a:r>
                      <a:r>
                        <a:rPr kumimoji="0" lang="en-IN" sz="900" b="0" i="0" u="none" strike="noStrike" kern="1200" cap="none" spc="0" normalizeH="0" baseline="0" noProof="0">
                          <a:ln>
                            <a:noFill/>
                          </a:ln>
                          <a:solidFill>
                            <a:srgbClr val="000000"/>
                          </a:solidFill>
                          <a:effectLst/>
                          <a:uLnTx/>
                          <a:uFillTx/>
                          <a:latin typeface="Nunito Sans"/>
                          <a:ea typeface="+mn-ea"/>
                          <a:cs typeface="+mn-cs"/>
                        </a:rPr>
                        <a:t> Sep 2026</a:t>
                      </a:r>
                      <a:endParaRPr kumimoji="0" lang="en-IN" sz="900" b="0" i="0" u="none" strike="noStrike" kern="1200" cap="none" spc="0" normalizeH="0" baseline="0" noProof="0" dirty="0">
                        <a:ln>
                          <a:noFill/>
                        </a:ln>
                        <a:solidFill>
                          <a:srgbClr val="000000"/>
                        </a:solidFill>
                        <a:effectLst/>
                        <a:uLnTx/>
                        <a:uFillTx/>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5564598"/>
                  </a:ext>
                </a:extLst>
              </a:tr>
              <a:tr h="369621">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1" dirty="0" err="1">
                          <a:solidFill>
                            <a:schemeClr val="accent6">
                              <a:lumMod val="50000"/>
                            </a:schemeClr>
                          </a:solidFill>
                        </a:rPr>
                        <a:t>Labour</a:t>
                      </a:r>
                      <a:r>
                        <a:rPr lang="en-US" sz="900" b="1" dirty="0">
                          <a:solidFill>
                            <a:schemeClr val="accent6">
                              <a:lumMod val="50000"/>
                            </a:schemeClr>
                          </a:solidFill>
                        </a:rPr>
                        <a:t> Code Changes in Payroll​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latin typeface="+mn-lt"/>
                          <a:ea typeface="+mn-ea"/>
                          <a:cs typeface="+mn-cs"/>
                        </a:rPr>
                        <a:t>Ensures payroll compliance with evolving </a:t>
                      </a:r>
                      <a:r>
                        <a:rPr lang="en-US" sz="900" kern="1200" dirty="0" err="1">
                          <a:solidFill>
                            <a:schemeClr val="tx1"/>
                          </a:solidFill>
                          <a:latin typeface="+mn-lt"/>
                          <a:ea typeface="+mn-ea"/>
                          <a:cs typeface="+mn-cs"/>
                        </a:rPr>
                        <a:t>labour</a:t>
                      </a:r>
                      <a:r>
                        <a:rPr lang="en-US" sz="900" kern="1200" dirty="0">
                          <a:solidFill>
                            <a:schemeClr val="tx1"/>
                          </a:solidFill>
                          <a:latin typeface="+mn-lt"/>
                          <a:ea typeface="+mn-ea"/>
                          <a:cs typeface="+mn-cs"/>
                        </a:rPr>
                        <a:t> laws while minimizing legal and financial risk.</a:t>
                      </a:r>
                      <a:endParaRPr lang="en-IN" sz="9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900" b="0" i="0" u="none" strike="noStrike" kern="1200" cap="none" spc="0" normalizeH="0" baseline="0" noProof="0" dirty="0">
                          <a:ln>
                            <a:noFill/>
                          </a:ln>
                          <a:solidFill>
                            <a:srgbClr val="000000"/>
                          </a:solidFill>
                          <a:effectLst/>
                          <a:uLnTx/>
                          <a:uFillTx/>
                          <a:latin typeface="Nunito Sans"/>
                          <a:ea typeface="+mn-ea"/>
                          <a:cs typeface="+mn-cs"/>
                        </a:rPr>
                        <a:t>26</a:t>
                      </a:r>
                      <a:r>
                        <a:rPr kumimoji="0" lang="en-IN" sz="900" b="0" i="0" u="none" strike="noStrike" kern="1200" cap="none" spc="0" normalizeH="0" baseline="30000" noProof="0" dirty="0">
                          <a:ln>
                            <a:noFill/>
                          </a:ln>
                          <a:solidFill>
                            <a:srgbClr val="000000"/>
                          </a:solidFill>
                          <a:effectLst/>
                          <a:uLnTx/>
                          <a:uFillTx/>
                          <a:latin typeface="Nunito Sans"/>
                          <a:ea typeface="+mn-ea"/>
                          <a:cs typeface="+mn-cs"/>
                        </a:rPr>
                        <a:t>th</a:t>
                      </a:r>
                      <a:r>
                        <a:rPr kumimoji="0" lang="en-IN" sz="900" b="0" i="0" u="none" strike="noStrike" kern="1200" cap="none" spc="0" normalizeH="0" baseline="0" noProof="0" dirty="0">
                          <a:ln>
                            <a:noFill/>
                          </a:ln>
                          <a:solidFill>
                            <a:srgbClr val="000000"/>
                          </a:solidFill>
                          <a:effectLst/>
                          <a:uLnTx/>
                          <a:uFillTx/>
                          <a:latin typeface="Nunito Sans"/>
                          <a:ea typeface="+mn-ea"/>
                          <a:cs typeface="+mn-cs"/>
                        </a:rPr>
                        <a:t> Sep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6084776"/>
                  </a:ext>
                </a:extLst>
              </a:tr>
            </a:tbl>
          </a:graphicData>
        </a:graphic>
      </p:graphicFrame>
      <p:sp>
        <p:nvSpPr>
          <p:cNvPr id="8" name="TextBox 7">
            <a:extLst>
              <a:ext uri="{FF2B5EF4-FFF2-40B4-BE49-F238E27FC236}">
                <a16:creationId xmlns:a16="http://schemas.microsoft.com/office/drawing/2014/main" id="{F14F54EB-F433-E2E2-608B-5AA89B56CAC7}"/>
              </a:ext>
            </a:extLst>
          </p:cNvPr>
          <p:cNvSpPr txBox="1"/>
          <p:nvPr/>
        </p:nvSpPr>
        <p:spPr>
          <a:xfrm>
            <a:off x="119741" y="5439125"/>
            <a:ext cx="767444" cy="261610"/>
          </a:xfrm>
          <a:prstGeom prst="rect">
            <a:avLst/>
          </a:prstGeom>
          <a:noFill/>
        </p:spPr>
        <p:txBody>
          <a:bodyPr wrap="square" rtlCol="0">
            <a:spAutoFit/>
          </a:bodyPr>
          <a:lstStyle/>
          <a:p>
            <a:r>
              <a:rPr lang="en-IN" sz="1100" b="1" dirty="0">
                <a:solidFill>
                  <a:srgbClr val="962067"/>
                </a:solidFill>
                <a:latin typeface="AirIndia" panose="04050608020B02020302" pitchFamily="82" charset="0"/>
              </a:rPr>
              <a:t>Sep 26</a:t>
            </a:r>
          </a:p>
        </p:txBody>
      </p:sp>
      <p:sp>
        <p:nvSpPr>
          <p:cNvPr id="10" name="TextBox 22">
            <a:extLst>
              <a:ext uri="{FF2B5EF4-FFF2-40B4-BE49-F238E27FC236}">
                <a16:creationId xmlns:a16="http://schemas.microsoft.com/office/drawing/2014/main" id="{C2C64206-1124-16B4-58C7-C81B90C57D33}"/>
              </a:ext>
            </a:extLst>
          </p:cNvPr>
          <p:cNvSpPr txBox="1"/>
          <p:nvPr/>
        </p:nvSpPr>
        <p:spPr>
          <a:xfrm>
            <a:off x="11430000" y="246495"/>
            <a:ext cx="6858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chemeClr val="tx1">
                    <a:lumMod val="50000"/>
                    <a:lumOff val="50000"/>
                  </a:schemeClr>
                </a:solidFill>
              </a:rPr>
              <a:t>On Hold</a:t>
            </a:r>
          </a:p>
        </p:txBody>
      </p:sp>
      <p:sp>
        <p:nvSpPr>
          <p:cNvPr id="11" name="Rectangle 10">
            <a:extLst>
              <a:ext uri="{FF2B5EF4-FFF2-40B4-BE49-F238E27FC236}">
                <a16:creationId xmlns:a16="http://schemas.microsoft.com/office/drawing/2014/main" id="{B92EC84B-6B2C-4AA4-D021-464B33289F80}"/>
              </a:ext>
            </a:extLst>
          </p:cNvPr>
          <p:cNvSpPr/>
          <p:nvPr/>
        </p:nvSpPr>
        <p:spPr>
          <a:xfrm>
            <a:off x="11288184" y="324605"/>
            <a:ext cx="90000" cy="90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3476357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EFE59-38CE-4E5C-EAD1-143C88A2F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9D62D-8B32-F539-D00F-35BF142EA90A}"/>
              </a:ext>
            </a:extLst>
          </p:cNvPr>
          <p:cNvSpPr>
            <a:spLocks noGrp="1"/>
          </p:cNvSpPr>
          <p:nvPr>
            <p:ph type="ctrTitle"/>
          </p:nvPr>
        </p:nvSpPr>
        <p:spPr>
          <a:xfrm>
            <a:off x="3912738" y="2514600"/>
            <a:ext cx="8082709" cy="2608510"/>
          </a:xfrm>
        </p:spPr>
        <p:txBody>
          <a:bodyPr>
            <a:normAutofit/>
          </a:bodyPr>
          <a:lstStyle/>
          <a:p>
            <a:r>
              <a:rPr lang="en-US" sz="6000" b="1" dirty="0">
                <a:solidFill>
                  <a:schemeClr val="bg1"/>
                </a:solidFill>
              </a:rPr>
              <a:t>3. New Tools Implementation Progress Update</a:t>
            </a:r>
            <a:endParaRPr lang="en-IN"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287E9D-EF0E-D34A-76CE-83530BA2B592}"/>
              </a:ext>
            </a:extLst>
          </p:cNvPr>
          <p:cNvSpPr txBox="1"/>
          <p:nvPr/>
        </p:nvSpPr>
        <p:spPr>
          <a:xfrm>
            <a:off x="9226281" y="5528266"/>
            <a:ext cx="2769166" cy="369140"/>
          </a:xfrm>
          <a:prstGeom prst="rect">
            <a:avLst/>
          </a:prstGeom>
          <a:noFill/>
        </p:spPr>
        <p:txBody>
          <a:bodyPr wrap="square" rtlCol="0">
            <a:spAutoFit/>
          </a:bodyPr>
          <a:lstStyle/>
          <a:p>
            <a:r>
              <a:rPr lang="en-US" sz="1799">
                <a:solidFill>
                  <a:srgbClr val="FFFFFF"/>
                </a:solidFill>
                <a:latin typeface="AirIndia" panose="04050608020B02020302" pitchFamily="82" charset="0"/>
              </a:rPr>
              <a:t>Digital &amp; Technology</a:t>
            </a:r>
            <a:endParaRPr lang="en-IN" sz="1799">
              <a:solidFill>
                <a:srgbClr val="FFFFFF"/>
              </a:solidFill>
              <a:latin typeface="AirIndia" panose="04050608020B02020302" pitchFamily="82" charset="0"/>
            </a:endParaRPr>
          </a:p>
        </p:txBody>
      </p:sp>
    </p:spTree>
    <p:extLst>
      <p:ext uri="{BB962C8B-B14F-4D97-AF65-F5344CB8AC3E}">
        <p14:creationId xmlns:p14="http://schemas.microsoft.com/office/powerpoint/2010/main" val="3828729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8BD0-61D1-43C2-832C-7E92AB3E3875}"/>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C1D703BE-1934-C315-29E0-9FC21BC2C7ED}"/>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C4A6D7B4-9B3C-36FE-E823-E1B1B71EB1C7}"/>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Attendance Management Phase 2 Tool</a:t>
            </a:r>
            <a:r>
              <a:rPr lang="en-US" sz="2400" dirty="0">
                <a:solidFill>
                  <a:srgbClr val="DA0E28"/>
                </a:solidFill>
                <a:latin typeface="AirIndia"/>
              </a:rPr>
              <a:t> Implementation Update</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graphicFrame>
        <p:nvGraphicFramePr>
          <p:cNvPr id="19" name="Diagram 18">
            <a:extLst>
              <a:ext uri="{FF2B5EF4-FFF2-40B4-BE49-F238E27FC236}">
                <a16:creationId xmlns:a16="http://schemas.microsoft.com/office/drawing/2014/main" id="{42A6C789-7816-6908-D72E-9A4421503191}"/>
              </a:ext>
            </a:extLst>
          </p:cNvPr>
          <p:cNvGraphicFramePr/>
          <p:nvPr>
            <p:extLst>
              <p:ext uri="{D42A27DB-BD31-4B8C-83A1-F6EECF244321}">
                <p14:modId xmlns:p14="http://schemas.microsoft.com/office/powerpoint/2010/main" val="226554776"/>
              </p:ext>
            </p:extLst>
          </p:nvPr>
        </p:nvGraphicFramePr>
        <p:xfrm>
          <a:off x="685800" y="1600200"/>
          <a:ext cx="11049000" cy="20128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 name="TextBox 33">
            <a:extLst>
              <a:ext uri="{FF2B5EF4-FFF2-40B4-BE49-F238E27FC236}">
                <a16:creationId xmlns:a16="http://schemas.microsoft.com/office/drawing/2014/main" id="{B8B757CF-FC20-6EEF-2EC3-BF496F5C4328}"/>
              </a:ext>
            </a:extLst>
          </p:cNvPr>
          <p:cNvSpPr txBox="1"/>
          <p:nvPr/>
        </p:nvSpPr>
        <p:spPr>
          <a:xfrm>
            <a:off x="762000" y="2899736"/>
            <a:ext cx="957313" cy="246221"/>
          </a:xfrm>
          <a:prstGeom prst="rect">
            <a:avLst/>
          </a:prstGeom>
          <a:noFill/>
        </p:spPr>
        <p:txBody>
          <a:bodyPr wrap="none" rtlCol="0">
            <a:spAutoFit/>
          </a:bodyPr>
          <a:lstStyle/>
          <a:p>
            <a:r>
              <a:rPr lang="en-IN" sz="1000" i="1" dirty="0"/>
              <a:t>2</a:t>
            </a:r>
            <a:r>
              <a:rPr lang="en-IN" sz="1000" i="1" baseline="30000" dirty="0"/>
              <a:t>nd</a:t>
            </a:r>
            <a:r>
              <a:rPr lang="en-IN" sz="1000" i="1" dirty="0"/>
              <a:t> Mar 2026</a:t>
            </a:r>
          </a:p>
        </p:txBody>
      </p:sp>
      <p:sp>
        <p:nvSpPr>
          <p:cNvPr id="35" name="TextBox 34">
            <a:extLst>
              <a:ext uri="{FF2B5EF4-FFF2-40B4-BE49-F238E27FC236}">
                <a16:creationId xmlns:a16="http://schemas.microsoft.com/office/drawing/2014/main" id="{F3538322-BA49-CB4E-60B2-CFC06D092CA9}"/>
              </a:ext>
            </a:extLst>
          </p:cNvPr>
          <p:cNvSpPr txBox="1"/>
          <p:nvPr/>
        </p:nvSpPr>
        <p:spPr>
          <a:xfrm>
            <a:off x="1981200" y="1981887"/>
            <a:ext cx="923651" cy="246221"/>
          </a:xfrm>
          <a:prstGeom prst="rect">
            <a:avLst/>
          </a:prstGeom>
          <a:noFill/>
        </p:spPr>
        <p:txBody>
          <a:bodyPr wrap="none" rtlCol="0">
            <a:spAutoFit/>
          </a:bodyPr>
          <a:lstStyle/>
          <a:p>
            <a:r>
              <a:rPr lang="en-IN" sz="1000" i="1" dirty="0"/>
              <a:t>1</a:t>
            </a:r>
            <a:r>
              <a:rPr lang="en-IN" sz="1000" i="1" baseline="30000" dirty="0"/>
              <a:t>st</a:t>
            </a:r>
            <a:r>
              <a:rPr lang="en-IN" sz="1000" i="1" dirty="0"/>
              <a:t> Apr 2026</a:t>
            </a:r>
          </a:p>
        </p:txBody>
      </p:sp>
      <p:sp>
        <p:nvSpPr>
          <p:cNvPr id="36" name="TextBox 35">
            <a:extLst>
              <a:ext uri="{FF2B5EF4-FFF2-40B4-BE49-F238E27FC236}">
                <a16:creationId xmlns:a16="http://schemas.microsoft.com/office/drawing/2014/main" id="{14063884-ADA4-C0C9-AAEB-477FB91471AB}"/>
              </a:ext>
            </a:extLst>
          </p:cNvPr>
          <p:cNvSpPr txBox="1"/>
          <p:nvPr/>
        </p:nvSpPr>
        <p:spPr>
          <a:xfrm>
            <a:off x="3394437" y="2899735"/>
            <a:ext cx="1034257" cy="246221"/>
          </a:xfrm>
          <a:prstGeom prst="rect">
            <a:avLst/>
          </a:prstGeom>
          <a:noFill/>
        </p:spPr>
        <p:txBody>
          <a:bodyPr wrap="none" rtlCol="0">
            <a:spAutoFit/>
          </a:bodyPr>
          <a:lstStyle/>
          <a:p>
            <a:r>
              <a:rPr lang="en-IN" sz="1000" i="1" dirty="0"/>
              <a:t>11</a:t>
            </a:r>
            <a:r>
              <a:rPr lang="en-IN" sz="1000" i="1" baseline="30000" dirty="0"/>
              <a:t>th</a:t>
            </a:r>
            <a:r>
              <a:rPr lang="en-IN" sz="1000" i="1" dirty="0"/>
              <a:t> May 2026</a:t>
            </a:r>
            <a:endParaRPr lang="en-IN" sz="1000" i="1" dirty="0">
              <a:solidFill>
                <a:srgbClr val="C00000"/>
              </a:solidFill>
            </a:endParaRPr>
          </a:p>
        </p:txBody>
      </p:sp>
      <p:sp>
        <p:nvSpPr>
          <p:cNvPr id="37" name="TextBox 36">
            <a:extLst>
              <a:ext uri="{FF2B5EF4-FFF2-40B4-BE49-F238E27FC236}">
                <a16:creationId xmlns:a16="http://schemas.microsoft.com/office/drawing/2014/main" id="{3928CF45-C0F3-1195-95ED-B35B9645B932}"/>
              </a:ext>
            </a:extLst>
          </p:cNvPr>
          <p:cNvSpPr txBox="1"/>
          <p:nvPr/>
        </p:nvSpPr>
        <p:spPr>
          <a:xfrm>
            <a:off x="4611978" y="1993281"/>
            <a:ext cx="1034257" cy="246221"/>
          </a:xfrm>
          <a:prstGeom prst="rect">
            <a:avLst/>
          </a:prstGeom>
          <a:noFill/>
        </p:spPr>
        <p:txBody>
          <a:bodyPr wrap="none" rtlCol="0">
            <a:spAutoFit/>
          </a:bodyPr>
          <a:lstStyle/>
          <a:p>
            <a:r>
              <a:rPr lang="en-IN" sz="1000" i="1" dirty="0"/>
              <a:t>12</a:t>
            </a:r>
            <a:r>
              <a:rPr lang="en-IN" sz="1000" i="1" baseline="30000" dirty="0"/>
              <a:t>th</a:t>
            </a:r>
            <a:r>
              <a:rPr lang="en-IN" sz="1000" i="1" dirty="0"/>
              <a:t> May 2026</a:t>
            </a:r>
          </a:p>
        </p:txBody>
      </p:sp>
      <p:sp>
        <p:nvSpPr>
          <p:cNvPr id="38" name="TextBox 37">
            <a:extLst>
              <a:ext uri="{FF2B5EF4-FFF2-40B4-BE49-F238E27FC236}">
                <a16:creationId xmlns:a16="http://schemas.microsoft.com/office/drawing/2014/main" id="{02A951DF-5E55-38C0-DF40-67D363B2032B}"/>
              </a:ext>
            </a:extLst>
          </p:cNvPr>
          <p:cNvSpPr txBox="1"/>
          <p:nvPr/>
        </p:nvSpPr>
        <p:spPr>
          <a:xfrm>
            <a:off x="5845629" y="2828002"/>
            <a:ext cx="1034257" cy="246221"/>
          </a:xfrm>
          <a:prstGeom prst="rect">
            <a:avLst/>
          </a:prstGeom>
          <a:noFill/>
        </p:spPr>
        <p:txBody>
          <a:bodyPr wrap="none" rtlCol="0">
            <a:spAutoFit/>
          </a:bodyPr>
          <a:lstStyle/>
          <a:p>
            <a:r>
              <a:rPr lang="en-IN" sz="1000" i="1" dirty="0"/>
              <a:t>18</a:t>
            </a:r>
            <a:r>
              <a:rPr lang="en-IN" sz="1000" i="1" baseline="30000" dirty="0"/>
              <a:t>th</a:t>
            </a:r>
            <a:r>
              <a:rPr lang="en-IN" sz="1000" i="1" dirty="0"/>
              <a:t> May 2026</a:t>
            </a:r>
          </a:p>
        </p:txBody>
      </p:sp>
      <p:sp>
        <p:nvSpPr>
          <p:cNvPr id="39" name="TextBox 38">
            <a:extLst>
              <a:ext uri="{FF2B5EF4-FFF2-40B4-BE49-F238E27FC236}">
                <a16:creationId xmlns:a16="http://schemas.microsoft.com/office/drawing/2014/main" id="{AF0217AE-F82B-718D-C3A4-7FEC726B48E7}"/>
              </a:ext>
            </a:extLst>
          </p:cNvPr>
          <p:cNvSpPr txBox="1"/>
          <p:nvPr/>
        </p:nvSpPr>
        <p:spPr>
          <a:xfrm>
            <a:off x="7076196" y="1992987"/>
            <a:ext cx="1032655" cy="246221"/>
          </a:xfrm>
          <a:prstGeom prst="rect">
            <a:avLst/>
          </a:prstGeom>
          <a:noFill/>
        </p:spPr>
        <p:txBody>
          <a:bodyPr wrap="none" rtlCol="0">
            <a:spAutoFit/>
          </a:bodyPr>
          <a:lstStyle/>
          <a:p>
            <a:r>
              <a:rPr lang="en-IN" sz="1000" i="1" dirty="0"/>
              <a:t>14</a:t>
            </a:r>
            <a:r>
              <a:rPr lang="en-IN" sz="1000" i="1" baseline="30000" dirty="0"/>
              <a:t>th</a:t>
            </a:r>
            <a:r>
              <a:rPr lang="en-IN" sz="1000" i="1" dirty="0"/>
              <a:t> Aug 2026</a:t>
            </a:r>
          </a:p>
        </p:txBody>
      </p:sp>
      <p:sp>
        <p:nvSpPr>
          <p:cNvPr id="40" name="TextBox 39">
            <a:extLst>
              <a:ext uri="{FF2B5EF4-FFF2-40B4-BE49-F238E27FC236}">
                <a16:creationId xmlns:a16="http://schemas.microsoft.com/office/drawing/2014/main" id="{24944BA1-AEB1-07E3-BD33-DF2B25F31A5E}"/>
              </a:ext>
            </a:extLst>
          </p:cNvPr>
          <p:cNvSpPr txBox="1"/>
          <p:nvPr/>
        </p:nvSpPr>
        <p:spPr>
          <a:xfrm>
            <a:off x="8286891" y="2835815"/>
            <a:ext cx="1032655" cy="246221"/>
          </a:xfrm>
          <a:prstGeom prst="rect">
            <a:avLst/>
          </a:prstGeom>
          <a:noFill/>
        </p:spPr>
        <p:txBody>
          <a:bodyPr wrap="none" rtlCol="0">
            <a:spAutoFit/>
          </a:bodyPr>
          <a:lstStyle/>
          <a:p>
            <a:r>
              <a:rPr lang="en-IN" sz="1000" i="1" dirty="0"/>
              <a:t>30</a:t>
            </a:r>
            <a:r>
              <a:rPr lang="en-IN" sz="1000" i="1" baseline="30000" dirty="0"/>
              <a:t>th</a:t>
            </a:r>
            <a:r>
              <a:rPr lang="en-IN" sz="1000" i="1" dirty="0"/>
              <a:t> Aug 2026</a:t>
            </a:r>
          </a:p>
        </p:txBody>
      </p:sp>
      <p:sp>
        <p:nvSpPr>
          <p:cNvPr id="41" name="TextBox 40">
            <a:extLst>
              <a:ext uri="{FF2B5EF4-FFF2-40B4-BE49-F238E27FC236}">
                <a16:creationId xmlns:a16="http://schemas.microsoft.com/office/drawing/2014/main" id="{8657BCC0-7899-70B7-EF52-438AD2C4ED34}"/>
              </a:ext>
            </a:extLst>
          </p:cNvPr>
          <p:cNvSpPr txBox="1"/>
          <p:nvPr/>
        </p:nvSpPr>
        <p:spPr>
          <a:xfrm>
            <a:off x="9530192" y="1981200"/>
            <a:ext cx="1024639" cy="246221"/>
          </a:xfrm>
          <a:prstGeom prst="rect">
            <a:avLst/>
          </a:prstGeom>
          <a:noFill/>
        </p:spPr>
        <p:txBody>
          <a:bodyPr wrap="none" rtlCol="0">
            <a:spAutoFit/>
          </a:bodyPr>
          <a:lstStyle/>
          <a:p>
            <a:r>
              <a:rPr lang="en-IN" sz="1000" b="1" i="1" dirty="0">
                <a:solidFill>
                  <a:srgbClr val="7030A0"/>
                </a:solidFill>
              </a:rPr>
              <a:t>30</a:t>
            </a:r>
            <a:r>
              <a:rPr lang="en-IN" sz="1000" b="1" i="1" baseline="30000" dirty="0">
                <a:solidFill>
                  <a:srgbClr val="7030A0"/>
                </a:solidFill>
              </a:rPr>
              <a:t>th</a:t>
            </a:r>
            <a:r>
              <a:rPr lang="en-IN" sz="1000" b="1" i="1" dirty="0">
                <a:solidFill>
                  <a:srgbClr val="7030A0"/>
                </a:solidFill>
              </a:rPr>
              <a:t> Sep 2026</a:t>
            </a:r>
          </a:p>
        </p:txBody>
      </p:sp>
      <p:sp>
        <p:nvSpPr>
          <p:cNvPr id="7" name="TextBox 6">
            <a:extLst>
              <a:ext uri="{FF2B5EF4-FFF2-40B4-BE49-F238E27FC236}">
                <a16:creationId xmlns:a16="http://schemas.microsoft.com/office/drawing/2014/main" id="{0CBF89D3-CC2D-A051-001E-DB7B30B95B38}"/>
              </a:ext>
            </a:extLst>
          </p:cNvPr>
          <p:cNvSpPr txBox="1"/>
          <p:nvPr/>
        </p:nvSpPr>
        <p:spPr>
          <a:xfrm>
            <a:off x="9095642" y="739545"/>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00B050"/>
                </a:solidFill>
              </a:rPr>
              <a:t>Completed</a:t>
            </a:r>
            <a:endParaRPr lang="en-IN" sz="1000" dirty="0"/>
          </a:p>
        </p:txBody>
      </p:sp>
      <p:sp>
        <p:nvSpPr>
          <p:cNvPr id="8" name="TextBox 20">
            <a:extLst>
              <a:ext uri="{FF2B5EF4-FFF2-40B4-BE49-F238E27FC236}">
                <a16:creationId xmlns:a16="http://schemas.microsoft.com/office/drawing/2014/main" id="{CAE10F1A-50B3-EE4F-ED7B-94CF84A40B0C}"/>
              </a:ext>
            </a:extLst>
          </p:cNvPr>
          <p:cNvSpPr txBox="1"/>
          <p:nvPr/>
        </p:nvSpPr>
        <p:spPr>
          <a:xfrm>
            <a:off x="10192437" y="757166"/>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B48900"/>
                </a:solidFill>
              </a:rPr>
              <a:t>In Progress</a:t>
            </a:r>
          </a:p>
        </p:txBody>
      </p:sp>
      <p:sp>
        <p:nvSpPr>
          <p:cNvPr id="9" name="TextBox 22">
            <a:extLst>
              <a:ext uri="{FF2B5EF4-FFF2-40B4-BE49-F238E27FC236}">
                <a16:creationId xmlns:a16="http://schemas.microsoft.com/office/drawing/2014/main" id="{EF4B3655-A7B9-91DE-08FE-54FE75C305E2}"/>
              </a:ext>
            </a:extLst>
          </p:cNvPr>
          <p:cNvSpPr txBox="1"/>
          <p:nvPr/>
        </p:nvSpPr>
        <p:spPr>
          <a:xfrm>
            <a:off x="11173532" y="757166"/>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1"/>
                </a:solidFill>
              </a:rPr>
              <a:t>At Risk</a:t>
            </a:r>
          </a:p>
        </p:txBody>
      </p:sp>
      <p:sp>
        <p:nvSpPr>
          <p:cNvPr id="10" name="Oval 9">
            <a:extLst>
              <a:ext uri="{FF2B5EF4-FFF2-40B4-BE49-F238E27FC236}">
                <a16:creationId xmlns:a16="http://schemas.microsoft.com/office/drawing/2014/main" id="{58C0F09B-220C-45A6-F21E-8F5EE62B4114}"/>
              </a:ext>
            </a:extLst>
          </p:cNvPr>
          <p:cNvSpPr/>
          <p:nvPr/>
        </p:nvSpPr>
        <p:spPr>
          <a:xfrm>
            <a:off x="9991157" y="757166"/>
            <a:ext cx="201280" cy="201280"/>
          </a:xfrm>
          <a:prstGeom prst="ellipse">
            <a:avLst/>
          </a:prstGeom>
          <a:solidFill>
            <a:srgbClr val="FFC00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1" name="Oval 10">
            <a:extLst>
              <a:ext uri="{FF2B5EF4-FFF2-40B4-BE49-F238E27FC236}">
                <a16:creationId xmlns:a16="http://schemas.microsoft.com/office/drawing/2014/main" id="{B2880614-11CD-13B2-EF57-4E0010498979}"/>
              </a:ext>
            </a:extLst>
          </p:cNvPr>
          <p:cNvSpPr/>
          <p:nvPr/>
        </p:nvSpPr>
        <p:spPr>
          <a:xfrm>
            <a:off x="8894362" y="739545"/>
            <a:ext cx="201280" cy="201280"/>
          </a:xfrm>
          <a:prstGeom prst="ellipse">
            <a:avLst/>
          </a:prstGeom>
          <a:solidFill>
            <a:srgbClr val="00B05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2" name="Oval 11">
            <a:extLst>
              <a:ext uri="{FF2B5EF4-FFF2-40B4-BE49-F238E27FC236}">
                <a16:creationId xmlns:a16="http://schemas.microsoft.com/office/drawing/2014/main" id="{518A0B3E-6308-F947-CBD1-A2BF5BF4D749}"/>
              </a:ext>
            </a:extLst>
          </p:cNvPr>
          <p:cNvSpPr/>
          <p:nvPr/>
        </p:nvSpPr>
        <p:spPr>
          <a:xfrm>
            <a:off x="11001445" y="737708"/>
            <a:ext cx="201280" cy="201280"/>
          </a:xfrm>
          <a:prstGeom prst="ellipse">
            <a:avLst/>
          </a:prstGeom>
          <a:solidFill>
            <a:srgbClr val="C0000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3" name="Rectangle: Rounded Corners 12">
            <a:extLst>
              <a:ext uri="{FF2B5EF4-FFF2-40B4-BE49-F238E27FC236}">
                <a16:creationId xmlns:a16="http://schemas.microsoft.com/office/drawing/2014/main" id="{299360F3-B566-9A00-812C-132A76D45E16}"/>
              </a:ext>
            </a:extLst>
          </p:cNvPr>
          <p:cNvSpPr/>
          <p:nvPr/>
        </p:nvSpPr>
        <p:spPr>
          <a:xfrm>
            <a:off x="762000" y="3810000"/>
            <a:ext cx="10896600" cy="251460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Key Upcoming Milestones</a:t>
            </a:r>
          </a:p>
          <a:p>
            <a:pPr algn="ctr"/>
            <a:endParaRPr lang="en-IN" sz="1400" b="1" dirty="0">
              <a:solidFill>
                <a:schemeClr val="tx1"/>
              </a:solidFill>
            </a:endParaRPr>
          </a:p>
          <a:p>
            <a:pPr marL="285750" indent="-285750">
              <a:buFont typeface="Arial" panose="020B0604020202020204" pitchFamily="34" charset="0"/>
              <a:buChar char="•"/>
            </a:pPr>
            <a:r>
              <a:rPr lang="en-IN" sz="1400" dirty="0">
                <a:solidFill>
                  <a:schemeClr val="tx1"/>
                </a:solidFill>
              </a:rPr>
              <a:t>System configurations &amp; integrations in progress – ETA: 14</a:t>
            </a:r>
            <a:r>
              <a:rPr lang="en-IN" sz="1400" baseline="30000" dirty="0">
                <a:solidFill>
                  <a:schemeClr val="tx1"/>
                </a:solidFill>
              </a:rPr>
              <a:t>th</a:t>
            </a:r>
            <a:r>
              <a:rPr lang="en-IN" sz="1400" dirty="0">
                <a:solidFill>
                  <a:schemeClr val="tx1"/>
                </a:solidFill>
              </a:rPr>
              <a:t> Aug 2026</a:t>
            </a:r>
          </a:p>
          <a:p>
            <a:pPr marL="285750" indent="-285750">
              <a:buFont typeface="Arial" panose="020B0604020202020204" pitchFamily="34" charset="0"/>
              <a:buChar char="•"/>
            </a:pPr>
            <a:r>
              <a:rPr lang="en-IN" sz="1400" dirty="0">
                <a:solidFill>
                  <a:schemeClr val="tx1"/>
                </a:solidFill>
              </a:rPr>
              <a:t>System configuration demo with HR to be scheduled by 10</a:t>
            </a:r>
            <a:r>
              <a:rPr lang="en-IN" sz="1400" baseline="30000" dirty="0">
                <a:solidFill>
                  <a:schemeClr val="tx1"/>
                </a:solidFill>
              </a:rPr>
              <a:t>th</a:t>
            </a:r>
            <a:r>
              <a:rPr lang="en-IN" sz="1400" dirty="0">
                <a:solidFill>
                  <a:schemeClr val="tx1"/>
                </a:solidFill>
              </a:rPr>
              <a:t> July 2026</a:t>
            </a:r>
          </a:p>
          <a:p>
            <a:pPr marL="285750" indent="-285750">
              <a:buFont typeface="Arial" panose="020B0604020202020204" pitchFamily="34" charset="0"/>
              <a:buChar char="•"/>
            </a:pPr>
            <a:r>
              <a:rPr lang="en-IN" sz="1400" dirty="0">
                <a:solidFill>
                  <a:schemeClr val="tx1"/>
                </a:solidFill>
              </a:rPr>
              <a:t>UAT to commence from 16</a:t>
            </a:r>
            <a:r>
              <a:rPr lang="en-IN" sz="1400" baseline="30000" dirty="0">
                <a:solidFill>
                  <a:schemeClr val="tx1"/>
                </a:solidFill>
              </a:rPr>
              <a:t>th</a:t>
            </a:r>
            <a:r>
              <a:rPr lang="en-IN" sz="1400" dirty="0">
                <a:solidFill>
                  <a:schemeClr val="tx1"/>
                </a:solidFill>
              </a:rPr>
              <a:t> Aug 2026</a:t>
            </a:r>
            <a:endParaRPr lang="en-IN" dirty="0">
              <a:solidFill>
                <a:schemeClr val="tx1"/>
              </a:solidFill>
            </a:endParaRPr>
          </a:p>
        </p:txBody>
      </p:sp>
    </p:spTree>
    <p:extLst>
      <p:ext uri="{BB962C8B-B14F-4D97-AF65-F5344CB8AC3E}">
        <p14:creationId xmlns:p14="http://schemas.microsoft.com/office/powerpoint/2010/main" val="2351328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854F2-02E7-6873-5ACD-DEB2503B537C}"/>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FB4249C3-8810-735A-D6A8-830B8C4C11F4}"/>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08C2ECC9-CBAD-B622-96A3-DA301544373F}"/>
              </a:ext>
            </a:extLst>
          </p:cNvPr>
          <p:cNvSpPr txBox="1">
            <a:spLocks/>
          </p:cNvSpPr>
          <p:nvPr/>
        </p:nvSpPr>
        <p:spPr>
          <a:xfrm>
            <a:off x="76200" y="176215"/>
            <a:ext cx="11430000" cy="580951"/>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Hiring Experience Tool</a:t>
            </a:r>
            <a:r>
              <a:rPr lang="en-US" sz="2400" dirty="0">
                <a:solidFill>
                  <a:srgbClr val="DA0E28"/>
                </a:solidFill>
                <a:latin typeface="AirIndia"/>
              </a:rPr>
              <a:t> Implementation Update</a:t>
            </a:r>
            <a:endParaRPr lang="en-US" sz="2400" b="0" dirty="0">
              <a:solidFill>
                <a:srgbClr val="DA0E28"/>
              </a:solidFill>
              <a:latin typeface="AirIndia"/>
            </a:endParaRPr>
          </a:p>
        </p:txBody>
      </p:sp>
      <p:sp>
        <p:nvSpPr>
          <p:cNvPr id="2" name="Rectangle: Rounded Corners 1">
            <a:extLst>
              <a:ext uri="{FF2B5EF4-FFF2-40B4-BE49-F238E27FC236}">
                <a16:creationId xmlns:a16="http://schemas.microsoft.com/office/drawing/2014/main" id="{265AC399-370F-23D7-6D30-72408F580A9C}"/>
              </a:ext>
            </a:extLst>
          </p:cNvPr>
          <p:cNvSpPr/>
          <p:nvPr/>
        </p:nvSpPr>
        <p:spPr>
          <a:xfrm>
            <a:off x="762000" y="3810000"/>
            <a:ext cx="7315200" cy="251460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Key Upcoming Milestones</a:t>
            </a:r>
          </a:p>
          <a:p>
            <a:pPr algn="ctr"/>
            <a:endParaRPr lang="en-IN" sz="1400" b="1" dirty="0">
              <a:solidFill>
                <a:schemeClr val="tx1"/>
              </a:solidFill>
            </a:endParaRPr>
          </a:p>
          <a:p>
            <a:pPr marL="285750" indent="-285750">
              <a:buFont typeface="Arial" panose="020B0604020202020204" pitchFamily="34" charset="0"/>
              <a:buChar char="•"/>
            </a:pPr>
            <a:r>
              <a:rPr lang="en-IN" sz="1400" dirty="0">
                <a:solidFill>
                  <a:schemeClr val="tx1"/>
                </a:solidFill>
              </a:rPr>
              <a:t>RFP floated to vendors for supporting with implementation on 19</a:t>
            </a:r>
            <a:r>
              <a:rPr lang="en-IN" sz="1400" baseline="30000" dirty="0">
                <a:solidFill>
                  <a:schemeClr val="tx1"/>
                </a:solidFill>
              </a:rPr>
              <a:t>th</a:t>
            </a:r>
            <a:r>
              <a:rPr lang="en-IN" sz="1400" dirty="0">
                <a:solidFill>
                  <a:schemeClr val="tx1"/>
                </a:solidFill>
              </a:rPr>
              <a:t> June 2026 by Central Procurement team</a:t>
            </a:r>
          </a:p>
          <a:p>
            <a:pPr marL="285750" indent="-285750">
              <a:buFont typeface="Arial" panose="020B0604020202020204" pitchFamily="34" charset="0"/>
              <a:buChar char="•"/>
            </a:pPr>
            <a:r>
              <a:rPr lang="en-IN" sz="1400" dirty="0">
                <a:solidFill>
                  <a:schemeClr val="tx1"/>
                </a:solidFill>
              </a:rPr>
              <a:t>Queries received from vendors responded to by HR Tech &amp; HR teams by 2</a:t>
            </a:r>
            <a:r>
              <a:rPr lang="en-IN" sz="1400" baseline="30000" dirty="0">
                <a:solidFill>
                  <a:schemeClr val="tx1"/>
                </a:solidFill>
              </a:rPr>
              <a:t>nd</a:t>
            </a:r>
            <a:r>
              <a:rPr lang="en-IN" sz="1400" dirty="0">
                <a:solidFill>
                  <a:schemeClr val="tx1"/>
                </a:solidFill>
              </a:rPr>
              <a:t> July 2026</a:t>
            </a:r>
          </a:p>
          <a:p>
            <a:pPr marL="285750" indent="-285750">
              <a:buFont typeface="Arial" panose="020B0604020202020204" pitchFamily="34" charset="0"/>
              <a:buChar char="•"/>
            </a:pPr>
            <a:r>
              <a:rPr lang="en-IN" sz="1400" dirty="0">
                <a:solidFill>
                  <a:schemeClr val="tx1"/>
                </a:solidFill>
              </a:rPr>
              <a:t>Functional &amp; technical evaluation in progress – ETA: 10</a:t>
            </a:r>
            <a:r>
              <a:rPr lang="en-IN" sz="1400" baseline="30000" dirty="0">
                <a:solidFill>
                  <a:schemeClr val="tx1"/>
                </a:solidFill>
              </a:rPr>
              <a:t>th</a:t>
            </a:r>
            <a:r>
              <a:rPr lang="en-IN" sz="1400" dirty="0">
                <a:solidFill>
                  <a:schemeClr val="tx1"/>
                </a:solidFill>
              </a:rPr>
              <a:t> July 2026</a:t>
            </a:r>
          </a:p>
          <a:p>
            <a:pPr marL="285750" indent="-285750">
              <a:buFont typeface="Arial" panose="020B0604020202020204" pitchFamily="34" charset="0"/>
              <a:buChar char="•"/>
            </a:pPr>
            <a:r>
              <a:rPr lang="en-IN" sz="1400" dirty="0">
                <a:solidFill>
                  <a:schemeClr val="tx1"/>
                </a:solidFill>
              </a:rPr>
              <a:t>Implementation partner contract awarding to be completed by 18</a:t>
            </a:r>
            <a:r>
              <a:rPr lang="en-IN" sz="1400" baseline="30000" dirty="0">
                <a:solidFill>
                  <a:schemeClr val="tx1"/>
                </a:solidFill>
              </a:rPr>
              <a:t>th</a:t>
            </a:r>
            <a:r>
              <a:rPr lang="en-IN" sz="1400" dirty="0">
                <a:solidFill>
                  <a:schemeClr val="tx1"/>
                </a:solidFill>
              </a:rPr>
              <a:t> July 2026</a:t>
            </a:r>
          </a:p>
        </p:txBody>
      </p:sp>
      <p:sp>
        <p:nvSpPr>
          <p:cNvPr id="5" name="Rectangle: Rounded Corners 4">
            <a:extLst>
              <a:ext uri="{FF2B5EF4-FFF2-40B4-BE49-F238E27FC236}">
                <a16:creationId xmlns:a16="http://schemas.microsoft.com/office/drawing/2014/main" id="{8AD30DF3-8220-1BB3-C950-31A7E571F220}"/>
              </a:ext>
            </a:extLst>
          </p:cNvPr>
          <p:cNvSpPr/>
          <p:nvPr/>
        </p:nvSpPr>
        <p:spPr>
          <a:xfrm>
            <a:off x="1380781" y="1521776"/>
            <a:ext cx="9430437" cy="1905000"/>
          </a:xfrm>
          <a:prstGeom prst="roundRect">
            <a:avLst/>
          </a:prstGeom>
          <a:ln>
            <a:prstDash val="lgDashDotDot"/>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Basis leadership alignment, </a:t>
            </a:r>
            <a:r>
              <a:rPr lang="en-IN" b="1" dirty="0"/>
              <a:t>SAP SuccessFactors Smart Recruiters</a:t>
            </a:r>
            <a:r>
              <a:rPr lang="en-IN" dirty="0"/>
              <a:t> module finalized for Hiring Experience tool including custom BTP automation to ensure seamless transition from current RCM (Recruitment) module</a:t>
            </a:r>
          </a:p>
        </p:txBody>
      </p:sp>
      <p:graphicFrame>
        <p:nvGraphicFramePr>
          <p:cNvPr id="6" name="Table 5">
            <a:extLst>
              <a:ext uri="{FF2B5EF4-FFF2-40B4-BE49-F238E27FC236}">
                <a16:creationId xmlns:a16="http://schemas.microsoft.com/office/drawing/2014/main" id="{005064BD-089F-DC4A-84C9-9D04885E2133}"/>
              </a:ext>
            </a:extLst>
          </p:cNvPr>
          <p:cNvGraphicFramePr>
            <a:graphicFrameLocks noGrp="1"/>
          </p:cNvGraphicFramePr>
          <p:nvPr>
            <p:extLst>
              <p:ext uri="{D42A27DB-BD31-4B8C-83A1-F6EECF244321}">
                <p14:modId xmlns:p14="http://schemas.microsoft.com/office/powerpoint/2010/main" val="257651383"/>
              </p:ext>
            </p:extLst>
          </p:nvPr>
        </p:nvGraphicFramePr>
        <p:xfrm>
          <a:off x="8867269" y="4326760"/>
          <a:ext cx="2374900" cy="1914525"/>
        </p:xfrm>
        <a:graphic>
          <a:graphicData uri="http://schemas.openxmlformats.org/drawingml/2006/table">
            <a:tbl>
              <a:tblPr/>
              <a:tblGrid>
                <a:gridCol w="1765300">
                  <a:extLst>
                    <a:ext uri="{9D8B030D-6E8A-4147-A177-3AD203B41FA5}">
                      <a16:colId xmlns:a16="http://schemas.microsoft.com/office/drawing/2014/main" val="2866850002"/>
                    </a:ext>
                  </a:extLst>
                </a:gridCol>
                <a:gridCol w="609600">
                  <a:extLst>
                    <a:ext uri="{9D8B030D-6E8A-4147-A177-3AD203B41FA5}">
                      <a16:colId xmlns:a16="http://schemas.microsoft.com/office/drawing/2014/main" val="110353937"/>
                    </a:ext>
                  </a:extLst>
                </a:gridCol>
              </a:tblGrid>
              <a:tr h="133350">
                <a:tc>
                  <a:txBody>
                    <a:bodyPr/>
                    <a:lstStyle/>
                    <a:p>
                      <a:pPr fontAlgn="base"/>
                      <a:r>
                        <a:rPr lang="en-IN" sz="1200" b="1" dirty="0">
                          <a:solidFill>
                            <a:schemeClr val="bg1"/>
                          </a:solidFill>
                          <a:effectLst/>
                          <a:latin typeface="inherit"/>
                        </a:rPr>
                        <a:t>Milestone</a:t>
                      </a:r>
                      <a:endParaRPr lang="en-IN" sz="1400" dirty="0">
                        <a:solidFill>
                          <a:schemeClr val="bg1"/>
                        </a:solidFill>
                        <a:effectLst/>
                        <a:latin typeface="Aptos"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fontAlgn="base"/>
                      <a:r>
                        <a:rPr lang="en-IN" sz="1200" b="1" dirty="0">
                          <a:solidFill>
                            <a:schemeClr val="bg1"/>
                          </a:solidFill>
                          <a:effectLst/>
                          <a:latin typeface="inherit"/>
                        </a:rPr>
                        <a:t>Timeline</a:t>
                      </a:r>
                      <a:endParaRPr lang="en-IN" sz="1400" dirty="0">
                        <a:solidFill>
                          <a:schemeClr val="bg1"/>
                        </a:solidFill>
                        <a:effectLst/>
                        <a:latin typeface="Aptos"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rgbClr val="2061AA"/>
                      </a:solidFill>
                      <a:prstDash val="solid"/>
                      <a:round/>
                      <a:headEnd type="none" w="med" len="med"/>
                      <a:tailEnd type="none" w="med" len="med"/>
                    </a:lnR>
                    <a:lnT w="12700" cap="flat" cmpd="sng" algn="ctr">
                      <a:solidFill>
                        <a:srgbClr val="2061AA"/>
                      </a:solidFill>
                      <a:prstDash val="solid"/>
                      <a:round/>
                      <a:headEnd type="none" w="med" len="med"/>
                      <a:tailEnd type="none" w="med" len="med"/>
                    </a:lnT>
                    <a:lnB w="12700" cap="flat" cmpd="sng" algn="ctr">
                      <a:solidFill>
                        <a:srgbClr val="2061AA"/>
                      </a:solidFill>
                      <a:prstDash val="solid"/>
                      <a:round/>
                      <a:headEnd type="none" w="med" len="med"/>
                      <a:tailEnd type="none" w="med" len="med"/>
                    </a:lnB>
                    <a:solidFill>
                      <a:srgbClr val="FF0000"/>
                    </a:solidFill>
                  </a:tcPr>
                </a:tc>
                <a:extLst>
                  <a:ext uri="{0D108BD9-81ED-4DB2-BD59-A6C34878D82A}">
                    <a16:rowId xmlns:a16="http://schemas.microsoft.com/office/drawing/2014/main" val="4040704194"/>
                  </a:ext>
                </a:extLst>
              </a:tr>
              <a:tr h="133350">
                <a:tc>
                  <a:txBody>
                    <a:bodyPr/>
                    <a:lstStyle/>
                    <a:p>
                      <a:pPr fontAlgn="base"/>
                      <a:r>
                        <a:rPr lang="en-IN" sz="1200">
                          <a:solidFill>
                            <a:srgbClr val="000000"/>
                          </a:solidFill>
                          <a:effectLst/>
                          <a:latin typeface="inherit"/>
                        </a:rPr>
                        <a:t>RFP Initiation</a:t>
                      </a:r>
                      <a:endParaRPr lang="en-IN" sz="1400">
                        <a:effectLst/>
                        <a:latin typeface="Aptos" panose="020B0004020202020204" pitchFamily="34" charset="0"/>
                      </a:endParaRPr>
                    </a:p>
                  </a:txBody>
                  <a:tcPr marL="9525" marR="9525" marT="9525" marB="0" anchor="b">
                    <a:lnL w="12700" cap="flat" cmpd="sng" algn="ctr">
                      <a:solidFill>
                        <a:srgbClr val="F014D9"/>
                      </a:solidFill>
                      <a:prstDash val="solid"/>
                      <a:round/>
                      <a:headEnd type="none" w="med" len="med"/>
                      <a:tailEnd type="none" w="med" len="med"/>
                    </a:lnL>
                    <a:lnR w="12700" cap="flat" cmpd="sng" algn="ctr">
                      <a:solidFill>
                        <a:srgbClr val="F014D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014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19-Jun</a:t>
                      </a:r>
                      <a:endParaRPr lang="en-IN" sz="1400">
                        <a:effectLst/>
                        <a:latin typeface="Aptos" panose="020B0004020202020204" pitchFamily="34" charset="0"/>
                      </a:endParaRPr>
                    </a:p>
                  </a:txBody>
                  <a:tcPr marL="9525" marR="9525" marT="9525" marB="0" anchor="b">
                    <a:lnL w="12700" cap="flat" cmpd="sng" algn="ctr">
                      <a:solidFill>
                        <a:srgbClr val="F014D9"/>
                      </a:solidFill>
                      <a:prstDash val="solid"/>
                      <a:round/>
                      <a:headEnd type="none" w="med" len="med"/>
                      <a:tailEnd type="none" w="med" len="med"/>
                    </a:lnL>
                    <a:lnR w="12700" cap="flat" cmpd="sng" algn="ctr">
                      <a:solidFill>
                        <a:srgbClr val="C01CBB"/>
                      </a:solidFill>
                      <a:prstDash val="solid"/>
                      <a:round/>
                      <a:headEnd type="none" w="med" len="med"/>
                      <a:tailEnd type="none" w="med" len="med"/>
                    </a:lnR>
                    <a:lnT w="12700" cap="flat" cmpd="sng" algn="ctr">
                      <a:solidFill>
                        <a:srgbClr val="2061AA"/>
                      </a:solidFill>
                      <a:prstDash val="solid"/>
                      <a:round/>
                      <a:headEnd type="none" w="med" len="med"/>
                      <a:tailEnd type="none" w="med" len="med"/>
                    </a:lnT>
                    <a:lnB w="12700" cap="flat" cmpd="sng" algn="ctr">
                      <a:solidFill>
                        <a:srgbClr val="C01CBB"/>
                      </a:solidFill>
                      <a:prstDash val="solid"/>
                      <a:round/>
                      <a:headEnd type="none" w="med" len="med"/>
                      <a:tailEnd type="none" w="med" len="med"/>
                    </a:lnB>
                    <a:solidFill>
                      <a:srgbClr val="FFFFFF"/>
                    </a:solidFill>
                  </a:tcPr>
                </a:tc>
                <a:extLst>
                  <a:ext uri="{0D108BD9-81ED-4DB2-BD59-A6C34878D82A}">
                    <a16:rowId xmlns:a16="http://schemas.microsoft.com/office/drawing/2014/main" val="2601863299"/>
                  </a:ext>
                </a:extLst>
              </a:tr>
              <a:tr h="133350">
                <a:tc>
                  <a:txBody>
                    <a:bodyPr/>
                    <a:lstStyle/>
                    <a:p>
                      <a:pPr fontAlgn="base"/>
                      <a:r>
                        <a:rPr lang="en-IN" sz="1200">
                          <a:solidFill>
                            <a:srgbClr val="000000"/>
                          </a:solidFill>
                          <a:effectLst/>
                          <a:latin typeface="inherit"/>
                        </a:rPr>
                        <a:t>Pre-bid queries from suppliers</a:t>
                      </a:r>
                      <a:endParaRPr lang="en-IN" sz="1400">
                        <a:effectLst/>
                        <a:latin typeface="Aptos" panose="020B0004020202020204" pitchFamily="34" charset="0"/>
                      </a:endParaRPr>
                    </a:p>
                  </a:txBody>
                  <a:tcPr marL="9525" marR="9525" marT="9525" marB="0" anchor="b">
                    <a:lnL w="12700" cap="flat" cmpd="sng" algn="ctr">
                      <a:solidFill>
                        <a:srgbClr val="C008D9"/>
                      </a:solidFill>
                      <a:prstDash val="solid"/>
                      <a:round/>
                      <a:headEnd type="none" w="med" len="med"/>
                      <a:tailEnd type="none" w="med" len="med"/>
                    </a:lnL>
                    <a:lnR w="12700" cap="flat" cmpd="sng" algn="ctr">
                      <a:solidFill>
                        <a:srgbClr val="C008D9"/>
                      </a:solidFill>
                      <a:prstDash val="solid"/>
                      <a:round/>
                      <a:headEnd type="none" w="med" len="med"/>
                      <a:tailEnd type="none" w="med" len="med"/>
                    </a:lnR>
                    <a:lnT w="12700" cap="flat" cmpd="sng" algn="ctr">
                      <a:solidFill>
                        <a:srgbClr val="F014D9"/>
                      </a:solidFill>
                      <a:prstDash val="solid"/>
                      <a:round/>
                      <a:headEnd type="none" w="med" len="med"/>
                      <a:tailEnd type="none" w="med" len="med"/>
                    </a:lnT>
                    <a:lnB w="12700" cap="flat" cmpd="sng" algn="ctr">
                      <a:solidFill>
                        <a:srgbClr val="C008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23-Jun</a:t>
                      </a:r>
                      <a:endParaRPr lang="en-IN" sz="1400">
                        <a:effectLst/>
                        <a:latin typeface="Aptos" panose="020B0004020202020204" pitchFamily="34" charset="0"/>
                      </a:endParaRPr>
                    </a:p>
                  </a:txBody>
                  <a:tcPr marL="9525" marR="9525" marT="9525" marB="0" anchor="b">
                    <a:lnL w="12700" cap="flat" cmpd="sng" algn="ctr">
                      <a:solidFill>
                        <a:srgbClr val="C008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C01C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4269367693"/>
                  </a:ext>
                </a:extLst>
              </a:tr>
              <a:tr h="133350">
                <a:tc>
                  <a:txBody>
                    <a:bodyPr/>
                    <a:lstStyle/>
                    <a:p>
                      <a:pPr fontAlgn="base"/>
                      <a:r>
                        <a:rPr lang="en-IN" sz="1200">
                          <a:solidFill>
                            <a:srgbClr val="000000"/>
                          </a:solidFill>
                          <a:effectLst/>
                          <a:latin typeface="inherit"/>
                        </a:rPr>
                        <a:t>Response to queries</a:t>
                      </a:r>
                      <a:endParaRPr lang="en-IN" sz="1400">
                        <a:effectLst/>
                        <a:latin typeface="Aptos" panose="020B0004020202020204" pitchFamily="34" charset="0"/>
                      </a:endParaRPr>
                    </a:p>
                  </a:txBody>
                  <a:tcPr marL="9525" marR="9525" marT="9525" marB="0" anchor="b">
                    <a:lnL w="12700" cap="flat" cmpd="sng" algn="ctr">
                      <a:solidFill>
                        <a:srgbClr val="3011D9"/>
                      </a:solidFill>
                      <a:prstDash val="solid"/>
                      <a:round/>
                      <a:headEnd type="none" w="med" len="med"/>
                      <a:tailEnd type="none" w="med" len="med"/>
                    </a:lnL>
                    <a:lnR w="12700" cap="flat" cmpd="sng" algn="ctr">
                      <a:solidFill>
                        <a:srgbClr val="3011D9"/>
                      </a:solidFill>
                      <a:prstDash val="solid"/>
                      <a:round/>
                      <a:headEnd type="none" w="med" len="med"/>
                      <a:tailEnd type="none" w="med" len="med"/>
                    </a:lnR>
                    <a:lnT w="12700" cap="flat" cmpd="sng" algn="ctr">
                      <a:solidFill>
                        <a:srgbClr val="C008D9"/>
                      </a:solidFill>
                      <a:prstDash val="solid"/>
                      <a:round/>
                      <a:headEnd type="none" w="med" len="med"/>
                      <a:tailEnd type="none" w="med" len="med"/>
                    </a:lnT>
                    <a:lnB w="12700" cap="flat" cmpd="sng" algn="ctr">
                      <a:solidFill>
                        <a:srgbClr val="3011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25-Jun</a:t>
                      </a:r>
                      <a:endParaRPr lang="en-IN" sz="1400">
                        <a:effectLst/>
                        <a:latin typeface="Aptos" panose="020B0004020202020204" pitchFamily="34" charset="0"/>
                      </a:endParaRPr>
                    </a:p>
                  </a:txBody>
                  <a:tcPr marL="9525" marR="9525" marT="9525" marB="0" anchor="b">
                    <a:lnL w="12700" cap="flat" cmpd="sng" algn="ctr">
                      <a:solidFill>
                        <a:srgbClr val="3011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4181114410"/>
                  </a:ext>
                </a:extLst>
              </a:tr>
              <a:tr h="133350">
                <a:tc>
                  <a:txBody>
                    <a:bodyPr/>
                    <a:lstStyle/>
                    <a:p>
                      <a:pPr fontAlgn="base"/>
                      <a:r>
                        <a:rPr lang="en-IN" sz="1200">
                          <a:solidFill>
                            <a:srgbClr val="000000"/>
                          </a:solidFill>
                          <a:effectLst/>
                          <a:latin typeface="inherit"/>
                        </a:rPr>
                        <a:t>Initial response submission</a:t>
                      </a:r>
                      <a:endParaRPr lang="en-IN" sz="1400">
                        <a:effectLst/>
                        <a:latin typeface="Aptos" panose="020B0004020202020204" pitchFamily="34" charset="0"/>
                      </a:endParaRPr>
                    </a:p>
                  </a:txBody>
                  <a:tcPr marL="9525" marR="9525" marT="9525" marB="0" anchor="b">
                    <a:lnL w="12700" cap="flat" cmpd="sng" algn="ctr">
                      <a:solidFill>
                        <a:srgbClr val="B009D9"/>
                      </a:solidFill>
                      <a:prstDash val="solid"/>
                      <a:round/>
                      <a:headEnd type="none" w="med" len="med"/>
                      <a:tailEnd type="none" w="med" len="med"/>
                    </a:lnL>
                    <a:lnR w="12700" cap="flat" cmpd="sng" algn="ctr">
                      <a:solidFill>
                        <a:srgbClr val="B009D9"/>
                      </a:solidFill>
                      <a:prstDash val="solid"/>
                      <a:round/>
                      <a:headEnd type="none" w="med" len="med"/>
                      <a:tailEnd type="none" w="med" len="med"/>
                    </a:lnR>
                    <a:lnT w="12700" cap="flat" cmpd="sng" algn="ctr">
                      <a:solidFill>
                        <a:srgbClr val="3011D9"/>
                      </a:solidFill>
                      <a:prstDash val="solid"/>
                      <a:round/>
                      <a:headEnd type="none" w="med" len="med"/>
                      <a:tailEnd type="none" w="med" len="med"/>
                    </a:lnT>
                    <a:lnB w="12700" cap="flat" cmpd="sng" algn="ctr">
                      <a:solidFill>
                        <a:srgbClr val="B009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30-Jun</a:t>
                      </a:r>
                      <a:endParaRPr lang="en-IN" sz="1400">
                        <a:effectLst/>
                        <a:latin typeface="Aptos" panose="020B0004020202020204" pitchFamily="34" charset="0"/>
                      </a:endParaRPr>
                    </a:p>
                  </a:txBody>
                  <a:tcPr marL="9525" marR="9525" marT="9525" marB="0" anchor="b">
                    <a:lnL w="12700" cap="flat" cmpd="sng" algn="ctr">
                      <a:solidFill>
                        <a:srgbClr val="B009D9"/>
                      </a:solidFill>
                      <a:prstDash val="solid"/>
                      <a:round/>
                      <a:headEnd type="none" w="med" len="med"/>
                      <a:tailEnd type="none" w="med" len="med"/>
                    </a:lnL>
                    <a:lnR w="12700" cap="flat" cmpd="sng" algn="ctr">
                      <a:solidFill>
                        <a:srgbClr val="8017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8017BB"/>
                      </a:solidFill>
                      <a:prstDash val="solid"/>
                      <a:round/>
                      <a:headEnd type="none" w="med" len="med"/>
                      <a:tailEnd type="none" w="med" len="med"/>
                    </a:lnB>
                    <a:solidFill>
                      <a:srgbClr val="FFFFFF"/>
                    </a:solidFill>
                  </a:tcPr>
                </a:tc>
                <a:extLst>
                  <a:ext uri="{0D108BD9-81ED-4DB2-BD59-A6C34878D82A}">
                    <a16:rowId xmlns:a16="http://schemas.microsoft.com/office/drawing/2014/main" val="176113577"/>
                  </a:ext>
                </a:extLst>
              </a:tr>
              <a:tr h="133350">
                <a:tc>
                  <a:txBody>
                    <a:bodyPr/>
                    <a:lstStyle/>
                    <a:p>
                      <a:pPr fontAlgn="base"/>
                      <a:r>
                        <a:rPr lang="en-IN" sz="1200">
                          <a:solidFill>
                            <a:srgbClr val="000000"/>
                          </a:solidFill>
                          <a:effectLst/>
                          <a:latin typeface="inherit"/>
                        </a:rPr>
                        <a:t>Technical evaluation</a:t>
                      </a:r>
                      <a:endParaRPr lang="en-IN" sz="1400">
                        <a:effectLst/>
                        <a:latin typeface="Aptos" panose="020B0004020202020204" pitchFamily="34" charset="0"/>
                      </a:endParaRPr>
                    </a:p>
                  </a:txBody>
                  <a:tcPr marL="9525" marR="9525" marT="9525" marB="0" anchor="b">
                    <a:lnL w="12700" cap="flat" cmpd="sng" algn="ctr">
                      <a:solidFill>
                        <a:srgbClr val="300CD9"/>
                      </a:solidFill>
                      <a:prstDash val="solid"/>
                      <a:round/>
                      <a:headEnd type="none" w="med" len="med"/>
                      <a:tailEnd type="none" w="med" len="med"/>
                    </a:lnL>
                    <a:lnR w="12700" cap="flat" cmpd="sng" algn="ctr">
                      <a:solidFill>
                        <a:srgbClr val="300CD9"/>
                      </a:solidFill>
                      <a:prstDash val="solid"/>
                      <a:round/>
                      <a:headEnd type="none" w="med" len="med"/>
                      <a:tailEnd type="none" w="med" len="med"/>
                    </a:lnR>
                    <a:lnT w="12700" cap="flat" cmpd="sng" algn="ctr">
                      <a:solidFill>
                        <a:srgbClr val="B009D9"/>
                      </a:solidFill>
                      <a:prstDash val="solid"/>
                      <a:round/>
                      <a:headEnd type="none" w="med" len="med"/>
                      <a:tailEnd type="none" w="med" len="med"/>
                    </a:lnT>
                    <a:lnB w="12700" cap="flat" cmpd="sng" algn="ctr">
                      <a:solidFill>
                        <a:srgbClr val="300C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07-Jul</a:t>
                      </a:r>
                      <a:endParaRPr lang="en-IN" sz="1400">
                        <a:effectLst/>
                        <a:latin typeface="Aptos" panose="020B0004020202020204" pitchFamily="34" charset="0"/>
                      </a:endParaRPr>
                    </a:p>
                  </a:txBody>
                  <a:tcPr marL="9525" marR="9525" marT="9525" marB="0" anchor="b">
                    <a:lnL w="12700" cap="flat" cmpd="sng" algn="ctr">
                      <a:solidFill>
                        <a:srgbClr val="300C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8017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68819375"/>
                  </a:ext>
                </a:extLst>
              </a:tr>
              <a:tr h="133350">
                <a:tc>
                  <a:txBody>
                    <a:bodyPr/>
                    <a:lstStyle/>
                    <a:p>
                      <a:pPr fontAlgn="base"/>
                      <a:r>
                        <a:rPr lang="en-IN" sz="1200">
                          <a:solidFill>
                            <a:srgbClr val="000000"/>
                          </a:solidFill>
                          <a:effectLst/>
                          <a:latin typeface="inherit"/>
                        </a:rPr>
                        <a:t>Commercial Evaluation</a:t>
                      </a:r>
                      <a:endParaRPr lang="en-IN" sz="1400">
                        <a:effectLst/>
                        <a:latin typeface="Aptos" panose="020B0004020202020204" pitchFamily="34" charset="0"/>
                      </a:endParaRPr>
                    </a:p>
                  </a:txBody>
                  <a:tcPr marL="9525" marR="9525" marT="9525" marB="0" anchor="b">
                    <a:lnL w="12700" cap="flat" cmpd="sng" algn="ctr">
                      <a:solidFill>
                        <a:srgbClr val="D00CD9"/>
                      </a:solidFill>
                      <a:prstDash val="solid"/>
                      <a:round/>
                      <a:headEnd type="none" w="med" len="med"/>
                      <a:tailEnd type="none" w="med" len="med"/>
                    </a:lnL>
                    <a:lnR w="12700" cap="flat" cmpd="sng" algn="ctr">
                      <a:solidFill>
                        <a:srgbClr val="D00CD9"/>
                      </a:solidFill>
                      <a:prstDash val="solid"/>
                      <a:round/>
                      <a:headEnd type="none" w="med" len="med"/>
                      <a:tailEnd type="none" w="med" len="med"/>
                    </a:lnR>
                    <a:lnT w="12700" cap="flat" cmpd="sng" algn="ctr">
                      <a:solidFill>
                        <a:srgbClr val="300CD9"/>
                      </a:solidFill>
                      <a:prstDash val="solid"/>
                      <a:round/>
                      <a:headEnd type="none" w="med" len="med"/>
                      <a:tailEnd type="none" w="med" len="med"/>
                    </a:lnT>
                    <a:lnB w="12700" cap="flat" cmpd="sng" algn="ctr">
                      <a:solidFill>
                        <a:srgbClr val="D00C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14-Jul</a:t>
                      </a:r>
                      <a:endParaRPr lang="en-IN" sz="1400">
                        <a:effectLst/>
                        <a:latin typeface="Aptos" panose="020B0004020202020204" pitchFamily="34" charset="0"/>
                      </a:endParaRPr>
                    </a:p>
                  </a:txBody>
                  <a:tcPr marL="9525" marR="9525" marT="9525" marB="0" anchor="b">
                    <a:lnL w="12700" cap="flat" cmpd="sng" algn="ctr">
                      <a:solidFill>
                        <a:srgbClr val="D00CD9"/>
                      </a:solidFill>
                      <a:prstDash val="solid"/>
                      <a:round/>
                      <a:headEnd type="none" w="med" len="med"/>
                      <a:tailEnd type="none" w="med" len="med"/>
                    </a:lnL>
                    <a:lnR w="12700" cap="flat" cmpd="sng" algn="ctr">
                      <a:solidFill>
                        <a:srgbClr val="0006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0006BB"/>
                      </a:solidFill>
                      <a:prstDash val="solid"/>
                      <a:round/>
                      <a:headEnd type="none" w="med" len="med"/>
                      <a:tailEnd type="none" w="med" len="med"/>
                    </a:lnB>
                    <a:solidFill>
                      <a:srgbClr val="FFFFFF"/>
                    </a:solidFill>
                  </a:tcPr>
                </a:tc>
                <a:extLst>
                  <a:ext uri="{0D108BD9-81ED-4DB2-BD59-A6C34878D82A}">
                    <a16:rowId xmlns:a16="http://schemas.microsoft.com/office/drawing/2014/main" val="2173504108"/>
                  </a:ext>
                </a:extLst>
              </a:tr>
              <a:tr h="133350">
                <a:tc>
                  <a:txBody>
                    <a:bodyPr/>
                    <a:lstStyle/>
                    <a:p>
                      <a:pPr fontAlgn="base"/>
                      <a:r>
                        <a:rPr lang="en-IN" sz="1200">
                          <a:solidFill>
                            <a:srgbClr val="000000"/>
                          </a:solidFill>
                          <a:effectLst/>
                          <a:latin typeface="inherit"/>
                        </a:rPr>
                        <a:t>Approval</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500AD9"/>
                      </a:solidFill>
                      <a:prstDash val="solid"/>
                      <a:round/>
                      <a:headEnd type="none" w="med" len="med"/>
                      <a:tailEnd type="none" w="med" len="med"/>
                    </a:lnR>
                    <a:lnT w="12700" cap="flat" cmpd="sng" algn="ctr">
                      <a:solidFill>
                        <a:srgbClr val="D00CD9"/>
                      </a:solidFill>
                      <a:prstDash val="solid"/>
                      <a:round/>
                      <a:headEnd type="none" w="med" len="med"/>
                      <a:tailEnd type="none" w="med" len="med"/>
                    </a:lnT>
                    <a:lnB w="12700" cap="flat" cmpd="sng" algn="ctr">
                      <a:solidFill>
                        <a:srgbClr val="500A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17-Jul</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A001BB"/>
                      </a:solidFill>
                      <a:prstDash val="solid"/>
                      <a:round/>
                      <a:headEnd type="none" w="med" len="med"/>
                      <a:tailEnd type="none" w="med" len="med"/>
                    </a:lnR>
                    <a:lnT w="12700" cap="flat" cmpd="sng" algn="ctr">
                      <a:solidFill>
                        <a:srgbClr val="0006BB"/>
                      </a:solidFill>
                      <a:prstDash val="solid"/>
                      <a:round/>
                      <a:headEnd type="none" w="med" len="med"/>
                      <a:tailEnd type="none" w="med" len="med"/>
                    </a:lnT>
                    <a:lnB w="12700" cap="flat" cmpd="sng" algn="ctr">
                      <a:solidFill>
                        <a:srgbClr val="A001BB"/>
                      </a:solidFill>
                      <a:prstDash val="solid"/>
                      <a:round/>
                      <a:headEnd type="none" w="med" len="med"/>
                      <a:tailEnd type="none" w="med" len="med"/>
                    </a:lnB>
                    <a:solidFill>
                      <a:srgbClr val="FFFFFF"/>
                    </a:solidFill>
                  </a:tcPr>
                </a:tc>
                <a:extLst>
                  <a:ext uri="{0D108BD9-81ED-4DB2-BD59-A6C34878D82A}">
                    <a16:rowId xmlns:a16="http://schemas.microsoft.com/office/drawing/2014/main" val="3671426341"/>
                  </a:ext>
                </a:extLst>
              </a:tr>
              <a:tr h="133350">
                <a:tc>
                  <a:txBody>
                    <a:bodyPr/>
                    <a:lstStyle/>
                    <a:p>
                      <a:pPr fontAlgn="base"/>
                      <a:r>
                        <a:rPr lang="en-IN" sz="1200">
                          <a:solidFill>
                            <a:srgbClr val="000000"/>
                          </a:solidFill>
                          <a:effectLst/>
                          <a:latin typeface="inherit"/>
                        </a:rPr>
                        <a:t>Award</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500AD9"/>
                      </a:solidFill>
                      <a:prstDash val="solid"/>
                      <a:round/>
                      <a:headEnd type="none" w="med" len="med"/>
                      <a:tailEnd type="none" w="med" len="med"/>
                    </a:lnR>
                    <a:lnT w="12700" cap="flat" cmpd="sng" algn="ctr">
                      <a:solidFill>
                        <a:srgbClr val="500AD9"/>
                      </a:solidFill>
                      <a:prstDash val="solid"/>
                      <a:round/>
                      <a:headEnd type="none" w="med" len="med"/>
                      <a:tailEnd type="none" w="med" len="med"/>
                    </a:lnT>
                    <a:lnB w="12700" cap="flat" cmpd="sng" algn="ctr">
                      <a:solidFill>
                        <a:srgbClr val="500AD9"/>
                      </a:solidFill>
                      <a:prstDash val="solid"/>
                      <a:round/>
                      <a:headEnd type="none" w="med" len="med"/>
                      <a:tailEnd type="none" w="med" len="med"/>
                    </a:lnB>
                    <a:solidFill>
                      <a:srgbClr val="FFFFFF"/>
                    </a:solidFill>
                  </a:tcPr>
                </a:tc>
                <a:tc>
                  <a:txBody>
                    <a:bodyPr/>
                    <a:lstStyle/>
                    <a:p>
                      <a:pPr algn="r" fontAlgn="base"/>
                      <a:r>
                        <a:rPr lang="en-IN" sz="1200" dirty="0">
                          <a:solidFill>
                            <a:srgbClr val="000000"/>
                          </a:solidFill>
                          <a:effectLst/>
                          <a:latin typeface="inherit"/>
                        </a:rPr>
                        <a:t>18-Jul</a:t>
                      </a:r>
                      <a:endParaRPr lang="en-IN" sz="1400" dirty="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6011BB"/>
                      </a:solidFill>
                      <a:prstDash val="solid"/>
                      <a:round/>
                      <a:headEnd type="none" w="med" len="med"/>
                      <a:tailEnd type="none" w="med" len="med"/>
                    </a:lnR>
                    <a:lnT w="12700" cap="flat" cmpd="sng" algn="ctr">
                      <a:solidFill>
                        <a:srgbClr val="A001BB"/>
                      </a:solidFill>
                      <a:prstDash val="solid"/>
                      <a:round/>
                      <a:headEnd type="none" w="med" len="med"/>
                      <a:tailEnd type="none" w="med" len="med"/>
                    </a:lnT>
                    <a:lnB w="12700" cap="flat" cmpd="sng" algn="ctr">
                      <a:solidFill>
                        <a:srgbClr val="6011BB"/>
                      </a:solidFill>
                      <a:prstDash val="solid"/>
                      <a:round/>
                      <a:headEnd type="none" w="med" len="med"/>
                      <a:tailEnd type="none" w="med" len="med"/>
                    </a:lnB>
                    <a:solidFill>
                      <a:srgbClr val="FFFFFF"/>
                    </a:solidFill>
                  </a:tcPr>
                </a:tc>
                <a:extLst>
                  <a:ext uri="{0D108BD9-81ED-4DB2-BD59-A6C34878D82A}">
                    <a16:rowId xmlns:a16="http://schemas.microsoft.com/office/drawing/2014/main" val="175387207"/>
                  </a:ext>
                </a:extLst>
              </a:tr>
            </a:tbl>
          </a:graphicData>
        </a:graphic>
      </p:graphicFrame>
      <p:sp>
        <p:nvSpPr>
          <p:cNvPr id="13" name="TextBox 12">
            <a:extLst>
              <a:ext uri="{FF2B5EF4-FFF2-40B4-BE49-F238E27FC236}">
                <a16:creationId xmlns:a16="http://schemas.microsoft.com/office/drawing/2014/main" id="{4479280E-5B9D-9E49-E452-CD572D3AF1A1}"/>
              </a:ext>
            </a:extLst>
          </p:cNvPr>
          <p:cNvSpPr txBox="1"/>
          <p:nvPr/>
        </p:nvSpPr>
        <p:spPr>
          <a:xfrm>
            <a:off x="8264045" y="3827646"/>
            <a:ext cx="3339594" cy="430887"/>
          </a:xfrm>
          <a:prstGeom prst="rect">
            <a:avLst/>
          </a:prstGeom>
          <a:noFill/>
          <a:ln>
            <a:noFill/>
            <a:prstDash val="lgDashDotDot"/>
          </a:ln>
        </p:spPr>
        <p:txBody>
          <a:bodyPr wrap="square">
            <a:spAutoFit/>
          </a:bodyPr>
          <a:lstStyle/>
          <a:p>
            <a:pPr algn="ctr"/>
            <a:r>
              <a:rPr lang="en-US" sz="1100" b="1" dirty="0"/>
              <a:t>Implementation Partner Onboarding Timelines (shared by Central Procurement Team)</a:t>
            </a:r>
          </a:p>
        </p:txBody>
      </p:sp>
    </p:spTree>
    <p:extLst>
      <p:ext uri="{BB962C8B-B14F-4D97-AF65-F5344CB8AC3E}">
        <p14:creationId xmlns:p14="http://schemas.microsoft.com/office/powerpoint/2010/main" val="261914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3578-2464-B401-4480-56444E3B4767}"/>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1955AF5D-9C27-5B2B-D255-FFB85396BAC5}"/>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7DBB7362-F0C0-41B5-D3D1-30713E43C619}"/>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Other Key Tools Implementation Update</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sp>
        <p:nvSpPr>
          <p:cNvPr id="6" name="TextBox 5">
            <a:extLst>
              <a:ext uri="{FF2B5EF4-FFF2-40B4-BE49-F238E27FC236}">
                <a16:creationId xmlns:a16="http://schemas.microsoft.com/office/drawing/2014/main" id="{B3AF87DE-75A3-BBE9-5E8E-7AB393F22CE8}"/>
              </a:ext>
            </a:extLst>
          </p:cNvPr>
          <p:cNvSpPr txBox="1"/>
          <p:nvPr/>
        </p:nvSpPr>
        <p:spPr>
          <a:xfrm>
            <a:off x="4191001" y="936382"/>
            <a:ext cx="4343400" cy="274419"/>
          </a:xfrm>
          <a:prstGeom prst="rect">
            <a:avLst/>
          </a:prstGeom>
          <a:noFill/>
          <a:ln>
            <a:solidFill>
              <a:schemeClr val="tx1"/>
            </a:solidFill>
            <a:prstDash val="lgDashDotDot"/>
          </a:ln>
        </p:spPr>
        <p:txBody>
          <a:bodyPr wrap="square">
            <a:spAutoFit/>
          </a:bodyPr>
          <a:lstStyle/>
          <a:p>
            <a:pPr algn="ctr"/>
            <a:r>
              <a:rPr lang="en-US" sz="1200" b="1" dirty="0"/>
              <a:t>SuccessFactors (SF) LMS New Module Implementation</a:t>
            </a:r>
          </a:p>
        </p:txBody>
      </p:sp>
      <p:graphicFrame>
        <p:nvGraphicFramePr>
          <p:cNvPr id="5" name="Diagram 4">
            <a:extLst>
              <a:ext uri="{FF2B5EF4-FFF2-40B4-BE49-F238E27FC236}">
                <a16:creationId xmlns:a16="http://schemas.microsoft.com/office/drawing/2014/main" id="{E9003D4C-B69B-9128-8336-5A05D1E19875}"/>
              </a:ext>
            </a:extLst>
          </p:cNvPr>
          <p:cNvGraphicFramePr/>
          <p:nvPr>
            <p:extLst>
              <p:ext uri="{D42A27DB-BD31-4B8C-83A1-F6EECF244321}">
                <p14:modId xmlns:p14="http://schemas.microsoft.com/office/powerpoint/2010/main" val="4264281191"/>
              </p:ext>
            </p:extLst>
          </p:nvPr>
        </p:nvGraphicFramePr>
        <p:xfrm>
          <a:off x="571500" y="1204236"/>
          <a:ext cx="11049000" cy="20128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C0B834DE-7C45-F285-ED2F-31D1CAE4A8E0}"/>
              </a:ext>
            </a:extLst>
          </p:cNvPr>
          <p:cNvSpPr txBox="1"/>
          <p:nvPr/>
        </p:nvSpPr>
        <p:spPr>
          <a:xfrm>
            <a:off x="647700" y="2503772"/>
            <a:ext cx="1034257" cy="246221"/>
          </a:xfrm>
          <a:prstGeom prst="rect">
            <a:avLst/>
          </a:prstGeom>
          <a:noFill/>
        </p:spPr>
        <p:txBody>
          <a:bodyPr wrap="none" rtlCol="0">
            <a:spAutoFit/>
          </a:bodyPr>
          <a:lstStyle/>
          <a:p>
            <a:r>
              <a:rPr lang="en-IN" sz="1000" i="1" dirty="0"/>
              <a:t>15</a:t>
            </a:r>
            <a:r>
              <a:rPr lang="en-IN" sz="1000" i="1" baseline="30000" dirty="0"/>
              <a:t>th</a:t>
            </a:r>
            <a:r>
              <a:rPr lang="en-IN" sz="1000" i="1" dirty="0"/>
              <a:t> May 2026</a:t>
            </a:r>
          </a:p>
        </p:txBody>
      </p:sp>
      <p:sp>
        <p:nvSpPr>
          <p:cNvPr id="9" name="TextBox 8">
            <a:extLst>
              <a:ext uri="{FF2B5EF4-FFF2-40B4-BE49-F238E27FC236}">
                <a16:creationId xmlns:a16="http://schemas.microsoft.com/office/drawing/2014/main" id="{4FFB35C8-1F62-8F2C-7910-31C295B92543}"/>
              </a:ext>
            </a:extLst>
          </p:cNvPr>
          <p:cNvSpPr txBox="1"/>
          <p:nvPr/>
        </p:nvSpPr>
        <p:spPr>
          <a:xfrm>
            <a:off x="1866900" y="1632148"/>
            <a:ext cx="1034257" cy="246221"/>
          </a:xfrm>
          <a:prstGeom prst="rect">
            <a:avLst/>
          </a:prstGeom>
          <a:noFill/>
        </p:spPr>
        <p:txBody>
          <a:bodyPr wrap="none" rtlCol="0">
            <a:spAutoFit/>
          </a:bodyPr>
          <a:lstStyle/>
          <a:p>
            <a:r>
              <a:rPr lang="en-IN" sz="1000" i="1" dirty="0"/>
              <a:t>28</a:t>
            </a:r>
            <a:r>
              <a:rPr lang="en-IN" sz="1000" i="1" baseline="30000" dirty="0"/>
              <a:t>th</a:t>
            </a:r>
            <a:r>
              <a:rPr lang="en-IN" sz="1000" i="1" dirty="0"/>
              <a:t> May 2026</a:t>
            </a:r>
          </a:p>
        </p:txBody>
      </p:sp>
      <p:sp>
        <p:nvSpPr>
          <p:cNvPr id="10" name="TextBox 9">
            <a:extLst>
              <a:ext uri="{FF2B5EF4-FFF2-40B4-BE49-F238E27FC236}">
                <a16:creationId xmlns:a16="http://schemas.microsoft.com/office/drawing/2014/main" id="{5DCA17DD-DC3D-ED3C-B18A-496CFF13EA94}"/>
              </a:ext>
            </a:extLst>
          </p:cNvPr>
          <p:cNvSpPr txBox="1"/>
          <p:nvPr/>
        </p:nvSpPr>
        <p:spPr>
          <a:xfrm>
            <a:off x="3280137" y="2503771"/>
            <a:ext cx="1034257" cy="246221"/>
          </a:xfrm>
          <a:prstGeom prst="rect">
            <a:avLst/>
          </a:prstGeom>
          <a:noFill/>
        </p:spPr>
        <p:txBody>
          <a:bodyPr wrap="none" rtlCol="0">
            <a:spAutoFit/>
          </a:bodyPr>
          <a:lstStyle/>
          <a:p>
            <a:r>
              <a:rPr lang="en-IN" sz="1000" i="1" dirty="0"/>
              <a:t>29</a:t>
            </a:r>
            <a:r>
              <a:rPr lang="en-IN" sz="1000" i="1" baseline="30000" dirty="0"/>
              <a:t>th</a:t>
            </a:r>
            <a:r>
              <a:rPr lang="en-IN" sz="1000" i="1" dirty="0"/>
              <a:t> May 2026</a:t>
            </a:r>
          </a:p>
        </p:txBody>
      </p:sp>
      <p:sp>
        <p:nvSpPr>
          <p:cNvPr id="11" name="TextBox 10">
            <a:extLst>
              <a:ext uri="{FF2B5EF4-FFF2-40B4-BE49-F238E27FC236}">
                <a16:creationId xmlns:a16="http://schemas.microsoft.com/office/drawing/2014/main" id="{60F4B8D3-497C-D4C3-D39D-A359F8777664}"/>
              </a:ext>
            </a:extLst>
          </p:cNvPr>
          <p:cNvSpPr txBox="1"/>
          <p:nvPr/>
        </p:nvSpPr>
        <p:spPr>
          <a:xfrm>
            <a:off x="4430662" y="1523793"/>
            <a:ext cx="1047082" cy="400110"/>
          </a:xfrm>
          <a:prstGeom prst="rect">
            <a:avLst/>
          </a:prstGeom>
          <a:noFill/>
        </p:spPr>
        <p:txBody>
          <a:bodyPr wrap="none" rtlCol="0">
            <a:spAutoFit/>
          </a:bodyPr>
          <a:lstStyle/>
          <a:p>
            <a:r>
              <a:rPr lang="en-IN" sz="1000" i="1" strike="sngStrike" dirty="0"/>
              <a:t>12</a:t>
            </a:r>
            <a:r>
              <a:rPr lang="en-IN" sz="1000" i="1" strike="sngStrike" baseline="30000" dirty="0"/>
              <a:t>th</a:t>
            </a:r>
            <a:r>
              <a:rPr lang="en-IN" sz="1000" i="1" strike="sngStrike" dirty="0"/>
              <a:t> June 2026</a:t>
            </a:r>
          </a:p>
          <a:p>
            <a:r>
              <a:rPr lang="en-IN" sz="1000" i="1" dirty="0"/>
              <a:t>24</a:t>
            </a:r>
            <a:r>
              <a:rPr lang="en-IN" sz="1000" i="1" baseline="30000" dirty="0"/>
              <a:t>th</a:t>
            </a:r>
            <a:r>
              <a:rPr lang="en-IN" sz="1000" i="1" dirty="0"/>
              <a:t> July 2026</a:t>
            </a:r>
          </a:p>
        </p:txBody>
      </p:sp>
      <p:sp>
        <p:nvSpPr>
          <p:cNvPr id="12" name="TextBox 11">
            <a:extLst>
              <a:ext uri="{FF2B5EF4-FFF2-40B4-BE49-F238E27FC236}">
                <a16:creationId xmlns:a16="http://schemas.microsoft.com/office/drawing/2014/main" id="{4AE84F5A-9933-CDC8-93D2-C9DEC774317F}"/>
              </a:ext>
            </a:extLst>
          </p:cNvPr>
          <p:cNvSpPr txBox="1"/>
          <p:nvPr/>
        </p:nvSpPr>
        <p:spPr>
          <a:xfrm>
            <a:off x="5731329" y="2432038"/>
            <a:ext cx="1015021" cy="400110"/>
          </a:xfrm>
          <a:prstGeom prst="rect">
            <a:avLst/>
          </a:prstGeom>
          <a:noFill/>
        </p:spPr>
        <p:txBody>
          <a:bodyPr wrap="none" rtlCol="0">
            <a:spAutoFit/>
          </a:bodyPr>
          <a:lstStyle/>
          <a:p>
            <a:r>
              <a:rPr lang="en-IN" sz="1000" i="1" strike="sngStrike" dirty="0"/>
              <a:t>15</a:t>
            </a:r>
            <a:r>
              <a:rPr lang="en-IN" sz="1000" i="1" strike="sngStrike" baseline="30000" dirty="0"/>
              <a:t>th</a:t>
            </a:r>
            <a:r>
              <a:rPr lang="en-IN" sz="1000" i="1" strike="sngStrike" dirty="0"/>
              <a:t> Sep 2026</a:t>
            </a:r>
          </a:p>
          <a:p>
            <a:r>
              <a:rPr lang="en-IN" sz="1000" i="1" dirty="0"/>
              <a:t>15</a:t>
            </a:r>
            <a:r>
              <a:rPr lang="en-IN" sz="1000" i="1" baseline="30000" dirty="0"/>
              <a:t>th</a:t>
            </a:r>
            <a:r>
              <a:rPr lang="en-IN" sz="1000" i="1" dirty="0"/>
              <a:t> Oct 2026</a:t>
            </a:r>
          </a:p>
        </p:txBody>
      </p:sp>
      <p:sp>
        <p:nvSpPr>
          <p:cNvPr id="13" name="TextBox 12">
            <a:extLst>
              <a:ext uri="{FF2B5EF4-FFF2-40B4-BE49-F238E27FC236}">
                <a16:creationId xmlns:a16="http://schemas.microsoft.com/office/drawing/2014/main" id="{AD8C85CA-46D6-22AB-071A-DACE8B6B7D88}"/>
              </a:ext>
            </a:extLst>
          </p:cNvPr>
          <p:cNvSpPr txBox="1"/>
          <p:nvPr/>
        </p:nvSpPr>
        <p:spPr>
          <a:xfrm>
            <a:off x="6962219" y="1581090"/>
            <a:ext cx="1015021" cy="400110"/>
          </a:xfrm>
          <a:prstGeom prst="rect">
            <a:avLst/>
          </a:prstGeom>
          <a:noFill/>
        </p:spPr>
        <p:txBody>
          <a:bodyPr wrap="none" rtlCol="0">
            <a:spAutoFit/>
          </a:bodyPr>
          <a:lstStyle/>
          <a:p>
            <a:r>
              <a:rPr lang="en-IN" sz="1000" i="1" strike="sngStrike" dirty="0"/>
              <a:t>30</a:t>
            </a:r>
            <a:r>
              <a:rPr lang="en-IN" sz="1000" i="1" strike="sngStrike" baseline="30000" dirty="0"/>
              <a:t>th</a:t>
            </a:r>
            <a:r>
              <a:rPr lang="en-IN" sz="1000" i="1" strike="sngStrike" dirty="0"/>
              <a:t> Sep 2026</a:t>
            </a:r>
          </a:p>
          <a:p>
            <a:r>
              <a:rPr lang="en-IN" sz="1000" i="1" dirty="0"/>
              <a:t>30</a:t>
            </a:r>
            <a:r>
              <a:rPr lang="en-IN" sz="1000" i="1" baseline="30000" dirty="0"/>
              <a:t>th</a:t>
            </a:r>
            <a:r>
              <a:rPr lang="en-IN" sz="1000" i="1" dirty="0"/>
              <a:t> Oct 2026</a:t>
            </a:r>
          </a:p>
        </p:txBody>
      </p:sp>
      <p:sp>
        <p:nvSpPr>
          <p:cNvPr id="14" name="TextBox 13">
            <a:extLst>
              <a:ext uri="{FF2B5EF4-FFF2-40B4-BE49-F238E27FC236}">
                <a16:creationId xmlns:a16="http://schemas.microsoft.com/office/drawing/2014/main" id="{F52656C2-E9B7-870C-4733-164F8AFB7248}"/>
              </a:ext>
            </a:extLst>
          </p:cNvPr>
          <p:cNvSpPr txBox="1"/>
          <p:nvPr/>
        </p:nvSpPr>
        <p:spPr>
          <a:xfrm>
            <a:off x="8172591" y="2439851"/>
            <a:ext cx="950901" cy="246221"/>
          </a:xfrm>
          <a:prstGeom prst="rect">
            <a:avLst/>
          </a:prstGeom>
          <a:noFill/>
        </p:spPr>
        <p:txBody>
          <a:bodyPr wrap="none" rtlCol="0">
            <a:spAutoFit/>
          </a:bodyPr>
          <a:lstStyle/>
          <a:p>
            <a:r>
              <a:rPr lang="en-IN" sz="1000" b="1" i="1" dirty="0">
                <a:solidFill>
                  <a:srgbClr val="7030A0"/>
                </a:solidFill>
              </a:rPr>
              <a:t>1</a:t>
            </a:r>
            <a:r>
              <a:rPr lang="en-IN" sz="1000" b="1" i="1" baseline="30000" dirty="0">
                <a:solidFill>
                  <a:srgbClr val="7030A0"/>
                </a:solidFill>
              </a:rPr>
              <a:t>st</a:t>
            </a:r>
            <a:r>
              <a:rPr lang="en-IN" sz="1000" b="1" i="1" dirty="0">
                <a:solidFill>
                  <a:srgbClr val="7030A0"/>
                </a:solidFill>
              </a:rPr>
              <a:t> Nov 2026</a:t>
            </a:r>
          </a:p>
        </p:txBody>
      </p:sp>
      <p:sp>
        <p:nvSpPr>
          <p:cNvPr id="2" name="Rectangle: Rounded Corners 1">
            <a:extLst>
              <a:ext uri="{FF2B5EF4-FFF2-40B4-BE49-F238E27FC236}">
                <a16:creationId xmlns:a16="http://schemas.microsoft.com/office/drawing/2014/main" id="{A7AF17A6-CB9C-DD3F-3E44-CAB88DA24166}"/>
              </a:ext>
            </a:extLst>
          </p:cNvPr>
          <p:cNvSpPr/>
          <p:nvPr/>
        </p:nvSpPr>
        <p:spPr>
          <a:xfrm>
            <a:off x="79615" y="3099607"/>
            <a:ext cx="8454786" cy="3236794"/>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Key Upcoming Milestones</a:t>
            </a:r>
          </a:p>
          <a:p>
            <a:pPr algn="ctr"/>
            <a:endParaRPr lang="en-IN" sz="1400" b="1" dirty="0">
              <a:solidFill>
                <a:schemeClr val="tx1"/>
              </a:solidFill>
            </a:endParaRPr>
          </a:p>
          <a:p>
            <a:pPr marL="285750" indent="-285750">
              <a:buFont typeface="Arial" panose="020B0604020202020204" pitchFamily="34" charset="0"/>
              <a:buChar char="•"/>
            </a:pPr>
            <a:r>
              <a:rPr lang="en-IN" sz="1400" dirty="0">
                <a:solidFill>
                  <a:schemeClr val="tx1"/>
                </a:solidFill>
              </a:rPr>
              <a:t>SAP SF LMS licenses discussions </a:t>
            </a:r>
            <a:r>
              <a:rPr lang="en-IN" sz="1400" b="1" dirty="0">
                <a:solidFill>
                  <a:schemeClr val="tx1"/>
                </a:solidFill>
              </a:rPr>
              <a:t>concluded</a:t>
            </a:r>
          </a:p>
          <a:p>
            <a:pPr marL="285750" indent="-285750">
              <a:buFont typeface="Arial" panose="020B0604020202020204" pitchFamily="34" charset="0"/>
              <a:buChar char="•"/>
            </a:pPr>
            <a:r>
              <a:rPr lang="en-IN" sz="1400" dirty="0">
                <a:solidFill>
                  <a:schemeClr val="tx1"/>
                </a:solidFill>
              </a:rPr>
              <a:t>Onboarding implementation partner – RFP floated on 19</a:t>
            </a:r>
            <a:r>
              <a:rPr lang="en-IN" sz="1400" baseline="30000" dirty="0">
                <a:solidFill>
                  <a:schemeClr val="tx1"/>
                </a:solidFill>
              </a:rPr>
              <a:t>th</a:t>
            </a:r>
            <a:r>
              <a:rPr lang="en-IN" sz="1400" dirty="0">
                <a:solidFill>
                  <a:schemeClr val="tx1"/>
                </a:solidFill>
              </a:rPr>
              <a:t> June by Central Procurement team; awaiting contract awarding by 20</a:t>
            </a:r>
            <a:r>
              <a:rPr lang="en-IN" sz="1400" baseline="30000" dirty="0">
                <a:solidFill>
                  <a:schemeClr val="tx1"/>
                </a:solidFill>
              </a:rPr>
              <a:t>th</a:t>
            </a:r>
            <a:r>
              <a:rPr lang="en-IN" sz="1400" dirty="0">
                <a:solidFill>
                  <a:schemeClr val="tx1"/>
                </a:solidFill>
              </a:rPr>
              <a:t> July 2026</a:t>
            </a:r>
          </a:p>
          <a:p>
            <a:endParaRPr lang="en-IN" sz="1400" b="1" dirty="0">
              <a:solidFill>
                <a:srgbClr val="C00000"/>
              </a:solidFill>
            </a:endParaRPr>
          </a:p>
          <a:p>
            <a:r>
              <a:rPr lang="en-IN" sz="1400" b="1" dirty="0">
                <a:solidFill>
                  <a:srgbClr val="C00000"/>
                </a:solidFill>
              </a:rPr>
              <a:t>Risk:</a:t>
            </a:r>
            <a:r>
              <a:rPr lang="en-IN" sz="1400" dirty="0">
                <a:solidFill>
                  <a:schemeClr val="tx1"/>
                </a:solidFill>
              </a:rPr>
              <a:t> We foresee risk of delivery prior to H2 learning calendar launch (Sep Mid) due to:</a:t>
            </a:r>
            <a:br>
              <a:rPr lang="en-IN" sz="1400" dirty="0">
                <a:solidFill>
                  <a:schemeClr val="tx1"/>
                </a:solidFill>
              </a:rPr>
            </a:br>
            <a:r>
              <a:rPr lang="en-IN" sz="1400" dirty="0">
                <a:solidFill>
                  <a:schemeClr val="tx1"/>
                </a:solidFill>
              </a:rPr>
              <a:t>1. Implementation partner alignment for SF LMS implementation</a:t>
            </a:r>
          </a:p>
          <a:p>
            <a:r>
              <a:rPr lang="en-IN" sz="1400" dirty="0">
                <a:solidFill>
                  <a:schemeClr val="tx1"/>
                </a:solidFill>
              </a:rPr>
              <a:t>2. Delay of 3 weeks due to budget &amp; contract considerations</a:t>
            </a:r>
          </a:p>
          <a:p>
            <a:r>
              <a:rPr lang="en-IN" sz="1400" b="1" dirty="0">
                <a:solidFill>
                  <a:schemeClr val="accent6">
                    <a:lumMod val="50000"/>
                  </a:schemeClr>
                </a:solidFill>
              </a:rPr>
              <a:t>Aligned Plan:</a:t>
            </a:r>
            <a:r>
              <a:rPr lang="en-IN" sz="1400" dirty="0">
                <a:solidFill>
                  <a:schemeClr val="tx1"/>
                </a:solidFill>
              </a:rPr>
              <a:t> In case of delay, we launch H2 calendar on myAI, migrate nominations received on myAI to SF LMS once launched</a:t>
            </a:r>
          </a:p>
        </p:txBody>
      </p:sp>
      <p:sp>
        <p:nvSpPr>
          <p:cNvPr id="8" name="TextBox 7">
            <a:extLst>
              <a:ext uri="{FF2B5EF4-FFF2-40B4-BE49-F238E27FC236}">
                <a16:creationId xmlns:a16="http://schemas.microsoft.com/office/drawing/2014/main" id="{C57F1E1D-0C33-A170-17FF-9F5FB60B3632}"/>
              </a:ext>
            </a:extLst>
          </p:cNvPr>
          <p:cNvSpPr txBox="1"/>
          <p:nvPr/>
        </p:nvSpPr>
        <p:spPr>
          <a:xfrm>
            <a:off x="9192880" y="6402637"/>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00B050"/>
                </a:solidFill>
              </a:rPr>
              <a:t>Completed</a:t>
            </a:r>
            <a:endParaRPr lang="en-IN" sz="1000" dirty="0"/>
          </a:p>
        </p:txBody>
      </p:sp>
      <p:sp>
        <p:nvSpPr>
          <p:cNvPr id="15" name="TextBox 20">
            <a:extLst>
              <a:ext uri="{FF2B5EF4-FFF2-40B4-BE49-F238E27FC236}">
                <a16:creationId xmlns:a16="http://schemas.microsoft.com/office/drawing/2014/main" id="{2316CFC5-E70F-8B3B-71A3-3A02BA2A521E}"/>
              </a:ext>
            </a:extLst>
          </p:cNvPr>
          <p:cNvSpPr txBox="1"/>
          <p:nvPr/>
        </p:nvSpPr>
        <p:spPr>
          <a:xfrm>
            <a:off x="10289675" y="6420258"/>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B48900"/>
                </a:solidFill>
              </a:rPr>
              <a:t>In Progress</a:t>
            </a:r>
          </a:p>
        </p:txBody>
      </p:sp>
      <p:sp>
        <p:nvSpPr>
          <p:cNvPr id="25" name="TextBox 22">
            <a:extLst>
              <a:ext uri="{FF2B5EF4-FFF2-40B4-BE49-F238E27FC236}">
                <a16:creationId xmlns:a16="http://schemas.microsoft.com/office/drawing/2014/main" id="{A2A9B71A-3781-6503-3993-E8C86A2997A5}"/>
              </a:ext>
            </a:extLst>
          </p:cNvPr>
          <p:cNvSpPr txBox="1"/>
          <p:nvPr/>
        </p:nvSpPr>
        <p:spPr>
          <a:xfrm>
            <a:off x="11270770" y="6420258"/>
            <a:ext cx="83820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1"/>
                </a:solidFill>
              </a:rPr>
              <a:t>At Risk</a:t>
            </a:r>
          </a:p>
        </p:txBody>
      </p:sp>
      <p:sp>
        <p:nvSpPr>
          <p:cNvPr id="26" name="Oval 25">
            <a:extLst>
              <a:ext uri="{FF2B5EF4-FFF2-40B4-BE49-F238E27FC236}">
                <a16:creationId xmlns:a16="http://schemas.microsoft.com/office/drawing/2014/main" id="{C10C225F-447C-38B5-2706-6E56A0685CFD}"/>
              </a:ext>
            </a:extLst>
          </p:cNvPr>
          <p:cNvSpPr/>
          <p:nvPr/>
        </p:nvSpPr>
        <p:spPr>
          <a:xfrm>
            <a:off x="10088395" y="6420258"/>
            <a:ext cx="201280" cy="201280"/>
          </a:xfrm>
          <a:prstGeom prst="ellipse">
            <a:avLst/>
          </a:prstGeom>
          <a:solidFill>
            <a:srgbClr val="FFC00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7" name="Oval 26">
            <a:extLst>
              <a:ext uri="{FF2B5EF4-FFF2-40B4-BE49-F238E27FC236}">
                <a16:creationId xmlns:a16="http://schemas.microsoft.com/office/drawing/2014/main" id="{E44B144D-34A8-9870-2456-798819538094}"/>
              </a:ext>
            </a:extLst>
          </p:cNvPr>
          <p:cNvSpPr/>
          <p:nvPr/>
        </p:nvSpPr>
        <p:spPr>
          <a:xfrm>
            <a:off x="8991600" y="6402637"/>
            <a:ext cx="201280" cy="201280"/>
          </a:xfrm>
          <a:prstGeom prst="ellipse">
            <a:avLst/>
          </a:prstGeom>
          <a:solidFill>
            <a:srgbClr val="00B05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8" name="Oval 27">
            <a:extLst>
              <a:ext uri="{FF2B5EF4-FFF2-40B4-BE49-F238E27FC236}">
                <a16:creationId xmlns:a16="http://schemas.microsoft.com/office/drawing/2014/main" id="{F3BAB5CA-EB59-45F2-6240-762AC6736E16}"/>
              </a:ext>
            </a:extLst>
          </p:cNvPr>
          <p:cNvSpPr/>
          <p:nvPr/>
        </p:nvSpPr>
        <p:spPr>
          <a:xfrm>
            <a:off x="11098683" y="6400800"/>
            <a:ext cx="201280" cy="201280"/>
          </a:xfrm>
          <a:prstGeom prst="ellipse">
            <a:avLst/>
          </a:prstGeom>
          <a:solidFill>
            <a:srgbClr val="C00000"/>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graphicFrame>
        <p:nvGraphicFramePr>
          <p:cNvPr id="16" name="Table 15">
            <a:extLst>
              <a:ext uri="{FF2B5EF4-FFF2-40B4-BE49-F238E27FC236}">
                <a16:creationId xmlns:a16="http://schemas.microsoft.com/office/drawing/2014/main" id="{047607F2-B580-969F-5BB9-17DAD82FD35C}"/>
              </a:ext>
            </a:extLst>
          </p:cNvPr>
          <p:cNvGraphicFramePr>
            <a:graphicFrameLocks noGrp="1"/>
          </p:cNvGraphicFramePr>
          <p:nvPr>
            <p:extLst>
              <p:ext uri="{D42A27DB-BD31-4B8C-83A1-F6EECF244321}">
                <p14:modId xmlns:p14="http://schemas.microsoft.com/office/powerpoint/2010/main" val="2705317604"/>
              </p:ext>
            </p:extLst>
          </p:nvPr>
        </p:nvGraphicFramePr>
        <p:xfrm>
          <a:off x="9372600" y="3886200"/>
          <a:ext cx="2374900" cy="1914525"/>
        </p:xfrm>
        <a:graphic>
          <a:graphicData uri="http://schemas.openxmlformats.org/drawingml/2006/table">
            <a:tbl>
              <a:tblPr/>
              <a:tblGrid>
                <a:gridCol w="1765300">
                  <a:extLst>
                    <a:ext uri="{9D8B030D-6E8A-4147-A177-3AD203B41FA5}">
                      <a16:colId xmlns:a16="http://schemas.microsoft.com/office/drawing/2014/main" val="2866850002"/>
                    </a:ext>
                  </a:extLst>
                </a:gridCol>
                <a:gridCol w="609600">
                  <a:extLst>
                    <a:ext uri="{9D8B030D-6E8A-4147-A177-3AD203B41FA5}">
                      <a16:colId xmlns:a16="http://schemas.microsoft.com/office/drawing/2014/main" val="110353937"/>
                    </a:ext>
                  </a:extLst>
                </a:gridCol>
              </a:tblGrid>
              <a:tr h="133350">
                <a:tc>
                  <a:txBody>
                    <a:bodyPr/>
                    <a:lstStyle/>
                    <a:p>
                      <a:pPr fontAlgn="base"/>
                      <a:r>
                        <a:rPr lang="en-IN" sz="1200" b="1" dirty="0">
                          <a:solidFill>
                            <a:schemeClr val="bg1"/>
                          </a:solidFill>
                          <a:effectLst/>
                          <a:latin typeface="inherit"/>
                        </a:rPr>
                        <a:t>Milestone</a:t>
                      </a:r>
                      <a:endParaRPr lang="en-IN" sz="1400" dirty="0">
                        <a:solidFill>
                          <a:schemeClr val="bg1"/>
                        </a:solidFill>
                        <a:effectLst/>
                        <a:latin typeface="Aptos"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fontAlgn="base"/>
                      <a:r>
                        <a:rPr lang="en-IN" sz="1200" b="1" dirty="0">
                          <a:solidFill>
                            <a:schemeClr val="bg1"/>
                          </a:solidFill>
                          <a:effectLst/>
                          <a:latin typeface="inherit"/>
                        </a:rPr>
                        <a:t>Timeline</a:t>
                      </a:r>
                      <a:endParaRPr lang="en-IN" sz="1400" dirty="0">
                        <a:solidFill>
                          <a:schemeClr val="bg1"/>
                        </a:solidFill>
                        <a:effectLst/>
                        <a:latin typeface="Aptos"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rgbClr val="2061AA"/>
                      </a:solidFill>
                      <a:prstDash val="solid"/>
                      <a:round/>
                      <a:headEnd type="none" w="med" len="med"/>
                      <a:tailEnd type="none" w="med" len="med"/>
                    </a:lnR>
                    <a:lnT w="12700" cap="flat" cmpd="sng" algn="ctr">
                      <a:solidFill>
                        <a:srgbClr val="2061AA"/>
                      </a:solidFill>
                      <a:prstDash val="solid"/>
                      <a:round/>
                      <a:headEnd type="none" w="med" len="med"/>
                      <a:tailEnd type="none" w="med" len="med"/>
                    </a:lnT>
                    <a:lnB w="12700" cap="flat" cmpd="sng" algn="ctr">
                      <a:solidFill>
                        <a:srgbClr val="2061AA"/>
                      </a:solidFill>
                      <a:prstDash val="solid"/>
                      <a:round/>
                      <a:headEnd type="none" w="med" len="med"/>
                      <a:tailEnd type="none" w="med" len="med"/>
                    </a:lnB>
                    <a:solidFill>
                      <a:srgbClr val="FF0000"/>
                    </a:solidFill>
                  </a:tcPr>
                </a:tc>
                <a:extLst>
                  <a:ext uri="{0D108BD9-81ED-4DB2-BD59-A6C34878D82A}">
                    <a16:rowId xmlns:a16="http://schemas.microsoft.com/office/drawing/2014/main" val="4040704194"/>
                  </a:ext>
                </a:extLst>
              </a:tr>
              <a:tr h="133350">
                <a:tc>
                  <a:txBody>
                    <a:bodyPr/>
                    <a:lstStyle/>
                    <a:p>
                      <a:pPr fontAlgn="base"/>
                      <a:r>
                        <a:rPr lang="en-IN" sz="1200">
                          <a:solidFill>
                            <a:srgbClr val="000000"/>
                          </a:solidFill>
                          <a:effectLst/>
                          <a:latin typeface="inherit"/>
                        </a:rPr>
                        <a:t>RFP Initiation</a:t>
                      </a:r>
                      <a:endParaRPr lang="en-IN" sz="1400">
                        <a:effectLst/>
                        <a:latin typeface="Aptos" panose="020B0004020202020204" pitchFamily="34" charset="0"/>
                      </a:endParaRPr>
                    </a:p>
                  </a:txBody>
                  <a:tcPr marL="9525" marR="9525" marT="9525" marB="0" anchor="b">
                    <a:lnL w="12700" cap="flat" cmpd="sng" algn="ctr">
                      <a:solidFill>
                        <a:srgbClr val="F014D9"/>
                      </a:solidFill>
                      <a:prstDash val="solid"/>
                      <a:round/>
                      <a:headEnd type="none" w="med" len="med"/>
                      <a:tailEnd type="none" w="med" len="med"/>
                    </a:lnL>
                    <a:lnR w="12700" cap="flat" cmpd="sng" algn="ctr">
                      <a:solidFill>
                        <a:srgbClr val="F014D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014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19-Jun</a:t>
                      </a:r>
                      <a:endParaRPr lang="en-IN" sz="1400">
                        <a:effectLst/>
                        <a:latin typeface="Aptos" panose="020B0004020202020204" pitchFamily="34" charset="0"/>
                      </a:endParaRPr>
                    </a:p>
                  </a:txBody>
                  <a:tcPr marL="9525" marR="9525" marT="9525" marB="0" anchor="b">
                    <a:lnL w="12700" cap="flat" cmpd="sng" algn="ctr">
                      <a:solidFill>
                        <a:srgbClr val="F014D9"/>
                      </a:solidFill>
                      <a:prstDash val="solid"/>
                      <a:round/>
                      <a:headEnd type="none" w="med" len="med"/>
                      <a:tailEnd type="none" w="med" len="med"/>
                    </a:lnL>
                    <a:lnR w="12700" cap="flat" cmpd="sng" algn="ctr">
                      <a:solidFill>
                        <a:srgbClr val="C01CBB"/>
                      </a:solidFill>
                      <a:prstDash val="solid"/>
                      <a:round/>
                      <a:headEnd type="none" w="med" len="med"/>
                      <a:tailEnd type="none" w="med" len="med"/>
                    </a:lnR>
                    <a:lnT w="12700" cap="flat" cmpd="sng" algn="ctr">
                      <a:solidFill>
                        <a:srgbClr val="2061AA"/>
                      </a:solidFill>
                      <a:prstDash val="solid"/>
                      <a:round/>
                      <a:headEnd type="none" w="med" len="med"/>
                      <a:tailEnd type="none" w="med" len="med"/>
                    </a:lnT>
                    <a:lnB w="12700" cap="flat" cmpd="sng" algn="ctr">
                      <a:solidFill>
                        <a:srgbClr val="C01CBB"/>
                      </a:solidFill>
                      <a:prstDash val="solid"/>
                      <a:round/>
                      <a:headEnd type="none" w="med" len="med"/>
                      <a:tailEnd type="none" w="med" len="med"/>
                    </a:lnB>
                    <a:solidFill>
                      <a:srgbClr val="FFFFFF"/>
                    </a:solidFill>
                  </a:tcPr>
                </a:tc>
                <a:extLst>
                  <a:ext uri="{0D108BD9-81ED-4DB2-BD59-A6C34878D82A}">
                    <a16:rowId xmlns:a16="http://schemas.microsoft.com/office/drawing/2014/main" val="2601863299"/>
                  </a:ext>
                </a:extLst>
              </a:tr>
              <a:tr h="133350">
                <a:tc>
                  <a:txBody>
                    <a:bodyPr/>
                    <a:lstStyle/>
                    <a:p>
                      <a:pPr fontAlgn="base"/>
                      <a:r>
                        <a:rPr lang="en-IN" sz="1200">
                          <a:solidFill>
                            <a:srgbClr val="000000"/>
                          </a:solidFill>
                          <a:effectLst/>
                          <a:latin typeface="inherit"/>
                        </a:rPr>
                        <a:t>Pre-bid queries from suppliers</a:t>
                      </a:r>
                      <a:endParaRPr lang="en-IN" sz="1400">
                        <a:effectLst/>
                        <a:latin typeface="Aptos" panose="020B0004020202020204" pitchFamily="34" charset="0"/>
                      </a:endParaRPr>
                    </a:p>
                  </a:txBody>
                  <a:tcPr marL="9525" marR="9525" marT="9525" marB="0" anchor="b">
                    <a:lnL w="12700" cap="flat" cmpd="sng" algn="ctr">
                      <a:solidFill>
                        <a:srgbClr val="C008D9"/>
                      </a:solidFill>
                      <a:prstDash val="solid"/>
                      <a:round/>
                      <a:headEnd type="none" w="med" len="med"/>
                      <a:tailEnd type="none" w="med" len="med"/>
                    </a:lnL>
                    <a:lnR w="12700" cap="flat" cmpd="sng" algn="ctr">
                      <a:solidFill>
                        <a:srgbClr val="C008D9"/>
                      </a:solidFill>
                      <a:prstDash val="solid"/>
                      <a:round/>
                      <a:headEnd type="none" w="med" len="med"/>
                      <a:tailEnd type="none" w="med" len="med"/>
                    </a:lnR>
                    <a:lnT w="12700" cap="flat" cmpd="sng" algn="ctr">
                      <a:solidFill>
                        <a:srgbClr val="F014D9"/>
                      </a:solidFill>
                      <a:prstDash val="solid"/>
                      <a:round/>
                      <a:headEnd type="none" w="med" len="med"/>
                      <a:tailEnd type="none" w="med" len="med"/>
                    </a:lnT>
                    <a:lnB w="12700" cap="flat" cmpd="sng" algn="ctr">
                      <a:solidFill>
                        <a:srgbClr val="C008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23-Jun</a:t>
                      </a:r>
                      <a:endParaRPr lang="en-IN" sz="1400">
                        <a:effectLst/>
                        <a:latin typeface="Aptos" panose="020B0004020202020204" pitchFamily="34" charset="0"/>
                      </a:endParaRPr>
                    </a:p>
                  </a:txBody>
                  <a:tcPr marL="9525" marR="9525" marT="9525" marB="0" anchor="b">
                    <a:lnL w="12700" cap="flat" cmpd="sng" algn="ctr">
                      <a:solidFill>
                        <a:srgbClr val="C008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C01C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4269367693"/>
                  </a:ext>
                </a:extLst>
              </a:tr>
              <a:tr h="133350">
                <a:tc>
                  <a:txBody>
                    <a:bodyPr/>
                    <a:lstStyle/>
                    <a:p>
                      <a:pPr fontAlgn="base"/>
                      <a:r>
                        <a:rPr lang="en-IN" sz="1200">
                          <a:solidFill>
                            <a:srgbClr val="000000"/>
                          </a:solidFill>
                          <a:effectLst/>
                          <a:latin typeface="inherit"/>
                        </a:rPr>
                        <a:t>Response to queries</a:t>
                      </a:r>
                      <a:endParaRPr lang="en-IN" sz="1400">
                        <a:effectLst/>
                        <a:latin typeface="Aptos" panose="020B0004020202020204" pitchFamily="34" charset="0"/>
                      </a:endParaRPr>
                    </a:p>
                  </a:txBody>
                  <a:tcPr marL="9525" marR="9525" marT="9525" marB="0" anchor="b">
                    <a:lnL w="12700" cap="flat" cmpd="sng" algn="ctr">
                      <a:solidFill>
                        <a:srgbClr val="3011D9"/>
                      </a:solidFill>
                      <a:prstDash val="solid"/>
                      <a:round/>
                      <a:headEnd type="none" w="med" len="med"/>
                      <a:tailEnd type="none" w="med" len="med"/>
                    </a:lnL>
                    <a:lnR w="12700" cap="flat" cmpd="sng" algn="ctr">
                      <a:solidFill>
                        <a:srgbClr val="3011D9"/>
                      </a:solidFill>
                      <a:prstDash val="solid"/>
                      <a:round/>
                      <a:headEnd type="none" w="med" len="med"/>
                      <a:tailEnd type="none" w="med" len="med"/>
                    </a:lnR>
                    <a:lnT w="12700" cap="flat" cmpd="sng" algn="ctr">
                      <a:solidFill>
                        <a:srgbClr val="C008D9"/>
                      </a:solidFill>
                      <a:prstDash val="solid"/>
                      <a:round/>
                      <a:headEnd type="none" w="med" len="med"/>
                      <a:tailEnd type="none" w="med" len="med"/>
                    </a:lnT>
                    <a:lnB w="12700" cap="flat" cmpd="sng" algn="ctr">
                      <a:solidFill>
                        <a:srgbClr val="3011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25-Jun</a:t>
                      </a:r>
                      <a:endParaRPr lang="en-IN" sz="1400">
                        <a:effectLst/>
                        <a:latin typeface="Aptos" panose="020B0004020202020204" pitchFamily="34" charset="0"/>
                      </a:endParaRPr>
                    </a:p>
                  </a:txBody>
                  <a:tcPr marL="9525" marR="9525" marT="9525" marB="0" anchor="b">
                    <a:lnL w="12700" cap="flat" cmpd="sng" algn="ctr">
                      <a:solidFill>
                        <a:srgbClr val="3011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4181114410"/>
                  </a:ext>
                </a:extLst>
              </a:tr>
              <a:tr h="133350">
                <a:tc>
                  <a:txBody>
                    <a:bodyPr/>
                    <a:lstStyle/>
                    <a:p>
                      <a:pPr fontAlgn="base"/>
                      <a:r>
                        <a:rPr lang="en-IN" sz="1200">
                          <a:solidFill>
                            <a:srgbClr val="000000"/>
                          </a:solidFill>
                          <a:effectLst/>
                          <a:latin typeface="inherit"/>
                        </a:rPr>
                        <a:t>Initial response submission</a:t>
                      </a:r>
                      <a:endParaRPr lang="en-IN" sz="1400">
                        <a:effectLst/>
                        <a:latin typeface="Aptos" panose="020B0004020202020204" pitchFamily="34" charset="0"/>
                      </a:endParaRPr>
                    </a:p>
                  </a:txBody>
                  <a:tcPr marL="9525" marR="9525" marT="9525" marB="0" anchor="b">
                    <a:lnL w="12700" cap="flat" cmpd="sng" algn="ctr">
                      <a:solidFill>
                        <a:srgbClr val="B009D9"/>
                      </a:solidFill>
                      <a:prstDash val="solid"/>
                      <a:round/>
                      <a:headEnd type="none" w="med" len="med"/>
                      <a:tailEnd type="none" w="med" len="med"/>
                    </a:lnL>
                    <a:lnR w="12700" cap="flat" cmpd="sng" algn="ctr">
                      <a:solidFill>
                        <a:srgbClr val="B009D9"/>
                      </a:solidFill>
                      <a:prstDash val="solid"/>
                      <a:round/>
                      <a:headEnd type="none" w="med" len="med"/>
                      <a:tailEnd type="none" w="med" len="med"/>
                    </a:lnR>
                    <a:lnT w="12700" cap="flat" cmpd="sng" algn="ctr">
                      <a:solidFill>
                        <a:srgbClr val="3011D9"/>
                      </a:solidFill>
                      <a:prstDash val="solid"/>
                      <a:round/>
                      <a:headEnd type="none" w="med" len="med"/>
                      <a:tailEnd type="none" w="med" len="med"/>
                    </a:lnT>
                    <a:lnB w="12700" cap="flat" cmpd="sng" algn="ctr">
                      <a:solidFill>
                        <a:srgbClr val="B009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30-Jun</a:t>
                      </a:r>
                      <a:endParaRPr lang="en-IN" sz="1400">
                        <a:effectLst/>
                        <a:latin typeface="Aptos" panose="020B0004020202020204" pitchFamily="34" charset="0"/>
                      </a:endParaRPr>
                    </a:p>
                  </a:txBody>
                  <a:tcPr marL="9525" marR="9525" marT="9525" marB="0" anchor="b">
                    <a:lnL w="12700" cap="flat" cmpd="sng" algn="ctr">
                      <a:solidFill>
                        <a:srgbClr val="B009D9"/>
                      </a:solidFill>
                      <a:prstDash val="solid"/>
                      <a:round/>
                      <a:headEnd type="none" w="med" len="med"/>
                      <a:tailEnd type="none" w="med" len="med"/>
                    </a:lnL>
                    <a:lnR w="12700" cap="flat" cmpd="sng" algn="ctr">
                      <a:solidFill>
                        <a:srgbClr val="8017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8017BB"/>
                      </a:solidFill>
                      <a:prstDash val="solid"/>
                      <a:round/>
                      <a:headEnd type="none" w="med" len="med"/>
                      <a:tailEnd type="none" w="med" len="med"/>
                    </a:lnB>
                    <a:solidFill>
                      <a:srgbClr val="FFFFFF"/>
                    </a:solidFill>
                  </a:tcPr>
                </a:tc>
                <a:extLst>
                  <a:ext uri="{0D108BD9-81ED-4DB2-BD59-A6C34878D82A}">
                    <a16:rowId xmlns:a16="http://schemas.microsoft.com/office/drawing/2014/main" val="176113577"/>
                  </a:ext>
                </a:extLst>
              </a:tr>
              <a:tr h="133350">
                <a:tc>
                  <a:txBody>
                    <a:bodyPr/>
                    <a:lstStyle/>
                    <a:p>
                      <a:pPr fontAlgn="base"/>
                      <a:r>
                        <a:rPr lang="en-IN" sz="1200">
                          <a:solidFill>
                            <a:srgbClr val="000000"/>
                          </a:solidFill>
                          <a:effectLst/>
                          <a:latin typeface="inherit"/>
                        </a:rPr>
                        <a:t>Technical evaluation</a:t>
                      </a:r>
                      <a:endParaRPr lang="en-IN" sz="1400">
                        <a:effectLst/>
                        <a:latin typeface="Aptos" panose="020B0004020202020204" pitchFamily="34" charset="0"/>
                      </a:endParaRPr>
                    </a:p>
                  </a:txBody>
                  <a:tcPr marL="9525" marR="9525" marT="9525" marB="0" anchor="b">
                    <a:lnL w="12700" cap="flat" cmpd="sng" algn="ctr">
                      <a:solidFill>
                        <a:srgbClr val="300CD9"/>
                      </a:solidFill>
                      <a:prstDash val="solid"/>
                      <a:round/>
                      <a:headEnd type="none" w="med" len="med"/>
                      <a:tailEnd type="none" w="med" len="med"/>
                    </a:lnL>
                    <a:lnR w="12700" cap="flat" cmpd="sng" algn="ctr">
                      <a:solidFill>
                        <a:srgbClr val="300CD9"/>
                      </a:solidFill>
                      <a:prstDash val="solid"/>
                      <a:round/>
                      <a:headEnd type="none" w="med" len="med"/>
                      <a:tailEnd type="none" w="med" len="med"/>
                    </a:lnR>
                    <a:lnT w="12700" cap="flat" cmpd="sng" algn="ctr">
                      <a:solidFill>
                        <a:srgbClr val="B009D9"/>
                      </a:solidFill>
                      <a:prstDash val="solid"/>
                      <a:round/>
                      <a:headEnd type="none" w="med" len="med"/>
                      <a:tailEnd type="none" w="med" len="med"/>
                    </a:lnT>
                    <a:lnB w="12700" cap="flat" cmpd="sng" algn="ctr">
                      <a:solidFill>
                        <a:srgbClr val="300C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07-Jul</a:t>
                      </a:r>
                      <a:endParaRPr lang="en-IN" sz="1400">
                        <a:effectLst/>
                        <a:latin typeface="Aptos" panose="020B0004020202020204" pitchFamily="34" charset="0"/>
                      </a:endParaRPr>
                    </a:p>
                  </a:txBody>
                  <a:tcPr marL="9525" marR="9525" marT="9525" marB="0" anchor="b">
                    <a:lnL w="12700" cap="flat" cmpd="sng" algn="ctr">
                      <a:solidFill>
                        <a:srgbClr val="300CD9"/>
                      </a:solidFill>
                      <a:prstDash val="solid"/>
                      <a:round/>
                      <a:headEnd type="none" w="med" len="med"/>
                      <a:tailEnd type="none" w="med" len="med"/>
                    </a:lnL>
                    <a:lnR w="12700" cap="flat" cmpd="sng" algn="ctr">
                      <a:solidFill>
                        <a:srgbClr val="E01BBB"/>
                      </a:solidFill>
                      <a:prstDash val="solid"/>
                      <a:round/>
                      <a:headEnd type="none" w="med" len="med"/>
                      <a:tailEnd type="none" w="med" len="med"/>
                    </a:lnR>
                    <a:lnT w="12700" cap="flat" cmpd="sng" algn="ctr">
                      <a:solidFill>
                        <a:srgbClr val="8017BB"/>
                      </a:solidFill>
                      <a:prstDash val="solid"/>
                      <a:round/>
                      <a:headEnd type="none" w="med" len="med"/>
                      <a:tailEnd type="none" w="med" len="med"/>
                    </a:lnT>
                    <a:lnB w="12700" cap="flat" cmpd="sng" algn="ctr">
                      <a:solidFill>
                        <a:srgbClr val="E01BBB"/>
                      </a:solidFill>
                      <a:prstDash val="solid"/>
                      <a:round/>
                      <a:headEnd type="none" w="med" len="med"/>
                      <a:tailEnd type="none" w="med" len="med"/>
                    </a:lnB>
                    <a:solidFill>
                      <a:srgbClr val="FFFFFF"/>
                    </a:solidFill>
                  </a:tcPr>
                </a:tc>
                <a:extLst>
                  <a:ext uri="{0D108BD9-81ED-4DB2-BD59-A6C34878D82A}">
                    <a16:rowId xmlns:a16="http://schemas.microsoft.com/office/drawing/2014/main" val="68819375"/>
                  </a:ext>
                </a:extLst>
              </a:tr>
              <a:tr h="133350">
                <a:tc>
                  <a:txBody>
                    <a:bodyPr/>
                    <a:lstStyle/>
                    <a:p>
                      <a:pPr fontAlgn="base"/>
                      <a:r>
                        <a:rPr lang="en-IN" sz="1200">
                          <a:solidFill>
                            <a:srgbClr val="000000"/>
                          </a:solidFill>
                          <a:effectLst/>
                          <a:latin typeface="inherit"/>
                        </a:rPr>
                        <a:t>Commercial Evaluation</a:t>
                      </a:r>
                      <a:endParaRPr lang="en-IN" sz="1400">
                        <a:effectLst/>
                        <a:latin typeface="Aptos" panose="020B0004020202020204" pitchFamily="34" charset="0"/>
                      </a:endParaRPr>
                    </a:p>
                  </a:txBody>
                  <a:tcPr marL="9525" marR="9525" marT="9525" marB="0" anchor="b">
                    <a:lnL w="12700" cap="flat" cmpd="sng" algn="ctr">
                      <a:solidFill>
                        <a:srgbClr val="D00CD9"/>
                      </a:solidFill>
                      <a:prstDash val="solid"/>
                      <a:round/>
                      <a:headEnd type="none" w="med" len="med"/>
                      <a:tailEnd type="none" w="med" len="med"/>
                    </a:lnL>
                    <a:lnR w="12700" cap="flat" cmpd="sng" algn="ctr">
                      <a:solidFill>
                        <a:srgbClr val="D00CD9"/>
                      </a:solidFill>
                      <a:prstDash val="solid"/>
                      <a:round/>
                      <a:headEnd type="none" w="med" len="med"/>
                      <a:tailEnd type="none" w="med" len="med"/>
                    </a:lnR>
                    <a:lnT w="12700" cap="flat" cmpd="sng" algn="ctr">
                      <a:solidFill>
                        <a:srgbClr val="300CD9"/>
                      </a:solidFill>
                      <a:prstDash val="solid"/>
                      <a:round/>
                      <a:headEnd type="none" w="med" len="med"/>
                      <a:tailEnd type="none" w="med" len="med"/>
                    </a:lnT>
                    <a:lnB w="12700" cap="flat" cmpd="sng" algn="ctr">
                      <a:solidFill>
                        <a:srgbClr val="D00C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14-Jul</a:t>
                      </a:r>
                      <a:endParaRPr lang="en-IN" sz="1400">
                        <a:effectLst/>
                        <a:latin typeface="Aptos" panose="020B0004020202020204" pitchFamily="34" charset="0"/>
                      </a:endParaRPr>
                    </a:p>
                  </a:txBody>
                  <a:tcPr marL="9525" marR="9525" marT="9525" marB="0" anchor="b">
                    <a:lnL w="12700" cap="flat" cmpd="sng" algn="ctr">
                      <a:solidFill>
                        <a:srgbClr val="D00CD9"/>
                      </a:solidFill>
                      <a:prstDash val="solid"/>
                      <a:round/>
                      <a:headEnd type="none" w="med" len="med"/>
                      <a:tailEnd type="none" w="med" len="med"/>
                    </a:lnL>
                    <a:lnR w="12700" cap="flat" cmpd="sng" algn="ctr">
                      <a:solidFill>
                        <a:srgbClr val="0006BB"/>
                      </a:solidFill>
                      <a:prstDash val="solid"/>
                      <a:round/>
                      <a:headEnd type="none" w="med" len="med"/>
                      <a:tailEnd type="none" w="med" len="med"/>
                    </a:lnR>
                    <a:lnT w="12700" cap="flat" cmpd="sng" algn="ctr">
                      <a:solidFill>
                        <a:srgbClr val="E01BBB"/>
                      </a:solidFill>
                      <a:prstDash val="solid"/>
                      <a:round/>
                      <a:headEnd type="none" w="med" len="med"/>
                      <a:tailEnd type="none" w="med" len="med"/>
                    </a:lnT>
                    <a:lnB w="12700" cap="flat" cmpd="sng" algn="ctr">
                      <a:solidFill>
                        <a:srgbClr val="0006BB"/>
                      </a:solidFill>
                      <a:prstDash val="solid"/>
                      <a:round/>
                      <a:headEnd type="none" w="med" len="med"/>
                      <a:tailEnd type="none" w="med" len="med"/>
                    </a:lnB>
                    <a:solidFill>
                      <a:srgbClr val="FFFFFF"/>
                    </a:solidFill>
                  </a:tcPr>
                </a:tc>
                <a:extLst>
                  <a:ext uri="{0D108BD9-81ED-4DB2-BD59-A6C34878D82A}">
                    <a16:rowId xmlns:a16="http://schemas.microsoft.com/office/drawing/2014/main" val="2173504108"/>
                  </a:ext>
                </a:extLst>
              </a:tr>
              <a:tr h="133350">
                <a:tc>
                  <a:txBody>
                    <a:bodyPr/>
                    <a:lstStyle/>
                    <a:p>
                      <a:pPr fontAlgn="base"/>
                      <a:r>
                        <a:rPr lang="en-IN" sz="1200">
                          <a:solidFill>
                            <a:srgbClr val="000000"/>
                          </a:solidFill>
                          <a:effectLst/>
                          <a:latin typeface="inherit"/>
                        </a:rPr>
                        <a:t>Approval</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500AD9"/>
                      </a:solidFill>
                      <a:prstDash val="solid"/>
                      <a:round/>
                      <a:headEnd type="none" w="med" len="med"/>
                      <a:tailEnd type="none" w="med" len="med"/>
                    </a:lnR>
                    <a:lnT w="12700" cap="flat" cmpd="sng" algn="ctr">
                      <a:solidFill>
                        <a:srgbClr val="D00CD9"/>
                      </a:solidFill>
                      <a:prstDash val="solid"/>
                      <a:round/>
                      <a:headEnd type="none" w="med" len="med"/>
                      <a:tailEnd type="none" w="med" len="med"/>
                    </a:lnT>
                    <a:lnB w="12700" cap="flat" cmpd="sng" algn="ctr">
                      <a:solidFill>
                        <a:srgbClr val="500AD9"/>
                      </a:solidFill>
                      <a:prstDash val="solid"/>
                      <a:round/>
                      <a:headEnd type="none" w="med" len="med"/>
                      <a:tailEnd type="none" w="med" len="med"/>
                    </a:lnB>
                    <a:solidFill>
                      <a:srgbClr val="FFFFFF"/>
                    </a:solidFill>
                  </a:tcPr>
                </a:tc>
                <a:tc>
                  <a:txBody>
                    <a:bodyPr/>
                    <a:lstStyle/>
                    <a:p>
                      <a:pPr algn="r" fontAlgn="base"/>
                      <a:r>
                        <a:rPr lang="en-IN" sz="1200">
                          <a:solidFill>
                            <a:srgbClr val="000000"/>
                          </a:solidFill>
                          <a:effectLst/>
                          <a:latin typeface="inherit"/>
                        </a:rPr>
                        <a:t>17-Jul</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A001BB"/>
                      </a:solidFill>
                      <a:prstDash val="solid"/>
                      <a:round/>
                      <a:headEnd type="none" w="med" len="med"/>
                      <a:tailEnd type="none" w="med" len="med"/>
                    </a:lnR>
                    <a:lnT w="12700" cap="flat" cmpd="sng" algn="ctr">
                      <a:solidFill>
                        <a:srgbClr val="0006BB"/>
                      </a:solidFill>
                      <a:prstDash val="solid"/>
                      <a:round/>
                      <a:headEnd type="none" w="med" len="med"/>
                      <a:tailEnd type="none" w="med" len="med"/>
                    </a:lnT>
                    <a:lnB w="12700" cap="flat" cmpd="sng" algn="ctr">
                      <a:solidFill>
                        <a:srgbClr val="A001BB"/>
                      </a:solidFill>
                      <a:prstDash val="solid"/>
                      <a:round/>
                      <a:headEnd type="none" w="med" len="med"/>
                      <a:tailEnd type="none" w="med" len="med"/>
                    </a:lnB>
                    <a:solidFill>
                      <a:srgbClr val="FFFFFF"/>
                    </a:solidFill>
                  </a:tcPr>
                </a:tc>
                <a:extLst>
                  <a:ext uri="{0D108BD9-81ED-4DB2-BD59-A6C34878D82A}">
                    <a16:rowId xmlns:a16="http://schemas.microsoft.com/office/drawing/2014/main" val="3671426341"/>
                  </a:ext>
                </a:extLst>
              </a:tr>
              <a:tr h="133350">
                <a:tc>
                  <a:txBody>
                    <a:bodyPr/>
                    <a:lstStyle/>
                    <a:p>
                      <a:pPr fontAlgn="base"/>
                      <a:r>
                        <a:rPr lang="en-IN" sz="1200">
                          <a:solidFill>
                            <a:srgbClr val="000000"/>
                          </a:solidFill>
                          <a:effectLst/>
                          <a:latin typeface="inherit"/>
                        </a:rPr>
                        <a:t>Award</a:t>
                      </a:r>
                      <a:endParaRPr lang="en-IN" sz="140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500AD9"/>
                      </a:solidFill>
                      <a:prstDash val="solid"/>
                      <a:round/>
                      <a:headEnd type="none" w="med" len="med"/>
                      <a:tailEnd type="none" w="med" len="med"/>
                    </a:lnR>
                    <a:lnT w="12700" cap="flat" cmpd="sng" algn="ctr">
                      <a:solidFill>
                        <a:srgbClr val="500AD9"/>
                      </a:solidFill>
                      <a:prstDash val="solid"/>
                      <a:round/>
                      <a:headEnd type="none" w="med" len="med"/>
                      <a:tailEnd type="none" w="med" len="med"/>
                    </a:lnT>
                    <a:lnB w="12700" cap="flat" cmpd="sng" algn="ctr">
                      <a:solidFill>
                        <a:srgbClr val="500AD9"/>
                      </a:solidFill>
                      <a:prstDash val="solid"/>
                      <a:round/>
                      <a:headEnd type="none" w="med" len="med"/>
                      <a:tailEnd type="none" w="med" len="med"/>
                    </a:lnB>
                    <a:solidFill>
                      <a:srgbClr val="FFFFFF"/>
                    </a:solidFill>
                  </a:tcPr>
                </a:tc>
                <a:tc>
                  <a:txBody>
                    <a:bodyPr/>
                    <a:lstStyle/>
                    <a:p>
                      <a:pPr algn="r" fontAlgn="base"/>
                      <a:r>
                        <a:rPr lang="en-IN" sz="1200" dirty="0">
                          <a:solidFill>
                            <a:srgbClr val="000000"/>
                          </a:solidFill>
                          <a:effectLst/>
                          <a:latin typeface="inherit"/>
                        </a:rPr>
                        <a:t>18-Jul</a:t>
                      </a:r>
                      <a:endParaRPr lang="en-IN" sz="1400" dirty="0">
                        <a:effectLst/>
                        <a:latin typeface="Aptos" panose="020B0004020202020204" pitchFamily="34" charset="0"/>
                      </a:endParaRPr>
                    </a:p>
                  </a:txBody>
                  <a:tcPr marL="9525" marR="9525" marT="9525" marB="0" anchor="b">
                    <a:lnL w="12700" cap="flat" cmpd="sng" algn="ctr">
                      <a:solidFill>
                        <a:srgbClr val="500AD9"/>
                      </a:solidFill>
                      <a:prstDash val="solid"/>
                      <a:round/>
                      <a:headEnd type="none" w="med" len="med"/>
                      <a:tailEnd type="none" w="med" len="med"/>
                    </a:lnL>
                    <a:lnR w="12700" cap="flat" cmpd="sng" algn="ctr">
                      <a:solidFill>
                        <a:srgbClr val="6011BB"/>
                      </a:solidFill>
                      <a:prstDash val="solid"/>
                      <a:round/>
                      <a:headEnd type="none" w="med" len="med"/>
                      <a:tailEnd type="none" w="med" len="med"/>
                    </a:lnR>
                    <a:lnT w="12700" cap="flat" cmpd="sng" algn="ctr">
                      <a:solidFill>
                        <a:srgbClr val="A001BB"/>
                      </a:solidFill>
                      <a:prstDash val="solid"/>
                      <a:round/>
                      <a:headEnd type="none" w="med" len="med"/>
                      <a:tailEnd type="none" w="med" len="med"/>
                    </a:lnT>
                    <a:lnB w="12700" cap="flat" cmpd="sng" algn="ctr">
                      <a:solidFill>
                        <a:srgbClr val="6011BB"/>
                      </a:solidFill>
                      <a:prstDash val="solid"/>
                      <a:round/>
                      <a:headEnd type="none" w="med" len="med"/>
                      <a:tailEnd type="none" w="med" len="med"/>
                    </a:lnB>
                    <a:solidFill>
                      <a:srgbClr val="FFFFFF"/>
                    </a:solidFill>
                  </a:tcPr>
                </a:tc>
                <a:extLst>
                  <a:ext uri="{0D108BD9-81ED-4DB2-BD59-A6C34878D82A}">
                    <a16:rowId xmlns:a16="http://schemas.microsoft.com/office/drawing/2014/main" val="175387207"/>
                  </a:ext>
                </a:extLst>
              </a:tr>
            </a:tbl>
          </a:graphicData>
        </a:graphic>
      </p:graphicFrame>
      <p:sp>
        <p:nvSpPr>
          <p:cNvPr id="17" name="TextBox 16">
            <a:extLst>
              <a:ext uri="{FF2B5EF4-FFF2-40B4-BE49-F238E27FC236}">
                <a16:creationId xmlns:a16="http://schemas.microsoft.com/office/drawing/2014/main" id="{D73D2BA7-9402-A1C4-F0BF-013B571C7627}"/>
              </a:ext>
            </a:extLst>
          </p:cNvPr>
          <p:cNvSpPr txBox="1"/>
          <p:nvPr/>
        </p:nvSpPr>
        <p:spPr>
          <a:xfrm>
            <a:off x="8769376" y="3387086"/>
            <a:ext cx="3339594" cy="430887"/>
          </a:xfrm>
          <a:prstGeom prst="rect">
            <a:avLst/>
          </a:prstGeom>
          <a:noFill/>
          <a:ln>
            <a:noFill/>
            <a:prstDash val="lgDashDotDot"/>
          </a:ln>
        </p:spPr>
        <p:txBody>
          <a:bodyPr wrap="square">
            <a:spAutoFit/>
          </a:bodyPr>
          <a:lstStyle/>
          <a:p>
            <a:pPr algn="ctr"/>
            <a:r>
              <a:rPr lang="en-US" sz="1100" b="1" dirty="0"/>
              <a:t>Implementation Partner Onboarding Timelines (shared by Central Procurement Team)</a:t>
            </a:r>
          </a:p>
        </p:txBody>
      </p:sp>
    </p:spTree>
    <p:extLst>
      <p:ext uri="{BB962C8B-B14F-4D97-AF65-F5344CB8AC3E}">
        <p14:creationId xmlns:p14="http://schemas.microsoft.com/office/powerpoint/2010/main" val="396377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7BDB4-0E54-6C60-1A90-5F35E8884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18423-E8CC-7105-4600-6AC916A3E90A}"/>
              </a:ext>
            </a:extLst>
          </p:cNvPr>
          <p:cNvSpPr>
            <a:spLocks noGrp="1"/>
          </p:cNvSpPr>
          <p:nvPr>
            <p:ph type="ctrTitle"/>
          </p:nvPr>
        </p:nvSpPr>
        <p:spPr>
          <a:xfrm>
            <a:off x="3912738" y="1724004"/>
            <a:ext cx="8082709" cy="2608510"/>
          </a:xfrm>
        </p:spPr>
        <p:txBody>
          <a:bodyPr>
            <a:normAutofit/>
          </a:bodyPr>
          <a:lstStyle/>
          <a:p>
            <a:r>
              <a:rPr lang="en-IN" sz="6000" b="1" dirty="0">
                <a:solidFill>
                  <a:schemeClr val="bg1"/>
                </a:solidFill>
              </a:rPr>
              <a:t>4. ZTZT Payroll Automation Progress Update</a:t>
            </a:r>
            <a:endParaRPr lang="en-IN"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B3E7164-38D2-8A30-93A9-3D4225B1E271}"/>
              </a:ext>
            </a:extLst>
          </p:cNvPr>
          <p:cNvSpPr txBox="1"/>
          <p:nvPr/>
        </p:nvSpPr>
        <p:spPr>
          <a:xfrm>
            <a:off x="9226281" y="5528266"/>
            <a:ext cx="2769166" cy="369140"/>
          </a:xfrm>
          <a:prstGeom prst="rect">
            <a:avLst/>
          </a:prstGeom>
          <a:noFill/>
        </p:spPr>
        <p:txBody>
          <a:bodyPr wrap="square" rtlCol="0">
            <a:spAutoFit/>
          </a:bodyPr>
          <a:lstStyle/>
          <a:p>
            <a:r>
              <a:rPr lang="en-US" sz="1799">
                <a:solidFill>
                  <a:srgbClr val="FFFFFF"/>
                </a:solidFill>
                <a:latin typeface="AirIndia" panose="04050608020B02020302" pitchFamily="82" charset="0"/>
              </a:rPr>
              <a:t>Digital &amp; Technology</a:t>
            </a:r>
            <a:endParaRPr lang="en-IN" sz="1799">
              <a:solidFill>
                <a:srgbClr val="FFFFFF"/>
              </a:solidFill>
              <a:latin typeface="AirIndia" panose="04050608020B02020302" pitchFamily="82" charset="0"/>
            </a:endParaRPr>
          </a:p>
        </p:txBody>
      </p:sp>
    </p:spTree>
    <p:extLst>
      <p:ext uri="{BB962C8B-B14F-4D97-AF65-F5344CB8AC3E}">
        <p14:creationId xmlns:p14="http://schemas.microsoft.com/office/powerpoint/2010/main" val="22638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CC044-B5FE-5111-5824-76DA2C5AB03B}"/>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1C23A8F2-E6B0-6247-5DCE-9F6E4D8996DB}"/>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D8898565-BD09-A841-41BE-F74095CE9C41}"/>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DA0E28"/>
                </a:solidFill>
                <a:effectLst/>
                <a:uLnTx/>
                <a:uFillTx/>
                <a:latin typeface="AirIndia"/>
                <a:ea typeface="+mj-ea"/>
                <a:cs typeface="+mj-cs"/>
              </a:rPr>
              <a:t>ZTZT – End to end Payroll Automation &amp; Transformation</a:t>
            </a:r>
          </a:p>
        </p:txBody>
      </p:sp>
      <p:sp>
        <p:nvSpPr>
          <p:cNvPr id="20" name="Shape 2">
            <a:extLst>
              <a:ext uri="{FF2B5EF4-FFF2-40B4-BE49-F238E27FC236}">
                <a16:creationId xmlns:a16="http://schemas.microsoft.com/office/drawing/2014/main" id="{B3E058E0-B4F9-32DC-4DE5-AF8ABDF7AAD6}"/>
              </a:ext>
            </a:extLst>
          </p:cNvPr>
          <p:cNvSpPr/>
          <p:nvPr/>
        </p:nvSpPr>
        <p:spPr>
          <a:xfrm>
            <a:off x="9144000" y="274320"/>
            <a:ext cx="1417320" cy="310896"/>
          </a:xfrm>
          <a:prstGeom prst="roundRect">
            <a:avLst>
              <a:gd name="adj" fmla="val 41176"/>
            </a:avLst>
          </a:prstGeom>
          <a:solidFill>
            <a:srgbClr val="FFF7ED"/>
          </a:solidFill>
          <a:ln w="13970">
            <a:solidFill>
              <a:srgbClr val="F59E0B"/>
            </a:solidFill>
            <a:prstDash val="solid"/>
          </a:ln>
        </p:spPr>
        <p:txBody>
          <a:bodyPr/>
          <a:lstStyle/>
          <a:p>
            <a:endParaRPr lang="en-IN"/>
          </a:p>
        </p:txBody>
      </p:sp>
      <p:sp>
        <p:nvSpPr>
          <p:cNvPr id="21" name="Text 3">
            <a:extLst>
              <a:ext uri="{FF2B5EF4-FFF2-40B4-BE49-F238E27FC236}">
                <a16:creationId xmlns:a16="http://schemas.microsoft.com/office/drawing/2014/main" id="{7ECE579A-85C9-11DD-7AF0-F53B510EA93D}"/>
              </a:ext>
            </a:extLst>
          </p:cNvPr>
          <p:cNvSpPr/>
          <p:nvPr/>
        </p:nvSpPr>
        <p:spPr>
          <a:xfrm>
            <a:off x="9198864" y="320040"/>
            <a:ext cx="1307592" cy="210312"/>
          </a:xfrm>
          <a:prstGeom prst="rect">
            <a:avLst/>
          </a:prstGeom>
          <a:noFill/>
          <a:ln/>
        </p:spPr>
        <p:txBody>
          <a:bodyPr wrap="square" lIns="508" tIns="508" rIns="508" bIns="508" rtlCol="0" anchor="ctr">
            <a:normAutofit/>
          </a:bodyPr>
          <a:lstStyle/>
          <a:p>
            <a:pPr marL="0" indent="0" algn="ctr">
              <a:buNone/>
            </a:pPr>
            <a:r>
              <a:rPr lang="en-US" sz="850" b="1" dirty="0">
                <a:solidFill>
                  <a:srgbClr val="F59E0B"/>
                </a:solidFill>
                <a:latin typeface="Aptos" pitchFamily="34" charset="0"/>
                <a:ea typeface="Aptos" pitchFamily="34" charset="-122"/>
                <a:cs typeface="Aptos" pitchFamily="34" charset="-120"/>
              </a:rPr>
              <a:t>Overall status: AMBER</a:t>
            </a:r>
            <a:endParaRPr lang="en-US" sz="850" dirty="0"/>
          </a:p>
        </p:txBody>
      </p:sp>
      <p:sp>
        <p:nvSpPr>
          <p:cNvPr id="22" name="Shape 4">
            <a:extLst>
              <a:ext uri="{FF2B5EF4-FFF2-40B4-BE49-F238E27FC236}">
                <a16:creationId xmlns:a16="http://schemas.microsoft.com/office/drawing/2014/main" id="{A1E26A30-23FD-4711-A4BE-9505A3EBF67D}"/>
              </a:ext>
            </a:extLst>
          </p:cNvPr>
          <p:cNvSpPr/>
          <p:nvPr/>
        </p:nvSpPr>
        <p:spPr>
          <a:xfrm>
            <a:off x="10680192" y="274320"/>
            <a:ext cx="1078992" cy="310896"/>
          </a:xfrm>
          <a:prstGeom prst="roundRect">
            <a:avLst>
              <a:gd name="adj" fmla="val 41176"/>
            </a:avLst>
          </a:prstGeom>
          <a:solidFill>
            <a:srgbClr val="F0FDF4"/>
          </a:solidFill>
          <a:ln w="13970">
            <a:solidFill>
              <a:srgbClr val="2D9E5F"/>
            </a:solidFill>
            <a:prstDash val="solid"/>
          </a:ln>
        </p:spPr>
        <p:txBody>
          <a:bodyPr/>
          <a:lstStyle/>
          <a:p>
            <a:endParaRPr lang="en-IN"/>
          </a:p>
        </p:txBody>
      </p:sp>
      <p:sp>
        <p:nvSpPr>
          <p:cNvPr id="23" name="Text 5">
            <a:extLst>
              <a:ext uri="{FF2B5EF4-FFF2-40B4-BE49-F238E27FC236}">
                <a16:creationId xmlns:a16="http://schemas.microsoft.com/office/drawing/2014/main" id="{A41D7B1B-0196-BB3F-9866-A1EE68CE607C}"/>
              </a:ext>
            </a:extLst>
          </p:cNvPr>
          <p:cNvSpPr/>
          <p:nvPr/>
        </p:nvSpPr>
        <p:spPr>
          <a:xfrm>
            <a:off x="10735056" y="320040"/>
            <a:ext cx="969264" cy="210312"/>
          </a:xfrm>
          <a:prstGeom prst="rect">
            <a:avLst/>
          </a:prstGeom>
          <a:noFill/>
          <a:ln/>
        </p:spPr>
        <p:txBody>
          <a:bodyPr wrap="square" lIns="508" tIns="508" rIns="508" bIns="508" rtlCol="0" anchor="ctr">
            <a:normAutofit fontScale="92500" lnSpcReduction="20000"/>
          </a:bodyPr>
          <a:lstStyle/>
          <a:p>
            <a:pPr marL="0" indent="0" algn="ctr">
              <a:buNone/>
            </a:pPr>
            <a:r>
              <a:rPr lang="en-US" sz="850" b="1" dirty="0">
                <a:solidFill>
                  <a:srgbClr val="2D9E5F"/>
                </a:solidFill>
                <a:latin typeface="Aptos" pitchFamily="34" charset="0"/>
                <a:ea typeface="Aptos" pitchFamily="34" charset="-122"/>
                <a:cs typeface="Aptos" pitchFamily="34" charset="-120"/>
              </a:rPr>
              <a:t>Focus: July foundation</a:t>
            </a:r>
            <a:endParaRPr lang="en-US" sz="850" dirty="0"/>
          </a:p>
        </p:txBody>
      </p:sp>
      <p:sp>
        <p:nvSpPr>
          <p:cNvPr id="24" name="Shape 6">
            <a:extLst>
              <a:ext uri="{FF2B5EF4-FFF2-40B4-BE49-F238E27FC236}">
                <a16:creationId xmlns:a16="http://schemas.microsoft.com/office/drawing/2014/main" id="{9434ED92-D3FA-BF64-1585-DB0D0319FEBB}"/>
              </a:ext>
            </a:extLst>
          </p:cNvPr>
          <p:cNvSpPr/>
          <p:nvPr/>
        </p:nvSpPr>
        <p:spPr>
          <a:xfrm>
            <a:off x="438912" y="950976"/>
            <a:ext cx="11320272" cy="512064"/>
          </a:xfrm>
          <a:prstGeom prst="roundRect">
            <a:avLst>
              <a:gd name="adj" fmla="val 21429"/>
            </a:avLst>
          </a:prstGeom>
          <a:solidFill>
            <a:srgbClr val="FFFFFF"/>
          </a:solidFill>
          <a:ln w="10160">
            <a:solidFill>
              <a:srgbClr val="E5E7EB"/>
            </a:solidFill>
            <a:prstDash val="solid"/>
          </a:ln>
          <a:effectLst>
            <a:outerShdw blurRad="15240" dist="50800" dir="2700000" algn="bl" rotWithShape="0">
              <a:srgbClr val="D1D5DB">
                <a:alpha val="35000"/>
              </a:srgbClr>
            </a:outerShdw>
          </a:effectLst>
        </p:spPr>
        <p:txBody>
          <a:bodyPr/>
          <a:lstStyle/>
          <a:p>
            <a:endParaRPr lang="en-IN"/>
          </a:p>
        </p:txBody>
      </p:sp>
      <p:sp>
        <p:nvSpPr>
          <p:cNvPr id="29" name="Shape 7">
            <a:extLst>
              <a:ext uri="{FF2B5EF4-FFF2-40B4-BE49-F238E27FC236}">
                <a16:creationId xmlns:a16="http://schemas.microsoft.com/office/drawing/2014/main" id="{A2A8B509-9A9A-000A-E7E8-5E1D1322CEA2}"/>
              </a:ext>
            </a:extLst>
          </p:cNvPr>
          <p:cNvSpPr/>
          <p:nvPr/>
        </p:nvSpPr>
        <p:spPr>
          <a:xfrm>
            <a:off x="438912" y="950976"/>
            <a:ext cx="91440" cy="512064"/>
          </a:xfrm>
          <a:prstGeom prst="rect">
            <a:avLst/>
          </a:prstGeom>
          <a:solidFill>
            <a:srgbClr val="C00000"/>
          </a:solidFill>
          <a:ln w="12700">
            <a:solidFill>
              <a:srgbClr val="C00000">
                <a:alpha val="0"/>
              </a:srgbClr>
            </a:solidFill>
            <a:prstDash val="solid"/>
          </a:ln>
        </p:spPr>
        <p:txBody>
          <a:bodyPr/>
          <a:lstStyle/>
          <a:p>
            <a:endParaRPr lang="en-IN"/>
          </a:p>
        </p:txBody>
      </p:sp>
      <p:sp>
        <p:nvSpPr>
          <p:cNvPr id="30" name="Text 8">
            <a:extLst>
              <a:ext uri="{FF2B5EF4-FFF2-40B4-BE49-F238E27FC236}">
                <a16:creationId xmlns:a16="http://schemas.microsoft.com/office/drawing/2014/main" id="{6C4FEA26-6A60-9900-7945-0A02BFD6CA50}"/>
              </a:ext>
            </a:extLst>
          </p:cNvPr>
          <p:cNvSpPr/>
          <p:nvPr/>
        </p:nvSpPr>
        <p:spPr>
          <a:xfrm>
            <a:off x="685800" y="1069848"/>
            <a:ext cx="10716768" cy="201168"/>
          </a:xfrm>
          <a:prstGeom prst="rect">
            <a:avLst/>
          </a:prstGeom>
          <a:noFill/>
          <a:ln/>
        </p:spPr>
        <p:txBody>
          <a:bodyPr wrap="square" lIns="508" tIns="508" rIns="508" bIns="508" rtlCol="0" anchor="ctr">
            <a:normAutofit fontScale="92500"/>
          </a:bodyPr>
          <a:lstStyle/>
          <a:p>
            <a:pPr marL="0" indent="0" algn="l">
              <a:buNone/>
            </a:pPr>
            <a:r>
              <a:rPr lang="en-US" sz="1010" b="1" dirty="0">
                <a:solidFill>
                  <a:srgbClr val="1F2937"/>
                </a:solidFill>
                <a:latin typeface="Aptos" pitchFamily="34" charset="0"/>
                <a:ea typeface="Aptos" pitchFamily="34" charset="-122"/>
                <a:cs typeface="Aptos" pitchFamily="34" charset="-120"/>
              </a:rPr>
              <a:t>ZTZT is moving from design into mobilisation. </a:t>
            </a:r>
            <a:r>
              <a:rPr lang="en-US" sz="1010" dirty="0">
                <a:solidFill>
                  <a:srgbClr val="4B5563"/>
                </a:solidFill>
                <a:latin typeface="Aptos" pitchFamily="34" charset="0"/>
                <a:ea typeface="Aptos" pitchFamily="34" charset="-122"/>
                <a:cs typeface="Aptos" pitchFamily="34" charset="-120"/>
              </a:rPr>
              <a:t>Immediate priority: close budget approval </a:t>
            </a:r>
            <a:r>
              <a:rPr lang="en-US" sz="1010" b="1" dirty="0">
                <a:solidFill>
                  <a:srgbClr val="C00000"/>
                </a:solidFill>
                <a:latin typeface="Aptos" pitchFamily="34" charset="0"/>
                <a:ea typeface="Aptos" pitchFamily="34" charset="-122"/>
                <a:cs typeface="Aptos" pitchFamily="34" charset="-120"/>
              </a:rPr>
              <a:t>(planned date of 8</a:t>
            </a:r>
            <a:r>
              <a:rPr lang="en-US" sz="1010" b="1" baseline="30000" dirty="0">
                <a:solidFill>
                  <a:srgbClr val="C00000"/>
                </a:solidFill>
                <a:latin typeface="Aptos" pitchFamily="34" charset="0"/>
                <a:ea typeface="Aptos" pitchFamily="34" charset="-122"/>
                <a:cs typeface="Aptos" pitchFamily="34" charset="-120"/>
              </a:rPr>
              <a:t>th</a:t>
            </a:r>
            <a:r>
              <a:rPr lang="en-US" sz="1010" b="1" dirty="0">
                <a:solidFill>
                  <a:srgbClr val="C00000"/>
                </a:solidFill>
                <a:latin typeface="Aptos" pitchFamily="34" charset="0"/>
                <a:ea typeface="Aptos" pitchFamily="34" charset="-122"/>
                <a:cs typeface="Aptos" pitchFamily="34" charset="-120"/>
              </a:rPr>
              <a:t> July 2026)</a:t>
            </a:r>
            <a:r>
              <a:rPr lang="en-US" sz="1010" dirty="0">
                <a:solidFill>
                  <a:srgbClr val="4B5563"/>
                </a:solidFill>
                <a:latin typeface="Aptos" pitchFamily="34" charset="0"/>
                <a:ea typeface="Aptos" pitchFamily="34" charset="-122"/>
                <a:cs typeface="Aptos" pitchFamily="34" charset="-120"/>
              </a:rPr>
              <a:t>, complete onboarding, lock requirements and unblock integration dependencies.</a:t>
            </a:r>
            <a:endParaRPr lang="en-US" sz="1010" dirty="0"/>
          </a:p>
        </p:txBody>
      </p:sp>
      <p:sp>
        <p:nvSpPr>
          <p:cNvPr id="31" name="Shape 9">
            <a:extLst>
              <a:ext uri="{FF2B5EF4-FFF2-40B4-BE49-F238E27FC236}">
                <a16:creationId xmlns:a16="http://schemas.microsoft.com/office/drawing/2014/main" id="{FD4EA69B-AAE1-5AA0-1464-02BA8CC81C77}"/>
              </a:ext>
            </a:extLst>
          </p:cNvPr>
          <p:cNvSpPr/>
          <p:nvPr/>
        </p:nvSpPr>
        <p:spPr>
          <a:xfrm>
            <a:off x="438912" y="1700784"/>
            <a:ext cx="2697480" cy="1024128"/>
          </a:xfrm>
          <a:prstGeom prst="roundRect">
            <a:avLst>
              <a:gd name="adj" fmla="val 13393"/>
            </a:avLst>
          </a:prstGeom>
          <a:solidFill>
            <a:srgbClr val="FFFFFF"/>
          </a:solidFill>
          <a:ln w="10160">
            <a:solidFill>
              <a:srgbClr val="E5E7EB"/>
            </a:solidFill>
            <a:prstDash val="solid"/>
          </a:ln>
          <a:effectLst>
            <a:outerShdw blurRad="193548000" dist="645160000" algn="bl" rotWithShape="0">
              <a:srgbClr val="D1D5DB">
                <a:alpha val="0"/>
              </a:srgbClr>
            </a:outerShdw>
          </a:effectLst>
        </p:spPr>
        <p:txBody>
          <a:bodyPr/>
          <a:lstStyle/>
          <a:p>
            <a:endParaRPr lang="en-IN"/>
          </a:p>
        </p:txBody>
      </p:sp>
      <p:sp>
        <p:nvSpPr>
          <p:cNvPr id="32" name="Shape 10">
            <a:extLst>
              <a:ext uri="{FF2B5EF4-FFF2-40B4-BE49-F238E27FC236}">
                <a16:creationId xmlns:a16="http://schemas.microsoft.com/office/drawing/2014/main" id="{62327270-B335-EBD2-DCC0-1B41DFF3B6C0}"/>
              </a:ext>
            </a:extLst>
          </p:cNvPr>
          <p:cNvSpPr/>
          <p:nvPr/>
        </p:nvSpPr>
        <p:spPr>
          <a:xfrm>
            <a:off x="438912" y="1700784"/>
            <a:ext cx="73152" cy="1024128"/>
          </a:xfrm>
          <a:prstGeom prst="rect">
            <a:avLst/>
          </a:prstGeom>
          <a:solidFill>
            <a:srgbClr val="205273"/>
          </a:solidFill>
          <a:ln w="12700">
            <a:solidFill>
              <a:srgbClr val="205273">
                <a:alpha val="0"/>
              </a:srgbClr>
            </a:solidFill>
            <a:prstDash val="solid"/>
          </a:ln>
        </p:spPr>
        <p:txBody>
          <a:bodyPr/>
          <a:lstStyle/>
          <a:p>
            <a:endParaRPr lang="en-IN"/>
          </a:p>
        </p:txBody>
      </p:sp>
      <p:sp>
        <p:nvSpPr>
          <p:cNvPr id="33" name="Text 11">
            <a:extLst>
              <a:ext uri="{FF2B5EF4-FFF2-40B4-BE49-F238E27FC236}">
                <a16:creationId xmlns:a16="http://schemas.microsoft.com/office/drawing/2014/main" id="{F34BFD61-3BFC-8D60-2EBF-C50CBBA80787}"/>
              </a:ext>
            </a:extLst>
          </p:cNvPr>
          <p:cNvSpPr/>
          <p:nvPr/>
        </p:nvSpPr>
        <p:spPr>
          <a:xfrm>
            <a:off x="621792" y="1828800"/>
            <a:ext cx="2423160" cy="146304"/>
          </a:xfrm>
          <a:prstGeom prst="rect">
            <a:avLst/>
          </a:prstGeom>
          <a:noFill/>
          <a:ln/>
        </p:spPr>
        <p:txBody>
          <a:bodyPr wrap="square" lIns="508" tIns="508" rIns="508" bIns="508" rtlCol="0" anchor="ctr">
            <a:normAutofit/>
          </a:bodyPr>
          <a:lstStyle/>
          <a:p>
            <a:pPr marL="0" indent="0" algn="l">
              <a:buNone/>
            </a:pPr>
            <a:r>
              <a:rPr lang="en-US" sz="750" b="1" dirty="0">
                <a:solidFill>
                  <a:srgbClr val="4B5563"/>
                </a:solidFill>
                <a:latin typeface="Aptos" pitchFamily="34" charset="0"/>
                <a:ea typeface="Aptos" pitchFamily="34" charset="-122"/>
                <a:cs typeface="Aptos" pitchFamily="34" charset="-120"/>
              </a:rPr>
              <a:t>SCOPE</a:t>
            </a:r>
            <a:endParaRPr lang="en-US" sz="750" dirty="0"/>
          </a:p>
        </p:txBody>
      </p:sp>
      <p:sp>
        <p:nvSpPr>
          <p:cNvPr id="34" name="Text 12">
            <a:extLst>
              <a:ext uri="{FF2B5EF4-FFF2-40B4-BE49-F238E27FC236}">
                <a16:creationId xmlns:a16="http://schemas.microsoft.com/office/drawing/2014/main" id="{AA52A2FD-1410-2ABA-6F7E-BB117D64981C}"/>
              </a:ext>
            </a:extLst>
          </p:cNvPr>
          <p:cNvSpPr/>
          <p:nvPr/>
        </p:nvSpPr>
        <p:spPr>
          <a:xfrm>
            <a:off x="621792" y="2029968"/>
            <a:ext cx="2423160" cy="274320"/>
          </a:xfrm>
          <a:prstGeom prst="rect">
            <a:avLst/>
          </a:prstGeom>
          <a:noFill/>
          <a:ln/>
        </p:spPr>
        <p:txBody>
          <a:bodyPr wrap="square" lIns="508" tIns="508" rIns="508" bIns="508" rtlCol="0" anchor="ctr">
            <a:normAutofit lnSpcReduction="10000"/>
          </a:bodyPr>
          <a:lstStyle/>
          <a:p>
            <a:pPr marL="0" indent="0" algn="l">
              <a:buNone/>
            </a:pPr>
            <a:r>
              <a:rPr lang="en-US" sz="1800" b="1" dirty="0">
                <a:solidFill>
                  <a:srgbClr val="205273"/>
                </a:solidFill>
                <a:latin typeface="Aptos" pitchFamily="34" charset="0"/>
                <a:ea typeface="Aptos" pitchFamily="34" charset="-122"/>
                <a:cs typeface="Aptos" pitchFamily="34" charset="-120"/>
              </a:rPr>
              <a:t>184 + 309</a:t>
            </a:r>
            <a:endParaRPr lang="en-US" sz="1800" dirty="0"/>
          </a:p>
        </p:txBody>
      </p:sp>
      <p:sp>
        <p:nvSpPr>
          <p:cNvPr id="35" name="Text 13">
            <a:extLst>
              <a:ext uri="{FF2B5EF4-FFF2-40B4-BE49-F238E27FC236}">
                <a16:creationId xmlns:a16="http://schemas.microsoft.com/office/drawing/2014/main" id="{681DFC7D-DA9F-478E-229E-09C92076A5CB}"/>
              </a:ext>
            </a:extLst>
          </p:cNvPr>
          <p:cNvSpPr/>
          <p:nvPr/>
        </p:nvSpPr>
        <p:spPr>
          <a:xfrm>
            <a:off x="621792" y="2414016"/>
            <a:ext cx="2423160" cy="246888"/>
          </a:xfrm>
          <a:prstGeom prst="rect">
            <a:avLst/>
          </a:prstGeom>
          <a:noFill/>
          <a:ln/>
        </p:spPr>
        <p:txBody>
          <a:bodyPr wrap="square" lIns="508" tIns="508" rIns="508" bIns="508" rtlCol="0" anchor="ctr">
            <a:normAutofit/>
          </a:bodyPr>
          <a:lstStyle/>
          <a:p>
            <a:pPr marL="0" indent="0" algn="l">
              <a:buNone/>
            </a:pPr>
            <a:r>
              <a:rPr lang="en-US" sz="750" dirty="0">
                <a:solidFill>
                  <a:srgbClr val="4B5563"/>
                </a:solidFill>
                <a:latin typeface="Aptos" pitchFamily="34" charset="0"/>
                <a:ea typeface="Aptos" pitchFamily="34" charset="-122"/>
                <a:cs typeface="Aptos" pitchFamily="34" charset="-120"/>
              </a:rPr>
              <a:t>Domestic payheads + international </a:t>
            </a:r>
            <a:r>
              <a:rPr lang="en-US" sz="750" dirty="0" err="1">
                <a:solidFill>
                  <a:srgbClr val="4B5563"/>
                </a:solidFill>
                <a:latin typeface="Aptos" pitchFamily="34" charset="0"/>
                <a:ea typeface="Aptos" pitchFamily="34" charset="-122"/>
                <a:cs typeface="Aptos" pitchFamily="34" charset="-120"/>
              </a:rPr>
              <a:t>payheads</a:t>
            </a:r>
            <a:endParaRPr lang="en-US" sz="750" dirty="0"/>
          </a:p>
        </p:txBody>
      </p:sp>
      <p:sp>
        <p:nvSpPr>
          <p:cNvPr id="36" name="Shape 14">
            <a:extLst>
              <a:ext uri="{FF2B5EF4-FFF2-40B4-BE49-F238E27FC236}">
                <a16:creationId xmlns:a16="http://schemas.microsoft.com/office/drawing/2014/main" id="{10BE3D1E-E059-6F4A-8AE5-80AF5A86071B}"/>
              </a:ext>
            </a:extLst>
          </p:cNvPr>
          <p:cNvSpPr/>
          <p:nvPr/>
        </p:nvSpPr>
        <p:spPr>
          <a:xfrm>
            <a:off x="3310128" y="1700784"/>
            <a:ext cx="2697480" cy="1024128"/>
          </a:xfrm>
          <a:prstGeom prst="roundRect">
            <a:avLst>
              <a:gd name="adj" fmla="val 13393"/>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37" name="Shape 15">
            <a:extLst>
              <a:ext uri="{FF2B5EF4-FFF2-40B4-BE49-F238E27FC236}">
                <a16:creationId xmlns:a16="http://schemas.microsoft.com/office/drawing/2014/main" id="{74D57222-9AB2-CC48-A3B6-ADB74F873C08}"/>
              </a:ext>
            </a:extLst>
          </p:cNvPr>
          <p:cNvSpPr/>
          <p:nvPr/>
        </p:nvSpPr>
        <p:spPr>
          <a:xfrm>
            <a:off x="3310128" y="1700784"/>
            <a:ext cx="73152" cy="1024128"/>
          </a:xfrm>
          <a:prstGeom prst="rect">
            <a:avLst/>
          </a:prstGeom>
          <a:solidFill>
            <a:srgbClr val="2D9E5F"/>
          </a:solidFill>
          <a:ln w="12700">
            <a:solidFill>
              <a:srgbClr val="2D9E5F">
                <a:alpha val="0"/>
              </a:srgbClr>
            </a:solidFill>
            <a:prstDash val="solid"/>
          </a:ln>
        </p:spPr>
        <p:txBody>
          <a:bodyPr/>
          <a:lstStyle/>
          <a:p>
            <a:endParaRPr lang="en-IN"/>
          </a:p>
        </p:txBody>
      </p:sp>
      <p:sp>
        <p:nvSpPr>
          <p:cNvPr id="38" name="Text 16">
            <a:extLst>
              <a:ext uri="{FF2B5EF4-FFF2-40B4-BE49-F238E27FC236}">
                <a16:creationId xmlns:a16="http://schemas.microsoft.com/office/drawing/2014/main" id="{8567D434-4A97-91A7-A198-793E4B7189F4}"/>
              </a:ext>
            </a:extLst>
          </p:cNvPr>
          <p:cNvSpPr/>
          <p:nvPr/>
        </p:nvSpPr>
        <p:spPr>
          <a:xfrm>
            <a:off x="3493008" y="1828800"/>
            <a:ext cx="2423160" cy="146304"/>
          </a:xfrm>
          <a:prstGeom prst="rect">
            <a:avLst/>
          </a:prstGeom>
          <a:noFill/>
          <a:ln/>
        </p:spPr>
        <p:txBody>
          <a:bodyPr wrap="square" lIns="508" tIns="508" rIns="508" bIns="508" rtlCol="0" anchor="ctr">
            <a:normAutofit/>
          </a:bodyPr>
          <a:lstStyle/>
          <a:p>
            <a:pPr marL="0" indent="0" algn="l">
              <a:buNone/>
            </a:pPr>
            <a:r>
              <a:rPr lang="en-US" sz="750" b="1" dirty="0">
                <a:solidFill>
                  <a:srgbClr val="4B5563"/>
                </a:solidFill>
                <a:latin typeface="Aptos" pitchFamily="34" charset="0"/>
                <a:ea typeface="Aptos" pitchFamily="34" charset="-122"/>
                <a:cs typeface="Aptos" pitchFamily="34" charset="-120"/>
              </a:rPr>
              <a:t>TARGET</a:t>
            </a:r>
            <a:endParaRPr lang="en-US" sz="750" dirty="0"/>
          </a:p>
        </p:txBody>
      </p:sp>
      <p:sp>
        <p:nvSpPr>
          <p:cNvPr id="39" name="Text 17">
            <a:extLst>
              <a:ext uri="{FF2B5EF4-FFF2-40B4-BE49-F238E27FC236}">
                <a16:creationId xmlns:a16="http://schemas.microsoft.com/office/drawing/2014/main" id="{0D6EADA3-0E31-277C-0400-8B03CBC66B7E}"/>
              </a:ext>
            </a:extLst>
          </p:cNvPr>
          <p:cNvSpPr/>
          <p:nvPr/>
        </p:nvSpPr>
        <p:spPr>
          <a:xfrm>
            <a:off x="3493008" y="2029968"/>
            <a:ext cx="2423160" cy="274320"/>
          </a:xfrm>
          <a:prstGeom prst="rect">
            <a:avLst/>
          </a:prstGeom>
          <a:noFill/>
          <a:ln/>
        </p:spPr>
        <p:txBody>
          <a:bodyPr wrap="square" lIns="508" tIns="508" rIns="508" bIns="508" rtlCol="0" anchor="ctr">
            <a:normAutofit lnSpcReduction="10000"/>
          </a:bodyPr>
          <a:lstStyle/>
          <a:p>
            <a:pPr marL="0" indent="0" algn="l">
              <a:buNone/>
            </a:pPr>
            <a:r>
              <a:rPr lang="en-US" sz="1800" b="1" dirty="0">
                <a:solidFill>
                  <a:srgbClr val="2D9E5F"/>
                </a:solidFill>
                <a:latin typeface="Aptos" pitchFamily="34" charset="0"/>
                <a:ea typeface="Aptos" pitchFamily="34" charset="-122"/>
                <a:cs typeface="Aptos" pitchFamily="34" charset="-120"/>
              </a:rPr>
              <a:t>100%</a:t>
            </a:r>
            <a:endParaRPr lang="en-US" sz="1800" dirty="0"/>
          </a:p>
        </p:txBody>
      </p:sp>
      <p:sp>
        <p:nvSpPr>
          <p:cNvPr id="40" name="Text 18">
            <a:extLst>
              <a:ext uri="{FF2B5EF4-FFF2-40B4-BE49-F238E27FC236}">
                <a16:creationId xmlns:a16="http://schemas.microsoft.com/office/drawing/2014/main" id="{FB1BA763-F897-1FCA-E832-D618332D8052}"/>
              </a:ext>
            </a:extLst>
          </p:cNvPr>
          <p:cNvSpPr/>
          <p:nvPr/>
        </p:nvSpPr>
        <p:spPr>
          <a:xfrm>
            <a:off x="3493008" y="2414016"/>
            <a:ext cx="2423160" cy="246888"/>
          </a:xfrm>
          <a:prstGeom prst="rect">
            <a:avLst/>
          </a:prstGeom>
          <a:noFill/>
          <a:ln/>
        </p:spPr>
        <p:txBody>
          <a:bodyPr wrap="square" lIns="508" tIns="508" rIns="508" bIns="508" rtlCol="0" anchor="ctr">
            <a:normAutofit/>
          </a:bodyPr>
          <a:lstStyle/>
          <a:p>
            <a:pPr marL="0" indent="0" algn="l">
              <a:buNone/>
            </a:pPr>
            <a:r>
              <a:rPr lang="en-US" sz="750" dirty="0">
                <a:solidFill>
                  <a:srgbClr val="4B5563"/>
                </a:solidFill>
                <a:latin typeface="Aptos" pitchFamily="34" charset="0"/>
                <a:ea typeface="Aptos" pitchFamily="34" charset="-122"/>
                <a:cs typeface="Aptos" pitchFamily="34" charset="-120"/>
              </a:rPr>
              <a:t>Manual touchpoints eliminated by Jan/Feb 2027</a:t>
            </a:r>
            <a:endParaRPr lang="en-US" sz="750" dirty="0"/>
          </a:p>
        </p:txBody>
      </p:sp>
      <p:sp>
        <p:nvSpPr>
          <p:cNvPr id="41" name="Shape 19">
            <a:extLst>
              <a:ext uri="{FF2B5EF4-FFF2-40B4-BE49-F238E27FC236}">
                <a16:creationId xmlns:a16="http://schemas.microsoft.com/office/drawing/2014/main" id="{7B4253EA-28E7-BDFF-1492-B3496F9396E8}"/>
              </a:ext>
            </a:extLst>
          </p:cNvPr>
          <p:cNvSpPr/>
          <p:nvPr/>
        </p:nvSpPr>
        <p:spPr>
          <a:xfrm>
            <a:off x="6181344" y="1700784"/>
            <a:ext cx="2697480" cy="1024128"/>
          </a:xfrm>
          <a:prstGeom prst="roundRect">
            <a:avLst>
              <a:gd name="adj" fmla="val 13393"/>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42" name="Shape 20">
            <a:extLst>
              <a:ext uri="{FF2B5EF4-FFF2-40B4-BE49-F238E27FC236}">
                <a16:creationId xmlns:a16="http://schemas.microsoft.com/office/drawing/2014/main" id="{8D9BB30B-E320-575C-4075-CC6DEC739613}"/>
              </a:ext>
            </a:extLst>
          </p:cNvPr>
          <p:cNvSpPr/>
          <p:nvPr/>
        </p:nvSpPr>
        <p:spPr>
          <a:xfrm>
            <a:off x="6181344" y="1700784"/>
            <a:ext cx="73152" cy="1024128"/>
          </a:xfrm>
          <a:prstGeom prst="rect">
            <a:avLst/>
          </a:prstGeom>
          <a:solidFill>
            <a:srgbClr val="7030A0"/>
          </a:solidFill>
          <a:ln w="12700">
            <a:solidFill>
              <a:srgbClr val="7030A0">
                <a:alpha val="0"/>
              </a:srgbClr>
            </a:solidFill>
            <a:prstDash val="solid"/>
          </a:ln>
        </p:spPr>
        <p:txBody>
          <a:bodyPr/>
          <a:lstStyle/>
          <a:p>
            <a:endParaRPr lang="en-IN"/>
          </a:p>
        </p:txBody>
      </p:sp>
      <p:sp>
        <p:nvSpPr>
          <p:cNvPr id="43" name="Text 21">
            <a:extLst>
              <a:ext uri="{FF2B5EF4-FFF2-40B4-BE49-F238E27FC236}">
                <a16:creationId xmlns:a16="http://schemas.microsoft.com/office/drawing/2014/main" id="{809212F8-DA8C-5160-AD76-6A6984CC83DA}"/>
              </a:ext>
            </a:extLst>
          </p:cNvPr>
          <p:cNvSpPr/>
          <p:nvPr/>
        </p:nvSpPr>
        <p:spPr>
          <a:xfrm>
            <a:off x="6364224" y="1828800"/>
            <a:ext cx="2423160" cy="146304"/>
          </a:xfrm>
          <a:prstGeom prst="rect">
            <a:avLst/>
          </a:prstGeom>
          <a:noFill/>
          <a:ln/>
        </p:spPr>
        <p:txBody>
          <a:bodyPr wrap="square" lIns="508" tIns="508" rIns="508" bIns="508" rtlCol="0" anchor="ctr">
            <a:normAutofit/>
          </a:bodyPr>
          <a:lstStyle/>
          <a:p>
            <a:pPr marL="0" indent="0" algn="l">
              <a:buNone/>
            </a:pPr>
            <a:r>
              <a:rPr lang="en-US" sz="750" b="1" dirty="0">
                <a:solidFill>
                  <a:srgbClr val="4B5563"/>
                </a:solidFill>
                <a:latin typeface="Aptos" pitchFamily="34" charset="0"/>
                <a:ea typeface="Aptos" pitchFamily="34" charset="-122"/>
                <a:cs typeface="Aptos" pitchFamily="34" charset="-120"/>
              </a:rPr>
              <a:t>RESOURCES</a:t>
            </a:r>
            <a:endParaRPr lang="en-US" sz="750" dirty="0"/>
          </a:p>
        </p:txBody>
      </p:sp>
      <p:sp>
        <p:nvSpPr>
          <p:cNvPr id="44" name="Text 22">
            <a:extLst>
              <a:ext uri="{FF2B5EF4-FFF2-40B4-BE49-F238E27FC236}">
                <a16:creationId xmlns:a16="http://schemas.microsoft.com/office/drawing/2014/main" id="{D12A8C64-C7AC-83DB-94AD-01C85D955CED}"/>
              </a:ext>
            </a:extLst>
          </p:cNvPr>
          <p:cNvSpPr/>
          <p:nvPr/>
        </p:nvSpPr>
        <p:spPr>
          <a:xfrm>
            <a:off x="6364224" y="2029968"/>
            <a:ext cx="2423160" cy="274320"/>
          </a:xfrm>
          <a:prstGeom prst="rect">
            <a:avLst/>
          </a:prstGeom>
          <a:noFill/>
          <a:ln/>
        </p:spPr>
        <p:txBody>
          <a:bodyPr wrap="square" lIns="508" tIns="508" rIns="508" bIns="508" rtlCol="0" anchor="ctr">
            <a:normAutofit lnSpcReduction="10000"/>
          </a:bodyPr>
          <a:lstStyle/>
          <a:p>
            <a:pPr marL="0" indent="0" algn="l">
              <a:buNone/>
            </a:pPr>
            <a:r>
              <a:rPr lang="en-US" sz="1800" b="1" dirty="0">
                <a:solidFill>
                  <a:srgbClr val="7030A0"/>
                </a:solidFill>
                <a:latin typeface="Aptos" pitchFamily="34" charset="0"/>
                <a:ea typeface="Aptos" pitchFamily="34" charset="-122"/>
                <a:cs typeface="Aptos" pitchFamily="34" charset="-120"/>
              </a:rPr>
              <a:t>13</a:t>
            </a:r>
            <a:endParaRPr lang="en-US" sz="1800" dirty="0"/>
          </a:p>
        </p:txBody>
      </p:sp>
      <p:sp>
        <p:nvSpPr>
          <p:cNvPr id="45" name="Text 23">
            <a:extLst>
              <a:ext uri="{FF2B5EF4-FFF2-40B4-BE49-F238E27FC236}">
                <a16:creationId xmlns:a16="http://schemas.microsoft.com/office/drawing/2014/main" id="{A37B3D17-AD2F-A767-0319-C6AFA944EF15}"/>
              </a:ext>
            </a:extLst>
          </p:cNvPr>
          <p:cNvSpPr/>
          <p:nvPr/>
        </p:nvSpPr>
        <p:spPr>
          <a:xfrm>
            <a:off x="6364224" y="2414016"/>
            <a:ext cx="2423160" cy="246888"/>
          </a:xfrm>
          <a:prstGeom prst="rect">
            <a:avLst/>
          </a:prstGeom>
          <a:noFill/>
          <a:ln/>
        </p:spPr>
        <p:txBody>
          <a:bodyPr wrap="square" lIns="508" tIns="508" rIns="508" bIns="508" rtlCol="0" anchor="ctr">
            <a:normAutofit/>
          </a:bodyPr>
          <a:lstStyle/>
          <a:p>
            <a:pPr marL="0" indent="0" algn="l">
              <a:buNone/>
            </a:pPr>
            <a:r>
              <a:rPr lang="en-US" sz="750" dirty="0">
                <a:solidFill>
                  <a:srgbClr val="4B5563"/>
                </a:solidFill>
                <a:latin typeface="Aptos" pitchFamily="34" charset="0"/>
                <a:ea typeface="Aptos" pitchFamily="34" charset="-122"/>
                <a:cs typeface="Aptos" pitchFamily="34" charset="-120"/>
              </a:rPr>
              <a:t>External resources contracted / POs initiated</a:t>
            </a:r>
            <a:endParaRPr lang="en-US" sz="750" dirty="0"/>
          </a:p>
        </p:txBody>
      </p:sp>
      <p:sp>
        <p:nvSpPr>
          <p:cNvPr id="46" name="Shape 24">
            <a:extLst>
              <a:ext uri="{FF2B5EF4-FFF2-40B4-BE49-F238E27FC236}">
                <a16:creationId xmlns:a16="http://schemas.microsoft.com/office/drawing/2014/main" id="{437A1C28-8C44-1625-12C6-5E5FF11BB5F1}"/>
              </a:ext>
            </a:extLst>
          </p:cNvPr>
          <p:cNvSpPr/>
          <p:nvPr/>
        </p:nvSpPr>
        <p:spPr>
          <a:xfrm>
            <a:off x="9052560" y="1700784"/>
            <a:ext cx="2697480" cy="1024128"/>
          </a:xfrm>
          <a:prstGeom prst="roundRect">
            <a:avLst>
              <a:gd name="adj" fmla="val 13393"/>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47" name="Shape 25">
            <a:extLst>
              <a:ext uri="{FF2B5EF4-FFF2-40B4-BE49-F238E27FC236}">
                <a16:creationId xmlns:a16="http://schemas.microsoft.com/office/drawing/2014/main" id="{7C16D34F-A3CE-6820-69F7-CDDD1207D3A4}"/>
              </a:ext>
            </a:extLst>
          </p:cNvPr>
          <p:cNvSpPr/>
          <p:nvPr/>
        </p:nvSpPr>
        <p:spPr>
          <a:xfrm>
            <a:off x="9052560" y="1700784"/>
            <a:ext cx="73152" cy="1024128"/>
          </a:xfrm>
          <a:prstGeom prst="rect">
            <a:avLst/>
          </a:prstGeom>
          <a:solidFill>
            <a:srgbClr val="C00000"/>
          </a:solidFill>
          <a:ln w="12700">
            <a:solidFill>
              <a:srgbClr val="C00000">
                <a:alpha val="0"/>
              </a:srgbClr>
            </a:solidFill>
            <a:prstDash val="solid"/>
          </a:ln>
        </p:spPr>
        <p:txBody>
          <a:bodyPr/>
          <a:lstStyle/>
          <a:p>
            <a:endParaRPr lang="en-IN"/>
          </a:p>
        </p:txBody>
      </p:sp>
      <p:sp>
        <p:nvSpPr>
          <p:cNvPr id="48" name="Text 26">
            <a:extLst>
              <a:ext uri="{FF2B5EF4-FFF2-40B4-BE49-F238E27FC236}">
                <a16:creationId xmlns:a16="http://schemas.microsoft.com/office/drawing/2014/main" id="{65BC6277-F666-26AE-5655-063252F193E7}"/>
              </a:ext>
            </a:extLst>
          </p:cNvPr>
          <p:cNvSpPr/>
          <p:nvPr/>
        </p:nvSpPr>
        <p:spPr>
          <a:xfrm>
            <a:off x="9235440" y="1828800"/>
            <a:ext cx="2423160" cy="146304"/>
          </a:xfrm>
          <a:prstGeom prst="rect">
            <a:avLst/>
          </a:prstGeom>
          <a:noFill/>
          <a:ln/>
        </p:spPr>
        <p:txBody>
          <a:bodyPr wrap="square" lIns="508" tIns="508" rIns="508" bIns="508" rtlCol="0" anchor="ctr">
            <a:normAutofit/>
          </a:bodyPr>
          <a:lstStyle/>
          <a:p>
            <a:pPr marL="0" indent="0" algn="l">
              <a:buNone/>
            </a:pPr>
            <a:r>
              <a:rPr lang="en-US" sz="750" b="1" dirty="0">
                <a:solidFill>
                  <a:srgbClr val="4B5563"/>
                </a:solidFill>
                <a:latin typeface="Aptos" pitchFamily="34" charset="0"/>
                <a:ea typeface="Aptos" pitchFamily="34" charset="-122"/>
                <a:cs typeface="Aptos" pitchFamily="34" charset="-120"/>
              </a:rPr>
              <a:t>BUDGET</a:t>
            </a:r>
            <a:endParaRPr lang="en-US" sz="750" dirty="0"/>
          </a:p>
        </p:txBody>
      </p:sp>
      <p:sp>
        <p:nvSpPr>
          <p:cNvPr id="49" name="Text 27">
            <a:extLst>
              <a:ext uri="{FF2B5EF4-FFF2-40B4-BE49-F238E27FC236}">
                <a16:creationId xmlns:a16="http://schemas.microsoft.com/office/drawing/2014/main" id="{2B6CC2FB-FE0F-20E0-A875-A4459D36B348}"/>
              </a:ext>
            </a:extLst>
          </p:cNvPr>
          <p:cNvSpPr/>
          <p:nvPr/>
        </p:nvSpPr>
        <p:spPr>
          <a:xfrm>
            <a:off x="9235440" y="2029968"/>
            <a:ext cx="2423160" cy="274320"/>
          </a:xfrm>
          <a:prstGeom prst="rect">
            <a:avLst/>
          </a:prstGeom>
          <a:noFill/>
          <a:ln/>
        </p:spPr>
        <p:txBody>
          <a:bodyPr wrap="square" lIns="508" tIns="508" rIns="508" bIns="508" rtlCol="0" anchor="ctr">
            <a:normAutofit lnSpcReduction="10000"/>
          </a:bodyPr>
          <a:lstStyle/>
          <a:p>
            <a:pPr marL="0" indent="0" algn="l">
              <a:buNone/>
            </a:pPr>
            <a:r>
              <a:rPr lang="en-US" sz="1800" b="1" dirty="0">
                <a:solidFill>
                  <a:srgbClr val="C00000"/>
                </a:solidFill>
                <a:latin typeface="Aptos" pitchFamily="34" charset="0"/>
                <a:ea typeface="Aptos" pitchFamily="34" charset="-122"/>
                <a:cs typeface="Aptos" pitchFamily="34" charset="-120"/>
              </a:rPr>
              <a:t>₹3 Cr</a:t>
            </a:r>
            <a:endParaRPr lang="en-US" sz="1800" dirty="0"/>
          </a:p>
        </p:txBody>
      </p:sp>
      <p:sp>
        <p:nvSpPr>
          <p:cNvPr id="50" name="Text 28">
            <a:extLst>
              <a:ext uri="{FF2B5EF4-FFF2-40B4-BE49-F238E27FC236}">
                <a16:creationId xmlns:a16="http://schemas.microsoft.com/office/drawing/2014/main" id="{329E8623-8682-ABEC-4709-74AB56C64237}"/>
              </a:ext>
            </a:extLst>
          </p:cNvPr>
          <p:cNvSpPr/>
          <p:nvPr/>
        </p:nvSpPr>
        <p:spPr>
          <a:xfrm>
            <a:off x="9235440" y="2414016"/>
            <a:ext cx="2423160" cy="246888"/>
          </a:xfrm>
          <a:prstGeom prst="rect">
            <a:avLst/>
          </a:prstGeom>
          <a:noFill/>
          <a:ln/>
        </p:spPr>
        <p:txBody>
          <a:bodyPr wrap="square" lIns="508" tIns="508" rIns="508" bIns="508" rtlCol="0" anchor="ctr">
            <a:normAutofit/>
          </a:bodyPr>
          <a:lstStyle/>
          <a:p>
            <a:pPr marL="0" indent="0" algn="l">
              <a:buNone/>
            </a:pPr>
            <a:r>
              <a:rPr lang="en-US" sz="750" dirty="0">
                <a:solidFill>
                  <a:srgbClr val="4B5563"/>
                </a:solidFill>
                <a:latin typeface="Aptos" pitchFamily="34" charset="0"/>
                <a:ea typeface="Aptos" pitchFamily="34" charset="-122"/>
                <a:cs typeface="Aptos" pitchFamily="34" charset="-120"/>
              </a:rPr>
              <a:t>CAPEX approval path in progress</a:t>
            </a:r>
            <a:endParaRPr lang="en-US" sz="750" dirty="0"/>
          </a:p>
        </p:txBody>
      </p:sp>
      <p:sp>
        <p:nvSpPr>
          <p:cNvPr id="51" name="Text 29">
            <a:extLst>
              <a:ext uri="{FF2B5EF4-FFF2-40B4-BE49-F238E27FC236}">
                <a16:creationId xmlns:a16="http://schemas.microsoft.com/office/drawing/2014/main" id="{AC77BC5B-D286-2B73-A601-34D21D833F39}"/>
              </a:ext>
            </a:extLst>
          </p:cNvPr>
          <p:cNvSpPr/>
          <p:nvPr/>
        </p:nvSpPr>
        <p:spPr>
          <a:xfrm>
            <a:off x="457200" y="2962656"/>
            <a:ext cx="2560320" cy="228600"/>
          </a:xfrm>
          <a:prstGeom prst="rect">
            <a:avLst/>
          </a:prstGeom>
          <a:noFill/>
          <a:ln/>
        </p:spPr>
        <p:txBody>
          <a:bodyPr wrap="square" lIns="508" tIns="508" rIns="508" bIns="508" rtlCol="0" anchor="ctr">
            <a:normAutofit/>
          </a:bodyPr>
          <a:lstStyle/>
          <a:p>
            <a:pPr marL="0" indent="0" algn="l">
              <a:buNone/>
            </a:pPr>
            <a:r>
              <a:rPr lang="en-US" sz="1200" b="1" dirty="0">
                <a:solidFill>
                  <a:srgbClr val="C00000"/>
                </a:solidFill>
                <a:latin typeface="Aptos" pitchFamily="34" charset="0"/>
                <a:ea typeface="Aptos" pitchFamily="34" charset="-122"/>
                <a:cs typeface="Aptos" pitchFamily="34" charset="-120"/>
              </a:rPr>
              <a:t>Current Progress</a:t>
            </a:r>
            <a:endParaRPr lang="en-US" sz="1200" dirty="0"/>
          </a:p>
        </p:txBody>
      </p:sp>
      <p:sp>
        <p:nvSpPr>
          <p:cNvPr id="52" name="Shape 30">
            <a:extLst>
              <a:ext uri="{FF2B5EF4-FFF2-40B4-BE49-F238E27FC236}">
                <a16:creationId xmlns:a16="http://schemas.microsoft.com/office/drawing/2014/main" id="{90EFC103-2DF2-C366-8AF8-C7394DE5E752}"/>
              </a:ext>
            </a:extLst>
          </p:cNvPr>
          <p:cNvSpPr/>
          <p:nvPr/>
        </p:nvSpPr>
        <p:spPr>
          <a:xfrm>
            <a:off x="438912" y="3291840"/>
            <a:ext cx="3611880" cy="1627632"/>
          </a:xfrm>
          <a:prstGeom prst="roundRect">
            <a:avLst>
              <a:gd name="adj" fmla="val 8427"/>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53" name="Shape 31">
            <a:extLst>
              <a:ext uri="{FF2B5EF4-FFF2-40B4-BE49-F238E27FC236}">
                <a16:creationId xmlns:a16="http://schemas.microsoft.com/office/drawing/2014/main" id="{8F21FFC7-5AE7-2C4E-E387-EB43C548F69B}"/>
              </a:ext>
            </a:extLst>
          </p:cNvPr>
          <p:cNvSpPr/>
          <p:nvPr/>
        </p:nvSpPr>
        <p:spPr>
          <a:xfrm>
            <a:off x="548640" y="3410712"/>
            <a:ext cx="256032" cy="256032"/>
          </a:xfrm>
          <a:prstGeom prst="roundRect">
            <a:avLst>
              <a:gd name="adj" fmla="val 28571"/>
            </a:avLst>
          </a:prstGeom>
          <a:solidFill>
            <a:srgbClr val="F59E0B"/>
          </a:solidFill>
          <a:ln w="12700">
            <a:solidFill>
              <a:srgbClr val="F59E0B">
                <a:alpha val="0"/>
              </a:srgbClr>
            </a:solidFill>
            <a:prstDash val="solid"/>
          </a:ln>
        </p:spPr>
        <p:txBody>
          <a:bodyPr/>
          <a:lstStyle/>
          <a:p>
            <a:endParaRPr lang="en-IN"/>
          </a:p>
        </p:txBody>
      </p:sp>
      <p:sp>
        <p:nvSpPr>
          <p:cNvPr id="54" name="Text 32">
            <a:extLst>
              <a:ext uri="{FF2B5EF4-FFF2-40B4-BE49-F238E27FC236}">
                <a16:creationId xmlns:a16="http://schemas.microsoft.com/office/drawing/2014/main" id="{4AC67B57-1224-07A2-E997-EF4FFE37E573}"/>
              </a:ext>
            </a:extLst>
          </p:cNvPr>
          <p:cNvSpPr/>
          <p:nvPr/>
        </p:nvSpPr>
        <p:spPr>
          <a:xfrm>
            <a:off x="877824" y="3383280"/>
            <a:ext cx="3063240" cy="219456"/>
          </a:xfrm>
          <a:prstGeom prst="rect">
            <a:avLst/>
          </a:prstGeom>
          <a:noFill/>
          <a:ln/>
        </p:spPr>
        <p:txBody>
          <a:bodyPr wrap="square" lIns="508" tIns="508" rIns="508" bIns="508" rtlCol="0" anchor="ctr">
            <a:normAutofit/>
          </a:bodyPr>
          <a:lstStyle/>
          <a:p>
            <a:pPr marL="0" indent="0" algn="l">
              <a:buNone/>
            </a:pPr>
            <a:r>
              <a:rPr lang="en-US" sz="1070" b="1" dirty="0">
                <a:solidFill>
                  <a:srgbClr val="1F2937"/>
                </a:solidFill>
                <a:latin typeface="Aptos" pitchFamily="34" charset="0"/>
                <a:ea typeface="Aptos" pitchFamily="34" charset="-122"/>
                <a:cs typeface="Aptos" pitchFamily="34" charset="-120"/>
              </a:rPr>
              <a:t>Mobilisation</a:t>
            </a:r>
            <a:endParaRPr lang="en-US" sz="1070" dirty="0"/>
          </a:p>
        </p:txBody>
      </p:sp>
      <p:sp>
        <p:nvSpPr>
          <p:cNvPr id="55" name="Shape 33">
            <a:extLst>
              <a:ext uri="{FF2B5EF4-FFF2-40B4-BE49-F238E27FC236}">
                <a16:creationId xmlns:a16="http://schemas.microsoft.com/office/drawing/2014/main" id="{67C0183E-6625-B490-AF98-2803CE642F58}"/>
              </a:ext>
            </a:extLst>
          </p:cNvPr>
          <p:cNvSpPr/>
          <p:nvPr/>
        </p:nvSpPr>
        <p:spPr>
          <a:xfrm>
            <a:off x="603504" y="3794760"/>
            <a:ext cx="54864" cy="54864"/>
          </a:xfrm>
          <a:prstGeom prst="ellipse">
            <a:avLst/>
          </a:prstGeom>
          <a:solidFill>
            <a:srgbClr val="F59E0B"/>
          </a:solidFill>
          <a:ln w="12700">
            <a:solidFill>
              <a:srgbClr val="F59E0B">
                <a:alpha val="0"/>
              </a:srgbClr>
            </a:solidFill>
            <a:prstDash val="solid"/>
          </a:ln>
        </p:spPr>
        <p:txBody>
          <a:bodyPr/>
          <a:lstStyle/>
          <a:p>
            <a:endParaRPr lang="en-IN"/>
          </a:p>
        </p:txBody>
      </p:sp>
      <p:sp>
        <p:nvSpPr>
          <p:cNvPr id="56" name="Text 34">
            <a:extLst>
              <a:ext uri="{FF2B5EF4-FFF2-40B4-BE49-F238E27FC236}">
                <a16:creationId xmlns:a16="http://schemas.microsoft.com/office/drawing/2014/main" id="{96024D8A-E8F1-54DA-215A-E708C9A2EC5E}"/>
              </a:ext>
            </a:extLst>
          </p:cNvPr>
          <p:cNvSpPr/>
          <p:nvPr/>
        </p:nvSpPr>
        <p:spPr>
          <a:xfrm>
            <a:off x="749808" y="3767328"/>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External resource model identified – pending budget approval</a:t>
            </a:r>
            <a:endParaRPr lang="en-US" sz="820" dirty="0"/>
          </a:p>
        </p:txBody>
      </p:sp>
      <p:sp>
        <p:nvSpPr>
          <p:cNvPr id="57" name="Shape 35">
            <a:extLst>
              <a:ext uri="{FF2B5EF4-FFF2-40B4-BE49-F238E27FC236}">
                <a16:creationId xmlns:a16="http://schemas.microsoft.com/office/drawing/2014/main" id="{BBA403A5-E4C5-1291-0DCB-CC6B50F02DF7}"/>
              </a:ext>
            </a:extLst>
          </p:cNvPr>
          <p:cNvSpPr/>
          <p:nvPr/>
        </p:nvSpPr>
        <p:spPr>
          <a:xfrm>
            <a:off x="603504" y="4151376"/>
            <a:ext cx="54864" cy="54864"/>
          </a:xfrm>
          <a:prstGeom prst="ellipse">
            <a:avLst/>
          </a:prstGeom>
          <a:solidFill>
            <a:srgbClr val="F59E0B"/>
          </a:solidFill>
          <a:ln w="12700">
            <a:solidFill>
              <a:srgbClr val="F59E0B">
                <a:alpha val="0"/>
              </a:srgbClr>
            </a:solidFill>
            <a:prstDash val="solid"/>
          </a:ln>
        </p:spPr>
        <p:txBody>
          <a:bodyPr/>
          <a:lstStyle/>
          <a:p>
            <a:endParaRPr lang="en-IN"/>
          </a:p>
        </p:txBody>
      </p:sp>
      <p:sp>
        <p:nvSpPr>
          <p:cNvPr id="60" name="Text 38">
            <a:extLst>
              <a:ext uri="{FF2B5EF4-FFF2-40B4-BE49-F238E27FC236}">
                <a16:creationId xmlns:a16="http://schemas.microsoft.com/office/drawing/2014/main" id="{7CBD76B9-01BF-D965-06AF-32CB007E5F42}"/>
              </a:ext>
            </a:extLst>
          </p:cNvPr>
          <p:cNvSpPr/>
          <p:nvPr/>
        </p:nvSpPr>
        <p:spPr>
          <a:xfrm>
            <a:off x="749808" y="4123944"/>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Tooling, workspace, repo setup and orientation being mobilised</a:t>
            </a:r>
            <a:endParaRPr lang="en-US" sz="820" dirty="0"/>
          </a:p>
        </p:txBody>
      </p:sp>
      <p:sp>
        <p:nvSpPr>
          <p:cNvPr id="61" name="Shape 39">
            <a:extLst>
              <a:ext uri="{FF2B5EF4-FFF2-40B4-BE49-F238E27FC236}">
                <a16:creationId xmlns:a16="http://schemas.microsoft.com/office/drawing/2014/main" id="{CA8FBC07-13CD-07E1-8C4D-E0D26C497F1E}"/>
              </a:ext>
            </a:extLst>
          </p:cNvPr>
          <p:cNvSpPr/>
          <p:nvPr/>
        </p:nvSpPr>
        <p:spPr>
          <a:xfrm>
            <a:off x="4288536" y="3291840"/>
            <a:ext cx="3611880" cy="1627632"/>
          </a:xfrm>
          <a:prstGeom prst="roundRect">
            <a:avLst>
              <a:gd name="adj" fmla="val 8427"/>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62" name="Shape 40">
            <a:extLst>
              <a:ext uri="{FF2B5EF4-FFF2-40B4-BE49-F238E27FC236}">
                <a16:creationId xmlns:a16="http://schemas.microsoft.com/office/drawing/2014/main" id="{0DE19A5F-1DDF-E2BB-8341-A7F23B4D44F6}"/>
              </a:ext>
            </a:extLst>
          </p:cNvPr>
          <p:cNvSpPr/>
          <p:nvPr/>
        </p:nvSpPr>
        <p:spPr>
          <a:xfrm>
            <a:off x="4398264" y="3410712"/>
            <a:ext cx="256032" cy="256032"/>
          </a:xfrm>
          <a:prstGeom prst="roundRect">
            <a:avLst>
              <a:gd name="adj" fmla="val 28571"/>
            </a:avLst>
          </a:prstGeom>
          <a:solidFill>
            <a:srgbClr val="C00000"/>
          </a:solidFill>
          <a:ln w="12700">
            <a:solidFill>
              <a:srgbClr val="C00000">
                <a:alpha val="0"/>
              </a:srgbClr>
            </a:solidFill>
            <a:prstDash val="solid"/>
          </a:ln>
        </p:spPr>
        <p:txBody>
          <a:bodyPr/>
          <a:lstStyle/>
          <a:p>
            <a:endParaRPr lang="en-IN"/>
          </a:p>
        </p:txBody>
      </p:sp>
      <p:sp>
        <p:nvSpPr>
          <p:cNvPr id="63" name="Text 41">
            <a:extLst>
              <a:ext uri="{FF2B5EF4-FFF2-40B4-BE49-F238E27FC236}">
                <a16:creationId xmlns:a16="http://schemas.microsoft.com/office/drawing/2014/main" id="{61CF1340-ACA1-C4E7-6B65-2A9A517BA49D}"/>
              </a:ext>
            </a:extLst>
          </p:cNvPr>
          <p:cNvSpPr/>
          <p:nvPr/>
        </p:nvSpPr>
        <p:spPr>
          <a:xfrm>
            <a:off x="4727448" y="3383280"/>
            <a:ext cx="3063240" cy="219456"/>
          </a:xfrm>
          <a:prstGeom prst="rect">
            <a:avLst/>
          </a:prstGeom>
          <a:noFill/>
          <a:ln/>
        </p:spPr>
        <p:txBody>
          <a:bodyPr wrap="square" lIns="508" tIns="508" rIns="508" bIns="508" rtlCol="0" anchor="ctr">
            <a:normAutofit/>
          </a:bodyPr>
          <a:lstStyle/>
          <a:p>
            <a:pPr marL="0" indent="0" algn="l">
              <a:buNone/>
            </a:pPr>
            <a:r>
              <a:rPr lang="en-US" sz="1070" b="1" dirty="0">
                <a:solidFill>
                  <a:srgbClr val="1F2937"/>
                </a:solidFill>
                <a:latin typeface="Aptos" pitchFamily="34" charset="0"/>
                <a:ea typeface="Aptos" pitchFamily="34" charset="-122"/>
                <a:cs typeface="Aptos" pitchFamily="34" charset="-120"/>
              </a:rPr>
              <a:t>Requirements &amp; Governance</a:t>
            </a:r>
            <a:endParaRPr lang="en-US" sz="1070" dirty="0"/>
          </a:p>
        </p:txBody>
      </p:sp>
      <p:sp>
        <p:nvSpPr>
          <p:cNvPr id="64" name="Shape 42">
            <a:extLst>
              <a:ext uri="{FF2B5EF4-FFF2-40B4-BE49-F238E27FC236}">
                <a16:creationId xmlns:a16="http://schemas.microsoft.com/office/drawing/2014/main" id="{882E8A52-3918-4A1F-B77E-A090904DAE7F}"/>
              </a:ext>
            </a:extLst>
          </p:cNvPr>
          <p:cNvSpPr/>
          <p:nvPr/>
        </p:nvSpPr>
        <p:spPr>
          <a:xfrm>
            <a:off x="4453128" y="3794760"/>
            <a:ext cx="54864" cy="54864"/>
          </a:xfrm>
          <a:prstGeom prst="ellipse">
            <a:avLst/>
          </a:prstGeom>
          <a:solidFill>
            <a:srgbClr val="C00000"/>
          </a:solidFill>
          <a:ln w="12700">
            <a:solidFill>
              <a:srgbClr val="C00000">
                <a:alpha val="0"/>
              </a:srgbClr>
            </a:solidFill>
            <a:prstDash val="solid"/>
          </a:ln>
        </p:spPr>
        <p:txBody>
          <a:bodyPr/>
          <a:lstStyle/>
          <a:p>
            <a:endParaRPr lang="en-IN"/>
          </a:p>
        </p:txBody>
      </p:sp>
      <p:sp>
        <p:nvSpPr>
          <p:cNvPr id="65" name="Text 43">
            <a:extLst>
              <a:ext uri="{FF2B5EF4-FFF2-40B4-BE49-F238E27FC236}">
                <a16:creationId xmlns:a16="http://schemas.microsoft.com/office/drawing/2014/main" id="{A2DD06B6-059F-CCA2-E569-CC92FEF0CC00}"/>
              </a:ext>
            </a:extLst>
          </p:cNvPr>
          <p:cNvSpPr/>
          <p:nvPr/>
        </p:nvSpPr>
        <p:spPr>
          <a:xfrm>
            <a:off x="4599432" y="3767328"/>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AI Payroll, HRBP, C&amp;B, CAE and Finance leads engaged</a:t>
            </a:r>
            <a:endParaRPr lang="en-US" sz="820" dirty="0"/>
          </a:p>
        </p:txBody>
      </p:sp>
      <p:sp>
        <p:nvSpPr>
          <p:cNvPr id="66" name="Shape 44">
            <a:extLst>
              <a:ext uri="{FF2B5EF4-FFF2-40B4-BE49-F238E27FC236}">
                <a16:creationId xmlns:a16="http://schemas.microsoft.com/office/drawing/2014/main" id="{9B5989B8-B64F-9187-6230-22A86EC87376}"/>
              </a:ext>
            </a:extLst>
          </p:cNvPr>
          <p:cNvSpPr/>
          <p:nvPr/>
        </p:nvSpPr>
        <p:spPr>
          <a:xfrm>
            <a:off x="4453128" y="4151376"/>
            <a:ext cx="54864" cy="54864"/>
          </a:xfrm>
          <a:prstGeom prst="ellipse">
            <a:avLst/>
          </a:prstGeom>
          <a:solidFill>
            <a:srgbClr val="C00000"/>
          </a:solidFill>
          <a:ln w="12700">
            <a:solidFill>
              <a:srgbClr val="C00000">
                <a:alpha val="0"/>
              </a:srgbClr>
            </a:solidFill>
            <a:prstDash val="solid"/>
          </a:ln>
        </p:spPr>
        <p:txBody>
          <a:bodyPr/>
          <a:lstStyle/>
          <a:p>
            <a:endParaRPr lang="en-IN"/>
          </a:p>
        </p:txBody>
      </p:sp>
      <p:sp>
        <p:nvSpPr>
          <p:cNvPr id="67" name="Text 45">
            <a:extLst>
              <a:ext uri="{FF2B5EF4-FFF2-40B4-BE49-F238E27FC236}">
                <a16:creationId xmlns:a16="http://schemas.microsoft.com/office/drawing/2014/main" id="{8872E958-8583-4C78-48DC-4D278C3C4641}"/>
              </a:ext>
            </a:extLst>
          </p:cNvPr>
          <p:cNvSpPr/>
          <p:nvPr/>
        </p:nvSpPr>
        <p:spPr>
          <a:xfrm>
            <a:off x="4599432" y="4123944"/>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Phase-wise scope and RACI being firmed up</a:t>
            </a:r>
            <a:endParaRPr lang="en-US" sz="820" dirty="0"/>
          </a:p>
        </p:txBody>
      </p:sp>
      <p:sp>
        <p:nvSpPr>
          <p:cNvPr id="68" name="Shape 46">
            <a:extLst>
              <a:ext uri="{FF2B5EF4-FFF2-40B4-BE49-F238E27FC236}">
                <a16:creationId xmlns:a16="http://schemas.microsoft.com/office/drawing/2014/main" id="{7AA10BC4-2527-D003-11F5-D313CCA19D82}"/>
              </a:ext>
            </a:extLst>
          </p:cNvPr>
          <p:cNvSpPr/>
          <p:nvPr/>
        </p:nvSpPr>
        <p:spPr>
          <a:xfrm>
            <a:off x="4453128" y="4507992"/>
            <a:ext cx="54864" cy="54864"/>
          </a:xfrm>
          <a:prstGeom prst="ellipse">
            <a:avLst/>
          </a:prstGeom>
          <a:solidFill>
            <a:srgbClr val="C00000"/>
          </a:solidFill>
          <a:ln w="12700">
            <a:solidFill>
              <a:srgbClr val="C00000">
                <a:alpha val="0"/>
              </a:srgbClr>
            </a:solidFill>
            <a:prstDash val="solid"/>
          </a:ln>
        </p:spPr>
        <p:txBody>
          <a:bodyPr/>
          <a:lstStyle/>
          <a:p>
            <a:endParaRPr lang="en-IN"/>
          </a:p>
        </p:txBody>
      </p:sp>
      <p:sp>
        <p:nvSpPr>
          <p:cNvPr id="69" name="Text 47">
            <a:extLst>
              <a:ext uri="{FF2B5EF4-FFF2-40B4-BE49-F238E27FC236}">
                <a16:creationId xmlns:a16="http://schemas.microsoft.com/office/drawing/2014/main" id="{7EEE86B0-FBEE-84C1-CDBC-50AF474306EE}"/>
              </a:ext>
            </a:extLst>
          </p:cNvPr>
          <p:cNvSpPr/>
          <p:nvPr/>
        </p:nvSpPr>
        <p:spPr>
          <a:xfrm>
            <a:off x="4599432" y="4480560"/>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Monthly steering cadence to be established</a:t>
            </a:r>
            <a:endParaRPr lang="en-US" sz="820" dirty="0"/>
          </a:p>
        </p:txBody>
      </p:sp>
      <p:sp>
        <p:nvSpPr>
          <p:cNvPr id="70" name="Shape 48">
            <a:extLst>
              <a:ext uri="{FF2B5EF4-FFF2-40B4-BE49-F238E27FC236}">
                <a16:creationId xmlns:a16="http://schemas.microsoft.com/office/drawing/2014/main" id="{C9B0490D-D0DF-95E0-38CC-326C80502F06}"/>
              </a:ext>
            </a:extLst>
          </p:cNvPr>
          <p:cNvSpPr/>
          <p:nvPr/>
        </p:nvSpPr>
        <p:spPr>
          <a:xfrm>
            <a:off x="8138160" y="3291840"/>
            <a:ext cx="3611880" cy="1627632"/>
          </a:xfrm>
          <a:prstGeom prst="roundRect">
            <a:avLst>
              <a:gd name="adj" fmla="val 8427"/>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71" name="Shape 49">
            <a:extLst>
              <a:ext uri="{FF2B5EF4-FFF2-40B4-BE49-F238E27FC236}">
                <a16:creationId xmlns:a16="http://schemas.microsoft.com/office/drawing/2014/main" id="{BBB8C090-A7C4-AD98-71E9-24C483DBD9AE}"/>
              </a:ext>
            </a:extLst>
          </p:cNvPr>
          <p:cNvSpPr/>
          <p:nvPr/>
        </p:nvSpPr>
        <p:spPr>
          <a:xfrm>
            <a:off x="8247888" y="3410712"/>
            <a:ext cx="256032" cy="256032"/>
          </a:xfrm>
          <a:prstGeom prst="roundRect">
            <a:avLst>
              <a:gd name="adj" fmla="val 28571"/>
            </a:avLst>
          </a:prstGeom>
          <a:solidFill>
            <a:srgbClr val="2D9E5F"/>
          </a:solidFill>
          <a:ln w="12700">
            <a:solidFill>
              <a:srgbClr val="2D9E5F">
                <a:alpha val="0"/>
              </a:srgbClr>
            </a:solidFill>
            <a:prstDash val="solid"/>
          </a:ln>
        </p:spPr>
        <p:txBody>
          <a:bodyPr/>
          <a:lstStyle/>
          <a:p>
            <a:endParaRPr lang="en-IN"/>
          </a:p>
        </p:txBody>
      </p:sp>
      <p:sp>
        <p:nvSpPr>
          <p:cNvPr id="72" name="Text 50">
            <a:extLst>
              <a:ext uri="{FF2B5EF4-FFF2-40B4-BE49-F238E27FC236}">
                <a16:creationId xmlns:a16="http://schemas.microsoft.com/office/drawing/2014/main" id="{CED8ED31-C087-9BAD-D36B-163D853B4FCB}"/>
              </a:ext>
            </a:extLst>
          </p:cNvPr>
          <p:cNvSpPr/>
          <p:nvPr/>
        </p:nvSpPr>
        <p:spPr>
          <a:xfrm>
            <a:off x="8577072" y="3383280"/>
            <a:ext cx="3063240" cy="219456"/>
          </a:xfrm>
          <a:prstGeom prst="rect">
            <a:avLst/>
          </a:prstGeom>
          <a:noFill/>
          <a:ln/>
        </p:spPr>
        <p:txBody>
          <a:bodyPr wrap="square" lIns="508" tIns="508" rIns="508" bIns="508" rtlCol="0" anchor="ctr">
            <a:normAutofit/>
          </a:bodyPr>
          <a:lstStyle/>
          <a:p>
            <a:pPr marL="0" indent="0" algn="l">
              <a:buNone/>
            </a:pPr>
            <a:r>
              <a:rPr lang="en-US" sz="1070" b="1" dirty="0">
                <a:solidFill>
                  <a:srgbClr val="1F2937"/>
                </a:solidFill>
                <a:latin typeface="Aptos" pitchFamily="34" charset="0"/>
                <a:ea typeface="Aptos" pitchFamily="34" charset="-122"/>
                <a:cs typeface="Aptos" pitchFamily="34" charset="-120"/>
              </a:rPr>
              <a:t>Execution Readiness</a:t>
            </a:r>
            <a:endParaRPr lang="en-US" sz="1070" dirty="0"/>
          </a:p>
        </p:txBody>
      </p:sp>
      <p:sp>
        <p:nvSpPr>
          <p:cNvPr id="73" name="Shape 51">
            <a:extLst>
              <a:ext uri="{FF2B5EF4-FFF2-40B4-BE49-F238E27FC236}">
                <a16:creationId xmlns:a16="http://schemas.microsoft.com/office/drawing/2014/main" id="{915F72D6-C27A-C57A-138F-C0C92D129FF7}"/>
              </a:ext>
            </a:extLst>
          </p:cNvPr>
          <p:cNvSpPr/>
          <p:nvPr/>
        </p:nvSpPr>
        <p:spPr>
          <a:xfrm>
            <a:off x="8302752" y="3794760"/>
            <a:ext cx="54864" cy="54864"/>
          </a:xfrm>
          <a:prstGeom prst="ellipse">
            <a:avLst/>
          </a:prstGeom>
          <a:solidFill>
            <a:srgbClr val="2D9E5F"/>
          </a:solidFill>
          <a:ln w="12700">
            <a:solidFill>
              <a:srgbClr val="2D9E5F">
                <a:alpha val="0"/>
              </a:srgbClr>
            </a:solidFill>
            <a:prstDash val="solid"/>
          </a:ln>
        </p:spPr>
        <p:txBody>
          <a:bodyPr/>
          <a:lstStyle/>
          <a:p>
            <a:endParaRPr lang="en-IN"/>
          </a:p>
        </p:txBody>
      </p:sp>
      <p:sp>
        <p:nvSpPr>
          <p:cNvPr id="74" name="Text 52">
            <a:extLst>
              <a:ext uri="{FF2B5EF4-FFF2-40B4-BE49-F238E27FC236}">
                <a16:creationId xmlns:a16="http://schemas.microsoft.com/office/drawing/2014/main" id="{27435517-E270-EB23-21B5-B4BB7C0C2AA0}"/>
              </a:ext>
            </a:extLst>
          </p:cNvPr>
          <p:cNvSpPr/>
          <p:nvPr/>
        </p:nvSpPr>
        <p:spPr>
          <a:xfrm>
            <a:off x="8449056" y="3767328"/>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July foundation: requirement sign-off and integration environment setup</a:t>
            </a:r>
            <a:endParaRPr lang="en-US" sz="820" dirty="0"/>
          </a:p>
        </p:txBody>
      </p:sp>
      <p:sp>
        <p:nvSpPr>
          <p:cNvPr id="75" name="Shape 53">
            <a:extLst>
              <a:ext uri="{FF2B5EF4-FFF2-40B4-BE49-F238E27FC236}">
                <a16:creationId xmlns:a16="http://schemas.microsoft.com/office/drawing/2014/main" id="{4252B941-73FC-2FF6-4E73-33F737D6C713}"/>
              </a:ext>
            </a:extLst>
          </p:cNvPr>
          <p:cNvSpPr/>
          <p:nvPr/>
        </p:nvSpPr>
        <p:spPr>
          <a:xfrm>
            <a:off x="8302752" y="4151376"/>
            <a:ext cx="54864" cy="54864"/>
          </a:xfrm>
          <a:prstGeom prst="ellipse">
            <a:avLst/>
          </a:prstGeom>
          <a:solidFill>
            <a:srgbClr val="2D9E5F"/>
          </a:solidFill>
          <a:ln w="12700">
            <a:solidFill>
              <a:srgbClr val="2D9E5F">
                <a:alpha val="0"/>
              </a:srgbClr>
            </a:solidFill>
            <a:prstDash val="solid"/>
          </a:ln>
        </p:spPr>
        <p:txBody>
          <a:bodyPr/>
          <a:lstStyle/>
          <a:p>
            <a:endParaRPr lang="en-IN"/>
          </a:p>
        </p:txBody>
      </p:sp>
      <p:sp>
        <p:nvSpPr>
          <p:cNvPr id="76" name="Text 54">
            <a:extLst>
              <a:ext uri="{FF2B5EF4-FFF2-40B4-BE49-F238E27FC236}">
                <a16:creationId xmlns:a16="http://schemas.microsoft.com/office/drawing/2014/main" id="{4B883639-C686-80F5-A416-AB8C56C3E945}"/>
              </a:ext>
            </a:extLst>
          </p:cNvPr>
          <p:cNvSpPr/>
          <p:nvPr/>
        </p:nvSpPr>
        <p:spPr>
          <a:xfrm>
            <a:off x="8449056" y="4123944"/>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AI validation architecture to be finalised</a:t>
            </a:r>
            <a:endParaRPr lang="en-US" sz="820" dirty="0"/>
          </a:p>
        </p:txBody>
      </p:sp>
      <p:sp>
        <p:nvSpPr>
          <p:cNvPr id="77" name="Shape 55">
            <a:extLst>
              <a:ext uri="{FF2B5EF4-FFF2-40B4-BE49-F238E27FC236}">
                <a16:creationId xmlns:a16="http://schemas.microsoft.com/office/drawing/2014/main" id="{0C41EEBD-F64B-D9A9-93B5-B2C44B90504D}"/>
              </a:ext>
            </a:extLst>
          </p:cNvPr>
          <p:cNvSpPr/>
          <p:nvPr/>
        </p:nvSpPr>
        <p:spPr>
          <a:xfrm>
            <a:off x="8302752" y="4507992"/>
            <a:ext cx="54864" cy="54864"/>
          </a:xfrm>
          <a:prstGeom prst="ellipse">
            <a:avLst/>
          </a:prstGeom>
          <a:solidFill>
            <a:srgbClr val="2D9E5F"/>
          </a:solidFill>
          <a:ln w="12700">
            <a:solidFill>
              <a:srgbClr val="2D9E5F">
                <a:alpha val="0"/>
              </a:srgbClr>
            </a:solidFill>
            <a:prstDash val="solid"/>
          </a:ln>
        </p:spPr>
        <p:txBody>
          <a:bodyPr/>
          <a:lstStyle/>
          <a:p>
            <a:endParaRPr lang="en-IN"/>
          </a:p>
        </p:txBody>
      </p:sp>
      <p:sp>
        <p:nvSpPr>
          <p:cNvPr id="78" name="Text 56">
            <a:extLst>
              <a:ext uri="{FF2B5EF4-FFF2-40B4-BE49-F238E27FC236}">
                <a16:creationId xmlns:a16="http://schemas.microsoft.com/office/drawing/2014/main" id="{795636C2-132A-832A-5B3B-5095E19DC7F5}"/>
              </a:ext>
            </a:extLst>
          </p:cNvPr>
          <p:cNvSpPr/>
          <p:nvPr/>
        </p:nvSpPr>
        <p:spPr>
          <a:xfrm>
            <a:off x="8449056" y="4480560"/>
            <a:ext cx="3136392" cy="301752"/>
          </a:xfrm>
          <a:prstGeom prst="rect">
            <a:avLst/>
          </a:prstGeom>
          <a:noFill/>
          <a:ln/>
        </p:spPr>
        <p:txBody>
          <a:bodyPr wrap="square" lIns="508" tIns="508" rIns="508" bIns="508" rtlCol="0" anchor="t">
            <a:normAutofit/>
          </a:bodyPr>
          <a:lstStyle/>
          <a:p>
            <a:pPr marL="0" indent="0" algn="l">
              <a:buNone/>
            </a:pPr>
            <a:r>
              <a:rPr lang="en-US" sz="820" dirty="0">
                <a:solidFill>
                  <a:srgbClr val="4B5563"/>
                </a:solidFill>
                <a:latin typeface="Aptos" pitchFamily="34" charset="0"/>
                <a:ea typeface="Aptos" pitchFamily="34" charset="-122"/>
                <a:cs typeface="Aptos" pitchFamily="34" charset="-120"/>
              </a:rPr>
              <a:t>API / vendor dependencies need owner-level closure</a:t>
            </a:r>
            <a:endParaRPr lang="en-US" sz="820" dirty="0"/>
          </a:p>
        </p:txBody>
      </p:sp>
      <p:sp>
        <p:nvSpPr>
          <p:cNvPr id="79" name="Shape 57">
            <a:extLst>
              <a:ext uri="{FF2B5EF4-FFF2-40B4-BE49-F238E27FC236}">
                <a16:creationId xmlns:a16="http://schemas.microsoft.com/office/drawing/2014/main" id="{29A51A9E-F9B7-5595-2D2D-99C83DCE3EDA}"/>
              </a:ext>
            </a:extLst>
          </p:cNvPr>
          <p:cNvSpPr/>
          <p:nvPr/>
        </p:nvSpPr>
        <p:spPr>
          <a:xfrm>
            <a:off x="438912" y="5038344"/>
            <a:ext cx="11320272" cy="265176"/>
          </a:xfrm>
          <a:prstGeom prst="roundRect">
            <a:avLst>
              <a:gd name="adj" fmla="val 37931"/>
            </a:avLst>
          </a:prstGeom>
          <a:solidFill>
            <a:srgbClr val="FFFFFF"/>
          </a:solidFill>
          <a:ln w="10160">
            <a:solidFill>
              <a:srgbClr val="E5E7EB"/>
            </a:solidFill>
            <a:prstDash val="solid"/>
          </a:ln>
        </p:spPr>
        <p:txBody>
          <a:bodyPr/>
          <a:lstStyle/>
          <a:p>
            <a:endParaRPr lang="en-IN"/>
          </a:p>
        </p:txBody>
      </p:sp>
      <p:sp>
        <p:nvSpPr>
          <p:cNvPr id="80" name="Shape 58">
            <a:extLst>
              <a:ext uri="{FF2B5EF4-FFF2-40B4-BE49-F238E27FC236}">
                <a16:creationId xmlns:a16="http://schemas.microsoft.com/office/drawing/2014/main" id="{CE32933B-D11F-3812-6C83-9CCEC0199F54}"/>
              </a:ext>
            </a:extLst>
          </p:cNvPr>
          <p:cNvSpPr/>
          <p:nvPr/>
        </p:nvSpPr>
        <p:spPr>
          <a:xfrm>
            <a:off x="594360" y="5102352"/>
            <a:ext cx="128016" cy="128016"/>
          </a:xfrm>
          <a:prstGeom prst="ellipse">
            <a:avLst/>
          </a:prstGeom>
          <a:solidFill>
            <a:srgbClr val="F59E0B"/>
          </a:solidFill>
          <a:ln w="12700">
            <a:solidFill>
              <a:srgbClr val="F59E0B">
                <a:alpha val="0"/>
              </a:srgbClr>
            </a:solidFill>
            <a:prstDash val="solid"/>
          </a:ln>
        </p:spPr>
        <p:txBody>
          <a:bodyPr/>
          <a:lstStyle/>
          <a:p>
            <a:endParaRPr lang="en-IN"/>
          </a:p>
        </p:txBody>
      </p:sp>
      <p:sp>
        <p:nvSpPr>
          <p:cNvPr id="81" name="Text 59">
            <a:extLst>
              <a:ext uri="{FF2B5EF4-FFF2-40B4-BE49-F238E27FC236}">
                <a16:creationId xmlns:a16="http://schemas.microsoft.com/office/drawing/2014/main" id="{1A8E7EC8-DE4D-F4E1-865D-198B5EECE9CB}"/>
              </a:ext>
            </a:extLst>
          </p:cNvPr>
          <p:cNvSpPr/>
          <p:nvPr/>
        </p:nvSpPr>
        <p:spPr>
          <a:xfrm>
            <a:off x="246888" y="5358384"/>
            <a:ext cx="822960" cy="274320"/>
          </a:xfrm>
          <a:prstGeom prst="rect">
            <a:avLst/>
          </a:prstGeom>
          <a:noFill/>
          <a:ln/>
        </p:spPr>
        <p:txBody>
          <a:bodyPr wrap="square" lIns="508" tIns="508" rIns="508" bIns="508" rtlCol="0" anchor="ctr">
            <a:normAutofit/>
          </a:bodyPr>
          <a:lstStyle/>
          <a:p>
            <a:pPr marL="0" indent="0" algn="ctr">
              <a:buNone/>
            </a:pPr>
            <a:r>
              <a:rPr lang="en-US" sz="700" b="1" dirty="0">
                <a:solidFill>
                  <a:srgbClr val="C00000"/>
                </a:solidFill>
                <a:latin typeface="Aptos" pitchFamily="34" charset="0"/>
                <a:ea typeface="Aptos" pitchFamily="34" charset="-122"/>
                <a:cs typeface="Aptos" pitchFamily="34" charset="-120"/>
              </a:rPr>
              <a:t>Jul</a:t>
            </a:r>
            <a:endParaRPr lang="en-US" sz="700" dirty="0"/>
          </a:p>
          <a:p>
            <a:pPr marL="0" indent="0" algn="ctr">
              <a:buNone/>
            </a:pPr>
            <a:r>
              <a:rPr lang="en-US" sz="700" b="1" dirty="0">
                <a:solidFill>
                  <a:srgbClr val="C00000"/>
                </a:solidFill>
                <a:latin typeface="Aptos" pitchFamily="34" charset="0"/>
                <a:ea typeface="Aptos" pitchFamily="34" charset="-122"/>
                <a:cs typeface="Aptos" pitchFamily="34" charset="-120"/>
              </a:rPr>
              <a:t>Foundation</a:t>
            </a:r>
            <a:endParaRPr lang="en-US" sz="700" dirty="0"/>
          </a:p>
        </p:txBody>
      </p:sp>
      <p:sp>
        <p:nvSpPr>
          <p:cNvPr id="82" name="Shape 60">
            <a:extLst>
              <a:ext uri="{FF2B5EF4-FFF2-40B4-BE49-F238E27FC236}">
                <a16:creationId xmlns:a16="http://schemas.microsoft.com/office/drawing/2014/main" id="{57E9DB84-930A-E4C8-AF56-5041DB509A63}"/>
              </a:ext>
            </a:extLst>
          </p:cNvPr>
          <p:cNvSpPr/>
          <p:nvPr/>
        </p:nvSpPr>
        <p:spPr>
          <a:xfrm>
            <a:off x="3374136" y="5102352"/>
            <a:ext cx="128016" cy="128016"/>
          </a:xfrm>
          <a:prstGeom prst="ellipse">
            <a:avLst/>
          </a:prstGeom>
          <a:solidFill>
            <a:srgbClr val="FF7235"/>
          </a:solidFill>
          <a:ln w="12700">
            <a:solidFill>
              <a:srgbClr val="FF7235">
                <a:alpha val="0"/>
              </a:srgbClr>
            </a:solidFill>
            <a:prstDash val="solid"/>
          </a:ln>
        </p:spPr>
        <p:txBody>
          <a:bodyPr/>
          <a:lstStyle/>
          <a:p>
            <a:endParaRPr lang="en-IN"/>
          </a:p>
        </p:txBody>
      </p:sp>
      <p:sp>
        <p:nvSpPr>
          <p:cNvPr id="83" name="Text 61">
            <a:extLst>
              <a:ext uri="{FF2B5EF4-FFF2-40B4-BE49-F238E27FC236}">
                <a16:creationId xmlns:a16="http://schemas.microsoft.com/office/drawing/2014/main" id="{20F84FEE-8B8A-EFB3-6CA7-4FCE93222640}"/>
              </a:ext>
            </a:extLst>
          </p:cNvPr>
          <p:cNvSpPr/>
          <p:nvPr/>
        </p:nvSpPr>
        <p:spPr>
          <a:xfrm>
            <a:off x="3026664" y="5358384"/>
            <a:ext cx="822960" cy="274320"/>
          </a:xfrm>
          <a:prstGeom prst="rect">
            <a:avLst/>
          </a:prstGeom>
          <a:noFill/>
          <a:ln/>
        </p:spPr>
        <p:txBody>
          <a:bodyPr wrap="square" lIns="508" tIns="508" rIns="508" bIns="508" rtlCol="0" anchor="ctr">
            <a:normAutofit/>
          </a:bodyPr>
          <a:lstStyle/>
          <a:p>
            <a:pPr marL="0" indent="0" algn="ctr">
              <a:buNone/>
            </a:pPr>
            <a:r>
              <a:rPr lang="en-US" sz="700" dirty="0">
                <a:solidFill>
                  <a:srgbClr val="4B5563"/>
                </a:solidFill>
                <a:latin typeface="Aptos" pitchFamily="34" charset="0"/>
                <a:ea typeface="Aptos" pitchFamily="34" charset="-122"/>
                <a:cs typeface="Aptos" pitchFamily="34" charset="-120"/>
              </a:rPr>
              <a:t>Aug-Sep</a:t>
            </a:r>
            <a:endParaRPr lang="en-US" sz="700" dirty="0"/>
          </a:p>
          <a:p>
            <a:pPr marL="0" indent="0" algn="ctr">
              <a:buNone/>
            </a:pPr>
            <a:r>
              <a:rPr lang="en-US" sz="700" dirty="0">
                <a:solidFill>
                  <a:srgbClr val="4B5563"/>
                </a:solidFill>
                <a:latin typeface="Aptos" pitchFamily="34" charset="0"/>
                <a:ea typeface="Aptos" pitchFamily="34" charset="-122"/>
                <a:cs typeface="Aptos" pitchFamily="34" charset="-120"/>
              </a:rPr>
              <a:t>Critical</a:t>
            </a:r>
            <a:endParaRPr lang="en-US" sz="700" dirty="0"/>
          </a:p>
        </p:txBody>
      </p:sp>
      <p:sp>
        <p:nvSpPr>
          <p:cNvPr id="84" name="Shape 62">
            <a:extLst>
              <a:ext uri="{FF2B5EF4-FFF2-40B4-BE49-F238E27FC236}">
                <a16:creationId xmlns:a16="http://schemas.microsoft.com/office/drawing/2014/main" id="{ADCE428E-DA80-76B8-F5C5-E5CDBF2B2E4E}"/>
              </a:ext>
            </a:extLst>
          </p:cNvPr>
          <p:cNvSpPr/>
          <p:nvPr/>
        </p:nvSpPr>
        <p:spPr>
          <a:xfrm>
            <a:off x="6135624" y="5102352"/>
            <a:ext cx="128016" cy="128016"/>
          </a:xfrm>
          <a:prstGeom prst="ellipse">
            <a:avLst/>
          </a:prstGeom>
          <a:solidFill>
            <a:srgbClr val="7030A0"/>
          </a:solidFill>
          <a:ln w="12700">
            <a:solidFill>
              <a:srgbClr val="7030A0">
                <a:alpha val="0"/>
              </a:srgbClr>
            </a:solidFill>
            <a:prstDash val="solid"/>
          </a:ln>
        </p:spPr>
        <p:txBody>
          <a:bodyPr/>
          <a:lstStyle/>
          <a:p>
            <a:endParaRPr lang="en-IN"/>
          </a:p>
        </p:txBody>
      </p:sp>
      <p:sp>
        <p:nvSpPr>
          <p:cNvPr id="85" name="Text 63">
            <a:extLst>
              <a:ext uri="{FF2B5EF4-FFF2-40B4-BE49-F238E27FC236}">
                <a16:creationId xmlns:a16="http://schemas.microsoft.com/office/drawing/2014/main" id="{F4066BD3-6340-1B0F-89B4-929763118D7A}"/>
              </a:ext>
            </a:extLst>
          </p:cNvPr>
          <p:cNvSpPr/>
          <p:nvPr/>
        </p:nvSpPr>
        <p:spPr>
          <a:xfrm>
            <a:off x="5788152" y="5358384"/>
            <a:ext cx="822960" cy="274320"/>
          </a:xfrm>
          <a:prstGeom prst="rect">
            <a:avLst/>
          </a:prstGeom>
          <a:noFill/>
          <a:ln/>
        </p:spPr>
        <p:txBody>
          <a:bodyPr wrap="square" lIns="508" tIns="508" rIns="508" bIns="508" rtlCol="0" anchor="ctr">
            <a:normAutofit/>
          </a:bodyPr>
          <a:lstStyle/>
          <a:p>
            <a:pPr marL="0" indent="0" algn="ctr">
              <a:buNone/>
            </a:pPr>
            <a:r>
              <a:rPr lang="en-US" sz="700" dirty="0">
                <a:solidFill>
                  <a:srgbClr val="4B5563"/>
                </a:solidFill>
                <a:latin typeface="Aptos" pitchFamily="34" charset="0"/>
                <a:ea typeface="Aptos" pitchFamily="34" charset="-122"/>
                <a:cs typeface="Aptos" pitchFamily="34" charset="-120"/>
              </a:rPr>
              <a:t>Oct-Nov</a:t>
            </a:r>
            <a:endParaRPr lang="en-US" sz="700" dirty="0"/>
          </a:p>
          <a:p>
            <a:pPr marL="0" indent="0" algn="ctr">
              <a:buNone/>
            </a:pPr>
            <a:r>
              <a:rPr lang="en-US" sz="700" dirty="0">
                <a:solidFill>
                  <a:srgbClr val="4B5563"/>
                </a:solidFill>
                <a:latin typeface="Aptos" pitchFamily="34" charset="0"/>
                <a:ea typeface="Aptos" pitchFamily="34" charset="-122"/>
                <a:cs typeface="Aptos" pitchFamily="34" charset="-120"/>
              </a:rPr>
              <a:t>Scale</a:t>
            </a:r>
            <a:endParaRPr lang="en-US" sz="700" dirty="0"/>
          </a:p>
        </p:txBody>
      </p:sp>
      <p:sp>
        <p:nvSpPr>
          <p:cNvPr id="86" name="Shape 64">
            <a:extLst>
              <a:ext uri="{FF2B5EF4-FFF2-40B4-BE49-F238E27FC236}">
                <a16:creationId xmlns:a16="http://schemas.microsoft.com/office/drawing/2014/main" id="{7D1CC541-6A73-DB2F-01C5-2CF97E8FDAFE}"/>
              </a:ext>
            </a:extLst>
          </p:cNvPr>
          <p:cNvSpPr/>
          <p:nvPr/>
        </p:nvSpPr>
        <p:spPr>
          <a:xfrm>
            <a:off x="8869680" y="5102352"/>
            <a:ext cx="128016" cy="128016"/>
          </a:xfrm>
          <a:prstGeom prst="ellipse">
            <a:avLst/>
          </a:prstGeom>
          <a:solidFill>
            <a:srgbClr val="205273"/>
          </a:solidFill>
          <a:ln w="12700">
            <a:solidFill>
              <a:srgbClr val="205273">
                <a:alpha val="0"/>
              </a:srgbClr>
            </a:solidFill>
            <a:prstDash val="solid"/>
          </a:ln>
        </p:spPr>
        <p:txBody>
          <a:bodyPr/>
          <a:lstStyle/>
          <a:p>
            <a:endParaRPr lang="en-IN"/>
          </a:p>
        </p:txBody>
      </p:sp>
      <p:sp>
        <p:nvSpPr>
          <p:cNvPr id="87" name="Text 65">
            <a:extLst>
              <a:ext uri="{FF2B5EF4-FFF2-40B4-BE49-F238E27FC236}">
                <a16:creationId xmlns:a16="http://schemas.microsoft.com/office/drawing/2014/main" id="{57CADDF8-C9E6-E833-7799-0973D54AE4CD}"/>
              </a:ext>
            </a:extLst>
          </p:cNvPr>
          <p:cNvSpPr/>
          <p:nvPr/>
        </p:nvSpPr>
        <p:spPr>
          <a:xfrm>
            <a:off x="8522208" y="5358384"/>
            <a:ext cx="822960" cy="274320"/>
          </a:xfrm>
          <a:prstGeom prst="rect">
            <a:avLst/>
          </a:prstGeom>
          <a:noFill/>
          <a:ln/>
        </p:spPr>
        <p:txBody>
          <a:bodyPr wrap="square" lIns="508" tIns="508" rIns="508" bIns="508" rtlCol="0" anchor="ctr">
            <a:normAutofit/>
          </a:bodyPr>
          <a:lstStyle/>
          <a:p>
            <a:pPr marL="0" indent="0" algn="ctr">
              <a:buNone/>
            </a:pPr>
            <a:r>
              <a:rPr lang="en-US" sz="700" dirty="0">
                <a:solidFill>
                  <a:srgbClr val="4B5563"/>
                </a:solidFill>
                <a:latin typeface="Aptos" pitchFamily="34" charset="0"/>
                <a:ea typeface="Aptos" pitchFamily="34" charset="-122"/>
                <a:cs typeface="Aptos" pitchFamily="34" charset="-120"/>
              </a:rPr>
              <a:t>Dec-Feb</a:t>
            </a:r>
            <a:endParaRPr lang="en-US" sz="700" dirty="0"/>
          </a:p>
          <a:p>
            <a:pPr marL="0" indent="0" algn="ctr">
              <a:buNone/>
            </a:pPr>
            <a:r>
              <a:rPr lang="en-US" sz="700" dirty="0">
                <a:solidFill>
                  <a:srgbClr val="4B5563"/>
                </a:solidFill>
                <a:latin typeface="Aptos" pitchFamily="34" charset="0"/>
                <a:ea typeface="Aptos" pitchFamily="34" charset="-122"/>
                <a:cs typeface="Aptos" pitchFamily="34" charset="-120"/>
              </a:rPr>
              <a:t>Tail cleanup</a:t>
            </a:r>
            <a:endParaRPr lang="en-US" sz="700" dirty="0"/>
          </a:p>
        </p:txBody>
      </p:sp>
      <p:sp>
        <p:nvSpPr>
          <p:cNvPr id="88" name="Shape 66">
            <a:extLst>
              <a:ext uri="{FF2B5EF4-FFF2-40B4-BE49-F238E27FC236}">
                <a16:creationId xmlns:a16="http://schemas.microsoft.com/office/drawing/2014/main" id="{8486F1F6-7594-026F-5AFD-ACC01D78E802}"/>
              </a:ext>
            </a:extLst>
          </p:cNvPr>
          <p:cNvSpPr/>
          <p:nvPr/>
        </p:nvSpPr>
        <p:spPr>
          <a:xfrm>
            <a:off x="11137392" y="5102352"/>
            <a:ext cx="128016" cy="128016"/>
          </a:xfrm>
          <a:prstGeom prst="ellipse">
            <a:avLst/>
          </a:prstGeom>
          <a:solidFill>
            <a:srgbClr val="2D9E5F"/>
          </a:solidFill>
          <a:ln w="12700">
            <a:solidFill>
              <a:srgbClr val="2D9E5F">
                <a:alpha val="0"/>
              </a:srgbClr>
            </a:solidFill>
            <a:prstDash val="solid"/>
          </a:ln>
        </p:spPr>
        <p:txBody>
          <a:bodyPr/>
          <a:lstStyle/>
          <a:p>
            <a:endParaRPr lang="en-IN"/>
          </a:p>
        </p:txBody>
      </p:sp>
      <p:sp>
        <p:nvSpPr>
          <p:cNvPr id="89" name="Text 67">
            <a:extLst>
              <a:ext uri="{FF2B5EF4-FFF2-40B4-BE49-F238E27FC236}">
                <a16:creationId xmlns:a16="http://schemas.microsoft.com/office/drawing/2014/main" id="{5892AC37-1F7A-FC50-B8A8-0165ED454DD3}"/>
              </a:ext>
            </a:extLst>
          </p:cNvPr>
          <p:cNvSpPr/>
          <p:nvPr/>
        </p:nvSpPr>
        <p:spPr>
          <a:xfrm>
            <a:off x="10789920" y="5358384"/>
            <a:ext cx="822960" cy="274320"/>
          </a:xfrm>
          <a:prstGeom prst="rect">
            <a:avLst/>
          </a:prstGeom>
          <a:noFill/>
          <a:ln/>
        </p:spPr>
        <p:txBody>
          <a:bodyPr wrap="square" lIns="508" tIns="508" rIns="508" bIns="508" rtlCol="0" anchor="ctr">
            <a:normAutofit/>
          </a:bodyPr>
          <a:lstStyle/>
          <a:p>
            <a:pPr marL="0" indent="0" algn="ctr">
              <a:buNone/>
            </a:pPr>
            <a:r>
              <a:rPr lang="en-US" sz="700" dirty="0">
                <a:solidFill>
                  <a:srgbClr val="4B5563"/>
                </a:solidFill>
                <a:latin typeface="Aptos" pitchFamily="34" charset="0"/>
                <a:ea typeface="Aptos" pitchFamily="34" charset="-122"/>
                <a:cs typeface="Aptos" pitchFamily="34" charset="-120"/>
              </a:rPr>
              <a:t>Hypercare</a:t>
            </a:r>
            <a:endParaRPr lang="en-US" sz="700" dirty="0"/>
          </a:p>
        </p:txBody>
      </p:sp>
      <p:sp>
        <p:nvSpPr>
          <p:cNvPr id="90" name="Shape 68">
            <a:extLst>
              <a:ext uri="{FF2B5EF4-FFF2-40B4-BE49-F238E27FC236}">
                <a16:creationId xmlns:a16="http://schemas.microsoft.com/office/drawing/2014/main" id="{521E3EAB-3EAA-8057-346E-2145FFAFC4DC}"/>
              </a:ext>
            </a:extLst>
          </p:cNvPr>
          <p:cNvSpPr/>
          <p:nvPr/>
        </p:nvSpPr>
        <p:spPr>
          <a:xfrm>
            <a:off x="713232" y="5166360"/>
            <a:ext cx="10424160" cy="0"/>
          </a:xfrm>
          <a:prstGeom prst="line">
            <a:avLst/>
          </a:prstGeom>
          <a:noFill/>
          <a:ln w="17780">
            <a:solidFill>
              <a:srgbClr val="D1D5DB"/>
            </a:solidFill>
            <a:prstDash val="solid"/>
            <a:headEnd type="none"/>
            <a:tailEnd type="none"/>
          </a:ln>
        </p:spPr>
        <p:txBody>
          <a:bodyPr/>
          <a:lstStyle/>
          <a:p>
            <a:endParaRPr lang="en-IN"/>
          </a:p>
        </p:txBody>
      </p:sp>
      <p:sp>
        <p:nvSpPr>
          <p:cNvPr id="91" name="Text 69">
            <a:extLst>
              <a:ext uri="{FF2B5EF4-FFF2-40B4-BE49-F238E27FC236}">
                <a16:creationId xmlns:a16="http://schemas.microsoft.com/office/drawing/2014/main" id="{08D96535-939A-C3CC-A104-FE82BF248AB2}"/>
              </a:ext>
            </a:extLst>
          </p:cNvPr>
          <p:cNvSpPr/>
          <p:nvPr/>
        </p:nvSpPr>
        <p:spPr>
          <a:xfrm>
            <a:off x="457200" y="5705856"/>
            <a:ext cx="3291840" cy="219456"/>
          </a:xfrm>
          <a:prstGeom prst="rect">
            <a:avLst/>
          </a:prstGeom>
          <a:noFill/>
          <a:ln/>
        </p:spPr>
        <p:txBody>
          <a:bodyPr wrap="square" lIns="508" tIns="508" rIns="508" bIns="508" rtlCol="0" anchor="ctr">
            <a:normAutofit/>
          </a:bodyPr>
          <a:lstStyle/>
          <a:p>
            <a:pPr marL="0" indent="0" algn="l">
              <a:buNone/>
            </a:pPr>
            <a:r>
              <a:rPr lang="en-US" sz="1150" b="1" dirty="0">
                <a:solidFill>
                  <a:srgbClr val="C00000"/>
                </a:solidFill>
                <a:latin typeface="Aptos" pitchFamily="34" charset="0"/>
                <a:ea typeface="Aptos" pitchFamily="34" charset="-122"/>
                <a:cs typeface="Aptos" pitchFamily="34" charset="-120"/>
              </a:rPr>
              <a:t>SteerCo Attention / Decisions Needed</a:t>
            </a:r>
            <a:endParaRPr lang="en-US" sz="1150" dirty="0"/>
          </a:p>
        </p:txBody>
      </p:sp>
      <p:sp>
        <p:nvSpPr>
          <p:cNvPr id="92" name="Shape 70">
            <a:extLst>
              <a:ext uri="{FF2B5EF4-FFF2-40B4-BE49-F238E27FC236}">
                <a16:creationId xmlns:a16="http://schemas.microsoft.com/office/drawing/2014/main" id="{0773D7C4-557A-0408-3F15-CADE2B650D26}"/>
              </a:ext>
            </a:extLst>
          </p:cNvPr>
          <p:cNvSpPr/>
          <p:nvPr/>
        </p:nvSpPr>
        <p:spPr>
          <a:xfrm>
            <a:off x="438912" y="5971032"/>
            <a:ext cx="3703320" cy="621792"/>
          </a:xfrm>
          <a:prstGeom prst="roundRect">
            <a:avLst>
              <a:gd name="adj" fmla="val 20588"/>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93" name="Shape 71">
            <a:extLst>
              <a:ext uri="{FF2B5EF4-FFF2-40B4-BE49-F238E27FC236}">
                <a16:creationId xmlns:a16="http://schemas.microsoft.com/office/drawing/2014/main" id="{B39A06E3-E215-ECC4-E3F2-1028B24251C3}"/>
              </a:ext>
            </a:extLst>
          </p:cNvPr>
          <p:cNvSpPr/>
          <p:nvPr/>
        </p:nvSpPr>
        <p:spPr>
          <a:xfrm>
            <a:off x="566928" y="6108192"/>
            <a:ext cx="292608" cy="292608"/>
          </a:xfrm>
          <a:prstGeom prst="ellipse">
            <a:avLst/>
          </a:prstGeom>
          <a:solidFill>
            <a:srgbClr val="C00000"/>
          </a:solidFill>
          <a:ln w="12700">
            <a:solidFill>
              <a:srgbClr val="C00000">
                <a:alpha val="0"/>
              </a:srgbClr>
            </a:solidFill>
            <a:prstDash val="solid"/>
          </a:ln>
        </p:spPr>
        <p:txBody>
          <a:bodyPr/>
          <a:lstStyle/>
          <a:p>
            <a:endParaRPr lang="en-IN"/>
          </a:p>
        </p:txBody>
      </p:sp>
      <p:sp>
        <p:nvSpPr>
          <p:cNvPr id="94" name="Text 72">
            <a:extLst>
              <a:ext uri="{FF2B5EF4-FFF2-40B4-BE49-F238E27FC236}">
                <a16:creationId xmlns:a16="http://schemas.microsoft.com/office/drawing/2014/main" id="{849699C3-34DB-960A-7BEC-628F6B1038F6}"/>
              </a:ext>
            </a:extLst>
          </p:cNvPr>
          <p:cNvSpPr/>
          <p:nvPr/>
        </p:nvSpPr>
        <p:spPr>
          <a:xfrm>
            <a:off x="566928" y="6214872"/>
            <a:ext cx="292608" cy="109728"/>
          </a:xfrm>
          <a:prstGeom prst="rect">
            <a:avLst/>
          </a:prstGeom>
          <a:noFill/>
          <a:ln/>
        </p:spPr>
        <p:txBody>
          <a:bodyPr wrap="square" lIns="508" tIns="508" rIns="508" bIns="508" rtlCol="0" anchor="ctr">
            <a:normAutofit fontScale="92500"/>
          </a:bodyPr>
          <a:lstStyle/>
          <a:p>
            <a:pPr marL="0" indent="0" algn="ctr">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95" name="Text 73">
            <a:extLst>
              <a:ext uri="{FF2B5EF4-FFF2-40B4-BE49-F238E27FC236}">
                <a16:creationId xmlns:a16="http://schemas.microsoft.com/office/drawing/2014/main" id="{BEC7F115-AA9E-F6C5-EEEE-6859AAFF2C5A}"/>
              </a:ext>
            </a:extLst>
          </p:cNvPr>
          <p:cNvSpPr/>
          <p:nvPr/>
        </p:nvSpPr>
        <p:spPr>
          <a:xfrm>
            <a:off x="941832" y="6062472"/>
            <a:ext cx="3081528" cy="146304"/>
          </a:xfrm>
          <a:prstGeom prst="rect">
            <a:avLst/>
          </a:prstGeom>
          <a:noFill/>
          <a:ln/>
        </p:spPr>
        <p:txBody>
          <a:bodyPr wrap="square" lIns="508" tIns="508" rIns="508" bIns="508" rtlCol="0" anchor="ctr">
            <a:normAutofit/>
          </a:bodyPr>
          <a:lstStyle/>
          <a:p>
            <a:pPr marL="0" indent="0" algn="l">
              <a:buNone/>
            </a:pPr>
            <a:r>
              <a:rPr lang="en-US" sz="920" b="1" dirty="0">
                <a:solidFill>
                  <a:srgbClr val="1F2937"/>
                </a:solidFill>
                <a:latin typeface="Aptos" pitchFamily="34" charset="0"/>
                <a:ea typeface="Aptos" pitchFamily="34" charset="-122"/>
                <a:cs typeface="Aptos" pitchFamily="34" charset="-120"/>
              </a:rPr>
              <a:t>Budget closure</a:t>
            </a:r>
            <a:endParaRPr lang="en-US" sz="920" dirty="0"/>
          </a:p>
        </p:txBody>
      </p:sp>
      <p:sp>
        <p:nvSpPr>
          <p:cNvPr id="96" name="Text 74">
            <a:extLst>
              <a:ext uri="{FF2B5EF4-FFF2-40B4-BE49-F238E27FC236}">
                <a16:creationId xmlns:a16="http://schemas.microsoft.com/office/drawing/2014/main" id="{5A352EEC-0F8F-FA33-E9BE-F998689F58AC}"/>
              </a:ext>
            </a:extLst>
          </p:cNvPr>
          <p:cNvSpPr/>
          <p:nvPr/>
        </p:nvSpPr>
        <p:spPr>
          <a:xfrm>
            <a:off x="941832" y="6254496"/>
            <a:ext cx="3081528" cy="237744"/>
          </a:xfrm>
          <a:prstGeom prst="rect">
            <a:avLst/>
          </a:prstGeom>
          <a:noFill/>
          <a:ln/>
        </p:spPr>
        <p:txBody>
          <a:bodyPr wrap="square" lIns="508" tIns="508" rIns="508" bIns="508" rtlCol="0" anchor="ctr">
            <a:normAutofit/>
          </a:bodyPr>
          <a:lstStyle/>
          <a:p>
            <a:pPr marL="0" indent="0" algn="l">
              <a:buNone/>
            </a:pPr>
            <a:r>
              <a:rPr lang="en-US" sz="720" dirty="0">
                <a:solidFill>
                  <a:srgbClr val="4B5563"/>
                </a:solidFill>
                <a:latin typeface="Aptos" pitchFamily="34" charset="0"/>
                <a:ea typeface="Aptos" pitchFamily="34" charset="-122"/>
                <a:cs typeface="Aptos" pitchFamily="34" charset="-120"/>
              </a:rPr>
              <a:t>Confirm ₹3 Cr approval path and expected approval date.</a:t>
            </a:r>
            <a:endParaRPr lang="en-US" sz="720" dirty="0"/>
          </a:p>
        </p:txBody>
      </p:sp>
      <p:sp>
        <p:nvSpPr>
          <p:cNvPr id="97" name="Shape 75">
            <a:extLst>
              <a:ext uri="{FF2B5EF4-FFF2-40B4-BE49-F238E27FC236}">
                <a16:creationId xmlns:a16="http://schemas.microsoft.com/office/drawing/2014/main" id="{FE6C251A-DA6D-62C9-D8C2-F848DC432907}"/>
              </a:ext>
            </a:extLst>
          </p:cNvPr>
          <p:cNvSpPr/>
          <p:nvPr/>
        </p:nvSpPr>
        <p:spPr>
          <a:xfrm>
            <a:off x="4242816" y="5971032"/>
            <a:ext cx="3703320" cy="621792"/>
          </a:xfrm>
          <a:prstGeom prst="roundRect">
            <a:avLst>
              <a:gd name="adj" fmla="val 20588"/>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98" name="Shape 76">
            <a:extLst>
              <a:ext uri="{FF2B5EF4-FFF2-40B4-BE49-F238E27FC236}">
                <a16:creationId xmlns:a16="http://schemas.microsoft.com/office/drawing/2014/main" id="{BA37C3E0-07F0-0382-E670-9FA650451CC6}"/>
              </a:ext>
            </a:extLst>
          </p:cNvPr>
          <p:cNvSpPr/>
          <p:nvPr/>
        </p:nvSpPr>
        <p:spPr>
          <a:xfrm>
            <a:off x="4370832" y="6108192"/>
            <a:ext cx="292608" cy="292608"/>
          </a:xfrm>
          <a:prstGeom prst="ellipse">
            <a:avLst/>
          </a:prstGeom>
          <a:solidFill>
            <a:srgbClr val="F59E0B"/>
          </a:solidFill>
          <a:ln w="12700">
            <a:solidFill>
              <a:srgbClr val="F59E0B">
                <a:alpha val="0"/>
              </a:srgbClr>
            </a:solidFill>
            <a:prstDash val="solid"/>
          </a:ln>
        </p:spPr>
        <p:txBody>
          <a:bodyPr/>
          <a:lstStyle/>
          <a:p>
            <a:endParaRPr lang="en-IN"/>
          </a:p>
        </p:txBody>
      </p:sp>
      <p:sp>
        <p:nvSpPr>
          <p:cNvPr id="99" name="Text 77">
            <a:extLst>
              <a:ext uri="{FF2B5EF4-FFF2-40B4-BE49-F238E27FC236}">
                <a16:creationId xmlns:a16="http://schemas.microsoft.com/office/drawing/2014/main" id="{BCB8191D-5C85-0712-F6CE-959FEF1BB41E}"/>
              </a:ext>
            </a:extLst>
          </p:cNvPr>
          <p:cNvSpPr/>
          <p:nvPr/>
        </p:nvSpPr>
        <p:spPr>
          <a:xfrm>
            <a:off x="4370832" y="6214872"/>
            <a:ext cx="292608" cy="109728"/>
          </a:xfrm>
          <a:prstGeom prst="rect">
            <a:avLst/>
          </a:prstGeom>
          <a:noFill/>
          <a:ln/>
        </p:spPr>
        <p:txBody>
          <a:bodyPr wrap="square" lIns="508" tIns="508" rIns="508" bIns="508" rtlCol="0" anchor="ctr">
            <a:normAutofit fontScale="92500"/>
          </a:bodyPr>
          <a:lstStyle/>
          <a:p>
            <a:pPr marL="0" indent="0" algn="ctr">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100" name="Text 78">
            <a:extLst>
              <a:ext uri="{FF2B5EF4-FFF2-40B4-BE49-F238E27FC236}">
                <a16:creationId xmlns:a16="http://schemas.microsoft.com/office/drawing/2014/main" id="{68512F64-77C2-FE5E-0453-CA3D338864CA}"/>
              </a:ext>
            </a:extLst>
          </p:cNvPr>
          <p:cNvSpPr/>
          <p:nvPr/>
        </p:nvSpPr>
        <p:spPr>
          <a:xfrm>
            <a:off x="4745736" y="6062472"/>
            <a:ext cx="3081528" cy="146304"/>
          </a:xfrm>
          <a:prstGeom prst="rect">
            <a:avLst/>
          </a:prstGeom>
          <a:noFill/>
          <a:ln/>
        </p:spPr>
        <p:txBody>
          <a:bodyPr wrap="square" lIns="508" tIns="508" rIns="508" bIns="508" rtlCol="0" anchor="ctr">
            <a:normAutofit/>
          </a:bodyPr>
          <a:lstStyle/>
          <a:p>
            <a:pPr marL="0" indent="0" algn="l">
              <a:buNone/>
            </a:pPr>
            <a:r>
              <a:rPr lang="en-US" sz="920" b="1" dirty="0">
                <a:solidFill>
                  <a:srgbClr val="1F2937"/>
                </a:solidFill>
                <a:latin typeface="Aptos" pitchFamily="34" charset="0"/>
                <a:ea typeface="Aptos" pitchFamily="34" charset="-122"/>
                <a:cs typeface="Aptos" pitchFamily="34" charset="-120"/>
              </a:rPr>
              <a:t>Dependency ownership</a:t>
            </a:r>
            <a:endParaRPr lang="en-US" sz="920" dirty="0"/>
          </a:p>
        </p:txBody>
      </p:sp>
      <p:sp>
        <p:nvSpPr>
          <p:cNvPr id="101" name="Text 79">
            <a:extLst>
              <a:ext uri="{FF2B5EF4-FFF2-40B4-BE49-F238E27FC236}">
                <a16:creationId xmlns:a16="http://schemas.microsoft.com/office/drawing/2014/main" id="{FED5AE47-EA64-C1A9-F802-07F4F839986D}"/>
              </a:ext>
            </a:extLst>
          </p:cNvPr>
          <p:cNvSpPr/>
          <p:nvPr/>
        </p:nvSpPr>
        <p:spPr>
          <a:xfrm>
            <a:off x="4745736" y="6254496"/>
            <a:ext cx="3081528" cy="237744"/>
          </a:xfrm>
          <a:prstGeom prst="rect">
            <a:avLst/>
          </a:prstGeom>
          <a:noFill/>
          <a:ln/>
        </p:spPr>
        <p:txBody>
          <a:bodyPr wrap="square" lIns="508" tIns="508" rIns="508" bIns="508" rtlCol="0" anchor="ctr">
            <a:normAutofit/>
          </a:bodyPr>
          <a:lstStyle/>
          <a:p>
            <a:pPr marL="0" indent="0" algn="l">
              <a:buNone/>
            </a:pPr>
            <a:r>
              <a:rPr lang="en-US" sz="720" dirty="0">
                <a:solidFill>
                  <a:srgbClr val="4B5563"/>
                </a:solidFill>
                <a:latin typeface="Aptos" pitchFamily="34" charset="0"/>
                <a:ea typeface="Aptos" pitchFamily="34" charset="-122"/>
                <a:cs typeface="Aptos" pitchFamily="34" charset="-120"/>
              </a:rPr>
              <a:t>Assign owners for CAE, AMOS, LifeKaPlan, ADP, bank and HR dependencies.</a:t>
            </a:r>
            <a:endParaRPr lang="en-US" sz="720" dirty="0"/>
          </a:p>
        </p:txBody>
      </p:sp>
      <p:sp>
        <p:nvSpPr>
          <p:cNvPr id="102" name="Shape 80">
            <a:extLst>
              <a:ext uri="{FF2B5EF4-FFF2-40B4-BE49-F238E27FC236}">
                <a16:creationId xmlns:a16="http://schemas.microsoft.com/office/drawing/2014/main" id="{1B5F92EF-FA46-2AFE-3EDA-C26FE4507D00}"/>
              </a:ext>
            </a:extLst>
          </p:cNvPr>
          <p:cNvSpPr/>
          <p:nvPr/>
        </p:nvSpPr>
        <p:spPr>
          <a:xfrm>
            <a:off x="8046720" y="5971032"/>
            <a:ext cx="3703320" cy="621792"/>
          </a:xfrm>
          <a:prstGeom prst="roundRect">
            <a:avLst>
              <a:gd name="adj" fmla="val 20588"/>
            </a:avLst>
          </a:prstGeom>
          <a:solidFill>
            <a:srgbClr val="FFFFFF"/>
          </a:solidFill>
          <a:ln w="10160">
            <a:solidFill>
              <a:srgbClr val="E5E7EB"/>
            </a:solidFill>
            <a:prstDash val="solid"/>
          </a:ln>
          <a:effectLst>
            <a:outerShdw algn="bl" rotWithShape="0">
              <a:srgbClr val="D1D5DB">
                <a:alpha val="0"/>
              </a:srgbClr>
            </a:outerShdw>
          </a:effectLst>
        </p:spPr>
        <p:txBody>
          <a:bodyPr/>
          <a:lstStyle/>
          <a:p>
            <a:endParaRPr lang="en-IN"/>
          </a:p>
        </p:txBody>
      </p:sp>
      <p:sp>
        <p:nvSpPr>
          <p:cNvPr id="103" name="Shape 81">
            <a:extLst>
              <a:ext uri="{FF2B5EF4-FFF2-40B4-BE49-F238E27FC236}">
                <a16:creationId xmlns:a16="http://schemas.microsoft.com/office/drawing/2014/main" id="{82D797B7-47F0-52D8-4159-94D97F2C962F}"/>
              </a:ext>
            </a:extLst>
          </p:cNvPr>
          <p:cNvSpPr/>
          <p:nvPr/>
        </p:nvSpPr>
        <p:spPr>
          <a:xfrm>
            <a:off x="8174736" y="6108192"/>
            <a:ext cx="292608" cy="292608"/>
          </a:xfrm>
          <a:prstGeom prst="ellipse">
            <a:avLst/>
          </a:prstGeom>
          <a:solidFill>
            <a:srgbClr val="2D9E5F"/>
          </a:solidFill>
          <a:ln w="12700">
            <a:solidFill>
              <a:srgbClr val="2D9E5F">
                <a:alpha val="0"/>
              </a:srgbClr>
            </a:solidFill>
            <a:prstDash val="solid"/>
          </a:ln>
        </p:spPr>
        <p:txBody>
          <a:bodyPr/>
          <a:lstStyle/>
          <a:p>
            <a:endParaRPr lang="en-IN"/>
          </a:p>
        </p:txBody>
      </p:sp>
      <p:sp>
        <p:nvSpPr>
          <p:cNvPr id="104" name="Text 82">
            <a:extLst>
              <a:ext uri="{FF2B5EF4-FFF2-40B4-BE49-F238E27FC236}">
                <a16:creationId xmlns:a16="http://schemas.microsoft.com/office/drawing/2014/main" id="{7CAC17FC-898B-4E65-4FAA-D67D9986CD65}"/>
              </a:ext>
            </a:extLst>
          </p:cNvPr>
          <p:cNvSpPr/>
          <p:nvPr/>
        </p:nvSpPr>
        <p:spPr>
          <a:xfrm>
            <a:off x="8174736" y="6214872"/>
            <a:ext cx="292608" cy="109728"/>
          </a:xfrm>
          <a:prstGeom prst="rect">
            <a:avLst/>
          </a:prstGeom>
          <a:noFill/>
          <a:ln/>
        </p:spPr>
        <p:txBody>
          <a:bodyPr wrap="square" lIns="508" tIns="508" rIns="508" bIns="508" rtlCol="0" anchor="ctr">
            <a:normAutofit fontScale="92500"/>
          </a:bodyPr>
          <a:lstStyle/>
          <a:p>
            <a:pPr marL="0" indent="0" algn="ctr">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105" name="Text 83">
            <a:extLst>
              <a:ext uri="{FF2B5EF4-FFF2-40B4-BE49-F238E27FC236}">
                <a16:creationId xmlns:a16="http://schemas.microsoft.com/office/drawing/2014/main" id="{5D2CC8ED-7613-BBF6-68F1-D3D951B63BDF}"/>
              </a:ext>
            </a:extLst>
          </p:cNvPr>
          <p:cNvSpPr/>
          <p:nvPr/>
        </p:nvSpPr>
        <p:spPr>
          <a:xfrm>
            <a:off x="8549640" y="6062472"/>
            <a:ext cx="3081528" cy="146304"/>
          </a:xfrm>
          <a:prstGeom prst="rect">
            <a:avLst/>
          </a:prstGeom>
          <a:noFill/>
          <a:ln/>
        </p:spPr>
        <p:txBody>
          <a:bodyPr wrap="square" lIns="508" tIns="508" rIns="508" bIns="508" rtlCol="0" anchor="ctr">
            <a:normAutofit/>
          </a:bodyPr>
          <a:lstStyle/>
          <a:p>
            <a:pPr marL="0" indent="0" algn="l">
              <a:buNone/>
            </a:pPr>
            <a:r>
              <a:rPr lang="en-US" sz="920" b="1" dirty="0">
                <a:solidFill>
                  <a:srgbClr val="1F2937"/>
                </a:solidFill>
                <a:latin typeface="Aptos" pitchFamily="34" charset="0"/>
                <a:ea typeface="Aptos" pitchFamily="34" charset="-122"/>
                <a:cs typeface="Aptos" pitchFamily="34" charset="-120"/>
              </a:rPr>
              <a:t>Governance endorsement</a:t>
            </a:r>
            <a:endParaRPr lang="en-US" sz="920" dirty="0"/>
          </a:p>
        </p:txBody>
      </p:sp>
      <p:sp>
        <p:nvSpPr>
          <p:cNvPr id="106" name="Text 84">
            <a:extLst>
              <a:ext uri="{FF2B5EF4-FFF2-40B4-BE49-F238E27FC236}">
                <a16:creationId xmlns:a16="http://schemas.microsoft.com/office/drawing/2014/main" id="{B07C23CA-07F8-2192-80D5-F20F930EEF5C}"/>
              </a:ext>
            </a:extLst>
          </p:cNvPr>
          <p:cNvSpPr/>
          <p:nvPr/>
        </p:nvSpPr>
        <p:spPr>
          <a:xfrm>
            <a:off x="8549640" y="6254496"/>
            <a:ext cx="3081528" cy="237744"/>
          </a:xfrm>
          <a:prstGeom prst="rect">
            <a:avLst/>
          </a:prstGeom>
          <a:noFill/>
          <a:ln/>
        </p:spPr>
        <p:txBody>
          <a:bodyPr wrap="square" lIns="508" tIns="508" rIns="508" bIns="508" rtlCol="0" anchor="ctr">
            <a:normAutofit/>
          </a:bodyPr>
          <a:lstStyle/>
          <a:p>
            <a:pPr marL="0" indent="0" algn="l">
              <a:buNone/>
            </a:pPr>
            <a:r>
              <a:rPr lang="en-US" sz="720" dirty="0">
                <a:solidFill>
                  <a:srgbClr val="4B5563"/>
                </a:solidFill>
                <a:latin typeface="Aptos" pitchFamily="34" charset="0"/>
                <a:ea typeface="Aptos" pitchFamily="34" charset="-122"/>
                <a:cs typeface="Aptos" pitchFamily="34" charset="-120"/>
              </a:rPr>
              <a:t>Approve monthly SteerCo review plus daily execution cadence during mobilisation.</a:t>
            </a:r>
            <a:endParaRPr lang="en-US" sz="720" dirty="0"/>
          </a:p>
        </p:txBody>
      </p:sp>
      <p:sp>
        <p:nvSpPr>
          <p:cNvPr id="107" name="Slide Number Placeholder 0">
            <a:extLst>
              <a:ext uri="{FF2B5EF4-FFF2-40B4-BE49-F238E27FC236}">
                <a16:creationId xmlns:a16="http://schemas.microsoft.com/office/drawing/2014/main" id="{CAD504F2-91B7-869F-4C9B-6F349F6F8045}"/>
              </a:ext>
            </a:extLst>
          </p:cNvPr>
          <p:cNvSpPr txBox="1">
            <a:spLocks/>
          </p:cNvSpPr>
          <p:nvPr/>
        </p:nvSpPr>
        <p:spPr>
          <a:xfrm>
            <a:off x="11868912" y="6601968"/>
            <a:ext cx="800000" cy="300000"/>
          </a:xfrm>
          <a:prstGeom prst="rect">
            <a:avLst/>
          </a:prstGeom>
          <a:extLst>
            <a:ext uri="{C572A759-6A51-4108-AA02-DFA0A04FC94B}">
              <ma14:wrappingTextBoxFlag xmlns="" xmlns:ma14="http://schemas.microsoft.com/office/mac/drawingml/2011/main" val="0"/>
            </a:ext>
          </a:extLst>
        </p:spPr>
        <p:txBody>
          <a:bodyPr/>
          <a:lstStyle>
            <a:defPPr>
              <a:defRPr lang="en-US"/>
            </a:defPPr>
            <a:lvl1pPr marL="0" algn="l" defTabSz="914400" rtl="0" eaLnBrk="1" latinLnBrk="0" hangingPunct="1">
              <a:defRPr sz="650" kern="1200">
                <a:solidFill>
                  <a:srgbClr val="9CA3A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15</a:t>
            </a:fld>
            <a:endParaRPr lang="en-US"/>
          </a:p>
        </p:txBody>
      </p:sp>
    </p:spTree>
    <p:extLst>
      <p:ext uri="{BB962C8B-B14F-4D97-AF65-F5344CB8AC3E}">
        <p14:creationId xmlns:p14="http://schemas.microsoft.com/office/powerpoint/2010/main" val="848362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81B18-8821-0EE0-3799-191184328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94FC5-9988-C73B-51E5-67026CED7246}"/>
              </a:ext>
            </a:extLst>
          </p:cNvPr>
          <p:cNvSpPr>
            <a:spLocks noGrp="1"/>
          </p:cNvSpPr>
          <p:nvPr>
            <p:ph type="ctrTitle"/>
          </p:nvPr>
        </p:nvSpPr>
        <p:spPr>
          <a:xfrm>
            <a:off x="3912738" y="1724004"/>
            <a:ext cx="8082709" cy="2608510"/>
          </a:xfrm>
        </p:spPr>
        <p:txBody>
          <a:bodyPr>
            <a:normAutofit/>
          </a:bodyPr>
          <a:lstStyle/>
          <a:p>
            <a:r>
              <a:rPr lang="en-IN" sz="6000" b="1" dirty="0">
                <a:solidFill>
                  <a:schemeClr val="bg1"/>
                </a:solidFill>
              </a:rPr>
              <a:t>5. </a:t>
            </a:r>
            <a:r>
              <a:rPr lang="en-US" sz="6000" b="1" dirty="0">
                <a:solidFill>
                  <a:schemeClr val="bg1"/>
                </a:solidFill>
              </a:rPr>
              <a:t>Service Requests Update</a:t>
            </a:r>
            <a:br>
              <a:rPr lang="en-US" sz="6000" b="1" dirty="0">
                <a:solidFill>
                  <a:schemeClr val="bg1"/>
                </a:solidFill>
              </a:rPr>
            </a:br>
            <a:r>
              <a:rPr lang="en-US" sz="6000" b="1" dirty="0">
                <a:solidFill>
                  <a:schemeClr val="bg1"/>
                </a:solidFill>
              </a:rPr>
              <a:t>(Apr 26 till date)</a:t>
            </a:r>
            <a:endParaRPr lang="en-IN"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E80AC40-77CD-E487-9A7C-9134FD22726B}"/>
              </a:ext>
            </a:extLst>
          </p:cNvPr>
          <p:cNvSpPr txBox="1"/>
          <p:nvPr/>
        </p:nvSpPr>
        <p:spPr>
          <a:xfrm>
            <a:off x="9226281" y="5528266"/>
            <a:ext cx="2769166" cy="369140"/>
          </a:xfrm>
          <a:prstGeom prst="rect">
            <a:avLst/>
          </a:prstGeom>
          <a:noFill/>
        </p:spPr>
        <p:txBody>
          <a:bodyPr wrap="square" rtlCol="0">
            <a:spAutoFit/>
          </a:bodyPr>
          <a:lstStyle/>
          <a:p>
            <a:r>
              <a:rPr lang="en-US" sz="1799">
                <a:solidFill>
                  <a:srgbClr val="FFFFFF"/>
                </a:solidFill>
                <a:latin typeface="AirIndia" panose="04050608020B02020302" pitchFamily="82" charset="0"/>
              </a:rPr>
              <a:t>Digital &amp; Technology</a:t>
            </a:r>
            <a:endParaRPr lang="en-IN" sz="1799">
              <a:solidFill>
                <a:srgbClr val="FFFFFF"/>
              </a:solidFill>
              <a:latin typeface="AirIndia" panose="04050608020B02020302" pitchFamily="82" charset="0"/>
            </a:endParaRPr>
          </a:p>
        </p:txBody>
      </p:sp>
    </p:spTree>
    <p:extLst>
      <p:ext uri="{BB962C8B-B14F-4D97-AF65-F5344CB8AC3E}">
        <p14:creationId xmlns:p14="http://schemas.microsoft.com/office/powerpoint/2010/main" val="3111500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457200" y="283464"/>
            <a:ext cx="3520440" cy="329184"/>
          </a:xfrm>
          <a:prstGeom prst="rect">
            <a:avLst/>
          </a:prstGeom>
          <a:noFill/>
          <a:ln/>
        </p:spPr>
        <p:txBody>
          <a:bodyPr wrap="square" lIns="0" tIns="0" rIns="0" bIns="0" rtlCol="0" anchor="ctr"/>
          <a:lstStyle/>
          <a:p>
            <a:pPr marL="0" indent="0">
              <a:buNone/>
            </a:pPr>
            <a:r>
              <a:rPr lang="en-US" sz="2400" b="1" dirty="0">
                <a:solidFill>
                  <a:srgbClr val="DA0E28"/>
                </a:solidFill>
                <a:latin typeface="Aptos Display" pitchFamily="34" charset="0"/>
                <a:ea typeface="Aptos Display" pitchFamily="34" charset="-122"/>
                <a:cs typeface="Aptos Display" pitchFamily="34" charset="-120"/>
              </a:rPr>
              <a:t>Service Requests FY26</a:t>
            </a:r>
            <a:endParaRPr lang="en-US" sz="2400" dirty="0"/>
          </a:p>
        </p:txBody>
      </p:sp>
      <p:sp>
        <p:nvSpPr>
          <p:cNvPr id="6" name="Text 3"/>
          <p:cNvSpPr/>
          <p:nvPr/>
        </p:nvSpPr>
        <p:spPr>
          <a:xfrm>
            <a:off x="475488" y="713232"/>
            <a:ext cx="6583680" cy="182880"/>
          </a:xfrm>
          <a:prstGeom prst="rect">
            <a:avLst/>
          </a:prstGeom>
          <a:noFill/>
          <a:ln/>
        </p:spPr>
        <p:txBody>
          <a:bodyPr wrap="square" lIns="0" tIns="0" rIns="0" bIns="0" rtlCol="0" anchor="ctr"/>
          <a:lstStyle/>
          <a:p>
            <a:pPr marL="0" indent="0">
              <a:buNone/>
            </a:pPr>
            <a:r>
              <a:rPr lang="en-US" sz="850" dirty="0">
                <a:solidFill>
                  <a:srgbClr val="5B6472"/>
                </a:solidFill>
              </a:rPr>
              <a:t>Apr 1st till date | Same data as source slide, shown as charts instead of tables</a:t>
            </a:r>
            <a:endParaRPr lang="en-US" sz="850" dirty="0"/>
          </a:p>
        </p:txBody>
      </p:sp>
      <p:sp>
        <p:nvSpPr>
          <p:cNvPr id="7" name="Shape 4"/>
          <p:cNvSpPr/>
          <p:nvPr/>
        </p:nvSpPr>
        <p:spPr>
          <a:xfrm>
            <a:off x="9582912" y="283464"/>
            <a:ext cx="2066544" cy="512064"/>
          </a:xfrm>
          <a:prstGeom prst="roundRect">
            <a:avLst>
              <a:gd name="adj" fmla="val 17857"/>
            </a:avLst>
          </a:prstGeom>
          <a:solidFill>
            <a:srgbClr val="FDECEF"/>
          </a:solidFill>
          <a:ln w="12700">
            <a:solidFill>
              <a:srgbClr val="F1C9D0"/>
            </a:solidFill>
            <a:prstDash val="solid"/>
          </a:ln>
        </p:spPr>
        <p:txBody>
          <a:bodyPr/>
          <a:lstStyle/>
          <a:p>
            <a:endParaRPr lang="en-IN"/>
          </a:p>
        </p:txBody>
      </p:sp>
      <p:sp>
        <p:nvSpPr>
          <p:cNvPr id="8" name="Text 5"/>
          <p:cNvSpPr/>
          <p:nvPr/>
        </p:nvSpPr>
        <p:spPr>
          <a:xfrm>
            <a:off x="9747504" y="438912"/>
            <a:ext cx="1737360" cy="128016"/>
          </a:xfrm>
          <a:prstGeom prst="rect">
            <a:avLst/>
          </a:prstGeom>
          <a:noFill/>
          <a:ln/>
        </p:spPr>
        <p:txBody>
          <a:bodyPr wrap="square" lIns="0" tIns="0" rIns="0" bIns="0" rtlCol="0" anchor="ctr"/>
          <a:lstStyle/>
          <a:p>
            <a:pPr marL="0" indent="0" algn="ctr">
              <a:buNone/>
            </a:pPr>
            <a:r>
              <a:rPr lang="en-US" sz="780" b="1" dirty="0">
                <a:solidFill>
                  <a:srgbClr val="C00000"/>
                </a:solidFill>
              </a:rPr>
              <a:t>149 TOTAL REQUESTS</a:t>
            </a:r>
            <a:endParaRPr lang="en-US" sz="780" dirty="0"/>
          </a:p>
        </p:txBody>
      </p:sp>
      <p:sp>
        <p:nvSpPr>
          <p:cNvPr id="9" name="Shape 6"/>
          <p:cNvSpPr/>
          <p:nvPr/>
        </p:nvSpPr>
        <p:spPr>
          <a:xfrm>
            <a:off x="502920" y="1188720"/>
            <a:ext cx="3703320" cy="4681728"/>
          </a:xfrm>
          <a:prstGeom prst="roundRect">
            <a:avLst>
              <a:gd name="adj" fmla="val 4938"/>
            </a:avLst>
          </a:prstGeom>
          <a:solidFill>
            <a:srgbClr val="FBF8FA"/>
          </a:solidFill>
          <a:ln w="12700">
            <a:solidFill>
              <a:srgbClr val="E7DBE4"/>
            </a:solidFill>
            <a:prstDash val="solid"/>
          </a:ln>
          <a:effectLst>
            <a:outerShdw blurRad="27940" dist="13970" dir="2700000" algn="bl" rotWithShape="0">
              <a:srgbClr val="000000">
                <a:alpha val="13000"/>
              </a:srgbClr>
            </a:outerShdw>
          </a:effectLst>
        </p:spPr>
        <p:txBody>
          <a:bodyPr/>
          <a:lstStyle/>
          <a:p>
            <a:endParaRPr lang="en-IN"/>
          </a:p>
        </p:txBody>
      </p:sp>
      <p:sp>
        <p:nvSpPr>
          <p:cNvPr id="10" name="Shape 7"/>
          <p:cNvSpPr/>
          <p:nvPr/>
        </p:nvSpPr>
        <p:spPr>
          <a:xfrm>
            <a:off x="502920" y="1188720"/>
            <a:ext cx="109728" cy="4681728"/>
          </a:xfrm>
          <a:prstGeom prst="rect">
            <a:avLst/>
          </a:prstGeom>
          <a:solidFill>
            <a:srgbClr val="DA0E28"/>
          </a:solidFill>
          <a:ln w="12700">
            <a:solidFill>
              <a:srgbClr val="DA0E28"/>
            </a:solidFill>
            <a:prstDash val="solid"/>
          </a:ln>
        </p:spPr>
        <p:txBody>
          <a:bodyPr/>
          <a:lstStyle/>
          <a:p>
            <a:endParaRPr lang="en-IN"/>
          </a:p>
        </p:txBody>
      </p:sp>
      <p:sp>
        <p:nvSpPr>
          <p:cNvPr id="11" name="Text 8"/>
          <p:cNvSpPr/>
          <p:nvPr/>
        </p:nvSpPr>
        <p:spPr>
          <a:xfrm>
            <a:off x="777240" y="1554480"/>
            <a:ext cx="1234440" cy="658368"/>
          </a:xfrm>
          <a:prstGeom prst="rect">
            <a:avLst/>
          </a:prstGeom>
          <a:noFill/>
          <a:ln/>
        </p:spPr>
        <p:txBody>
          <a:bodyPr wrap="square" lIns="0" tIns="0" rIns="0" bIns="0" rtlCol="0" anchor="ctr"/>
          <a:lstStyle/>
          <a:p>
            <a:pPr marL="0" indent="0">
              <a:buNone/>
            </a:pPr>
            <a:r>
              <a:rPr lang="en-US" sz="5000" b="1" dirty="0">
                <a:solidFill>
                  <a:srgbClr val="DA0E28"/>
                </a:solidFill>
                <a:latin typeface="Aptos Display" pitchFamily="34" charset="0"/>
                <a:ea typeface="Aptos Display" pitchFamily="34" charset="-122"/>
                <a:cs typeface="Aptos Display" pitchFamily="34" charset="-120"/>
              </a:rPr>
              <a:t>149</a:t>
            </a:r>
            <a:endParaRPr lang="en-US" sz="5000" dirty="0"/>
          </a:p>
        </p:txBody>
      </p:sp>
      <p:sp>
        <p:nvSpPr>
          <p:cNvPr id="12" name="Text 9"/>
          <p:cNvSpPr/>
          <p:nvPr/>
        </p:nvSpPr>
        <p:spPr>
          <a:xfrm>
            <a:off x="2542032" y="1709928"/>
            <a:ext cx="868680" cy="438912"/>
          </a:xfrm>
          <a:prstGeom prst="rect">
            <a:avLst/>
          </a:prstGeom>
          <a:noFill/>
          <a:ln/>
        </p:spPr>
        <p:txBody>
          <a:bodyPr wrap="square" lIns="0" tIns="0" rIns="0" bIns="0" rtlCol="0" anchor="ctr"/>
          <a:lstStyle/>
          <a:p>
            <a:pPr marL="0" indent="0">
              <a:buNone/>
            </a:pPr>
            <a:r>
              <a:rPr lang="en-US" sz="1000" b="1" dirty="0">
                <a:solidFill>
                  <a:srgbClr val="20242A"/>
                </a:solidFill>
              </a:rPr>
              <a:t>SERVICE</a:t>
            </a:r>
            <a:endParaRPr lang="en-US" sz="1000" dirty="0"/>
          </a:p>
          <a:p>
            <a:pPr marL="0" indent="0">
              <a:buNone/>
            </a:pPr>
            <a:r>
              <a:rPr lang="en-US" sz="1000" b="1" dirty="0">
                <a:solidFill>
                  <a:srgbClr val="20242A"/>
                </a:solidFill>
              </a:rPr>
              <a:t>REQUESTS</a:t>
            </a:r>
            <a:endParaRPr lang="en-US" sz="1000" dirty="0"/>
          </a:p>
        </p:txBody>
      </p:sp>
      <p:sp>
        <p:nvSpPr>
          <p:cNvPr id="13" name="Text 10"/>
          <p:cNvSpPr/>
          <p:nvPr/>
        </p:nvSpPr>
        <p:spPr>
          <a:xfrm>
            <a:off x="850392" y="2560320"/>
            <a:ext cx="1417320" cy="201168"/>
          </a:xfrm>
          <a:prstGeom prst="rect">
            <a:avLst/>
          </a:prstGeom>
          <a:noFill/>
          <a:ln/>
        </p:spPr>
        <p:txBody>
          <a:bodyPr wrap="square" lIns="0" tIns="0" rIns="0" bIns="0" rtlCol="0" anchor="ctr"/>
          <a:lstStyle/>
          <a:p>
            <a:pPr marL="0" indent="0">
              <a:buNone/>
            </a:pPr>
            <a:r>
              <a:rPr lang="en-US" sz="1200" b="1" dirty="0">
                <a:solidFill>
                  <a:srgbClr val="962067"/>
                </a:solidFill>
              </a:rPr>
              <a:t>Effort split</a:t>
            </a:r>
            <a:endParaRPr lang="en-US" sz="1200" dirty="0"/>
          </a:p>
        </p:txBody>
      </p:sp>
      <p:sp>
        <p:nvSpPr>
          <p:cNvPr id="14" name="Shape 11"/>
          <p:cNvSpPr/>
          <p:nvPr/>
        </p:nvSpPr>
        <p:spPr>
          <a:xfrm>
            <a:off x="850392" y="2944368"/>
            <a:ext cx="1997565" cy="310896"/>
          </a:xfrm>
          <a:prstGeom prst="roundRect">
            <a:avLst>
              <a:gd name="adj" fmla="val 17647"/>
            </a:avLst>
          </a:prstGeom>
          <a:solidFill>
            <a:srgbClr val="00B050"/>
          </a:solidFill>
          <a:ln w="12700">
            <a:solidFill>
              <a:srgbClr val="00B050"/>
            </a:solidFill>
            <a:prstDash val="solid"/>
          </a:ln>
        </p:spPr>
        <p:txBody>
          <a:bodyPr/>
          <a:lstStyle/>
          <a:p>
            <a:endParaRPr lang="en-IN"/>
          </a:p>
        </p:txBody>
      </p:sp>
      <p:sp>
        <p:nvSpPr>
          <p:cNvPr id="15" name="Text 12"/>
          <p:cNvSpPr/>
          <p:nvPr/>
        </p:nvSpPr>
        <p:spPr>
          <a:xfrm>
            <a:off x="850392" y="3017520"/>
            <a:ext cx="1997565" cy="91440"/>
          </a:xfrm>
          <a:prstGeom prst="rect">
            <a:avLst/>
          </a:prstGeom>
          <a:noFill/>
          <a:ln/>
        </p:spPr>
        <p:txBody>
          <a:bodyPr wrap="square" lIns="0" tIns="0" rIns="0" bIns="0" rtlCol="0" anchor="ctr"/>
          <a:lstStyle/>
          <a:p>
            <a:pPr marL="0" indent="0" algn="ctr">
              <a:buNone/>
            </a:pPr>
            <a:r>
              <a:rPr lang="en-US" sz="650" b="1" dirty="0">
                <a:solidFill>
                  <a:srgbClr val="FFFFFF"/>
                </a:solidFill>
              </a:rPr>
              <a:t>105</a:t>
            </a:r>
            <a:endParaRPr lang="en-US" sz="650" dirty="0"/>
          </a:p>
        </p:txBody>
      </p:sp>
      <p:sp>
        <p:nvSpPr>
          <p:cNvPr id="16" name="Shape 13"/>
          <p:cNvSpPr/>
          <p:nvPr/>
        </p:nvSpPr>
        <p:spPr>
          <a:xfrm>
            <a:off x="2858930" y="2944368"/>
            <a:ext cx="818050" cy="310896"/>
          </a:xfrm>
          <a:prstGeom prst="roundRect">
            <a:avLst>
              <a:gd name="adj" fmla="val 17647"/>
            </a:avLst>
          </a:prstGeom>
          <a:solidFill>
            <a:srgbClr val="B48900"/>
          </a:solidFill>
          <a:ln w="12700">
            <a:solidFill>
              <a:srgbClr val="B48900"/>
            </a:solidFill>
            <a:prstDash val="solid"/>
          </a:ln>
        </p:spPr>
        <p:txBody>
          <a:bodyPr/>
          <a:lstStyle/>
          <a:p>
            <a:endParaRPr lang="en-IN"/>
          </a:p>
        </p:txBody>
      </p:sp>
      <p:sp>
        <p:nvSpPr>
          <p:cNvPr id="17" name="Text 14"/>
          <p:cNvSpPr/>
          <p:nvPr/>
        </p:nvSpPr>
        <p:spPr>
          <a:xfrm>
            <a:off x="2858930" y="3017520"/>
            <a:ext cx="818050" cy="91440"/>
          </a:xfrm>
          <a:prstGeom prst="rect">
            <a:avLst/>
          </a:prstGeom>
          <a:noFill/>
          <a:ln/>
        </p:spPr>
        <p:txBody>
          <a:bodyPr wrap="square" lIns="0" tIns="0" rIns="0" bIns="0" rtlCol="0" anchor="ctr"/>
          <a:lstStyle/>
          <a:p>
            <a:pPr marL="0" indent="0" algn="ctr">
              <a:buNone/>
            </a:pPr>
            <a:r>
              <a:rPr lang="en-US" sz="650" b="1" dirty="0">
                <a:solidFill>
                  <a:srgbClr val="FFFFFF"/>
                </a:solidFill>
              </a:rPr>
              <a:t>43</a:t>
            </a:r>
            <a:endParaRPr lang="en-US" sz="650" dirty="0"/>
          </a:p>
        </p:txBody>
      </p:sp>
      <p:sp>
        <p:nvSpPr>
          <p:cNvPr id="18" name="Shape 15"/>
          <p:cNvSpPr/>
          <p:nvPr/>
        </p:nvSpPr>
        <p:spPr>
          <a:xfrm>
            <a:off x="3687953" y="2944368"/>
            <a:ext cx="19024" cy="310896"/>
          </a:xfrm>
          <a:prstGeom prst="roundRect">
            <a:avLst>
              <a:gd name="adj" fmla="val 288394"/>
            </a:avLst>
          </a:prstGeom>
          <a:solidFill>
            <a:srgbClr val="DA0E28"/>
          </a:solidFill>
          <a:ln w="12700">
            <a:solidFill>
              <a:srgbClr val="DA0E28"/>
            </a:solidFill>
            <a:prstDash val="solid"/>
          </a:ln>
        </p:spPr>
        <p:txBody>
          <a:bodyPr/>
          <a:lstStyle/>
          <a:p>
            <a:endParaRPr lang="en-IN"/>
          </a:p>
        </p:txBody>
      </p:sp>
      <p:sp>
        <p:nvSpPr>
          <p:cNvPr id="19" name="Shape 16"/>
          <p:cNvSpPr/>
          <p:nvPr/>
        </p:nvSpPr>
        <p:spPr>
          <a:xfrm>
            <a:off x="850392" y="3584448"/>
            <a:ext cx="182880" cy="118872"/>
          </a:xfrm>
          <a:prstGeom prst="roundRect">
            <a:avLst>
              <a:gd name="adj" fmla="val 23077"/>
            </a:avLst>
          </a:prstGeom>
          <a:solidFill>
            <a:srgbClr val="00B050"/>
          </a:solidFill>
          <a:ln w="12700">
            <a:solidFill>
              <a:srgbClr val="00B050"/>
            </a:solidFill>
            <a:prstDash val="solid"/>
          </a:ln>
        </p:spPr>
        <p:txBody>
          <a:bodyPr/>
          <a:lstStyle/>
          <a:p>
            <a:endParaRPr lang="en-IN"/>
          </a:p>
        </p:txBody>
      </p:sp>
      <p:sp>
        <p:nvSpPr>
          <p:cNvPr id="20" name="Text 17"/>
          <p:cNvSpPr/>
          <p:nvPr/>
        </p:nvSpPr>
        <p:spPr>
          <a:xfrm>
            <a:off x="1115568" y="3547872"/>
            <a:ext cx="1051560" cy="146304"/>
          </a:xfrm>
          <a:prstGeom prst="rect">
            <a:avLst/>
          </a:prstGeom>
          <a:noFill/>
          <a:ln/>
        </p:spPr>
        <p:txBody>
          <a:bodyPr wrap="square" lIns="0" tIns="0" rIns="0" bIns="0" rtlCol="0" anchor="ctr"/>
          <a:lstStyle/>
          <a:p>
            <a:pPr marL="0" indent="0">
              <a:buNone/>
            </a:pPr>
            <a:r>
              <a:rPr lang="en-US" sz="740" b="1" dirty="0">
                <a:solidFill>
                  <a:srgbClr val="20242A"/>
                </a:solidFill>
              </a:rPr>
              <a:t>Low Effort</a:t>
            </a:r>
            <a:endParaRPr lang="en-US" sz="740" dirty="0"/>
          </a:p>
        </p:txBody>
      </p:sp>
      <p:sp>
        <p:nvSpPr>
          <p:cNvPr id="21" name="Text 18"/>
          <p:cNvSpPr/>
          <p:nvPr/>
        </p:nvSpPr>
        <p:spPr>
          <a:xfrm>
            <a:off x="2450592" y="3547872"/>
            <a:ext cx="320040" cy="146304"/>
          </a:xfrm>
          <a:prstGeom prst="rect">
            <a:avLst/>
          </a:prstGeom>
          <a:noFill/>
          <a:ln/>
        </p:spPr>
        <p:txBody>
          <a:bodyPr wrap="square" lIns="0" tIns="0" rIns="0" bIns="0" rtlCol="0" anchor="ctr"/>
          <a:lstStyle/>
          <a:p>
            <a:pPr marL="0" indent="0" algn="r">
              <a:buNone/>
            </a:pPr>
            <a:r>
              <a:rPr lang="en-US" sz="740" b="1" dirty="0">
                <a:solidFill>
                  <a:srgbClr val="00B050"/>
                </a:solidFill>
              </a:rPr>
              <a:t>105</a:t>
            </a:r>
            <a:endParaRPr lang="en-US" sz="740" dirty="0"/>
          </a:p>
        </p:txBody>
      </p:sp>
      <p:sp>
        <p:nvSpPr>
          <p:cNvPr id="22" name="Text 19"/>
          <p:cNvSpPr/>
          <p:nvPr/>
        </p:nvSpPr>
        <p:spPr>
          <a:xfrm>
            <a:off x="2935224" y="3547872"/>
            <a:ext cx="320040" cy="146304"/>
          </a:xfrm>
          <a:prstGeom prst="rect">
            <a:avLst/>
          </a:prstGeom>
          <a:noFill/>
          <a:ln/>
        </p:spPr>
        <p:txBody>
          <a:bodyPr wrap="square" lIns="0" tIns="0" rIns="0" bIns="0" rtlCol="0" anchor="ctr"/>
          <a:lstStyle/>
          <a:p>
            <a:pPr marL="0" indent="0" algn="r">
              <a:buNone/>
            </a:pPr>
            <a:r>
              <a:rPr lang="en-US" sz="700" dirty="0">
                <a:solidFill>
                  <a:srgbClr val="5B6472"/>
                </a:solidFill>
              </a:rPr>
              <a:t>70%</a:t>
            </a:r>
            <a:endParaRPr lang="en-US" sz="700" dirty="0"/>
          </a:p>
        </p:txBody>
      </p:sp>
      <p:sp>
        <p:nvSpPr>
          <p:cNvPr id="23" name="Shape 20"/>
          <p:cNvSpPr/>
          <p:nvPr/>
        </p:nvSpPr>
        <p:spPr>
          <a:xfrm>
            <a:off x="850392" y="3968496"/>
            <a:ext cx="182880" cy="118872"/>
          </a:xfrm>
          <a:prstGeom prst="roundRect">
            <a:avLst>
              <a:gd name="adj" fmla="val 23077"/>
            </a:avLst>
          </a:prstGeom>
          <a:solidFill>
            <a:srgbClr val="B48900"/>
          </a:solidFill>
          <a:ln w="12700">
            <a:solidFill>
              <a:srgbClr val="B48900"/>
            </a:solidFill>
            <a:prstDash val="solid"/>
          </a:ln>
        </p:spPr>
        <p:txBody>
          <a:bodyPr/>
          <a:lstStyle/>
          <a:p>
            <a:endParaRPr lang="en-IN"/>
          </a:p>
        </p:txBody>
      </p:sp>
      <p:sp>
        <p:nvSpPr>
          <p:cNvPr id="24" name="Text 21"/>
          <p:cNvSpPr/>
          <p:nvPr/>
        </p:nvSpPr>
        <p:spPr>
          <a:xfrm>
            <a:off x="1115568" y="3931920"/>
            <a:ext cx="1051560" cy="146304"/>
          </a:xfrm>
          <a:prstGeom prst="rect">
            <a:avLst/>
          </a:prstGeom>
          <a:noFill/>
          <a:ln/>
        </p:spPr>
        <p:txBody>
          <a:bodyPr wrap="square" lIns="0" tIns="0" rIns="0" bIns="0" rtlCol="0" anchor="ctr"/>
          <a:lstStyle/>
          <a:p>
            <a:pPr marL="0" indent="0">
              <a:buNone/>
            </a:pPr>
            <a:r>
              <a:rPr lang="en-US" sz="740" b="1" dirty="0">
                <a:solidFill>
                  <a:srgbClr val="20242A"/>
                </a:solidFill>
              </a:rPr>
              <a:t>Medium Effort</a:t>
            </a:r>
            <a:endParaRPr lang="en-US" sz="740" dirty="0"/>
          </a:p>
        </p:txBody>
      </p:sp>
      <p:sp>
        <p:nvSpPr>
          <p:cNvPr id="25" name="Text 22"/>
          <p:cNvSpPr/>
          <p:nvPr/>
        </p:nvSpPr>
        <p:spPr>
          <a:xfrm>
            <a:off x="2450592" y="3931920"/>
            <a:ext cx="320040" cy="146304"/>
          </a:xfrm>
          <a:prstGeom prst="rect">
            <a:avLst/>
          </a:prstGeom>
          <a:noFill/>
          <a:ln/>
        </p:spPr>
        <p:txBody>
          <a:bodyPr wrap="square" lIns="0" tIns="0" rIns="0" bIns="0" rtlCol="0" anchor="ctr"/>
          <a:lstStyle/>
          <a:p>
            <a:pPr marL="0" indent="0" algn="r">
              <a:buNone/>
            </a:pPr>
            <a:r>
              <a:rPr lang="en-US" sz="740" b="1" dirty="0">
                <a:solidFill>
                  <a:srgbClr val="B48900"/>
                </a:solidFill>
              </a:rPr>
              <a:t>43</a:t>
            </a:r>
            <a:endParaRPr lang="en-US" sz="740" dirty="0"/>
          </a:p>
        </p:txBody>
      </p:sp>
      <p:sp>
        <p:nvSpPr>
          <p:cNvPr id="26" name="Text 23"/>
          <p:cNvSpPr/>
          <p:nvPr/>
        </p:nvSpPr>
        <p:spPr>
          <a:xfrm>
            <a:off x="2935224" y="3931920"/>
            <a:ext cx="320040" cy="146304"/>
          </a:xfrm>
          <a:prstGeom prst="rect">
            <a:avLst/>
          </a:prstGeom>
          <a:noFill/>
          <a:ln/>
        </p:spPr>
        <p:txBody>
          <a:bodyPr wrap="square" lIns="0" tIns="0" rIns="0" bIns="0" rtlCol="0" anchor="ctr"/>
          <a:lstStyle/>
          <a:p>
            <a:pPr marL="0" indent="0" algn="r">
              <a:buNone/>
            </a:pPr>
            <a:r>
              <a:rPr lang="en-US" sz="700" dirty="0">
                <a:solidFill>
                  <a:srgbClr val="5B6472"/>
                </a:solidFill>
              </a:rPr>
              <a:t>29%</a:t>
            </a:r>
            <a:endParaRPr lang="en-US" sz="700" dirty="0"/>
          </a:p>
        </p:txBody>
      </p:sp>
      <p:sp>
        <p:nvSpPr>
          <p:cNvPr id="27" name="Shape 24"/>
          <p:cNvSpPr/>
          <p:nvPr/>
        </p:nvSpPr>
        <p:spPr>
          <a:xfrm>
            <a:off x="850392" y="4352544"/>
            <a:ext cx="182880" cy="118872"/>
          </a:xfrm>
          <a:prstGeom prst="roundRect">
            <a:avLst>
              <a:gd name="adj" fmla="val 23077"/>
            </a:avLst>
          </a:prstGeom>
          <a:solidFill>
            <a:srgbClr val="DA0E28"/>
          </a:solidFill>
          <a:ln w="12700">
            <a:solidFill>
              <a:srgbClr val="DA0E28"/>
            </a:solidFill>
            <a:prstDash val="solid"/>
          </a:ln>
        </p:spPr>
        <p:txBody>
          <a:bodyPr/>
          <a:lstStyle/>
          <a:p>
            <a:endParaRPr lang="en-IN"/>
          </a:p>
        </p:txBody>
      </p:sp>
      <p:sp>
        <p:nvSpPr>
          <p:cNvPr id="28" name="Text 25"/>
          <p:cNvSpPr/>
          <p:nvPr/>
        </p:nvSpPr>
        <p:spPr>
          <a:xfrm>
            <a:off x="1115568" y="4315968"/>
            <a:ext cx="1051560" cy="146304"/>
          </a:xfrm>
          <a:prstGeom prst="rect">
            <a:avLst/>
          </a:prstGeom>
          <a:noFill/>
          <a:ln/>
        </p:spPr>
        <p:txBody>
          <a:bodyPr wrap="square" lIns="0" tIns="0" rIns="0" bIns="0" rtlCol="0" anchor="ctr"/>
          <a:lstStyle/>
          <a:p>
            <a:pPr marL="0" indent="0">
              <a:buNone/>
            </a:pPr>
            <a:r>
              <a:rPr lang="en-US" sz="740" b="1" dirty="0">
                <a:solidFill>
                  <a:srgbClr val="20242A"/>
                </a:solidFill>
              </a:rPr>
              <a:t>High Effort</a:t>
            </a:r>
            <a:endParaRPr lang="en-US" sz="740" dirty="0"/>
          </a:p>
        </p:txBody>
      </p:sp>
      <p:sp>
        <p:nvSpPr>
          <p:cNvPr id="29" name="Text 26"/>
          <p:cNvSpPr/>
          <p:nvPr/>
        </p:nvSpPr>
        <p:spPr>
          <a:xfrm>
            <a:off x="2450592" y="4315968"/>
            <a:ext cx="320040" cy="146304"/>
          </a:xfrm>
          <a:prstGeom prst="rect">
            <a:avLst/>
          </a:prstGeom>
          <a:noFill/>
          <a:ln/>
        </p:spPr>
        <p:txBody>
          <a:bodyPr wrap="square" lIns="0" tIns="0" rIns="0" bIns="0" rtlCol="0" anchor="ctr"/>
          <a:lstStyle/>
          <a:p>
            <a:pPr marL="0" indent="0" algn="r">
              <a:buNone/>
            </a:pPr>
            <a:r>
              <a:rPr lang="en-US" sz="740" b="1" dirty="0">
                <a:solidFill>
                  <a:srgbClr val="DA0E28"/>
                </a:solidFill>
              </a:rPr>
              <a:t>1</a:t>
            </a:r>
            <a:endParaRPr lang="en-US" sz="740" dirty="0"/>
          </a:p>
        </p:txBody>
      </p:sp>
      <p:sp>
        <p:nvSpPr>
          <p:cNvPr id="30" name="Text 27"/>
          <p:cNvSpPr/>
          <p:nvPr/>
        </p:nvSpPr>
        <p:spPr>
          <a:xfrm>
            <a:off x="2935224" y="4315968"/>
            <a:ext cx="320040" cy="146304"/>
          </a:xfrm>
          <a:prstGeom prst="rect">
            <a:avLst/>
          </a:prstGeom>
          <a:noFill/>
          <a:ln/>
        </p:spPr>
        <p:txBody>
          <a:bodyPr wrap="square" lIns="0" tIns="0" rIns="0" bIns="0" rtlCol="0" anchor="ctr"/>
          <a:lstStyle/>
          <a:p>
            <a:pPr marL="0" indent="0" algn="r">
              <a:buNone/>
            </a:pPr>
            <a:r>
              <a:rPr lang="en-US" sz="700" dirty="0">
                <a:solidFill>
                  <a:srgbClr val="5B6472"/>
                </a:solidFill>
              </a:rPr>
              <a:t>1%</a:t>
            </a:r>
            <a:endParaRPr lang="en-US" sz="700" dirty="0"/>
          </a:p>
        </p:txBody>
      </p:sp>
      <p:sp>
        <p:nvSpPr>
          <p:cNvPr id="31" name="Shape 28"/>
          <p:cNvSpPr/>
          <p:nvPr/>
        </p:nvSpPr>
        <p:spPr>
          <a:xfrm>
            <a:off x="850392" y="4782312"/>
            <a:ext cx="2834640" cy="530352"/>
          </a:xfrm>
          <a:prstGeom prst="roundRect">
            <a:avLst>
              <a:gd name="adj" fmla="val 15517"/>
            </a:avLst>
          </a:prstGeom>
          <a:solidFill>
            <a:srgbClr val="FFFFFF"/>
          </a:solidFill>
          <a:ln w="12700">
            <a:solidFill>
              <a:srgbClr val="E7DBE4"/>
            </a:solidFill>
            <a:prstDash val="solid"/>
          </a:ln>
        </p:spPr>
        <p:txBody>
          <a:bodyPr/>
          <a:lstStyle/>
          <a:p>
            <a:endParaRPr lang="en-IN"/>
          </a:p>
        </p:txBody>
      </p:sp>
      <p:sp>
        <p:nvSpPr>
          <p:cNvPr id="32" name="Text 29"/>
          <p:cNvSpPr/>
          <p:nvPr/>
        </p:nvSpPr>
        <p:spPr>
          <a:xfrm>
            <a:off x="1024128" y="4901184"/>
            <a:ext cx="1508760" cy="146304"/>
          </a:xfrm>
          <a:prstGeom prst="rect">
            <a:avLst/>
          </a:prstGeom>
          <a:noFill/>
          <a:ln/>
        </p:spPr>
        <p:txBody>
          <a:bodyPr wrap="square" lIns="0" tIns="0" rIns="0" bIns="0" rtlCol="0" anchor="ctr"/>
          <a:lstStyle/>
          <a:p>
            <a:pPr marL="0" indent="0">
              <a:buNone/>
            </a:pPr>
            <a:r>
              <a:rPr lang="en-US" sz="800" b="1" dirty="0">
                <a:solidFill>
                  <a:srgbClr val="20242A"/>
                </a:solidFill>
              </a:rPr>
              <a:t>Low-effort SRs dominate</a:t>
            </a:r>
            <a:endParaRPr lang="en-US" sz="800" dirty="0"/>
          </a:p>
        </p:txBody>
      </p:sp>
      <p:sp>
        <p:nvSpPr>
          <p:cNvPr id="33" name="Text 30"/>
          <p:cNvSpPr/>
          <p:nvPr/>
        </p:nvSpPr>
        <p:spPr>
          <a:xfrm>
            <a:off x="2606040" y="4901184"/>
            <a:ext cx="804672" cy="146304"/>
          </a:xfrm>
          <a:prstGeom prst="rect">
            <a:avLst/>
          </a:prstGeom>
          <a:noFill/>
          <a:ln/>
        </p:spPr>
        <p:txBody>
          <a:bodyPr wrap="square" lIns="0" tIns="0" rIns="0" bIns="0" rtlCol="0" anchor="ctr"/>
          <a:lstStyle/>
          <a:p>
            <a:pPr marL="0" indent="0" algn="r">
              <a:buNone/>
            </a:pPr>
            <a:r>
              <a:rPr lang="en-US" sz="770" b="1" dirty="0">
                <a:solidFill>
                  <a:srgbClr val="00B050"/>
                </a:solidFill>
              </a:rPr>
              <a:t>105 / 149 requests</a:t>
            </a:r>
            <a:endParaRPr lang="en-US" sz="770" dirty="0"/>
          </a:p>
        </p:txBody>
      </p:sp>
      <p:sp>
        <p:nvSpPr>
          <p:cNvPr id="34" name="Shape 31"/>
          <p:cNvSpPr/>
          <p:nvPr/>
        </p:nvSpPr>
        <p:spPr>
          <a:xfrm>
            <a:off x="4480560" y="1188720"/>
            <a:ext cx="7205472" cy="4681728"/>
          </a:xfrm>
          <a:prstGeom prst="roundRect">
            <a:avLst>
              <a:gd name="adj" fmla="val 3906"/>
            </a:avLst>
          </a:prstGeom>
          <a:solidFill>
            <a:srgbClr val="FFFFFF"/>
          </a:solidFill>
          <a:ln w="12700">
            <a:solidFill>
              <a:srgbClr val="E7DBE4"/>
            </a:solidFill>
            <a:prstDash val="solid"/>
          </a:ln>
          <a:effectLst>
            <a:outerShdw blurRad="27940" dist="13970" dir="2700000" algn="bl" rotWithShape="0">
              <a:srgbClr val="000000">
                <a:alpha val="13000"/>
              </a:srgbClr>
            </a:outerShdw>
          </a:effectLst>
        </p:spPr>
        <p:txBody>
          <a:bodyPr/>
          <a:lstStyle/>
          <a:p>
            <a:endParaRPr lang="en-IN"/>
          </a:p>
        </p:txBody>
      </p:sp>
      <p:sp>
        <p:nvSpPr>
          <p:cNvPr id="35" name="Text 32"/>
          <p:cNvSpPr/>
          <p:nvPr/>
        </p:nvSpPr>
        <p:spPr>
          <a:xfrm>
            <a:off x="4773168" y="1481328"/>
            <a:ext cx="2560320" cy="219456"/>
          </a:xfrm>
          <a:prstGeom prst="rect">
            <a:avLst/>
          </a:prstGeom>
          <a:noFill/>
          <a:ln/>
        </p:spPr>
        <p:txBody>
          <a:bodyPr wrap="square" lIns="0" tIns="0" rIns="0" bIns="0" rtlCol="0" anchor="ctr"/>
          <a:lstStyle/>
          <a:p>
            <a:pPr marL="0" indent="0">
              <a:buNone/>
            </a:pPr>
            <a:r>
              <a:rPr lang="en-US" sz="1320" b="1" dirty="0">
                <a:solidFill>
                  <a:srgbClr val="20242A"/>
                </a:solidFill>
              </a:rPr>
              <a:t>Category distribution</a:t>
            </a:r>
            <a:endParaRPr lang="en-US" sz="1320" dirty="0"/>
          </a:p>
        </p:txBody>
      </p:sp>
      <p:sp>
        <p:nvSpPr>
          <p:cNvPr id="36" name="Text 33"/>
          <p:cNvSpPr/>
          <p:nvPr/>
        </p:nvSpPr>
        <p:spPr>
          <a:xfrm>
            <a:off x="4773168" y="1965960"/>
            <a:ext cx="3703320" cy="155448"/>
          </a:xfrm>
          <a:prstGeom prst="rect">
            <a:avLst/>
          </a:prstGeom>
          <a:noFill/>
          <a:ln/>
        </p:spPr>
        <p:txBody>
          <a:bodyPr wrap="square" lIns="0" tIns="0" rIns="0" bIns="0" rtlCol="0" anchor="ctr"/>
          <a:lstStyle/>
          <a:p>
            <a:pPr marL="0" indent="0">
              <a:buNone/>
            </a:pPr>
            <a:r>
              <a:rPr lang="en-US" sz="730" dirty="0">
                <a:solidFill>
                  <a:srgbClr val="5B6472"/>
                </a:solidFill>
              </a:rPr>
              <a:t>Ranked horizontal bars highlight repeat-demand hotspots</a:t>
            </a:r>
            <a:endParaRPr lang="en-US" sz="730" dirty="0"/>
          </a:p>
        </p:txBody>
      </p:sp>
      <p:sp>
        <p:nvSpPr>
          <p:cNvPr id="37" name="Shape 34"/>
          <p:cNvSpPr/>
          <p:nvPr/>
        </p:nvSpPr>
        <p:spPr>
          <a:xfrm>
            <a:off x="8366760" y="1353312"/>
            <a:ext cx="1170432" cy="502920"/>
          </a:xfrm>
          <a:prstGeom prst="roundRect">
            <a:avLst>
              <a:gd name="adj" fmla="val 16364"/>
            </a:avLst>
          </a:prstGeom>
          <a:solidFill>
            <a:srgbClr val="FDECEF"/>
          </a:solidFill>
          <a:ln w="12700">
            <a:solidFill>
              <a:srgbClr val="F2C8D0"/>
            </a:solidFill>
            <a:prstDash val="solid"/>
          </a:ln>
        </p:spPr>
        <p:txBody>
          <a:bodyPr/>
          <a:lstStyle/>
          <a:p>
            <a:endParaRPr lang="en-IN"/>
          </a:p>
        </p:txBody>
      </p:sp>
      <p:sp>
        <p:nvSpPr>
          <p:cNvPr id="38" name="Text 35"/>
          <p:cNvSpPr/>
          <p:nvPr/>
        </p:nvSpPr>
        <p:spPr>
          <a:xfrm>
            <a:off x="8458200" y="1463040"/>
            <a:ext cx="960120" cy="128016"/>
          </a:xfrm>
          <a:prstGeom prst="rect">
            <a:avLst/>
          </a:prstGeom>
          <a:noFill/>
          <a:ln/>
        </p:spPr>
        <p:txBody>
          <a:bodyPr wrap="square" lIns="0" tIns="0" rIns="0" bIns="0" rtlCol="0" anchor="ctr"/>
          <a:lstStyle/>
          <a:p>
            <a:pPr marL="0" indent="0" algn="ctr">
              <a:buNone/>
            </a:pPr>
            <a:r>
              <a:rPr lang="en-US" sz="700" b="1" dirty="0">
                <a:solidFill>
                  <a:srgbClr val="DA0E28"/>
                </a:solidFill>
              </a:rPr>
              <a:t>Top 2 = 71</a:t>
            </a:r>
            <a:endParaRPr lang="en-US" sz="700" dirty="0"/>
          </a:p>
        </p:txBody>
      </p:sp>
      <p:sp>
        <p:nvSpPr>
          <p:cNvPr id="39" name="Text 36"/>
          <p:cNvSpPr/>
          <p:nvPr/>
        </p:nvSpPr>
        <p:spPr>
          <a:xfrm>
            <a:off x="8458200" y="1636776"/>
            <a:ext cx="960120" cy="109728"/>
          </a:xfrm>
          <a:prstGeom prst="rect">
            <a:avLst/>
          </a:prstGeom>
          <a:noFill/>
          <a:ln/>
        </p:spPr>
        <p:txBody>
          <a:bodyPr wrap="square" lIns="0" tIns="0" rIns="0" bIns="0" rtlCol="0" anchor="ctr"/>
          <a:lstStyle/>
          <a:p>
            <a:pPr marL="0" indent="0" algn="ctr">
              <a:buNone/>
            </a:pPr>
            <a:r>
              <a:rPr lang="en-US" sz="590" dirty="0">
                <a:solidFill>
                  <a:srgbClr val="5B6472"/>
                </a:solidFill>
              </a:rPr>
              <a:t>48% of SRs</a:t>
            </a:r>
            <a:endParaRPr lang="en-US" sz="590" dirty="0"/>
          </a:p>
        </p:txBody>
      </p:sp>
      <p:sp>
        <p:nvSpPr>
          <p:cNvPr id="40" name="Shape 37"/>
          <p:cNvSpPr/>
          <p:nvPr/>
        </p:nvSpPr>
        <p:spPr>
          <a:xfrm>
            <a:off x="9738360" y="1353312"/>
            <a:ext cx="1170432" cy="502920"/>
          </a:xfrm>
          <a:prstGeom prst="roundRect">
            <a:avLst>
              <a:gd name="adj" fmla="val 16364"/>
            </a:avLst>
          </a:prstGeom>
          <a:solidFill>
            <a:srgbClr val="F5EFF7"/>
          </a:solidFill>
          <a:ln w="12700">
            <a:solidFill>
              <a:srgbClr val="E4CFDE"/>
            </a:solidFill>
            <a:prstDash val="solid"/>
          </a:ln>
        </p:spPr>
        <p:txBody>
          <a:bodyPr/>
          <a:lstStyle/>
          <a:p>
            <a:endParaRPr lang="en-IN"/>
          </a:p>
        </p:txBody>
      </p:sp>
      <p:sp>
        <p:nvSpPr>
          <p:cNvPr id="41" name="Text 38"/>
          <p:cNvSpPr/>
          <p:nvPr/>
        </p:nvSpPr>
        <p:spPr>
          <a:xfrm>
            <a:off x="9829800" y="1463040"/>
            <a:ext cx="960120" cy="128016"/>
          </a:xfrm>
          <a:prstGeom prst="rect">
            <a:avLst/>
          </a:prstGeom>
          <a:noFill/>
          <a:ln/>
        </p:spPr>
        <p:txBody>
          <a:bodyPr wrap="square" lIns="0" tIns="0" rIns="0" bIns="0" rtlCol="0" anchor="ctr"/>
          <a:lstStyle/>
          <a:p>
            <a:pPr marL="0" indent="0" algn="ctr">
              <a:buNone/>
            </a:pPr>
            <a:r>
              <a:rPr lang="en-US" sz="700" b="1" dirty="0">
                <a:solidFill>
                  <a:srgbClr val="962067"/>
                </a:solidFill>
              </a:rPr>
              <a:t>Top 4 = 102</a:t>
            </a:r>
            <a:endParaRPr lang="en-US" sz="700" dirty="0"/>
          </a:p>
        </p:txBody>
      </p:sp>
      <p:sp>
        <p:nvSpPr>
          <p:cNvPr id="42" name="Text 39"/>
          <p:cNvSpPr/>
          <p:nvPr/>
        </p:nvSpPr>
        <p:spPr>
          <a:xfrm>
            <a:off x="9829800" y="1636776"/>
            <a:ext cx="960120" cy="109728"/>
          </a:xfrm>
          <a:prstGeom prst="rect">
            <a:avLst/>
          </a:prstGeom>
          <a:noFill/>
          <a:ln/>
        </p:spPr>
        <p:txBody>
          <a:bodyPr wrap="square" lIns="0" tIns="0" rIns="0" bIns="0" rtlCol="0" anchor="ctr"/>
          <a:lstStyle/>
          <a:p>
            <a:pPr marL="0" indent="0" algn="ctr">
              <a:buNone/>
            </a:pPr>
            <a:r>
              <a:rPr lang="en-US" sz="590" dirty="0">
                <a:solidFill>
                  <a:srgbClr val="5B6472"/>
                </a:solidFill>
              </a:rPr>
              <a:t>68% of SRs</a:t>
            </a:r>
            <a:endParaRPr lang="en-US" sz="590" dirty="0"/>
          </a:p>
        </p:txBody>
      </p:sp>
      <p:sp>
        <p:nvSpPr>
          <p:cNvPr id="43" name="Text 40"/>
          <p:cNvSpPr/>
          <p:nvPr/>
        </p:nvSpPr>
        <p:spPr>
          <a:xfrm>
            <a:off x="4773168" y="2350008"/>
            <a:ext cx="2304288" cy="128016"/>
          </a:xfrm>
          <a:prstGeom prst="rect">
            <a:avLst/>
          </a:prstGeom>
          <a:noFill/>
          <a:ln/>
        </p:spPr>
        <p:txBody>
          <a:bodyPr wrap="square" lIns="0" tIns="0" rIns="0" bIns="0" rtlCol="0" anchor="ctr">
            <a:normAutofit/>
          </a:bodyPr>
          <a:lstStyle/>
          <a:p>
            <a:pPr marL="0" indent="0">
              <a:buNone/>
            </a:pPr>
            <a:r>
              <a:rPr lang="en-US" sz="620" b="1" dirty="0">
                <a:solidFill>
                  <a:srgbClr val="20242A"/>
                </a:solidFill>
              </a:rPr>
              <a:t>Job Code Creation &amp; Updates</a:t>
            </a:r>
            <a:endParaRPr lang="en-US" sz="620" dirty="0"/>
          </a:p>
        </p:txBody>
      </p:sp>
      <p:sp>
        <p:nvSpPr>
          <p:cNvPr id="44" name="Shape 41"/>
          <p:cNvSpPr/>
          <p:nvPr/>
        </p:nvSpPr>
        <p:spPr>
          <a:xfrm>
            <a:off x="7333488" y="2359152"/>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45" name="Shape 42"/>
          <p:cNvSpPr/>
          <p:nvPr/>
        </p:nvSpPr>
        <p:spPr>
          <a:xfrm>
            <a:off x="7333488" y="2359152"/>
            <a:ext cx="3063240" cy="214884"/>
          </a:xfrm>
          <a:prstGeom prst="roundRect">
            <a:avLst>
              <a:gd name="adj" fmla="val 19149"/>
            </a:avLst>
          </a:prstGeom>
          <a:solidFill>
            <a:srgbClr val="DA0E28"/>
          </a:solidFill>
          <a:ln w="12700">
            <a:solidFill>
              <a:srgbClr val="DA0E28"/>
            </a:solidFill>
            <a:prstDash val="solid"/>
          </a:ln>
        </p:spPr>
        <p:txBody>
          <a:bodyPr/>
          <a:lstStyle/>
          <a:p>
            <a:endParaRPr lang="en-IN"/>
          </a:p>
        </p:txBody>
      </p:sp>
      <p:sp>
        <p:nvSpPr>
          <p:cNvPr id="46" name="Text 43"/>
          <p:cNvSpPr/>
          <p:nvPr/>
        </p:nvSpPr>
        <p:spPr>
          <a:xfrm>
            <a:off x="10936224" y="2382012"/>
            <a:ext cx="292608" cy="91440"/>
          </a:xfrm>
          <a:prstGeom prst="rect">
            <a:avLst/>
          </a:prstGeom>
          <a:noFill/>
          <a:ln/>
        </p:spPr>
        <p:txBody>
          <a:bodyPr wrap="square" lIns="0" tIns="0" rIns="0" bIns="0" rtlCol="0" anchor="ctr"/>
          <a:lstStyle/>
          <a:p>
            <a:pPr marL="0" indent="0" algn="r">
              <a:buNone/>
            </a:pPr>
            <a:r>
              <a:rPr lang="en-US" sz="610" b="1" dirty="0">
                <a:solidFill>
                  <a:srgbClr val="DA0E28"/>
                </a:solidFill>
              </a:rPr>
              <a:t>38</a:t>
            </a:r>
            <a:endParaRPr lang="en-US" sz="610" dirty="0"/>
          </a:p>
        </p:txBody>
      </p:sp>
      <p:sp>
        <p:nvSpPr>
          <p:cNvPr id="47" name="Text 44"/>
          <p:cNvSpPr/>
          <p:nvPr/>
        </p:nvSpPr>
        <p:spPr>
          <a:xfrm>
            <a:off x="4773168" y="2636215"/>
            <a:ext cx="2304288" cy="128016"/>
          </a:xfrm>
          <a:prstGeom prst="rect">
            <a:avLst/>
          </a:prstGeom>
          <a:noFill/>
          <a:ln/>
        </p:spPr>
        <p:txBody>
          <a:bodyPr wrap="square" lIns="0" tIns="0" rIns="0" bIns="0" rtlCol="0" anchor="ctr">
            <a:normAutofit/>
          </a:bodyPr>
          <a:lstStyle/>
          <a:p>
            <a:pPr marL="0" indent="0">
              <a:buNone/>
            </a:pPr>
            <a:r>
              <a:rPr lang="en-US" sz="620" b="1" dirty="0">
                <a:solidFill>
                  <a:srgbClr val="20242A"/>
                </a:solidFill>
              </a:rPr>
              <a:t>Access, Role &amp; Report Provisioning</a:t>
            </a:r>
            <a:endParaRPr lang="en-US" sz="620" dirty="0"/>
          </a:p>
        </p:txBody>
      </p:sp>
      <p:sp>
        <p:nvSpPr>
          <p:cNvPr id="48" name="Shape 45"/>
          <p:cNvSpPr/>
          <p:nvPr/>
        </p:nvSpPr>
        <p:spPr>
          <a:xfrm>
            <a:off x="7333488" y="2645359"/>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49" name="Shape 46"/>
          <p:cNvSpPr/>
          <p:nvPr/>
        </p:nvSpPr>
        <p:spPr>
          <a:xfrm>
            <a:off x="7333488" y="2645359"/>
            <a:ext cx="2660182" cy="214884"/>
          </a:xfrm>
          <a:prstGeom prst="roundRect">
            <a:avLst>
              <a:gd name="adj" fmla="val 19149"/>
            </a:avLst>
          </a:prstGeom>
          <a:solidFill>
            <a:srgbClr val="DA0E28"/>
          </a:solidFill>
          <a:ln w="12700">
            <a:solidFill>
              <a:srgbClr val="DA0E28"/>
            </a:solidFill>
            <a:prstDash val="solid"/>
          </a:ln>
        </p:spPr>
        <p:txBody>
          <a:bodyPr/>
          <a:lstStyle/>
          <a:p>
            <a:endParaRPr lang="en-IN"/>
          </a:p>
        </p:txBody>
      </p:sp>
      <p:sp>
        <p:nvSpPr>
          <p:cNvPr id="50" name="Text 47"/>
          <p:cNvSpPr/>
          <p:nvPr/>
        </p:nvSpPr>
        <p:spPr>
          <a:xfrm>
            <a:off x="10936224" y="2668219"/>
            <a:ext cx="292608" cy="91440"/>
          </a:xfrm>
          <a:prstGeom prst="rect">
            <a:avLst/>
          </a:prstGeom>
          <a:noFill/>
          <a:ln/>
        </p:spPr>
        <p:txBody>
          <a:bodyPr wrap="square" lIns="0" tIns="0" rIns="0" bIns="0" rtlCol="0" anchor="ctr"/>
          <a:lstStyle/>
          <a:p>
            <a:pPr marL="0" indent="0" algn="r">
              <a:buNone/>
            </a:pPr>
            <a:r>
              <a:rPr lang="en-US" sz="610" b="1" dirty="0">
                <a:solidFill>
                  <a:srgbClr val="DA0E28"/>
                </a:solidFill>
              </a:rPr>
              <a:t>33</a:t>
            </a:r>
            <a:endParaRPr lang="en-US" sz="610" dirty="0"/>
          </a:p>
        </p:txBody>
      </p:sp>
      <p:sp>
        <p:nvSpPr>
          <p:cNvPr id="51" name="Text 48"/>
          <p:cNvSpPr/>
          <p:nvPr/>
        </p:nvSpPr>
        <p:spPr>
          <a:xfrm>
            <a:off x="4773168" y="2922422"/>
            <a:ext cx="2304288" cy="128016"/>
          </a:xfrm>
          <a:prstGeom prst="rect">
            <a:avLst/>
          </a:prstGeom>
          <a:noFill/>
          <a:ln/>
        </p:spPr>
        <p:txBody>
          <a:bodyPr wrap="square" lIns="0" tIns="0" rIns="0" bIns="0" rtlCol="0" anchor="ctr">
            <a:normAutofit/>
          </a:bodyPr>
          <a:lstStyle/>
          <a:p>
            <a:pPr marL="0" indent="0">
              <a:buNone/>
            </a:pPr>
            <a:r>
              <a:rPr lang="en-US" sz="620" b="1" dirty="0">
                <a:solidFill>
                  <a:srgbClr val="20242A"/>
                </a:solidFill>
              </a:rPr>
              <a:t>Foundation Object Config. &amp; Mapping</a:t>
            </a:r>
            <a:endParaRPr lang="en-US" sz="620" dirty="0"/>
          </a:p>
        </p:txBody>
      </p:sp>
      <p:sp>
        <p:nvSpPr>
          <p:cNvPr id="52" name="Shape 49"/>
          <p:cNvSpPr/>
          <p:nvPr/>
        </p:nvSpPr>
        <p:spPr>
          <a:xfrm>
            <a:off x="7333488" y="2931566"/>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53" name="Shape 50"/>
          <p:cNvSpPr/>
          <p:nvPr/>
        </p:nvSpPr>
        <p:spPr>
          <a:xfrm>
            <a:off x="7333488" y="2931566"/>
            <a:ext cx="1289785" cy="214884"/>
          </a:xfrm>
          <a:prstGeom prst="roundRect">
            <a:avLst>
              <a:gd name="adj" fmla="val 19149"/>
            </a:avLst>
          </a:prstGeom>
          <a:solidFill>
            <a:srgbClr val="962067"/>
          </a:solidFill>
          <a:ln w="12700">
            <a:solidFill>
              <a:srgbClr val="962067"/>
            </a:solidFill>
            <a:prstDash val="solid"/>
          </a:ln>
        </p:spPr>
        <p:txBody>
          <a:bodyPr/>
          <a:lstStyle/>
          <a:p>
            <a:endParaRPr lang="en-IN"/>
          </a:p>
        </p:txBody>
      </p:sp>
      <p:sp>
        <p:nvSpPr>
          <p:cNvPr id="54" name="Text 51"/>
          <p:cNvSpPr/>
          <p:nvPr/>
        </p:nvSpPr>
        <p:spPr>
          <a:xfrm>
            <a:off x="10936224" y="2954426"/>
            <a:ext cx="292608" cy="91440"/>
          </a:xfrm>
          <a:prstGeom prst="rect">
            <a:avLst/>
          </a:prstGeom>
          <a:noFill/>
          <a:ln/>
        </p:spPr>
        <p:txBody>
          <a:bodyPr wrap="square" lIns="0" tIns="0" rIns="0" bIns="0" rtlCol="0" anchor="ctr"/>
          <a:lstStyle/>
          <a:p>
            <a:pPr marL="0" indent="0" algn="r">
              <a:buNone/>
            </a:pPr>
            <a:r>
              <a:rPr lang="en-US" sz="610" b="1" dirty="0">
                <a:solidFill>
                  <a:srgbClr val="DA0E28"/>
                </a:solidFill>
              </a:rPr>
              <a:t>16</a:t>
            </a:r>
            <a:endParaRPr lang="en-US" sz="610" dirty="0"/>
          </a:p>
        </p:txBody>
      </p:sp>
      <p:sp>
        <p:nvSpPr>
          <p:cNvPr id="55" name="Text 52"/>
          <p:cNvSpPr/>
          <p:nvPr/>
        </p:nvSpPr>
        <p:spPr>
          <a:xfrm>
            <a:off x="4773168" y="3208630"/>
            <a:ext cx="2304288" cy="128016"/>
          </a:xfrm>
          <a:prstGeom prst="rect">
            <a:avLst/>
          </a:prstGeom>
          <a:noFill/>
          <a:ln/>
        </p:spPr>
        <p:txBody>
          <a:bodyPr wrap="square" lIns="0" tIns="0" rIns="0" bIns="0" rtlCol="0" anchor="ctr">
            <a:normAutofit/>
          </a:bodyPr>
          <a:lstStyle/>
          <a:p>
            <a:pPr marL="0" indent="0">
              <a:buNone/>
            </a:pPr>
            <a:r>
              <a:rPr lang="en-US" sz="620" b="1" dirty="0">
                <a:solidFill>
                  <a:srgbClr val="20242A"/>
                </a:solidFill>
              </a:rPr>
              <a:t>Routine Operational Updates</a:t>
            </a:r>
            <a:endParaRPr lang="en-US" sz="620" dirty="0"/>
          </a:p>
        </p:txBody>
      </p:sp>
      <p:sp>
        <p:nvSpPr>
          <p:cNvPr id="56" name="Shape 53"/>
          <p:cNvSpPr/>
          <p:nvPr/>
        </p:nvSpPr>
        <p:spPr>
          <a:xfrm>
            <a:off x="7333488" y="3217774"/>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57" name="Shape 54"/>
          <p:cNvSpPr/>
          <p:nvPr/>
        </p:nvSpPr>
        <p:spPr>
          <a:xfrm>
            <a:off x="7333488" y="3217774"/>
            <a:ext cx="1209174" cy="214884"/>
          </a:xfrm>
          <a:prstGeom prst="roundRect">
            <a:avLst>
              <a:gd name="adj" fmla="val 19149"/>
            </a:avLst>
          </a:prstGeom>
          <a:solidFill>
            <a:srgbClr val="962067"/>
          </a:solidFill>
          <a:ln w="12700">
            <a:solidFill>
              <a:srgbClr val="962067"/>
            </a:solidFill>
            <a:prstDash val="solid"/>
          </a:ln>
        </p:spPr>
        <p:txBody>
          <a:bodyPr/>
          <a:lstStyle/>
          <a:p>
            <a:endParaRPr lang="en-IN"/>
          </a:p>
        </p:txBody>
      </p:sp>
      <p:sp>
        <p:nvSpPr>
          <p:cNvPr id="58" name="Text 55"/>
          <p:cNvSpPr/>
          <p:nvPr/>
        </p:nvSpPr>
        <p:spPr>
          <a:xfrm>
            <a:off x="10936224" y="3240634"/>
            <a:ext cx="292608" cy="91440"/>
          </a:xfrm>
          <a:prstGeom prst="rect">
            <a:avLst/>
          </a:prstGeom>
          <a:noFill/>
          <a:ln/>
        </p:spPr>
        <p:txBody>
          <a:bodyPr wrap="square" lIns="0" tIns="0" rIns="0" bIns="0" rtlCol="0" anchor="ctr"/>
          <a:lstStyle/>
          <a:p>
            <a:pPr marL="0" indent="0" algn="r">
              <a:buNone/>
            </a:pPr>
            <a:r>
              <a:rPr lang="en-US" sz="610" b="1" dirty="0">
                <a:solidFill>
                  <a:srgbClr val="DA0E28"/>
                </a:solidFill>
              </a:rPr>
              <a:t>15</a:t>
            </a:r>
            <a:endParaRPr lang="en-US" sz="610" dirty="0"/>
          </a:p>
        </p:txBody>
      </p:sp>
      <p:sp>
        <p:nvSpPr>
          <p:cNvPr id="59" name="Text 56"/>
          <p:cNvSpPr/>
          <p:nvPr/>
        </p:nvSpPr>
        <p:spPr>
          <a:xfrm>
            <a:off x="4773168" y="3494837"/>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Form Processing</a:t>
            </a:r>
            <a:endParaRPr lang="en-US" sz="620" dirty="0"/>
          </a:p>
        </p:txBody>
      </p:sp>
      <p:sp>
        <p:nvSpPr>
          <p:cNvPr id="60" name="Shape 57"/>
          <p:cNvSpPr/>
          <p:nvPr/>
        </p:nvSpPr>
        <p:spPr>
          <a:xfrm>
            <a:off x="7333488" y="3503981"/>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61" name="Shape 58"/>
          <p:cNvSpPr/>
          <p:nvPr/>
        </p:nvSpPr>
        <p:spPr>
          <a:xfrm>
            <a:off x="7333488" y="3503981"/>
            <a:ext cx="886727" cy="214884"/>
          </a:xfrm>
          <a:prstGeom prst="roundRect">
            <a:avLst>
              <a:gd name="adj" fmla="val 19149"/>
            </a:avLst>
          </a:prstGeom>
          <a:solidFill>
            <a:srgbClr val="B48900"/>
          </a:solidFill>
          <a:ln w="12700">
            <a:solidFill>
              <a:srgbClr val="B48900"/>
            </a:solidFill>
            <a:prstDash val="solid"/>
          </a:ln>
        </p:spPr>
        <p:txBody>
          <a:bodyPr/>
          <a:lstStyle/>
          <a:p>
            <a:endParaRPr lang="en-IN"/>
          </a:p>
        </p:txBody>
      </p:sp>
      <p:sp>
        <p:nvSpPr>
          <p:cNvPr id="62" name="Text 59"/>
          <p:cNvSpPr/>
          <p:nvPr/>
        </p:nvSpPr>
        <p:spPr>
          <a:xfrm>
            <a:off x="10936224" y="3526841"/>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11</a:t>
            </a:r>
            <a:endParaRPr lang="en-US" sz="610" dirty="0"/>
          </a:p>
        </p:txBody>
      </p:sp>
      <p:sp>
        <p:nvSpPr>
          <p:cNvPr id="63" name="Text 60"/>
          <p:cNvSpPr/>
          <p:nvPr/>
        </p:nvSpPr>
        <p:spPr>
          <a:xfrm>
            <a:off x="4773168" y="3781044"/>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Moderate Configuration Updates</a:t>
            </a:r>
            <a:endParaRPr lang="en-US" sz="620" dirty="0"/>
          </a:p>
        </p:txBody>
      </p:sp>
      <p:sp>
        <p:nvSpPr>
          <p:cNvPr id="64" name="Shape 61"/>
          <p:cNvSpPr/>
          <p:nvPr/>
        </p:nvSpPr>
        <p:spPr>
          <a:xfrm>
            <a:off x="7333488" y="3790188"/>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65" name="Shape 62"/>
          <p:cNvSpPr/>
          <p:nvPr/>
        </p:nvSpPr>
        <p:spPr>
          <a:xfrm>
            <a:off x="7333488" y="3790188"/>
            <a:ext cx="806116" cy="214884"/>
          </a:xfrm>
          <a:prstGeom prst="roundRect">
            <a:avLst>
              <a:gd name="adj" fmla="val 19149"/>
            </a:avLst>
          </a:prstGeom>
          <a:solidFill>
            <a:srgbClr val="B48900"/>
          </a:solidFill>
          <a:ln w="12700">
            <a:solidFill>
              <a:srgbClr val="B48900"/>
            </a:solidFill>
            <a:prstDash val="solid"/>
          </a:ln>
        </p:spPr>
        <p:txBody>
          <a:bodyPr/>
          <a:lstStyle/>
          <a:p>
            <a:endParaRPr lang="en-IN"/>
          </a:p>
        </p:txBody>
      </p:sp>
      <p:sp>
        <p:nvSpPr>
          <p:cNvPr id="66" name="Text 63"/>
          <p:cNvSpPr/>
          <p:nvPr/>
        </p:nvSpPr>
        <p:spPr>
          <a:xfrm>
            <a:off x="10936224" y="3813048"/>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10</a:t>
            </a:r>
            <a:endParaRPr lang="en-US" sz="610" dirty="0"/>
          </a:p>
        </p:txBody>
      </p:sp>
      <p:sp>
        <p:nvSpPr>
          <p:cNvPr id="67" name="Text 64"/>
          <p:cNvSpPr/>
          <p:nvPr/>
        </p:nvSpPr>
        <p:spPr>
          <a:xfrm>
            <a:off x="4773168" y="4067251"/>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Resignation Workflow Reversal</a:t>
            </a:r>
            <a:endParaRPr lang="en-US" sz="620" dirty="0"/>
          </a:p>
        </p:txBody>
      </p:sp>
      <p:sp>
        <p:nvSpPr>
          <p:cNvPr id="68" name="Shape 65"/>
          <p:cNvSpPr/>
          <p:nvPr/>
        </p:nvSpPr>
        <p:spPr>
          <a:xfrm>
            <a:off x="7333488" y="4076395"/>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69" name="Shape 66"/>
          <p:cNvSpPr/>
          <p:nvPr/>
        </p:nvSpPr>
        <p:spPr>
          <a:xfrm>
            <a:off x="7333488" y="4076395"/>
            <a:ext cx="644893" cy="214884"/>
          </a:xfrm>
          <a:prstGeom prst="roundRect">
            <a:avLst>
              <a:gd name="adj" fmla="val 19149"/>
            </a:avLst>
          </a:prstGeom>
          <a:solidFill>
            <a:srgbClr val="8B8C96"/>
          </a:solidFill>
          <a:ln w="12700">
            <a:solidFill>
              <a:srgbClr val="8B8C96"/>
            </a:solidFill>
            <a:prstDash val="solid"/>
          </a:ln>
        </p:spPr>
        <p:txBody>
          <a:bodyPr/>
          <a:lstStyle/>
          <a:p>
            <a:endParaRPr lang="en-IN"/>
          </a:p>
        </p:txBody>
      </p:sp>
      <p:sp>
        <p:nvSpPr>
          <p:cNvPr id="70" name="Text 67"/>
          <p:cNvSpPr/>
          <p:nvPr/>
        </p:nvSpPr>
        <p:spPr>
          <a:xfrm>
            <a:off x="10936224" y="4099255"/>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8</a:t>
            </a:r>
            <a:endParaRPr lang="en-US" sz="610" dirty="0"/>
          </a:p>
        </p:txBody>
      </p:sp>
      <p:sp>
        <p:nvSpPr>
          <p:cNvPr id="71" name="Text 68"/>
          <p:cNvSpPr/>
          <p:nvPr/>
        </p:nvSpPr>
        <p:spPr>
          <a:xfrm>
            <a:off x="4773168" y="4353458"/>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Letter &amp; Template Updates</a:t>
            </a:r>
            <a:endParaRPr lang="en-US" sz="620" dirty="0"/>
          </a:p>
        </p:txBody>
      </p:sp>
      <p:sp>
        <p:nvSpPr>
          <p:cNvPr id="72" name="Shape 69"/>
          <p:cNvSpPr/>
          <p:nvPr/>
        </p:nvSpPr>
        <p:spPr>
          <a:xfrm>
            <a:off x="7333488" y="4362602"/>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73" name="Shape 70"/>
          <p:cNvSpPr/>
          <p:nvPr/>
        </p:nvSpPr>
        <p:spPr>
          <a:xfrm>
            <a:off x="7333488" y="4362602"/>
            <a:ext cx="564281" cy="214884"/>
          </a:xfrm>
          <a:prstGeom prst="roundRect">
            <a:avLst>
              <a:gd name="adj" fmla="val 19149"/>
            </a:avLst>
          </a:prstGeom>
          <a:solidFill>
            <a:srgbClr val="8B8C96"/>
          </a:solidFill>
          <a:ln w="12700">
            <a:solidFill>
              <a:srgbClr val="8B8C96"/>
            </a:solidFill>
            <a:prstDash val="solid"/>
          </a:ln>
        </p:spPr>
        <p:txBody>
          <a:bodyPr/>
          <a:lstStyle/>
          <a:p>
            <a:endParaRPr lang="en-IN"/>
          </a:p>
        </p:txBody>
      </p:sp>
      <p:sp>
        <p:nvSpPr>
          <p:cNvPr id="74" name="Text 71"/>
          <p:cNvSpPr/>
          <p:nvPr/>
        </p:nvSpPr>
        <p:spPr>
          <a:xfrm>
            <a:off x="10936224" y="4385462"/>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7</a:t>
            </a:r>
            <a:endParaRPr lang="en-US" sz="610" dirty="0"/>
          </a:p>
        </p:txBody>
      </p:sp>
      <p:sp>
        <p:nvSpPr>
          <p:cNvPr id="75" name="Text 72"/>
          <p:cNvSpPr/>
          <p:nvPr/>
        </p:nvSpPr>
        <p:spPr>
          <a:xfrm>
            <a:off x="4773168" y="4639666"/>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Report Scheduling &amp; Automation</a:t>
            </a:r>
            <a:endParaRPr lang="en-US" sz="620" dirty="0"/>
          </a:p>
        </p:txBody>
      </p:sp>
      <p:sp>
        <p:nvSpPr>
          <p:cNvPr id="76" name="Shape 73"/>
          <p:cNvSpPr/>
          <p:nvPr/>
        </p:nvSpPr>
        <p:spPr>
          <a:xfrm>
            <a:off x="7333488" y="4648810"/>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77" name="Shape 74"/>
          <p:cNvSpPr/>
          <p:nvPr/>
        </p:nvSpPr>
        <p:spPr>
          <a:xfrm>
            <a:off x="7333488" y="4648810"/>
            <a:ext cx="483669" cy="214884"/>
          </a:xfrm>
          <a:prstGeom prst="roundRect">
            <a:avLst>
              <a:gd name="adj" fmla="val 19149"/>
            </a:avLst>
          </a:prstGeom>
          <a:solidFill>
            <a:srgbClr val="A6A0A8"/>
          </a:solidFill>
          <a:ln w="12700">
            <a:solidFill>
              <a:srgbClr val="A6A0A8"/>
            </a:solidFill>
            <a:prstDash val="solid"/>
          </a:ln>
        </p:spPr>
        <p:txBody>
          <a:bodyPr/>
          <a:lstStyle/>
          <a:p>
            <a:endParaRPr lang="en-IN"/>
          </a:p>
        </p:txBody>
      </p:sp>
      <p:sp>
        <p:nvSpPr>
          <p:cNvPr id="78" name="Text 75"/>
          <p:cNvSpPr/>
          <p:nvPr/>
        </p:nvSpPr>
        <p:spPr>
          <a:xfrm>
            <a:off x="10936224" y="4671670"/>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6</a:t>
            </a:r>
            <a:endParaRPr lang="en-US" sz="610" dirty="0"/>
          </a:p>
        </p:txBody>
      </p:sp>
      <p:sp>
        <p:nvSpPr>
          <p:cNvPr id="79" name="Text 76"/>
          <p:cNvSpPr/>
          <p:nvPr/>
        </p:nvSpPr>
        <p:spPr>
          <a:xfrm>
            <a:off x="4773168" y="4925873"/>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Holiday Calendar Maintenance</a:t>
            </a:r>
            <a:endParaRPr lang="en-US" sz="620" dirty="0"/>
          </a:p>
        </p:txBody>
      </p:sp>
      <p:sp>
        <p:nvSpPr>
          <p:cNvPr id="80" name="Shape 77"/>
          <p:cNvSpPr/>
          <p:nvPr/>
        </p:nvSpPr>
        <p:spPr>
          <a:xfrm>
            <a:off x="7333488" y="4935017"/>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81" name="Shape 78"/>
          <p:cNvSpPr/>
          <p:nvPr/>
        </p:nvSpPr>
        <p:spPr>
          <a:xfrm>
            <a:off x="7333488" y="4935017"/>
            <a:ext cx="322446" cy="214884"/>
          </a:xfrm>
          <a:prstGeom prst="roundRect">
            <a:avLst>
              <a:gd name="adj" fmla="val 19149"/>
            </a:avLst>
          </a:prstGeom>
          <a:solidFill>
            <a:srgbClr val="B8B0B9"/>
          </a:solidFill>
          <a:ln w="12700">
            <a:solidFill>
              <a:srgbClr val="B8B0B9"/>
            </a:solidFill>
            <a:prstDash val="solid"/>
          </a:ln>
        </p:spPr>
        <p:txBody>
          <a:bodyPr/>
          <a:lstStyle/>
          <a:p>
            <a:endParaRPr lang="en-IN"/>
          </a:p>
        </p:txBody>
      </p:sp>
      <p:sp>
        <p:nvSpPr>
          <p:cNvPr id="82" name="Text 79"/>
          <p:cNvSpPr/>
          <p:nvPr/>
        </p:nvSpPr>
        <p:spPr>
          <a:xfrm>
            <a:off x="10936224" y="4957877"/>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4</a:t>
            </a:r>
            <a:endParaRPr lang="en-US" sz="610" dirty="0"/>
          </a:p>
        </p:txBody>
      </p:sp>
      <p:sp>
        <p:nvSpPr>
          <p:cNvPr id="83" name="Text 80"/>
          <p:cNvSpPr/>
          <p:nvPr/>
        </p:nvSpPr>
        <p:spPr>
          <a:xfrm>
            <a:off x="4773168" y="5212080"/>
            <a:ext cx="2304288" cy="128016"/>
          </a:xfrm>
          <a:prstGeom prst="rect">
            <a:avLst/>
          </a:prstGeom>
          <a:noFill/>
          <a:ln/>
        </p:spPr>
        <p:txBody>
          <a:bodyPr wrap="square" lIns="0" tIns="0" rIns="0" bIns="0" rtlCol="0" anchor="ctr">
            <a:normAutofit/>
          </a:bodyPr>
          <a:lstStyle/>
          <a:p>
            <a:pPr marL="0" indent="0">
              <a:buNone/>
            </a:pPr>
            <a:r>
              <a:rPr lang="en-US" sz="620" dirty="0">
                <a:solidFill>
                  <a:srgbClr val="20242A"/>
                </a:solidFill>
              </a:rPr>
              <a:t>High-Urgency / Priority Requests</a:t>
            </a:r>
            <a:endParaRPr lang="en-US" sz="620" dirty="0"/>
          </a:p>
        </p:txBody>
      </p:sp>
      <p:sp>
        <p:nvSpPr>
          <p:cNvPr id="84" name="Shape 81"/>
          <p:cNvSpPr/>
          <p:nvPr/>
        </p:nvSpPr>
        <p:spPr>
          <a:xfrm>
            <a:off x="7333488" y="5221224"/>
            <a:ext cx="3063240" cy="214884"/>
          </a:xfrm>
          <a:prstGeom prst="roundRect">
            <a:avLst>
              <a:gd name="adj" fmla="val 19149"/>
            </a:avLst>
          </a:prstGeom>
          <a:solidFill>
            <a:srgbClr val="F2F0F3"/>
          </a:solidFill>
          <a:ln w="12700">
            <a:solidFill>
              <a:srgbClr val="F2F0F3"/>
            </a:solidFill>
            <a:prstDash val="solid"/>
          </a:ln>
        </p:spPr>
        <p:txBody>
          <a:bodyPr/>
          <a:lstStyle/>
          <a:p>
            <a:endParaRPr lang="en-IN"/>
          </a:p>
        </p:txBody>
      </p:sp>
      <p:sp>
        <p:nvSpPr>
          <p:cNvPr id="85" name="Shape 82"/>
          <p:cNvSpPr/>
          <p:nvPr/>
        </p:nvSpPr>
        <p:spPr>
          <a:xfrm>
            <a:off x="7333488" y="5221224"/>
            <a:ext cx="80612" cy="214884"/>
          </a:xfrm>
          <a:prstGeom prst="roundRect">
            <a:avLst>
              <a:gd name="adj" fmla="val 51045"/>
            </a:avLst>
          </a:prstGeom>
          <a:solidFill>
            <a:srgbClr val="C6C0C9"/>
          </a:solidFill>
          <a:ln w="12700">
            <a:solidFill>
              <a:srgbClr val="C6C0C9"/>
            </a:solidFill>
            <a:prstDash val="solid"/>
          </a:ln>
        </p:spPr>
        <p:txBody>
          <a:bodyPr/>
          <a:lstStyle/>
          <a:p>
            <a:endParaRPr lang="en-IN"/>
          </a:p>
        </p:txBody>
      </p:sp>
      <p:sp>
        <p:nvSpPr>
          <p:cNvPr id="86" name="Text 83"/>
          <p:cNvSpPr/>
          <p:nvPr/>
        </p:nvSpPr>
        <p:spPr>
          <a:xfrm>
            <a:off x="10936224" y="5244084"/>
            <a:ext cx="292608" cy="91440"/>
          </a:xfrm>
          <a:prstGeom prst="rect">
            <a:avLst/>
          </a:prstGeom>
          <a:noFill/>
          <a:ln/>
        </p:spPr>
        <p:txBody>
          <a:bodyPr wrap="square" lIns="0" tIns="0" rIns="0" bIns="0" rtlCol="0" anchor="ctr"/>
          <a:lstStyle/>
          <a:p>
            <a:pPr marL="0" indent="0" algn="r">
              <a:buNone/>
            </a:pPr>
            <a:r>
              <a:rPr lang="en-US" sz="610" b="1" dirty="0">
                <a:solidFill>
                  <a:srgbClr val="5B6472"/>
                </a:solidFill>
              </a:rPr>
              <a:t>1</a:t>
            </a:r>
            <a:endParaRPr lang="en-US" sz="610" dirty="0"/>
          </a:p>
        </p:txBody>
      </p:sp>
      <p:sp>
        <p:nvSpPr>
          <p:cNvPr id="88" name="Text 85"/>
          <p:cNvSpPr/>
          <p:nvPr/>
        </p:nvSpPr>
        <p:spPr>
          <a:xfrm>
            <a:off x="1005840" y="6080760"/>
            <a:ext cx="10195560" cy="118872"/>
          </a:xfrm>
          <a:prstGeom prst="rect">
            <a:avLst/>
          </a:prstGeom>
          <a:noFill/>
          <a:ln/>
        </p:spPr>
        <p:txBody>
          <a:bodyPr wrap="square" lIns="0" tIns="0" rIns="0" bIns="0" rtlCol="0" anchor="ctr"/>
          <a:lstStyle/>
          <a:p>
            <a:pPr marL="0" indent="0" algn="ctr">
              <a:buNone/>
            </a:pPr>
            <a:r>
              <a:rPr lang="en-US" sz="780" b="1" dirty="0">
                <a:solidFill>
                  <a:srgbClr val="FFFFFF"/>
                </a:solidFill>
              </a:rPr>
              <a:t>Executive readout: Access + job-code governance and FO mapping can reduce the largest repeat-request clusters.</a:t>
            </a:r>
            <a:endParaRPr lang="en-US" sz="780" dirty="0"/>
          </a:p>
        </p:txBody>
      </p:sp>
      <p:pic>
        <p:nvPicPr>
          <p:cNvPr id="90" name="Picture 89">
            <a:extLst>
              <a:ext uri="{FF2B5EF4-FFF2-40B4-BE49-F238E27FC236}">
                <a16:creationId xmlns:a16="http://schemas.microsoft.com/office/drawing/2014/main" id="{81B65D01-8D41-C932-ADD5-38DD65A7EAB3}"/>
              </a:ext>
            </a:extLst>
          </p:cNvPr>
          <p:cNvPicPr>
            <a:picLocks noChangeAspect="1"/>
          </p:cNvPicPr>
          <p:nvPr/>
        </p:nvPicPr>
        <p:blipFill>
          <a:blip r:embed="rId3"/>
          <a:stretch>
            <a:fillRect/>
          </a:stretch>
        </p:blipFill>
        <p:spPr>
          <a:xfrm>
            <a:off x="0" y="6473952"/>
            <a:ext cx="12192000" cy="4069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9EB50-F92C-5757-4E56-7816BA50D0F9}"/>
              </a:ext>
            </a:extLst>
          </p:cNvPr>
          <p:cNvSpPr>
            <a:spLocks noGrp="1"/>
          </p:cNvSpPr>
          <p:nvPr>
            <p:ph type="ctrTitle"/>
          </p:nvPr>
        </p:nvSpPr>
        <p:spPr/>
        <p:txBody>
          <a:bodyPr/>
          <a:lstStyle/>
          <a:p>
            <a:r>
              <a:rPr lang="en-IN" dirty="0"/>
              <a:t>Thank You</a:t>
            </a:r>
          </a:p>
        </p:txBody>
      </p:sp>
    </p:spTree>
    <p:extLst>
      <p:ext uri="{BB962C8B-B14F-4D97-AF65-F5344CB8AC3E}">
        <p14:creationId xmlns:p14="http://schemas.microsoft.com/office/powerpoint/2010/main" val="3409164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7B4A-F5E5-295F-00A4-6F6D6DE1D536}"/>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E5BDF95B-C6B7-1259-436C-2FBA60162C20}"/>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6D0B2EC6-D634-7E12-06A8-CDA6A0F3A01E}"/>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FY 27 Projects &amp; Plan</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graphicFrame>
        <p:nvGraphicFramePr>
          <p:cNvPr id="2" name="Table 1">
            <a:extLst>
              <a:ext uri="{FF2B5EF4-FFF2-40B4-BE49-F238E27FC236}">
                <a16:creationId xmlns:a16="http://schemas.microsoft.com/office/drawing/2014/main" id="{9CAB749C-0CA8-3141-2FEA-9D2F67DD7AB3}"/>
              </a:ext>
            </a:extLst>
          </p:cNvPr>
          <p:cNvGraphicFramePr>
            <a:graphicFrameLocks noGrp="1"/>
          </p:cNvGraphicFramePr>
          <p:nvPr>
            <p:extLst>
              <p:ext uri="{D42A27DB-BD31-4B8C-83A1-F6EECF244321}">
                <p14:modId xmlns:p14="http://schemas.microsoft.com/office/powerpoint/2010/main" val="4264705907"/>
              </p:ext>
            </p:extLst>
          </p:nvPr>
        </p:nvGraphicFramePr>
        <p:xfrm>
          <a:off x="76200" y="685800"/>
          <a:ext cx="11963399" cy="5410197"/>
        </p:xfrm>
        <a:graphic>
          <a:graphicData uri="http://schemas.openxmlformats.org/drawingml/2006/table">
            <a:tbl>
              <a:tblPr>
                <a:tableStyleId>{8799B23B-EC83-4686-B30A-512413B5E67A}</a:tableStyleId>
              </a:tblPr>
              <a:tblGrid>
                <a:gridCol w="2069618">
                  <a:extLst>
                    <a:ext uri="{9D8B030D-6E8A-4147-A177-3AD203B41FA5}">
                      <a16:colId xmlns:a16="http://schemas.microsoft.com/office/drawing/2014/main" val="3379584261"/>
                    </a:ext>
                  </a:extLst>
                </a:gridCol>
                <a:gridCol w="1054582">
                  <a:extLst>
                    <a:ext uri="{9D8B030D-6E8A-4147-A177-3AD203B41FA5}">
                      <a16:colId xmlns:a16="http://schemas.microsoft.com/office/drawing/2014/main" val="2705552805"/>
                    </a:ext>
                  </a:extLst>
                </a:gridCol>
                <a:gridCol w="7021974">
                  <a:extLst>
                    <a:ext uri="{9D8B030D-6E8A-4147-A177-3AD203B41FA5}">
                      <a16:colId xmlns:a16="http://schemas.microsoft.com/office/drawing/2014/main" val="2881421068"/>
                    </a:ext>
                  </a:extLst>
                </a:gridCol>
                <a:gridCol w="1817225">
                  <a:extLst>
                    <a:ext uri="{9D8B030D-6E8A-4147-A177-3AD203B41FA5}">
                      <a16:colId xmlns:a16="http://schemas.microsoft.com/office/drawing/2014/main" val="2850750400"/>
                    </a:ext>
                  </a:extLst>
                </a:gridCol>
              </a:tblGrid>
              <a:tr h="545558">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Theme</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S.No.</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Initiative</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Release Quarter (TENTATIVE)</a:t>
                      </a:r>
                    </a:p>
                  </a:txBody>
                  <a:tcPr marL="2596" marR="2596" marT="2596" marB="0" anchor="b">
                    <a:solidFill>
                      <a:schemeClr val="bg2">
                        <a:lumMod val="90000"/>
                      </a:schemeClr>
                    </a:solidFill>
                  </a:tcPr>
                </a:tc>
                <a:extLst>
                  <a:ext uri="{0D108BD9-81ED-4DB2-BD59-A6C34878D82A}">
                    <a16:rowId xmlns:a16="http://schemas.microsoft.com/office/drawing/2014/main" val="4015765331"/>
                  </a:ext>
                </a:extLst>
              </a:tr>
              <a:tr h="274223">
                <a:tc rowSpan="8">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Core HR &amp; Employee Data Foundation</a:t>
                      </a:r>
                    </a:p>
                  </a:txBody>
                  <a:tcPr marL="2596" marR="2596" marT="2596" marB="0" anchor="ct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1</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Crew Upgrade Automation for Designation, Comp update </a:t>
                      </a:r>
                      <a:r>
                        <a:rPr lang="en-US" sz="1600" u="none" strike="noStrike" kern="1200" dirty="0">
                          <a:solidFill>
                            <a:schemeClr val="tx1"/>
                          </a:solidFill>
                          <a:effectLst/>
                          <a:highlight>
                            <a:srgbClr val="00FF00"/>
                          </a:highlight>
                          <a:latin typeface="+mn-lt"/>
                          <a:ea typeface="+mn-ea"/>
                          <a:cs typeface="+mn-cs"/>
                        </a:rPr>
                        <a:t>Completed</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3079264480"/>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2</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Leave Pro-ration on notice period </a:t>
                      </a:r>
                      <a:r>
                        <a:rPr lang="en-US" sz="1600" u="none" strike="noStrike" kern="1200" dirty="0">
                          <a:solidFill>
                            <a:schemeClr val="tx1"/>
                          </a:solidFill>
                          <a:effectLst/>
                          <a:highlight>
                            <a:srgbClr val="FFFF00"/>
                          </a:highlight>
                          <a:latin typeface="+mn-lt"/>
                          <a:ea typeface="+mn-ea"/>
                          <a:cs typeface="+mn-cs"/>
                        </a:rPr>
                        <a:t>In Progress</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883626114"/>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3</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Creating Employee Masters (Rule Based with Validations) </a:t>
                      </a:r>
                      <a:r>
                        <a:rPr lang="en-US" sz="1600" u="none" strike="noStrike" kern="1200" dirty="0">
                          <a:solidFill>
                            <a:schemeClr val="tx1"/>
                          </a:solidFill>
                          <a:effectLst/>
                          <a:highlight>
                            <a:srgbClr val="00FF00"/>
                          </a:highlight>
                          <a:latin typeface="+mn-lt"/>
                          <a:ea typeface="+mn-ea"/>
                          <a:cs typeface="+mn-cs"/>
                        </a:rPr>
                        <a:t>Completed</a:t>
                      </a:r>
                      <a:endParaRPr lang="en-US"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205488506"/>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4</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Implementation of JPB (Job Profile Builder)</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030916016"/>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5</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AMS Phase 2 + Linkage to Payroll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41553469"/>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6</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AMS Phase 3 + Linkage to Payroll</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3391180629"/>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7</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Automate Employee upgrades – Engineering</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765079885"/>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8</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International Employee Complete Lifecycle</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526844349"/>
                  </a:ext>
                </a:extLst>
              </a:tr>
              <a:tr h="477071">
                <a:tc rowSpan="5">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Talent Acquisition &amp; Employee Lifecycle</a:t>
                      </a:r>
                    </a:p>
                  </a:txBody>
                  <a:tcPr marL="2596" marR="2596" marT="2596" marB="0" anchor="ct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9</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a:t>
                      </a:r>
                      <a:r>
                        <a:rPr lang="en-US" sz="1600" u="none" strike="noStrike" kern="1200" dirty="0" err="1">
                          <a:solidFill>
                            <a:schemeClr val="tx1"/>
                          </a:solidFill>
                          <a:effectLst/>
                          <a:latin typeface="+mn-lt"/>
                          <a:ea typeface="+mn-ea"/>
                          <a:cs typeface="+mn-cs"/>
                        </a:rPr>
                        <a:t>Adhoc</a:t>
                      </a:r>
                      <a:r>
                        <a:rPr lang="en-US" sz="1600" u="none" strike="noStrike" kern="1200" dirty="0">
                          <a:solidFill>
                            <a:schemeClr val="tx1"/>
                          </a:solidFill>
                          <a:effectLst/>
                          <a:latin typeface="+mn-lt"/>
                          <a:ea typeface="+mn-ea"/>
                          <a:cs typeface="+mn-cs"/>
                        </a:rPr>
                        <a:t>] Offer Letters Revamp - Optimizing offer letters – </a:t>
                      </a:r>
                      <a:r>
                        <a:rPr lang="en-US" sz="1600" u="none" strike="noStrike" kern="1200" dirty="0">
                          <a:solidFill>
                            <a:schemeClr val="tx1"/>
                          </a:solidFill>
                          <a:effectLst/>
                          <a:highlight>
                            <a:srgbClr val="00FF00"/>
                          </a:highlight>
                          <a:latin typeface="+mn-lt"/>
                          <a:ea typeface="+mn-ea"/>
                          <a:cs typeface="+mn-cs"/>
                        </a:rPr>
                        <a:t>Completed</a:t>
                      </a:r>
                      <a:endParaRPr lang="en-IN" sz="1600" u="none" strike="noStrike" kern="1200" dirty="0">
                        <a:solidFill>
                          <a:schemeClr val="tx1"/>
                        </a:solidFill>
                        <a:effectLst/>
                        <a:highlight>
                          <a:srgbClr val="00FF00"/>
                        </a:highligh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a:solidFill>
                            <a:schemeClr val="tx1"/>
                          </a:solidFill>
                          <a:effectLst/>
                          <a:latin typeface="+mn-lt"/>
                          <a:ea typeface="+mn-ea"/>
                          <a:cs typeface="+mn-cs"/>
                        </a:rPr>
                        <a:t>Q1</a:t>
                      </a:r>
                      <a:endParaRPr lang="en-IN" sz="1600" u="none" strike="noStrike" kern="1200" dirty="0">
                        <a:solidFill>
                          <a:schemeClr val="tx1"/>
                        </a:solidFill>
                        <a:effectLst/>
                        <a:latin typeface="+mn-lt"/>
                        <a:ea typeface="+mn-ea"/>
                        <a:cs typeface="+mn-cs"/>
                      </a:endParaRPr>
                    </a:p>
                  </a:txBody>
                  <a:tcPr marL="2596" marR="2596" marT="2596" marB="0" anchor="b"/>
                </a:tc>
                <a:extLst>
                  <a:ext uri="{0D108BD9-81ED-4DB2-BD59-A6C34878D82A}">
                    <a16:rowId xmlns:a16="http://schemas.microsoft.com/office/drawing/2014/main" val="753662552"/>
                  </a:ext>
                </a:extLst>
              </a:tr>
              <a:tr h="274223">
                <a:tc vMerge="1">
                  <a:txBody>
                    <a:bodyPr/>
                    <a:lstStyle/>
                    <a:p>
                      <a:endParaRPr dirty="0"/>
                    </a:p>
                  </a:txBody>
                  <a:tcPr marL="2596" marR="2596" marT="2596" marB="0" anchor="ct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10</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Onboarding 2.0 Enhancements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035118663"/>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11</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Cross Boarding Implementation - IJP &amp; Group Transfer </a:t>
                      </a:r>
                      <a:r>
                        <a:rPr lang="en-US" sz="1600" u="none" strike="noStrike" kern="1200" dirty="0">
                          <a:solidFill>
                            <a:schemeClr val="tx1"/>
                          </a:solidFill>
                          <a:effectLst/>
                          <a:highlight>
                            <a:srgbClr val="FFFF00"/>
                          </a:highlight>
                          <a:latin typeface="+mn-lt"/>
                          <a:ea typeface="+mn-ea"/>
                          <a:cs typeface="+mn-cs"/>
                        </a:rPr>
                        <a:t>In Progress</a:t>
                      </a:r>
                      <a:endParaRPr lang="en-US"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895163324"/>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12</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New Hiring Experience Tool Implementation</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266229093"/>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13</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New Employee Assimilation - Employee Touchpoints Digitization </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4038197558"/>
                  </a:ext>
                </a:extLst>
              </a:tr>
              <a:tr h="274223">
                <a:tc rowSpan="4">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Experience, Culture &amp; Future of HR</a:t>
                      </a:r>
                    </a:p>
                  </a:txBody>
                  <a:tcPr marL="2596" marR="2596" marT="2596" marB="0" anchor="ct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14</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Automation of Nudges at Career Milestones</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483726624"/>
                  </a:ext>
                </a:extLst>
              </a:tr>
              <a:tr h="274223">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15</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HR Helpdesk Automation End to end with Agentic AI</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3703030022"/>
                  </a:ext>
                </a:extLst>
              </a:tr>
              <a:tr h="274223">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16</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Disciplinary Tool Design &amp; deployment</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3974792906"/>
                  </a:ext>
                </a:extLst>
              </a:tr>
              <a:tr h="274223">
                <a:tc vMerge="1">
                  <a:txBody>
                    <a:bodyPr/>
                    <a:lstStyle/>
                    <a:p>
                      <a:endParaRPr lang="en-IN"/>
                    </a:p>
                  </a:txBody>
                  <a:tcPr/>
                </a:tc>
                <a:tc>
                  <a:txBody>
                    <a:bodyPr/>
                    <a:lstStyle/>
                    <a:p>
                      <a:pPr marL="0" algn="l" defTabSz="914400" rtl="0" eaLnBrk="1" fontAlgn="ctr" latinLnBrk="0" hangingPunct="1"/>
                      <a:r>
                        <a:rPr lang="fr-FR" sz="1600" u="none" strike="noStrike" kern="1200" dirty="0">
                          <a:solidFill>
                            <a:schemeClr val="tx1"/>
                          </a:solidFill>
                          <a:effectLst/>
                          <a:latin typeface="+mn-lt"/>
                          <a:ea typeface="+mn-ea"/>
                          <a:cs typeface="+mn-cs"/>
                        </a:rPr>
                        <a:t>17</a:t>
                      </a:r>
                    </a:p>
                  </a:txBody>
                  <a:tcPr marL="2596" marR="2596" marT="2596" marB="0" anchor="b"/>
                </a:tc>
                <a:tc>
                  <a:txBody>
                    <a:bodyPr/>
                    <a:lstStyle/>
                    <a:p>
                      <a:pPr marL="0" algn="l" defTabSz="914400" rtl="0" eaLnBrk="1" fontAlgn="ctr" latinLnBrk="0" hangingPunct="1"/>
                      <a:r>
                        <a:rPr lang="fr-FR" sz="1600" u="none" strike="noStrike" kern="1200" dirty="0">
                          <a:solidFill>
                            <a:schemeClr val="tx1"/>
                          </a:solidFill>
                          <a:effectLst/>
                          <a:latin typeface="+mn-lt"/>
                          <a:ea typeface="+mn-ea"/>
                          <a:cs typeface="+mn-cs"/>
                        </a:rPr>
                        <a:t>HR Analytics </a:t>
                      </a:r>
                      <a:r>
                        <a:rPr lang="fr-FR" sz="1600" u="none" strike="noStrike" kern="1200" dirty="0" err="1">
                          <a:solidFill>
                            <a:schemeClr val="tx1"/>
                          </a:solidFill>
                          <a:effectLst/>
                          <a:latin typeface="+mn-lt"/>
                          <a:ea typeface="+mn-ea"/>
                          <a:cs typeface="+mn-cs"/>
                        </a:rPr>
                        <a:t>Chatbot</a:t>
                      </a:r>
                      <a:r>
                        <a:rPr lang="fr-FR" sz="1600" u="none" strike="noStrike" kern="1200" dirty="0">
                          <a:solidFill>
                            <a:schemeClr val="tx1"/>
                          </a:solidFill>
                          <a:effectLst/>
                          <a:latin typeface="+mn-lt"/>
                          <a:ea typeface="+mn-ea"/>
                          <a:cs typeface="+mn-cs"/>
                        </a:rPr>
                        <a:t> (RAG) </a:t>
                      </a:r>
                      <a:r>
                        <a:rPr lang="fr-FR" sz="1600" u="none" strike="noStrike" kern="1200" dirty="0" err="1">
                          <a:solidFill>
                            <a:schemeClr val="tx1"/>
                          </a:solidFill>
                          <a:effectLst/>
                          <a:latin typeface="+mn-lt"/>
                          <a:ea typeface="+mn-ea"/>
                          <a:cs typeface="+mn-cs"/>
                        </a:rPr>
                        <a:t>Implementation</a:t>
                      </a:r>
                      <a:endParaRPr lang="fr-FR"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fr-FR"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522951772"/>
                  </a:ext>
                </a:extLst>
              </a:tr>
            </a:tbl>
          </a:graphicData>
        </a:graphic>
      </p:graphicFrame>
    </p:spTree>
    <p:extLst>
      <p:ext uri="{BB962C8B-B14F-4D97-AF65-F5344CB8AC3E}">
        <p14:creationId xmlns:p14="http://schemas.microsoft.com/office/powerpoint/2010/main" val="2802040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E26F-E160-10B1-B071-A927EB533113}"/>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CB5C693C-1F69-1D9E-0746-B5E88A5D7E36}"/>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AB30A4CA-C166-9441-0E3A-AD99F12204D2}"/>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FY 27 Projects &amp; Plan</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graphicFrame>
        <p:nvGraphicFramePr>
          <p:cNvPr id="2" name="Table 1">
            <a:extLst>
              <a:ext uri="{FF2B5EF4-FFF2-40B4-BE49-F238E27FC236}">
                <a16:creationId xmlns:a16="http://schemas.microsoft.com/office/drawing/2014/main" id="{1CFC9816-930E-09E4-A0A1-F69B783BE4B4}"/>
              </a:ext>
            </a:extLst>
          </p:cNvPr>
          <p:cNvGraphicFramePr>
            <a:graphicFrameLocks noGrp="1"/>
          </p:cNvGraphicFramePr>
          <p:nvPr>
            <p:extLst>
              <p:ext uri="{D42A27DB-BD31-4B8C-83A1-F6EECF244321}">
                <p14:modId xmlns:p14="http://schemas.microsoft.com/office/powerpoint/2010/main" val="2167128134"/>
              </p:ext>
            </p:extLst>
          </p:nvPr>
        </p:nvGraphicFramePr>
        <p:xfrm>
          <a:off x="76200" y="685800"/>
          <a:ext cx="11963399" cy="5410199"/>
        </p:xfrm>
        <a:graphic>
          <a:graphicData uri="http://schemas.openxmlformats.org/drawingml/2006/table">
            <a:tbl>
              <a:tblPr>
                <a:tableStyleId>{8799B23B-EC83-4686-B30A-512413B5E67A}</a:tableStyleId>
              </a:tblPr>
              <a:tblGrid>
                <a:gridCol w="2069618">
                  <a:extLst>
                    <a:ext uri="{9D8B030D-6E8A-4147-A177-3AD203B41FA5}">
                      <a16:colId xmlns:a16="http://schemas.microsoft.com/office/drawing/2014/main" val="3379584261"/>
                    </a:ext>
                  </a:extLst>
                </a:gridCol>
                <a:gridCol w="1435582">
                  <a:extLst>
                    <a:ext uri="{9D8B030D-6E8A-4147-A177-3AD203B41FA5}">
                      <a16:colId xmlns:a16="http://schemas.microsoft.com/office/drawing/2014/main" val="3674984229"/>
                    </a:ext>
                  </a:extLst>
                </a:gridCol>
                <a:gridCol w="6640974">
                  <a:extLst>
                    <a:ext uri="{9D8B030D-6E8A-4147-A177-3AD203B41FA5}">
                      <a16:colId xmlns:a16="http://schemas.microsoft.com/office/drawing/2014/main" val="2881421068"/>
                    </a:ext>
                  </a:extLst>
                </a:gridCol>
                <a:gridCol w="1817225">
                  <a:extLst>
                    <a:ext uri="{9D8B030D-6E8A-4147-A177-3AD203B41FA5}">
                      <a16:colId xmlns:a16="http://schemas.microsoft.com/office/drawing/2014/main" val="2850750400"/>
                    </a:ext>
                  </a:extLst>
                </a:gridCol>
              </a:tblGrid>
              <a:tr h="628497">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Theme</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S.No.</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Initiative</a:t>
                      </a:r>
                    </a:p>
                  </a:txBody>
                  <a:tcPr marL="2596" marR="2596" marT="2596" marB="0" anchor="b">
                    <a:solidFill>
                      <a:schemeClr val="bg2">
                        <a:lumMod val="90000"/>
                      </a:schemeClr>
                    </a:solidFill>
                  </a:tcPr>
                </a:tc>
                <a:tc>
                  <a:txBody>
                    <a:bodyPr/>
                    <a:lstStyle/>
                    <a:p>
                      <a:pPr marL="0" algn="l" defTabSz="914400" rtl="0" eaLnBrk="1" fontAlgn="ctr" latinLnBrk="0" hangingPunct="1"/>
                      <a:r>
                        <a:rPr lang="en-IN" sz="1600" b="1" u="none" strike="noStrike" kern="1200" dirty="0">
                          <a:solidFill>
                            <a:schemeClr val="tx1"/>
                          </a:solidFill>
                          <a:effectLst/>
                          <a:latin typeface="+mn-lt"/>
                          <a:ea typeface="+mn-ea"/>
                          <a:cs typeface="+mn-cs"/>
                        </a:rPr>
                        <a:t>Release Quarter (TENTATIVE)</a:t>
                      </a:r>
                    </a:p>
                  </a:txBody>
                  <a:tcPr marL="2596" marR="2596" marT="2596" marB="0" anchor="b">
                    <a:solidFill>
                      <a:schemeClr val="bg2">
                        <a:lumMod val="90000"/>
                      </a:schemeClr>
                    </a:solidFill>
                  </a:tcPr>
                </a:tc>
                <a:extLst>
                  <a:ext uri="{0D108BD9-81ED-4DB2-BD59-A6C34878D82A}">
                    <a16:rowId xmlns:a16="http://schemas.microsoft.com/office/drawing/2014/main" val="4015765331"/>
                  </a:ext>
                </a:extLst>
              </a:tr>
              <a:tr h="320428">
                <a:tc rowSpan="7">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Performance, Talent &amp; Growth Systems</a:t>
                      </a:r>
                    </a:p>
                  </a:txBody>
                  <a:tcPr marL="2596" marR="2596" marT="2596" marB="0" anchor="ct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18</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Team Touchpoints implementation on PMGM </a:t>
                      </a:r>
                      <a:r>
                        <a:rPr lang="en-US" sz="1600" u="none" strike="noStrike" kern="1200" dirty="0">
                          <a:solidFill>
                            <a:schemeClr val="tx1"/>
                          </a:solidFill>
                          <a:effectLst/>
                          <a:highlight>
                            <a:srgbClr val="00FF00"/>
                          </a:highlight>
                          <a:latin typeface="+mn-lt"/>
                          <a:ea typeface="+mn-ea"/>
                          <a:cs typeface="+mn-cs"/>
                        </a:rPr>
                        <a:t>Completed</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046652707"/>
                  </a:ext>
                </a:extLst>
              </a:tr>
              <a:tr h="628497">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19</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Implementation of EDP (Employee Development Plan) across organization</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172513419"/>
                  </a:ext>
                </a:extLst>
              </a:tr>
              <a:tr h="320428">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20</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Mid Year to final Evaluation revamp</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27340327"/>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21</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New LMS module implementation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817916425"/>
                  </a:ext>
                </a:extLst>
              </a:tr>
              <a:tr h="320428">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22</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Implementation of Talent integration HUB (TIH)</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Q3</a:t>
                      </a:r>
                    </a:p>
                  </a:txBody>
                  <a:tcPr marL="2596" marR="2596" marT="2596" marB="0" anchor="b"/>
                </a:tc>
                <a:extLst>
                  <a:ext uri="{0D108BD9-81ED-4DB2-BD59-A6C34878D82A}">
                    <a16:rowId xmlns:a16="http://schemas.microsoft.com/office/drawing/2014/main" val="1277538308"/>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23</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Succession Management Enhancements</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564601496"/>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24</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Learning Overview Implementation</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3096545912"/>
                  </a:ext>
                </a:extLst>
              </a:tr>
              <a:tr h="628497">
                <a:tc rowSpan="6">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Payroll, Compliance &amp; Financial Accuracy</a:t>
                      </a:r>
                    </a:p>
                  </a:txBody>
                  <a:tcPr marL="2596" marR="2596" marT="2596" marB="0" anchor="ct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25</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Comp Planning &amp; Letters Generation Revamp &amp; Automation – </a:t>
                      </a:r>
                      <a:r>
                        <a:rPr lang="en-IN" sz="1600" u="none" strike="noStrike" kern="1200" dirty="0">
                          <a:solidFill>
                            <a:schemeClr val="tx1"/>
                          </a:solidFill>
                          <a:effectLst/>
                          <a:highlight>
                            <a:srgbClr val="00FF00"/>
                          </a:highlight>
                          <a:latin typeface="+mn-lt"/>
                          <a:ea typeface="+mn-ea"/>
                          <a:cs typeface="+mn-cs"/>
                        </a:rPr>
                        <a:t>Completed</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1413443485"/>
                  </a:ext>
                </a:extLst>
              </a:tr>
              <a:tr h="320428">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26</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Enable LWD FNF module on SuccessFactors </a:t>
                      </a:r>
                      <a:r>
                        <a:rPr lang="en-US" sz="1600" u="none" strike="noStrike" kern="1200" dirty="0">
                          <a:solidFill>
                            <a:schemeClr val="tx1"/>
                          </a:solidFill>
                          <a:effectLst/>
                          <a:highlight>
                            <a:srgbClr val="FFFF00"/>
                          </a:highlight>
                          <a:latin typeface="+mn-lt"/>
                          <a:ea typeface="+mn-ea"/>
                          <a:cs typeface="+mn-cs"/>
                        </a:rPr>
                        <a:t>In Progress</a:t>
                      </a:r>
                      <a:endParaRPr lang="en-US"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4106228390"/>
                  </a:ext>
                </a:extLst>
              </a:tr>
              <a:tr h="320428">
                <a:tc vMerge="1">
                  <a:txBody>
                    <a:bodyPr/>
                    <a:lstStyle/>
                    <a:p>
                      <a:endParaRPr lang="en-IN"/>
                    </a:p>
                  </a:txBody>
                  <a:tcPr/>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27</a:t>
                      </a: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BRE People Strong Expense Module </a:t>
                      </a:r>
                      <a:r>
                        <a:rPr lang="en-US" sz="1600" u="none" strike="noStrike" kern="1200" dirty="0">
                          <a:solidFill>
                            <a:schemeClr val="tx1"/>
                          </a:solidFill>
                          <a:effectLst/>
                          <a:highlight>
                            <a:srgbClr val="00FF00"/>
                          </a:highlight>
                          <a:latin typeface="+mn-lt"/>
                          <a:ea typeface="+mn-ea"/>
                          <a:cs typeface="+mn-cs"/>
                        </a:rPr>
                        <a:t>Completed</a:t>
                      </a:r>
                      <a:endParaRPr lang="en-US"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US"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839150544"/>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28</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Crew Allowance Automation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955899887"/>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29</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Wage component Distribution to change as per compliance</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Q2</a:t>
                      </a:r>
                    </a:p>
                  </a:txBody>
                  <a:tcPr marL="2596" marR="2596" marT="2596" marB="0" anchor="b"/>
                </a:tc>
                <a:extLst>
                  <a:ext uri="{0D108BD9-81ED-4DB2-BD59-A6C34878D82A}">
                    <a16:rowId xmlns:a16="http://schemas.microsoft.com/office/drawing/2014/main" val="23554190"/>
                  </a:ext>
                </a:extLst>
              </a:tr>
              <a:tr h="320428">
                <a:tc vMerge="1">
                  <a:txBody>
                    <a:bodyPr/>
                    <a:lstStyle/>
                    <a:p>
                      <a:endParaRPr lang="en-IN"/>
                    </a:p>
                  </a:txBody>
                  <a:tcPr/>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30</a:t>
                      </a: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End to End Payroll Automation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marL="0" algn="l" defTabSz="914400" rtl="0" eaLnBrk="1" fontAlgn="ctr" latinLnBrk="0" hangingPunct="1"/>
                      <a:r>
                        <a:rPr lang="en-IN" sz="1600" u="none" strike="noStrike" kern="1200" dirty="0">
                          <a:solidFill>
                            <a:schemeClr val="tx1"/>
                          </a:solidFill>
                          <a:effectLst/>
                          <a:latin typeface="+mn-lt"/>
                          <a:ea typeface="+mn-ea"/>
                          <a:cs typeface="+mn-cs"/>
                        </a:rPr>
                        <a:t>Q4</a:t>
                      </a:r>
                    </a:p>
                  </a:txBody>
                  <a:tcPr marL="2596" marR="2596" marT="2596" marB="0" anchor="b"/>
                </a:tc>
                <a:extLst>
                  <a:ext uri="{0D108BD9-81ED-4DB2-BD59-A6C34878D82A}">
                    <a16:rowId xmlns:a16="http://schemas.microsoft.com/office/drawing/2014/main" val="3503174555"/>
                  </a:ext>
                </a:extLst>
              </a:tr>
            </a:tbl>
          </a:graphicData>
        </a:graphic>
      </p:graphicFrame>
    </p:spTree>
    <p:extLst>
      <p:ext uri="{BB962C8B-B14F-4D97-AF65-F5344CB8AC3E}">
        <p14:creationId xmlns:p14="http://schemas.microsoft.com/office/powerpoint/2010/main" val="3507957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E31EB-EED3-7461-6C28-862F76671ED9}"/>
            </a:ext>
          </a:extLst>
        </p:cNvPr>
        <p:cNvGrpSpPr/>
        <p:nvPr/>
      </p:nvGrpSpPr>
      <p:grpSpPr>
        <a:xfrm>
          <a:off x="0" y="0"/>
          <a:ext cx="0" cy="0"/>
          <a:chOff x="0" y="0"/>
          <a:chExt cx="0" cy="0"/>
        </a:xfrm>
      </p:grpSpPr>
      <p:sp>
        <p:nvSpPr>
          <p:cNvPr id="4" name="Title 11">
            <a:extLst>
              <a:ext uri="{FF2B5EF4-FFF2-40B4-BE49-F238E27FC236}">
                <a16:creationId xmlns:a16="http://schemas.microsoft.com/office/drawing/2014/main" id="{8CEDF4EA-0E7A-4DA4-8EA2-D9C85D7500A7}"/>
              </a:ext>
            </a:extLst>
          </p:cNvPr>
          <p:cNvSpPr txBox="1">
            <a:spLocks/>
          </p:cNvSpPr>
          <p:nvPr/>
        </p:nvSpPr>
        <p:spPr>
          <a:xfrm>
            <a:off x="76200" y="86710"/>
            <a:ext cx="8969828" cy="450707"/>
          </a:xfrm>
          <a:prstGeom prst="rect">
            <a:avLst/>
          </a:prstGeom>
        </p:spPr>
        <p:txBody>
          <a:bodyPr>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799" b="1" i="0" u="none" strike="noStrike" kern="1200" cap="none" spc="0" normalizeH="0" baseline="0" noProof="0">
              <a:ln>
                <a:noFill/>
              </a:ln>
              <a:solidFill>
                <a:srgbClr val="C00000"/>
              </a:solidFill>
              <a:effectLst/>
              <a:uLnTx/>
              <a:uFillTx/>
              <a:latin typeface="AirIndia" pitchFamily="82" charset="77"/>
              <a:ea typeface="+mj-ea"/>
              <a:cs typeface="+mj-cs"/>
            </a:endParaRPr>
          </a:p>
        </p:txBody>
      </p:sp>
      <p:sp>
        <p:nvSpPr>
          <p:cNvPr id="3" name="Title 11">
            <a:extLst>
              <a:ext uri="{FF2B5EF4-FFF2-40B4-BE49-F238E27FC236}">
                <a16:creationId xmlns:a16="http://schemas.microsoft.com/office/drawing/2014/main" id="{B8AAC0A9-E962-96FF-D47A-ACC9C00E9F08}"/>
              </a:ext>
            </a:extLst>
          </p:cNvPr>
          <p:cNvSpPr txBox="1">
            <a:spLocks/>
          </p:cNvSpPr>
          <p:nvPr/>
        </p:nvSpPr>
        <p:spPr>
          <a:xfrm>
            <a:off x="76200" y="176215"/>
            <a:ext cx="11430000" cy="450707"/>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A0E28"/>
                </a:solidFill>
                <a:effectLst/>
                <a:uLnTx/>
                <a:uFillTx/>
                <a:latin typeface="AirIndia"/>
                <a:ea typeface="+mj-ea"/>
                <a:cs typeface="+mj-cs"/>
              </a:rPr>
              <a:t>FY 27 Projects &amp; Plan</a:t>
            </a:r>
            <a:endParaRPr kumimoji="0" lang="en-US" sz="2400" b="0" i="0" u="none" strike="noStrike" kern="1200" cap="none" spc="0" normalizeH="0" baseline="0" noProof="0" dirty="0">
              <a:ln>
                <a:noFill/>
              </a:ln>
              <a:solidFill>
                <a:srgbClr val="DA0E28"/>
              </a:solidFill>
              <a:effectLst/>
              <a:uLnTx/>
              <a:uFillTx/>
              <a:latin typeface="AirIndia"/>
              <a:ea typeface="+mj-ea"/>
              <a:cs typeface="+mj-cs"/>
            </a:endParaRPr>
          </a:p>
        </p:txBody>
      </p:sp>
      <p:graphicFrame>
        <p:nvGraphicFramePr>
          <p:cNvPr id="2" name="Table 1">
            <a:extLst>
              <a:ext uri="{FF2B5EF4-FFF2-40B4-BE49-F238E27FC236}">
                <a16:creationId xmlns:a16="http://schemas.microsoft.com/office/drawing/2014/main" id="{A116FA5D-753F-8CD9-7C6F-66A741C1BBB0}"/>
              </a:ext>
            </a:extLst>
          </p:cNvPr>
          <p:cNvGraphicFramePr>
            <a:graphicFrameLocks noGrp="1"/>
          </p:cNvGraphicFramePr>
          <p:nvPr>
            <p:extLst>
              <p:ext uri="{D42A27DB-BD31-4B8C-83A1-F6EECF244321}">
                <p14:modId xmlns:p14="http://schemas.microsoft.com/office/powerpoint/2010/main" val="2630582775"/>
              </p:ext>
            </p:extLst>
          </p:nvPr>
        </p:nvGraphicFramePr>
        <p:xfrm>
          <a:off x="76200" y="716426"/>
          <a:ext cx="11963399" cy="5531974"/>
        </p:xfrm>
        <a:graphic>
          <a:graphicData uri="http://schemas.openxmlformats.org/drawingml/2006/table">
            <a:tbl>
              <a:tblPr>
                <a:tableStyleId>{8799B23B-EC83-4686-B30A-512413B5E67A}</a:tableStyleId>
              </a:tblPr>
              <a:tblGrid>
                <a:gridCol w="2069618">
                  <a:extLst>
                    <a:ext uri="{9D8B030D-6E8A-4147-A177-3AD203B41FA5}">
                      <a16:colId xmlns:a16="http://schemas.microsoft.com/office/drawing/2014/main" val="3379584261"/>
                    </a:ext>
                  </a:extLst>
                </a:gridCol>
                <a:gridCol w="1435582">
                  <a:extLst>
                    <a:ext uri="{9D8B030D-6E8A-4147-A177-3AD203B41FA5}">
                      <a16:colId xmlns:a16="http://schemas.microsoft.com/office/drawing/2014/main" val="1141219582"/>
                    </a:ext>
                  </a:extLst>
                </a:gridCol>
                <a:gridCol w="6640974">
                  <a:extLst>
                    <a:ext uri="{9D8B030D-6E8A-4147-A177-3AD203B41FA5}">
                      <a16:colId xmlns:a16="http://schemas.microsoft.com/office/drawing/2014/main" val="2881421068"/>
                    </a:ext>
                  </a:extLst>
                </a:gridCol>
                <a:gridCol w="1817225">
                  <a:extLst>
                    <a:ext uri="{9D8B030D-6E8A-4147-A177-3AD203B41FA5}">
                      <a16:colId xmlns:a16="http://schemas.microsoft.com/office/drawing/2014/main" val="2850750400"/>
                    </a:ext>
                  </a:extLst>
                </a:gridCol>
              </a:tblGrid>
              <a:tr h="325612">
                <a:tc>
                  <a:txBody>
                    <a:bodyPr/>
                    <a:lstStyle/>
                    <a:p>
                      <a:pPr algn="l" fontAlgn="b"/>
                      <a:r>
                        <a:rPr lang="en-IN" sz="1600" b="1" u="none" strike="noStrike" kern="1200" dirty="0">
                          <a:solidFill>
                            <a:schemeClr val="tx1"/>
                          </a:solidFill>
                          <a:effectLst/>
                          <a:latin typeface="+mn-lt"/>
                          <a:ea typeface="+mn-ea"/>
                          <a:cs typeface="+mn-cs"/>
                        </a:rPr>
                        <a:t>Theme</a:t>
                      </a:r>
                    </a:p>
                  </a:txBody>
                  <a:tcPr marL="2596" marR="2596" marT="2596" marB="0" anchor="b">
                    <a:solidFill>
                      <a:schemeClr val="bg2">
                        <a:lumMod val="90000"/>
                      </a:schemeClr>
                    </a:solidFill>
                  </a:tcPr>
                </a:tc>
                <a:tc>
                  <a:txBody>
                    <a:bodyPr/>
                    <a:lstStyle/>
                    <a:p>
                      <a:pPr algn="l" fontAlgn="b"/>
                      <a:r>
                        <a:rPr lang="en-IN" sz="1600" b="1" u="none" strike="noStrike" kern="1200" dirty="0">
                          <a:solidFill>
                            <a:schemeClr val="tx1"/>
                          </a:solidFill>
                          <a:effectLst/>
                          <a:latin typeface="+mn-lt"/>
                          <a:ea typeface="+mn-ea"/>
                          <a:cs typeface="+mn-cs"/>
                        </a:rPr>
                        <a:t>S.No.</a:t>
                      </a:r>
                    </a:p>
                  </a:txBody>
                  <a:tcPr marL="2596" marR="2596" marT="2596" marB="0" anchor="b">
                    <a:solidFill>
                      <a:schemeClr val="bg2">
                        <a:lumMod val="90000"/>
                      </a:schemeClr>
                    </a:solidFill>
                  </a:tcPr>
                </a:tc>
                <a:tc>
                  <a:txBody>
                    <a:bodyPr/>
                    <a:lstStyle/>
                    <a:p>
                      <a:pPr algn="l" fontAlgn="b"/>
                      <a:r>
                        <a:rPr lang="en-IN" sz="1600" b="1" u="none" strike="noStrike" kern="1200" dirty="0">
                          <a:solidFill>
                            <a:schemeClr val="tx1"/>
                          </a:solidFill>
                          <a:effectLst/>
                          <a:latin typeface="+mn-lt"/>
                          <a:ea typeface="+mn-ea"/>
                          <a:cs typeface="+mn-cs"/>
                        </a:rPr>
                        <a:t>Initiative</a:t>
                      </a:r>
                    </a:p>
                  </a:txBody>
                  <a:tcPr marL="2596" marR="2596" marT="2596" marB="0" anchor="b">
                    <a:solidFill>
                      <a:schemeClr val="bg2">
                        <a:lumMod val="90000"/>
                      </a:schemeClr>
                    </a:solidFill>
                  </a:tcPr>
                </a:tc>
                <a:tc>
                  <a:txBody>
                    <a:bodyPr/>
                    <a:lstStyle/>
                    <a:p>
                      <a:pPr algn="l" fontAlgn="b"/>
                      <a:r>
                        <a:rPr lang="en-IN" sz="1600" b="1" u="none" strike="noStrike" kern="1200" dirty="0">
                          <a:solidFill>
                            <a:schemeClr val="tx1"/>
                          </a:solidFill>
                          <a:effectLst/>
                          <a:latin typeface="+mn-lt"/>
                          <a:ea typeface="+mn-ea"/>
                          <a:cs typeface="+mn-cs"/>
                        </a:rPr>
                        <a:t>Release Quarter</a:t>
                      </a:r>
                    </a:p>
                  </a:txBody>
                  <a:tcPr marL="2596" marR="2596" marT="2596" marB="0" anchor="b">
                    <a:solidFill>
                      <a:schemeClr val="bg2">
                        <a:lumMod val="90000"/>
                      </a:schemeClr>
                    </a:solidFill>
                  </a:tcPr>
                </a:tc>
                <a:extLst>
                  <a:ext uri="{0D108BD9-81ED-4DB2-BD59-A6C34878D82A}">
                    <a16:rowId xmlns:a16="http://schemas.microsoft.com/office/drawing/2014/main" val="4015765331"/>
                  </a:ext>
                </a:extLst>
              </a:tr>
              <a:tr h="325612">
                <a:tc rowSpan="15">
                  <a:txBody>
                    <a:bodyPr/>
                    <a:lstStyle/>
                    <a:p>
                      <a:pPr algn="l" fontAlgn="ctr"/>
                      <a:r>
                        <a:rPr lang="en-IN" sz="1600" u="none" strike="noStrike" kern="1200" dirty="0">
                          <a:solidFill>
                            <a:schemeClr val="tx1"/>
                          </a:solidFill>
                          <a:effectLst/>
                          <a:latin typeface="+mn-lt"/>
                          <a:ea typeface="+mn-ea"/>
                          <a:cs typeface="+mn-cs"/>
                        </a:rPr>
                        <a:t>Analytics, Insights &amp; Decision Intelligence</a:t>
                      </a:r>
                    </a:p>
                  </a:txBody>
                  <a:tcPr marL="2596" marR="2596" marT="2596" marB="0" anchor="ctr"/>
                </a:tc>
                <a:tc>
                  <a:txBody>
                    <a:bodyPr/>
                    <a:lstStyle/>
                    <a:p>
                      <a:pPr algn="l" fontAlgn="b"/>
                      <a:r>
                        <a:rPr lang="en-IN" sz="1600" u="none" strike="noStrike" kern="1200" dirty="0">
                          <a:solidFill>
                            <a:schemeClr val="tx1"/>
                          </a:solidFill>
                          <a:effectLst/>
                          <a:latin typeface="+mn-lt"/>
                          <a:ea typeface="+mn-ea"/>
                          <a:cs typeface="+mn-cs"/>
                        </a:rPr>
                        <a:t>31</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Position Management Revamp </a:t>
                      </a:r>
                      <a:r>
                        <a:rPr lang="en-US" sz="1600" u="none" strike="noStrike" kern="1200" dirty="0">
                          <a:solidFill>
                            <a:schemeClr val="tx1"/>
                          </a:solidFill>
                          <a:effectLst/>
                          <a:highlight>
                            <a:srgbClr val="00FF00"/>
                          </a:highlight>
                          <a:latin typeface="+mn-lt"/>
                          <a:ea typeface="+mn-ea"/>
                          <a:cs typeface="+mn-cs"/>
                        </a:rPr>
                        <a:t>Completed</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4056829613"/>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32</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Employee Snapshot Dashboard Revamp </a:t>
                      </a:r>
                      <a:r>
                        <a:rPr lang="en-IN" sz="1600" u="none" strike="noStrike" kern="1200" dirty="0">
                          <a:solidFill>
                            <a:schemeClr val="tx1"/>
                          </a:solidFill>
                          <a:effectLst/>
                          <a:highlight>
                            <a:srgbClr val="00FF00"/>
                          </a:highlight>
                          <a:latin typeface="+mn-lt"/>
                          <a:ea typeface="+mn-ea"/>
                          <a:cs typeface="+mn-cs"/>
                        </a:rPr>
                        <a:t>Completed</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Q1</a:t>
                      </a:r>
                    </a:p>
                  </a:txBody>
                  <a:tcPr marL="2596" marR="2596" marT="2596" marB="0" anchor="b"/>
                </a:tc>
                <a:extLst>
                  <a:ext uri="{0D108BD9-81ED-4DB2-BD59-A6C34878D82A}">
                    <a16:rowId xmlns:a16="http://schemas.microsoft.com/office/drawing/2014/main" val="1445454376"/>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33</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Org. Snapshot Dashboard Implementation </a:t>
                      </a:r>
                      <a:r>
                        <a:rPr lang="en-US" sz="1600" u="none" strike="noStrike" kern="1200" dirty="0">
                          <a:solidFill>
                            <a:schemeClr val="tx1"/>
                          </a:solidFill>
                          <a:effectLst/>
                          <a:highlight>
                            <a:srgbClr val="FFFF00"/>
                          </a:highlight>
                          <a:latin typeface="+mn-lt"/>
                          <a:ea typeface="+mn-ea"/>
                          <a:cs typeface="+mn-cs"/>
                        </a:rPr>
                        <a:t>In Progress</a:t>
                      </a:r>
                      <a:endParaRPr lang="en-IN" sz="1600" u="none" strike="noStrike" kern="1200" dirty="0">
                        <a:solidFill>
                          <a:schemeClr val="tx1"/>
                        </a:solidFill>
                        <a:effectLst/>
                        <a:latin typeface="+mn-lt"/>
                        <a:ea typeface="+mn-ea"/>
                        <a:cs typeface="+mn-cs"/>
                      </a:endParaRP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Q1</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621332081"/>
                  </a:ext>
                </a:extLst>
              </a:tr>
              <a:tr h="647794">
                <a:tc vMerge="1">
                  <a:txBody>
                    <a:bodyPr/>
                    <a:lstStyle/>
                    <a:p>
                      <a:endParaRPr lang="en-IN"/>
                    </a:p>
                  </a:txBody>
                  <a:tcPr/>
                </a:tc>
                <a:tc>
                  <a:txBody>
                    <a:bodyPr/>
                    <a:lstStyle/>
                    <a:p>
                      <a:pPr algn="l" fontAlgn="b"/>
                      <a:r>
                        <a:rPr lang="en-US" sz="1600" u="none" strike="noStrike" kern="1200" dirty="0">
                          <a:solidFill>
                            <a:schemeClr val="tx1"/>
                          </a:solidFill>
                          <a:effectLst/>
                          <a:latin typeface="+mn-lt"/>
                          <a:ea typeface="+mn-ea"/>
                          <a:cs typeface="+mn-cs"/>
                        </a:rPr>
                        <a:t>34</a:t>
                      </a:r>
                    </a:p>
                  </a:txBody>
                  <a:tcPr marL="2596" marR="2596" marT="2596" marB="0" anchor="b"/>
                </a:tc>
                <a:tc>
                  <a:txBody>
                    <a:bodyPr/>
                    <a:lstStyle/>
                    <a:p>
                      <a:pPr algn="l" fontAlgn="b"/>
                      <a:r>
                        <a:rPr lang="en-US" sz="1600" u="none" strike="noStrike" kern="1200" dirty="0">
                          <a:solidFill>
                            <a:schemeClr val="tx1"/>
                          </a:solidFill>
                          <a:effectLst/>
                          <a:latin typeface="+mn-lt"/>
                          <a:ea typeface="+mn-ea"/>
                          <a:cs typeface="+mn-cs"/>
                        </a:rPr>
                        <a:t>Employee Cost (AOP Cost + Revenue Cost) Dashboard Implementation </a:t>
                      </a:r>
                      <a:r>
                        <a:rPr lang="en-US" sz="1600" u="none" strike="noStrike" kern="1200" dirty="0">
                          <a:solidFill>
                            <a:schemeClr val="tx1"/>
                          </a:solidFill>
                          <a:effectLst/>
                          <a:highlight>
                            <a:srgbClr val="FFFF00"/>
                          </a:highlight>
                          <a:latin typeface="+mn-lt"/>
                          <a:ea typeface="+mn-ea"/>
                          <a:cs typeface="+mn-cs"/>
                        </a:rPr>
                        <a:t>In Progress</a:t>
                      </a:r>
                      <a:endParaRPr lang="en-US" sz="1600" u="none" strike="noStrike" kern="1200" dirty="0">
                        <a:solidFill>
                          <a:schemeClr val="tx1"/>
                        </a:solidFill>
                        <a:effectLst/>
                        <a:latin typeface="+mn-lt"/>
                        <a:ea typeface="+mn-ea"/>
                        <a:cs typeface="+mn-cs"/>
                      </a:endParaRP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Q2</a:t>
                      </a:r>
                      <a:endParaRPr lang="en-US"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251643564"/>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35</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Payroll Quality &amp; Variance Report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Q2</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2110939663"/>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36</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Servicing Report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Q2</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296363866"/>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37</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Compensation &amp; Bonus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Q3</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3704715843"/>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38</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Advantage Club R&amp;R Dashboard Revamp</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Q3</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3672981538"/>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39</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Adoption on Reports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Q3</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2682309980"/>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40</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HR Scorecard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055372998"/>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41</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Develop &amp; Deploy HR Predictive &amp; Prescriptive Models</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2983245179"/>
                  </a:ext>
                </a:extLst>
              </a:tr>
              <a:tr h="325612">
                <a:tc vMerge="1">
                  <a:txBody>
                    <a:bodyPr/>
                    <a:lstStyle/>
                    <a:p>
                      <a:endParaRPr lang="en-IN"/>
                    </a:p>
                  </a:txBody>
                  <a:tcPr/>
                </a:tc>
                <a:tc>
                  <a:txBody>
                    <a:bodyPr/>
                    <a:lstStyle/>
                    <a:p>
                      <a:pPr algn="l" fontAlgn="b"/>
                      <a:r>
                        <a:rPr lang="en-US" sz="1600" u="none" strike="noStrike" kern="1200" dirty="0">
                          <a:solidFill>
                            <a:schemeClr val="tx1"/>
                          </a:solidFill>
                          <a:effectLst/>
                          <a:latin typeface="+mn-lt"/>
                          <a:ea typeface="+mn-ea"/>
                          <a:cs typeface="+mn-cs"/>
                        </a:rPr>
                        <a:t>42</a:t>
                      </a:r>
                    </a:p>
                  </a:txBody>
                  <a:tcPr marL="2596" marR="2596" marT="2596" marB="0" anchor="b"/>
                </a:tc>
                <a:tc>
                  <a:txBody>
                    <a:bodyPr/>
                    <a:lstStyle/>
                    <a:p>
                      <a:pPr algn="l" fontAlgn="b"/>
                      <a:r>
                        <a:rPr lang="en-US" sz="1600" u="none" strike="noStrike" kern="1200" dirty="0">
                          <a:solidFill>
                            <a:schemeClr val="tx1"/>
                          </a:solidFill>
                          <a:effectLst/>
                          <a:latin typeface="+mn-lt"/>
                          <a:ea typeface="+mn-ea"/>
                          <a:cs typeface="+mn-cs"/>
                        </a:rPr>
                        <a:t>Manager Scorecard &amp; Team Insights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US"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269992485"/>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43</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Leader Scorecard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759205455"/>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44</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Talent Analytics Map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985720891"/>
                  </a:ext>
                </a:extLst>
              </a:tr>
              <a:tr h="325612">
                <a:tc vMerge="1">
                  <a:txBody>
                    <a:bodyPr/>
                    <a:lstStyle/>
                    <a:p>
                      <a:endParaRPr lang="en-IN"/>
                    </a:p>
                  </a:txBody>
                  <a:tcPr/>
                </a:tc>
                <a:tc>
                  <a:txBody>
                    <a:bodyPr/>
                    <a:lstStyle/>
                    <a:p>
                      <a:pPr algn="l" fontAlgn="b"/>
                      <a:r>
                        <a:rPr lang="en-IN" sz="1600" u="none" strike="noStrike" kern="1200" dirty="0">
                          <a:solidFill>
                            <a:schemeClr val="tx1"/>
                          </a:solidFill>
                          <a:effectLst/>
                          <a:latin typeface="+mn-lt"/>
                          <a:ea typeface="+mn-ea"/>
                          <a:cs typeface="+mn-cs"/>
                        </a:rPr>
                        <a:t>45</a:t>
                      </a:r>
                    </a:p>
                  </a:txBody>
                  <a:tcPr marL="2596" marR="2596" marT="2596" marB="0" anchor="b"/>
                </a:tc>
                <a:tc>
                  <a:txBody>
                    <a:bodyPr/>
                    <a:lstStyle/>
                    <a:p>
                      <a:pPr algn="l" fontAlgn="b"/>
                      <a:r>
                        <a:rPr lang="en-IN" sz="1600" u="none" strike="noStrike" kern="1200" dirty="0">
                          <a:solidFill>
                            <a:schemeClr val="tx1"/>
                          </a:solidFill>
                          <a:effectLst/>
                          <a:latin typeface="+mn-lt"/>
                          <a:ea typeface="+mn-ea"/>
                          <a:cs typeface="+mn-cs"/>
                        </a:rPr>
                        <a:t>Culture Dashboard Implementation</a:t>
                      </a:r>
                    </a:p>
                  </a:txBody>
                  <a:tcPr marL="2596" marR="2596" marT="2596" marB="0" anchor="b"/>
                </a:tc>
                <a:tc>
                  <a:txBody>
                    <a:bodyPr/>
                    <a:lstStyle/>
                    <a:p>
                      <a:pPr algn="l" fontAlgn="b"/>
                      <a:r>
                        <a:rPr kumimoji="0" lang="en-IN" sz="1600" b="0" i="0" u="none" strike="noStrike" kern="1200" cap="none" spc="0" normalizeH="0" baseline="0" noProof="0" dirty="0">
                          <a:ln>
                            <a:noFill/>
                          </a:ln>
                          <a:solidFill>
                            <a:srgbClr val="000000"/>
                          </a:solidFill>
                          <a:effectLst/>
                          <a:uLnTx/>
                          <a:uFillTx/>
                          <a:latin typeface="Nunito Sans"/>
                          <a:ea typeface="+mn-ea"/>
                          <a:cs typeface="+mn-cs"/>
                        </a:rPr>
                        <a:t>Q4</a:t>
                      </a:r>
                      <a:endParaRPr lang="en-IN" sz="1600" b="0" i="0" u="none" strike="noStrike" dirty="0">
                        <a:solidFill>
                          <a:srgbClr val="000000"/>
                        </a:solidFill>
                        <a:effectLst/>
                        <a:latin typeface="Calibri" panose="020F0502020204030204" pitchFamily="34" charset="0"/>
                      </a:endParaRPr>
                    </a:p>
                  </a:txBody>
                  <a:tcPr marL="2596" marR="2596" marT="2596" marB="0" anchor="b"/>
                </a:tc>
                <a:extLst>
                  <a:ext uri="{0D108BD9-81ED-4DB2-BD59-A6C34878D82A}">
                    <a16:rowId xmlns:a16="http://schemas.microsoft.com/office/drawing/2014/main" val="1286053222"/>
                  </a:ext>
                </a:extLst>
              </a:tr>
            </a:tbl>
          </a:graphicData>
        </a:graphic>
      </p:graphicFrame>
    </p:spTree>
    <p:extLst>
      <p:ext uri="{BB962C8B-B14F-4D97-AF65-F5344CB8AC3E}">
        <p14:creationId xmlns:p14="http://schemas.microsoft.com/office/powerpoint/2010/main" val="4214000315"/>
      </p:ext>
    </p:extLst>
  </p:cSld>
  <p:clrMapOvr>
    <a:masterClrMapping/>
  </p:clrMapOvr>
</p:sld>
</file>

<file path=ppt/theme/theme1.xml><?xml version="1.0" encoding="utf-8"?>
<a:theme xmlns:a="http://schemas.openxmlformats.org/drawingml/2006/main" name="Air India Master">
  <a:themeElements>
    <a:clrScheme name="Airn India">
      <a:dk1>
        <a:srgbClr val="000000"/>
      </a:dk1>
      <a:lt1>
        <a:srgbClr val="FFFFFF"/>
      </a:lt1>
      <a:dk2>
        <a:srgbClr val="44546A"/>
      </a:dk2>
      <a:lt2>
        <a:srgbClr val="F9F6EE"/>
      </a:lt2>
      <a:accent1>
        <a:srgbClr val="DA0E28"/>
      </a:accent1>
      <a:accent2>
        <a:srgbClr val="B61032"/>
      </a:accent2>
      <a:accent3>
        <a:srgbClr val="531251"/>
      </a:accent3>
      <a:accent4>
        <a:srgbClr val="F8C1B3"/>
      </a:accent4>
      <a:accent5>
        <a:srgbClr val="F9F6EE"/>
      </a:accent5>
      <a:accent6>
        <a:srgbClr val="FED9A0"/>
      </a:accent6>
      <a:hlink>
        <a:srgbClr val="9E7947"/>
      </a:hlink>
      <a:folHlink>
        <a:srgbClr val="954F72"/>
      </a:folHlink>
    </a:clrScheme>
    <a:fontScheme name="Nunito Air India">
      <a:majorFont>
        <a:latin typeface="Nunito Sans Black"/>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0831_Air India - Presentation Template OPT-1_V07.1" id="{D76D6D51-82C9-874C-93C2-607499FF9295}" vid="{52AAD933-9942-7B43-8B44-8B5668BB68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F28BB807E93524DA509355A4DD5C572" ma:contentTypeVersion="0" ma:contentTypeDescription="Create a new document." ma:contentTypeScope="" ma:versionID="cfede713806019446959b222e1822cb5">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7A1669-F7ED-406B-986B-2022111F9D40}">
  <ds:schemaRefs>
    <ds:schemaRef ds:uri="http://purl.org/dc/elements/1.1/"/>
    <ds:schemaRef ds:uri="http://www.w3.org/XML/1998/namespace"/>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FB5039FA-1123-447C-9A31-9394A58BA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737DFF9-DB38-481C-8293-33D99628B621}">
  <ds:schemaRefs>
    <ds:schemaRef ds:uri="http://schemas.microsoft.com/sharepoint/v3/contenttype/forms"/>
  </ds:schemaRefs>
</ds:datastoreItem>
</file>

<file path=docMetadata/LabelInfo.xml><?xml version="1.0" encoding="utf-8"?>
<clbl:labelList xmlns:clbl="http://schemas.microsoft.com/office/2020/mipLabelMetadata">
  <clbl:label id="{fc627367-8bb7-4ccb-accc-dcf8fe2e1aa0}" enabled="1" method="Standard" siteId="{41591cc6-574f-45d5-819b-9a4773330aec}" contentBits="0" removed="0"/>
</clbl:labelList>
</file>

<file path=docProps/app.xml><?xml version="1.0" encoding="utf-8"?>
<Properties xmlns="http://schemas.openxmlformats.org/officeDocument/2006/extended-properties" xmlns:vt="http://schemas.openxmlformats.org/officeDocument/2006/docPropsVTypes">
  <Template>Air India Template</Template>
  <TotalTime>21173</TotalTime>
  <Words>3929</Words>
  <Application>Microsoft Office PowerPoint</Application>
  <PresentationFormat>Widescreen</PresentationFormat>
  <Paragraphs>694</Paragraphs>
  <Slides>21</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Nunito Sans</vt:lpstr>
      <vt:lpstr>Cambria</vt:lpstr>
      <vt:lpstr>Aptos Display</vt:lpstr>
      <vt:lpstr>AirIndia</vt:lpstr>
      <vt:lpstr>Calibri</vt:lpstr>
      <vt:lpstr>Aptos</vt:lpstr>
      <vt:lpstr>Segoe UI</vt:lpstr>
      <vt:lpstr>inherit</vt:lpstr>
      <vt:lpstr>Air India Master</vt:lpstr>
      <vt:lpstr>HR Tech SteerCo Update</vt:lpstr>
      <vt:lpstr>PowerPoint Presentation</vt:lpstr>
      <vt:lpstr>1. SteerCo Recap: Progress &amp; Next Steps</vt:lpstr>
      <vt:lpstr>PowerPoint Presentation</vt:lpstr>
      <vt:lpstr>2. Q1 &amp; Q2 FY 27 Roadmap Update</vt:lpstr>
      <vt:lpstr>PowerPoint Presentation</vt:lpstr>
      <vt:lpstr>PowerPoint Presentation</vt:lpstr>
      <vt:lpstr>PowerPoint Presentation</vt:lpstr>
      <vt:lpstr>PowerPoint Presentation</vt:lpstr>
      <vt:lpstr>3. New Tools Implementation Progress Update</vt:lpstr>
      <vt:lpstr>PowerPoint Presentation</vt:lpstr>
      <vt:lpstr>PowerPoint Presentation</vt:lpstr>
      <vt:lpstr>PowerPoint Presentation</vt:lpstr>
      <vt:lpstr>4. ZTZT Payroll Automation Progress Update</vt:lpstr>
      <vt:lpstr>PowerPoint Presentation</vt:lpstr>
      <vt:lpstr>5. Service Requests Update (Apr 26 till date)</vt:lpstr>
      <vt:lpstr>PowerPoint Presentation</vt:lpstr>
      <vt:lpstr>Thank You</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FY26 Plan</dc:title>
  <dc:creator>Vikram Hanji</dc:creator>
  <cp:lastModifiedBy>Kunal Kansra</cp:lastModifiedBy>
  <cp:revision>377</cp:revision>
  <dcterms:created xsi:type="dcterms:W3CDTF">2025-03-13T05:58:09Z</dcterms:created>
  <dcterms:modified xsi:type="dcterms:W3CDTF">2026-07-07T07:42:42Z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0x010100BF28BB807E93524DA509355A4DD5C572</vt:lpwstr>
  </property>
</Properties>
</file>