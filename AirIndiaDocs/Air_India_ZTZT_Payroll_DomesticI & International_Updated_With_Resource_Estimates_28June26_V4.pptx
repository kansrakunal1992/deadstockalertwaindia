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81" r:id="rId2"/>
    <p:sldId id="2147483478" r:id="rId3"/>
    <p:sldId id="2147483472" r:id="rId4"/>
    <p:sldId id="2147483459" r:id="rId5"/>
    <p:sldId id="2147483486" r:id="rId6"/>
    <p:sldId id="2147483463" r:id="rId7"/>
    <p:sldId id="2147483469" r:id="rId8"/>
    <p:sldId id="2147483479" r:id="rId9"/>
    <p:sldId id="2147483476" r:id="rId10"/>
    <p:sldId id="2147483461" r:id="rId11"/>
    <p:sldId id="2147483477" r:id="rId12"/>
    <p:sldId id="2147483485" r:id="rId13"/>
    <p:sldId id="2147483483" r:id="rId14"/>
    <p:sldId id="256" r:id="rId15"/>
    <p:sldId id="257" r:id="rId16"/>
    <p:sldId id="2147483487" r:id="rId17"/>
    <p:sldId id="2147483439" r:id="rId18"/>
    <p:sldId id="2147483426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88" userDrawn="1">
          <p15:clr>
            <a:srgbClr val="A4A3A4"/>
          </p15:clr>
        </p15:guide>
        <p15:guide id="2" pos="14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32A782A-2D55-6B00-98E9-1FA88E129F1F}" name="Shivangi" initials="S." userId="S::shivangi2@airindia.com::b119e6eb-ccaf-4fcc-8ebe-421806432369" providerId="AD"/>
  <p188:author id="{753CE2DF-A83C-12B3-2391-B553689DB84A}" name="Parth Chitara" initials="PC" userId="S::parth.chitara@airindia.com::8e4cc175-9393-4def-90ce-3a07828c0a2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7F7F7F"/>
    <a:srgbClr val="35A8A9"/>
    <a:srgbClr val="AA83C8"/>
    <a:srgbClr val="004D3F"/>
    <a:srgbClr val="FFF2F2"/>
    <a:srgbClr val="D4F7FF"/>
    <a:srgbClr val="03C3FF"/>
    <a:srgbClr val="FF7B8A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2" d="100"/>
          <a:sy n="122" d="100"/>
        </p:scale>
        <p:origin x="78" y="324"/>
      </p:cViewPr>
      <p:guideLst>
        <p:guide orient="horz" pos="588"/>
        <p:guide pos="14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8/10/relationships/authors" Target="authors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it Sood Shastri" userId="6fc25954-e774-4971-a9aa-8db3cdb7ebdd" providerId="ADAL" clId="{F26E24DB-2AB3-4251-B1CC-BA0402598425}"/>
    <pc:docChg chg="modSld">
      <pc:chgData name="Amit Sood Shastri" userId="6fc25954-e774-4971-a9aa-8db3cdb7ebdd" providerId="ADAL" clId="{F26E24DB-2AB3-4251-B1CC-BA0402598425}" dt="2026-06-30T03:41:44.013" v="87" actId="20577"/>
      <pc:docMkLst>
        <pc:docMk/>
      </pc:docMkLst>
      <pc:sldChg chg="modSp mod">
        <pc:chgData name="Amit Sood Shastri" userId="6fc25954-e774-4971-a9aa-8db3cdb7ebdd" providerId="ADAL" clId="{F26E24DB-2AB3-4251-B1CC-BA0402598425}" dt="2026-06-30T03:41:44.013" v="87" actId="20577"/>
        <pc:sldMkLst>
          <pc:docMk/>
          <pc:sldMk cId="211512327" sldId="2147483439"/>
        </pc:sldMkLst>
        <pc:spChg chg="mod">
          <ac:chgData name="Amit Sood Shastri" userId="6fc25954-e774-4971-a9aa-8db3cdb7ebdd" providerId="ADAL" clId="{F26E24DB-2AB3-4251-B1CC-BA0402598425}" dt="2026-06-30T03:39:36.443" v="17" actId="20577"/>
          <ac:spMkLst>
            <pc:docMk/>
            <pc:sldMk cId="211512327" sldId="2147483439"/>
            <ac:spMk id="19" creationId="{C667519C-DDC4-C27A-9BD8-AB68B27F7B9B}"/>
          </ac:spMkLst>
        </pc:spChg>
        <pc:spChg chg="mod">
          <ac:chgData name="Amit Sood Shastri" userId="6fc25954-e774-4971-a9aa-8db3cdb7ebdd" providerId="ADAL" clId="{F26E24DB-2AB3-4251-B1CC-BA0402598425}" dt="2026-06-30T03:41:44.013" v="87" actId="20577"/>
          <ac:spMkLst>
            <pc:docMk/>
            <pc:sldMk cId="211512327" sldId="2147483439"/>
            <ac:spMk id="20" creationId="{C57FDD1C-06AD-0828-0EEF-0FB7826C35C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9760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60D45-FD6C-6DC8-7054-EB7E3D26D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FB4EE3-41B3-1758-8188-9E5B79920E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4F3D64-B08E-96CB-1172-D9263FB555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0869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25CDB-8A1F-FC94-DB1C-53A0945C8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ED2022-44B4-9CEB-CE5D-9A049349D7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2A6599-F8CC-93F7-B8D3-93B533142D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Check auto, semi-auto &amp; manual counts – currently incorrect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340C52-6282-F868-E2C1-8AA4431163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6125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93FE9-17D9-3BB8-5348-1C16FEE8F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A14765-01E2-6E6E-3305-44750F762D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BBFC27-EB5A-29AF-069E-8F9F7BBDCC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9649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FAD6A-681A-0C97-E7E0-61279FBB9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2397B4-6008-F814-D2C8-415B1F8D37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3F2544-07D6-8235-8065-147349F442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29633F-613F-D943-7084-38657256E1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2786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7C0DC-1493-7E30-3EBC-809E8C64F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9F50B7-B9D2-E6F9-9353-68629CCE06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194DD5-73FA-6177-EC70-14ECB2109F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828C61-A5EF-555D-9FB9-6F3CDA6F23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8744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36774-50DA-C9FB-31E2-746368113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CE66B0-9633-F7F6-D680-FAF273EA18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1663EC-351B-4EBF-B9BB-96A65F9544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6241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B2221-CB04-DC0B-5DBC-D6F4765B1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ACB595-D6DB-BB6B-A6F4-B86446579D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09896A-9797-D032-E786-153E8F3AEE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569135-953B-43AA-EA17-2BE6A294D9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8251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9568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red background with a gold and purple figure  Description automatically generated">
            <a:extLst>
              <a:ext uri="{FF2B5EF4-FFF2-40B4-BE49-F238E27FC236}">
                <a16:creationId xmlns:a16="http://schemas.microsoft.com/office/drawing/2014/main" id="{89B26D62-2982-895C-4C5E-CADCB2E222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35D8806-B30C-5D48-17A9-922DBA16C5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04013" y="1200151"/>
            <a:ext cx="4788725" cy="1815299"/>
          </a:xfrm>
        </p:spPr>
        <p:txBody>
          <a:bodyPr anchor="b">
            <a:normAutofit/>
          </a:bodyPr>
          <a:lstStyle>
            <a:lvl1pPr algn="l">
              <a:defRPr sz="4500" b="1" i="0">
                <a:solidFill>
                  <a:schemeClr val="bg1"/>
                </a:solidFill>
                <a:latin typeface="AirIndia" pitchFamily="82" charset="77"/>
              </a:defRPr>
            </a:lvl1pPr>
          </a:lstStyle>
          <a:p>
            <a:r>
              <a:rPr lang="en-GB"/>
              <a:t>CLICK TO EDIT TITLE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40D339-36A2-E854-A497-9F753205B7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04012" y="3028205"/>
            <a:ext cx="4788725" cy="1013114"/>
          </a:xfrm>
        </p:spPr>
        <p:txBody>
          <a:bodyPr>
            <a:normAutofit/>
          </a:bodyPr>
          <a:lstStyle>
            <a:lvl1pPr marL="0" indent="0" algn="l">
              <a:buFontTx/>
              <a:buNone/>
              <a:defRPr sz="2100">
                <a:solidFill>
                  <a:schemeClr val="bg1"/>
                </a:solidFill>
                <a:latin typeface="Nunito Sans" pitchFamily="2" charset="77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7572245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360">
          <p15:clr>
            <a:srgbClr val="FBAE40"/>
          </p15:clr>
        </p15:guide>
        <p15:guide id="4" orient="horz" pos="1488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lane flying in the sky&#10;&#10;Description automatically generated">
            <a:extLst>
              <a:ext uri="{FF2B5EF4-FFF2-40B4-BE49-F238E27FC236}">
                <a16:creationId xmlns:a16="http://schemas.microsoft.com/office/drawing/2014/main" id="{55762A92-547E-5F52-4F9B-5EA30AB79EA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7DC3906F-921E-6E1D-753F-E155F5842C7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12473" y="3600450"/>
            <a:ext cx="3902927" cy="1314450"/>
          </a:xfrm>
        </p:spPr>
        <p:txBody>
          <a:bodyPr anchor="b">
            <a:normAutofit/>
          </a:bodyPr>
          <a:lstStyle>
            <a:lvl1pPr algn="l">
              <a:defRPr sz="4050" b="1" i="0">
                <a:solidFill>
                  <a:schemeClr val="bg1"/>
                </a:solidFill>
                <a:latin typeface="AirIndia" pitchFamily="82" charset="77"/>
              </a:defRPr>
            </a:lvl1pPr>
          </a:lstStyle>
          <a:p>
            <a:r>
              <a:rPr lang="en-GB"/>
              <a:t>Thank you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6915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360">
          <p15:clr>
            <a:srgbClr val="FBAE40"/>
          </p15:clr>
        </p15:guide>
        <p15:guide id="4" orient="horz" pos="1440">
          <p15:clr>
            <a:srgbClr val="FBAE40"/>
          </p15:clr>
        </p15:guide>
        <p15:guide id="5" pos="336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724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531B5AB-8488-6755-B649-17BD2DC3062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3662363" y="4927600"/>
            <a:ext cx="18478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N" sz="10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Air India General - Internal use only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17.png"/><Relationship Id="rId4" Type="http://schemas.microsoft.com/office/2007/relationships/hdphoto" Target="../media/hdphoto1.wdp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094815C-32A6-A0BF-0C2C-9167C897ED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76864" y="1033044"/>
            <a:ext cx="5183762" cy="2193333"/>
          </a:xfrm>
        </p:spPr>
        <p:txBody>
          <a:bodyPr>
            <a:normAutofit/>
          </a:bodyPr>
          <a:lstStyle/>
          <a:p>
            <a:r>
              <a:rPr lang="en-US" sz="4200"/>
              <a:t>Zero Touch, Zero Trust Payroll</a:t>
            </a:r>
            <a:br>
              <a:rPr lang="en-US"/>
            </a:br>
            <a:r>
              <a:rPr lang="en-GB" sz="1350" b="0"/>
              <a:t>Eliminating manual touchpoints across the payroll lifecycle </a:t>
            </a:r>
            <a:endParaRPr lang="en-US" b="0"/>
          </a:p>
        </p:txBody>
      </p:sp>
      <p:sp>
        <p:nvSpPr>
          <p:cNvPr id="12" name="Subtitle 6">
            <a:extLst>
              <a:ext uri="{FF2B5EF4-FFF2-40B4-BE49-F238E27FC236}">
                <a16:creationId xmlns:a16="http://schemas.microsoft.com/office/drawing/2014/main" id="{56E7D005-FDE0-66D9-258C-79AF587E0D3E}"/>
              </a:ext>
            </a:extLst>
          </p:cNvPr>
          <p:cNvSpPr txBox="1">
            <a:spLocks/>
          </p:cNvSpPr>
          <p:nvPr/>
        </p:nvSpPr>
        <p:spPr>
          <a:xfrm>
            <a:off x="3376864" y="3301666"/>
            <a:ext cx="1943100" cy="285750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800" kern="1200">
                <a:solidFill>
                  <a:schemeClr val="bg1"/>
                </a:solidFill>
                <a:latin typeface="Nunito Sans" pitchFamily="2" charset="77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200"/>
              <a:t>Digital &amp; Technology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9480337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3AEA7-E13C-C469-094F-C3614F213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7267688-172F-82B2-A87A-29478A35D6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76864" y="1033044"/>
            <a:ext cx="5183762" cy="2193333"/>
          </a:xfrm>
        </p:spPr>
        <p:txBody>
          <a:bodyPr>
            <a:normAutofit/>
          </a:bodyPr>
          <a:lstStyle/>
          <a:p>
            <a:r>
              <a:rPr lang="en-IN" sz="4200" dirty="0"/>
              <a:t>Domestic Payroll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33451977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420DC-D3D3-D5DC-280E-135A57D29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21">
            <a:extLst>
              <a:ext uri="{FF2B5EF4-FFF2-40B4-BE49-F238E27FC236}">
                <a16:creationId xmlns:a16="http://schemas.microsoft.com/office/drawing/2014/main" id="{AAAA1592-3975-B989-A0B1-BE4A67B56464}"/>
              </a:ext>
            </a:extLst>
          </p:cNvPr>
          <p:cNvSpPr/>
          <p:nvPr/>
        </p:nvSpPr>
        <p:spPr>
          <a:xfrm>
            <a:off x="232784" y="849288"/>
            <a:ext cx="3116727" cy="1251472"/>
          </a:xfrm>
          <a:prstGeom prst="roundRect">
            <a:avLst>
              <a:gd name="adj" fmla="val 5138"/>
            </a:avLst>
          </a:prstGeom>
          <a:solidFill>
            <a:srgbClr val="66C07E"/>
          </a:solidFill>
          <a:ln w="6902">
            <a:noFill/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53" name="Shape 47">
            <a:extLst>
              <a:ext uri="{FF2B5EF4-FFF2-40B4-BE49-F238E27FC236}">
                <a16:creationId xmlns:a16="http://schemas.microsoft.com/office/drawing/2014/main" id="{91AB27ED-2DBF-B7A5-07F8-734F61E38D10}"/>
              </a:ext>
            </a:extLst>
          </p:cNvPr>
          <p:cNvSpPr/>
          <p:nvPr/>
        </p:nvSpPr>
        <p:spPr>
          <a:xfrm>
            <a:off x="232785" y="2126870"/>
            <a:ext cx="3116728" cy="1821909"/>
          </a:xfrm>
          <a:prstGeom prst="roundRect">
            <a:avLst>
              <a:gd name="adj" fmla="val 3842"/>
            </a:avLst>
          </a:prstGeom>
          <a:solidFill>
            <a:srgbClr val="FF7B8A"/>
          </a:solidFill>
          <a:ln w="6902">
            <a:noFill/>
            <a:prstDash val="solid"/>
          </a:ln>
        </p:spPr>
        <p:txBody>
          <a:bodyPr lIns="91440" tIns="45720" rIns="91440" bIns="45720" anchor="t"/>
          <a:lstStyle/>
          <a:p>
            <a:r>
              <a:rPr lang="en-US" sz="600" b="0" i="0">
                <a:solidFill>
                  <a:srgbClr val="000000"/>
                </a:solidFill>
                <a:latin typeface="Aptos" panose="020B0004020202020204" pitchFamily="34" charset="0"/>
                <a:ea typeface="Nunito Sans"/>
                <a:cs typeface="Nunito Sans"/>
              </a:rPr>
              <a:t>​</a:t>
            </a:r>
            <a:endParaRPr lang="en-US" sz="600">
              <a:latin typeface="Aptos" panose="020B0004020202020204" pitchFamily="34" charset="0"/>
              <a:ea typeface="Calibri"/>
              <a:cs typeface="Calibri"/>
            </a:endParaRPr>
          </a:p>
        </p:txBody>
      </p:sp>
      <p:sp>
        <p:nvSpPr>
          <p:cNvPr id="54" name="Shape 21">
            <a:extLst>
              <a:ext uri="{FF2B5EF4-FFF2-40B4-BE49-F238E27FC236}">
                <a16:creationId xmlns:a16="http://schemas.microsoft.com/office/drawing/2014/main" id="{E73B4BF8-4181-ECB3-4C87-07957F486231}"/>
              </a:ext>
            </a:extLst>
          </p:cNvPr>
          <p:cNvSpPr/>
          <p:nvPr/>
        </p:nvSpPr>
        <p:spPr>
          <a:xfrm>
            <a:off x="4535686" y="846138"/>
            <a:ext cx="1604258" cy="2465067"/>
          </a:xfrm>
          <a:prstGeom prst="roundRect">
            <a:avLst>
              <a:gd name="adj" fmla="val 4138"/>
            </a:avLst>
          </a:prstGeom>
          <a:solidFill>
            <a:schemeClr val="accent5">
              <a:alpha val="80000"/>
            </a:schemeClr>
          </a:solidFill>
          <a:ln w="6902">
            <a:noFill/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55" name="Shape 21">
            <a:extLst>
              <a:ext uri="{FF2B5EF4-FFF2-40B4-BE49-F238E27FC236}">
                <a16:creationId xmlns:a16="http://schemas.microsoft.com/office/drawing/2014/main" id="{9D1B4D27-43BB-9C6E-24CA-D2DDE735E0CB}"/>
              </a:ext>
            </a:extLst>
          </p:cNvPr>
          <p:cNvSpPr/>
          <p:nvPr/>
        </p:nvSpPr>
        <p:spPr>
          <a:xfrm>
            <a:off x="6315477" y="846139"/>
            <a:ext cx="2593873" cy="2142649"/>
          </a:xfrm>
          <a:prstGeom prst="roundRect">
            <a:avLst>
              <a:gd name="adj" fmla="val 2731"/>
            </a:avLst>
          </a:prstGeom>
          <a:solidFill>
            <a:srgbClr val="AA91C1"/>
          </a:solidFill>
          <a:ln w="4162">
            <a:noFill/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5FEAFB6-24D1-6BBD-6AEF-0FF8C19FF95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48845" y="4903839"/>
            <a:ext cx="2014536" cy="2396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6" name="Shape 38">
            <a:extLst>
              <a:ext uri="{FF2B5EF4-FFF2-40B4-BE49-F238E27FC236}">
                <a16:creationId xmlns:a16="http://schemas.microsoft.com/office/drawing/2014/main" id="{3EA9B4A5-D314-2DB5-D001-098B7346A6F6}"/>
              </a:ext>
            </a:extLst>
          </p:cNvPr>
          <p:cNvSpPr/>
          <p:nvPr/>
        </p:nvSpPr>
        <p:spPr>
          <a:xfrm>
            <a:off x="335522" y="1089439"/>
            <a:ext cx="2910645" cy="908124"/>
          </a:xfrm>
          <a:prstGeom prst="roundRect">
            <a:avLst>
              <a:gd name="adj" fmla="val 4071"/>
            </a:avLst>
          </a:prstGeom>
          <a:solidFill>
            <a:srgbClr val="FFFFFF"/>
          </a:solidFill>
          <a:ln w="6902">
            <a:noFill/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36" name="Shape 38">
            <a:extLst>
              <a:ext uri="{FF2B5EF4-FFF2-40B4-BE49-F238E27FC236}">
                <a16:creationId xmlns:a16="http://schemas.microsoft.com/office/drawing/2014/main" id="{3082638B-A626-C2FF-6159-83E4DD8FE5C6}"/>
              </a:ext>
            </a:extLst>
          </p:cNvPr>
          <p:cNvSpPr/>
          <p:nvPr/>
        </p:nvSpPr>
        <p:spPr>
          <a:xfrm>
            <a:off x="4636178" y="2293818"/>
            <a:ext cx="1410430" cy="3596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902">
            <a:noFill/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37" name="Shape 38">
            <a:extLst>
              <a:ext uri="{FF2B5EF4-FFF2-40B4-BE49-F238E27FC236}">
                <a16:creationId xmlns:a16="http://schemas.microsoft.com/office/drawing/2014/main" id="{51FB4A3F-D9EE-B3FA-0D86-640F8EF58BB9}"/>
              </a:ext>
            </a:extLst>
          </p:cNvPr>
          <p:cNvSpPr/>
          <p:nvPr/>
        </p:nvSpPr>
        <p:spPr>
          <a:xfrm flipV="1">
            <a:off x="6434140" y="2065903"/>
            <a:ext cx="2350238" cy="815494"/>
          </a:xfrm>
          <a:prstGeom prst="round2SameRect">
            <a:avLst>
              <a:gd name="adj1" fmla="val 5516"/>
              <a:gd name="adj2" fmla="val 0"/>
            </a:avLst>
          </a:prstGeom>
          <a:solidFill>
            <a:srgbClr val="FFFFFF"/>
          </a:solidFill>
          <a:ln w="6902">
            <a:noFill/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35" name="Shape 38">
            <a:extLst>
              <a:ext uri="{FF2B5EF4-FFF2-40B4-BE49-F238E27FC236}">
                <a16:creationId xmlns:a16="http://schemas.microsoft.com/office/drawing/2014/main" id="{12EA2F9F-7092-037B-237A-7AE4128A2DD8}"/>
              </a:ext>
            </a:extLst>
          </p:cNvPr>
          <p:cNvSpPr/>
          <p:nvPr/>
        </p:nvSpPr>
        <p:spPr>
          <a:xfrm>
            <a:off x="334559" y="2369659"/>
            <a:ext cx="2912501" cy="1061317"/>
          </a:xfrm>
          <a:prstGeom prst="round2SameRect">
            <a:avLst>
              <a:gd name="adj1" fmla="val 2659"/>
              <a:gd name="adj2" fmla="val 0"/>
            </a:avLst>
          </a:prstGeom>
          <a:solidFill>
            <a:srgbClr val="FFFFFF"/>
          </a:solidFill>
          <a:ln w="6902">
            <a:noFill/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606083A-7C74-25D6-2AE4-14D9D7ED066E}"/>
              </a:ext>
            </a:extLst>
          </p:cNvPr>
          <p:cNvSpPr txBox="1"/>
          <p:nvPr/>
        </p:nvSpPr>
        <p:spPr>
          <a:xfrm>
            <a:off x="250803" y="594540"/>
            <a:ext cx="8580721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900" b="1" i="0" u="none" strike="noStrike" baseline="0">
                <a:solidFill>
                  <a:srgbClr val="C62828"/>
                </a:solidFill>
                <a:latin typeface="Aptos" panose="020B0004020202020204" pitchFamily="34" charset="0"/>
              </a:rPr>
              <a:t>57%</a:t>
            </a:r>
            <a:r>
              <a:rPr lang="en-US" sz="900" b="0" i="0" u="none" strike="noStrike" baseline="0">
                <a:solidFill>
                  <a:srgbClr val="4B5563"/>
                </a:solidFill>
                <a:latin typeface="Aptos" panose="020B0004020202020204" pitchFamily="34" charset="0"/>
              </a:rPr>
              <a:t> of 184 active </a:t>
            </a:r>
            <a:r>
              <a:rPr lang="en-US" sz="900" b="0" i="0" u="none" strike="noStrike" baseline="0" err="1">
                <a:solidFill>
                  <a:srgbClr val="4B5563"/>
                </a:solidFill>
                <a:latin typeface="Aptos" panose="020B0004020202020204" pitchFamily="34" charset="0"/>
              </a:rPr>
              <a:t>payheads</a:t>
            </a:r>
            <a:r>
              <a:rPr lang="en-US" sz="900" b="0" i="0" u="none" strike="noStrike" baseline="0">
                <a:solidFill>
                  <a:srgbClr val="4B5563"/>
                </a:solidFill>
                <a:latin typeface="Aptos" panose="020B0004020202020204" pitchFamily="34" charset="0"/>
              </a:rPr>
              <a:t> are manual · </a:t>
            </a:r>
            <a:r>
              <a:rPr lang="en-US" sz="900" b="1" i="0" u="none" strike="noStrike" baseline="0">
                <a:solidFill>
                  <a:srgbClr val="C62828"/>
                </a:solidFill>
                <a:latin typeface="Aptos" panose="020B0004020202020204" pitchFamily="34" charset="0"/>
              </a:rPr>
              <a:t>104 manual · 12 semi-auto · 68 automated</a:t>
            </a:r>
            <a:r>
              <a:rPr lang="en-US" sz="900" b="0" i="0" u="none" strike="noStrike" baseline="0">
                <a:solidFill>
                  <a:srgbClr val="9CA3AF"/>
                </a:solidFill>
                <a:latin typeface="Aptos" panose="020B0004020202020204" pitchFamily="34" charset="0"/>
              </a:rPr>
              <a:t> | </a:t>
            </a:r>
            <a:r>
              <a:rPr lang="en-US" sz="900" b="1" i="0" u="none" strike="noStrike" baseline="0">
                <a:solidFill>
                  <a:srgbClr val="C62828"/>
                </a:solidFill>
                <a:latin typeface="Aptos" panose="020B0004020202020204" pitchFamily="34" charset="0"/>
              </a:rPr>
              <a:t>All categories</a:t>
            </a:r>
            <a:r>
              <a:rPr lang="en-US" sz="900" b="0" i="0" u="none" strike="noStrike" baseline="0">
                <a:solidFill>
                  <a:srgbClr val="4B5563"/>
                </a:solidFill>
                <a:latin typeface="Aptos" panose="020B0004020202020204" pitchFamily="34" charset="0"/>
              </a:rPr>
              <a:t> have at least one unverified human touchpoint before payroll runs</a:t>
            </a:r>
            <a:r>
              <a:rPr lang="en-US" sz="900" b="0" i="0">
                <a:solidFill>
                  <a:srgbClr val="000000"/>
                </a:solidFill>
                <a:latin typeface="Aptos" panose="020B0004020202020204" pitchFamily="34" charset="0"/>
                <a:ea typeface="Calibri"/>
                <a:cs typeface="Calibri"/>
              </a:rPr>
              <a:t>​</a:t>
            </a:r>
            <a:endParaRPr lang="en-US" sz="900">
              <a:latin typeface="Aptos" panose="020B0004020202020204" pitchFamily="34" charset="0"/>
            </a:endParaRPr>
          </a:p>
        </p:txBody>
      </p:sp>
      <p:sp>
        <p:nvSpPr>
          <p:cNvPr id="45" name="Text 25">
            <a:extLst>
              <a:ext uri="{FF2B5EF4-FFF2-40B4-BE49-F238E27FC236}">
                <a16:creationId xmlns:a16="http://schemas.microsoft.com/office/drawing/2014/main" id="{5305A392-08DA-6E55-B098-FD7D77CF26E3}"/>
              </a:ext>
            </a:extLst>
          </p:cNvPr>
          <p:cNvSpPr/>
          <p:nvPr/>
        </p:nvSpPr>
        <p:spPr>
          <a:xfrm>
            <a:off x="479623" y="928104"/>
            <a:ext cx="1257346" cy="94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72"/>
              </a:lnSpc>
              <a:buNone/>
            </a:pPr>
            <a:r>
              <a:rPr lang="en-US" sz="900" b="1" kern="0" spc="19">
                <a:solidFill>
                  <a:schemeClr val="bg1"/>
                </a:solidFill>
                <a:latin typeface="Aptos" panose="020B0004020202020204" pitchFamily="34" charset="0"/>
                <a:ea typeface="Inter"/>
                <a:cs typeface="Inter" pitchFamily="34" charset="-120"/>
              </a:rPr>
              <a:t>AUTOMATED PATH</a:t>
            </a:r>
            <a:endParaRPr lang="en-US" sz="900" b="1">
              <a:solidFill>
                <a:schemeClr val="bg1"/>
              </a:solidFill>
              <a:latin typeface="Aptos" panose="020B0004020202020204" pitchFamily="34" charset="0"/>
              <a:ea typeface="Inter"/>
            </a:endParaRPr>
          </a:p>
        </p:txBody>
      </p:sp>
      <p:sp>
        <p:nvSpPr>
          <p:cNvPr id="47" name="Shape 26">
            <a:extLst>
              <a:ext uri="{FF2B5EF4-FFF2-40B4-BE49-F238E27FC236}">
                <a16:creationId xmlns:a16="http://schemas.microsoft.com/office/drawing/2014/main" id="{52BB341A-FD8F-3E9D-7F07-2F363A0EAB78}"/>
              </a:ext>
            </a:extLst>
          </p:cNvPr>
          <p:cNvSpPr/>
          <p:nvPr/>
        </p:nvSpPr>
        <p:spPr>
          <a:xfrm>
            <a:off x="1905000" y="916088"/>
            <a:ext cx="1159440" cy="124743"/>
          </a:xfrm>
          <a:prstGeom prst="roundRect">
            <a:avLst>
              <a:gd name="adj" fmla="val 71825"/>
            </a:avLst>
          </a:prstGeom>
          <a:solidFill>
            <a:srgbClr val="059669"/>
          </a:solidFill>
          <a:ln/>
        </p:spPr>
        <p:txBody>
          <a:bodyPr lIns="45720" tIns="0" rIns="45720" bIns="0" anchor="ctr"/>
          <a:lstStyle/>
          <a:p>
            <a:pPr algn="ctr"/>
            <a:r>
              <a:rPr lang="en-US" sz="700" b="1" kern="0" spc="10">
                <a:solidFill>
                  <a:srgbClr val="FFFFFF">
                    <a:alpha val="99000"/>
                  </a:srgbClr>
                </a:solidFill>
                <a:latin typeface="Aptos" panose="020B0004020202020204" pitchFamily="34" charset="0"/>
                <a:ea typeface="Inter"/>
                <a:cs typeface="Inter" pitchFamily="34" charset="-120"/>
              </a:rPr>
              <a:t>68 </a:t>
            </a:r>
            <a:r>
              <a:rPr lang="en-US" sz="700" b="1" kern="0" spc="10" err="1">
                <a:solidFill>
                  <a:srgbClr val="FFFFFF">
                    <a:alpha val="99000"/>
                  </a:srgbClr>
                </a:solidFill>
                <a:latin typeface="Aptos" panose="020B0004020202020204" pitchFamily="34" charset="0"/>
                <a:ea typeface="Inter"/>
                <a:cs typeface="Inter" pitchFamily="34" charset="-120"/>
              </a:rPr>
              <a:t>payheads</a:t>
            </a:r>
            <a:r>
              <a:rPr lang="en-US" sz="700" b="1" kern="0" spc="10">
                <a:solidFill>
                  <a:srgbClr val="FFFFFF">
                    <a:alpha val="99000"/>
                  </a:srgbClr>
                </a:solidFill>
                <a:latin typeface="Aptos" panose="020B0004020202020204" pitchFamily="34" charset="0"/>
                <a:ea typeface="Inter"/>
                <a:cs typeface="Inter" pitchFamily="34" charset="-120"/>
              </a:rPr>
              <a:t> automated</a:t>
            </a:r>
            <a:endParaRPr lang="en-US" sz="700">
              <a:latin typeface="Aptos" panose="020B0004020202020204" pitchFamily="34" charset="0"/>
              <a:ea typeface="Inter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1691B0-CE9D-2E26-9DFA-10F04EA3C266}"/>
              </a:ext>
            </a:extLst>
          </p:cNvPr>
          <p:cNvSpPr txBox="1"/>
          <p:nvPr/>
        </p:nvSpPr>
        <p:spPr>
          <a:xfrm>
            <a:off x="210383" y="210372"/>
            <a:ext cx="7813019" cy="300082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pPr defTabSz="914378">
              <a:defRPr/>
            </a:pPr>
            <a:r>
              <a:rPr lang="en-US" sz="1500" b="1" dirty="0">
                <a:solidFill>
                  <a:srgbClr val="C00000"/>
                </a:solidFill>
                <a:latin typeface="AirIndia"/>
              </a:rPr>
              <a:t>Current State Architecture –As Is </a:t>
            </a:r>
            <a:r>
              <a:rPr lang="en-US" sz="1500" dirty="0">
                <a:solidFill>
                  <a:srgbClr val="7F7F7F"/>
                </a:solidFill>
                <a:latin typeface="AirIndia"/>
              </a:rPr>
              <a:t>- Where the Risk Lives</a:t>
            </a:r>
          </a:p>
        </p:txBody>
      </p:sp>
      <p:sp>
        <p:nvSpPr>
          <p:cNvPr id="18" name="Shape 61">
            <a:extLst>
              <a:ext uri="{FF2B5EF4-FFF2-40B4-BE49-F238E27FC236}">
                <a16:creationId xmlns:a16="http://schemas.microsoft.com/office/drawing/2014/main" id="{E97BE43C-B755-38BC-AD4C-627F5272BFFA}"/>
              </a:ext>
            </a:extLst>
          </p:cNvPr>
          <p:cNvSpPr/>
          <p:nvPr/>
        </p:nvSpPr>
        <p:spPr>
          <a:xfrm>
            <a:off x="238125" y="539687"/>
            <a:ext cx="8729663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F8E5981-2E13-CEE6-BA3F-E7D8DDCA91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675" y="919795"/>
            <a:ext cx="117720" cy="117720"/>
          </a:xfrm>
          <a:prstGeom prst="rect">
            <a:avLst/>
          </a:prstGeom>
        </p:spPr>
      </p:pic>
      <p:sp>
        <p:nvSpPr>
          <p:cNvPr id="14" name="Text 25">
            <a:extLst>
              <a:ext uri="{FF2B5EF4-FFF2-40B4-BE49-F238E27FC236}">
                <a16:creationId xmlns:a16="http://schemas.microsoft.com/office/drawing/2014/main" id="{BD402338-C8F1-85D3-C089-C28E3D0076D3}"/>
              </a:ext>
            </a:extLst>
          </p:cNvPr>
          <p:cNvSpPr/>
          <p:nvPr/>
        </p:nvSpPr>
        <p:spPr>
          <a:xfrm>
            <a:off x="478659" y="2212055"/>
            <a:ext cx="1257346" cy="94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72"/>
              </a:lnSpc>
              <a:buNone/>
            </a:pPr>
            <a:r>
              <a:rPr lang="en-US" sz="900" b="1" kern="0" spc="19">
                <a:solidFill>
                  <a:schemeClr val="bg1"/>
                </a:solidFill>
                <a:latin typeface="Aptos" panose="020B0004020202020204" pitchFamily="34" charset="0"/>
                <a:ea typeface="Inter"/>
                <a:cs typeface="Inter" pitchFamily="34" charset="-120"/>
              </a:rPr>
              <a:t>MANUAL PATH</a:t>
            </a:r>
            <a:endParaRPr lang="en-US" sz="900" b="1">
              <a:solidFill>
                <a:schemeClr val="bg1"/>
              </a:solidFill>
              <a:latin typeface="Aptos" panose="020B0004020202020204" pitchFamily="34" charset="0"/>
              <a:ea typeface="Inter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A1A98AF-9D7B-1F8E-5724-A87B0E9A75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711" y="2195379"/>
            <a:ext cx="117720" cy="117720"/>
          </a:xfrm>
          <a:prstGeom prst="rect">
            <a:avLst/>
          </a:prstGeom>
        </p:spPr>
      </p:pic>
      <p:sp>
        <p:nvSpPr>
          <p:cNvPr id="21" name="Shape 26">
            <a:extLst>
              <a:ext uri="{FF2B5EF4-FFF2-40B4-BE49-F238E27FC236}">
                <a16:creationId xmlns:a16="http://schemas.microsoft.com/office/drawing/2014/main" id="{B67F13A7-CFCF-95D3-7B57-D44C93CFCF8A}"/>
              </a:ext>
            </a:extLst>
          </p:cNvPr>
          <p:cNvSpPr/>
          <p:nvPr/>
        </p:nvSpPr>
        <p:spPr>
          <a:xfrm>
            <a:off x="1905682" y="2190112"/>
            <a:ext cx="1340485" cy="124743"/>
          </a:xfrm>
          <a:prstGeom prst="roundRect">
            <a:avLst>
              <a:gd name="adj" fmla="val 71825"/>
            </a:avLst>
          </a:prstGeom>
          <a:solidFill>
            <a:srgbClr val="DC2525"/>
          </a:solidFill>
          <a:ln/>
        </p:spPr>
        <p:txBody>
          <a:bodyPr lIns="45720" tIns="0" rIns="45720" bIns="0" anchor="ctr"/>
          <a:lstStyle/>
          <a:p>
            <a:pPr algn="ctr"/>
            <a:r>
              <a:rPr lang="en-US" sz="700" b="1" kern="0" spc="10">
                <a:solidFill>
                  <a:srgbClr val="FFFFFF">
                    <a:alpha val="99000"/>
                  </a:srgbClr>
                </a:solidFill>
                <a:latin typeface="Aptos" panose="020B0004020202020204" pitchFamily="34" charset="0"/>
                <a:ea typeface="Inter"/>
                <a:cs typeface="Inter" pitchFamily="34" charset="-120"/>
              </a:rPr>
              <a:t>104 manual · 12 semi-auto</a:t>
            </a:r>
          </a:p>
        </p:txBody>
      </p:sp>
      <p:sp>
        <p:nvSpPr>
          <p:cNvPr id="22" name="Shape 38">
            <a:extLst>
              <a:ext uri="{FF2B5EF4-FFF2-40B4-BE49-F238E27FC236}">
                <a16:creationId xmlns:a16="http://schemas.microsoft.com/office/drawing/2014/main" id="{A6F1899C-164E-89CC-38F7-E8BAB807B2A0}"/>
              </a:ext>
            </a:extLst>
          </p:cNvPr>
          <p:cNvSpPr/>
          <p:nvPr/>
        </p:nvSpPr>
        <p:spPr>
          <a:xfrm>
            <a:off x="334711" y="3430695"/>
            <a:ext cx="2912346" cy="418003"/>
          </a:xfrm>
          <a:prstGeom prst="round2SameRect">
            <a:avLst>
              <a:gd name="adj1" fmla="val 0"/>
              <a:gd name="adj2" fmla="val 9352"/>
            </a:avLst>
          </a:prstGeom>
          <a:solidFill>
            <a:srgbClr val="FEF9E2"/>
          </a:solidFill>
          <a:ln w="6902">
            <a:noFill/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8" name="Text 32">
            <a:extLst>
              <a:ext uri="{FF2B5EF4-FFF2-40B4-BE49-F238E27FC236}">
                <a16:creationId xmlns:a16="http://schemas.microsoft.com/office/drawing/2014/main" id="{15150418-3ABE-C215-81C9-0EDE763F92A2}"/>
              </a:ext>
            </a:extLst>
          </p:cNvPr>
          <p:cNvSpPr/>
          <p:nvPr/>
        </p:nvSpPr>
        <p:spPr>
          <a:xfrm>
            <a:off x="402625" y="2741412"/>
            <a:ext cx="751639" cy="7673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>
              <a:lnSpc>
                <a:spcPts val="727"/>
              </a:lnSpc>
            </a:pPr>
            <a:r>
              <a:rPr lang="en-US" sz="800" b="1" kern="0" spc="4">
                <a:solidFill>
                  <a:srgbClr val="3F3F3F"/>
                </a:solidFill>
                <a:latin typeface="Aptos" panose="020B0004020202020204" pitchFamily="34" charset="0"/>
                <a:ea typeface="Inter"/>
                <a:cs typeface="Calibri"/>
              </a:rPr>
              <a:t>CAE/CC Ops</a:t>
            </a:r>
          </a:p>
        </p:txBody>
      </p:sp>
      <p:sp>
        <p:nvSpPr>
          <p:cNvPr id="29" name="Text 37">
            <a:extLst>
              <a:ext uri="{FF2B5EF4-FFF2-40B4-BE49-F238E27FC236}">
                <a16:creationId xmlns:a16="http://schemas.microsoft.com/office/drawing/2014/main" id="{8B42FEF3-27EC-4D6F-3DF0-F9C9BD2E8FB3}"/>
              </a:ext>
            </a:extLst>
          </p:cNvPr>
          <p:cNvSpPr/>
          <p:nvPr/>
        </p:nvSpPr>
        <p:spPr>
          <a:xfrm>
            <a:off x="384705" y="3212059"/>
            <a:ext cx="751638" cy="14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00" b="1" kern="0" spc="8">
                <a:solidFill>
                  <a:srgbClr val="DC2525">
                    <a:alpha val="99000"/>
                  </a:srgbClr>
                </a:solidFill>
                <a:latin typeface="Aptos" panose="020B0004020202020204" pitchFamily="34" charset="0"/>
                <a:ea typeface="Inter"/>
                <a:cs typeface="Inter" pitchFamily="34" charset="-120"/>
              </a:rPr>
              <a:t>15 </a:t>
            </a:r>
            <a:r>
              <a:rPr lang="en-US" sz="700" b="1" kern="0" spc="8" err="1">
                <a:solidFill>
                  <a:srgbClr val="DC2525">
                    <a:alpha val="99000"/>
                  </a:srgbClr>
                </a:solidFill>
                <a:latin typeface="Aptos" panose="020B0004020202020204" pitchFamily="34" charset="0"/>
                <a:ea typeface="Inter"/>
                <a:cs typeface="Inter" pitchFamily="34" charset="-120"/>
              </a:rPr>
              <a:t>payheads</a:t>
            </a:r>
            <a:r>
              <a:rPr lang="en-US" sz="700" b="1" kern="0" spc="8">
                <a:solidFill>
                  <a:srgbClr val="DC2525">
                    <a:alpha val="99000"/>
                  </a:srgbClr>
                </a:solidFill>
                <a:latin typeface="Aptos" panose="020B0004020202020204" pitchFamily="34" charset="0"/>
                <a:ea typeface="Inter"/>
                <a:cs typeface="Inter" pitchFamily="34" charset="-120"/>
              </a:rPr>
              <a:t>​</a:t>
            </a:r>
          </a:p>
        </p:txBody>
      </p:sp>
      <p:sp>
        <p:nvSpPr>
          <p:cNvPr id="30" name="Text 34">
            <a:extLst>
              <a:ext uri="{FF2B5EF4-FFF2-40B4-BE49-F238E27FC236}">
                <a16:creationId xmlns:a16="http://schemas.microsoft.com/office/drawing/2014/main" id="{8E4E7B71-A933-6250-7EA9-0A5730865BEC}"/>
              </a:ext>
            </a:extLst>
          </p:cNvPr>
          <p:cNvSpPr/>
          <p:nvPr/>
        </p:nvSpPr>
        <p:spPr>
          <a:xfrm>
            <a:off x="402625" y="2856292"/>
            <a:ext cx="734116" cy="211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00" kern="0" spc="1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Inter"/>
                <a:cs typeface="Inter" pitchFamily="34" charset="-120"/>
              </a:rPr>
              <a:t>Flying allowances</a:t>
            </a:r>
            <a:endParaRPr lang="en-US" sz="700" kern="0" spc="1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  <a:ea typeface="Inter"/>
            </a:endParaRPr>
          </a:p>
        </p:txBody>
      </p:sp>
      <p:sp>
        <p:nvSpPr>
          <p:cNvPr id="31" name="Text 41">
            <a:extLst>
              <a:ext uri="{FF2B5EF4-FFF2-40B4-BE49-F238E27FC236}">
                <a16:creationId xmlns:a16="http://schemas.microsoft.com/office/drawing/2014/main" id="{1FB85169-E183-D718-2BDA-7FC5EB9D46A8}"/>
              </a:ext>
            </a:extLst>
          </p:cNvPr>
          <p:cNvSpPr/>
          <p:nvPr/>
        </p:nvSpPr>
        <p:spPr>
          <a:xfrm>
            <a:off x="1244364" y="2742714"/>
            <a:ext cx="849439" cy="82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>
              <a:lnSpc>
                <a:spcPts val="727"/>
              </a:lnSpc>
            </a:pPr>
            <a:r>
              <a:rPr lang="en-US" sz="800" b="1" kern="0" spc="4">
                <a:solidFill>
                  <a:srgbClr val="3F3F3F"/>
                </a:solidFill>
                <a:latin typeface="Aptos" panose="020B0004020202020204" pitchFamily="34" charset="0"/>
                <a:ea typeface="Inter"/>
              </a:rPr>
              <a:t>HRBP Team</a:t>
            </a:r>
            <a:endParaRPr lang="en-US" sz="800" b="1">
              <a:solidFill>
                <a:srgbClr val="3F3F3F"/>
              </a:solidFill>
              <a:latin typeface="Aptos" panose="020B0004020202020204" pitchFamily="34" charset="0"/>
            </a:endParaRPr>
          </a:p>
        </p:txBody>
      </p:sp>
      <p:sp>
        <p:nvSpPr>
          <p:cNvPr id="33" name="Text 43">
            <a:extLst>
              <a:ext uri="{FF2B5EF4-FFF2-40B4-BE49-F238E27FC236}">
                <a16:creationId xmlns:a16="http://schemas.microsoft.com/office/drawing/2014/main" id="{704D95BD-3ED8-9466-3D30-8D0E8688260C}"/>
              </a:ext>
            </a:extLst>
          </p:cNvPr>
          <p:cNvSpPr/>
          <p:nvPr/>
        </p:nvSpPr>
        <p:spPr>
          <a:xfrm>
            <a:off x="1244364" y="2841399"/>
            <a:ext cx="811563" cy="147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00" kern="0" spc="1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Inter"/>
                <a:cs typeface="Inter" pitchFamily="34" charset="-120"/>
              </a:rPr>
              <a:t>Special </a:t>
            </a:r>
          </a:p>
          <a:p>
            <a:r>
              <a:rPr lang="en-US" sz="700" kern="0" spc="1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Inter"/>
                <a:cs typeface="Inter" pitchFamily="34" charset="-120"/>
              </a:rPr>
              <a:t>allowances</a:t>
            </a:r>
            <a:endParaRPr lang="en-US" sz="70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DCD0442-A633-7A89-7B36-E37F412E8292}"/>
              </a:ext>
            </a:extLst>
          </p:cNvPr>
          <p:cNvCxnSpPr>
            <a:cxnSpLocks/>
          </p:cNvCxnSpPr>
          <p:nvPr/>
        </p:nvCxnSpPr>
        <p:spPr>
          <a:xfrm>
            <a:off x="1154264" y="2737674"/>
            <a:ext cx="0" cy="611557"/>
          </a:xfrm>
          <a:prstGeom prst="line">
            <a:avLst/>
          </a:prstGeom>
          <a:ln>
            <a:solidFill>
              <a:srgbClr val="FECD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 32">
            <a:extLst>
              <a:ext uri="{FF2B5EF4-FFF2-40B4-BE49-F238E27FC236}">
                <a16:creationId xmlns:a16="http://schemas.microsoft.com/office/drawing/2014/main" id="{38F87D4C-7A6E-45D0-0D0F-D76E7083A7A5}"/>
              </a:ext>
            </a:extLst>
          </p:cNvPr>
          <p:cNvSpPr/>
          <p:nvPr/>
        </p:nvSpPr>
        <p:spPr>
          <a:xfrm>
            <a:off x="1988083" y="2737674"/>
            <a:ext cx="1389071" cy="904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>
              <a:lnSpc>
                <a:spcPts val="727"/>
              </a:lnSpc>
            </a:pPr>
            <a:r>
              <a:rPr lang="en-US" sz="800" b="1" kern="0" spc="4">
                <a:solidFill>
                  <a:srgbClr val="3F3F3F"/>
                </a:solidFill>
                <a:latin typeface="Aptos" panose="020B0004020202020204" pitchFamily="34" charset="0"/>
                <a:ea typeface="Inter"/>
                <a:cs typeface="Calibri"/>
              </a:rPr>
              <a:t>C&amp;B / Finance / HR Ops</a:t>
            </a:r>
          </a:p>
        </p:txBody>
      </p:sp>
      <p:sp>
        <p:nvSpPr>
          <p:cNvPr id="40" name="Text 34">
            <a:extLst>
              <a:ext uri="{FF2B5EF4-FFF2-40B4-BE49-F238E27FC236}">
                <a16:creationId xmlns:a16="http://schemas.microsoft.com/office/drawing/2014/main" id="{17516579-542E-D669-3CAD-58BDB0EFC5D5}"/>
              </a:ext>
            </a:extLst>
          </p:cNvPr>
          <p:cNvSpPr/>
          <p:nvPr/>
        </p:nvSpPr>
        <p:spPr>
          <a:xfrm>
            <a:off x="1972913" y="2854557"/>
            <a:ext cx="1170053" cy="233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00" kern="0" spc="1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Inter"/>
                <a:cs typeface="Inter" pitchFamily="34" charset="-120"/>
              </a:rPr>
              <a:t>Bonus, Incentives, </a:t>
            </a:r>
            <a:r>
              <a:rPr lang="en-US" sz="700" kern="0" spc="10" err="1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Inter"/>
                <a:cs typeface="Inter" pitchFamily="34" charset="-120"/>
              </a:rPr>
              <a:t>LifeKaPlan</a:t>
            </a:r>
            <a:r>
              <a:rPr lang="en-US" sz="700" kern="0" spc="1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Inter"/>
                <a:cs typeface="Inter" pitchFamily="34" charset="-120"/>
              </a:rPr>
              <a:t>, Attendance, </a:t>
            </a:r>
            <a:r>
              <a:rPr lang="en-US" sz="700" kern="0" spc="10" err="1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Inter"/>
                <a:cs typeface="Inter" pitchFamily="34" charset="-120"/>
              </a:rPr>
              <a:t>FnF</a:t>
            </a:r>
            <a:endParaRPr lang="en-US" sz="700" kern="0" spc="1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  <a:ea typeface="Inter"/>
              <a:cs typeface="Inter" pitchFamily="34" charset="-120"/>
            </a:endParaRPr>
          </a:p>
        </p:txBody>
      </p:sp>
      <p:sp>
        <p:nvSpPr>
          <p:cNvPr id="42" name="Text 32">
            <a:extLst>
              <a:ext uri="{FF2B5EF4-FFF2-40B4-BE49-F238E27FC236}">
                <a16:creationId xmlns:a16="http://schemas.microsoft.com/office/drawing/2014/main" id="{7E3C9499-620E-ACFA-C809-CE1A68BDA550}"/>
              </a:ext>
            </a:extLst>
          </p:cNvPr>
          <p:cNvSpPr/>
          <p:nvPr/>
        </p:nvSpPr>
        <p:spPr>
          <a:xfrm>
            <a:off x="384705" y="3486600"/>
            <a:ext cx="2046503" cy="1123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>
              <a:lnSpc>
                <a:spcPts val="727"/>
              </a:lnSpc>
            </a:pPr>
            <a:r>
              <a:rPr lang="en-US" sz="800" b="1" kern="0" spc="4">
                <a:solidFill>
                  <a:srgbClr val="3F3F3F"/>
                </a:solidFill>
                <a:latin typeface="Aptos" panose="020B0004020202020204" pitchFamily="34" charset="0"/>
                <a:ea typeface="Inter"/>
                <a:cs typeface="Calibri"/>
              </a:rPr>
              <a:t>Semi-Auto &amp; External (29) </a:t>
            </a:r>
          </a:p>
        </p:txBody>
      </p:sp>
      <p:sp>
        <p:nvSpPr>
          <p:cNvPr id="44" name="Text 34">
            <a:extLst>
              <a:ext uri="{FF2B5EF4-FFF2-40B4-BE49-F238E27FC236}">
                <a16:creationId xmlns:a16="http://schemas.microsoft.com/office/drawing/2014/main" id="{EF8EAB1D-E009-7B1A-2585-C92AA7A5BBA8}"/>
              </a:ext>
            </a:extLst>
          </p:cNvPr>
          <p:cNvSpPr/>
          <p:nvPr/>
        </p:nvSpPr>
        <p:spPr>
          <a:xfrm>
            <a:off x="384706" y="3589332"/>
            <a:ext cx="2809442" cy="2258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00" kern="0" spc="10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  <a:ea typeface="Inter"/>
                <a:cs typeface="Inter" pitchFamily="34" charset="-120"/>
              </a:rPr>
              <a:t>PS semi-auto: FBP claims, </a:t>
            </a:r>
            <a:r>
              <a:rPr lang="en-US" sz="700" kern="0" spc="10" err="1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  <a:ea typeface="Inter"/>
                <a:cs typeface="Inter" pitchFamily="34" charset="-120"/>
              </a:rPr>
              <a:t>reimb</a:t>
            </a:r>
            <a:r>
              <a:rPr lang="en-US" sz="700" kern="0" spc="10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  <a:ea typeface="Inter"/>
                <a:cs typeface="Inter" pitchFamily="34" charset="-120"/>
              </a:rPr>
              <a:t>, LTA(12). Legacy ext. deductions &amp; manual portal uploads(17)  </a:t>
            </a:r>
          </a:p>
        </p:txBody>
      </p:sp>
      <p:sp>
        <p:nvSpPr>
          <p:cNvPr id="67" name="Text 25">
            <a:extLst>
              <a:ext uri="{FF2B5EF4-FFF2-40B4-BE49-F238E27FC236}">
                <a16:creationId xmlns:a16="http://schemas.microsoft.com/office/drawing/2014/main" id="{96A695C4-97A9-4D14-DD58-BBF638A46069}"/>
              </a:ext>
            </a:extLst>
          </p:cNvPr>
          <p:cNvSpPr/>
          <p:nvPr/>
        </p:nvSpPr>
        <p:spPr>
          <a:xfrm>
            <a:off x="4794582" y="919795"/>
            <a:ext cx="1345362" cy="111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72"/>
              </a:lnSpc>
              <a:buNone/>
            </a:pPr>
            <a:r>
              <a:rPr lang="en-US" sz="800" b="1" kern="0" spc="19">
                <a:solidFill>
                  <a:schemeClr val="bg1"/>
                </a:solidFill>
                <a:latin typeface="Aptos" panose="020B0004020202020204" pitchFamily="34" charset="0"/>
                <a:ea typeface="Inter"/>
                <a:cs typeface="Inter" pitchFamily="34" charset="-120"/>
              </a:rPr>
              <a:t>PEOPLESTRONG (PS)</a:t>
            </a:r>
          </a:p>
        </p:txBody>
      </p:sp>
      <p:pic>
        <p:nvPicPr>
          <p:cNvPr id="74" name="Picture 73">
            <a:extLst>
              <a:ext uri="{FF2B5EF4-FFF2-40B4-BE49-F238E27FC236}">
                <a16:creationId xmlns:a16="http://schemas.microsoft.com/office/drawing/2014/main" id="{1CD5B7AC-2D8B-F415-F56F-1AB97964A9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4347" y="919795"/>
            <a:ext cx="117720" cy="117720"/>
          </a:xfrm>
          <a:prstGeom prst="rect">
            <a:avLst/>
          </a:prstGeom>
        </p:spPr>
      </p:pic>
      <p:sp>
        <p:nvSpPr>
          <p:cNvPr id="81" name="Text 32">
            <a:extLst>
              <a:ext uri="{FF2B5EF4-FFF2-40B4-BE49-F238E27FC236}">
                <a16:creationId xmlns:a16="http://schemas.microsoft.com/office/drawing/2014/main" id="{E017C999-9146-0927-8E60-E7F722C817FE}"/>
              </a:ext>
            </a:extLst>
          </p:cNvPr>
          <p:cNvSpPr/>
          <p:nvPr/>
        </p:nvSpPr>
        <p:spPr>
          <a:xfrm>
            <a:off x="4754058" y="2379769"/>
            <a:ext cx="966985" cy="1123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>
              <a:lnSpc>
                <a:spcPts val="727"/>
              </a:lnSpc>
            </a:pPr>
            <a:r>
              <a:rPr lang="en-US" sz="800" b="1" kern="0" spc="4">
                <a:solidFill>
                  <a:srgbClr val="3F3F3F"/>
                </a:solidFill>
                <a:latin typeface="Aptos" panose="020B0004020202020204" pitchFamily="34" charset="0"/>
                <a:ea typeface="Inter"/>
                <a:cs typeface="Calibri"/>
              </a:rPr>
              <a:t>Final Payroll Run</a:t>
            </a:r>
          </a:p>
        </p:txBody>
      </p:sp>
      <p:sp>
        <p:nvSpPr>
          <p:cNvPr id="82" name="Text 34">
            <a:extLst>
              <a:ext uri="{FF2B5EF4-FFF2-40B4-BE49-F238E27FC236}">
                <a16:creationId xmlns:a16="http://schemas.microsoft.com/office/drawing/2014/main" id="{BB7B783D-F2B3-E293-6737-FF1673BCF1C9}"/>
              </a:ext>
            </a:extLst>
          </p:cNvPr>
          <p:cNvSpPr/>
          <p:nvPr/>
        </p:nvSpPr>
        <p:spPr>
          <a:xfrm>
            <a:off x="4754059" y="2482501"/>
            <a:ext cx="940569" cy="124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00" kern="0" spc="1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Inter"/>
              </a:rPr>
              <a:t>Post draft 2 sign-off</a:t>
            </a:r>
            <a:endParaRPr lang="en-US" sz="70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92" name="Shape 38">
            <a:extLst>
              <a:ext uri="{FF2B5EF4-FFF2-40B4-BE49-F238E27FC236}">
                <a16:creationId xmlns:a16="http://schemas.microsoft.com/office/drawing/2014/main" id="{79F012F5-E49A-FFF6-C571-C0B3DCC52ADD}"/>
              </a:ext>
            </a:extLst>
          </p:cNvPr>
          <p:cNvSpPr/>
          <p:nvPr/>
        </p:nvSpPr>
        <p:spPr>
          <a:xfrm flipV="1">
            <a:off x="4636179" y="2647297"/>
            <a:ext cx="1410430" cy="558898"/>
          </a:xfrm>
          <a:prstGeom prst="round2SameRect">
            <a:avLst>
              <a:gd name="adj1" fmla="val 7911"/>
              <a:gd name="adj2" fmla="val 0"/>
            </a:avLst>
          </a:prstGeom>
          <a:solidFill>
            <a:srgbClr val="FEF9E3"/>
          </a:solidFill>
          <a:ln w="6902">
            <a:noFill/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96" name="Text 32">
            <a:extLst>
              <a:ext uri="{FF2B5EF4-FFF2-40B4-BE49-F238E27FC236}">
                <a16:creationId xmlns:a16="http://schemas.microsoft.com/office/drawing/2014/main" id="{0319A061-8AA2-13F6-F9A3-7844F41050F7}"/>
              </a:ext>
            </a:extLst>
          </p:cNvPr>
          <p:cNvSpPr/>
          <p:nvPr/>
        </p:nvSpPr>
        <p:spPr>
          <a:xfrm>
            <a:off x="4754059" y="2766733"/>
            <a:ext cx="1041646" cy="1123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>
              <a:lnSpc>
                <a:spcPts val="727"/>
              </a:lnSpc>
            </a:pPr>
            <a:r>
              <a:rPr lang="en-US" sz="800" b="1" kern="0" spc="4">
                <a:solidFill>
                  <a:srgbClr val="3F3F3F"/>
                </a:solidFill>
                <a:latin typeface="Aptos" panose="020B0004020202020204" pitchFamily="34" charset="0"/>
                <a:ea typeface="Inter"/>
                <a:cs typeface="Calibri"/>
              </a:rPr>
              <a:t>Bank File Generation</a:t>
            </a:r>
          </a:p>
        </p:txBody>
      </p:sp>
      <p:sp>
        <p:nvSpPr>
          <p:cNvPr id="98" name="Text 34">
            <a:extLst>
              <a:ext uri="{FF2B5EF4-FFF2-40B4-BE49-F238E27FC236}">
                <a16:creationId xmlns:a16="http://schemas.microsoft.com/office/drawing/2014/main" id="{3154D067-971E-E1F4-9F64-DCBCDB29F27D}"/>
              </a:ext>
            </a:extLst>
          </p:cNvPr>
          <p:cNvSpPr/>
          <p:nvPr/>
        </p:nvSpPr>
        <p:spPr>
          <a:xfrm>
            <a:off x="4754058" y="2894323"/>
            <a:ext cx="1165693" cy="2258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00" kern="0" spc="1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Inter"/>
                <a:cs typeface="Inter" pitchFamily="34" charset="-120"/>
              </a:rPr>
              <a:t>Sent to AI Payroll for manual HDFC upload (no SFTP)</a:t>
            </a:r>
          </a:p>
        </p:txBody>
      </p:sp>
      <p:sp>
        <p:nvSpPr>
          <p:cNvPr id="101" name="Text 25">
            <a:extLst>
              <a:ext uri="{FF2B5EF4-FFF2-40B4-BE49-F238E27FC236}">
                <a16:creationId xmlns:a16="http://schemas.microsoft.com/office/drawing/2014/main" id="{17664019-CA77-591E-98AB-CDF9AD112B3E}"/>
              </a:ext>
            </a:extLst>
          </p:cNvPr>
          <p:cNvSpPr/>
          <p:nvPr/>
        </p:nvSpPr>
        <p:spPr>
          <a:xfrm>
            <a:off x="6569947" y="919841"/>
            <a:ext cx="2041715" cy="1152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72"/>
              </a:lnSpc>
              <a:buNone/>
            </a:pPr>
            <a:r>
              <a:rPr lang="en-US" sz="800" b="1" kern="0" spc="19">
                <a:solidFill>
                  <a:schemeClr val="bg1"/>
                </a:solidFill>
                <a:latin typeface="Aptos" panose="020B0004020202020204" pitchFamily="34" charset="0"/>
                <a:ea typeface="Inter"/>
                <a:cs typeface="Inter" pitchFamily="34" charset="-120"/>
              </a:rPr>
              <a:t>DOWNSTREAM SYSTEMS</a:t>
            </a:r>
          </a:p>
        </p:txBody>
      </p:sp>
      <p:sp>
        <p:nvSpPr>
          <p:cNvPr id="108" name="Shape 38">
            <a:extLst>
              <a:ext uri="{FF2B5EF4-FFF2-40B4-BE49-F238E27FC236}">
                <a16:creationId xmlns:a16="http://schemas.microsoft.com/office/drawing/2014/main" id="{AB14952D-370E-3F26-4F0E-14138431F8A5}"/>
              </a:ext>
            </a:extLst>
          </p:cNvPr>
          <p:cNvSpPr/>
          <p:nvPr/>
        </p:nvSpPr>
        <p:spPr>
          <a:xfrm>
            <a:off x="6315476" y="3131891"/>
            <a:ext cx="2593873" cy="877278"/>
          </a:xfrm>
          <a:prstGeom prst="roundRect">
            <a:avLst>
              <a:gd name="adj" fmla="val 6030"/>
            </a:avLst>
          </a:prstGeom>
          <a:solidFill>
            <a:srgbClr val="FFF2F2"/>
          </a:solidFill>
          <a:ln w="6902">
            <a:noFill/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11" name="Shape 38">
            <a:extLst>
              <a:ext uri="{FF2B5EF4-FFF2-40B4-BE49-F238E27FC236}">
                <a16:creationId xmlns:a16="http://schemas.microsoft.com/office/drawing/2014/main" id="{D4D68A5D-00FE-52FA-2FC2-0869F9C14381}"/>
              </a:ext>
            </a:extLst>
          </p:cNvPr>
          <p:cNvSpPr/>
          <p:nvPr/>
        </p:nvSpPr>
        <p:spPr>
          <a:xfrm>
            <a:off x="6434141" y="1094765"/>
            <a:ext cx="2350237" cy="971137"/>
          </a:xfrm>
          <a:prstGeom prst="round2SameRect">
            <a:avLst>
              <a:gd name="adj1" fmla="val 4132"/>
              <a:gd name="adj2" fmla="val 0"/>
            </a:avLst>
          </a:prstGeom>
          <a:solidFill>
            <a:srgbClr val="FEF9E3"/>
          </a:solidFill>
          <a:ln w="6902">
            <a:noFill/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pic>
        <p:nvPicPr>
          <p:cNvPr id="116" name="Picture 115">
            <a:extLst>
              <a:ext uri="{FF2B5EF4-FFF2-40B4-BE49-F238E27FC236}">
                <a16:creationId xmlns:a16="http://schemas.microsoft.com/office/drawing/2014/main" id="{A3A7FB19-F144-1B8B-8DDE-DF169ADE2D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5015" y="919795"/>
            <a:ext cx="117720" cy="117720"/>
          </a:xfrm>
          <a:prstGeom prst="rect">
            <a:avLst/>
          </a:prstGeom>
        </p:spPr>
      </p:pic>
      <p:sp>
        <p:nvSpPr>
          <p:cNvPr id="103" name="Text 32">
            <a:extLst>
              <a:ext uri="{FF2B5EF4-FFF2-40B4-BE49-F238E27FC236}">
                <a16:creationId xmlns:a16="http://schemas.microsoft.com/office/drawing/2014/main" id="{73BCDA6E-C515-6DAB-F59C-AF1E56ED4463}"/>
              </a:ext>
            </a:extLst>
          </p:cNvPr>
          <p:cNvSpPr/>
          <p:nvPr/>
        </p:nvSpPr>
        <p:spPr>
          <a:xfrm>
            <a:off x="6524830" y="1227468"/>
            <a:ext cx="2134409" cy="1123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>
              <a:lnSpc>
                <a:spcPts val="727"/>
              </a:lnSpc>
            </a:pPr>
            <a:r>
              <a:rPr lang="en-US" sz="800" b="1" kern="0" spc="4">
                <a:solidFill>
                  <a:srgbClr val="3F3F3F"/>
                </a:solidFill>
                <a:latin typeface="Aptos" panose="020B0004020202020204" pitchFamily="34" charset="0"/>
                <a:ea typeface="Inter"/>
                <a:cs typeface="Calibri"/>
              </a:rPr>
              <a:t>HDFC Bank (Primary)</a:t>
            </a:r>
          </a:p>
        </p:txBody>
      </p:sp>
      <p:sp>
        <p:nvSpPr>
          <p:cNvPr id="104" name="Text 34">
            <a:extLst>
              <a:ext uri="{FF2B5EF4-FFF2-40B4-BE49-F238E27FC236}">
                <a16:creationId xmlns:a16="http://schemas.microsoft.com/office/drawing/2014/main" id="{B6F8EE0B-9918-156D-1DD3-2625F62BCC31}"/>
              </a:ext>
            </a:extLst>
          </p:cNvPr>
          <p:cNvSpPr/>
          <p:nvPr/>
        </p:nvSpPr>
        <p:spPr>
          <a:xfrm>
            <a:off x="6524829" y="1361004"/>
            <a:ext cx="2209581" cy="2258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00" kern="0" spc="1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AI Payroll manually uploads bank file to HDFC portal. No SFTP. HDFC disburses salaries to all employee banks (ICICI, SBI, Axis, </a:t>
            </a:r>
            <a:r>
              <a:rPr lang="en-US" sz="700" kern="0" spc="10" err="1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etc</a:t>
            </a:r>
            <a:r>
              <a:rPr lang="en-US" sz="700" kern="0" spc="1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)</a:t>
            </a:r>
          </a:p>
        </p:txBody>
      </p:sp>
      <p:sp>
        <p:nvSpPr>
          <p:cNvPr id="106" name="Text 32">
            <a:extLst>
              <a:ext uri="{FF2B5EF4-FFF2-40B4-BE49-F238E27FC236}">
                <a16:creationId xmlns:a16="http://schemas.microsoft.com/office/drawing/2014/main" id="{7E2D6D97-9758-B255-4BCA-AF4392166415}"/>
              </a:ext>
            </a:extLst>
          </p:cNvPr>
          <p:cNvSpPr/>
          <p:nvPr/>
        </p:nvSpPr>
        <p:spPr>
          <a:xfrm>
            <a:off x="6533396" y="2149367"/>
            <a:ext cx="1885801" cy="1123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>
              <a:lnSpc>
                <a:spcPts val="727"/>
              </a:lnSpc>
            </a:pPr>
            <a:r>
              <a:rPr lang="en-US" sz="800" b="1" kern="0" spc="4">
                <a:solidFill>
                  <a:srgbClr val="3F3F3F"/>
                </a:solidFill>
                <a:latin typeface="Aptos" panose="020B0004020202020204" pitchFamily="34" charset="0"/>
                <a:ea typeface="Inter"/>
                <a:cs typeface="Calibri"/>
              </a:rPr>
              <a:t>SAP S/4HANA Finance</a:t>
            </a:r>
          </a:p>
        </p:txBody>
      </p:sp>
      <p:sp>
        <p:nvSpPr>
          <p:cNvPr id="107" name="Text 34">
            <a:extLst>
              <a:ext uri="{FF2B5EF4-FFF2-40B4-BE49-F238E27FC236}">
                <a16:creationId xmlns:a16="http://schemas.microsoft.com/office/drawing/2014/main" id="{348A2950-7892-E490-6AF8-3E99E0AD31AC}"/>
              </a:ext>
            </a:extLst>
          </p:cNvPr>
          <p:cNvSpPr/>
          <p:nvPr/>
        </p:nvSpPr>
        <p:spPr>
          <a:xfrm>
            <a:off x="6521496" y="2252099"/>
            <a:ext cx="1889654" cy="2258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00" kern="0" spc="1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Inter"/>
              </a:rPr>
              <a:t>GL Posting | Cost Centre | Monthly reconciliation from PS post final run</a:t>
            </a:r>
          </a:p>
        </p:txBody>
      </p:sp>
      <p:sp>
        <p:nvSpPr>
          <p:cNvPr id="109" name="Text 32">
            <a:extLst>
              <a:ext uri="{FF2B5EF4-FFF2-40B4-BE49-F238E27FC236}">
                <a16:creationId xmlns:a16="http://schemas.microsoft.com/office/drawing/2014/main" id="{E9EB8141-EE8B-A0A9-0C47-330F9D31ED26}"/>
              </a:ext>
            </a:extLst>
          </p:cNvPr>
          <p:cNvSpPr/>
          <p:nvPr/>
        </p:nvSpPr>
        <p:spPr>
          <a:xfrm>
            <a:off x="6468314" y="3246536"/>
            <a:ext cx="2006451" cy="1123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>
              <a:lnSpc>
                <a:spcPts val="727"/>
              </a:lnSpc>
            </a:pPr>
            <a:r>
              <a:rPr lang="en-US" sz="800" b="1" kern="0" spc="4">
                <a:solidFill>
                  <a:srgbClr val="3F3F3F"/>
                </a:solidFill>
                <a:latin typeface="Aptos" panose="020B0004020202020204" pitchFamily="34" charset="0"/>
                <a:ea typeface="Inter"/>
                <a:cs typeface="Calibri"/>
              </a:rPr>
              <a:t>Three Critical Failures:</a:t>
            </a:r>
          </a:p>
        </p:txBody>
      </p:sp>
      <p:sp>
        <p:nvSpPr>
          <p:cNvPr id="110" name="Text 34">
            <a:extLst>
              <a:ext uri="{FF2B5EF4-FFF2-40B4-BE49-F238E27FC236}">
                <a16:creationId xmlns:a16="http://schemas.microsoft.com/office/drawing/2014/main" id="{BA7AC37B-BACA-B038-E625-297540A05317}"/>
              </a:ext>
            </a:extLst>
          </p:cNvPr>
          <p:cNvSpPr/>
          <p:nvPr/>
        </p:nvSpPr>
        <p:spPr>
          <a:xfrm>
            <a:off x="6468313" y="3376611"/>
            <a:ext cx="2251767" cy="632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7475" indent="-117475">
              <a:buClr>
                <a:srgbClr val="C00000"/>
              </a:buClr>
              <a:buFont typeface="+mj-lt"/>
              <a:buAutoNum type="arabicPeriod"/>
            </a:pPr>
            <a:r>
              <a:rPr lang="en-US" sz="700" kern="0" spc="1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Inter"/>
              </a:rPr>
              <a:t>25+ stakeholders send Excel to AI Payroll with no validation</a:t>
            </a:r>
          </a:p>
          <a:p>
            <a:pPr marL="117475" indent="-117475">
              <a:buClr>
                <a:srgbClr val="C00000"/>
              </a:buClr>
              <a:buFont typeface="+mj-lt"/>
              <a:buAutoNum type="arabicPeriod"/>
            </a:pPr>
            <a:r>
              <a:rPr lang="en-US" sz="700" kern="0" spc="1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Inter"/>
              </a:rPr>
              <a:t>Excel inputs from Flight &amp; CC Ops for Flying Allowance</a:t>
            </a:r>
          </a:p>
          <a:p>
            <a:pPr marL="117475" indent="-117475">
              <a:buClr>
                <a:srgbClr val="C00000"/>
              </a:buClr>
              <a:buFont typeface="+mj-lt"/>
              <a:buAutoNum type="arabicPeriod"/>
            </a:pPr>
            <a:r>
              <a:rPr lang="en-US" sz="700" kern="0" spc="10" err="1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Inter"/>
              </a:rPr>
              <a:t>FnF</a:t>
            </a:r>
            <a:r>
              <a:rPr lang="en-US" sz="700" kern="0" spc="1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Inter"/>
              </a:rPr>
              <a:t> bi-monthly today; Code on Wages mandates daily</a:t>
            </a:r>
          </a:p>
        </p:txBody>
      </p:sp>
      <p:sp>
        <p:nvSpPr>
          <p:cNvPr id="114" name="Text 32">
            <a:extLst>
              <a:ext uri="{FF2B5EF4-FFF2-40B4-BE49-F238E27FC236}">
                <a16:creationId xmlns:a16="http://schemas.microsoft.com/office/drawing/2014/main" id="{669CE061-9418-0FE5-9EB7-866845823B6F}"/>
              </a:ext>
            </a:extLst>
          </p:cNvPr>
          <p:cNvSpPr/>
          <p:nvPr/>
        </p:nvSpPr>
        <p:spPr>
          <a:xfrm>
            <a:off x="6533396" y="2587893"/>
            <a:ext cx="2028676" cy="1123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>
              <a:lnSpc>
                <a:spcPts val="727"/>
              </a:lnSpc>
            </a:pPr>
            <a:r>
              <a:rPr lang="en-US" sz="800" b="1" kern="0" spc="4">
                <a:solidFill>
                  <a:srgbClr val="3F3F3F"/>
                </a:solidFill>
                <a:latin typeface="Aptos" panose="020B0004020202020204" pitchFamily="34" charset="0"/>
                <a:ea typeface="Inter"/>
                <a:cs typeface="Calibri"/>
              </a:rPr>
              <a:t>Compliance &amp; Reporting</a:t>
            </a:r>
          </a:p>
        </p:txBody>
      </p:sp>
      <p:sp>
        <p:nvSpPr>
          <p:cNvPr id="115" name="Text 34">
            <a:extLst>
              <a:ext uri="{FF2B5EF4-FFF2-40B4-BE49-F238E27FC236}">
                <a16:creationId xmlns:a16="http://schemas.microsoft.com/office/drawing/2014/main" id="{21B08610-73F0-828C-0067-BA4A311107C5}"/>
              </a:ext>
            </a:extLst>
          </p:cNvPr>
          <p:cNvSpPr/>
          <p:nvPr/>
        </p:nvSpPr>
        <p:spPr>
          <a:xfrm>
            <a:off x="6533396" y="2690626"/>
            <a:ext cx="2229286" cy="128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00" kern="0" spc="1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Inter"/>
                <a:cs typeface="Inter" pitchFamily="34" charset="-120"/>
              </a:rPr>
              <a:t>PF/EPFO, Gratuity, TDS, SOX Controls, 7-year retention</a:t>
            </a:r>
          </a:p>
        </p:txBody>
      </p:sp>
      <p:pic>
        <p:nvPicPr>
          <p:cNvPr id="117" name="Image 15" descr="preencoded.png">
            <a:extLst>
              <a:ext uri="{FF2B5EF4-FFF2-40B4-BE49-F238E27FC236}">
                <a16:creationId xmlns:a16="http://schemas.microsoft.com/office/drawing/2014/main" id="{3D3D3CA2-5F8F-6637-5297-BD347737EE61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533396" y="1741706"/>
            <a:ext cx="73103" cy="73102"/>
          </a:xfrm>
          <a:prstGeom prst="rect">
            <a:avLst/>
          </a:prstGeom>
        </p:spPr>
      </p:pic>
      <p:sp>
        <p:nvSpPr>
          <p:cNvPr id="118" name="Text 138">
            <a:extLst>
              <a:ext uri="{FF2B5EF4-FFF2-40B4-BE49-F238E27FC236}">
                <a16:creationId xmlns:a16="http://schemas.microsoft.com/office/drawing/2014/main" id="{8BBBCB75-8156-BC12-A08C-197CD7A8F51F}"/>
              </a:ext>
            </a:extLst>
          </p:cNvPr>
          <p:cNvSpPr/>
          <p:nvPr/>
        </p:nvSpPr>
        <p:spPr>
          <a:xfrm>
            <a:off x="6639668" y="1734418"/>
            <a:ext cx="1967461" cy="110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18"/>
              </a:lnSpc>
              <a:buNone/>
            </a:pPr>
            <a:r>
              <a:rPr lang="en-US" sz="600" b="1" kern="0" spc="10">
                <a:solidFill>
                  <a:srgbClr val="DC2626">
                    <a:alpha val="99000"/>
                  </a:srgbClr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Manual upload = compliance risk, no audit trail</a:t>
            </a:r>
            <a:endParaRPr lang="en-US" sz="600">
              <a:latin typeface="Aptos" panose="020B0004020202020204" pitchFamily="34" charset="0"/>
            </a:endParaRPr>
          </a:p>
        </p:txBody>
      </p:sp>
      <p:sp>
        <p:nvSpPr>
          <p:cNvPr id="125" name="Shape 26">
            <a:extLst>
              <a:ext uri="{FF2B5EF4-FFF2-40B4-BE49-F238E27FC236}">
                <a16:creationId xmlns:a16="http://schemas.microsoft.com/office/drawing/2014/main" id="{067EE560-0E56-DD9A-971F-1120A91E7CF4}"/>
              </a:ext>
            </a:extLst>
          </p:cNvPr>
          <p:cNvSpPr/>
          <p:nvPr/>
        </p:nvSpPr>
        <p:spPr>
          <a:xfrm>
            <a:off x="6521496" y="1892008"/>
            <a:ext cx="915318" cy="124743"/>
          </a:xfrm>
          <a:prstGeom prst="roundRect">
            <a:avLst>
              <a:gd name="adj" fmla="val 71825"/>
            </a:avLst>
          </a:prstGeom>
          <a:solidFill>
            <a:srgbClr val="E2BB5A"/>
          </a:solidFill>
          <a:ln/>
        </p:spPr>
        <p:txBody>
          <a:bodyPr lIns="45720" tIns="0" rIns="45720" bIns="0" anchor="ctr"/>
          <a:lstStyle/>
          <a:p>
            <a:pPr algn="ctr"/>
            <a:r>
              <a:rPr lang="en-US" sz="700" b="1" kern="0" spc="10">
                <a:solidFill>
                  <a:srgbClr val="FFFFFF">
                    <a:alpha val="99000"/>
                  </a:srgbClr>
                </a:solidFill>
                <a:latin typeface="Aptos" panose="020B0004020202020204" pitchFamily="34" charset="0"/>
                <a:ea typeface="Inter"/>
                <a:cs typeface="Inter" pitchFamily="34" charset="-120"/>
              </a:rPr>
              <a:t>Semi Auto Upload</a:t>
            </a:r>
            <a:endParaRPr lang="en-US" sz="700">
              <a:latin typeface="Aptos" panose="020B0004020202020204" pitchFamily="34" charset="0"/>
              <a:ea typeface="Inter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4DD0F8BC-B137-1BF5-E917-7793A6F1AF09}"/>
              </a:ext>
            </a:extLst>
          </p:cNvPr>
          <p:cNvSpPr txBox="1"/>
          <p:nvPr/>
        </p:nvSpPr>
        <p:spPr>
          <a:xfrm>
            <a:off x="328684" y="2381009"/>
            <a:ext cx="291947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" b="1">
                <a:solidFill>
                  <a:srgbClr val="FF7B8A"/>
                </a:solidFill>
                <a:latin typeface="Aptos SemiBold" panose="020B0004020202020204" pitchFamily="34" charset="0"/>
                <a:cs typeface="Calibri" pitchFamily="34" charset="-120"/>
              </a:rPr>
              <a:t>104 manual · 12 semi-auto · Multi-stakeholder Excel/email chain before every payroll run</a:t>
            </a:r>
          </a:p>
        </p:txBody>
      </p: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C31EE9E5-AC7E-0268-2F77-46E22721D574}"/>
              </a:ext>
            </a:extLst>
          </p:cNvPr>
          <p:cNvCxnSpPr>
            <a:cxnSpLocks/>
          </p:cNvCxnSpPr>
          <p:nvPr/>
        </p:nvCxnSpPr>
        <p:spPr>
          <a:xfrm flipH="1">
            <a:off x="6533396" y="2525876"/>
            <a:ext cx="2125843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9356708A-96A0-2850-BE51-81538A91C059}"/>
              </a:ext>
            </a:extLst>
          </p:cNvPr>
          <p:cNvCxnSpPr>
            <a:cxnSpLocks/>
          </p:cNvCxnSpPr>
          <p:nvPr/>
        </p:nvCxnSpPr>
        <p:spPr>
          <a:xfrm>
            <a:off x="1899498" y="2737674"/>
            <a:ext cx="0" cy="661659"/>
          </a:xfrm>
          <a:prstGeom prst="line">
            <a:avLst/>
          </a:prstGeom>
          <a:ln>
            <a:solidFill>
              <a:srgbClr val="FECD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TextBox 140">
            <a:extLst>
              <a:ext uri="{FF2B5EF4-FFF2-40B4-BE49-F238E27FC236}">
                <a16:creationId xmlns:a16="http://schemas.microsoft.com/office/drawing/2014/main" id="{7EAE3DA4-256F-DB38-4FC8-B47E2D90F77D}"/>
              </a:ext>
            </a:extLst>
          </p:cNvPr>
          <p:cNvSpPr txBox="1"/>
          <p:nvPr/>
        </p:nvSpPr>
        <p:spPr>
          <a:xfrm>
            <a:off x="335522" y="1089597"/>
            <a:ext cx="2852421" cy="2289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" b="1">
                <a:solidFill>
                  <a:srgbClr val="069669"/>
                </a:solidFill>
                <a:latin typeface="Aptos SemiBold" panose="020B0004020202020204" pitchFamily="34" charset="0"/>
                <a:cs typeface="Calibri" pitchFamily="34" charset="-120"/>
              </a:rPr>
              <a:t>68 </a:t>
            </a:r>
            <a:r>
              <a:rPr lang="en-US" sz="600" b="1" err="1">
                <a:solidFill>
                  <a:srgbClr val="069669"/>
                </a:solidFill>
                <a:latin typeface="Aptos SemiBold" panose="020B0004020202020204" pitchFamily="34" charset="0"/>
                <a:cs typeface="Calibri" pitchFamily="34" charset="-120"/>
              </a:rPr>
              <a:t>payheads</a:t>
            </a:r>
            <a:r>
              <a:rPr lang="en-US" sz="600" b="1">
                <a:solidFill>
                  <a:srgbClr val="069669"/>
                </a:solidFill>
                <a:latin typeface="Aptos SemiBold" panose="020B0004020202020204" pitchFamily="34" charset="0"/>
                <a:cs typeface="Calibri" pitchFamily="34" charset="-120"/>
              </a:rPr>
              <a:t> · SF EC (37) + </a:t>
            </a:r>
            <a:r>
              <a:rPr lang="en-US" sz="600" b="1" err="1">
                <a:solidFill>
                  <a:srgbClr val="069669"/>
                </a:solidFill>
                <a:latin typeface="Aptos SemiBold" panose="020B0004020202020204" pitchFamily="34" charset="0"/>
                <a:cs typeface="Calibri" pitchFamily="34" charset="-120"/>
              </a:rPr>
              <a:t>PeopleStrong</a:t>
            </a:r>
            <a:r>
              <a:rPr lang="en-US" sz="600" b="1">
                <a:solidFill>
                  <a:srgbClr val="069669"/>
                </a:solidFill>
                <a:latin typeface="Aptos SemiBold" panose="020B0004020202020204" pitchFamily="34" charset="0"/>
                <a:cs typeface="Calibri" pitchFamily="34" charset="-120"/>
              </a:rPr>
              <a:t> Automated (31) · No human touchpoint in payroll chain</a:t>
            </a:r>
          </a:p>
        </p:txBody>
      </p:sp>
      <p:sp>
        <p:nvSpPr>
          <p:cNvPr id="59" name="Text 32">
            <a:extLst>
              <a:ext uri="{FF2B5EF4-FFF2-40B4-BE49-F238E27FC236}">
                <a16:creationId xmlns:a16="http://schemas.microsoft.com/office/drawing/2014/main" id="{C6AE170B-C485-C972-71DF-53F762E0E7A3}"/>
              </a:ext>
            </a:extLst>
          </p:cNvPr>
          <p:cNvSpPr/>
          <p:nvPr/>
        </p:nvSpPr>
        <p:spPr>
          <a:xfrm>
            <a:off x="453555" y="1440007"/>
            <a:ext cx="1128597" cy="92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>
              <a:lnSpc>
                <a:spcPts val="727"/>
              </a:lnSpc>
            </a:pPr>
            <a:r>
              <a:rPr lang="en-US" sz="800" b="1" kern="0" spc="4">
                <a:solidFill>
                  <a:schemeClr val="accent5"/>
                </a:solidFill>
                <a:latin typeface="Aptos" panose="020B0004020202020204" pitchFamily="34" charset="0"/>
                <a:ea typeface="Inter"/>
                <a:cs typeface="Calibri"/>
              </a:rPr>
              <a:t>SuccessFactors  EC</a:t>
            </a:r>
          </a:p>
        </p:txBody>
      </p:sp>
      <p:sp>
        <p:nvSpPr>
          <p:cNvPr id="71" name="Text 37">
            <a:extLst>
              <a:ext uri="{FF2B5EF4-FFF2-40B4-BE49-F238E27FC236}">
                <a16:creationId xmlns:a16="http://schemas.microsoft.com/office/drawing/2014/main" id="{86B13280-7063-58BF-8430-7FA0DC3688BC}"/>
              </a:ext>
            </a:extLst>
          </p:cNvPr>
          <p:cNvSpPr/>
          <p:nvPr/>
        </p:nvSpPr>
        <p:spPr>
          <a:xfrm>
            <a:off x="453555" y="1832331"/>
            <a:ext cx="915459" cy="88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769"/>
              </a:lnSpc>
            </a:pPr>
            <a:r>
              <a:rPr lang="en-US" sz="700" b="1" kern="0" spc="8">
                <a:solidFill>
                  <a:schemeClr val="accent5"/>
                </a:solidFill>
                <a:latin typeface="Aptos" panose="020B0004020202020204" pitchFamily="34" charset="0"/>
                <a:ea typeface="Inter"/>
                <a:cs typeface="Inter" pitchFamily="34" charset="-120"/>
              </a:rPr>
              <a:t>37 </a:t>
            </a:r>
            <a:r>
              <a:rPr lang="en-US" sz="700" b="1" kern="0" spc="8" err="1">
                <a:solidFill>
                  <a:schemeClr val="accent5"/>
                </a:solidFill>
                <a:latin typeface="Aptos" panose="020B0004020202020204" pitchFamily="34" charset="0"/>
                <a:ea typeface="Inter"/>
                <a:cs typeface="Inter" pitchFamily="34" charset="-120"/>
              </a:rPr>
              <a:t>payheads</a:t>
            </a:r>
            <a:r>
              <a:rPr lang="en-US" sz="700" b="1" kern="0" spc="8">
                <a:solidFill>
                  <a:schemeClr val="accent5"/>
                </a:solidFill>
                <a:latin typeface="Aptos" panose="020B0004020202020204" pitchFamily="34" charset="0"/>
                <a:ea typeface="Inter"/>
                <a:cs typeface="Inter" pitchFamily="34" charset="-120"/>
              </a:rPr>
              <a:t> </a:t>
            </a:r>
            <a:endParaRPr lang="en-US" sz="700">
              <a:solidFill>
                <a:schemeClr val="accent5"/>
              </a:solidFill>
              <a:latin typeface="Aptos" panose="020B0004020202020204" pitchFamily="34" charset="0"/>
              <a:ea typeface="Inter"/>
            </a:endParaRPr>
          </a:p>
        </p:txBody>
      </p:sp>
      <p:sp>
        <p:nvSpPr>
          <p:cNvPr id="63" name="Text 34">
            <a:extLst>
              <a:ext uri="{FF2B5EF4-FFF2-40B4-BE49-F238E27FC236}">
                <a16:creationId xmlns:a16="http://schemas.microsoft.com/office/drawing/2014/main" id="{7E89A0CC-223F-264D-9907-B4C1833D621A}"/>
              </a:ext>
            </a:extLst>
          </p:cNvPr>
          <p:cNvSpPr/>
          <p:nvPr/>
        </p:nvSpPr>
        <p:spPr>
          <a:xfrm>
            <a:off x="453555" y="1552893"/>
            <a:ext cx="915450" cy="125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00" kern="0" spc="1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Inter"/>
                <a:cs typeface="Inter" pitchFamily="34" charset="-120"/>
              </a:rPr>
              <a:t>Fixed Comp, DA, HRA, Structural Allowances</a:t>
            </a:r>
            <a:endParaRPr lang="en-US" sz="70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4" name="Text 41">
            <a:extLst>
              <a:ext uri="{FF2B5EF4-FFF2-40B4-BE49-F238E27FC236}">
                <a16:creationId xmlns:a16="http://schemas.microsoft.com/office/drawing/2014/main" id="{85ABBBD2-2B40-ED92-93C5-A5849B7E2BF2}"/>
              </a:ext>
            </a:extLst>
          </p:cNvPr>
          <p:cNvSpPr/>
          <p:nvPr/>
        </p:nvSpPr>
        <p:spPr>
          <a:xfrm>
            <a:off x="1847336" y="1441550"/>
            <a:ext cx="1238764" cy="9964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>
              <a:lnSpc>
                <a:spcPts val="727"/>
              </a:lnSpc>
            </a:pPr>
            <a:r>
              <a:rPr lang="en-US" sz="800" b="1" kern="0" spc="4" err="1">
                <a:solidFill>
                  <a:srgbClr val="069669"/>
                </a:solidFill>
                <a:latin typeface="Aptos" panose="020B0004020202020204" pitchFamily="34" charset="0"/>
                <a:ea typeface="Inter"/>
              </a:rPr>
              <a:t>P</a:t>
            </a:r>
            <a:r>
              <a:rPr lang="en-US" sz="800" b="1" kern="0" spc="4" err="1">
                <a:solidFill>
                  <a:srgbClr val="069669"/>
                </a:solidFill>
                <a:latin typeface="Aptos" panose="020B0004020202020204" pitchFamily="34" charset="0"/>
                <a:ea typeface="Inter"/>
                <a:cs typeface="Calibri"/>
              </a:rPr>
              <a:t>eopleStrong</a:t>
            </a:r>
            <a:r>
              <a:rPr lang="en-US" sz="800" b="1" kern="0" spc="4">
                <a:solidFill>
                  <a:srgbClr val="069669"/>
                </a:solidFill>
                <a:latin typeface="Aptos" panose="020B0004020202020204" pitchFamily="34" charset="0"/>
                <a:ea typeface="Inter"/>
                <a:cs typeface="Calibri"/>
              </a:rPr>
              <a:t> - </a:t>
            </a:r>
            <a:r>
              <a:rPr lang="en-US" sz="800" b="1" kern="0" spc="4">
                <a:solidFill>
                  <a:srgbClr val="069669"/>
                </a:solidFill>
                <a:latin typeface="Aptos" panose="020B0004020202020204" pitchFamily="34" charset="0"/>
                <a:ea typeface="Inter"/>
              </a:rPr>
              <a:t>Automated</a:t>
            </a:r>
            <a:endParaRPr lang="en-US" sz="800" b="1">
              <a:solidFill>
                <a:srgbClr val="069669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 46">
            <a:extLst>
              <a:ext uri="{FF2B5EF4-FFF2-40B4-BE49-F238E27FC236}">
                <a16:creationId xmlns:a16="http://schemas.microsoft.com/office/drawing/2014/main" id="{34DAE7F6-98FF-F0B2-6B9F-2802AB1BB9FF}"/>
              </a:ext>
            </a:extLst>
          </p:cNvPr>
          <p:cNvSpPr/>
          <p:nvPr/>
        </p:nvSpPr>
        <p:spPr>
          <a:xfrm>
            <a:off x="1847336" y="1841434"/>
            <a:ext cx="655134" cy="80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69"/>
              </a:lnSpc>
              <a:buNone/>
            </a:pPr>
            <a:r>
              <a:rPr lang="en-US" sz="700" b="1" kern="0" spc="8">
                <a:solidFill>
                  <a:srgbClr val="069669"/>
                </a:solidFill>
                <a:latin typeface="Aptos" panose="020B0004020202020204" pitchFamily="34" charset="0"/>
                <a:ea typeface="Inter"/>
                <a:cs typeface="Inter" pitchFamily="34" charset="-120"/>
              </a:rPr>
              <a:t>31 </a:t>
            </a:r>
            <a:r>
              <a:rPr lang="en-US" sz="700" b="1" kern="0" spc="8" err="1">
                <a:solidFill>
                  <a:srgbClr val="069669"/>
                </a:solidFill>
                <a:latin typeface="Aptos" panose="020B0004020202020204" pitchFamily="34" charset="0"/>
                <a:ea typeface="Inter"/>
                <a:cs typeface="Inter" pitchFamily="34" charset="-120"/>
              </a:rPr>
              <a:t>payheads</a:t>
            </a:r>
            <a:endParaRPr lang="en-US" sz="700">
              <a:solidFill>
                <a:srgbClr val="069669"/>
              </a:solidFill>
              <a:latin typeface="Aptos" panose="020B0004020202020204" pitchFamily="34" charset="0"/>
              <a:ea typeface="Inter"/>
            </a:endParaRPr>
          </a:p>
        </p:txBody>
      </p:sp>
      <p:sp>
        <p:nvSpPr>
          <p:cNvPr id="6" name="Text 43">
            <a:extLst>
              <a:ext uri="{FF2B5EF4-FFF2-40B4-BE49-F238E27FC236}">
                <a16:creationId xmlns:a16="http://schemas.microsoft.com/office/drawing/2014/main" id="{2C31B5F7-9CC7-87A1-ABFE-D8A852FF39BE}"/>
              </a:ext>
            </a:extLst>
          </p:cNvPr>
          <p:cNvSpPr/>
          <p:nvPr/>
        </p:nvSpPr>
        <p:spPr>
          <a:xfrm>
            <a:off x="1847336" y="1553723"/>
            <a:ext cx="1270468" cy="1425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00" kern="0" spc="1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Inter"/>
                <a:cs typeface="Calibri"/>
              </a:rPr>
              <a:t>Reimb, Benefits, Crew Transport, Mishandled Baggage</a:t>
            </a:r>
            <a:endParaRPr lang="en-US" sz="700" kern="0" spc="1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  <a:ea typeface="Inter" pitchFamily="34" charset="-122"/>
              <a:cs typeface="Inter" pitchFamily="34" charset="-120"/>
            </a:endParaRPr>
          </a:p>
        </p:txBody>
      </p:sp>
      <p:sp>
        <p:nvSpPr>
          <p:cNvPr id="146" name="Shape 38">
            <a:extLst>
              <a:ext uri="{FF2B5EF4-FFF2-40B4-BE49-F238E27FC236}">
                <a16:creationId xmlns:a16="http://schemas.microsoft.com/office/drawing/2014/main" id="{A42760D7-DAC9-FACF-93B7-FA232795E659}"/>
              </a:ext>
            </a:extLst>
          </p:cNvPr>
          <p:cNvSpPr/>
          <p:nvPr/>
        </p:nvSpPr>
        <p:spPr>
          <a:xfrm>
            <a:off x="4636179" y="1085532"/>
            <a:ext cx="1410430" cy="368767"/>
          </a:xfrm>
          <a:prstGeom prst="round2SameRect">
            <a:avLst/>
          </a:prstGeom>
          <a:solidFill>
            <a:srgbClr val="D4F7FF"/>
          </a:solidFill>
          <a:ln w="6902">
            <a:noFill/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69" name="Text 32">
            <a:extLst>
              <a:ext uri="{FF2B5EF4-FFF2-40B4-BE49-F238E27FC236}">
                <a16:creationId xmlns:a16="http://schemas.microsoft.com/office/drawing/2014/main" id="{0866B2B7-0A7A-CD66-C3A0-BFABDD7EF43A}"/>
              </a:ext>
            </a:extLst>
          </p:cNvPr>
          <p:cNvSpPr/>
          <p:nvPr/>
        </p:nvSpPr>
        <p:spPr>
          <a:xfrm>
            <a:off x="4754059" y="1170716"/>
            <a:ext cx="966984" cy="1123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>
              <a:lnSpc>
                <a:spcPts val="727"/>
              </a:lnSpc>
            </a:pPr>
            <a:r>
              <a:rPr lang="en-US" sz="800" b="1" kern="0" spc="4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Inter"/>
                <a:cs typeface="Calibri"/>
              </a:rPr>
              <a:t>Payroll Engine</a:t>
            </a:r>
          </a:p>
        </p:txBody>
      </p:sp>
      <p:sp>
        <p:nvSpPr>
          <p:cNvPr id="72" name="Text 34">
            <a:extLst>
              <a:ext uri="{FF2B5EF4-FFF2-40B4-BE49-F238E27FC236}">
                <a16:creationId xmlns:a16="http://schemas.microsoft.com/office/drawing/2014/main" id="{24F61650-8CE2-5642-E734-2016CB8B5A11}"/>
              </a:ext>
            </a:extLst>
          </p:cNvPr>
          <p:cNvSpPr/>
          <p:nvPr/>
        </p:nvSpPr>
        <p:spPr>
          <a:xfrm>
            <a:off x="4754059" y="1273448"/>
            <a:ext cx="1229488" cy="1394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00" kern="0" spc="1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Gross-to-Net, Tax, Statutory</a:t>
            </a:r>
            <a:endParaRPr lang="en-US" sz="70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cxnSp>
        <p:nvCxnSpPr>
          <p:cNvPr id="186" name="Elbow Connector 185">
            <a:extLst>
              <a:ext uri="{FF2B5EF4-FFF2-40B4-BE49-F238E27FC236}">
                <a16:creationId xmlns:a16="http://schemas.microsoft.com/office/drawing/2014/main" id="{3401DA7F-D9C2-57E6-880C-D9AB188937EE}"/>
              </a:ext>
            </a:extLst>
          </p:cNvPr>
          <p:cNvCxnSpPr>
            <a:cxnSpLocks/>
          </p:cNvCxnSpPr>
          <p:nvPr/>
        </p:nvCxnSpPr>
        <p:spPr>
          <a:xfrm flipV="1">
            <a:off x="3247060" y="1835604"/>
            <a:ext cx="1280579" cy="1065178"/>
          </a:xfrm>
          <a:prstGeom prst="bentConnector3">
            <a:avLst>
              <a:gd name="adj1" fmla="val 57315"/>
            </a:avLst>
          </a:prstGeom>
          <a:ln w="6350">
            <a:solidFill>
              <a:schemeClr val="tx1">
                <a:lumMod val="75000"/>
                <a:lumOff val="25000"/>
              </a:schemeClr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Shape 90">
            <a:extLst>
              <a:ext uri="{FF2B5EF4-FFF2-40B4-BE49-F238E27FC236}">
                <a16:creationId xmlns:a16="http://schemas.microsoft.com/office/drawing/2014/main" id="{506EE5A4-2C0F-B99E-AAFC-2C4A1697D56A}"/>
              </a:ext>
            </a:extLst>
          </p:cNvPr>
          <p:cNvSpPr/>
          <p:nvPr/>
        </p:nvSpPr>
        <p:spPr>
          <a:xfrm>
            <a:off x="3530119" y="2375612"/>
            <a:ext cx="848141" cy="1482127"/>
          </a:xfrm>
          <a:prstGeom prst="roundRect">
            <a:avLst>
              <a:gd name="adj" fmla="val 10363"/>
            </a:avLst>
          </a:prstGeom>
          <a:solidFill>
            <a:srgbClr val="F88D63"/>
          </a:solidFill>
          <a:ln w="6350">
            <a:solidFill>
              <a:schemeClr val="accent2">
                <a:lumMod val="75000"/>
              </a:schemeClr>
            </a:solidFill>
            <a:prstDash val="dash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pic>
        <p:nvPicPr>
          <p:cNvPr id="187" name="Image 9" descr="preencoded.png">
            <a:extLst>
              <a:ext uri="{FF2B5EF4-FFF2-40B4-BE49-F238E27FC236}">
                <a16:creationId xmlns:a16="http://schemas.microsoft.com/office/drawing/2014/main" id="{5BD11AA9-3C43-082B-1F61-9330DAA5AA42}"/>
              </a:ext>
            </a:extLst>
          </p:cNvPr>
          <p:cNvPicPr>
            <a:picLocks noChangeAspect="1"/>
          </p:cNvPicPr>
          <p:nvPr/>
        </p:nvPicPr>
        <p:blipFill>
          <a:blip r:embed="rId8">
            <a:biLevel thresh="25000"/>
          </a:blip>
          <a:srcRect/>
          <a:stretch/>
        </p:blipFill>
        <p:spPr>
          <a:xfrm>
            <a:off x="3862755" y="2478822"/>
            <a:ext cx="182868" cy="182868"/>
          </a:xfrm>
          <a:prstGeom prst="rect">
            <a:avLst/>
          </a:prstGeom>
        </p:spPr>
      </p:pic>
      <p:sp>
        <p:nvSpPr>
          <p:cNvPr id="191" name="Text 93">
            <a:extLst>
              <a:ext uri="{FF2B5EF4-FFF2-40B4-BE49-F238E27FC236}">
                <a16:creationId xmlns:a16="http://schemas.microsoft.com/office/drawing/2014/main" id="{69FD5661-08A3-268C-0177-FA915982276B}"/>
              </a:ext>
            </a:extLst>
          </p:cNvPr>
          <p:cNvSpPr/>
          <p:nvPr/>
        </p:nvSpPr>
        <p:spPr>
          <a:xfrm>
            <a:off x="3547893" y="2762771"/>
            <a:ext cx="81259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769"/>
              </a:lnSpc>
            </a:pPr>
            <a:r>
              <a:rPr lang="en-US" sz="700" b="1" kern="0" spc="2">
                <a:solidFill>
                  <a:schemeClr val="bg1"/>
                </a:solidFill>
                <a:latin typeface="Aptos" panose="020B0004020202020204" pitchFamily="34" charset="0"/>
                <a:ea typeface="Inter"/>
                <a:cs typeface="Inter" pitchFamily="34" charset="-120"/>
              </a:rPr>
              <a:t>AI PAYROLL TEAM</a:t>
            </a:r>
            <a:endParaRPr lang="en-US" sz="700" b="1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marL="0" indent="0" algn="ctr">
              <a:lnSpc>
                <a:spcPts val="769"/>
              </a:lnSpc>
              <a:buNone/>
            </a:pPr>
            <a:r>
              <a:rPr lang="en-US" sz="700" b="1" kern="0" spc="2">
                <a:solidFill>
                  <a:schemeClr val="bg1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AGGREGATOR</a:t>
            </a:r>
            <a:endParaRPr lang="en-US" sz="700" b="1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97" name="Text 96">
            <a:extLst>
              <a:ext uri="{FF2B5EF4-FFF2-40B4-BE49-F238E27FC236}">
                <a16:creationId xmlns:a16="http://schemas.microsoft.com/office/drawing/2014/main" id="{C2B7C57D-0BE5-F136-20FD-D945120DEB86}"/>
              </a:ext>
            </a:extLst>
          </p:cNvPr>
          <p:cNvSpPr/>
          <p:nvPr/>
        </p:nvSpPr>
        <p:spPr>
          <a:xfrm>
            <a:off x="3588675" y="3003002"/>
            <a:ext cx="731029" cy="278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700" b="1" kern="0" spc="8">
                <a:solidFill>
                  <a:schemeClr val="accent2">
                    <a:lumMod val="50000"/>
                    <a:alpha val="99000"/>
                  </a:schemeClr>
                </a:solidFill>
                <a:latin typeface="Aptos" panose="020B0004020202020204" pitchFamily="34" charset="0"/>
                <a:ea typeface="Inter"/>
                <a:cs typeface="Inter" pitchFamily="34" charset="-120"/>
              </a:rPr>
              <a:t>Collects all</a:t>
            </a:r>
          </a:p>
          <a:p>
            <a:pPr algn="ctr"/>
            <a:r>
              <a:rPr lang="en-US" sz="700" b="1" kern="0" spc="8">
                <a:solidFill>
                  <a:schemeClr val="accent2">
                    <a:lumMod val="50000"/>
                    <a:alpha val="99000"/>
                  </a:schemeClr>
                </a:solidFill>
                <a:latin typeface="Aptos" panose="020B0004020202020204" pitchFamily="34" charset="0"/>
                <a:ea typeface="Inter"/>
                <a:cs typeface="Inter" pitchFamily="34" charset="-120"/>
              </a:rPr>
              <a:t>manual inputs</a:t>
            </a:r>
          </a:p>
          <a:p>
            <a:pPr algn="ctr"/>
            <a:r>
              <a:rPr lang="en-US" sz="700" b="1" kern="0" spc="8">
                <a:solidFill>
                  <a:schemeClr val="accent2">
                    <a:lumMod val="50000"/>
                    <a:alpha val="99000"/>
                  </a:schemeClr>
                </a:solidFill>
                <a:latin typeface="Aptos" panose="020B0004020202020204" pitchFamily="34" charset="0"/>
                <a:ea typeface="Inter"/>
                <a:cs typeface="Inter" pitchFamily="34" charset="-120"/>
              </a:rPr>
              <a:t>via email/Excel</a:t>
            </a:r>
            <a:endParaRPr lang="en-US" sz="700" b="1">
              <a:solidFill>
                <a:schemeClr val="accent2">
                  <a:lumMod val="50000"/>
                  <a:alpha val="99000"/>
                </a:schemeClr>
              </a:solidFill>
              <a:latin typeface="Aptos" panose="020B0004020202020204" pitchFamily="34" charset="0"/>
              <a:ea typeface="Inter"/>
            </a:endParaRPr>
          </a:p>
        </p:txBody>
      </p: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E200380A-3401-96D0-BFBC-6A23376D9485}"/>
              </a:ext>
            </a:extLst>
          </p:cNvPr>
          <p:cNvGrpSpPr/>
          <p:nvPr/>
        </p:nvGrpSpPr>
        <p:grpSpPr>
          <a:xfrm>
            <a:off x="3622349" y="3374740"/>
            <a:ext cx="655974" cy="296470"/>
            <a:chOff x="3774458" y="3424630"/>
            <a:chExt cx="760056" cy="337425"/>
          </a:xfrm>
        </p:grpSpPr>
        <p:sp>
          <p:nvSpPr>
            <p:cNvPr id="199" name="Shape 97">
              <a:extLst>
                <a:ext uri="{FF2B5EF4-FFF2-40B4-BE49-F238E27FC236}">
                  <a16:creationId xmlns:a16="http://schemas.microsoft.com/office/drawing/2014/main" id="{C6D88915-6CF4-C5E1-50ED-D4102A016E69}"/>
                </a:ext>
              </a:extLst>
            </p:cNvPr>
            <p:cNvSpPr/>
            <p:nvPr/>
          </p:nvSpPr>
          <p:spPr>
            <a:xfrm>
              <a:off x="3774458" y="3424630"/>
              <a:ext cx="760056" cy="337425"/>
            </a:xfrm>
            <a:prstGeom prst="roundRect">
              <a:avLst>
                <a:gd name="adj" fmla="val 5100"/>
              </a:avLst>
            </a:prstGeom>
            <a:solidFill>
              <a:srgbClr val="FF7B8A"/>
            </a:solidFill>
            <a:ln w="6902">
              <a:noFill/>
              <a:prstDash val="solid"/>
            </a:ln>
          </p:spPr>
          <p:txBody>
            <a:bodyPr/>
            <a:lstStyle/>
            <a:p>
              <a:endParaRPr lang="en-US">
                <a:latin typeface="Aptos" panose="020B0004020202020204" pitchFamily="34" charset="0"/>
              </a:endParaRPr>
            </a:p>
          </p:txBody>
        </p:sp>
        <p:sp>
          <p:nvSpPr>
            <p:cNvPr id="203" name="Text 99">
              <a:extLst>
                <a:ext uri="{FF2B5EF4-FFF2-40B4-BE49-F238E27FC236}">
                  <a16:creationId xmlns:a16="http://schemas.microsoft.com/office/drawing/2014/main" id="{5D380592-CBC3-D1FC-A2B3-BFDD64A5C805}"/>
                </a:ext>
              </a:extLst>
            </p:cNvPr>
            <p:cNvSpPr/>
            <p:nvPr/>
          </p:nvSpPr>
          <p:spPr>
            <a:xfrm>
              <a:off x="3794007" y="3492157"/>
              <a:ext cx="709605" cy="108236"/>
            </a:xfrm>
            <a:prstGeom prst="rect">
              <a:avLst/>
            </a:prstGeom>
            <a:solidFill>
              <a:srgbClr val="FF7B8A"/>
            </a:solidFill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ts val="718"/>
                </a:lnSpc>
              </a:pPr>
              <a:r>
                <a:rPr lang="en-US" sz="500" b="1" kern="0" spc="33">
                  <a:solidFill>
                    <a:schemeClr val="bg1"/>
                  </a:solidFill>
                  <a:latin typeface="Aptos" panose="020B0004020202020204" pitchFamily="34" charset="0"/>
                  <a:ea typeface="Inter"/>
                  <a:cs typeface="Inter" pitchFamily="34" charset="-120"/>
                </a:rPr>
                <a:t>NO VALIDATION</a:t>
              </a:r>
              <a:endParaRPr lang="en-US" sz="500">
                <a:solidFill>
                  <a:schemeClr val="bg1"/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335" name="Text 99">
              <a:extLst>
                <a:ext uri="{FF2B5EF4-FFF2-40B4-BE49-F238E27FC236}">
                  <a16:creationId xmlns:a16="http://schemas.microsoft.com/office/drawing/2014/main" id="{2FEA2F35-6FCD-6617-54B5-5C306D46B3C7}"/>
                </a:ext>
              </a:extLst>
            </p:cNvPr>
            <p:cNvSpPr/>
            <p:nvPr/>
          </p:nvSpPr>
          <p:spPr>
            <a:xfrm>
              <a:off x="3819051" y="3601401"/>
              <a:ext cx="659515" cy="1082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ts val="718"/>
                </a:lnSpc>
              </a:pPr>
              <a:r>
                <a:rPr lang="en-US" sz="500" b="1" kern="0" spc="33">
                  <a:solidFill>
                    <a:schemeClr val="bg1"/>
                  </a:solidFill>
                  <a:latin typeface="Aptos" panose="020B0004020202020204" pitchFamily="34" charset="0"/>
                  <a:ea typeface="Inter"/>
                  <a:cs typeface="Inter" pitchFamily="34" charset="-120"/>
                </a:rPr>
                <a:t>NO AUDIT TRAIL</a:t>
              </a:r>
              <a:endParaRPr lang="en-US" sz="500">
                <a:solidFill>
                  <a:schemeClr val="bg1"/>
                </a:solidFill>
                <a:latin typeface="Aptos" panose="020B0004020202020204" pitchFamily="34" charset="0"/>
              </a:endParaRPr>
            </a:p>
          </p:txBody>
        </p:sp>
      </p:grpSp>
      <p:cxnSp>
        <p:nvCxnSpPr>
          <p:cNvPr id="192" name="Elbow Connector 191">
            <a:extLst>
              <a:ext uri="{FF2B5EF4-FFF2-40B4-BE49-F238E27FC236}">
                <a16:creationId xmlns:a16="http://schemas.microsoft.com/office/drawing/2014/main" id="{2F54069A-34F9-BF2E-A163-5B4B3214E182}"/>
              </a:ext>
            </a:extLst>
          </p:cNvPr>
          <p:cNvCxnSpPr>
            <a:cxnSpLocks/>
            <a:stCxn id="51" idx="3"/>
          </p:cNvCxnSpPr>
          <p:nvPr/>
        </p:nvCxnSpPr>
        <p:spPr>
          <a:xfrm flipV="1">
            <a:off x="3349511" y="1283064"/>
            <a:ext cx="1186175" cy="191960"/>
          </a:xfrm>
          <a:prstGeom prst="bentConnector3">
            <a:avLst>
              <a:gd name="adj1" fmla="val 50000"/>
            </a:avLst>
          </a:prstGeom>
          <a:ln>
            <a:solidFill>
              <a:srgbClr val="069669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Rounded Rectangle 85">
            <a:extLst>
              <a:ext uri="{FF2B5EF4-FFF2-40B4-BE49-F238E27FC236}">
                <a16:creationId xmlns:a16="http://schemas.microsoft.com/office/drawing/2014/main" id="{9E156A2F-6103-775C-2A4E-F978EFEE10E7}"/>
              </a:ext>
            </a:extLst>
          </p:cNvPr>
          <p:cNvSpPr/>
          <p:nvPr/>
        </p:nvSpPr>
        <p:spPr>
          <a:xfrm>
            <a:off x="250804" y="4077279"/>
            <a:ext cx="2260636" cy="239661"/>
          </a:xfrm>
          <a:prstGeom prst="roundRect">
            <a:avLst>
              <a:gd name="adj" fmla="val 0"/>
            </a:avLst>
          </a:prstGeom>
          <a:solidFill>
            <a:srgbClr val="FFF2F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92691BCE-3A84-98F6-4CB0-908BE0990F57}"/>
              </a:ext>
            </a:extLst>
          </p:cNvPr>
          <p:cNvSpPr txBox="1"/>
          <p:nvPr/>
        </p:nvSpPr>
        <p:spPr>
          <a:xfrm>
            <a:off x="335522" y="4122975"/>
            <a:ext cx="2138799" cy="1880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727"/>
              </a:lnSpc>
            </a:pPr>
            <a:r>
              <a:rPr lang="en-US" sz="800" b="1" kern="0" spc="4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Inter"/>
                <a:cs typeface="Calibri"/>
              </a:rPr>
              <a:t>DRAFT REGISTER 1 &amp; 2- VALIDATION LOOP</a:t>
            </a:r>
          </a:p>
        </p:txBody>
      </p: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DEA44B08-0100-A2FD-347D-A0B60C4E8DC1}"/>
              </a:ext>
            </a:extLst>
          </p:cNvPr>
          <p:cNvCxnSpPr>
            <a:cxnSpLocks/>
          </p:cNvCxnSpPr>
          <p:nvPr/>
        </p:nvCxnSpPr>
        <p:spPr>
          <a:xfrm>
            <a:off x="1621605" y="1426008"/>
            <a:ext cx="0" cy="531340"/>
          </a:xfrm>
          <a:prstGeom prst="line">
            <a:avLst/>
          </a:prstGeom>
          <a:ln>
            <a:solidFill>
              <a:srgbClr val="FECD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68D619AD-7D4D-2FA9-2563-16198DA64A92}"/>
              </a:ext>
            </a:extLst>
          </p:cNvPr>
          <p:cNvCxnSpPr>
            <a:cxnSpLocks/>
          </p:cNvCxnSpPr>
          <p:nvPr/>
        </p:nvCxnSpPr>
        <p:spPr>
          <a:xfrm flipH="1">
            <a:off x="2574647" y="4204138"/>
            <a:ext cx="6395932" cy="0"/>
          </a:xfrm>
          <a:prstGeom prst="line">
            <a:avLst/>
          </a:prstGeom>
          <a:ln>
            <a:solidFill>
              <a:srgbClr val="FF7B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Shape 90">
            <a:extLst>
              <a:ext uri="{FF2B5EF4-FFF2-40B4-BE49-F238E27FC236}">
                <a16:creationId xmlns:a16="http://schemas.microsoft.com/office/drawing/2014/main" id="{BF757C5C-C509-F03A-089B-76AF97BB780B}"/>
              </a:ext>
            </a:extLst>
          </p:cNvPr>
          <p:cNvSpPr/>
          <p:nvPr/>
        </p:nvSpPr>
        <p:spPr>
          <a:xfrm>
            <a:off x="232784" y="4607089"/>
            <a:ext cx="711375" cy="365760"/>
          </a:xfrm>
          <a:prstGeom prst="roundRect">
            <a:avLst>
              <a:gd name="adj" fmla="val 12776"/>
            </a:avLst>
          </a:prstGeom>
          <a:solidFill>
            <a:srgbClr val="F78D63"/>
          </a:solidFill>
          <a:ln w="6350">
            <a:solidFill>
              <a:schemeClr val="accent2">
                <a:lumMod val="75000"/>
              </a:schemeClr>
            </a:solidFill>
            <a:prstDash val="dash"/>
          </a:ln>
        </p:spPr>
        <p:txBody>
          <a:bodyPr/>
          <a:lstStyle/>
          <a:p>
            <a:endParaRPr lang="en-US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78" name="Text 93">
            <a:extLst>
              <a:ext uri="{FF2B5EF4-FFF2-40B4-BE49-F238E27FC236}">
                <a16:creationId xmlns:a16="http://schemas.microsoft.com/office/drawing/2014/main" id="{E18326AC-B3B2-714A-C44C-5A46267905F0}"/>
              </a:ext>
            </a:extLst>
          </p:cNvPr>
          <p:cNvSpPr/>
          <p:nvPr/>
        </p:nvSpPr>
        <p:spPr>
          <a:xfrm>
            <a:off x="250558" y="4685194"/>
            <a:ext cx="65823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769"/>
              </a:lnSpc>
            </a:pPr>
            <a:r>
              <a:rPr lang="en-US" sz="700" b="1" kern="0" spc="2">
                <a:solidFill>
                  <a:schemeClr val="bg1"/>
                </a:solidFill>
                <a:latin typeface="Aptos" panose="020B0004020202020204" pitchFamily="34" charset="0"/>
                <a:ea typeface="Inter"/>
                <a:cs typeface="Inter" pitchFamily="34" charset="-120"/>
              </a:rPr>
              <a:t>AI payroll team</a:t>
            </a:r>
            <a:endParaRPr lang="en-US" sz="700" b="1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marL="0" indent="0" algn="ctr">
              <a:lnSpc>
                <a:spcPts val="769"/>
              </a:lnSpc>
              <a:buNone/>
            </a:pPr>
            <a:r>
              <a:rPr lang="en-US" sz="700" b="1" kern="0" spc="2">
                <a:solidFill>
                  <a:schemeClr val="bg1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Aggregator</a:t>
            </a:r>
            <a:endParaRPr lang="en-US" sz="700" b="1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79" name="Shape 38">
            <a:extLst>
              <a:ext uri="{FF2B5EF4-FFF2-40B4-BE49-F238E27FC236}">
                <a16:creationId xmlns:a16="http://schemas.microsoft.com/office/drawing/2014/main" id="{750B1D24-9033-FE95-7E52-52854A7AED0F}"/>
              </a:ext>
            </a:extLst>
          </p:cNvPr>
          <p:cNvSpPr/>
          <p:nvPr/>
        </p:nvSpPr>
        <p:spPr>
          <a:xfrm>
            <a:off x="1229350" y="4607089"/>
            <a:ext cx="706614" cy="365760"/>
          </a:xfrm>
          <a:prstGeom prst="roundRect">
            <a:avLst>
              <a:gd name="adj" fmla="val 11806"/>
            </a:avLst>
          </a:prstGeom>
          <a:solidFill>
            <a:schemeClr val="accent5"/>
          </a:solidFill>
          <a:ln w="6902">
            <a:noFill/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80" name="Text 32">
            <a:extLst>
              <a:ext uri="{FF2B5EF4-FFF2-40B4-BE49-F238E27FC236}">
                <a16:creationId xmlns:a16="http://schemas.microsoft.com/office/drawing/2014/main" id="{3D13C133-4485-0896-BB8D-78AB36FF4CEC}"/>
              </a:ext>
            </a:extLst>
          </p:cNvPr>
          <p:cNvSpPr/>
          <p:nvPr/>
        </p:nvSpPr>
        <p:spPr>
          <a:xfrm>
            <a:off x="1296020" y="4733795"/>
            <a:ext cx="598743" cy="1123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/>
          <a:lstStyle/>
          <a:p>
            <a:pPr>
              <a:lnSpc>
                <a:spcPts val="727"/>
              </a:lnSpc>
            </a:pPr>
            <a:r>
              <a:rPr lang="en-US" sz="700" b="1" kern="0" spc="4">
                <a:solidFill>
                  <a:schemeClr val="bg1"/>
                </a:solidFill>
                <a:latin typeface="Aptos" panose="020B0004020202020204" pitchFamily="34" charset="0"/>
                <a:ea typeface="Inter"/>
                <a:cs typeface="Calibri"/>
              </a:rPr>
              <a:t>Payroll Engine</a:t>
            </a:r>
          </a:p>
        </p:txBody>
      </p:sp>
      <p:sp>
        <p:nvSpPr>
          <p:cNvPr id="83" name="Shape 38">
            <a:extLst>
              <a:ext uri="{FF2B5EF4-FFF2-40B4-BE49-F238E27FC236}">
                <a16:creationId xmlns:a16="http://schemas.microsoft.com/office/drawing/2014/main" id="{C101AF3F-2BD0-6C89-1536-9786867A9CDF}"/>
              </a:ext>
            </a:extLst>
          </p:cNvPr>
          <p:cNvSpPr/>
          <p:nvPr/>
        </p:nvSpPr>
        <p:spPr>
          <a:xfrm>
            <a:off x="2221155" y="4607089"/>
            <a:ext cx="736960" cy="365760"/>
          </a:xfrm>
          <a:prstGeom prst="roundRect">
            <a:avLst>
              <a:gd name="adj" fmla="val 10938"/>
            </a:avLst>
          </a:prstGeom>
          <a:solidFill>
            <a:srgbClr val="FF7B8A"/>
          </a:solidFill>
          <a:ln w="6902">
            <a:noFill/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84" name="Text 32">
            <a:extLst>
              <a:ext uri="{FF2B5EF4-FFF2-40B4-BE49-F238E27FC236}">
                <a16:creationId xmlns:a16="http://schemas.microsoft.com/office/drawing/2014/main" id="{40E861B6-802E-C963-2248-CC4283F6EDD5}"/>
              </a:ext>
            </a:extLst>
          </p:cNvPr>
          <p:cNvSpPr/>
          <p:nvPr/>
        </p:nvSpPr>
        <p:spPr>
          <a:xfrm>
            <a:off x="2250377" y="4686734"/>
            <a:ext cx="678516" cy="20647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/>
          <a:lstStyle/>
          <a:p>
            <a:pPr algn="ctr">
              <a:lnSpc>
                <a:spcPts val="727"/>
              </a:lnSpc>
            </a:pPr>
            <a:r>
              <a:rPr lang="en-US" sz="700" b="1" kern="0" spc="4">
                <a:solidFill>
                  <a:schemeClr val="bg1"/>
                </a:solidFill>
                <a:latin typeface="Aptos" panose="020B0004020202020204" pitchFamily="34" charset="0"/>
                <a:ea typeface="Inter"/>
                <a:cs typeface="Calibri"/>
              </a:rPr>
              <a:t>Draft </a:t>
            </a:r>
          </a:p>
          <a:p>
            <a:pPr algn="ctr">
              <a:lnSpc>
                <a:spcPts val="727"/>
              </a:lnSpc>
            </a:pPr>
            <a:r>
              <a:rPr lang="en-US" sz="700" b="1" kern="0" spc="4">
                <a:solidFill>
                  <a:schemeClr val="bg1"/>
                </a:solidFill>
                <a:latin typeface="Aptos" panose="020B0004020202020204" pitchFamily="34" charset="0"/>
                <a:ea typeface="Inter"/>
                <a:cs typeface="Calibri"/>
              </a:rPr>
              <a:t>Register 1</a:t>
            </a:r>
          </a:p>
        </p:txBody>
      </p:sp>
      <p:sp>
        <p:nvSpPr>
          <p:cNvPr id="88" name="Shape 90">
            <a:extLst>
              <a:ext uri="{FF2B5EF4-FFF2-40B4-BE49-F238E27FC236}">
                <a16:creationId xmlns:a16="http://schemas.microsoft.com/office/drawing/2014/main" id="{94AE2C1D-89A0-CD76-CD2D-2DD4D66FF409}"/>
              </a:ext>
            </a:extLst>
          </p:cNvPr>
          <p:cNvSpPr/>
          <p:nvPr/>
        </p:nvSpPr>
        <p:spPr>
          <a:xfrm>
            <a:off x="3243306" y="4607089"/>
            <a:ext cx="736960" cy="365760"/>
          </a:xfrm>
          <a:prstGeom prst="roundRect">
            <a:avLst>
              <a:gd name="adj" fmla="val 10069"/>
            </a:avLst>
          </a:prstGeom>
          <a:solidFill>
            <a:srgbClr val="F78D63"/>
          </a:solidFill>
          <a:ln w="6350">
            <a:solidFill>
              <a:schemeClr val="accent2">
                <a:lumMod val="75000"/>
              </a:schemeClr>
            </a:solidFill>
            <a:prstDash val="dash"/>
          </a:ln>
        </p:spPr>
        <p:txBody>
          <a:bodyPr/>
          <a:lstStyle/>
          <a:p>
            <a:endParaRPr lang="en-US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89" name="Text 93">
            <a:extLst>
              <a:ext uri="{FF2B5EF4-FFF2-40B4-BE49-F238E27FC236}">
                <a16:creationId xmlns:a16="http://schemas.microsoft.com/office/drawing/2014/main" id="{59CAE821-4884-EB44-EA14-3082661B6B64}"/>
              </a:ext>
            </a:extLst>
          </p:cNvPr>
          <p:cNvSpPr/>
          <p:nvPr/>
        </p:nvSpPr>
        <p:spPr>
          <a:xfrm>
            <a:off x="3282895" y="4685194"/>
            <a:ext cx="65778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769"/>
              </a:lnSpc>
            </a:pPr>
            <a:r>
              <a:rPr lang="en-US" sz="700" b="1" kern="0" spc="2">
                <a:solidFill>
                  <a:schemeClr val="bg1"/>
                </a:solidFill>
                <a:latin typeface="Aptos" panose="020B0004020202020204" pitchFamily="34" charset="0"/>
                <a:ea typeface="Inter"/>
                <a:cs typeface="Inter" pitchFamily="34" charset="-120"/>
              </a:rPr>
              <a:t>AI payroll team</a:t>
            </a:r>
            <a:endParaRPr lang="en-US" sz="700" b="1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marL="0" indent="0" algn="ctr">
              <a:lnSpc>
                <a:spcPts val="769"/>
              </a:lnSpc>
              <a:buNone/>
            </a:pPr>
            <a:r>
              <a:rPr lang="en-US" sz="700" b="1" kern="0" spc="2">
                <a:solidFill>
                  <a:schemeClr val="bg1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Aggregator</a:t>
            </a:r>
            <a:endParaRPr lang="en-US" sz="700" b="1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90" name="Shape 38">
            <a:extLst>
              <a:ext uri="{FF2B5EF4-FFF2-40B4-BE49-F238E27FC236}">
                <a16:creationId xmlns:a16="http://schemas.microsoft.com/office/drawing/2014/main" id="{A46190A3-B634-24A6-4BBF-DE9AECE7ED2E}"/>
              </a:ext>
            </a:extLst>
          </p:cNvPr>
          <p:cNvSpPr/>
          <p:nvPr/>
        </p:nvSpPr>
        <p:spPr>
          <a:xfrm>
            <a:off x="4265457" y="4607089"/>
            <a:ext cx="702108" cy="365760"/>
          </a:xfrm>
          <a:prstGeom prst="roundRect">
            <a:avLst>
              <a:gd name="adj" fmla="val 8333"/>
            </a:avLst>
          </a:prstGeom>
          <a:solidFill>
            <a:schemeClr val="accent5"/>
          </a:solidFill>
          <a:ln w="6902">
            <a:noFill/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91" name="Text 32">
            <a:extLst>
              <a:ext uri="{FF2B5EF4-FFF2-40B4-BE49-F238E27FC236}">
                <a16:creationId xmlns:a16="http://schemas.microsoft.com/office/drawing/2014/main" id="{54F569AB-88C1-0113-8911-11055F3E6C46}"/>
              </a:ext>
            </a:extLst>
          </p:cNvPr>
          <p:cNvSpPr/>
          <p:nvPr/>
        </p:nvSpPr>
        <p:spPr>
          <a:xfrm>
            <a:off x="4322411" y="4733795"/>
            <a:ext cx="605033" cy="1123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/>
          <a:lstStyle/>
          <a:p>
            <a:pPr>
              <a:lnSpc>
                <a:spcPts val="727"/>
              </a:lnSpc>
            </a:pPr>
            <a:r>
              <a:rPr lang="en-US" sz="700" b="1" kern="0" spc="4">
                <a:solidFill>
                  <a:schemeClr val="bg1"/>
                </a:solidFill>
                <a:latin typeface="Aptos" panose="020B0004020202020204" pitchFamily="34" charset="0"/>
                <a:ea typeface="Inter"/>
                <a:cs typeface="Calibri"/>
              </a:rPr>
              <a:t>Payroll Engine</a:t>
            </a:r>
          </a:p>
        </p:txBody>
      </p:sp>
      <p:sp>
        <p:nvSpPr>
          <p:cNvPr id="93" name="Shape 38">
            <a:extLst>
              <a:ext uri="{FF2B5EF4-FFF2-40B4-BE49-F238E27FC236}">
                <a16:creationId xmlns:a16="http://schemas.microsoft.com/office/drawing/2014/main" id="{E4DC06DC-206E-9CA3-9675-F77A4226F3D9}"/>
              </a:ext>
            </a:extLst>
          </p:cNvPr>
          <p:cNvSpPr/>
          <p:nvPr/>
        </p:nvSpPr>
        <p:spPr>
          <a:xfrm>
            <a:off x="5252756" y="4607089"/>
            <a:ext cx="777530" cy="365760"/>
          </a:xfrm>
          <a:prstGeom prst="roundRect">
            <a:avLst>
              <a:gd name="adj" fmla="val 8333"/>
            </a:avLst>
          </a:prstGeom>
          <a:solidFill>
            <a:srgbClr val="FF7B8A"/>
          </a:solidFill>
          <a:ln w="6902">
            <a:noFill/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97" name="Text 32">
            <a:extLst>
              <a:ext uri="{FF2B5EF4-FFF2-40B4-BE49-F238E27FC236}">
                <a16:creationId xmlns:a16="http://schemas.microsoft.com/office/drawing/2014/main" id="{EA580EA2-D7A3-9FDC-5869-30A29653156B}"/>
              </a:ext>
            </a:extLst>
          </p:cNvPr>
          <p:cNvSpPr/>
          <p:nvPr/>
        </p:nvSpPr>
        <p:spPr>
          <a:xfrm>
            <a:off x="5313197" y="4705676"/>
            <a:ext cx="656648" cy="18151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/>
          <a:lstStyle/>
          <a:p>
            <a:pPr algn="ctr">
              <a:lnSpc>
                <a:spcPts val="727"/>
              </a:lnSpc>
            </a:pPr>
            <a:r>
              <a:rPr lang="en-US" sz="700" b="1" kern="0" spc="4">
                <a:solidFill>
                  <a:schemeClr val="bg1"/>
                </a:solidFill>
                <a:latin typeface="Aptos" panose="020B0004020202020204" pitchFamily="34" charset="0"/>
                <a:ea typeface="Inter"/>
                <a:cs typeface="Calibri"/>
              </a:rPr>
              <a:t>Draft </a:t>
            </a:r>
          </a:p>
          <a:p>
            <a:pPr algn="ctr">
              <a:lnSpc>
                <a:spcPts val="727"/>
              </a:lnSpc>
            </a:pPr>
            <a:r>
              <a:rPr lang="en-US" sz="700" b="1" kern="0" spc="4">
                <a:solidFill>
                  <a:schemeClr val="bg1"/>
                </a:solidFill>
                <a:latin typeface="Aptos" panose="020B0004020202020204" pitchFamily="34" charset="0"/>
                <a:ea typeface="Inter"/>
                <a:cs typeface="Calibri"/>
              </a:rPr>
              <a:t>Register 2 </a:t>
            </a:r>
          </a:p>
        </p:txBody>
      </p:sp>
      <p:sp>
        <p:nvSpPr>
          <p:cNvPr id="120" name="Shape 90">
            <a:extLst>
              <a:ext uri="{FF2B5EF4-FFF2-40B4-BE49-F238E27FC236}">
                <a16:creationId xmlns:a16="http://schemas.microsoft.com/office/drawing/2014/main" id="{811DA540-EBBD-DAAB-7BB2-33EF51D885BB}"/>
              </a:ext>
            </a:extLst>
          </p:cNvPr>
          <p:cNvSpPr/>
          <p:nvPr/>
        </p:nvSpPr>
        <p:spPr>
          <a:xfrm>
            <a:off x="6315477" y="4607089"/>
            <a:ext cx="692303" cy="365760"/>
          </a:xfrm>
          <a:prstGeom prst="roundRect">
            <a:avLst>
              <a:gd name="adj" fmla="val 7465"/>
            </a:avLst>
          </a:prstGeom>
          <a:solidFill>
            <a:srgbClr val="F78D63"/>
          </a:solidFill>
          <a:ln w="6350">
            <a:solidFill>
              <a:schemeClr val="accent2">
                <a:lumMod val="75000"/>
              </a:schemeClr>
            </a:solidFill>
            <a:prstDash val="dash"/>
          </a:ln>
        </p:spPr>
        <p:txBody>
          <a:bodyPr/>
          <a:lstStyle/>
          <a:p>
            <a:endParaRPr lang="en-US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22" name="Text 93">
            <a:extLst>
              <a:ext uri="{FF2B5EF4-FFF2-40B4-BE49-F238E27FC236}">
                <a16:creationId xmlns:a16="http://schemas.microsoft.com/office/drawing/2014/main" id="{66B2C1A1-0B44-977B-A757-338FA1BD7F08}"/>
              </a:ext>
            </a:extLst>
          </p:cNvPr>
          <p:cNvSpPr/>
          <p:nvPr/>
        </p:nvSpPr>
        <p:spPr>
          <a:xfrm>
            <a:off x="6344938" y="4685194"/>
            <a:ext cx="63338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769"/>
              </a:lnSpc>
            </a:pPr>
            <a:r>
              <a:rPr lang="en-US" sz="700" b="1" kern="0" spc="2">
                <a:solidFill>
                  <a:schemeClr val="bg1"/>
                </a:solidFill>
                <a:latin typeface="Aptos" panose="020B0004020202020204" pitchFamily="34" charset="0"/>
                <a:ea typeface="Inter"/>
                <a:cs typeface="Inter" pitchFamily="34" charset="-120"/>
              </a:rPr>
              <a:t>AI payroll team</a:t>
            </a:r>
            <a:endParaRPr lang="en-US" sz="700" b="1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marL="0" indent="0" algn="ctr">
              <a:lnSpc>
                <a:spcPts val="769"/>
              </a:lnSpc>
              <a:buNone/>
            </a:pPr>
            <a:r>
              <a:rPr lang="en-US" sz="700" b="1" kern="0" spc="2">
                <a:solidFill>
                  <a:schemeClr val="bg1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Aggregator</a:t>
            </a:r>
            <a:endParaRPr lang="en-US" sz="700" b="1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24" name="Shape 38">
            <a:extLst>
              <a:ext uri="{FF2B5EF4-FFF2-40B4-BE49-F238E27FC236}">
                <a16:creationId xmlns:a16="http://schemas.microsoft.com/office/drawing/2014/main" id="{89C507C0-48BF-9415-246B-BFC4737A7BDD}"/>
              </a:ext>
            </a:extLst>
          </p:cNvPr>
          <p:cNvSpPr/>
          <p:nvPr/>
        </p:nvSpPr>
        <p:spPr>
          <a:xfrm>
            <a:off x="7292971" y="4607089"/>
            <a:ext cx="700962" cy="365760"/>
          </a:xfrm>
          <a:prstGeom prst="roundRect">
            <a:avLst>
              <a:gd name="adj" fmla="val 6597"/>
            </a:avLst>
          </a:prstGeom>
          <a:solidFill>
            <a:schemeClr val="accent5"/>
          </a:solidFill>
          <a:ln w="6902">
            <a:noFill/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29" name="Text 32">
            <a:extLst>
              <a:ext uri="{FF2B5EF4-FFF2-40B4-BE49-F238E27FC236}">
                <a16:creationId xmlns:a16="http://schemas.microsoft.com/office/drawing/2014/main" id="{C3A3A35E-8CC4-9A05-326E-9DC291E811AF}"/>
              </a:ext>
            </a:extLst>
          </p:cNvPr>
          <p:cNvSpPr/>
          <p:nvPr/>
        </p:nvSpPr>
        <p:spPr>
          <a:xfrm>
            <a:off x="7363856" y="4733795"/>
            <a:ext cx="594739" cy="1123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/>
          <a:lstStyle/>
          <a:p>
            <a:pPr>
              <a:lnSpc>
                <a:spcPts val="727"/>
              </a:lnSpc>
            </a:pPr>
            <a:r>
              <a:rPr lang="en-US" sz="700" b="1" kern="0" spc="4">
                <a:solidFill>
                  <a:schemeClr val="bg1"/>
                </a:solidFill>
                <a:latin typeface="Aptos" panose="020B0004020202020204" pitchFamily="34" charset="0"/>
                <a:ea typeface="Inter"/>
                <a:cs typeface="Calibri"/>
              </a:rPr>
              <a:t>Payroll Engine</a:t>
            </a:r>
          </a:p>
        </p:txBody>
      </p:sp>
      <p:sp>
        <p:nvSpPr>
          <p:cNvPr id="133" name="Shape 38">
            <a:extLst>
              <a:ext uri="{FF2B5EF4-FFF2-40B4-BE49-F238E27FC236}">
                <a16:creationId xmlns:a16="http://schemas.microsoft.com/office/drawing/2014/main" id="{B035CD5D-EB04-11F4-5FB3-D1C9C6747159}"/>
              </a:ext>
            </a:extLst>
          </p:cNvPr>
          <p:cNvSpPr/>
          <p:nvPr/>
        </p:nvSpPr>
        <p:spPr>
          <a:xfrm>
            <a:off x="8279123" y="4607089"/>
            <a:ext cx="688665" cy="365760"/>
          </a:xfrm>
          <a:prstGeom prst="roundRect">
            <a:avLst>
              <a:gd name="adj" fmla="val 5729"/>
            </a:avLst>
          </a:prstGeom>
          <a:solidFill>
            <a:srgbClr val="FFFFFF"/>
          </a:solidFill>
          <a:ln w="6350">
            <a:solidFill>
              <a:schemeClr val="bg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42" name="Text 32">
            <a:extLst>
              <a:ext uri="{FF2B5EF4-FFF2-40B4-BE49-F238E27FC236}">
                <a16:creationId xmlns:a16="http://schemas.microsoft.com/office/drawing/2014/main" id="{205D6080-5F38-2760-2212-B2441FDAE4EC}"/>
              </a:ext>
            </a:extLst>
          </p:cNvPr>
          <p:cNvSpPr/>
          <p:nvPr/>
        </p:nvSpPr>
        <p:spPr>
          <a:xfrm>
            <a:off x="8358064" y="4728178"/>
            <a:ext cx="541000" cy="1235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/>
          <a:lstStyle/>
          <a:p>
            <a:pPr>
              <a:lnSpc>
                <a:spcPts val="727"/>
              </a:lnSpc>
            </a:pPr>
            <a:r>
              <a:rPr lang="en-US" sz="700" b="1" kern="0" spc="4">
                <a:solidFill>
                  <a:srgbClr val="3F3F3F"/>
                </a:solidFill>
                <a:latin typeface="Aptos" panose="020B0004020202020204" pitchFamily="34" charset="0"/>
                <a:ea typeface="Inter"/>
                <a:cs typeface="Calibri"/>
              </a:rPr>
              <a:t>Final Payroll</a:t>
            </a:r>
          </a:p>
        </p:txBody>
      </p:sp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7161DB80-A8FD-2141-86F2-4B98BDBC290A}"/>
              </a:ext>
            </a:extLst>
          </p:cNvPr>
          <p:cNvCxnSpPr>
            <a:cxnSpLocks/>
            <a:stCxn id="77" idx="3"/>
          </p:cNvCxnSpPr>
          <p:nvPr/>
        </p:nvCxnSpPr>
        <p:spPr>
          <a:xfrm>
            <a:off x="944159" y="4789969"/>
            <a:ext cx="285191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29EC516A-667F-F7C1-37A4-A1AAE439579B}"/>
              </a:ext>
            </a:extLst>
          </p:cNvPr>
          <p:cNvCxnSpPr>
            <a:cxnSpLocks/>
          </p:cNvCxnSpPr>
          <p:nvPr/>
        </p:nvCxnSpPr>
        <p:spPr>
          <a:xfrm>
            <a:off x="1935964" y="4789969"/>
            <a:ext cx="285191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C824399F-C073-0EE0-DE73-7AE150289D65}"/>
              </a:ext>
            </a:extLst>
          </p:cNvPr>
          <p:cNvCxnSpPr>
            <a:cxnSpLocks/>
            <a:stCxn id="83" idx="3"/>
            <a:endCxn id="88" idx="1"/>
          </p:cNvCxnSpPr>
          <p:nvPr/>
        </p:nvCxnSpPr>
        <p:spPr>
          <a:xfrm>
            <a:off x="2958115" y="4789969"/>
            <a:ext cx="285191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587B4603-E62F-FA21-5D18-E15DD16AD5B1}"/>
              </a:ext>
            </a:extLst>
          </p:cNvPr>
          <p:cNvCxnSpPr>
            <a:cxnSpLocks/>
            <a:stCxn id="88" idx="3"/>
          </p:cNvCxnSpPr>
          <p:nvPr/>
        </p:nvCxnSpPr>
        <p:spPr>
          <a:xfrm>
            <a:off x="3980266" y="4789969"/>
            <a:ext cx="285191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Arrow Connector 166">
            <a:extLst>
              <a:ext uri="{FF2B5EF4-FFF2-40B4-BE49-F238E27FC236}">
                <a16:creationId xmlns:a16="http://schemas.microsoft.com/office/drawing/2014/main" id="{ECEDDD3C-56D4-AD5E-6385-29D4AD186C39}"/>
              </a:ext>
            </a:extLst>
          </p:cNvPr>
          <p:cNvCxnSpPr>
            <a:cxnSpLocks/>
          </p:cNvCxnSpPr>
          <p:nvPr/>
        </p:nvCxnSpPr>
        <p:spPr>
          <a:xfrm>
            <a:off x="4967565" y="4789969"/>
            <a:ext cx="285191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Arrow Connector 168">
            <a:extLst>
              <a:ext uri="{FF2B5EF4-FFF2-40B4-BE49-F238E27FC236}">
                <a16:creationId xmlns:a16="http://schemas.microsoft.com/office/drawing/2014/main" id="{02B6508B-0615-D34C-7EEA-49F46891B562}"/>
              </a:ext>
            </a:extLst>
          </p:cNvPr>
          <p:cNvCxnSpPr>
            <a:cxnSpLocks/>
            <a:endCxn id="120" idx="1"/>
          </p:cNvCxnSpPr>
          <p:nvPr/>
        </p:nvCxnSpPr>
        <p:spPr>
          <a:xfrm>
            <a:off x="6030286" y="4789969"/>
            <a:ext cx="285191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D0B7A7B6-4B82-CCFF-5E38-316A746ED451}"/>
              </a:ext>
            </a:extLst>
          </p:cNvPr>
          <p:cNvCxnSpPr>
            <a:cxnSpLocks/>
            <a:stCxn id="120" idx="3"/>
          </p:cNvCxnSpPr>
          <p:nvPr/>
        </p:nvCxnSpPr>
        <p:spPr>
          <a:xfrm>
            <a:off x="7007780" y="4789969"/>
            <a:ext cx="285191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Arrow Connector 172">
            <a:extLst>
              <a:ext uri="{FF2B5EF4-FFF2-40B4-BE49-F238E27FC236}">
                <a16:creationId xmlns:a16="http://schemas.microsoft.com/office/drawing/2014/main" id="{7FBDBA8B-F850-7E7C-1DFE-F35A85FED900}"/>
              </a:ext>
            </a:extLst>
          </p:cNvPr>
          <p:cNvCxnSpPr>
            <a:cxnSpLocks/>
          </p:cNvCxnSpPr>
          <p:nvPr/>
        </p:nvCxnSpPr>
        <p:spPr>
          <a:xfrm>
            <a:off x="7993933" y="4789969"/>
            <a:ext cx="285190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96A11D4-2A03-13D6-1F3D-058809021CA1}"/>
              </a:ext>
            </a:extLst>
          </p:cNvPr>
          <p:cNvSpPr txBox="1"/>
          <p:nvPr/>
        </p:nvSpPr>
        <p:spPr>
          <a:xfrm>
            <a:off x="210383" y="4378720"/>
            <a:ext cx="46198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>
                <a:latin typeface="Nunito Sans" pitchFamily="2" charset="77"/>
              </a:rPr>
              <a:t>Loop 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B8A5C75-916A-D354-D134-FE4D592332B5}"/>
              </a:ext>
            </a:extLst>
          </p:cNvPr>
          <p:cNvSpPr txBox="1"/>
          <p:nvPr/>
        </p:nvSpPr>
        <p:spPr>
          <a:xfrm>
            <a:off x="3237069" y="4378720"/>
            <a:ext cx="46198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>
                <a:latin typeface="Nunito Sans" pitchFamily="2" charset="77"/>
              </a:rPr>
              <a:t>Loop 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F5F6EA4-F488-6267-73A3-1D572C742ABC}"/>
              </a:ext>
            </a:extLst>
          </p:cNvPr>
          <p:cNvSpPr txBox="1"/>
          <p:nvPr/>
        </p:nvSpPr>
        <p:spPr>
          <a:xfrm>
            <a:off x="6290750" y="4378720"/>
            <a:ext cx="60465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>
                <a:latin typeface="Nunito Sans" pitchFamily="2" charset="77"/>
              </a:rPr>
              <a:t>Final Loop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F784E60-FD8A-3FE5-19B1-D0623E8406A8}"/>
              </a:ext>
            </a:extLst>
          </p:cNvPr>
          <p:cNvCxnSpPr>
            <a:cxnSpLocks/>
          </p:cNvCxnSpPr>
          <p:nvPr/>
        </p:nvCxnSpPr>
        <p:spPr>
          <a:xfrm>
            <a:off x="419100" y="1367979"/>
            <a:ext cx="2667000" cy="0"/>
          </a:xfrm>
          <a:prstGeom prst="line">
            <a:avLst/>
          </a:prstGeom>
          <a:ln>
            <a:solidFill>
              <a:srgbClr val="FECD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B8FD933-AB3C-7152-532D-F279479FF3A1}"/>
              </a:ext>
            </a:extLst>
          </p:cNvPr>
          <p:cNvCxnSpPr>
            <a:cxnSpLocks/>
          </p:cNvCxnSpPr>
          <p:nvPr/>
        </p:nvCxnSpPr>
        <p:spPr>
          <a:xfrm flipV="1">
            <a:off x="435986" y="2641240"/>
            <a:ext cx="2650815" cy="14457"/>
          </a:xfrm>
          <a:prstGeom prst="line">
            <a:avLst/>
          </a:prstGeom>
          <a:ln>
            <a:solidFill>
              <a:srgbClr val="FECD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37">
            <a:extLst>
              <a:ext uri="{FF2B5EF4-FFF2-40B4-BE49-F238E27FC236}">
                <a16:creationId xmlns:a16="http://schemas.microsoft.com/office/drawing/2014/main" id="{20AE711C-4C21-9481-9B19-142555943E9B}"/>
              </a:ext>
            </a:extLst>
          </p:cNvPr>
          <p:cNvSpPr/>
          <p:nvPr/>
        </p:nvSpPr>
        <p:spPr>
          <a:xfrm>
            <a:off x="1199352" y="3212059"/>
            <a:ext cx="751638" cy="14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00" b="1" kern="0" spc="8">
                <a:solidFill>
                  <a:srgbClr val="DC2525">
                    <a:alpha val="99000"/>
                  </a:srgbClr>
                </a:solidFill>
                <a:latin typeface="Aptos" panose="020B0004020202020204" pitchFamily="34" charset="0"/>
                <a:ea typeface="Inter"/>
                <a:cs typeface="Inter" pitchFamily="34" charset="-120"/>
              </a:rPr>
              <a:t>20 </a:t>
            </a:r>
            <a:r>
              <a:rPr lang="en-US" sz="700" b="1" kern="0" spc="8" err="1">
                <a:solidFill>
                  <a:srgbClr val="DC2525">
                    <a:alpha val="99000"/>
                  </a:srgbClr>
                </a:solidFill>
                <a:latin typeface="Aptos" panose="020B0004020202020204" pitchFamily="34" charset="0"/>
                <a:ea typeface="Inter"/>
                <a:cs typeface="Inter" pitchFamily="34" charset="-120"/>
              </a:rPr>
              <a:t>payheads</a:t>
            </a:r>
            <a:r>
              <a:rPr lang="en-US" sz="700" b="1" kern="0" spc="8">
                <a:solidFill>
                  <a:srgbClr val="DC2525">
                    <a:alpha val="99000"/>
                  </a:srgbClr>
                </a:solidFill>
                <a:latin typeface="Aptos" panose="020B0004020202020204" pitchFamily="34" charset="0"/>
                <a:ea typeface="Inter"/>
                <a:cs typeface="Inter" pitchFamily="34" charset="-120"/>
              </a:rPr>
              <a:t>​</a:t>
            </a:r>
          </a:p>
        </p:txBody>
      </p:sp>
      <p:sp>
        <p:nvSpPr>
          <p:cNvPr id="9" name="Text 37">
            <a:extLst>
              <a:ext uri="{FF2B5EF4-FFF2-40B4-BE49-F238E27FC236}">
                <a16:creationId xmlns:a16="http://schemas.microsoft.com/office/drawing/2014/main" id="{5D6ABDEF-0CFD-4D2F-8277-093A1C5A9BB2}"/>
              </a:ext>
            </a:extLst>
          </p:cNvPr>
          <p:cNvSpPr/>
          <p:nvPr/>
        </p:nvSpPr>
        <p:spPr>
          <a:xfrm>
            <a:off x="1964123" y="3212059"/>
            <a:ext cx="751638" cy="14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00" b="1" kern="0" spc="8">
                <a:solidFill>
                  <a:srgbClr val="DC2525">
                    <a:alpha val="99000"/>
                  </a:srgbClr>
                </a:solidFill>
                <a:latin typeface="Aptos" panose="020B0004020202020204" pitchFamily="34" charset="0"/>
                <a:ea typeface="Inter"/>
                <a:cs typeface="Inter" pitchFamily="34" charset="-120"/>
              </a:rPr>
              <a:t>52 </a:t>
            </a:r>
            <a:r>
              <a:rPr lang="en-US" sz="700" b="1" kern="0" spc="8" err="1">
                <a:solidFill>
                  <a:srgbClr val="DC2525">
                    <a:alpha val="99000"/>
                  </a:srgbClr>
                </a:solidFill>
                <a:latin typeface="Aptos" panose="020B0004020202020204" pitchFamily="34" charset="0"/>
                <a:ea typeface="Inter"/>
                <a:cs typeface="Inter" pitchFamily="34" charset="-120"/>
              </a:rPr>
              <a:t>payheads</a:t>
            </a:r>
            <a:r>
              <a:rPr lang="en-US" sz="700" b="1" kern="0" spc="8">
                <a:solidFill>
                  <a:srgbClr val="DC2525">
                    <a:alpha val="99000"/>
                  </a:srgbClr>
                </a:solidFill>
                <a:latin typeface="Aptos" panose="020B0004020202020204" pitchFamily="34" charset="0"/>
                <a:ea typeface="Inter"/>
                <a:cs typeface="Inter" pitchFamily="34" charset="-120"/>
              </a:rPr>
              <a:t>​</a:t>
            </a:r>
          </a:p>
        </p:txBody>
      </p:sp>
      <p:sp>
        <p:nvSpPr>
          <p:cNvPr id="85" name="Shape 38">
            <a:extLst>
              <a:ext uri="{FF2B5EF4-FFF2-40B4-BE49-F238E27FC236}">
                <a16:creationId xmlns:a16="http://schemas.microsoft.com/office/drawing/2014/main" id="{2ED9EA4B-3E00-9DFA-82D4-A4EE4D83B28C}"/>
              </a:ext>
            </a:extLst>
          </p:cNvPr>
          <p:cNvSpPr/>
          <p:nvPr/>
        </p:nvSpPr>
        <p:spPr>
          <a:xfrm>
            <a:off x="4636179" y="1452668"/>
            <a:ext cx="1410430" cy="848229"/>
          </a:xfrm>
          <a:prstGeom prst="roundRect">
            <a:avLst>
              <a:gd name="adj" fmla="val 0"/>
            </a:avLst>
          </a:prstGeom>
          <a:solidFill>
            <a:srgbClr val="FFF2F2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94" name="Text 32">
            <a:extLst>
              <a:ext uri="{FF2B5EF4-FFF2-40B4-BE49-F238E27FC236}">
                <a16:creationId xmlns:a16="http://schemas.microsoft.com/office/drawing/2014/main" id="{2A821924-188E-0FFB-F8CD-248377B6119A}"/>
              </a:ext>
            </a:extLst>
          </p:cNvPr>
          <p:cNvSpPr/>
          <p:nvPr/>
        </p:nvSpPr>
        <p:spPr>
          <a:xfrm>
            <a:off x="4754058" y="1529231"/>
            <a:ext cx="1202228" cy="31705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>
              <a:spcBef>
                <a:spcPts val="50"/>
              </a:spcBef>
              <a:spcAft>
                <a:spcPts val="100"/>
              </a:spcAft>
            </a:pPr>
            <a:r>
              <a:rPr lang="en-US" sz="800" b="1" kern="0" spc="4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Inter"/>
                <a:cs typeface="Calibri"/>
              </a:rPr>
              <a:t>Draft Register 1 &amp; 2- Validation loop</a:t>
            </a:r>
          </a:p>
        </p:txBody>
      </p:sp>
      <p:sp>
        <p:nvSpPr>
          <p:cNvPr id="95" name="Text 34">
            <a:extLst>
              <a:ext uri="{FF2B5EF4-FFF2-40B4-BE49-F238E27FC236}">
                <a16:creationId xmlns:a16="http://schemas.microsoft.com/office/drawing/2014/main" id="{E9DBADF6-8B05-C1F4-376F-2A447D16FBBC}"/>
              </a:ext>
            </a:extLst>
          </p:cNvPr>
          <p:cNvSpPr/>
          <p:nvPr/>
        </p:nvSpPr>
        <p:spPr>
          <a:xfrm>
            <a:off x="4755089" y="1845268"/>
            <a:ext cx="1256202" cy="338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00" kern="0" spc="1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Inter"/>
                <a:cs typeface="Inter" pitchFamily="34" charset="-120"/>
              </a:rPr>
              <a:t>- Email back-and-forth </a:t>
            </a:r>
          </a:p>
          <a:p>
            <a:r>
              <a:rPr lang="en-US" sz="700" kern="0" spc="1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Inter"/>
                <a:cs typeface="Inter" pitchFamily="34" charset="-120"/>
              </a:rPr>
              <a:t>- No system audit</a:t>
            </a:r>
          </a:p>
          <a:p>
            <a:r>
              <a:rPr lang="en-US" sz="700" kern="0" spc="1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Inter"/>
                <a:cs typeface="Inter" pitchFamily="34" charset="-120"/>
              </a:rPr>
              <a:t>- 2 rounds before final</a:t>
            </a:r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81EA02D8-D230-C58B-BD0E-E9E28F23985C}"/>
              </a:ext>
            </a:extLst>
          </p:cNvPr>
          <p:cNvCxnSpPr>
            <a:stCxn id="54" idx="3"/>
            <a:endCxn id="55" idx="1"/>
          </p:cNvCxnSpPr>
          <p:nvPr/>
        </p:nvCxnSpPr>
        <p:spPr>
          <a:xfrm flipV="1">
            <a:off x="6139944" y="1917464"/>
            <a:ext cx="175533" cy="16120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2606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2E069-015C-1B06-58BC-115532BD6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FF425F96-ECCE-CE16-17B0-9075F7B485A3}"/>
              </a:ext>
            </a:extLst>
          </p:cNvPr>
          <p:cNvSpPr/>
          <p:nvPr/>
        </p:nvSpPr>
        <p:spPr>
          <a:xfrm>
            <a:off x="164592" y="91440"/>
            <a:ext cx="822960" cy="292608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ACACAD1-4634-1A95-1FF7-69157893C26A}"/>
              </a:ext>
            </a:extLst>
          </p:cNvPr>
          <p:cNvSpPr/>
          <p:nvPr/>
        </p:nvSpPr>
        <p:spPr>
          <a:xfrm>
            <a:off x="164592" y="914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INDIA</a:t>
            </a:r>
            <a:endParaRPr lang="en-US" sz="70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7BF0920E-6ADE-7063-B173-FFDA776B602C}"/>
              </a:ext>
            </a:extLst>
          </p:cNvPr>
          <p:cNvGraphicFramePr>
            <a:graphicFrameLocks noGrp="1"/>
          </p:cNvGraphicFramePr>
          <p:nvPr/>
        </p:nvGraphicFramePr>
        <p:xfrm>
          <a:off x="280876" y="926656"/>
          <a:ext cx="8634524" cy="3785458"/>
        </p:xfrm>
        <a:graphic>
          <a:graphicData uri="http://schemas.openxmlformats.org/drawingml/2006/table">
            <a:tbl>
              <a:tblPr firstRow="1" firstCol="1" bandRow="1">
                <a:tableStyleId>{F2DE63D5-997A-4646-A377-4702673A728D}</a:tableStyleId>
              </a:tblPr>
              <a:tblGrid>
                <a:gridCol w="21586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86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86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586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2674">
                <a:tc>
                  <a:txBody>
                    <a:bodyPr/>
                    <a:lstStyle/>
                    <a:p>
                      <a:pPr lvl="0" algn="l">
                        <a:defRPr sz="1200" b="1"/>
                      </a:pPr>
                      <a:r>
                        <a:rPr lang="en-IN" sz="700">
                          <a:latin typeface="Aptos" panose="020B0004020202020204" pitchFamily="34" charset="0"/>
                        </a:rPr>
                        <a:t>CATEGORY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6090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defRPr sz="1200" b="1"/>
                      </a:pPr>
                      <a:r>
                        <a:rPr lang="en-IN" sz="700">
                          <a:latin typeface="Aptos" panose="020B0004020202020204" pitchFamily="34" charset="0"/>
                        </a:rPr>
                        <a:t>RECRUITMENT / ONBOARDING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6090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defRPr sz="1200" b="1"/>
                      </a:pPr>
                      <a:r>
                        <a:rPr lang="en-IN" sz="700">
                          <a:latin typeface="Aptos" panose="020B0004020202020204" pitchFamily="34" charset="0"/>
                        </a:rPr>
                        <a:t>MONTHLY RECURRING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6090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defRPr sz="1200" b="1"/>
                      </a:pPr>
                      <a:r>
                        <a:rPr lang="en-IN" sz="700">
                          <a:latin typeface="Aptos" panose="020B0004020202020204" pitchFamily="34" charset="0"/>
                        </a:rPr>
                        <a:t>LIFE EVENTS / EXIT</a:t>
                      </a: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F6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2674">
                <a:tc>
                  <a:txBody>
                    <a:bodyPr/>
                    <a:lstStyle/>
                    <a:p>
                      <a:pPr lvl="0" algn="l">
                        <a:defRPr sz="1100"/>
                      </a:pPr>
                      <a:r>
                        <a:rPr lang="en-US" sz="700" b="1" i="0">
                          <a:solidFill>
                            <a:schemeClr val="tx2"/>
                          </a:solidFill>
                          <a:latin typeface="Aptos SemiBold" panose="020B0004020202020204" pitchFamily="34" charset="0"/>
                        </a:rPr>
                        <a:t>Fixed Comp / Basic (36)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defRPr sz="1100">
                          <a:solidFill>
                            <a:srgbClr val="008000"/>
                          </a:solidFill>
                        </a:defRPr>
                      </a:pPr>
                      <a:endParaRPr lang="en-IN" sz="700">
                        <a:latin typeface="Aptos" panose="020B000402020202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defRPr sz="1100">
                          <a:solidFill>
                            <a:srgbClr val="008000"/>
                          </a:solidFill>
                        </a:defRPr>
                      </a:pPr>
                      <a:endParaRPr lang="en-IN" sz="700">
                        <a:latin typeface="Aptos" panose="020B000402020202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defRPr sz="1100">
                          <a:solidFill>
                            <a:srgbClr val="008000"/>
                          </a:solidFill>
                        </a:defRPr>
                      </a:pPr>
                      <a:endParaRPr lang="en-IN" sz="700">
                        <a:latin typeface="Aptos" panose="020B000402020202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2674">
                <a:tc>
                  <a:txBody>
                    <a:bodyPr/>
                    <a:lstStyle/>
                    <a:p>
                      <a:pPr lvl="0" algn="l">
                        <a:defRPr sz="1100"/>
                      </a:pPr>
                      <a:r>
                        <a:rPr lang="en-US" sz="700" b="1" i="0">
                          <a:solidFill>
                            <a:schemeClr val="tx2"/>
                          </a:solidFill>
                          <a:latin typeface="Aptos SemiBold" panose="020B0004020202020204" pitchFamily="34" charset="0"/>
                        </a:rPr>
                        <a:t>Structural Allow. (12)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defRPr sz="1100">
                          <a:solidFill>
                            <a:srgbClr val="C80000"/>
                          </a:solidFill>
                        </a:defRPr>
                      </a:pPr>
                      <a:endParaRPr lang="en-IN" sz="700">
                        <a:latin typeface="Aptos" panose="020B000402020202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defRPr sz="1100">
                          <a:solidFill>
                            <a:srgbClr val="C80000"/>
                          </a:solidFill>
                        </a:defRPr>
                      </a:pPr>
                      <a:endParaRPr lang="en-IN" sz="700">
                        <a:latin typeface="Aptos" panose="020B000402020202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defRPr sz="1100">
                          <a:solidFill>
                            <a:srgbClr val="C80000"/>
                          </a:solidFill>
                        </a:defRPr>
                      </a:pPr>
                      <a:endParaRPr lang="en-IN" sz="700">
                        <a:latin typeface="Aptos" panose="020B000402020202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2674">
                <a:tc>
                  <a:txBody>
                    <a:bodyPr/>
                    <a:lstStyle/>
                    <a:p>
                      <a:pPr lvl="0" algn="l">
                        <a:defRPr sz="1100"/>
                      </a:pPr>
                      <a:r>
                        <a:rPr lang="en-US" sz="700" b="1" i="0">
                          <a:solidFill>
                            <a:schemeClr val="tx2"/>
                          </a:solidFill>
                          <a:latin typeface="Aptos SemiBold" panose="020B0004020202020204" pitchFamily="34" charset="0"/>
                        </a:rPr>
                        <a:t>Flying Allowances (13)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defRPr sz="1100"/>
                      </a:pPr>
                      <a:endParaRPr lang="en-IN" sz="700">
                        <a:latin typeface="Aptos" panose="020B000402020202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defRPr sz="1100">
                          <a:solidFill>
                            <a:srgbClr val="C80000"/>
                          </a:solidFill>
                        </a:defRPr>
                      </a:pPr>
                      <a:endParaRPr lang="en-IN" sz="700">
                        <a:latin typeface="Aptos" panose="020B000402020202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defRPr sz="1100"/>
                      </a:pPr>
                      <a:endParaRPr lang="en-IN" sz="700">
                        <a:latin typeface="Aptos" panose="020B000402020202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2674">
                <a:tc>
                  <a:txBody>
                    <a:bodyPr/>
                    <a:lstStyle/>
                    <a:p>
                      <a:pPr lvl="0" algn="l">
                        <a:defRPr sz="1100"/>
                      </a:pPr>
                      <a:r>
                        <a:rPr lang="en-US" sz="700" b="1" i="0">
                          <a:solidFill>
                            <a:schemeClr val="tx2"/>
                          </a:solidFill>
                          <a:latin typeface="Aptos SemiBold" panose="020B0004020202020204" pitchFamily="34" charset="0"/>
                        </a:rPr>
                        <a:t>Special Allow. (HRBP) (12)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defRPr sz="1100"/>
                      </a:pPr>
                      <a:endParaRPr lang="en-IN" sz="700">
                        <a:latin typeface="Aptos" panose="020B000402020202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defRPr sz="1100">
                          <a:solidFill>
                            <a:srgbClr val="C80000"/>
                          </a:solidFill>
                        </a:defRPr>
                      </a:pPr>
                      <a:endParaRPr lang="en-IN" sz="700">
                        <a:latin typeface="Aptos" panose="020B000402020202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defRPr sz="1100"/>
                      </a:pPr>
                      <a:endParaRPr lang="en-IN" sz="700">
                        <a:latin typeface="Aptos" panose="020B000402020202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2674">
                <a:tc>
                  <a:txBody>
                    <a:bodyPr/>
                    <a:lstStyle/>
                    <a:p>
                      <a:pPr lvl="0" algn="l">
                        <a:defRPr sz="1100"/>
                      </a:pPr>
                      <a:r>
                        <a:rPr lang="en-US" sz="700" b="1" i="0">
                          <a:solidFill>
                            <a:schemeClr val="tx2"/>
                          </a:solidFill>
                          <a:latin typeface="Aptos SemiBold" panose="020B0004020202020204" pitchFamily="34" charset="0"/>
                        </a:rPr>
                        <a:t>Bonus / Incentives (19)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defRPr sz="1100">
                          <a:solidFill>
                            <a:srgbClr val="008000"/>
                          </a:solidFill>
                        </a:defRPr>
                      </a:pPr>
                      <a:endParaRPr lang="en-IN" sz="700">
                        <a:latin typeface="Aptos" panose="020B000402020202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defRPr sz="1100">
                          <a:solidFill>
                            <a:srgbClr val="C80000"/>
                          </a:solidFill>
                        </a:defRPr>
                      </a:pPr>
                      <a:endParaRPr lang="en-IN" sz="700">
                        <a:latin typeface="Aptos" panose="020B000402020202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defRPr sz="1100"/>
                      </a:pPr>
                      <a:endParaRPr lang="en-IN" sz="700">
                        <a:latin typeface="Aptos" panose="020B000402020202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2674">
                <a:tc>
                  <a:txBody>
                    <a:bodyPr/>
                    <a:lstStyle/>
                    <a:p>
                      <a:pPr lvl="0" algn="l">
                        <a:defRPr sz="1100"/>
                      </a:pPr>
                      <a:r>
                        <a:rPr lang="en-US" sz="700" b="1" i="0">
                          <a:solidFill>
                            <a:schemeClr val="tx2"/>
                          </a:solidFill>
                          <a:latin typeface="Aptos SemiBold" panose="020B0004020202020204" pitchFamily="34" charset="0"/>
                        </a:rPr>
                        <a:t>Salary Adjustments (15)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defRPr sz="1100">
                          <a:solidFill>
                            <a:srgbClr val="008000"/>
                          </a:solidFill>
                        </a:defRPr>
                      </a:pPr>
                      <a:endParaRPr lang="en-IN" sz="700">
                        <a:latin typeface="Aptos" panose="020B000402020202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defRPr sz="1100">
                          <a:solidFill>
                            <a:srgbClr val="C80000"/>
                          </a:solidFill>
                        </a:defRPr>
                      </a:pPr>
                      <a:endParaRPr lang="en-IN" sz="700">
                        <a:latin typeface="Aptos" panose="020B000402020202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defRPr sz="1100"/>
                      </a:pPr>
                      <a:endParaRPr lang="en-IN" sz="700">
                        <a:latin typeface="Aptos" panose="020B000402020202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2674">
                <a:tc>
                  <a:txBody>
                    <a:bodyPr/>
                    <a:lstStyle/>
                    <a:p>
                      <a:pPr lvl="0" algn="l">
                        <a:defRPr sz="1100"/>
                      </a:pPr>
                      <a:r>
                        <a:rPr lang="en-US" sz="700" b="1" i="0">
                          <a:solidFill>
                            <a:schemeClr val="tx2"/>
                          </a:solidFill>
                          <a:latin typeface="Aptos SemiBold" panose="020B0004020202020204" pitchFamily="34" charset="0"/>
                        </a:rPr>
                        <a:t>3rd-Party Deductions (12)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defRPr sz="1100"/>
                      </a:pPr>
                      <a:endParaRPr lang="en-IN" sz="700">
                        <a:latin typeface="Aptos" panose="020B000402020202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defRPr sz="1100">
                          <a:solidFill>
                            <a:srgbClr val="C80000"/>
                          </a:solidFill>
                        </a:defRPr>
                      </a:pPr>
                      <a:endParaRPr lang="en-IN" sz="700">
                        <a:latin typeface="Aptos" panose="020B000402020202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defRPr sz="1100"/>
                      </a:pPr>
                      <a:endParaRPr lang="en-IN" sz="700">
                        <a:latin typeface="Aptos" panose="020B000402020202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2674">
                <a:tc>
                  <a:txBody>
                    <a:bodyPr/>
                    <a:lstStyle/>
                    <a:p>
                      <a:pPr lvl="0" algn="l">
                        <a:defRPr sz="1100"/>
                      </a:pPr>
                      <a:r>
                        <a:rPr lang="en-US" sz="700" b="1" i="0">
                          <a:solidFill>
                            <a:schemeClr val="tx2"/>
                          </a:solidFill>
                          <a:latin typeface="Aptos SemiBold" panose="020B0004020202020204" pitchFamily="34" charset="0"/>
                        </a:rPr>
                        <a:t>Attendance-linked Pay (5)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defRPr sz="1100"/>
                      </a:pPr>
                      <a:endParaRPr lang="en-IN" sz="700">
                        <a:latin typeface="Aptos" panose="020B000402020202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defRPr sz="1100">
                          <a:solidFill>
                            <a:srgbClr val="C80000"/>
                          </a:solidFill>
                        </a:defRPr>
                      </a:pPr>
                      <a:endParaRPr lang="en-IN" sz="700">
                        <a:latin typeface="Aptos" panose="020B000402020202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defRPr sz="1100"/>
                      </a:pPr>
                      <a:endParaRPr lang="en-IN" sz="700">
                        <a:latin typeface="Aptos" panose="020B000402020202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2674">
                <a:tc>
                  <a:txBody>
                    <a:bodyPr/>
                    <a:lstStyle/>
                    <a:p>
                      <a:pPr lvl="0" algn="l">
                        <a:defRPr sz="1100"/>
                      </a:pPr>
                      <a:r>
                        <a:rPr lang="en-US" sz="700" b="1" i="0">
                          <a:solidFill>
                            <a:schemeClr val="tx2"/>
                          </a:solidFill>
                          <a:latin typeface="Aptos SemiBold" panose="020B0004020202020204" pitchFamily="34" charset="0"/>
                        </a:rPr>
                        <a:t>Recruitment Payments (2)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defRPr sz="1100">
                          <a:solidFill>
                            <a:srgbClr val="C80000"/>
                          </a:solidFill>
                        </a:defRPr>
                      </a:pPr>
                      <a:endParaRPr lang="en-IN" sz="700">
                        <a:latin typeface="Aptos" panose="020B000402020202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defRPr sz="1100"/>
                      </a:pPr>
                      <a:endParaRPr lang="en-IN" sz="700">
                        <a:latin typeface="Aptos" panose="020B000402020202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defRPr sz="1100"/>
                      </a:pPr>
                      <a:endParaRPr lang="en-IN" sz="700">
                        <a:latin typeface="Aptos" panose="020B000402020202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2674">
                <a:tc>
                  <a:txBody>
                    <a:bodyPr/>
                    <a:lstStyle/>
                    <a:p>
                      <a:pPr lvl="0" algn="l">
                        <a:defRPr sz="1100"/>
                      </a:pPr>
                      <a:r>
                        <a:rPr lang="en-US" sz="700" b="1" i="0">
                          <a:solidFill>
                            <a:schemeClr val="tx2"/>
                          </a:solidFill>
                          <a:latin typeface="Aptos SemiBold" panose="020B0004020202020204" pitchFamily="34" charset="0"/>
                        </a:rPr>
                        <a:t>FnF Settlement (5)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defRPr sz="1100"/>
                      </a:pPr>
                      <a:endParaRPr lang="en-IN" sz="700">
                        <a:latin typeface="Aptos" panose="020B000402020202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defRPr sz="1100"/>
                      </a:pPr>
                      <a:endParaRPr lang="en-IN" sz="700">
                        <a:latin typeface="Aptos" panose="020B000402020202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defRPr sz="1100">
                          <a:solidFill>
                            <a:srgbClr val="C80000"/>
                          </a:solidFill>
                        </a:defRPr>
                      </a:pPr>
                      <a:endParaRPr lang="en-IN" sz="700">
                        <a:latin typeface="Aptos" panose="020B000402020202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2674">
                <a:tc>
                  <a:txBody>
                    <a:bodyPr/>
                    <a:lstStyle/>
                    <a:p>
                      <a:pPr lvl="0" algn="l">
                        <a:defRPr sz="1100"/>
                      </a:pPr>
                      <a:r>
                        <a:rPr lang="en-US" sz="700" b="1" i="0">
                          <a:solidFill>
                            <a:schemeClr val="tx2"/>
                          </a:solidFill>
                          <a:latin typeface="Aptos SemiBold" panose="020B0004020202020204" pitchFamily="34" charset="0"/>
                        </a:rPr>
                        <a:t>Life Events / promo etc (9)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defRPr sz="1100"/>
                      </a:pPr>
                      <a:endParaRPr lang="en-IN" sz="700">
                        <a:latin typeface="Aptos" panose="020B000402020202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defRPr sz="1100"/>
                      </a:pPr>
                      <a:endParaRPr lang="en-IN" sz="700">
                        <a:latin typeface="Aptos" panose="020B000402020202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defRPr sz="1100">
                          <a:solidFill>
                            <a:srgbClr val="C80000"/>
                          </a:solidFill>
                        </a:defRPr>
                      </a:pPr>
                      <a:endParaRPr lang="en-IN" sz="700">
                        <a:latin typeface="Aptos" panose="020B000402020202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2674">
                <a:tc>
                  <a:txBody>
                    <a:bodyPr/>
                    <a:lstStyle/>
                    <a:p>
                      <a:pPr lvl="0" algn="l">
                        <a:defRPr sz="1100"/>
                      </a:pPr>
                      <a:r>
                        <a:rPr lang="en-US" sz="700" b="1" i="0">
                          <a:solidFill>
                            <a:schemeClr val="tx2"/>
                          </a:solidFill>
                          <a:latin typeface="Aptos SemiBold" panose="020B0004020202020204" pitchFamily="34" charset="0"/>
                        </a:rPr>
                        <a:t>FBP / Reimbursements (21)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defRPr sz="1100">
                          <a:solidFill>
                            <a:srgbClr val="008000"/>
                          </a:solidFill>
                        </a:defRPr>
                      </a:pPr>
                      <a:endParaRPr lang="en-IN" sz="700">
                        <a:latin typeface="Aptos" panose="020B000402020202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defRPr sz="1100">
                          <a:solidFill>
                            <a:srgbClr val="FF8C00"/>
                          </a:solidFill>
                        </a:defRPr>
                      </a:pPr>
                      <a:endParaRPr lang="en-IN" sz="700">
                        <a:latin typeface="Aptos" panose="020B000402020202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defRPr sz="1100"/>
                      </a:pPr>
                      <a:endParaRPr lang="en-IN" sz="700">
                        <a:latin typeface="Aptos" panose="020B000402020202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2674">
                <a:tc>
                  <a:txBody>
                    <a:bodyPr/>
                    <a:lstStyle/>
                    <a:p>
                      <a:pPr lvl="0" algn="l">
                        <a:defRPr sz="1100"/>
                      </a:pPr>
                      <a:r>
                        <a:rPr lang="en-US" sz="700" b="1" i="0">
                          <a:solidFill>
                            <a:schemeClr val="tx2"/>
                          </a:solidFill>
                          <a:latin typeface="Aptos SemiBold" panose="020B0004020202020204" pitchFamily="34" charset="0"/>
                        </a:rPr>
                        <a:t>People Strong Automated Benefits (15)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defRPr sz="1100">
                          <a:solidFill>
                            <a:srgbClr val="008000"/>
                          </a:solidFill>
                        </a:defRPr>
                      </a:pPr>
                      <a:endParaRPr lang="en-IN" sz="700">
                        <a:latin typeface="Aptos" panose="020B000402020202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defRPr sz="1100">
                          <a:solidFill>
                            <a:srgbClr val="008000"/>
                          </a:solidFill>
                        </a:defRPr>
                      </a:pPr>
                      <a:endParaRPr lang="en-IN" sz="700">
                        <a:latin typeface="Aptos" panose="020B000402020202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defRPr sz="1100"/>
                      </a:pPr>
                      <a:endParaRPr lang="en-IN" sz="700">
                        <a:latin typeface="Aptos" panose="020B000402020202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2674">
                <a:tc>
                  <a:txBody>
                    <a:bodyPr/>
                    <a:lstStyle/>
                    <a:p>
                      <a:pPr lvl="0" algn="l">
                        <a:defRPr sz="1100"/>
                      </a:pPr>
                      <a:r>
                        <a:rPr lang="en-US" sz="700" b="1" i="0">
                          <a:solidFill>
                            <a:schemeClr val="tx2"/>
                          </a:solidFill>
                          <a:latin typeface="Aptos SemiBold" panose="020B0004020202020204" pitchFamily="34" charset="0"/>
                        </a:rPr>
                        <a:t>Global Mobility / IBO (3)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defRPr sz="1100"/>
                      </a:pPr>
                      <a:endParaRPr lang="en-IN" sz="700">
                        <a:latin typeface="Aptos" panose="020B000402020202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defRPr sz="1100">
                          <a:solidFill>
                            <a:srgbClr val="FF8C00"/>
                          </a:solidFill>
                        </a:defRPr>
                      </a:pPr>
                      <a:endParaRPr lang="en-IN" sz="700">
                        <a:latin typeface="Aptos" panose="020B000402020202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defRPr sz="1100">
                          <a:solidFill>
                            <a:srgbClr val="C80000"/>
                          </a:solidFill>
                        </a:defRPr>
                      </a:pPr>
                      <a:endParaRPr lang="en-IN" sz="700">
                        <a:latin typeface="Aptos" panose="020B000402020202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2674">
                <a:tc>
                  <a:txBody>
                    <a:bodyPr/>
                    <a:lstStyle/>
                    <a:p>
                      <a:pPr lvl="0" algn="l">
                        <a:defRPr sz="1100"/>
                      </a:pPr>
                      <a:r>
                        <a:rPr lang="en-US" sz="700" b="1" i="0">
                          <a:solidFill>
                            <a:schemeClr val="tx2"/>
                          </a:solidFill>
                          <a:latin typeface="Aptos SemiBold" panose="020B0004020202020204" pitchFamily="34" charset="0"/>
                        </a:rPr>
                        <a:t>Benefits / Perqs (4)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defRPr sz="1100">
                          <a:solidFill>
                            <a:srgbClr val="008000"/>
                          </a:solidFill>
                        </a:defRPr>
                      </a:pPr>
                      <a:endParaRPr lang="en-IN" sz="700">
                        <a:latin typeface="Aptos" panose="020B000402020202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defRPr sz="1100">
                          <a:solidFill>
                            <a:srgbClr val="C80000"/>
                          </a:solidFill>
                        </a:defRPr>
                      </a:pPr>
                      <a:endParaRPr lang="en-IN" sz="700">
                        <a:latin typeface="Aptos" panose="020B000402020202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defRPr sz="1100"/>
                      </a:pPr>
                      <a:endParaRPr lang="en-IN" sz="700">
                        <a:latin typeface="Aptos" panose="020B000402020202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2674">
                <a:tc>
                  <a:txBody>
                    <a:bodyPr/>
                    <a:lstStyle/>
                    <a:p>
                      <a:pPr lvl="0" algn="l">
                        <a:defRPr sz="1100"/>
                      </a:pPr>
                      <a:r>
                        <a:rPr lang="en-US" sz="700" b="1" i="0">
                          <a:solidFill>
                            <a:schemeClr val="tx2"/>
                          </a:solidFill>
                          <a:latin typeface="Aptos SemiBold" panose="020B0004020202020204" pitchFamily="34" charset="0"/>
                        </a:rPr>
                        <a:t>Legal / Other (1)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defRPr sz="1100"/>
                      </a:pPr>
                      <a:endParaRPr lang="en-IN" sz="700">
                        <a:latin typeface="Aptos" panose="020B000402020202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defRPr sz="1100">
                          <a:solidFill>
                            <a:srgbClr val="C80000"/>
                          </a:solidFill>
                        </a:defRPr>
                      </a:pPr>
                      <a:endParaRPr lang="en-IN" sz="700">
                        <a:latin typeface="Aptos" panose="020B000402020202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defRPr sz="1100"/>
                      </a:pPr>
                      <a:endParaRPr lang="en-IN" sz="700">
                        <a:latin typeface="Aptos" panose="020B000402020202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grpSp>
        <p:nvGrpSpPr>
          <p:cNvPr id="28" name="Group 27">
            <a:extLst>
              <a:ext uri="{FF2B5EF4-FFF2-40B4-BE49-F238E27FC236}">
                <a16:creationId xmlns:a16="http://schemas.microsoft.com/office/drawing/2014/main" id="{637810F8-C338-9B70-A405-C5DE4C1CA29C}"/>
              </a:ext>
            </a:extLst>
          </p:cNvPr>
          <p:cNvGrpSpPr/>
          <p:nvPr/>
        </p:nvGrpSpPr>
        <p:grpSpPr>
          <a:xfrm>
            <a:off x="2518618" y="1193250"/>
            <a:ext cx="731520" cy="130759"/>
            <a:chOff x="1854200" y="5002154"/>
            <a:chExt cx="731520" cy="130759"/>
          </a:xfrm>
        </p:grpSpPr>
        <p:sp>
          <p:nvSpPr>
            <p:cNvPr id="29" name="Rounded Rectangle 28">
              <a:extLst>
                <a:ext uri="{FF2B5EF4-FFF2-40B4-BE49-F238E27FC236}">
                  <a16:creationId xmlns:a16="http://schemas.microsoft.com/office/drawing/2014/main" id="{CBE3F202-0556-C7B0-9FD6-7E44CB460D9B}"/>
                </a:ext>
              </a:extLst>
            </p:cNvPr>
            <p:cNvSpPr/>
            <p:nvPr/>
          </p:nvSpPr>
          <p:spPr>
            <a:xfrm>
              <a:off x="1854200" y="5002154"/>
              <a:ext cx="731520" cy="130759"/>
            </a:xfrm>
            <a:prstGeom prst="roundRect">
              <a:avLst>
                <a:gd name="adj" fmla="val 50000"/>
              </a:avLst>
            </a:prstGeom>
            <a:solidFill>
              <a:srgbClr val="56C59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BB656E6E-2A58-BA4C-1D65-083CEBE3EDC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95385" y="5027331"/>
              <a:ext cx="80405" cy="80405"/>
            </a:xfrm>
            <a:prstGeom prst="rect">
              <a:avLst/>
            </a:prstGeom>
          </p:spPr>
        </p:pic>
        <p:sp>
          <p:nvSpPr>
            <p:cNvPr id="35" name="Text 25">
              <a:extLst>
                <a:ext uri="{FF2B5EF4-FFF2-40B4-BE49-F238E27FC236}">
                  <a16:creationId xmlns:a16="http://schemas.microsoft.com/office/drawing/2014/main" id="{BDC9856B-6B8F-0110-E86C-BA8E824CE3A8}"/>
                </a:ext>
              </a:extLst>
            </p:cNvPr>
            <p:cNvSpPr/>
            <p:nvPr/>
          </p:nvSpPr>
          <p:spPr>
            <a:xfrm>
              <a:off x="2001391" y="5012711"/>
              <a:ext cx="366575" cy="10964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872"/>
                </a:lnSpc>
                <a:buNone/>
              </a:pPr>
              <a:r>
                <a:rPr lang="en-US" sz="600" b="1" kern="0" spc="19">
                  <a:solidFill>
                    <a:schemeClr val="bg1"/>
                  </a:solidFill>
                  <a:latin typeface="Nunito Sans Normal" pitchFamily="2" charset="77"/>
                  <a:ea typeface="Inter"/>
                  <a:cs typeface="Inter" pitchFamily="34" charset="-120"/>
                </a:rPr>
                <a:t>Auto (36)</a:t>
              </a:r>
              <a:endParaRPr lang="en-US" sz="600" b="1">
                <a:solidFill>
                  <a:schemeClr val="bg1"/>
                </a:solidFill>
                <a:latin typeface="Nunito Sans Normal" pitchFamily="2" charset="77"/>
                <a:ea typeface="Inter"/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0C97A061-0404-4F49-242D-3C2241CF367F}"/>
              </a:ext>
            </a:extLst>
          </p:cNvPr>
          <p:cNvGrpSpPr/>
          <p:nvPr/>
        </p:nvGrpSpPr>
        <p:grpSpPr>
          <a:xfrm>
            <a:off x="2518618" y="1415841"/>
            <a:ext cx="731520" cy="130759"/>
            <a:chOff x="1854200" y="4711630"/>
            <a:chExt cx="731520" cy="130759"/>
          </a:xfrm>
        </p:grpSpPr>
        <p:sp>
          <p:nvSpPr>
            <p:cNvPr id="37" name="Rounded Rectangle 36">
              <a:extLst>
                <a:ext uri="{FF2B5EF4-FFF2-40B4-BE49-F238E27FC236}">
                  <a16:creationId xmlns:a16="http://schemas.microsoft.com/office/drawing/2014/main" id="{18004731-07ED-6E17-4009-89C409ED4299}"/>
                </a:ext>
              </a:extLst>
            </p:cNvPr>
            <p:cNvSpPr/>
            <p:nvPr/>
          </p:nvSpPr>
          <p:spPr>
            <a:xfrm>
              <a:off x="1854200" y="4711630"/>
              <a:ext cx="731520" cy="130759"/>
            </a:xfrm>
            <a:prstGeom prst="roundRect">
              <a:avLst>
                <a:gd name="adj" fmla="val 50000"/>
              </a:avLst>
            </a:prstGeom>
            <a:solidFill>
              <a:srgbClr val="FF7B8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6E13E5CB-0F96-021C-5B31-DAA4FB3B479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895385" y="4736807"/>
              <a:ext cx="80405" cy="80405"/>
            </a:xfrm>
            <a:prstGeom prst="rect">
              <a:avLst/>
            </a:prstGeom>
          </p:spPr>
        </p:pic>
        <p:sp>
          <p:nvSpPr>
            <p:cNvPr id="39" name="Text 25">
              <a:extLst>
                <a:ext uri="{FF2B5EF4-FFF2-40B4-BE49-F238E27FC236}">
                  <a16:creationId xmlns:a16="http://schemas.microsoft.com/office/drawing/2014/main" id="{5F066F77-C0C8-883F-BBC6-81BA736A14C5}"/>
                </a:ext>
              </a:extLst>
            </p:cNvPr>
            <p:cNvSpPr/>
            <p:nvPr/>
          </p:nvSpPr>
          <p:spPr>
            <a:xfrm>
              <a:off x="2001391" y="4722187"/>
              <a:ext cx="459613" cy="10964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872"/>
                </a:lnSpc>
                <a:buNone/>
              </a:pPr>
              <a:r>
                <a:rPr lang="en-US" sz="600" b="1" kern="0" spc="19">
                  <a:solidFill>
                    <a:schemeClr val="bg1"/>
                  </a:solidFill>
                  <a:latin typeface="Nunito Sans Normal" pitchFamily="2" charset="77"/>
                  <a:ea typeface="Inter"/>
                  <a:cs typeface="Inter" pitchFamily="34" charset="-120"/>
                </a:rPr>
                <a:t>Manual (12)</a:t>
              </a:r>
              <a:endParaRPr lang="en-US" sz="600" b="1">
                <a:solidFill>
                  <a:schemeClr val="bg1"/>
                </a:solidFill>
                <a:latin typeface="Nunito Sans Normal" pitchFamily="2" charset="77"/>
                <a:ea typeface="Inter"/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5ABCBC58-C45F-679E-0FB5-D4BAEDBA8E4E}"/>
              </a:ext>
            </a:extLst>
          </p:cNvPr>
          <p:cNvGrpSpPr/>
          <p:nvPr/>
        </p:nvGrpSpPr>
        <p:grpSpPr>
          <a:xfrm>
            <a:off x="2518618" y="2087915"/>
            <a:ext cx="731520" cy="130759"/>
            <a:chOff x="1854200" y="5002154"/>
            <a:chExt cx="731520" cy="130759"/>
          </a:xfrm>
        </p:grpSpPr>
        <p:sp>
          <p:nvSpPr>
            <p:cNvPr id="41" name="Rounded Rectangle 40">
              <a:extLst>
                <a:ext uri="{FF2B5EF4-FFF2-40B4-BE49-F238E27FC236}">
                  <a16:creationId xmlns:a16="http://schemas.microsoft.com/office/drawing/2014/main" id="{1670DF1D-7EE7-3E4F-422A-D46F57727D40}"/>
                </a:ext>
              </a:extLst>
            </p:cNvPr>
            <p:cNvSpPr/>
            <p:nvPr/>
          </p:nvSpPr>
          <p:spPr>
            <a:xfrm>
              <a:off x="1854200" y="5002154"/>
              <a:ext cx="731520" cy="130759"/>
            </a:xfrm>
            <a:prstGeom prst="roundRect">
              <a:avLst>
                <a:gd name="adj" fmla="val 50000"/>
              </a:avLst>
            </a:prstGeom>
            <a:solidFill>
              <a:srgbClr val="56C59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D274454E-F455-6B2C-C077-8F35CBED0A9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95385" y="5027331"/>
              <a:ext cx="80405" cy="80405"/>
            </a:xfrm>
            <a:prstGeom prst="rect">
              <a:avLst/>
            </a:prstGeom>
          </p:spPr>
        </p:pic>
        <p:sp>
          <p:nvSpPr>
            <p:cNvPr id="43" name="Text 25">
              <a:extLst>
                <a:ext uri="{FF2B5EF4-FFF2-40B4-BE49-F238E27FC236}">
                  <a16:creationId xmlns:a16="http://schemas.microsoft.com/office/drawing/2014/main" id="{D14AEA19-31CA-329B-0097-0D8982E14D85}"/>
                </a:ext>
              </a:extLst>
            </p:cNvPr>
            <p:cNvSpPr/>
            <p:nvPr/>
          </p:nvSpPr>
          <p:spPr>
            <a:xfrm>
              <a:off x="2001391" y="5012711"/>
              <a:ext cx="317651" cy="10964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872"/>
                </a:lnSpc>
                <a:buNone/>
              </a:pPr>
              <a:r>
                <a:rPr lang="en-US" sz="600" b="1" kern="0" spc="19">
                  <a:solidFill>
                    <a:schemeClr val="bg1"/>
                  </a:solidFill>
                  <a:latin typeface="Nunito Sans Normal" pitchFamily="2" charset="77"/>
                  <a:ea typeface="Inter"/>
                  <a:cs typeface="Inter" pitchFamily="34" charset="-120"/>
                </a:rPr>
                <a:t>Auto (2)</a:t>
              </a:r>
              <a:endParaRPr lang="en-US" sz="600" b="1">
                <a:solidFill>
                  <a:schemeClr val="bg1"/>
                </a:solidFill>
                <a:latin typeface="Nunito Sans Normal" pitchFamily="2" charset="77"/>
                <a:ea typeface="Inter"/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B125BEBA-041B-A1D0-9233-E9CE20E23536}"/>
              </a:ext>
            </a:extLst>
          </p:cNvPr>
          <p:cNvGrpSpPr/>
          <p:nvPr/>
        </p:nvGrpSpPr>
        <p:grpSpPr>
          <a:xfrm>
            <a:off x="2518618" y="2311581"/>
            <a:ext cx="731520" cy="130759"/>
            <a:chOff x="1854200" y="5002154"/>
            <a:chExt cx="731520" cy="130759"/>
          </a:xfrm>
        </p:grpSpPr>
        <p:sp>
          <p:nvSpPr>
            <p:cNvPr id="45" name="Rounded Rectangle 44">
              <a:extLst>
                <a:ext uri="{FF2B5EF4-FFF2-40B4-BE49-F238E27FC236}">
                  <a16:creationId xmlns:a16="http://schemas.microsoft.com/office/drawing/2014/main" id="{EF83F225-4451-C91E-2BFB-597F52DCA4AD}"/>
                </a:ext>
              </a:extLst>
            </p:cNvPr>
            <p:cNvSpPr/>
            <p:nvPr/>
          </p:nvSpPr>
          <p:spPr>
            <a:xfrm>
              <a:off x="1854200" y="5002154"/>
              <a:ext cx="731520" cy="130759"/>
            </a:xfrm>
            <a:prstGeom prst="roundRect">
              <a:avLst>
                <a:gd name="adj" fmla="val 50000"/>
              </a:avLst>
            </a:prstGeom>
            <a:solidFill>
              <a:srgbClr val="56C59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4DA0AA3D-72A9-F1C0-82B8-03151D4167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95385" y="5027331"/>
              <a:ext cx="80405" cy="80405"/>
            </a:xfrm>
            <a:prstGeom prst="rect">
              <a:avLst/>
            </a:prstGeom>
          </p:spPr>
        </p:pic>
        <p:sp>
          <p:nvSpPr>
            <p:cNvPr id="47" name="Text 25">
              <a:extLst>
                <a:ext uri="{FF2B5EF4-FFF2-40B4-BE49-F238E27FC236}">
                  <a16:creationId xmlns:a16="http://schemas.microsoft.com/office/drawing/2014/main" id="{4A160354-5683-B3DE-1CB3-85D1AB208199}"/>
                </a:ext>
              </a:extLst>
            </p:cNvPr>
            <p:cNvSpPr/>
            <p:nvPr/>
          </p:nvSpPr>
          <p:spPr>
            <a:xfrm>
              <a:off x="2001391" y="5012711"/>
              <a:ext cx="317651" cy="10964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872"/>
                </a:lnSpc>
                <a:buNone/>
              </a:pPr>
              <a:r>
                <a:rPr lang="en-US" sz="600" b="1" kern="0" spc="19">
                  <a:solidFill>
                    <a:schemeClr val="bg1"/>
                  </a:solidFill>
                  <a:latin typeface="Nunito Sans Normal" pitchFamily="2" charset="77"/>
                  <a:ea typeface="Inter"/>
                  <a:cs typeface="Inter" pitchFamily="34" charset="-120"/>
                </a:rPr>
                <a:t>Auto (4)</a:t>
              </a:r>
              <a:endParaRPr lang="en-US" sz="600" b="1">
                <a:solidFill>
                  <a:schemeClr val="bg1"/>
                </a:solidFill>
                <a:latin typeface="Nunito Sans Normal" pitchFamily="2" charset="77"/>
                <a:ea typeface="Inter"/>
              </a:endParaRP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F664CFE-AA1F-3F22-B606-20D63F31F849}"/>
              </a:ext>
            </a:extLst>
          </p:cNvPr>
          <p:cNvGrpSpPr/>
          <p:nvPr/>
        </p:nvGrpSpPr>
        <p:grpSpPr>
          <a:xfrm>
            <a:off x="2518618" y="2974926"/>
            <a:ext cx="731520" cy="130759"/>
            <a:chOff x="1854200" y="4711630"/>
            <a:chExt cx="731520" cy="130759"/>
          </a:xfrm>
        </p:grpSpPr>
        <p:sp>
          <p:nvSpPr>
            <p:cNvPr id="49" name="Rounded Rectangle 48">
              <a:extLst>
                <a:ext uri="{FF2B5EF4-FFF2-40B4-BE49-F238E27FC236}">
                  <a16:creationId xmlns:a16="http://schemas.microsoft.com/office/drawing/2014/main" id="{AA2941C1-F303-251E-F17D-FA6F5E893EBF}"/>
                </a:ext>
              </a:extLst>
            </p:cNvPr>
            <p:cNvSpPr/>
            <p:nvPr/>
          </p:nvSpPr>
          <p:spPr>
            <a:xfrm>
              <a:off x="1854200" y="4711630"/>
              <a:ext cx="731520" cy="130759"/>
            </a:xfrm>
            <a:prstGeom prst="roundRect">
              <a:avLst>
                <a:gd name="adj" fmla="val 50000"/>
              </a:avLst>
            </a:prstGeom>
            <a:solidFill>
              <a:srgbClr val="FF7B8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E8A6450A-B824-0CEC-64B6-A4DE19F040E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895385" y="4736807"/>
              <a:ext cx="80405" cy="80405"/>
            </a:xfrm>
            <a:prstGeom prst="rect">
              <a:avLst/>
            </a:prstGeom>
          </p:spPr>
        </p:pic>
        <p:sp>
          <p:nvSpPr>
            <p:cNvPr id="51" name="Text 25">
              <a:extLst>
                <a:ext uri="{FF2B5EF4-FFF2-40B4-BE49-F238E27FC236}">
                  <a16:creationId xmlns:a16="http://schemas.microsoft.com/office/drawing/2014/main" id="{688EB8BA-E5B6-3F95-C125-4E05EF0DDEFE}"/>
                </a:ext>
              </a:extLst>
            </p:cNvPr>
            <p:cNvSpPr/>
            <p:nvPr/>
          </p:nvSpPr>
          <p:spPr>
            <a:xfrm>
              <a:off x="2001391" y="4722187"/>
              <a:ext cx="410690" cy="10964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872"/>
                </a:lnSpc>
                <a:buNone/>
              </a:pPr>
              <a:r>
                <a:rPr lang="en-US" sz="600" b="1" kern="0" spc="19">
                  <a:solidFill>
                    <a:schemeClr val="bg1"/>
                  </a:solidFill>
                  <a:latin typeface="Nunito Sans Normal" pitchFamily="2" charset="77"/>
                  <a:ea typeface="Inter"/>
                  <a:cs typeface="Inter" pitchFamily="34" charset="-120"/>
                </a:rPr>
                <a:t>Manual (2)</a:t>
              </a:r>
              <a:endParaRPr lang="en-US" sz="600" b="1">
                <a:solidFill>
                  <a:schemeClr val="bg1"/>
                </a:solidFill>
                <a:latin typeface="Nunito Sans Normal" pitchFamily="2" charset="77"/>
                <a:ea typeface="Inter"/>
              </a:endParaRP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F43A5715-3B3A-5F32-9C2B-F33011A83559}"/>
              </a:ext>
            </a:extLst>
          </p:cNvPr>
          <p:cNvGrpSpPr/>
          <p:nvPr/>
        </p:nvGrpSpPr>
        <p:grpSpPr>
          <a:xfrm>
            <a:off x="2518618" y="3647001"/>
            <a:ext cx="731520" cy="130759"/>
            <a:chOff x="1854200" y="5002154"/>
            <a:chExt cx="731520" cy="130759"/>
          </a:xfrm>
        </p:grpSpPr>
        <p:sp>
          <p:nvSpPr>
            <p:cNvPr id="53" name="Rounded Rectangle 52">
              <a:extLst>
                <a:ext uri="{FF2B5EF4-FFF2-40B4-BE49-F238E27FC236}">
                  <a16:creationId xmlns:a16="http://schemas.microsoft.com/office/drawing/2014/main" id="{5035311E-3429-B35E-0F2F-18DE5F762AB8}"/>
                </a:ext>
              </a:extLst>
            </p:cNvPr>
            <p:cNvSpPr/>
            <p:nvPr/>
          </p:nvSpPr>
          <p:spPr>
            <a:xfrm>
              <a:off x="1854200" y="5002154"/>
              <a:ext cx="731520" cy="130759"/>
            </a:xfrm>
            <a:prstGeom prst="roundRect">
              <a:avLst>
                <a:gd name="adj" fmla="val 50000"/>
              </a:avLst>
            </a:prstGeom>
            <a:solidFill>
              <a:srgbClr val="56C59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E2738686-E719-875B-3EF9-A66AAB2B851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95385" y="5027331"/>
              <a:ext cx="80405" cy="80405"/>
            </a:xfrm>
            <a:prstGeom prst="rect">
              <a:avLst/>
            </a:prstGeom>
          </p:spPr>
        </p:pic>
        <p:sp>
          <p:nvSpPr>
            <p:cNvPr id="55" name="Text 25">
              <a:extLst>
                <a:ext uri="{FF2B5EF4-FFF2-40B4-BE49-F238E27FC236}">
                  <a16:creationId xmlns:a16="http://schemas.microsoft.com/office/drawing/2014/main" id="{D8B049DC-E665-F316-7040-91EBABD8D64C}"/>
                </a:ext>
              </a:extLst>
            </p:cNvPr>
            <p:cNvSpPr/>
            <p:nvPr/>
          </p:nvSpPr>
          <p:spPr>
            <a:xfrm>
              <a:off x="2001391" y="5012711"/>
              <a:ext cx="366575" cy="10964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872"/>
                </a:lnSpc>
                <a:buNone/>
              </a:pPr>
              <a:r>
                <a:rPr lang="en-US" sz="600" b="1" kern="0" spc="19">
                  <a:solidFill>
                    <a:schemeClr val="bg1"/>
                  </a:solidFill>
                  <a:latin typeface="Nunito Sans Normal" pitchFamily="2" charset="77"/>
                  <a:ea typeface="Inter"/>
                  <a:cs typeface="Inter" pitchFamily="34" charset="-120"/>
                </a:rPr>
                <a:t>Auto (10)</a:t>
              </a:r>
              <a:endParaRPr lang="en-US" sz="600" b="1">
                <a:solidFill>
                  <a:schemeClr val="bg1"/>
                </a:solidFill>
                <a:latin typeface="Nunito Sans Normal" pitchFamily="2" charset="77"/>
                <a:ea typeface="Inter"/>
              </a:endParaRP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AB795821-C72E-FCD6-7212-6AD35F804DB2}"/>
              </a:ext>
            </a:extLst>
          </p:cNvPr>
          <p:cNvGrpSpPr/>
          <p:nvPr/>
        </p:nvGrpSpPr>
        <p:grpSpPr>
          <a:xfrm>
            <a:off x="2518618" y="3870668"/>
            <a:ext cx="731520" cy="130759"/>
            <a:chOff x="1854200" y="5002154"/>
            <a:chExt cx="731520" cy="130759"/>
          </a:xfrm>
        </p:grpSpPr>
        <p:sp>
          <p:nvSpPr>
            <p:cNvPr id="57" name="Rounded Rectangle 56">
              <a:extLst>
                <a:ext uri="{FF2B5EF4-FFF2-40B4-BE49-F238E27FC236}">
                  <a16:creationId xmlns:a16="http://schemas.microsoft.com/office/drawing/2014/main" id="{FFA2D8A2-514C-C5F1-06F3-C2C93A3DE950}"/>
                </a:ext>
              </a:extLst>
            </p:cNvPr>
            <p:cNvSpPr/>
            <p:nvPr/>
          </p:nvSpPr>
          <p:spPr>
            <a:xfrm>
              <a:off x="1854200" y="5002154"/>
              <a:ext cx="731520" cy="130759"/>
            </a:xfrm>
            <a:prstGeom prst="roundRect">
              <a:avLst>
                <a:gd name="adj" fmla="val 50000"/>
              </a:avLst>
            </a:prstGeom>
            <a:solidFill>
              <a:srgbClr val="56C59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22BF529A-8EA1-75DC-F36E-DD07E14D42B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95385" y="5027331"/>
              <a:ext cx="80405" cy="80405"/>
            </a:xfrm>
            <a:prstGeom prst="rect">
              <a:avLst/>
            </a:prstGeom>
          </p:spPr>
        </p:pic>
        <p:sp>
          <p:nvSpPr>
            <p:cNvPr id="59" name="Text 25">
              <a:extLst>
                <a:ext uri="{FF2B5EF4-FFF2-40B4-BE49-F238E27FC236}">
                  <a16:creationId xmlns:a16="http://schemas.microsoft.com/office/drawing/2014/main" id="{5F77021C-18BC-27FC-C6DD-7391F75B8157}"/>
                </a:ext>
              </a:extLst>
            </p:cNvPr>
            <p:cNvSpPr/>
            <p:nvPr/>
          </p:nvSpPr>
          <p:spPr>
            <a:xfrm>
              <a:off x="2001391" y="5012711"/>
              <a:ext cx="366575" cy="10964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872"/>
                </a:lnSpc>
                <a:buNone/>
              </a:pPr>
              <a:r>
                <a:rPr lang="en-US" sz="600" b="1" kern="0" spc="19">
                  <a:solidFill>
                    <a:schemeClr val="bg1"/>
                  </a:solidFill>
                  <a:latin typeface="Nunito Sans Normal" pitchFamily="2" charset="77"/>
                  <a:ea typeface="Inter"/>
                  <a:cs typeface="Inter" pitchFamily="34" charset="-120"/>
                </a:rPr>
                <a:t>Auto (15)</a:t>
              </a:r>
              <a:endParaRPr lang="en-US" sz="600" b="1">
                <a:solidFill>
                  <a:schemeClr val="bg1"/>
                </a:solidFill>
                <a:latin typeface="Nunito Sans Normal" pitchFamily="2" charset="77"/>
                <a:ea typeface="Inter"/>
              </a:endParaRP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1592FF30-A078-4E99-E35C-1CD483FFC3BF}"/>
              </a:ext>
            </a:extLst>
          </p:cNvPr>
          <p:cNvGrpSpPr/>
          <p:nvPr/>
        </p:nvGrpSpPr>
        <p:grpSpPr>
          <a:xfrm>
            <a:off x="2518618" y="4311423"/>
            <a:ext cx="731520" cy="130759"/>
            <a:chOff x="1854200" y="5002154"/>
            <a:chExt cx="731520" cy="130759"/>
          </a:xfrm>
        </p:grpSpPr>
        <p:sp>
          <p:nvSpPr>
            <p:cNvPr id="61" name="Rounded Rectangle 60">
              <a:extLst>
                <a:ext uri="{FF2B5EF4-FFF2-40B4-BE49-F238E27FC236}">
                  <a16:creationId xmlns:a16="http://schemas.microsoft.com/office/drawing/2014/main" id="{30973396-C8A4-B814-40C6-83CE598AE220}"/>
                </a:ext>
              </a:extLst>
            </p:cNvPr>
            <p:cNvSpPr/>
            <p:nvPr/>
          </p:nvSpPr>
          <p:spPr>
            <a:xfrm>
              <a:off x="1854200" y="5002154"/>
              <a:ext cx="731520" cy="130759"/>
            </a:xfrm>
            <a:prstGeom prst="roundRect">
              <a:avLst>
                <a:gd name="adj" fmla="val 50000"/>
              </a:avLst>
            </a:prstGeom>
            <a:solidFill>
              <a:srgbClr val="56C59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5A620DAD-CC9A-8C44-B13D-678914278A9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95385" y="5027331"/>
              <a:ext cx="80405" cy="80405"/>
            </a:xfrm>
            <a:prstGeom prst="rect">
              <a:avLst/>
            </a:prstGeom>
          </p:spPr>
        </p:pic>
        <p:sp>
          <p:nvSpPr>
            <p:cNvPr id="63" name="Text 25">
              <a:extLst>
                <a:ext uri="{FF2B5EF4-FFF2-40B4-BE49-F238E27FC236}">
                  <a16:creationId xmlns:a16="http://schemas.microsoft.com/office/drawing/2014/main" id="{EA1F5940-89A0-7689-2BB0-99D4D2C6F7EC}"/>
                </a:ext>
              </a:extLst>
            </p:cNvPr>
            <p:cNvSpPr/>
            <p:nvPr/>
          </p:nvSpPr>
          <p:spPr>
            <a:xfrm>
              <a:off x="2001391" y="5012711"/>
              <a:ext cx="317651" cy="10964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872"/>
                </a:lnSpc>
                <a:buNone/>
              </a:pPr>
              <a:r>
                <a:rPr lang="en-US" sz="600" b="1" kern="0" spc="19">
                  <a:solidFill>
                    <a:schemeClr val="bg1"/>
                  </a:solidFill>
                  <a:latin typeface="Nunito Sans Normal" pitchFamily="2" charset="77"/>
                  <a:ea typeface="Inter"/>
                  <a:cs typeface="Inter" pitchFamily="34" charset="-120"/>
                </a:rPr>
                <a:t>Auto (1)</a:t>
              </a:r>
              <a:endParaRPr lang="en-US" sz="600" b="1">
                <a:solidFill>
                  <a:schemeClr val="bg1"/>
                </a:solidFill>
                <a:latin typeface="Nunito Sans Normal" pitchFamily="2" charset="77"/>
                <a:ea typeface="Inter"/>
              </a:endParaRPr>
            </a:p>
          </p:txBody>
        </p:sp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DD664AA8-19EA-F136-FC4A-E62D37754EAD}"/>
              </a:ext>
            </a:extLst>
          </p:cNvPr>
          <p:cNvGrpSpPr/>
          <p:nvPr/>
        </p:nvGrpSpPr>
        <p:grpSpPr>
          <a:xfrm>
            <a:off x="4682916" y="1193250"/>
            <a:ext cx="731520" cy="130759"/>
            <a:chOff x="1854200" y="5002154"/>
            <a:chExt cx="731520" cy="130759"/>
          </a:xfrm>
        </p:grpSpPr>
        <p:sp>
          <p:nvSpPr>
            <p:cNvPr id="130" name="Rounded Rectangle 129">
              <a:extLst>
                <a:ext uri="{FF2B5EF4-FFF2-40B4-BE49-F238E27FC236}">
                  <a16:creationId xmlns:a16="http://schemas.microsoft.com/office/drawing/2014/main" id="{612DE105-D899-94C8-A2A1-A212D231B06F}"/>
                </a:ext>
              </a:extLst>
            </p:cNvPr>
            <p:cNvSpPr/>
            <p:nvPr/>
          </p:nvSpPr>
          <p:spPr>
            <a:xfrm>
              <a:off x="1854200" y="5002154"/>
              <a:ext cx="731520" cy="130759"/>
            </a:xfrm>
            <a:prstGeom prst="roundRect">
              <a:avLst>
                <a:gd name="adj" fmla="val 50000"/>
              </a:avLst>
            </a:prstGeom>
            <a:solidFill>
              <a:srgbClr val="56C59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1" name="Picture 130">
              <a:extLst>
                <a:ext uri="{FF2B5EF4-FFF2-40B4-BE49-F238E27FC236}">
                  <a16:creationId xmlns:a16="http://schemas.microsoft.com/office/drawing/2014/main" id="{35640F29-3C53-6F92-13AD-D78AD89E91A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95385" y="5027331"/>
              <a:ext cx="80405" cy="80405"/>
            </a:xfrm>
            <a:prstGeom prst="rect">
              <a:avLst/>
            </a:prstGeom>
          </p:spPr>
        </p:pic>
        <p:sp>
          <p:nvSpPr>
            <p:cNvPr id="132" name="Text 25">
              <a:extLst>
                <a:ext uri="{FF2B5EF4-FFF2-40B4-BE49-F238E27FC236}">
                  <a16:creationId xmlns:a16="http://schemas.microsoft.com/office/drawing/2014/main" id="{BFADF978-9A99-9966-5AD3-57839CBCE72B}"/>
                </a:ext>
              </a:extLst>
            </p:cNvPr>
            <p:cNvSpPr/>
            <p:nvPr/>
          </p:nvSpPr>
          <p:spPr>
            <a:xfrm>
              <a:off x="2001391" y="5012711"/>
              <a:ext cx="209353" cy="10964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872"/>
                </a:lnSpc>
                <a:buNone/>
              </a:pPr>
              <a:r>
                <a:rPr lang="en-US" sz="600" b="1" kern="0" spc="19">
                  <a:solidFill>
                    <a:schemeClr val="bg1"/>
                  </a:solidFill>
                  <a:latin typeface="Nunito Sans Normal" pitchFamily="2" charset="77"/>
                  <a:ea typeface="Inter"/>
                  <a:cs typeface="Inter" pitchFamily="34" charset="-120"/>
                </a:rPr>
                <a:t>Auto </a:t>
              </a:r>
              <a:endParaRPr lang="en-US" sz="600" b="1">
                <a:solidFill>
                  <a:schemeClr val="bg1"/>
                </a:solidFill>
                <a:latin typeface="Nunito Sans Normal" pitchFamily="2" charset="77"/>
                <a:ea typeface="Inter"/>
              </a:endParaRPr>
            </a:p>
          </p:txBody>
        </p:sp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9B8A9004-D51A-6AE8-F276-CDE5A7FBC21E}"/>
              </a:ext>
            </a:extLst>
          </p:cNvPr>
          <p:cNvGrpSpPr/>
          <p:nvPr/>
        </p:nvGrpSpPr>
        <p:grpSpPr>
          <a:xfrm>
            <a:off x="4682916" y="1415841"/>
            <a:ext cx="731520" cy="130759"/>
            <a:chOff x="1854200" y="4711630"/>
            <a:chExt cx="731520" cy="130759"/>
          </a:xfrm>
        </p:grpSpPr>
        <p:sp>
          <p:nvSpPr>
            <p:cNvPr id="134" name="Rounded Rectangle 133">
              <a:extLst>
                <a:ext uri="{FF2B5EF4-FFF2-40B4-BE49-F238E27FC236}">
                  <a16:creationId xmlns:a16="http://schemas.microsoft.com/office/drawing/2014/main" id="{F2CEFB2D-3D5A-0279-4A7B-E4D5386554BF}"/>
                </a:ext>
              </a:extLst>
            </p:cNvPr>
            <p:cNvSpPr/>
            <p:nvPr/>
          </p:nvSpPr>
          <p:spPr>
            <a:xfrm>
              <a:off x="1854200" y="4711630"/>
              <a:ext cx="731520" cy="130759"/>
            </a:xfrm>
            <a:prstGeom prst="roundRect">
              <a:avLst>
                <a:gd name="adj" fmla="val 50000"/>
              </a:avLst>
            </a:prstGeom>
            <a:solidFill>
              <a:srgbClr val="FF7B8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5" name="Picture 134">
              <a:extLst>
                <a:ext uri="{FF2B5EF4-FFF2-40B4-BE49-F238E27FC236}">
                  <a16:creationId xmlns:a16="http://schemas.microsoft.com/office/drawing/2014/main" id="{4769637E-0B08-7228-C041-23136FB0805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895385" y="4736807"/>
              <a:ext cx="80405" cy="80405"/>
            </a:xfrm>
            <a:prstGeom prst="rect">
              <a:avLst/>
            </a:prstGeom>
          </p:spPr>
        </p:pic>
        <p:sp>
          <p:nvSpPr>
            <p:cNvPr id="136" name="Text 25">
              <a:extLst>
                <a:ext uri="{FF2B5EF4-FFF2-40B4-BE49-F238E27FC236}">
                  <a16:creationId xmlns:a16="http://schemas.microsoft.com/office/drawing/2014/main" id="{785DA884-3DBB-9684-DC35-EFD1BA21FA23}"/>
                </a:ext>
              </a:extLst>
            </p:cNvPr>
            <p:cNvSpPr/>
            <p:nvPr/>
          </p:nvSpPr>
          <p:spPr>
            <a:xfrm>
              <a:off x="2001391" y="4722187"/>
              <a:ext cx="285527" cy="10964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872"/>
                </a:lnSpc>
                <a:buNone/>
              </a:pPr>
              <a:r>
                <a:rPr lang="en-US" sz="600" b="1" kern="0" spc="19">
                  <a:solidFill>
                    <a:schemeClr val="bg1"/>
                  </a:solidFill>
                  <a:latin typeface="Nunito Sans Normal" pitchFamily="2" charset="77"/>
                  <a:ea typeface="Inter"/>
                  <a:cs typeface="Inter" pitchFamily="34" charset="-120"/>
                </a:rPr>
                <a:t>Manual</a:t>
              </a:r>
              <a:endParaRPr lang="en-US" sz="600" b="1">
                <a:solidFill>
                  <a:schemeClr val="bg1"/>
                </a:solidFill>
                <a:latin typeface="Nunito Sans Normal" pitchFamily="2" charset="77"/>
                <a:ea typeface="Inter"/>
              </a:endParaRPr>
            </a:p>
          </p:txBody>
        </p:sp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2B4C3BBA-EC4E-F4E3-8F3A-BD199B9E7965}"/>
              </a:ext>
            </a:extLst>
          </p:cNvPr>
          <p:cNvGrpSpPr/>
          <p:nvPr/>
        </p:nvGrpSpPr>
        <p:grpSpPr>
          <a:xfrm>
            <a:off x="6834058" y="1193250"/>
            <a:ext cx="731520" cy="130759"/>
            <a:chOff x="1854200" y="5002154"/>
            <a:chExt cx="731520" cy="130759"/>
          </a:xfrm>
        </p:grpSpPr>
        <p:sp>
          <p:nvSpPr>
            <p:cNvPr id="139" name="Rounded Rectangle 138">
              <a:extLst>
                <a:ext uri="{FF2B5EF4-FFF2-40B4-BE49-F238E27FC236}">
                  <a16:creationId xmlns:a16="http://schemas.microsoft.com/office/drawing/2014/main" id="{CD9A8293-CA96-1571-CDCA-D764CC866C27}"/>
                </a:ext>
              </a:extLst>
            </p:cNvPr>
            <p:cNvSpPr/>
            <p:nvPr/>
          </p:nvSpPr>
          <p:spPr>
            <a:xfrm>
              <a:off x="1854200" y="5002154"/>
              <a:ext cx="731520" cy="130759"/>
            </a:xfrm>
            <a:prstGeom prst="roundRect">
              <a:avLst>
                <a:gd name="adj" fmla="val 50000"/>
              </a:avLst>
            </a:prstGeom>
            <a:solidFill>
              <a:srgbClr val="56C59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40" name="Picture 139">
              <a:extLst>
                <a:ext uri="{FF2B5EF4-FFF2-40B4-BE49-F238E27FC236}">
                  <a16:creationId xmlns:a16="http://schemas.microsoft.com/office/drawing/2014/main" id="{8F05BAFE-0E85-EEA6-51F3-1A7D78EE2D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95385" y="5027331"/>
              <a:ext cx="80405" cy="80405"/>
            </a:xfrm>
            <a:prstGeom prst="rect">
              <a:avLst/>
            </a:prstGeom>
          </p:spPr>
        </p:pic>
        <p:sp>
          <p:nvSpPr>
            <p:cNvPr id="141" name="Text 25">
              <a:extLst>
                <a:ext uri="{FF2B5EF4-FFF2-40B4-BE49-F238E27FC236}">
                  <a16:creationId xmlns:a16="http://schemas.microsoft.com/office/drawing/2014/main" id="{F17B1B54-F7C7-B1C0-96A4-392DB0964CBF}"/>
                </a:ext>
              </a:extLst>
            </p:cNvPr>
            <p:cNvSpPr/>
            <p:nvPr/>
          </p:nvSpPr>
          <p:spPr>
            <a:xfrm>
              <a:off x="2041051" y="5012711"/>
              <a:ext cx="273269" cy="10964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ts val="872"/>
                </a:lnSpc>
                <a:buNone/>
              </a:pPr>
              <a:r>
                <a:rPr lang="en-US" sz="600" b="1" kern="0" spc="19">
                  <a:solidFill>
                    <a:schemeClr val="bg1"/>
                  </a:solidFill>
                  <a:latin typeface="Nunito Sans Normal" pitchFamily="2" charset="77"/>
                  <a:ea typeface="Inter"/>
                  <a:cs typeface="Inter" pitchFamily="34" charset="-120"/>
                </a:rPr>
                <a:t>Auto </a:t>
              </a:r>
              <a:endParaRPr lang="en-US" sz="600" b="1">
                <a:solidFill>
                  <a:schemeClr val="bg1"/>
                </a:solidFill>
                <a:latin typeface="Nunito Sans Normal" pitchFamily="2" charset="77"/>
                <a:ea typeface="Inter"/>
              </a:endParaRPr>
            </a:p>
          </p:txBody>
        </p:sp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CDDBA9F3-61C3-74FD-DE50-672228BF9294}"/>
              </a:ext>
            </a:extLst>
          </p:cNvPr>
          <p:cNvGrpSpPr/>
          <p:nvPr/>
        </p:nvGrpSpPr>
        <p:grpSpPr>
          <a:xfrm>
            <a:off x="6834058" y="1415841"/>
            <a:ext cx="731520" cy="130759"/>
            <a:chOff x="1854200" y="4711630"/>
            <a:chExt cx="731520" cy="130759"/>
          </a:xfrm>
        </p:grpSpPr>
        <p:sp>
          <p:nvSpPr>
            <p:cNvPr id="143" name="Rounded Rectangle 142">
              <a:extLst>
                <a:ext uri="{FF2B5EF4-FFF2-40B4-BE49-F238E27FC236}">
                  <a16:creationId xmlns:a16="http://schemas.microsoft.com/office/drawing/2014/main" id="{DDF10EC0-6BBC-FA18-2A53-B4163408C150}"/>
                </a:ext>
              </a:extLst>
            </p:cNvPr>
            <p:cNvSpPr/>
            <p:nvPr/>
          </p:nvSpPr>
          <p:spPr>
            <a:xfrm>
              <a:off x="1854200" y="4711630"/>
              <a:ext cx="731520" cy="130759"/>
            </a:xfrm>
            <a:prstGeom prst="roundRect">
              <a:avLst>
                <a:gd name="adj" fmla="val 50000"/>
              </a:avLst>
            </a:prstGeom>
            <a:solidFill>
              <a:srgbClr val="FF7B8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44" name="Picture 143">
              <a:extLst>
                <a:ext uri="{FF2B5EF4-FFF2-40B4-BE49-F238E27FC236}">
                  <a16:creationId xmlns:a16="http://schemas.microsoft.com/office/drawing/2014/main" id="{BD125D7B-DDB4-419D-40E2-3B31776D10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895385" y="4736807"/>
              <a:ext cx="80405" cy="80405"/>
            </a:xfrm>
            <a:prstGeom prst="rect">
              <a:avLst/>
            </a:prstGeom>
          </p:spPr>
        </p:pic>
        <p:sp>
          <p:nvSpPr>
            <p:cNvPr id="179" name="Text 25">
              <a:extLst>
                <a:ext uri="{FF2B5EF4-FFF2-40B4-BE49-F238E27FC236}">
                  <a16:creationId xmlns:a16="http://schemas.microsoft.com/office/drawing/2014/main" id="{7C265B35-1D89-44FE-7B62-3933230B2F97}"/>
                </a:ext>
              </a:extLst>
            </p:cNvPr>
            <p:cNvSpPr/>
            <p:nvPr/>
          </p:nvSpPr>
          <p:spPr>
            <a:xfrm>
              <a:off x="2001391" y="4722187"/>
              <a:ext cx="285527" cy="10964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872"/>
                </a:lnSpc>
                <a:buNone/>
              </a:pPr>
              <a:r>
                <a:rPr lang="en-US" sz="600" b="1" kern="0" spc="19">
                  <a:solidFill>
                    <a:schemeClr val="bg1"/>
                  </a:solidFill>
                  <a:latin typeface="Nunito Sans Normal" pitchFamily="2" charset="77"/>
                  <a:ea typeface="Inter"/>
                  <a:cs typeface="Inter" pitchFamily="34" charset="-120"/>
                </a:rPr>
                <a:t>Manual</a:t>
              </a:r>
              <a:endParaRPr lang="en-US" sz="600" b="1">
                <a:solidFill>
                  <a:schemeClr val="bg1"/>
                </a:solidFill>
                <a:latin typeface="Nunito Sans Normal" pitchFamily="2" charset="77"/>
                <a:ea typeface="Inter"/>
              </a:endParaRPr>
            </a:p>
          </p:txBody>
        </p:sp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9B94C749-D2CC-06A2-12B0-CA43B0160801}"/>
              </a:ext>
            </a:extLst>
          </p:cNvPr>
          <p:cNvGrpSpPr/>
          <p:nvPr/>
        </p:nvGrpSpPr>
        <p:grpSpPr>
          <a:xfrm>
            <a:off x="4682916" y="1639508"/>
            <a:ext cx="731520" cy="130759"/>
            <a:chOff x="1854200" y="4711630"/>
            <a:chExt cx="731520" cy="130759"/>
          </a:xfrm>
        </p:grpSpPr>
        <p:sp>
          <p:nvSpPr>
            <p:cNvPr id="181" name="Rounded Rectangle 180">
              <a:extLst>
                <a:ext uri="{FF2B5EF4-FFF2-40B4-BE49-F238E27FC236}">
                  <a16:creationId xmlns:a16="http://schemas.microsoft.com/office/drawing/2014/main" id="{9ED5CB5D-38E6-C0AB-7867-CC8FCF938A6C}"/>
                </a:ext>
              </a:extLst>
            </p:cNvPr>
            <p:cNvSpPr/>
            <p:nvPr/>
          </p:nvSpPr>
          <p:spPr>
            <a:xfrm>
              <a:off x="1854200" y="4711630"/>
              <a:ext cx="731520" cy="130759"/>
            </a:xfrm>
            <a:prstGeom prst="roundRect">
              <a:avLst>
                <a:gd name="adj" fmla="val 50000"/>
              </a:avLst>
            </a:prstGeom>
            <a:solidFill>
              <a:srgbClr val="FF7B8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82" name="Picture 181">
              <a:extLst>
                <a:ext uri="{FF2B5EF4-FFF2-40B4-BE49-F238E27FC236}">
                  <a16:creationId xmlns:a16="http://schemas.microsoft.com/office/drawing/2014/main" id="{22E0ED3A-1326-150B-6631-F93DCA3D6ED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895385" y="4736807"/>
              <a:ext cx="80405" cy="80405"/>
            </a:xfrm>
            <a:prstGeom prst="rect">
              <a:avLst/>
            </a:prstGeom>
          </p:spPr>
        </p:pic>
        <p:sp>
          <p:nvSpPr>
            <p:cNvPr id="183" name="Text 25">
              <a:extLst>
                <a:ext uri="{FF2B5EF4-FFF2-40B4-BE49-F238E27FC236}">
                  <a16:creationId xmlns:a16="http://schemas.microsoft.com/office/drawing/2014/main" id="{53C9592A-41E2-6090-4053-F5D923144271}"/>
                </a:ext>
              </a:extLst>
            </p:cNvPr>
            <p:cNvSpPr/>
            <p:nvPr/>
          </p:nvSpPr>
          <p:spPr>
            <a:xfrm>
              <a:off x="2001391" y="4722187"/>
              <a:ext cx="459613" cy="10964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872"/>
                </a:lnSpc>
                <a:buNone/>
              </a:pPr>
              <a:r>
                <a:rPr lang="en-US" sz="600" b="1" kern="0" spc="19">
                  <a:solidFill>
                    <a:schemeClr val="bg1"/>
                  </a:solidFill>
                  <a:latin typeface="Nunito Sans Normal" pitchFamily="2" charset="77"/>
                  <a:ea typeface="Inter"/>
                  <a:cs typeface="Inter" pitchFamily="34" charset="-120"/>
                </a:rPr>
                <a:t>Manual (13)</a:t>
              </a:r>
              <a:endParaRPr lang="en-US" sz="600" b="1">
                <a:solidFill>
                  <a:schemeClr val="bg1"/>
                </a:solidFill>
                <a:latin typeface="Nunito Sans Normal" pitchFamily="2" charset="77"/>
                <a:ea typeface="Inter"/>
              </a:endParaRPr>
            </a:p>
          </p:txBody>
        </p:sp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1F0E29E5-D148-7317-80BD-E013BC2BD7F3}"/>
              </a:ext>
            </a:extLst>
          </p:cNvPr>
          <p:cNvGrpSpPr/>
          <p:nvPr/>
        </p:nvGrpSpPr>
        <p:grpSpPr>
          <a:xfrm>
            <a:off x="4682916" y="1863174"/>
            <a:ext cx="731520" cy="130759"/>
            <a:chOff x="1854200" y="4711630"/>
            <a:chExt cx="731520" cy="130759"/>
          </a:xfrm>
        </p:grpSpPr>
        <p:sp>
          <p:nvSpPr>
            <p:cNvPr id="185" name="Rounded Rectangle 184">
              <a:extLst>
                <a:ext uri="{FF2B5EF4-FFF2-40B4-BE49-F238E27FC236}">
                  <a16:creationId xmlns:a16="http://schemas.microsoft.com/office/drawing/2014/main" id="{26CFC567-0061-CF9F-C555-D5AEE8F9A736}"/>
                </a:ext>
              </a:extLst>
            </p:cNvPr>
            <p:cNvSpPr/>
            <p:nvPr/>
          </p:nvSpPr>
          <p:spPr>
            <a:xfrm>
              <a:off x="1854200" y="4711630"/>
              <a:ext cx="731520" cy="130759"/>
            </a:xfrm>
            <a:prstGeom prst="roundRect">
              <a:avLst>
                <a:gd name="adj" fmla="val 50000"/>
              </a:avLst>
            </a:prstGeom>
            <a:solidFill>
              <a:srgbClr val="FF7B8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86" name="Picture 185">
              <a:extLst>
                <a:ext uri="{FF2B5EF4-FFF2-40B4-BE49-F238E27FC236}">
                  <a16:creationId xmlns:a16="http://schemas.microsoft.com/office/drawing/2014/main" id="{A755838D-66CB-8940-AB12-170660C9ED7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895385" y="4736807"/>
              <a:ext cx="80405" cy="80405"/>
            </a:xfrm>
            <a:prstGeom prst="rect">
              <a:avLst/>
            </a:prstGeom>
          </p:spPr>
        </p:pic>
        <p:sp>
          <p:nvSpPr>
            <p:cNvPr id="187" name="Text 25">
              <a:extLst>
                <a:ext uri="{FF2B5EF4-FFF2-40B4-BE49-F238E27FC236}">
                  <a16:creationId xmlns:a16="http://schemas.microsoft.com/office/drawing/2014/main" id="{8843D68C-8AB9-FDCB-BA09-A47D199B84A2}"/>
                </a:ext>
              </a:extLst>
            </p:cNvPr>
            <p:cNvSpPr/>
            <p:nvPr/>
          </p:nvSpPr>
          <p:spPr>
            <a:xfrm>
              <a:off x="2001391" y="4722187"/>
              <a:ext cx="459613" cy="10964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872"/>
                </a:lnSpc>
                <a:buNone/>
              </a:pPr>
              <a:r>
                <a:rPr lang="en-US" sz="600" b="1" kern="0" spc="19">
                  <a:solidFill>
                    <a:schemeClr val="bg1"/>
                  </a:solidFill>
                  <a:latin typeface="Nunito Sans Normal" pitchFamily="2" charset="77"/>
                  <a:ea typeface="Inter"/>
                  <a:cs typeface="Inter" pitchFamily="34" charset="-120"/>
                </a:rPr>
                <a:t>Manual (12)</a:t>
              </a:r>
              <a:endParaRPr lang="en-US" sz="600" b="1">
                <a:solidFill>
                  <a:schemeClr val="bg1"/>
                </a:solidFill>
                <a:latin typeface="Nunito Sans Normal" pitchFamily="2" charset="77"/>
                <a:ea typeface="Inter"/>
              </a:endParaRPr>
            </a:p>
          </p:txBody>
        </p:sp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42F3C9E3-6B0B-036B-223F-2771F6BE39D5}"/>
              </a:ext>
            </a:extLst>
          </p:cNvPr>
          <p:cNvGrpSpPr/>
          <p:nvPr/>
        </p:nvGrpSpPr>
        <p:grpSpPr>
          <a:xfrm>
            <a:off x="4682916" y="2086840"/>
            <a:ext cx="731520" cy="130759"/>
            <a:chOff x="1854200" y="4711630"/>
            <a:chExt cx="731520" cy="130759"/>
          </a:xfrm>
        </p:grpSpPr>
        <p:sp>
          <p:nvSpPr>
            <p:cNvPr id="189" name="Rounded Rectangle 188">
              <a:extLst>
                <a:ext uri="{FF2B5EF4-FFF2-40B4-BE49-F238E27FC236}">
                  <a16:creationId xmlns:a16="http://schemas.microsoft.com/office/drawing/2014/main" id="{7652A090-0F8B-3943-2E9B-559F616A5EBF}"/>
                </a:ext>
              </a:extLst>
            </p:cNvPr>
            <p:cNvSpPr/>
            <p:nvPr/>
          </p:nvSpPr>
          <p:spPr>
            <a:xfrm>
              <a:off x="1854200" y="4711630"/>
              <a:ext cx="731520" cy="130759"/>
            </a:xfrm>
            <a:prstGeom prst="roundRect">
              <a:avLst>
                <a:gd name="adj" fmla="val 50000"/>
              </a:avLst>
            </a:prstGeom>
            <a:solidFill>
              <a:srgbClr val="FF7B8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90" name="Picture 189">
              <a:extLst>
                <a:ext uri="{FF2B5EF4-FFF2-40B4-BE49-F238E27FC236}">
                  <a16:creationId xmlns:a16="http://schemas.microsoft.com/office/drawing/2014/main" id="{A4C51692-6DC6-7F1F-5FD6-0D79D33CEAE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895385" y="4736807"/>
              <a:ext cx="80405" cy="80405"/>
            </a:xfrm>
            <a:prstGeom prst="rect">
              <a:avLst/>
            </a:prstGeom>
          </p:spPr>
        </p:pic>
        <p:sp>
          <p:nvSpPr>
            <p:cNvPr id="191" name="Text 25">
              <a:extLst>
                <a:ext uri="{FF2B5EF4-FFF2-40B4-BE49-F238E27FC236}">
                  <a16:creationId xmlns:a16="http://schemas.microsoft.com/office/drawing/2014/main" id="{5A8AF4B2-D7CB-27CA-22DF-7EACD93812E6}"/>
                </a:ext>
              </a:extLst>
            </p:cNvPr>
            <p:cNvSpPr/>
            <p:nvPr/>
          </p:nvSpPr>
          <p:spPr>
            <a:xfrm>
              <a:off x="2001391" y="4722187"/>
              <a:ext cx="459613" cy="10964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872"/>
                </a:lnSpc>
                <a:buNone/>
              </a:pPr>
              <a:r>
                <a:rPr lang="en-US" sz="600" b="1" kern="0" spc="19">
                  <a:solidFill>
                    <a:schemeClr val="bg1"/>
                  </a:solidFill>
                  <a:latin typeface="Nunito Sans Normal" pitchFamily="2" charset="77"/>
                  <a:ea typeface="Inter"/>
                  <a:cs typeface="Inter" pitchFamily="34" charset="-120"/>
                </a:rPr>
                <a:t>Manual (17)</a:t>
              </a:r>
              <a:endParaRPr lang="en-US" sz="600" b="1">
                <a:solidFill>
                  <a:schemeClr val="bg1"/>
                </a:solidFill>
                <a:latin typeface="Nunito Sans Normal" pitchFamily="2" charset="77"/>
                <a:ea typeface="Inter"/>
              </a:endParaRPr>
            </a:p>
          </p:txBody>
        </p:sp>
      </p:grp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1CDB8A84-E1C4-5C59-9955-F8EDFF7998F2}"/>
              </a:ext>
            </a:extLst>
          </p:cNvPr>
          <p:cNvGrpSpPr/>
          <p:nvPr/>
        </p:nvGrpSpPr>
        <p:grpSpPr>
          <a:xfrm>
            <a:off x="4682916" y="2310507"/>
            <a:ext cx="731520" cy="130759"/>
            <a:chOff x="1854200" y="4711630"/>
            <a:chExt cx="731520" cy="130759"/>
          </a:xfrm>
        </p:grpSpPr>
        <p:sp>
          <p:nvSpPr>
            <p:cNvPr id="193" name="Rounded Rectangle 192">
              <a:extLst>
                <a:ext uri="{FF2B5EF4-FFF2-40B4-BE49-F238E27FC236}">
                  <a16:creationId xmlns:a16="http://schemas.microsoft.com/office/drawing/2014/main" id="{B9AD04E7-E41B-D435-8DCC-E927A4470D95}"/>
                </a:ext>
              </a:extLst>
            </p:cNvPr>
            <p:cNvSpPr/>
            <p:nvPr/>
          </p:nvSpPr>
          <p:spPr>
            <a:xfrm>
              <a:off x="1854200" y="4711630"/>
              <a:ext cx="731520" cy="130759"/>
            </a:xfrm>
            <a:prstGeom prst="roundRect">
              <a:avLst>
                <a:gd name="adj" fmla="val 50000"/>
              </a:avLst>
            </a:prstGeom>
            <a:solidFill>
              <a:srgbClr val="FF7B8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98" name="Picture 197">
              <a:extLst>
                <a:ext uri="{FF2B5EF4-FFF2-40B4-BE49-F238E27FC236}">
                  <a16:creationId xmlns:a16="http://schemas.microsoft.com/office/drawing/2014/main" id="{D2D0C234-85DC-81CF-F5F5-3131F89990D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895385" y="4736807"/>
              <a:ext cx="80405" cy="80405"/>
            </a:xfrm>
            <a:prstGeom prst="rect">
              <a:avLst/>
            </a:prstGeom>
          </p:spPr>
        </p:pic>
        <p:sp>
          <p:nvSpPr>
            <p:cNvPr id="200" name="Text 25">
              <a:extLst>
                <a:ext uri="{FF2B5EF4-FFF2-40B4-BE49-F238E27FC236}">
                  <a16:creationId xmlns:a16="http://schemas.microsoft.com/office/drawing/2014/main" id="{E95488C4-6D4B-1AA3-19C5-6E275B1B7CAC}"/>
                </a:ext>
              </a:extLst>
            </p:cNvPr>
            <p:cNvSpPr/>
            <p:nvPr/>
          </p:nvSpPr>
          <p:spPr>
            <a:xfrm>
              <a:off x="2001391" y="4722187"/>
              <a:ext cx="459613" cy="10964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872"/>
                </a:lnSpc>
                <a:buNone/>
              </a:pPr>
              <a:r>
                <a:rPr lang="en-US" sz="600" b="1" kern="0" spc="19">
                  <a:solidFill>
                    <a:schemeClr val="bg1"/>
                  </a:solidFill>
                  <a:latin typeface="Nunito Sans Normal" pitchFamily="2" charset="77"/>
                  <a:ea typeface="Inter"/>
                  <a:cs typeface="Inter" pitchFamily="34" charset="-120"/>
                </a:rPr>
                <a:t>Manual (11)</a:t>
              </a:r>
              <a:endParaRPr lang="en-US" sz="600" b="1">
                <a:solidFill>
                  <a:schemeClr val="bg1"/>
                </a:solidFill>
                <a:latin typeface="Nunito Sans Normal" pitchFamily="2" charset="77"/>
                <a:ea typeface="Inter"/>
              </a:endParaRPr>
            </a:p>
          </p:txBody>
        </p:sp>
      </p:grp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4158F084-F0DE-71B5-A9A1-6A1AB7FBFDDE}"/>
              </a:ext>
            </a:extLst>
          </p:cNvPr>
          <p:cNvGrpSpPr/>
          <p:nvPr/>
        </p:nvGrpSpPr>
        <p:grpSpPr>
          <a:xfrm>
            <a:off x="4682916" y="2534174"/>
            <a:ext cx="731520" cy="130759"/>
            <a:chOff x="1854200" y="4711630"/>
            <a:chExt cx="731520" cy="130759"/>
          </a:xfrm>
        </p:grpSpPr>
        <p:sp>
          <p:nvSpPr>
            <p:cNvPr id="203" name="Rounded Rectangle 202">
              <a:extLst>
                <a:ext uri="{FF2B5EF4-FFF2-40B4-BE49-F238E27FC236}">
                  <a16:creationId xmlns:a16="http://schemas.microsoft.com/office/drawing/2014/main" id="{A80D5622-0D66-EC3D-E9E0-06544099066D}"/>
                </a:ext>
              </a:extLst>
            </p:cNvPr>
            <p:cNvSpPr/>
            <p:nvPr/>
          </p:nvSpPr>
          <p:spPr>
            <a:xfrm>
              <a:off x="1854200" y="4711630"/>
              <a:ext cx="731520" cy="130759"/>
            </a:xfrm>
            <a:prstGeom prst="roundRect">
              <a:avLst>
                <a:gd name="adj" fmla="val 50000"/>
              </a:avLst>
            </a:prstGeom>
            <a:solidFill>
              <a:srgbClr val="FF7B8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04" name="Picture 203">
              <a:extLst>
                <a:ext uri="{FF2B5EF4-FFF2-40B4-BE49-F238E27FC236}">
                  <a16:creationId xmlns:a16="http://schemas.microsoft.com/office/drawing/2014/main" id="{54D51F19-934D-3C20-1C3F-76930955105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895385" y="4736807"/>
              <a:ext cx="80405" cy="80405"/>
            </a:xfrm>
            <a:prstGeom prst="rect">
              <a:avLst/>
            </a:prstGeom>
          </p:spPr>
        </p:pic>
        <p:sp>
          <p:nvSpPr>
            <p:cNvPr id="205" name="Text 25">
              <a:extLst>
                <a:ext uri="{FF2B5EF4-FFF2-40B4-BE49-F238E27FC236}">
                  <a16:creationId xmlns:a16="http://schemas.microsoft.com/office/drawing/2014/main" id="{0C4D333D-9A52-AE1D-CFA8-E3C0DB88373F}"/>
                </a:ext>
              </a:extLst>
            </p:cNvPr>
            <p:cNvSpPr/>
            <p:nvPr/>
          </p:nvSpPr>
          <p:spPr>
            <a:xfrm>
              <a:off x="2001391" y="4722187"/>
              <a:ext cx="459613" cy="10964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872"/>
                </a:lnSpc>
                <a:buNone/>
              </a:pPr>
              <a:r>
                <a:rPr lang="en-US" sz="600" b="1" kern="0" spc="19">
                  <a:solidFill>
                    <a:schemeClr val="bg1"/>
                  </a:solidFill>
                  <a:latin typeface="Nunito Sans Normal" pitchFamily="2" charset="77"/>
                  <a:ea typeface="Inter"/>
                  <a:cs typeface="Inter" pitchFamily="34" charset="-120"/>
                </a:rPr>
                <a:t>Manual (12)</a:t>
              </a:r>
              <a:endParaRPr lang="en-US" sz="600" b="1">
                <a:solidFill>
                  <a:schemeClr val="bg1"/>
                </a:solidFill>
                <a:latin typeface="Nunito Sans Normal" pitchFamily="2" charset="77"/>
                <a:ea typeface="Inter"/>
              </a:endParaRPr>
            </a:p>
          </p:txBody>
        </p:sp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108C2BBB-1B42-5E1C-544B-1EA0ABC42026}"/>
              </a:ext>
            </a:extLst>
          </p:cNvPr>
          <p:cNvGrpSpPr/>
          <p:nvPr/>
        </p:nvGrpSpPr>
        <p:grpSpPr>
          <a:xfrm>
            <a:off x="4682916" y="2757840"/>
            <a:ext cx="731520" cy="130759"/>
            <a:chOff x="1854200" y="4711630"/>
            <a:chExt cx="731520" cy="130759"/>
          </a:xfrm>
        </p:grpSpPr>
        <p:sp>
          <p:nvSpPr>
            <p:cNvPr id="207" name="Rounded Rectangle 206">
              <a:extLst>
                <a:ext uri="{FF2B5EF4-FFF2-40B4-BE49-F238E27FC236}">
                  <a16:creationId xmlns:a16="http://schemas.microsoft.com/office/drawing/2014/main" id="{47677E6D-007F-43AE-C97D-C6EDE202D52A}"/>
                </a:ext>
              </a:extLst>
            </p:cNvPr>
            <p:cNvSpPr/>
            <p:nvPr/>
          </p:nvSpPr>
          <p:spPr>
            <a:xfrm>
              <a:off x="1854200" y="4711630"/>
              <a:ext cx="731520" cy="130759"/>
            </a:xfrm>
            <a:prstGeom prst="roundRect">
              <a:avLst>
                <a:gd name="adj" fmla="val 50000"/>
              </a:avLst>
            </a:prstGeom>
            <a:solidFill>
              <a:srgbClr val="FF7B8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08" name="Picture 207">
              <a:extLst>
                <a:ext uri="{FF2B5EF4-FFF2-40B4-BE49-F238E27FC236}">
                  <a16:creationId xmlns:a16="http://schemas.microsoft.com/office/drawing/2014/main" id="{E3B5E5AD-E403-0EF7-9D44-B34F232086B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895385" y="4736807"/>
              <a:ext cx="80405" cy="80405"/>
            </a:xfrm>
            <a:prstGeom prst="rect">
              <a:avLst/>
            </a:prstGeom>
          </p:spPr>
        </p:pic>
        <p:sp>
          <p:nvSpPr>
            <p:cNvPr id="209" name="Text 25">
              <a:extLst>
                <a:ext uri="{FF2B5EF4-FFF2-40B4-BE49-F238E27FC236}">
                  <a16:creationId xmlns:a16="http://schemas.microsoft.com/office/drawing/2014/main" id="{908FA1EF-DE09-D952-56C4-A93A9D32B790}"/>
                </a:ext>
              </a:extLst>
            </p:cNvPr>
            <p:cNvSpPr/>
            <p:nvPr/>
          </p:nvSpPr>
          <p:spPr>
            <a:xfrm>
              <a:off x="2001391" y="4722187"/>
              <a:ext cx="410690" cy="10964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872"/>
                </a:lnSpc>
                <a:buNone/>
              </a:pPr>
              <a:r>
                <a:rPr lang="en-US" sz="600" b="1" kern="0" spc="19">
                  <a:solidFill>
                    <a:schemeClr val="bg1"/>
                  </a:solidFill>
                  <a:latin typeface="Nunito Sans Normal" pitchFamily="2" charset="77"/>
                  <a:ea typeface="Inter"/>
                  <a:cs typeface="Inter" pitchFamily="34" charset="-120"/>
                </a:rPr>
                <a:t>Manual (5)</a:t>
              </a:r>
              <a:endParaRPr lang="en-US" sz="600" b="1">
                <a:solidFill>
                  <a:schemeClr val="bg1"/>
                </a:solidFill>
                <a:latin typeface="Nunito Sans Normal" pitchFamily="2" charset="77"/>
                <a:ea typeface="Inter"/>
              </a:endParaRPr>
            </a:p>
          </p:txBody>
        </p:sp>
      </p:grpSp>
      <p:grpSp>
        <p:nvGrpSpPr>
          <p:cNvPr id="210" name="Group 209">
            <a:extLst>
              <a:ext uri="{FF2B5EF4-FFF2-40B4-BE49-F238E27FC236}">
                <a16:creationId xmlns:a16="http://schemas.microsoft.com/office/drawing/2014/main" id="{2BACBF4F-625E-8D53-AAAD-B8089A4E2C4C}"/>
              </a:ext>
            </a:extLst>
          </p:cNvPr>
          <p:cNvGrpSpPr/>
          <p:nvPr/>
        </p:nvGrpSpPr>
        <p:grpSpPr>
          <a:xfrm>
            <a:off x="4682916" y="3644076"/>
            <a:ext cx="731520" cy="130759"/>
            <a:chOff x="1854200" y="4854505"/>
            <a:chExt cx="731520" cy="130759"/>
          </a:xfrm>
        </p:grpSpPr>
        <p:sp>
          <p:nvSpPr>
            <p:cNvPr id="211" name="Rounded Rectangle 210">
              <a:extLst>
                <a:ext uri="{FF2B5EF4-FFF2-40B4-BE49-F238E27FC236}">
                  <a16:creationId xmlns:a16="http://schemas.microsoft.com/office/drawing/2014/main" id="{6FFAD498-3F51-D17A-BAF7-64B85D671642}"/>
                </a:ext>
              </a:extLst>
            </p:cNvPr>
            <p:cNvSpPr/>
            <p:nvPr/>
          </p:nvSpPr>
          <p:spPr>
            <a:xfrm>
              <a:off x="1854200" y="4854505"/>
              <a:ext cx="731520" cy="130759"/>
            </a:xfrm>
            <a:prstGeom prst="roundRect">
              <a:avLst>
                <a:gd name="adj" fmla="val 50000"/>
              </a:avLst>
            </a:prstGeom>
            <a:solidFill>
              <a:srgbClr val="FFA93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12" name="Picture 211">
              <a:extLst>
                <a:ext uri="{FF2B5EF4-FFF2-40B4-BE49-F238E27FC236}">
                  <a16:creationId xmlns:a16="http://schemas.microsoft.com/office/drawing/2014/main" id="{8C815A96-56A1-BFB8-0C40-9C44A780B63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chemeClr val="accent2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1895385" y="4879682"/>
              <a:ext cx="80405" cy="80405"/>
            </a:xfrm>
            <a:prstGeom prst="rect">
              <a:avLst/>
            </a:prstGeom>
          </p:spPr>
        </p:pic>
        <p:sp>
          <p:nvSpPr>
            <p:cNvPr id="213" name="Text 25">
              <a:extLst>
                <a:ext uri="{FF2B5EF4-FFF2-40B4-BE49-F238E27FC236}">
                  <a16:creationId xmlns:a16="http://schemas.microsoft.com/office/drawing/2014/main" id="{AE5E2EA4-E4CC-CEE2-B08F-55E182912FDD}"/>
                </a:ext>
              </a:extLst>
            </p:cNvPr>
            <p:cNvSpPr/>
            <p:nvPr/>
          </p:nvSpPr>
          <p:spPr>
            <a:xfrm>
              <a:off x="2001391" y="4865062"/>
              <a:ext cx="572721" cy="10964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872"/>
                </a:lnSpc>
                <a:buNone/>
              </a:pPr>
              <a:r>
                <a:rPr lang="en-US" sz="600" b="1" kern="0" spc="19">
                  <a:solidFill>
                    <a:schemeClr val="bg1"/>
                  </a:solidFill>
                  <a:latin typeface="Nunito Sans Normal" pitchFamily="2" charset="77"/>
                  <a:ea typeface="Inter"/>
                </a:rPr>
                <a:t>Semi-auto (11)</a:t>
              </a:r>
              <a:endParaRPr lang="en-US" sz="600" b="1">
                <a:solidFill>
                  <a:schemeClr val="bg1"/>
                </a:solidFill>
                <a:latin typeface="Nunito Sans Normal" pitchFamily="2" charset="77"/>
                <a:ea typeface="Inter"/>
              </a:endParaRPr>
            </a:p>
          </p:txBody>
        </p:sp>
      </p:grpSp>
      <p:grpSp>
        <p:nvGrpSpPr>
          <p:cNvPr id="224" name="Group 223">
            <a:extLst>
              <a:ext uri="{FF2B5EF4-FFF2-40B4-BE49-F238E27FC236}">
                <a16:creationId xmlns:a16="http://schemas.microsoft.com/office/drawing/2014/main" id="{FDA36E01-2D53-7382-689E-D02ABC1C80C8}"/>
              </a:ext>
            </a:extLst>
          </p:cNvPr>
          <p:cNvGrpSpPr/>
          <p:nvPr/>
        </p:nvGrpSpPr>
        <p:grpSpPr>
          <a:xfrm>
            <a:off x="4682916" y="3870665"/>
            <a:ext cx="731520" cy="130759"/>
            <a:chOff x="1854200" y="5002154"/>
            <a:chExt cx="731520" cy="130759"/>
          </a:xfrm>
        </p:grpSpPr>
        <p:sp>
          <p:nvSpPr>
            <p:cNvPr id="225" name="Rounded Rectangle 224">
              <a:extLst>
                <a:ext uri="{FF2B5EF4-FFF2-40B4-BE49-F238E27FC236}">
                  <a16:creationId xmlns:a16="http://schemas.microsoft.com/office/drawing/2014/main" id="{3B613ECE-0AA5-07BD-696D-664F4DBC36CC}"/>
                </a:ext>
              </a:extLst>
            </p:cNvPr>
            <p:cNvSpPr/>
            <p:nvPr/>
          </p:nvSpPr>
          <p:spPr>
            <a:xfrm>
              <a:off x="1854200" y="5002154"/>
              <a:ext cx="731520" cy="130759"/>
            </a:xfrm>
            <a:prstGeom prst="roundRect">
              <a:avLst>
                <a:gd name="adj" fmla="val 50000"/>
              </a:avLst>
            </a:prstGeom>
            <a:solidFill>
              <a:srgbClr val="56C59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26" name="Picture 225">
              <a:extLst>
                <a:ext uri="{FF2B5EF4-FFF2-40B4-BE49-F238E27FC236}">
                  <a16:creationId xmlns:a16="http://schemas.microsoft.com/office/drawing/2014/main" id="{1A9ABDA6-7A1E-147D-D1D3-DADC0BA0D9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95385" y="5027331"/>
              <a:ext cx="80405" cy="80405"/>
            </a:xfrm>
            <a:prstGeom prst="rect">
              <a:avLst/>
            </a:prstGeom>
          </p:spPr>
        </p:pic>
        <p:sp>
          <p:nvSpPr>
            <p:cNvPr id="227" name="Text 25">
              <a:extLst>
                <a:ext uri="{FF2B5EF4-FFF2-40B4-BE49-F238E27FC236}">
                  <a16:creationId xmlns:a16="http://schemas.microsoft.com/office/drawing/2014/main" id="{BB906FB3-B33D-3A59-EF9C-1364D8587136}"/>
                </a:ext>
              </a:extLst>
            </p:cNvPr>
            <p:cNvSpPr/>
            <p:nvPr/>
          </p:nvSpPr>
          <p:spPr>
            <a:xfrm>
              <a:off x="2001391" y="5012711"/>
              <a:ext cx="187680" cy="10964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872"/>
                </a:lnSpc>
                <a:buNone/>
              </a:pPr>
              <a:r>
                <a:rPr lang="en-US" sz="600" b="1" kern="0" spc="19">
                  <a:solidFill>
                    <a:schemeClr val="bg1"/>
                  </a:solidFill>
                  <a:latin typeface="Nunito Sans Normal" pitchFamily="2" charset="77"/>
                  <a:ea typeface="Inter"/>
                  <a:cs typeface="Inter" pitchFamily="34" charset="-120"/>
                </a:rPr>
                <a:t>Auto</a:t>
              </a:r>
              <a:endParaRPr lang="en-US" sz="600" b="1">
                <a:solidFill>
                  <a:schemeClr val="bg1"/>
                </a:solidFill>
                <a:latin typeface="Nunito Sans Normal" pitchFamily="2" charset="77"/>
                <a:ea typeface="Inter"/>
              </a:endParaRPr>
            </a:p>
          </p:txBody>
        </p:sp>
      </p:grpSp>
      <p:grpSp>
        <p:nvGrpSpPr>
          <p:cNvPr id="228" name="Group 227">
            <a:extLst>
              <a:ext uri="{FF2B5EF4-FFF2-40B4-BE49-F238E27FC236}">
                <a16:creationId xmlns:a16="http://schemas.microsoft.com/office/drawing/2014/main" id="{AB641802-1356-2202-D759-075973A92178}"/>
              </a:ext>
            </a:extLst>
          </p:cNvPr>
          <p:cNvGrpSpPr/>
          <p:nvPr/>
        </p:nvGrpSpPr>
        <p:grpSpPr>
          <a:xfrm>
            <a:off x="4682916" y="4091407"/>
            <a:ext cx="731520" cy="130759"/>
            <a:chOff x="1854200" y="4854505"/>
            <a:chExt cx="731520" cy="130759"/>
          </a:xfrm>
        </p:grpSpPr>
        <p:sp>
          <p:nvSpPr>
            <p:cNvPr id="229" name="Rounded Rectangle 228">
              <a:extLst>
                <a:ext uri="{FF2B5EF4-FFF2-40B4-BE49-F238E27FC236}">
                  <a16:creationId xmlns:a16="http://schemas.microsoft.com/office/drawing/2014/main" id="{29B40546-DD97-9D6E-BCF9-51D871C59AB0}"/>
                </a:ext>
              </a:extLst>
            </p:cNvPr>
            <p:cNvSpPr/>
            <p:nvPr/>
          </p:nvSpPr>
          <p:spPr>
            <a:xfrm>
              <a:off x="1854200" y="4854505"/>
              <a:ext cx="731520" cy="130759"/>
            </a:xfrm>
            <a:prstGeom prst="roundRect">
              <a:avLst>
                <a:gd name="adj" fmla="val 50000"/>
              </a:avLst>
            </a:prstGeom>
            <a:solidFill>
              <a:srgbClr val="FFA93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30" name="Picture 229">
              <a:extLst>
                <a:ext uri="{FF2B5EF4-FFF2-40B4-BE49-F238E27FC236}">
                  <a16:creationId xmlns:a16="http://schemas.microsoft.com/office/drawing/2014/main" id="{28CEBED6-7E52-80CF-BEBE-0F452FAEFDB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chemeClr val="accent2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1895385" y="4879682"/>
              <a:ext cx="80405" cy="80405"/>
            </a:xfrm>
            <a:prstGeom prst="rect">
              <a:avLst/>
            </a:prstGeom>
          </p:spPr>
        </p:pic>
        <p:sp>
          <p:nvSpPr>
            <p:cNvPr id="231" name="Text 25">
              <a:extLst>
                <a:ext uri="{FF2B5EF4-FFF2-40B4-BE49-F238E27FC236}">
                  <a16:creationId xmlns:a16="http://schemas.microsoft.com/office/drawing/2014/main" id="{C51ABEF7-8CD8-D8E0-A62C-34A13FADA35C}"/>
                </a:ext>
              </a:extLst>
            </p:cNvPr>
            <p:cNvSpPr/>
            <p:nvPr/>
          </p:nvSpPr>
          <p:spPr>
            <a:xfrm>
              <a:off x="2001391" y="4865062"/>
              <a:ext cx="523798" cy="10964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872"/>
                </a:lnSpc>
                <a:buNone/>
              </a:pPr>
              <a:r>
                <a:rPr lang="en-US" sz="600" b="1" kern="0" spc="19">
                  <a:solidFill>
                    <a:schemeClr val="bg1"/>
                  </a:solidFill>
                  <a:latin typeface="Nunito Sans Normal" pitchFamily="2" charset="77"/>
                  <a:ea typeface="Inter"/>
                </a:rPr>
                <a:t>Semi-auto (1)</a:t>
              </a:r>
              <a:endParaRPr lang="en-US" sz="600" b="1">
                <a:solidFill>
                  <a:schemeClr val="bg1"/>
                </a:solidFill>
                <a:latin typeface="Nunito Sans Normal" pitchFamily="2" charset="77"/>
                <a:ea typeface="Inter"/>
              </a:endParaRPr>
            </a:p>
          </p:txBody>
        </p:sp>
      </p:grpSp>
      <p:grpSp>
        <p:nvGrpSpPr>
          <p:cNvPr id="232" name="Group 231">
            <a:extLst>
              <a:ext uri="{FF2B5EF4-FFF2-40B4-BE49-F238E27FC236}">
                <a16:creationId xmlns:a16="http://schemas.microsoft.com/office/drawing/2014/main" id="{BF217155-2C46-FAC6-03C6-9743F850B397}"/>
              </a:ext>
            </a:extLst>
          </p:cNvPr>
          <p:cNvGrpSpPr/>
          <p:nvPr/>
        </p:nvGrpSpPr>
        <p:grpSpPr>
          <a:xfrm>
            <a:off x="4682916" y="4310346"/>
            <a:ext cx="731520" cy="130759"/>
            <a:chOff x="1854200" y="4711630"/>
            <a:chExt cx="731520" cy="130759"/>
          </a:xfrm>
        </p:grpSpPr>
        <p:sp>
          <p:nvSpPr>
            <p:cNvPr id="233" name="Rounded Rectangle 232">
              <a:extLst>
                <a:ext uri="{FF2B5EF4-FFF2-40B4-BE49-F238E27FC236}">
                  <a16:creationId xmlns:a16="http://schemas.microsoft.com/office/drawing/2014/main" id="{545FBB90-ADD8-0B87-6A8E-28C5147FBDA7}"/>
                </a:ext>
              </a:extLst>
            </p:cNvPr>
            <p:cNvSpPr/>
            <p:nvPr/>
          </p:nvSpPr>
          <p:spPr>
            <a:xfrm>
              <a:off x="1854200" y="4711630"/>
              <a:ext cx="731520" cy="130759"/>
            </a:xfrm>
            <a:prstGeom prst="roundRect">
              <a:avLst>
                <a:gd name="adj" fmla="val 50000"/>
              </a:avLst>
            </a:prstGeom>
            <a:solidFill>
              <a:srgbClr val="FF7B8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34" name="Picture 233">
              <a:extLst>
                <a:ext uri="{FF2B5EF4-FFF2-40B4-BE49-F238E27FC236}">
                  <a16:creationId xmlns:a16="http://schemas.microsoft.com/office/drawing/2014/main" id="{70C1BB2F-78C9-C09F-61DA-8FF12716D02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895385" y="4736807"/>
              <a:ext cx="80405" cy="80405"/>
            </a:xfrm>
            <a:prstGeom prst="rect">
              <a:avLst/>
            </a:prstGeom>
          </p:spPr>
        </p:pic>
        <p:sp>
          <p:nvSpPr>
            <p:cNvPr id="235" name="Text 25">
              <a:extLst>
                <a:ext uri="{FF2B5EF4-FFF2-40B4-BE49-F238E27FC236}">
                  <a16:creationId xmlns:a16="http://schemas.microsoft.com/office/drawing/2014/main" id="{ADD44E5A-8120-4D0B-E897-E1E49CC68BF4}"/>
                </a:ext>
              </a:extLst>
            </p:cNvPr>
            <p:cNvSpPr/>
            <p:nvPr/>
          </p:nvSpPr>
          <p:spPr>
            <a:xfrm>
              <a:off x="2001391" y="4722187"/>
              <a:ext cx="410690" cy="10964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872"/>
                </a:lnSpc>
                <a:buNone/>
              </a:pPr>
              <a:r>
                <a:rPr lang="en-US" sz="600" b="1" kern="0" spc="19">
                  <a:solidFill>
                    <a:schemeClr val="bg1"/>
                  </a:solidFill>
                  <a:latin typeface="Nunito Sans Normal" pitchFamily="2" charset="77"/>
                  <a:ea typeface="Inter"/>
                  <a:cs typeface="Inter" pitchFamily="34" charset="-120"/>
                </a:rPr>
                <a:t>Manual (3)</a:t>
              </a:r>
              <a:endParaRPr lang="en-US" sz="600" b="1">
                <a:solidFill>
                  <a:schemeClr val="bg1"/>
                </a:solidFill>
                <a:latin typeface="Nunito Sans Normal" pitchFamily="2" charset="77"/>
                <a:ea typeface="Inter"/>
              </a:endParaRPr>
            </a:p>
          </p:txBody>
        </p:sp>
      </p:grp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5506D8F7-00D5-273F-D908-6AE0CD85305F}"/>
              </a:ext>
            </a:extLst>
          </p:cNvPr>
          <p:cNvGrpSpPr/>
          <p:nvPr/>
        </p:nvGrpSpPr>
        <p:grpSpPr>
          <a:xfrm>
            <a:off x="4682916" y="4534013"/>
            <a:ext cx="731520" cy="130759"/>
            <a:chOff x="1854200" y="4711630"/>
            <a:chExt cx="731520" cy="130759"/>
          </a:xfrm>
        </p:grpSpPr>
        <p:sp>
          <p:nvSpPr>
            <p:cNvPr id="237" name="Rounded Rectangle 236">
              <a:extLst>
                <a:ext uri="{FF2B5EF4-FFF2-40B4-BE49-F238E27FC236}">
                  <a16:creationId xmlns:a16="http://schemas.microsoft.com/office/drawing/2014/main" id="{DB3FA5BE-9B24-A114-4BC7-20558A3E3780}"/>
                </a:ext>
              </a:extLst>
            </p:cNvPr>
            <p:cNvSpPr/>
            <p:nvPr/>
          </p:nvSpPr>
          <p:spPr>
            <a:xfrm>
              <a:off x="1854200" y="4711630"/>
              <a:ext cx="731520" cy="130759"/>
            </a:xfrm>
            <a:prstGeom prst="roundRect">
              <a:avLst>
                <a:gd name="adj" fmla="val 50000"/>
              </a:avLst>
            </a:prstGeom>
            <a:solidFill>
              <a:srgbClr val="FF7B8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38" name="Picture 237">
              <a:extLst>
                <a:ext uri="{FF2B5EF4-FFF2-40B4-BE49-F238E27FC236}">
                  <a16:creationId xmlns:a16="http://schemas.microsoft.com/office/drawing/2014/main" id="{6CE11510-9E6C-5168-B407-EBB14643978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895385" y="4736807"/>
              <a:ext cx="80405" cy="80405"/>
            </a:xfrm>
            <a:prstGeom prst="rect">
              <a:avLst/>
            </a:prstGeom>
          </p:spPr>
        </p:pic>
        <p:sp>
          <p:nvSpPr>
            <p:cNvPr id="239" name="Text 25">
              <a:extLst>
                <a:ext uri="{FF2B5EF4-FFF2-40B4-BE49-F238E27FC236}">
                  <a16:creationId xmlns:a16="http://schemas.microsoft.com/office/drawing/2014/main" id="{FD9A8BAA-0C60-6F78-A78E-21F6EB52A228}"/>
                </a:ext>
              </a:extLst>
            </p:cNvPr>
            <p:cNvSpPr/>
            <p:nvPr/>
          </p:nvSpPr>
          <p:spPr>
            <a:xfrm>
              <a:off x="2001391" y="4722187"/>
              <a:ext cx="410690" cy="10964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872"/>
                </a:lnSpc>
                <a:buNone/>
              </a:pPr>
              <a:r>
                <a:rPr lang="en-US" sz="600" b="1" kern="0" spc="19">
                  <a:solidFill>
                    <a:schemeClr val="bg1"/>
                  </a:solidFill>
                  <a:latin typeface="Nunito Sans Normal" pitchFamily="2" charset="77"/>
                  <a:ea typeface="Inter"/>
                  <a:cs typeface="Inter" pitchFamily="34" charset="-120"/>
                </a:rPr>
                <a:t>Manual (1)</a:t>
              </a:r>
              <a:endParaRPr lang="en-US" sz="600" b="1">
                <a:solidFill>
                  <a:schemeClr val="bg1"/>
                </a:solidFill>
                <a:latin typeface="Nunito Sans Normal" pitchFamily="2" charset="77"/>
                <a:ea typeface="Inter"/>
              </a:endParaRPr>
            </a:p>
          </p:txBody>
        </p:sp>
      </p:grpSp>
      <p:grpSp>
        <p:nvGrpSpPr>
          <p:cNvPr id="240" name="Group 239">
            <a:extLst>
              <a:ext uri="{FF2B5EF4-FFF2-40B4-BE49-F238E27FC236}">
                <a16:creationId xmlns:a16="http://schemas.microsoft.com/office/drawing/2014/main" id="{96AA5D9D-D758-8330-2C36-EFBA333CC0E1}"/>
              </a:ext>
            </a:extLst>
          </p:cNvPr>
          <p:cNvGrpSpPr/>
          <p:nvPr/>
        </p:nvGrpSpPr>
        <p:grpSpPr>
          <a:xfrm>
            <a:off x="6834058" y="3198592"/>
            <a:ext cx="731520" cy="130759"/>
            <a:chOff x="1854200" y="4711630"/>
            <a:chExt cx="731520" cy="130759"/>
          </a:xfrm>
        </p:grpSpPr>
        <p:sp>
          <p:nvSpPr>
            <p:cNvPr id="241" name="Rounded Rectangle 240">
              <a:extLst>
                <a:ext uri="{FF2B5EF4-FFF2-40B4-BE49-F238E27FC236}">
                  <a16:creationId xmlns:a16="http://schemas.microsoft.com/office/drawing/2014/main" id="{A86D5543-6ADE-AD9E-03C5-53BB90980D3F}"/>
                </a:ext>
              </a:extLst>
            </p:cNvPr>
            <p:cNvSpPr/>
            <p:nvPr/>
          </p:nvSpPr>
          <p:spPr>
            <a:xfrm>
              <a:off x="1854200" y="4711630"/>
              <a:ext cx="731520" cy="130759"/>
            </a:xfrm>
            <a:prstGeom prst="roundRect">
              <a:avLst>
                <a:gd name="adj" fmla="val 50000"/>
              </a:avLst>
            </a:prstGeom>
            <a:solidFill>
              <a:srgbClr val="FF7B8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42" name="Picture 241">
              <a:extLst>
                <a:ext uri="{FF2B5EF4-FFF2-40B4-BE49-F238E27FC236}">
                  <a16:creationId xmlns:a16="http://schemas.microsoft.com/office/drawing/2014/main" id="{9BBB1334-F343-F571-5C51-FE2A23972E1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895385" y="4736807"/>
              <a:ext cx="80405" cy="80405"/>
            </a:xfrm>
            <a:prstGeom prst="rect">
              <a:avLst/>
            </a:prstGeom>
          </p:spPr>
        </p:pic>
        <p:sp>
          <p:nvSpPr>
            <p:cNvPr id="243" name="Text 25">
              <a:extLst>
                <a:ext uri="{FF2B5EF4-FFF2-40B4-BE49-F238E27FC236}">
                  <a16:creationId xmlns:a16="http://schemas.microsoft.com/office/drawing/2014/main" id="{A9B8B68B-2C67-BB14-844E-A1D1E2FEB487}"/>
                </a:ext>
              </a:extLst>
            </p:cNvPr>
            <p:cNvSpPr/>
            <p:nvPr/>
          </p:nvSpPr>
          <p:spPr>
            <a:xfrm>
              <a:off x="2001391" y="4722187"/>
              <a:ext cx="410690" cy="10964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872"/>
                </a:lnSpc>
                <a:buNone/>
              </a:pPr>
              <a:r>
                <a:rPr lang="en-US" sz="600" b="1" kern="0" spc="19">
                  <a:solidFill>
                    <a:schemeClr val="bg1"/>
                  </a:solidFill>
                  <a:latin typeface="Nunito Sans Normal" pitchFamily="2" charset="77"/>
                  <a:ea typeface="Inter"/>
                  <a:cs typeface="Inter" pitchFamily="34" charset="-120"/>
                </a:rPr>
                <a:t>Manual (5)</a:t>
              </a:r>
              <a:endParaRPr lang="en-US" sz="600" b="1">
                <a:solidFill>
                  <a:schemeClr val="bg1"/>
                </a:solidFill>
                <a:latin typeface="Nunito Sans Normal" pitchFamily="2" charset="77"/>
                <a:ea typeface="Inter"/>
              </a:endParaRPr>
            </a:p>
          </p:txBody>
        </p:sp>
      </p:grpSp>
      <p:grpSp>
        <p:nvGrpSpPr>
          <p:cNvPr id="244" name="Group 243">
            <a:extLst>
              <a:ext uri="{FF2B5EF4-FFF2-40B4-BE49-F238E27FC236}">
                <a16:creationId xmlns:a16="http://schemas.microsoft.com/office/drawing/2014/main" id="{6EC0279F-B99A-8D1C-C7CC-3DFEF46F9E71}"/>
              </a:ext>
            </a:extLst>
          </p:cNvPr>
          <p:cNvGrpSpPr/>
          <p:nvPr/>
        </p:nvGrpSpPr>
        <p:grpSpPr>
          <a:xfrm>
            <a:off x="6834058" y="3422259"/>
            <a:ext cx="731520" cy="130759"/>
            <a:chOff x="1854200" y="4711630"/>
            <a:chExt cx="731520" cy="130759"/>
          </a:xfrm>
        </p:grpSpPr>
        <p:sp>
          <p:nvSpPr>
            <p:cNvPr id="245" name="Rounded Rectangle 244">
              <a:extLst>
                <a:ext uri="{FF2B5EF4-FFF2-40B4-BE49-F238E27FC236}">
                  <a16:creationId xmlns:a16="http://schemas.microsoft.com/office/drawing/2014/main" id="{D11736E4-1B75-D360-FCA3-0C830E1C7C82}"/>
                </a:ext>
              </a:extLst>
            </p:cNvPr>
            <p:cNvSpPr/>
            <p:nvPr/>
          </p:nvSpPr>
          <p:spPr>
            <a:xfrm>
              <a:off x="1854200" y="4711630"/>
              <a:ext cx="731520" cy="130759"/>
            </a:xfrm>
            <a:prstGeom prst="roundRect">
              <a:avLst>
                <a:gd name="adj" fmla="val 50000"/>
              </a:avLst>
            </a:prstGeom>
            <a:solidFill>
              <a:srgbClr val="FF7B8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46" name="Picture 245">
              <a:extLst>
                <a:ext uri="{FF2B5EF4-FFF2-40B4-BE49-F238E27FC236}">
                  <a16:creationId xmlns:a16="http://schemas.microsoft.com/office/drawing/2014/main" id="{0820F86A-FCBB-30AD-D66E-446FEA665DD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895385" y="4736807"/>
              <a:ext cx="80405" cy="80405"/>
            </a:xfrm>
            <a:prstGeom prst="rect">
              <a:avLst/>
            </a:prstGeom>
          </p:spPr>
        </p:pic>
        <p:sp>
          <p:nvSpPr>
            <p:cNvPr id="247" name="Text 25">
              <a:extLst>
                <a:ext uri="{FF2B5EF4-FFF2-40B4-BE49-F238E27FC236}">
                  <a16:creationId xmlns:a16="http://schemas.microsoft.com/office/drawing/2014/main" id="{9CB5117E-611A-7AA3-6582-61F7B6571094}"/>
                </a:ext>
              </a:extLst>
            </p:cNvPr>
            <p:cNvSpPr/>
            <p:nvPr/>
          </p:nvSpPr>
          <p:spPr>
            <a:xfrm>
              <a:off x="2001391" y="4722187"/>
              <a:ext cx="410690" cy="10964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872"/>
                </a:lnSpc>
                <a:buNone/>
              </a:pPr>
              <a:r>
                <a:rPr lang="en-US" sz="600" b="1" kern="0" spc="19">
                  <a:solidFill>
                    <a:schemeClr val="bg1"/>
                  </a:solidFill>
                  <a:latin typeface="Nunito Sans Normal" pitchFamily="2" charset="77"/>
                  <a:ea typeface="Inter"/>
                  <a:cs typeface="Inter" pitchFamily="34" charset="-120"/>
                </a:rPr>
                <a:t>Manual (9)</a:t>
              </a:r>
              <a:endParaRPr lang="en-US" sz="600" b="1">
                <a:solidFill>
                  <a:schemeClr val="bg1"/>
                </a:solidFill>
                <a:latin typeface="Nunito Sans Normal" pitchFamily="2" charset="77"/>
                <a:ea typeface="Inter"/>
              </a:endParaRPr>
            </a:p>
          </p:txBody>
        </p:sp>
      </p:grpSp>
      <p:grpSp>
        <p:nvGrpSpPr>
          <p:cNvPr id="248" name="Group 247">
            <a:extLst>
              <a:ext uri="{FF2B5EF4-FFF2-40B4-BE49-F238E27FC236}">
                <a16:creationId xmlns:a16="http://schemas.microsoft.com/office/drawing/2014/main" id="{B5A29735-F613-9CF4-BEE3-300B8FC6412D}"/>
              </a:ext>
            </a:extLst>
          </p:cNvPr>
          <p:cNvGrpSpPr/>
          <p:nvPr/>
        </p:nvGrpSpPr>
        <p:grpSpPr>
          <a:xfrm>
            <a:off x="6834058" y="4093257"/>
            <a:ext cx="731520" cy="130759"/>
            <a:chOff x="1854200" y="4711630"/>
            <a:chExt cx="731520" cy="130759"/>
          </a:xfrm>
        </p:grpSpPr>
        <p:sp>
          <p:nvSpPr>
            <p:cNvPr id="249" name="Rounded Rectangle 248">
              <a:extLst>
                <a:ext uri="{FF2B5EF4-FFF2-40B4-BE49-F238E27FC236}">
                  <a16:creationId xmlns:a16="http://schemas.microsoft.com/office/drawing/2014/main" id="{BD67BB5F-B273-0684-335D-8ACDF8F36EFE}"/>
                </a:ext>
              </a:extLst>
            </p:cNvPr>
            <p:cNvSpPr/>
            <p:nvPr/>
          </p:nvSpPr>
          <p:spPr>
            <a:xfrm>
              <a:off x="1854200" y="4711630"/>
              <a:ext cx="731520" cy="130759"/>
            </a:xfrm>
            <a:prstGeom prst="roundRect">
              <a:avLst>
                <a:gd name="adj" fmla="val 50000"/>
              </a:avLst>
            </a:prstGeom>
            <a:solidFill>
              <a:srgbClr val="FF7B8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50" name="Picture 249">
              <a:extLst>
                <a:ext uri="{FF2B5EF4-FFF2-40B4-BE49-F238E27FC236}">
                  <a16:creationId xmlns:a16="http://schemas.microsoft.com/office/drawing/2014/main" id="{DFA3F089-EC47-15F6-3672-F9479A8B1EB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895385" y="4736807"/>
              <a:ext cx="80405" cy="80405"/>
            </a:xfrm>
            <a:prstGeom prst="rect">
              <a:avLst/>
            </a:prstGeom>
          </p:spPr>
        </p:pic>
        <p:sp>
          <p:nvSpPr>
            <p:cNvPr id="251" name="Text 25">
              <a:extLst>
                <a:ext uri="{FF2B5EF4-FFF2-40B4-BE49-F238E27FC236}">
                  <a16:creationId xmlns:a16="http://schemas.microsoft.com/office/drawing/2014/main" id="{90455347-B1A4-195A-2BAD-6B7C35605AEB}"/>
                </a:ext>
              </a:extLst>
            </p:cNvPr>
            <p:cNvSpPr/>
            <p:nvPr/>
          </p:nvSpPr>
          <p:spPr>
            <a:xfrm>
              <a:off x="2001391" y="4722187"/>
              <a:ext cx="410690" cy="10964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872"/>
                </a:lnSpc>
                <a:buNone/>
              </a:pPr>
              <a:r>
                <a:rPr lang="en-US" sz="600" b="1" kern="0" spc="19">
                  <a:solidFill>
                    <a:schemeClr val="bg1"/>
                  </a:solidFill>
                  <a:latin typeface="Nunito Sans Normal" pitchFamily="2" charset="77"/>
                  <a:ea typeface="Inter"/>
                  <a:cs typeface="Inter" pitchFamily="34" charset="-120"/>
                </a:rPr>
                <a:t>Manual (2)</a:t>
              </a:r>
              <a:endParaRPr lang="en-US" sz="600" b="1">
                <a:solidFill>
                  <a:schemeClr val="bg1"/>
                </a:solidFill>
                <a:latin typeface="Nunito Sans Normal" pitchFamily="2" charset="77"/>
                <a:ea typeface="Inter"/>
              </a:endParaRPr>
            </a:p>
          </p:txBody>
        </p:sp>
      </p:grpSp>
      <p:sp>
        <p:nvSpPr>
          <p:cNvPr id="252" name="Shape 61">
            <a:extLst>
              <a:ext uri="{FF2B5EF4-FFF2-40B4-BE49-F238E27FC236}">
                <a16:creationId xmlns:a16="http://schemas.microsoft.com/office/drawing/2014/main" id="{AFE0A0BE-98A0-7A61-FF8D-EA2A068672B6}"/>
              </a:ext>
            </a:extLst>
          </p:cNvPr>
          <p:cNvSpPr/>
          <p:nvPr/>
        </p:nvSpPr>
        <p:spPr>
          <a:xfrm>
            <a:off x="238125" y="576263"/>
            <a:ext cx="8729663" cy="0"/>
          </a:xfrm>
          <a:prstGeom prst="line">
            <a:avLst/>
          </a:prstGeom>
          <a:noFill/>
          <a:ln w="4524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235A42C0-D1AB-EE5F-213B-D42A8E1F5300}"/>
              </a:ext>
            </a:extLst>
          </p:cNvPr>
          <p:cNvSpPr txBox="1"/>
          <p:nvPr/>
        </p:nvSpPr>
        <p:spPr>
          <a:xfrm>
            <a:off x="210383" y="210372"/>
            <a:ext cx="7813019" cy="300082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pPr defTabSz="914378">
              <a:defRPr/>
            </a:pPr>
            <a:r>
              <a:rPr lang="en-US" sz="1500" b="1" dirty="0">
                <a:solidFill>
                  <a:srgbClr val="C00000"/>
                </a:solidFill>
                <a:latin typeface="AirIndia"/>
                <a:ea typeface="Calibri"/>
                <a:cs typeface="Calibri"/>
              </a:rPr>
              <a:t>Pay</a:t>
            </a:r>
            <a:r>
              <a:rPr lang="en-US" sz="1500" b="1" dirty="0">
                <a:solidFill>
                  <a:srgbClr val="C00000"/>
                </a:solidFill>
                <a:latin typeface="AirIndia"/>
              </a:rPr>
              <a:t> Element Mapping</a:t>
            </a:r>
            <a:r>
              <a:rPr lang="en-US" sz="1500" dirty="0">
                <a:solidFill>
                  <a:prstClr val="white">
                    <a:lumMod val="50000"/>
                  </a:prstClr>
                </a:solidFill>
                <a:latin typeface="AirIndia"/>
                <a:ea typeface="Calibri"/>
                <a:cs typeface="Calibri"/>
              </a:rPr>
              <a:t> — Where Humans Live in the Payroll Chain</a:t>
            </a:r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BBB49828-BD61-0CA7-9FB6-2EBEA0F1065C}"/>
              </a:ext>
            </a:extLst>
          </p:cNvPr>
          <p:cNvSpPr txBox="1"/>
          <p:nvPr/>
        </p:nvSpPr>
        <p:spPr>
          <a:xfrm>
            <a:off x="210383" y="631116"/>
            <a:ext cx="8580721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900" b="1" dirty="0">
                <a:solidFill>
                  <a:srgbClr val="C6282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57%</a:t>
            </a:r>
            <a:r>
              <a:rPr lang="en-US" sz="900" dirty="0">
                <a:solidFill>
                  <a:srgbClr val="4B556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of pay heads have at least one manual touchpoint before payroll runs  ·  </a:t>
            </a:r>
            <a:r>
              <a:rPr lang="en-US" sz="900" b="1" dirty="0">
                <a:solidFill>
                  <a:srgbClr val="C6282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104 of 184 pay heads manual  ·  184 pay components total</a:t>
            </a:r>
            <a:endParaRPr lang="en-US" sz="9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69380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E2400-3426-99E4-A750-66086CDE6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61">
            <a:extLst>
              <a:ext uri="{FF2B5EF4-FFF2-40B4-BE49-F238E27FC236}">
                <a16:creationId xmlns:a16="http://schemas.microsoft.com/office/drawing/2014/main" id="{8C74C6BF-1C65-8863-8517-EA34F1A09D0A}"/>
              </a:ext>
            </a:extLst>
          </p:cNvPr>
          <p:cNvSpPr/>
          <p:nvPr/>
        </p:nvSpPr>
        <p:spPr>
          <a:xfrm>
            <a:off x="238125" y="576263"/>
            <a:ext cx="8729663" cy="0"/>
          </a:xfrm>
          <a:prstGeom prst="line">
            <a:avLst/>
          </a:prstGeom>
          <a:noFill/>
          <a:ln w="4524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C8AC7D-F905-DB0D-29A6-031478A763A8}"/>
              </a:ext>
            </a:extLst>
          </p:cNvPr>
          <p:cNvSpPr txBox="1"/>
          <p:nvPr/>
        </p:nvSpPr>
        <p:spPr>
          <a:xfrm>
            <a:off x="210383" y="210372"/>
            <a:ext cx="7813019" cy="300082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pPr defTabSz="914378">
              <a:spcBef>
                <a:spcPct val="0"/>
              </a:spcBef>
              <a:defRPr/>
            </a:pPr>
            <a:r>
              <a:rPr lang="en-US" sz="1500" b="1">
                <a:solidFill>
                  <a:srgbClr val="C00000"/>
                </a:solidFill>
                <a:latin typeface="AirIndia"/>
              </a:rPr>
              <a:t>Zero Touch, Zero Trust (ZTZT)  </a:t>
            </a:r>
            <a:r>
              <a:rPr lang="en-US" sz="1500">
                <a:solidFill>
                  <a:prstClr val="white">
                    <a:lumMod val="50000"/>
                  </a:prstClr>
                </a:solidFill>
                <a:latin typeface="AirIndia"/>
              </a:rPr>
              <a:t>-  Principles Reimagining HR Payroll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9854E4-BD43-7012-0629-AD289CD57FC2}"/>
              </a:ext>
            </a:extLst>
          </p:cNvPr>
          <p:cNvSpPr txBox="1"/>
          <p:nvPr/>
        </p:nvSpPr>
        <p:spPr>
          <a:xfrm>
            <a:off x="210383" y="631116"/>
            <a:ext cx="8580721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900" b="1" i="0" u="none" strike="noStrike" baseline="0">
                <a:solidFill>
                  <a:srgbClr val="C62828"/>
                </a:solidFill>
                <a:latin typeface="Aptos" panose="020B0004020202020204" pitchFamily="34" charset="0"/>
              </a:rPr>
              <a:t>6</a:t>
            </a:r>
            <a:r>
              <a:rPr lang="en-US" sz="900" b="0" i="0" u="none" strike="noStrike" baseline="0">
                <a:solidFill>
                  <a:srgbClr val="4B5563"/>
                </a:solidFill>
                <a:latin typeface="Aptos" panose="020B0004020202020204" pitchFamily="34" charset="0"/>
              </a:rPr>
              <a:t> </a:t>
            </a:r>
            <a:r>
              <a:rPr lang="en-US" sz="900" kern="0">
                <a:solidFill>
                  <a:srgbClr val="1A1A1A">
                    <a:alpha val="99000"/>
                  </a:srgbClr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90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principles that eliminate human intervention from the payroll lifecycle — not by automating bad processes, but by redesigning them.</a:t>
            </a:r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31612ACB-953E-F8E0-9F30-29A79AB7759D}"/>
              </a:ext>
            </a:extLst>
          </p:cNvPr>
          <p:cNvSpPr/>
          <p:nvPr/>
        </p:nvSpPr>
        <p:spPr>
          <a:xfrm>
            <a:off x="6092493" y="2863259"/>
            <a:ext cx="2743200" cy="1645920"/>
          </a:xfrm>
          <a:prstGeom prst="roundRect">
            <a:avLst>
              <a:gd name="adj" fmla="val 2826"/>
            </a:avLst>
          </a:prstGeom>
          <a:solidFill>
            <a:srgbClr val="2AADBA">
              <a:alpha val="12157"/>
            </a:srgbClr>
          </a:solidFill>
          <a:ln w="716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678EBA5B-60E2-A8BF-3BF2-EAD14F099939}"/>
              </a:ext>
            </a:extLst>
          </p:cNvPr>
          <p:cNvSpPr/>
          <p:nvPr/>
        </p:nvSpPr>
        <p:spPr>
          <a:xfrm>
            <a:off x="3207297" y="2866464"/>
            <a:ext cx="2743200" cy="1645920"/>
          </a:xfrm>
          <a:prstGeom prst="roundRect">
            <a:avLst>
              <a:gd name="adj" fmla="val 2826"/>
            </a:avLst>
          </a:prstGeom>
          <a:solidFill>
            <a:srgbClr val="4E92DE">
              <a:alpha val="12157"/>
            </a:srgbClr>
          </a:solidFill>
          <a:ln w="716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ED4EE728-1670-866D-764D-AD7F6EB7A001}"/>
              </a:ext>
            </a:extLst>
          </p:cNvPr>
          <p:cNvSpPr/>
          <p:nvPr/>
        </p:nvSpPr>
        <p:spPr>
          <a:xfrm>
            <a:off x="300324" y="2866464"/>
            <a:ext cx="2743200" cy="1645920"/>
          </a:xfrm>
          <a:prstGeom prst="roundRect">
            <a:avLst>
              <a:gd name="adj" fmla="val 2826"/>
            </a:avLst>
          </a:prstGeom>
          <a:solidFill>
            <a:srgbClr val="9E6AD2">
              <a:alpha val="12157"/>
            </a:srgbClr>
          </a:solidFill>
          <a:ln w="716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0D57F86A-6E82-92E6-EA4C-BBFD6FC7EB8B}"/>
              </a:ext>
            </a:extLst>
          </p:cNvPr>
          <p:cNvSpPr/>
          <p:nvPr/>
        </p:nvSpPr>
        <p:spPr>
          <a:xfrm>
            <a:off x="6094664" y="1086273"/>
            <a:ext cx="2743200" cy="1645920"/>
          </a:xfrm>
          <a:prstGeom prst="roundRect">
            <a:avLst>
              <a:gd name="adj" fmla="val 2826"/>
            </a:avLst>
          </a:prstGeom>
          <a:solidFill>
            <a:srgbClr val="FF9E3A">
              <a:alpha val="12157"/>
            </a:srgbClr>
          </a:solidFill>
          <a:ln w="716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23FB5642-4CE5-793C-E637-A3205DE1723E}"/>
              </a:ext>
            </a:extLst>
          </p:cNvPr>
          <p:cNvSpPr/>
          <p:nvPr/>
        </p:nvSpPr>
        <p:spPr>
          <a:xfrm>
            <a:off x="3200400" y="1082950"/>
            <a:ext cx="2743200" cy="1645920"/>
          </a:xfrm>
          <a:prstGeom prst="roundRect">
            <a:avLst>
              <a:gd name="adj" fmla="val 2826"/>
            </a:avLst>
          </a:prstGeom>
          <a:solidFill>
            <a:srgbClr val="EE6567">
              <a:alpha val="12157"/>
            </a:srgbClr>
          </a:solidFill>
          <a:ln w="716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D8FAAFC4-F37C-D81D-A432-6E536A883E17}"/>
              </a:ext>
            </a:extLst>
          </p:cNvPr>
          <p:cNvSpPr/>
          <p:nvPr/>
        </p:nvSpPr>
        <p:spPr>
          <a:xfrm>
            <a:off x="300324" y="1081626"/>
            <a:ext cx="2743200" cy="1645920"/>
          </a:xfrm>
          <a:prstGeom prst="roundRect">
            <a:avLst>
              <a:gd name="adj" fmla="val 3219"/>
            </a:avLst>
          </a:prstGeom>
          <a:solidFill>
            <a:srgbClr val="E57AAE">
              <a:alpha val="12157"/>
            </a:srgbClr>
          </a:solidFill>
          <a:ln w="716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FBD9ADA8-50FE-5478-B1A6-03E784F69518}"/>
              </a:ext>
            </a:extLst>
          </p:cNvPr>
          <p:cNvSpPr/>
          <p:nvPr/>
        </p:nvSpPr>
        <p:spPr>
          <a:xfrm>
            <a:off x="392477" y="1630100"/>
            <a:ext cx="1170192" cy="957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>
            <a:spAutoFit/>
          </a:bodyPr>
          <a:lstStyle/>
          <a:p>
            <a:pPr>
              <a:lnSpc>
                <a:spcPts val="727"/>
              </a:lnSpc>
            </a:pPr>
            <a:r>
              <a:rPr lang="en-US" sz="800" b="1" kern="0" spc="4">
                <a:solidFill>
                  <a:srgbClr val="3F3F3F"/>
                </a:solidFill>
                <a:latin typeface="Aptos" panose="020B0004020202020204" pitchFamily="34" charset="0"/>
                <a:ea typeface="Inter"/>
                <a:cs typeface="Calibri"/>
              </a:rPr>
              <a:t>Zero Trust on Every Input</a:t>
            </a:r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D539DBEA-674D-AB4C-104C-A2874C4A6EC9}"/>
              </a:ext>
            </a:extLst>
          </p:cNvPr>
          <p:cNvSpPr/>
          <p:nvPr/>
        </p:nvSpPr>
        <p:spPr>
          <a:xfrm>
            <a:off x="392478" y="1893051"/>
            <a:ext cx="2560320" cy="510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00" kern="0" spc="1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Inter"/>
              </a:rPr>
              <a:t>Every input - attendance, bank detail change, reimbursement claim, API call - is continuously verified at source. No actor or system is trusted by default, regardless of origin.</a:t>
            </a:r>
          </a:p>
        </p:txBody>
      </p:sp>
      <p:sp>
        <p:nvSpPr>
          <p:cNvPr id="20" name="Text 22">
            <a:extLst>
              <a:ext uri="{FF2B5EF4-FFF2-40B4-BE49-F238E27FC236}">
                <a16:creationId xmlns:a16="http://schemas.microsoft.com/office/drawing/2014/main" id="{67658BFF-AD03-A892-BCE2-DBB88E8B0EA1}"/>
              </a:ext>
            </a:extLst>
          </p:cNvPr>
          <p:cNvSpPr/>
          <p:nvPr/>
        </p:nvSpPr>
        <p:spPr>
          <a:xfrm>
            <a:off x="3292790" y="1630100"/>
            <a:ext cx="2523255" cy="957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>
            <a:spAutoFit/>
          </a:bodyPr>
          <a:lstStyle/>
          <a:p>
            <a:pPr>
              <a:lnSpc>
                <a:spcPts val="727"/>
              </a:lnSpc>
            </a:pPr>
            <a:r>
              <a:rPr lang="en-US" sz="800" b="1" kern="0" spc="4">
                <a:solidFill>
                  <a:srgbClr val="3F3F3F"/>
                </a:solidFill>
                <a:latin typeface="Aptos" panose="020B0004020202020204" pitchFamily="34" charset="0"/>
                <a:ea typeface="Inter"/>
                <a:cs typeface="Calibri"/>
              </a:rPr>
              <a:t>Maximum Automation, Minimum Human Dependency</a:t>
            </a:r>
          </a:p>
        </p:txBody>
      </p:sp>
      <p:sp>
        <p:nvSpPr>
          <p:cNvPr id="21" name="Text 24">
            <a:extLst>
              <a:ext uri="{FF2B5EF4-FFF2-40B4-BE49-F238E27FC236}">
                <a16:creationId xmlns:a16="http://schemas.microsoft.com/office/drawing/2014/main" id="{87A21736-9AD6-8C52-0D95-B214CE9F1540}"/>
              </a:ext>
            </a:extLst>
          </p:cNvPr>
          <p:cNvSpPr/>
          <p:nvPr/>
        </p:nvSpPr>
        <p:spPr>
          <a:xfrm>
            <a:off x="3292790" y="1886603"/>
            <a:ext cx="2560320" cy="618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00" kern="0" spc="1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Inter"/>
              </a:rPr>
              <a:t>The payroll lifecycle executes through policy-driven workflows. Humans intervene only for exceptions - not routine processing. If a human is in the loop today, that is a design flaw to be fixed.</a:t>
            </a:r>
          </a:p>
        </p:txBody>
      </p:sp>
      <p:sp>
        <p:nvSpPr>
          <p:cNvPr id="22" name="Text 31">
            <a:extLst>
              <a:ext uri="{FF2B5EF4-FFF2-40B4-BE49-F238E27FC236}">
                <a16:creationId xmlns:a16="http://schemas.microsoft.com/office/drawing/2014/main" id="{1FB1761B-6A8E-F4E1-D6DA-6A3FC02DBBD5}"/>
              </a:ext>
            </a:extLst>
          </p:cNvPr>
          <p:cNvSpPr/>
          <p:nvPr/>
        </p:nvSpPr>
        <p:spPr>
          <a:xfrm>
            <a:off x="6193160" y="1630100"/>
            <a:ext cx="1742208" cy="957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>
            <a:spAutoFit/>
          </a:bodyPr>
          <a:lstStyle/>
          <a:p>
            <a:pPr>
              <a:lnSpc>
                <a:spcPts val="727"/>
              </a:lnSpc>
            </a:pPr>
            <a:r>
              <a:rPr lang="en-US" sz="800" b="1" kern="0" spc="4">
                <a:solidFill>
                  <a:srgbClr val="3F3F3F"/>
                </a:solidFill>
                <a:latin typeface="Aptos" panose="020B0004020202020204" pitchFamily="34" charset="0"/>
                <a:ea typeface="Inter"/>
                <a:cs typeface="Calibri"/>
              </a:rPr>
              <a:t>Policy-Driven Access, Least Privilege</a:t>
            </a:r>
          </a:p>
        </p:txBody>
      </p:sp>
      <p:sp>
        <p:nvSpPr>
          <p:cNvPr id="23" name="Text 33">
            <a:extLst>
              <a:ext uri="{FF2B5EF4-FFF2-40B4-BE49-F238E27FC236}">
                <a16:creationId xmlns:a16="http://schemas.microsoft.com/office/drawing/2014/main" id="{D972652B-F815-681A-672E-159490890EAB}"/>
              </a:ext>
            </a:extLst>
          </p:cNvPr>
          <p:cNvSpPr/>
          <p:nvPr/>
        </p:nvSpPr>
        <p:spPr>
          <a:xfrm>
            <a:off x="6193161" y="1893051"/>
            <a:ext cx="2560320" cy="510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800" kern="0" spc="1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Inter"/>
              </a:rPr>
              <a:t>Every user, bot, API, and vendor receives only the minimum access required for a specific task and duration. HRBP cannot access full payroll bank data. Payroll bot cannot modify employee master.</a:t>
            </a:r>
          </a:p>
        </p:txBody>
      </p:sp>
      <p:sp>
        <p:nvSpPr>
          <p:cNvPr id="24" name="Text 40">
            <a:extLst>
              <a:ext uri="{FF2B5EF4-FFF2-40B4-BE49-F238E27FC236}">
                <a16:creationId xmlns:a16="http://schemas.microsoft.com/office/drawing/2014/main" id="{D3744EB1-1A3C-B2EA-23A9-1B6287BBEDC8}"/>
              </a:ext>
            </a:extLst>
          </p:cNvPr>
          <p:cNvSpPr/>
          <p:nvPr/>
        </p:nvSpPr>
        <p:spPr>
          <a:xfrm>
            <a:off x="392477" y="3416460"/>
            <a:ext cx="2076594" cy="957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727"/>
              </a:lnSpc>
            </a:pPr>
            <a:r>
              <a:rPr lang="en-US" sz="800" b="1" kern="0" spc="4">
                <a:solidFill>
                  <a:srgbClr val="3F3F3F"/>
                </a:solidFill>
                <a:latin typeface="Aptos" panose="020B0004020202020204" pitchFamily="34" charset="0"/>
                <a:ea typeface="Inter"/>
                <a:cs typeface="Calibri"/>
              </a:rPr>
              <a:t>Continuous Validation &amp; Real-Time Controls</a:t>
            </a:r>
          </a:p>
        </p:txBody>
      </p:sp>
      <p:sp>
        <p:nvSpPr>
          <p:cNvPr id="25" name="Text 42">
            <a:extLst>
              <a:ext uri="{FF2B5EF4-FFF2-40B4-BE49-F238E27FC236}">
                <a16:creationId xmlns:a16="http://schemas.microsoft.com/office/drawing/2014/main" id="{5973E580-1C7E-692E-72D7-A902D2883B37}"/>
              </a:ext>
            </a:extLst>
          </p:cNvPr>
          <p:cNvSpPr/>
          <p:nvPr/>
        </p:nvSpPr>
        <p:spPr>
          <a:xfrm>
            <a:off x="392478" y="3686336"/>
            <a:ext cx="2560320" cy="683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980"/>
              </a:lnSpc>
            </a:pPr>
            <a:r>
              <a:rPr lang="en-US" sz="800" kern="0" spc="1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Inter"/>
              </a:rPr>
              <a:t>The system validates anomalies before execution - unusual salary spikes, duplicate bank accounts, stat threshold breaches - with automated alerts and hard stops. No error reaches the bank file unchecked.</a:t>
            </a:r>
          </a:p>
        </p:txBody>
      </p:sp>
      <p:sp>
        <p:nvSpPr>
          <p:cNvPr id="26" name="Text 49">
            <a:extLst>
              <a:ext uri="{FF2B5EF4-FFF2-40B4-BE49-F238E27FC236}">
                <a16:creationId xmlns:a16="http://schemas.microsoft.com/office/drawing/2014/main" id="{AD525320-57C0-6016-1EF4-3E2C97F0FCE7}"/>
              </a:ext>
            </a:extLst>
          </p:cNvPr>
          <p:cNvSpPr/>
          <p:nvPr/>
        </p:nvSpPr>
        <p:spPr>
          <a:xfrm>
            <a:off x="3306962" y="3416460"/>
            <a:ext cx="1451166" cy="957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>
              <a:lnSpc>
                <a:spcPts val="727"/>
              </a:lnSpc>
              <a:buNone/>
            </a:pPr>
            <a:r>
              <a:rPr lang="en-US" sz="800" b="1" kern="0" spc="4">
                <a:solidFill>
                  <a:srgbClr val="3F3F3F"/>
                </a:solidFill>
                <a:latin typeface="Aptos" panose="020B0004020202020204" pitchFamily="34" charset="0"/>
                <a:ea typeface="Inter"/>
                <a:cs typeface="Calibri"/>
              </a:rPr>
              <a:t>Elimination Before Automation</a:t>
            </a:r>
          </a:p>
        </p:txBody>
      </p:sp>
      <p:sp>
        <p:nvSpPr>
          <p:cNvPr id="27" name="Text 51">
            <a:extLst>
              <a:ext uri="{FF2B5EF4-FFF2-40B4-BE49-F238E27FC236}">
                <a16:creationId xmlns:a16="http://schemas.microsoft.com/office/drawing/2014/main" id="{E6D94BDA-F03D-2A51-B040-B0B74CAD9DB4}"/>
              </a:ext>
            </a:extLst>
          </p:cNvPr>
          <p:cNvSpPr/>
          <p:nvPr/>
        </p:nvSpPr>
        <p:spPr>
          <a:xfrm>
            <a:off x="3306964" y="3686336"/>
            <a:ext cx="2560320" cy="683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>
              <a:lnSpc>
                <a:spcPts val="980"/>
              </a:lnSpc>
              <a:buNone/>
            </a:pPr>
            <a:r>
              <a:rPr lang="en-US" sz="800" kern="0" spc="1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Inter"/>
              </a:rPr>
              <a:t>If a manual step can be removed entirely, do not automate it - eliminate it. The CAE Excel chain is not automated; it is replaced with a direct API feed. The Draft Register loop is not sped up; it is rendered unnecessary.</a:t>
            </a:r>
          </a:p>
        </p:txBody>
      </p:sp>
      <p:sp>
        <p:nvSpPr>
          <p:cNvPr id="28" name="Text 58">
            <a:extLst>
              <a:ext uri="{FF2B5EF4-FFF2-40B4-BE49-F238E27FC236}">
                <a16:creationId xmlns:a16="http://schemas.microsoft.com/office/drawing/2014/main" id="{EE02E6AF-FE8C-D992-D9DF-1204F8EA8F0E}"/>
              </a:ext>
            </a:extLst>
          </p:cNvPr>
          <p:cNvSpPr/>
          <p:nvPr/>
        </p:nvSpPr>
        <p:spPr>
          <a:xfrm>
            <a:off x="6177075" y="3415819"/>
            <a:ext cx="1930208" cy="957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>
            <a:spAutoFit/>
          </a:bodyPr>
          <a:lstStyle/>
          <a:p>
            <a:pPr>
              <a:lnSpc>
                <a:spcPts val="727"/>
              </a:lnSpc>
            </a:pPr>
            <a:r>
              <a:rPr lang="en-US" sz="800" b="1" kern="0" spc="4">
                <a:solidFill>
                  <a:srgbClr val="3F3F3F"/>
                </a:solidFill>
                <a:latin typeface="Aptos" panose="020B0004020202020204" pitchFamily="34" charset="0"/>
                <a:ea typeface="Inter"/>
                <a:cs typeface="Calibri"/>
              </a:rPr>
              <a:t>Progressive Delivery — Highest Risk First</a:t>
            </a:r>
          </a:p>
        </p:txBody>
      </p:sp>
      <p:sp>
        <p:nvSpPr>
          <p:cNvPr id="29" name="Text 60">
            <a:extLst>
              <a:ext uri="{FF2B5EF4-FFF2-40B4-BE49-F238E27FC236}">
                <a16:creationId xmlns:a16="http://schemas.microsoft.com/office/drawing/2014/main" id="{F0A927AA-FA91-F1BD-C3FA-1E91A48AA39E}"/>
              </a:ext>
            </a:extLst>
          </p:cNvPr>
          <p:cNvSpPr/>
          <p:nvPr/>
        </p:nvSpPr>
        <p:spPr>
          <a:xfrm>
            <a:off x="6177076" y="3661074"/>
            <a:ext cx="2560320" cy="683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980"/>
              </a:lnSpc>
            </a:pPr>
            <a:r>
              <a:rPr lang="en-US" sz="800" kern="0" spc="1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Inter"/>
              </a:rPr>
              <a:t>Compliance risk (</a:t>
            </a:r>
            <a:r>
              <a:rPr lang="en-US" sz="800" kern="0" spc="10" err="1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Inter"/>
              </a:rPr>
              <a:t>FnF</a:t>
            </a:r>
            <a:r>
              <a:rPr lang="en-US" sz="800" kern="0" spc="1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Inter"/>
              </a:rPr>
              <a:t>/Code on Wages) addressed in M2-3. Highest volume manual inputs next. Tail-end cleanup last. No big-bang cutover. Each phase delivers measurable reduction in manual </a:t>
            </a:r>
            <a:r>
              <a:rPr lang="en-US" sz="800" kern="0" spc="10" err="1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Inter"/>
              </a:rPr>
              <a:t>payheads</a:t>
            </a:r>
            <a:r>
              <a:rPr lang="en-US" sz="800" kern="0" spc="1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Inter"/>
              </a:rPr>
              <a:t>.</a:t>
            </a:r>
          </a:p>
        </p:txBody>
      </p:sp>
      <p:sp>
        <p:nvSpPr>
          <p:cNvPr id="30" name="Round Same Side Corner Rectangle 29">
            <a:extLst>
              <a:ext uri="{FF2B5EF4-FFF2-40B4-BE49-F238E27FC236}">
                <a16:creationId xmlns:a16="http://schemas.microsoft.com/office/drawing/2014/main" id="{C4EDB7FF-840F-0F19-5E5C-D0CE0959E2BD}"/>
              </a:ext>
            </a:extLst>
          </p:cNvPr>
          <p:cNvSpPr/>
          <p:nvPr/>
        </p:nvSpPr>
        <p:spPr>
          <a:xfrm rot="5400000">
            <a:off x="473506" y="1039453"/>
            <a:ext cx="256699" cy="602520"/>
          </a:xfrm>
          <a:prstGeom prst="round2SameRect">
            <a:avLst/>
          </a:prstGeom>
          <a:solidFill>
            <a:srgbClr val="D9528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484"/>
              </a:lnSpc>
            </a:pPr>
            <a:endParaRPr lang="en-US" b="1">
              <a:solidFill>
                <a:schemeClr val="bg1"/>
              </a:solidFill>
              <a:latin typeface="Aptos ExtraBold" panose="020B0004020202020204" pitchFamily="34" charset="0"/>
            </a:endParaRPr>
          </a:p>
        </p:txBody>
      </p:sp>
      <p:sp>
        <p:nvSpPr>
          <p:cNvPr id="31" name="Round Same Side Corner Rectangle 30">
            <a:extLst>
              <a:ext uri="{FF2B5EF4-FFF2-40B4-BE49-F238E27FC236}">
                <a16:creationId xmlns:a16="http://schemas.microsoft.com/office/drawing/2014/main" id="{94DA70A4-F8DA-FE98-3FAE-89BCFEB08189}"/>
              </a:ext>
            </a:extLst>
          </p:cNvPr>
          <p:cNvSpPr/>
          <p:nvPr/>
        </p:nvSpPr>
        <p:spPr>
          <a:xfrm rot="5400000">
            <a:off x="3379621" y="1039454"/>
            <a:ext cx="256699" cy="602520"/>
          </a:xfrm>
          <a:prstGeom prst="round2SameRect">
            <a:avLst/>
          </a:prstGeom>
          <a:solidFill>
            <a:srgbClr val="FF7B8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484"/>
              </a:lnSpc>
            </a:pPr>
            <a:endParaRPr lang="en-US" b="1">
              <a:solidFill>
                <a:schemeClr val="bg1"/>
              </a:solidFill>
              <a:latin typeface="Aptos ExtraBold" panose="020B0004020202020204" pitchFamily="34" charset="0"/>
            </a:endParaRPr>
          </a:p>
        </p:txBody>
      </p:sp>
      <p:sp>
        <p:nvSpPr>
          <p:cNvPr id="32" name="Round Same Side Corner Rectangle 31">
            <a:extLst>
              <a:ext uri="{FF2B5EF4-FFF2-40B4-BE49-F238E27FC236}">
                <a16:creationId xmlns:a16="http://schemas.microsoft.com/office/drawing/2014/main" id="{EC51CED7-A4F8-5F16-9C03-A3A457EAA10D}"/>
              </a:ext>
            </a:extLst>
          </p:cNvPr>
          <p:cNvSpPr/>
          <p:nvPr/>
        </p:nvSpPr>
        <p:spPr>
          <a:xfrm rot="5400000">
            <a:off x="6266142" y="1039455"/>
            <a:ext cx="256699" cy="602520"/>
          </a:xfrm>
          <a:prstGeom prst="round2Same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484"/>
              </a:lnSpc>
            </a:pPr>
            <a:endParaRPr lang="en-US" b="1">
              <a:solidFill>
                <a:schemeClr val="bg1"/>
              </a:solidFill>
              <a:latin typeface="Aptos ExtraBold" panose="020B0004020202020204" pitchFamily="34" charset="0"/>
            </a:endParaRPr>
          </a:p>
        </p:txBody>
      </p:sp>
      <p:sp>
        <p:nvSpPr>
          <p:cNvPr id="33" name="Round Same Side Corner Rectangle 32">
            <a:extLst>
              <a:ext uri="{FF2B5EF4-FFF2-40B4-BE49-F238E27FC236}">
                <a16:creationId xmlns:a16="http://schemas.microsoft.com/office/drawing/2014/main" id="{C12318D5-67AB-9B3A-1946-ADB4D66EE9DB}"/>
              </a:ext>
            </a:extLst>
          </p:cNvPr>
          <p:cNvSpPr/>
          <p:nvPr/>
        </p:nvSpPr>
        <p:spPr>
          <a:xfrm rot="5400000">
            <a:off x="473506" y="2829065"/>
            <a:ext cx="256699" cy="602520"/>
          </a:xfrm>
          <a:prstGeom prst="round2SameRect">
            <a:avLst/>
          </a:prstGeom>
          <a:solidFill>
            <a:srgbClr val="8B51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484"/>
              </a:lnSpc>
            </a:pPr>
            <a:endParaRPr lang="en-US" b="1">
              <a:solidFill>
                <a:schemeClr val="bg1"/>
              </a:solidFill>
              <a:latin typeface="Aptos ExtraBold" panose="020B0004020202020204" pitchFamily="34" charset="0"/>
            </a:endParaRPr>
          </a:p>
        </p:txBody>
      </p:sp>
      <p:sp>
        <p:nvSpPr>
          <p:cNvPr id="34" name="Round Same Side Corner Rectangle 33">
            <a:extLst>
              <a:ext uri="{FF2B5EF4-FFF2-40B4-BE49-F238E27FC236}">
                <a16:creationId xmlns:a16="http://schemas.microsoft.com/office/drawing/2014/main" id="{3CD9DB32-BD2C-A9BB-1F6A-336081916161}"/>
              </a:ext>
            </a:extLst>
          </p:cNvPr>
          <p:cNvSpPr/>
          <p:nvPr/>
        </p:nvSpPr>
        <p:spPr>
          <a:xfrm rot="5400000">
            <a:off x="3379621" y="2829066"/>
            <a:ext cx="256699" cy="602520"/>
          </a:xfrm>
          <a:prstGeom prst="round2SameRect">
            <a:avLst/>
          </a:prstGeom>
          <a:solidFill>
            <a:srgbClr val="0177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484"/>
              </a:lnSpc>
            </a:pPr>
            <a:endParaRPr lang="en-US" b="1">
              <a:solidFill>
                <a:schemeClr val="bg1"/>
              </a:solidFill>
              <a:latin typeface="Aptos ExtraBold" panose="020B0004020202020204" pitchFamily="34" charset="0"/>
            </a:endParaRPr>
          </a:p>
        </p:txBody>
      </p:sp>
      <p:sp>
        <p:nvSpPr>
          <p:cNvPr id="35" name="Round Same Side Corner Rectangle 34">
            <a:extLst>
              <a:ext uri="{FF2B5EF4-FFF2-40B4-BE49-F238E27FC236}">
                <a16:creationId xmlns:a16="http://schemas.microsoft.com/office/drawing/2014/main" id="{B72F4047-53B2-FAEA-0BF2-D48513BE2403}"/>
              </a:ext>
            </a:extLst>
          </p:cNvPr>
          <p:cNvSpPr/>
          <p:nvPr/>
        </p:nvSpPr>
        <p:spPr>
          <a:xfrm rot="5400000">
            <a:off x="6266142" y="2829067"/>
            <a:ext cx="256699" cy="602520"/>
          </a:xfrm>
          <a:prstGeom prst="round2SameRect">
            <a:avLst/>
          </a:prstGeom>
          <a:solidFill>
            <a:srgbClr val="349D9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484"/>
              </a:lnSpc>
            </a:pPr>
            <a:endParaRPr lang="en-US" b="1">
              <a:solidFill>
                <a:schemeClr val="bg1"/>
              </a:solidFill>
              <a:latin typeface="Aptos ExtraBold" panose="020B0004020202020204" pitchFamily="3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DCA770C-C94B-D3ED-7403-E0BCB23A3253}"/>
              </a:ext>
            </a:extLst>
          </p:cNvPr>
          <p:cNvSpPr/>
          <p:nvPr/>
        </p:nvSpPr>
        <p:spPr>
          <a:xfrm>
            <a:off x="302901" y="1193089"/>
            <a:ext cx="471243" cy="2480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484"/>
              </a:lnSpc>
            </a:pPr>
            <a:r>
              <a:rPr lang="en-US" sz="1600" b="1" kern="0">
                <a:solidFill>
                  <a:schemeClr val="bg1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600" b="1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40E9206-12DE-E534-336E-3A0C1CB42B26}"/>
              </a:ext>
            </a:extLst>
          </p:cNvPr>
          <p:cNvSpPr/>
          <p:nvPr/>
        </p:nvSpPr>
        <p:spPr>
          <a:xfrm>
            <a:off x="3209016" y="1193090"/>
            <a:ext cx="471243" cy="2480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484"/>
              </a:lnSpc>
            </a:pPr>
            <a:r>
              <a:rPr lang="en-US" sz="1600" b="1" kern="0">
                <a:solidFill>
                  <a:schemeClr val="bg1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600" b="1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69375B8-9412-CA88-D05F-152211DCFA5E}"/>
              </a:ext>
            </a:extLst>
          </p:cNvPr>
          <p:cNvSpPr/>
          <p:nvPr/>
        </p:nvSpPr>
        <p:spPr>
          <a:xfrm>
            <a:off x="6095537" y="1193091"/>
            <a:ext cx="471243" cy="2480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484"/>
              </a:lnSpc>
            </a:pPr>
            <a:r>
              <a:rPr lang="en-US" sz="1600" b="1" kern="0">
                <a:solidFill>
                  <a:schemeClr val="bg1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600" b="1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9E70B28-EE7D-FD90-38BF-683A8B1FE7E9}"/>
              </a:ext>
            </a:extLst>
          </p:cNvPr>
          <p:cNvSpPr/>
          <p:nvPr/>
        </p:nvSpPr>
        <p:spPr>
          <a:xfrm>
            <a:off x="302901" y="2982701"/>
            <a:ext cx="471243" cy="2480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484"/>
              </a:lnSpc>
            </a:pPr>
            <a:r>
              <a:rPr lang="en-US" sz="1600" b="1" kern="0">
                <a:solidFill>
                  <a:schemeClr val="bg1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600" b="1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CBC382D-2287-F84C-1E4C-74954757C9EC}"/>
              </a:ext>
            </a:extLst>
          </p:cNvPr>
          <p:cNvSpPr/>
          <p:nvPr/>
        </p:nvSpPr>
        <p:spPr>
          <a:xfrm>
            <a:off x="3209016" y="2982702"/>
            <a:ext cx="471243" cy="2480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484"/>
              </a:lnSpc>
            </a:pPr>
            <a:r>
              <a:rPr lang="en-US" sz="1600" b="1" kern="0">
                <a:solidFill>
                  <a:schemeClr val="bg1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600" b="1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C507FAC-E8BA-C7CB-AFE9-6EB669E6AEA5}"/>
              </a:ext>
            </a:extLst>
          </p:cNvPr>
          <p:cNvSpPr/>
          <p:nvPr/>
        </p:nvSpPr>
        <p:spPr>
          <a:xfrm>
            <a:off x="6095537" y="2982703"/>
            <a:ext cx="471243" cy="2480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484"/>
              </a:lnSpc>
            </a:pPr>
            <a:r>
              <a:rPr lang="en-US" sz="1600" b="1" kern="0">
                <a:solidFill>
                  <a:schemeClr val="bg1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600" b="1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4645E899-9BEC-DBA2-7A69-0DC3600136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9597" y="1225103"/>
            <a:ext cx="229403" cy="229403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0094BC14-62C0-FFC7-AF98-9C0D3FA160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3488" y="1232002"/>
            <a:ext cx="229403" cy="229403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287CE31E-FA3F-2139-6539-E75BAA55E1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2385" y="1232002"/>
            <a:ext cx="229403" cy="229403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93F5D588-6D2A-868E-B45A-91EA78D6D6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69206" y="3014715"/>
            <a:ext cx="229403" cy="229403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4751794B-6171-3577-6D69-20E0F2002CB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63488" y="3012251"/>
            <a:ext cx="229403" cy="229403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41333F52-9B55-C9B2-6365-DD659549DBD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52385" y="3012251"/>
            <a:ext cx="229403" cy="229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1565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E2859-FF8B-B577-09EE-C982E508B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E8AD1A42-C9CE-030E-C26B-3FADA12529E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590937" y="4857026"/>
            <a:ext cx="1938326" cy="2864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Shape 29">
            <a:extLst>
              <a:ext uri="{FF2B5EF4-FFF2-40B4-BE49-F238E27FC236}">
                <a16:creationId xmlns:a16="http://schemas.microsoft.com/office/drawing/2014/main" id="{3AFC6D70-3639-4265-EE59-B0AE71C69873}"/>
              </a:ext>
            </a:extLst>
          </p:cNvPr>
          <p:cNvSpPr/>
          <p:nvPr/>
        </p:nvSpPr>
        <p:spPr>
          <a:xfrm>
            <a:off x="225479" y="2127598"/>
            <a:ext cx="6323137" cy="123456"/>
          </a:xfrm>
          <a:prstGeom prst="roundRect">
            <a:avLst>
              <a:gd name="adj" fmla="val 65501"/>
            </a:avLst>
          </a:prstGeom>
          <a:solidFill>
            <a:srgbClr val="004D3F"/>
          </a:solidFill>
          <a:ln w="2262">
            <a:noFill/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4" name="Shape 201">
            <a:extLst>
              <a:ext uri="{FF2B5EF4-FFF2-40B4-BE49-F238E27FC236}">
                <a16:creationId xmlns:a16="http://schemas.microsoft.com/office/drawing/2014/main" id="{7257B246-8677-D317-1A3B-B4D410377558}"/>
              </a:ext>
            </a:extLst>
          </p:cNvPr>
          <p:cNvSpPr/>
          <p:nvPr/>
        </p:nvSpPr>
        <p:spPr>
          <a:xfrm>
            <a:off x="232388" y="1680317"/>
            <a:ext cx="1650773" cy="339490"/>
          </a:xfrm>
          <a:prstGeom prst="roundRect">
            <a:avLst>
              <a:gd name="adj" fmla="val 5273"/>
            </a:avLst>
          </a:prstGeom>
          <a:solidFill>
            <a:srgbClr val="69C582"/>
          </a:solidFill>
          <a:ln w="4162">
            <a:noFill/>
            <a:prstDash val="solid"/>
          </a:ln>
        </p:spPr>
        <p:txBody>
          <a:bodyPr/>
          <a:lstStyle/>
          <a:p>
            <a:endParaRPr lang="en-US">
              <a:highlight>
                <a:srgbClr val="000080"/>
              </a:highlight>
              <a:latin typeface="Aptos" panose="020B0004020202020204" pitchFamily="34" charset="0"/>
            </a:endParaRPr>
          </a:p>
        </p:txBody>
      </p:sp>
      <p:sp>
        <p:nvSpPr>
          <p:cNvPr id="375" name="Shape 23">
            <a:extLst>
              <a:ext uri="{FF2B5EF4-FFF2-40B4-BE49-F238E27FC236}">
                <a16:creationId xmlns:a16="http://schemas.microsoft.com/office/drawing/2014/main" id="{CE2226CF-C93E-D724-5436-51C4EECF287E}"/>
              </a:ext>
            </a:extLst>
          </p:cNvPr>
          <p:cNvSpPr/>
          <p:nvPr/>
        </p:nvSpPr>
        <p:spPr>
          <a:xfrm>
            <a:off x="3728282" y="3730619"/>
            <a:ext cx="1638530" cy="1371934"/>
          </a:xfrm>
          <a:prstGeom prst="roundRect">
            <a:avLst>
              <a:gd name="adj" fmla="val 4065"/>
            </a:avLst>
          </a:prstGeom>
          <a:solidFill>
            <a:srgbClr val="FF7235"/>
          </a:solidFill>
          <a:ln w="4162">
            <a:noFill/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340" name="Shape 23">
            <a:extLst>
              <a:ext uri="{FF2B5EF4-FFF2-40B4-BE49-F238E27FC236}">
                <a16:creationId xmlns:a16="http://schemas.microsoft.com/office/drawing/2014/main" id="{0E8718AE-1459-ACD5-3093-F7BF7048206E}"/>
              </a:ext>
            </a:extLst>
          </p:cNvPr>
          <p:cNvSpPr/>
          <p:nvPr/>
        </p:nvSpPr>
        <p:spPr>
          <a:xfrm>
            <a:off x="2024744" y="3730618"/>
            <a:ext cx="1579516" cy="1371935"/>
          </a:xfrm>
          <a:prstGeom prst="roundRect">
            <a:avLst>
              <a:gd name="adj" fmla="val 4065"/>
            </a:avLst>
          </a:prstGeom>
          <a:solidFill>
            <a:schemeClr val="accent5"/>
          </a:solidFill>
          <a:ln w="4162">
            <a:noFill/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61" name="Rounded Rectangle 260">
            <a:extLst>
              <a:ext uri="{FF2B5EF4-FFF2-40B4-BE49-F238E27FC236}">
                <a16:creationId xmlns:a16="http://schemas.microsoft.com/office/drawing/2014/main" id="{0FB1E467-7EB3-B4E9-3A6D-3B9D2DACCA73}"/>
              </a:ext>
            </a:extLst>
          </p:cNvPr>
          <p:cNvSpPr/>
          <p:nvPr/>
        </p:nvSpPr>
        <p:spPr>
          <a:xfrm>
            <a:off x="276193" y="1016167"/>
            <a:ext cx="1564553" cy="298087"/>
          </a:xfrm>
          <a:prstGeom prst="roundRect">
            <a:avLst>
              <a:gd name="adj" fmla="val 991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2" name="Shape 29">
            <a:extLst>
              <a:ext uri="{FF2B5EF4-FFF2-40B4-BE49-F238E27FC236}">
                <a16:creationId xmlns:a16="http://schemas.microsoft.com/office/drawing/2014/main" id="{9A882F65-1552-AC66-BC48-53B76010416B}"/>
              </a:ext>
            </a:extLst>
          </p:cNvPr>
          <p:cNvSpPr/>
          <p:nvPr/>
        </p:nvSpPr>
        <p:spPr>
          <a:xfrm>
            <a:off x="225479" y="813506"/>
            <a:ext cx="5241327" cy="123456"/>
          </a:xfrm>
          <a:prstGeom prst="roundRect">
            <a:avLst>
              <a:gd name="adj" fmla="val 65501"/>
            </a:avLst>
          </a:prstGeom>
          <a:solidFill>
            <a:srgbClr val="30985F"/>
          </a:solidFill>
          <a:ln w="2262">
            <a:noFill/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914D72CE-6D91-FD1E-4264-F4943D7BEB3E}"/>
              </a:ext>
            </a:extLst>
          </p:cNvPr>
          <p:cNvSpPr/>
          <p:nvPr/>
        </p:nvSpPr>
        <p:spPr>
          <a:xfrm>
            <a:off x="3480403" y="188119"/>
            <a:ext cx="5663598" cy="387538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AB6AD4AC-EB07-C5AC-58D3-5381FA11FB18}"/>
              </a:ext>
            </a:extLst>
          </p:cNvPr>
          <p:cNvSpPr/>
          <p:nvPr/>
        </p:nvSpPr>
        <p:spPr>
          <a:xfrm>
            <a:off x="228600" y="567842"/>
            <a:ext cx="8686800" cy="199091"/>
          </a:xfrm>
          <a:prstGeom prst="rect">
            <a:avLst/>
          </a:prstGeom>
          <a:solidFill>
            <a:srgbClr val="FFFFFF"/>
          </a:solidFill>
          <a:ln w="6901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71ED44D4-AF94-D27C-D532-6243445301A3}"/>
              </a:ext>
            </a:extLst>
          </p:cNvPr>
          <p:cNvSpPr/>
          <p:nvPr/>
        </p:nvSpPr>
        <p:spPr>
          <a:xfrm>
            <a:off x="693055" y="609176"/>
            <a:ext cx="653138" cy="109708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4743F0AA-0C9A-F168-76B1-AF5F58DC5340}"/>
              </a:ext>
            </a:extLst>
          </p:cNvPr>
          <p:cNvSpPr/>
          <p:nvPr/>
        </p:nvSpPr>
        <p:spPr>
          <a:xfrm>
            <a:off x="693055" y="612808"/>
            <a:ext cx="5715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21"/>
              </a:lnSpc>
              <a:buNone/>
            </a:pPr>
            <a:r>
              <a:rPr lang="en-US" sz="499" b="1" kern="0" spc="34">
                <a:solidFill>
                  <a:srgbClr val="059669">
                    <a:alpha val="99000"/>
                  </a:srgbClr>
                </a:solidFill>
                <a:latin typeface="Aptos" panose="020B0004020202020204" pitchFamily="34" charset="0"/>
                <a:ea typeface="Nunito Sans" pitchFamily="34" charset="-122"/>
                <a:cs typeface="Nunito Sans" pitchFamily="34" charset="-120"/>
              </a:rPr>
              <a:t>TARGET STATE:</a:t>
            </a:r>
            <a:endParaRPr lang="en-US" sz="499">
              <a:latin typeface="Aptos" panose="020B0004020202020204" pitchFamily="34" charset="0"/>
            </a:endParaRP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ACC7F97A-B147-523D-6D14-7383E81EE2E0}"/>
              </a:ext>
            </a:extLst>
          </p:cNvPr>
          <p:cNvSpPr/>
          <p:nvPr/>
        </p:nvSpPr>
        <p:spPr>
          <a:xfrm>
            <a:off x="1346197" y="604498"/>
            <a:ext cx="1271588" cy="119063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F2C6365F-D3AB-1992-2093-B3AF4CA89264}"/>
              </a:ext>
            </a:extLst>
          </p:cNvPr>
          <p:cNvSpPr/>
          <p:nvPr/>
        </p:nvSpPr>
        <p:spPr>
          <a:xfrm>
            <a:off x="2617784" y="618415"/>
            <a:ext cx="108404" cy="174354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8C76B26E-35DB-FABE-3AD5-83FCD06369E4}"/>
              </a:ext>
            </a:extLst>
          </p:cNvPr>
          <p:cNvSpPr/>
          <p:nvPr/>
        </p:nvSpPr>
        <p:spPr>
          <a:xfrm>
            <a:off x="2623089" y="573220"/>
            <a:ext cx="3810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4"/>
              </a:lnSpc>
              <a:buNone/>
            </a:pPr>
            <a:r>
              <a:rPr lang="en-US" sz="869" kern="0" spc="-17">
                <a:solidFill>
                  <a:srgbClr val="E2E8F0">
                    <a:alpha val="99000"/>
                  </a:srgbClr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|</a:t>
            </a:r>
            <a:endParaRPr lang="en-US" sz="869">
              <a:latin typeface="Aptos" panose="020B0004020202020204" pitchFamily="34" charset="0"/>
            </a:endParaRP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A6554B0D-4BAE-E8DB-3F63-2101B4036C74}"/>
              </a:ext>
            </a:extLst>
          </p:cNvPr>
          <p:cNvSpPr/>
          <p:nvPr/>
        </p:nvSpPr>
        <p:spPr>
          <a:xfrm>
            <a:off x="2726187" y="604498"/>
            <a:ext cx="671513" cy="119063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7347DD36-5301-DE3D-AB46-62077FCB4776}"/>
              </a:ext>
            </a:extLst>
          </p:cNvPr>
          <p:cNvSpPr/>
          <p:nvPr/>
        </p:nvSpPr>
        <p:spPr>
          <a:xfrm>
            <a:off x="2726187" y="600866"/>
            <a:ext cx="647700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72"/>
              </a:lnSpc>
              <a:buNone/>
            </a:pPr>
            <a:r>
              <a:rPr lang="en-US" sz="499" kern="0" spc="4">
                <a:solidFill>
                  <a:srgbClr val="00B050"/>
                </a:solidFill>
                <a:latin typeface="Aptos" panose="020B0004020202020204" pitchFamily="34" charset="0"/>
                <a:ea typeface="Nunito Sans" pitchFamily="34" charset="-122"/>
                <a:cs typeface="Nunito Sans" pitchFamily="34" charset="-120"/>
              </a:rPr>
              <a:t>Event-driven payroll</a:t>
            </a:r>
            <a:endParaRPr lang="en-US" sz="499">
              <a:solidFill>
                <a:srgbClr val="00B050"/>
              </a:solidFill>
              <a:latin typeface="Aptos" panose="020B0004020202020204" pitchFamily="34" charset="0"/>
            </a:endParaRPr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0F4E6681-1D36-060B-0A11-89600A43D828}"/>
              </a:ext>
            </a:extLst>
          </p:cNvPr>
          <p:cNvSpPr/>
          <p:nvPr/>
        </p:nvSpPr>
        <p:spPr>
          <a:xfrm>
            <a:off x="3397700" y="618415"/>
            <a:ext cx="108404" cy="174354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D1EBD364-896B-6E52-1F5D-2F1F8804BDDE}"/>
              </a:ext>
            </a:extLst>
          </p:cNvPr>
          <p:cNvSpPr/>
          <p:nvPr/>
        </p:nvSpPr>
        <p:spPr>
          <a:xfrm>
            <a:off x="3438004" y="573220"/>
            <a:ext cx="3810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4"/>
              </a:lnSpc>
              <a:buNone/>
            </a:pPr>
            <a:r>
              <a:rPr lang="en-US" sz="869" kern="0" spc="-17">
                <a:solidFill>
                  <a:srgbClr val="E2E8F0">
                    <a:alpha val="99000"/>
                  </a:srgbClr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|</a:t>
            </a:r>
            <a:endParaRPr lang="en-US" sz="869">
              <a:latin typeface="Aptos" panose="020B0004020202020204" pitchFamily="34" charset="0"/>
            </a:endParaRPr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08DBB4DA-B886-B288-11F7-2370CA46E784}"/>
              </a:ext>
            </a:extLst>
          </p:cNvPr>
          <p:cNvSpPr/>
          <p:nvPr/>
        </p:nvSpPr>
        <p:spPr>
          <a:xfrm>
            <a:off x="3506102" y="604498"/>
            <a:ext cx="1204913" cy="119063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D2537F88-E8DD-F619-05B3-42D08ED19D97}"/>
              </a:ext>
            </a:extLst>
          </p:cNvPr>
          <p:cNvSpPr/>
          <p:nvPr/>
        </p:nvSpPr>
        <p:spPr>
          <a:xfrm>
            <a:off x="4711015" y="618415"/>
            <a:ext cx="108404" cy="174354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F1BA3F6C-6B6A-D0CF-4F04-DF8DC1E74628}"/>
              </a:ext>
            </a:extLst>
          </p:cNvPr>
          <p:cNvSpPr/>
          <p:nvPr/>
        </p:nvSpPr>
        <p:spPr>
          <a:xfrm>
            <a:off x="4711944" y="573220"/>
            <a:ext cx="3810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4"/>
              </a:lnSpc>
              <a:buNone/>
            </a:pPr>
            <a:r>
              <a:rPr lang="en-US" sz="869" kern="0" spc="-17">
                <a:solidFill>
                  <a:srgbClr val="E2E8F0">
                    <a:alpha val="99000"/>
                  </a:srgbClr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|</a:t>
            </a:r>
            <a:endParaRPr lang="en-US" sz="869">
              <a:latin typeface="Aptos" panose="020B0004020202020204" pitchFamily="34" charset="0"/>
            </a:endParaRPr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0421E6B4-25C6-490E-71DD-E1613581BCCF}"/>
              </a:ext>
            </a:extLst>
          </p:cNvPr>
          <p:cNvSpPr/>
          <p:nvPr/>
        </p:nvSpPr>
        <p:spPr>
          <a:xfrm>
            <a:off x="4819417" y="604498"/>
            <a:ext cx="128587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72"/>
              </a:lnSpc>
              <a:buNone/>
            </a:pPr>
            <a:r>
              <a:rPr lang="en-US" sz="499" b="1" kern="0" spc="4" dirty="0">
                <a:solidFill>
                  <a:srgbClr val="00B050"/>
                </a:solidFill>
                <a:latin typeface="Aptos" panose="020B0004020202020204" pitchFamily="34" charset="0"/>
                <a:ea typeface="Nunito Sans" pitchFamily="34" charset="-122"/>
                <a:cs typeface="Nunito Sans" pitchFamily="34" charset="-120"/>
              </a:rPr>
              <a:t>Track A Direct Integration (80 </a:t>
            </a:r>
            <a:r>
              <a:rPr lang="en-US" sz="499" b="1" kern="0" spc="4" dirty="0" err="1">
                <a:solidFill>
                  <a:srgbClr val="00B050"/>
                </a:solidFill>
                <a:latin typeface="Aptos" panose="020B0004020202020204" pitchFamily="34" charset="0"/>
                <a:ea typeface="Nunito Sans" pitchFamily="34" charset="-122"/>
                <a:cs typeface="Nunito Sans" pitchFamily="34" charset="-120"/>
              </a:rPr>
              <a:t>payheads</a:t>
            </a:r>
            <a:r>
              <a:rPr lang="en-US" sz="499" b="1" kern="0" spc="4" dirty="0">
                <a:solidFill>
                  <a:srgbClr val="00B050"/>
                </a:solidFill>
                <a:latin typeface="Aptos" panose="020B0004020202020204" pitchFamily="34" charset="0"/>
                <a:ea typeface="Nunito Sans" pitchFamily="34" charset="-122"/>
                <a:cs typeface="Nunito Sans" pitchFamily="34" charset="-120"/>
              </a:rPr>
              <a:t>)</a:t>
            </a:r>
            <a:endParaRPr lang="en-US" sz="499" dirty="0">
              <a:solidFill>
                <a:srgbClr val="00B050"/>
              </a:solidFill>
              <a:latin typeface="Aptos" panose="020B0004020202020204" pitchFamily="34" charset="0"/>
            </a:endParaRPr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6C0F457D-3288-3F66-5FEA-DA6C9711B92D}"/>
              </a:ext>
            </a:extLst>
          </p:cNvPr>
          <p:cNvSpPr/>
          <p:nvPr/>
        </p:nvSpPr>
        <p:spPr>
          <a:xfrm>
            <a:off x="6105292" y="618415"/>
            <a:ext cx="108404" cy="174354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38DF10CE-3319-652B-70D9-55C395B1F5CF}"/>
              </a:ext>
            </a:extLst>
          </p:cNvPr>
          <p:cNvSpPr/>
          <p:nvPr/>
        </p:nvSpPr>
        <p:spPr>
          <a:xfrm>
            <a:off x="6119347" y="573220"/>
            <a:ext cx="3810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4"/>
              </a:lnSpc>
              <a:buNone/>
            </a:pPr>
            <a:r>
              <a:rPr lang="en-US" sz="869" kern="0" spc="-17">
                <a:solidFill>
                  <a:srgbClr val="E2E8F0">
                    <a:alpha val="99000"/>
                  </a:srgbClr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|</a:t>
            </a:r>
            <a:endParaRPr lang="en-US" sz="869">
              <a:latin typeface="Aptos" panose="020B0004020202020204" pitchFamily="34" charset="0"/>
            </a:endParaRPr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B5A1C3C7-C92F-C833-A55C-BD6688E92239}"/>
              </a:ext>
            </a:extLst>
          </p:cNvPr>
          <p:cNvSpPr/>
          <p:nvPr/>
        </p:nvSpPr>
        <p:spPr>
          <a:xfrm>
            <a:off x="6213704" y="595749"/>
            <a:ext cx="2431532" cy="114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872"/>
              </a:lnSpc>
            </a:pPr>
            <a:r>
              <a:rPr lang="en-US" sz="499" b="1" kern="0" spc="4" dirty="0">
                <a:solidFill>
                  <a:srgbClr val="00B050"/>
                </a:solidFill>
                <a:latin typeface="Aptos" panose="020B0004020202020204" pitchFamily="34" charset="0"/>
                <a:ea typeface="Nunito Sans" pitchFamily="34" charset="-122"/>
                <a:cs typeface="Nunito Sans" pitchFamily="34" charset="-120"/>
              </a:rPr>
              <a:t>Track B via new Inhouse system + AI Validation Engine (104 </a:t>
            </a:r>
            <a:r>
              <a:rPr lang="en-US" sz="499" b="1" kern="0" spc="4" dirty="0" err="1">
                <a:solidFill>
                  <a:srgbClr val="00B050"/>
                </a:solidFill>
                <a:latin typeface="Aptos" panose="020B0004020202020204" pitchFamily="34" charset="0"/>
                <a:ea typeface="Nunito Sans" pitchFamily="34" charset="-122"/>
                <a:cs typeface="Nunito Sans" pitchFamily="34" charset="-120"/>
              </a:rPr>
              <a:t>payheads</a:t>
            </a:r>
            <a:r>
              <a:rPr lang="en-US" sz="499" b="1" kern="0" spc="4" dirty="0">
                <a:solidFill>
                  <a:srgbClr val="00B050"/>
                </a:solidFill>
                <a:latin typeface="Aptos" panose="020B0004020202020204" pitchFamily="34" charset="0"/>
                <a:ea typeface="Nunito Sans" pitchFamily="34" charset="-122"/>
                <a:cs typeface="Nunito Sans" pitchFamily="34" charset="-120"/>
              </a:rPr>
              <a:t>)</a:t>
            </a:r>
            <a:endParaRPr lang="en-US" sz="499" dirty="0">
              <a:solidFill>
                <a:srgbClr val="00B050"/>
              </a:solidFill>
              <a:latin typeface="Aptos" panose="020B0004020202020204" pitchFamily="34" charset="0"/>
            </a:endParaRPr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865F8270-A1A7-7176-0BB5-C45156A7353D}"/>
              </a:ext>
            </a:extLst>
          </p:cNvPr>
          <p:cNvSpPr/>
          <p:nvPr/>
        </p:nvSpPr>
        <p:spPr>
          <a:xfrm>
            <a:off x="7213829" y="618415"/>
            <a:ext cx="108404" cy="174354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93EFA73F-667B-4C8E-CD42-3AE6BEFCF61E}"/>
              </a:ext>
            </a:extLst>
          </p:cNvPr>
          <p:cNvSpPr/>
          <p:nvPr/>
        </p:nvSpPr>
        <p:spPr>
          <a:xfrm>
            <a:off x="228600" y="3730618"/>
            <a:ext cx="1655534" cy="934904"/>
          </a:xfrm>
          <a:prstGeom prst="roundRect">
            <a:avLst>
              <a:gd name="adj" fmla="val 4065"/>
            </a:avLst>
          </a:prstGeom>
          <a:solidFill>
            <a:srgbClr val="7030A0">
              <a:alpha val="60000"/>
            </a:srgbClr>
          </a:solidFill>
          <a:ln w="4162">
            <a:noFill/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30" name="Shape 26">
            <a:extLst>
              <a:ext uri="{FF2B5EF4-FFF2-40B4-BE49-F238E27FC236}">
                <a16:creationId xmlns:a16="http://schemas.microsoft.com/office/drawing/2014/main" id="{5F8133F0-A473-9D64-5522-A3FBFD6E103B}"/>
              </a:ext>
            </a:extLst>
          </p:cNvPr>
          <p:cNvSpPr/>
          <p:nvPr/>
        </p:nvSpPr>
        <p:spPr>
          <a:xfrm>
            <a:off x="319571" y="4025849"/>
            <a:ext cx="1473583" cy="300223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31" name="Shape 27">
            <a:extLst>
              <a:ext uri="{FF2B5EF4-FFF2-40B4-BE49-F238E27FC236}">
                <a16:creationId xmlns:a16="http://schemas.microsoft.com/office/drawing/2014/main" id="{1CEF352E-9581-27CE-F170-C0F98C785E0A}"/>
              </a:ext>
            </a:extLst>
          </p:cNvPr>
          <p:cNvSpPr/>
          <p:nvPr/>
        </p:nvSpPr>
        <p:spPr>
          <a:xfrm>
            <a:off x="319571" y="4025849"/>
            <a:ext cx="1317105" cy="117537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33" name="Text 117">
            <a:extLst>
              <a:ext uri="{FF2B5EF4-FFF2-40B4-BE49-F238E27FC236}">
                <a16:creationId xmlns:a16="http://schemas.microsoft.com/office/drawing/2014/main" id="{CABA3A2B-97C2-2C39-4AB6-C40C67105133}"/>
              </a:ext>
            </a:extLst>
          </p:cNvPr>
          <p:cNvSpPr/>
          <p:nvPr/>
        </p:nvSpPr>
        <p:spPr>
          <a:xfrm>
            <a:off x="2771775" y="1018111"/>
            <a:ext cx="18002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08"/>
              </a:lnSpc>
              <a:buNone/>
            </a:pPr>
            <a:r>
              <a:rPr lang="en-US" sz="472" b="1" kern="0" spc="31">
                <a:solidFill>
                  <a:srgbClr val="198F51">
                    <a:alpha val="99000"/>
                  </a:srgbClr>
                </a:solidFill>
                <a:latin typeface="Aptos" panose="020B0004020202020204" pitchFamily="34" charset="0"/>
                <a:ea typeface="Nunito Sans" pitchFamily="34" charset="-122"/>
                <a:cs typeface="Nunito Sans" pitchFamily="34" charset="-120"/>
              </a:rPr>
              <a:t>SF EC → SAP EIP → PS (AUTOMATED, NO AI ENGINE)</a:t>
            </a:r>
            <a:endParaRPr lang="en-US" sz="472">
              <a:latin typeface="Aptos" panose="020B0004020202020204" pitchFamily="34" charset="0"/>
            </a:endParaRPr>
          </a:p>
        </p:txBody>
      </p:sp>
      <p:sp>
        <p:nvSpPr>
          <p:cNvPr id="134" name="Text 118">
            <a:extLst>
              <a:ext uri="{FF2B5EF4-FFF2-40B4-BE49-F238E27FC236}">
                <a16:creationId xmlns:a16="http://schemas.microsoft.com/office/drawing/2014/main" id="{17B4FCE0-6646-1E14-D57F-39111459864C}"/>
              </a:ext>
            </a:extLst>
          </p:cNvPr>
          <p:cNvSpPr/>
          <p:nvPr/>
        </p:nvSpPr>
        <p:spPr>
          <a:xfrm>
            <a:off x="2593906" y="1379537"/>
            <a:ext cx="215741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08"/>
              </a:lnSpc>
              <a:buNone/>
            </a:pPr>
            <a:r>
              <a:rPr lang="en-US" sz="472" b="1" kern="0" spc="31">
                <a:solidFill>
                  <a:srgbClr val="198F51">
                    <a:alpha val="99000"/>
                  </a:srgbClr>
                </a:solidFill>
                <a:latin typeface="Aptos" panose="020B0004020202020204" pitchFamily="34" charset="0"/>
                <a:ea typeface="Nunito Sans" pitchFamily="34" charset="-122"/>
                <a:cs typeface="Nunito Sans" pitchFamily="34" charset="-120"/>
              </a:rPr>
              <a:t>PS AUTOMATED → SAP EIP → PS (AUTOMATED, NO AI ENGINE)</a:t>
            </a:r>
            <a:endParaRPr lang="en-US" sz="472">
              <a:latin typeface="Aptos" panose="020B0004020202020204" pitchFamily="34" charset="0"/>
            </a:endParaRPr>
          </a:p>
        </p:txBody>
      </p:sp>
      <p:sp>
        <p:nvSpPr>
          <p:cNvPr id="135" name="Text 119">
            <a:extLst>
              <a:ext uri="{FF2B5EF4-FFF2-40B4-BE49-F238E27FC236}">
                <a16:creationId xmlns:a16="http://schemas.microsoft.com/office/drawing/2014/main" id="{9D68354F-4F4F-C9F2-B455-A501F9163AC0}"/>
              </a:ext>
            </a:extLst>
          </p:cNvPr>
          <p:cNvSpPr/>
          <p:nvPr/>
        </p:nvSpPr>
        <p:spPr>
          <a:xfrm>
            <a:off x="2633746" y="1747998"/>
            <a:ext cx="211931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08"/>
              </a:lnSpc>
              <a:buNone/>
            </a:pPr>
            <a:r>
              <a:rPr lang="en-US" sz="472" b="1" kern="0" spc="31">
                <a:solidFill>
                  <a:srgbClr val="198F51">
                    <a:alpha val="99000"/>
                  </a:srgbClr>
                </a:solidFill>
                <a:latin typeface="Aptos" panose="020B0004020202020204" pitchFamily="34" charset="0"/>
                <a:ea typeface="Nunito Sans" pitchFamily="34" charset="-122"/>
                <a:cs typeface="Nunito Sans" pitchFamily="34" charset="-120"/>
              </a:rPr>
              <a:t>PS SEMI-AUTO → SAP EIP → PS (UPGRADED TO AUTOMATED)</a:t>
            </a:r>
            <a:endParaRPr lang="en-US" sz="472">
              <a:latin typeface="Aptos" panose="020B0004020202020204" pitchFamily="34" charset="0"/>
            </a:endParaRPr>
          </a:p>
        </p:txBody>
      </p:sp>
      <p:sp>
        <p:nvSpPr>
          <p:cNvPr id="164" name="Shape 147">
            <a:extLst>
              <a:ext uri="{FF2B5EF4-FFF2-40B4-BE49-F238E27FC236}">
                <a16:creationId xmlns:a16="http://schemas.microsoft.com/office/drawing/2014/main" id="{9AD20DA2-00F8-17C9-2C56-13230BC7BCCA}"/>
              </a:ext>
            </a:extLst>
          </p:cNvPr>
          <p:cNvSpPr/>
          <p:nvPr/>
        </p:nvSpPr>
        <p:spPr>
          <a:xfrm>
            <a:off x="6691778" y="815904"/>
            <a:ext cx="1042701" cy="4017527"/>
          </a:xfrm>
          <a:prstGeom prst="roundRect">
            <a:avLst>
              <a:gd name="adj" fmla="val 6454"/>
            </a:avLst>
          </a:prstGeom>
          <a:solidFill>
            <a:srgbClr val="36A8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484"/>
              </a:lnSpc>
            </a:pPr>
            <a:endParaRPr lang="en-US" b="1">
              <a:solidFill>
                <a:schemeClr val="bg1"/>
              </a:solidFill>
              <a:latin typeface="Aptos ExtraBold" panose="020B0004020202020204" pitchFamily="34" charset="0"/>
            </a:endParaRPr>
          </a:p>
        </p:txBody>
      </p:sp>
      <p:sp>
        <p:nvSpPr>
          <p:cNvPr id="197" name="Shape 179">
            <a:extLst>
              <a:ext uri="{FF2B5EF4-FFF2-40B4-BE49-F238E27FC236}">
                <a16:creationId xmlns:a16="http://schemas.microsoft.com/office/drawing/2014/main" id="{A970FC36-89EA-7730-4331-685E04BB4FDD}"/>
              </a:ext>
            </a:extLst>
          </p:cNvPr>
          <p:cNvSpPr/>
          <p:nvPr/>
        </p:nvSpPr>
        <p:spPr>
          <a:xfrm>
            <a:off x="7877640" y="813663"/>
            <a:ext cx="1042988" cy="4017526"/>
          </a:xfrm>
          <a:prstGeom prst="roundRect">
            <a:avLst>
              <a:gd name="adj" fmla="val 6452"/>
            </a:avLst>
          </a:prstGeom>
          <a:solidFill>
            <a:schemeClr val="tx2">
              <a:lumMod val="40000"/>
              <a:lumOff val="60000"/>
            </a:schemeClr>
          </a:solidFill>
          <a:ln w="4162">
            <a:noFill/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99" name="Shape 180">
            <a:extLst>
              <a:ext uri="{FF2B5EF4-FFF2-40B4-BE49-F238E27FC236}">
                <a16:creationId xmlns:a16="http://schemas.microsoft.com/office/drawing/2014/main" id="{6C539AB9-83DC-071D-CAF6-C07F81DA17FF}"/>
              </a:ext>
            </a:extLst>
          </p:cNvPr>
          <p:cNvSpPr/>
          <p:nvPr/>
        </p:nvSpPr>
        <p:spPr>
          <a:xfrm>
            <a:off x="7877780" y="996535"/>
            <a:ext cx="1042701" cy="1694627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20" name="Shape 201">
            <a:extLst>
              <a:ext uri="{FF2B5EF4-FFF2-40B4-BE49-F238E27FC236}">
                <a16:creationId xmlns:a16="http://schemas.microsoft.com/office/drawing/2014/main" id="{09024FC8-3023-0DDF-3533-72681B86522C}"/>
              </a:ext>
            </a:extLst>
          </p:cNvPr>
          <p:cNvSpPr/>
          <p:nvPr/>
        </p:nvSpPr>
        <p:spPr>
          <a:xfrm>
            <a:off x="233361" y="968510"/>
            <a:ext cx="1650773" cy="315139"/>
          </a:xfrm>
          <a:prstGeom prst="roundRect">
            <a:avLst>
              <a:gd name="adj" fmla="val 5273"/>
            </a:avLst>
          </a:prstGeom>
          <a:solidFill>
            <a:schemeClr val="accent5">
              <a:lumMod val="20000"/>
              <a:lumOff val="80000"/>
            </a:schemeClr>
          </a:solidFill>
          <a:ln w="4162">
            <a:noFill/>
            <a:prstDash val="solid"/>
          </a:ln>
        </p:spPr>
        <p:txBody>
          <a:bodyPr/>
          <a:lstStyle/>
          <a:p>
            <a:endParaRPr lang="en-US">
              <a:highlight>
                <a:srgbClr val="000080"/>
              </a:highlight>
              <a:latin typeface="Aptos" panose="020B0004020202020204" pitchFamily="34" charset="0"/>
            </a:endParaRPr>
          </a:p>
        </p:txBody>
      </p:sp>
      <p:sp>
        <p:nvSpPr>
          <p:cNvPr id="222" name="Shape 202">
            <a:extLst>
              <a:ext uri="{FF2B5EF4-FFF2-40B4-BE49-F238E27FC236}">
                <a16:creationId xmlns:a16="http://schemas.microsoft.com/office/drawing/2014/main" id="{C3E5DF4A-DF8B-68AD-3135-E736C0826A5B}"/>
              </a:ext>
            </a:extLst>
          </p:cNvPr>
          <p:cNvSpPr/>
          <p:nvPr/>
        </p:nvSpPr>
        <p:spPr>
          <a:xfrm>
            <a:off x="233362" y="996535"/>
            <a:ext cx="1648826" cy="1093232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24" name="Shape 204">
            <a:extLst>
              <a:ext uri="{FF2B5EF4-FFF2-40B4-BE49-F238E27FC236}">
                <a16:creationId xmlns:a16="http://schemas.microsoft.com/office/drawing/2014/main" id="{BFDE8424-3F2C-D96A-36B6-9E69C893380B}"/>
              </a:ext>
            </a:extLst>
          </p:cNvPr>
          <p:cNvSpPr/>
          <p:nvPr/>
        </p:nvSpPr>
        <p:spPr>
          <a:xfrm>
            <a:off x="320985" y="1040346"/>
            <a:ext cx="1473583" cy="224023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25" name="Shape 205">
            <a:extLst>
              <a:ext uri="{FF2B5EF4-FFF2-40B4-BE49-F238E27FC236}">
                <a16:creationId xmlns:a16="http://schemas.microsoft.com/office/drawing/2014/main" id="{7C1DEBDC-99FF-621E-C512-631E561B474E}"/>
              </a:ext>
            </a:extLst>
          </p:cNvPr>
          <p:cNvSpPr/>
          <p:nvPr/>
        </p:nvSpPr>
        <p:spPr>
          <a:xfrm>
            <a:off x="320985" y="1040346"/>
            <a:ext cx="1483792" cy="112774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32" name="Shape 211">
            <a:extLst>
              <a:ext uri="{FF2B5EF4-FFF2-40B4-BE49-F238E27FC236}">
                <a16:creationId xmlns:a16="http://schemas.microsoft.com/office/drawing/2014/main" id="{55CEABBA-13B4-BA63-E4E0-D2DA0FF7145C}"/>
              </a:ext>
            </a:extLst>
          </p:cNvPr>
          <p:cNvSpPr/>
          <p:nvPr/>
        </p:nvSpPr>
        <p:spPr>
          <a:xfrm>
            <a:off x="311932" y="1303987"/>
            <a:ext cx="1473583" cy="201736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33" name="Shape 212">
            <a:extLst>
              <a:ext uri="{FF2B5EF4-FFF2-40B4-BE49-F238E27FC236}">
                <a16:creationId xmlns:a16="http://schemas.microsoft.com/office/drawing/2014/main" id="{F3AEDA02-A5CC-3C7F-EFCA-CA85C81160A5}"/>
              </a:ext>
            </a:extLst>
          </p:cNvPr>
          <p:cNvSpPr/>
          <p:nvPr/>
        </p:nvSpPr>
        <p:spPr>
          <a:xfrm>
            <a:off x="311932" y="1303987"/>
            <a:ext cx="914400" cy="90488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37" name="Shape 216">
            <a:extLst>
              <a:ext uri="{FF2B5EF4-FFF2-40B4-BE49-F238E27FC236}">
                <a16:creationId xmlns:a16="http://schemas.microsoft.com/office/drawing/2014/main" id="{FF1E46C5-5177-F170-12EB-F6E2F06F241D}"/>
              </a:ext>
            </a:extLst>
          </p:cNvPr>
          <p:cNvSpPr/>
          <p:nvPr/>
        </p:nvSpPr>
        <p:spPr>
          <a:xfrm>
            <a:off x="320985" y="1699943"/>
            <a:ext cx="1473583" cy="273174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38" name="Shape 217">
            <a:extLst>
              <a:ext uri="{FF2B5EF4-FFF2-40B4-BE49-F238E27FC236}">
                <a16:creationId xmlns:a16="http://schemas.microsoft.com/office/drawing/2014/main" id="{D7F1A578-911A-77C9-236F-D56144D6B0A1}"/>
              </a:ext>
            </a:extLst>
          </p:cNvPr>
          <p:cNvSpPr/>
          <p:nvPr/>
        </p:nvSpPr>
        <p:spPr>
          <a:xfrm>
            <a:off x="320985" y="1699943"/>
            <a:ext cx="1223963" cy="90488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48" name="Shape 220">
            <a:extLst>
              <a:ext uri="{FF2B5EF4-FFF2-40B4-BE49-F238E27FC236}">
                <a16:creationId xmlns:a16="http://schemas.microsoft.com/office/drawing/2014/main" id="{99D93358-F761-25C4-19A2-60152841392B}"/>
              </a:ext>
            </a:extLst>
          </p:cNvPr>
          <p:cNvSpPr/>
          <p:nvPr/>
        </p:nvSpPr>
        <p:spPr>
          <a:xfrm>
            <a:off x="5529263" y="4857026"/>
            <a:ext cx="3390900" cy="119063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52" name="Shape 223">
            <a:extLst>
              <a:ext uri="{FF2B5EF4-FFF2-40B4-BE49-F238E27FC236}">
                <a16:creationId xmlns:a16="http://schemas.microsoft.com/office/drawing/2014/main" id="{74BE9B9A-5971-1EC0-6ACD-1F7C622B9950}"/>
              </a:ext>
            </a:extLst>
          </p:cNvPr>
          <p:cNvSpPr/>
          <p:nvPr/>
        </p:nvSpPr>
        <p:spPr>
          <a:xfrm>
            <a:off x="6757988" y="4857026"/>
            <a:ext cx="809625" cy="119063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55" name="Shape 225">
            <a:extLst>
              <a:ext uri="{FF2B5EF4-FFF2-40B4-BE49-F238E27FC236}">
                <a16:creationId xmlns:a16="http://schemas.microsoft.com/office/drawing/2014/main" id="{D95F3AA2-85B0-58BA-8625-4EC8586E8A82}"/>
              </a:ext>
            </a:extLst>
          </p:cNvPr>
          <p:cNvSpPr/>
          <p:nvPr/>
        </p:nvSpPr>
        <p:spPr>
          <a:xfrm>
            <a:off x="7662863" y="4857026"/>
            <a:ext cx="1257300" cy="119063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78" name="Shape 61">
            <a:extLst>
              <a:ext uri="{FF2B5EF4-FFF2-40B4-BE49-F238E27FC236}">
                <a16:creationId xmlns:a16="http://schemas.microsoft.com/office/drawing/2014/main" id="{628EDA2B-1227-7EBE-3BD8-A3A72998375F}"/>
              </a:ext>
            </a:extLst>
          </p:cNvPr>
          <p:cNvSpPr/>
          <p:nvPr/>
        </p:nvSpPr>
        <p:spPr>
          <a:xfrm>
            <a:off x="228433" y="487312"/>
            <a:ext cx="8729663" cy="0"/>
          </a:xfrm>
          <a:prstGeom prst="line">
            <a:avLst/>
          </a:prstGeom>
          <a:noFill/>
          <a:ln w="4524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81" name="TextBox 6">
            <a:extLst>
              <a:ext uri="{FF2B5EF4-FFF2-40B4-BE49-F238E27FC236}">
                <a16:creationId xmlns:a16="http://schemas.microsoft.com/office/drawing/2014/main" id="{A7CAC097-0162-0126-14EE-8376954C5E05}"/>
              </a:ext>
            </a:extLst>
          </p:cNvPr>
          <p:cNvSpPr txBox="1"/>
          <p:nvPr/>
        </p:nvSpPr>
        <p:spPr>
          <a:xfrm>
            <a:off x="170136" y="126587"/>
            <a:ext cx="7813019" cy="300082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78">
              <a:defRPr/>
            </a:pPr>
            <a:r>
              <a:rPr lang="en-US" sz="1500" b="1" dirty="0">
                <a:solidFill>
                  <a:srgbClr val="C00000"/>
                </a:solidFill>
                <a:latin typeface="AirIndia"/>
              </a:rPr>
              <a:t>Domestic Payroll - </a:t>
            </a:r>
            <a:r>
              <a:rPr lang="en-US" sz="1500" b="1" dirty="0">
                <a:solidFill>
                  <a:srgbClr val="2D9E5F"/>
                </a:solidFill>
                <a:latin typeface="AirIndia"/>
                <a:ea typeface="Calibri" pitchFamily="34" charset="-122"/>
                <a:cs typeface="Calibri" pitchFamily="34" charset="-120"/>
              </a:rPr>
              <a:t>To-Be</a:t>
            </a:r>
            <a:r>
              <a:rPr lang="en-US" sz="1500" b="1" dirty="0">
                <a:solidFill>
                  <a:srgbClr val="C00000"/>
                </a:solidFill>
                <a:latin typeface="AirIndia"/>
              </a:rPr>
              <a:t> Architecture </a:t>
            </a:r>
            <a:r>
              <a:rPr lang="en-US" sz="1500" dirty="0">
                <a:solidFill>
                  <a:prstClr val="white">
                    <a:lumMod val="50000"/>
                  </a:prstClr>
                </a:solidFill>
                <a:latin typeface="AirIndia"/>
              </a:rPr>
              <a:t>- Zero Touch, Zero Trust</a:t>
            </a: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37E3AB10-E1AF-11C0-5659-A142A16FFC91}"/>
              </a:ext>
            </a:extLst>
          </p:cNvPr>
          <p:cNvSpPr/>
          <p:nvPr/>
        </p:nvSpPr>
        <p:spPr>
          <a:xfrm>
            <a:off x="278122" y="816594"/>
            <a:ext cx="3401424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872"/>
              </a:lnSpc>
            </a:pPr>
            <a:r>
              <a:rPr lang="en-US" sz="450" b="1" kern="0" spc="4">
                <a:solidFill>
                  <a:schemeClr val="bg1"/>
                </a:solidFill>
                <a:latin typeface="Aptos"/>
              </a:rPr>
              <a:t>TRACK A – DIRECT INTEGRATION (80 PAYHEADS) </a:t>
            </a:r>
            <a:r>
              <a:rPr lang="en-US" sz="450" kern="0" spc="4">
                <a:solidFill>
                  <a:schemeClr val="bg1"/>
                </a:solidFill>
                <a:latin typeface="Aptos"/>
              </a:rPr>
              <a:t>SF EC (37) + PS Automated (31) + PS Semi-Auto upgraded (12) </a:t>
            </a:r>
            <a:endParaRPr lang="en-US" sz="450">
              <a:solidFill>
                <a:schemeClr val="bg1"/>
              </a:solidFill>
              <a:latin typeface="Aptos"/>
            </a:endParaRPr>
          </a:p>
        </p:txBody>
      </p:sp>
      <p:sp>
        <p:nvSpPr>
          <p:cNvPr id="3" name="Text 7">
            <a:extLst>
              <a:ext uri="{FF2B5EF4-FFF2-40B4-BE49-F238E27FC236}">
                <a16:creationId xmlns:a16="http://schemas.microsoft.com/office/drawing/2014/main" id="{C62B15F9-51BF-7DA0-E5A5-7BC72992C823}"/>
              </a:ext>
            </a:extLst>
          </p:cNvPr>
          <p:cNvSpPr/>
          <p:nvPr/>
        </p:nvSpPr>
        <p:spPr>
          <a:xfrm>
            <a:off x="3447665" y="781613"/>
            <a:ext cx="3810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4"/>
              </a:lnSpc>
              <a:buNone/>
            </a:pPr>
            <a:r>
              <a:rPr lang="en-US" sz="869" kern="0" spc="-17">
                <a:solidFill>
                  <a:srgbClr val="E2E8F0">
                    <a:alpha val="99000"/>
                  </a:srgbClr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|</a:t>
            </a:r>
            <a:endParaRPr lang="en-US" sz="869">
              <a:latin typeface="Aptos" panose="020B0004020202020204" pitchFamily="34" charset="0"/>
            </a:endParaRPr>
          </a:p>
        </p:txBody>
      </p:sp>
      <p:sp>
        <p:nvSpPr>
          <p:cNvPr id="241" name="Text 5">
            <a:extLst>
              <a:ext uri="{FF2B5EF4-FFF2-40B4-BE49-F238E27FC236}">
                <a16:creationId xmlns:a16="http://schemas.microsoft.com/office/drawing/2014/main" id="{5B0D98B4-E721-F882-FA0D-77E8BA20ACD8}"/>
              </a:ext>
            </a:extLst>
          </p:cNvPr>
          <p:cNvSpPr/>
          <p:nvPr/>
        </p:nvSpPr>
        <p:spPr>
          <a:xfrm>
            <a:off x="3590937" y="808501"/>
            <a:ext cx="1190862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72"/>
              </a:lnSpc>
              <a:buNone/>
            </a:pPr>
            <a:r>
              <a:rPr lang="en-US" sz="499" kern="0" spc="4">
                <a:solidFill>
                  <a:schemeClr val="bg1"/>
                </a:solidFill>
                <a:latin typeface="Aptos" panose="020B0004020202020204" pitchFamily="34" charset="0"/>
              </a:rPr>
              <a:t>All go directly source to SAP EIP to PS </a:t>
            </a:r>
            <a:endParaRPr lang="en-US" sz="499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914218FF-BDAB-4AE8-FAA2-C72E710438CF}"/>
              </a:ext>
            </a:extLst>
          </p:cNvPr>
          <p:cNvSpPr txBox="1"/>
          <p:nvPr/>
        </p:nvSpPr>
        <p:spPr>
          <a:xfrm>
            <a:off x="170136" y="1988926"/>
            <a:ext cx="5288731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600" b="1">
                <a:solidFill>
                  <a:schemeClr val="tx1">
                    <a:lumMod val="65000"/>
                    <a:lumOff val="35000"/>
                  </a:schemeClr>
                </a:solidFill>
                <a:latin typeface="Aptos SemiBold" panose="020B0004020202020204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r>
              <a:rPr lang="en-US" sz="500">
                <a:solidFill>
                  <a:schemeClr val="tx1">
                    <a:lumMod val="75000"/>
                    <a:lumOff val="25000"/>
                  </a:schemeClr>
                </a:solidFill>
              </a:rPr>
              <a:t>▲ Track A (80 </a:t>
            </a:r>
            <a:r>
              <a:rPr lang="en-US" sz="500" err="1">
                <a:solidFill>
                  <a:schemeClr val="tx1">
                    <a:lumMod val="75000"/>
                    <a:lumOff val="25000"/>
                  </a:schemeClr>
                </a:solidFill>
              </a:rPr>
              <a:t>Payheads</a:t>
            </a:r>
            <a:r>
              <a:rPr lang="en-US" sz="500">
                <a:solidFill>
                  <a:schemeClr val="tx1">
                    <a:lumMod val="75000"/>
                    <a:lumOff val="25000"/>
                  </a:schemeClr>
                </a:solidFill>
              </a:rPr>
              <a:t>) - Direct to SAP EIP without AI Validation Engine ▼ Track B (104 formerly manual </a:t>
            </a:r>
            <a:r>
              <a:rPr lang="en-US" sz="500" err="1">
                <a:solidFill>
                  <a:schemeClr val="tx1">
                    <a:lumMod val="75000"/>
                    <a:lumOff val="25000"/>
                  </a:schemeClr>
                </a:solidFill>
              </a:rPr>
              <a:t>payheads</a:t>
            </a:r>
            <a:r>
              <a:rPr lang="en-US" sz="500">
                <a:solidFill>
                  <a:schemeClr val="tx1">
                    <a:lumMod val="75000"/>
                    <a:lumOff val="25000"/>
                  </a:schemeClr>
                </a:solidFill>
              </a:rPr>
              <a:t>) – via new inhouse system → AI validation engine → SAP EIP</a:t>
            </a:r>
          </a:p>
        </p:txBody>
      </p:sp>
      <p:sp>
        <p:nvSpPr>
          <p:cNvPr id="245" name="Text 13">
            <a:extLst>
              <a:ext uri="{FF2B5EF4-FFF2-40B4-BE49-F238E27FC236}">
                <a16:creationId xmlns:a16="http://schemas.microsoft.com/office/drawing/2014/main" id="{D5F326F7-77B5-AA30-97ED-20385324CE78}"/>
              </a:ext>
            </a:extLst>
          </p:cNvPr>
          <p:cNvSpPr/>
          <p:nvPr/>
        </p:nvSpPr>
        <p:spPr>
          <a:xfrm>
            <a:off x="3771901" y="3752983"/>
            <a:ext cx="1546447" cy="26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72"/>
              </a:lnSpc>
              <a:buNone/>
            </a:pPr>
            <a:r>
              <a:rPr lang="en-US" sz="499" b="1">
                <a:solidFill>
                  <a:schemeClr val="bg1"/>
                </a:solidFill>
                <a:latin typeface="Aptos" panose="020B0004020202020204" pitchFamily="34" charset="0"/>
              </a:rPr>
              <a:t>AI VALIDATION ENGINE  </a:t>
            </a:r>
            <a:r>
              <a:rPr lang="en-US" sz="400">
                <a:solidFill>
                  <a:schemeClr val="bg1"/>
                </a:solidFill>
                <a:latin typeface="Aptos" panose="020B0004020202020204" pitchFamily="34" charset="0"/>
              </a:rPr>
              <a:t>Backend for New Inhouse System</a:t>
            </a:r>
          </a:p>
          <a:p>
            <a:pPr marL="0" indent="0" algn="l">
              <a:lnSpc>
                <a:spcPts val="872"/>
              </a:lnSpc>
              <a:buNone/>
            </a:pPr>
            <a:endParaRPr lang="en-US" sz="499" b="1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253" name="Text 9">
            <a:extLst>
              <a:ext uri="{FF2B5EF4-FFF2-40B4-BE49-F238E27FC236}">
                <a16:creationId xmlns:a16="http://schemas.microsoft.com/office/drawing/2014/main" id="{83BF7ED1-BF76-D2E4-DF70-D4B03966AC9D}"/>
              </a:ext>
            </a:extLst>
          </p:cNvPr>
          <p:cNvSpPr/>
          <p:nvPr/>
        </p:nvSpPr>
        <p:spPr>
          <a:xfrm>
            <a:off x="1356720" y="603340"/>
            <a:ext cx="1261055" cy="105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72"/>
              </a:lnSpc>
              <a:buNone/>
            </a:pPr>
            <a:r>
              <a:rPr lang="en-US" sz="499" kern="0" spc="4">
                <a:solidFill>
                  <a:srgbClr val="00B050"/>
                </a:solidFill>
                <a:latin typeface="Aptos" panose="020B0004020202020204" pitchFamily="34" charset="0"/>
              </a:rPr>
              <a:t>Zero manual touchpoints in steady-state</a:t>
            </a:r>
            <a:endParaRPr lang="en-US" sz="499">
              <a:solidFill>
                <a:srgbClr val="00B050"/>
              </a:solidFill>
              <a:latin typeface="Aptos" panose="020B0004020202020204" pitchFamily="34" charset="0"/>
            </a:endParaRPr>
          </a:p>
        </p:txBody>
      </p:sp>
      <p:sp>
        <p:nvSpPr>
          <p:cNvPr id="258" name="Text 9">
            <a:extLst>
              <a:ext uri="{FF2B5EF4-FFF2-40B4-BE49-F238E27FC236}">
                <a16:creationId xmlns:a16="http://schemas.microsoft.com/office/drawing/2014/main" id="{FF13A24E-3E8E-F3CF-E09F-29418497CC2C}"/>
              </a:ext>
            </a:extLst>
          </p:cNvPr>
          <p:cNvSpPr/>
          <p:nvPr/>
        </p:nvSpPr>
        <p:spPr>
          <a:xfrm>
            <a:off x="3539943" y="600866"/>
            <a:ext cx="1261055" cy="105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72"/>
              </a:lnSpc>
              <a:buNone/>
            </a:pPr>
            <a:r>
              <a:rPr lang="en-US" sz="499" kern="0" spc="4">
                <a:solidFill>
                  <a:srgbClr val="00B050"/>
                </a:solidFill>
                <a:latin typeface="Aptos" panose="020B0004020202020204" pitchFamily="34" charset="0"/>
              </a:rPr>
              <a:t>Zero trust verification at every layer </a:t>
            </a:r>
            <a:endParaRPr lang="en-US" sz="499">
              <a:solidFill>
                <a:srgbClr val="00B050"/>
              </a:solidFill>
              <a:latin typeface="Aptos" panose="020B0004020202020204" pitchFamily="34" charset="0"/>
            </a:endParaRPr>
          </a:p>
        </p:txBody>
      </p:sp>
      <p:sp>
        <p:nvSpPr>
          <p:cNvPr id="282" name="Text 206">
            <a:extLst>
              <a:ext uri="{FF2B5EF4-FFF2-40B4-BE49-F238E27FC236}">
                <a16:creationId xmlns:a16="http://schemas.microsoft.com/office/drawing/2014/main" id="{8DBF6C74-6C4D-F96E-86B9-A220E4226CA8}"/>
              </a:ext>
            </a:extLst>
          </p:cNvPr>
          <p:cNvSpPr/>
          <p:nvPr/>
        </p:nvSpPr>
        <p:spPr>
          <a:xfrm>
            <a:off x="320985" y="1025733"/>
            <a:ext cx="623888" cy="90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69"/>
              </a:lnSpc>
              <a:buNone/>
            </a:pPr>
            <a:r>
              <a:rPr lang="en-US" sz="535" b="1" kern="0" spc="4">
                <a:solidFill>
                  <a:srgbClr val="1A1A1A">
                    <a:alpha val="99000"/>
                  </a:srgbClr>
                </a:solidFill>
                <a:latin typeface="Aptos" panose="020B0004020202020204" pitchFamily="34" charset="0"/>
                <a:ea typeface="Nunito Sans" pitchFamily="34" charset="-122"/>
                <a:cs typeface="Nunito Sans" pitchFamily="34" charset="-120"/>
              </a:rPr>
              <a:t>SuccessFactors EC</a:t>
            </a:r>
            <a:endParaRPr lang="en-US" sz="535">
              <a:latin typeface="Aptos" panose="020B0004020202020204" pitchFamily="34" charset="0"/>
            </a:endParaRPr>
          </a:p>
        </p:txBody>
      </p:sp>
      <p:sp>
        <p:nvSpPr>
          <p:cNvPr id="284" name="Shape 207">
            <a:extLst>
              <a:ext uri="{FF2B5EF4-FFF2-40B4-BE49-F238E27FC236}">
                <a16:creationId xmlns:a16="http://schemas.microsoft.com/office/drawing/2014/main" id="{9E73C5E6-1239-100D-45A6-BF9086B3FE3D}"/>
              </a:ext>
            </a:extLst>
          </p:cNvPr>
          <p:cNvSpPr/>
          <p:nvPr/>
        </p:nvSpPr>
        <p:spPr>
          <a:xfrm>
            <a:off x="1001714" y="1011083"/>
            <a:ext cx="803064" cy="107790"/>
          </a:xfrm>
          <a:prstGeom prst="roundRect">
            <a:avLst>
              <a:gd name="adj" fmla="val 68267"/>
            </a:avLst>
          </a:prstGeom>
          <a:solidFill>
            <a:srgbClr val="069669"/>
          </a:solidFill>
          <a:ln/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89" name="Text 208">
            <a:extLst>
              <a:ext uri="{FF2B5EF4-FFF2-40B4-BE49-F238E27FC236}">
                <a16:creationId xmlns:a16="http://schemas.microsoft.com/office/drawing/2014/main" id="{F3840E06-0CE5-CC9F-6A0A-BB4E588C7617}"/>
              </a:ext>
            </a:extLst>
          </p:cNvPr>
          <p:cNvSpPr/>
          <p:nvPr/>
        </p:nvSpPr>
        <p:spPr>
          <a:xfrm>
            <a:off x="1024177" y="1012448"/>
            <a:ext cx="772563" cy="95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08"/>
              </a:lnSpc>
              <a:buNone/>
            </a:pPr>
            <a:r>
              <a:rPr lang="en-US" sz="472" b="1" kern="0" spc="7">
                <a:solidFill>
                  <a:schemeClr val="bg1">
                    <a:alpha val="99000"/>
                  </a:schemeClr>
                </a:solidFill>
                <a:latin typeface="Aptos" panose="020B0004020202020204" pitchFamily="34" charset="0"/>
                <a:ea typeface="Nunito Sans" pitchFamily="34" charset="-122"/>
                <a:cs typeface="Nunito Sans" pitchFamily="34" charset="-120"/>
              </a:rPr>
              <a:t> 37 </a:t>
            </a:r>
            <a:r>
              <a:rPr lang="en-US" sz="472" b="1" kern="0" spc="7" err="1">
                <a:solidFill>
                  <a:schemeClr val="bg1">
                    <a:alpha val="99000"/>
                  </a:schemeClr>
                </a:solidFill>
                <a:latin typeface="Aptos" panose="020B0004020202020204" pitchFamily="34" charset="0"/>
                <a:ea typeface="Nunito Sans" pitchFamily="34" charset="-122"/>
                <a:cs typeface="Nunito Sans" pitchFamily="34" charset="-120"/>
              </a:rPr>
              <a:t>payheads</a:t>
            </a:r>
            <a:r>
              <a:rPr lang="en-US" sz="472" b="1" kern="0" spc="7">
                <a:solidFill>
                  <a:schemeClr val="bg1">
                    <a:alpha val="99000"/>
                  </a:schemeClr>
                </a:solidFill>
                <a:latin typeface="Aptos" panose="020B0004020202020204" pitchFamily="34" charset="0"/>
                <a:ea typeface="Nunito Sans" pitchFamily="34" charset="-122"/>
                <a:cs typeface="Nunito Sans" pitchFamily="34" charset="-120"/>
              </a:rPr>
              <a:t> </a:t>
            </a:r>
            <a:r>
              <a:rPr lang="en-US" sz="472" b="1" kern="0" spc="7">
                <a:solidFill>
                  <a:srgbClr val="059669">
                    <a:alpha val="99000"/>
                  </a:srgbClr>
                </a:solidFill>
                <a:latin typeface="Aptos" panose="020B0004020202020204" pitchFamily="34" charset="0"/>
                <a:ea typeface="Nunito Sans" pitchFamily="34" charset="-122"/>
                <a:cs typeface="Nunito Sans" pitchFamily="34" charset="-120"/>
              </a:rPr>
              <a:t>.</a:t>
            </a:r>
            <a:r>
              <a:rPr lang="en-US" sz="472" b="1" kern="0" spc="7">
                <a:solidFill>
                  <a:schemeClr val="bg1">
                    <a:alpha val="99000"/>
                  </a:schemeClr>
                </a:solidFill>
                <a:latin typeface="Aptos" panose="020B0004020202020204" pitchFamily="34" charset="0"/>
                <a:ea typeface="Nunito Sans" pitchFamily="34" charset="-122"/>
                <a:cs typeface="Nunito Sans" pitchFamily="34" charset="-120"/>
              </a:rPr>
              <a:t>| </a:t>
            </a:r>
            <a:r>
              <a:rPr lang="en-US" sz="472" b="1" kern="0" spc="7">
                <a:solidFill>
                  <a:srgbClr val="059669">
                    <a:alpha val="99000"/>
                  </a:srgbClr>
                </a:solidFill>
                <a:latin typeface="Aptos" panose="020B0004020202020204" pitchFamily="34" charset="0"/>
                <a:ea typeface="Nunito Sans" pitchFamily="34" charset="-122"/>
                <a:cs typeface="Nunito Sans" pitchFamily="34" charset="-120"/>
              </a:rPr>
              <a:t> </a:t>
            </a:r>
            <a:r>
              <a:rPr lang="en-US" sz="472" b="1" kern="0" spc="7">
                <a:solidFill>
                  <a:schemeClr val="bg1">
                    <a:alpha val="99000"/>
                  </a:schemeClr>
                </a:solidFill>
                <a:latin typeface="Aptos" panose="020B0004020202020204" pitchFamily="34" charset="0"/>
                <a:ea typeface="Nunito Sans" pitchFamily="34" charset="-122"/>
                <a:cs typeface="Nunito Sans" pitchFamily="34" charset="-120"/>
              </a:rPr>
              <a:t>Automated</a:t>
            </a:r>
            <a:endParaRPr lang="en-US" sz="472">
              <a:solidFill>
                <a:schemeClr val="bg1">
                  <a:alpha val="99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290" name="Text 209">
            <a:extLst>
              <a:ext uri="{FF2B5EF4-FFF2-40B4-BE49-F238E27FC236}">
                <a16:creationId xmlns:a16="http://schemas.microsoft.com/office/drawing/2014/main" id="{6BD90176-F2FF-A352-71A8-0333829371BB}"/>
              </a:ext>
            </a:extLst>
          </p:cNvPr>
          <p:cNvSpPr/>
          <p:nvPr/>
        </p:nvSpPr>
        <p:spPr>
          <a:xfrm>
            <a:off x="320985" y="1146538"/>
            <a:ext cx="147358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1"/>
              </a:lnSpc>
              <a:buNone/>
            </a:pPr>
            <a:r>
              <a:rPr lang="en-US" sz="440" kern="0" spc="9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Nunito Sans" pitchFamily="34" charset="-122"/>
                <a:cs typeface="Nunito Sans" pitchFamily="34" charset="-120"/>
              </a:rPr>
              <a:t>Fixed Comp, DA, HRA, Structural Allowances</a:t>
            </a:r>
            <a:endParaRPr lang="en-US" sz="44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cxnSp>
        <p:nvCxnSpPr>
          <p:cNvPr id="263" name="Straight Arrow Connector 262">
            <a:extLst>
              <a:ext uri="{FF2B5EF4-FFF2-40B4-BE49-F238E27FC236}">
                <a16:creationId xmlns:a16="http://schemas.microsoft.com/office/drawing/2014/main" id="{EC95F0BE-A7D4-2673-13AA-CFABF4D3F42E}"/>
              </a:ext>
            </a:extLst>
          </p:cNvPr>
          <p:cNvCxnSpPr>
            <a:cxnSpLocks/>
          </p:cNvCxnSpPr>
          <p:nvPr/>
        </p:nvCxnSpPr>
        <p:spPr>
          <a:xfrm flipV="1">
            <a:off x="1884134" y="1840783"/>
            <a:ext cx="3605382" cy="11491"/>
          </a:xfrm>
          <a:prstGeom prst="straightConnector1">
            <a:avLst/>
          </a:prstGeom>
          <a:ln>
            <a:solidFill>
              <a:srgbClr val="0A9669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9" name="Straight Arrow Connector 268">
            <a:extLst>
              <a:ext uri="{FF2B5EF4-FFF2-40B4-BE49-F238E27FC236}">
                <a16:creationId xmlns:a16="http://schemas.microsoft.com/office/drawing/2014/main" id="{22DDD7AD-C6CD-4730-14DE-4DF2DA990028}"/>
              </a:ext>
            </a:extLst>
          </p:cNvPr>
          <p:cNvCxnSpPr>
            <a:cxnSpLocks/>
          </p:cNvCxnSpPr>
          <p:nvPr/>
        </p:nvCxnSpPr>
        <p:spPr>
          <a:xfrm>
            <a:off x="1884134" y="1494527"/>
            <a:ext cx="3621781" cy="0"/>
          </a:xfrm>
          <a:prstGeom prst="straightConnector1">
            <a:avLst/>
          </a:prstGeom>
          <a:ln>
            <a:solidFill>
              <a:srgbClr val="0A9669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76" name="Straight Arrow Connector 275">
            <a:extLst>
              <a:ext uri="{FF2B5EF4-FFF2-40B4-BE49-F238E27FC236}">
                <a16:creationId xmlns:a16="http://schemas.microsoft.com/office/drawing/2014/main" id="{979C8D8C-97D2-722F-33E7-D18809ED4AE6}"/>
              </a:ext>
            </a:extLst>
          </p:cNvPr>
          <p:cNvCxnSpPr>
            <a:cxnSpLocks/>
          </p:cNvCxnSpPr>
          <p:nvPr/>
        </p:nvCxnSpPr>
        <p:spPr>
          <a:xfrm>
            <a:off x="1882188" y="1126793"/>
            <a:ext cx="3623727" cy="0"/>
          </a:xfrm>
          <a:prstGeom prst="straightConnector1">
            <a:avLst/>
          </a:prstGeom>
          <a:ln>
            <a:solidFill>
              <a:srgbClr val="0A9669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98" name="Rounded Rectangle 297">
            <a:extLst>
              <a:ext uri="{FF2B5EF4-FFF2-40B4-BE49-F238E27FC236}">
                <a16:creationId xmlns:a16="http://schemas.microsoft.com/office/drawing/2014/main" id="{ABE5CF08-35A5-5AA8-AF5B-68B79E8C6356}"/>
              </a:ext>
            </a:extLst>
          </p:cNvPr>
          <p:cNvSpPr/>
          <p:nvPr/>
        </p:nvSpPr>
        <p:spPr>
          <a:xfrm>
            <a:off x="276193" y="3784644"/>
            <a:ext cx="1564553" cy="814204"/>
          </a:xfrm>
          <a:prstGeom prst="roundRect">
            <a:avLst>
              <a:gd name="adj" fmla="val 16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9" name="Text 28">
            <a:extLst>
              <a:ext uri="{FF2B5EF4-FFF2-40B4-BE49-F238E27FC236}">
                <a16:creationId xmlns:a16="http://schemas.microsoft.com/office/drawing/2014/main" id="{C3BE56F6-3381-63DC-731E-F77B26FF0042}"/>
              </a:ext>
            </a:extLst>
          </p:cNvPr>
          <p:cNvSpPr/>
          <p:nvPr/>
        </p:nvSpPr>
        <p:spPr>
          <a:xfrm>
            <a:off x="319571" y="3833636"/>
            <a:ext cx="906761" cy="90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69"/>
              </a:lnSpc>
              <a:buNone/>
            </a:pPr>
            <a:r>
              <a:rPr lang="en-US" sz="535" b="1">
                <a:latin typeface="Aptos" panose="020B0004020202020204" pitchFamily="34" charset="0"/>
              </a:rPr>
              <a:t>New External Facing System</a:t>
            </a:r>
          </a:p>
        </p:txBody>
      </p:sp>
      <p:sp>
        <p:nvSpPr>
          <p:cNvPr id="300" name="Shape 29">
            <a:extLst>
              <a:ext uri="{FF2B5EF4-FFF2-40B4-BE49-F238E27FC236}">
                <a16:creationId xmlns:a16="http://schemas.microsoft.com/office/drawing/2014/main" id="{9BCC613E-A216-3003-BF28-10A70CA3723F}"/>
              </a:ext>
            </a:extLst>
          </p:cNvPr>
          <p:cNvSpPr/>
          <p:nvPr/>
        </p:nvSpPr>
        <p:spPr>
          <a:xfrm>
            <a:off x="1301749" y="3820111"/>
            <a:ext cx="494949" cy="117537"/>
          </a:xfrm>
          <a:prstGeom prst="roundRect">
            <a:avLst>
              <a:gd name="adj" fmla="val 65501"/>
            </a:avLst>
          </a:prstGeom>
          <a:solidFill>
            <a:srgbClr val="7030A0"/>
          </a:solidFill>
          <a:ln w="2262">
            <a:noFill/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302" name="Text 30">
            <a:extLst>
              <a:ext uri="{FF2B5EF4-FFF2-40B4-BE49-F238E27FC236}">
                <a16:creationId xmlns:a16="http://schemas.microsoft.com/office/drawing/2014/main" id="{B9E2BB73-DBF5-FC2B-CCF5-018E0DAD7096}"/>
              </a:ext>
            </a:extLst>
          </p:cNvPr>
          <p:cNvSpPr/>
          <p:nvPr/>
        </p:nvSpPr>
        <p:spPr>
          <a:xfrm>
            <a:off x="1371561" y="3831255"/>
            <a:ext cx="37033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08"/>
              </a:lnSpc>
              <a:buNone/>
            </a:pPr>
            <a:r>
              <a:rPr lang="en-US" sz="472" b="1" kern="0" spc="7">
                <a:solidFill>
                  <a:schemeClr val="bg1"/>
                </a:solidFill>
                <a:latin typeface="Aptos" panose="020B0004020202020204" pitchFamily="34" charset="0"/>
                <a:ea typeface="Nunito Sans" pitchFamily="34" charset="-122"/>
                <a:cs typeface="Nunito Sans" pitchFamily="34" charset="-120"/>
              </a:rPr>
              <a:t>13 </a:t>
            </a:r>
            <a:r>
              <a:rPr lang="en-US" sz="472" b="1" kern="0" spc="7" err="1">
                <a:solidFill>
                  <a:schemeClr val="bg1"/>
                </a:solidFill>
                <a:latin typeface="Aptos" panose="020B0004020202020204" pitchFamily="34" charset="0"/>
                <a:ea typeface="Nunito Sans" pitchFamily="34" charset="-122"/>
                <a:cs typeface="Nunito Sans" pitchFamily="34" charset="-120"/>
              </a:rPr>
              <a:t>Payheads</a:t>
            </a:r>
            <a:endParaRPr lang="en-US" sz="472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303" name="Text 31">
            <a:extLst>
              <a:ext uri="{FF2B5EF4-FFF2-40B4-BE49-F238E27FC236}">
                <a16:creationId xmlns:a16="http://schemas.microsoft.com/office/drawing/2014/main" id="{11D8FE55-0F1C-F2E9-14C5-83F50F96C34A}"/>
              </a:ext>
            </a:extLst>
          </p:cNvPr>
          <p:cNvSpPr/>
          <p:nvPr/>
        </p:nvSpPr>
        <p:spPr>
          <a:xfrm>
            <a:off x="319571" y="3960146"/>
            <a:ext cx="1473583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1"/>
              </a:lnSpc>
              <a:buNone/>
            </a:pPr>
            <a:r>
              <a:rPr lang="en-US" sz="44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New externally-facing payroll components — requires orchestration &amp; AI validation before submission to </a:t>
            </a:r>
            <a:r>
              <a:rPr lang="en-US" sz="440" err="1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PeopleStrong</a:t>
            </a:r>
            <a:endParaRPr lang="en-US" sz="44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  <a:p>
            <a:pPr marL="0" indent="0" algn="l">
              <a:lnSpc>
                <a:spcPts val="551"/>
              </a:lnSpc>
              <a:buNone/>
            </a:pPr>
            <a:endParaRPr lang="en-US" sz="44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cxnSp>
        <p:nvCxnSpPr>
          <p:cNvPr id="307" name="Straight Arrow Connector 306">
            <a:extLst>
              <a:ext uri="{FF2B5EF4-FFF2-40B4-BE49-F238E27FC236}">
                <a16:creationId xmlns:a16="http://schemas.microsoft.com/office/drawing/2014/main" id="{4FF96C3F-1895-04EA-B78C-C8CD34BE7C61}"/>
              </a:ext>
            </a:extLst>
          </p:cNvPr>
          <p:cNvCxnSpPr>
            <a:cxnSpLocks/>
          </p:cNvCxnSpPr>
          <p:nvPr/>
        </p:nvCxnSpPr>
        <p:spPr>
          <a:xfrm>
            <a:off x="1888621" y="4335641"/>
            <a:ext cx="133628" cy="0"/>
          </a:xfrm>
          <a:prstGeom prst="straightConnector1">
            <a:avLst/>
          </a:prstGeom>
          <a:ln>
            <a:solidFill>
              <a:srgbClr val="AA83C8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08" name="Straight Arrow Connector 307">
            <a:extLst>
              <a:ext uri="{FF2B5EF4-FFF2-40B4-BE49-F238E27FC236}">
                <a16:creationId xmlns:a16="http://schemas.microsoft.com/office/drawing/2014/main" id="{65658FEC-59A3-8B04-2083-EE42350DC7C2}"/>
              </a:ext>
            </a:extLst>
          </p:cNvPr>
          <p:cNvCxnSpPr>
            <a:cxnSpLocks/>
          </p:cNvCxnSpPr>
          <p:nvPr/>
        </p:nvCxnSpPr>
        <p:spPr>
          <a:xfrm>
            <a:off x="1888621" y="3978930"/>
            <a:ext cx="133628" cy="0"/>
          </a:xfrm>
          <a:prstGeom prst="straightConnector1">
            <a:avLst/>
          </a:prstGeom>
          <a:ln>
            <a:solidFill>
              <a:srgbClr val="AA83C8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309" name="Shape 33">
            <a:extLst>
              <a:ext uri="{FF2B5EF4-FFF2-40B4-BE49-F238E27FC236}">
                <a16:creationId xmlns:a16="http://schemas.microsoft.com/office/drawing/2014/main" id="{C25D87A3-EA6C-A569-FF3D-28BF500864E8}"/>
              </a:ext>
            </a:extLst>
          </p:cNvPr>
          <p:cNvSpPr/>
          <p:nvPr/>
        </p:nvSpPr>
        <p:spPr>
          <a:xfrm>
            <a:off x="319571" y="4251770"/>
            <a:ext cx="1473583" cy="300223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310" name="Shape 34">
            <a:extLst>
              <a:ext uri="{FF2B5EF4-FFF2-40B4-BE49-F238E27FC236}">
                <a16:creationId xmlns:a16="http://schemas.microsoft.com/office/drawing/2014/main" id="{7ECF7AF2-7DDF-212E-3B28-58E991FF0922}"/>
              </a:ext>
            </a:extLst>
          </p:cNvPr>
          <p:cNvSpPr/>
          <p:nvPr/>
        </p:nvSpPr>
        <p:spPr>
          <a:xfrm>
            <a:off x="319571" y="4251770"/>
            <a:ext cx="1388542" cy="117537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311" name="Text 35">
            <a:extLst>
              <a:ext uri="{FF2B5EF4-FFF2-40B4-BE49-F238E27FC236}">
                <a16:creationId xmlns:a16="http://schemas.microsoft.com/office/drawing/2014/main" id="{DA3A4D51-A8D1-658A-A7B3-BCF494EC4B09}"/>
              </a:ext>
            </a:extLst>
          </p:cNvPr>
          <p:cNvSpPr/>
          <p:nvPr/>
        </p:nvSpPr>
        <p:spPr>
          <a:xfrm>
            <a:off x="319571" y="4280686"/>
            <a:ext cx="666750" cy="90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69"/>
              </a:lnSpc>
              <a:buNone/>
            </a:pPr>
            <a:r>
              <a:rPr lang="en-US" sz="535" b="1">
                <a:latin typeface="Aptos" panose="020B0004020202020204" pitchFamily="34" charset="0"/>
              </a:rPr>
              <a:t>New System</a:t>
            </a:r>
          </a:p>
        </p:txBody>
      </p:sp>
      <p:sp>
        <p:nvSpPr>
          <p:cNvPr id="312" name="Shape 36">
            <a:extLst>
              <a:ext uri="{FF2B5EF4-FFF2-40B4-BE49-F238E27FC236}">
                <a16:creationId xmlns:a16="http://schemas.microsoft.com/office/drawing/2014/main" id="{C000C7BC-31CE-3796-6418-C7FDF678B071}"/>
              </a:ext>
            </a:extLst>
          </p:cNvPr>
          <p:cNvSpPr/>
          <p:nvPr/>
        </p:nvSpPr>
        <p:spPr>
          <a:xfrm>
            <a:off x="1296539" y="4267162"/>
            <a:ext cx="493220" cy="117537"/>
          </a:xfrm>
          <a:prstGeom prst="roundRect">
            <a:avLst>
              <a:gd name="adj" fmla="val 65501"/>
            </a:avLst>
          </a:prstGeom>
          <a:solidFill>
            <a:srgbClr val="7030A0"/>
          </a:solidFill>
          <a:ln w="2262">
            <a:noFill/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314" name="Text 37">
            <a:extLst>
              <a:ext uri="{FF2B5EF4-FFF2-40B4-BE49-F238E27FC236}">
                <a16:creationId xmlns:a16="http://schemas.microsoft.com/office/drawing/2014/main" id="{7D73C8B5-39A9-3E71-A067-BC7146CE6C5E}"/>
              </a:ext>
            </a:extLst>
          </p:cNvPr>
          <p:cNvSpPr/>
          <p:nvPr/>
        </p:nvSpPr>
        <p:spPr>
          <a:xfrm>
            <a:off x="1356720" y="4278305"/>
            <a:ext cx="38517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08"/>
              </a:lnSpc>
              <a:buNone/>
            </a:pPr>
            <a:r>
              <a:rPr lang="en-US" sz="472" b="1" kern="0" spc="7">
                <a:solidFill>
                  <a:schemeClr val="bg1"/>
                </a:solidFill>
                <a:latin typeface="Aptos" panose="020B0004020202020204" pitchFamily="34" charset="0"/>
                <a:ea typeface="Nunito Sans" pitchFamily="34" charset="-122"/>
                <a:cs typeface="Nunito Sans" pitchFamily="34" charset="-120"/>
              </a:rPr>
              <a:t>23 </a:t>
            </a:r>
            <a:r>
              <a:rPr lang="en-US" sz="472" b="1" kern="0" spc="7" err="1">
                <a:solidFill>
                  <a:schemeClr val="bg1"/>
                </a:solidFill>
                <a:latin typeface="Aptos" panose="020B0004020202020204" pitchFamily="34" charset="0"/>
                <a:ea typeface="Nunito Sans" pitchFamily="34" charset="-122"/>
                <a:cs typeface="Nunito Sans" pitchFamily="34" charset="-120"/>
              </a:rPr>
              <a:t>Payheads</a:t>
            </a:r>
            <a:endParaRPr lang="en-US" sz="472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315" name="Text 38">
            <a:extLst>
              <a:ext uri="{FF2B5EF4-FFF2-40B4-BE49-F238E27FC236}">
                <a16:creationId xmlns:a16="http://schemas.microsoft.com/office/drawing/2014/main" id="{4A65071E-D615-326A-B765-1C16B77B6B98}"/>
              </a:ext>
            </a:extLst>
          </p:cNvPr>
          <p:cNvSpPr/>
          <p:nvPr/>
        </p:nvSpPr>
        <p:spPr>
          <a:xfrm>
            <a:off x="319571" y="4403872"/>
            <a:ext cx="1473583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1"/>
              </a:lnSpc>
              <a:buNone/>
            </a:pPr>
            <a:r>
              <a:rPr lang="en-US" sz="44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New inhouse system </a:t>
            </a:r>
            <a:r>
              <a:rPr lang="en-US" sz="440" err="1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payheads</a:t>
            </a:r>
            <a:r>
              <a:rPr lang="en-US" sz="44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 — structured workflow, AI validation &amp; exception handling required before payroll run</a:t>
            </a:r>
          </a:p>
        </p:txBody>
      </p:sp>
      <p:sp>
        <p:nvSpPr>
          <p:cNvPr id="343" name="Rounded Rectangle 342">
            <a:extLst>
              <a:ext uri="{FF2B5EF4-FFF2-40B4-BE49-F238E27FC236}">
                <a16:creationId xmlns:a16="http://schemas.microsoft.com/office/drawing/2014/main" id="{24C91FC0-9438-41CB-15B4-DC3893AA7B7F}"/>
              </a:ext>
            </a:extLst>
          </p:cNvPr>
          <p:cNvSpPr/>
          <p:nvPr/>
        </p:nvSpPr>
        <p:spPr>
          <a:xfrm>
            <a:off x="2078585" y="3925735"/>
            <a:ext cx="1472049" cy="1117491"/>
          </a:xfrm>
          <a:prstGeom prst="roundRect">
            <a:avLst>
              <a:gd name="adj" fmla="val 137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4" name="Shape 61">
            <a:extLst>
              <a:ext uri="{FF2B5EF4-FFF2-40B4-BE49-F238E27FC236}">
                <a16:creationId xmlns:a16="http://schemas.microsoft.com/office/drawing/2014/main" id="{38AE9804-26F9-E188-BD01-F718927E239B}"/>
              </a:ext>
            </a:extLst>
          </p:cNvPr>
          <p:cNvSpPr/>
          <p:nvPr/>
        </p:nvSpPr>
        <p:spPr>
          <a:xfrm>
            <a:off x="2114046" y="3978175"/>
            <a:ext cx="1384427" cy="28575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345" name="Shape 62">
            <a:extLst>
              <a:ext uri="{FF2B5EF4-FFF2-40B4-BE49-F238E27FC236}">
                <a16:creationId xmlns:a16="http://schemas.microsoft.com/office/drawing/2014/main" id="{DDADEC07-9383-939E-39BC-4E0CA5C21613}"/>
              </a:ext>
            </a:extLst>
          </p:cNvPr>
          <p:cNvSpPr/>
          <p:nvPr/>
        </p:nvSpPr>
        <p:spPr>
          <a:xfrm>
            <a:off x="2114046" y="3978175"/>
            <a:ext cx="1184909" cy="9525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347" name="Text 63">
            <a:extLst>
              <a:ext uri="{FF2B5EF4-FFF2-40B4-BE49-F238E27FC236}">
                <a16:creationId xmlns:a16="http://schemas.microsoft.com/office/drawing/2014/main" id="{08F7A822-D70D-7A7D-06B4-0C1CDE6529A3}"/>
              </a:ext>
            </a:extLst>
          </p:cNvPr>
          <p:cNvSpPr/>
          <p:nvPr/>
        </p:nvSpPr>
        <p:spPr>
          <a:xfrm>
            <a:off x="2124014" y="3978174"/>
            <a:ext cx="1313990" cy="27359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60325" indent="-60325" algn="l">
              <a:lnSpc>
                <a:spcPts val="708"/>
              </a:lnSpc>
              <a:buFont typeface="Arial" panose="020B0604020202020204" pitchFamily="34" charset="0"/>
              <a:buChar char="•"/>
            </a:pPr>
            <a:r>
              <a:rPr lang="en-US" sz="472" b="1" kern="0" spc="7">
                <a:solidFill>
                  <a:schemeClr val="accent5"/>
                </a:solidFill>
                <a:latin typeface="Aptos" panose="020B0004020202020204" pitchFamily="34" charset="0"/>
                <a:ea typeface="Nunito Sans" pitchFamily="34" charset="-122"/>
                <a:cs typeface="Nunito Sans" pitchFamily="34" charset="-120"/>
              </a:rPr>
              <a:t>Handles New External Facing System (13)</a:t>
            </a:r>
          </a:p>
          <a:p>
            <a:pPr marL="60325" indent="-60325" algn="l">
              <a:lnSpc>
                <a:spcPts val="708"/>
              </a:lnSpc>
              <a:buFont typeface="Arial" panose="020B0604020202020204" pitchFamily="34" charset="0"/>
              <a:buChar char="•"/>
            </a:pPr>
            <a:r>
              <a:rPr lang="en-US" sz="472" b="1" kern="0" spc="7">
                <a:solidFill>
                  <a:schemeClr val="accent5"/>
                </a:solidFill>
                <a:latin typeface="Aptos" panose="020B0004020202020204" pitchFamily="34" charset="0"/>
                <a:ea typeface="Nunito Sans" pitchFamily="34" charset="-122"/>
                <a:cs typeface="Nunito Sans" pitchFamily="34" charset="-120"/>
              </a:rPr>
              <a:t>Handles New System </a:t>
            </a:r>
            <a:r>
              <a:rPr lang="en-US" sz="472" b="1" kern="0" spc="7" err="1">
                <a:solidFill>
                  <a:schemeClr val="accent5"/>
                </a:solidFill>
                <a:latin typeface="Aptos" panose="020B0004020202020204" pitchFamily="34" charset="0"/>
                <a:ea typeface="Nunito Sans" pitchFamily="34" charset="-122"/>
                <a:cs typeface="Nunito Sans" pitchFamily="34" charset="-120"/>
              </a:rPr>
              <a:t>payheads</a:t>
            </a:r>
            <a:r>
              <a:rPr lang="en-US" sz="472" b="1" kern="0" spc="7">
                <a:solidFill>
                  <a:schemeClr val="accent5"/>
                </a:solidFill>
                <a:latin typeface="Aptos" panose="020B0004020202020204" pitchFamily="34" charset="0"/>
                <a:ea typeface="Nunito Sans" pitchFamily="34" charset="-122"/>
                <a:cs typeface="Nunito Sans" pitchFamily="34" charset="-120"/>
              </a:rPr>
              <a:t> (23)</a:t>
            </a:r>
          </a:p>
          <a:p>
            <a:pPr marL="60325" indent="-60325" algn="l">
              <a:lnSpc>
                <a:spcPts val="708"/>
              </a:lnSpc>
              <a:buFont typeface="Arial" panose="020B0604020202020204" pitchFamily="34" charset="0"/>
              <a:buChar char="•"/>
            </a:pPr>
            <a:r>
              <a:rPr lang="en-US" sz="472" b="1" kern="0" spc="7">
                <a:solidFill>
                  <a:schemeClr val="accent5"/>
                </a:solidFill>
                <a:latin typeface="Aptos" panose="020B0004020202020204" pitchFamily="34" charset="0"/>
                <a:ea typeface="Nunito Sans" pitchFamily="34" charset="-122"/>
                <a:cs typeface="Nunito Sans" pitchFamily="34" charset="-120"/>
              </a:rPr>
              <a:t>AI Validation Engine as backend</a:t>
            </a:r>
          </a:p>
        </p:txBody>
      </p:sp>
      <p:sp>
        <p:nvSpPr>
          <p:cNvPr id="348" name="Shape 64">
            <a:extLst>
              <a:ext uri="{FF2B5EF4-FFF2-40B4-BE49-F238E27FC236}">
                <a16:creationId xmlns:a16="http://schemas.microsoft.com/office/drawing/2014/main" id="{A151D583-23FA-6675-8BF3-1626CAAA3BCC}"/>
              </a:ext>
            </a:extLst>
          </p:cNvPr>
          <p:cNvSpPr/>
          <p:nvPr/>
        </p:nvSpPr>
        <p:spPr>
          <a:xfrm>
            <a:off x="2114046" y="4073425"/>
            <a:ext cx="1142047" cy="9525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351" name="Shape 66">
            <a:extLst>
              <a:ext uri="{FF2B5EF4-FFF2-40B4-BE49-F238E27FC236}">
                <a16:creationId xmlns:a16="http://schemas.microsoft.com/office/drawing/2014/main" id="{ED598BBC-C817-BA41-84C2-619B2DB1907A}"/>
              </a:ext>
            </a:extLst>
          </p:cNvPr>
          <p:cNvSpPr/>
          <p:nvPr/>
        </p:nvSpPr>
        <p:spPr>
          <a:xfrm>
            <a:off x="2114046" y="4168675"/>
            <a:ext cx="1022984" cy="9525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355" name="Shape 69">
            <a:extLst>
              <a:ext uri="{FF2B5EF4-FFF2-40B4-BE49-F238E27FC236}">
                <a16:creationId xmlns:a16="http://schemas.microsoft.com/office/drawing/2014/main" id="{64AFA2C9-1AB1-F060-AFF6-94ADDD17ABE2}"/>
              </a:ext>
            </a:extLst>
          </p:cNvPr>
          <p:cNvSpPr/>
          <p:nvPr/>
        </p:nvSpPr>
        <p:spPr>
          <a:xfrm>
            <a:off x="2122396" y="4395358"/>
            <a:ext cx="1384427" cy="349374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356" name="Text 70">
            <a:extLst>
              <a:ext uri="{FF2B5EF4-FFF2-40B4-BE49-F238E27FC236}">
                <a16:creationId xmlns:a16="http://schemas.microsoft.com/office/drawing/2014/main" id="{82631585-DC97-D1ED-93B7-4CC2ED29A17F}"/>
              </a:ext>
            </a:extLst>
          </p:cNvPr>
          <p:cNvSpPr/>
          <p:nvPr/>
        </p:nvSpPr>
        <p:spPr>
          <a:xfrm>
            <a:off x="2122396" y="4324063"/>
            <a:ext cx="1047750" cy="90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69"/>
              </a:lnSpc>
              <a:buNone/>
            </a:pPr>
            <a:r>
              <a:rPr lang="en-US" sz="535" b="1">
                <a:latin typeface="Aptos" panose="020B0004020202020204" pitchFamily="34" charset="0"/>
              </a:rPr>
              <a:t>Structured Input &amp; Workflow</a:t>
            </a:r>
          </a:p>
        </p:txBody>
      </p:sp>
      <p:sp>
        <p:nvSpPr>
          <p:cNvPr id="357" name="Text 71">
            <a:extLst>
              <a:ext uri="{FF2B5EF4-FFF2-40B4-BE49-F238E27FC236}">
                <a16:creationId xmlns:a16="http://schemas.microsoft.com/office/drawing/2014/main" id="{12EDAD84-012C-C000-6AF8-464DAB7F3AB1}"/>
              </a:ext>
            </a:extLst>
          </p:cNvPr>
          <p:cNvSpPr/>
          <p:nvPr/>
        </p:nvSpPr>
        <p:spPr>
          <a:xfrm>
            <a:off x="2122396" y="4449599"/>
            <a:ext cx="1384427" cy="1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1"/>
              </a:lnSpc>
              <a:buNone/>
            </a:pPr>
            <a:r>
              <a:rPr lang="en-US" sz="44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Stakeholders enter in structured UI · Tagged, timestamped, attributable · No Excel, no email</a:t>
            </a:r>
          </a:p>
        </p:txBody>
      </p:sp>
      <p:sp>
        <p:nvSpPr>
          <p:cNvPr id="360" name="Shape 73">
            <a:extLst>
              <a:ext uri="{FF2B5EF4-FFF2-40B4-BE49-F238E27FC236}">
                <a16:creationId xmlns:a16="http://schemas.microsoft.com/office/drawing/2014/main" id="{BF3C4489-CECB-4B0B-A4C9-6C79871CC446}"/>
              </a:ext>
            </a:extLst>
          </p:cNvPr>
          <p:cNvSpPr/>
          <p:nvPr/>
        </p:nvSpPr>
        <p:spPr>
          <a:xfrm>
            <a:off x="2109871" y="4855290"/>
            <a:ext cx="1384427" cy="349374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361" name="Shape 74">
            <a:extLst>
              <a:ext uri="{FF2B5EF4-FFF2-40B4-BE49-F238E27FC236}">
                <a16:creationId xmlns:a16="http://schemas.microsoft.com/office/drawing/2014/main" id="{D28C4F9F-0FFF-E2EC-8B3E-0977BD18AB28}"/>
              </a:ext>
            </a:extLst>
          </p:cNvPr>
          <p:cNvSpPr/>
          <p:nvPr/>
        </p:nvSpPr>
        <p:spPr>
          <a:xfrm>
            <a:off x="2109871" y="4855290"/>
            <a:ext cx="952500" cy="90488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362" name="Text 75">
            <a:extLst>
              <a:ext uri="{FF2B5EF4-FFF2-40B4-BE49-F238E27FC236}">
                <a16:creationId xmlns:a16="http://schemas.microsoft.com/office/drawing/2014/main" id="{4507287C-23DF-E779-947C-7204ADB7EBA0}"/>
              </a:ext>
            </a:extLst>
          </p:cNvPr>
          <p:cNvSpPr/>
          <p:nvPr/>
        </p:nvSpPr>
        <p:spPr>
          <a:xfrm>
            <a:off x="2130746" y="4702477"/>
            <a:ext cx="952500" cy="90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69"/>
              </a:lnSpc>
              <a:buNone/>
            </a:pPr>
            <a:r>
              <a:rPr lang="en-US" sz="535" b="1">
                <a:latin typeface="Aptos" panose="020B0004020202020204" pitchFamily="34" charset="0"/>
              </a:rPr>
              <a:t>Exception Handling</a:t>
            </a:r>
          </a:p>
        </p:txBody>
      </p:sp>
      <p:sp>
        <p:nvSpPr>
          <p:cNvPr id="363" name="Text 76">
            <a:extLst>
              <a:ext uri="{FF2B5EF4-FFF2-40B4-BE49-F238E27FC236}">
                <a16:creationId xmlns:a16="http://schemas.microsoft.com/office/drawing/2014/main" id="{5D6BECB5-B984-183A-5D9D-B78F17956AB3}"/>
              </a:ext>
            </a:extLst>
          </p:cNvPr>
          <p:cNvSpPr/>
          <p:nvPr/>
        </p:nvSpPr>
        <p:spPr>
          <a:xfrm>
            <a:off x="2130746" y="4828013"/>
            <a:ext cx="1384427" cy="163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1"/>
              </a:lnSpc>
              <a:buNone/>
            </a:pPr>
            <a:r>
              <a:rPr lang="en-US" sz="44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Override with mandatory reason codes · Full audit trail · Maker-checker for material changes</a:t>
            </a:r>
          </a:p>
        </p:txBody>
      </p:sp>
      <p:sp>
        <p:nvSpPr>
          <p:cNvPr id="376" name="Rounded Rectangle 375">
            <a:extLst>
              <a:ext uri="{FF2B5EF4-FFF2-40B4-BE49-F238E27FC236}">
                <a16:creationId xmlns:a16="http://schemas.microsoft.com/office/drawing/2014/main" id="{15AABBF6-59C8-D299-9B49-C252A09B1070}"/>
              </a:ext>
            </a:extLst>
          </p:cNvPr>
          <p:cNvSpPr/>
          <p:nvPr/>
        </p:nvSpPr>
        <p:spPr>
          <a:xfrm>
            <a:off x="3785789" y="3924124"/>
            <a:ext cx="1533727" cy="1120584"/>
          </a:xfrm>
          <a:prstGeom prst="roundRect">
            <a:avLst>
              <a:gd name="adj" fmla="val 176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7" name="Shape 90">
            <a:extLst>
              <a:ext uri="{FF2B5EF4-FFF2-40B4-BE49-F238E27FC236}">
                <a16:creationId xmlns:a16="http://schemas.microsoft.com/office/drawing/2014/main" id="{C425BA7D-96B9-47CB-96B6-9518DEE9C0FE}"/>
              </a:ext>
            </a:extLst>
          </p:cNvPr>
          <p:cNvSpPr/>
          <p:nvPr/>
        </p:nvSpPr>
        <p:spPr>
          <a:xfrm>
            <a:off x="3820768" y="3978586"/>
            <a:ext cx="1463287" cy="28575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378" name="Shape 91">
            <a:extLst>
              <a:ext uri="{FF2B5EF4-FFF2-40B4-BE49-F238E27FC236}">
                <a16:creationId xmlns:a16="http://schemas.microsoft.com/office/drawing/2014/main" id="{27CA3BE2-AB15-1A58-7195-BB3CF5C21543}"/>
              </a:ext>
            </a:extLst>
          </p:cNvPr>
          <p:cNvSpPr/>
          <p:nvPr/>
        </p:nvSpPr>
        <p:spPr>
          <a:xfrm>
            <a:off x="3820768" y="3978586"/>
            <a:ext cx="1394459" cy="9525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380" name="Text 92">
            <a:extLst>
              <a:ext uri="{FF2B5EF4-FFF2-40B4-BE49-F238E27FC236}">
                <a16:creationId xmlns:a16="http://schemas.microsoft.com/office/drawing/2014/main" id="{08B0A801-4732-8404-8FB2-7766CD8B324C}"/>
              </a:ext>
            </a:extLst>
          </p:cNvPr>
          <p:cNvSpPr/>
          <p:nvPr/>
        </p:nvSpPr>
        <p:spPr>
          <a:xfrm>
            <a:off x="3822425" y="3966117"/>
            <a:ext cx="1463510" cy="314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57150" indent="-57150" algn="l">
              <a:lnSpc>
                <a:spcPts val="708"/>
              </a:lnSpc>
              <a:buFont typeface="Arial" panose="020B0604020202020204" pitchFamily="34" charset="0"/>
              <a:buChar char="•"/>
            </a:pPr>
            <a:r>
              <a:rPr lang="en-US" sz="472" b="1">
                <a:solidFill>
                  <a:srgbClr val="FF7235"/>
                </a:solidFill>
                <a:latin typeface="Aptos" panose="020B0004020202020204" pitchFamily="34" charset="0"/>
              </a:rPr>
              <a:t>Continuous anomaly detection pre-execution</a:t>
            </a:r>
          </a:p>
          <a:p>
            <a:pPr marL="57150" indent="-57150" algn="l">
              <a:lnSpc>
                <a:spcPts val="708"/>
              </a:lnSpc>
              <a:buFont typeface="Arial" panose="020B0604020202020204" pitchFamily="34" charset="0"/>
              <a:buChar char="•"/>
            </a:pPr>
            <a:r>
              <a:rPr lang="en-US" sz="472" b="1">
                <a:solidFill>
                  <a:srgbClr val="FF7235"/>
                </a:solidFill>
                <a:latin typeface="Aptos" panose="020B0004020202020204" pitchFamily="34" charset="0"/>
              </a:rPr>
              <a:t>Zero manual intervention in steady-state</a:t>
            </a:r>
          </a:p>
          <a:p>
            <a:pPr marL="57150" indent="-57150" algn="l">
              <a:lnSpc>
                <a:spcPts val="708"/>
              </a:lnSpc>
              <a:buFont typeface="Arial" panose="020B0604020202020204" pitchFamily="34" charset="0"/>
              <a:buChar char="•"/>
            </a:pPr>
            <a:r>
              <a:rPr lang="en-US" sz="472" b="1">
                <a:solidFill>
                  <a:srgbClr val="FF7235"/>
                </a:solidFill>
                <a:latin typeface="Aptos" panose="020B0004020202020204" pitchFamily="34" charset="0"/>
              </a:rPr>
              <a:t>Full immutable audit trail — every action</a:t>
            </a:r>
          </a:p>
          <a:p>
            <a:pPr marL="57150" indent="-57150" algn="l">
              <a:lnSpc>
                <a:spcPts val="708"/>
              </a:lnSpc>
              <a:buFont typeface="Arial" panose="020B0604020202020204" pitchFamily="34" charset="0"/>
              <a:buChar char="•"/>
            </a:pPr>
            <a:endParaRPr lang="en-US" sz="472" b="1">
              <a:solidFill>
                <a:srgbClr val="FF7235"/>
              </a:solidFill>
              <a:latin typeface="Aptos" panose="020B0004020202020204" pitchFamily="34" charset="0"/>
            </a:endParaRPr>
          </a:p>
        </p:txBody>
      </p:sp>
      <p:sp>
        <p:nvSpPr>
          <p:cNvPr id="381" name="Shape 93">
            <a:extLst>
              <a:ext uri="{FF2B5EF4-FFF2-40B4-BE49-F238E27FC236}">
                <a16:creationId xmlns:a16="http://schemas.microsoft.com/office/drawing/2014/main" id="{60FFF0F3-FF11-2E9D-D480-B49B70397B03}"/>
              </a:ext>
            </a:extLst>
          </p:cNvPr>
          <p:cNvSpPr/>
          <p:nvPr/>
        </p:nvSpPr>
        <p:spPr>
          <a:xfrm>
            <a:off x="3820768" y="4073836"/>
            <a:ext cx="1294447" cy="9525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384" name="Shape 95">
            <a:extLst>
              <a:ext uri="{FF2B5EF4-FFF2-40B4-BE49-F238E27FC236}">
                <a16:creationId xmlns:a16="http://schemas.microsoft.com/office/drawing/2014/main" id="{EB07C1A3-DD4C-1C0C-7061-23CE6E9719DF}"/>
              </a:ext>
            </a:extLst>
          </p:cNvPr>
          <p:cNvSpPr/>
          <p:nvPr/>
        </p:nvSpPr>
        <p:spPr>
          <a:xfrm>
            <a:off x="3820768" y="4169086"/>
            <a:ext cx="1242059" cy="9525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388" name="Shape 98">
            <a:extLst>
              <a:ext uri="{FF2B5EF4-FFF2-40B4-BE49-F238E27FC236}">
                <a16:creationId xmlns:a16="http://schemas.microsoft.com/office/drawing/2014/main" id="{8F8AF5B2-2D51-6517-8E2B-695A7E635BD9}"/>
              </a:ext>
            </a:extLst>
          </p:cNvPr>
          <p:cNvSpPr/>
          <p:nvPr/>
        </p:nvSpPr>
        <p:spPr>
          <a:xfrm>
            <a:off x="3829118" y="4391594"/>
            <a:ext cx="1463287" cy="349374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389" name="Shape 99">
            <a:extLst>
              <a:ext uri="{FF2B5EF4-FFF2-40B4-BE49-F238E27FC236}">
                <a16:creationId xmlns:a16="http://schemas.microsoft.com/office/drawing/2014/main" id="{2C8D503A-4121-BB91-81D2-F88A91544B50}"/>
              </a:ext>
            </a:extLst>
          </p:cNvPr>
          <p:cNvSpPr/>
          <p:nvPr/>
        </p:nvSpPr>
        <p:spPr>
          <a:xfrm>
            <a:off x="3829118" y="4391594"/>
            <a:ext cx="838200" cy="90488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390" name="Text 100">
            <a:extLst>
              <a:ext uri="{FF2B5EF4-FFF2-40B4-BE49-F238E27FC236}">
                <a16:creationId xmlns:a16="http://schemas.microsoft.com/office/drawing/2014/main" id="{603E77CF-7BD8-8185-16D0-622693677AE7}"/>
              </a:ext>
            </a:extLst>
          </p:cNvPr>
          <p:cNvSpPr/>
          <p:nvPr/>
        </p:nvSpPr>
        <p:spPr>
          <a:xfrm>
            <a:off x="3829118" y="4334259"/>
            <a:ext cx="838200" cy="90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69"/>
              </a:lnSpc>
              <a:buNone/>
            </a:pPr>
            <a:r>
              <a:rPr lang="en-US" sz="535" b="1">
                <a:latin typeface="Aptos" panose="020B0004020202020204" pitchFamily="34" charset="0"/>
              </a:rPr>
              <a:t>Pre-Execution Validation</a:t>
            </a:r>
          </a:p>
        </p:txBody>
      </p:sp>
      <p:sp>
        <p:nvSpPr>
          <p:cNvPr id="391" name="Text 101">
            <a:extLst>
              <a:ext uri="{FF2B5EF4-FFF2-40B4-BE49-F238E27FC236}">
                <a16:creationId xmlns:a16="http://schemas.microsoft.com/office/drawing/2014/main" id="{4ED33CA2-7442-B5F8-4A9F-091BDB520901}"/>
              </a:ext>
            </a:extLst>
          </p:cNvPr>
          <p:cNvSpPr/>
          <p:nvPr/>
        </p:nvSpPr>
        <p:spPr>
          <a:xfrm>
            <a:off x="3829118" y="4459795"/>
            <a:ext cx="1463287" cy="173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1"/>
              </a:lnSpc>
              <a:buNone/>
            </a:pPr>
            <a:r>
              <a:rPr lang="en-US" sz="44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Salary spikes · Ghost employees · Duplicate accounts · Retroactive edits · Unauthorized changes — all blocked</a:t>
            </a:r>
          </a:p>
        </p:txBody>
      </p:sp>
      <p:sp>
        <p:nvSpPr>
          <p:cNvPr id="393" name="Shape 103">
            <a:extLst>
              <a:ext uri="{FF2B5EF4-FFF2-40B4-BE49-F238E27FC236}">
                <a16:creationId xmlns:a16="http://schemas.microsoft.com/office/drawing/2014/main" id="{2FEFB81E-8F1E-FFED-062D-F4265D728CA3}"/>
              </a:ext>
            </a:extLst>
          </p:cNvPr>
          <p:cNvSpPr/>
          <p:nvPr/>
        </p:nvSpPr>
        <p:spPr>
          <a:xfrm>
            <a:off x="3812418" y="4927242"/>
            <a:ext cx="1463287" cy="273174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394" name="Shape 104">
            <a:extLst>
              <a:ext uri="{FF2B5EF4-FFF2-40B4-BE49-F238E27FC236}">
                <a16:creationId xmlns:a16="http://schemas.microsoft.com/office/drawing/2014/main" id="{F8691549-17A5-E390-E145-31BF5F3CC230}"/>
              </a:ext>
            </a:extLst>
          </p:cNvPr>
          <p:cNvSpPr/>
          <p:nvPr/>
        </p:nvSpPr>
        <p:spPr>
          <a:xfrm>
            <a:off x="3812418" y="4872400"/>
            <a:ext cx="1138238" cy="90488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395" name="Text 105">
            <a:extLst>
              <a:ext uri="{FF2B5EF4-FFF2-40B4-BE49-F238E27FC236}">
                <a16:creationId xmlns:a16="http://schemas.microsoft.com/office/drawing/2014/main" id="{11B91D12-D45C-BD4C-9681-CCDCB9D5A32B}"/>
              </a:ext>
            </a:extLst>
          </p:cNvPr>
          <p:cNvSpPr/>
          <p:nvPr/>
        </p:nvSpPr>
        <p:spPr>
          <a:xfrm>
            <a:off x="3837469" y="4735638"/>
            <a:ext cx="1138238" cy="90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69"/>
              </a:lnSpc>
              <a:buNone/>
            </a:pPr>
            <a:r>
              <a:rPr lang="en-US" sz="535" b="1">
                <a:latin typeface="Aptos" panose="020B0004020202020204" pitchFamily="34" charset="0"/>
              </a:rPr>
              <a:t>Exception Routing + Audit Trail</a:t>
            </a:r>
          </a:p>
        </p:txBody>
      </p:sp>
      <p:sp>
        <p:nvSpPr>
          <p:cNvPr id="396" name="Text 101">
            <a:extLst>
              <a:ext uri="{FF2B5EF4-FFF2-40B4-BE49-F238E27FC236}">
                <a16:creationId xmlns:a16="http://schemas.microsoft.com/office/drawing/2014/main" id="{69707BD8-8DBA-387A-197C-58D9272E1311}"/>
              </a:ext>
            </a:extLst>
          </p:cNvPr>
          <p:cNvSpPr/>
          <p:nvPr/>
        </p:nvSpPr>
        <p:spPr>
          <a:xfrm>
            <a:off x="3840356" y="4836239"/>
            <a:ext cx="1463287" cy="1718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1"/>
              </a:lnSpc>
              <a:buNone/>
            </a:pPr>
            <a:r>
              <a:rPr lang="en-US" sz="44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~98% auto-processed · Risk-scored exceptions → reviewer · Override requires reason + approval + audit log</a:t>
            </a:r>
          </a:p>
        </p:txBody>
      </p:sp>
      <p:sp>
        <p:nvSpPr>
          <p:cNvPr id="399" name="Shape 109">
            <a:extLst>
              <a:ext uri="{FF2B5EF4-FFF2-40B4-BE49-F238E27FC236}">
                <a16:creationId xmlns:a16="http://schemas.microsoft.com/office/drawing/2014/main" id="{ACEE8781-1AF8-ACEE-9E92-2E49C403F81D}"/>
              </a:ext>
            </a:extLst>
          </p:cNvPr>
          <p:cNvSpPr/>
          <p:nvPr/>
        </p:nvSpPr>
        <p:spPr>
          <a:xfrm>
            <a:off x="3824943" y="5068592"/>
            <a:ext cx="614363" cy="90488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427" name="Shape 148">
            <a:extLst>
              <a:ext uri="{FF2B5EF4-FFF2-40B4-BE49-F238E27FC236}">
                <a16:creationId xmlns:a16="http://schemas.microsoft.com/office/drawing/2014/main" id="{63DB4B0C-49D1-1D67-BD2B-A719F297DC00}"/>
              </a:ext>
            </a:extLst>
          </p:cNvPr>
          <p:cNvSpPr/>
          <p:nvPr/>
        </p:nvSpPr>
        <p:spPr>
          <a:xfrm>
            <a:off x="6691778" y="1135287"/>
            <a:ext cx="1042701" cy="3194403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433" name="Rounded Rectangle 432">
            <a:extLst>
              <a:ext uri="{FF2B5EF4-FFF2-40B4-BE49-F238E27FC236}">
                <a16:creationId xmlns:a16="http://schemas.microsoft.com/office/drawing/2014/main" id="{314A00EE-A7A0-A5F9-A670-5B849A57107E}"/>
              </a:ext>
            </a:extLst>
          </p:cNvPr>
          <p:cNvSpPr/>
          <p:nvPr/>
        </p:nvSpPr>
        <p:spPr>
          <a:xfrm>
            <a:off x="6739205" y="1106061"/>
            <a:ext cx="947845" cy="3665239"/>
          </a:xfrm>
          <a:prstGeom prst="roundRect">
            <a:avLst>
              <a:gd name="adj" fmla="val 261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4" name="Shape 150">
            <a:extLst>
              <a:ext uri="{FF2B5EF4-FFF2-40B4-BE49-F238E27FC236}">
                <a16:creationId xmlns:a16="http://schemas.microsoft.com/office/drawing/2014/main" id="{2E127676-7B1B-DF9E-0CCF-E6691B5D9279}"/>
              </a:ext>
            </a:extLst>
          </p:cNvPr>
          <p:cNvSpPr/>
          <p:nvPr/>
        </p:nvSpPr>
        <p:spPr>
          <a:xfrm>
            <a:off x="6779400" y="1149873"/>
            <a:ext cx="867458" cy="349374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435" name="Shape 151">
            <a:extLst>
              <a:ext uri="{FF2B5EF4-FFF2-40B4-BE49-F238E27FC236}">
                <a16:creationId xmlns:a16="http://schemas.microsoft.com/office/drawing/2014/main" id="{F5329782-33C6-F40B-864B-342FF2009827}"/>
              </a:ext>
            </a:extLst>
          </p:cNvPr>
          <p:cNvSpPr/>
          <p:nvPr/>
        </p:nvSpPr>
        <p:spPr>
          <a:xfrm>
            <a:off x="6779400" y="1149873"/>
            <a:ext cx="604838" cy="90488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436" name="Text 152">
            <a:extLst>
              <a:ext uri="{FF2B5EF4-FFF2-40B4-BE49-F238E27FC236}">
                <a16:creationId xmlns:a16="http://schemas.microsoft.com/office/drawing/2014/main" id="{7A195911-55A2-679F-2894-EF72CC1EA087}"/>
              </a:ext>
            </a:extLst>
          </p:cNvPr>
          <p:cNvSpPr/>
          <p:nvPr/>
        </p:nvSpPr>
        <p:spPr>
          <a:xfrm>
            <a:off x="6779400" y="1149873"/>
            <a:ext cx="604838" cy="90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69"/>
              </a:lnSpc>
              <a:buNone/>
            </a:pPr>
            <a:r>
              <a:rPr lang="en-US" sz="535" b="1" kern="0" spc="4">
                <a:solidFill>
                  <a:srgbClr val="1A1A1A">
                    <a:alpha val="99000"/>
                  </a:srgbClr>
                </a:solidFill>
                <a:latin typeface="Aptos" panose="020B0004020202020204" pitchFamily="34" charset="0"/>
                <a:ea typeface="Nunito Sans" pitchFamily="34" charset="-122"/>
                <a:cs typeface="Nunito Sans" pitchFamily="34" charset="-120"/>
              </a:rPr>
              <a:t>Salary Processing</a:t>
            </a:r>
            <a:endParaRPr lang="en-US" sz="535">
              <a:latin typeface="Aptos" panose="020B0004020202020204" pitchFamily="34" charset="0"/>
            </a:endParaRPr>
          </a:p>
        </p:txBody>
      </p:sp>
      <p:sp>
        <p:nvSpPr>
          <p:cNvPr id="437" name="Text 153">
            <a:extLst>
              <a:ext uri="{FF2B5EF4-FFF2-40B4-BE49-F238E27FC236}">
                <a16:creationId xmlns:a16="http://schemas.microsoft.com/office/drawing/2014/main" id="{12276FC5-FB02-D241-84F3-FBABBFE1BA04}"/>
              </a:ext>
            </a:extLst>
          </p:cNvPr>
          <p:cNvSpPr/>
          <p:nvPr/>
        </p:nvSpPr>
        <p:spPr>
          <a:xfrm>
            <a:off x="6779400" y="1275410"/>
            <a:ext cx="867458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1"/>
              </a:lnSpc>
              <a:buNone/>
            </a:pPr>
            <a:r>
              <a:rPr lang="en-US" sz="440" kern="0" spc="9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Nunito Sans" pitchFamily="34" charset="-122"/>
                <a:cs typeface="Nunito Sans" pitchFamily="34" charset="-120"/>
              </a:rPr>
              <a:t>184 </a:t>
            </a:r>
            <a:r>
              <a:rPr lang="en-US" sz="440" kern="0" spc="9" err="1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Nunito Sans" pitchFamily="34" charset="-122"/>
                <a:cs typeface="Nunito Sans" pitchFamily="34" charset="-120"/>
              </a:rPr>
              <a:t>payheads</a:t>
            </a:r>
            <a:r>
              <a:rPr lang="en-US" sz="440" kern="0" spc="9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Nunito Sans" pitchFamily="34" charset="-122"/>
                <a:cs typeface="Nunito Sans" pitchFamily="34" charset="-120"/>
              </a:rPr>
              <a:t> · Gross to Net · Tax computation · Statutory deductions</a:t>
            </a:r>
            <a:endParaRPr lang="en-US" sz="44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439" name="Shape 155">
            <a:extLst>
              <a:ext uri="{FF2B5EF4-FFF2-40B4-BE49-F238E27FC236}">
                <a16:creationId xmlns:a16="http://schemas.microsoft.com/office/drawing/2014/main" id="{84B30466-4156-5387-5D47-E96F22B94897}"/>
              </a:ext>
            </a:extLst>
          </p:cNvPr>
          <p:cNvSpPr/>
          <p:nvPr/>
        </p:nvSpPr>
        <p:spPr>
          <a:xfrm>
            <a:off x="6779400" y="1639030"/>
            <a:ext cx="867458" cy="349374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440" name="Shape 156">
            <a:extLst>
              <a:ext uri="{FF2B5EF4-FFF2-40B4-BE49-F238E27FC236}">
                <a16:creationId xmlns:a16="http://schemas.microsoft.com/office/drawing/2014/main" id="{3078E70D-947E-0946-7831-00097FCEFAC6}"/>
              </a:ext>
            </a:extLst>
          </p:cNvPr>
          <p:cNvSpPr/>
          <p:nvPr/>
        </p:nvSpPr>
        <p:spPr>
          <a:xfrm>
            <a:off x="6779400" y="1639030"/>
            <a:ext cx="638175" cy="90488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441" name="Text 157">
            <a:extLst>
              <a:ext uri="{FF2B5EF4-FFF2-40B4-BE49-F238E27FC236}">
                <a16:creationId xmlns:a16="http://schemas.microsoft.com/office/drawing/2014/main" id="{A835C641-4C15-C534-A93F-FBA83795BF74}"/>
              </a:ext>
            </a:extLst>
          </p:cNvPr>
          <p:cNvSpPr/>
          <p:nvPr/>
        </p:nvSpPr>
        <p:spPr>
          <a:xfrm>
            <a:off x="6779400" y="1639030"/>
            <a:ext cx="638175" cy="90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69"/>
              </a:lnSpc>
              <a:buNone/>
            </a:pPr>
            <a:r>
              <a:rPr lang="en-US" sz="535" b="1" kern="0" spc="4">
                <a:solidFill>
                  <a:srgbClr val="1A1A1A">
                    <a:alpha val="99000"/>
                  </a:srgbClr>
                </a:solidFill>
                <a:latin typeface="Aptos" panose="020B0004020202020204" pitchFamily="34" charset="0"/>
                <a:ea typeface="Nunito Sans" pitchFamily="34" charset="-122"/>
                <a:cs typeface="Nunito Sans" pitchFamily="34" charset="-120"/>
              </a:rPr>
              <a:t>Payslip Generation</a:t>
            </a:r>
            <a:endParaRPr lang="en-US" sz="535">
              <a:latin typeface="Aptos" panose="020B0004020202020204" pitchFamily="34" charset="0"/>
            </a:endParaRPr>
          </a:p>
        </p:txBody>
      </p:sp>
      <p:sp>
        <p:nvSpPr>
          <p:cNvPr id="442" name="Text 158">
            <a:extLst>
              <a:ext uri="{FF2B5EF4-FFF2-40B4-BE49-F238E27FC236}">
                <a16:creationId xmlns:a16="http://schemas.microsoft.com/office/drawing/2014/main" id="{550DDFD5-9692-90FB-FEC4-3F9DCEAE3FD5}"/>
              </a:ext>
            </a:extLst>
          </p:cNvPr>
          <p:cNvSpPr/>
          <p:nvPr/>
        </p:nvSpPr>
        <p:spPr>
          <a:xfrm>
            <a:off x="6779400" y="1764567"/>
            <a:ext cx="867458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1"/>
              </a:lnSpc>
              <a:buNone/>
            </a:pPr>
            <a:r>
              <a:rPr lang="en-US" sz="440" kern="0" spc="9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Nunito Sans" pitchFamily="34" charset="-122"/>
                <a:cs typeface="Nunito Sans" pitchFamily="34" charset="-120"/>
              </a:rPr>
              <a:t>~18K/month · Auto published to </a:t>
            </a:r>
            <a:r>
              <a:rPr lang="en-US" sz="440" kern="0" spc="9" err="1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Nunito Sans" pitchFamily="34" charset="-122"/>
                <a:cs typeface="Nunito Sans" pitchFamily="34" charset="-120"/>
              </a:rPr>
              <a:t>myAI</a:t>
            </a:r>
            <a:r>
              <a:rPr lang="en-US" sz="440" kern="0" spc="9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Nunito Sans" pitchFamily="34" charset="-122"/>
                <a:cs typeface="Nunito Sans" pitchFamily="34" charset="-120"/>
              </a:rPr>
              <a:t> portal · Email notification to employees</a:t>
            </a:r>
            <a:endParaRPr lang="en-US" sz="44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444" name="Shape 160">
            <a:extLst>
              <a:ext uri="{FF2B5EF4-FFF2-40B4-BE49-F238E27FC236}">
                <a16:creationId xmlns:a16="http://schemas.microsoft.com/office/drawing/2014/main" id="{C63144C3-1FF7-6620-341F-BD9B8DC219FC}"/>
              </a:ext>
            </a:extLst>
          </p:cNvPr>
          <p:cNvSpPr/>
          <p:nvPr/>
        </p:nvSpPr>
        <p:spPr>
          <a:xfrm>
            <a:off x="6779400" y="2124012"/>
            <a:ext cx="867458" cy="349374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445" name="Shape 161">
            <a:extLst>
              <a:ext uri="{FF2B5EF4-FFF2-40B4-BE49-F238E27FC236}">
                <a16:creationId xmlns:a16="http://schemas.microsoft.com/office/drawing/2014/main" id="{D6C3B647-9FFB-9BA6-7898-887F353291A0}"/>
              </a:ext>
            </a:extLst>
          </p:cNvPr>
          <p:cNvSpPr/>
          <p:nvPr/>
        </p:nvSpPr>
        <p:spPr>
          <a:xfrm>
            <a:off x="6779400" y="2124012"/>
            <a:ext cx="704850" cy="90488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446" name="Text 162">
            <a:extLst>
              <a:ext uri="{FF2B5EF4-FFF2-40B4-BE49-F238E27FC236}">
                <a16:creationId xmlns:a16="http://schemas.microsoft.com/office/drawing/2014/main" id="{29B5D328-EBD4-8333-CCCE-6786B83434EF}"/>
              </a:ext>
            </a:extLst>
          </p:cNvPr>
          <p:cNvSpPr/>
          <p:nvPr/>
        </p:nvSpPr>
        <p:spPr>
          <a:xfrm>
            <a:off x="6779400" y="2194252"/>
            <a:ext cx="704850" cy="90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69"/>
              </a:lnSpc>
              <a:buNone/>
            </a:pPr>
            <a:r>
              <a:rPr lang="en-US" sz="535" b="1" kern="0" spc="4">
                <a:solidFill>
                  <a:srgbClr val="1A1A1A">
                    <a:alpha val="99000"/>
                  </a:srgbClr>
                </a:solidFill>
                <a:latin typeface="Aptos" panose="020B0004020202020204" pitchFamily="34" charset="0"/>
                <a:ea typeface="Nunito Sans" pitchFamily="34" charset="-122"/>
                <a:cs typeface="Nunito Sans" pitchFamily="34" charset="-120"/>
              </a:rPr>
              <a:t>Bank File Generation</a:t>
            </a:r>
            <a:endParaRPr lang="en-US" sz="535">
              <a:latin typeface="Aptos" panose="020B0004020202020204" pitchFamily="34" charset="0"/>
            </a:endParaRPr>
          </a:p>
        </p:txBody>
      </p:sp>
      <p:sp>
        <p:nvSpPr>
          <p:cNvPr id="447" name="Text 163">
            <a:extLst>
              <a:ext uri="{FF2B5EF4-FFF2-40B4-BE49-F238E27FC236}">
                <a16:creationId xmlns:a16="http://schemas.microsoft.com/office/drawing/2014/main" id="{DA8F440A-458B-CDC6-A26F-66ECFFFBF0E5}"/>
              </a:ext>
            </a:extLst>
          </p:cNvPr>
          <p:cNvSpPr/>
          <p:nvPr/>
        </p:nvSpPr>
        <p:spPr>
          <a:xfrm>
            <a:off x="6779400" y="2449222"/>
            <a:ext cx="867458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1"/>
              </a:lnSpc>
              <a:buNone/>
            </a:pPr>
            <a:r>
              <a:rPr lang="en-US" sz="440" kern="0" spc="9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Nunito Sans" pitchFamily="34" charset="-122"/>
                <a:cs typeface="Nunito Sans" pitchFamily="34" charset="-120"/>
              </a:rPr>
              <a:t>(NEFT/RTGS . B banks · SFTP </a:t>
            </a:r>
            <a:r>
              <a:rPr lang="en-US" sz="440" kern="0" spc="9" err="1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Nunito Sans" pitchFamily="34" charset="-122"/>
                <a:cs typeface="Nunito Sans" pitchFamily="34" charset="-120"/>
              </a:rPr>
              <a:t>transmition</a:t>
            </a:r>
            <a:r>
              <a:rPr lang="en-US" sz="440" kern="0" spc="9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Nunito Sans" pitchFamily="34" charset="-122"/>
                <a:cs typeface="Nunito Sans" pitchFamily="34" charset="-120"/>
              </a:rPr>
              <a:t> (automated, no manual upload)</a:t>
            </a:r>
            <a:endParaRPr lang="en-US" sz="44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448" name="Shape 29">
            <a:extLst>
              <a:ext uri="{FF2B5EF4-FFF2-40B4-BE49-F238E27FC236}">
                <a16:creationId xmlns:a16="http://schemas.microsoft.com/office/drawing/2014/main" id="{B04B37FF-81B4-D378-3A18-97A2C61DBDA2}"/>
              </a:ext>
            </a:extLst>
          </p:cNvPr>
          <p:cNvSpPr/>
          <p:nvPr/>
        </p:nvSpPr>
        <p:spPr>
          <a:xfrm>
            <a:off x="6779400" y="2300825"/>
            <a:ext cx="365617" cy="121771"/>
          </a:xfrm>
          <a:prstGeom prst="roundRect">
            <a:avLst>
              <a:gd name="adj" fmla="val 65501"/>
            </a:avLst>
          </a:prstGeom>
          <a:solidFill>
            <a:srgbClr val="069669"/>
          </a:solidFill>
          <a:ln w="2262">
            <a:noFill/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449" name="Text 30">
            <a:extLst>
              <a:ext uri="{FF2B5EF4-FFF2-40B4-BE49-F238E27FC236}">
                <a16:creationId xmlns:a16="http://schemas.microsoft.com/office/drawing/2014/main" id="{089B6208-B4D0-3DC5-7BE3-81FAC11C41C4}"/>
              </a:ext>
            </a:extLst>
          </p:cNvPr>
          <p:cNvSpPr/>
          <p:nvPr/>
        </p:nvSpPr>
        <p:spPr>
          <a:xfrm>
            <a:off x="6813882" y="2313475"/>
            <a:ext cx="376873" cy="987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08"/>
              </a:lnSpc>
              <a:buNone/>
            </a:pPr>
            <a:r>
              <a:rPr lang="en-US" sz="472" b="1" kern="0" spc="7">
                <a:solidFill>
                  <a:schemeClr val="bg1"/>
                </a:solidFill>
                <a:latin typeface="Aptos" panose="020B0004020202020204" pitchFamily="34" charset="0"/>
              </a:rPr>
              <a:t>Auto SFTP</a:t>
            </a:r>
            <a:endParaRPr lang="en-US" sz="472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450" name="Rounded Rectangle 449">
            <a:extLst>
              <a:ext uri="{FF2B5EF4-FFF2-40B4-BE49-F238E27FC236}">
                <a16:creationId xmlns:a16="http://schemas.microsoft.com/office/drawing/2014/main" id="{FBF796FD-C47C-3869-F3B3-8765517D9DCD}"/>
              </a:ext>
            </a:extLst>
          </p:cNvPr>
          <p:cNvSpPr/>
          <p:nvPr/>
        </p:nvSpPr>
        <p:spPr>
          <a:xfrm>
            <a:off x="6739205" y="2761261"/>
            <a:ext cx="947845" cy="686775"/>
          </a:xfrm>
          <a:prstGeom prst="roundRect">
            <a:avLst>
              <a:gd name="adj" fmla="val 0"/>
            </a:avLst>
          </a:prstGeom>
          <a:solidFill>
            <a:srgbClr val="D0F4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1" name="Shape 165">
            <a:extLst>
              <a:ext uri="{FF2B5EF4-FFF2-40B4-BE49-F238E27FC236}">
                <a16:creationId xmlns:a16="http://schemas.microsoft.com/office/drawing/2014/main" id="{C4B1786B-5BEB-4A02-5E46-F7C8A1B1310B}"/>
              </a:ext>
            </a:extLst>
          </p:cNvPr>
          <p:cNvSpPr/>
          <p:nvPr/>
        </p:nvSpPr>
        <p:spPr>
          <a:xfrm>
            <a:off x="6783575" y="2750955"/>
            <a:ext cx="867458" cy="497011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452" name="Shape 166">
            <a:extLst>
              <a:ext uri="{FF2B5EF4-FFF2-40B4-BE49-F238E27FC236}">
                <a16:creationId xmlns:a16="http://schemas.microsoft.com/office/drawing/2014/main" id="{F34655D5-1158-ADAA-6A77-6D3D1D7D86D7}"/>
              </a:ext>
            </a:extLst>
          </p:cNvPr>
          <p:cNvSpPr/>
          <p:nvPr/>
        </p:nvSpPr>
        <p:spPr>
          <a:xfrm>
            <a:off x="6783575" y="2750955"/>
            <a:ext cx="509587" cy="90488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453" name="Text 167">
            <a:extLst>
              <a:ext uri="{FF2B5EF4-FFF2-40B4-BE49-F238E27FC236}">
                <a16:creationId xmlns:a16="http://schemas.microsoft.com/office/drawing/2014/main" id="{609BF333-4093-531E-1506-B14189103B2F}"/>
              </a:ext>
            </a:extLst>
          </p:cNvPr>
          <p:cNvSpPr/>
          <p:nvPr/>
        </p:nvSpPr>
        <p:spPr>
          <a:xfrm>
            <a:off x="6783575" y="2894746"/>
            <a:ext cx="509587" cy="90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69"/>
              </a:lnSpc>
              <a:buNone/>
            </a:pPr>
            <a:r>
              <a:rPr lang="en-US" sz="535" b="1" kern="0" spc="4" err="1">
                <a:solidFill>
                  <a:srgbClr val="1A1A1A">
                    <a:alpha val="99000"/>
                  </a:srgbClr>
                </a:solidFill>
                <a:latin typeface="Aptos" panose="020B0004020202020204" pitchFamily="34" charset="0"/>
                <a:ea typeface="Nunito Sans" pitchFamily="34" charset="-122"/>
                <a:cs typeface="Nunito Sans" pitchFamily="34" charset="-120"/>
              </a:rPr>
              <a:t>FnF</a:t>
            </a:r>
            <a:r>
              <a:rPr lang="en-US" sz="535" b="1" kern="0" spc="4">
                <a:solidFill>
                  <a:srgbClr val="1A1A1A">
                    <a:alpha val="99000"/>
                  </a:srgbClr>
                </a:solidFill>
                <a:latin typeface="Aptos" panose="020B0004020202020204" pitchFamily="34" charset="0"/>
                <a:ea typeface="Nunito Sans" pitchFamily="34" charset="-122"/>
                <a:cs typeface="Nunito Sans" pitchFamily="34" charset="-120"/>
              </a:rPr>
              <a:t> Processing</a:t>
            </a:r>
            <a:endParaRPr lang="en-US" sz="535">
              <a:latin typeface="Aptos" panose="020B0004020202020204" pitchFamily="34" charset="0"/>
            </a:endParaRPr>
          </a:p>
        </p:txBody>
      </p:sp>
      <p:sp>
        <p:nvSpPr>
          <p:cNvPr id="454" name="Text 168">
            <a:extLst>
              <a:ext uri="{FF2B5EF4-FFF2-40B4-BE49-F238E27FC236}">
                <a16:creationId xmlns:a16="http://schemas.microsoft.com/office/drawing/2014/main" id="{12E9A50D-6F87-1710-D92F-8B71F8DEBFE4}"/>
              </a:ext>
            </a:extLst>
          </p:cNvPr>
          <p:cNvSpPr/>
          <p:nvPr/>
        </p:nvSpPr>
        <p:spPr>
          <a:xfrm>
            <a:off x="6783575" y="3020282"/>
            <a:ext cx="867458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1"/>
              </a:lnSpc>
              <a:buNone/>
            </a:pPr>
            <a:r>
              <a:rPr lang="en-US" sz="440" kern="0" spc="9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Nunito Sans" pitchFamily="34" charset="-122"/>
                <a:cs typeface="Nunito Sans" pitchFamily="34" charset="-120"/>
              </a:rPr>
              <a:t>(Event triggered daily) Full &amp; Final settlements on exit event· Daily processing · Code on Wages compliant</a:t>
            </a:r>
            <a:endParaRPr lang="en-US" sz="44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456" name="Shape 170">
            <a:extLst>
              <a:ext uri="{FF2B5EF4-FFF2-40B4-BE49-F238E27FC236}">
                <a16:creationId xmlns:a16="http://schemas.microsoft.com/office/drawing/2014/main" id="{0EBAFB7D-CDA5-B82E-E04E-82AD0FF4AD27}"/>
              </a:ext>
            </a:extLst>
          </p:cNvPr>
          <p:cNvSpPr/>
          <p:nvPr/>
        </p:nvSpPr>
        <p:spPr>
          <a:xfrm>
            <a:off x="6779400" y="3316771"/>
            <a:ext cx="867458" cy="273174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457" name="Shape 171">
            <a:extLst>
              <a:ext uri="{FF2B5EF4-FFF2-40B4-BE49-F238E27FC236}">
                <a16:creationId xmlns:a16="http://schemas.microsoft.com/office/drawing/2014/main" id="{7DE53643-06BD-DA23-148D-A3709FBDB289}"/>
              </a:ext>
            </a:extLst>
          </p:cNvPr>
          <p:cNvSpPr/>
          <p:nvPr/>
        </p:nvSpPr>
        <p:spPr>
          <a:xfrm>
            <a:off x="6779400" y="3316771"/>
            <a:ext cx="733425" cy="90488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458" name="Text 172">
            <a:extLst>
              <a:ext uri="{FF2B5EF4-FFF2-40B4-BE49-F238E27FC236}">
                <a16:creationId xmlns:a16="http://schemas.microsoft.com/office/drawing/2014/main" id="{75C874EE-6F03-0201-5144-D55B568E63E7}"/>
              </a:ext>
            </a:extLst>
          </p:cNvPr>
          <p:cNvSpPr/>
          <p:nvPr/>
        </p:nvSpPr>
        <p:spPr>
          <a:xfrm>
            <a:off x="6779400" y="3561317"/>
            <a:ext cx="733425" cy="90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69"/>
              </a:lnSpc>
              <a:buNone/>
            </a:pPr>
            <a:r>
              <a:rPr lang="en-US" sz="535" b="1" kern="0" spc="4">
                <a:solidFill>
                  <a:srgbClr val="1A1A1A">
                    <a:alpha val="99000"/>
                  </a:srgbClr>
                </a:solidFill>
                <a:latin typeface="Aptos" panose="020B0004020202020204" pitchFamily="34" charset="0"/>
                <a:ea typeface="Nunito Sans" pitchFamily="34" charset="-122"/>
                <a:cs typeface="Nunito Sans" pitchFamily="34" charset="-120"/>
              </a:rPr>
              <a:t>Statutory Compliance</a:t>
            </a:r>
            <a:endParaRPr lang="en-US" sz="535">
              <a:latin typeface="Aptos" panose="020B0004020202020204" pitchFamily="34" charset="0"/>
            </a:endParaRPr>
          </a:p>
        </p:txBody>
      </p:sp>
      <p:sp>
        <p:nvSpPr>
          <p:cNvPr id="459" name="Text 173">
            <a:extLst>
              <a:ext uri="{FF2B5EF4-FFF2-40B4-BE49-F238E27FC236}">
                <a16:creationId xmlns:a16="http://schemas.microsoft.com/office/drawing/2014/main" id="{761E57EB-9805-91B8-028D-86CF65955CED}"/>
              </a:ext>
            </a:extLst>
          </p:cNvPr>
          <p:cNvSpPr/>
          <p:nvPr/>
        </p:nvSpPr>
        <p:spPr>
          <a:xfrm>
            <a:off x="6779400" y="3686853"/>
            <a:ext cx="867458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1"/>
              </a:lnSpc>
              <a:buNone/>
            </a:pPr>
            <a:r>
              <a:rPr lang="en-US" sz="440" kern="0" spc="9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Nunito Sans" pitchFamily="34" charset="-122"/>
                <a:cs typeface="Nunito Sans" pitchFamily="34" charset="-120"/>
              </a:rPr>
              <a:t>PF · ESI · PT · TDS · Form 16 – all automated</a:t>
            </a:r>
            <a:endParaRPr lang="en-US" sz="44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460" name="Round Same Side Corner Rectangle 459">
            <a:extLst>
              <a:ext uri="{FF2B5EF4-FFF2-40B4-BE49-F238E27FC236}">
                <a16:creationId xmlns:a16="http://schemas.microsoft.com/office/drawing/2014/main" id="{06465694-4252-AFF2-C7D4-F6F3ADA72AD0}"/>
              </a:ext>
            </a:extLst>
          </p:cNvPr>
          <p:cNvSpPr/>
          <p:nvPr/>
        </p:nvSpPr>
        <p:spPr>
          <a:xfrm>
            <a:off x="6738265" y="3960900"/>
            <a:ext cx="951585" cy="810401"/>
          </a:xfrm>
          <a:prstGeom prst="round2SameRect">
            <a:avLst>
              <a:gd name="adj1" fmla="val 0"/>
              <a:gd name="adj2" fmla="val 5050"/>
            </a:avLst>
          </a:prstGeom>
          <a:solidFill>
            <a:srgbClr val="D0F4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1" name="Shape 175">
            <a:extLst>
              <a:ext uri="{FF2B5EF4-FFF2-40B4-BE49-F238E27FC236}">
                <a16:creationId xmlns:a16="http://schemas.microsoft.com/office/drawing/2014/main" id="{C78ACFA8-E0F9-4325-AB07-2F453BE18471}"/>
              </a:ext>
            </a:extLst>
          </p:cNvPr>
          <p:cNvSpPr/>
          <p:nvPr/>
        </p:nvSpPr>
        <p:spPr>
          <a:xfrm>
            <a:off x="6779400" y="3788182"/>
            <a:ext cx="867458" cy="587499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462" name="Shape 176">
            <a:extLst>
              <a:ext uri="{FF2B5EF4-FFF2-40B4-BE49-F238E27FC236}">
                <a16:creationId xmlns:a16="http://schemas.microsoft.com/office/drawing/2014/main" id="{1296829E-9D65-6195-890E-7C24553A1E95}"/>
              </a:ext>
            </a:extLst>
          </p:cNvPr>
          <p:cNvSpPr/>
          <p:nvPr/>
        </p:nvSpPr>
        <p:spPr>
          <a:xfrm>
            <a:off x="6779400" y="3788182"/>
            <a:ext cx="867458" cy="180975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463" name="Text 177">
            <a:extLst>
              <a:ext uri="{FF2B5EF4-FFF2-40B4-BE49-F238E27FC236}">
                <a16:creationId xmlns:a16="http://schemas.microsoft.com/office/drawing/2014/main" id="{47B85CFB-361B-B7D7-4B6B-31D90178E847}"/>
              </a:ext>
            </a:extLst>
          </p:cNvPr>
          <p:cNvSpPr/>
          <p:nvPr/>
        </p:nvSpPr>
        <p:spPr>
          <a:xfrm>
            <a:off x="6779400" y="4088884"/>
            <a:ext cx="86745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69"/>
              </a:lnSpc>
              <a:buNone/>
            </a:pPr>
            <a:r>
              <a:rPr lang="en-US" sz="535" b="1" kern="0" spc="4">
                <a:solidFill>
                  <a:srgbClr val="1A1A1A">
                    <a:alpha val="99000"/>
                  </a:srgbClr>
                </a:solidFill>
                <a:latin typeface="Aptos" panose="020B0004020202020204" pitchFamily="34" charset="0"/>
                <a:ea typeface="Nunito Sans" pitchFamily="34" charset="-122"/>
                <a:cs typeface="Nunito Sans" pitchFamily="34" charset="-120"/>
              </a:rPr>
              <a:t>Straight-Through Processing</a:t>
            </a:r>
            <a:endParaRPr lang="en-US" sz="535">
              <a:latin typeface="Aptos" panose="020B0004020202020204" pitchFamily="34" charset="0"/>
            </a:endParaRPr>
          </a:p>
        </p:txBody>
      </p:sp>
      <p:sp>
        <p:nvSpPr>
          <p:cNvPr id="464" name="Text 178">
            <a:extLst>
              <a:ext uri="{FF2B5EF4-FFF2-40B4-BE49-F238E27FC236}">
                <a16:creationId xmlns:a16="http://schemas.microsoft.com/office/drawing/2014/main" id="{BD6CD9BE-9A83-2367-0AC7-C123624C027C}"/>
              </a:ext>
            </a:extLst>
          </p:cNvPr>
          <p:cNvSpPr/>
          <p:nvPr/>
        </p:nvSpPr>
        <p:spPr>
          <a:xfrm>
            <a:off x="6779400" y="4304907"/>
            <a:ext cx="867458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1"/>
              </a:lnSpc>
              <a:buNone/>
            </a:pPr>
            <a:r>
              <a:rPr lang="en-US" sz="440" kern="0" spc="9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Nunito Sans" pitchFamily="34" charset="-122"/>
                <a:cs typeface="Nunito Sans" pitchFamily="34" charset="-120"/>
              </a:rPr>
              <a:t>All 184 </a:t>
            </a:r>
            <a:r>
              <a:rPr lang="en-US" sz="440" kern="0" spc="9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Nunito Sans" pitchFamily="34" charset="-122"/>
                <a:cs typeface="Nunito Sans" pitchFamily="34" charset="-120"/>
              </a:rPr>
              <a:t>payheads</a:t>
            </a:r>
            <a:r>
              <a:rPr lang="en-US" sz="440" kern="0" spc="9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Nunito Sans" pitchFamily="34" charset="-122"/>
                <a:cs typeface="Nunito Sans" pitchFamily="34" charset="-120"/>
              </a:rPr>
              <a:t> arrive via API · No manual PS entry · No Draft Register loop · 50K records/</a:t>
            </a:r>
            <a:r>
              <a:rPr lang="en-US" sz="440" kern="0" spc="9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Nunito Sans" pitchFamily="34" charset="-122"/>
                <a:cs typeface="Nunito Sans" pitchFamily="34" charset="-120"/>
              </a:rPr>
              <a:t>hr</a:t>
            </a:r>
            <a:r>
              <a:rPr lang="en-US" sz="440" kern="0" spc="9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Nunito Sans" pitchFamily="34" charset="-122"/>
                <a:cs typeface="Nunito Sans" pitchFamily="34" charset="-120"/>
              </a:rPr>
              <a:t>· 99.2% success rate</a:t>
            </a:r>
            <a:endParaRPr lang="en-US" sz="44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466" name="Rounded Rectangle 465">
            <a:extLst>
              <a:ext uri="{FF2B5EF4-FFF2-40B4-BE49-F238E27FC236}">
                <a16:creationId xmlns:a16="http://schemas.microsoft.com/office/drawing/2014/main" id="{277EB612-0441-9026-1574-8A7CD7D4BEA3}"/>
              </a:ext>
            </a:extLst>
          </p:cNvPr>
          <p:cNvSpPr/>
          <p:nvPr/>
        </p:nvSpPr>
        <p:spPr>
          <a:xfrm>
            <a:off x="7919962" y="1113577"/>
            <a:ext cx="947845" cy="1947907"/>
          </a:xfrm>
          <a:prstGeom prst="roundRect">
            <a:avLst>
              <a:gd name="adj" fmla="val 374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562A4AC4-69C6-A42D-7AC7-C74C1AC19A8B}"/>
              </a:ext>
            </a:extLst>
          </p:cNvPr>
          <p:cNvCxnSpPr>
            <a:cxnSpLocks/>
          </p:cNvCxnSpPr>
          <p:nvPr/>
        </p:nvCxnSpPr>
        <p:spPr>
          <a:xfrm>
            <a:off x="6558150" y="2824667"/>
            <a:ext cx="133628" cy="0"/>
          </a:xfrm>
          <a:prstGeom prst="straightConnector1">
            <a:avLst/>
          </a:prstGeom>
          <a:ln>
            <a:solidFill>
              <a:srgbClr val="AA83C8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473" name="Shape 187">
            <a:extLst>
              <a:ext uri="{FF2B5EF4-FFF2-40B4-BE49-F238E27FC236}">
                <a16:creationId xmlns:a16="http://schemas.microsoft.com/office/drawing/2014/main" id="{C22B1565-D793-743F-6410-76CFCA30ECF7}"/>
              </a:ext>
            </a:extLst>
          </p:cNvPr>
          <p:cNvSpPr/>
          <p:nvPr/>
        </p:nvSpPr>
        <p:spPr>
          <a:xfrm>
            <a:off x="7965402" y="1550378"/>
            <a:ext cx="867458" cy="273174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475" name="Text 189">
            <a:extLst>
              <a:ext uri="{FF2B5EF4-FFF2-40B4-BE49-F238E27FC236}">
                <a16:creationId xmlns:a16="http://schemas.microsoft.com/office/drawing/2014/main" id="{E94E5044-5954-7480-D5EB-07847A82E491}"/>
              </a:ext>
            </a:extLst>
          </p:cNvPr>
          <p:cNvSpPr/>
          <p:nvPr/>
        </p:nvSpPr>
        <p:spPr>
          <a:xfrm>
            <a:off x="7961448" y="1668683"/>
            <a:ext cx="404813" cy="1120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69"/>
              </a:lnSpc>
              <a:buNone/>
            </a:pPr>
            <a:r>
              <a:rPr lang="en-US" sz="535" b="1" kern="0" spc="4" err="1">
                <a:solidFill>
                  <a:srgbClr val="1A1A1A">
                    <a:alpha val="99000"/>
                  </a:srgbClr>
                </a:solidFill>
                <a:latin typeface="Aptos" panose="020B0004020202020204" pitchFamily="34" charset="0"/>
                <a:ea typeface="Nunito Sans" pitchFamily="34" charset="-122"/>
                <a:cs typeface="Nunito Sans" pitchFamily="34" charset="-120"/>
              </a:rPr>
              <a:t>myAI</a:t>
            </a:r>
            <a:r>
              <a:rPr lang="en-US" sz="535" b="1" kern="0" spc="4">
                <a:solidFill>
                  <a:srgbClr val="1A1A1A">
                    <a:alpha val="99000"/>
                  </a:srgbClr>
                </a:solidFill>
                <a:latin typeface="Aptos" panose="020B0004020202020204" pitchFamily="34" charset="0"/>
                <a:ea typeface="Nunito Sans" pitchFamily="34" charset="-122"/>
                <a:cs typeface="Nunito Sans" pitchFamily="34" charset="-120"/>
              </a:rPr>
              <a:t> Portal</a:t>
            </a:r>
            <a:endParaRPr lang="en-US" sz="535">
              <a:latin typeface="Aptos" panose="020B0004020202020204" pitchFamily="34" charset="0"/>
            </a:endParaRPr>
          </a:p>
        </p:txBody>
      </p:sp>
      <p:sp>
        <p:nvSpPr>
          <p:cNvPr id="476" name="Text 190">
            <a:extLst>
              <a:ext uri="{FF2B5EF4-FFF2-40B4-BE49-F238E27FC236}">
                <a16:creationId xmlns:a16="http://schemas.microsoft.com/office/drawing/2014/main" id="{AC4E4B28-D2EF-5A3E-785B-E91F004F22BF}"/>
              </a:ext>
            </a:extLst>
          </p:cNvPr>
          <p:cNvSpPr/>
          <p:nvPr/>
        </p:nvSpPr>
        <p:spPr>
          <a:xfrm>
            <a:off x="7961448" y="1794220"/>
            <a:ext cx="867458" cy="182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1"/>
              </a:lnSpc>
              <a:buNone/>
            </a:pPr>
            <a:r>
              <a:rPr lang="en-US" sz="440" kern="0" spc="9" err="1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Nunito Sans" pitchFamily="34" charset="-122"/>
                <a:cs typeface="Nunito Sans" pitchFamily="34" charset="-120"/>
              </a:rPr>
              <a:t>Payslips</a:t>
            </a:r>
            <a:r>
              <a:rPr lang="en-US" sz="440" kern="0" spc="9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Nunito Sans" pitchFamily="34" charset="-122"/>
                <a:cs typeface="Nunito Sans" pitchFamily="34" charset="-120"/>
              </a:rPr>
              <a:t> auto published · Employee self service</a:t>
            </a:r>
            <a:endParaRPr lang="en-US" sz="44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478" name="Shape 192">
            <a:extLst>
              <a:ext uri="{FF2B5EF4-FFF2-40B4-BE49-F238E27FC236}">
                <a16:creationId xmlns:a16="http://schemas.microsoft.com/office/drawing/2014/main" id="{DAD76A75-8538-D803-E6E6-C51F4789845A}"/>
              </a:ext>
            </a:extLst>
          </p:cNvPr>
          <p:cNvSpPr/>
          <p:nvPr/>
        </p:nvSpPr>
        <p:spPr>
          <a:xfrm>
            <a:off x="7965402" y="1967509"/>
            <a:ext cx="867458" cy="273174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479" name="Shape 193">
            <a:extLst>
              <a:ext uri="{FF2B5EF4-FFF2-40B4-BE49-F238E27FC236}">
                <a16:creationId xmlns:a16="http://schemas.microsoft.com/office/drawing/2014/main" id="{D12B3EF8-07C3-62A8-6CF9-2000EEBAB3A9}"/>
              </a:ext>
            </a:extLst>
          </p:cNvPr>
          <p:cNvSpPr/>
          <p:nvPr/>
        </p:nvSpPr>
        <p:spPr>
          <a:xfrm>
            <a:off x="7965402" y="1967509"/>
            <a:ext cx="423863" cy="90488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480" name="Text 194">
            <a:extLst>
              <a:ext uri="{FF2B5EF4-FFF2-40B4-BE49-F238E27FC236}">
                <a16:creationId xmlns:a16="http://schemas.microsoft.com/office/drawing/2014/main" id="{DF7A13AA-4E5D-5C34-D185-3119906406F4}"/>
              </a:ext>
            </a:extLst>
          </p:cNvPr>
          <p:cNvSpPr/>
          <p:nvPr/>
        </p:nvSpPr>
        <p:spPr>
          <a:xfrm>
            <a:off x="7973566" y="2147532"/>
            <a:ext cx="423863" cy="128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69"/>
              </a:lnSpc>
              <a:buNone/>
            </a:pPr>
            <a:r>
              <a:rPr lang="en-US" sz="535" b="1" kern="0" spc="4">
                <a:solidFill>
                  <a:srgbClr val="1A1A1A">
                    <a:alpha val="99000"/>
                  </a:srgbClr>
                </a:solidFill>
                <a:latin typeface="Aptos" panose="020B0004020202020204" pitchFamily="34" charset="0"/>
                <a:ea typeface="Nunito Sans" pitchFamily="34" charset="-122"/>
                <a:cs typeface="Nunito Sans" pitchFamily="34" charset="-120"/>
              </a:rPr>
              <a:t>SAP Finance</a:t>
            </a:r>
            <a:endParaRPr lang="en-US" sz="535">
              <a:latin typeface="Aptos" panose="020B0004020202020204" pitchFamily="34" charset="0"/>
            </a:endParaRPr>
          </a:p>
        </p:txBody>
      </p:sp>
      <p:sp>
        <p:nvSpPr>
          <p:cNvPr id="481" name="Text 195">
            <a:extLst>
              <a:ext uri="{FF2B5EF4-FFF2-40B4-BE49-F238E27FC236}">
                <a16:creationId xmlns:a16="http://schemas.microsoft.com/office/drawing/2014/main" id="{5C3C0433-8285-C42B-336E-C5E03FC469C7}"/>
              </a:ext>
            </a:extLst>
          </p:cNvPr>
          <p:cNvSpPr/>
          <p:nvPr/>
        </p:nvSpPr>
        <p:spPr>
          <a:xfrm>
            <a:off x="7973566" y="2273069"/>
            <a:ext cx="867458" cy="209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1"/>
              </a:lnSpc>
              <a:buNone/>
            </a:pPr>
            <a:r>
              <a:rPr lang="en-US" sz="440" kern="0" spc="9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Nunito Sans" pitchFamily="34" charset="-122"/>
                <a:cs typeface="Nunito Sans" pitchFamily="34" charset="-120"/>
              </a:rPr>
              <a:t>GL Posting (Payroll). Cost </a:t>
            </a:r>
            <a:r>
              <a:rPr lang="en-US" sz="440" kern="0" spc="9" err="1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Nunito Sans" pitchFamily="34" charset="-122"/>
                <a:cs typeface="Nunito Sans" pitchFamily="34" charset="-120"/>
              </a:rPr>
              <a:t>cntre</a:t>
            </a:r>
            <a:r>
              <a:rPr lang="en-US" sz="440" kern="0" spc="9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Nunito Sans" pitchFamily="34" charset="-122"/>
                <a:cs typeface="Nunito Sans" pitchFamily="34" charset="-120"/>
              </a:rPr>
              <a:t> </a:t>
            </a:r>
            <a:r>
              <a:rPr lang="en-US" sz="440" kern="0" spc="9" err="1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Nunito Sans" pitchFamily="34" charset="-122"/>
                <a:cs typeface="Nunito Sans" pitchFamily="34" charset="-120"/>
              </a:rPr>
              <a:t>reconcilation</a:t>
            </a:r>
            <a:endParaRPr lang="en-US" sz="44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483" name="Shape 197">
            <a:extLst>
              <a:ext uri="{FF2B5EF4-FFF2-40B4-BE49-F238E27FC236}">
                <a16:creationId xmlns:a16="http://schemas.microsoft.com/office/drawing/2014/main" id="{BDB28CD1-7AC0-F829-DE0F-E48CE4F5F114}"/>
              </a:ext>
            </a:extLst>
          </p:cNvPr>
          <p:cNvSpPr/>
          <p:nvPr/>
        </p:nvSpPr>
        <p:spPr>
          <a:xfrm>
            <a:off x="7965402" y="2372119"/>
            <a:ext cx="867458" cy="273174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484" name="Shape 198">
            <a:extLst>
              <a:ext uri="{FF2B5EF4-FFF2-40B4-BE49-F238E27FC236}">
                <a16:creationId xmlns:a16="http://schemas.microsoft.com/office/drawing/2014/main" id="{50D5E3D7-2739-D2C0-EB1B-BF6FEAE10047}"/>
              </a:ext>
            </a:extLst>
          </p:cNvPr>
          <p:cNvSpPr/>
          <p:nvPr/>
        </p:nvSpPr>
        <p:spPr>
          <a:xfrm>
            <a:off x="7965402" y="2372119"/>
            <a:ext cx="395288" cy="90488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485" name="Text 199">
            <a:extLst>
              <a:ext uri="{FF2B5EF4-FFF2-40B4-BE49-F238E27FC236}">
                <a16:creationId xmlns:a16="http://schemas.microsoft.com/office/drawing/2014/main" id="{6DA516CE-9979-CA5B-9456-64785F9E74AE}"/>
              </a:ext>
            </a:extLst>
          </p:cNvPr>
          <p:cNvSpPr/>
          <p:nvPr/>
        </p:nvSpPr>
        <p:spPr>
          <a:xfrm>
            <a:off x="7971122" y="2670688"/>
            <a:ext cx="395288" cy="90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69"/>
              </a:lnSpc>
              <a:buNone/>
            </a:pPr>
            <a:r>
              <a:rPr lang="en-US" sz="535" b="1" kern="0" spc="4">
                <a:solidFill>
                  <a:srgbClr val="1A1A1A">
                    <a:alpha val="99000"/>
                  </a:srgbClr>
                </a:solidFill>
                <a:latin typeface="Aptos" panose="020B0004020202020204" pitchFamily="34" charset="0"/>
                <a:ea typeface="Nunito Sans" pitchFamily="34" charset="-122"/>
                <a:cs typeface="Nunito Sans" pitchFamily="34" charset="-120"/>
              </a:rPr>
              <a:t>Compliance</a:t>
            </a:r>
            <a:endParaRPr lang="en-US" sz="535">
              <a:latin typeface="Aptos" panose="020B0004020202020204" pitchFamily="34" charset="0"/>
            </a:endParaRPr>
          </a:p>
        </p:txBody>
      </p:sp>
      <p:sp>
        <p:nvSpPr>
          <p:cNvPr id="486" name="Text 200">
            <a:extLst>
              <a:ext uri="{FF2B5EF4-FFF2-40B4-BE49-F238E27FC236}">
                <a16:creationId xmlns:a16="http://schemas.microsoft.com/office/drawing/2014/main" id="{505E987B-4737-0739-325A-01DA81905C3B}"/>
              </a:ext>
            </a:extLst>
          </p:cNvPr>
          <p:cNvSpPr/>
          <p:nvPr/>
        </p:nvSpPr>
        <p:spPr>
          <a:xfrm>
            <a:off x="7971122" y="2796224"/>
            <a:ext cx="867458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1"/>
              </a:lnSpc>
              <a:buNone/>
            </a:pPr>
            <a:r>
              <a:rPr lang="en-US" sz="440" kern="0" spc="9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Nunito Sans" pitchFamily="34" charset="-122"/>
                <a:cs typeface="Nunito Sans" pitchFamily="34" charset="-120"/>
              </a:rPr>
              <a:t>PF/EPFO · Gratuity Trust · EOS · 7 yr  Retention</a:t>
            </a:r>
            <a:endParaRPr lang="en-US" sz="44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cxnSp>
        <p:nvCxnSpPr>
          <p:cNvPr id="487" name="Straight Arrow Connector 486">
            <a:extLst>
              <a:ext uri="{FF2B5EF4-FFF2-40B4-BE49-F238E27FC236}">
                <a16:creationId xmlns:a16="http://schemas.microsoft.com/office/drawing/2014/main" id="{A20578B1-5385-B6C5-3895-CDE4D51051A4}"/>
              </a:ext>
            </a:extLst>
          </p:cNvPr>
          <p:cNvCxnSpPr>
            <a:cxnSpLocks/>
          </p:cNvCxnSpPr>
          <p:nvPr/>
        </p:nvCxnSpPr>
        <p:spPr>
          <a:xfrm>
            <a:off x="7744012" y="2824667"/>
            <a:ext cx="133628" cy="0"/>
          </a:xfrm>
          <a:prstGeom prst="straightConnector1">
            <a:avLst/>
          </a:prstGeom>
          <a:ln>
            <a:solidFill>
              <a:srgbClr val="35A8A9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489" name="Shape 201">
            <a:extLst>
              <a:ext uri="{FF2B5EF4-FFF2-40B4-BE49-F238E27FC236}">
                <a16:creationId xmlns:a16="http://schemas.microsoft.com/office/drawing/2014/main" id="{D586649C-BD41-78CE-63E4-90ADC1921299}"/>
              </a:ext>
            </a:extLst>
          </p:cNvPr>
          <p:cNvSpPr/>
          <p:nvPr/>
        </p:nvSpPr>
        <p:spPr>
          <a:xfrm>
            <a:off x="231415" y="1311200"/>
            <a:ext cx="1650773" cy="339490"/>
          </a:xfrm>
          <a:prstGeom prst="roundRect">
            <a:avLst>
              <a:gd name="adj" fmla="val 5273"/>
            </a:avLst>
          </a:prstGeom>
          <a:solidFill>
            <a:srgbClr val="69C582"/>
          </a:solidFill>
          <a:ln w="4162">
            <a:noFill/>
            <a:prstDash val="solid"/>
          </a:ln>
        </p:spPr>
        <p:txBody>
          <a:bodyPr/>
          <a:lstStyle/>
          <a:p>
            <a:endParaRPr lang="en-US">
              <a:highlight>
                <a:srgbClr val="000080"/>
              </a:highlight>
              <a:latin typeface="Aptos" panose="020B0004020202020204" pitchFamily="34" charset="0"/>
            </a:endParaRPr>
          </a:p>
        </p:txBody>
      </p:sp>
      <p:sp>
        <p:nvSpPr>
          <p:cNvPr id="495" name="Text 213">
            <a:extLst>
              <a:ext uri="{FF2B5EF4-FFF2-40B4-BE49-F238E27FC236}">
                <a16:creationId xmlns:a16="http://schemas.microsoft.com/office/drawing/2014/main" id="{134AED96-45CC-FE21-2196-BCE35A0D4B7A}"/>
              </a:ext>
            </a:extLst>
          </p:cNvPr>
          <p:cNvSpPr/>
          <p:nvPr/>
        </p:nvSpPr>
        <p:spPr>
          <a:xfrm>
            <a:off x="311932" y="1385994"/>
            <a:ext cx="914400" cy="90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69"/>
              </a:lnSpc>
              <a:buNone/>
            </a:pPr>
            <a:r>
              <a:rPr lang="en-US" sz="535" b="1" kern="0" spc="4" err="1">
                <a:solidFill>
                  <a:schemeClr val="bg1"/>
                </a:solidFill>
                <a:latin typeface="Aptos" panose="020B0004020202020204" pitchFamily="34" charset="0"/>
                <a:ea typeface="Nunito Sans" pitchFamily="34" charset="-122"/>
                <a:cs typeface="Nunito Sans" pitchFamily="34" charset="-120"/>
              </a:rPr>
              <a:t>PeopleStrong</a:t>
            </a:r>
            <a:r>
              <a:rPr lang="en-US" sz="535" b="1" kern="0" spc="4">
                <a:solidFill>
                  <a:schemeClr val="bg1"/>
                </a:solidFill>
                <a:latin typeface="Aptos" panose="020B0004020202020204" pitchFamily="34" charset="0"/>
                <a:ea typeface="Nunito Sans" pitchFamily="34" charset="-122"/>
                <a:cs typeface="Nunito Sans" pitchFamily="34" charset="-120"/>
              </a:rPr>
              <a:t> - Automated</a:t>
            </a:r>
            <a:endParaRPr lang="en-US" sz="535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496" name="Text 214">
            <a:extLst>
              <a:ext uri="{FF2B5EF4-FFF2-40B4-BE49-F238E27FC236}">
                <a16:creationId xmlns:a16="http://schemas.microsoft.com/office/drawing/2014/main" id="{BC33FF89-0665-42DB-DCA6-967B29C37C19}"/>
              </a:ext>
            </a:extLst>
          </p:cNvPr>
          <p:cNvSpPr/>
          <p:nvPr/>
        </p:nvSpPr>
        <p:spPr>
          <a:xfrm>
            <a:off x="311932" y="1495655"/>
            <a:ext cx="147358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1"/>
              </a:lnSpc>
              <a:buNone/>
            </a:pPr>
            <a:r>
              <a:rPr lang="en-US" sz="440" kern="0" spc="9">
                <a:solidFill>
                  <a:schemeClr val="bg1"/>
                </a:solidFill>
                <a:latin typeface="Aptos" panose="020B0004020202020204" pitchFamily="34" charset="0"/>
                <a:ea typeface="Nunito Sans" pitchFamily="34" charset="-122"/>
                <a:cs typeface="Nunito Sans" pitchFamily="34" charset="-120"/>
              </a:rPr>
              <a:t>Reimb, Benefits, Crew Transport (31 </a:t>
            </a:r>
            <a:r>
              <a:rPr lang="en-US" sz="440" kern="0" spc="9" err="1">
                <a:solidFill>
                  <a:schemeClr val="bg1"/>
                </a:solidFill>
                <a:latin typeface="Aptos" panose="020B0004020202020204" pitchFamily="34" charset="0"/>
                <a:ea typeface="Nunito Sans" pitchFamily="34" charset="-122"/>
                <a:cs typeface="Nunito Sans" pitchFamily="34" charset="-120"/>
              </a:rPr>
              <a:t>payheads</a:t>
            </a:r>
            <a:r>
              <a:rPr lang="en-US" sz="440" kern="0" spc="9">
                <a:solidFill>
                  <a:schemeClr val="bg1"/>
                </a:solidFill>
                <a:latin typeface="Aptos" panose="020B0004020202020204" pitchFamily="34" charset="0"/>
                <a:ea typeface="Nunito Sans" pitchFamily="34" charset="-122"/>
                <a:cs typeface="Nunito Sans" pitchFamily="34" charset="-120"/>
              </a:rPr>
              <a:t>)</a:t>
            </a:r>
            <a:endParaRPr lang="en-US" sz="44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499" name="Text 219">
            <a:extLst>
              <a:ext uri="{FF2B5EF4-FFF2-40B4-BE49-F238E27FC236}">
                <a16:creationId xmlns:a16="http://schemas.microsoft.com/office/drawing/2014/main" id="{18EA4D41-D0A9-0A62-3053-3CC916C29C41}"/>
              </a:ext>
            </a:extLst>
          </p:cNvPr>
          <p:cNvSpPr/>
          <p:nvPr/>
        </p:nvSpPr>
        <p:spPr>
          <a:xfrm>
            <a:off x="312905" y="1868118"/>
            <a:ext cx="1473583" cy="92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1"/>
              </a:lnSpc>
              <a:buNone/>
            </a:pPr>
            <a:r>
              <a:rPr lang="en-US" sz="440" kern="0" spc="9">
                <a:solidFill>
                  <a:schemeClr val="bg1"/>
                </a:solidFill>
                <a:latin typeface="Aptos" panose="020B0004020202020204" pitchFamily="34" charset="0"/>
                <a:ea typeface="Nunito Sans" pitchFamily="34" charset="-122"/>
                <a:cs typeface="Nunito Sans" pitchFamily="34" charset="-120"/>
              </a:rPr>
              <a:t>FVP/Reimb (12) - Upgraded to fully automated in to be</a:t>
            </a:r>
            <a:endParaRPr lang="en-US" sz="44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500" name="Text 218">
            <a:extLst>
              <a:ext uri="{FF2B5EF4-FFF2-40B4-BE49-F238E27FC236}">
                <a16:creationId xmlns:a16="http://schemas.microsoft.com/office/drawing/2014/main" id="{A9D7B8D9-8668-541D-35D2-94E9B91A84D2}"/>
              </a:ext>
            </a:extLst>
          </p:cNvPr>
          <p:cNvSpPr/>
          <p:nvPr/>
        </p:nvSpPr>
        <p:spPr>
          <a:xfrm>
            <a:off x="312905" y="1753618"/>
            <a:ext cx="1467287" cy="97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69"/>
              </a:lnSpc>
              <a:buNone/>
            </a:pPr>
            <a:r>
              <a:rPr lang="en-US" sz="535" b="1" kern="0" spc="4" err="1">
                <a:solidFill>
                  <a:schemeClr val="bg1"/>
                </a:solidFill>
                <a:latin typeface="Aptos" panose="020B0004020202020204" pitchFamily="34" charset="0"/>
                <a:ea typeface="Nunito Sans" pitchFamily="34" charset="-122"/>
                <a:cs typeface="Nunito Sans" pitchFamily="34" charset="-120"/>
              </a:rPr>
              <a:t>PeopleStrong</a:t>
            </a:r>
            <a:r>
              <a:rPr lang="en-US" sz="535" b="1" kern="0" spc="4">
                <a:solidFill>
                  <a:schemeClr val="bg1"/>
                </a:solidFill>
                <a:latin typeface="Aptos" panose="020B0004020202020204" pitchFamily="34" charset="0"/>
                <a:ea typeface="Nunito Sans" pitchFamily="34" charset="-122"/>
                <a:cs typeface="Nunito Sans" pitchFamily="34" charset="-120"/>
              </a:rPr>
              <a:t> - Semi-Auto (to Automated)</a:t>
            </a:r>
            <a:endParaRPr lang="en-US" sz="535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501" name="Text 13">
            <a:extLst>
              <a:ext uri="{FF2B5EF4-FFF2-40B4-BE49-F238E27FC236}">
                <a16:creationId xmlns:a16="http://schemas.microsoft.com/office/drawing/2014/main" id="{E178191A-4F80-1EB2-48BB-92719312FD33}"/>
              </a:ext>
            </a:extLst>
          </p:cNvPr>
          <p:cNvSpPr/>
          <p:nvPr/>
        </p:nvSpPr>
        <p:spPr>
          <a:xfrm>
            <a:off x="6746704" y="837777"/>
            <a:ext cx="1435893" cy="26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72"/>
              </a:lnSpc>
              <a:buNone/>
            </a:pPr>
            <a:r>
              <a:rPr lang="en-US" sz="600" b="1" kern="0" spc="4">
                <a:solidFill>
                  <a:schemeClr val="bg1"/>
                </a:solidFill>
                <a:latin typeface="Aptos" panose="020B0004020202020204" pitchFamily="34" charset="0"/>
              </a:rPr>
              <a:t>PS PAYROLL ENGINE </a:t>
            </a:r>
          </a:p>
          <a:p>
            <a:pPr marL="0" indent="0" algn="l">
              <a:buNone/>
            </a:pPr>
            <a:r>
              <a:rPr lang="en-US" sz="600" b="1" kern="0" spc="4" err="1">
                <a:solidFill>
                  <a:schemeClr val="bg1"/>
                </a:solidFill>
                <a:latin typeface="Aptos" panose="020B0004020202020204" pitchFamily="34" charset="0"/>
              </a:rPr>
              <a:t>PeopleStrong</a:t>
            </a:r>
            <a:r>
              <a:rPr lang="en-US" sz="600" b="1" kern="0" spc="4">
                <a:solidFill>
                  <a:schemeClr val="bg1"/>
                </a:solidFill>
                <a:latin typeface="Aptos" panose="020B0004020202020204" pitchFamily="34" charset="0"/>
              </a:rPr>
              <a:t> platform</a:t>
            </a:r>
            <a:endParaRPr lang="en-US" sz="600" b="1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502" name="Text 13">
            <a:extLst>
              <a:ext uri="{FF2B5EF4-FFF2-40B4-BE49-F238E27FC236}">
                <a16:creationId xmlns:a16="http://schemas.microsoft.com/office/drawing/2014/main" id="{55437742-515C-53F1-7404-D3DED9BE241D}"/>
              </a:ext>
            </a:extLst>
          </p:cNvPr>
          <p:cNvSpPr/>
          <p:nvPr/>
        </p:nvSpPr>
        <p:spPr>
          <a:xfrm>
            <a:off x="7927289" y="865802"/>
            <a:ext cx="1435893" cy="26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72"/>
              </a:lnSpc>
              <a:buNone/>
            </a:pPr>
            <a:r>
              <a:rPr lang="en-US" sz="600" b="1" kern="0" spc="4">
                <a:solidFill>
                  <a:schemeClr val="bg1"/>
                </a:solidFill>
                <a:latin typeface="Aptos" panose="020B0004020202020204" pitchFamily="34" charset="0"/>
              </a:rPr>
              <a:t>DOWNSTREAM</a:t>
            </a:r>
            <a:endParaRPr lang="en-US" sz="600" b="1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cxnSp>
        <p:nvCxnSpPr>
          <p:cNvPr id="287" name="Straight Connector 286">
            <a:extLst>
              <a:ext uri="{FF2B5EF4-FFF2-40B4-BE49-F238E27FC236}">
                <a16:creationId xmlns:a16="http://schemas.microsoft.com/office/drawing/2014/main" id="{8EE97596-2516-28F3-FB1C-8D2932B5910A}"/>
              </a:ext>
            </a:extLst>
          </p:cNvPr>
          <p:cNvCxnSpPr>
            <a:cxnSpLocks/>
          </p:cNvCxnSpPr>
          <p:nvPr/>
        </p:nvCxnSpPr>
        <p:spPr>
          <a:xfrm flipH="1">
            <a:off x="319921" y="4238340"/>
            <a:ext cx="1473233" cy="0"/>
          </a:xfrm>
          <a:prstGeom prst="line">
            <a:avLst/>
          </a:prstGeom>
          <a:ln>
            <a:solidFill>
              <a:srgbClr val="BDE3D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5" name="Straight Connector 514">
            <a:extLst>
              <a:ext uri="{FF2B5EF4-FFF2-40B4-BE49-F238E27FC236}">
                <a16:creationId xmlns:a16="http://schemas.microsoft.com/office/drawing/2014/main" id="{BE3A8AB6-C4AA-FA06-1EAA-D529679CF93B}"/>
              </a:ext>
            </a:extLst>
          </p:cNvPr>
          <p:cNvCxnSpPr>
            <a:cxnSpLocks/>
          </p:cNvCxnSpPr>
          <p:nvPr/>
        </p:nvCxnSpPr>
        <p:spPr>
          <a:xfrm flipH="1">
            <a:off x="2121785" y="4656926"/>
            <a:ext cx="1325880" cy="0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8" name="Straight Connector 517">
            <a:extLst>
              <a:ext uri="{FF2B5EF4-FFF2-40B4-BE49-F238E27FC236}">
                <a16:creationId xmlns:a16="http://schemas.microsoft.com/office/drawing/2014/main" id="{FCFE9766-8922-7CAD-5875-19986984A9FC}"/>
              </a:ext>
            </a:extLst>
          </p:cNvPr>
          <p:cNvCxnSpPr>
            <a:cxnSpLocks/>
          </p:cNvCxnSpPr>
          <p:nvPr/>
        </p:nvCxnSpPr>
        <p:spPr>
          <a:xfrm flipH="1">
            <a:off x="2121785" y="4280091"/>
            <a:ext cx="1325880" cy="0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9" name="Straight Connector 518">
            <a:extLst>
              <a:ext uri="{FF2B5EF4-FFF2-40B4-BE49-F238E27FC236}">
                <a16:creationId xmlns:a16="http://schemas.microsoft.com/office/drawing/2014/main" id="{88FF5139-2D7B-97B1-5874-A2D4B395CF62}"/>
              </a:ext>
            </a:extLst>
          </p:cNvPr>
          <p:cNvCxnSpPr>
            <a:cxnSpLocks/>
          </p:cNvCxnSpPr>
          <p:nvPr/>
        </p:nvCxnSpPr>
        <p:spPr>
          <a:xfrm flipH="1">
            <a:off x="3839084" y="4676317"/>
            <a:ext cx="1394110" cy="0"/>
          </a:xfrm>
          <a:prstGeom prst="line">
            <a:avLst/>
          </a:prstGeom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2" name="Straight Connector 521">
            <a:extLst>
              <a:ext uri="{FF2B5EF4-FFF2-40B4-BE49-F238E27FC236}">
                <a16:creationId xmlns:a16="http://schemas.microsoft.com/office/drawing/2014/main" id="{D84732B1-6458-6465-737F-7A5257C49FB9}"/>
              </a:ext>
            </a:extLst>
          </p:cNvPr>
          <p:cNvCxnSpPr>
            <a:cxnSpLocks/>
          </p:cNvCxnSpPr>
          <p:nvPr/>
        </p:nvCxnSpPr>
        <p:spPr>
          <a:xfrm flipH="1">
            <a:off x="3825124" y="4280799"/>
            <a:ext cx="1408070" cy="0"/>
          </a:xfrm>
          <a:prstGeom prst="line">
            <a:avLst/>
          </a:prstGeom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3" name="Straight Connector 522">
            <a:extLst>
              <a:ext uri="{FF2B5EF4-FFF2-40B4-BE49-F238E27FC236}">
                <a16:creationId xmlns:a16="http://schemas.microsoft.com/office/drawing/2014/main" id="{0CD92300-61DF-5324-3633-184C0CD07179}"/>
              </a:ext>
            </a:extLst>
          </p:cNvPr>
          <p:cNvCxnSpPr>
            <a:cxnSpLocks/>
          </p:cNvCxnSpPr>
          <p:nvPr/>
        </p:nvCxnSpPr>
        <p:spPr>
          <a:xfrm flipH="1">
            <a:off x="6802349" y="1566364"/>
            <a:ext cx="822960" cy="0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4" name="Straight Connector 523">
            <a:extLst>
              <a:ext uri="{FF2B5EF4-FFF2-40B4-BE49-F238E27FC236}">
                <a16:creationId xmlns:a16="http://schemas.microsoft.com/office/drawing/2014/main" id="{CBD918D6-C8E7-79C0-DDB3-41B1791D2805}"/>
              </a:ext>
            </a:extLst>
          </p:cNvPr>
          <p:cNvCxnSpPr>
            <a:cxnSpLocks/>
          </p:cNvCxnSpPr>
          <p:nvPr/>
        </p:nvCxnSpPr>
        <p:spPr>
          <a:xfrm flipH="1">
            <a:off x="6802349" y="2087359"/>
            <a:ext cx="822960" cy="0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0" name="Straight Connector 529">
            <a:extLst>
              <a:ext uri="{FF2B5EF4-FFF2-40B4-BE49-F238E27FC236}">
                <a16:creationId xmlns:a16="http://schemas.microsoft.com/office/drawing/2014/main" id="{E2C912C1-ABA6-E388-204E-4295DDDBA6B6}"/>
              </a:ext>
            </a:extLst>
          </p:cNvPr>
          <p:cNvCxnSpPr>
            <a:cxnSpLocks/>
          </p:cNvCxnSpPr>
          <p:nvPr/>
        </p:nvCxnSpPr>
        <p:spPr>
          <a:xfrm flipH="1">
            <a:off x="7987879" y="2050145"/>
            <a:ext cx="822960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1" name="Straight Connector 530">
            <a:extLst>
              <a:ext uri="{FF2B5EF4-FFF2-40B4-BE49-F238E27FC236}">
                <a16:creationId xmlns:a16="http://schemas.microsoft.com/office/drawing/2014/main" id="{DF3C9FCE-E95C-F63B-0490-738A66326C3D}"/>
              </a:ext>
            </a:extLst>
          </p:cNvPr>
          <p:cNvCxnSpPr>
            <a:cxnSpLocks/>
          </p:cNvCxnSpPr>
          <p:nvPr/>
        </p:nvCxnSpPr>
        <p:spPr>
          <a:xfrm flipH="1">
            <a:off x="7987879" y="2549877"/>
            <a:ext cx="822960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A54BBB24-E4D3-52F5-CEC2-35EFFA652D19}"/>
              </a:ext>
            </a:extLst>
          </p:cNvPr>
          <p:cNvSpPr/>
          <p:nvPr/>
        </p:nvSpPr>
        <p:spPr>
          <a:xfrm>
            <a:off x="7919962" y="1106063"/>
            <a:ext cx="947845" cy="489451"/>
          </a:xfrm>
          <a:prstGeom prst="roundRect">
            <a:avLst>
              <a:gd name="adj" fmla="val 3740"/>
            </a:avLst>
          </a:prstGeom>
          <a:solidFill>
            <a:srgbClr val="D0F4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7" name="Shape 182">
            <a:extLst>
              <a:ext uri="{FF2B5EF4-FFF2-40B4-BE49-F238E27FC236}">
                <a16:creationId xmlns:a16="http://schemas.microsoft.com/office/drawing/2014/main" id="{E90C4D60-C682-119A-59C8-B8912D4836ED}"/>
              </a:ext>
            </a:extLst>
          </p:cNvPr>
          <p:cNvSpPr/>
          <p:nvPr/>
        </p:nvSpPr>
        <p:spPr>
          <a:xfrm>
            <a:off x="7965402" y="1094621"/>
            <a:ext cx="867458" cy="349374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469" name="Shape 183">
            <a:extLst>
              <a:ext uri="{FF2B5EF4-FFF2-40B4-BE49-F238E27FC236}">
                <a16:creationId xmlns:a16="http://schemas.microsoft.com/office/drawing/2014/main" id="{1B5B12B1-5C94-5698-644D-3054D6483886}"/>
              </a:ext>
            </a:extLst>
          </p:cNvPr>
          <p:cNvSpPr/>
          <p:nvPr/>
        </p:nvSpPr>
        <p:spPr>
          <a:xfrm>
            <a:off x="7965402" y="1094621"/>
            <a:ext cx="390525" cy="90488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470" name="Text 184">
            <a:extLst>
              <a:ext uri="{FF2B5EF4-FFF2-40B4-BE49-F238E27FC236}">
                <a16:creationId xmlns:a16="http://schemas.microsoft.com/office/drawing/2014/main" id="{F694181D-7BDA-2912-905B-8615D4EBCF8D}"/>
              </a:ext>
            </a:extLst>
          </p:cNvPr>
          <p:cNvSpPr/>
          <p:nvPr/>
        </p:nvSpPr>
        <p:spPr>
          <a:xfrm>
            <a:off x="7961447" y="1155219"/>
            <a:ext cx="390525" cy="90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69"/>
              </a:lnSpc>
              <a:buNone/>
            </a:pPr>
            <a:r>
              <a:rPr lang="en-US" sz="535" b="1" kern="0" spc="4">
                <a:solidFill>
                  <a:srgbClr val="1A1A1A">
                    <a:alpha val="99000"/>
                  </a:srgbClr>
                </a:solidFill>
                <a:latin typeface="Aptos" panose="020B0004020202020204" pitchFamily="34" charset="0"/>
                <a:ea typeface="Nunito Sans" pitchFamily="34" charset="-122"/>
                <a:cs typeface="Nunito Sans" pitchFamily="34" charset="-120"/>
              </a:rPr>
              <a:t>HDFC Bank</a:t>
            </a:r>
            <a:endParaRPr lang="en-US" sz="535">
              <a:latin typeface="Aptos" panose="020B0004020202020204" pitchFamily="34" charset="0"/>
            </a:endParaRPr>
          </a:p>
        </p:txBody>
      </p:sp>
      <p:sp>
        <p:nvSpPr>
          <p:cNvPr id="471" name="Text 185">
            <a:extLst>
              <a:ext uri="{FF2B5EF4-FFF2-40B4-BE49-F238E27FC236}">
                <a16:creationId xmlns:a16="http://schemas.microsoft.com/office/drawing/2014/main" id="{C128D048-C3D4-F5D6-B34C-DE45A4D8AA2C}"/>
              </a:ext>
            </a:extLst>
          </p:cNvPr>
          <p:cNvSpPr/>
          <p:nvPr/>
        </p:nvSpPr>
        <p:spPr>
          <a:xfrm>
            <a:off x="7961447" y="1280755"/>
            <a:ext cx="867458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1"/>
              </a:lnSpc>
              <a:buNone/>
            </a:pPr>
            <a:r>
              <a:rPr lang="en-US" sz="440" kern="0" spc="9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Nunito Sans" pitchFamily="34" charset="-122"/>
                <a:cs typeface="Nunito Sans" pitchFamily="34" charset="-120"/>
              </a:rPr>
              <a:t>Auto SFTP · HDFC disburses to employee banks · No manual upload</a:t>
            </a:r>
            <a:endParaRPr lang="en-US" sz="44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474" name="Shape 188">
            <a:extLst>
              <a:ext uri="{FF2B5EF4-FFF2-40B4-BE49-F238E27FC236}">
                <a16:creationId xmlns:a16="http://schemas.microsoft.com/office/drawing/2014/main" id="{0F04BF32-6C46-EE03-22B6-71A60A373C2F}"/>
              </a:ext>
            </a:extLst>
          </p:cNvPr>
          <p:cNvSpPr/>
          <p:nvPr/>
        </p:nvSpPr>
        <p:spPr>
          <a:xfrm>
            <a:off x="7965402" y="1550378"/>
            <a:ext cx="404813" cy="90488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33" name="Text 13">
            <a:extLst>
              <a:ext uri="{FF2B5EF4-FFF2-40B4-BE49-F238E27FC236}">
                <a16:creationId xmlns:a16="http://schemas.microsoft.com/office/drawing/2014/main" id="{B19D0D01-7074-B6F7-A01B-5D678F905621}"/>
              </a:ext>
            </a:extLst>
          </p:cNvPr>
          <p:cNvSpPr/>
          <p:nvPr/>
        </p:nvSpPr>
        <p:spPr>
          <a:xfrm>
            <a:off x="276192" y="2150352"/>
            <a:ext cx="6368538" cy="105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500" b="1" kern="0" spc="80">
                <a:solidFill>
                  <a:schemeClr val="bg1"/>
                </a:solidFill>
                <a:latin typeface="Aptos"/>
              </a:rPr>
              <a:t>TRACK B — ZERO TOUCH DIRECT: EXISTING SYSTEMS (68 </a:t>
            </a:r>
            <a:r>
              <a:rPr lang="en-US" sz="500" b="1" kern="0" spc="80" err="1">
                <a:solidFill>
                  <a:schemeClr val="bg1"/>
                </a:solidFill>
                <a:latin typeface="Aptos"/>
              </a:rPr>
              <a:t>payheads</a:t>
            </a:r>
            <a:r>
              <a:rPr lang="en-US" sz="500" b="1" kern="0" spc="80">
                <a:solidFill>
                  <a:schemeClr val="bg1"/>
                </a:solidFill>
                <a:latin typeface="Aptos"/>
              </a:rPr>
              <a:t>)</a:t>
            </a:r>
            <a:r>
              <a:rPr lang="en-US" sz="500">
                <a:solidFill>
                  <a:schemeClr val="bg1"/>
                </a:solidFill>
                <a:latin typeface="Aptos"/>
              </a:rPr>
              <a:t>    Source systems own their data · Changes happen ONLY in source · Direct API to SAP EIP → PS</a:t>
            </a:r>
          </a:p>
          <a:p>
            <a:pPr marL="0" indent="0" algn="l">
              <a:buNone/>
            </a:pPr>
            <a:endParaRPr lang="en-US" sz="500" b="1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32" name="Shape 201">
            <a:extLst>
              <a:ext uri="{FF2B5EF4-FFF2-40B4-BE49-F238E27FC236}">
                <a16:creationId xmlns:a16="http://schemas.microsoft.com/office/drawing/2014/main" id="{20099FEB-27D5-0EED-0D71-80D6A16B690E}"/>
              </a:ext>
            </a:extLst>
          </p:cNvPr>
          <p:cNvSpPr/>
          <p:nvPr/>
        </p:nvSpPr>
        <p:spPr>
          <a:xfrm>
            <a:off x="233361" y="2270484"/>
            <a:ext cx="2195661" cy="270878"/>
          </a:xfrm>
          <a:prstGeom prst="roundRect">
            <a:avLst>
              <a:gd name="adj" fmla="val 5273"/>
            </a:avLst>
          </a:prstGeom>
          <a:solidFill>
            <a:schemeClr val="accent5">
              <a:lumMod val="20000"/>
              <a:lumOff val="80000"/>
            </a:schemeClr>
          </a:solidFill>
          <a:ln w="4162">
            <a:noFill/>
            <a:prstDash val="solid"/>
          </a:ln>
        </p:spPr>
        <p:txBody>
          <a:bodyPr/>
          <a:lstStyle/>
          <a:p>
            <a:endParaRPr lang="en-US">
              <a:solidFill>
                <a:schemeClr val="accent5">
                  <a:lumMod val="20000"/>
                  <a:lumOff val="80000"/>
                </a:schemeClr>
              </a:solidFill>
              <a:highlight>
                <a:srgbClr val="000080"/>
              </a:highlight>
              <a:latin typeface="Aptos" panose="020B0004020202020204" pitchFamily="34" charset="0"/>
            </a:endParaRPr>
          </a:p>
        </p:txBody>
      </p:sp>
      <p:sp>
        <p:nvSpPr>
          <p:cNvPr id="34" name="Text 206">
            <a:extLst>
              <a:ext uri="{FF2B5EF4-FFF2-40B4-BE49-F238E27FC236}">
                <a16:creationId xmlns:a16="http://schemas.microsoft.com/office/drawing/2014/main" id="{C16D216D-1637-54B9-8786-EC941ABECF32}"/>
              </a:ext>
            </a:extLst>
          </p:cNvPr>
          <p:cNvSpPr/>
          <p:nvPr/>
        </p:nvSpPr>
        <p:spPr>
          <a:xfrm>
            <a:off x="320985" y="2315484"/>
            <a:ext cx="1025208" cy="90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69"/>
              </a:lnSpc>
              <a:buNone/>
            </a:pPr>
            <a:r>
              <a:rPr lang="en-US" sz="535" b="1">
                <a:latin typeface="Aptos" panose="020B0004020202020204" pitchFamily="34" charset="0"/>
              </a:rPr>
              <a:t>SuccessFactors (29 </a:t>
            </a:r>
            <a:r>
              <a:rPr lang="en-US" sz="535" b="1" err="1">
                <a:latin typeface="Aptos" panose="020B0004020202020204" pitchFamily="34" charset="0"/>
              </a:rPr>
              <a:t>payheads</a:t>
            </a:r>
            <a:r>
              <a:rPr lang="en-US" sz="535" b="1">
                <a:latin typeface="Aptos" panose="020B0004020202020204" pitchFamily="34" charset="0"/>
              </a:rPr>
              <a:t>)</a:t>
            </a:r>
          </a:p>
          <a:p>
            <a:pPr marL="0" indent="0" algn="l">
              <a:lnSpc>
                <a:spcPts val="669"/>
              </a:lnSpc>
              <a:buNone/>
            </a:pPr>
            <a:endParaRPr lang="en-US" sz="535" b="1">
              <a:latin typeface="Aptos" panose="020B0004020202020204" pitchFamily="34" charset="0"/>
            </a:endParaRPr>
          </a:p>
        </p:txBody>
      </p:sp>
      <p:sp>
        <p:nvSpPr>
          <p:cNvPr id="35" name="Text 209">
            <a:extLst>
              <a:ext uri="{FF2B5EF4-FFF2-40B4-BE49-F238E27FC236}">
                <a16:creationId xmlns:a16="http://schemas.microsoft.com/office/drawing/2014/main" id="{3DBA386E-5739-1BD7-3403-0A92301627BF}"/>
              </a:ext>
            </a:extLst>
          </p:cNvPr>
          <p:cNvSpPr/>
          <p:nvPr/>
        </p:nvSpPr>
        <p:spPr>
          <a:xfrm>
            <a:off x="320985" y="2425269"/>
            <a:ext cx="185950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1"/>
              </a:lnSpc>
              <a:buNone/>
            </a:pPr>
            <a:r>
              <a:rPr lang="en-US" sz="44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Variable pay, bonus, incentives &amp; SF-housed comp components · Direct API</a:t>
            </a:r>
          </a:p>
        </p:txBody>
      </p:sp>
      <p:sp>
        <p:nvSpPr>
          <p:cNvPr id="41" name="Shape 201">
            <a:extLst>
              <a:ext uri="{FF2B5EF4-FFF2-40B4-BE49-F238E27FC236}">
                <a16:creationId xmlns:a16="http://schemas.microsoft.com/office/drawing/2014/main" id="{471082C6-EB27-1461-EE43-5C6B85D52873}"/>
              </a:ext>
            </a:extLst>
          </p:cNvPr>
          <p:cNvSpPr/>
          <p:nvPr/>
        </p:nvSpPr>
        <p:spPr>
          <a:xfrm>
            <a:off x="233361" y="2558181"/>
            <a:ext cx="2200350" cy="279944"/>
          </a:xfrm>
          <a:prstGeom prst="roundRect">
            <a:avLst>
              <a:gd name="adj" fmla="val 5273"/>
            </a:avLst>
          </a:prstGeom>
          <a:solidFill>
            <a:schemeClr val="accent5">
              <a:lumMod val="20000"/>
              <a:lumOff val="80000"/>
            </a:schemeClr>
          </a:solidFill>
          <a:ln w="4162">
            <a:noFill/>
            <a:prstDash val="solid"/>
          </a:ln>
        </p:spPr>
        <p:txBody>
          <a:bodyPr/>
          <a:lstStyle/>
          <a:p>
            <a:endParaRPr lang="en-US">
              <a:solidFill>
                <a:schemeClr val="accent5">
                  <a:lumMod val="20000"/>
                  <a:lumOff val="80000"/>
                </a:schemeClr>
              </a:solidFill>
              <a:highlight>
                <a:srgbClr val="000080"/>
              </a:highlight>
              <a:latin typeface="Aptos" panose="020B0004020202020204" pitchFamily="34" charset="0"/>
            </a:endParaRPr>
          </a:p>
        </p:txBody>
      </p:sp>
      <p:sp>
        <p:nvSpPr>
          <p:cNvPr id="42" name="Text 206">
            <a:extLst>
              <a:ext uri="{FF2B5EF4-FFF2-40B4-BE49-F238E27FC236}">
                <a16:creationId xmlns:a16="http://schemas.microsoft.com/office/drawing/2014/main" id="{8D7D8812-235E-79CB-51FC-3B8F41A5C7E3}"/>
              </a:ext>
            </a:extLst>
          </p:cNvPr>
          <p:cNvSpPr/>
          <p:nvPr/>
        </p:nvSpPr>
        <p:spPr>
          <a:xfrm>
            <a:off x="320985" y="2603181"/>
            <a:ext cx="1025208" cy="90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69"/>
              </a:lnSpc>
              <a:buNone/>
            </a:pPr>
            <a:r>
              <a:rPr lang="en-US" sz="535" b="1">
                <a:latin typeface="Aptos" panose="020B0004020202020204" pitchFamily="34" charset="0"/>
              </a:rPr>
              <a:t>CAE (15 </a:t>
            </a:r>
            <a:r>
              <a:rPr lang="en-US" sz="535" b="1" err="1">
                <a:latin typeface="Aptos" panose="020B0004020202020204" pitchFamily="34" charset="0"/>
              </a:rPr>
              <a:t>payheads</a:t>
            </a:r>
            <a:r>
              <a:rPr lang="en-US" sz="535" b="1">
                <a:latin typeface="Aptos" panose="020B0004020202020204" pitchFamily="34" charset="0"/>
              </a:rPr>
              <a:t>)</a:t>
            </a:r>
          </a:p>
          <a:p>
            <a:pPr marL="0" indent="0" algn="l">
              <a:lnSpc>
                <a:spcPts val="669"/>
              </a:lnSpc>
              <a:buNone/>
            </a:pPr>
            <a:endParaRPr lang="en-US" sz="535" b="1">
              <a:latin typeface="Aptos" panose="020B0004020202020204" pitchFamily="34" charset="0"/>
            </a:endParaRPr>
          </a:p>
        </p:txBody>
      </p:sp>
      <p:sp>
        <p:nvSpPr>
          <p:cNvPr id="43" name="Text 209">
            <a:extLst>
              <a:ext uri="{FF2B5EF4-FFF2-40B4-BE49-F238E27FC236}">
                <a16:creationId xmlns:a16="http://schemas.microsoft.com/office/drawing/2014/main" id="{B7104D3E-70CE-83A4-0A0D-57FA09A353D8}"/>
              </a:ext>
            </a:extLst>
          </p:cNvPr>
          <p:cNvSpPr/>
          <p:nvPr/>
        </p:nvSpPr>
        <p:spPr>
          <a:xfrm>
            <a:off x="320984" y="2712966"/>
            <a:ext cx="1920240" cy="104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1"/>
              </a:lnSpc>
              <a:buNone/>
            </a:pPr>
            <a:r>
              <a:rPr lang="en-US" sz="44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Flying allowances · CAE API direct feed to SAP EIP · Zero manual extract</a:t>
            </a:r>
          </a:p>
        </p:txBody>
      </p:sp>
      <p:sp>
        <p:nvSpPr>
          <p:cNvPr id="44" name="Shape 201">
            <a:extLst>
              <a:ext uri="{FF2B5EF4-FFF2-40B4-BE49-F238E27FC236}">
                <a16:creationId xmlns:a16="http://schemas.microsoft.com/office/drawing/2014/main" id="{03AAB81E-510D-02D7-493E-99B011B0ED93}"/>
              </a:ext>
            </a:extLst>
          </p:cNvPr>
          <p:cNvSpPr/>
          <p:nvPr/>
        </p:nvSpPr>
        <p:spPr>
          <a:xfrm>
            <a:off x="233361" y="2853011"/>
            <a:ext cx="2200350" cy="279944"/>
          </a:xfrm>
          <a:prstGeom prst="roundRect">
            <a:avLst>
              <a:gd name="adj" fmla="val 5273"/>
            </a:avLst>
          </a:prstGeom>
          <a:solidFill>
            <a:schemeClr val="accent5">
              <a:lumMod val="20000"/>
              <a:lumOff val="80000"/>
            </a:schemeClr>
          </a:solidFill>
          <a:ln w="4162">
            <a:noFill/>
            <a:prstDash val="solid"/>
          </a:ln>
        </p:spPr>
        <p:txBody>
          <a:bodyPr/>
          <a:lstStyle/>
          <a:p>
            <a:endParaRPr lang="en-US">
              <a:solidFill>
                <a:schemeClr val="accent5">
                  <a:lumMod val="20000"/>
                  <a:lumOff val="80000"/>
                </a:schemeClr>
              </a:solidFill>
              <a:highlight>
                <a:srgbClr val="000080"/>
              </a:highlight>
              <a:latin typeface="Aptos" panose="020B0004020202020204" pitchFamily="34" charset="0"/>
            </a:endParaRPr>
          </a:p>
        </p:txBody>
      </p:sp>
      <p:sp>
        <p:nvSpPr>
          <p:cNvPr id="45" name="Text 206">
            <a:extLst>
              <a:ext uri="{FF2B5EF4-FFF2-40B4-BE49-F238E27FC236}">
                <a16:creationId xmlns:a16="http://schemas.microsoft.com/office/drawing/2014/main" id="{56343D61-D639-2DA6-6AC0-388EFCF2F1F5}"/>
              </a:ext>
            </a:extLst>
          </p:cNvPr>
          <p:cNvSpPr/>
          <p:nvPr/>
        </p:nvSpPr>
        <p:spPr>
          <a:xfrm>
            <a:off x="320985" y="2898011"/>
            <a:ext cx="1655534" cy="90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69"/>
              </a:lnSpc>
              <a:buNone/>
            </a:pPr>
            <a:r>
              <a:rPr lang="en-US" sz="535" b="1" err="1">
                <a:latin typeface="Aptos" panose="020B0004020202020204" pitchFamily="34" charset="0"/>
              </a:rPr>
              <a:t>LifeKaPlan</a:t>
            </a:r>
            <a:r>
              <a:rPr lang="en-US" sz="535" b="1">
                <a:latin typeface="Aptos" panose="020B0004020202020204" pitchFamily="34" charset="0"/>
              </a:rPr>
              <a:t> (6)  ·  Attendance System (5)  ·  AMOS (4)</a:t>
            </a:r>
          </a:p>
        </p:txBody>
      </p:sp>
      <p:sp>
        <p:nvSpPr>
          <p:cNvPr id="46" name="Text 209">
            <a:extLst>
              <a:ext uri="{FF2B5EF4-FFF2-40B4-BE49-F238E27FC236}">
                <a16:creationId xmlns:a16="http://schemas.microsoft.com/office/drawing/2014/main" id="{CB3E44A2-363F-B7C8-A140-3FC14B2EA1A8}"/>
              </a:ext>
            </a:extLst>
          </p:cNvPr>
          <p:cNvSpPr/>
          <p:nvPr/>
        </p:nvSpPr>
        <p:spPr>
          <a:xfrm>
            <a:off x="320983" y="3007796"/>
            <a:ext cx="2032953" cy="104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1"/>
              </a:lnSpc>
              <a:buNone/>
            </a:pPr>
            <a:r>
              <a:rPr lang="en-US" sz="44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15 </a:t>
            </a:r>
            <a:r>
              <a:rPr lang="en-US" sz="440" err="1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payheads</a:t>
            </a:r>
            <a:r>
              <a:rPr lang="en-US" sz="44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 · Source-owned data · Structured API feeds · No intermediate changes</a:t>
            </a:r>
          </a:p>
          <a:p>
            <a:pPr marL="0" indent="0" algn="l">
              <a:lnSpc>
                <a:spcPts val="551"/>
              </a:lnSpc>
              <a:buNone/>
            </a:pPr>
            <a:endParaRPr lang="en-US" sz="44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48" name="Shape 201">
            <a:extLst>
              <a:ext uri="{FF2B5EF4-FFF2-40B4-BE49-F238E27FC236}">
                <a16:creationId xmlns:a16="http://schemas.microsoft.com/office/drawing/2014/main" id="{17778CBD-FE43-6D89-A68A-8C3DA62F97BA}"/>
              </a:ext>
            </a:extLst>
          </p:cNvPr>
          <p:cNvSpPr/>
          <p:nvPr/>
        </p:nvSpPr>
        <p:spPr>
          <a:xfrm>
            <a:off x="233361" y="3146795"/>
            <a:ext cx="2200350" cy="321554"/>
          </a:xfrm>
          <a:prstGeom prst="roundRect">
            <a:avLst>
              <a:gd name="adj" fmla="val 5273"/>
            </a:avLst>
          </a:prstGeom>
          <a:solidFill>
            <a:schemeClr val="accent5">
              <a:lumMod val="20000"/>
              <a:lumOff val="80000"/>
            </a:schemeClr>
          </a:solidFill>
          <a:ln w="4162">
            <a:noFill/>
            <a:prstDash val="solid"/>
          </a:ln>
        </p:spPr>
        <p:txBody>
          <a:bodyPr/>
          <a:lstStyle/>
          <a:p>
            <a:endParaRPr lang="en-US">
              <a:solidFill>
                <a:schemeClr val="accent5">
                  <a:lumMod val="20000"/>
                  <a:lumOff val="80000"/>
                </a:schemeClr>
              </a:solidFill>
              <a:highlight>
                <a:srgbClr val="000080"/>
              </a:highlight>
              <a:latin typeface="Aptos" panose="020B0004020202020204" pitchFamily="34" charset="0"/>
            </a:endParaRPr>
          </a:p>
        </p:txBody>
      </p:sp>
      <p:sp>
        <p:nvSpPr>
          <p:cNvPr id="49" name="Text 206">
            <a:extLst>
              <a:ext uri="{FF2B5EF4-FFF2-40B4-BE49-F238E27FC236}">
                <a16:creationId xmlns:a16="http://schemas.microsoft.com/office/drawing/2014/main" id="{F4D82E13-A26F-10BA-4A7F-C05B1C26545D}"/>
              </a:ext>
            </a:extLst>
          </p:cNvPr>
          <p:cNvSpPr/>
          <p:nvPr/>
        </p:nvSpPr>
        <p:spPr>
          <a:xfrm>
            <a:off x="320984" y="3191795"/>
            <a:ext cx="2062331" cy="90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69"/>
              </a:lnSpc>
              <a:buNone/>
            </a:pPr>
            <a:r>
              <a:rPr lang="en-US" sz="535" b="1">
                <a:latin typeface="Aptos" panose="020B0004020202020204" pitchFamily="34" charset="0"/>
              </a:rPr>
              <a:t>Finance SAP FICO (3) · </a:t>
            </a:r>
            <a:r>
              <a:rPr lang="en-US" sz="535" b="1" err="1">
                <a:latin typeface="Aptos" panose="020B0004020202020204" pitchFamily="34" charset="0"/>
              </a:rPr>
              <a:t>PeopleStrong</a:t>
            </a:r>
            <a:r>
              <a:rPr lang="en-US" sz="535" b="1">
                <a:latin typeface="Aptos" panose="020B0004020202020204" pitchFamily="34" charset="0"/>
              </a:rPr>
              <a:t> (2) · Advantage Club (1) · Amadeus (1) · myAI (1) · Tata Capital (1)</a:t>
            </a:r>
          </a:p>
          <a:p>
            <a:pPr marL="0" indent="0" algn="l">
              <a:lnSpc>
                <a:spcPts val="669"/>
              </a:lnSpc>
              <a:buNone/>
            </a:pPr>
            <a:endParaRPr lang="en-US" sz="535" b="1">
              <a:latin typeface="Aptos" panose="020B0004020202020204" pitchFamily="34" charset="0"/>
            </a:endParaRPr>
          </a:p>
        </p:txBody>
      </p:sp>
      <p:sp>
        <p:nvSpPr>
          <p:cNvPr id="50" name="Text 209">
            <a:extLst>
              <a:ext uri="{FF2B5EF4-FFF2-40B4-BE49-F238E27FC236}">
                <a16:creationId xmlns:a16="http://schemas.microsoft.com/office/drawing/2014/main" id="{39B43990-D55C-090F-945C-AA66AAB89091}"/>
              </a:ext>
            </a:extLst>
          </p:cNvPr>
          <p:cNvSpPr/>
          <p:nvPr/>
        </p:nvSpPr>
        <p:spPr>
          <a:xfrm>
            <a:off x="320983" y="3365074"/>
            <a:ext cx="2032953" cy="104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1"/>
              </a:lnSpc>
              <a:buNone/>
            </a:pPr>
            <a:r>
              <a:rPr lang="en-US" sz="44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15 </a:t>
            </a:r>
            <a:r>
              <a:rPr lang="en-US" sz="440" err="1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payheads</a:t>
            </a:r>
            <a:r>
              <a:rPr lang="en-US" sz="44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 · Source-owned data · Structured API feeds · No intermediate changes</a:t>
            </a:r>
          </a:p>
          <a:p>
            <a:pPr marL="0" indent="0" algn="l">
              <a:lnSpc>
                <a:spcPts val="551"/>
              </a:lnSpc>
              <a:buNone/>
            </a:pPr>
            <a:endParaRPr lang="en-US" sz="44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642E75F5-547D-A0DC-54A3-889AC67AFAA3}"/>
              </a:ext>
            </a:extLst>
          </p:cNvPr>
          <p:cNvCxnSpPr>
            <a:cxnSpLocks/>
            <a:stCxn id="32" idx="3"/>
          </p:cNvCxnSpPr>
          <p:nvPr/>
        </p:nvCxnSpPr>
        <p:spPr>
          <a:xfrm>
            <a:off x="2429022" y="2405923"/>
            <a:ext cx="3072131" cy="6745"/>
          </a:xfrm>
          <a:prstGeom prst="straightConnector1">
            <a:avLst/>
          </a:prstGeom>
          <a:ln>
            <a:solidFill>
              <a:srgbClr val="004D3F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74F5D5C8-B24E-829E-0F95-EDA6EA88A36D}"/>
              </a:ext>
            </a:extLst>
          </p:cNvPr>
          <p:cNvCxnSpPr>
            <a:cxnSpLocks/>
          </p:cNvCxnSpPr>
          <p:nvPr/>
        </p:nvCxnSpPr>
        <p:spPr>
          <a:xfrm>
            <a:off x="2429022" y="2696435"/>
            <a:ext cx="3072131" cy="6745"/>
          </a:xfrm>
          <a:prstGeom prst="straightConnector1">
            <a:avLst/>
          </a:prstGeom>
          <a:ln>
            <a:solidFill>
              <a:srgbClr val="004D3F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6CD67440-9F64-853A-AAD3-B83C7F881EF5}"/>
              </a:ext>
            </a:extLst>
          </p:cNvPr>
          <p:cNvCxnSpPr>
            <a:cxnSpLocks/>
          </p:cNvCxnSpPr>
          <p:nvPr/>
        </p:nvCxnSpPr>
        <p:spPr>
          <a:xfrm>
            <a:off x="2429022" y="2996472"/>
            <a:ext cx="3072131" cy="6745"/>
          </a:xfrm>
          <a:prstGeom prst="straightConnector1">
            <a:avLst/>
          </a:prstGeom>
          <a:ln>
            <a:solidFill>
              <a:srgbClr val="004D3F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75EAB742-C947-076B-54E7-C5F7C7F57B4A}"/>
              </a:ext>
            </a:extLst>
          </p:cNvPr>
          <p:cNvCxnSpPr>
            <a:cxnSpLocks/>
          </p:cNvCxnSpPr>
          <p:nvPr/>
        </p:nvCxnSpPr>
        <p:spPr>
          <a:xfrm>
            <a:off x="2429022" y="3286985"/>
            <a:ext cx="3072131" cy="6745"/>
          </a:xfrm>
          <a:prstGeom prst="straightConnector1">
            <a:avLst/>
          </a:prstGeom>
          <a:ln>
            <a:solidFill>
              <a:srgbClr val="004D3F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6" name="Text 29">
            <a:extLst>
              <a:ext uri="{FF2B5EF4-FFF2-40B4-BE49-F238E27FC236}">
                <a16:creationId xmlns:a16="http://schemas.microsoft.com/office/drawing/2014/main" id="{359C04B4-669B-700B-8116-F6B17A4C9A4B}"/>
              </a:ext>
            </a:extLst>
          </p:cNvPr>
          <p:cNvSpPr/>
          <p:nvPr/>
        </p:nvSpPr>
        <p:spPr>
          <a:xfrm>
            <a:off x="2301190" y="2308951"/>
            <a:ext cx="325755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4D40"/>
                </a:solidFill>
              </a:rPr>
              <a:t>⚡  ZERO TOUCH 
</a:t>
            </a:r>
            <a:endParaRPr lang="en-US" sz="900" dirty="0"/>
          </a:p>
          <a:p>
            <a:pPr marL="0" indent="0" algn="ctr">
              <a:buNone/>
            </a:pPr>
            <a:endParaRPr lang="en-US" sz="900" dirty="0"/>
          </a:p>
          <a:p>
            <a:pPr marL="0" indent="0" algn="ctr">
              <a:buNone/>
            </a:pPr>
            <a:r>
              <a:rPr lang="en-US" sz="500" dirty="0">
                <a:solidFill>
                  <a:srgbClr val="006064"/>
                </a:solidFill>
              </a:rPr>
              <a:t>All data changes happen ONLY in the source system
</a:t>
            </a:r>
            <a:endParaRPr lang="en-US" sz="900" dirty="0"/>
          </a:p>
          <a:p>
            <a:pPr marL="0" indent="0" algn="ctr">
              <a:buNone/>
            </a:pPr>
            <a:r>
              <a:rPr lang="en-US" sz="500" dirty="0">
                <a:solidFill>
                  <a:srgbClr val="006064"/>
                </a:solidFill>
              </a:rPr>
              <a:t>Direct API: Source → SAP EIP → </a:t>
            </a:r>
            <a:r>
              <a:rPr lang="en-US" sz="500" dirty="0" err="1">
                <a:solidFill>
                  <a:srgbClr val="006064"/>
                </a:solidFill>
              </a:rPr>
              <a:t>PeopleStrong</a:t>
            </a:r>
            <a:r>
              <a:rPr lang="en-US" sz="500" dirty="0">
                <a:solidFill>
                  <a:srgbClr val="006064"/>
                </a:solidFill>
              </a:rPr>
              <a:t> · No intermediate system changes
</a:t>
            </a:r>
            <a:endParaRPr lang="en-US" sz="900" dirty="0"/>
          </a:p>
          <a:p>
            <a:pPr marL="0" indent="0" algn="ctr">
              <a:buNone/>
            </a:pPr>
            <a:r>
              <a:rPr lang="en-US" sz="500" i="1" dirty="0">
                <a:solidFill>
                  <a:srgbClr val="80CBC4"/>
                </a:solidFill>
              </a:rPr>
              <a:t>68 </a:t>
            </a:r>
            <a:r>
              <a:rPr lang="en-US" sz="500" i="1" dirty="0" err="1">
                <a:solidFill>
                  <a:srgbClr val="80CBC4"/>
                </a:solidFill>
              </a:rPr>
              <a:t>payheads</a:t>
            </a:r>
            <a:r>
              <a:rPr lang="en-US" sz="500" i="1" dirty="0">
                <a:solidFill>
                  <a:srgbClr val="80CBC4"/>
                </a:solidFill>
              </a:rPr>
              <a:t> across 11 existing systems</a:t>
            </a:r>
            <a:endParaRPr lang="en-US" sz="900" dirty="0"/>
          </a:p>
        </p:txBody>
      </p:sp>
      <p:sp>
        <p:nvSpPr>
          <p:cNvPr id="57" name="Text 13">
            <a:extLst>
              <a:ext uri="{FF2B5EF4-FFF2-40B4-BE49-F238E27FC236}">
                <a16:creationId xmlns:a16="http://schemas.microsoft.com/office/drawing/2014/main" id="{12A14651-2BD1-6C8C-453C-353B58D50B27}"/>
              </a:ext>
            </a:extLst>
          </p:cNvPr>
          <p:cNvSpPr/>
          <p:nvPr/>
        </p:nvSpPr>
        <p:spPr>
          <a:xfrm>
            <a:off x="2081991" y="3752984"/>
            <a:ext cx="1587691" cy="123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72"/>
              </a:lnSpc>
              <a:buNone/>
            </a:pPr>
            <a:r>
              <a:rPr lang="en-US" sz="499" b="1">
                <a:solidFill>
                  <a:schemeClr val="bg1"/>
                </a:solidFill>
                <a:latin typeface="Aptos" panose="020B0004020202020204" pitchFamily="34" charset="0"/>
              </a:rPr>
              <a:t>NEW INHOUSE SYSTEM (TBD)  </a:t>
            </a:r>
            <a:r>
              <a:rPr lang="en-US" sz="400">
                <a:solidFill>
                  <a:schemeClr val="bg1"/>
                </a:solidFill>
                <a:latin typeface="Aptos" panose="020B0004020202020204" pitchFamily="34" charset="0"/>
              </a:rPr>
              <a:t>Track C · 36 </a:t>
            </a:r>
            <a:r>
              <a:rPr lang="en-US" sz="400" err="1">
                <a:solidFill>
                  <a:schemeClr val="bg1"/>
                </a:solidFill>
                <a:latin typeface="Aptos" panose="020B0004020202020204" pitchFamily="34" charset="0"/>
              </a:rPr>
              <a:t>payheads</a:t>
            </a:r>
            <a:endParaRPr lang="en-US" sz="499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marL="0" indent="0" algn="l">
              <a:lnSpc>
                <a:spcPts val="872"/>
              </a:lnSpc>
              <a:buNone/>
            </a:pPr>
            <a:endParaRPr lang="en-US" sz="499" b="1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60" name="Shape 29">
            <a:extLst>
              <a:ext uri="{FF2B5EF4-FFF2-40B4-BE49-F238E27FC236}">
                <a16:creationId xmlns:a16="http://schemas.microsoft.com/office/drawing/2014/main" id="{912E9D1F-A4AE-1226-A051-6ABF53FA2611}"/>
              </a:ext>
            </a:extLst>
          </p:cNvPr>
          <p:cNvSpPr/>
          <p:nvPr/>
        </p:nvSpPr>
        <p:spPr>
          <a:xfrm>
            <a:off x="225479" y="3575125"/>
            <a:ext cx="6323137" cy="123456"/>
          </a:xfrm>
          <a:prstGeom prst="roundRect">
            <a:avLst>
              <a:gd name="adj" fmla="val 65501"/>
            </a:avLst>
          </a:prstGeom>
          <a:solidFill>
            <a:srgbClr val="7030A0"/>
          </a:solidFill>
          <a:ln w="2262">
            <a:noFill/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ADEB695-FEF4-1D60-9A1E-73D1D5AB489F}"/>
              </a:ext>
            </a:extLst>
          </p:cNvPr>
          <p:cNvSpPr txBox="1"/>
          <p:nvPr/>
        </p:nvSpPr>
        <p:spPr>
          <a:xfrm>
            <a:off x="170136" y="3432161"/>
            <a:ext cx="6043560" cy="1692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lvl1pPr>
              <a:defRPr sz="600" b="1">
                <a:solidFill>
                  <a:schemeClr val="tx1">
                    <a:lumMod val="65000"/>
                    <a:lumOff val="35000"/>
                  </a:schemeClr>
                </a:solidFill>
                <a:latin typeface="Aptos SemiBold" panose="020B0004020202020204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r>
              <a:rPr lang="en-US" sz="500">
                <a:solidFill>
                  <a:schemeClr val="tx1">
                    <a:lumMod val="75000"/>
                    <a:lumOff val="25000"/>
                  </a:schemeClr>
                </a:solidFill>
                <a:latin typeface="Aptos SemiBold"/>
                <a:ea typeface="Calibri"/>
                <a:cs typeface="Calibri"/>
              </a:rPr>
              <a:t>▲ Track B (68 </a:t>
            </a:r>
            <a:r>
              <a:rPr lang="en-US" sz="500" err="1">
                <a:solidFill>
                  <a:schemeClr val="tx1">
                    <a:lumMod val="75000"/>
                    <a:lumOff val="25000"/>
                  </a:schemeClr>
                </a:solidFill>
                <a:latin typeface="Aptos SemiBold"/>
                <a:ea typeface="Calibri"/>
                <a:cs typeface="Calibri"/>
              </a:rPr>
              <a:t>payheads</a:t>
            </a:r>
            <a:r>
              <a:rPr lang="en-US" sz="500">
                <a:solidFill>
                  <a:schemeClr val="tx1">
                    <a:lumMod val="75000"/>
                    <a:lumOff val="25000"/>
                  </a:schemeClr>
                </a:solidFill>
                <a:latin typeface="Aptos SemiBold"/>
                <a:ea typeface="Calibri"/>
                <a:cs typeface="Calibri"/>
              </a:rPr>
              <a:t>) — Zero Touch Direct     |     ▼ Track C (36 </a:t>
            </a:r>
            <a:r>
              <a:rPr lang="en-US" sz="500" err="1">
                <a:solidFill>
                  <a:schemeClr val="tx1">
                    <a:lumMod val="75000"/>
                    <a:lumOff val="25000"/>
                  </a:schemeClr>
                </a:solidFill>
                <a:latin typeface="Aptos SemiBold"/>
                <a:ea typeface="Calibri"/>
                <a:cs typeface="Calibri"/>
              </a:rPr>
              <a:t>payheads</a:t>
            </a:r>
            <a:r>
              <a:rPr lang="en-US" sz="500">
                <a:solidFill>
                  <a:schemeClr val="tx1">
                    <a:lumMod val="75000"/>
                    <a:lumOff val="25000"/>
                  </a:schemeClr>
                </a:solidFill>
                <a:latin typeface="Aptos SemiBold"/>
                <a:ea typeface="Calibri"/>
                <a:cs typeface="Calibri"/>
              </a:rPr>
              <a:t>) — Still route via New Inhouse System → AI Validation Engine → SAP EIP → PS</a:t>
            </a:r>
          </a:p>
        </p:txBody>
      </p:sp>
      <p:sp>
        <p:nvSpPr>
          <p:cNvPr id="62" name="Text 13">
            <a:extLst>
              <a:ext uri="{FF2B5EF4-FFF2-40B4-BE49-F238E27FC236}">
                <a16:creationId xmlns:a16="http://schemas.microsoft.com/office/drawing/2014/main" id="{2558317F-C047-A78B-CBE8-C468B5FE91BD}"/>
              </a:ext>
            </a:extLst>
          </p:cNvPr>
          <p:cNvSpPr/>
          <p:nvPr/>
        </p:nvSpPr>
        <p:spPr>
          <a:xfrm>
            <a:off x="276192" y="3597879"/>
            <a:ext cx="6444138" cy="105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500" b="1" kern="0" spc="80">
                <a:solidFill>
                  <a:schemeClr val="bg1"/>
                </a:solidFill>
                <a:latin typeface="Aptos"/>
              </a:rPr>
              <a:t>TRACK C — VIA NEW INHOUSE SYSTEM + AI VALIDATION ENGINE (36 </a:t>
            </a:r>
            <a:r>
              <a:rPr lang="en-US" sz="500" b="1" kern="0" spc="80" err="1">
                <a:solidFill>
                  <a:schemeClr val="bg1"/>
                </a:solidFill>
                <a:latin typeface="Aptos"/>
              </a:rPr>
              <a:t>payheads</a:t>
            </a:r>
            <a:r>
              <a:rPr lang="en-US" sz="500" b="1" kern="0" spc="80">
                <a:solidFill>
                  <a:schemeClr val="bg1"/>
                </a:solidFill>
                <a:latin typeface="Aptos"/>
              </a:rPr>
              <a:t>)</a:t>
            </a:r>
            <a:r>
              <a:rPr lang="en-US" sz="500">
                <a:solidFill>
                  <a:schemeClr val="bg1"/>
                </a:solidFill>
                <a:latin typeface="Aptos"/>
              </a:rPr>
              <a:t>    New systems require orchestration, validation &amp; AI engine before PS</a:t>
            </a:r>
          </a:p>
        </p:txBody>
      </p:sp>
      <p:sp>
        <p:nvSpPr>
          <p:cNvPr id="249" name="Shape 221">
            <a:extLst>
              <a:ext uri="{FF2B5EF4-FFF2-40B4-BE49-F238E27FC236}">
                <a16:creationId xmlns:a16="http://schemas.microsoft.com/office/drawing/2014/main" id="{362E8029-67FA-9471-A4F5-B56C16EB4F6F}"/>
              </a:ext>
            </a:extLst>
          </p:cNvPr>
          <p:cNvSpPr/>
          <p:nvPr/>
        </p:nvSpPr>
        <p:spPr>
          <a:xfrm>
            <a:off x="5529263" y="4857026"/>
            <a:ext cx="1133475" cy="119063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36" name="Shape 120">
            <a:extLst>
              <a:ext uri="{FF2B5EF4-FFF2-40B4-BE49-F238E27FC236}">
                <a16:creationId xmlns:a16="http://schemas.microsoft.com/office/drawing/2014/main" id="{D991FBF2-3645-BB09-6ECE-F11602213C57}"/>
              </a:ext>
            </a:extLst>
          </p:cNvPr>
          <p:cNvSpPr/>
          <p:nvPr/>
        </p:nvSpPr>
        <p:spPr>
          <a:xfrm>
            <a:off x="5505915" y="813662"/>
            <a:ext cx="1042701" cy="4022011"/>
          </a:xfrm>
          <a:prstGeom prst="roundRect">
            <a:avLst>
              <a:gd name="adj" fmla="val 6454"/>
            </a:avLst>
          </a:prstGeom>
          <a:solidFill>
            <a:srgbClr val="AA91C1"/>
          </a:solidFill>
          <a:ln w="4162">
            <a:noFill/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38" name="Shape 121">
            <a:extLst>
              <a:ext uri="{FF2B5EF4-FFF2-40B4-BE49-F238E27FC236}">
                <a16:creationId xmlns:a16="http://schemas.microsoft.com/office/drawing/2014/main" id="{E832DF14-747E-05A5-1A47-79B9BE5F1CC3}"/>
              </a:ext>
            </a:extLst>
          </p:cNvPr>
          <p:cNvSpPr/>
          <p:nvPr/>
        </p:nvSpPr>
        <p:spPr>
          <a:xfrm>
            <a:off x="5505915" y="1106062"/>
            <a:ext cx="1042701" cy="2327834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407" name="Rounded Rectangle 406">
            <a:extLst>
              <a:ext uri="{FF2B5EF4-FFF2-40B4-BE49-F238E27FC236}">
                <a16:creationId xmlns:a16="http://schemas.microsoft.com/office/drawing/2014/main" id="{C59C99BB-592C-3412-C8A5-A8DC76CBC865}"/>
              </a:ext>
            </a:extLst>
          </p:cNvPr>
          <p:cNvSpPr/>
          <p:nvPr/>
        </p:nvSpPr>
        <p:spPr>
          <a:xfrm>
            <a:off x="5548060" y="1124225"/>
            <a:ext cx="947845" cy="2863251"/>
          </a:xfrm>
          <a:prstGeom prst="roundRect">
            <a:avLst>
              <a:gd name="adj" fmla="val 205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8" name="Shape 123">
            <a:extLst>
              <a:ext uri="{FF2B5EF4-FFF2-40B4-BE49-F238E27FC236}">
                <a16:creationId xmlns:a16="http://schemas.microsoft.com/office/drawing/2014/main" id="{32167011-DE19-D88C-1EEF-9E0804F3F7D6}"/>
              </a:ext>
            </a:extLst>
          </p:cNvPr>
          <p:cNvSpPr/>
          <p:nvPr/>
        </p:nvSpPr>
        <p:spPr>
          <a:xfrm>
            <a:off x="5593538" y="1162398"/>
            <a:ext cx="867458" cy="273174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409" name="Shape 124">
            <a:extLst>
              <a:ext uri="{FF2B5EF4-FFF2-40B4-BE49-F238E27FC236}">
                <a16:creationId xmlns:a16="http://schemas.microsoft.com/office/drawing/2014/main" id="{0BBE850A-BCCC-F2EB-7205-DAD19E96F3CE}"/>
              </a:ext>
            </a:extLst>
          </p:cNvPr>
          <p:cNvSpPr/>
          <p:nvPr/>
        </p:nvSpPr>
        <p:spPr>
          <a:xfrm>
            <a:off x="5593538" y="1162398"/>
            <a:ext cx="442913" cy="90488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410" name="Text 125">
            <a:extLst>
              <a:ext uri="{FF2B5EF4-FFF2-40B4-BE49-F238E27FC236}">
                <a16:creationId xmlns:a16="http://schemas.microsoft.com/office/drawing/2014/main" id="{B7F50408-F080-07DC-E352-2BCF81E46A41}"/>
              </a:ext>
            </a:extLst>
          </p:cNvPr>
          <p:cNvSpPr/>
          <p:nvPr/>
        </p:nvSpPr>
        <p:spPr>
          <a:xfrm>
            <a:off x="5593538" y="1162398"/>
            <a:ext cx="442913" cy="90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69"/>
              </a:lnSpc>
              <a:buNone/>
            </a:pPr>
            <a:r>
              <a:rPr lang="en-US" sz="535" b="1" kern="0" spc="4">
                <a:solidFill>
                  <a:srgbClr val="1A1A1A">
                    <a:alpha val="99000"/>
                  </a:srgbClr>
                </a:solidFill>
                <a:latin typeface="Aptos" panose="020B0004020202020204" pitchFamily="34" charset="0"/>
                <a:ea typeface="Nunito Sans" pitchFamily="34" charset="-122"/>
                <a:cs typeface="Nunito Sans" pitchFamily="34" charset="-120"/>
              </a:rPr>
              <a:t>API Gateway</a:t>
            </a:r>
            <a:endParaRPr lang="en-US" sz="535">
              <a:latin typeface="Aptos" panose="020B0004020202020204" pitchFamily="34" charset="0"/>
            </a:endParaRPr>
          </a:p>
        </p:txBody>
      </p:sp>
      <p:sp>
        <p:nvSpPr>
          <p:cNvPr id="411" name="Text 126">
            <a:extLst>
              <a:ext uri="{FF2B5EF4-FFF2-40B4-BE49-F238E27FC236}">
                <a16:creationId xmlns:a16="http://schemas.microsoft.com/office/drawing/2014/main" id="{0E62C55A-0AB6-2853-6395-524DEF53C26E}"/>
              </a:ext>
            </a:extLst>
          </p:cNvPr>
          <p:cNvSpPr/>
          <p:nvPr/>
        </p:nvSpPr>
        <p:spPr>
          <a:xfrm>
            <a:off x="5593538" y="1287935"/>
            <a:ext cx="867458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1"/>
              </a:lnSpc>
              <a:buNone/>
            </a:pPr>
            <a:r>
              <a:rPr lang="en-US" sz="440" kern="0" spc="9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Nunito Sans" pitchFamily="34" charset="-122"/>
                <a:cs typeface="Nunito Sans" pitchFamily="34" charset="-120"/>
              </a:rPr>
              <a:t>REST/SFTP endpoints · OAuth 2.0 · Rate limiting &amp; throttling</a:t>
            </a:r>
            <a:endParaRPr lang="en-US" sz="44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413" name="Shape 128">
            <a:extLst>
              <a:ext uri="{FF2B5EF4-FFF2-40B4-BE49-F238E27FC236}">
                <a16:creationId xmlns:a16="http://schemas.microsoft.com/office/drawing/2014/main" id="{68A56919-96AF-4E80-9BB9-A224D1550402}"/>
              </a:ext>
            </a:extLst>
          </p:cNvPr>
          <p:cNvSpPr/>
          <p:nvPr/>
        </p:nvSpPr>
        <p:spPr>
          <a:xfrm>
            <a:off x="5593538" y="1562830"/>
            <a:ext cx="867458" cy="349374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414" name="Shape 129">
            <a:extLst>
              <a:ext uri="{FF2B5EF4-FFF2-40B4-BE49-F238E27FC236}">
                <a16:creationId xmlns:a16="http://schemas.microsoft.com/office/drawing/2014/main" id="{833A85E9-9E06-DFA9-93BD-03A4CD8A4A38}"/>
              </a:ext>
            </a:extLst>
          </p:cNvPr>
          <p:cNvSpPr/>
          <p:nvPr/>
        </p:nvSpPr>
        <p:spPr>
          <a:xfrm>
            <a:off x="5593538" y="1562830"/>
            <a:ext cx="700088" cy="90488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415" name="Text 130">
            <a:extLst>
              <a:ext uri="{FF2B5EF4-FFF2-40B4-BE49-F238E27FC236}">
                <a16:creationId xmlns:a16="http://schemas.microsoft.com/office/drawing/2014/main" id="{CF28C617-27D2-A588-807B-22164D86F5E1}"/>
              </a:ext>
            </a:extLst>
          </p:cNvPr>
          <p:cNvSpPr/>
          <p:nvPr/>
        </p:nvSpPr>
        <p:spPr>
          <a:xfrm>
            <a:off x="5593538" y="1688022"/>
            <a:ext cx="700088" cy="90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69"/>
              </a:lnSpc>
              <a:buNone/>
            </a:pPr>
            <a:r>
              <a:rPr lang="en-US" sz="535" b="1" kern="0" spc="4">
                <a:solidFill>
                  <a:srgbClr val="1A1A1A">
                    <a:alpha val="99000"/>
                  </a:srgbClr>
                </a:solidFill>
                <a:latin typeface="Aptos" panose="020B0004020202020204" pitchFamily="34" charset="0"/>
                <a:ea typeface="Nunito Sans" pitchFamily="34" charset="-122"/>
                <a:cs typeface="Nunito Sans" pitchFamily="34" charset="-120"/>
              </a:rPr>
              <a:t>Data Transformation</a:t>
            </a:r>
            <a:endParaRPr lang="en-US" sz="535">
              <a:latin typeface="Aptos" panose="020B0004020202020204" pitchFamily="34" charset="0"/>
            </a:endParaRPr>
          </a:p>
        </p:txBody>
      </p:sp>
      <p:sp>
        <p:nvSpPr>
          <p:cNvPr id="416" name="Text 131">
            <a:extLst>
              <a:ext uri="{FF2B5EF4-FFF2-40B4-BE49-F238E27FC236}">
                <a16:creationId xmlns:a16="http://schemas.microsoft.com/office/drawing/2014/main" id="{FD7610F8-DB48-BF6C-065D-F9C48F034063}"/>
              </a:ext>
            </a:extLst>
          </p:cNvPr>
          <p:cNvSpPr/>
          <p:nvPr/>
        </p:nvSpPr>
        <p:spPr>
          <a:xfrm>
            <a:off x="5593538" y="1813559"/>
            <a:ext cx="867458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1"/>
              </a:lnSpc>
              <a:buNone/>
            </a:pPr>
            <a:r>
              <a:rPr lang="en-US" sz="440" kern="0" spc="9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Nunito Sans" pitchFamily="34" charset="-122"/>
                <a:cs typeface="Nunito Sans" pitchFamily="34" charset="-120"/>
              </a:rPr>
              <a:t>Format conversion (JSON/XML) · Field mapping · Business rules engine</a:t>
            </a:r>
            <a:endParaRPr lang="en-US" sz="44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418" name="Shape 133">
            <a:extLst>
              <a:ext uri="{FF2B5EF4-FFF2-40B4-BE49-F238E27FC236}">
                <a16:creationId xmlns:a16="http://schemas.microsoft.com/office/drawing/2014/main" id="{5D12B317-DA34-A8BB-C330-BDCE6DB7D1A1}"/>
              </a:ext>
            </a:extLst>
          </p:cNvPr>
          <p:cNvSpPr/>
          <p:nvPr/>
        </p:nvSpPr>
        <p:spPr>
          <a:xfrm>
            <a:off x="5597713" y="2051987"/>
            <a:ext cx="867458" cy="349374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419" name="Shape 134">
            <a:extLst>
              <a:ext uri="{FF2B5EF4-FFF2-40B4-BE49-F238E27FC236}">
                <a16:creationId xmlns:a16="http://schemas.microsoft.com/office/drawing/2014/main" id="{80F92E98-93A3-32C5-A230-0B8E9A62C195}"/>
              </a:ext>
            </a:extLst>
          </p:cNvPr>
          <p:cNvSpPr/>
          <p:nvPr/>
        </p:nvSpPr>
        <p:spPr>
          <a:xfrm>
            <a:off x="5597713" y="2051987"/>
            <a:ext cx="461963" cy="90488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420" name="Text 135">
            <a:extLst>
              <a:ext uri="{FF2B5EF4-FFF2-40B4-BE49-F238E27FC236}">
                <a16:creationId xmlns:a16="http://schemas.microsoft.com/office/drawing/2014/main" id="{95174D3F-52A3-6470-F1F8-599C00B82F13}"/>
              </a:ext>
            </a:extLst>
          </p:cNvPr>
          <p:cNvSpPr/>
          <p:nvPr/>
        </p:nvSpPr>
        <p:spPr>
          <a:xfrm>
            <a:off x="5597713" y="2300577"/>
            <a:ext cx="461963" cy="90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69"/>
              </a:lnSpc>
              <a:buNone/>
            </a:pPr>
            <a:r>
              <a:rPr lang="en-US" sz="535" b="1" kern="0" spc="4">
                <a:solidFill>
                  <a:srgbClr val="1A1A1A">
                    <a:alpha val="99000"/>
                  </a:srgbClr>
                </a:solidFill>
                <a:latin typeface="Aptos" panose="020B0004020202020204" pitchFamily="34" charset="0"/>
                <a:ea typeface="Nunito Sans" pitchFamily="34" charset="-122"/>
                <a:cs typeface="Nunito Sans" pitchFamily="34" charset="-120"/>
              </a:rPr>
              <a:t>Orchestration</a:t>
            </a:r>
            <a:endParaRPr lang="en-US" sz="535">
              <a:latin typeface="Aptos" panose="020B0004020202020204" pitchFamily="34" charset="0"/>
            </a:endParaRPr>
          </a:p>
        </p:txBody>
      </p:sp>
      <p:sp>
        <p:nvSpPr>
          <p:cNvPr id="421" name="Text 136">
            <a:extLst>
              <a:ext uri="{FF2B5EF4-FFF2-40B4-BE49-F238E27FC236}">
                <a16:creationId xmlns:a16="http://schemas.microsoft.com/office/drawing/2014/main" id="{C8C4919B-A663-4C99-05C6-E9F482F6DF12}"/>
              </a:ext>
            </a:extLst>
          </p:cNvPr>
          <p:cNvSpPr/>
          <p:nvPr/>
        </p:nvSpPr>
        <p:spPr>
          <a:xfrm>
            <a:off x="5597713" y="2426113"/>
            <a:ext cx="867458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1"/>
              </a:lnSpc>
              <a:buNone/>
            </a:pPr>
            <a:r>
              <a:rPr lang="en-US" sz="440" kern="0" spc="9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Nunito Sans" pitchFamily="34" charset="-122"/>
                <a:cs typeface="Nunito Sans" pitchFamily="34" charset="-120"/>
              </a:rPr>
              <a:t>Workflow management · error handling &amp; retry · Transaction management</a:t>
            </a:r>
            <a:endParaRPr lang="en-US" sz="44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423" name="Shape 138">
            <a:extLst>
              <a:ext uri="{FF2B5EF4-FFF2-40B4-BE49-F238E27FC236}">
                <a16:creationId xmlns:a16="http://schemas.microsoft.com/office/drawing/2014/main" id="{CC556982-BA9F-04E0-246C-2A17D9640E89}"/>
              </a:ext>
            </a:extLst>
          </p:cNvPr>
          <p:cNvSpPr/>
          <p:nvPr/>
        </p:nvSpPr>
        <p:spPr>
          <a:xfrm>
            <a:off x="5593538" y="2545319"/>
            <a:ext cx="867458" cy="349374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424" name="Shape 139">
            <a:extLst>
              <a:ext uri="{FF2B5EF4-FFF2-40B4-BE49-F238E27FC236}">
                <a16:creationId xmlns:a16="http://schemas.microsoft.com/office/drawing/2014/main" id="{2AD45A25-00B9-6F6C-FED5-614A41860744}"/>
              </a:ext>
            </a:extLst>
          </p:cNvPr>
          <p:cNvSpPr/>
          <p:nvPr/>
        </p:nvSpPr>
        <p:spPr>
          <a:xfrm>
            <a:off x="5593538" y="2545319"/>
            <a:ext cx="738188" cy="90488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425" name="Text 140">
            <a:extLst>
              <a:ext uri="{FF2B5EF4-FFF2-40B4-BE49-F238E27FC236}">
                <a16:creationId xmlns:a16="http://schemas.microsoft.com/office/drawing/2014/main" id="{6E5346BB-D771-E545-B1FA-633789427CDB}"/>
              </a:ext>
            </a:extLst>
          </p:cNvPr>
          <p:cNvSpPr/>
          <p:nvPr/>
        </p:nvSpPr>
        <p:spPr>
          <a:xfrm>
            <a:off x="5593538" y="2887551"/>
            <a:ext cx="738188" cy="90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69"/>
              </a:lnSpc>
              <a:buNone/>
            </a:pPr>
            <a:r>
              <a:rPr lang="en-US" sz="535" b="1" kern="0" spc="4">
                <a:solidFill>
                  <a:srgbClr val="1A1A1A">
                    <a:alpha val="99000"/>
                  </a:srgbClr>
                </a:solidFill>
                <a:latin typeface="Aptos" panose="020B0004020202020204" pitchFamily="34" charset="0"/>
                <a:ea typeface="Nunito Sans" pitchFamily="34" charset="-122"/>
                <a:cs typeface="Nunito Sans" pitchFamily="34" charset="-120"/>
              </a:rPr>
              <a:t>Monitoring &amp; Logging</a:t>
            </a:r>
            <a:endParaRPr lang="en-US" sz="535">
              <a:latin typeface="Aptos" panose="020B0004020202020204" pitchFamily="34" charset="0"/>
            </a:endParaRPr>
          </a:p>
        </p:txBody>
      </p:sp>
      <p:sp>
        <p:nvSpPr>
          <p:cNvPr id="426" name="Text 141">
            <a:extLst>
              <a:ext uri="{FF2B5EF4-FFF2-40B4-BE49-F238E27FC236}">
                <a16:creationId xmlns:a16="http://schemas.microsoft.com/office/drawing/2014/main" id="{F8F8EED6-C669-9B94-C4DD-40D036084205}"/>
              </a:ext>
            </a:extLst>
          </p:cNvPr>
          <p:cNvSpPr/>
          <p:nvPr/>
        </p:nvSpPr>
        <p:spPr>
          <a:xfrm>
            <a:off x="5593538" y="3013087"/>
            <a:ext cx="867458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1"/>
              </a:lnSpc>
              <a:buNone/>
            </a:pPr>
            <a:r>
              <a:rPr lang="en-US" sz="440" kern="0" spc="9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Nunito Sans" pitchFamily="34" charset="-122"/>
                <a:cs typeface="Nunito Sans" pitchFamily="34" charset="-120"/>
              </a:rPr>
              <a:t>Real time dashboards · Alert management · Compliance audit trail</a:t>
            </a:r>
            <a:endParaRPr lang="en-US" sz="44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429" name="Shape 143">
            <a:extLst>
              <a:ext uri="{FF2B5EF4-FFF2-40B4-BE49-F238E27FC236}">
                <a16:creationId xmlns:a16="http://schemas.microsoft.com/office/drawing/2014/main" id="{2CADC23E-4148-0778-32A4-4C2743081325}"/>
              </a:ext>
            </a:extLst>
          </p:cNvPr>
          <p:cNvSpPr/>
          <p:nvPr/>
        </p:nvSpPr>
        <p:spPr>
          <a:xfrm>
            <a:off x="5593538" y="3013600"/>
            <a:ext cx="867458" cy="349374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430" name="Shape 144">
            <a:extLst>
              <a:ext uri="{FF2B5EF4-FFF2-40B4-BE49-F238E27FC236}">
                <a16:creationId xmlns:a16="http://schemas.microsoft.com/office/drawing/2014/main" id="{87F47473-3614-1B27-156E-CC46495440BE}"/>
              </a:ext>
            </a:extLst>
          </p:cNvPr>
          <p:cNvSpPr/>
          <p:nvPr/>
        </p:nvSpPr>
        <p:spPr>
          <a:xfrm>
            <a:off x="5593538" y="3013600"/>
            <a:ext cx="642938" cy="90488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cxnSp>
        <p:nvCxnSpPr>
          <p:cNvPr id="525" name="Straight Connector 524">
            <a:extLst>
              <a:ext uri="{FF2B5EF4-FFF2-40B4-BE49-F238E27FC236}">
                <a16:creationId xmlns:a16="http://schemas.microsoft.com/office/drawing/2014/main" id="{9EFCE292-6E39-9A3A-BEBD-31EA2F9268B7}"/>
              </a:ext>
            </a:extLst>
          </p:cNvPr>
          <p:cNvCxnSpPr>
            <a:cxnSpLocks/>
          </p:cNvCxnSpPr>
          <p:nvPr/>
        </p:nvCxnSpPr>
        <p:spPr>
          <a:xfrm flipH="1">
            <a:off x="5616818" y="1566364"/>
            <a:ext cx="822960" cy="0"/>
          </a:xfrm>
          <a:prstGeom prst="line">
            <a:avLst/>
          </a:prstGeom>
          <a:ln>
            <a:solidFill>
              <a:srgbClr val="E6DA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6" name="Straight Connector 525">
            <a:extLst>
              <a:ext uri="{FF2B5EF4-FFF2-40B4-BE49-F238E27FC236}">
                <a16:creationId xmlns:a16="http://schemas.microsoft.com/office/drawing/2014/main" id="{2E727C8E-25E0-A8F7-A413-1B5F557B013C}"/>
              </a:ext>
            </a:extLst>
          </p:cNvPr>
          <p:cNvCxnSpPr>
            <a:cxnSpLocks/>
          </p:cNvCxnSpPr>
          <p:nvPr/>
        </p:nvCxnSpPr>
        <p:spPr>
          <a:xfrm flipH="1">
            <a:off x="5616818" y="2161787"/>
            <a:ext cx="822960" cy="0"/>
          </a:xfrm>
          <a:prstGeom prst="line">
            <a:avLst/>
          </a:prstGeom>
          <a:ln>
            <a:solidFill>
              <a:srgbClr val="E6DA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7" name="Straight Connector 526">
            <a:extLst>
              <a:ext uri="{FF2B5EF4-FFF2-40B4-BE49-F238E27FC236}">
                <a16:creationId xmlns:a16="http://schemas.microsoft.com/office/drawing/2014/main" id="{C684F3B4-6133-AA9C-029C-88C892FE1D4E}"/>
              </a:ext>
            </a:extLst>
          </p:cNvPr>
          <p:cNvCxnSpPr>
            <a:cxnSpLocks/>
          </p:cNvCxnSpPr>
          <p:nvPr/>
        </p:nvCxnSpPr>
        <p:spPr>
          <a:xfrm flipH="1">
            <a:off x="5616818" y="2762526"/>
            <a:ext cx="822960" cy="0"/>
          </a:xfrm>
          <a:prstGeom prst="line">
            <a:avLst/>
          </a:prstGeom>
          <a:ln>
            <a:solidFill>
              <a:srgbClr val="E6DA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320A61EB-366F-1EBC-9347-5E1BC8800E9B}"/>
              </a:ext>
            </a:extLst>
          </p:cNvPr>
          <p:cNvSpPr/>
          <p:nvPr/>
        </p:nvSpPr>
        <p:spPr>
          <a:xfrm>
            <a:off x="5548060" y="3366088"/>
            <a:ext cx="947845" cy="618372"/>
          </a:xfrm>
          <a:prstGeom prst="roundRect">
            <a:avLst>
              <a:gd name="adj" fmla="val 2058"/>
            </a:avLst>
          </a:prstGeom>
          <a:solidFill>
            <a:srgbClr val="AA91C1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1" name="Text 145">
            <a:extLst>
              <a:ext uri="{FF2B5EF4-FFF2-40B4-BE49-F238E27FC236}">
                <a16:creationId xmlns:a16="http://schemas.microsoft.com/office/drawing/2014/main" id="{B42A93B3-20B4-12DF-97FD-8C95AA5C352C}"/>
              </a:ext>
            </a:extLst>
          </p:cNvPr>
          <p:cNvSpPr/>
          <p:nvPr/>
        </p:nvSpPr>
        <p:spPr>
          <a:xfrm>
            <a:off x="5593538" y="3508919"/>
            <a:ext cx="642938" cy="90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69"/>
              </a:lnSpc>
              <a:buNone/>
            </a:pPr>
            <a:r>
              <a:rPr lang="en-US" sz="535" b="1" kern="0" spc="4">
                <a:solidFill>
                  <a:srgbClr val="1A1A1A">
                    <a:alpha val="99000"/>
                  </a:srgbClr>
                </a:solidFill>
                <a:latin typeface="Aptos" panose="020B0004020202020204" pitchFamily="34" charset="0"/>
                <a:ea typeface="Nunito Sans" pitchFamily="34" charset="-122"/>
                <a:cs typeface="Nunito Sans" pitchFamily="34" charset="-120"/>
              </a:rPr>
              <a:t>Integration Metrics</a:t>
            </a:r>
            <a:endParaRPr lang="en-US" sz="535">
              <a:latin typeface="Aptos" panose="020B0004020202020204" pitchFamily="34" charset="0"/>
            </a:endParaRPr>
          </a:p>
        </p:txBody>
      </p:sp>
      <p:sp>
        <p:nvSpPr>
          <p:cNvPr id="432" name="Text 146">
            <a:extLst>
              <a:ext uri="{FF2B5EF4-FFF2-40B4-BE49-F238E27FC236}">
                <a16:creationId xmlns:a16="http://schemas.microsoft.com/office/drawing/2014/main" id="{8859627A-3FAE-08DE-D041-51050472D1B6}"/>
              </a:ext>
            </a:extLst>
          </p:cNvPr>
          <p:cNvSpPr/>
          <p:nvPr/>
        </p:nvSpPr>
        <p:spPr>
          <a:xfrm>
            <a:off x="5593538" y="3634456"/>
            <a:ext cx="867458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1"/>
              </a:lnSpc>
              <a:buNone/>
            </a:pPr>
            <a:r>
              <a:rPr lang="en-US" sz="440" kern="0" spc="9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Nunito Sans" pitchFamily="34" charset="-122"/>
                <a:cs typeface="Nunito Sans" pitchFamily="34" charset="-120"/>
              </a:rPr>
              <a:t>50K records/hr.· 99.2% success rate , Avg 6-8 hrs. · 24 active integrations</a:t>
            </a:r>
            <a:endParaRPr lang="en-US" sz="44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498" name="Text 13">
            <a:extLst>
              <a:ext uri="{FF2B5EF4-FFF2-40B4-BE49-F238E27FC236}">
                <a16:creationId xmlns:a16="http://schemas.microsoft.com/office/drawing/2014/main" id="{4E109B1B-AB0D-7E1C-93E4-A6F50F98147E}"/>
              </a:ext>
            </a:extLst>
          </p:cNvPr>
          <p:cNvSpPr/>
          <p:nvPr/>
        </p:nvSpPr>
        <p:spPr>
          <a:xfrm>
            <a:off x="5556309" y="865802"/>
            <a:ext cx="953461" cy="26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72"/>
              </a:lnSpc>
              <a:buNone/>
            </a:pPr>
            <a:r>
              <a:rPr lang="en-US" sz="600" b="1" kern="0" spc="4">
                <a:solidFill>
                  <a:schemeClr val="bg1"/>
                </a:solidFill>
                <a:latin typeface="Aptos" panose="020B0004020202020204" pitchFamily="34" charset="0"/>
              </a:rPr>
              <a:t>SAP EIP INTEGRATION HUB</a:t>
            </a:r>
          </a:p>
          <a:p>
            <a:pPr marL="0" indent="0" algn="l">
              <a:buNone/>
            </a:pPr>
            <a:r>
              <a:rPr lang="en-US" sz="600" b="1" kern="0" spc="4">
                <a:solidFill>
                  <a:schemeClr val="bg1"/>
                </a:solidFill>
                <a:latin typeface="Aptos" panose="020B0004020202020204" pitchFamily="34" charset="0"/>
              </a:rPr>
              <a:t>Full scope . All feeds</a:t>
            </a:r>
            <a:endParaRPr lang="en-US" sz="600" b="1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455" name="Text 116">
            <a:extLst>
              <a:ext uri="{FF2B5EF4-FFF2-40B4-BE49-F238E27FC236}">
                <a16:creationId xmlns:a16="http://schemas.microsoft.com/office/drawing/2014/main" id="{5FF1E76A-6441-2DED-5F44-78B4A5B0E094}"/>
              </a:ext>
            </a:extLst>
          </p:cNvPr>
          <p:cNvSpPr/>
          <p:nvPr/>
        </p:nvSpPr>
        <p:spPr>
          <a:xfrm>
            <a:off x="5551635" y="4915973"/>
            <a:ext cx="336376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>
                <a:solidFill>
                  <a:srgbClr val="2E7D32"/>
                </a:solidFill>
                <a:latin typeface="Aptos" panose="020B0004020202020204" pitchFamily="34" charset="0"/>
              </a:rPr>
              <a:t>→ </a:t>
            </a:r>
            <a:r>
              <a:rPr lang="en-US" sz="600">
                <a:solidFill>
                  <a:srgbClr val="4B5563"/>
                </a:solidFill>
                <a:latin typeface="Aptos" panose="020B0004020202020204" pitchFamily="34" charset="0"/>
              </a:rPr>
              <a:t>Track A: Direct (SAP EIP)     </a:t>
            </a:r>
            <a:r>
              <a:rPr lang="en-US" sz="600" b="1">
                <a:solidFill>
                  <a:srgbClr val="00695C"/>
                </a:solidFill>
                <a:latin typeface="Aptos" panose="020B0004020202020204" pitchFamily="34" charset="0"/>
              </a:rPr>
              <a:t>→ </a:t>
            </a:r>
            <a:r>
              <a:rPr lang="en-US" sz="600">
                <a:solidFill>
                  <a:srgbClr val="4B5563"/>
                </a:solidFill>
                <a:latin typeface="Aptos" panose="020B0004020202020204" pitchFamily="34" charset="0"/>
              </a:rPr>
              <a:t>Track B: Zero Touch Direct     </a:t>
            </a:r>
            <a:r>
              <a:rPr lang="en-US" sz="600" b="1">
                <a:solidFill>
                  <a:srgbClr val="4527A0"/>
                </a:solidFill>
                <a:latin typeface="Aptos" panose="020B0004020202020204" pitchFamily="34" charset="0"/>
              </a:rPr>
              <a:t>→ </a:t>
            </a:r>
            <a:r>
              <a:rPr lang="en-US" sz="600">
                <a:solidFill>
                  <a:srgbClr val="4B5563"/>
                </a:solidFill>
                <a:latin typeface="Aptos" panose="020B0004020202020204" pitchFamily="34" charset="0"/>
              </a:rPr>
              <a:t>AI Engine → SAP EIP     </a:t>
            </a:r>
          </a:p>
          <a:p>
            <a:pPr marL="0" indent="0">
              <a:buNone/>
            </a:pPr>
            <a:r>
              <a:rPr lang="en-US" sz="600" i="1">
                <a:solidFill>
                  <a:srgbClr val="9CA3AF"/>
                </a:solidFill>
                <a:latin typeface="Aptos" panose="020B0004020202020204" pitchFamily="34" charset="0"/>
              </a:rPr>
              <a:t>Track B bypasses New Inhouse System &amp; AI Engine · Source-only changes</a:t>
            </a:r>
            <a:endParaRPr lang="en-US" sz="600">
              <a:latin typeface="Aptos" panose="020B0004020202020204" pitchFamily="34" charset="0"/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055C28E-A7A7-3807-DB19-F046D8157FF1}"/>
              </a:ext>
            </a:extLst>
          </p:cNvPr>
          <p:cNvCxnSpPr>
            <a:cxnSpLocks/>
          </p:cNvCxnSpPr>
          <p:nvPr/>
        </p:nvCxnSpPr>
        <p:spPr>
          <a:xfrm>
            <a:off x="3585338" y="4436030"/>
            <a:ext cx="133628" cy="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B196AA9-B44F-DC74-E814-D86DBF094B1A}"/>
              </a:ext>
            </a:extLst>
          </p:cNvPr>
          <p:cNvCxnSpPr>
            <a:cxnSpLocks/>
          </p:cNvCxnSpPr>
          <p:nvPr/>
        </p:nvCxnSpPr>
        <p:spPr>
          <a:xfrm>
            <a:off x="5366812" y="4326072"/>
            <a:ext cx="133628" cy="0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54307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B20C5-49FF-EEB0-1AA4-47DCDC226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11">
            <a:extLst>
              <a:ext uri="{FF2B5EF4-FFF2-40B4-BE49-F238E27FC236}">
                <a16:creationId xmlns:a16="http://schemas.microsoft.com/office/drawing/2014/main" id="{4C2077CE-8320-ADBF-4940-F7AD7E9B91A1}"/>
              </a:ext>
            </a:extLst>
          </p:cNvPr>
          <p:cNvSpPr>
            <a:spLocks/>
          </p:cNvSpPr>
          <p:nvPr/>
        </p:nvSpPr>
        <p:spPr>
          <a:xfrm>
            <a:off x="342900" y="1216192"/>
            <a:ext cx="864108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18" name="Text 116">
            <a:extLst>
              <a:ext uri="{FF2B5EF4-FFF2-40B4-BE49-F238E27FC236}">
                <a16:creationId xmlns:a16="http://schemas.microsoft.com/office/drawing/2014/main" id="{42B005C5-2CB9-3613-B32E-014813896794}"/>
              </a:ext>
            </a:extLst>
          </p:cNvPr>
          <p:cNvSpPr/>
          <p:nvPr/>
        </p:nvSpPr>
        <p:spPr>
          <a:xfrm>
            <a:off x="240030" y="4634731"/>
            <a:ext cx="4114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872"/>
              </a:lnSpc>
            </a:pPr>
            <a:r>
              <a:rPr lang="en-US" sz="600" kern="0" spc="4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% of 184 </a:t>
            </a:r>
            <a:r>
              <a:rPr lang="en-US" sz="600" kern="0" spc="4" err="1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Payheads</a:t>
            </a:r>
            <a:r>
              <a:rPr lang="en-US" sz="600" kern="0" spc="4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 auto  </a:t>
            </a:r>
            <a:endParaRPr lang="en-US" sz="60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21" name="Shape 119">
            <a:extLst>
              <a:ext uri="{FF2B5EF4-FFF2-40B4-BE49-F238E27FC236}">
                <a16:creationId xmlns:a16="http://schemas.microsoft.com/office/drawing/2014/main" id="{A835B92F-BC46-EB94-86E4-FA701B54F405}"/>
              </a:ext>
            </a:extLst>
          </p:cNvPr>
          <p:cNvSpPr/>
          <p:nvPr/>
        </p:nvSpPr>
        <p:spPr>
          <a:xfrm>
            <a:off x="266700" y="4785607"/>
            <a:ext cx="2017014" cy="137160"/>
          </a:xfrm>
          <a:prstGeom prst="rect">
            <a:avLst/>
          </a:prstGeom>
          <a:solidFill>
            <a:srgbClr val="FF9500"/>
          </a:solidFill>
          <a:ln w="12700">
            <a:noFill/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22" name="Shape 120">
            <a:extLst>
              <a:ext uri="{FF2B5EF4-FFF2-40B4-BE49-F238E27FC236}">
                <a16:creationId xmlns:a16="http://schemas.microsoft.com/office/drawing/2014/main" id="{4F8903ED-A99B-B952-ADB1-578FA43B42A2}"/>
              </a:ext>
            </a:extLst>
          </p:cNvPr>
          <p:cNvSpPr/>
          <p:nvPr/>
        </p:nvSpPr>
        <p:spPr>
          <a:xfrm>
            <a:off x="2286000" y="4785607"/>
            <a:ext cx="2133600" cy="137160"/>
          </a:xfrm>
          <a:prstGeom prst="rect">
            <a:avLst/>
          </a:prstGeom>
          <a:solidFill>
            <a:srgbClr val="FF7235"/>
          </a:solidFill>
          <a:ln w="12700">
            <a:noFill/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23" name="Shape 121">
            <a:extLst>
              <a:ext uri="{FF2B5EF4-FFF2-40B4-BE49-F238E27FC236}">
                <a16:creationId xmlns:a16="http://schemas.microsoft.com/office/drawing/2014/main" id="{624BC726-C244-827E-A416-EFAE9A6C8AA5}"/>
              </a:ext>
            </a:extLst>
          </p:cNvPr>
          <p:cNvSpPr/>
          <p:nvPr/>
        </p:nvSpPr>
        <p:spPr>
          <a:xfrm>
            <a:off x="4419600" y="4785607"/>
            <a:ext cx="2474061" cy="137160"/>
          </a:xfrm>
          <a:prstGeom prst="rect">
            <a:avLst/>
          </a:prstGeom>
          <a:solidFill>
            <a:srgbClr val="7030A0"/>
          </a:solidFill>
          <a:ln w="12700">
            <a:noFill/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24" name="Shape 122">
            <a:extLst>
              <a:ext uri="{FF2B5EF4-FFF2-40B4-BE49-F238E27FC236}">
                <a16:creationId xmlns:a16="http://schemas.microsoft.com/office/drawing/2014/main" id="{850A510A-F36D-1EBC-E790-477BE44954D1}"/>
              </a:ext>
            </a:extLst>
          </p:cNvPr>
          <p:cNvSpPr/>
          <p:nvPr/>
        </p:nvSpPr>
        <p:spPr>
          <a:xfrm>
            <a:off x="6893662" y="4785607"/>
            <a:ext cx="2090318" cy="137160"/>
          </a:xfrm>
          <a:prstGeom prst="rect">
            <a:avLst/>
          </a:prstGeom>
          <a:solidFill>
            <a:srgbClr val="0277FF"/>
          </a:solidFill>
          <a:ln w="12700">
            <a:noFill/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25" name="Text 123">
            <a:extLst>
              <a:ext uri="{FF2B5EF4-FFF2-40B4-BE49-F238E27FC236}">
                <a16:creationId xmlns:a16="http://schemas.microsoft.com/office/drawing/2014/main" id="{E88384CA-7414-95EE-3547-9EA5E2444B8C}"/>
              </a:ext>
            </a:extLst>
          </p:cNvPr>
          <p:cNvSpPr/>
          <p:nvPr/>
        </p:nvSpPr>
        <p:spPr>
          <a:xfrm>
            <a:off x="1905000" y="4792472"/>
            <a:ext cx="377190" cy="1234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525" b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37%</a:t>
            </a:r>
            <a:endParaRPr lang="en-US" sz="525">
              <a:solidFill>
                <a:schemeClr val="bg1"/>
              </a:solidFill>
            </a:endParaRPr>
          </a:p>
        </p:txBody>
      </p:sp>
      <p:sp>
        <p:nvSpPr>
          <p:cNvPr id="127" name="Text 125">
            <a:extLst>
              <a:ext uri="{FF2B5EF4-FFF2-40B4-BE49-F238E27FC236}">
                <a16:creationId xmlns:a16="http://schemas.microsoft.com/office/drawing/2014/main" id="{FED470D2-B559-9672-8895-B3BD6141980D}"/>
              </a:ext>
            </a:extLst>
          </p:cNvPr>
          <p:cNvSpPr/>
          <p:nvPr/>
        </p:nvSpPr>
        <p:spPr>
          <a:xfrm>
            <a:off x="3791690" y="4792472"/>
            <a:ext cx="644463" cy="1234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525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51%</a:t>
            </a:r>
            <a:endParaRPr lang="en-US" sz="525" dirty="0">
              <a:solidFill>
                <a:schemeClr val="bg1"/>
              </a:solidFill>
            </a:endParaRPr>
          </a:p>
        </p:txBody>
      </p:sp>
      <p:sp>
        <p:nvSpPr>
          <p:cNvPr id="129" name="Text 127">
            <a:extLst>
              <a:ext uri="{FF2B5EF4-FFF2-40B4-BE49-F238E27FC236}">
                <a16:creationId xmlns:a16="http://schemas.microsoft.com/office/drawing/2014/main" id="{681C29ED-73C6-EE3D-CD47-F05F53FD0DF8}"/>
              </a:ext>
            </a:extLst>
          </p:cNvPr>
          <p:cNvSpPr/>
          <p:nvPr/>
        </p:nvSpPr>
        <p:spPr>
          <a:xfrm>
            <a:off x="6249277" y="4788935"/>
            <a:ext cx="640951" cy="1234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525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77%</a:t>
            </a:r>
            <a:endParaRPr lang="en-US" sz="525" dirty="0">
              <a:solidFill>
                <a:schemeClr val="bg1"/>
              </a:solidFill>
            </a:endParaRPr>
          </a:p>
        </p:txBody>
      </p:sp>
      <p:sp>
        <p:nvSpPr>
          <p:cNvPr id="131" name="Text 129">
            <a:extLst>
              <a:ext uri="{FF2B5EF4-FFF2-40B4-BE49-F238E27FC236}">
                <a16:creationId xmlns:a16="http://schemas.microsoft.com/office/drawing/2014/main" id="{345A561C-5027-9727-B4D4-B0BAFB875606}"/>
              </a:ext>
            </a:extLst>
          </p:cNvPr>
          <p:cNvSpPr/>
          <p:nvPr/>
        </p:nvSpPr>
        <p:spPr>
          <a:xfrm>
            <a:off x="8282906" y="4788935"/>
            <a:ext cx="684882" cy="1234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525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525" dirty="0">
              <a:solidFill>
                <a:schemeClr val="bg1"/>
              </a:solidFill>
            </a:endParaRPr>
          </a:p>
        </p:txBody>
      </p:sp>
      <p:sp>
        <p:nvSpPr>
          <p:cNvPr id="134" name="Shape 61">
            <a:extLst>
              <a:ext uri="{FF2B5EF4-FFF2-40B4-BE49-F238E27FC236}">
                <a16:creationId xmlns:a16="http://schemas.microsoft.com/office/drawing/2014/main" id="{D2B6524C-EA69-4F58-5FCE-4BDDDB4557E2}"/>
              </a:ext>
            </a:extLst>
          </p:cNvPr>
          <p:cNvSpPr/>
          <p:nvPr/>
        </p:nvSpPr>
        <p:spPr>
          <a:xfrm>
            <a:off x="238125" y="576263"/>
            <a:ext cx="8729663" cy="0"/>
          </a:xfrm>
          <a:prstGeom prst="line">
            <a:avLst/>
          </a:prstGeom>
          <a:noFill/>
          <a:ln w="4524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8E55DA2B-A5B1-40AB-1AC8-F4664134ED5B}"/>
              </a:ext>
            </a:extLst>
          </p:cNvPr>
          <p:cNvSpPr txBox="1"/>
          <p:nvPr/>
        </p:nvSpPr>
        <p:spPr>
          <a:xfrm>
            <a:off x="238125" y="276181"/>
            <a:ext cx="7813019" cy="300082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pPr defTabSz="914378">
              <a:spcBef>
                <a:spcPct val="0"/>
              </a:spcBef>
              <a:defRPr/>
            </a:pPr>
            <a:r>
              <a:rPr lang="en-US" sz="1500" b="1" dirty="0">
                <a:solidFill>
                  <a:srgbClr val="C00000"/>
                </a:solidFill>
                <a:latin typeface="AirIndia"/>
              </a:rPr>
              <a:t>Program Plan </a:t>
            </a:r>
            <a:r>
              <a:rPr lang="en-US" sz="1500" dirty="0">
                <a:solidFill>
                  <a:prstClr val="white">
                    <a:lumMod val="50000"/>
                  </a:prstClr>
                </a:solidFill>
                <a:latin typeface="AirIndia"/>
              </a:rPr>
              <a:t>- 6-month Roadmap to Zero Manual Payroll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80E77113-25D2-AE60-8086-21C2541F7DC0}"/>
              </a:ext>
            </a:extLst>
          </p:cNvPr>
          <p:cNvSpPr txBox="1"/>
          <p:nvPr/>
        </p:nvSpPr>
        <p:spPr>
          <a:xfrm>
            <a:off x="217854" y="631116"/>
            <a:ext cx="8922758" cy="2154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/>
              </a:rPr>
              <a:t>Priority sequencing: Compliance risk (Code on Wages) first → Highest volume + impact → Tail cleanup  ·  </a:t>
            </a:r>
            <a:r>
              <a:rPr lang="en-US" sz="800" b="1" dirty="0">
                <a:solidFill>
                  <a:srgbClr val="C62828"/>
                </a:solidFill>
                <a:latin typeface="Aptos"/>
              </a:rPr>
              <a:t>Baseline: 68/184 (37%) automated → Target: 184/184 (100%) by end of Jan 2027</a:t>
            </a:r>
            <a:endParaRPr lang="en-US" sz="800" b="1" dirty="0">
              <a:solidFill>
                <a:srgbClr val="C62828"/>
              </a:solidFill>
              <a:latin typeface="Aptos" panose="020B0004020202020204" pitchFamily="34" charset="0"/>
            </a:endParaRPr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B488D4EE-B666-1BF5-28F8-9374546EE49E}"/>
              </a:ext>
            </a:extLst>
          </p:cNvPr>
          <p:cNvSpPr/>
          <p:nvPr/>
        </p:nvSpPr>
        <p:spPr>
          <a:xfrm>
            <a:off x="2373047" y="949282"/>
            <a:ext cx="577675" cy="182383"/>
          </a:xfrm>
          <a:prstGeom prst="roundRect">
            <a:avLst>
              <a:gd name="adj" fmla="val 50000"/>
            </a:avLst>
          </a:prstGeom>
          <a:solidFill>
            <a:srgbClr val="F06A31"/>
          </a:solidFill>
          <a:ln w="6350">
            <a:noFill/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A2670BAF-37BE-D605-EFDF-16867CF2023D}"/>
              </a:ext>
            </a:extLst>
          </p:cNvPr>
          <p:cNvSpPr/>
          <p:nvPr/>
        </p:nvSpPr>
        <p:spPr>
          <a:xfrm>
            <a:off x="2373047" y="949282"/>
            <a:ext cx="577675" cy="1823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700" b="1" dirty="0">
                <a:solidFill>
                  <a:schemeClr val="bg1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Aug-Sep</a:t>
            </a:r>
            <a:endParaRPr lang="en-US" sz="7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33C91769-F3ED-1FB8-F46E-4FC332F378CB}"/>
              </a:ext>
            </a:extLst>
          </p:cNvPr>
          <p:cNvSpPr>
            <a:spLocks noChangeAspect="1"/>
          </p:cNvSpPr>
          <p:nvPr/>
        </p:nvSpPr>
        <p:spPr>
          <a:xfrm>
            <a:off x="2376356" y="1172758"/>
            <a:ext cx="91440" cy="91440"/>
          </a:xfrm>
          <a:prstGeom prst="ellipse">
            <a:avLst/>
          </a:prstGeom>
          <a:solidFill>
            <a:srgbClr val="FF7235"/>
          </a:solidFill>
          <a:ln w="12700">
            <a:noFill/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DF2A4013-4FFA-2AA9-6283-893281188A80}"/>
              </a:ext>
            </a:extLst>
          </p:cNvPr>
          <p:cNvSpPr txBox="1"/>
          <p:nvPr/>
        </p:nvSpPr>
        <p:spPr>
          <a:xfrm>
            <a:off x="2283714" y="1331945"/>
            <a:ext cx="202254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 kern="0" spc="4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Inter"/>
                <a:cs typeface="Calibri"/>
              </a:rPr>
              <a:t>Critical - </a:t>
            </a:r>
            <a:r>
              <a:rPr lang="en-US" sz="800" kern="0" spc="10" err="1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Inter"/>
              </a:rPr>
              <a:t>FnF</a:t>
            </a:r>
            <a:r>
              <a:rPr lang="en-US" sz="800" kern="0" spc="1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Inter"/>
              </a:rPr>
              <a:t> Compliance + Flying allow</a:t>
            </a:r>
          </a:p>
        </p:txBody>
      </p:sp>
      <p:sp>
        <p:nvSpPr>
          <p:cNvPr id="143" name="Shape 59">
            <a:extLst>
              <a:ext uri="{FF2B5EF4-FFF2-40B4-BE49-F238E27FC236}">
                <a16:creationId xmlns:a16="http://schemas.microsoft.com/office/drawing/2014/main" id="{4D402904-F20E-8CCF-1643-B90042CC758B}"/>
              </a:ext>
            </a:extLst>
          </p:cNvPr>
          <p:cNvSpPr/>
          <p:nvPr/>
        </p:nvSpPr>
        <p:spPr>
          <a:xfrm>
            <a:off x="2377702" y="2579545"/>
            <a:ext cx="2022541" cy="680285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0F90E68E-29AB-F8A3-6CAC-72ED4634ADCC}"/>
              </a:ext>
            </a:extLst>
          </p:cNvPr>
          <p:cNvSpPr txBox="1"/>
          <p:nvPr/>
        </p:nvSpPr>
        <p:spPr>
          <a:xfrm>
            <a:off x="2377702" y="2841155"/>
            <a:ext cx="202254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CAE / CC Ops:</a:t>
            </a:r>
            <a:r>
              <a:rPr 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 Direct CAE API feed replacing manual Excel download → email → HRSS massage chain​</a:t>
            </a:r>
          </a:p>
        </p:txBody>
      </p:sp>
      <p:sp>
        <p:nvSpPr>
          <p:cNvPr id="147" name="Shape 2">
            <a:extLst>
              <a:ext uri="{FF2B5EF4-FFF2-40B4-BE49-F238E27FC236}">
                <a16:creationId xmlns:a16="http://schemas.microsoft.com/office/drawing/2014/main" id="{47754BE7-24D4-F13D-DE7C-44C029BD685F}"/>
              </a:ext>
            </a:extLst>
          </p:cNvPr>
          <p:cNvSpPr/>
          <p:nvPr/>
        </p:nvSpPr>
        <p:spPr>
          <a:xfrm>
            <a:off x="3675321" y="2683224"/>
            <a:ext cx="673167" cy="181011"/>
          </a:xfrm>
          <a:prstGeom prst="roundRect">
            <a:avLst>
              <a:gd name="adj" fmla="val 69818"/>
            </a:avLst>
          </a:prstGeom>
          <a:solidFill>
            <a:srgbClr val="FF7235">
              <a:alpha val="10000"/>
            </a:srgbClr>
          </a:solidFill>
          <a:ln w="6350">
            <a:solidFill>
              <a:srgbClr val="FF7235"/>
            </a:solidFill>
            <a:prstDash val="solid"/>
          </a:ln>
        </p:spPr>
        <p:txBody>
          <a:bodyPr anchor="ctr"/>
          <a:lstStyle/>
          <a:p>
            <a:r>
              <a:rPr lang="en-US" sz="600" b="1">
                <a:solidFill>
                  <a:srgbClr val="FF7235"/>
                </a:solidFill>
                <a:latin typeface="Aptos" panose="020B0004020202020204" pitchFamily="34" charset="0"/>
              </a:rPr>
              <a:t>12 </a:t>
            </a:r>
            <a:r>
              <a:rPr lang="en-US" sz="600" b="1" err="1">
                <a:solidFill>
                  <a:srgbClr val="FF7235"/>
                </a:solidFill>
                <a:latin typeface="Aptos" panose="020B0004020202020204" pitchFamily="34" charset="0"/>
              </a:rPr>
              <a:t>Payheads</a:t>
            </a:r>
            <a:endParaRPr lang="en-US" sz="600" b="1">
              <a:solidFill>
                <a:srgbClr val="FF7235"/>
              </a:solidFill>
              <a:latin typeface="Aptos" panose="020B0004020202020204" pitchFamily="34" charset="0"/>
            </a:endParaRPr>
          </a:p>
        </p:txBody>
      </p:sp>
      <p:sp>
        <p:nvSpPr>
          <p:cNvPr id="137" name="Shape 59">
            <a:extLst>
              <a:ext uri="{FF2B5EF4-FFF2-40B4-BE49-F238E27FC236}">
                <a16:creationId xmlns:a16="http://schemas.microsoft.com/office/drawing/2014/main" id="{EAF54C73-E223-C873-F08D-B85190039E9F}"/>
              </a:ext>
            </a:extLst>
          </p:cNvPr>
          <p:cNvSpPr/>
          <p:nvPr/>
        </p:nvSpPr>
        <p:spPr>
          <a:xfrm>
            <a:off x="2374144" y="1638875"/>
            <a:ext cx="2022541" cy="811731"/>
          </a:xfrm>
          <a:prstGeom prst="roundRect">
            <a:avLst>
              <a:gd name="adj" fmla="val 0"/>
            </a:avLst>
          </a:prstGeom>
          <a:solidFill>
            <a:srgbClr val="FAFAFA"/>
          </a:solidFill>
          <a:ln w="3175">
            <a:solidFill>
              <a:schemeClr val="bg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E2461AA9-DABE-97BD-4991-B784A7F02FE4}"/>
              </a:ext>
            </a:extLst>
          </p:cNvPr>
          <p:cNvSpPr/>
          <p:nvPr/>
        </p:nvSpPr>
        <p:spPr>
          <a:xfrm>
            <a:off x="2374527" y="1638213"/>
            <a:ext cx="2020824" cy="27432"/>
          </a:xfrm>
          <a:prstGeom prst="rect">
            <a:avLst/>
          </a:prstGeom>
          <a:solidFill>
            <a:srgbClr val="FF7234"/>
          </a:solidFill>
          <a:ln w="12700">
            <a:noFill/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C32ACCEB-9694-1ECB-7CC4-CB69549D209B}"/>
              </a:ext>
            </a:extLst>
          </p:cNvPr>
          <p:cNvSpPr txBox="1"/>
          <p:nvPr/>
        </p:nvSpPr>
        <p:spPr>
          <a:xfrm>
            <a:off x="2374144" y="1900997"/>
            <a:ext cx="20225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Life Events &amp; </a:t>
            </a:r>
            <a:r>
              <a:rPr lang="en-US" sz="700" b="1" err="1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FnF</a:t>
            </a:r>
            <a:r>
              <a:rPr lang="en-US" sz="700" b="1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:  </a:t>
            </a:r>
            <a:r>
              <a:rPr 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Event-triggered daily settlement — retirals, notice pay, leave encashment, gratuity — Code on Wages compliant​</a:t>
            </a:r>
          </a:p>
        </p:txBody>
      </p:sp>
      <p:sp>
        <p:nvSpPr>
          <p:cNvPr id="148" name="Shape 2">
            <a:extLst>
              <a:ext uri="{FF2B5EF4-FFF2-40B4-BE49-F238E27FC236}">
                <a16:creationId xmlns:a16="http://schemas.microsoft.com/office/drawing/2014/main" id="{5DB04DD3-0A6E-5477-6C7A-6D7FE5007F61}"/>
              </a:ext>
            </a:extLst>
          </p:cNvPr>
          <p:cNvSpPr/>
          <p:nvPr/>
        </p:nvSpPr>
        <p:spPr>
          <a:xfrm>
            <a:off x="3671763" y="1730301"/>
            <a:ext cx="673167" cy="181011"/>
          </a:xfrm>
          <a:prstGeom prst="roundRect">
            <a:avLst>
              <a:gd name="adj" fmla="val 69818"/>
            </a:avLst>
          </a:prstGeom>
          <a:solidFill>
            <a:srgbClr val="FF7235">
              <a:alpha val="10000"/>
            </a:srgbClr>
          </a:solidFill>
          <a:ln w="6350">
            <a:solidFill>
              <a:srgbClr val="FF7235"/>
            </a:solidFill>
            <a:prstDash val="solid"/>
          </a:ln>
        </p:spPr>
        <p:txBody>
          <a:bodyPr anchor="ctr"/>
          <a:lstStyle/>
          <a:p>
            <a:r>
              <a:rPr lang="en-US" sz="600" b="1">
                <a:solidFill>
                  <a:srgbClr val="FF7235"/>
                </a:solidFill>
                <a:latin typeface="Aptos" panose="020B0004020202020204" pitchFamily="34" charset="0"/>
              </a:rPr>
              <a:t>14 </a:t>
            </a:r>
            <a:r>
              <a:rPr lang="en-US" sz="600" b="1" err="1">
                <a:solidFill>
                  <a:srgbClr val="FF7235"/>
                </a:solidFill>
                <a:latin typeface="Aptos" panose="020B0004020202020204" pitchFamily="34" charset="0"/>
              </a:rPr>
              <a:t>Payheads</a:t>
            </a:r>
            <a:endParaRPr lang="en-US" sz="600" b="1">
              <a:solidFill>
                <a:srgbClr val="FF7235"/>
              </a:solidFill>
              <a:latin typeface="Aptos" panose="020B0004020202020204" pitchFamily="34" charset="0"/>
            </a:endParaRPr>
          </a:p>
        </p:txBody>
      </p:sp>
      <p:sp>
        <p:nvSpPr>
          <p:cNvPr id="151" name="Text 29">
            <a:extLst>
              <a:ext uri="{FF2B5EF4-FFF2-40B4-BE49-F238E27FC236}">
                <a16:creationId xmlns:a16="http://schemas.microsoft.com/office/drawing/2014/main" id="{AD019FE3-1463-5189-20ED-B7A01D2F96E8}"/>
              </a:ext>
            </a:extLst>
          </p:cNvPr>
          <p:cNvSpPr/>
          <p:nvPr/>
        </p:nvSpPr>
        <p:spPr>
          <a:xfrm>
            <a:off x="2377702" y="3352256"/>
            <a:ext cx="440817" cy="24003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r>
              <a:rPr lang="en-US" sz="1100" b="1" dirty="0">
                <a:solidFill>
                  <a:srgbClr val="FF7235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+26</a:t>
            </a:r>
            <a:endParaRPr lang="en-US" sz="1100" dirty="0">
              <a:solidFill>
                <a:srgbClr val="FF7235"/>
              </a:solidFill>
              <a:latin typeface="Aptos" panose="020B0004020202020204" pitchFamily="34" charset="0"/>
            </a:endParaRPr>
          </a:p>
        </p:txBody>
      </p:sp>
      <p:sp>
        <p:nvSpPr>
          <p:cNvPr id="152" name="Text 30">
            <a:extLst>
              <a:ext uri="{FF2B5EF4-FFF2-40B4-BE49-F238E27FC236}">
                <a16:creationId xmlns:a16="http://schemas.microsoft.com/office/drawing/2014/main" id="{F1CE2C25-C2C0-8CC0-A9BA-52DBD55E80A1}"/>
              </a:ext>
            </a:extLst>
          </p:cNvPr>
          <p:cNvSpPr/>
          <p:nvPr/>
        </p:nvSpPr>
        <p:spPr>
          <a:xfrm>
            <a:off x="2243752" y="3519829"/>
            <a:ext cx="706970" cy="1028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00" dirty="0">
                <a:solidFill>
                  <a:srgbClr val="333333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Components</a:t>
            </a:r>
            <a:endParaRPr lang="en-US" sz="700" dirty="0">
              <a:latin typeface="Aptos" panose="020B0004020202020204" pitchFamily="34" charset="0"/>
            </a:endParaRPr>
          </a:p>
        </p:txBody>
      </p:sp>
      <p:sp>
        <p:nvSpPr>
          <p:cNvPr id="153" name="Text 31">
            <a:extLst>
              <a:ext uri="{FF2B5EF4-FFF2-40B4-BE49-F238E27FC236}">
                <a16:creationId xmlns:a16="http://schemas.microsoft.com/office/drawing/2014/main" id="{65234029-F5A5-5CC2-9A21-5D3F366AB866}"/>
              </a:ext>
            </a:extLst>
          </p:cNvPr>
          <p:cNvSpPr/>
          <p:nvPr/>
        </p:nvSpPr>
        <p:spPr>
          <a:xfrm>
            <a:off x="2859879" y="3461661"/>
            <a:ext cx="870210" cy="1028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00" dirty="0">
                <a:solidFill>
                  <a:srgbClr val="777777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51% Auto</a:t>
            </a:r>
            <a:endParaRPr lang="en-US" sz="700" dirty="0">
              <a:latin typeface="Aptos" panose="020B0004020202020204" pitchFamily="34" charset="0"/>
            </a:endParaRPr>
          </a:p>
        </p:txBody>
      </p:sp>
      <p:sp>
        <p:nvSpPr>
          <p:cNvPr id="154" name="Shape 21">
            <a:extLst>
              <a:ext uri="{FF2B5EF4-FFF2-40B4-BE49-F238E27FC236}">
                <a16:creationId xmlns:a16="http://schemas.microsoft.com/office/drawing/2014/main" id="{2D64D70A-26D5-E603-4383-2DE84527B3B7}"/>
              </a:ext>
            </a:extLst>
          </p:cNvPr>
          <p:cNvSpPr/>
          <p:nvPr/>
        </p:nvSpPr>
        <p:spPr>
          <a:xfrm>
            <a:off x="2381260" y="2581527"/>
            <a:ext cx="2020824" cy="27432"/>
          </a:xfrm>
          <a:prstGeom prst="rect">
            <a:avLst/>
          </a:prstGeom>
          <a:solidFill>
            <a:srgbClr val="FF7234"/>
          </a:solidFill>
          <a:ln w="12700">
            <a:noFill/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60" name="Shape 58">
            <a:extLst>
              <a:ext uri="{FF2B5EF4-FFF2-40B4-BE49-F238E27FC236}">
                <a16:creationId xmlns:a16="http://schemas.microsoft.com/office/drawing/2014/main" id="{5D2A031E-7765-D45B-AA5B-8B174EEDDE58}"/>
              </a:ext>
            </a:extLst>
          </p:cNvPr>
          <p:cNvSpPr>
            <a:spLocks noChangeAspect="1"/>
          </p:cNvSpPr>
          <p:nvPr/>
        </p:nvSpPr>
        <p:spPr>
          <a:xfrm>
            <a:off x="4634323" y="1172758"/>
            <a:ext cx="91440" cy="91440"/>
          </a:xfrm>
          <a:prstGeom prst="ellipse">
            <a:avLst/>
          </a:prstGeom>
          <a:solidFill>
            <a:srgbClr val="7030A0"/>
          </a:solidFill>
          <a:ln w="12700">
            <a:noFill/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61" name="Shape 59">
            <a:extLst>
              <a:ext uri="{FF2B5EF4-FFF2-40B4-BE49-F238E27FC236}">
                <a16:creationId xmlns:a16="http://schemas.microsoft.com/office/drawing/2014/main" id="{B0848E0E-D978-59A5-5437-AA8F4C1FC645}"/>
              </a:ext>
            </a:extLst>
          </p:cNvPr>
          <p:cNvSpPr/>
          <p:nvPr/>
        </p:nvSpPr>
        <p:spPr>
          <a:xfrm>
            <a:off x="4630786" y="948730"/>
            <a:ext cx="577674" cy="182382"/>
          </a:xfrm>
          <a:prstGeom prst="roundRect">
            <a:avLst>
              <a:gd name="adj" fmla="val 50000"/>
            </a:avLst>
          </a:prstGeom>
          <a:solidFill>
            <a:srgbClr val="7030A0"/>
          </a:solidFill>
          <a:ln w="6350">
            <a:noFill/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62" name="Text 60">
            <a:extLst>
              <a:ext uri="{FF2B5EF4-FFF2-40B4-BE49-F238E27FC236}">
                <a16:creationId xmlns:a16="http://schemas.microsoft.com/office/drawing/2014/main" id="{51A65E12-845E-4DB1-4210-F48CB772D557}"/>
              </a:ext>
            </a:extLst>
          </p:cNvPr>
          <p:cNvSpPr/>
          <p:nvPr/>
        </p:nvSpPr>
        <p:spPr>
          <a:xfrm>
            <a:off x="4630785" y="948730"/>
            <a:ext cx="577673" cy="1517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700" b="1" dirty="0">
                <a:solidFill>
                  <a:schemeClr val="bg1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Oct-Nov</a:t>
            </a:r>
            <a:endParaRPr lang="en-US" sz="7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58" name="Shape 59">
            <a:extLst>
              <a:ext uri="{FF2B5EF4-FFF2-40B4-BE49-F238E27FC236}">
                <a16:creationId xmlns:a16="http://schemas.microsoft.com/office/drawing/2014/main" id="{37D978D3-787C-395E-FCA9-9107553E69C0}"/>
              </a:ext>
            </a:extLst>
          </p:cNvPr>
          <p:cNvSpPr/>
          <p:nvPr/>
        </p:nvSpPr>
        <p:spPr>
          <a:xfrm>
            <a:off x="4627228" y="2438835"/>
            <a:ext cx="2022541" cy="595895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8BD90E6E-14A9-8CE5-A7E5-D15E62CF5ACA}"/>
              </a:ext>
            </a:extLst>
          </p:cNvPr>
          <p:cNvSpPr txBox="1"/>
          <p:nvPr/>
        </p:nvSpPr>
        <p:spPr>
          <a:xfrm>
            <a:off x="4627228" y="2710760"/>
            <a:ext cx="20225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HRBP: </a:t>
            </a:r>
            <a:r>
              <a:rPr 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AMOS API + SF events → special allowances auto- updated, no Excel/HRSS relay​</a:t>
            </a:r>
          </a:p>
        </p:txBody>
      </p:sp>
      <p:sp>
        <p:nvSpPr>
          <p:cNvPr id="160" name="Shape 2">
            <a:extLst>
              <a:ext uri="{FF2B5EF4-FFF2-40B4-BE49-F238E27FC236}">
                <a16:creationId xmlns:a16="http://schemas.microsoft.com/office/drawing/2014/main" id="{DFECCC54-8FD4-CA4A-C537-1D9EA9CA34C5}"/>
              </a:ext>
            </a:extLst>
          </p:cNvPr>
          <p:cNvSpPr/>
          <p:nvPr/>
        </p:nvSpPr>
        <p:spPr>
          <a:xfrm>
            <a:off x="5924847" y="2535850"/>
            <a:ext cx="673167" cy="181011"/>
          </a:xfrm>
          <a:prstGeom prst="roundRect">
            <a:avLst>
              <a:gd name="adj" fmla="val 69818"/>
            </a:avLst>
          </a:prstGeom>
          <a:solidFill>
            <a:srgbClr val="7030A0">
              <a:alpha val="10000"/>
            </a:srgbClr>
          </a:solidFill>
          <a:ln w="6350">
            <a:solidFill>
              <a:srgbClr val="7030A0"/>
            </a:solidFill>
            <a:prstDash val="solid"/>
          </a:ln>
        </p:spPr>
        <p:txBody>
          <a:bodyPr anchor="ctr"/>
          <a:lstStyle/>
          <a:p>
            <a:r>
              <a:rPr lang="en-US" sz="600" b="1">
                <a:solidFill>
                  <a:srgbClr val="7030A0"/>
                </a:solidFill>
                <a:latin typeface="Aptos" panose="020B0004020202020204" pitchFamily="34" charset="0"/>
              </a:rPr>
              <a:t>16 </a:t>
            </a:r>
            <a:r>
              <a:rPr lang="en-US" sz="600" b="1" err="1">
                <a:solidFill>
                  <a:srgbClr val="7030A0"/>
                </a:solidFill>
                <a:latin typeface="Aptos" panose="020B0004020202020204" pitchFamily="34" charset="0"/>
              </a:rPr>
              <a:t>Payheads</a:t>
            </a:r>
            <a:endParaRPr lang="en-US" sz="600" b="1">
              <a:solidFill>
                <a:srgbClr val="7030A0"/>
              </a:solidFill>
              <a:latin typeface="Aptos" panose="020B0004020202020204" pitchFamily="34" charset="0"/>
            </a:endParaRPr>
          </a:p>
        </p:txBody>
      </p:sp>
      <p:sp>
        <p:nvSpPr>
          <p:cNvPr id="155" name="Shape 59">
            <a:extLst>
              <a:ext uri="{FF2B5EF4-FFF2-40B4-BE49-F238E27FC236}">
                <a16:creationId xmlns:a16="http://schemas.microsoft.com/office/drawing/2014/main" id="{899570A1-092A-B259-0AF0-11DE5C6FB848}"/>
              </a:ext>
            </a:extLst>
          </p:cNvPr>
          <p:cNvSpPr/>
          <p:nvPr/>
        </p:nvSpPr>
        <p:spPr>
          <a:xfrm>
            <a:off x="4634323" y="1638876"/>
            <a:ext cx="2022541" cy="680286"/>
          </a:xfrm>
          <a:prstGeom prst="roundRect">
            <a:avLst>
              <a:gd name="adj" fmla="val 0"/>
            </a:avLst>
          </a:prstGeom>
          <a:solidFill>
            <a:srgbClr val="FAFAFA"/>
          </a:solidFill>
          <a:ln w="3175">
            <a:solidFill>
              <a:schemeClr val="bg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56" name="Shape 21">
            <a:extLst>
              <a:ext uri="{FF2B5EF4-FFF2-40B4-BE49-F238E27FC236}">
                <a16:creationId xmlns:a16="http://schemas.microsoft.com/office/drawing/2014/main" id="{489CB938-73D1-12E6-D3E9-3D53101E9BE9}"/>
              </a:ext>
            </a:extLst>
          </p:cNvPr>
          <p:cNvSpPr/>
          <p:nvPr/>
        </p:nvSpPr>
        <p:spPr>
          <a:xfrm>
            <a:off x="4634706" y="1638213"/>
            <a:ext cx="2020824" cy="27432"/>
          </a:xfrm>
          <a:prstGeom prst="rect">
            <a:avLst/>
          </a:prstGeom>
          <a:solidFill>
            <a:srgbClr val="7030A0"/>
          </a:solidFill>
          <a:ln w="12700">
            <a:noFill/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99140989-901C-7EDF-A383-97794280A4F1}"/>
              </a:ext>
            </a:extLst>
          </p:cNvPr>
          <p:cNvSpPr txBox="1"/>
          <p:nvPr/>
        </p:nvSpPr>
        <p:spPr>
          <a:xfrm>
            <a:off x="4634323" y="1911312"/>
            <a:ext cx="202254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C&amp;B Team: </a:t>
            </a:r>
            <a:r>
              <a:rPr 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Bonus/incentive approvals via SF workflow → auto-triggered payroll update, replacing Excel approval chain​</a:t>
            </a:r>
          </a:p>
        </p:txBody>
      </p:sp>
      <p:sp>
        <p:nvSpPr>
          <p:cNvPr id="161" name="Shape 2">
            <a:extLst>
              <a:ext uri="{FF2B5EF4-FFF2-40B4-BE49-F238E27FC236}">
                <a16:creationId xmlns:a16="http://schemas.microsoft.com/office/drawing/2014/main" id="{0C7812E9-F354-83C9-FCC0-2A19B00265CB}"/>
              </a:ext>
            </a:extLst>
          </p:cNvPr>
          <p:cNvSpPr/>
          <p:nvPr/>
        </p:nvSpPr>
        <p:spPr>
          <a:xfrm>
            <a:off x="5931942" y="1745466"/>
            <a:ext cx="673167" cy="181011"/>
          </a:xfrm>
          <a:prstGeom prst="roundRect">
            <a:avLst>
              <a:gd name="adj" fmla="val 69818"/>
            </a:avLst>
          </a:prstGeom>
          <a:solidFill>
            <a:srgbClr val="7030A0">
              <a:alpha val="10000"/>
            </a:srgbClr>
          </a:solidFill>
          <a:ln w="6350">
            <a:solidFill>
              <a:srgbClr val="7030A0"/>
            </a:solidFill>
            <a:prstDash val="solid"/>
          </a:ln>
        </p:spPr>
        <p:txBody>
          <a:bodyPr anchor="ctr"/>
          <a:lstStyle/>
          <a:p>
            <a:r>
              <a:rPr lang="en-US" sz="600" b="1">
                <a:solidFill>
                  <a:srgbClr val="7030A0"/>
                </a:solidFill>
                <a:latin typeface="Aptos" panose="020B0004020202020204" pitchFamily="34" charset="0"/>
              </a:rPr>
              <a:t>12 </a:t>
            </a:r>
            <a:r>
              <a:rPr lang="en-US" sz="600" b="1" err="1">
                <a:solidFill>
                  <a:srgbClr val="7030A0"/>
                </a:solidFill>
                <a:latin typeface="Aptos" panose="020B0004020202020204" pitchFamily="34" charset="0"/>
              </a:rPr>
              <a:t>Payheads</a:t>
            </a:r>
            <a:endParaRPr lang="en-US" sz="600" b="1">
              <a:solidFill>
                <a:srgbClr val="7030A0"/>
              </a:solidFill>
              <a:latin typeface="Aptos" panose="020B0004020202020204" pitchFamily="34" charset="0"/>
            </a:endParaRPr>
          </a:p>
        </p:txBody>
      </p:sp>
      <p:sp>
        <p:nvSpPr>
          <p:cNvPr id="162" name="Shape 21">
            <a:extLst>
              <a:ext uri="{FF2B5EF4-FFF2-40B4-BE49-F238E27FC236}">
                <a16:creationId xmlns:a16="http://schemas.microsoft.com/office/drawing/2014/main" id="{06CD22F4-8261-470E-6A0B-ADF7F52A582C}"/>
              </a:ext>
            </a:extLst>
          </p:cNvPr>
          <p:cNvSpPr/>
          <p:nvPr/>
        </p:nvSpPr>
        <p:spPr>
          <a:xfrm>
            <a:off x="4630786" y="2440817"/>
            <a:ext cx="2020824" cy="27432"/>
          </a:xfrm>
          <a:prstGeom prst="rect">
            <a:avLst/>
          </a:prstGeom>
          <a:solidFill>
            <a:srgbClr val="7030A0"/>
          </a:solidFill>
          <a:ln w="12700">
            <a:noFill/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3AB807BE-F1DF-DBB0-2449-A5444C32ADA5}"/>
              </a:ext>
            </a:extLst>
          </p:cNvPr>
          <p:cNvSpPr txBox="1"/>
          <p:nvPr/>
        </p:nvSpPr>
        <p:spPr>
          <a:xfrm>
            <a:off x="4557181" y="1276622"/>
            <a:ext cx="20863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kern="0" spc="4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Inter"/>
                <a:cs typeface="Calibri"/>
              </a:rPr>
              <a:t>High Priority - </a:t>
            </a:r>
            <a:r>
              <a:rPr lang="en-US" sz="800" kern="0" spc="1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Inter"/>
              </a:rPr>
              <a:t>Volume &amp; Recurring manual Inputs</a:t>
            </a:r>
          </a:p>
        </p:txBody>
      </p:sp>
      <p:sp>
        <p:nvSpPr>
          <p:cNvPr id="164" name="Shape 59">
            <a:extLst>
              <a:ext uri="{FF2B5EF4-FFF2-40B4-BE49-F238E27FC236}">
                <a16:creationId xmlns:a16="http://schemas.microsoft.com/office/drawing/2014/main" id="{CFFF0FD1-683B-E43D-D5F8-F6B5D27CEFB9}"/>
              </a:ext>
            </a:extLst>
          </p:cNvPr>
          <p:cNvSpPr/>
          <p:nvPr/>
        </p:nvSpPr>
        <p:spPr>
          <a:xfrm>
            <a:off x="4624053" y="3145927"/>
            <a:ext cx="2022541" cy="713648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A924B930-8B83-0DCD-5ECD-6B5B9A5A54FA}"/>
              </a:ext>
            </a:extLst>
          </p:cNvPr>
          <p:cNvSpPr txBox="1"/>
          <p:nvPr/>
        </p:nvSpPr>
        <p:spPr>
          <a:xfrm>
            <a:off x="4624053" y="3417852"/>
            <a:ext cx="202254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HRSS / AI Payroll Internal: </a:t>
            </a:r>
            <a:r>
              <a:rPr 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Salary hold/release via policy engine · Attendance-linked pay via AMOS API integration​</a:t>
            </a:r>
          </a:p>
        </p:txBody>
      </p:sp>
      <p:sp>
        <p:nvSpPr>
          <p:cNvPr id="166" name="Shape 2">
            <a:extLst>
              <a:ext uri="{FF2B5EF4-FFF2-40B4-BE49-F238E27FC236}">
                <a16:creationId xmlns:a16="http://schemas.microsoft.com/office/drawing/2014/main" id="{02AA4DF5-D840-E2BE-AB2E-C76AB056CE1C}"/>
              </a:ext>
            </a:extLst>
          </p:cNvPr>
          <p:cNvSpPr/>
          <p:nvPr/>
        </p:nvSpPr>
        <p:spPr>
          <a:xfrm>
            <a:off x="5921672" y="3242942"/>
            <a:ext cx="673167" cy="181011"/>
          </a:xfrm>
          <a:prstGeom prst="roundRect">
            <a:avLst>
              <a:gd name="adj" fmla="val 69818"/>
            </a:avLst>
          </a:prstGeom>
          <a:solidFill>
            <a:srgbClr val="7030A0">
              <a:alpha val="10000"/>
            </a:srgbClr>
          </a:solidFill>
          <a:ln w="6350">
            <a:solidFill>
              <a:srgbClr val="7030A0"/>
            </a:solidFill>
            <a:prstDash val="solid"/>
          </a:ln>
        </p:spPr>
        <p:txBody>
          <a:bodyPr anchor="ctr"/>
          <a:lstStyle/>
          <a:p>
            <a:r>
              <a:rPr lang="en-US" sz="600" b="1">
                <a:solidFill>
                  <a:srgbClr val="7030A0"/>
                </a:solidFill>
                <a:latin typeface="Aptos" panose="020B0004020202020204" pitchFamily="34" charset="0"/>
              </a:rPr>
              <a:t>20 </a:t>
            </a:r>
            <a:r>
              <a:rPr lang="en-US" sz="600" b="1" err="1">
                <a:solidFill>
                  <a:srgbClr val="7030A0"/>
                </a:solidFill>
                <a:latin typeface="Aptos" panose="020B0004020202020204" pitchFamily="34" charset="0"/>
              </a:rPr>
              <a:t>Payheads</a:t>
            </a:r>
            <a:endParaRPr lang="en-US" sz="600" b="1">
              <a:solidFill>
                <a:srgbClr val="7030A0"/>
              </a:solidFill>
              <a:latin typeface="Aptos" panose="020B0004020202020204" pitchFamily="34" charset="0"/>
            </a:endParaRPr>
          </a:p>
        </p:txBody>
      </p:sp>
      <p:sp>
        <p:nvSpPr>
          <p:cNvPr id="167" name="Shape 21">
            <a:extLst>
              <a:ext uri="{FF2B5EF4-FFF2-40B4-BE49-F238E27FC236}">
                <a16:creationId xmlns:a16="http://schemas.microsoft.com/office/drawing/2014/main" id="{A5E3C597-FCC1-BF9B-943A-28D533E4F5F3}"/>
              </a:ext>
            </a:extLst>
          </p:cNvPr>
          <p:cNvSpPr/>
          <p:nvPr/>
        </p:nvSpPr>
        <p:spPr>
          <a:xfrm>
            <a:off x="4627611" y="3147909"/>
            <a:ext cx="2020824" cy="27432"/>
          </a:xfrm>
          <a:prstGeom prst="rect">
            <a:avLst/>
          </a:prstGeom>
          <a:solidFill>
            <a:srgbClr val="7030A0"/>
          </a:solidFill>
          <a:ln w="12700">
            <a:noFill/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68" name="Text 29">
            <a:extLst>
              <a:ext uri="{FF2B5EF4-FFF2-40B4-BE49-F238E27FC236}">
                <a16:creationId xmlns:a16="http://schemas.microsoft.com/office/drawing/2014/main" id="{A00C00DF-A7DB-6925-D8FD-CFAE3BDDC2A5}"/>
              </a:ext>
            </a:extLst>
          </p:cNvPr>
          <p:cNvSpPr/>
          <p:nvPr/>
        </p:nvSpPr>
        <p:spPr>
          <a:xfrm>
            <a:off x="4624344" y="3820150"/>
            <a:ext cx="440817" cy="24003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00" b="1" dirty="0">
                <a:solidFill>
                  <a:srgbClr val="7030A0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+48</a:t>
            </a:r>
            <a:endParaRPr lang="en-US" sz="900" dirty="0">
              <a:solidFill>
                <a:srgbClr val="7030A0"/>
              </a:solidFill>
              <a:latin typeface="Aptos" panose="020B0004020202020204" pitchFamily="34" charset="0"/>
            </a:endParaRPr>
          </a:p>
        </p:txBody>
      </p:sp>
      <p:sp>
        <p:nvSpPr>
          <p:cNvPr id="169" name="Text 30">
            <a:extLst>
              <a:ext uri="{FF2B5EF4-FFF2-40B4-BE49-F238E27FC236}">
                <a16:creationId xmlns:a16="http://schemas.microsoft.com/office/drawing/2014/main" id="{6AD21132-1F94-554A-422A-CD978BC4B417}"/>
              </a:ext>
            </a:extLst>
          </p:cNvPr>
          <p:cNvSpPr/>
          <p:nvPr/>
        </p:nvSpPr>
        <p:spPr>
          <a:xfrm>
            <a:off x="4491267" y="4013164"/>
            <a:ext cx="706970" cy="1028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00" dirty="0">
                <a:solidFill>
                  <a:srgbClr val="333333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Components</a:t>
            </a:r>
            <a:endParaRPr lang="en-US" sz="700" dirty="0">
              <a:latin typeface="Aptos" panose="020B0004020202020204" pitchFamily="34" charset="0"/>
            </a:endParaRPr>
          </a:p>
        </p:txBody>
      </p:sp>
      <p:sp>
        <p:nvSpPr>
          <p:cNvPr id="170" name="Text 31">
            <a:extLst>
              <a:ext uri="{FF2B5EF4-FFF2-40B4-BE49-F238E27FC236}">
                <a16:creationId xmlns:a16="http://schemas.microsoft.com/office/drawing/2014/main" id="{0F5160BB-BDF4-6667-6640-F33C172DD84E}"/>
              </a:ext>
            </a:extLst>
          </p:cNvPr>
          <p:cNvSpPr/>
          <p:nvPr/>
        </p:nvSpPr>
        <p:spPr>
          <a:xfrm>
            <a:off x="5061732" y="3911726"/>
            <a:ext cx="870210" cy="1028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00" dirty="0">
                <a:solidFill>
                  <a:srgbClr val="777777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77% Auto</a:t>
            </a:r>
            <a:endParaRPr lang="en-US" sz="700" dirty="0">
              <a:latin typeface="Aptos" panose="020B0004020202020204" pitchFamily="34" charset="0"/>
            </a:endParaRPr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6108FEDD-AD56-A013-C1F3-8BF57AF71E54}"/>
              </a:ext>
            </a:extLst>
          </p:cNvPr>
          <p:cNvSpPr>
            <a:spLocks/>
          </p:cNvSpPr>
          <p:nvPr/>
        </p:nvSpPr>
        <p:spPr>
          <a:xfrm>
            <a:off x="261987" y="2175197"/>
            <a:ext cx="1870983" cy="720438"/>
          </a:xfrm>
          <a:prstGeom prst="rect">
            <a:avLst/>
          </a:prstGeom>
          <a:solidFill>
            <a:srgbClr val="FAFAFA"/>
          </a:solidFill>
          <a:ln w="3175">
            <a:solidFill>
              <a:schemeClr val="bg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87442DAC-6564-7D76-4321-73E06B09D654}"/>
              </a:ext>
            </a:extLst>
          </p:cNvPr>
          <p:cNvSpPr/>
          <p:nvPr/>
        </p:nvSpPr>
        <p:spPr>
          <a:xfrm>
            <a:off x="281178" y="948730"/>
            <a:ext cx="397764" cy="157734"/>
          </a:xfrm>
          <a:prstGeom prst="roundRect">
            <a:avLst>
              <a:gd name="adj" fmla="val 50000"/>
            </a:avLst>
          </a:prstGeom>
          <a:solidFill>
            <a:srgbClr val="FFA934"/>
          </a:solidFill>
          <a:ln w="6350">
            <a:noFill/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431C9192-241B-9F19-D6AB-596A3FDADE68}"/>
              </a:ext>
            </a:extLst>
          </p:cNvPr>
          <p:cNvSpPr/>
          <p:nvPr/>
        </p:nvSpPr>
        <p:spPr>
          <a:xfrm>
            <a:off x="281178" y="948730"/>
            <a:ext cx="397764" cy="1577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700" b="1" dirty="0">
                <a:solidFill>
                  <a:schemeClr val="bg1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July</a:t>
            </a:r>
            <a:endParaRPr lang="en-US" sz="7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F76DC192-6F3C-54C1-E537-C006ABE5D24C}"/>
              </a:ext>
            </a:extLst>
          </p:cNvPr>
          <p:cNvSpPr>
            <a:spLocks noChangeAspect="1"/>
          </p:cNvSpPr>
          <p:nvPr/>
        </p:nvSpPr>
        <p:spPr>
          <a:xfrm>
            <a:off x="261989" y="1172758"/>
            <a:ext cx="91440" cy="91440"/>
          </a:xfrm>
          <a:prstGeom prst="ellipse">
            <a:avLst/>
          </a:prstGeom>
          <a:solidFill>
            <a:srgbClr val="FF9500"/>
          </a:solidFill>
          <a:ln w="12700">
            <a:noFill/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0FE38137-8A63-A52F-5B4E-8419FB603D94}"/>
              </a:ext>
            </a:extLst>
          </p:cNvPr>
          <p:cNvSpPr/>
          <p:nvPr/>
        </p:nvSpPr>
        <p:spPr>
          <a:xfrm>
            <a:off x="178441" y="1329939"/>
            <a:ext cx="185166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800" b="1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Foundation</a:t>
            </a:r>
            <a:endParaRPr lang="en-US" sz="80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F1C5DC03-5992-08F8-8A95-B9E7D78715F8}"/>
              </a:ext>
            </a:extLst>
          </p:cNvPr>
          <p:cNvSpPr/>
          <p:nvPr/>
        </p:nvSpPr>
        <p:spPr>
          <a:xfrm>
            <a:off x="261987" y="2175197"/>
            <a:ext cx="1874519" cy="27432"/>
          </a:xfrm>
          <a:prstGeom prst="rect">
            <a:avLst/>
          </a:prstGeom>
          <a:solidFill>
            <a:srgbClr val="FF9500"/>
          </a:solidFill>
          <a:ln w="12700">
            <a:noFill/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A9BDC008-26EB-A8BE-AFE4-0D8F94D9F255}"/>
              </a:ext>
            </a:extLst>
          </p:cNvPr>
          <p:cNvSpPr/>
          <p:nvPr/>
        </p:nvSpPr>
        <p:spPr>
          <a:xfrm>
            <a:off x="261987" y="2976582"/>
            <a:ext cx="440817" cy="24003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r>
              <a:rPr lang="en-US" sz="1100" b="1">
                <a:solidFill>
                  <a:srgbClr val="FF9500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37%</a:t>
            </a:r>
            <a:endParaRPr lang="en-US" sz="1100">
              <a:latin typeface="Aptos" panose="020B0004020202020204" pitchFamily="34" charset="0"/>
            </a:endParaRPr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346AEBA9-8280-3965-56AD-9C8A15ECB910}"/>
              </a:ext>
            </a:extLst>
          </p:cNvPr>
          <p:cNvSpPr/>
          <p:nvPr/>
        </p:nvSpPr>
        <p:spPr>
          <a:xfrm>
            <a:off x="588752" y="2986869"/>
            <a:ext cx="524135" cy="1028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00">
                <a:solidFill>
                  <a:srgbClr val="333333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700">
              <a:latin typeface="Aptos" panose="020B0004020202020204" pitchFamily="34" charset="0"/>
            </a:endParaRPr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8D62064A-498F-F220-569E-1A4DFBBC8EE5}"/>
              </a:ext>
            </a:extLst>
          </p:cNvPr>
          <p:cNvSpPr/>
          <p:nvPr/>
        </p:nvSpPr>
        <p:spPr>
          <a:xfrm>
            <a:off x="583932" y="3084428"/>
            <a:ext cx="870210" cy="1028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00">
                <a:solidFill>
                  <a:srgbClr val="777777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(68 components)</a:t>
            </a:r>
            <a:endParaRPr lang="en-US" sz="700">
              <a:latin typeface="Aptos" panose="020B0004020202020204" pitchFamily="34" charset="0"/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91081FA7-300B-B10D-C4E4-2376D2E8B647}"/>
              </a:ext>
            </a:extLst>
          </p:cNvPr>
          <p:cNvSpPr txBox="1"/>
          <p:nvPr/>
        </p:nvSpPr>
        <p:spPr>
          <a:xfrm>
            <a:off x="266700" y="2277452"/>
            <a:ext cx="18662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Requirement gathering for all </a:t>
            </a:r>
            <a:r>
              <a:rPr lang="en-US" sz="700" b="1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184</a:t>
            </a:r>
            <a:r>
              <a:rPr 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700" err="1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payheads</a:t>
            </a:r>
            <a:r>
              <a:rPr 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 </a:t>
            </a:r>
          </a:p>
          <a:p>
            <a:pPr marL="58738" indent="-58738">
              <a:buFont typeface="Arial" panose="020B0604020202020204" pitchFamily="34" charset="0"/>
              <a:buChar char="•"/>
            </a:pPr>
            <a:r>
              <a:rPr 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Integration environment setup </a:t>
            </a:r>
          </a:p>
          <a:p>
            <a:pPr marL="58738" indent="-58738">
              <a:buFont typeface="Arial" panose="020B0604020202020204" pitchFamily="34" charset="0"/>
              <a:buChar char="•"/>
            </a:pPr>
            <a:r>
              <a:rPr 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AI Validation</a:t>
            </a:r>
          </a:p>
          <a:p>
            <a:pPr marL="58738" indent="-58738">
              <a:buFont typeface="Arial" panose="020B0604020202020204" pitchFamily="34" charset="0"/>
              <a:buChar char="•"/>
            </a:pPr>
            <a:r>
              <a:rPr 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Engine architecture to be finalized​</a:t>
            </a: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E5205356-605A-5D14-17CD-FB897EAC5199}"/>
              </a:ext>
            </a:extLst>
          </p:cNvPr>
          <p:cNvSpPr>
            <a:spLocks/>
          </p:cNvSpPr>
          <p:nvPr/>
        </p:nvSpPr>
        <p:spPr>
          <a:xfrm>
            <a:off x="261989" y="1641388"/>
            <a:ext cx="1870982" cy="408807"/>
          </a:xfrm>
          <a:prstGeom prst="rect">
            <a:avLst/>
          </a:prstGeom>
          <a:solidFill>
            <a:srgbClr val="FAFAFA"/>
          </a:solidFill>
          <a:ln w="3175">
            <a:solidFill>
              <a:schemeClr val="bg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0A3443C4-6F7F-7BFA-ADA9-A204FC3C547A}"/>
              </a:ext>
            </a:extLst>
          </p:cNvPr>
          <p:cNvSpPr txBox="1"/>
          <p:nvPr/>
        </p:nvSpPr>
        <p:spPr>
          <a:xfrm>
            <a:off x="272794" y="1672006"/>
            <a:ext cx="186015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Contractors to be onboarded (PM, AI Arch, Backend, FE, QA, SF, PS, CAE, Integration Specialist)​</a:t>
            </a:r>
          </a:p>
        </p:txBody>
      </p:sp>
      <p:sp>
        <p:nvSpPr>
          <p:cNvPr id="180" name="Shape 25">
            <a:extLst>
              <a:ext uri="{FF2B5EF4-FFF2-40B4-BE49-F238E27FC236}">
                <a16:creationId xmlns:a16="http://schemas.microsoft.com/office/drawing/2014/main" id="{098C0F61-AA49-5A41-7563-CE45BE5F1A07}"/>
              </a:ext>
            </a:extLst>
          </p:cNvPr>
          <p:cNvSpPr/>
          <p:nvPr/>
        </p:nvSpPr>
        <p:spPr>
          <a:xfrm>
            <a:off x="261987" y="1640724"/>
            <a:ext cx="1874519" cy="27432"/>
          </a:xfrm>
          <a:prstGeom prst="rect">
            <a:avLst/>
          </a:prstGeom>
          <a:solidFill>
            <a:srgbClr val="FF9500"/>
          </a:solidFill>
          <a:ln w="12700">
            <a:noFill/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92" name="Shape 90">
            <a:extLst>
              <a:ext uri="{FF2B5EF4-FFF2-40B4-BE49-F238E27FC236}">
                <a16:creationId xmlns:a16="http://schemas.microsoft.com/office/drawing/2014/main" id="{191BB9FF-5FAB-781B-A054-7FBC7C8E14B6}"/>
              </a:ext>
            </a:extLst>
          </p:cNvPr>
          <p:cNvSpPr>
            <a:spLocks noChangeAspect="1"/>
          </p:cNvSpPr>
          <p:nvPr/>
        </p:nvSpPr>
        <p:spPr>
          <a:xfrm>
            <a:off x="6892290" y="1172758"/>
            <a:ext cx="91440" cy="91440"/>
          </a:xfrm>
          <a:prstGeom prst="ellipse">
            <a:avLst/>
          </a:prstGeom>
          <a:solidFill>
            <a:srgbClr val="0277FF"/>
          </a:solidFill>
          <a:ln w="12700">
            <a:noFill/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93" name="Shape 91">
            <a:extLst>
              <a:ext uri="{FF2B5EF4-FFF2-40B4-BE49-F238E27FC236}">
                <a16:creationId xmlns:a16="http://schemas.microsoft.com/office/drawing/2014/main" id="{BE123F46-08F4-47E7-6B02-D316D7D6A789}"/>
              </a:ext>
            </a:extLst>
          </p:cNvPr>
          <p:cNvSpPr/>
          <p:nvPr/>
        </p:nvSpPr>
        <p:spPr>
          <a:xfrm>
            <a:off x="6892289" y="948729"/>
            <a:ext cx="1301591" cy="182382"/>
          </a:xfrm>
          <a:prstGeom prst="roundRect">
            <a:avLst>
              <a:gd name="adj" fmla="val 50000"/>
            </a:avLst>
          </a:prstGeom>
          <a:solidFill>
            <a:srgbClr val="0277FF"/>
          </a:solidFill>
          <a:ln w="6350">
            <a:noFill/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94" name="Text 92">
            <a:extLst>
              <a:ext uri="{FF2B5EF4-FFF2-40B4-BE49-F238E27FC236}">
                <a16:creationId xmlns:a16="http://schemas.microsoft.com/office/drawing/2014/main" id="{34B2D509-82E6-8710-C53C-E10AC5EF4EDB}"/>
              </a:ext>
            </a:extLst>
          </p:cNvPr>
          <p:cNvSpPr/>
          <p:nvPr/>
        </p:nvSpPr>
        <p:spPr>
          <a:xfrm>
            <a:off x="6892290" y="970162"/>
            <a:ext cx="1199122" cy="1102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700" b="1" dirty="0">
                <a:solidFill>
                  <a:schemeClr val="bg1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Dec – Jan</a:t>
            </a:r>
            <a:endParaRPr lang="en-US" sz="7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71" name="Shape 59">
            <a:extLst>
              <a:ext uri="{FF2B5EF4-FFF2-40B4-BE49-F238E27FC236}">
                <a16:creationId xmlns:a16="http://schemas.microsoft.com/office/drawing/2014/main" id="{0DA7F5C0-4865-92B2-837C-DE3C5A19BE2D}"/>
              </a:ext>
            </a:extLst>
          </p:cNvPr>
          <p:cNvSpPr/>
          <p:nvPr/>
        </p:nvSpPr>
        <p:spPr>
          <a:xfrm>
            <a:off x="6894501" y="1647398"/>
            <a:ext cx="2022541" cy="457200"/>
          </a:xfrm>
          <a:prstGeom prst="roundRect">
            <a:avLst>
              <a:gd name="adj" fmla="val 0"/>
            </a:avLst>
          </a:prstGeom>
          <a:solidFill>
            <a:srgbClr val="FAFAFA"/>
          </a:solidFill>
          <a:ln w="3175">
            <a:solidFill>
              <a:schemeClr val="bg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72" name="Shape 21">
            <a:extLst>
              <a:ext uri="{FF2B5EF4-FFF2-40B4-BE49-F238E27FC236}">
                <a16:creationId xmlns:a16="http://schemas.microsoft.com/office/drawing/2014/main" id="{653C5AF8-9122-67FB-C5A2-28174C387E44}"/>
              </a:ext>
            </a:extLst>
          </p:cNvPr>
          <p:cNvSpPr/>
          <p:nvPr/>
        </p:nvSpPr>
        <p:spPr>
          <a:xfrm>
            <a:off x="6894884" y="1638213"/>
            <a:ext cx="2020824" cy="27432"/>
          </a:xfrm>
          <a:prstGeom prst="rect">
            <a:avLst/>
          </a:prstGeom>
          <a:solidFill>
            <a:srgbClr val="0277FF"/>
          </a:solidFill>
          <a:ln w="12700">
            <a:noFill/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62363262-4CBF-7585-3D59-43273D280CB1}"/>
              </a:ext>
            </a:extLst>
          </p:cNvPr>
          <p:cNvSpPr txBox="1"/>
          <p:nvPr/>
        </p:nvSpPr>
        <p:spPr>
          <a:xfrm>
            <a:off x="6894501" y="1668249"/>
            <a:ext cx="202254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700" b="1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Legacy External (13) + </a:t>
            </a:r>
            <a:r>
              <a:rPr lang="en-US" sz="700" b="1" err="1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LifeKaPlan</a:t>
            </a:r>
            <a:r>
              <a:rPr lang="en-US" sz="700" b="1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 (6) + Attendance (5) + Finance (3) + PS Alt (2):  </a:t>
            </a:r>
            <a:r>
              <a:rPr 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Structured API feeds replace all remaining Excel​</a:t>
            </a:r>
          </a:p>
        </p:txBody>
      </p:sp>
      <p:sp>
        <p:nvSpPr>
          <p:cNvPr id="174" name="Shape 59">
            <a:extLst>
              <a:ext uri="{FF2B5EF4-FFF2-40B4-BE49-F238E27FC236}">
                <a16:creationId xmlns:a16="http://schemas.microsoft.com/office/drawing/2014/main" id="{AB81DF98-5F0B-86A4-1004-18733DBD3BEA}"/>
              </a:ext>
            </a:extLst>
          </p:cNvPr>
          <p:cNvSpPr/>
          <p:nvPr/>
        </p:nvSpPr>
        <p:spPr>
          <a:xfrm>
            <a:off x="6894501" y="2176410"/>
            <a:ext cx="2022541" cy="457200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A5FF310E-6189-FF47-2F8D-A969FA14E0DD}"/>
              </a:ext>
            </a:extLst>
          </p:cNvPr>
          <p:cNvSpPr txBox="1"/>
          <p:nvPr/>
        </p:nvSpPr>
        <p:spPr>
          <a:xfrm>
            <a:off x="6894501" y="2197261"/>
            <a:ext cx="202254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PS Semi-Auto → Full Auto (11) + Recruitment event-triggered (2) · UAT sign-off · Governance &amp; monitoring rollout​</a:t>
            </a:r>
          </a:p>
        </p:txBody>
      </p:sp>
      <p:sp>
        <p:nvSpPr>
          <p:cNvPr id="178" name="Shape 21">
            <a:extLst>
              <a:ext uri="{FF2B5EF4-FFF2-40B4-BE49-F238E27FC236}">
                <a16:creationId xmlns:a16="http://schemas.microsoft.com/office/drawing/2014/main" id="{073E7FB8-3F5E-EFDA-EF03-8D11D1311FE0}"/>
              </a:ext>
            </a:extLst>
          </p:cNvPr>
          <p:cNvSpPr/>
          <p:nvPr/>
        </p:nvSpPr>
        <p:spPr>
          <a:xfrm>
            <a:off x="6898059" y="2176053"/>
            <a:ext cx="2020824" cy="27432"/>
          </a:xfrm>
          <a:prstGeom prst="rect">
            <a:avLst/>
          </a:prstGeom>
          <a:solidFill>
            <a:srgbClr val="0277FF"/>
          </a:solidFill>
          <a:ln w="12700">
            <a:noFill/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036B44F4-4CAE-ED8F-72C1-043EAB181DE7}"/>
              </a:ext>
            </a:extLst>
          </p:cNvPr>
          <p:cNvSpPr txBox="1"/>
          <p:nvPr/>
        </p:nvSpPr>
        <p:spPr>
          <a:xfrm>
            <a:off x="6808308" y="1331945"/>
            <a:ext cx="202844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 kern="0" spc="1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Inter"/>
              </a:rPr>
              <a:t>Tail Cleanup - </a:t>
            </a:r>
            <a:r>
              <a:rPr lang="en-US" sz="800" kern="0" spc="1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Inter"/>
              </a:rPr>
              <a:t>Semi </a:t>
            </a:r>
            <a:r>
              <a:rPr lang="en-US" sz="800" kern="0" spc="1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Inter"/>
                <a:sym typeface="Wingdings" pitchFamily="2" charset="2"/>
              </a:rPr>
              <a:t></a:t>
            </a:r>
            <a:r>
              <a:rPr lang="en-US" sz="800" kern="0" spc="10">
                <a:solidFill>
                  <a:srgbClr val="0277FF"/>
                </a:solidFill>
                <a:latin typeface="Aptos" panose="020B0004020202020204" pitchFamily="34" charset="0"/>
                <a:ea typeface="Inter"/>
              </a:rPr>
              <a:t> </a:t>
            </a:r>
            <a:r>
              <a:rPr lang="en-US" sz="800" kern="0" spc="1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Inter"/>
              </a:rPr>
              <a:t>Auto + Hardening </a:t>
            </a:r>
          </a:p>
        </p:txBody>
      </p:sp>
      <p:sp>
        <p:nvSpPr>
          <p:cNvPr id="184" name="Text 29">
            <a:extLst>
              <a:ext uri="{FF2B5EF4-FFF2-40B4-BE49-F238E27FC236}">
                <a16:creationId xmlns:a16="http://schemas.microsoft.com/office/drawing/2014/main" id="{DD164A49-36D0-D942-454A-084553B8F51D}"/>
              </a:ext>
            </a:extLst>
          </p:cNvPr>
          <p:cNvSpPr/>
          <p:nvPr/>
        </p:nvSpPr>
        <p:spPr>
          <a:xfrm>
            <a:off x="6899257" y="3221631"/>
            <a:ext cx="440817" cy="24003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00" b="1" dirty="0">
                <a:solidFill>
                  <a:srgbClr val="0277FF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+42</a:t>
            </a:r>
            <a:endParaRPr lang="en-US" sz="900" dirty="0">
              <a:solidFill>
                <a:srgbClr val="0277FF"/>
              </a:solidFill>
              <a:latin typeface="Aptos" panose="020B0004020202020204" pitchFamily="34" charset="0"/>
            </a:endParaRPr>
          </a:p>
        </p:txBody>
      </p:sp>
      <p:sp>
        <p:nvSpPr>
          <p:cNvPr id="185" name="Text 30">
            <a:extLst>
              <a:ext uri="{FF2B5EF4-FFF2-40B4-BE49-F238E27FC236}">
                <a16:creationId xmlns:a16="http://schemas.microsoft.com/office/drawing/2014/main" id="{5E87EDD7-6259-ABA5-6AD6-97A48311F3E6}"/>
              </a:ext>
            </a:extLst>
          </p:cNvPr>
          <p:cNvSpPr/>
          <p:nvPr/>
        </p:nvSpPr>
        <p:spPr>
          <a:xfrm>
            <a:off x="6784881" y="3410226"/>
            <a:ext cx="706970" cy="1028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00" dirty="0">
                <a:solidFill>
                  <a:srgbClr val="333333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Components</a:t>
            </a:r>
            <a:endParaRPr lang="en-US" sz="700" dirty="0">
              <a:latin typeface="Aptos" panose="020B0004020202020204" pitchFamily="34" charset="0"/>
            </a:endParaRPr>
          </a:p>
        </p:txBody>
      </p:sp>
      <p:sp>
        <p:nvSpPr>
          <p:cNvPr id="186" name="Text 31">
            <a:extLst>
              <a:ext uri="{FF2B5EF4-FFF2-40B4-BE49-F238E27FC236}">
                <a16:creationId xmlns:a16="http://schemas.microsoft.com/office/drawing/2014/main" id="{07798837-7D81-9ABD-302C-F91565E9210F}"/>
              </a:ext>
            </a:extLst>
          </p:cNvPr>
          <p:cNvSpPr/>
          <p:nvPr/>
        </p:nvSpPr>
        <p:spPr>
          <a:xfrm>
            <a:off x="7340074" y="3321649"/>
            <a:ext cx="870210" cy="1028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00" dirty="0">
                <a:solidFill>
                  <a:srgbClr val="777777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100% Auto</a:t>
            </a:r>
            <a:endParaRPr lang="en-US" sz="700" dirty="0">
              <a:latin typeface="Aptos" panose="020B0004020202020204" pitchFamily="34" charset="0"/>
            </a:endParaRPr>
          </a:p>
        </p:txBody>
      </p:sp>
      <p:sp>
        <p:nvSpPr>
          <p:cNvPr id="2" name="Shape 59">
            <a:extLst>
              <a:ext uri="{FF2B5EF4-FFF2-40B4-BE49-F238E27FC236}">
                <a16:creationId xmlns:a16="http://schemas.microsoft.com/office/drawing/2014/main" id="{57CA7823-BF8A-FEE0-6689-61431108C708}"/>
              </a:ext>
            </a:extLst>
          </p:cNvPr>
          <p:cNvSpPr/>
          <p:nvPr/>
        </p:nvSpPr>
        <p:spPr>
          <a:xfrm>
            <a:off x="6902383" y="2692881"/>
            <a:ext cx="2022541" cy="457200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AA6AF0-5559-DCAB-ED64-4C85CC3E75B8}"/>
              </a:ext>
            </a:extLst>
          </p:cNvPr>
          <p:cNvSpPr txBox="1"/>
          <p:nvPr/>
        </p:nvSpPr>
        <p:spPr>
          <a:xfrm>
            <a:off x="6908839" y="2713732"/>
            <a:ext cx="202254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Jan ’27 – Hypercare support</a:t>
            </a:r>
          </a:p>
        </p:txBody>
      </p:sp>
      <p:sp>
        <p:nvSpPr>
          <p:cNvPr id="4" name="Shape 21">
            <a:extLst>
              <a:ext uri="{FF2B5EF4-FFF2-40B4-BE49-F238E27FC236}">
                <a16:creationId xmlns:a16="http://schemas.microsoft.com/office/drawing/2014/main" id="{2DAA7B9E-0DDB-4317-6E80-C64080436229}"/>
              </a:ext>
            </a:extLst>
          </p:cNvPr>
          <p:cNvSpPr/>
          <p:nvPr/>
        </p:nvSpPr>
        <p:spPr>
          <a:xfrm>
            <a:off x="6899268" y="2692619"/>
            <a:ext cx="2020824" cy="27432"/>
          </a:xfrm>
          <a:prstGeom prst="rect">
            <a:avLst/>
          </a:prstGeom>
          <a:solidFill>
            <a:srgbClr val="0277FF"/>
          </a:solidFill>
          <a:ln w="12700">
            <a:noFill/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5" name="Shape 24">
            <a:extLst>
              <a:ext uri="{FF2B5EF4-FFF2-40B4-BE49-F238E27FC236}">
                <a16:creationId xmlns:a16="http://schemas.microsoft.com/office/drawing/2014/main" id="{E17BF31F-EFEF-4789-71FA-1EB7F69FAE62}"/>
              </a:ext>
            </a:extLst>
          </p:cNvPr>
          <p:cNvSpPr>
            <a:spLocks/>
          </p:cNvSpPr>
          <p:nvPr/>
        </p:nvSpPr>
        <p:spPr>
          <a:xfrm>
            <a:off x="261987" y="4171815"/>
            <a:ext cx="8711186" cy="483699"/>
          </a:xfrm>
          <a:prstGeom prst="rect">
            <a:avLst/>
          </a:prstGeom>
          <a:solidFill>
            <a:srgbClr val="FAFAFA"/>
          </a:solidFill>
          <a:ln w="3175">
            <a:solidFill>
              <a:schemeClr val="bg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6" name="Shape 25">
            <a:extLst>
              <a:ext uri="{FF2B5EF4-FFF2-40B4-BE49-F238E27FC236}">
                <a16:creationId xmlns:a16="http://schemas.microsoft.com/office/drawing/2014/main" id="{205C7A99-A193-03F5-0063-57426F9BDAFE}"/>
              </a:ext>
            </a:extLst>
          </p:cNvPr>
          <p:cNvSpPr/>
          <p:nvPr/>
        </p:nvSpPr>
        <p:spPr>
          <a:xfrm>
            <a:off x="261434" y="4131656"/>
            <a:ext cx="8711186" cy="45719"/>
          </a:xfrm>
          <a:prstGeom prst="rect">
            <a:avLst/>
          </a:prstGeom>
          <a:solidFill>
            <a:srgbClr val="FF0000"/>
          </a:solidFill>
          <a:ln w="1270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6E3FB7-C4DD-7341-F4D7-9774C10A5EFC}"/>
              </a:ext>
            </a:extLst>
          </p:cNvPr>
          <p:cNvSpPr txBox="1"/>
          <p:nvPr/>
        </p:nvSpPr>
        <p:spPr>
          <a:xfrm>
            <a:off x="330360" y="4166950"/>
            <a:ext cx="858611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Key Dependencies:</a:t>
            </a:r>
          </a:p>
          <a:p>
            <a:pPr marL="58738" indent="-58738"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Availability of HR stakeholders</a:t>
            </a:r>
          </a:p>
          <a:p>
            <a:pPr marL="58738" indent="-58738"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CAE, AMOS, Advantage Club, Life Ka Plan APIs availability in time</a:t>
            </a:r>
          </a:p>
        </p:txBody>
      </p:sp>
    </p:spTree>
    <p:extLst>
      <p:ext uri="{BB962C8B-B14F-4D97-AF65-F5344CB8AC3E}">
        <p14:creationId xmlns:p14="http://schemas.microsoft.com/office/powerpoint/2010/main" val="31695139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76011-78D7-C419-5011-AC71CF0E3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ED45020-D955-4FF0-D6E7-C344E55759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76864" y="1033044"/>
            <a:ext cx="5183762" cy="2193333"/>
          </a:xfrm>
        </p:spPr>
        <p:txBody>
          <a:bodyPr>
            <a:normAutofit/>
          </a:bodyPr>
          <a:lstStyle/>
          <a:p>
            <a:r>
              <a:rPr lang="en-IN" sz="4200" dirty="0"/>
              <a:t>International Payroll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20313400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38">
            <a:extLst>
              <a:ext uri="{FF2B5EF4-FFF2-40B4-BE49-F238E27FC236}">
                <a16:creationId xmlns:a16="http://schemas.microsoft.com/office/drawing/2014/main" id="{7E858A36-4575-6907-FF40-1A98EE5D8E0F}"/>
              </a:ext>
            </a:extLst>
          </p:cNvPr>
          <p:cNvSpPr/>
          <p:nvPr/>
        </p:nvSpPr>
        <p:spPr>
          <a:xfrm>
            <a:off x="22625" y="4484255"/>
            <a:ext cx="9090113" cy="575148"/>
          </a:xfrm>
          <a:prstGeom prst="roundRect">
            <a:avLst>
              <a:gd name="adj" fmla="val 6030"/>
            </a:avLst>
          </a:prstGeom>
          <a:solidFill>
            <a:srgbClr val="FFF2F2"/>
          </a:solidFill>
          <a:ln w="6902">
            <a:noFill/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DC3AE8-3BDD-B6A6-23F5-D9EDA464097E}"/>
              </a:ext>
            </a:extLst>
          </p:cNvPr>
          <p:cNvSpPr txBox="1"/>
          <p:nvPr/>
        </p:nvSpPr>
        <p:spPr>
          <a:xfrm>
            <a:off x="250803" y="553032"/>
            <a:ext cx="8798929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900" dirty="0">
                <a:solidFill>
                  <a:srgbClr val="4B556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35 countries · </a:t>
            </a:r>
            <a:r>
              <a:rPr lang="en-US" sz="900" b="1" dirty="0">
                <a:solidFill>
                  <a:srgbClr val="1F293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323 employees</a:t>
            </a:r>
            <a:r>
              <a:rPr lang="en-US" sz="900" dirty="0">
                <a:solidFill>
                  <a:srgbClr val="4B556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 (83 IBOs · 234 LBOs · 6 LBO-GSA) · </a:t>
            </a:r>
            <a:r>
              <a:rPr lang="en-US" sz="900" b="1" dirty="0">
                <a:solidFill>
                  <a:srgbClr val="C00000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611 pay component instances across 35 countries · 302 unique components ·No single system of record</a:t>
            </a:r>
            <a:endParaRPr lang="en-US" sz="900" dirty="0">
              <a:latin typeface="Aptos" panose="020B0004020202020204" pitchFamily="34" charset="0"/>
            </a:endParaRPr>
          </a:p>
        </p:txBody>
      </p:sp>
      <p:sp>
        <p:nvSpPr>
          <p:cNvPr id="4" name="Shape 61">
            <a:extLst>
              <a:ext uri="{FF2B5EF4-FFF2-40B4-BE49-F238E27FC236}">
                <a16:creationId xmlns:a16="http://schemas.microsoft.com/office/drawing/2014/main" id="{94DEAD3C-26F0-7649-5DD6-B52ACF2DC93A}"/>
              </a:ext>
            </a:extLst>
          </p:cNvPr>
          <p:cNvSpPr/>
          <p:nvPr/>
        </p:nvSpPr>
        <p:spPr>
          <a:xfrm>
            <a:off x="238125" y="539687"/>
            <a:ext cx="8729663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5" name="Shape 9">
            <a:extLst>
              <a:ext uri="{FF2B5EF4-FFF2-40B4-BE49-F238E27FC236}">
                <a16:creationId xmlns:a16="http://schemas.microsoft.com/office/drawing/2014/main" id="{FE4AB942-5E3B-2103-C186-1FBCAF7ABE20}"/>
              </a:ext>
            </a:extLst>
          </p:cNvPr>
          <p:cNvSpPr/>
          <p:nvPr/>
        </p:nvSpPr>
        <p:spPr>
          <a:xfrm>
            <a:off x="17795" y="873251"/>
            <a:ext cx="1645920" cy="3568569"/>
          </a:xfrm>
          <a:prstGeom prst="roundRect">
            <a:avLst>
              <a:gd name="adj" fmla="val 3490"/>
            </a:avLst>
          </a:prstGeom>
          <a:solidFill>
            <a:srgbClr val="FE7B8A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10">
            <a:extLst>
              <a:ext uri="{FF2B5EF4-FFF2-40B4-BE49-F238E27FC236}">
                <a16:creationId xmlns:a16="http://schemas.microsoft.com/office/drawing/2014/main" id="{831FEE59-EA90-EEB4-FEB2-4BE0E86A9C79}"/>
              </a:ext>
            </a:extLst>
          </p:cNvPr>
          <p:cNvSpPr/>
          <p:nvPr/>
        </p:nvSpPr>
        <p:spPr>
          <a:xfrm>
            <a:off x="53357" y="87325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INPUT LAYER</a:t>
            </a:r>
            <a:r>
              <a:rPr 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 All manual · email/Excel</a:t>
            </a:r>
            <a:endParaRPr lang="en-US" sz="75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3" name="Shape 17">
            <a:extLst>
              <a:ext uri="{FF2B5EF4-FFF2-40B4-BE49-F238E27FC236}">
                <a16:creationId xmlns:a16="http://schemas.microsoft.com/office/drawing/2014/main" id="{DC66E4EE-C1FF-4A4F-5E7B-4BF4BEAFDA7C}"/>
              </a:ext>
            </a:extLst>
          </p:cNvPr>
          <p:cNvSpPr/>
          <p:nvPr/>
        </p:nvSpPr>
        <p:spPr>
          <a:xfrm>
            <a:off x="58943" y="1147572"/>
            <a:ext cx="1554480" cy="548640"/>
          </a:xfrm>
          <a:prstGeom prst="rect">
            <a:avLst/>
          </a:prstGeom>
          <a:solidFill>
            <a:srgbClr val="FFF5F5"/>
          </a:solidFill>
          <a:ln w="6350">
            <a:solidFill>
              <a:srgbClr val="FE7B8A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5" name="Text 19">
            <a:extLst>
              <a:ext uri="{FF2B5EF4-FFF2-40B4-BE49-F238E27FC236}">
                <a16:creationId xmlns:a16="http://schemas.microsoft.com/office/drawing/2014/main" id="{EF719A90-0FB8-92F9-31F6-3193EB51C445}"/>
              </a:ext>
            </a:extLst>
          </p:cNvPr>
          <p:cNvSpPr/>
          <p:nvPr/>
        </p:nvSpPr>
        <p:spPr>
          <a:xfrm>
            <a:off x="124121" y="1181100"/>
            <a:ext cx="607907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Base Pay</a:t>
            </a:r>
            <a:endParaRPr lang="en-US" sz="80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6" name="Text 20">
            <a:extLst>
              <a:ext uri="{FF2B5EF4-FFF2-40B4-BE49-F238E27FC236}">
                <a16:creationId xmlns:a16="http://schemas.microsoft.com/office/drawing/2014/main" id="{129FE8FA-A418-2DCA-A5DF-0C7BAC688E9B}"/>
              </a:ext>
            </a:extLst>
          </p:cNvPr>
          <p:cNvSpPr/>
          <p:nvPr/>
        </p:nvSpPr>
        <p:spPr>
          <a:xfrm>
            <a:off x="124121" y="1315216"/>
            <a:ext cx="143719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Basic Salary · Fixed Pay</a:t>
            </a:r>
            <a:endParaRPr lang="en-US" sz="70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30 countries</a:t>
            </a:r>
            <a:endParaRPr lang="en-US" sz="70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7" name="Shape 21">
            <a:extLst>
              <a:ext uri="{FF2B5EF4-FFF2-40B4-BE49-F238E27FC236}">
                <a16:creationId xmlns:a16="http://schemas.microsoft.com/office/drawing/2014/main" id="{EC5A2F28-865F-1B8E-9BA9-6C43A9010494}"/>
              </a:ext>
            </a:extLst>
          </p:cNvPr>
          <p:cNvSpPr/>
          <p:nvPr/>
        </p:nvSpPr>
        <p:spPr>
          <a:xfrm>
            <a:off x="58943" y="1682496"/>
            <a:ext cx="1554480" cy="548640"/>
          </a:xfrm>
          <a:prstGeom prst="rect">
            <a:avLst/>
          </a:prstGeom>
          <a:solidFill>
            <a:srgbClr val="FFF5F5"/>
          </a:solidFill>
          <a:ln w="6350">
            <a:solidFill>
              <a:srgbClr val="FE7B8A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" name="Text 23">
            <a:extLst>
              <a:ext uri="{FF2B5EF4-FFF2-40B4-BE49-F238E27FC236}">
                <a16:creationId xmlns:a16="http://schemas.microsoft.com/office/drawing/2014/main" id="{C67414EA-6613-6CE4-7CD6-8A6069FD9924}"/>
              </a:ext>
            </a:extLst>
          </p:cNvPr>
          <p:cNvSpPr/>
          <p:nvPr/>
        </p:nvSpPr>
        <p:spPr>
          <a:xfrm>
            <a:off x="124121" y="1728216"/>
            <a:ext cx="68113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Allowances</a:t>
            </a:r>
            <a:endParaRPr lang="en-US" sz="80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20" name="Text 24">
            <a:extLst>
              <a:ext uri="{FF2B5EF4-FFF2-40B4-BE49-F238E27FC236}">
                <a16:creationId xmlns:a16="http://schemas.microsoft.com/office/drawing/2014/main" id="{8F348D39-E62B-8BC5-BA23-FD08EE3545FE}"/>
              </a:ext>
            </a:extLst>
          </p:cNvPr>
          <p:cNvSpPr/>
          <p:nvPr/>
        </p:nvSpPr>
        <p:spPr>
          <a:xfrm>
            <a:off x="124121" y="185166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Transport · Laundry · Mobile · Housing · Meal</a:t>
            </a:r>
            <a:endParaRPr lang="en-US" sz="70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26 countries</a:t>
            </a:r>
            <a:endParaRPr lang="en-US" sz="70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21" name="Shape 25">
            <a:extLst>
              <a:ext uri="{FF2B5EF4-FFF2-40B4-BE49-F238E27FC236}">
                <a16:creationId xmlns:a16="http://schemas.microsoft.com/office/drawing/2014/main" id="{B832751F-95A8-FFE2-6FBE-877AB4407003}"/>
              </a:ext>
            </a:extLst>
          </p:cNvPr>
          <p:cNvSpPr/>
          <p:nvPr/>
        </p:nvSpPr>
        <p:spPr>
          <a:xfrm>
            <a:off x="58943" y="2217420"/>
            <a:ext cx="1554480" cy="548640"/>
          </a:xfrm>
          <a:prstGeom prst="rect">
            <a:avLst/>
          </a:prstGeom>
          <a:solidFill>
            <a:srgbClr val="FFF5F5"/>
          </a:solidFill>
          <a:ln w="6350">
            <a:solidFill>
              <a:srgbClr val="FE7B8A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" name="Text 27">
            <a:extLst>
              <a:ext uri="{FF2B5EF4-FFF2-40B4-BE49-F238E27FC236}">
                <a16:creationId xmlns:a16="http://schemas.microsoft.com/office/drawing/2014/main" id="{DA3D0308-AB32-E23A-1862-F3A556883E5A}"/>
              </a:ext>
            </a:extLst>
          </p:cNvPr>
          <p:cNvSpPr/>
          <p:nvPr/>
        </p:nvSpPr>
        <p:spPr>
          <a:xfrm>
            <a:off x="124121" y="2250190"/>
            <a:ext cx="865293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Bonus &amp; Variable</a:t>
            </a:r>
            <a:endParaRPr lang="en-US" sz="80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24" name="Text 28">
            <a:extLst>
              <a:ext uri="{FF2B5EF4-FFF2-40B4-BE49-F238E27FC236}">
                <a16:creationId xmlns:a16="http://schemas.microsoft.com/office/drawing/2014/main" id="{81609859-8368-3443-EF6B-01EA7A0AE3EC}"/>
              </a:ext>
            </a:extLst>
          </p:cNvPr>
          <p:cNvSpPr/>
          <p:nvPr/>
        </p:nvSpPr>
        <p:spPr>
          <a:xfrm>
            <a:off x="124122" y="2386584"/>
            <a:ext cx="14371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Annual / Performance Bonus · 13th / 14th Month</a:t>
            </a:r>
            <a:endParaRPr lang="en-US" sz="70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30 countries</a:t>
            </a:r>
            <a:endParaRPr lang="en-US" sz="70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25" name="Shape 29">
            <a:extLst>
              <a:ext uri="{FF2B5EF4-FFF2-40B4-BE49-F238E27FC236}">
                <a16:creationId xmlns:a16="http://schemas.microsoft.com/office/drawing/2014/main" id="{20F3B8EA-D05A-55CB-B291-8B71CE0E3781}"/>
              </a:ext>
            </a:extLst>
          </p:cNvPr>
          <p:cNvSpPr/>
          <p:nvPr/>
        </p:nvSpPr>
        <p:spPr>
          <a:xfrm>
            <a:off x="58943" y="2752344"/>
            <a:ext cx="1554480" cy="548640"/>
          </a:xfrm>
          <a:prstGeom prst="rect">
            <a:avLst/>
          </a:prstGeom>
          <a:solidFill>
            <a:srgbClr val="FFF5F5"/>
          </a:solidFill>
          <a:ln w="6350">
            <a:solidFill>
              <a:srgbClr val="FE7B8A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7" name="Text 31">
            <a:extLst>
              <a:ext uri="{FF2B5EF4-FFF2-40B4-BE49-F238E27FC236}">
                <a16:creationId xmlns:a16="http://schemas.microsoft.com/office/drawing/2014/main" id="{62570518-4955-FBDB-2C4E-B97BD30207FD}"/>
              </a:ext>
            </a:extLst>
          </p:cNvPr>
          <p:cNvSpPr/>
          <p:nvPr/>
        </p:nvSpPr>
        <p:spPr>
          <a:xfrm>
            <a:off x="124121" y="2786634"/>
            <a:ext cx="752045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IBO Deductions</a:t>
            </a:r>
            <a:endParaRPr lang="en-US" sz="80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28" name="Text 32">
            <a:extLst>
              <a:ext uri="{FF2B5EF4-FFF2-40B4-BE49-F238E27FC236}">
                <a16:creationId xmlns:a16="http://schemas.microsoft.com/office/drawing/2014/main" id="{B3E85EB3-B54F-DE8A-9137-D0284881B522}"/>
              </a:ext>
            </a:extLst>
          </p:cNvPr>
          <p:cNvSpPr/>
          <p:nvPr/>
        </p:nvSpPr>
        <p:spPr>
          <a:xfrm>
            <a:off x="124121" y="2921508"/>
            <a:ext cx="143719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PF · VPF · Pension · Medical Insurance</a:t>
            </a:r>
            <a:endParaRPr lang="en-US" sz="70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23 countries</a:t>
            </a:r>
            <a:endParaRPr lang="en-US" sz="70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29" name="Shape 33">
            <a:extLst>
              <a:ext uri="{FF2B5EF4-FFF2-40B4-BE49-F238E27FC236}">
                <a16:creationId xmlns:a16="http://schemas.microsoft.com/office/drawing/2014/main" id="{209D718C-E2E5-3090-6DEC-CD618A18BF96}"/>
              </a:ext>
            </a:extLst>
          </p:cNvPr>
          <p:cNvSpPr/>
          <p:nvPr/>
        </p:nvSpPr>
        <p:spPr>
          <a:xfrm>
            <a:off x="58943" y="3287268"/>
            <a:ext cx="1554480" cy="548640"/>
          </a:xfrm>
          <a:prstGeom prst="rect">
            <a:avLst/>
          </a:prstGeom>
          <a:solidFill>
            <a:srgbClr val="FFF5F5"/>
          </a:solidFill>
          <a:ln w="6350">
            <a:solidFill>
              <a:srgbClr val="FE7B8A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1" name="Text 35">
            <a:extLst>
              <a:ext uri="{FF2B5EF4-FFF2-40B4-BE49-F238E27FC236}">
                <a16:creationId xmlns:a16="http://schemas.microsoft.com/office/drawing/2014/main" id="{A4EEA323-FB24-DE42-B344-30D5943875B5}"/>
              </a:ext>
            </a:extLst>
          </p:cNvPr>
          <p:cNvSpPr/>
          <p:nvPr/>
        </p:nvSpPr>
        <p:spPr>
          <a:xfrm>
            <a:off x="124121" y="3332988"/>
            <a:ext cx="8229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Statutory (EE/ER)</a:t>
            </a:r>
            <a:endParaRPr lang="en-US" sz="80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32" name="Text 36">
            <a:extLst>
              <a:ext uri="{FF2B5EF4-FFF2-40B4-BE49-F238E27FC236}">
                <a16:creationId xmlns:a16="http://schemas.microsoft.com/office/drawing/2014/main" id="{478E69EB-534B-4DFD-5A9D-B022ECD2DBEA}"/>
              </a:ext>
            </a:extLst>
          </p:cNvPr>
          <p:cNvSpPr/>
          <p:nvPr/>
        </p:nvSpPr>
        <p:spPr>
          <a:xfrm>
            <a:off x="124121" y="3456432"/>
            <a:ext cx="143719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Income Tax · Social Security · Pension</a:t>
            </a:r>
            <a:endParaRPr lang="en-US" sz="70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Country-specific</a:t>
            </a:r>
            <a:endParaRPr lang="en-US" sz="70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33" name="Shape 37">
            <a:extLst>
              <a:ext uri="{FF2B5EF4-FFF2-40B4-BE49-F238E27FC236}">
                <a16:creationId xmlns:a16="http://schemas.microsoft.com/office/drawing/2014/main" id="{7F6A086E-F89A-641C-96A5-DAC8293CEB87}"/>
              </a:ext>
            </a:extLst>
          </p:cNvPr>
          <p:cNvSpPr/>
          <p:nvPr/>
        </p:nvSpPr>
        <p:spPr>
          <a:xfrm>
            <a:off x="58943" y="3822192"/>
            <a:ext cx="1554480" cy="548640"/>
          </a:xfrm>
          <a:prstGeom prst="rect">
            <a:avLst/>
          </a:prstGeom>
          <a:solidFill>
            <a:srgbClr val="FFF5F5"/>
          </a:solidFill>
          <a:ln w="6350">
            <a:solidFill>
              <a:srgbClr val="FE7B8A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5" name="Text 39">
            <a:extLst>
              <a:ext uri="{FF2B5EF4-FFF2-40B4-BE49-F238E27FC236}">
                <a16:creationId xmlns:a16="http://schemas.microsoft.com/office/drawing/2014/main" id="{CF8514E7-1ACE-973E-249F-729E44F0F6FD}"/>
              </a:ext>
            </a:extLst>
          </p:cNvPr>
          <p:cNvSpPr/>
          <p:nvPr/>
        </p:nvSpPr>
        <p:spPr>
          <a:xfrm>
            <a:off x="124121" y="3867363"/>
            <a:ext cx="81381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Other / Overtime</a:t>
            </a:r>
            <a:endParaRPr lang="en-US" sz="80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36" name="Text 40">
            <a:extLst>
              <a:ext uri="{FF2B5EF4-FFF2-40B4-BE49-F238E27FC236}">
                <a16:creationId xmlns:a16="http://schemas.microsoft.com/office/drawing/2014/main" id="{38069080-9489-DAF3-A730-F084B27ABE52}"/>
              </a:ext>
            </a:extLst>
          </p:cNvPr>
          <p:cNvSpPr/>
          <p:nvPr/>
        </p:nvSpPr>
        <p:spPr>
          <a:xfrm>
            <a:off x="124121" y="399135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Overtime · Shift · Leave · Local specific</a:t>
            </a:r>
            <a:endParaRPr lang="en-US" sz="70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Varies by country</a:t>
            </a:r>
            <a:endParaRPr lang="en-US" sz="70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9" name="Shape 13">
            <a:extLst>
              <a:ext uri="{FF2B5EF4-FFF2-40B4-BE49-F238E27FC236}">
                <a16:creationId xmlns:a16="http://schemas.microsoft.com/office/drawing/2014/main" id="{C86DF7C0-83B7-5666-C7F4-392CA05222D3}"/>
              </a:ext>
            </a:extLst>
          </p:cNvPr>
          <p:cNvSpPr/>
          <p:nvPr/>
        </p:nvSpPr>
        <p:spPr>
          <a:xfrm>
            <a:off x="5119041" y="873251"/>
            <a:ext cx="2449574" cy="3568568"/>
          </a:xfrm>
          <a:prstGeom prst="roundRect">
            <a:avLst>
              <a:gd name="adj" fmla="val 2323"/>
            </a:avLst>
          </a:prstGeom>
          <a:solidFill>
            <a:srgbClr val="7AAFDB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14">
            <a:extLst>
              <a:ext uri="{FF2B5EF4-FFF2-40B4-BE49-F238E27FC236}">
                <a16:creationId xmlns:a16="http://schemas.microsoft.com/office/drawing/2014/main" id="{8E84CB7C-72BA-0CE1-EBFD-ED0B77E97BA5}"/>
              </a:ext>
            </a:extLst>
          </p:cNvPr>
          <p:cNvSpPr/>
          <p:nvPr/>
        </p:nvSpPr>
        <p:spPr>
          <a:xfrm>
            <a:off x="5177968" y="87325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PAYMENT DISBURSEMENT</a:t>
            </a:r>
            <a:r>
              <a:rPr 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 How money moves</a:t>
            </a:r>
            <a:endParaRPr lang="en-US" sz="75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63" name="Shape 67">
            <a:extLst>
              <a:ext uri="{FF2B5EF4-FFF2-40B4-BE49-F238E27FC236}">
                <a16:creationId xmlns:a16="http://schemas.microsoft.com/office/drawing/2014/main" id="{78606257-FBF2-6055-BD6B-550FF4F8D5E9}"/>
              </a:ext>
            </a:extLst>
          </p:cNvPr>
          <p:cNvSpPr/>
          <p:nvPr/>
        </p:nvSpPr>
        <p:spPr>
          <a:xfrm>
            <a:off x="5177968" y="1147572"/>
            <a:ext cx="2331720" cy="548640"/>
          </a:xfrm>
          <a:prstGeom prst="rect">
            <a:avLst/>
          </a:prstGeom>
          <a:solidFill>
            <a:srgbClr val="F0FBF4"/>
          </a:solidFill>
          <a:ln w="6350">
            <a:solidFill>
              <a:srgbClr val="7AAFDB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5" name="Text 69">
            <a:extLst>
              <a:ext uri="{FF2B5EF4-FFF2-40B4-BE49-F238E27FC236}">
                <a16:creationId xmlns:a16="http://schemas.microsoft.com/office/drawing/2014/main" id="{DBB0872F-1112-806A-9A98-16F334647F05}"/>
              </a:ext>
            </a:extLst>
          </p:cNvPr>
          <p:cNvSpPr/>
          <p:nvPr/>
        </p:nvSpPr>
        <p:spPr>
          <a:xfrm>
            <a:off x="5236895" y="1147572"/>
            <a:ext cx="23317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ADP MMS  ·  Canada &amp; USA </a:t>
            </a:r>
            <a:r>
              <a: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· 56 emp</a:t>
            </a:r>
            <a:endParaRPr lang="en-US" sz="65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66" name="Text 70">
            <a:extLst>
              <a:ext uri="{FF2B5EF4-FFF2-40B4-BE49-F238E27FC236}">
                <a16:creationId xmlns:a16="http://schemas.microsoft.com/office/drawing/2014/main" id="{9F3FF998-BD96-1B17-D0C4-01CC3101E706}"/>
              </a:ext>
            </a:extLst>
          </p:cNvPr>
          <p:cNvSpPr/>
          <p:nvPr/>
        </p:nvSpPr>
        <p:spPr>
          <a:xfrm>
            <a:off x="5241976" y="1330452"/>
            <a:ext cx="2203704" cy="327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ADP </a:t>
            </a:r>
            <a:r>
              <a:rPr lang="en-US" sz="6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auto-debits</a:t>
            </a:r>
            <a:r>
              <a:rPr lang="en-US" sz="65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AI bank account → disburses salaries + statutory payments (tax, social security) directly
</a:t>
            </a:r>
            <a:r>
              <a:rPr lang="en-US" sz="6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✓ Fully automated disbursement  </a:t>
            </a:r>
            <a:r>
              <a:rPr lang="en-US" sz="65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Register inputs manual</a:t>
            </a:r>
            <a:endParaRPr lang="en-US" sz="65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67" name="Shape 71">
            <a:extLst>
              <a:ext uri="{FF2B5EF4-FFF2-40B4-BE49-F238E27FC236}">
                <a16:creationId xmlns:a16="http://schemas.microsoft.com/office/drawing/2014/main" id="{612563D8-D8D3-8FF0-81C2-026C14182EFC}"/>
              </a:ext>
            </a:extLst>
          </p:cNvPr>
          <p:cNvSpPr/>
          <p:nvPr/>
        </p:nvSpPr>
        <p:spPr>
          <a:xfrm>
            <a:off x="5177968" y="1696669"/>
            <a:ext cx="2331720" cy="931774"/>
          </a:xfrm>
          <a:prstGeom prst="rect">
            <a:avLst/>
          </a:prstGeom>
          <a:solidFill>
            <a:srgbClr val="FFFBEB"/>
          </a:solidFill>
          <a:ln w="6350">
            <a:solidFill>
              <a:srgbClr val="7AAFDB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9" name="Text 73">
            <a:extLst>
              <a:ext uri="{FF2B5EF4-FFF2-40B4-BE49-F238E27FC236}">
                <a16:creationId xmlns:a16="http://schemas.microsoft.com/office/drawing/2014/main" id="{3DBA0BF8-5405-3388-F7EF-320050D11C6D}"/>
              </a:ext>
            </a:extLst>
          </p:cNvPr>
          <p:cNvSpPr/>
          <p:nvPr/>
        </p:nvSpPr>
        <p:spPr>
          <a:xfrm>
            <a:off x="5236895" y="1740336"/>
            <a:ext cx="206318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FINANCE H2H  </a:t>
            </a:r>
            <a:r>
              <a: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·  17 countries · 156 emp(incl. UAE partial)</a:t>
            </a:r>
            <a:endParaRPr lang="en-US" sz="65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70" name="Text 74">
            <a:extLst>
              <a:ext uri="{FF2B5EF4-FFF2-40B4-BE49-F238E27FC236}">
                <a16:creationId xmlns:a16="http://schemas.microsoft.com/office/drawing/2014/main" id="{E352F61B-2B78-0547-7DD3-32960BA27BB2}"/>
              </a:ext>
            </a:extLst>
          </p:cNvPr>
          <p:cNvSpPr/>
          <p:nvPr/>
        </p:nvSpPr>
        <p:spPr>
          <a:xfrm>
            <a:off x="5241976" y="1980733"/>
            <a:ext cx="2203704" cy="608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SG AU HK MV KR LK CN PH  ·  UK FR DE NL CH IT AT DK  ·  UAE (partial)
</a:t>
            </a:r>
            <a:r>
              <a:rPr lang="en-US" sz="65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HR → Finance invoice → </a:t>
            </a:r>
            <a:r>
              <a:rPr lang="en-US" sz="6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auto</a:t>
            </a:r>
            <a:r>
              <a:rPr lang="en-US" sz="65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picks docs → maker-checker → </a:t>
            </a:r>
            <a:r>
              <a:rPr lang="en-US" sz="6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auto</a:t>
            </a:r>
            <a:r>
              <a:rPr lang="en-US" sz="65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H2H XML to HSBC/Citi → manual bank approval → disburse + statutory payments
</a:t>
            </a:r>
            <a:r>
              <a:rPr lang="en-US" sz="6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✓ Mid-steps automated  </a:t>
            </a:r>
            <a:r>
              <a:rPr lang="en-US" sz="65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Manual at both ends</a:t>
            </a:r>
            <a:endParaRPr lang="en-US" sz="65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71" name="Shape 75">
            <a:extLst>
              <a:ext uri="{FF2B5EF4-FFF2-40B4-BE49-F238E27FC236}">
                <a16:creationId xmlns:a16="http://schemas.microsoft.com/office/drawing/2014/main" id="{CD041E11-7E3F-34CE-08C5-26E48365D626}"/>
              </a:ext>
            </a:extLst>
          </p:cNvPr>
          <p:cNvSpPr/>
          <p:nvPr/>
        </p:nvSpPr>
        <p:spPr>
          <a:xfrm>
            <a:off x="5177968" y="2628444"/>
            <a:ext cx="2331720" cy="532726"/>
          </a:xfrm>
          <a:prstGeom prst="rect">
            <a:avLst/>
          </a:prstGeom>
          <a:solidFill>
            <a:srgbClr val="FFF5F5"/>
          </a:solidFill>
          <a:ln w="6350">
            <a:solidFill>
              <a:srgbClr val="7AAFDB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" name="Text 77">
            <a:extLst>
              <a:ext uri="{FF2B5EF4-FFF2-40B4-BE49-F238E27FC236}">
                <a16:creationId xmlns:a16="http://schemas.microsoft.com/office/drawing/2014/main" id="{257DA5E8-F0E4-BFF8-1E9F-C3B8903C237C}"/>
              </a:ext>
            </a:extLst>
          </p:cNvPr>
          <p:cNvSpPr/>
          <p:nvPr/>
        </p:nvSpPr>
        <p:spPr>
          <a:xfrm>
            <a:off x="5236895" y="2628443"/>
            <a:ext cx="23317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AI LOCAL PAYMENT  </a:t>
            </a:r>
            <a:r>
              <a: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·  Japan, Thailand, Nepal · 72 emp</a:t>
            </a:r>
            <a:endParaRPr lang="en-US" sz="65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74" name="Text 78">
            <a:extLst>
              <a:ext uri="{FF2B5EF4-FFF2-40B4-BE49-F238E27FC236}">
                <a16:creationId xmlns:a16="http://schemas.microsoft.com/office/drawing/2014/main" id="{0447EE52-4AD6-A4EF-88C2-1DFB7EF5008E}"/>
              </a:ext>
            </a:extLst>
          </p:cNvPr>
          <p:cNvSpPr/>
          <p:nvPr/>
        </p:nvSpPr>
        <p:spPr>
          <a:xfrm>
            <a:off x="5241976" y="2811324"/>
            <a:ext cx="2203704" cy="32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Local Finance/Payroll SPOC manually initiates salary + statutory payments via in-country bank
Person-dependent — no central visibility or HQ reconciliation</a:t>
            </a:r>
            <a:endParaRPr lang="en-US" sz="65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75" name="Shape 79">
            <a:extLst>
              <a:ext uri="{FF2B5EF4-FFF2-40B4-BE49-F238E27FC236}">
                <a16:creationId xmlns:a16="http://schemas.microsoft.com/office/drawing/2014/main" id="{B9A2F0FF-1A68-BBB5-1494-C10EADDC7BE2}"/>
              </a:ext>
            </a:extLst>
          </p:cNvPr>
          <p:cNvSpPr/>
          <p:nvPr/>
        </p:nvSpPr>
        <p:spPr>
          <a:xfrm>
            <a:off x="5177968" y="3161920"/>
            <a:ext cx="2331720" cy="562972"/>
          </a:xfrm>
          <a:prstGeom prst="rect">
            <a:avLst/>
          </a:prstGeom>
          <a:solidFill>
            <a:srgbClr val="FFF2F2"/>
          </a:solidFill>
          <a:ln w="6350">
            <a:solidFill>
              <a:srgbClr val="7AAFDB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7" name="Text 81">
            <a:extLst>
              <a:ext uri="{FF2B5EF4-FFF2-40B4-BE49-F238E27FC236}">
                <a16:creationId xmlns:a16="http://schemas.microsoft.com/office/drawing/2014/main" id="{2F46720C-E3D2-54B8-C165-043F5C7FB172}"/>
              </a:ext>
            </a:extLst>
          </p:cNvPr>
          <p:cNvSpPr/>
          <p:nvPr/>
        </p:nvSpPr>
        <p:spPr>
          <a:xfrm>
            <a:off x="5236895" y="3161919"/>
            <a:ext cx="23317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GSA PAYMENT  </a:t>
            </a:r>
            <a:r>
              <a: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·  13+ countries · 39+ emp</a:t>
            </a:r>
            <a:endParaRPr lang="en-US" sz="65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78" name="Text 82">
            <a:extLst>
              <a:ext uri="{FF2B5EF4-FFF2-40B4-BE49-F238E27FC236}">
                <a16:creationId xmlns:a16="http://schemas.microsoft.com/office/drawing/2014/main" id="{8CBDA430-BB58-657D-7939-7F952818CE3E}"/>
              </a:ext>
            </a:extLst>
          </p:cNvPr>
          <p:cNvSpPr/>
          <p:nvPr/>
        </p:nvSpPr>
        <p:spPr>
          <a:xfrm>
            <a:off x="5241976" y="3344800"/>
            <a:ext cx="2203704" cy="331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GSA = </a:t>
            </a:r>
            <a:r>
              <a:rPr lang="en-US" sz="6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legal employer</a:t>
            </a:r>
            <a:r>
              <a:rPr lang="en-US" sz="65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(no AI entity in-country) · GSA disburses + handles all statutory compliance
Zero visibility — no confirmation, no reconciliation</a:t>
            </a:r>
            <a:endParaRPr lang="en-US" sz="65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1" name="Shape 15">
            <a:extLst>
              <a:ext uri="{FF2B5EF4-FFF2-40B4-BE49-F238E27FC236}">
                <a16:creationId xmlns:a16="http://schemas.microsoft.com/office/drawing/2014/main" id="{C5E2A451-2AD8-0D6F-7E7B-2D94BCF6EE9C}"/>
              </a:ext>
            </a:extLst>
          </p:cNvPr>
          <p:cNvSpPr/>
          <p:nvPr/>
        </p:nvSpPr>
        <p:spPr>
          <a:xfrm>
            <a:off x="7637595" y="873251"/>
            <a:ext cx="1460744" cy="3557017"/>
          </a:xfrm>
          <a:prstGeom prst="roundRect">
            <a:avLst>
              <a:gd name="adj" fmla="val 3117"/>
            </a:avLst>
          </a:prstGeom>
          <a:solidFill>
            <a:srgbClr val="AA91C1"/>
          </a:solidFill>
          <a:ln w="12700">
            <a:solidFill>
              <a:srgbClr val="AA91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6">
            <a:extLst>
              <a:ext uri="{FF2B5EF4-FFF2-40B4-BE49-F238E27FC236}">
                <a16:creationId xmlns:a16="http://schemas.microsoft.com/office/drawing/2014/main" id="{388AE0BC-1514-4795-80E5-148DEB0CA7BF}"/>
              </a:ext>
            </a:extLst>
          </p:cNvPr>
          <p:cNvSpPr/>
          <p:nvPr/>
        </p:nvSpPr>
        <p:spPr>
          <a:xfrm>
            <a:off x="7784786" y="873252"/>
            <a:ext cx="76400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</a:t>
            </a:r>
            <a:endParaRPr lang="en-US" sz="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0" name="Shape 84">
            <a:extLst>
              <a:ext uri="{FF2B5EF4-FFF2-40B4-BE49-F238E27FC236}">
                <a16:creationId xmlns:a16="http://schemas.microsoft.com/office/drawing/2014/main" id="{13BE34CF-F5AC-B569-61F8-E24009F1476B}"/>
              </a:ext>
            </a:extLst>
          </p:cNvPr>
          <p:cNvSpPr/>
          <p:nvPr/>
        </p:nvSpPr>
        <p:spPr>
          <a:xfrm>
            <a:off x="7683186" y="1147572"/>
            <a:ext cx="1372261" cy="2197228"/>
          </a:xfrm>
          <a:prstGeom prst="roundRect">
            <a:avLst>
              <a:gd name="adj" fmla="val 2484"/>
            </a:avLst>
          </a:prstGeom>
          <a:solidFill>
            <a:srgbClr val="F5F0FF"/>
          </a:solidFill>
          <a:ln w="13970">
            <a:noFill/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2" name="Text 86">
            <a:extLst>
              <a:ext uri="{FF2B5EF4-FFF2-40B4-BE49-F238E27FC236}">
                <a16:creationId xmlns:a16="http://schemas.microsoft.com/office/drawing/2014/main" id="{E5333EEC-823A-A63A-4F40-B6C6D30811F7}"/>
              </a:ext>
            </a:extLst>
          </p:cNvPr>
          <p:cNvSpPr/>
          <p:nvPr/>
        </p:nvSpPr>
        <p:spPr>
          <a:xfrm>
            <a:off x="7784786" y="1147572"/>
            <a:ext cx="113807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· Banks · Compliance</a:t>
            </a:r>
            <a:endParaRPr lang="en-US" sz="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3" name="Text 87">
            <a:extLst>
              <a:ext uri="{FF2B5EF4-FFF2-40B4-BE49-F238E27FC236}">
                <a16:creationId xmlns:a16="http://schemas.microsoft.com/office/drawing/2014/main" id="{58941FDA-340E-F337-1369-A85B5F7419AF}"/>
              </a:ext>
            </a:extLst>
          </p:cNvPr>
          <p:cNvSpPr/>
          <p:nvPr/>
        </p:nvSpPr>
        <p:spPr>
          <a:xfrm>
            <a:off x="7784786" y="1389888"/>
            <a:ext cx="1325880" cy="306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S/4HANA
</a:t>
            </a:r>
            <a:r>
              <a:rPr 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 · Cost Centre · Monthly recon (H2H only)</a:t>
            </a:r>
            <a:endParaRPr lang="en-US" sz="6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5" name="Text 89">
            <a:extLst>
              <a:ext uri="{FF2B5EF4-FFF2-40B4-BE49-F238E27FC236}">
                <a16:creationId xmlns:a16="http://schemas.microsoft.com/office/drawing/2014/main" id="{0C720B45-95BB-7326-6869-C7D591DFE20A}"/>
              </a:ext>
            </a:extLst>
          </p:cNvPr>
          <p:cNvSpPr/>
          <p:nvPr/>
        </p:nvSpPr>
        <p:spPr>
          <a:xfrm>
            <a:off x="7784786" y="1768925"/>
            <a:ext cx="1325880" cy="2396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HSBC / Citi
</a:t>
            </a:r>
            <a:r>
              <a:rPr 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H2H XML · Manual portal approval</a:t>
            </a:r>
            <a:endParaRPr lang="en-US" sz="6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7" name="Text 91">
            <a:extLst>
              <a:ext uri="{FF2B5EF4-FFF2-40B4-BE49-F238E27FC236}">
                <a16:creationId xmlns:a16="http://schemas.microsoft.com/office/drawing/2014/main" id="{2D7850A1-BE9B-B35B-8566-19FF0249C147}"/>
              </a:ext>
            </a:extLst>
          </p:cNvPr>
          <p:cNvSpPr/>
          <p:nvPr/>
        </p:nvSpPr>
        <p:spPr>
          <a:xfrm>
            <a:off x="7784786" y="2081280"/>
            <a:ext cx="1325880" cy="226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ADP Bank (US/CA)
</a:t>
            </a:r>
            <a:r>
              <a:rPr 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Auto-debit + statutory via ADP</a:t>
            </a:r>
            <a:endParaRPr lang="en-US" sz="6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9" name="Text 93">
            <a:extLst>
              <a:ext uri="{FF2B5EF4-FFF2-40B4-BE49-F238E27FC236}">
                <a16:creationId xmlns:a16="http://schemas.microsoft.com/office/drawing/2014/main" id="{EF6B23A6-8F4F-903D-2268-548A473F288B}"/>
              </a:ext>
            </a:extLst>
          </p:cNvPr>
          <p:cNvSpPr/>
          <p:nvPr/>
        </p:nvSpPr>
        <p:spPr>
          <a:xfrm>
            <a:off x="7784786" y="2380546"/>
            <a:ext cx="1325880" cy="217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AI Banks
</a:t>
            </a:r>
            <a:r>
              <a:rPr 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JP, TH, NP · SPOC-initiated + statutory</a:t>
            </a:r>
            <a:endParaRPr lang="en-US" sz="6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1" name="Text 95">
            <a:extLst>
              <a:ext uri="{FF2B5EF4-FFF2-40B4-BE49-F238E27FC236}">
                <a16:creationId xmlns:a16="http://schemas.microsoft.com/office/drawing/2014/main" id="{49E26CAB-5AA6-E360-2B18-F5FB7DBE76EE}"/>
              </a:ext>
            </a:extLst>
          </p:cNvPr>
          <p:cNvSpPr/>
          <p:nvPr/>
        </p:nvSpPr>
        <p:spPr>
          <a:xfrm>
            <a:off x="7784786" y="2670669"/>
            <a:ext cx="1325880" cy="2265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GSA Banks
</a:t>
            </a:r>
            <a:r>
              <a:rPr 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13+ countries · GSA legal employer</a:t>
            </a:r>
            <a:endParaRPr lang="en-US" sz="6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2244E8AA-22E2-A5AB-E772-AF4E36772939}"/>
              </a:ext>
            </a:extLst>
          </p:cNvPr>
          <p:cNvGrpSpPr/>
          <p:nvPr/>
        </p:nvGrpSpPr>
        <p:grpSpPr>
          <a:xfrm>
            <a:off x="7683186" y="1732566"/>
            <a:ext cx="1372261" cy="1201009"/>
            <a:chOff x="7634579" y="1732566"/>
            <a:chExt cx="1472184" cy="1201009"/>
          </a:xfrm>
        </p:grpSpPr>
        <p:sp>
          <p:nvSpPr>
            <p:cNvPr id="84" name="Shape 88">
              <a:extLst>
                <a:ext uri="{FF2B5EF4-FFF2-40B4-BE49-F238E27FC236}">
                  <a16:creationId xmlns:a16="http://schemas.microsoft.com/office/drawing/2014/main" id="{845EFB8E-C088-D62F-5DBF-D5CECF598834}"/>
                </a:ext>
              </a:extLst>
            </p:cNvPr>
            <p:cNvSpPr/>
            <p:nvPr/>
          </p:nvSpPr>
          <p:spPr>
            <a:xfrm>
              <a:off x="7634579" y="1732566"/>
              <a:ext cx="1472184" cy="0"/>
            </a:xfrm>
            <a:prstGeom prst="line">
              <a:avLst/>
            </a:prstGeom>
            <a:noFill/>
            <a:ln w="6350">
              <a:solidFill>
                <a:srgbClr val="AA91C2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Shape 90">
              <a:extLst>
                <a:ext uri="{FF2B5EF4-FFF2-40B4-BE49-F238E27FC236}">
                  <a16:creationId xmlns:a16="http://schemas.microsoft.com/office/drawing/2014/main" id="{48D62A74-1650-7FA4-EEC9-0124D1A812EE}"/>
                </a:ext>
              </a:extLst>
            </p:cNvPr>
            <p:cNvSpPr/>
            <p:nvPr/>
          </p:nvSpPr>
          <p:spPr>
            <a:xfrm>
              <a:off x="7634579" y="2044921"/>
              <a:ext cx="1472184" cy="0"/>
            </a:xfrm>
            <a:prstGeom prst="line">
              <a:avLst/>
            </a:prstGeom>
            <a:noFill/>
            <a:ln w="6350">
              <a:solidFill>
                <a:srgbClr val="AA91C2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Shape 92">
              <a:extLst>
                <a:ext uri="{FF2B5EF4-FFF2-40B4-BE49-F238E27FC236}">
                  <a16:creationId xmlns:a16="http://schemas.microsoft.com/office/drawing/2014/main" id="{D45B8001-0E56-7E69-FBF3-25D0360F838D}"/>
                </a:ext>
              </a:extLst>
            </p:cNvPr>
            <p:cNvSpPr/>
            <p:nvPr/>
          </p:nvSpPr>
          <p:spPr>
            <a:xfrm>
              <a:off x="7634579" y="2344187"/>
              <a:ext cx="1472184" cy="0"/>
            </a:xfrm>
            <a:prstGeom prst="line">
              <a:avLst/>
            </a:prstGeom>
            <a:noFill/>
            <a:ln w="6350">
              <a:solidFill>
                <a:srgbClr val="AA91C2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Shape 94">
              <a:extLst>
                <a:ext uri="{FF2B5EF4-FFF2-40B4-BE49-F238E27FC236}">
                  <a16:creationId xmlns:a16="http://schemas.microsoft.com/office/drawing/2014/main" id="{22A91E61-1B04-C09D-36CF-51BED9468D38}"/>
                </a:ext>
              </a:extLst>
            </p:cNvPr>
            <p:cNvSpPr/>
            <p:nvPr/>
          </p:nvSpPr>
          <p:spPr>
            <a:xfrm>
              <a:off x="7634579" y="2634310"/>
              <a:ext cx="1472184" cy="0"/>
            </a:xfrm>
            <a:prstGeom prst="line">
              <a:avLst/>
            </a:prstGeom>
            <a:noFill/>
            <a:ln w="6350">
              <a:solidFill>
                <a:srgbClr val="AA91C2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Shape 96">
              <a:extLst>
                <a:ext uri="{FF2B5EF4-FFF2-40B4-BE49-F238E27FC236}">
                  <a16:creationId xmlns:a16="http://schemas.microsoft.com/office/drawing/2014/main" id="{74C4C9EC-EDA5-E73B-85FF-001034CF2A50}"/>
                </a:ext>
              </a:extLst>
            </p:cNvPr>
            <p:cNvSpPr/>
            <p:nvPr/>
          </p:nvSpPr>
          <p:spPr>
            <a:xfrm>
              <a:off x="7634579" y="2933575"/>
              <a:ext cx="1472184" cy="0"/>
            </a:xfrm>
            <a:prstGeom prst="line">
              <a:avLst/>
            </a:prstGeom>
            <a:noFill/>
            <a:ln w="6350">
              <a:solidFill>
                <a:srgbClr val="AA91C2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3" name="Text 97">
            <a:extLst>
              <a:ext uri="{FF2B5EF4-FFF2-40B4-BE49-F238E27FC236}">
                <a16:creationId xmlns:a16="http://schemas.microsoft.com/office/drawing/2014/main" id="{72FF9925-DEF8-C2AC-2F85-C3D682237695}"/>
              </a:ext>
            </a:extLst>
          </p:cNvPr>
          <p:cNvSpPr/>
          <p:nvPr/>
        </p:nvSpPr>
        <p:spPr>
          <a:xfrm>
            <a:off x="7784786" y="2969932"/>
            <a:ext cx="1325880" cy="312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
</a:t>
            </a:r>
            <a:r>
              <a:rPr 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· SS · SOX · 7-yr retention</a:t>
            </a:r>
            <a:endParaRPr lang="en-US" sz="6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in GSA countries</a:t>
            </a:r>
            <a:endParaRPr lang="en-US" sz="6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5" name="Text 99">
            <a:extLst>
              <a:ext uri="{FF2B5EF4-FFF2-40B4-BE49-F238E27FC236}">
                <a16:creationId xmlns:a16="http://schemas.microsoft.com/office/drawing/2014/main" id="{5E7F2F3D-CA93-11AE-9F1C-EFB879D22379}"/>
              </a:ext>
            </a:extLst>
          </p:cNvPr>
          <p:cNvSpPr/>
          <p:nvPr/>
        </p:nvSpPr>
        <p:spPr>
          <a:xfrm>
            <a:off x="87352" y="4476207"/>
            <a:ext cx="964965" cy="252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Critical Failures:</a:t>
            </a:r>
            <a:endParaRPr lang="en-US" sz="700" dirty="0"/>
          </a:p>
        </p:txBody>
      </p:sp>
      <p:sp>
        <p:nvSpPr>
          <p:cNvPr id="96" name="Text 100">
            <a:extLst>
              <a:ext uri="{FF2B5EF4-FFF2-40B4-BE49-F238E27FC236}">
                <a16:creationId xmlns:a16="http://schemas.microsoft.com/office/drawing/2014/main" id="{7713214F-2CF1-3DC7-3894-0DD029AF24D2}"/>
              </a:ext>
            </a:extLst>
          </p:cNvPr>
          <p:cNvSpPr/>
          <p:nvPr/>
        </p:nvSpPr>
        <p:spPr>
          <a:xfrm>
            <a:off x="1119007" y="4597267"/>
            <a:ext cx="2302764" cy="362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r>
              <a:rPr lang="en-US" sz="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inputs are manual
</a:t>
            </a:r>
            <a:r>
              <a:rPr lang="en-US" sz="6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611 component instances across 35 countries — every month, HR manually collates &amp; submits with no validation gate</a:t>
            </a:r>
            <a:endParaRPr lang="en-US" sz="750" dirty="0"/>
          </a:p>
        </p:txBody>
      </p:sp>
      <p:sp>
        <p:nvSpPr>
          <p:cNvPr id="98" name="Text 102">
            <a:extLst>
              <a:ext uri="{FF2B5EF4-FFF2-40B4-BE49-F238E27FC236}">
                <a16:creationId xmlns:a16="http://schemas.microsoft.com/office/drawing/2014/main" id="{98230FD5-4A2A-6207-9201-940DFD62C9AC}"/>
              </a:ext>
            </a:extLst>
          </p:cNvPr>
          <p:cNvSpPr/>
          <p:nvPr/>
        </p:nvSpPr>
        <p:spPr>
          <a:xfrm>
            <a:off x="3845247" y="4597267"/>
            <a:ext cx="2302764" cy="362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r>
              <a:rPr lang="en-US" sz="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GSA = complete blind spot
</a:t>
            </a:r>
            <a:r>
              <a:rPr lang="en-US" sz="6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countries where AI has no legal entity — GSA is legal employer; processing, payment &amp; compliance fully outside AI control</a:t>
            </a:r>
            <a:endParaRPr lang="en-US" sz="750" dirty="0"/>
          </a:p>
        </p:txBody>
      </p:sp>
      <p:sp>
        <p:nvSpPr>
          <p:cNvPr id="97" name="Shape 101">
            <a:extLst>
              <a:ext uri="{FF2B5EF4-FFF2-40B4-BE49-F238E27FC236}">
                <a16:creationId xmlns:a16="http://schemas.microsoft.com/office/drawing/2014/main" id="{FA0DFE31-FC30-A64F-2F90-DDBFE3438F0B}"/>
              </a:ext>
            </a:extLst>
          </p:cNvPr>
          <p:cNvSpPr/>
          <p:nvPr/>
        </p:nvSpPr>
        <p:spPr>
          <a:xfrm>
            <a:off x="3633509" y="4609456"/>
            <a:ext cx="0" cy="338344"/>
          </a:xfrm>
          <a:prstGeom prst="line">
            <a:avLst/>
          </a:prstGeom>
          <a:noFill/>
          <a:ln w="9525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Shape 103">
            <a:extLst>
              <a:ext uri="{FF2B5EF4-FFF2-40B4-BE49-F238E27FC236}">
                <a16:creationId xmlns:a16="http://schemas.microsoft.com/office/drawing/2014/main" id="{024E60AF-85FF-B2C9-4A49-CA468A365326}"/>
              </a:ext>
            </a:extLst>
          </p:cNvPr>
          <p:cNvSpPr/>
          <p:nvPr/>
        </p:nvSpPr>
        <p:spPr>
          <a:xfrm>
            <a:off x="6359749" y="4609456"/>
            <a:ext cx="0" cy="338344"/>
          </a:xfrm>
          <a:prstGeom prst="line">
            <a:avLst/>
          </a:prstGeom>
          <a:noFill/>
          <a:ln w="9525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Text 104">
            <a:extLst>
              <a:ext uri="{FF2B5EF4-FFF2-40B4-BE49-F238E27FC236}">
                <a16:creationId xmlns:a16="http://schemas.microsoft.com/office/drawing/2014/main" id="{3EC147EB-8E3C-CEF2-D92A-62EA025C7588}"/>
              </a:ext>
            </a:extLst>
          </p:cNvPr>
          <p:cNvSpPr/>
          <p:nvPr/>
        </p:nvSpPr>
        <p:spPr>
          <a:xfrm>
            <a:off x="6571488" y="4604288"/>
            <a:ext cx="2302764" cy="34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r>
              <a:rPr lang="en-US" sz="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consolidated reconciliation
</a:t>
            </a:r>
            <a:r>
              <a:rPr lang="en-US" sz="6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payment modes coexist — ADP MMS, H2H, Local, GSA — with no unified audit trail or exception reporting</a:t>
            </a:r>
            <a:endParaRPr lang="en-US" sz="750" dirty="0"/>
          </a:p>
        </p:txBody>
      </p:sp>
      <p:sp>
        <p:nvSpPr>
          <p:cNvPr id="7" name="Shape 11">
            <a:extLst>
              <a:ext uri="{FF2B5EF4-FFF2-40B4-BE49-F238E27FC236}">
                <a16:creationId xmlns:a16="http://schemas.microsoft.com/office/drawing/2014/main" id="{93381311-3C1E-DFAF-C985-8DF5E7B8E730}"/>
              </a:ext>
            </a:extLst>
          </p:cNvPr>
          <p:cNvSpPr/>
          <p:nvPr/>
        </p:nvSpPr>
        <p:spPr>
          <a:xfrm>
            <a:off x="1732695" y="873251"/>
            <a:ext cx="2468880" cy="3568568"/>
          </a:xfrm>
          <a:prstGeom prst="roundRect">
            <a:avLst>
              <a:gd name="adj" fmla="val 2460"/>
            </a:avLst>
          </a:prstGeom>
          <a:solidFill>
            <a:srgbClr val="66C07E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12">
            <a:extLst>
              <a:ext uri="{FF2B5EF4-FFF2-40B4-BE49-F238E27FC236}">
                <a16:creationId xmlns:a16="http://schemas.microsoft.com/office/drawing/2014/main" id="{D3A24B8F-D99B-9E98-1F73-923326A209FB}"/>
              </a:ext>
            </a:extLst>
          </p:cNvPr>
          <p:cNvSpPr/>
          <p:nvPr/>
        </p:nvSpPr>
        <p:spPr>
          <a:xfrm>
            <a:off x="1832894" y="87325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PAYROLL PROCESSING</a:t>
            </a:r>
            <a:r>
              <a:rPr 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 How register is built</a:t>
            </a:r>
            <a:endParaRPr lang="en-US" sz="75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38" name="Shape 42">
            <a:extLst>
              <a:ext uri="{FF2B5EF4-FFF2-40B4-BE49-F238E27FC236}">
                <a16:creationId xmlns:a16="http://schemas.microsoft.com/office/drawing/2014/main" id="{680E7CA5-83C6-2617-A90D-2E5DC8673F28}"/>
              </a:ext>
            </a:extLst>
          </p:cNvPr>
          <p:cNvSpPr/>
          <p:nvPr/>
        </p:nvSpPr>
        <p:spPr>
          <a:xfrm>
            <a:off x="1802279" y="1147572"/>
            <a:ext cx="2331720" cy="640080"/>
          </a:xfrm>
          <a:prstGeom prst="rect">
            <a:avLst/>
          </a:prstGeom>
          <a:solidFill>
            <a:srgbClr val="FFFBEB"/>
          </a:solidFill>
          <a:ln w="6350">
            <a:solidFill>
              <a:srgbClr val="66C07E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0" name="Text 44">
            <a:extLst>
              <a:ext uri="{FF2B5EF4-FFF2-40B4-BE49-F238E27FC236}">
                <a16:creationId xmlns:a16="http://schemas.microsoft.com/office/drawing/2014/main" id="{C124DF17-963B-A3F5-80DF-0CA56B989C9D}"/>
              </a:ext>
            </a:extLst>
          </p:cNvPr>
          <p:cNvSpPr/>
          <p:nvPr/>
        </p:nvSpPr>
        <p:spPr>
          <a:xfrm>
            <a:off x="1865779" y="1147572"/>
            <a:ext cx="17611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AGENCY — ADP  </a:t>
            </a:r>
            <a:r>
              <a: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·  16 countries · 198 emp</a:t>
            </a:r>
            <a:endParaRPr lang="en-US" sz="80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41" name="Text 45">
            <a:extLst>
              <a:ext uri="{FF2B5EF4-FFF2-40B4-BE49-F238E27FC236}">
                <a16:creationId xmlns:a16="http://schemas.microsoft.com/office/drawing/2014/main" id="{496A6561-14B1-0C10-DE5B-C47FFD720E3B}"/>
              </a:ext>
            </a:extLst>
          </p:cNvPr>
          <p:cNvSpPr/>
          <p:nvPr/>
        </p:nvSpPr>
        <p:spPr>
          <a:xfrm>
            <a:off x="1866287" y="1330452"/>
            <a:ext cx="2159647" cy="3488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HR collates inputs → uploads to ADP portal → ADP builds register</a:t>
            </a:r>
            <a:r>
              <a:rPr lang="en-US" sz="65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No HRIS — changes tracked manually</a:t>
            </a:r>
            <a:endParaRPr lang="en-US" sz="650" dirty="0">
              <a:solidFill>
                <a:schemeClr val="bg1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42" name="Shape 46">
            <a:extLst>
              <a:ext uri="{FF2B5EF4-FFF2-40B4-BE49-F238E27FC236}">
                <a16:creationId xmlns:a16="http://schemas.microsoft.com/office/drawing/2014/main" id="{AC510EC1-84A4-03B2-008B-3E6DEC12C948}"/>
              </a:ext>
            </a:extLst>
          </p:cNvPr>
          <p:cNvSpPr/>
          <p:nvPr/>
        </p:nvSpPr>
        <p:spPr>
          <a:xfrm>
            <a:off x="1802279" y="1789462"/>
            <a:ext cx="2331720" cy="640080"/>
          </a:xfrm>
          <a:prstGeom prst="rect">
            <a:avLst/>
          </a:prstGeom>
          <a:solidFill>
            <a:srgbClr val="FFFBEB"/>
          </a:solidFill>
          <a:ln w="6350">
            <a:solidFill>
              <a:srgbClr val="66C07E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4" name="Text 48">
            <a:extLst>
              <a:ext uri="{FF2B5EF4-FFF2-40B4-BE49-F238E27FC236}">
                <a16:creationId xmlns:a16="http://schemas.microsoft.com/office/drawing/2014/main" id="{D03F7179-2330-E202-FD57-DC232EFC8CB3}"/>
              </a:ext>
            </a:extLst>
          </p:cNvPr>
          <p:cNvSpPr/>
          <p:nvPr/>
        </p:nvSpPr>
        <p:spPr>
          <a:xfrm>
            <a:off x="1865779" y="1789462"/>
            <a:ext cx="2160155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AGENCY — FASCO (CN) &amp; STUDIO (IT)  ·  </a:t>
            </a:r>
            <a:r>
              <a: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10 emp</a:t>
            </a:r>
            <a:endParaRPr lang="en-US" sz="80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45" name="Text 49">
            <a:extLst>
              <a:ext uri="{FF2B5EF4-FFF2-40B4-BE49-F238E27FC236}">
                <a16:creationId xmlns:a16="http://schemas.microsoft.com/office/drawing/2014/main" id="{3B8871CB-FF05-3029-7111-BB67258AC687}"/>
              </a:ext>
            </a:extLst>
          </p:cNvPr>
          <p:cNvSpPr/>
          <p:nvPr/>
        </p:nvSpPr>
        <p:spPr>
          <a:xfrm>
            <a:off x="1866287" y="1972342"/>
            <a:ext cx="2159647" cy="356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HR emails inputs → vendor builds register → returns to AI Payroll</a:t>
            </a:r>
            <a:r>
              <a:rPr lang="en-US" sz="650" dirty="0">
                <a:solidFill>
                  <a:srgbClr val="1F293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Email-driven — no system handoff</a:t>
            </a:r>
            <a:endParaRPr lang="en-US" sz="650" dirty="0">
              <a:solidFill>
                <a:schemeClr val="bg1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46" name="Shape 50">
            <a:extLst>
              <a:ext uri="{FF2B5EF4-FFF2-40B4-BE49-F238E27FC236}">
                <a16:creationId xmlns:a16="http://schemas.microsoft.com/office/drawing/2014/main" id="{A97E480C-6898-BC1A-6CA3-DDF8C08B49E5}"/>
              </a:ext>
            </a:extLst>
          </p:cNvPr>
          <p:cNvSpPr/>
          <p:nvPr/>
        </p:nvSpPr>
        <p:spPr>
          <a:xfrm>
            <a:off x="1802279" y="2429085"/>
            <a:ext cx="2331720" cy="640080"/>
          </a:xfrm>
          <a:prstGeom prst="rect">
            <a:avLst/>
          </a:prstGeom>
          <a:solidFill>
            <a:srgbClr val="FFF2F2"/>
          </a:solidFill>
          <a:ln w="6350">
            <a:solidFill>
              <a:srgbClr val="66C07E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" name="Text 52">
            <a:extLst>
              <a:ext uri="{FF2B5EF4-FFF2-40B4-BE49-F238E27FC236}">
                <a16:creationId xmlns:a16="http://schemas.microsoft.com/office/drawing/2014/main" id="{0E7EAD87-8D98-3EA4-2D45-B283BB78E4E0}"/>
              </a:ext>
            </a:extLst>
          </p:cNvPr>
          <p:cNvSpPr/>
          <p:nvPr/>
        </p:nvSpPr>
        <p:spPr>
          <a:xfrm>
            <a:off x="1866287" y="2429085"/>
            <a:ext cx="23317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GSA PARTNERS  ·  </a:t>
            </a:r>
            <a:r>
              <a: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15 countries · 73 emp</a:t>
            </a:r>
            <a:endParaRPr lang="en-US" sz="80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49" name="Text 53">
            <a:extLst>
              <a:ext uri="{FF2B5EF4-FFF2-40B4-BE49-F238E27FC236}">
                <a16:creationId xmlns:a16="http://schemas.microsoft.com/office/drawing/2014/main" id="{D8ECFC42-9F3E-EE29-AF88-9ED15197F0ED}"/>
              </a:ext>
            </a:extLst>
          </p:cNvPr>
          <p:cNvSpPr/>
          <p:nvPr/>
        </p:nvSpPr>
        <p:spPr>
          <a:xfrm>
            <a:off x="1866287" y="2611964"/>
            <a:ext cx="2267712" cy="438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TH, KR, MM, VN, MY, ID, IL, AE, BH, SA, KE, KW, OM, QA, MU
HR emails inputs → GSA processes outside AI systems</a:t>
            </a:r>
            <a:r>
              <a:rPr lang="en-US" sz="65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Zero register visibility — inputs, outputs &amp; compliance opaque</a:t>
            </a:r>
            <a:endParaRPr lang="en-US" sz="650" dirty="0">
              <a:solidFill>
                <a:schemeClr val="bg1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50" name="Shape 54">
            <a:extLst>
              <a:ext uri="{FF2B5EF4-FFF2-40B4-BE49-F238E27FC236}">
                <a16:creationId xmlns:a16="http://schemas.microsoft.com/office/drawing/2014/main" id="{2FA91C67-077B-C6F2-4004-2578485BD3EA}"/>
              </a:ext>
            </a:extLst>
          </p:cNvPr>
          <p:cNvSpPr/>
          <p:nvPr/>
        </p:nvSpPr>
        <p:spPr>
          <a:xfrm>
            <a:off x="1802279" y="3070999"/>
            <a:ext cx="2331720" cy="640080"/>
          </a:xfrm>
          <a:prstGeom prst="rect">
            <a:avLst/>
          </a:prstGeom>
          <a:solidFill>
            <a:srgbClr val="FFF5F5"/>
          </a:solidFill>
          <a:ln w="6350">
            <a:solidFill>
              <a:srgbClr val="66C07E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2" name="Text 56">
            <a:extLst>
              <a:ext uri="{FF2B5EF4-FFF2-40B4-BE49-F238E27FC236}">
                <a16:creationId xmlns:a16="http://schemas.microsoft.com/office/drawing/2014/main" id="{E9AA7CCC-B3C6-EFD8-5E8C-8D3402357B5C}"/>
              </a:ext>
            </a:extLst>
          </p:cNvPr>
          <p:cNvSpPr/>
          <p:nvPr/>
        </p:nvSpPr>
        <p:spPr>
          <a:xfrm>
            <a:off x="1866287" y="3070999"/>
            <a:ext cx="2159647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THROUGH HQ (Excel)  </a:t>
            </a:r>
            <a:r>
              <a: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·  Nepal &amp; Sri Lanka · 52 emp</a:t>
            </a:r>
            <a:endParaRPr lang="en-US" sz="80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53" name="Text 57">
            <a:extLst>
              <a:ext uri="{FF2B5EF4-FFF2-40B4-BE49-F238E27FC236}">
                <a16:creationId xmlns:a16="http://schemas.microsoft.com/office/drawing/2014/main" id="{7F517D84-89F5-0F0B-2EF4-F618B2B0273E}"/>
              </a:ext>
            </a:extLst>
          </p:cNvPr>
          <p:cNvSpPr/>
          <p:nvPr/>
        </p:nvSpPr>
        <p:spPr>
          <a:xfrm>
            <a:off x="1866287" y="3253879"/>
            <a:ext cx="2203704" cy="335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AI Payroll HR processes on Excel formula sheet — no payroll system
</a:t>
            </a:r>
            <a:r>
              <a:rPr lang="en-US" sz="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Error-prone, no validation or audit trail</a:t>
            </a:r>
            <a:endParaRPr lang="en-US" sz="700" dirty="0">
              <a:solidFill>
                <a:schemeClr val="bg1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01" name="Shape 20">
            <a:extLst>
              <a:ext uri="{FF2B5EF4-FFF2-40B4-BE49-F238E27FC236}">
                <a16:creationId xmlns:a16="http://schemas.microsoft.com/office/drawing/2014/main" id="{CE364ECB-8D0B-7CD3-7536-274090F0DA9E}"/>
              </a:ext>
            </a:extLst>
          </p:cNvPr>
          <p:cNvSpPr/>
          <p:nvPr/>
        </p:nvSpPr>
        <p:spPr>
          <a:xfrm>
            <a:off x="4270555" y="1704687"/>
            <a:ext cx="779506" cy="1849862"/>
          </a:xfrm>
          <a:prstGeom prst="roundRect">
            <a:avLst>
              <a:gd name="adj" fmla="val 5085"/>
            </a:avLst>
          </a:prstGeom>
          <a:solidFill>
            <a:srgbClr val="FFF4EE"/>
          </a:solidFill>
          <a:ln w="6350">
            <a:solidFill>
              <a:srgbClr val="F78D63"/>
            </a:solidFill>
            <a:prstDash val="solid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102" name="Text 22">
            <a:extLst>
              <a:ext uri="{FF2B5EF4-FFF2-40B4-BE49-F238E27FC236}">
                <a16:creationId xmlns:a16="http://schemas.microsoft.com/office/drawing/2014/main" id="{D6F48A7E-3435-5AC1-9EB8-4AC8275381F5}"/>
              </a:ext>
            </a:extLst>
          </p:cNvPr>
          <p:cNvSpPr/>
          <p:nvPr/>
        </p:nvSpPr>
        <p:spPr>
          <a:xfrm>
            <a:off x="4347683" y="1815351"/>
            <a:ext cx="6252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chemeClr val="accent2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AI PAYROLL AGGREGATOR</a:t>
            </a:r>
            <a:endParaRPr lang="en-US" sz="700" dirty="0">
              <a:solidFill>
                <a:schemeClr val="accent2"/>
              </a:solidFill>
              <a:latin typeface="Aptos" panose="020B0004020202020204" pitchFamily="34" charset="0"/>
            </a:endParaRPr>
          </a:p>
        </p:txBody>
      </p:sp>
      <p:sp>
        <p:nvSpPr>
          <p:cNvPr id="103" name="Text 23">
            <a:extLst>
              <a:ext uri="{FF2B5EF4-FFF2-40B4-BE49-F238E27FC236}">
                <a16:creationId xmlns:a16="http://schemas.microsoft.com/office/drawing/2014/main" id="{B6810FE8-A23F-08B2-1144-FE254422D4D3}"/>
              </a:ext>
            </a:extLst>
          </p:cNvPr>
          <p:cNvSpPr/>
          <p:nvPr/>
        </p:nvSpPr>
        <p:spPr>
          <a:xfrm>
            <a:off x="4363585" y="2230483"/>
            <a:ext cx="593446" cy="1226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293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Collects all</a:t>
            </a:r>
            <a:endParaRPr lang="en-US" sz="800" dirty="0">
              <a:latin typeface="Aptos" panose="020B0004020202020204" pitchFamily="34" charset="0"/>
            </a:endParaRPr>
          </a:p>
          <a:p>
            <a:pPr marL="0" indent="0" algn="ctr">
              <a:buNone/>
            </a:pPr>
            <a:r>
              <a:rPr lang="en-US" sz="800" b="1" dirty="0">
                <a:solidFill>
                  <a:srgbClr val="1F293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inputs via</a:t>
            </a:r>
            <a:endParaRPr lang="en-US" sz="800" dirty="0">
              <a:latin typeface="Aptos" panose="020B0004020202020204" pitchFamily="34" charset="0"/>
            </a:endParaRPr>
          </a:p>
          <a:p>
            <a:pPr marL="0" indent="0" algn="ctr">
              <a:buNone/>
            </a:pPr>
            <a:r>
              <a:rPr lang="en-US" sz="800" b="1" dirty="0">
                <a:solidFill>
                  <a:srgbClr val="1F293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email/Excel</a:t>
            </a:r>
            <a:endParaRPr lang="en-US" sz="800" dirty="0">
              <a:latin typeface="Aptos" panose="020B0004020202020204" pitchFamily="34" charset="0"/>
            </a:endParaRPr>
          </a:p>
          <a:p>
            <a:pPr marL="0" indent="0" algn="ctr">
              <a:buNone/>
            </a:pPr>
            <a:r>
              <a:rPr lang="en-US" sz="800" dirty="0">
                <a:solidFill>
                  <a:srgbClr val="1F293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800" b="1" dirty="0">
                <a:solidFill>
                  <a:srgbClr val="C00000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MANUAL
VALIDATION
</a:t>
            </a:r>
            <a:endParaRPr lang="en-US" sz="800" dirty="0">
              <a:latin typeface="Aptos" panose="020B0004020202020204" pitchFamily="34" charset="0"/>
            </a:endParaRPr>
          </a:p>
          <a:p>
            <a:pPr marL="0" indent="0" algn="ctr">
              <a:buNone/>
            </a:pPr>
            <a:r>
              <a:rPr lang="en-US" sz="800" b="1" dirty="0">
                <a:solidFill>
                  <a:srgbClr val="C00000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NO AUDIT</a:t>
            </a:r>
            <a:endParaRPr lang="en-US" sz="800" dirty="0">
              <a:latin typeface="Aptos" panose="020B0004020202020204" pitchFamily="34" charset="0"/>
            </a:endParaRPr>
          </a:p>
          <a:p>
            <a:pPr marL="0" indent="0" algn="ctr">
              <a:buNone/>
            </a:pPr>
            <a:r>
              <a:rPr lang="en-US" sz="800" b="1" dirty="0">
                <a:solidFill>
                  <a:srgbClr val="C00000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TRAIL</a:t>
            </a:r>
            <a:endParaRPr lang="en-US" sz="800" dirty="0">
              <a:latin typeface="Aptos" panose="020B0004020202020204" pitchFamily="34" charset="0"/>
            </a:endParaRPr>
          </a:p>
        </p:txBody>
      </p:sp>
      <p:cxnSp>
        <p:nvCxnSpPr>
          <p:cNvPr id="112" name="Elbow Connector 111">
            <a:extLst>
              <a:ext uri="{FF2B5EF4-FFF2-40B4-BE49-F238E27FC236}">
                <a16:creationId xmlns:a16="http://schemas.microsoft.com/office/drawing/2014/main" id="{5284A547-ADA7-208B-1AB2-8750C4EDB42D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 flipV="1">
            <a:off x="1663715" y="2657535"/>
            <a:ext cx="68980" cy="1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Elbow Connector 50">
            <a:extLst>
              <a:ext uri="{FF2B5EF4-FFF2-40B4-BE49-F238E27FC236}">
                <a16:creationId xmlns:a16="http://schemas.microsoft.com/office/drawing/2014/main" id="{DFAA6B15-28BD-EBE4-79F0-780E4CF3CFFA}"/>
              </a:ext>
            </a:extLst>
          </p:cNvPr>
          <p:cNvCxnSpPr>
            <a:cxnSpLocks/>
          </p:cNvCxnSpPr>
          <p:nvPr/>
        </p:nvCxnSpPr>
        <p:spPr>
          <a:xfrm flipV="1">
            <a:off x="4200382" y="2581348"/>
            <a:ext cx="73595" cy="1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Elbow Connector 54">
            <a:extLst>
              <a:ext uri="{FF2B5EF4-FFF2-40B4-BE49-F238E27FC236}">
                <a16:creationId xmlns:a16="http://schemas.microsoft.com/office/drawing/2014/main" id="{E1E43DAE-BEF0-1E7A-1F6D-64D887C3622B}"/>
              </a:ext>
            </a:extLst>
          </p:cNvPr>
          <p:cNvCxnSpPr>
            <a:cxnSpLocks/>
          </p:cNvCxnSpPr>
          <p:nvPr/>
        </p:nvCxnSpPr>
        <p:spPr>
          <a:xfrm flipV="1">
            <a:off x="5053174" y="2581348"/>
            <a:ext cx="73595" cy="1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Elbow Connector 56">
            <a:extLst>
              <a:ext uri="{FF2B5EF4-FFF2-40B4-BE49-F238E27FC236}">
                <a16:creationId xmlns:a16="http://schemas.microsoft.com/office/drawing/2014/main" id="{AFEFD89B-4D8C-A433-ABC6-0FEA9E58104E}"/>
              </a:ext>
            </a:extLst>
          </p:cNvPr>
          <p:cNvCxnSpPr>
            <a:cxnSpLocks/>
          </p:cNvCxnSpPr>
          <p:nvPr/>
        </p:nvCxnSpPr>
        <p:spPr>
          <a:xfrm flipV="1">
            <a:off x="7565817" y="2581348"/>
            <a:ext cx="73595" cy="1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261C2B89-2E11-7D6A-6936-D8005F74EFFD}"/>
              </a:ext>
            </a:extLst>
          </p:cNvPr>
          <p:cNvSpPr txBox="1"/>
          <p:nvPr/>
        </p:nvSpPr>
        <p:spPr>
          <a:xfrm>
            <a:off x="6635365" y="272701"/>
            <a:ext cx="727765" cy="238363"/>
          </a:xfrm>
          <a:prstGeom prst="roundRect">
            <a:avLst/>
          </a:prstGeom>
          <a:solidFill>
            <a:srgbClr val="F0FCF5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Automated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69536641-D272-ED9C-8EEC-ACFC3E4F0458}"/>
              </a:ext>
            </a:extLst>
          </p:cNvPr>
          <p:cNvSpPr txBox="1"/>
          <p:nvPr/>
        </p:nvSpPr>
        <p:spPr>
          <a:xfrm>
            <a:off x="7400648" y="272701"/>
            <a:ext cx="998706" cy="238363"/>
          </a:xfrm>
          <a:prstGeom prst="roundRect">
            <a:avLst/>
          </a:prstGeom>
          <a:solidFill>
            <a:srgbClr val="FFFBEC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Semi-Automated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E62F9C59-8F13-FAD6-1A1D-F9D71415D863}"/>
              </a:ext>
            </a:extLst>
          </p:cNvPr>
          <p:cNvSpPr txBox="1"/>
          <p:nvPr/>
        </p:nvSpPr>
        <p:spPr>
          <a:xfrm>
            <a:off x="8436873" y="272701"/>
            <a:ext cx="551453" cy="238363"/>
          </a:xfrm>
          <a:prstGeom prst="roundRect">
            <a:avLst/>
          </a:prstGeom>
          <a:solidFill>
            <a:srgbClr val="FFF4EF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Manual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1CE9E4-4EC1-C8C6-A391-BE1E32424842}"/>
              </a:ext>
            </a:extLst>
          </p:cNvPr>
          <p:cNvSpPr txBox="1"/>
          <p:nvPr/>
        </p:nvSpPr>
        <p:spPr>
          <a:xfrm>
            <a:off x="200630" y="68740"/>
            <a:ext cx="6424981" cy="300082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pPr defTabSz="914378">
              <a:defRPr/>
            </a:pPr>
            <a:r>
              <a:rPr lang="en-US" sz="1500" b="1" dirty="0">
                <a:solidFill>
                  <a:srgbClr val="C00000"/>
                </a:solidFill>
                <a:latin typeface="AirIndia"/>
              </a:rPr>
              <a:t>Current State Architecture - As-Is </a:t>
            </a:r>
            <a:r>
              <a:rPr lang="en-US" sz="1500" dirty="0">
                <a:solidFill>
                  <a:srgbClr val="7F7F7F"/>
                </a:solidFill>
                <a:latin typeface="AirIndia"/>
              </a:rPr>
              <a:t>—  Where the Complexity Lives</a:t>
            </a:r>
          </a:p>
        </p:txBody>
      </p:sp>
    </p:spTree>
    <p:extLst>
      <p:ext uri="{BB962C8B-B14F-4D97-AF65-F5344CB8AC3E}">
        <p14:creationId xmlns:p14="http://schemas.microsoft.com/office/powerpoint/2010/main" val="3835850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95F385-DBF4-D961-954B-338FA13C4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61">
            <a:extLst>
              <a:ext uri="{FF2B5EF4-FFF2-40B4-BE49-F238E27FC236}">
                <a16:creationId xmlns:a16="http://schemas.microsoft.com/office/drawing/2014/main" id="{1C49EBD5-F181-1881-AEA2-0326644CA762}"/>
              </a:ext>
            </a:extLst>
          </p:cNvPr>
          <p:cNvSpPr/>
          <p:nvPr/>
        </p:nvSpPr>
        <p:spPr>
          <a:xfrm>
            <a:off x="238125" y="576263"/>
            <a:ext cx="8729663" cy="0"/>
          </a:xfrm>
          <a:prstGeom prst="line">
            <a:avLst/>
          </a:prstGeom>
          <a:noFill/>
          <a:ln w="4524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856EDC-D350-3B61-E271-D5224E535AC4}"/>
              </a:ext>
            </a:extLst>
          </p:cNvPr>
          <p:cNvSpPr txBox="1"/>
          <p:nvPr/>
        </p:nvSpPr>
        <p:spPr>
          <a:xfrm>
            <a:off x="210383" y="210372"/>
            <a:ext cx="7813019" cy="300082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pPr defTabSz="914378">
              <a:spcBef>
                <a:spcPct val="0"/>
              </a:spcBef>
              <a:defRPr/>
            </a:pPr>
            <a:r>
              <a:rPr lang="en-US" sz="1500" b="1">
                <a:solidFill>
                  <a:srgbClr val="C00000"/>
                </a:solidFill>
                <a:latin typeface="AirIndia"/>
              </a:rPr>
              <a:t>Zero Touch, Zero Trust (ZTZT)  </a:t>
            </a:r>
            <a:r>
              <a:rPr lang="en-US" sz="1500">
                <a:solidFill>
                  <a:prstClr val="white">
                    <a:lumMod val="50000"/>
                  </a:prstClr>
                </a:solidFill>
                <a:latin typeface="AirIndia"/>
              </a:rPr>
              <a:t>-  Principles Reimagining HR Payroll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BD968F-0A78-0F2B-AE4A-35DD34D599E1}"/>
              </a:ext>
            </a:extLst>
          </p:cNvPr>
          <p:cNvSpPr txBox="1"/>
          <p:nvPr/>
        </p:nvSpPr>
        <p:spPr>
          <a:xfrm>
            <a:off x="210383" y="631116"/>
            <a:ext cx="8580721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900" b="1" i="0" u="none" strike="noStrike" baseline="0">
                <a:solidFill>
                  <a:srgbClr val="C62828"/>
                </a:solidFill>
                <a:latin typeface="Aptos" panose="020B0004020202020204" pitchFamily="34" charset="0"/>
              </a:rPr>
              <a:t>6</a:t>
            </a:r>
            <a:r>
              <a:rPr lang="en-US" sz="900" b="0" i="0" u="none" strike="noStrike" baseline="0">
                <a:solidFill>
                  <a:srgbClr val="4B5563"/>
                </a:solidFill>
                <a:latin typeface="Aptos" panose="020B0004020202020204" pitchFamily="34" charset="0"/>
              </a:rPr>
              <a:t> </a:t>
            </a:r>
            <a:r>
              <a:rPr lang="en-US" sz="900" kern="0">
                <a:solidFill>
                  <a:srgbClr val="1A1A1A">
                    <a:alpha val="99000"/>
                  </a:srgbClr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90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principles that eliminate human intervention from the payroll lifecycle — not by automating bad processes, but by redesigning them.</a:t>
            </a:r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099E9877-764F-BEC1-2176-F36F5668138D}"/>
              </a:ext>
            </a:extLst>
          </p:cNvPr>
          <p:cNvSpPr/>
          <p:nvPr/>
        </p:nvSpPr>
        <p:spPr>
          <a:xfrm>
            <a:off x="6092493" y="2863259"/>
            <a:ext cx="2743200" cy="1645920"/>
          </a:xfrm>
          <a:prstGeom prst="roundRect">
            <a:avLst>
              <a:gd name="adj" fmla="val 2826"/>
            </a:avLst>
          </a:prstGeom>
          <a:solidFill>
            <a:srgbClr val="2AADBA">
              <a:alpha val="12157"/>
            </a:srgbClr>
          </a:solidFill>
          <a:ln w="716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7C78BA26-D25C-C3DF-2325-7E4ACCFBF219}"/>
              </a:ext>
            </a:extLst>
          </p:cNvPr>
          <p:cNvSpPr/>
          <p:nvPr/>
        </p:nvSpPr>
        <p:spPr>
          <a:xfrm>
            <a:off x="3207297" y="2866464"/>
            <a:ext cx="2743200" cy="1645920"/>
          </a:xfrm>
          <a:prstGeom prst="roundRect">
            <a:avLst>
              <a:gd name="adj" fmla="val 2826"/>
            </a:avLst>
          </a:prstGeom>
          <a:solidFill>
            <a:srgbClr val="4E92DE">
              <a:alpha val="12157"/>
            </a:srgbClr>
          </a:solidFill>
          <a:ln w="716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4D9772AC-0998-03C8-3887-E10C613467A9}"/>
              </a:ext>
            </a:extLst>
          </p:cNvPr>
          <p:cNvSpPr/>
          <p:nvPr/>
        </p:nvSpPr>
        <p:spPr>
          <a:xfrm>
            <a:off x="300324" y="2866464"/>
            <a:ext cx="2743200" cy="1645920"/>
          </a:xfrm>
          <a:prstGeom prst="roundRect">
            <a:avLst>
              <a:gd name="adj" fmla="val 2826"/>
            </a:avLst>
          </a:prstGeom>
          <a:solidFill>
            <a:srgbClr val="9E6AD2">
              <a:alpha val="12157"/>
            </a:srgbClr>
          </a:solidFill>
          <a:ln w="716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FC5C49C-1848-E226-6F93-914199E27A43}"/>
              </a:ext>
            </a:extLst>
          </p:cNvPr>
          <p:cNvSpPr/>
          <p:nvPr/>
        </p:nvSpPr>
        <p:spPr>
          <a:xfrm>
            <a:off x="6094664" y="1086273"/>
            <a:ext cx="2743200" cy="1645920"/>
          </a:xfrm>
          <a:prstGeom prst="roundRect">
            <a:avLst>
              <a:gd name="adj" fmla="val 2826"/>
            </a:avLst>
          </a:prstGeom>
          <a:solidFill>
            <a:srgbClr val="FF9E3A">
              <a:alpha val="12157"/>
            </a:srgbClr>
          </a:solidFill>
          <a:ln w="716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8EED6AE5-1827-515D-D2F5-5D865F9C881D}"/>
              </a:ext>
            </a:extLst>
          </p:cNvPr>
          <p:cNvSpPr/>
          <p:nvPr/>
        </p:nvSpPr>
        <p:spPr>
          <a:xfrm>
            <a:off x="3200400" y="1082950"/>
            <a:ext cx="2743200" cy="1645920"/>
          </a:xfrm>
          <a:prstGeom prst="roundRect">
            <a:avLst>
              <a:gd name="adj" fmla="val 2826"/>
            </a:avLst>
          </a:prstGeom>
          <a:solidFill>
            <a:srgbClr val="EE6567">
              <a:alpha val="12157"/>
            </a:srgbClr>
          </a:solidFill>
          <a:ln w="716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DF5CD1EE-BB1F-34AE-DD1A-26D8E30DB5C6}"/>
              </a:ext>
            </a:extLst>
          </p:cNvPr>
          <p:cNvSpPr/>
          <p:nvPr/>
        </p:nvSpPr>
        <p:spPr>
          <a:xfrm>
            <a:off x="300324" y="1081626"/>
            <a:ext cx="2743200" cy="1645920"/>
          </a:xfrm>
          <a:prstGeom prst="roundRect">
            <a:avLst>
              <a:gd name="adj" fmla="val 3219"/>
            </a:avLst>
          </a:prstGeom>
          <a:solidFill>
            <a:srgbClr val="E57AAE">
              <a:alpha val="12157"/>
            </a:srgbClr>
          </a:solidFill>
          <a:ln w="716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EE2CED9C-6158-103C-8141-C249A38B0124}"/>
              </a:ext>
            </a:extLst>
          </p:cNvPr>
          <p:cNvSpPr/>
          <p:nvPr/>
        </p:nvSpPr>
        <p:spPr>
          <a:xfrm>
            <a:off x="392477" y="1630100"/>
            <a:ext cx="1170192" cy="957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>
            <a:spAutoFit/>
          </a:bodyPr>
          <a:lstStyle/>
          <a:p>
            <a:pPr>
              <a:lnSpc>
                <a:spcPts val="727"/>
              </a:lnSpc>
            </a:pPr>
            <a:r>
              <a:rPr lang="en-US" sz="800" b="1" kern="0" spc="4">
                <a:solidFill>
                  <a:srgbClr val="3F3F3F"/>
                </a:solidFill>
                <a:latin typeface="Aptos" panose="020B0004020202020204" pitchFamily="34" charset="0"/>
                <a:ea typeface="Inter"/>
                <a:cs typeface="Calibri"/>
              </a:rPr>
              <a:t>Zero Trust on Every Input</a:t>
            </a:r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1D64F121-26FA-59DD-6133-C4708373D599}"/>
              </a:ext>
            </a:extLst>
          </p:cNvPr>
          <p:cNvSpPr/>
          <p:nvPr/>
        </p:nvSpPr>
        <p:spPr>
          <a:xfrm>
            <a:off x="392478" y="1893051"/>
            <a:ext cx="2560320" cy="510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00" kern="0" spc="1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Inter"/>
              </a:rPr>
              <a:t>Every input - attendance, bank detail change, reimbursement claim, API call - is continuously verified at source. No actor or system is trusted by default, regardless of origin.</a:t>
            </a:r>
          </a:p>
        </p:txBody>
      </p:sp>
      <p:sp>
        <p:nvSpPr>
          <p:cNvPr id="20" name="Text 22">
            <a:extLst>
              <a:ext uri="{FF2B5EF4-FFF2-40B4-BE49-F238E27FC236}">
                <a16:creationId xmlns:a16="http://schemas.microsoft.com/office/drawing/2014/main" id="{6330F80A-D676-2520-E0A9-00FF9EF70D88}"/>
              </a:ext>
            </a:extLst>
          </p:cNvPr>
          <p:cNvSpPr/>
          <p:nvPr/>
        </p:nvSpPr>
        <p:spPr>
          <a:xfrm>
            <a:off x="3292790" y="1630100"/>
            <a:ext cx="2523255" cy="957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>
            <a:spAutoFit/>
          </a:bodyPr>
          <a:lstStyle/>
          <a:p>
            <a:pPr>
              <a:lnSpc>
                <a:spcPts val="727"/>
              </a:lnSpc>
            </a:pPr>
            <a:r>
              <a:rPr lang="en-US" sz="800" b="1" kern="0" spc="4">
                <a:solidFill>
                  <a:srgbClr val="3F3F3F"/>
                </a:solidFill>
                <a:latin typeface="Aptos" panose="020B0004020202020204" pitchFamily="34" charset="0"/>
                <a:ea typeface="Inter"/>
                <a:cs typeface="Calibri"/>
              </a:rPr>
              <a:t>Maximum Automation, Minimum Human Dependency</a:t>
            </a:r>
          </a:p>
        </p:txBody>
      </p:sp>
      <p:sp>
        <p:nvSpPr>
          <p:cNvPr id="21" name="Text 24">
            <a:extLst>
              <a:ext uri="{FF2B5EF4-FFF2-40B4-BE49-F238E27FC236}">
                <a16:creationId xmlns:a16="http://schemas.microsoft.com/office/drawing/2014/main" id="{68D8BFDD-5F35-C5AE-050E-D96A315AF336}"/>
              </a:ext>
            </a:extLst>
          </p:cNvPr>
          <p:cNvSpPr/>
          <p:nvPr/>
        </p:nvSpPr>
        <p:spPr>
          <a:xfrm>
            <a:off x="3292790" y="1886603"/>
            <a:ext cx="2560320" cy="618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00" kern="0" spc="1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Inter"/>
              </a:rPr>
              <a:t>The payroll lifecycle executes through policy-driven workflows. Humans intervene only for exceptions - not routine processing. If a human is in the loop today, that is a design flaw to be fixed.</a:t>
            </a:r>
          </a:p>
        </p:txBody>
      </p:sp>
      <p:sp>
        <p:nvSpPr>
          <p:cNvPr id="22" name="Text 31">
            <a:extLst>
              <a:ext uri="{FF2B5EF4-FFF2-40B4-BE49-F238E27FC236}">
                <a16:creationId xmlns:a16="http://schemas.microsoft.com/office/drawing/2014/main" id="{E24E16F6-450E-4CC3-050F-59416386DF90}"/>
              </a:ext>
            </a:extLst>
          </p:cNvPr>
          <p:cNvSpPr/>
          <p:nvPr/>
        </p:nvSpPr>
        <p:spPr>
          <a:xfrm>
            <a:off x="6193160" y="1630100"/>
            <a:ext cx="1742208" cy="957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>
            <a:spAutoFit/>
          </a:bodyPr>
          <a:lstStyle/>
          <a:p>
            <a:pPr>
              <a:lnSpc>
                <a:spcPts val="727"/>
              </a:lnSpc>
            </a:pPr>
            <a:r>
              <a:rPr lang="en-US" sz="800" b="1" kern="0" spc="4">
                <a:solidFill>
                  <a:srgbClr val="3F3F3F"/>
                </a:solidFill>
                <a:latin typeface="Aptos" panose="020B0004020202020204" pitchFamily="34" charset="0"/>
                <a:ea typeface="Inter"/>
                <a:cs typeface="Calibri"/>
              </a:rPr>
              <a:t>Policy-Driven Access, Least Privilege</a:t>
            </a:r>
          </a:p>
        </p:txBody>
      </p:sp>
      <p:sp>
        <p:nvSpPr>
          <p:cNvPr id="23" name="Text 33">
            <a:extLst>
              <a:ext uri="{FF2B5EF4-FFF2-40B4-BE49-F238E27FC236}">
                <a16:creationId xmlns:a16="http://schemas.microsoft.com/office/drawing/2014/main" id="{14103D2F-FC3C-982B-3AC1-FFE6543D197B}"/>
              </a:ext>
            </a:extLst>
          </p:cNvPr>
          <p:cNvSpPr/>
          <p:nvPr/>
        </p:nvSpPr>
        <p:spPr>
          <a:xfrm>
            <a:off x="6193161" y="1893051"/>
            <a:ext cx="2560320" cy="510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800" kern="0" spc="1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Inter"/>
              </a:rPr>
              <a:t>Every user, bot, API, and vendor receives only the minimum access required for a specific task and duration. HRBP cannot access full payroll bank data. Payroll bot cannot modify employee master.</a:t>
            </a:r>
          </a:p>
        </p:txBody>
      </p:sp>
      <p:sp>
        <p:nvSpPr>
          <p:cNvPr id="24" name="Text 40">
            <a:extLst>
              <a:ext uri="{FF2B5EF4-FFF2-40B4-BE49-F238E27FC236}">
                <a16:creationId xmlns:a16="http://schemas.microsoft.com/office/drawing/2014/main" id="{77D90B3D-4614-28A6-00FF-A2B2B4E01967}"/>
              </a:ext>
            </a:extLst>
          </p:cNvPr>
          <p:cNvSpPr/>
          <p:nvPr/>
        </p:nvSpPr>
        <p:spPr>
          <a:xfrm>
            <a:off x="392477" y="3416460"/>
            <a:ext cx="2076594" cy="957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727"/>
              </a:lnSpc>
            </a:pPr>
            <a:r>
              <a:rPr lang="en-US" sz="800" b="1" kern="0" spc="4">
                <a:solidFill>
                  <a:srgbClr val="3F3F3F"/>
                </a:solidFill>
                <a:latin typeface="Aptos" panose="020B0004020202020204" pitchFamily="34" charset="0"/>
                <a:ea typeface="Inter"/>
                <a:cs typeface="Calibri"/>
              </a:rPr>
              <a:t>Continuous Validation &amp; Real-Time Controls</a:t>
            </a:r>
          </a:p>
        </p:txBody>
      </p:sp>
      <p:sp>
        <p:nvSpPr>
          <p:cNvPr id="25" name="Text 42">
            <a:extLst>
              <a:ext uri="{FF2B5EF4-FFF2-40B4-BE49-F238E27FC236}">
                <a16:creationId xmlns:a16="http://schemas.microsoft.com/office/drawing/2014/main" id="{EC904959-8F4A-FAFF-E3A9-7413F33D9124}"/>
              </a:ext>
            </a:extLst>
          </p:cNvPr>
          <p:cNvSpPr/>
          <p:nvPr/>
        </p:nvSpPr>
        <p:spPr>
          <a:xfrm>
            <a:off x="392478" y="3686336"/>
            <a:ext cx="2560320" cy="683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980"/>
              </a:lnSpc>
            </a:pPr>
            <a:r>
              <a:rPr lang="en-US" sz="800" kern="0" spc="1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Inter"/>
              </a:rPr>
              <a:t>The system validates anomalies before execution - unusual salary spikes, duplicate bank accounts, stat threshold breaches - with automated alerts and hard stops. No error reaches the bank file unchecked.</a:t>
            </a:r>
          </a:p>
        </p:txBody>
      </p:sp>
      <p:sp>
        <p:nvSpPr>
          <p:cNvPr id="26" name="Text 49">
            <a:extLst>
              <a:ext uri="{FF2B5EF4-FFF2-40B4-BE49-F238E27FC236}">
                <a16:creationId xmlns:a16="http://schemas.microsoft.com/office/drawing/2014/main" id="{B453488F-D4BF-2949-419D-C11CE724608D}"/>
              </a:ext>
            </a:extLst>
          </p:cNvPr>
          <p:cNvSpPr/>
          <p:nvPr/>
        </p:nvSpPr>
        <p:spPr>
          <a:xfrm>
            <a:off x="3306962" y="3416460"/>
            <a:ext cx="1451166" cy="957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indent="0">
              <a:lnSpc>
                <a:spcPts val="727"/>
              </a:lnSpc>
              <a:buNone/>
            </a:pPr>
            <a:r>
              <a:rPr lang="en-US" sz="800" b="1" kern="0" spc="4">
                <a:solidFill>
                  <a:srgbClr val="3F3F3F"/>
                </a:solidFill>
                <a:latin typeface="Aptos" panose="020B0004020202020204" pitchFamily="34" charset="0"/>
                <a:ea typeface="Inter"/>
                <a:cs typeface="Calibri"/>
              </a:rPr>
              <a:t>Elimination Before Automation</a:t>
            </a:r>
          </a:p>
        </p:txBody>
      </p:sp>
      <p:sp>
        <p:nvSpPr>
          <p:cNvPr id="27" name="Text 51">
            <a:extLst>
              <a:ext uri="{FF2B5EF4-FFF2-40B4-BE49-F238E27FC236}">
                <a16:creationId xmlns:a16="http://schemas.microsoft.com/office/drawing/2014/main" id="{C81B3FBC-866D-DB1E-C104-3F3EC12DF7A9}"/>
              </a:ext>
            </a:extLst>
          </p:cNvPr>
          <p:cNvSpPr/>
          <p:nvPr/>
        </p:nvSpPr>
        <p:spPr>
          <a:xfrm>
            <a:off x="3306964" y="3686336"/>
            <a:ext cx="2560320" cy="683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>
              <a:lnSpc>
                <a:spcPts val="980"/>
              </a:lnSpc>
              <a:buNone/>
            </a:pPr>
            <a:r>
              <a:rPr lang="en-US" sz="800" kern="0" spc="1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Inter"/>
              </a:rPr>
              <a:t>If a manual step can be removed entirely, do not automate it - eliminate it. The CAE Excel chain is not automated; it is replaced with a direct API feed. The Draft Register loop is not sped up; it is rendered unnecessary.</a:t>
            </a:r>
          </a:p>
        </p:txBody>
      </p:sp>
      <p:sp>
        <p:nvSpPr>
          <p:cNvPr id="28" name="Text 58">
            <a:extLst>
              <a:ext uri="{FF2B5EF4-FFF2-40B4-BE49-F238E27FC236}">
                <a16:creationId xmlns:a16="http://schemas.microsoft.com/office/drawing/2014/main" id="{4E1AC268-F9E7-7CFA-8759-FB2F6727E1B0}"/>
              </a:ext>
            </a:extLst>
          </p:cNvPr>
          <p:cNvSpPr/>
          <p:nvPr/>
        </p:nvSpPr>
        <p:spPr>
          <a:xfrm>
            <a:off x="6177075" y="3415819"/>
            <a:ext cx="1930208" cy="957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>
            <a:spAutoFit/>
          </a:bodyPr>
          <a:lstStyle/>
          <a:p>
            <a:pPr>
              <a:lnSpc>
                <a:spcPts val="727"/>
              </a:lnSpc>
            </a:pPr>
            <a:r>
              <a:rPr lang="en-US" sz="800" b="1" kern="0" spc="4">
                <a:solidFill>
                  <a:srgbClr val="3F3F3F"/>
                </a:solidFill>
                <a:latin typeface="Aptos" panose="020B0004020202020204" pitchFamily="34" charset="0"/>
                <a:ea typeface="Inter"/>
                <a:cs typeface="Calibri"/>
              </a:rPr>
              <a:t>Progressive Delivery — Highest Risk First</a:t>
            </a:r>
          </a:p>
        </p:txBody>
      </p:sp>
      <p:sp>
        <p:nvSpPr>
          <p:cNvPr id="29" name="Text 60">
            <a:extLst>
              <a:ext uri="{FF2B5EF4-FFF2-40B4-BE49-F238E27FC236}">
                <a16:creationId xmlns:a16="http://schemas.microsoft.com/office/drawing/2014/main" id="{0913E9F9-52AB-AD28-0254-2BBFA08924C6}"/>
              </a:ext>
            </a:extLst>
          </p:cNvPr>
          <p:cNvSpPr/>
          <p:nvPr/>
        </p:nvSpPr>
        <p:spPr>
          <a:xfrm>
            <a:off x="6177076" y="3661074"/>
            <a:ext cx="2560320" cy="683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980"/>
              </a:lnSpc>
            </a:pPr>
            <a:r>
              <a:rPr lang="en-US" sz="800" kern="0" spc="1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Inter"/>
              </a:rPr>
              <a:t>Compliance risk (</a:t>
            </a:r>
            <a:r>
              <a:rPr lang="en-US" sz="800" kern="0" spc="10" err="1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Inter"/>
              </a:rPr>
              <a:t>FnF</a:t>
            </a:r>
            <a:r>
              <a:rPr lang="en-US" sz="800" kern="0" spc="1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Inter"/>
              </a:rPr>
              <a:t>/Code on Wages) addressed in M2-3. Highest volume manual inputs next. Tail-end cleanup last. No big-bang cutover. Each phase delivers measurable reduction in manual </a:t>
            </a:r>
            <a:r>
              <a:rPr lang="en-US" sz="800" kern="0" spc="10" err="1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Inter"/>
              </a:rPr>
              <a:t>payheads</a:t>
            </a:r>
            <a:r>
              <a:rPr lang="en-US" sz="800" kern="0" spc="1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Inter"/>
              </a:rPr>
              <a:t>.</a:t>
            </a:r>
          </a:p>
        </p:txBody>
      </p:sp>
      <p:sp>
        <p:nvSpPr>
          <p:cNvPr id="30" name="Round Same Side Corner Rectangle 29">
            <a:extLst>
              <a:ext uri="{FF2B5EF4-FFF2-40B4-BE49-F238E27FC236}">
                <a16:creationId xmlns:a16="http://schemas.microsoft.com/office/drawing/2014/main" id="{09D3FEF9-3ABA-D09E-44F3-4E5EEA36255E}"/>
              </a:ext>
            </a:extLst>
          </p:cNvPr>
          <p:cNvSpPr/>
          <p:nvPr/>
        </p:nvSpPr>
        <p:spPr>
          <a:xfrm rot="5400000">
            <a:off x="473506" y="1039453"/>
            <a:ext cx="256699" cy="602520"/>
          </a:xfrm>
          <a:prstGeom prst="round2SameRect">
            <a:avLst/>
          </a:prstGeom>
          <a:solidFill>
            <a:srgbClr val="D9528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484"/>
              </a:lnSpc>
            </a:pPr>
            <a:endParaRPr lang="en-US" b="1">
              <a:solidFill>
                <a:schemeClr val="bg1"/>
              </a:solidFill>
              <a:latin typeface="Aptos ExtraBold" panose="020B0004020202020204" pitchFamily="34" charset="0"/>
            </a:endParaRPr>
          </a:p>
        </p:txBody>
      </p:sp>
      <p:sp>
        <p:nvSpPr>
          <p:cNvPr id="31" name="Round Same Side Corner Rectangle 30">
            <a:extLst>
              <a:ext uri="{FF2B5EF4-FFF2-40B4-BE49-F238E27FC236}">
                <a16:creationId xmlns:a16="http://schemas.microsoft.com/office/drawing/2014/main" id="{00466A68-0468-2F30-311F-708EB84E7B95}"/>
              </a:ext>
            </a:extLst>
          </p:cNvPr>
          <p:cNvSpPr/>
          <p:nvPr/>
        </p:nvSpPr>
        <p:spPr>
          <a:xfrm rot="5400000">
            <a:off x="3379621" y="1039454"/>
            <a:ext cx="256699" cy="602520"/>
          </a:xfrm>
          <a:prstGeom prst="round2SameRect">
            <a:avLst/>
          </a:prstGeom>
          <a:solidFill>
            <a:srgbClr val="FF7B8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484"/>
              </a:lnSpc>
            </a:pPr>
            <a:endParaRPr lang="en-US" b="1">
              <a:solidFill>
                <a:schemeClr val="bg1"/>
              </a:solidFill>
              <a:latin typeface="Aptos ExtraBold" panose="020B0004020202020204" pitchFamily="34" charset="0"/>
            </a:endParaRPr>
          </a:p>
        </p:txBody>
      </p:sp>
      <p:sp>
        <p:nvSpPr>
          <p:cNvPr id="32" name="Round Same Side Corner Rectangle 31">
            <a:extLst>
              <a:ext uri="{FF2B5EF4-FFF2-40B4-BE49-F238E27FC236}">
                <a16:creationId xmlns:a16="http://schemas.microsoft.com/office/drawing/2014/main" id="{BFF20BA3-8166-41AC-7649-989F6C2CCF71}"/>
              </a:ext>
            </a:extLst>
          </p:cNvPr>
          <p:cNvSpPr/>
          <p:nvPr/>
        </p:nvSpPr>
        <p:spPr>
          <a:xfrm rot="5400000">
            <a:off x="6266142" y="1039455"/>
            <a:ext cx="256699" cy="602520"/>
          </a:xfrm>
          <a:prstGeom prst="round2Same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484"/>
              </a:lnSpc>
            </a:pPr>
            <a:endParaRPr lang="en-US" b="1">
              <a:solidFill>
                <a:schemeClr val="bg1"/>
              </a:solidFill>
              <a:latin typeface="Aptos ExtraBold" panose="020B0004020202020204" pitchFamily="34" charset="0"/>
            </a:endParaRPr>
          </a:p>
        </p:txBody>
      </p:sp>
      <p:sp>
        <p:nvSpPr>
          <p:cNvPr id="33" name="Round Same Side Corner Rectangle 32">
            <a:extLst>
              <a:ext uri="{FF2B5EF4-FFF2-40B4-BE49-F238E27FC236}">
                <a16:creationId xmlns:a16="http://schemas.microsoft.com/office/drawing/2014/main" id="{F7738291-FB1F-1C0C-4FA9-5710DF82008B}"/>
              </a:ext>
            </a:extLst>
          </p:cNvPr>
          <p:cNvSpPr/>
          <p:nvPr/>
        </p:nvSpPr>
        <p:spPr>
          <a:xfrm rot="5400000">
            <a:off x="473506" y="2829065"/>
            <a:ext cx="256699" cy="602520"/>
          </a:xfrm>
          <a:prstGeom prst="round2SameRect">
            <a:avLst/>
          </a:prstGeom>
          <a:solidFill>
            <a:srgbClr val="8B51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484"/>
              </a:lnSpc>
            </a:pPr>
            <a:endParaRPr lang="en-US" b="1">
              <a:solidFill>
                <a:schemeClr val="bg1"/>
              </a:solidFill>
              <a:latin typeface="Aptos ExtraBold" panose="020B0004020202020204" pitchFamily="34" charset="0"/>
            </a:endParaRPr>
          </a:p>
        </p:txBody>
      </p:sp>
      <p:sp>
        <p:nvSpPr>
          <p:cNvPr id="34" name="Round Same Side Corner Rectangle 33">
            <a:extLst>
              <a:ext uri="{FF2B5EF4-FFF2-40B4-BE49-F238E27FC236}">
                <a16:creationId xmlns:a16="http://schemas.microsoft.com/office/drawing/2014/main" id="{524D033A-F12F-140B-2247-63B558261F0C}"/>
              </a:ext>
            </a:extLst>
          </p:cNvPr>
          <p:cNvSpPr/>
          <p:nvPr/>
        </p:nvSpPr>
        <p:spPr>
          <a:xfrm rot="5400000">
            <a:off x="3379621" y="2829066"/>
            <a:ext cx="256699" cy="602520"/>
          </a:xfrm>
          <a:prstGeom prst="round2SameRect">
            <a:avLst/>
          </a:prstGeom>
          <a:solidFill>
            <a:srgbClr val="0177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484"/>
              </a:lnSpc>
            </a:pPr>
            <a:endParaRPr lang="en-US" b="1">
              <a:solidFill>
                <a:schemeClr val="bg1"/>
              </a:solidFill>
              <a:latin typeface="Aptos ExtraBold" panose="020B0004020202020204" pitchFamily="34" charset="0"/>
            </a:endParaRPr>
          </a:p>
        </p:txBody>
      </p:sp>
      <p:sp>
        <p:nvSpPr>
          <p:cNvPr id="35" name="Round Same Side Corner Rectangle 34">
            <a:extLst>
              <a:ext uri="{FF2B5EF4-FFF2-40B4-BE49-F238E27FC236}">
                <a16:creationId xmlns:a16="http://schemas.microsoft.com/office/drawing/2014/main" id="{54B443DD-079A-B1B0-077E-B143829B9489}"/>
              </a:ext>
            </a:extLst>
          </p:cNvPr>
          <p:cNvSpPr/>
          <p:nvPr/>
        </p:nvSpPr>
        <p:spPr>
          <a:xfrm rot="5400000">
            <a:off x="6266142" y="2829067"/>
            <a:ext cx="256699" cy="602520"/>
          </a:xfrm>
          <a:prstGeom prst="round2SameRect">
            <a:avLst/>
          </a:prstGeom>
          <a:solidFill>
            <a:srgbClr val="349D9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484"/>
              </a:lnSpc>
            </a:pPr>
            <a:endParaRPr lang="en-US" b="1">
              <a:solidFill>
                <a:schemeClr val="bg1"/>
              </a:solidFill>
              <a:latin typeface="Aptos ExtraBold" panose="020B0004020202020204" pitchFamily="3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BE3974B-AACE-306B-5817-7FB1CF518C47}"/>
              </a:ext>
            </a:extLst>
          </p:cNvPr>
          <p:cNvSpPr/>
          <p:nvPr/>
        </p:nvSpPr>
        <p:spPr>
          <a:xfrm>
            <a:off x="302901" y="1193089"/>
            <a:ext cx="471243" cy="2480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484"/>
              </a:lnSpc>
            </a:pPr>
            <a:r>
              <a:rPr lang="en-US" sz="1600" b="1" kern="0">
                <a:solidFill>
                  <a:schemeClr val="bg1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600" b="1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F9B2A72-4ADC-DFD0-1913-0365E0C11862}"/>
              </a:ext>
            </a:extLst>
          </p:cNvPr>
          <p:cNvSpPr/>
          <p:nvPr/>
        </p:nvSpPr>
        <p:spPr>
          <a:xfrm>
            <a:off x="3209016" y="1193090"/>
            <a:ext cx="471243" cy="2480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484"/>
              </a:lnSpc>
            </a:pPr>
            <a:r>
              <a:rPr lang="en-US" sz="1600" b="1" kern="0">
                <a:solidFill>
                  <a:schemeClr val="bg1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600" b="1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FFF0993-82CF-1A93-F1F3-D1B233BF1C6E}"/>
              </a:ext>
            </a:extLst>
          </p:cNvPr>
          <p:cNvSpPr/>
          <p:nvPr/>
        </p:nvSpPr>
        <p:spPr>
          <a:xfrm>
            <a:off x="6095537" y="1193091"/>
            <a:ext cx="471243" cy="2480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484"/>
              </a:lnSpc>
            </a:pPr>
            <a:r>
              <a:rPr lang="en-US" sz="1600" b="1" kern="0">
                <a:solidFill>
                  <a:schemeClr val="bg1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600" b="1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5513E11-070B-D26A-6692-7CA3852DB9F0}"/>
              </a:ext>
            </a:extLst>
          </p:cNvPr>
          <p:cNvSpPr/>
          <p:nvPr/>
        </p:nvSpPr>
        <p:spPr>
          <a:xfrm>
            <a:off x="302901" y="2982701"/>
            <a:ext cx="471243" cy="2480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484"/>
              </a:lnSpc>
            </a:pPr>
            <a:r>
              <a:rPr lang="en-US" sz="1600" b="1" kern="0">
                <a:solidFill>
                  <a:schemeClr val="bg1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600" b="1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447F854-7993-3756-BA6B-E1A905DD8DCD}"/>
              </a:ext>
            </a:extLst>
          </p:cNvPr>
          <p:cNvSpPr/>
          <p:nvPr/>
        </p:nvSpPr>
        <p:spPr>
          <a:xfrm>
            <a:off x="3209016" y="2982702"/>
            <a:ext cx="471243" cy="2480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484"/>
              </a:lnSpc>
            </a:pPr>
            <a:r>
              <a:rPr lang="en-US" sz="1600" b="1" kern="0">
                <a:solidFill>
                  <a:schemeClr val="bg1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600" b="1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096C996-0BEC-6F8A-0992-7C5B2F80D34B}"/>
              </a:ext>
            </a:extLst>
          </p:cNvPr>
          <p:cNvSpPr/>
          <p:nvPr/>
        </p:nvSpPr>
        <p:spPr>
          <a:xfrm>
            <a:off x="6095537" y="2982703"/>
            <a:ext cx="471243" cy="2480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484"/>
              </a:lnSpc>
            </a:pPr>
            <a:r>
              <a:rPr lang="en-US" sz="1600" b="1" kern="0">
                <a:solidFill>
                  <a:schemeClr val="bg1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600" b="1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BB59E657-853C-B63A-B741-C51A7DBCF7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9597" y="1225103"/>
            <a:ext cx="229403" cy="229403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9B23ED07-B4AA-D23B-49AC-BF785CCC64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3488" y="1232002"/>
            <a:ext cx="229403" cy="229403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AB2C9419-2FF8-9FC8-A988-049E357406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2385" y="1232002"/>
            <a:ext cx="229403" cy="229403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5D60BA5E-42AD-BEB0-CA91-FF1280A006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69206" y="3014715"/>
            <a:ext cx="229403" cy="229403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CC513C87-EED3-87AC-4557-C45E6E9635D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63488" y="3012251"/>
            <a:ext cx="229403" cy="229403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A77BE817-D91D-C874-935D-AF9C88D5CF0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52385" y="3012251"/>
            <a:ext cx="229403" cy="229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3568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Shape 9">
            <a:extLst>
              <a:ext uri="{FF2B5EF4-FFF2-40B4-BE49-F238E27FC236}">
                <a16:creationId xmlns:a16="http://schemas.microsoft.com/office/drawing/2014/main" id="{34CA2189-E3A4-6862-AD81-7ED82712CD9F}"/>
              </a:ext>
            </a:extLst>
          </p:cNvPr>
          <p:cNvSpPr/>
          <p:nvPr/>
        </p:nvSpPr>
        <p:spPr>
          <a:xfrm>
            <a:off x="4107721" y="922365"/>
            <a:ext cx="1143021" cy="3052788"/>
          </a:xfrm>
          <a:prstGeom prst="roundRect">
            <a:avLst>
              <a:gd name="adj" fmla="val 3490"/>
            </a:avLst>
          </a:prstGeom>
          <a:solidFill>
            <a:srgbClr val="66C07E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Shape 29">
            <a:extLst>
              <a:ext uri="{FF2B5EF4-FFF2-40B4-BE49-F238E27FC236}">
                <a16:creationId xmlns:a16="http://schemas.microsoft.com/office/drawing/2014/main" id="{C4C16A06-887F-CD57-06E1-06657EAC754D}"/>
              </a:ext>
            </a:extLst>
          </p:cNvPr>
          <p:cNvSpPr/>
          <p:nvPr/>
        </p:nvSpPr>
        <p:spPr>
          <a:xfrm>
            <a:off x="4176727" y="1228257"/>
            <a:ext cx="997946" cy="536379"/>
          </a:xfrm>
          <a:prstGeom prst="rect">
            <a:avLst/>
          </a:prstGeom>
          <a:solidFill>
            <a:srgbClr val="F0FCF5"/>
          </a:solidFill>
          <a:ln w="6350">
            <a:solidFill>
              <a:srgbClr val="66C07E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4" name="Shape 29">
            <a:extLst>
              <a:ext uri="{FF2B5EF4-FFF2-40B4-BE49-F238E27FC236}">
                <a16:creationId xmlns:a16="http://schemas.microsoft.com/office/drawing/2014/main" id="{AF12D24D-E60F-4471-1BCF-BCA7078BE6AC}"/>
              </a:ext>
            </a:extLst>
          </p:cNvPr>
          <p:cNvSpPr/>
          <p:nvPr/>
        </p:nvSpPr>
        <p:spPr>
          <a:xfrm>
            <a:off x="4176727" y="1763278"/>
            <a:ext cx="997946" cy="536379"/>
          </a:xfrm>
          <a:prstGeom prst="rect">
            <a:avLst/>
          </a:prstGeom>
          <a:solidFill>
            <a:srgbClr val="F0FCF5"/>
          </a:solidFill>
          <a:ln w="6350">
            <a:solidFill>
              <a:srgbClr val="66C07E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5" name="Shape 29">
            <a:extLst>
              <a:ext uri="{FF2B5EF4-FFF2-40B4-BE49-F238E27FC236}">
                <a16:creationId xmlns:a16="http://schemas.microsoft.com/office/drawing/2014/main" id="{AE01A82C-D837-DCDA-2549-481EE195BEA6}"/>
              </a:ext>
            </a:extLst>
          </p:cNvPr>
          <p:cNvSpPr/>
          <p:nvPr/>
        </p:nvSpPr>
        <p:spPr>
          <a:xfrm>
            <a:off x="4176727" y="2298299"/>
            <a:ext cx="997946" cy="536379"/>
          </a:xfrm>
          <a:prstGeom prst="rect">
            <a:avLst/>
          </a:prstGeom>
          <a:solidFill>
            <a:srgbClr val="F0FCF5"/>
          </a:solidFill>
          <a:ln w="6350">
            <a:solidFill>
              <a:srgbClr val="66C07E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95" name="Shape 9">
            <a:extLst>
              <a:ext uri="{FF2B5EF4-FFF2-40B4-BE49-F238E27FC236}">
                <a16:creationId xmlns:a16="http://schemas.microsoft.com/office/drawing/2014/main" id="{2E78BB5D-B4DB-6C53-11C7-E7FC4AC16A99}"/>
              </a:ext>
            </a:extLst>
          </p:cNvPr>
          <p:cNvSpPr/>
          <p:nvPr/>
        </p:nvSpPr>
        <p:spPr>
          <a:xfrm>
            <a:off x="2643306" y="922365"/>
            <a:ext cx="1374229" cy="3052788"/>
          </a:xfrm>
          <a:prstGeom prst="roundRect">
            <a:avLst>
              <a:gd name="adj" fmla="val 3490"/>
            </a:avLst>
          </a:prstGeom>
          <a:solidFill>
            <a:srgbClr val="349D9E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Shape 29">
            <a:extLst>
              <a:ext uri="{FF2B5EF4-FFF2-40B4-BE49-F238E27FC236}">
                <a16:creationId xmlns:a16="http://schemas.microsoft.com/office/drawing/2014/main" id="{1204FDE9-DD5C-6D36-7588-4934ED5C4F8F}"/>
              </a:ext>
            </a:extLst>
          </p:cNvPr>
          <p:cNvSpPr/>
          <p:nvPr/>
        </p:nvSpPr>
        <p:spPr>
          <a:xfrm>
            <a:off x="2712312" y="1228258"/>
            <a:ext cx="1234440" cy="427236"/>
          </a:xfrm>
          <a:prstGeom prst="rect">
            <a:avLst/>
          </a:prstGeom>
          <a:solidFill>
            <a:srgbClr val="F0FCF5"/>
          </a:solidFill>
          <a:ln w="6350">
            <a:solidFill>
              <a:srgbClr val="349D9E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9" name="Shape 29">
            <a:extLst>
              <a:ext uri="{FF2B5EF4-FFF2-40B4-BE49-F238E27FC236}">
                <a16:creationId xmlns:a16="http://schemas.microsoft.com/office/drawing/2014/main" id="{F3D36E1C-2F5F-7E55-7317-35D0D0A12B83}"/>
              </a:ext>
            </a:extLst>
          </p:cNvPr>
          <p:cNvSpPr/>
          <p:nvPr/>
        </p:nvSpPr>
        <p:spPr>
          <a:xfrm>
            <a:off x="2712312" y="1653884"/>
            <a:ext cx="1234440" cy="427236"/>
          </a:xfrm>
          <a:prstGeom prst="rect">
            <a:avLst/>
          </a:prstGeom>
          <a:solidFill>
            <a:srgbClr val="E9F7F8"/>
          </a:solidFill>
          <a:ln w="6350">
            <a:solidFill>
              <a:srgbClr val="349D9E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0" name="Shape 29">
            <a:extLst>
              <a:ext uri="{FF2B5EF4-FFF2-40B4-BE49-F238E27FC236}">
                <a16:creationId xmlns:a16="http://schemas.microsoft.com/office/drawing/2014/main" id="{DAB56AE3-9BB2-5EF9-D1AA-0202635AFBA5}"/>
              </a:ext>
            </a:extLst>
          </p:cNvPr>
          <p:cNvSpPr/>
          <p:nvPr/>
        </p:nvSpPr>
        <p:spPr>
          <a:xfrm>
            <a:off x="2712312" y="2081175"/>
            <a:ext cx="1234440" cy="427236"/>
          </a:xfrm>
          <a:prstGeom prst="rect">
            <a:avLst/>
          </a:prstGeom>
          <a:solidFill>
            <a:srgbClr val="E9F7F8"/>
          </a:solidFill>
          <a:ln w="6350">
            <a:solidFill>
              <a:srgbClr val="349D9E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1" name="Shape 29">
            <a:extLst>
              <a:ext uri="{FF2B5EF4-FFF2-40B4-BE49-F238E27FC236}">
                <a16:creationId xmlns:a16="http://schemas.microsoft.com/office/drawing/2014/main" id="{E44396D8-A0EC-C6CB-597F-29448B05D435}"/>
              </a:ext>
            </a:extLst>
          </p:cNvPr>
          <p:cNvSpPr/>
          <p:nvPr/>
        </p:nvSpPr>
        <p:spPr>
          <a:xfrm>
            <a:off x="2712312" y="2508263"/>
            <a:ext cx="1234440" cy="427236"/>
          </a:xfrm>
          <a:prstGeom prst="rect">
            <a:avLst/>
          </a:prstGeom>
          <a:solidFill>
            <a:srgbClr val="E9F7F8"/>
          </a:solidFill>
          <a:ln w="6350">
            <a:solidFill>
              <a:srgbClr val="349D9E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2" name="Shape 29">
            <a:extLst>
              <a:ext uri="{FF2B5EF4-FFF2-40B4-BE49-F238E27FC236}">
                <a16:creationId xmlns:a16="http://schemas.microsoft.com/office/drawing/2014/main" id="{1501B08E-847D-C096-187E-510CB613CC32}"/>
              </a:ext>
            </a:extLst>
          </p:cNvPr>
          <p:cNvSpPr/>
          <p:nvPr/>
        </p:nvSpPr>
        <p:spPr>
          <a:xfrm>
            <a:off x="2712312" y="2933628"/>
            <a:ext cx="1234440" cy="427236"/>
          </a:xfrm>
          <a:prstGeom prst="rect">
            <a:avLst/>
          </a:prstGeom>
          <a:solidFill>
            <a:srgbClr val="F0FCF5"/>
          </a:solidFill>
          <a:ln w="6350">
            <a:solidFill>
              <a:srgbClr val="349D9E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596F25-07D3-A265-1533-41DA8CA1F4AA}"/>
              </a:ext>
            </a:extLst>
          </p:cNvPr>
          <p:cNvSpPr txBox="1"/>
          <p:nvPr/>
        </p:nvSpPr>
        <p:spPr>
          <a:xfrm>
            <a:off x="250804" y="553032"/>
            <a:ext cx="560285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900" dirty="0">
                <a:solidFill>
                  <a:srgbClr val="4B556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35 countries · </a:t>
            </a:r>
            <a:r>
              <a:rPr lang="en-US" sz="900" b="1" dirty="0">
                <a:solidFill>
                  <a:srgbClr val="1F2937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323 employees</a:t>
            </a:r>
            <a:r>
              <a:rPr lang="en-US" sz="900" dirty="0">
                <a:solidFill>
                  <a:srgbClr val="4B556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 (83 IBOs · 234 LBOs · 6 LBO-GSA) · </a:t>
            </a:r>
            <a:r>
              <a:rPr lang="en-US" sz="900" b="1" dirty="0">
                <a:solidFill>
                  <a:srgbClr val="66C07E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5 processing models  ·  4 payment modes  ·  Single system of record  ·  End-to-end audit trail  ·  Zero manual handoffs</a:t>
            </a:r>
            <a:endParaRPr lang="en-US" sz="900" dirty="0">
              <a:solidFill>
                <a:srgbClr val="66C07E"/>
              </a:solidFill>
              <a:latin typeface="Aptos" panose="020B0004020202020204" pitchFamily="34" charset="0"/>
            </a:endParaRPr>
          </a:p>
        </p:txBody>
      </p:sp>
      <p:sp>
        <p:nvSpPr>
          <p:cNvPr id="4" name="Shape 61">
            <a:extLst>
              <a:ext uri="{FF2B5EF4-FFF2-40B4-BE49-F238E27FC236}">
                <a16:creationId xmlns:a16="http://schemas.microsoft.com/office/drawing/2014/main" id="{B763C6AE-A3C9-C40B-5491-63839A0A750C}"/>
              </a:ext>
            </a:extLst>
          </p:cNvPr>
          <p:cNvSpPr/>
          <p:nvPr/>
        </p:nvSpPr>
        <p:spPr>
          <a:xfrm>
            <a:off x="238125" y="539687"/>
            <a:ext cx="8729663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5" name="Shape 9">
            <a:extLst>
              <a:ext uri="{FF2B5EF4-FFF2-40B4-BE49-F238E27FC236}">
                <a16:creationId xmlns:a16="http://schemas.microsoft.com/office/drawing/2014/main" id="{E1AA002A-4B43-2431-4BA3-59FA5515B1F1}"/>
              </a:ext>
            </a:extLst>
          </p:cNvPr>
          <p:cNvSpPr/>
          <p:nvPr/>
        </p:nvSpPr>
        <p:spPr>
          <a:xfrm>
            <a:off x="175022" y="922364"/>
            <a:ext cx="1374229" cy="3052789"/>
          </a:xfrm>
          <a:prstGeom prst="roundRect">
            <a:avLst>
              <a:gd name="adj" fmla="val 3490"/>
            </a:avLst>
          </a:prstGeom>
          <a:solidFill>
            <a:srgbClr val="56C595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575A5285-73B3-61D3-B920-BA205D77EAA6}"/>
              </a:ext>
            </a:extLst>
          </p:cNvPr>
          <p:cNvSpPr/>
          <p:nvPr/>
        </p:nvSpPr>
        <p:spPr>
          <a:xfrm>
            <a:off x="314811" y="960561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INPUT SYSTEMS</a:t>
            </a:r>
            <a:endParaRPr lang="en-US" sz="7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data capture</a:t>
            </a:r>
            <a:endParaRPr lang="en-US" sz="700" dirty="0">
              <a:solidFill>
                <a:schemeClr val="bg1"/>
              </a:solidFill>
            </a:endParaRPr>
          </a:p>
        </p:txBody>
      </p:sp>
      <p:sp>
        <p:nvSpPr>
          <p:cNvPr id="23" name="Shape 29">
            <a:extLst>
              <a:ext uri="{FF2B5EF4-FFF2-40B4-BE49-F238E27FC236}">
                <a16:creationId xmlns:a16="http://schemas.microsoft.com/office/drawing/2014/main" id="{F2E758D4-6B58-2489-FFF5-1B1C4105C1A8}"/>
              </a:ext>
            </a:extLst>
          </p:cNvPr>
          <p:cNvSpPr/>
          <p:nvPr/>
        </p:nvSpPr>
        <p:spPr>
          <a:xfrm>
            <a:off x="250803" y="1237340"/>
            <a:ext cx="1234440" cy="616285"/>
          </a:xfrm>
          <a:prstGeom prst="rect">
            <a:avLst/>
          </a:prstGeom>
          <a:solidFill>
            <a:srgbClr val="F0FBF4"/>
          </a:solidFill>
          <a:ln w="6350">
            <a:solidFill>
              <a:srgbClr val="56C595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5" name="Text 31">
            <a:extLst>
              <a:ext uri="{FF2B5EF4-FFF2-40B4-BE49-F238E27FC236}">
                <a16:creationId xmlns:a16="http://schemas.microsoft.com/office/drawing/2014/main" id="{37AA1028-65F1-ACEB-C69D-91A7C7F0259C}"/>
              </a:ext>
            </a:extLst>
          </p:cNvPr>
          <p:cNvSpPr/>
          <p:nvPr/>
        </p:nvSpPr>
        <p:spPr>
          <a:xfrm>
            <a:off x="314811" y="1251608"/>
            <a:ext cx="1137471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SAP SuccessFactors</a:t>
            </a:r>
            <a:endParaRPr lang="en-US" sz="60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26" name="Text 32">
            <a:extLst>
              <a:ext uri="{FF2B5EF4-FFF2-40B4-BE49-F238E27FC236}">
                <a16:creationId xmlns:a16="http://schemas.microsoft.com/office/drawing/2014/main" id="{13972A47-C2E2-C18A-4F63-23F255D82B59}"/>
              </a:ext>
            </a:extLst>
          </p:cNvPr>
          <p:cNvSpPr/>
          <p:nvPr/>
        </p:nvSpPr>
        <p:spPr>
          <a:xfrm>
            <a:off x="314811" y="1420220"/>
            <a:ext cx="1106424" cy="394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Employee Master · Salary &amp; Benefits</a:t>
            </a:r>
            <a:endParaRPr lang="en-US" sz="60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Org Data · Bank Details</a:t>
            </a:r>
            <a:endParaRPr lang="en-US" sz="60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Leave · Changes &amp; Events</a:t>
            </a:r>
            <a:endParaRPr lang="en-US" sz="60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27" name="Shape 33">
            <a:extLst>
              <a:ext uri="{FF2B5EF4-FFF2-40B4-BE49-F238E27FC236}">
                <a16:creationId xmlns:a16="http://schemas.microsoft.com/office/drawing/2014/main" id="{5D0E1C1B-EFB2-5C33-8805-5358712E40CD}"/>
              </a:ext>
            </a:extLst>
          </p:cNvPr>
          <p:cNvSpPr/>
          <p:nvPr/>
        </p:nvSpPr>
        <p:spPr>
          <a:xfrm>
            <a:off x="250803" y="1853625"/>
            <a:ext cx="1234440" cy="535313"/>
          </a:xfrm>
          <a:prstGeom prst="rect">
            <a:avLst/>
          </a:prstGeom>
          <a:solidFill>
            <a:srgbClr val="E8F6F7"/>
          </a:solidFill>
          <a:ln w="6350">
            <a:solidFill>
              <a:srgbClr val="56C595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9" name="Text 35">
            <a:extLst>
              <a:ext uri="{FF2B5EF4-FFF2-40B4-BE49-F238E27FC236}">
                <a16:creationId xmlns:a16="http://schemas.microsoft.com/office/drawing/2014/main" id="{97B21743-8055-4B98-51C9-2737255AEA8B}"/>
              </a:ext>
            </a:extLst>
          </p:cNvPr>
          <p:cNvSpPr/>
          <p:nvPr/>
        </p:nvSpPr>
        <p:spPr>
          <a:xfrm>
            <a:off x="314811" y="1873727"/>
            <a:ext cx="1137471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Attendance System</a:t>
            </a:r>
            <a:endParaRPr lang="en-US" sz="60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30" name="Text 36">
            <a:extLst>
              <a:ext uri="{FF2B5EF4-FFF2-40B4-BE49-F238E27FC236}">
                <a16:creationId xmlns:a16="http://schemas.microsoft.com/office/drawing/2014/main" id="{BC5A77CF-6E38-5C0D-87EE-3775A436760C}"/>
              </a:ext>
            </a:extLst>
          </p:cNvPr>
          <p:cNvSpPr/>
          <p:nvPr/>
        </p:nvSpPr>
        <p:spPr>
          <a:xfrm>
            <a:off x="314811" y="2036505"/>
            <a:ext cx="1106424" cy="311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Attendance Records</a:t>
            </a:r>
            <a:endParaRPr lang="en-US" sz="60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Absences &amp; Holidays</a:t>
            </a:r>
            <a:endParaRPr lang="en-US" sz="60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Overtime &amp; Exceptions</a:t>
            </a:r>
            <a:endParaRPr lang="en-US" sz="60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31" name="Shape 37">
            <a:extLst>
              <a:ext uri="{FF2B5EF4-FFF2-40B4-BE49-F238E27FC236}">
                <a16:creationId xmlns:a16="http://schemas.microsoft.com/office/drawing/2014/main" id="{96968482-3E6E-70D3-6BEF-3FD06977ADCD}"/>
              </a:ext>
            </a:extLst>
          </p:cNvPr>
          <p:cNvSpPr/>
          <p:nvPr/>
        </p:nvSpPr>
        <p:spPr>
          <a:xfrm>
            <a:off x="250803" y="2388938"/>
            <a:ext cx="1234440" cy="764658"/>
          </a:xfrm>
          <a:prstGeom prst="rect">
            <a:avLst/>
          </a:prstGeom>
          <a:solidFill>
            <a:srgbClr val="E8F6F7"/>
          </a:solidFill>
          <a:ln w="6350">
            <a:solidFill>
              <a:srgbClr val="56C595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3" name="Text 39">
            <a:extLst>
              <a:ext uri="{FF2B5EF4-FFF2-40B4-BE49-F238E27FC236}">
                <a16:creationId xmlns:a16="http://schemas.microsoft.com/office/drawing/2014/main" id="{1D754EA8-A85D-A318-F6A8-F2D0AC44F537}"/>
              </a:ext>
            </a:extLst>
          </p:cNvPr>
          <p:cNvSpPr/>
          <p:nvPr/>
        </p:nvSpPr>
        <p:spPr>
          <a:xfrm>
            <a:off x="314811" y="2404795"/>
            <a:ext cx="1137471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New Inhouse System</a:t>
            </a:r>
            <a:endParaRPr lang="en-US" sz="60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34" name="Text 40">
            <a:extLst>
              <a:ext uri="{FF2B5EF4-FFF2-40B4-BE49-F238E27FC236}">
                <a16:creationId xmlns:a16="http://schemas.microsoft.com/office/drawing/2014/main" id="{205AE957-FC32-C7AA-7C80-E37203BC5EBD}"/>
              </a:ext>
            </a:extLst>
          </p:cNvPr>
          <p:cNvSpPr/>
          <p:nvPr/>
        </p:nvSpPr>
        <p:spPr>
          <a:xfrm>
            <a:off x="314811" y="2571818"/>
            <a:ext cx="1106424" cy="311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Allowances &amp; Deductions</a:t>
            </a:r>
            <a:endParaRPr lang="en-US" sz="60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Reimbursements</a:t>
            </a:r>
            <a:endParaRPr lang="en-US" sz="60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Local Statutory Data</a:t>
            </a:r>
            <a:endParaRPr lang="en-US" sz="60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35" name="Text 41">
            <a:extLst>
              <a:ext uri="{FF2B5EF4-FFF2-40B4-BE49-F238E27FC236}">
                <a16:creationId xmlns:a16="http://schemas.microsoft.com/office/drawing/2014/main" id="{79D8E346-D8B7-238E-0714-52E887D16E0D}"/>
              </a:ext>
            </a:extLst>
          </p:cNvPr>
          <p:cNvSpPr/>
          <p:nvPr/>
        </p:nvSpPr>
        <p:spPr>
          <a:xfrm>
            <a:off x="314811" y="2925471"/>
            <a:ext cx="113747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66C07E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Standardised · Clean · Structured</a:t>
            </a:r>
            <a:endParaRPr lang="en-US" sz="550" dirty="0">
              <a:solidFill>
                <a:srgbClr val="66C07E"/>
              </a:solidFill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 sz="550" b="1" dirty="0">
                <a:solidFill>
                  <a:srgbClr val="66C07E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Real-time or Scheduled Feeds</a:t>
            </a:r>
            <a:endParaRPr lang="en-US" sz="550" dirty="0">
              <a:solidFill>
                <a:srgbClr val="66C07E"/>
              </a:solidFill>
              <a:latin typeface="Aptos" panose="020B0004020202020204" pitchFamily="34" charset="0"/>
            </a:endParaRPr>
          </a:p>
        </p:txBody>
      </p:sp>
      <p:sp>
        <p:nvSpPr>
          <p:cNvPr id="36" name="Shape 9">
            <a:extLst>
              <a:ext uri="{FF2B5EF4-FFF2-40B4-BE49-F238E27FC236}">
                <a16:creationId xmlns:a16="http://schemas.microsoft.com/office/drawing/2014/main" id="{674A8CDC-7DAD-EF30-36B9-DE0D52A2331B}"/>
              </a:ext>
            </a:extLst>
          </p:cNvPr>
          <p:cNvSpPr/>
          <p:nvPr/>
        </p:nvSpPr>
        <p:spPr>
          <a:xfrm>
            <a:off x="1640854" y="922364"/>
            <a:ext cx="910849" cy="3052789"/>
          </a:xfrm>
          <a:prstGeom prst="roundRect">
            <a:avLst>
              <a:gd name="adj" fmla="val 3490"/>
            </a:avLst>
          </a:prstGeom>
          <a:solidFill>
            <a:srgbClr val="205273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29">
            <a:extLst>
              <a:ext uri="{FF2B5EF4-FFF2-40B4-BE49-F238E27FC236}">
                <a16:creationId xmlns:a16="http://schemas.microsoft.com/office/drawing/2014/main" id="{4BB22866-5307-3A1F-36A4-67B0033DF9FE}"/>
              </a:ext>
            </a:extLst>
          </p:cNvPr>
          <p:cNvSpPr/>
          <p:nvPr/>
        </p:nvSpPr>
        <p:spPr>
          <a:xfrm>
            <a:off x="1716635" y="1237340"/>
            <a:ext cx="754149" cy="371557"/>
          </a:xfrm>
          <a:prstGeom prst="rect">
            <a:avLst/>
          </a:prstGeom>
          <a:solidFill>
            <a:srgbClr val="E9F7F8"/>
          </a:solidFill>
          <a:ln w="6350">
            <a:solidFill>
              <a:srgbClr val="205273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" name="Shape 33">
            <a:extLst>
              <a:ext uri="{FF2B5EF4-FFF2-40B4-BE49-F238E27FC236}">
                <a16:creationId xmlns:a16="http://schemas.microsoft.com/office/drawing/2014/main" id="{776DB194-B1E2-A577-69F8-95CEEDC0E83A}"/>
              </a:ext>
            </a:extLst>
          </p:cNvPr>
          <p:cNvSpPr/>
          <p:nvPr/>
        </p:nvSpPr>
        <p:spPr>
          <a:xfrm>
            <a:off x="1716635" y="1604104"/>
            <a:ext cx="754149" cy="310917"/>
          </a:xfrm>
          <a:prstGeom prst="rect">
            <a:avLst/>
          </a:prstGeom>
          <a:solidFill>
            <a:srgbClr val="E9F7F8"/>
          </a:solidFill>
          <a:ln w="6350">
            <a:solidFill>
              <a:srgbClr val="205273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4" name="Shape 37">
            <a:extLst>
              <a:ext uri="{FF2B5EF4-FFF2-40B4-BE49-F238E27FC236}">
                <a16:creationId xmlns:a16="http://schemas.microsoft.com/office/drawing/2014/main" id="{A334BBFE-B7E8-E890-C2C8-11E4CDE4750A}"/>
              </a:ext>
            </a:extLst>
          </p:cNvPr>
          <p:cNvSpPr/>
          <p:nvPr/>
        </p:nvSpPr>
        <p:spPr>
          <a:xfrm>
            <a:off x="1716635" y="1913811"/>
            <a:ext cx="754149" cy="367974"/>
          </a:xfrm>
          <a:prstGeom prst="rect">
            <a:avLst/>
          </a:prstGeom>
          <a:solidFill>
            <a:srgbClr val="E9F7F8"/>
          </a:solidFill>
          <a:ln w="6350">
            <a:solidFill>
              <a:srgbClr val="205273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91" name="Shape 37">
            <a:extLst>
              <a:ext uri="{FF2B5EF4-FFF2-40B4-BE49-F238E27FC236}">
                <a16:creationId xmlns:a16="http://schemas.microsoft.com/office/drawing/2014/main" id="{EB317A44-B677-755E-D273-229C72B1B655}"/>
              </a:ext>
            </a:extLst>
          </p:cNvPr>
          <p:cNvSpPr/>
          <p:nvPr/>
        </p:nvSpPr>
        <p:spPr>
          <a:xfrm>
            <a:off x="1716635" y="2280297"/>
            <a:ext cx="754149" cy="367974"/>
          </a:xfrm>
          <a:prstGeom prst="rect">
            <a:avLst/>
          </a:prstGeom>
          <a:solidFill>
            <a:srgbClr val="E9F7F8"/>
          </a:solidFill>
          <a:ln w="6350">
            <a:solidFill>
              <a:srgbClr val="205273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92" name="Shape 37">
            <a:extLst>
              <a:ext uri="{FF2B5EF4-FFF2-40B4-BE49-F238E27FC236}">
                <a16:creationId xmlns:a16="http://schemas.microsoft.com/office/drawing/2014/main" id="{B0F98217-BE51-BF2A-ED4B-D10661F57605}"/>
              </a:ext>
            </a:extLst>
          </p:cNvPr>
          <p:cNvSpPr/>
          <p:nvPr/>
        </p:nvSpPr>
        <p:spPr>
          <a:xfrm>
            <a:off x="1716635" y="2646783"/>
            <a:ext cx="754149" cy="367974"/>
          </a:xfrm>
          <a:prstGeom prst="rect">
            <a:avLst/>
          </a:prstGeom>
          <a:solidFill>
            <a:srgbClr val="E9F7F8"/>
          </a:solidFill>
          <a:ln w="6350">
            <a:solidFill>
              <a:srgbClr val="205273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93" name="Shape 37">
            <a:extLst>
              <a:ext uri="{FF2B5EF4-FFF2-40B4-BE49-F238E27FC236}">
                <a16:creationId xmlns:a16="http://schemas.microsoft.com/office/drawing/2014/main" id="{6F3AF56A-37C4-6E7C-8822-51A96499D343}"/>
              </a:ext>
            </a:extLst>
          </p:cNvPr>
          <p:cNvSpPr/>
          <p:nvPr/>
        </p:nvSpPr>
        <p:spPr>
          <a:xfrm>
            <a:off x="1716635" y="3013269"/>
            <a:ext cx="754149" cy="367974"/>
          </a:xfrm>
          <a:prstGeom prst="rect">
            <a:avLst/>
          </a:prstGeom>
          <a:solidFill>
            <a:srgbClr val="E9F7F8"/>
          </a:solidFill>
          <a:ln w="6350">
            <a:solidFill>
              <a:srgbClr val="205273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4" name="Text 12">
            <a:extLst>
              <a:ext uri="{FF2B5EF4-FFF2-40B4-BE49-F238E27FC236}">
                <a16:creationId xmlns:a16="http://schemas.microsoft.com/office/drawing/2014/main" id="{B1AE9C7C-4267-C861-6603-F8AD3E8C72A9}"/>
              </a:ext>
            </a:extLst>
          </p:cNvPr>
          <p:cNvSpPr/>
          <p:nvPr/>
        </p:nvSpPr>
        <p:spPr>
          <a:xfrm>
            <a:off x="1775840" y="95925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chemeClr val="bg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2. EIP</a:t>
            </a:r>
            <a:endParaRPr lang="en-US" sz="7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 sz="600" dirty="0">
                <a:solidFill>
                  <a:schemeClr val="bg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Orchestration layer</a:t>
            </a:r>
            <a:endParaRPr lang="en-US" sz="7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85" name="Text 43">
            <a:extLst>
              <a:ext uri="{FF2B5EF4-FFF2-40B4-BE49-F238E27FC236}">
                <a16:creationId xmlns:a16="http://schemas.microsoft.com/office/drawing/2014/main" id="{F6BF1B91-641D-AC14-4B66-ECF66D832CA7}"/>
              </a:ext>
            </a:extLst>
          </p:cNvPr>
          <p:cNvSpPr/>
          <p:nvPr/>
        </p:nvSpPr>
        <p:spPr>
          <a:xfrm>
            <a:off x="1775840" y="1283562"/>
            <a:ext cx="694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Secure APIs</a:t>
            </a:r>
            <a:endParaRPr lang="en-US" sz="70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86" name="Text 45">
            <a:extLst>
              <a:ext uri="{FF2B5EF4-FFF2-40B4-BE49-F238E27FC236}">
                <a16:creationId xmlns:a16="http://schemas.microsoft.com/office/drawing/2014/main" id="{E65F7057-2A0B-C6D7-B2B1-232265251C8A}"/>
              </a:ext>
            </a:extLst>
          </p:cNvPr>
          <p:cNvSpPr/>
          <p:nvPr/>
        </p:nvSpPr>
        <p:spPr>
          <a:xfrm>
            <a:off x="1775840" y="1621088"/>
            <a:ext cx="694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Authentication &amp;</a:t>
            </a:r>
            <a:endParaRPr lang="en-US" sz="70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Authorization</a:t>
            </a:r>
            <a:endParaRPr lang="en-US" sz="70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87" name="Text 47">
            <a:extLst>
              <a:ext uri="{FF2B5EF4-FFF2-40B4-BE49-F238E27FC236}">
                <a16:creationId xmlns:a16="http://schemas.microsoft.com/office/drawing/2014/main" id="{98386E6B-2C90-2F5C-EAF0-939C4631BD25}"/>
              </a:ext>
            </a:extLst>
          </p:cNvPr>
          <p:cNvSpPr/>
          <p:nvPr/>
        </p:nvSpPr>
        <p:spPr>
          <a:xfrm>
            <a:off x="1775840" y="1958614"/>
            <a:ext cx="694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Data Validation</a:t>
            </a:r>
            <a:endParaRPr lang="en-US" sz="70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(Business Rules)</a:t>
            </a:r>
            <a:endParaRPr lang="en-US" sz="70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88" name="Text 49">
            <a:extLst>
              <a:ext uri="{FF2B5EF4-FFF2-40B4-BE49-F238E27FC236}">
                <a16:creationId xmlns:a16="http://schemas.microsoft.com/office/drawing/2014/main" id="{4AA82D54-8C82-30EF-6978-B7292E328833}"/>
              </a:ext>
            </a:extLst>
          </p:cNvPr>
          <p:cNvSpPr/>
          <p:nvPr/>
        </p:nvSpPr>
        <p:spPr>
          <a:xfrm>
            <a:off x="1775840" y="2327124"/>
            <a:ext cx="694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Data Standardisation</a:t>
            </a:r>
            <a:endParaRPr lang="en-US" sz="70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&amp; Mapping</a:t>
            </a:r>
            <a:endParaRPr lang="en-US" sz="70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89" name="Text 51">
            <a:extLst>
              <a:ext uri="{FF2B5EF4-FFF2-40B4-BE49-F238E27FC236}">
                <a16:creationId xmlns:a16="http://schemas.microsoft.com/office/drawing/2014/main" id="{30672CE8-7D48-65FB-CE09-782D851293D9}"/>
              </a:ext>
            </a:extLst>
          </p:cNvPr>
          <p:cNvSpPr/>
          <p:nvPr/>
        </p:nvSpPr>
        <p:spPr>
          <a:xfrm>
            <a:off x="1775840" y="2693610"/>
            <a:ext cx="694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Exception Capture</a:t>
            </a:r>
            <a:endParaRPr lang="en-US" sz="70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&amp; Notification</a:t>
            </a:r>
            <a:endParaRPr lang="en-US" sz="70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90" name="Text 53">
            <a:extLst>
              <a:ext uri="{FF2B5EF4-FFF2-40B4-BE49-F238E27FC236}">
                <a16:creationId xmlns:a16="http://schemas.microsoft.com/office/drawing/2014/main" id="{1FB6584C-78EE-FCF7-8FF6-FB8A5997517D}"/>
              </a:ext>
            </a:extLst>
          </p:cNvPr>
          <p:cNvSpPr/>
          <p:nvPr/>
        </p:nvSpPr>
        <p:spPr>
          <a:xfrm>
            <a:off x="1775840" y="3060096"/>
            <a:ext cx="694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Audit &amp; Logging</a:t>
            </a:r>
            <a:endParaRPr lang="en-US" sz="70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(Immutable)</a:t>
            </a:r>
            <a:endParaRPr lang="en-US" sz="70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98" name="Text 14">
            <a:extLst>
              <a:ext uri="{FF2B5EF4-FFF2-40B4-BE49-F238E27FC236}">
                <a16:creationId xmlns:a16="http://schemas.microsoft.com/office/drawing/2014/main" id="{68FD5FAB-A0AA-B313-09AC-CF3DE29DDCEE}"/>
              </a:ext>
            </a:extLst>
          </p:cNvPr>
          <p:cNvSpPr/>
          <p:nvPr/>
        </p:nvSpPr>
        <p:spPr>
          <a:xfrm>
            <a:off x="2762229" y="955978"/>
            <a:ext cx="114302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chemeClr val="bg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3. PAYROLL ENGINE</a:t>
            </a:r>
            <a:endParaRPr lang="en-US" sz="7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 sz="600" dirty="0">
                <a:solidFill>
                  <a:schemeClr val="bg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Compute payroll</a:t>
            </a:r>
            <a:endParaRPr lang="en-US" sz="7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99" name="Text 56">
            <a:extLst>
              <a:ext uri="{FF2B5EF4-FFF2-40B4-BE49-F238E27FC236}">
                <a16:creationId xmlns:a16="http://schemas.microsoft.com/office/drawing/2014/main" id="{1A125D7B-7AAB-1C9A-4F8C-AB59411F8396}"/>
              </a:ext>
            </a:extLst>
          </p:cNvPr>
          <p:cNvSpPr/>
          <p:nvPr/>
        </p:nvSpPr>
        <p:spPr>
          <a:xfrm>
            <a:off x="2762229" y="1230298"/>
            <a:ext cx="1184523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AGENCY — ADP(Multi-country)</a:t>
            </a:r>
            <a:endParaRPr lang="en-US" sz="60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00" name="Text 57">
            <a:extLst>
              <a:ext uri="{FF2B5EF4-FFF2-40B4-BE49-F238E27FC236}">
                <a16:creationId xmlns:a16="http://schemas.microsoft.com/office/drawing/2014/main" id="{41A6B0D9-0D1C-7F27-8751-499BEFD12BF1}"/>
              </a:ext>
            </a:extLst>
          </p:cNvPr>
          <p:cNvSpPr/>
          <p:nvPr/>
        </p:nvSpPr>
        <p:spPr>
          <a:xfrm>
            <a:off x="2756857" y="1413178"/>
            <a:ext cx="1172706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ADP computes payroll register</a:t>
            </a:r>
            <a:endParaRPr lang="en-US" sz="65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basis validated inputs from EIP</a:t>
            </a:r>
            <a:endParaRPr lang="en-US" sz="65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01" name="Text 60">
            <a:extLst>
              <a:ext uri="{FF2B5EF4-FFF2-40B4-BE49-F238E27FC236}">
                <a16:creationId xmlns:a16="http://schemas.microsoft.com/office/drawing/2014/main" id="{C0EB526D-117F-AFE0-D905-AD2D76680BF3}"/>
              </a:ext>
            </a:extLst>
          </p:cNvPr>
          <p:cNvSpPr/>
          <p:nvPr/>
        </p:nvSpPr>
        <p:spPr>
          <a:xfrm>
            <a:off x="2753145" y="1697568"/>
            <a:ext cx="123671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AGENCY — FASCO (CN) &amp; STUDIO (IT)</a:t>
            </a:r>
            <a:endParaRPr lang="en-US" sz="60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02" name="Text 61">
            <a:extLst>
              <a:ext uri="{FF2B5EF4-FFF2-40B4-BE49-F238E27FC236}">
                <a16:creationId xmlns:a16="http://schemas.microsoft.com/office/drawing/2014/main" id="{C8E83E3C-D77B-705F-6300-AB402ED51C9E}"/>
              </a:ext>
            </a:extLst>
          </p:cNvPr>
          <p:cNvSpPr/>
          <p:nvPr/>
        </p:nvSpPr>
        <p:spPr>
          <a:xfrm>
            <a:off x="2756857" y="1880448"/>
            <a:ext cx="1172706" cy="182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Vendor computes register</a:t>
            </a:r>
            <a:endParaRPr lang="en-US" sz="65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for China &amp; Italy</a:t>
            </a:r>
            <a:endParaRPr lang="en-US" sz="65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03" name="Text 64">
            <a:extLst>
              <a:ext uri="{FF2B5EF4-FFF2-40B4-BE49-F238E27FC236}">
                <a16:creationId xmlns:a16="http://schemas.microsoft.com/office/drawing/2014/main" id="{CD07433E-E48D-1E89-DE8D-00C19CC76C7D}"/>
              </a:ext>
            </a:extLst>
          </p:cNvPr>
          <p:cNvSpPr/>
          <p:nvPr/>
        </p:nvSpPr>
        <p:spPr>
          <a:xfrm>
            <a:off x="2753145" y="2081065"/>
            <a:ext cx="123671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GSA PARTNER  (Multi-country)</a:t>
            </a:r>
            <a:endParaRPr lang="en-US" sz="60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04" name="Text 65">
            <a:extLst>
              <a:ext uri="{FF2B5EF4-FFF2-40B4-BE49-F238E27FC236}">
                <a16:creationId xmlns:a16="http://schemas.microsoft.com/office/drawing/2014/main" id="{C6938C32-CF8B-FDE6-5831-40FED4ABA9E2}"/>
              </a:ext>
            </a:extLst>
          </p:cNvPr>
          <p:cNvSpPr/>
          <p:nvPr/>
        </p:nvSpPr>
        <p:spPr>
          <a:xfrm>
            <a:off x="2756857" y="2263945"/>
            <a:ext cx="1172706" cy="173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GSA processes register</a:t>
            </a:r>
            <a:endParaRPr lang="en-US" sz="65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for 15 GSA countries</a:t>
            </a:r>
            <a:endParaRPr lang="en-US" sz="65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05" name="Text 68">
            <a:extLst>
              <a:ext uri="{FF2B5EF4-FFF2-40B4-BE49-F238E27FC236}">
                <a16:creationId xmlns:a16="http://schemas.microsoft.com/office/drawing/2014/main" id="{9855D512-BA90-0647-B152-FEC4AD74C369}"/>
              </a:ext>
            </a:extLst>
          </p:cNvPr>
          <p:cNvSpPr/>
          <p:nvPr/>
        </p:nvSpPr>
        <p:spPr>
          <a:xfrm>
            <a:off x="2753145" y="2508158"/>
            <a:ext cx="123671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NEW PAYROLL VENDOR (TBD)</a:t>
            </a:r>
            <a:endParaRPr lang="en-US" sz="60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06" name="Text 69">
            <a:extLst>
              <a:ext uri="{FF2B5EF4-FFF2-40B4-BE49-F238E27FC236}">
                <a16:creationId xmlns:a16="http://schemas.microsoft.com/office/drawing/2014/main" id="{638C3D63-74D6-A28A-1C18-4097F59B434B}"/>
              </a:ext>
            </a:extLst>
          </p:cNvPr>
          <p:cNvSpPr/>
          <p:nvPr/>
        </p:nvSpPr>
        <p:spPr>
          <a:xfrm>
            <a:off x="2756857" y="2691038"/>
            <a:ext cx="1172706" cy="211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Future replacement vendor</a:t>
            </a:r>
            <a:endParaRPr lang="en-US" sz="65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for remaining countries</a:t>
            </a:r>
            <a:endParaRPr lang="en-US" sz="65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07" name="Text 71">
            <a:extLst>
              <a:ext uri="{FF2B5EF4-FFF2-40B4-BE49-F238E27FC236}">
                <a16:creationId xmlns:a16="http://schemas.microsoft.com/office/drawing/2014/main" id="{000C5D70-FA1F-FE53-9F3E-9D54D62B3E1D}"/>
              </a:ext>
            </a:extLst>
          </p:cNvPr>
          <p:cNvSpPr/>
          <p:nvPr/>
        </p:nvSpPr>
        <p:spPr>
          <a:xfrm>
            <a:off x="2753145" y="2982654"/>
            <a:ext cx="11936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Global Payroll Rules: </a:t>
            </a:r>
            <a:r>
              <a:rPr lang="en-US" sz="58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Tax · SS · PF · TDS
</a:t>
            </a:r>
            <a:r>
              <a:rPr lang="en-US" sz="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Country Compliance Logic</a:t>
            </a:r>
            <a:endParaRPr lang="en-US" sz="60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19" name="Text 14">
            <a:extLst>
              <a:ext uri="{FF2B5EF4-FFF2-40B4-BE49-F238E27FC236}">
                <a16:creationId xmlns:a16="http://schemas.microsoft.com/office/drawing/2014/main" id="{0310E6D5-79AF-5473-7474-005A77B13EDE}"/>
              </a:ext>
            </a:extLst>
          </p:cNvPr>
          <p:cNvSpPr/>
          <p:nvPr/>
        </p:nvSpPr>
        <p:spPr>
          <a:xfrm>
            <a:off x="4226644" y="955978"/>
            <a:ext cx="90646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00" b="1" dirty="0">
                <a:solidFill>
                  <a:schemeClr val="bg1"/>
                </a:solidFill>
                <a:latin typeface="Aptos" panose="020B0004020202020204" pitchFamily="34" charset="0"/>
                <a:cs typeface="Calibri" pitchFamily="34" charset="-120"/>
              </a:rPr>
              <a:t>4. VALIDATION</a:t>
            </a:r>
          </a:p>
          <a:p>
            <a:r>
              <a:rPr lang="en-US" sz="600" dirty="0">
                <a:solidFill>
                  <a:schemeClr val="bg1"/>
                </a:solidFill>
                <a:latin typeface="Aptos" panose="020B0004020202020204" pitchFamily="34" charset="0"/>
                <a:cs typeface="Calibri" pitchFamily="34" charset="-120"/>
              </a:rPr>
              <a:t>Maker-Checker</a:t>
            </a:r>
            <a:endParaRPr lang="en-US" sz="6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29" name="Text 74">
            <a:extLst>
              <a:ext uri="{FF2B5EF4-FFF2-40B4-BE49-F238E27FC236}">
                <a16:creationId xmlns:a16="http://schemas.microsoft.com/office/drawing/2014/main" id="{9DA4B684-A0A4-5975-C9AA-27FEEFB81BDE}"/>
              </a:ext>
            </a:extLst>
          </p:cNvPr>
          <p:cNvSpPr/>
          <p:nvPr/>
        </p:nvSpPr>
        <p:spPr>
          <a:xfrm>
            <a:off x="4250554" y="1233739"/>
            <a:ext cx="818403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MAKER</a:t>
            </a:r>
            <a:endParaRPr lang="en-US" sz="60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30" name="Text 75">
            <a:extLst>
              <a:ext uri="{FF2B5EF4-FFF2-40B4-BE49-F238E27FC236}">
                <a16:creationId xmlns:a16="http://schemas.microsoft.com/office/drawing/2014/main" id="{171E4D9B-E0E0-A76F-B105-904EAF0D6911}"/>
              </a:ext>
            </a:extLst>
          </p:cNvPr>
          <p:cNvSpPr/>
          <p:nvPr/>
        </p:nvSpPr>
        <p:spPr>
          <a:xfrm>
            <a:off x="4249583" y="1373416"/>
            <a:ext cx="883526" cy="361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57150" indent="-57150">
              <a:buFont typeface="Arial" panose="020B0604020202020204" pitchFamily="34" charset="0"/>
              <a:buChar char="•"/>
            </a:pPr>
            <a:r>
              <a:rPr 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Review Payroll Register
Validate Exceptions
Approve for Check</a:t>
            </a:r>
            <a:endParaRPr lang="en-US" sz="60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31" name="Text 78">
            <a:extLst>
              <a:ext uri="{FF2B5EF4-FFF2-40B4-BE49-F238E27FC236}">
                <a16:creationId xmlns:a16="http://schemas.microsoft.com/office/drawing/2014/main" id="{EED9D7BF-70A1-C33A-4946-EA26DBF234C8}"/>
              </a:ext>
            </a:extLst>
          </p:cNvPr>
          <p:cNvSpPr/>
          <p:nvPr/>
        </p:nvSpPr>
        <p:spPr>
          <a:xfrm>
            <a:off x="4249583" y="1764637"/>
            <a:ext cx="81937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CHECKER</a:t>
            </a:r>
            <a:endParaRPr lang="en-US" sz="60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32" name="Text 79">
            <a:extLst>
              <a:ext uri="{FF2B5EF4-FFF2-40B4-BE49-F238E27FC236}">
                <a16:creationId xmlns:a16="http://schemas.microsoft.com/office/drawing/2014/main" id="{E96ACB76-FF75-BAE6-192C-B39FB83770D0}"/>
              </a:ext>
            </a:extLst>
          </p:cNvPr>
          <p:cNvSpPr/>
          <p:nvPr/>
        </p:nvSpPr>
        <p:spPr>
          <a:xfrm>
            <a:off x="4249583" y="1910176"/>
            <a:ext cx="883526" cy="37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57150" indent="-57150">
              <a:buFont typeface="Arial" panose="020B0604020202020204" pitchFamily="34" charset="0"/>
              <a:buChar char="•"/>
            </a:pPr>
            <a:r>
              <a:rPr 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Independent Review
Verify Controls
Final Approval</a:t>
            </a:r>
            <a:endParaRPr lang="en-US" sz="60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33" name="Text 81">
            <a:extLst>
              <a:ext uri="{FF2B5EF4-FFF2-40B4-BE49-F238E27FC236}">
                <a16:creationId xmlns:a16="http://schemas.microsoft.com/office/drawing/2014/main" id="{AB95D393-AF84-E19E-083D-219209C2C648}"/>
              </a:ext>
            </a:extLst>
          </p:cNvPr>
          <p:cNvSpPr/>
          <p:nvPr/>
        </p:nvSpPr>
        <p:spPr>
          <a:xfrm>
            <a:off x="4249583" y="2413035"/>
            <a:ext cx="883526" cy="308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Audit Trail (End-to-End)</a:t>
            </a:r>
            <a:endParaRPr lang="en-US" sz="60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 sz="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Maker-Checker · Zero Manual Intervention</a:t>
            </a:r>
            <a:endParaRPr lang="en-US" sz="60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36" name="Shape 9">
            <a:extLst>
              <a:ext uri="{FF2B5EF4-FFF2-40B4-BE49-F238E27FC236}">
                <a16:creationId xmlns:a16="http://schemas.microsoft.com/office/drawing/2014/main" id="{EE1BF4D9-F084-D1E3-E8EE-54FA73D84471}"/>
              </a:ext>
            </a:extLst>
          </p:cNvPr>
          <p:cNvSpPr/>
          <p:nvPr/>
        </p:nvSpPr>
        <p:spPr>
          <a:xfrm>
            <a:off x="5337868" y="922364"/>
            <a:ext cx="910849" cy="3052789"/>
          </a:xfrm>
          <a:prstGeom prst="roundRect">
            <a:avLst>
              <a:gd name="adj" fmla="val 3490"/>
            </a:avLst>
          </a:prstGeom>
          <a:solidFill>
            <a:srgbClr val="205273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Shape 29">
            <a:extLst>
              <a:ext uri="{FF2B5EF4-FFF2-40B4-BE49-F238E27FC236}">
                <a16:creationId xmlns:a16="http://schemas.microsoft.com/office/drawing/2014/main" id="{30200ED0-FC1B-4046-0688-9DAFB818D26E}"/>
              </a:ext>
            </a:extLst>
          </p:cNvPr>
          <p:cNvSpPr/>
          <p:nvPr/>
        </p:nvSpPr>
        <p:spPr>
          <a:xfrm>
            <a:off x="5413649" y="1237340"/>
            <a:ext cx="754149" cy="371557"/>
          </a:xfrm>
          <a:prstGeom prst="rect">
            <a:avLst/>
          </a:prstGeom>
          <a:solidFill>
            <a:srgbClr val="E9F7F8"/>
          </a:solidFill>
          <a:ln w="6350">
            <a:solidFill>
              <a:srgbClr val="205273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8" name="Shape 33">
            <a:extLst>
              <a:ext uri="{FF2B5EF4-FFF2-40B4-BE49-F238E27FC236}">
                <a16:creationId xmlns:a16="http://schemas.microsoft.com/office/drawing/2014/main" id="{CD08F9A9-94E2-B0E3-72D3-DCD5BAF587C6}"/>
              </a:ext>
            </a:extLst>
          </p:cNvPr>
          <p:cNvSpPr/>
          <p:nvPr/>
        </p:nvSpPr>
        <p:spPr>
          <a:xfrm>
            <a:off x="5413649" y="1604104"/>
            <a:ext cx="754149" cy="310917"/>
          </a:xfrm>
          <a:prstGeom prst="rect">
            <a:avLst/>
          </a:prstGeom>
          <a:solidFill>
            <a:srgbClr val="E9F7F8"/>
          </a:solidFill>
          <a:ln w="6350">
            <a:solidFill>
              <a:srgbClr val="205273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9" name="Shape 37">
            <a:extLst>
              <a:ext uri="{FF2B5EF4-FFF2-40B4-BE49-F238E27FC236}">
                <a16:creationId xmlns:a16="http://schemas.microsoft.com/office/drawing/2014/main" id="{D1066524-0DFE-4E90-870E-3FB9311CF72B}"/>
              </a:ext>
            </a:extLst>
          </p:cNvPr>
          <p:cNvSpPr/>
          <p:nvPr/>
        </p:nvSpPr>
        <p:spPr>
          <a:xfrm>
            <a:off x="5413649" y="1913811"/>
            <a:ext cx="754149" cy="367974"/>
          </a:xfrm>
          <a:prstGeom prst="rect">
            <a:avLst/>
          </a:prstGeom>
          <a:solidFill>
            <a:srgbClr val="E9F7F8"/>
          </a:solidFill>
          <a:ln w="6350">
            <a:solidFill>
              <a:srgbClr val="205273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0" name="Shape 37">
            <a:extLst>
              <a:ext uri="{FF2B5EF4-FFF2-40B4-BE49-F238E27FC236}">
                <a16:creationId xmlns:a16="http://schemas.microsoft.com/office/drawing/2014/main" id="{EEA468C8-A003-15FA-EB0F-8D47BC76C073}"/>
              </a:ext>
            </a:extLst>
          </p:cNvPr>
          <p:cNvSpPr/>
          <p:nvPr/>
        </p:nvSpPr>
        <p:spPr>
          <a:xfrm>
            <a:off x="5413649" y="2280297"/>
            <a:ext cx="754149" cy="367974"/>
          </a:xfrm>
          <a:prstGeom prst="rect">
            <a:avLst/>
          </a:prstGeom>
          <a:solidFill>
            <a:srgbClr val="E9F7F8"/>
          </a:solidFill>
          <a:ln w="6350">
            <a:solidFill>
              <a:srgbClr val="205273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1" name="Shape 37">
            <a:extLst>
              <a:ext uri="{FF2B5EF4-FFF2-40B4-BE49-F238E27FC236}">
                <a16:creationId xmlns:a16="http://schemas.microsoft.com/office/drawing/2014/main" id="{19BEA6EB-6066-6CAB-8064-BC84CC722D5F}"/>
              </a:ext>
            </a:extLst>
          </p:cNvPr>
          <p:cNvSpPr/>
          <p:nvPr/>
        </p:nvSpPr>
        <p:spPr>
          <a:xfrm>
            <a:off x="5413649" y="2646783"/>
            <a:ext cx="754149" cy="367974"/>
          </a:xfrm>
          <a:prstGeom prst="rect">
            <a:avLst/>
          </a:prstGeom>
          <a:solidFill>
            <a:srgbClr val="E9F7F8"/>
          </a:solidFill>
          <a:ln w="6350">
            <a:solidFill>
              <a:srgbClr val="205273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" name="Text 12">
            <a:extLst>
              <a:ext uri="{FF2B5EF4-FFF2-40B4-BE49-F238E27FC236}">
                <a16:creationId xmlns:a16="http://schemas.microsoft.com/office/drawing/2014/main" id="{6074707F-5D44-8348-EBC4-65BF1569F43A}"/>
              </a:ext>
            </a:extLst>
          </p:cNvPr>
          <p:cNvSpPr/>
          <p:nvPr/>
        </p:nvSpPr>
        <p:spPr>
          <a:xfrm>
            <a:off x="5466217" y="97290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00" b="1" dirty="0">
                <a:solidFill>
                  <a:schemeClr val="bg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5. EIP</a:t>
            </a:r>
          </a:p>
          <a:p>
            <a:r>
              <a:rPr lang="en-US" sz="600" dirty="0">
                <a:solidFill>
                  <a:schemeClr val="bg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Secure delivery</a:t>
            </a:r>
          </a:p>
          <a:p>
            <a:endParaRPr lang="en-US" sz="7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44" name="Text 43">
            <a:extLst>
              <a:ext uri="{FF2B5EF4-FFF2-40B4-BE49-F238E27FC236}">
                <a16:creationId xmlns:a16="http://schemas.microsoft.com/office/drawing/2014/main" id="{90798E1C-7E78-DF39-C681-BA1EF5C28784}"/>
              </a:ext>
            </a:extLst>
          </p:cNvPr>
          <p:cNvSpPr/>
          <p:nvPr/>
        </p:nvSpPr>
        <p:spPr>
          <a:xfrm>
            <a:off x="5472854" y="1283562"/>
            <a:ext cx="694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Secure APIs</a:t>
            </a:r>
            <a:endParaRPr lang="en-US" sz="70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45" name="Text 45">
            <a:extLst>
              <a:ext uri="{FF2B5EF4-FFF2-40B4-BE49-F238E27FC236}">
                <a16:creationId xmlns:a16="http://schemas.microsoft.com/office/drawing/2014/main" id="{99343D89-C754-08E5-B953-79E4CC42D415}"/>
              </a:ext>
            </a:extLst>
          </p:cNvPr>
          <p:cNvSpPr/>
          <p:nvPr/>
        </p:nvSpPr>
        <p:spPr>
          <a:xfrm>
            <a:off x="5472854" y="1621088"/>
            <a:ext cx="694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Authentication &amp;</a:t>
            </a:r>
            <a:endParaRPr lang="en-US" sz="70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Authorization</a:t>
            </a:r>
            <a:endParaRPr lang="en-US" sz="70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46" name="Text 47">
            <a:extLst>
              <a:ext uri="{FF2B5EF4-FFF2-40B4-BE49-F238E27FC236}">
                <a16:creationId xmlns:a16="http://schemas.microsoft.com/office/drawing/2014/main" id="{8AB44B16-DFDB-9FCB-3BB5-69AACAD99083}"/>
              </a:ext>
            </a:extLst>
          </p:cNvPr>
          <p:cNvSpPr/>
          <p:nvPr/>
        </p:nvSpPr>
        <p:spPr>
          <a:xfrm>
            <a:off x="5472854" y="1958614"/>
            <a:ext cx="694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Payload Validation</a:t>
            </a:r>
          </a:p>
          <a:p>
            <a:pPr marL="0" indent="0">
              <a:buNone/>
            </a:pPr>
            <a:r>
              <a:rPr 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&amp; Enrichment</a:t>
            </a:r>
          </a:p>
        </p:txBody>
      </p:sp>
      <p:sp>
        <p:nvSpPr>
          <p:cNvPr id="147" name="Text 49">
            <a:extLst>
              <a:ext uri="{FF2B5EF4-FFF2-40B4-BE49-F238E27FC236}">
                <a16:creationId xmlns:a16="http://schemas.microsoft.com/office/drawing/2014/main" id="{FEBCDC95-694F-A426-56A3-3143F192B99A}"/>
              </a:ext>
            </a:extLst>
          </p:cNvPr>
          <p:cNvSpPr/>
          <p:nvPr/>
        </p:nvSpPr>
        <p:spPr>
          <a:xfrm>
            <a:off x="5472854" y="2327124"/>
            <a:ext cx="694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Routing &amp; Delivery</a:t>
            </a:r>
          </a:p>
          <a:p>
            <a:pPr marL="0" indent="0">
              <a:buNone/>
            </a:pPr>
            <a:r>
              <a:rPr 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Management</a:t>
            </a:r>
          </a:p>
        </p:txBody>
      </p:sp>
      <p:sp>
        <p:nvSpPr>
          <p:cNvPr id="148" name="Text 51">
            <a:extLst>
              <a:ext uri="{FF2B5EF4-FFF2-40B4-BE49-F238E27FC236}">
                <a16:creationId xmlns:a16="http://schemas.microsoft.com/office/drawing/2014/main" id="{D66F7BE8-5F36-C623-876B-571FD606169D}"/>
              </a:ext>
            </a:extLst>
          </p:cNvPr>
          <p:cNvSpPr/>
          <p:nvPr/>
        </p:nvSpPr>
        <p:spPr>
          <a:xfrm>
            <a:off x="5472854" y="2693610"/>
            <a:ext cx="694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Logging</a:t>
            </a:r>
            <a:endParaRPr lang="en-US" sz="7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(Immutable)</a:t>
            </a:r>
            <a:endParaRPr lang="en-US" sz="7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5" name="Shape 9">
            <a:extLst>
              <a:ext uri="{FF2B5EF4-FFF2-40B4-BE49-F238E27FC236}">
                <a16:creationId xmlns:a16="http://schemas.microsoft.com/office/drawing/2014/main" id="{6EF97970-5B61-2DEE-5E0F-4F36E9FC7ED6}"/>
              </a:ext>
            </a:extLst>
          </p:cNvPr>
          <p:cNvSpPr/>
          <p:nvPr/>
        </p:nvSpPr>
        <p:spPr>
          <a:xfrm>
            <a:off x="6340713" y="922365"/>
            <a:ext cx="1190387" cy="3052788"/>
          </a:xfrm>
          <a:prstGeom prst="roundRect">
            <a:avLst>
              <a:gd name="adj" fmla="val 3490"/>
            </a:avLst>
          </a:prstGeom>
          <a:solidFill>
            <a:srgbClr val="66C07E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6" name="Shape 29">
            <a:extLst>
              <a:ext uri="{FF2B5EF4-FFF2-40B4-BE49-F238E27FC236}">
                <a16:creationId xmlns:a16="http://schemas.microsoft.com/office/drawing/2014/main" id="{D200222F-B44B-CF9C-FD5C-5DEAAB896FD1}"/>
              </a:ext>
            </a:extLst>
          </p:cNvPr>
          <p:cNvSpPr/>
          <p:nvPr/>
        </p:nvSpPr>
        <p:spPr>
          <a:xfrm>
            <a:off x="6409719" y="1228257"/>
            <a:ext cx="1042006" cy="536379"/>
          </a:xfrm>
          <a:prstGeom prst="rect">
            <a:avLst/>
          </a:prstGeom>
          <a:solidFill>
            <a:srgbClr val="F0FCF5"/>
          </a:solidFill>
          <a:ln w="6350">
            <a:solidFill>
              <a:srgbClr val="66C07E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59" name="Text 74">
            <a:extLst>
              <a:ext uri="{FF2B5EF4-FFF2-40B4-BE49-F238E27FC236}">
                <a16:creationId xmlns:a16="http://schemas.microsoft.com/office/drawing/2014/main" id="{EF946994-D44D-AEDA-BAF8-D3496A36A0EC}"/>
              </a:ext>
            </a:extLst>
          </p:cNvPr>
          <p:cNvSpPr/>
          <p:nvPr/>
        </p:nvSpPr>
        <p:spPr>
          <a:xfrm>
            <a:off x="6483546" y="1233739"/>
            <a:ext cx="924119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ADP MMS </a:t>
            </a:r>
            <a:r>
              <a:rPr 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· </a:t>
            </a:r>
            <a:r>
              <a:rPr lang="en-US" sz="5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Canada &amp; USA</a:t>
            </a:r>
            <a:endParaRPr lang="en-US" sz="60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60" name="Text 75">
            <a:extLst>
              <a:ext uri="{FF2B5EF4-FFF2-40B4-BE49-F238E27FC236}">
                <a16:creationId xmlns:a16="http://schemas.microsoft.com/office/drawing/2014/main" id="{9FFF6667-E559-9310-7CF7-8F9BD736E14D}"/>
              </a:ext>
            </a:extLst>
          </p:cNvPr>
          <p:cNvSpPr/>
          <p:nvPr/>
        </p:nvSpPr>
        <p:spPr>
          <a:xfrm>
            <a:off x="6482575" y="1373416"/>
            <a:ext cx="883526" cy="361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Auto-debit AI bank → salary + statutory</a:t>
            </a:r>
          </a:p>
          <a:p>
            <a:r>
              <a:rPr lang="en-US" sz="600" b="1" dirty="0">
                <a:solidFill>
                  <a:srgbClr val="66C07E"/>
                </a:solidFill>
                <a:latin typeface="Aptos" panose="020B0004020202020204" pitchFamily="34" charset="0"/>
              </a:rPr>
              <a:t>✓ Automated</a:t>
            </a:r>
          </a:p>
        </p:txBody>
      </p:sp>
      <p:sp>
        <p:nvSpPr>
          <p:cNvPr id="167" name="Text 14">
            <a:extLst>
              <a:ext uri="{FF2B5EF4-FFF2-40B4-BE49-F238E27FC236}">
                <a16:creationId xmlns:a16="http://schemas.microsoft.com/office/drawing/2014/main" id="{6D646A6B-310A-57A3-2771-0BD098F7D9F5}"/>
              </a:ext>
            </a:extLst>
          </p:cNvPr>
          <p:cNvSpPr/>
          <p:nvPr/>
        </p:nvSpPr>
        <p:spPr>
          <a:xfrm>
            <a:off x="6479514" y="955978"/>
            <a:ext cx="90646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00" b="1" dirty="0">
                <a:solidFill>
                  <a:schemeClr val="bg1"/>
                </a:solidFill>
                <a:latin typeface="Aptos" panose="020B0004020202020204" pitchFamily="34" charset="0"/>
              </a:rPr>
              <a:t>6. PAYMENT</a:t>
            </a:r>
          </a:p>
          <a:p>
            <a:r>
              <a:rPr lang="en-US" sz="600" dirty="0">
                <a:solidFill>
                  <a:schemeClr val="bg1"/>
                </a:solidFill>
                <a:latin typeface="Aptos" panose="020B0004020202020204" pitchFamily="34" charset="0"/>
              </a:rPr>
              <a:t>Zero Touch disbursement</a:t>
            </a:r>
          </a:p>
        </p:txBody>
      </p:sp>
      <p:sp>
        <p:nvSpPr>
          <p:cNvPr id="168" name="Shape 29">
            <a:extLst>
              <a:ext uri="{FF2B5EF4-FFF2-40B4-BE49-F238E27FC236}">
                <a16:creationId xmlns:a16="http://schemas.microsoft.com/office/drawing/2014/main" id="{D3075CEE-74F5-92FA-BDEE-0C6C2ECD48CF}"/>
              </a:ext>
            </a:extLst>
          </p:cNvPr>
          <p:cNvSpPr/>
          <p:nvPr/>
        </p:nvSpPr>
        <p:spPr>
          <a:xfrm>
            <a:off x="6409719" y="1758482"/>
            <a:ext cx="1042006" cy="536379"/>
          </a:xfrm>
          <a:prstGeom prst="rect">
            <a:avLst/>
          </a:prstGeom>
          <a:solidFill>
            <a:srgbClr val="F0FCF5"/>
          </a:solidFill>
          <a:ln w="6350">
            <a:solidFill>
              <a:srgbClr val="66C07E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69" name="Text 74">
            <a:extLst>
              <a:ext uri="{FF2B5EF4-FFF2-40B4-BE49-F238E27FC236}">
                <a16:creationId xmlns:a16="http://schemas.microsoft.com/office/drawing/2014/main" id="{4924C8A8-8955-9C83-4531-72462BC1B598}"/>
              </a:ext>
            </a:extLst>
          </p:cNvPr>
          <p:cNvSpPr/>
          <p:nvPr/>
        </p:nvSpPr>
        <p:spPr>
          <a:xfrm>
            <a:off x="6483546" y="1763964"/>
            <a:ext cx="924119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ADP Bank  </a:t>
            </a:r>
            <a:r>
              <a:rPr lang="en-US" sz="5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·  US / CA</a:t>
            </a:r>
            <a:endParaRPr lang="en-US" sz="60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70" name="Text 75">
            <a:extLst>
              <a:ext uri="{FF2B5EF4-FFF2-40B4-BE49-F238E27FC236}">
                <a16:creationId xmlns:a16="http://schemas.microsoft.com/office/drawing/2014/main" id="{553A25F6-A94B-6720-7D31-05111D9AEDF6}"/>
              </a:ext>
            </a:extLst>
          </p:cNvPr>
          <p:cNvSpPr/>
          <p:nvPr/>
        </p:nvSpPr>
        <p:spPr>
          <a:xfrm>
            <a:off x="6482575" y="1903641"/>
            <a:ext cx="925090" cy="361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Auto-debit &amp; disbursement via ADP</a:t>
            </a:r>
          </a:p>
          <a:p>
            <a:r>
              <a:rPr lang="en-US" sz="600" b="1" dirty="0">
                <a:solidFill>
                  <a:srgbClr val="66C07E"/>
                </a:solidFill>
                <a:latin typeface="Aptos" panose="020B0004020202020204" pitchFamily="34" charset="0"/>
              </a:rPr>
              <a:t>✓ Automated</a:t>
            </a:r>
          </a:p>
        </p:txBody>
      </p:sp>
      <p:sp>
        <p:nvSpPr>
          <p:cNvPr id="171" name="Shape 29">
            <a:extLst>
              <a:ext uri="{FF2B5EF4-FFF2-40B4-BE49-F238E27FC236}">
                <a16:creationId xmlns:a16="http://schemas.microsoft.com/office/drawing/2014/main" id="{6BA9CF4B-732E-238D-0AC9-FD1287CF3389}"/>
              </a:ext>
            </a:extLst>
          </p:cNvPr>
          <p:cNvSpPr/>
          <p:nvPr/>
        </p:nvSpPr>
        <p:spPr>
          <a:xfrm>
            <a:off x="6409719" y="2291882"/>
            <a:ext cx="1042006" cy="536379"/>
          </a:xfrm>
          <a:prstGeom prst="rect">
            <a:avLst/>
          </a:prstGeom>
          <a:solidFill>
            <a:srgbClr val="F0FCF5"/>
          </a:solidFill>
          <a:ln w="6350">
            <a:solidFill>
              <a:srgbClr val="66C07E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72" name="Text 74">
            <a:extLst>
              <a:ext uri="{FF2B5EF4-FFF2-40B4-BE49-F238E27FC236}">
                <a16:creationId xmlns:a16="http://schemas.microsoft.com/office/drawing/2014/main" id="{6460D4CF-4272-71A8-067E-B077C52C78FF}"/>
              </a:ext>
            </a:extLst>
          </p:cNvPr>
          <p:cNvSpPr/>
          <p:nvPr/>
        </p:nvSpPr>
        <p:spPr>
          <a:xfrm>
            <a:off x="6483546" y="2297364"/>
            <a:ext cx="924119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Finance H2H </a:t>
            </a:r>
            <a:r>
              <a:rPr 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· </a:t>
            </a:r>
            <a:r>
              <a:rPr lang="en-US" sz="5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17 countries</a:t>
            </a:r>
            <a:endParaRPr lang="en-US" sz="60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73" name="Text 75">
            <a:extLst>
              <a:ext uri="{FF2B5EF4-FFF2-40B4-BE49-F238E27FC236}">
                <a16:creationId xmlns:a16="http://schemas.microsoft.com/office/drawing/2014/main" id="{B052D533-E4AF-9BB9-DA56-A4FC10CF8DC1}"/>
              </a:ext>
            </a:extLst>
          </p:cNvPr>
          <p:cNvSpPr/>
          <p:nvPr/>
        </p:nvSpPr>
        <p:spPr>
          <a:xfrm>
            <a:off x="6482575" y="2437041"/>
            <a:ext cx="883526" cy="361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Auto H2H XML to HSBC/Citi → auto disburse</a:t>
            </a:r>
          </a:p>
          <a:p>
            <a:r>
              <a:rPr lang="en-US" sz="600" b="1" dirty="0">
                <a:solidFill>
                  <a:srgbClr val="66C07E"/>
                </a:solidFill>
                <a:latin typeface="Aptos" panose="020B0004020202020204" pitchFamily="34" charset="0"/>
              </a:rPr>
              <a:t>✓ Automated</a:t>
            </a:r>
          </a:p>
        </p:txBody>
      </p:sp>
      <p:sp>
        <p:nvSpPr>
          <p:cNvPr id="174" name="Shape 29">
            <a:extLst>
              <a:ext uri="{FF2B5EF4-FFF2-40B4-BE49-F238E27FC236}">
                <a16:creationId xmlns:a16="http://schemas.microsoft.com/office/drawing/2014/main" id="{C828A84C-4D05-79EB-3233-4326C8612BA2}"/>
              </a:ext>
            </a:extLst>
          </p:cNvPr>
          <p:cNvSpPr/>
          <p:nvPr/>
        </p:nvSpPr>
        <p:spPr>
          <a:xfrm>
            <a:off x="6409719" y="2825282"/>
            <a:ext cx="1042006" cy="536379"/>
          </a:xfrm>
          <a:prstGeom prst="rect">
            <a:avLst/>
          </a:prstGeom>
          <a:solidFill>
            <a:srgbClr val="F0FCF5"/>
          </a:solidFill>
          <a:ln w="6350">
            <a:solidFill>
              <a:srgbClr val="66C07E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75" name="Text 74">
            <a:extLst>
              <a:ext uri="{FF2B5EF4-FFF2-40B4-BE49-F238E27FC236}">
                <a16:creationId xmlns:a16="http://schemas.microsoft.com/office/drawing/2014/main" id="{8AB0A7E8-D120-4F0F-B7A4-2CE8C0E60042}"/>
              </a:ext>
            </a:extLst>
          </p:cNvPr>
          <p:cNvSpPr/>
          <p:nvPr/>
        </p:nvSpPr>
        <p:spPr>
          <a:xfrm>
            <a:off x="6483546" y="2830764"/>
            <a:ext cx="924119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AI Local Payment </a:t>
            </a:r>
            <a:r>
              <a:rPr lang="en-US" sz="5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·  JP TH NP</a:t>
            </a:r>
            <a:endParaRPr lang="en-US" sz="60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76" name="Text 75">
            <a:extLst>
              <a:ext uri="{FF2B5EF4-FFF2-40B4-BE49-F238E27FC236}">
                <a16:creationId xmlns:a16="http://schemas.microsoft.com/office/drawing/2014/main" id="{54B0D635-5439-CD27-F136-FC7973D83E0A}"/>
              </a:ext>
            </a:extLst>
          </p:cNvPr>
          <p:cNvSpPr/>
          <p:nvPr/>
        </p:nvSpPr>
        <p:spPr>
          <a:xfrm>
            <a:off x="6482575" y="2970441"/>
            <a:ext cx="883526" cy="361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Automated local bank transfers</a:t>
            </a:r>
          </a:p>
          <a:p>
            <a:r>
              <a:rPr lang="en-US" sz="600" b="1" dirty="0">
                <a:solidFill>
                  <a:srgbClr val="66C07E"/>
                </a:solidFill>
                <a:latin typeface="Aptos" panose="020B0004020202020204" pitchFamily="34" charset="0"/>
              </a:rPr>
              <a:t>✓ Automated</a:t>
            </a:r>
          </a:p>
        </p:txBody>
      </p:sp>
      <p:sp>
        <p:nvSpPr>
          <p:cNvPr id="177" name="Shape 29">
            <a:extLst>
              <a:ext uri="{FF2B5EF4-FFF2-40B4-BE49-F238E27FC236}">
                <a16:creationId xmlns:a16="http://schemas.microsoft.com/office/drawing/2014/main" id="{9FCF68A2-4389-CC87-F11A-747351C52E84}"/>
              </a:ext>
            </a:extLst>
          </p:cNvPr>
          <p:cNvSpPr/>
          <p:nvPr/>
        </p:nvSpPr>
        <p:spPr>
          <a:xfrm>
            <a:off x="6409719" y="3358682"/>
            <a:ext cx="1042006" cy="536379"/>
          </a:xfrm>
          <a:prstGeom prst="rect">
            <a:avLst/>
          </a:prstGeom>
          <a:solidFill>
            <a:srgbClr val="EAF8F9"/>
          </a:solidFill>
          <a:ln w="6350">
            <a:solidFill>
              <a:srgbClr val="66C07E"/>
            </a:solidFill>
            <a:prstDash val="solid"/>
          </a:ln>
          <a:effectLst/>
        </p:spPr>
        <p:txBody>
          <a:bodyPr/>
          <a:lstStyle/>
          <a:p>
            <a:endParaRPr lang="en-US">
              <a:solidFill>
                <a:srgbClr val="F0FCF5"/>
              </a:solidFill>
            </a:endParaRPr>
          </a:p>
        </p:txBody>
      </p:sp>
      <p:sp>
        <p:nvSpPr>
          <p:cNvPr id="178" name="Text 74">
            <a:extLst>
              <a:ext uri="{FF2B5EF4-FFF2-40B4-BE49-F238E27FC236}">
                <a16:creationId xmlns:a16="http://schemas.microsoft.com/office/drawing/2014/main" id="{8D444278-0F79-FAA2-42B8-034B4FC6DF17}"/>
              </a:ext>
            </a:extLst>
          </p:cNvPr>
          <p:cNvSpPr/>
          <p:nvPr/>
        </p:nvSpPr>
        <p:spPr>
          <a:xfrm>
            <a:off x="6483546" y="3364164"/>
            <a:ext cx="924119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GSA Payment </a:t>
            </a:r>
            <a:r>
              <a:rPr 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· </a:t>
            </a:r>
            <a:r>
              <a:rPr lang="en-US" sz="5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13+ countries</a:t>
            </a:r>
            <a:endParaRPr lang="en-US" sz="60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79" name="Text 75">
            <a:extLst>
              <a:ext uri="{FF2B5EF4-FFF2-40B4-BE49-F238E27FC236}">
                <a16:creationId xmlns:a16="http://schemas.microsoft.com/office/drawing/2014/main" id="{F5DDCF8A-F3A5-A070-8C4A-92252B0E9A72}"/>
              </a:ext>
            </a:extLst>
          </p:cNvPr>
          <p:cNvSpPr/>
          <p:nvPr/>
        </p:nvSpPr>
        <p:spPr>
          <a:xfrm>
            <a:off x="6482575" y="3503841"/>
            <a:ext cx="883526" cy="361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GSA disburses salaries + statutory payments</a:t>
            </a:r>
          </a:p>
          <a:p>
            <a:r>
              <a:rPr lang="en-US" sz="600" b="1" dirty="0">
                <a:solidFill>
                  <a:srgbClr val="205273"/>
                </a:solidFill>
                <a:latin typeface="Aptos" panose="020B0004020202020204" pitchFamily="34" charset="0"/>
              </a:rPr>
              <a:t>✓ Controlled</a:t>
            </a:r>
          </a:p>
        </p:txBody>
      </p:sp>
      <p:sp>
        <p:nvSpPr>
          <p:cNvPr id="180" name="Shape 9">
            <a:extLst>
              <a:ext uri="{FF2B5EF4-FFF2-40B4-BE49-F238E27FC236}">
                <a16:creationId xmlns:a16="http://schemas.microsoft.com/office/drawing/2014/main" id="{2067F7A0-2B1E-43F3-70F3-444616FBD641}"/>
              </a:ext>
            </a:extLst>
          </p:cNvPr>
          <p:cNvSpPr/>
          <p:nvPr/>
        </p:nvSpPr>
        <p:spPr>
          <a:xfrm>
            <a:off x="7634254" y="922365"/>
            <a:ext cx="1258943" cy="3052788"/>
          </a:xfrm>
          <a:prstGeom prst="roundRect">
            <a:avLst>
              <a:gd name="adj" fmla="val 3490"/>
            </a:avLst>
          </a:prstGeom>
          <a:solidFill>
            <a:srgbClr val="AA91C1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1" name="Shape 29">
            <a:extLst>
              <a:ext uri="{FF2B5EF4-FFF2-40B4-BE49-F238E27FC236}">
                <a16:creationId xmlns:a16="http://schemas.microsoft.com/office/drawing/2014/main" id="{DC7FF8DB-CFD0-0E98-9499-F083BF96CA67}"/>
              </a:ext>
            </a:extLst>
          </p:cNvPr>
          <p:cNvSpPr/>
          <p:nvPr/>
        </p:nvSpPr>
        <p:spPr>
          <a:xfrm>
            <a:off x="7703259" y="1228257"/>
            <a:ext cx="1125929" cy="536379"/>
          </a:xfrm>
          <a:prstGeom prst="rect">
            <a:avLst/>
          </a:prstGeom>
          <a:solidFill>
            <a:srgbClr val="F5F0FF"/>
          </a:solidFill>
          <a:ln w="6350">
            <a:solidFill>
              <a:srgbClr val="AA91C1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2" name="Text 74">
            <a:extLst>
              <a:ext uri="{FF2B5EF4-FFF2-40B4-BE49-F238E27FC236}">
                <a16:creationId xmlns:a16="http://schemas.microsoft.com/office/drawing/2014/main" id="{9477AFBA-A998-478B-6BE7-4213897F8525}"/>
              </a:ext>
            </a:extLst>
          </p:cNvPr>
          <p:cNvSpPr/>
          <p:nvPr/>
        </p:nvSpPr>
        <p:spPr>
          <a:xfrm>
            <a:off x="7777087" y="1233739"/>
            <a:ext cx="924119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SAP S/4HANA</a:t>
            </a:r>
          </a:p>
        </p:txBody>
      </p:sp>
      <p:sp>
        <p:nvSpPr>
          <p:cNvPr id="183" name="Text 75">
            <a:extLst>
              <a:ext uri="{FF2B5EF4-FFF2-40B4-BE49-F238E27FC236}">
                <a16:creationId xmlns:a16="http://schemas.microsoft.com/office/drawing/2014/main" id="{607FB5D3-DCE8-C710-569F-365F140219D9}"/>
              </a:ext>
            </a:extLst>
          </p:cNvPr>
          <p:cNvSpPr/>
          <p:nvPr/>
        </p:nvSpPr>
        <p:spPr>
          <a:xfrm>
            <a:off x="7776116" y="1373416"/>
            <a:ext cx="883526" cy="361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GL Posting · Cost Centre</a:t>
            </a:r>
          </a:p>
          <a:p>
            <a:r>
              <a:rPr 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Monthly Recon · Finance Reporting</a:t>
            </a:r>
          </a:p>
        </p:txBody>
      </p:sp>
      <p:sp>
        <p:nvSpPr>
          <p:cNvPr id="184" name="Text 14">
            <a:extLst>
              <a:ext uri="{FF2B5EF4-FFF2-40B4-BE49-F238E27FC236}">
                <a16:creationId xmlns:a16="http://schemas.microsoft.com/office/drawing/2014/main" id="{B3A9EB4C-BA3B-3E66-560F-C225E198D0F0}"/>
              </a:ext>
            </a:extLst>
          </p:cNvPr>
          <p:cNvSpPr/>
          <p:nvPr/>
        </p:nvSpPr>
        <p:spPr>
          <a:xfrm>
            <a:off x="7773055" y="955978"/>
            <a:ext cx="90646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00" b="1" dirty="0">
                <a:solidFill>
                  <a:schemeClr val="bg1"/>
                </a:solidFill>
                <a:latin typeface="Aptos" panose="020B0004020202020204" pitchFamily="34" charset="0"/>
              </a:rPr>
              <a:t>7. DOWNSTREAM</a:t>
            </a:r>
          </a:p>
          <a:p>
            <a:r>
              <a:rPr lang="en-US" sz="600" dirty="0">
                <a:solidFill>
                  <a:schemeClr val="bg1"/>
                </a:solidFill>
                <a:latin typeface="Aptos" panose="020B0004020202020204" pitchFamily="34" charset="0"/>
              </a:rPr>
              <a:t>Banking &amp; Compliance</a:t>
            </a:r>
          </a:p>
        </p:txBody>
      </p:sp>
      <p:sp>
        <p:nvSpPr>
          <p:cNvPr id="185" name="Shape 29">
            <a:extLst>
              <a:ext uri="{FF2B5EF4-FFF2-40B4-BE49-F238E27FC236}">
                <a16:creationId xmlns:a16="http://schemas.microsoft.com/office/drawing/2014/main" id="{465CA26F-1AB9-907B-71F4-BF372A4BD1E1}"/>
              </a:ext>
            </a:extLst>
          </p:cNvPr>
          <p:cNvSpPr/>
          <p:nvPr/>
        </p:nvSpPr>
        <p:spPr>
          <a:xfrm>
            <a:off x="7703259" y="1758482"/>
            <a:ext cx="1125929" cy="536379"/>
          </a:xfrm>
          <a:prstGeom prst="rect">
            <a:avLst/>
          </a:prstGeom>
          <a:solidFill>
            <a:srgbClr val="F5F0FF"/>
          </a:solidFill>
          <a:ln w="6350">
            <a:solidFill>
              <a:srgbClr val="AA91C1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6" name="Text 74">
            <a:extLst>
              <a:ext uri="{FF2B5EF4-FFF2-40B4-BE49-F238E27FC236}">
                <a16:creationId xmlns:a16="http://schemas.microsoft.com/office/drawing/2014/main" id="{A67C42CA-DF93-E7F8-CC1D-52850F4CE304}"/>
              </a:ext>
            </a:extLst>
          </p:cNvPr>
          <p:cNvSpPr/>
          <p:nvPr/>
        </p:nvSpPr>
        <p:spPr>
          <a:xfrm>
            <a:off x="7777087" y="1763964"/>
            <a:ext cx="924119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Banks (HSBC/Citi &amp; Local)</a:t>
            </a:r>
          </a:p>
        </p:txBody>
      </p:sp>
      <p:sp>
        <p:nvSpPr>
          <p:cNvPr id="187" name="Text 75">
            <a:extLst>
              <a:ext uri="{FF2B5EF4-FFF2-40B4-BE49-F238E27FC236}">
                <a16:creationId xmlns:a16="http://schemas.microsoft.com/office/drawing/2014/main" id="{7818C1AE-913D-E547-819C-A9352BCCEE4C}"/>
              </a:ext>
            </a:extLst>
          </p:cNvPr>
          <p:cNvSpPr/>
          <p:nvPr/>
        </p:nvSpPr>
        <p:spPr>
          <a:xfrm>
            <a:off x="7776116" y="1903641"/>
            <a:ext cx="1053074" cy="361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Auto File Receipt · Auto Validation · Auto Disbursement · Confirmation</a:t>
            </a:r>
          </a:p>
        </p:txBody>
      </p:sp>
      <p:sp>
        <p:nvSpPr>
          <p:cNvPr id="188" name="Shape 29">
            <a:extLst>
              <a:ext uri="{FF2B5EF4-FFF2-40B4-BE49-F238E27FC236}">
                <a16:creationId xmlns:a16="http://schemas.microsoft.com/office/drawing/2014/main" id="{6B916BE3-94A8-E8B1-BCD5-78C83DE37F33}"/>
              </a:ext>
            </a:extLst>
          </p:cNvPr>
          <p:cNvSpPr/>
          <p:nvPr/>
        </p:nvSpPr>
        <p:spPr>
          <a:xfrm>
            <a:off x="7703259" y="2291882"/>
            <a:ext cx="1125929" cy="536379"/>
          </a:xfrm>
          <a:prstGeom prst="rect">
            <a:avLst/>
          </a:prstGeom>
          <a:solidFill>
            <a:srgbClr val="F5F0FF"/>
          </a:solidFill>
          <a:ln w="6350">
            <a:solidFill>
              <a:srgbClr val="AA91C1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9" name="Text 74">
            <a:extLst>
              <a:ext uri="{FF2B5EF4-FFF2-40B4-BE49-F238E27FC236}">
                <a16:creationId xmlns:a16="http://schemas.microsoft.com/office/drawing/2014/main" id="{811A9BB7-A839-80AD-4116-FF6AE83CD828}"/>
              </a:ext>
            </a:extLst>
          </p:cNvPr>
          <p:cNvSpPr/>
          <p:nvPr/>
        </p:nvSpPr>
        <p:spPr>
          <a:xfrm>
            <a:off x="7777087" y="2297364"/>
            <a:ext cx="924119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Compliance Systems</a:t>
            </a:r>
          </a:p>
        </p:txBody>
      </p:sp>
      <p:sp>
        <p:nvSpPr>
          <p:cNvPr id="190" name="Text 75">
            <a:extLst>
              <a:ext uri="{FF2B5EF4-FFF2-40B4-BE49-F238E27FC236}">
                <a16:creationId xmlns:a16="http://schemas.microsoft.com/office/drawing/2014/main" id="{52D9962F-A406-C4EE-8858-BFCB27406EEA}"/>
              </a:ext>
            </a:extLst>
          </p:cNvPr>
          <p:cNvSpPr/>
          <p:nvPr/>
        </p:nvSpPr>
        <p:spPr>
          <a:xfrm>
            <a:off x="7776116" y="2437041"/>
            <a:ext cx="997770" cy="361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PF · TDS · SOX  · Compliance Checks · 7-Yr Retention Regulatory  · Reporting</a:t>
            </a:r>
          </a:p>
        </p:txBody>
      </p:sp>
      <p:sp>
        <p:nvSpPr>
          <p:cNvPr id="191" name="Shape 29">
            <a:extLst>
              <a:ext uri="{FF2B5EF4-FFF2-40B4-BE49-F238E27FC236}">
                <a16:creationId xmlns:a16="http://schemas.microsoft.com/office/drawing/2014/main" id="{8A4083E4-02D5-C451-DC53-F91B59E183CE}"/>
              </a:ext>
            </a:extLst>
          </p:cNvPr>
          <p:cNvSpPr/>
          <p:nvPr/>
        </p:nvSpPr>
        <p:spPr>
          <a:xfrm>
            <a:off x="7703259" y="2825282"/>
            <a:ext cx="1125929" cy="621861"/>
          </a:xfrm>
          <a:prstGeom prst="rect">
            <a:avLst/>
          </a:prstGeom>
          <a:solidFill>
            <a:srgbClr val="F5F0FF"/>
          </a:solidFill>
          <a:ln w="6350">
            <a:solidFill>
              <a:srgbClr val="AA91C1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2" name="Text 74">
            <a:extLst>
              <a:ext uri="{FF2B5EF4-FFF2-40B4-BE49-F238E27FC236}">
                <a16:creationId xmlns:a16="http://schemas.microsoft.com/office/drawing/2014/main" id="{4C8E1721-97B1-8BF6-7B78-D9E3E5A13F1E}"/>
              </a:ext>
            </a:extLst>
          </p:cNvPr>
          <p:cNvSpPr/>
          <p:nvPr/>
        </p:nvSpPr>
        <p:spPr>
          <a:xfrm>
            <a:off x="7777087" y="2830764"/>
            <a:ext cx="924119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Audit &amp; Analytics</a:t>
            </a:r>
          </a:p>
        </p:txBody>
      </p:sp>
      <p:sp>
        <p:nvSpPr>
          <p:cNvPr id="193" name="Text 75">
            <a:extLst>
              <a:ext uri="{FF2B5EF4-FFF2-40B4-BE49-F238E27FC236}">
                <a16:creationId xmlns:a16="http://schemas.microsoft.com/office/drawing/2014/main" id="{08C5D80B-ED86-C76A-3A53-201C65288D8C}"/>
              </a:ext>
            </a:extLst>
          </p:cNvPr>
          <p:cNvSpPr/>
          <p:nvPr/>
        </p:nvSpPr>
        <p:spPr>
          <a:xfrm>
            <a:off x="7776116" y="3013269"/>
            <a:ext cx="883526" cy="361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Real-time Dashboards</a:t>
            </a:r>
          </a:p>
          <a:p>
            <a:r>
              <a:rPr 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Exception Reports · Audit Trail</a:t>
            </a:r>
          </a:p>
          <a:p>
            <a:r>
              <a:rPr 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Data Lineage</a:t>
            </a: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532AA647-81AB-533F-7B87-24C1CD84C50E}"/>
              </a:ext>
            </a:extLst>
          </p:cNvPr>
          <p:cNvSpPr txBox="1"/>
          <p:nvPr/>
        </p:nvSpPr>
        <p:spPr>
          <a:xfrm>
            <a:off x="7068777" y="628088"/>
            <a:ext cx="592505" cy="204311"/>
          </a:xfrm>
          <a:prstGeom prst="roundRect">
            <a:avLst/>
          </a:prstGeom>
          <a:solidFill>
            <a:srgbClr val="F0FCF5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Automated</a:t>
            </a: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F16AB37D-1780-7E89-C494-3E5545C0E117}"/>
              </a:ext>
            </a:extLst>
          </p:cNvPr>
          <p:cNvSpPr txBox="1"/>
          <p:nvPr/>
        </p:nvSpPr>
        <p:spPr>
          <a:xfrm>
            <a:off x="7726908" y="624403"/>
            <a:ext cx="579309" cy="204311"/>
          </a:xfrm>
          <a:prstGeom prst="roundRect">
            <a:avLst/>
          </a:prstGeom>
          <a:solidFill>
            <a:srgbClr val="EAF8F9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Controlled</a:t>
            </a: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8E59923B-42C1-7837-15EC-E0CC5B918037}"/>
              </a:ext>
            </a:extLst>
          </p:cNvPr>
          <p:cNvSpPr txBox="1"/>
          <p:nvPr/>
        </p:nvSpPr>
        <p:spPr>
          <a:xfrm>
            <a:off x="8350178" y="627028"/>
            <a:ext cx="543019" cy="204311"/>
          </a:xfrm>
          <a:prstGeom prst="roundRect">
            <a:avLst/>
          </a:prstGeom>
          <a:solidFill>
            <a:srgbClr val="F5F0FF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Zero trust</a:t>
            </a:r>
          </a:p>
        </p:txBody>
      </p:sp>
      <p:sp>
        <p:nvSpPr>
          <p:cNvPr id="200" name="Shape 122">
            <a:extLst>
              <a:ext uri="{FF2B5EF4-FFF2-40B4-BE49-F238E27FC236}">
                <a16:creationId xmlns:a16="http://schemas.microsoft.com/office/drawing/2014/main" id="{AC674873-1259-20FF-3937-70A01E3D009A}"/>
              </a:ext>
            </a:extLst>
          </p:cNvPr>
          <p:cNvSpPr/>
          <p:nvPr/>
        </p:nvSpPr>
        <p:spPr>
          <a:xfrm>
            <a:off x="175022" y="4023360"/>
            <a:ext cx="8831818" cy="500634"/>
          </a:xfrm>
          <a:prstGeom prst="roundRect">
            <a:avLst>
              <a:gd name="adj" fmla="val 5479"/>
            </a:avLst>
          </a:prstGeom>
          <a:solidFill>
            <a:srgbClr val="F5F0FF"/>
          </a:solidFill>
          <a:ln w="1016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1" name="Text 123">
            <a:extLst>
              <a:ext uri="{FF2B5EF4-FFF2-40B4-BE49-F238E27FC236}">
                <a16:creationId xmlns:a16="http://schemas.microsoft.com/office/drawing/2014/main" id="{33067481-C4AB-4A53-0D94-E60EE5E4C4DB}"/>
              </a:ext>
            </a:extLst>
          </p:cNvPr>
          <p:cNvSpPr/>
          <p:nvPr/>
        </p:nvSpPr>
        <p:spPr>
          <a:xfrm>
            <a:off x="326014" y="4041648"/>
            <a:ext cx="1449826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5B4DB5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Cross-Cutting Zero Trust Controls:</a:t>
            </a:r>
            <a:endParaRPr lang="en-US" sz="700" dirty="0">
              <a:latin typeface="Aptos" panose="020B0004020202020204" pitchFamily="34" charset="0"/>
            </a:endParaRPr>
          </a:p>
        </p:txBody>
      </p:sp>
      <p:sp>
        <p:nvSpPr>
          <p:cNvPr id="202" name="Shape 124">
            <a:extLst>
              <a:ext uri="{FF2B5EF4-FFF2-40B4-BE49-F238E27FC236}">
                <a16:creationId xmlns:a16="http://schemas.microsoft.com/office/drawing/2014/main" id="{5D914734-22D8-2582-1A8E-ED9E64E899FB}"/>
              </a:ext>
            </a:extLst>
          </p:cNvPr>
          <p:cNvSpPr/>
          <p:nvPr/>
        </p:nvSpPr>
        <p:spPr>
          <a:xfrm>
            <a:off x="1883664" y="4146984"/>
            <a:ext cx="956201" cy="253386"/>
          </a:xfrm>
          <a:prstGeom prst="roundRect">
            <a:avLst>
              <a:gd name="adj" fmla="val 6417"/>
            </a:avLst>
          </a:prstGeom>
          <a:solidFill>
            <a:srgbClr val="FFFFFF"/>
          </a:solidFill>
          <a:ln w="762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3" name="Text 125">
            <a:extLst>
              <a:ext uri="{FF2B5EF4-FFF2-40B4-BE49-F238E27FC236}">
                <a16:creationId xmlns:a16="http://schemas.microsoft.com/office/drawing/2014/main" id="{88DD484A-4962-CD36-D2CB-935E0DAAF6A7}"/>
              </a:ext>
            </a:extLst>
          </p:cNvPr>
          <p:cNvSpPr/>
          <p:nvPr/>
        </p:nvSpPr>
        <p:spPr>
          <a:xfrm>
            <a:off x="1883664" y="4191922"/>
            <a:ext cx="956201" cy="163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5B4DB5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Least Privilege</a:t>
            </a:r>
            <a:endParaRPr lang="en-US" sz="600" dirty="0">
              <a:latin typeface="Aptos" panose="020B0004020202020204" pitchFamily="34" charset="0"/>
            </a:endParaRPr>
          </a:p>
          <a:p>
            <a:pPr marL="0" indent="0" algn="ctr">
              <a:buNone/>
            </a:pPr>
            <a:r>
              <a:rPr lang="en-US" sz="600" dirty="0">
                <a:solidFill>
                  <a:srgbClr val="5B4DB5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600" dirty="0">
              <a:latin typeface="Aptos" panose="020B0004020202020204" pitchFamily="34" charset="0"/>
            </a:endParaRPr>
          </a:p>
        </p:txBody>
      </p:sp>
      <p:sp>
        <p:nvSpPr>
          <p:cNvPr id="204" name="Shape 126">
            <a:extLst>
              <a:ext uri="{FF2B5EF4-FFF2-40B4-BE49-F238E27FC236}">
                <a16:creationId xmlns:a16="http://schemas.microsoft.com/office/drawing/2014/main" id="{652009E3-D461-1B88-1F4A-2471D01F9E5C}"/>
              </a:ext>
            </a:extLst>
          </p:cNvPr>
          <p:cNvSpPr/>
          <p:nvPr/>
        </p:nvSpPr>
        <p:spPr>
          <a:xfrm>
            <a:off x="2876441" y="4146984"/>
            <a:ext cx="956201" cy="253386"/>
          </a:xfrm>
          <a:prstGeom prst="roundRect">
            <a:avLst>
              <a:gd name="adj" fmla="val 6417"/>
            </a:avLst>
          </a:prstGeom>
          <a:solidFill>
            <a:srgbClr val="FFFFFF"/>
          </a:solidFill>
          <a:ln w="762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5" name="Text 127">
            <a:extLst>
              <a:ext uri="{FF2B5EF4-FFF2-40B4-BE49-F238E27FC236}">
                <a16:creationId xmlns:a16="http://schemas.microsoft.com/office/drawing/2014/main" id="{30A3E8E5-7830-32C3-EB4F-D3E641D7A8B5}"/>
              </a:ext>
            </a:extLst>
          </p:cNvPr>
          <p:cNvSpPr/>
          <p:nvPr/>
        </p:nvSpPr>
        <p:spPr>
          <a:xfrm>
            <a:off x="2876441" y="4191922"/>
            <a:ext cx="956201" cy="163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5B4DB5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Multi-Factor</a:t>
            </a:r>
            <a:endParaRPr lang="en-US" sz="600" dirty="0">
              <a:latin typeface="Aptos" panose="020B0004020202020204" pitchFamily="34" charset="0"/>
            </a:endParaRPr>
          </a:p>
          <a:p>
            <a:pPr marL="0" indent="0" algn="ctr">
              <a:buNone/>
            </a:pPr>
            <a:r>
              <a:rPr lang="en-US" sz="600" dirty="0">
                <a:solidFill>
                  <a:srgbClr val="5B4DB5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600" dirty="0">
              <a:latin typeface="Aptos" panose="020B0004020202020204" pitchFamily="34" charset="0"/>
            </a:endParaRPr>
          </a:p>
        </p:txBody>
      </p:sp>
      <p:sp>
        <p:nvSpPr>
          <p:cNvPr id="206" name="Shape 128">
            <a:extLst>
              <a:ext uri="{FF2B5EF4-FFF2-40B4-BE49-F238E27FC236}">
                <a16:creationId xmlns:a16="http://schemas.microsoft.com/office/drawing/2014/main" id="{C54BE50E-CA2B-06A5-C23C-C8335CA8D7AA}"/>
              </a:ext>
            </a:extLst>
          </p:cNvPr>
          <p:cNvSpPr/>
          <p:nvPr/>
        </p:nvSpPr>
        <p:spPr>
          <a:xfrm>
            <a:off x="3869218" y="4146984"/>
            <a:ext cx="956201" cy="253386"/>
          </a:xfrm>
          <a:prstGeom prst="roundRect">
            <a:avLst>
              <a:gd name="adj" fmla="val 6417"/>
            </a:avLst>
          </a:prstGeom>
          <a:solidFill>
            <a:srgbClr val="FFFFFF"/>
          </a:solidFill>
          <a:ln w="762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7" name="Text 129">
            <a:extLst>
              <a:ext uri="{FF2B5EF4-FFF2-40B4-BE49-F238E27FC236}">
                <a16:creationId xmlns:a16="http://schemas.microsoft.com/office/drawing/2014/main" id="{AE8A1847-4549-097B-39C7-903E4CBC94A3}"/>
              </a:ext>
            </a:extLst>
          </p:cNvPr>
          <p:cNvSpPr/>
          <p:nvPr/>
        </p:nvSpPr>
        <p:spPr>
          <a:xfrm>
            <a:off x="3869218" y="4191922"/>
            <a:ext cx="956201" cy="163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5B4DB5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Encryption</a:t>
            </a:r>
            <a:endParaRPr lang="en-US" sz="600" dirty="0">
              <a:latin typeface="Aptos" panose="020B0004020202020204" pitchFamily="34" charset="0"/>
            </a:endParaRPr>
          </a:p>
          <a:p>
            <a:pPr marL="0" indent="0" algn="ctr">
              <a:buNone/>
            </a:pPr>
            <a:r>
              <a:rPr lang="en-US" sz="600" dirty="0">
                <a:solidFill>
                  <a:srgbClr val="5B4DB5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In-Transit &amp; At-Rest</a:t>
            </a:r>
            <a:endParaRPr lang="en-US" sz="600" dirty="0">
              <a:latin typeface="Aptos" panose="020B0004020202020204" pitchFamily="34" charset="0"/>
            </a:endParaRPr>
          </a:p>
        </p:txBody>
      </p:sp>
      <p:sp>
        <p:nvSpPr>
          <p:cNvPr id="208" name="Shape 130">
            <a:extLst>
              <a:ext uri="{FF2B5EF4-FFF2-40B4-BE49-F238E27FC236}">
                <a16:creationId xmlns:a16="http://schemas.microsoft.com/office/drawing/2014/main" id="{2817FB51-682A-91E2-9FDC-45983319276E}"/>
              </a:ext>
            </a:extLst>
          </p:cNvPr>
          <p:cNvSpPr/>
          <p:nvPr/>
        </p:nvSpPr>
        <p:spPr>
          <a:xfrm>
            <a:off x="4861995" y="4146984"/>
            <a:ext cx="956201" cy="253386"/>
          </a:xfrm>
          <a:prstGeom prst="roundRect">
            <a:avLst>
              <a:gd name="adj" fmla="val 6417"/>
            </a:avLst>
          </a:prstGeom>
          <a:solidFill>
            <a:srgbClr val="FFFFFF"/>
          </a:solidFill>
          <a:ln w="762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9" name="Text 131">
            <a:extLst>
              <a:ext uri="{FF2B5EF4-FFF2-40B4-BE49-F238E27FC236}">
                <a16:creationId xmlns:a16="http://schemas.microsoft.com/office/drawing/2014/main" id="{A547A7D2-802C-2BAF-C3E4-5AF5B8CC57A8}"/>
              </a:ext>
            </a:extLst>
          </p:cNvPr>
          <p:cNvSpPr/>
          <p:nvPr/>
        </p:nvSpPr>
        <p:spPr>
          <a:xfrm>
            <a:off x="4861995" y="4191922"/>
            <a:ext cx="956201" cy="163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5B4DB5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Continuous</a:t>
            </a:r>
            <a:endParaRPr lang="en-US" sz="600" dirty="0">
              <a:latin typeface="Aptos" panose="020B0004020202020204" pitchFamily="34" charset="0"/>
            </a:endParaRPr>
          </a:p>
          <a:p>
            <a:pPr marL="0" indent="0" algn="ctr">
              <a:buNone/>
            </a:pPr>
            <a:r>
              <a:rPr lang="en-US" sz="600" dirty="0">
                <a:solidFill>
                  <a:srgbClr val="5B4DB5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Monitoring &amp; Alerts</a:t>
            </a:r>
            <a:endParaRPr lang="en-US" sz="600" dirty="0">
              <a:latin typeface="Aptos" panose="020B0004020202020204" pitchFamily="34" charset="0"/>
            </a:endParaRPr>
          </a:p>
        </p:txBody>
      </p:sp>
      <p:sp>
        <p:nvSpPr>
          <p:cNvPr id="210" name="Shape 132">
            <a:extLst>
              <a:ext uri="{FF2B5EF4-FFF2-40B4-BE49-F238E27FC236}">
                <a16:creationId xmlns:a16="http://schemas.microsoft.com/office/drawing/2014/main" id="{60A09747-9481-46D3-8028-9D3BC441009F}"/>
              </a:ext>
            </a:extLst>
          </p:cNvPr>
          <p:cNvSpPr/>
          <p:nvPr/>
        </p:nvSpPr>
        <p:spPr>
          <a:xfrm>
            <a:off x="5854773" y="4146984"/>
            <a:ext cx="956201" cy="253386"/>
          </a:xfrm>
          <a:prstGeom prst="roundRect">
            <a:avLst>
              <a:gd name="adj" fmla="val 6417"/>
            </a:avLst>
          </a:prstGeom>
          <a:solidFill>
            <a:srgbClr val="FFFFFF"/>
          </a:solidFill>
          <a:ln w="762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1" name="Text 133">
            <a:extLst>
              <a:ext uri="{FF2B5EF4-FFF2-40B4-BE49-F238E27FC236}">
                <a16:creationId xmlns:a16="http://schemas.microsoft.com/office/drawing/2014/main" id="{2B37CCE2-73D3-056B-67DD-D1BAD968FC98}"/>
              </a:ext>
            </a:extLst>
          </p:cNvPr>
          <p:cNvSpPr/>
          <p:nvPr/>
        </p:nvSpPr>
        <p:spPr>
          <a:xfrm>
            <a:off x="5854773" y="4191922"/>
            <a:ext cx="956201" cy="163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5B4DB5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Segregation</a:t>
            </a:r>
            <a:endParaRPr lang="en-US" sz="600" dirty="0">
              <a:latin typeface="Aptos" panose="020B0004020202020204" pitchFamily="34" charset="0"/>
            </a:endParaRPr>
          </a:p>
          <a:p>
            <a:pPr marL="0" indent="0" algn="ctr">
              <a:buNone/>
            </a:pPr>
            <a:r>
              <a:rPr lang="en-US" sz="600" dirty="0">
                <a:solidFill>
                  <a:srgbClr val="5B4DB5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of Duties (SoD)</a:t>
            </a:r>
            <a:endParaRPr lang="en-US" sz="600" dirty="0">
              <a:latin typeface="Aptos" panose="020B0004020202020204" pitchFamily="34" charset="0"/>
            </a:endParaRPr>
          </a:p>
        </p:txBody>
      </p:sp>
      <p:sp>
        <p:nvSpPr>
          <p:cNvPr id="212" name="Shape 134">
            <a:extLst>
              <a:ext uri="{FF2B5EF4-FFF2-40B4-BE49-F238E27FC236}">
                <a16:creationId xmlns:a16="http://schemas.microsoft.com/office/drawing/2014/main" id="{AFE3FDFC-ECAE-5A4F-16BD-6AC09C75C4D3}"/>
              </a:ext>
            </a:extLst>
          </p:cNvPr>
          <p:cNvSpPr/>
          <p:nvPr/>
        </p:nvSpPr>
        <p:spPr>
          <a:xfrm>
            <a:off x="6847550" y="4146984"/>
            <a:ext cx="956201" cy="253386"/>
          </a:xfrm>
          <a:prstGeom prst="roundRect">
            <a:avLst>
              <a:gd name="adj" fmla="val 6417"/>
            </a:avLst>
          </a:prstGeom>
          <a:solidFill>
            <a:srgbClr val="FFFFFF"/>
          </a:solidFill>
          <a:ln w="762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3" name="Text 135">
            <a:extLst>
              <a:ext uri="{FF2B5EF4-FFF2-40B4-BE49-F238E27FC236}">
                <a16:creationId xmlns:a16="http://schemas.microsoft.com/office/drawing/2014/main" id="{FCFC7856-99F6-3E13-12B0-53A3E5620C4A}"/>
              </a:ext>
            </a:extLst>
          </p:cNvPr>
          <p:cNvSpPr/>
          <p:nvPr/>
        </p:nvSpPr>
        <p:spPr>
          <a:xfrm>
            <a:off x="6847550" y="4191922"/>
            <a:ext cx="956201" cy="163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5B4DB5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Immutable</a:t>
            </a:r>
            <a:endParaRPr lang="en-US" sz="600" dirty="0">
              <a:latin typeface="Aptos" panose="020B0004020202020204" pitchFamily="34" charset="0"/>
            </a:endParaRPr>
          </a:p>
          <a:p>
            <a:pPr marL="0" indent="0" algn="ctr">
              <a:buNone/>
            </a:pPr>
            <a:r>
              <a:rPr lang="en-US" sz="600" dirty="0">
                <a:solidFill>
                  <a:srgbClr val="5B4DB5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Audit Logs</a:t>
            </a:r>
            <a:endParaRPr lang="en-US" sz="600" dirty="0">
              <a:latin typeface="Aptos" panose="020B0004020202020204" pitchFamily="34" charset="0"/>
            </a:endParaRPr>
          </a:p>
        </p:txBody>
      </p:sp>
      <p:sp>
        <p:nvSpPr>
          <p:cNvPr id="214" name="Shape 136">
            <a:extLst>
              <a:ext uri="{FF2B5EF4-FFF2-40B4-BE49-F238E27FC236}">
                <a16:creationId xmlns:a16="http://schemas.microsoft.com/office/drawing/2014/main" id="{B18A82CC-CA0D-C251-F51C-00B0A3C8711B}"/>
              </a:ext>
            </a:extLst>
          </p:cNvPr>
          <p:cNvSpPr/>
          <p:nvPr/>
        </p:nvSpPr>
        <p:spPr>
          <a:xfrm>
            <a:off x="7840327" y="4146984"/>
            <a:ext cx="956201" cy="253386"/>
          </a:xfrm>
          <a:prstGeom prst="roundRect">
            <a:avLst>
              <a:gd name="adj" fmla="val 6417"/>
            </a:avLst>
          </a:prstGeom>
          <a:solidFill>
            <a:srgbClr val="FFFFFF"/>
          </a:solidFill>
          <a:ln w="762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5" name="Text 137">
            <a:extLst>
              <a:ext uri="{FF2B5EF4-FFF2-40B4-BE49-F238E27FC236}">
                <a16:creationId xmlns:a16="http://schemas.microsoft.com/office/drawing/2014/main" id="{073B7CF7-28AC-C3A9-CA43-269DEF0EF74E}"/>
              </a:ext>
            </a:extLst>
          </p:cNvPr>
          <p:cNvSpPr/>
          <p:nvPr/>
        </p:nvSpPr>
        <p:spPr>
          <a:xfrm>
            <a:off x="7840327" y="4191922"/>
            <a:ext cx="956201" cy="163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5B4DB5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Data Privacy</a:t>
            </a:r>
            <a:endParaRPr lang="en-US" sz="600" dirty="0">
              <a:latin typeface="Aptos" panose="020B0004020202020204" pitchFamily="34" charset="0"/>
            </a:endParaRPr>
          </a:p>
          <a:p>
            <a:pPr marL="0" indent="0" algn="ctr">
              <a:buNone/>
            </a:pPr>
            <a:r>
              <a:rPr lang="en-US" sz="600" dirty="0">
                <a:solidFill>
                  <a:srgbClr val="5B4DB5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&amp; Compliance</a:t>
            </a:r>
            <a:endParaRPr lang="en-US" sz="600" dirty="0">
              <a:latin typeface="Aptos" panose="020B0004020202020204" pitchFamily="34" charset="0"/>
            </a:endParaRPr>
          </a:p>
        </p:txBody>
      </p:sp>
      <p:sp>
        <p:nvSpPr>
          <p:cNvPr id="216" name="Shape 138">
            <a:extLst>
              <a:ext uri="{FF2B5EF4-FFF2-40B4-BE49-F238E27FC236}">
                <a16:creationId xmlns:a16="http://schemas.microsoft.com/office/drawing/2014/main" id="{78DA8F1A-9FF1-759D-8AE8-29C02AA658DF}"/>
              </a:ext>
            </a:extLst>
          </p:cNvPr>
          <p:cNvSpPr/>
          <p:nvPr/>
        </p:nvSpPr>
        <p:spPr>
          <a:xfrm>
            <a:off x="175022" y="4560570"/>
            <a:ext cx="8831818" cy="500634"/>
          </a:xfrm>
          <a:prstGeom prst="roundRect">
            <a:avLst>
              <a:gd name="adj" fmla="val 5479"/>
            </a:avLst>
          </a:prstGeom>
          <a:solidFill>
            <a:srgbClr val="F0FBF4"/>
          </a:solidFill>
          <a:ln w="1016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7" name="Text 139">
            <a:extLst>
              <a:ext uri="{FF2B5EF4-FFF2-40B4-BE49-F238E27FC236}">
                <a16:creationId xmlns:a16="http://schemas.microsoft.com/office/drawing/2014/main" id="{346EDCB0-4E9F-D541-2430-5C910D51856C}"/>
              </a:ext>
            </a:extLst>
          </p:cNvPr>
          <p:cNvSpPr/>
          <p:nvPr/>
        </p:nvSpPr>
        <p:spPr>
          <a:xfrm>
            <a:off x="326014" y="4578858"/>
            <a:ext cx="886005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A6B3E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Outcomes:</a:t>
            </a:r>
            <a:endParaRPr lang="en-US" sz="700" dirty="0">
              <a:latin typeface="Aptos" panose="020B0004020202020204" pitchFamily="34" charset="0"/>
            </a:endParaRPr>
          </a:p>
        </p:txBody>
      </p:sp>
      <p:sp>
        <p:nvSpPr>
          <p:cNvPr id="218" name="Shape 140">
            <a:extLst>
              <a:ext uri="{FF2B5EF4-FFF2-40B4-BE49-F238E27FC236}">
                <a16:creationId xmlns:a16="http://schemas.microsoft.com/office/drawing/2014/main" id="{086EB430-33EC-E990-E4DD-A527D09E09B0}"/>
              </a:ext>
            </a:extLst>
          </p:cNvPr>
          <p:cNvSpPr/>
          <p:nvPr/>
        </p:nvSpPr>
        <p:spPr>
          <a:xfrm>
            <a:off x="1243584" y="4688646"/>
            <a:ext cx="1047641" cy="244482"/>
          </a:xfrm>
          <a:prstGeom prst="roundRect">
            <a:avLst>
              <a:gd name="adj" fmla="val 6417"/>
            </a:avLst>
          </a:prstGeom>
          <a:solidFill>
            <a:srgbClr val="FFFFFF"/>
          </a:solidFill>
          <a:ln w="7620">
            <a:solidFill>
              <a:srgbClr val="66C0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9" name="Text 141">
            <a:extLst>
              <a:ext uri="{FF2B5EF4-FFF2-40B4-BE49-F238E27FC236}">
                <a16:creationId xmlns:a16="http://schemas.microsoft.com/office/drawing/2014/main" id="{D5F49055-B5D4-5847-9437-7F9F6584B3A4}"/>
              </a:ext>
            </a:extLst>
          </p:cNvPr>
          <p:cNvSpPr/>
          <p:nvPr/>
        </p:nvSpPr>
        <p:spPr>
          <a:xfrm>
            <a:off x="1338964" y="4725649"/>
            <a:ext cx="8229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A6B3E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Single Source</a:t>
            </a:r>
            <a:endParaRPr lang="en-US" sz="600" dirty="0">
              <a:latin typeface="Aptos" panose="020B0004020202020204" pitchFamily="34" charset="0"/>
            </a:endParaRPr>
          </a:p>
          <a:p>
            <a:pPr marL="0" indent="0" algn="ctr">
              <a:buNone/>
            </a:pPr>
            <a:r>
              <a:rPr lang="en-US" sz="600" dirty="0">
                <a:solidFill>
                  <a:srgbClr val="1A6B3E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of Truth</a:t>
            </a:r>
            <a:endParaRPr lang="en-US" sz="600" dirty="0">
              <a:latin typeface="Aptos" panose="020B0004020202020204" pitchFamily="34" charset="0"/>
            </a:endParaRPr>
          </a:p>
        </p:txBody>
      </p:sp>
      <p:sp>
        <p:nvSpPr>
          <p:cNvPr id="220" name="Shape 142">
            <a:extLst>
              <a:ext uri="{FF2B5EF4-FFF2-40B4-BE49-F238E27FC236}">
                <a16:creationId xmlns:a16="http://schemas.microsoft.com/office/drawing/2014/main" id="{EFA35E55-1CA9-6120-0886-FF8EA0474D7E}"/>
              </a:ext>
            </a:extLst>
          </p:cNvPr>
          <p:cNvSpPr/>
          <p:nvPr/>
        </p:nvSpPr>
        <p:spPr>
          <a:xfrm>
            <a:off x="2327801" y="4688646"/>
            <a:ext cx="1047641" cy="244482"/>
          </a:xfrm>
          <a:prstGeom prst="roundRect">
            <a:avLst>
              <a:gd name="adj" fmla="val 6417"/>
            </a:avLst>
          </a:prstGeom>
          <a:solidFill>
            <a:srgbClr val="FFFFFF"/>
          </a:solidFill>
          <a:ln w="7620">
            <a:solidFill>
              <a:srgbClr val="66C07E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21" name="Text 143">
            <a:extLst>
              <a:ext uri="{FF2B5EF4-FFF2-40B4-BE49-F238E27FC236}">
                <a16:creationId xmlns:a16="http://schemas.microsoft.com/office/drawing/2014/main" id="{15C98861-C12D-2329-555F-B92DF9F3743B}"/>
              </a:ext>
            </a:extLst>
          </p:cNvPr>
          <p:cNvSpPr/>
          <p:nvPr/>
        </p:nvSpPr>
        <p:spPr>
          <a:xfrm>
            <a:off x="2423181" y="4725649"/>
            <a:ext cx="8229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 err="1">
                <a:solidFill>
                  <a:srgbClr val="1A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Standardised</a:t>
            </a:r>
            <a:endParaRPr lang="en-US" sz="600" dirty="0"/>
          </a:p>
          <a:p>
            <a:pPr marL="0" indent="0" algn="ctr">
              <a:buNone/>
            </a:pPr>
            <a:r>
              <a:rPr lang="en-US" sz="600" dirty="0">
                <a:solidFill>
                  <a:srgbClr val="1A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Process</a:t>
            </a:r>
            <a:endParaRPr lang="en-US" sz="600" dirty="0"/>
          </a:p>
        </p:txBody>
      </p:sp>
      <p:sp>
        <p:nvSpPr>
          <p:cNvPr id="222" name="Shape 144">
            <a:extLst>
              <a:ext uri="{FF2B5EF4-FFF2-40B4-BE49-F238E27FC236}">
                <a16:creationId xmlns:a16="http://schemas.microsoft.com/office/drawing/2014/main" id="{3317D3FE-4574-F231-51B7-C13166F2DBA7}"/>
              </a:ext>
            </a:extLst>
          </p:cNvPr>
          <p:cNvSpPr/>
          <p:nvPr/>
        </p:nvSpPr>
        <p:spPr>
          <a:xfrm>
            <a:off x="3412018" y="4688646"/>
            <a:ext cx="1047641" cy="244482"/>
          </a:xfrm>
          <a:prstGeom prst="roundRect">
            <a:avLst>
              <a:gd name="adj" fmla="val 6417"/>
            </a:avLst>
          </a:prstGeom>
          <a:solidFill>
            <a:srgbClr val="FFFFFF"/>
          </a:solidFill>
          <a:ln w="7620">
            <a:solidFill>
              <a:srgbClr val="66C0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3" name="Text 145">
            <a:extLst>
              <a:ext uri="{FF2B5EF4-FFF2-40B4-BE49-F238E27FC236}">
                <a16:creationId xmlns:a16="http://schemas.microsoft.com/office/drawing/2014/main" id="{82AB358E-52CC-3174-E2FD-2AFF26F654DD}"/>
              </a:ext>
            </a:extLst>
          </p:cNvPr>
          <p:cNvSpPr/>
          <p:nvPr/>
        </p:nvSpPr>
        <p:spPr>
          <a:xfrm>
            <a:off x="3507398" y="4725649"/>
            <a:ext cx="8229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A6B3E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End-to-End</a:t>
            </a:r>
            <a:endParaRPr lang="en-US" sz="600" dirty="0">
              <a:latin typeface="Aptos" panose="020B0004020202020204" pitchFamily="34" charset="0"/>
            </a:endParaRPr>
          </a:p>
          <a:p>
            <a:pPr marL="0" indent="0" algn="ctr">
              <a:buNone/>
            </a:pPr>
            <a:r>
              <a:rPr lang="en-US" sz="600" dirty="0">
                <a:solidFill>
                  <a:srgbClr val="1A6B3E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Visibility &amp; Control</a:t>
            </a:r>
            <a:endParaRPr lang="en-US" sz="600" dirty="0">
              <a:latin typeface="Aptos" panose="020B0004020202020204" pitchFamily="34" charset="0"/>
            </a:endParaRPr>
          </a:p>
        </p:txBody>
      </p:sp>
      <p:sp>
        <p:nvSpPr>
          <p:cNvPr id="224" name="Shape 146">
            <a:extLst>
              <a:ext uri="{FF2B5EF4-FFF2-40B4-BE49-F238E27FC236}">
                <a16:creationId xmlns:a16="http://schemas.microsoft.com/office/drawing/2014/main" id="{0469E68A-440D-114F-A3E3-C6983066B9EA}"/>
              </a:ext>
            </a:extLst>
          </p:cNvPr>
          <p:cNvSpPr/>
          <p:nvPr/>
        </p:nvSpPr>
        <p:spPr>
          <a:xfrm>
            <a:off x="4496235" y="4688646"/>
            <a:ext cx="1047641" cy="244482"/>
          </a:xfrm>
          <a:prstGeom prst="roundRect">
            <a:avLst>
              <a:gd name="adj" fmla="val 6417"/>
            </a:avLst>
          </a:prstGeom>
          <a:solidFill>
            <a:srgbClr val="FFFFFF"/>
          </a:solidFill>
          <a:ln w="7620">
            <a:solidFill>
              <a:srgbClr val="66C0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5" name="Text 147">
            <a:extLst>
              <a:ext uri="{FF2B5EF4-FFF2-40B4-BE49-F238E27FC236}">
                <a16:creationId xmlns:a16="http://schemas.microsoft.com/office/drawing/2014/main" id="{E525CDC0-A524-ED16-4CAB-F7D3AC4F34E2}"/>
              </a:ext>
            </a:extLst>
          </p:cNvPr>
          <p:cNvSpPr/>
          <p:nvPr/>
        </p:nvSpPr>
        <p:spPr>
          <a:xfrm>
            <a:off x="4591615" y="4725649"/>
            <a:ext cx="8229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A6B3E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Zero Manual</a:t>
            </a:r>
            <a:endParaRPr lang="en-US" sz="600" dirty="0">
              <a:latin typeface="Aptos" panose="020B0004020202020204" pitchFamily="34" charset="0"/>
            </a:endParaRPr>
          </a:p>
          <a:p>
            <a:pPr marL="0" indent="0" algn="ctr">
              <a:buNone/>
            </a:pPr>
            <a:r>
              <a:rPr lang="en-US" sz="600" dirty="0">
                <a:solidFill>
                  <a:srgbClr val="1A6B3E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Handoffs · Zero Errors</a:t>
            </a:r>
            <a:endParaRPr lang="en-US" sz="600" dirty="0">
              <a:latin typeface="Aptos" panose="020B0004020202020204" pitchFamily="34" charset="0"/>
            </a:endParaRPr>
          </a:p>
        </p:txBody>
      </p:sp>
      <p:sp>
        <p:nvSpPr>
          <p:cNvPr id="226" name="Shape 148">
            <a:extLst>
              <a:ext uri="{FF2B5EF4-FFF2-40B4-BE49-F238E27FC236}">
                <a16:creationId xmlns:a16="http://schemas.microsoft.com/office/drawing/2014/main" id="{475832F7-E897-31A4-D78C-FA36A5FB5BD1}"/>
              </a:ext>
            </a:extLst>
          </p:cNvPr>
          <p:cNvSpPr/>
          <p:nvPr/>
        </p:nvSpPr>
        <p:spPr>
          <a:xfrm>
            <a:off x="5580453" y="4688646"/>
            <a:ext cx="1047641" cy="244482"/>
          </a:xfrm>
          <a:prstGeom prst="roundRect">
            <a:avLst>
              <a:gd name="adj" fmla="val 6417"/>
            </a:avLst>
          </a:prstGeom>
          <a:solidFill>
            <a:srgbClr val="FFFFFF"/>
          </a:solidFill>
          <a:ln w="7620">
            <a:solidFill>
              <a:srgbClr val="66C0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7" name="Text 149">
            <a:extLst>
              <a:ext uri="{FF2B5EF4-FFF2-40B4-BE49-F238E27FC236}">
                <a16:creationId xmlns:a16="http://schemas.microsoft.com/office/drawing/2014/main" id="{67DEB1CD-8C3C-8359-25E6-867FB98B5CA9}"/>
              </a:ext>
            </a:extLst>
          </p:cNvPr>
          <p:cNvSpPr/>
          <p:nvPr/>
        </p:nvSpPr>
        <p:spPr>
          <a:xfrm>
            <a:off x="5675833" y="4725649"/>
            <a:ext cx="8229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A6B3E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Faster Cycle</a:t>
            </a:r>
            <a:endParaRPr lang="en-US" sz="600" dirty="0">
              <a:latin typeface="Aptos" panose="020B0004020202020204" pitchFamily="34" charset="0"/>
            </a:endParaRPr>
          </a:p>
          <a:p>
            <a:pPr marL="0" indent="0" algn="ctr">
              <a:buNone/>
            </a:pPr>
            <a:r>
              <a:rPr lang="en-US" sz="600" dirty="0">
                <a:solidFill>
                  <a:srgbClr val="1A6B3E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Time &amp; Lower Cost</a:t>
            </a:r>
            <a:endParaRPr lang="en-US" sz="600" dirty="0">
              <a:latin typeface="Aptos" panose="020B0004020202020204" pitchFamily="34" charset="0"/>
            </a:endParaRPr>
          </a:p>
        </p:txBody>
      </p:sp>
      <p:sp>
        <p:nvSpPr>
          <p:cNvPr id="228" name="Shape 150">
            <a:extLst>
              <a:ext uri="{FF2B5EF4-FFF2-40B4-BE49-F238E27FC236}">
                <a16:creationId xmlns:a16="http://schemas.microsoft.com/office/drawing/2014/main" id="{1E5DF618-0C34-9FB0-DD3B-95F82EDBF61C}"/>
              </a:ext>
            </a:extLst>
          </p:cNvPr>
          <p:cNvSpPr/>
          <p:nvPr/>
        </p:nvSpPr>
        <p:spPr>
          <a:xfrm>
            <a:off x="6664670" y="4688646"/>
            <a:ext cx="1047641" cy="244482"/>
          </a:xfrm>
          <a:prstGeom prst="roundRect">
            <a:avLst>
              <a:gd name="adj" fmla="val 6417"/>
            </a:avLst>
          </a:prstGeom>
          <a:solidFill>
            <a:srgbClr val="FFFFFF"/>
          </a:solidFill>
          <a:ln w="7620">
            <a:solidFill>
              <a:srgbClr val="66C0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9" name="Text 151">
            <a:extLst>
              <a:ext uri="{FF2B5EF4-FFF2-40B4-BE49-F238E27FC236}">
                <a16:creationId xmlns:a16="http://schemas.microsoft.com/office/drawing/2014/main" id="{9C9555D8-0BD0-6269-DEB3-CE556C32695F}"/>
              </a:ext>
            </a:extLst>
          </p:cNvPr>
          <p:cNvSpPr/>
          <p:nvPr/>
        </p:nvSpPr>
        <p:spPr>
          <a:xfrm>
            <a:off x="6760050" y="4725649"/>
            <a:ext cx="8229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A6B3E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Audit Ready</a:t>
            </a:r>
            <a:endParaRPr lang="en-US" sz="600" dirty="0">
              <a:latin typeface="Aptos" panose="020B0004020202020204" pitchFamily="34" charset="0"/>
            </a:endParaRPr>
          </a:p>
          <a:p>
            <a:pPr marL="0" indent="0" algn="ctr">
              <a:buNone/>
            </a:pPr>
            <a:r>
              <a:rPr lang="en-US" sz="600" dirty="0">
                <a:solidFill>
                  <a:srgbClr val="1A6B3E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Always</a:t>
            </a:r>
            <a:endParaRPr lang="en-US" sz="600" dirty="0">
              <a:latin typeface="Aptos" panose="020B0004020202020204" pitchFamily="34" charset="0"/>
            </a:endParaRPr>
          </a:p>
        </p:txBody>
      </p:sp>
      <p:sp>
        <p:nvSpPr>
          <p:cNvPr id="230" name="Shape 152">
            <a:extLst>
              <a:ext uri="{FF2B5EF4-FFF2-40B4-BE49-F238E27FC236}">
                <a16:creationId xmlns:a16="http://schemas.microsoft.com/office/drawing/2014/main" id="{CD1BAAA5-7501-86B3-7408-3378E2240ED1}"/>
              </a:ext>
            </a:extLst>
          </p:cNvPr>
          <p:cNvSpPr/>
          <p:nvPr/>
        </p:nvSpPr>
        <p:spPr>
          <a:xfrm>
            <a:off x="7748887" y="4688646"/>
            <a:ext cx="1047641" cy="244482"/>
          </a:xfrm>
          <a:prstGeom prst="roundRect">
            <a:avLst>
              <a:gd name="adj" fmla="val 6417"/>
            </a:avLst>
          </a:prstGeom>
          <a:solidFill>
            <a:srgbClr val="FFFFFF"/>
          </a:solidFill>
          <a:ln w="7620">
            <a:solidFill>
              <a:srgbClr val="66C0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1" name="Text 153">
            <a:extLst>
              <a:ext uri="{FF2B5EF4-FFF2-40B4-BE49-F238E27FC236}">
                <a16:creationId xmlns:a16="http://schemas.microsoft.com/office/drawing/2014/main" id="{3A37F884-6D73-A459-E4AE-758E4C34532F}"/>
              </a:ext>
            </a:extLst>
          </p:cNvPr>
          <p:cNvSpPr/>
          <p:nvPr/>
        </p:nvSpPr>
        <p:spPr>
          <a:xfrm>
            <a:off x="7844267" y="4725649"/>
            <a:ext cx="8229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A6B3E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Compliant</a:t>
            </a:r>
            <a:endParaRPr lang="en-US" sz="600" dirty="0">
              <a:latin typeface="Aptos" panose="020B0004020202020204" pitchFamily="34" charset="0"/>
            </a:endParaRPr>
          </a:p>
          <a:p>
            <a:pPr marL="0" indent="0" algn="ctr">
              <a:buNone/>
            </a:pPr>
            <a:r>
              <a:rPr lang="en-US" sz="600" dirty="0">
                <a:solidFill>
                  <a:srgbClr val="1A6B3E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by Design</a:t>
            </a:r>
            <a:endParaRPr lang="en-US" sz="600" dirty="0">
              <a:latin typeface="Aptos" panose="020B0004020202020204" pitchFamily="34" charset="0"/>
            </a:endParaRPr>
          </a:p>
        </p:txBody>
      </p:sp>
      <p:cxnSp>
        <p:nvCxnSpPr>
          <p:cNvPr id="233" name="Straight Arrow Connector 232">
            <a:extLst>
              <a:ext uri="{FF2B5EF4-FFF2-40B4-BE49-F238E27FC236}">
                <a16:creationId xmlns:a16="http://schemas.microsoft.com/office/drawing/2014/main" id="{9CFF90BA-03D4-9428-0692-EA311ED00A53}"/>
              </a:ext>
            </a:extLst>
          </p:cNvPr>
          <p:cNvCxnSpPr>
            <a:stCxn id="22" idx="3"/>
          </p:cNvCxnSpPr>
          <p:nvPr/>
        </p:nvCxnSpPr>
        <p:spPr>
          <a:xfrm flipV="1">
            <a:off x="1549251" y="1085850"/>
            <a:ext cx="91603" cy="2727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Straight Arrow Connector 233">
            <a:extLst>
              <a:ext uri="{FF2B5EF4-FFF2-40B4-BE49-F238E27FC236}">
                <a16:creationId xmlns:a16="http://schemas.microsoft.com/office/drawing/2014/main" id="{18CAE775-B0D0-B124-9047-D5CEF9E64E89}"/>
              </a:ext>
            </a:extLst>
          </p:cNvPr>
          <p:cNvCxnSpPr/>
          <p:nvPr/>
        </p:nvCxnSpPr>
        <p:spPr>
          <a:xfrm flipV="1">
            <a:off x="2552551" y="1085850"/>
            <a:ext cx="91603" cy="2727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Straight Arrow Connector 234">
            <a:extLst>
              <a:ext uri="{FF2B5EF4-FFF2-40B4-BE49-F238E27FC236}">
                <a16:creationId xmlns:a16="http://schemas.microsoft.com/office/drawing/2014/main" id="{0197D949-37A1-70D0-7E6A-AB4A12DE54B8}"/>
              </a:ext>
            </a:extLst>
          </p:cNvPr>
          <p:cNvCxnSpPr/>
          <p:nvPr/>
        </p:nvCxnSpPr>
        <p:spPr>
          <a:xfrm flipV="1">
            <a:off x="4016226" y="1085850"/>
            <a:ext cx="91603" cy="2727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Straight Arrow Connector 235">
            <a:extLst>
              <a:ext uri="{FF2B5EF4-FFF2-40B4-BE49-F238E27FC236}">
                <a16:creationId xmlns:a16="http://schemas.microsoft.com/office/drawing/2014/main" id="{2999624F-B107-A2CA-9905-061F6C533118}"/>
              </a:ext>
            </a:extLst>
          </p:cNvPr>
          <p:cNvCxnSpPr/>
          <p:nvPr/>
        </p:nvCxnSpPr>
        <p:spPr>
          <a:xfrm flipV="1">
            <a:off x="5251301" y="1085850"/>
            <a:ext cx="91603" cy="2727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Straight Arrow Connector 236">
            <a:extLst>
              <a:ext uri="{FF2B5EF4-FFF2-40B4-BE49-F238E27FC236}">
                <a16:creationId xmlns:a16="http://schemas.microsoft.com/office/drawing/2014/main" id="{7CDAB55A-0B9A-55CE-4282-0D8DCC1EFA8B}"/>
              </a:ext>
            </a:extLst>
          </p:cNvPr>
          <p:cNvCxnSpPr/>
          <p:nvPr/>
        </p:nvCxnSpPr>
        <p:spPr>
          <a:xfrm flipV="1">
            <a:off x="6248251" y="1085850"/>
            <a:ext cx="91603" cy="2727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Straight Arrow Connector 237">
            <a:extLst>
              <a:ext uri="{FF2B5EF4-FFF2-40B4-BE49-F238E27FC236}">
                <a16:creationId xmlns:a16="http://schemas.microsoft.com/office/drawing/2014/main" id="{F0B6A19C-8C30-6AE6-D975-3D480F5588BA}"/>
              </a:ext>
            </a:extLst>
          </p:cNvPr>
          <p:cNvCxnSpPr/>
          <p:nvPr/>
        </p:nvCxnSpPr>
        <p:spPr>
          <a:xfrm flipV="1">
            <a:off x="7537301" y="1085850"/>
            <a:ext cx="91603" cy="2727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0">
            <a:extLst>
              <a:ext uri="{FF2B5EF4-FFF2-40B4-BE49-F238E27FC236}">
                <a16:creationId xmlns:a16="http://schemas.microsoft.com/office/drawing/2014/main" id="{5846477A-FC9F-5DB4-A456-36D3F79BE893}"/>
              </a:ext>
            </a:extLst>
          </p:cNvPr>
          <p:cNvSpPr/>
          <p:nvPr/>
        </p:nvSpPr>
        <p:spPr>
          <a:xfrm>
            <a:off x="137160" y="5486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0000"/>
                </a:solidFill>
                <a:latin typeface="AirIndia"/>
              </a:rPr>
              <a:t>International Payroll - </a:t>
            </a:r>
            <a:r>
              <a:rPr lang="en-US" sz="1500" b="1" dirty="0">
                <a:solidFill>
                  <a:srgbClr val="2D9E5F"/>
                </a:solidFill>
                <a:latin typeface="AirIndia"/>
                <a:ea typeface="Calibri" pitchFamily="34" charset="-122"/>
                <a:cs typeface="Calibri" pitchFamily="34" charset="-120"/>
              </a:rPr>
              <a:t>To-Be</a:t>
            </a: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b="1" dirty="0">
                <a:solidFill>
                  <a:srgbClr val="C00000"/>
                </a:solidFill>
                <a:latin typeface="AirIndia"/>
              </a:rPr>
              <a:t>Architecture </a:t>
            </a: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 Zero Touch · Zero Trust · Fully Automated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16817447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DDFC3-F7C0-91A7-EC4E-63E4B14F6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11">
            <a:extLst>
              <a:ext uri="{FF2B5EF4-FFF2-40B4-BE49-F238E27FC236}">
                <a16:creationId xmlns:a16="http://schemas.microsoft.com/office/drawing/2014/main" id="{39F16A4A-0D97-796D-F2CB-F9E11F7496F0}"/>
              </a:ext>
            </a:extLst>
          </p:cNvPr>
          <p:cNvSpPr>
            <a:spLocks/>
          </p:cNvSpPr>
          <p:nvPr/>
        </p:nvSpPr>
        <p:spPr>
          <a:xfrm>
            <a:off x="342900" y="1216192"/>
            <a:ext cx="864108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21" name="Shape 119">
            <a:extLst>
              <a:ext uri="{FF2B5EF4-FFF2-40B4-BE49-F238E27FC236}">
                <a16:creationId xmlns:a16="http://schemas.microsoft.com/office/drawing/2014/main" id="{A25C9DA0-F818-0C43-4061-473DB8653FEE}"/>
              </a:ext>
            </a:extLst>
          </p:cNvPr>
          <p:cNvSpPr/>
          <p:nvPr/>
        </p:nvSpPr>
        <p:spPr>
          <a:xfrm>
            <a:off x="266700" y="4793412"/>
            <a:ext cx="2017014" cy="137160"/>
          </a:xfrm>
          <a:prstGeom prst="rect">
            <a:avLst/>
          </a:prstGeom>
          <a:solidFill>
            <a:srgbClr val="FF9500"/>
          </a:solidFill>
          <a:ln w="12700">
            <a:noFill/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22" name="Shape 120">
            <a:extLst>
              <a:ext uri="{FF2B5EF4-FFF2-40B4-BE49-F238E27FC236}">
                <a16:creationId xmlns:a16="http://schemas.microsoft.com/office/drawing/2014/main" id="{6D1DC4B2-4035-3ADC-53AE-EE783EA6E00A}"/>
              </a:ext>
            </a:extLst>
          </p:cNvPr>
          <p:cNvSpPr/>
          <p:nvPr/>
        </p:nvSpPr>
        <p:spPr>
          <a:xfrm>
            <a:off x="2286000" y="4793412"/>
            <a:ext cx="2133600" cy="137160"/>
          </a:xfrm>
          <a:prstGeom prst="rect">
            <a:avLst/>
          </a:prstGeom>
          <a:solidFill>
            <a:srgbClr val="FF7235"/>
          </a:solidFill>
          <a:ln w="12700">
            <a:noFill/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23" name="Shape 121">
            <a:extLst>
              <a:ext uri="{FF2B5EF4-FFF2-40B4-BE49-F238E27FC236}">
                <a16:creationId xmlns:a16="http://schemas.microsoft.com/office/drawing/2014/main" id="{5715CAD7-3163-FA2F-0FAA-A43EFA3BE9E4}"/>
              </a:ext>
            </a:extLst>
          </p:cNvPr>
          <p:cNvSpPr/>
          <p:nvPr/>
        </p:nvSpPr>
        <p:spPr>
          <a:xfrm>
            <a:off x="4419600" y="4793412"/>
            <a:ext cx="2474061" cy="137160"/>
          </a:xfrm>
          <a:prstGeom prst="rect">
            <a:avLst/>
          </a:prstGeom>
          <a:solidFill>
            <a:srgbClr val="7030A0"/>
          </a:solidFill>
          <a:ln w="12700">
            <a:noFill/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24" name="Shape 122">
            <a:extLst>
              <a:ext uri="{FF2B5EF4-FFF2-40B4-BE49-F238E27FC236}">
                <a16:creationId xmlns:a16="http://schemas.microsoft.com/office/drawing/2014/main" id="{5AF748AC-674A-3BB4-1B79-41F1ACC1D05E}"/>
              </a:ext>
            </a:extLst>
          </p:cNvPr>
          <p:cNvSpPr/>
          <p:nvPr/>
        </p:nvSpPr>
        <p:spPr>
          <a:xfrm>
            <a:off x="6893662" y="4793412"/>
            <a:ext cx="2090318" cy="137160"/>
          </a:xfrm>
          <a:prstGeom prst="rect">
            <a:avLst/>
          </a:prstGeom>
          <a:solidFill>
            <a:srgbClr val="0277FF"/>
          </a:solidFill>
          <a:ln w="12700">
            <a:noFill/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25" name="Text 123">
            <a:extLst>
              <a:ext uri="{FF2B5EF4-FFF2-40B4-BE49-F238E27FC236}">
                <a16:creationId xmlns:a16="http://schemas.microsoft.com/office/drawing/2014/main" id="{C7971593-538F-E5F0-4606-6C2EEDDB2B30}"/>
              </a:ext>
            </a:extLst>
          </p:cNvPr>
          <p:cNvSpPr/>
          <p:nvPr/>
        </p:nvSpPr>
        <p:spPr>
          <a:xfrm>
            <a:off x="1905000" y="4800277"/>
            <a:ext cx="377190" cy="1234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525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525" dirty="0">
              <a:solidFill>
                <a:schemeClr val="bg1"/>
              </a:solidFill>
            </a:endParaRPr>
          </a:p>
        </p:txBody>
      </p:sp>
      <p:sp>
        <p:nvSpPr>
          <p:cNvPr id="127" name="Text 125">
            <a:extLst>
              <a:ext uri="{FF2B5EF4-FFF2-40B4-BE49-F238E27FC236}">
                <a16:creationId xmlns:a16="http://schemas.microsoft.com/office/drawing/2014/main" id="{8B7DBC8F-D97F-6057-97D2-98F1DD797FBA}"/>
              </a:ext>
            </a:extLst>
          </p:cNvPr>
          <p:cNvSpPr/>
          <p:nvPr/>
        </p:nvSpPr>
        <p:spPr>
          <a:xfrm>
            <a:off x="3791690" y="4800277"/>
            <a:ext cx="644463" cy="1234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525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525" dirty="0">
              <a:solidFill>
                <a:schemeClr val="bg1"/>
              </a:solidFill>
            </a:endParaRPr>
          </a:p>
        </p:txBody>
      </p:sp>
      <p:sp>
        <p:nvSpPr>
          <p:cNvPr id="129" name="Text 127">
            <a:extLst>
              <a:ext uri="{FF2B5EF4-FFF2-40B4-BE49-F238E27FC236}">
                <a16:creationId xmlns:a16="http://schemas.microsoft.com/office/drawing/2014/main" id="{B3D8A09D-3B1C-E3A3-4B59-92A721A6F08D}"/>
              </a:ext>
            </a:extLst>
          </p:cNvPr>
          <p:cNvSpPr/>
          <p:nvPr/>
        </p:nvSpPr>
        <p:spPr>
          <a:xfrm>
            <a:off x="6249277" y="4796740"/>
            <a:ext cx="640951" cy="1234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525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525" dirty="0">
              <a:solidFill>
                <a:schemeClr val="bg1"/>
              </a:solidFill>
            </a:endParaRPr>
          </a:p>
        </p:txBody>
      </p:sp>
      <p:sp>
        <p:nvSpPr>
          <p:cNvPr id="131" name="Text 129">
            <a:extLst>
              <a:ext uri="{FF2B5EF4-FFF2-40B4-BE49-F238E27FC236}">
                <a16:creationId xmlns:a16="http://schemas.microsoft.com/office/drawing/2014/main" id="{8653CD6F-195A-0B70-3E72-B54FA726822B}"/>
              </a:ext>
            </a:extLst>
          </p:cNvPr>
          <p:cNvSpPr/>
          <p:nvPr/>
        </p:nvSpPr>
        <p:spPr>
          <a:xfrm>
            <a:off x="8282906" y="4796740"/>
            <a:ext cx="684882" cy="1234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525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525" dirty="0">
              <a:solidFill>
                <a:schemeClr val="bg1"/>
              </a:solidFill>
            </a:endParaRPr>
          </a:p>
        </p:txBody>
      </p:sp>
      <p:sp>
        <p:nvSpPr>
          <p:cNvPr id="134" name="Shape 61">
            <a:extLst>
              <a:ext uri="{FF2B5EF4-FFF2-40B4-BE49-F238E27FC236}">
                <a16:creationId xmlns:a16="http://schemas.microsoft.com/office/drawing/2014/main" id="{C988C9A0-414E-E432-DC7C-B8606C91C6F2}"/>
              </a:ext>
            </a:extLst>
          </p:cNvPr>
          <p:cNvSpPr/>
          <p:nvPr/>
        </p:nvSpPr>
        <p:spPr>
          <a:xfrm>
            <a:off x="238125" y="576263"/>
            <a:ext cx="8729663" cy="0"/>
          </a:xfrm>
          <a:prstGeom prst="line">
            <a:avLst/>
          </a:prstGeom>
          <a:noFill/>
          <a:ln w="4524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830162C7-8D41-5AF6-D140-EF5A1D5392A0}"/>
              </a:ext>
            </a:extLst>
          </p:cNvPr>
          <p:cNvSpPr txBox="1"/>
          <p:nvPr/>
        </p:nvSpPr>
        <p:spPr>
          <a:xfrm>
            <a:off x="238125" y="276181"/>
            <a:ext cx="7813019" cy="300082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pPr defTabSz="914378">
              <a:spcBef>
                <a:spcPct val="0"/>
              </a:spcBef>
              <a:defRPr/>
            </a:pPr>
            <a:r>
              <a:rPr lang="en-US" sz="1500" b="1" dirty="0">
                <a:solidFill>
                  <a:srgbClr val="C00000"/>
                </a:solidFill>
                <a:latin typeface="AirIndia"/>
              </a:rPr>
              <a:t>Program Plan </a:t>
            </a:r>
            <a:r>
              <a:rPr lang="en-US" sz="1500" dirty="0">
                <a:solidFill>
                  <a:prstClr val="white">
                    <a:lumMod val="50000"/>
                  </a:prstClr>
                </a:solidFill>
                <a:latin typeface="AirIndia"/>
              </a:rPr>
              <a:t>- 8-month Roadmap to Zero Manual Payroll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73C183C7-B42E-CD29-54FA-FEEB200D74A5}"/>
              </a:ext>
            </a:extLst>
          </p:cNvPr>
          <p:cNvSpPr txBox="1"/>
          <p:nvPr/>
        </p:nvSpPr>
        <p:spPr>
          <a:xfrm>
            <a:off x="217854" y="631116"/>
            <a:ext cx="8922758" cy="2154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/>
              </a:rPr>
              <a:t>Priority sequencing: Compliance risk (Code on Wages) first → Highest volume + impact → Tail cleanup  ·  </a:t>
            </a:r>
            <a:r>
              <a:rPr lang="en-US" sz="800" b="1" dirty="0">
                <a:solidFill>
                  <a:srgbClr val="C62828"/>
                </a:solidFill>
                <a:latin typeface="Aptos"/>
              </a:rPr>
              <a:t>Baseline: 0/35 countries automated → Target: 35/35 (100%) by end of Feb 2027</a:t>
            </a:r>
            <a:endParaRPr lang="en-US" sz="800" b="1" dirty="0">
              <a:solidFill>
                <a:srgbClr val="C62828"/>
              </a:solidFill>
              <a:latin typeface="Aptos" panose="020B0004020202020204" pitchFamily="34" charset="0"/>
            </a:endParaRPr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C02F2F25-1EC0-391A-07DF-5E11C48D9D0E}"/>
              </a:ext>
            </a:extLst>
          </p:cNvPr>
          <p:cNvSpPr/>
          <p:nvPr/>
        </p:nvSpPr>
        <p:spPr>
          <a:xfrm>
            <a:off x="2373047" y="949282"/>
            <a:ext cx="577675" cy="182383"/>
          </a:xfrm>
          <a:prstGeom prst="roundRect">
            <a:avLst>
              <a:gd name="adj" fmla="val 50000"/>
            </a:avLst>
          </a:prstGeom>
          <a:solidFill>
            <a:srgbClr val="F06A31"/>
          </a:solidFill>
          <a:ln w="6350">
            <a:noFill/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A1C3F787-B0EE-7DAF-D30E-FE4820DA91AB}"/>
              </a:ext>
            </a:extLst>
          </p:cNvPr>
          <p:cNvSpPr/>
          <p:nvPr/>
        </p:nvSpPr>
        <p:spPr>
          <a:xfrm>
            <a:off x="2373047" y="949282"/>
            <a:ext cx="577675" cy="1823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700" b="1" dirty="0">
                <a:solidFill>
                  <a:schemeClr val="bg1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Sep-Oct</a:t>
            </a:r>
            <a:endParaRPr lang="en-US" sz="7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8143DE26-1ED1-D1BC-DDDD-581DDB7F2609}"/>
              </a:ext>
            </a:extLst>
          </p:cNvPr>
          <p:cNvSpPr>
            <a:spLocks noChangeAspect="1"/>
          </p:cNvSpPr>
          <p:nvPr/>
        </p:nvSpPr>
        <p:spPr>
          <a:xfrm>
            <a:off x="2376356" y="1172758"/>
            <a:ext cx="91440" cy="91440"/>
          </a:xfrm>
          <a:prstGeom prst="ellipse">
            <a:avLst/>
          </a:prstGeom>
          <a:solidFill>
            <a:srgbClr val="FF7235"/>
          </a:solidFill>
          <a:ln w="12700">
            <a:noFill/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96E7F907-67A7-3EA1-DDDA-70218774B784}"/>
              </a:ext>
            </a:extLst>
          </p:cNvPr>
          <p:cNvSpPr txBox="1"/>
          <p:nvPr/>
        </p:nvSpPr>
        <p:spPr>
          <a:xfrm>
            <a:off x="2283714" y="1315109"/>
            <a:ext cx="22734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kern="0" spc="4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Inter"/>
                <a:cs typeface="Calibri"/>
              </a:rPr>
              <a:t>Critical – </a:t>
            </a:r>
            <a:r>
              <a:rPr lang="en-US" sz="800" kern="0" spc="1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Inter"/>
              </a:rPr>
              <a:t>US &amp; Canada ADP (56 emp) + New payroll vendor finalization</a:t>
            </a:r>
          </a:p>
        </p:txBody>
      </p:sp>
      <p:sp>
        <p:nvSpPr>
          <p:cNvPr id="143" name="Shape 59">
            <a:extLst>
              <a:ext uri="{FF2B5EF4-FFF2-40B4-BE49-F238E27FC236}">
                <a16:creationId xmlns:a16="http://schemas.microsoft.com/office/drawing/2014/main" id="{085A0D90-E6F2-4E44-0A73-2D2402B52741}"/>
              </a:ext>
            </a:extLst>
          </p:cNvPr>
          <p:cNvSpPr/>
          <p:nvPr/>
        </p:nvSpPr>
        <p:spPr>
          <a:xfrm>
            <a:off x="2377702" y="2777945"/>
            <a:ext cx="2022541" cy="680285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72E53CD9-771E-02B5-F5BE-F79FED58BD6A}"/>
              </a:ext>
            </a:extLst>
          </p:cNvPr>
          <p:cNvSpPr txBox="1"/>
          <p:nvPr/>
        </p:nvSpPr>
        <p:spPr>
          <a:xfrm>
            <a:off x="2377702" y="3039555"/>
            <a:ext cx="202254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New payroll vendor finalization:</a:t>
            </a:r>
            <a:r>
              <a: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 Vendor evaluations, tech DD &amp; contract review and finalization</a:t>
            </a:r>
          </a:p>
        </p:txBody>
      </p:sp>
      <p:sp>
        <p:nvSpPr>
          <p:cNvPr id="147" name="Shape 2">
            <a:extLst>
              <a:ext uri="{FF2B5EF4-FFF2-40B4-BE49-F238E27FC236}">
                <a16:creationId xmlns:a16="http://schemas.microsoft.com/office/drawing/2014/main" id="{EB83DE53-9A73-56C5-61A7-DC355D40C608}"/>
              </a:ext>
            </a:extLst>
          </p:cNvPr>
          <p:cNvSpPr/>
          <p:nvPr/>
        </p:nvSpPr>
        <p:spPr>
          <a:xfrm>
            <a:off x="3675321" y="2881624"/>
            <a:ext cx="673167" cy="181011"/>
          </a:xfrm>
          <a:prstGeom prst="roundRect">
            <a:avLst>
              <a:gd name="adj" fmla="val 69818"/>
            </a:avLst>
          </a:prstGeom>
          <a:solidFill>
            <a:srgbClr val="FF7235">
              <a:alpha val="10000"/>
            </a:srgbClr>
          </a:solidFill>
          <a:ln w="6350">
            <a:solidFill>
              <a:srgbClr val="FF7235"/>
            </a:solidFill>
            <a:prstDash val="solid"/>
          </a:ln>
        </p:spPr>
        <p:txBody>
          <a:bodyPr anchor="ctr"/>
          <a:lstStyle/>
          <a:p>
            <a:r>
              <a:rPr lang="en-US" sz="600" b="1" dirty="0">
                <a:solidFill>
                  <a:srgbClr val="FF7235"/>
                </a:solidFill>
                <a:latin typeface="Aptos" panose="020B0004020202020204" pitchFamily="34" charset="0"/>
              </a:rPr>
              <a:t>39 </a:t>
            </a:r>
            <a:r>
              <a:rPr lang="en-US" sz="600" b="1" dirty="0" err="1">
                <a:solidFill>
                  <a:srgbClr val="FF7235"/>
                </a:solidFill>
                <a:latin typeface="Aptos" panose="020B0004020202020204" pitchFamily="34" charset="0"/>
              </a:rPr>
              <a:t>Payheads</a:t>
            </a:r>
            <a:endParaRPr lang="en-US" sz="600" b="1" dirty="0">
              <a:solidFill>
                <a:srgbClr val="FF7235"/>
              </a:solidFill>
              <a:latin typeface="Aptos" panose="020B0004020202020204" pitchFamily="34" charset="0"/>
            </a:endParaRPr>
          </a:p>
        </p:txBody>
      </p:sp>
      <p:sp>
        <p:nvSpPr>
          <p:cNvPr id="137" name="Shape 59">
            <a:extLst>
              <a:ext uri="{FF2B5EF4-FFF2-40B4-BE49-F238E27FC236}">
                <a16:creationId xmlns:a16="http://schemas.microsoft.com/office/drawing/2014/main" id="{55128646-568D-E78D-2B37-5E5224FBBD3D}"/>
              </a:ext>
            </a:extLst>
          </p:cNvPr>
          <p:cNvSpPr/>
          <p:nvPr/>
        </p:nvSpPr>
        <p:spPr>
          <a:xfrm>
            <a:off x="2374144" y="1837275"/>
            <a:ext cx="2022541" cy="811731"/>
          </a:xfrm>
          <a:prstGeom prst="roundRect">
            <a:avLst>
              <a:gd name="adj" fmla="val 0"/>
            </a:avLst>
          </a:prstGeom>
          <a:solidFill>
            <a:srgbClr val="FAFAFA"/>
          </a:solidFill>
          <a:ln w="3175">
            <a:solidFill>
              <a:schemeClr val="bg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2C50321E-9E04-EB99-6EE5-3C4A3875AC1B}"/>
              </a:ext>
            </a:extLst>
          </p:cNvPr>
          <p:cNvSpPr/>
          <p:nvPr/>
        </p:nvSpPr>
        <p:spPr>
          <a:xfrm>
            <a:off x="2374527" y="1836613"/>
            <a:ext cx="2020824" cy="27432"/>
          </a:xfrm>
          <a:prstGeom prst="rect">
            <a:avLst/>
          </a:prstGeom>
          <a:solidFill>
            <a:srgbClr val="FF7234"/>
          </a:solidFill>
          <a:ln w="12700">
            <a:noFill/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3508C6E1-602F-5093-D831-CF2309CC3420}"/>
              </a:ext>
            </a:extLst>
          </p:cNvPr>
          <p:cNvSpPr txBox="1"/>
          <p:nvPr/>
        </p:nvSpPr>
        <p:spPr>
          <a:xfrm>
            <a:off x="2374144" y="2099397"/>
            <a:ext cx="20225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US &amp; Canada ADP: </a:t>
            </a:r>
            <a:r>
              <a: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Manual Inputs automation &amp; Zero-touch SF-&gt;ADP integration</a:t>
            </a:r>
          </a:p>
        </p:txBody>
      </p:sp>
      <p:sp>
        <p:nvSpPr>
          <p:cNvPr id="148" name="Shape 2">
            <a:extLst>
              <a:ext uri="{FF2B5EF4-FFF2-40B4-BE49-F238E27FC236}">
                <a16:creationId xmlns:a16="http://schemas.microsoft.com/office/drawing/2014/main" id="{872A47E3-B12C-0A46-086B-6C50F8BE3EA2}"/>
              </a:ext>
            </a:extLst>
          </p:cNvPr>
          <p:cNvSpPr/>
          <p:nvPr/>
        </p:nvSpPr>
        <p:spPr>
          <a:xfrm>
            <a:off x="3671763" y="1928701"/>
            <a:ext cx="673167" cy="181011"/>
          </a:xfrm>
          <a:prstGeom prst="roundRect">
            <a:avLst>
              <a:gd name="adj" fmla="val 69818"/>
            </a:avLst>
          </a:prstGeom>
          <a:solidFill>
            <a:srgbClr val="FF7235">
              <a:alpha val="10000"/>
            </a:srgbClr>
          </a:solidFill>
          <a:ln w="6350">
            <a:solidFill>
              <a:srgbClr val="FF7235"/>
            </a:solidFill>
            <a:prstDash val="solid"/>
          </a:ln>
        </p:spPr>
        <p:txBody>
          <a:bodyPr anchor="ctr"/>
          <a:lstStyle/>
          <a:p>
            <a:r>
              <a:rPr lang="en-US" sz="600" b="1" dirty="0">
                <a:solidFill>
                  <a:srgbClr val="FF7235"/>
                </a:solidFill>
                <a:latin typeface="Aptos" panose="020B0004020202020204" pitchFamily="34" charset="0"/>
              </a:rPr>
              <a:t>48 </a:t>
            </a:r>
            <a:r>
              <a:rPr lang="en-US" sz="600" b="1" dirty="0" err="1">
                <a:solidFill>
                  <a:srgbClr val="FF7235"/>
                </a:solidFill>
                <a:latin typeface="Aptos" panose="020B0004020202020204" pitchFamily="34" charset="0"/>
              </a:rPr>
              <a:t>Payheads</a:t>
            </a:r>
            <a:endParaRPr lang="en-US" sz="600" b="1" dirty="0">
              <a:solidFill>
                <a:srgbClr val="FF7235"/>
              </a:solidFill>
              <a:latin typeface="Aptos" panose="020B0004020202020204" pitchFamily="34" charset="0"/>
            </a:endParaRPr>
          </a:p>
        </p:txBody>
      </p:sp>
      <p:sp>
        <p:nvSpPr>
          <p:cNvPr id="154" name="Shape 21">
            <a:extLst>
              <a:ext uri="{FF2B5EF4-FFF2-40B4-BE49-F238E27FC236}">
                <a16:creationId xmlns:a16="http://schemas.microsoft.com/office/drawing/2014/main" id="{B5A8EBBF-B9B9-E292-92DD-73A47562557A}"/>
              </a:ext>
            </a:extLst>
          </p:cNvPr>
          <p:cNvSpPr/>
          <p:nvPr/>
        </p:nvSpPr>
        <p:spPr>
          <a:xfrm>
            <a:off x="2381260" y="2779927"/>
            <a:ext cx="2020824" cy="27432"/>
          </a:xfrm>
          <a:prstGeom prst="rect">
            <a:avLst/>
          </a:prstGeom>
          <a:solidFill>
            <a:srgbClr val="FF7234"/>
          </a:solidFill>
          <a:ln w="12700">
            <a:noFill/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60" name="Shape 58">
            <a:extLst>
              <a:ext uri="{FF2B5EF4-FFF2-40B4-BE49-F238E27FC236}">
                <a16:creationId xmlns:a16="http://schemas.microsoft.com/office/drawing/2014/main" id="{9FD53766-563A-4F83-AAEA-18137925ADE7}"/>
              </a:ext>
            </a:extLst>
          </p:cNvPr>
          <p:cNvSpPr>
            <a:spLocks noChangeAspect="1"/>
          </p:cNvSpPr>
          <p:nvPr/>
        </p:nvSpPr>
        <p:spPr>
          <a:xfrm>
            <a:off x="4634323" y="1172758"/>
            <a:ext cx="91440" cy="91440"/>
          </a:xfrm>
          <a:prstGeom prst="ellipse">
            <a:avLst/>
          </a:prstGeom>
          <a:solidFill>
            <a:srgbClr val="7030A0"/>
          </a:solidFill>
          <a:ln w="12700">
            <a:noFill/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61" name="Shape 59">
            <a:extLst>
              <a:ext uri="{FF2B5EF4-FFF2-40B4-BE49-F238E27FC236}">
                <a16:creationId xmlns:a16="http://schemas.microsoft.com/office/drawing/2014/main" id="{990EF377-E0E2-93A0-C27C-A6026D768C51}"/>
              </a:ext>
            </a:extLst>
          </p:cNvPr>
          <p:cNvSpPr/>
          <p:nvPr/>
        </p:nvSpPr>
        <p:spPr>
          <a:xfrm>
            <a:off x="4630786" y="948730"/>
            <a:ext cx="577674" cy="182382"/>
          </a:xfrm>
          <a:prstGeom prst="roundRect">
            <a:avLst>
              <a:gd name="adj" fmla="val 50000"/>
            </a:avLst>
          </a:prstGeom>
          <a:solidFill>
            <a:srgbClr val="7030A0"/>
          </a:solidFill>
          <a:ln w="6350">
            <a:noFill/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62" name="Text 60">
            <a:extLst>
              <a:ext uri="{FF2B5EF4-FFF2-40B4-BE49-F238E27FC236}">
                <a16:creationId xmlns:a16="http://schemas.microsoft.com/office/drawing/2014/main" id="{F1C9E49A-CE91-721F-E747-F4360AB3EF31}"/>
              </a:ext>
            </a:extLst>
          </p:cNvPr>
          <p:cNvSpPr/>
          <p:nvPr/>
        </p:nvSpPr>
        <p:spPr>
          <a:xfrm>
            <a:off x="4630785" y="948730"/>
            <a:ext cx="577673" cy="1517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700" b="1" dirty="0">
                <a:solidFill>
                  <a:schemeClr val="bg1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Oct-Nov</a:t>
            </a:r>
            <a:endParaRPr lang="en-US" sz="7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58" name="Shape 59">
            <a:extLst>
              <a:ext uri="{FF2B5EF4-FFF2-40B4-BE49-F238E27FC236}">
                <a16:creationId xmlns:a16="http://schemas.microsoft.com/office/drawing/2014/main" id="{3F73BB7E-309F-EC09-2647-993B2FD55F7B}"/>
              </a:ext>
            </a:extLst>
          </p:cNvPr>
          <p:cNvSpPr/>
          <p:nvPr/>
        </p:nvSpPr>
        <p:spPr>
          <a:xfrm>
            <a:off x="4627228" y="2637235"/>
            <a:ext cx="2022541" cy="680285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E72FF45F-8821-19ED-C679-09BFDCCA7728}"/>
              </a:ext>
            </a:extLst>
          </p:cNvPr>
          <p:cNvSpPr txBox="1"/>
          <p:nvPr/>
        </p:nvSpPr>
        <p:spPr>
          <a:xfrm>
            <a:off x="4627228" y="2909160"/>
            <a:ext cx="202254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New payroll vendor implementation:</a:t>
            </a:r>
            <a:r>
              <a: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 Vendor payroll implementation &amp; SF-new payroll system integration to bank’s </a:t>
            </a:r>
            <a:r>
              <a:rPr lang="en-US" sz="7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inegration</a:t>
            </a:r>
            <a:endParaRPr lang="en-US" sz="70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60" name="Shape 2">
            <a:extLst>
              <a:ext uri="{FF2B5EF4-FFF2-40B4-BE49-F238E27FC236}">
                <a16:creationId xmlns:a16="http://schemas.microsoft.com/office/drawing/2014/main" id="{8DE2D50D-8DED-44B7-7D1F-4937ED50B1AA}"/>
              </a:ext>
            </a:extLst>
          </p:cNvPr>
          <p:cNvSpPr/>
          <p:nvPr/>
        </p:nvSpPr>
        <p:spPr>
          <a:xfrm>
            <a:off x="5924847" y="2734250"/>
            <a:ext cx="673167" cy="181011"/>
          </a:xfrm>
          <a:prstGeom prst="roundRect">
            <a:avLst>
              <a:gd name="adj" fmla="val 69818"/>
            </a:avLst>
          </a:prstGeom>
          <a:solidFill>
            <a:srgbClr val="7030A0">
              <a:alpha val="10000"/>
            </a:srgbClr>
          </a:solidFill>
          <a:ln w="6350">
            <a:solidFill>
              <a:srgbClr val="7030A0"/>
            </a:solidFill>
            <a:prstDash val="solid"/>
          </a:ln>
        </p:spPr>
        <p:txBody>
          <a:bodyPr anchor="ctr"/>
          <a:lstStyle/>
          <a:p>
            <a:r>
              <a:rPr lang="en-US" sz="600" b="1" dirty="0">
                <a:solidFill>
                  <a:srgbClr val="7030A0"/>
                </a:solidFill>
                <a:latin typeface="Aptos" panose="020B0004020202020204" pitchFamily="34" charset="0"/>
              </a:rPr>
              <a:t>39 </a:t>
            </a:r>
            <a:r>
              <a:rPr lang="en-US" sz="600" b="1" dirty="0" err="1">
                <a:solidFill>
                  <a:srgbClr val="7030A0"/>
                </a:solidFill>
                <a:latin typeface="Aptos" panose="020B0004020202020204" pitchFamily="34" charset="0"/>
              </a:rPr>
              <a:t>Payheads</a:t>
            </a:r>
            <a:endParaRPr lang="en-US" sz="600" b="1" dirty="0">
              <a:solidFill>
                <a:srgbClr val="7030A0"/>
              </a:solidFill>
              <a:latin typeface="Aptos" panose="020B0004020202020204" pitchFamily="34" charset="0"/>
            </a:endParaRPr>
          </a:p>
        </p:txBody>
      </p:sp>
      <p:sp>
        <p:nvSpPr>
          <p:cNvPr id="155" name="Shape 59">
            <a:extLst>
              <a:ext uri="{FF2B5EF4-FFF2-40B4-BE49-F238E27FC236}">
                <a16:creationId xmlns:a16="http://schemas.microsoft.com/office/drawing/2014/main" id="{60133801-EFE1-F830-8B79-2F8D9AD605C9}"/>
              </a:ext>
            </a:extLst>
          </p:cNvPr>
          <p:cNvSpPr/>
          <p:nvPr/>
        </p:nvSpPr>
        <p:spPr>
          <a:xfrm>
            <a:off x="4634323" y="1837275"/>
            <a:ext cx="2022541" cy="768303"/>
          </a:xfrm>
          <a:prstGeom prst="roundRect">
            <a:avLst>
              <a:gd name="adj" fmla="val 0"/>
            </a:avLst>
          </a:prstGeom>
          <a:solidFill>
            <a:srgbClr val="FAFAFA"/>
          </a:solidFill>
          <a:ln w="3175">
            <a:solidFill>
              <a:schemeClr val="bg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56" name="Shape 21">
            <a:extLst>
              <a:ext uri="{FF2B5EF4-FFF2-40B4-BE49-F238E27FC236}">
                <a16:creationId xmlns:a16="http://schemas.microsoft.com/office/drawing/2014/main" id="{DDD423CA-7C42-F1AE-78E5-7349ED274F31}"/>
              </a:ext>
            </a:extLst>
          </p:cNvPr>
          <p:cNvSpPr/>
          <p:nvPr/>
        </p:nvSpPr>
        <p:spPr>
          <a:xfrm>
            <a:off x="4634706" y="1836613"/>
            <a:ext cx="2020824" cy="27432"/>
          </a:xfrm>
          <a:prstGeom prst="rect">
            <a:avLst/>
          </a:prstGeom>
          <a:solidFill>
            <a:srgbClr val="7030A0"/>
          </a:solidFill>
          <a:ln w="12700">
            <a:noFill/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541FBB10-90D9-2BC1-4B74-B362A0AE9089}"/>
              </a:ext>
            </a:extLst>
          </p:cNvPr>
          <p:cNvSpPr txBox="1"/>
          <p:nvPr/>
        </p:nvSpPr>
        <p:spPr>
          <a:xfrm>
            <a:off x="4634323" y="2109712"/>
            <a:ext cx="20225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Rest of ADP countries: </a:t>
            </a:r>
            <a:r>
              <a: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Manual Inputs automation &amp; Zero-touch SF -&gt; ADP integration; Additionally, ADP to SAP S4 HANA automation</a:t>
            </a:r>
            <a:r>
              <a:rPr lang="en-US" sz="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to Banks integrations</a:t>
            </a:r>
          </a:p>
        </p:txBody>
      </p:sp>
      <p:sp>
        <p:nvSpPr>
          <p:cNvPr id="161" name="Shape 2">
            <a:extLst>
              <a:ext uri="{FF2B5EF4-FFF2-40B4-BE49-F238E27FC236}">
                <a16:creationId xmlns:a16="http://schemas.microsoft.com/office/drawing/2014/main" id="{F13648BB-943C-9DA1-5A2A-252D0AF3E80C}"/>
              </a:ext>
            </a:extLst>
          </p:cNvPr>
          <p:cNvSpPr/>
          <p:nvPr/>
        </p:nvSpPr>
        <p:spPr>
          <a:xfrm>
            <a:off x="5931942" y="1943866"/>
            <a:ext cx="673167" cy="181011"/>
          </a:xfrm>
          <a:prstGeom prst="roundRect">
            <a:avLst>
              <a:gd name="adj" fmla="val 69818"/>
            </a:avLst>
          </a:prstGeom>
          <a:solidFill>
            <a:srgbClr val="7030A0">
              <a:alpha val="10000"/>
            </a:srgbClr>
          </a:solidFill>
          <a:ln w="6350">
            <a:solidFill>
              <a:srgbClr val="7030A0"/>
            </a:solidFill>
            <a:prstDash val="solid"/>
          </a:ln>
        </p:spPr>
        <p:txBody>
          <a:bodyPr anchor="ctr"/>
          <a:lstStyle/>
          <a:p>
            <a:r>
              <a:rPr lang="en-US" sz="600" b="1" dirty="0">
                <a:solidFill>
                  <a:srgbClr val="7030A0"/>
                </a:solidFill>
                <a:latin typeface="Aptos" panose="020B0004020202020204" pitchFamily="34" charset="0"/>
              </a:rPr>
              <a:t>186 </a:t>
            </a:r>
            <a:r>
              <a:rPr lang="en-US" sz="600" b="1" dirty="0" err="1">
                <a:solidFill>
                  <a:srgbClr val="7030A0"/>
                </a:solidFill>
                <a:latin typeface="Aptos" panose="020B0004020202020204" pitchFamily="34" charset="0"/>
              </a:rPr>
              <a:t>Payheads</a:t>
            </a:r>
            <a:endParaRPr lang="en-US" sz="600" b="1" dirty="0">
              <a:solidFill>
                <a:srgbClr val="7030A0"/>
              </a:solidFill>
              <a:latin typeface="Aptos" panose="020B0004020202020204" pitchFamily="34" charset="0"/>
            </a:endParaRPr>
          </a:p>
        </p:txBody>
      </p:sp>
      <p:sp>
        <p:nvSpPr>
          <p:cNvPr id="162" name="Shape 21">
            <a:extLst>
              <a:ext uri="{FF2B5EF4-FFF2-40B4-BE49-F238E27FC236}">
                <a16:creationId xmlns:a16="http://schemas.microsoft.com/office/drawing/2014/main" id="{7F442F29-6D1F-CE5C-81F6-1076327615DC}"/>
              </a:ext>
            </a:extLst>
          </p:cNvPr>
          <p:cNvSpPr/>
          <p:nvPr/>
        </p:nvSpPr>
        <p:spPr>
          <a:xfrm>
            <a:off x="4630786" y="2639217"/>
            <a:ext cx="2020824" cy="27432"/>
          </a:xfrm>
          <a:prstGeom prst="rect">
            <a:avLst/>
          </a:prstGeom>
          <a:solidFill>
            <a:srgbClr val="7030A0"/>
          </a:solidFill>
          <a:ln w="12700">
            <a:noFill/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085503EC-6239-68DF-4805-B2B6262E583F}"/>
              </a:ext>
            </a:extLst>
          </p:cNvPr>
          <p:cNvSpPr txBox="1"/>
          <p:nvPr/>
        </p:nvSpPr>
        <p:spPr>
          <a:xfrm>
            <a:off x="4557181" y="1293877"/>
            <a:ext cx="22186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kern="0" spc="4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Inter"/>
                <a:cs typeface="Calibri"/>
              </a:rPr>
              <a:t>High Priority – </a:t>
            </a:r>
            <a:r>
              <a:rPr lang="en-US" sz="800" kern="0" spc="4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Inter"/>
                <a:cs typeface="Calibri"/>
              </a:rPr>
              <a:t>Rest of ADP – 14 countries (142 emp) + New payroll vendor Implementation (Nepal + Sri Lanka) (52 emp)</a:t>
            </a:r>
            <a:endParaRPr lang="en-US" sz="800" kern="0" spc="1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  <a:ea typeface="Inter"/>
            </a:endParaRPr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B4F62DDC-17E1-0187-8896-B876FBA68676}"/>
              </a:ext>
            </a:extLst>
          </p:cNvPr>
          <p:cNvSpPr>
            <a:spLocks/>
          </p:cNvSpPr>
          <p:nvPr/>
        </p:nvSpPr>
        <p:spPr>
          <a:xfrm>
            <a:off x="261987" y="2373597"/>
            <a:ext cx="1870983" cy="720438"/>
          </a:xfrm>
          <a:prstGeom prst="rect">
            <a:avLst/>
          </a:prstGeom>
          <a:solidFill>
            <a:srgbClr val="FAFAFA"/>
          </a:solidFill>
          <a:ln w="3175">
            <a:solidFill>
              <a:schemeClr val="bg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A13D378A-795B-17F4-DBF2-E2298A27D095}"/>
              </a:ext>
            </a:extLst>
          </p:cNvPr>
          <p:cNvSpPr/>
          <p:nvPr/>
        </p:nvSpPr>
        <p:spPr>
          <a:xfrm>
            <a:off x="281178" y="948729"/>
            <a:ext cx="577672" cy="172499"/>
          </a:xfrm>
          <a:prstGeom prst="roundRect">
            <a:avLst>
              <a:gd name="adj" fmla="val 50000"/>
            </a:avLst>
          </a:prstGeom>
          <a:solidFill>
            <a:srgbClr val="FFA934"/>
          </a:solidFill>
          <a:ln w="6350">
            <a:noFill/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9D1C5C15-2AFD-3FD1-7481-BC9F87BECAD6}"/>
              </a:ext>
            </a:extLst>
          </p:cNvPr>
          <p:cNvSpPr/>
          <p:nvPr/>
        </p:nvSpPr>
        <p:spPr>
          <a:xfrm>
            <a:off x="281177" y="948729"/>
            <a:ext cx="577673" cy="1865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700" b="1" dirty="0">
                <a:solidFill>
                  <a:schemeClr val="bg1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July - Aug</a:t>
            </a:r>
            <a:endParaRPr lang="en-US" sz="7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F3BE3D04-35A6-9214-FFB6-50FD5CDFC3CC}"/>
              </a:ext>
            </a:extLst>
          </p:cNvPr>
          <p:cNvSpPr>
            <a:spLocks noChangeAspect="1"/>
          </p:cNvSpPr>
          <p:nvPr/>
        </p:nvSpPr>
        <p:spPr>
          <a:xfrm>
            <a:off x="261989" y="1172758"/>
            <a:ext cx="91440" cy="91440"/>
          </a:xfrm>
          <a:prstGeom prst="ellipse">
            <a:avLst/>
          </a:prstGeom>
          <a:solidFill>
            <a:srgbClr val="FF9500"/>
          </a:solidFill>
          <a:ln w="12700">
            <a:noFill/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FEE081E2-7327-1FD8-9280-0C6D263F7BCF}"/>
              </a:ext>
            </a:extLst>
          </p:cNvPr>
          <p:cNvSpPr/>
          <p:nvPr/>
        </p:nvSpPr>
        <p:spPr>
          <a:xfrm>
            <a:off x="196330" y="1387633"/>
            <a:ext cx="185166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Foundation</a:t>
            </a:r>
            <a:endParaRPr lang="en-US" sz="80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16F1FB01-0FE0-50E7-1FE3-20897D37C819}"/>
              </a:ext>
            </a:extLst>
          </p:cNvPr>
          <p:cNvSpPr/>
          <p:nvPr/>
        </p:nvSpPr>
        <p:spPr>
          <a:xfrm>
            <a:off x="261987" y="2373597"/>
            <a:ext cx="1874519" cy="27432"/>
          </a:xfrm>
          <a:prstGeom prst="rect">
            <a:avLst/>
          </a:prstGeom>
          <a:solidFill>
            <a:srgbClr val="FF9500"/>
          </a:solidFill>
          <a:ln w="12700">
            <a:noFill/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E7867DBA-EF34-FE3A-50E9-11BF67EBEF0E}"/>
              </a:ext>
            </a:extLst>
          </p:cNvPr>
          <p:cNvSpPr txBox="1"/>
          <p:nvPr/>
        </p:nvSpPr>
        <p:spPr>
          <a:xfrm>
            <a:off x="266700" y="2475852"/>
            <a:ext cx="18662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Requirement gathering for all </a:t>
            </a:r>
            <a:r>
              <a:rPr lang="en-US" sz="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35 countries</a:t>
            </a:r>
            <a:endParaRPr lang="en-US" sz="70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  <a:p>
            <a:pPr marL="58738" indent="-58738"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Integration environment setup </a:t>
            </a:r>
          </a:p>
          <a:p>
            <a:pPr marL="58738" indent="-58738"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AI Validation</a:t>
            </a:r>
          </a:p>
          <a:p>
            <a:pPr marL="58738" indent="-58738"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Engine architecture to be finalized​</a:t>
            </a: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6B9DBA24-4203-8FD1-992D-CA74C1A9E31D}"/>
              </a:ext>
            </a:extLst>
          </p:cNvPr>
          <p:cNvSpPr>
            <a:spLocks/>
          </p:cNvSpPr>
          <p:nvPr/>
        </p:nvSpPr>
        <p:spPr>
          <a:xfrm>
            <a:off x="261989" y="1839788"/>
            <a:ext cx="1870982" cy="408807"/>
          </a:xfrm>
          <a:prstGeom prst="rect">
            <a:avLst/>
          </a:prstGeom>
          <a:solidFill>
            <a:srgbClr val="FAFAFA"/>
          </a:solidFill>
          <a:ln w="3175">
            <a:solidFill>
              <a:schemeClr val="bg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3D629B0A-6AA2-13E5-A1FD-04454B48B0FB}"/>
              </a:ext>
            </a:extLst>
          </p:cNvPr>
          <p:cNvSpPr txBox="1"/>
          <p:nvPr/>
        </p:nvSpPr>
        <p:spPr>
          <a:xfrm>
            <a:off x="272794" y="1870309"/>
            <a:ext cx="184480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Contractors to be onboarded (SuccessFactors, Integration developer resources,  ADP resource)​</a:t>
            </a:r>
          </a:p>
        </p:txBody>
      </p:sp>
      <p:sp>
        <p:nvSpPr>
          <p:cNvPr id="180" name="Shape 25">
            <a:extLst>
              <a:ext uri="{FF2B5EF4-FFF2-40B4-BE49-F238E27FC236}">
                <a16:creationId xmlns:a16="http://schemas.microsoft.com/office/drawing/2014/main" id="{E0AB5DB8-AC14-F19F-F51A-239778856E66}"/>
              </a:ext>
            </a:extLst>
          </p:cNvPr>
          <p:cNvSpPr/>
          <p:nvPr/>
        </p:nvSpPr>
        <p:spPr>
          <a:xfrm>
            <a:off x="261987" y="1839124"/>
            <a:ext cx="1874519" cy="27432"/>
          </a:xfrm>
          <a:prstGeom prst="rect">
            <a:avLst/>
          </a:prstGeom>
          <a:solidFill>
            <a:srgbClr val="FF9500"/>
          </a:solidFill>
          <a:ln w="12700">
            <a:noFill/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92" name="Shape 90">
            <a:extLst>
              <a:ext uri="{FF2B5EF4-FFF2-40B4-BE49-F238E27FC236}">
                <a16:creationId xmlns:a16="http://schemas.microsoft.com/office/drawing/2014/main" id="{1E61B54C-8D76-A2D0-12C7-668CB13805C3}"/>
              </a:ext>
            </a:extLst>
          </p:cNvPr>
          <p:cNvSpPr>
            <a:spLocks noChangeAspect="1"/>
          </p:cNvSpPr>
          <p:nvPr/>
        </p:nvSpPr>
        <p:spPr>
          <a:xfrm>
            <a:off x="6892290" y="1172758"/>
            <a:ext cx="91440" cy="91440"/>
          </a:xfrm>
          <a:prstGeom prst="ellipse">
            <a:avLst/>
          </a:prstGeom>
          <a:solidFill>
            <a:srgbClr val="0277FF"/>
          </a:solidFill>
          <a:ln w="12700">
            <a:noFill/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93" name="Shape 91">
            <a:extLst>
              <a:ext uri="{FF2B5EF4-FFF2-40B4-BE49-F238E27FC236}">
                <a16:creationId xmlns:a16="http://schemas.microsoft.com/office/drawing/2014/main" id="{3C3DF3F9-049E-0415-6E75-1F4E040CD787}"/>
              </a:ext>
            </a:extLst>
          </p:cNvPr>
          <p:cNvSpPr/>
          <p:nvPr/>
        </p:nvSpPr>
        <p:spPr>
          <a:xfrm>
            <a:off x="6892289" y="948729"/>
            <a:ext cx="1301591" cy="182382"/>
          </a:xfrm>
          <a:prstGeom prst="roundRect">
            <a:avLst>
              <a:gd name="adj" fmla="val 50000"/>
            </a:avLst>
          </a:prstGeom>
          <a:solidFill>
            <a:srgbClr val="0277FF"/>
          </a:solidFill>
          <a:ln w="6350">
            <a:noFill/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94" name="Text 92">
            <a:extLst>
              <a:ext uri="{FF2B5EF4-FFF2-40B4-BE49-F238E27FC236}">
                <a16:creationId xmlns:a16="http://schemas.microsoft.com/office/drawing/2014/main" id="{951C8AE5-62EB-EF31-6730-26BCEBC93579}"/>
              </a:ext>
            </a:extLst>
          </p:cNvPr>
          <p:cNvSpPr/>
          <p:nvPr/>
        </p:nvSpPr>
        <p:spPr>
          <a:xfrm>
            <a:off x="6892290" y="970162"/>
            <a:ext cx="1199122" cy="1102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700" b="1" dirty="0">
                <a:solidFill>
                  <a:schemeClr val="bg1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Dec – Feb</a:t>
            </a:r>
            <a:endParaRPr lang="en-US" sz="7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71" name="Shape 59">
            <a:extLst>
              <a:ext uri="{FF2B5EF4-FFF2-40B4-BE49-F238E27FC236}">
                <a16:creationId xmlns:a16="http://schemas.microsoft.com/office/drawing/2014/main" id="{C1EF1267-8E14-729B-68D7-83005B0957EC}"/>
              </a:ext>
            </a:extLst>
          </p:cNvPr>
          <p:cNvSpPr/>
          <p:nvPr/>
        </p:nvSpPr>
        <p:spPr>
          <a:xfrm>
            <a:off x="6894501" y="1845798"/>
            <a:ext cx="2022541" cy="674250"/>
          </a:xfrm>
          <a:prstGeom prst="roundRect">
            <a:avLst>
              <a:gd name="adj" fmla="val 0"/>
            </a:avLst>
          </a:prstGeom>
          <a:solidFill>
            <a:srgbClr val="FAFAFA"/>
          </a:solidFill>
          <a:ln w="3175">
            <a:solidFill>
              <a:schemeClr val="bg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72" name="Shape 21">
            <a:extLst>
              <a:ext uri="{FF2B5EF4-FFF2-40B4-BE49-F238E27FC236}">
                <a16:creationId xmlns:a16="http://schemas.microsoft.com/office/drawing/2014/main" id="{5F21F797-530E-827F-18FC-1320FB81F330}"/>
              </a:ext>
            </a:extLst>
          </p:cNvPr>
          <p:cNvSpPr/>
          <p:nvPr/>
        </p:nvSpPr>
        <p:spPr>
          <a:xfrm>
            <a:off x="6894884" y="1836613"/>
            <a:ext cx="2020824" cy="27432"/>
          </a:xfrm>
          <a:prstGeom prst="rect">
            <a:avLst/>
          </a:prstGeom>
          <a:solidFill>
            <a:srgbClr val="0277FF"/>
          </a:solidFill>
          <a:ln w="12700">
            <a:noFill/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88BF4857-A194-AC81-35B5-D24895D3EC7D}"/>
              </a:ext>
            </a:extLst>
          </p:cNvPr>
          <p:cNvSpPr txBox="1"/>
          <p:nvPr/>
        </p:nvSpPr>
        <p:spPr>
          <a:xfrm>
            <a:off x="6894501" y="1866649"/>
            <a:ext cx="202254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​</a:t>
            </a:r>
          </a:p>
        </p:txBody>
      </p:sp>
      <p:sp>
        <p:nvSpPr>
          <p:cNvPr id="174" name="Shape 59">
            <a:extLst>
              <a:ext uri="{FF2B5EF4-FFF2-40B4-BE49-F238E27FC236}">
                <a16:creationId xmlns:a16="http://schemas.microsoft.com/office/drawing/2014/main" id="{55B3EEE7-C4CB-D3DA-1942-8C6E07DEB8DC}"/>
              </a:ext>
            </a:extLst>
          </p:cNvPr>
          <p:cNvSpPr/>
          <p:nvPr/>
        </p:nvSpPr>
        <p:spPr>
          <a:xfrm>
            <a:off x="6894501" y="2690515"/>
            <a:ext cx="2022541" cy="652651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8F46F218-3B70-F213-658D-EEFC7C69A3D0}"/>
              </a:ext>
            </a:extLst>
          </p:cNvPr>
          <p:cNvSpPr txBox="1"/>
          <p:nvPr/>
        </p:nvSpPr>
        <p:spPr>
          <a:xfrm>
            <a:off x="6894501" y="2923861"/>
            <a:ext cx="20225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GSA: </a:t>
            </a:r>
            <a:r>
              <a: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Zero touch automation from SF to GSA vendors</a:t>
            </a:r>
            <a:r>
              <a:rPr lang="en-US" sz="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​</a:t>
            </a:r>
          </a:p>
        </p:txBody>
      </p:sp>
      <p:sp>
        <p:nvSpPr>
          <p:cNvPr id="178" name="Shape 21">
            <a:extLst>
              <a:ext uri="{FF2B5EF4-FFF2-40B4-BE49-F238E27FC236}">
                <a16:creationId xmlns:a16="http://schemas.microsoft.com/office/drawing/2014/main" id="{78FE5512-3D3F-5CFF-9993-C29FD487593A}"/>
              </a:ext>
            </a:extLst>
          </p:cNvPr>
          <p:cNvSpPr/>
          <p:nvPr/>
        </p:nvSpPr>
        <p:spPr>
          <a:xfrm>
            <a:off x="6898059" y="2669791"/>
            <a:ext cx="2020824" cy="27432"/>
          </a:xfrm>
          <a:prstGeom prst="rect">
            <a:avLst/>
          </a:prstGeom>
          <a:solidFill>
            <a:srgbClr val="0277FF"/>
          </a:solidFill>
          <a:ln w="12700">
            <a:noFill/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6F5A78F1-8C9F-872E-1C12-7D0DCAB39473}"/>
              </a:ext>
            </a:extLst>
          </p:cNvPr>
          <p:cNvSpPr txBox="1"/>
          <p:nvPr/>
        </p:nvSpPr>
        <p:spPr>
          <a:xfrm>
            <a:off x="6830648" y="1373665"/>
            <a:ext cx="19720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 kern="0" spc="1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Inter"/>
              </a:rPr>
              <a:t>Tail Cleanup –</a:t>
            </a:r>
            <a:r>
              <a:rPr lang="en-US" sz="800" kern="0" spc="1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Inter"/>
              </a:rPr>
              <a:t> China &amp; Italy (10 emp) + </a:t>
            </a:r>
          </a:p>
          <a:p>
            <a:r>
              <a:rPr lang="en-US" sz="800" kern="0" spc="1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Inter"/>
              </a:rPr>
              <a:t>GSA (73 emp)</a:t>
            </a:r>
          </a:p>
        </p:txBody>
      </p:sp>
      <p:sp>
        <p:nvSpPr>
          <p:cNvPr id="5" name="Shape 24">
            <a:extLst>
              <a:ext uri="{FF2B5EF4-FFF2-40B4-BE49-F238E27FC236}">
                <a16:creationId xmlns:a16="http://schemas.microsoft.com/office/drawing/2014/main" id="{0D519E7E-E835-6148-64EE-8E4DDA7B2C81}"/>
              </a:ext>
            </a:extLst>
          </p:cNvPr>
          <p:cNvSpPr>
            <a:spLocks/>
          </p:cNvSpPr>
          <p:nvPr/>
        </p:nvSpPr>
        <p:spPr>
          <a:xfrm>
            <a:off x="261987" y="3836719"/>
            <a:ext cx="8711186" cy="790450"/>
          </a:xfrm>
          <a:prstGeom prst="rect">
            <a:avLst/>
          </a:prstGeom>
          <a:solidFill>
            <a:srgbClr val="FAFAFA"/>
          </a:solidFill>
          <a:ln w="3175">
            <a:solidFill>
              <a:schemeClr val="bg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6" name="Shape 25">
            <a:extLst>
              <a:ext uri="{FF2B5EF4-FFF2-40B4-BE49-F238E27FC236}">
                <a16:creationId xmlns:a16="http://schemas.microsoft.com/office/drawing/2014/main" id="{94D92CBD-4EB7-1749-3957-77814CDA3BB0}"/>
              </a:ext>
            </a:extLst>
          </p:cNvPr>
          <p:cNvSpPr/>
          <p:nvPr/>
        </p:nvSpPr>
        <p:spPr>
          <a:xfrm>
            <a:off x="261434" y="3796560"/>
            <a:ext cx="8711186" cy="45719"/>
          </a:xfrm>
          <a:prstGeom prst="rect">
            <a:avLst/>
          </a:prstGeom>
          <a:solidFill>
            <a:srgbClr val="FF0000"/>
          </a:solidFill>
          <a:ln w="12700">
            <a:noFill/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D61012-4E97-93AF-3503-6B0D46970488}"/>
              </a:ext>
            </a:extLst>
          </p:cNvPr>
          <p:cNvSpPr txBox="1"/>
          <p:nvPr/>
        </p:nvSpPr>
        <p:spPr>
          <a:xfrm>
            <a:off x="342900" y="3906231"/>
            <a:ext cx="85861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Key Dependencies:</a:t>
            </a:r>
          </a:p>
          <a:p>
            <a:pPr marL="58738" indent="-58738"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ADP onboarding &amp; timely delivery of requirements</a:t>
            </a:r>
          </a:p>
          <a:p>
            <a:pPr marL="58738" indent="-58738"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Availability of HR stakeholders</a:t>
            </a:r>
          </a:p>
          <a:p>
            <a:pPr marL="58738" indent="-58738"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New Vendor finalization</a:t>
            </a:r>
          </a:p>
          <a:p>
            <a:pPr marL="58738" indent="-58738"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Banks teams’ availability</a:t>
            </a:r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8364F8C0-0529-829E-D8CF-09CBEEF98DDF}"/>
              </a:ext>
            </a:extLst>
          </p:cNvPr>
          <p:cNvSpPr/>
          <p:nvPr/>
        </p:nvSpPr>
        <p:spPr>
          <a:xfrm>
            <a:off x="8242541" y="1890946"/>
            <a:ext cx="673167" cy="181011"/>
          </a:xfrm>
          <a:prstGeom prst="roundRect">
            <a:avLst>
              <a:gd name="adj" fmla="val 69818"/>
            </a:avLst>
          </a:prstGeom>
          <a:solidFill>
            <a:srgbClr val="7030A0">
              <a:alpha val="10000"/>
            </a:srgbClr>
          </a:solidFill>
          <a:ln w="6350">
            <a:solidFill>
              <a:srgbClr val="7030A0"/>
            </a:solidFill>
            <a:prstDash val="solid"/>
          </a:ln>
        </p:spPr>
        <p:txBody>
          <a:bodyPr anchor="ctr"/>
          <a:lstStyle/>
          <a:p>
            <a:r>
              <a:rPr lang="en-US" sz="600" b="1" dirty="0">
                <a:solidFill>
                  <a:srgbClr val="0070C0"/>
                </a:solidFill>
                <a:latin typeface="Aptos" panose="020B0004020202020204" pitchFamily="34" charset="0"/>
              </a:rPr>
              <a:t>38 </a:t>
            </a:r>
            <a:r>
              <a:rPr lang="en-US" sz="600" b="1" dirty="0" err="1">
                <a:solidFill>
                  <a:srgbClr val="0070C0"/>
                </a:solidFill>
                <a:latin typeface="Aptos" panose="020B0004020202020204" pitchFamily="34" charset="0"/>
              </a:rPr>
              <a:t>Payheads</a:t>
            </a:r>
            <a:endParaRPr lang="en-US" sz="600" b="1" dirty="0">
              <a:solidFill>
                <a:srgbClr val="0070C0"/>
              </a:solidFill>
              <a:latin typeface="Aptos" panose="020B0004020202020204" pitchFamily="34" charset="0"/>
            </a:endParaRPr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97C6E7A3-9A73-AD6F-835D-547663AC5D19}"/>
              </a:ext>
            </a:extLst>
          </p:cNvPr>
          <p:cNvSpPr/>
          <p:nvPr/>
        </p:nvSpPr>
        <p:spPr>
          <a:xfrm>
            <a:off x="8242540" y="2717999"/>
            <a:ext cx="673167" cy="181011"/>
          </a:xfrm>
          <a:prstGeom prst="roundRect">
            <a:avLst>
              <a:gd name="adj" fmla="val 69818"/>
            </a:avLst>
          </a:prstGeom>
          <a:solidFill>
            <a:srgbClr val="7030A0">
              <a:alpha val="10000"/>
            </a:srgbClr>
          </a:solidFill>
          <a:ln w="6350">
            <a:solidFill>
              <a:srgbClr val="7030A0"/>
            </a:solidFill>
            <a:prstDash val="solid"/>
          </a:ln>
        </p:spPr>
        <p:txBody>
          <a:bodyPr anchor="ctr"/>
          <a:lstStyle/>
          <a:p>
            <a:r>
              <a:rPr lang="en-US" sz="600" b="1" dirty="0">
                <a:solidFill>
                  <a:srgbClr val="7030A0"/>
                </a:solidFill>
                <a:latin typeface="Aptos" panose="020B0004020202020204" pitchFamily="34" charset="0"/>
              </a:rPr>
              <a:t>67 </a:t>
            </a:r>
            <a:r>
              <a:rPr lang="en-US" sz="600" b="1" dirty="0" err="1">
                <a:solidFill>
                  <a:srgbClr val="7030A0"/>
                </a:solidFill>
                <a:latin typeface="Aptos" panose="020B0004020202020204" pitchFamily="34" charset="0"/>
              </a:rPr>
              <a:t>Payheads</a:t>
            </a:r>
            <a:endParaRPr lang="en-US" sz="600" b="1" dirty="0">
              <a:solidFill>
                <a:srgbClr val="7030A0"/>
              </a:solidFill>
              <a:latin typeface="Aptos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51EEAB-183A-C253-5D69-022F2615A5FB}"/>
              </a:ext>
            </a:extLst>
          </p:cNvPr>
          <p:cNvSpPr txBox="1"/>
          <p:nvPr/>
        </p:nvSpPr>
        <p:spPr>
          <a:xfrm>
            <a:off x="6906474" y="2113914"/>
            <a:ext cx="202254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China &amp; Italy: </a:t>
            </a:r>
            <a:r>
              <a: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Manual Inputs automation &amp; Zero-touch SF -&gt; China &amp; Italy vendors integration to Banks integration</a:t>
            </a:r>
          </a:p>
        </p:txBody>
      </p:sp>
    </p:spTree>
    <p:extLst>
      <p:ext uri="{BB962C8B-B14F-4D97-AF65-F5344CB8AC3E}">
        <p14:creationId xmlns:p14="http://schemas.microsoft.com/office/powerpoint/2010/main" val="22904320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9BDBF-C754-E423-E944-EB6126E05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6889E01-029E-1EDF-771F-CE23E92CA5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76864" y="1033044"/>
            <a:ext cx="5183762" cy="2193333"/>
          </a:xfrm>
        </p:spPr>
        <p:txBody>
          <a:bodyPr>
            <a:normAutofit/>
          </a:bodyPr>
          <a:lstStyle/>
          <a:p>
            <a:r>
              <a:rPr lang="en-IN" sz="4200" dirty="0"/>
              <a:t>Resourcing Effort Estimation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1191371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40030" y="123444"/>
            <a:ext cx="8641080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1">
                <a:solidFill>
                  <a:srgbClr val="C00000"/>
                </a:solidFill>
                <a:latin typeface="Aptos Display"/>
              </a:rPr>
              <a:t>Resource Requirement Rationale | Domestic + International Payroll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3746" y="397764"/>
            <a:ext cx="8503920" cy="20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5">
                <a:solidFill>
                  <a:srgbClr val="4B5563"/>
                </a:solidFill>
                <a:latin typeface="Aptos"/>
              </a:rPr>
              <a:t>Resource need is driven by payhead/component volume, automation gap, integration depth, payroll frequency, and country/vendor variation.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0030" y="637794"/>
            <a:ext cx="1693926" cy="651510"/>
          </a:xfrm>
          <a:prstGeom prst="roundRect">
            <a:avLst/>
          </a:prstGeom>
          <a:solidFill>
            <a:srgbClr val="EDF7ED"/>
          </a:solidFill>
          <a:ln w="889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6" name="Rectangle 5"/>
          <p:cNvSpPr/>
          <p:nvPr/>
        </p:nvSpPr>
        <p:spPr>
          <a:xfrm>
            <a:off x="240030" y="637794"/>
            <a:ext cx="1693926" cy="54864"/>
          </a:xfrm>
          <a:prstGeom prst="rect">
            <a:avLst/>
          </a:prstGeom>
          <a:solidFill>
            <a:srgbClr val="2D9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7" name="TextBox 6"/>
          <p:cNvSpPr txBox="1"/>
          <p:nvPr/>
        </p:nvSpPr>
        <p:spPr>
          <a:xfrm>
            <a:off x="294894" y="726948"/>
            <a:ext cx="1584198" cy="18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70" b="1">
                <a:solidFill>
                  <a:srgbClr val="1F2937"/>
                </a:solidFill>
                <a:latin typeface="Aptos"/>
              </a:rPr>
              <a:t>DOMESTIC 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4894" y="870966"/>
            <a:ext cx="1584198" cy="311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25" b="1">
                <a:solidFill>
                  <a:srgbClr val="2D9E5F"/>
                </a:solidFill>
                <a:latin typeface="Aptos Display"/>
              </a:rPr>
              <a:t>184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4894" y="1097280"/>
            <a:ext cx="1584198" cy="177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5">
                <a:solidFill>
                  <a:srgbClr val="4B5563"/>
                </a:solidFill>
                <a:latin typeface="Aptos"/>
              </a:rPr>
              <a:t>total payheads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6252" y="637794"/>
            <a:ext cx="1693926" cy="651510"/>
          </a:xfrm>
          <a:prstGeom prst="roundRect">
            <a:avLst/>
          </a:prstGeom>
          <a:solidFill>
            <a:srgbClr val="FCEBEB"/>
          </a:solidFill>
          <a:ln w="889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1" name="Rectangle 10"/>
          <p:cNvSpPr/>
          <p:nvPr/>
        </p:nvSpPr>
        <p:spPr>
          <a:xfrm>
            <a:off x="2016252" y="637794"/>
            <a:ext cx="1693926" cy="5486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2" name="TextBox 11"/>
          <p:cNvSpPr txBox="1"/>
          <p:nvPr/>
        </p:nvSpPr>
        <p:spPr>
          <a:xfrm>
            <a:off x="2071116" y="726948"/>
            <a:ext cx="1584198" cy="18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70" b="1">
                <a:solidFill>
                  <a:srgbClr val="1F2937"/>
                </a:solidFill>
                <a:latin typeface="Aptos"/>
              </a:rPr>
              <a:t>AUTOMATION GAP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71116" y="870966"/>
            <a:ext cx="1584198" cy="311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25" b="1">
                <a:solidFill>
                  <a:srgbClr val="C00000"/>
                </a:solidFill>
                <a:latin typeface="Aptos Display"/>
              </a:rPr>
              <a:t>116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71116" y="1097280"/>
            <a:ext cx="1584198" cy="177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5" dirty="0">
                <a:solidFill>
                  <a:srgbClr val="4B5563"/>
                </a:solidFill>
                <a:latin typeface="Aptos"/>
              </a:rPr>
              <a:t>104 manual + 12 semi-auto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92474" y="637794"/>
            <a:ext cx="1693926" cy="651510"/>
          </a:xfrm>
          <a:prstGeom prst="roundRect">
            <a:avLst/>
          </a:prstGeom>
          <a:solidFill>
            <a:srgbClr val="FFF3EB"/>
          </a:solidFill>
          <a:ln w="889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6" name="Rectangle 15"/>
          <p:cNvSpPr/>
          <p:nvPr/>
        </p:nvSpPr>
        <p:spPr>
          <a:xfrm>
            <a:off x="3792474" y="637794"/>
            <a:ext cx="1693926" cy="54864"/>
          </a:xfrm>
          <a:prstGeom prst="rect">
            <a:avLst/>
          </a:prstGeom>
          <a:solidFill>
            <a:srgbClr val="FF7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7" name="TextBox 16"/>
          <p:cNvSpPr txBox="1"/>
          <p:nvPr/>
        </p:nvSpPr>
        <p:spPr>
          <a:xfrm>
            <a:off x="3847338" y="726948"/>
            <a:ext cx="1584198" cy="18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70" b="1">
                <a:solidFill>
                  <a:srgbClr val="1F2937"/>
                </a:solidFill>
                <a:latin typeface="Aptos"/>
              </a:rPr>
              <a:t>INTERNATIONAL SCOPE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7338" y="870966"/>
            <a:ext cx="1584198" cy="311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25" b="1" dirty="0">
                <a:solidFill>
                  <a:srgbClr val="FF7235"/>
                </a:solidFill>
                <a:latin typeface="Aptos Display"/>
              </a:rPr>
              <a:t>302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7338" y="1097280"/>
            <a:ext cx="1584198" cy="177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5" dirty="0">
                <a:solidFill>
                  <a:srgbClr val="4B5563"/>
                </a:solidFill>
                <a:latin typeface="Aptos"/>
              </a:rPr>
              <a:t>unique components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568696" y="637794"/>
            <a:ext cx="1693926" cy="651510"/>
          </a:xfrm>
          <a:prstGeom prst="roundRect">
            <a:avLst/>
          </a:prstGeom>
          <a:solidFill>
            <a:srgbClr val="EBF5FA"/>
          </a:solidFill>
          <a:ln w="889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1" name="Rectangle 20"/>
          <p:cNvSpPr/>
          <p:nvPr/>
        </p:nvSpPr>
        <p:spPr>
          <a:xfrm>
            <a:off x="5568696" y="637794"/>
            <a:ext cx="1693926" cy="54864"/>
          </a:xfrm>
          <a:prstGeom prst="rect">
            <a:avLst/>
          </a:prstGeom>
          <a:solidFill>
            <a:srgbClr val="205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2" name="TextBox 21"/>
          <p:cNvSpPr txBox="1"/>
          <p:nvPr/>
        </p:nvSpPr>
        <p:spPr>
          <a:xfrm>
            <a:off x="5623560" y="726948"/>
            <a:ext cx="1584198" cy="18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70" b="1">
                <a:solidFill>
                  <a:srgbClr val="1F2937"/>
                </a:solidFill>
                <a:latin typeface="Aptos"/>
              </a:rPr>
              <a:t>TOTAL ESTIMATE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23560" y="870966"/>
            <a:ext cx="1584198" cy="311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25" b="1">
                <a:solidFill>
                  <a:srgbClr val="205273"/>
                </a:solidFill>
                <a:latin typeface="Aptos Display"/>
              </a:rPr>
              <a:t>2,178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23560" y="1097280"/>
            <a:ext cx="1584198" cy="177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5">
                <a:solidFill>
                  <a:srgbClr val="4B5563"/>
                </a:solidFill>
                <a:latin typeface="Aptos"/>
              </a:rPr>
              <a:t>person-days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44918" y="637794"/>
            <a:ext cx="1693926" cy="651510"/>
          </a:xfrm>
          <a:prstGeom prst="roundRect">
            <a:avLst/>
          </a:prstGeom>
          <a:solidFill>
            <a:srgbClr val="F4EEF9"/>
          </a:solidFill>
          <a:ln w="889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6" name="Rectangle 25"/>
          <p:cNvSpPr/>
          <p:nvPr/>
        </p:nvSpPr>
        <p:spPr>
          <a:xfrm>
            <a:off x="7344918" y="637794"/>
            <a:ext cx="1693926" cy="5486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7" name="TextBox 26"/>
          <p:cNvSpPr txBox="1"/>
          <p:nvPr/>
        </p:nvSpPr>
        <p:spPr>
          <a:xfrm>
            <a:off x="7399782" y="726948"/>
            <a:ext cx="1584198" cy="18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570" b="1" dirty="0">
                <a:solidFill>
                  <a:srgbClr val="1F2937"/>
                </a:solidFill>
                <a:latin typeface="Aptos"/>
              </a:rPr>
              <a:t>CAPEX ASK</a:t>
            </a:r>
            <a:endParaRPr sz="570" b="1" dirty="0">
              <a:solidFill>
                <a:srgbClr val="1F2937"/>
              </a:solidFill>
              <a:latin typeface="Apto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399782" y="870966"/>
            <a:ext cx="1584198" cy="311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25" b="1" dirty="0">
                <a:solidFill>
                  <a:srgbClr val="7030A0"/>
                </a:solidFill>
                <a:latin typeface="Aptos Display"/>
              </a:rPr>
              <a:t>₹3 Cr</a:t>
            </a:r>
            <a:endParaRPr sz="1425" b="1" dirty="0">
              <a:solidFill>
                <a:srgbClr val="7030A0"/>
              </a:solidFill>
              <a:latin typeface="Aptos Display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399782" y="1097280"/>
            <a:ext cx="1584198" cy="177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555" dirty="0">
                <a:solidFill>
                  <a:srgbClr val="4B5563"/>
                </a:solidFill>
                <a:latin typeface="Aptos"/>
              </a:rPr>
              <a:t>13 resources | 8-month delivery</a:t>
            </a:r>
            <a:endParaRPr sz="555" dirty="0">
              <a:solidFill>
                <a:srgbClr val="4B5563"/>
              </a:solidFill>
              <a:latin typeface="Aptos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240030" y="1453896"/>
            <a:ext cx="4217670" cy="2434590"/>
          </a:xfrm>
          <a:prstGeom prst="roundRect">
            <a:avLst/>
          </a:prstGeom>
          <a:solidFill>
            <a:srgbClr val="FAFAFA"/>
          </a:solidFill>
          <a:ln w="889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1" name="Rectangle 30"/>
          <p:cNvSpPr/>
          <p:nvPr/>
        </p:nvSpPr>
        <p:spPr>
          <a:xfrm>
            <a:off x="240030" y="1453896"/>
            <a:ext cx="4217670" cy="192024"/>
          </a:xfrm>
          <a:prstGeom prst="rect">
            <a:avLst/>
          </a:prstGeom>
          <a:solidFill>
            <a:srgbClr val="2D9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2" name="TextBox 31"/>
          <p:cNvSpPr txBox="1"/>
          <p:nvPr/>
        </p:nvSpPr>
        <p:spPr>
          <a:xfrm>
            <a:off x="308610" y="1459262"/>
            <a:ext cx="4080510" cy="20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5" b="1" dirty="0">
                <a:solidFill>
                  <a:srgbClr val="FFFFFF"/>
                </a:solidFill>
                <a:latin typeface="Aptos"/>
              </a:rPr>
              <a:t>DOMESTIC: volume-heavy transformation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77190" y="1783080"/>
            <a:ext cx="925830" cy="363474"/>
          </a:xfrm>
          <a:prstGeom prst="roundRect">
            <a:avLst/>
          </a:prstGeom>
          <a:solidFill>
            <a:srgbClr val="EDF7ED"/>
          </a:solidFill>
          <a:ln w="889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4" name="TextBox 33"/>
          <p:cNvSpPr txBox="1"/>
          <p:nvPr/>
        </p:nvSpPr>
        <p:spPr>
          <a:xfrm>
            <a:off x="377190" y="1802160"/>
            <a:ext cx="925830" cy="265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 dirty="0">
                <a:solidFill>
                  <a:srgbClr val="2D9E5F"/>
                </a:solidFill>
                <a:latin typeface="Aptos Display"/>
              </a:rPr>
              <a:t>184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7190" y="2002536"/>
            <a:ext cx="925830" cy="1697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3" b="1" dirty="0">
                <a:solidFill>
                  <a:srgbClr val="4B5563"/>
                </a:solidFill>
                <a:latin typeface="Aptos"/>
              </a:rPr>
              <a:t>Total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371600" y="1783080"/>
            <a:ext cx="925830" cy="363474"/>
          </a:xfrm>
          <a:prstGeom prst="roundRect">
            <a:avLst/>
          </a:prstGeom>
          <a:solidFill>
            <a:srgbClr val="EBF5FA"/>
          </a:solidFill>
          <a:ln w="889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7" name="TextBox 36"/>
          <p:cNvSpPr txBox="1"/>
          <p:nvPr/>
        </p:nvSpPr>
        <p:spPr>
          <a:xfrm>
            <a:off x="1371600" y="1802160"/>
            <a:ext cx="925830" cy="265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05273"/>
                </a:solidFill>
                <a:latin typeface="Aptos Display"/>
              </a:rPr>
              <a:t>68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71600" y="2002536"/>
            <a:ext cx="925830" cy="1697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3" b="1">
                <a:solidFill>
                  <a:srgbClr val="4B5563"/>
                </a:solidFill>
                <a:latin typeface="Aptos"/>
              </a:rPr>
              <a:t>Already auto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366010" y="1783080"/>
            <a:ext cx="925830" cy="363474"/>
          </a:xfrm>
          <a:prstGeom prst="roundRect">
            <a:avLst/>
          </a:prstGeom>
          <a:solidFill>
            <a:srgbClr val="FCEBEB"/>
          </a:solidFill>
          <a:ln w="889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0" name="TextBox 39"/>
          <p:cNvSpPr txBox="1"/>
          <p:nvPr/>
        </p:nvSpPr>
        <p:spPr>
          <a:xfrm>
            <a:off x="2366010" y="1802160"/>
            <a:ext cx="925830" cy="265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C00000"/>
                </a:solidFill>
                <a:latin typeface="Aptos Display"/>
              </a:rPr>
              <a:t>104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366010" y="2002536"/>
            <a:ext cx="925830" cy="1697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3" b="1">
                <a:solidFill>
                  <a:srgbClr val="4B5563"/>
                </a:solidFill>
                <a:latin typeface="Aptos"/>
              </a:rPr>
              <a:t>Manual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360420" y="1783080"/>
            <a:ext cx="925830" cy="363474"/>
          </a:xfrm>
          <a:prstGeom prst="roundRect">
            <a:avLst/>
          </a:prstGeom>
          <a:solidFill>
            <a:srgbClr val="FFF3EB"/>
          </a:solidFill>
          <a:ln w="889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3" name="TextBox 42"/>
          <p:cNvSpPr txBox="1"/>
          <p:nvPr/>
        </p:nvSpPr>
        <p:spPr>
          <a:xfrm>
            <a:off x="3360420" y="1802160"/>
            <a:ext cx="925830" cy="265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FF7235"/>
                </a:solidFill>
                <a:latin typeface="Aptos Display"/>
              </a:rPr>
              <a:t>12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60420" y="2002536"/>
            <a:ext cx="925830" cy="1697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3" b="1">
                <a:solidFill>
                  <a:srgbClr val="4B5563"/>
                </a:solidFill>
                <a:latin typeface="Aptos"/>
              </a:rPr>
              <a:t>Semi-auto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7190" y="2263140"/>
            <a:ext cx="1645920" cy="198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9" b="1">
                <a:solidFill>
                  <a:srgbClr val="1F2937"/>
                </a:solidFill>
                <a:latin typeface="Aptos"/>
              </a:rPr>
              <a:t>Why effort is high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90905" y="2496312"/>
            <a:ext cx="54864" cy="54864"/>
          </a:xfrm>
          <a:prstGeom prst="rect">
            <a:avLst/>
          </a:prstGeom>
          <a:solidFill>
            <a:srgbClr val="2D9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7" name="TextBox 46"/>
          <p:cNvSpPr txBox="1"/>
          <p:nvPr/>
        </p:nvSpPr>
        <p:spPr>
          <a:xfrm>
            <a:off x="469920" y="2438166"/>
            <a:ext cx="3771900" cy="182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5">
                <a:solidFill>
                  <a:srgbClr val="4B5563"/>
                </a:solidFill>
                <a:latin typeface="Aptos"/>
              </a:rPr>
              <a:t>116 payheads need uplift to full automation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90905" y="2743200"/>
            <a:ext cx="54864" cy="54864"/>
          </a:xfrm>
          <a:prstGeom prst="rect">
            <a:avLst/>
          </a:prstGeom>
          <a:solidFill>
            <a:srgbClr val="2D9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9" name="TextBox 48"/>
          <p:cNvSpPr txBox="1"/>
          <p:nvPr/>
        </p:nvSpPr>
        <p:spPr>
          <a:xfrm>
            <a:off x="469920" y="2685054"/>
            <a:ext cx="3771900" cy="182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5">
                <a:solidFill>
                  <a:srgbClr val="4B5563"/>
                </a:solidFill>
                <a:latin typeface="Aptos"/>
              </a:rPr>
              <a:t>Recurring monthly processing adds payroll-cycle testing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90905" y="2990088"/>
            <a:ext cx="54864" cy="54864"/>
          </a:xfrm>
          <a:prstGeom prst="rect">
            <a:avLst/>
          </a:prstGeom>
          <a:solidFill>
            <a:srgbClr val="2D9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1" name="TextBox 50"/>
          <p:cNvSpPr txBox="1"/>
          <p:nvPr/>
        </p:nvSpPr>
        <p:spPr>
          <a:xfrm>
            <a:off x="469920" y="2931942"/>
            <a:ext cx="3771900" cy="182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5">
                <a:solidFill>
                  <a:srgbClr val="4B5563"/>
                </a:solidFill>
                <a:latin typeface="Aptos"/>
              </a:rPr>
              <a:t>SF, PS, SAP EIP and source-system APIs drive integration load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90905" y="3236976"/>
            <a:ext cx="54864" cy="54864"/>
          </a:xfrm>
          <a:prstGeom prst="rect">
            <a:avLst/>
          </a:prstGeom>
          <a:solidFill>
            <a:srgbClr val="2D9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3" name="TextBox 52"/>
          <p:cNvSpPr txBox="1"/>
          <p:nvPr/>
        </p:nvSpPr>
        <p:spPr>
          <a:xfrm>
            <a:off x="469920" y="3178830"/>
            <a:ext cx="3771900" cy="182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5">
                <a:solidFill>
                  <a:srgbClr val="4B5563"/>
                </a:solidFill>
                <a:latin typeface="Aptos"/>
              </a:rPr>
              <a:t>Automated payheads still require alignment, controls and validation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77190" y="3350085"/>
            <a:ext cx="1371600" cy="198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9" b="1">
                <a:solidFill>
                  <a:srgbClr val="1F2937"/>
                </a:solidFill>
                <a:latin typeface="Aptos"/>
              </a:rPr>
              <a:t>Effort implication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5196" y="3500961"/>
            <a:ext cx="685800" cy="170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10" b="1">
                <a:solidFill>
                  <a:srgbClr val="1F2937"/>
                </a:solidFill>
                <a:latin typeface="Aptos"/>
              </a:rPr>
              <a:t>Integration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110996" y="3703320"/>
            <a:ext cx="1474470" cy="5486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7" name="Rectangle 56"/>
          <p:cNvSpPr/>
          <p:nvPr/>
        </p:nvSpPr>
        <p:spPr>
          <a:xfrm>
            <a:off x="1110996" y="3528393"/>
            <a:ext cx="1474470" cy="5486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8" name="TextBox 57"/>
          <p:cNvSpPr txBox="1"/>
          <p:nvPr/>
        </p:nvSpPr>
        <p:spPr>
          <a:xfrm>
            <a:off x="2633472" y="3500961"/>
            <a:ext cx="411480" cy="170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10" b="1">
                <a:solidFill>
                  <a:srgbClr val="1A1A1A"/>
                </a:solidFill>
                <a:latin typeface="Aptos"/>
              </a:rPr>
              <a:t>522d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5196" y="3658695"/>
            <a:ext cx="685800" cy="170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10" b="1">
                <a:solidFill>
                  <a:srgbClr val="1F2937"/>
                </a:solidFill>
                <a:latin typeface="Aptos"/>
              </a:rPr>
              <a:t>Automation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110996" y="3861054"/>
            <a:ext cx="1474470" cy="5486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61" name="Rectangle 60"/>
          <p:cNvSpPr/>
          <p:nvPr/>
        </p:nvSpPr>
        <p:spPr>
          <a:xfrm>
            <a:off x="1110996" y="3686127"/>
            <a:ext cx="1118563" cy="54864"/>
          </a:xfrm>
          <a:prstGeom prst="rect">
            <a:avLst/>
          </a:prstGeom>
          <a:solidFill>
            <a:srgbClr val="FF7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62" name="TextBox 61"/>
          <p:cNvSpPr txBox="1"/>
          <p:nvPr/>
        </p:nvSpPr>
        <p:spPr>
          <a:xfrm>
            <a:off x="2633472" y="3658695"/>
            <a:ext cx="411480" cy="170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10" b="1">
                <a:solidFill>
                  <a:srgbClr val="1A1A1A"/>
                </a:solidFill>
                <a:latin typeface="Aptos"/>
              </a:rPr>
              <a:t>396d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168396" y="3473529"/>
            <a:ext cx="1097280" cy="31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13" b="1">
                <a:solidFill>
                  <a:srgbClr val="2D9E5F"/>
                </a:solidFill>
                <a:latin typeface="Aptos Display"/>
              </a:rPr>
              <a:t>1,478 days
Domestic total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697730" y="1453896"/>
            <a:ext cx="4217670" cy="2434590"/>
          </a:xfrm>
          <a:prstGeom prst="roundRect">
            <a:avLst/>
          </a:prstGeom>
          <a:solidFill>
            <a:srgbClr val="FAFAFA"/>
          </a:solidFill>
          <a:ln w="889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65" name="Rectangle 64"/>
          <p:cNvSpPr/>
          <p:nvPr/>
        </p:nvSpPr>
        <p:spPr>
          <a:xfrm>
            <a:off x="4697730" y="1453896"/>
            <a:ext cx="4217670" cy="192024"/>
          </a:xfrm>
          <a:prstGeom prst="rect">
            <a:avLst/>
          </a:prstGeom>
          <a:solidFill>
            <a:srgbClr val="FF7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66" name="TextBox 65"/>
          <p:cNvSpPr txBox="1"/>
          <p:nvPr/>
        </p:nvSpPr>
        <p:spPr>
          <a:xfrm>
            <a:off x="4780026" y="1459261"/>
            <a:ext cx="4053078" cy="20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5" b="1" dirty="0">
                <a:solidFill>
                  <a:srgbClr val="FFFFFF"/>
                </a:solidFill>
                <a:latin typeface="Aptos"/>
              </a:rPr>
              <a:t>INTERNATIONAL: complexity-heavy expansion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834890" y="1783080"/>
            <a:ext cx="925830" cy="363474"/>
          </a:xfrm>
          <a:prstGeom prst="roundRect">
            <a:avLst/>
          </a:prstGeom>
          <a:solidFill>
            <a:srgbClr val="FFF3EB"/>
          </a:solidFill>
          <a:ln w="889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68" name="TextBox 67"/>
          <p:cNvSpPr txBox="1"/>
          <p:nvPr/>
        </p:nvSpPr>
        <p:spPr>
          <a:xfrm>
            <a:off x="4834890" y="1802164"/>
            <a:ext cx="925830" cy="265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FF7235"/>
                </a:solidFill>
                <a:latin typeface="Aptos Display"/>
              </a:rPr>
              <a:t>35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834890" y="2002536"/>
            <a:ext cx="925830" cy="1697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3" b="1">
                <a:solidFill>
                  <a:srgbClr val="4B5563"/>
                </a:solidFill>
                <a:latin typeface="Aptos"/>
              </a:rPr>
              <a:t>Countries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5829300" y="1783080"/>
            <a:ext cx="925830" cy="363474"/>
          </a:xfrm>
          <a:prstGeom prst="roundRect">
            <a:avLst/>
          </a:prstGeom>
          <a:solidFill>
            <a:srgbClr val="F4EEF9"/>
          </a:solidFill>
          <a:ln w="889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71" name="TextBox 70"/>
          <p:cNvSpPr txBox="1"/>
          <p:nvPr/>
        </p:nvSpPr>
        <p:spPr>
          <a:xfrm>
            <a:off x="5829300" y="1802164"/>
            <a:ext cx="925830" cy="265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7030A0"/>
                </a:solidFill>
                <a:latin typeface="Aptos Display"/>
              </a:rPr>
              <a:t>302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829300" y="2002536"/>
            <a:ext cx="925830" cy="1697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3" b="1">
                <a:solidFill>
                  <a:srgbClr val="4B5563"/>
                </a:solidFill>
                <a:latin typeface="Aptos"/>
              </a:rPr>
              <a:t>Unique comp.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823710" y="1783080"/>
            <a:ext cx="925830" cy="363474"/>
          </a:xfrm>
          <a:prstGeom prst="roundRect">
            <a:avLst/>
          </a:prstGeom>
          <a:solidFill>
            <a:srgbClr val="FCEBEB"/>
          </a:solidFill>
          <a:ln w="889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74" name="TextBox 73"/>
          <p:cNvSpPr txBox="1"/>
          <p:nvPr/>
        </p:nvSpPr>
        <p:spPr>
          <a:xfrm>
            <a:off x="6823710" y="1802164"/>
            <a:ext cx="925830" cy="265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C00000"/>
                </a:solidFill>
                <a:latin typeface="Aptos Display"/>
              </a:rPr>
              <a:t>611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23710" y="2002536"/>
            <a:ext cx="925830" cy="1697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3" b="1">
                <a:solidFill>
                  <a:srgbClr val="4B5563"/>
                </a:solidFill>
                <a:latin typeface="Aptos"/>
              </a:rPr>
              <a:t>Instances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7818120" y="1783080"/>
            <a:ext cx="925830" cy="363474"/>
          </a:xfrm>
          <a:prstGeom prst="roundRect">
            <a:avLst/>
          </a:prstGeom>
          <a:solidFill>
            <a:srgbClr val="EBF5FA"/>
          </a:solidFill>
          <a:ln w="889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77" name="TextBox 76"/>
          <p:cNvSpPr txBox="1"/>
          <p:nvPr/>
        </p:nvSpPr>
        <p:spPr>
          <a:xfrm>
            <a:off x="7818120" y="1802164"/>
            <a:ext cx="925830" cy="265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5" b="1">
                <a:solidFill>
                  <a:srgbClr val="205273"/>
                </a:solidFill>
                <a:latin typeface="Aptos Display"/>
              </a:rPr>
              <a:t>5+4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818120" y="2002536"/>
            <a:ext cx="925830" cy="1697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3" b="1">
                <a:solidFill>
                  <a:srgbClr val="4B5563"/>
                </a:solidFill>
                <a:latin typeface="Aptos"/>
              </a:rPr>
              <a:t>Models / modes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834890" y="2263140"/>
            <a:ext cx="1645920" cy="198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9" b="1">
                <a:solidFill>
                  <a:srgbClr val="1F2937"/>
                </a:solidFill>
                <a:latin typeface="Aptos"/>
              </a:rPr>
              <a:t>Why effort is complex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848606" y="2496312"/>
            <a:ext cx="54864" cy="54864"/>
          </a:xfrm>
          <a:prstGeom prst="rect">
            <a:avLst/>
          </a:prstGeom>
          <a:solidFill>
            <a:srgbClr val="FF7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81" name="TextBox 80"/>
          <p:cNvSpPr txBox="1"/>
          <p:nvPr/>
        </p:nvSpPr>
        <p:spPr>
          <a:xfrm>
            <a:off x="4911719" y="2434192"/>
            <a:ext cx="3771900" cy="182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5" dirty="0">
                <a:solidFill>
                  <a:srgbClr val="4B5563"/>
                </a:solidFill>
                <a:latin typeface="Aptos"/>
              </a:rPr>
              <a:t>302 components expand to 611 country-level instances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848606" y="2743200"/>
            <a:ext cx="54864" cy="54864"/>
          </a:xfrm>
          <a:prstGeom prst="rect">
            <a:avLst/>
          </a:prstGeom>
          <a:solidFill>
            <a:srgbClr val="FF7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83" name="TextBox 82"/>
          <p:cNvSpPr txBox="1"/>
          <p:nvPr/>
        </p:nvSpPr>
        <p:spPr>
          <a:xfrm>
            <a:off x="4911719" y="2681080"/>
            <a:ext cx="3771900" cy="182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5">
                <a:solidFill>
                  <a:srgbClr val="4B5563"/>
                </a:solidFill>
                <a:latin typeface="Aptos"/>
              </a:rPr>
              <a:t>Country statutory, currency and tax variations increase design effort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848606" y="2990088"/>
            <a:ext cx="54864" cy="54864"/>
          </a:xfrm>
          <a:prstGeom prst="rect">
            <a:avLst/>
          </a:prstGeom>
          <a:solidFill>
            <a:srgbClr val="FF7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85" name="TextBox 84"/>
          <p:cNvSpPr txBox="1"/>
          <p:nvPr/>
        </p:nvSpPr>
        <p:spPr>
          <a:xfrm>
            <a:off x="4911719" y="2927968"/>
            <a:ext cx="3771900" cy="182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5">
                <a:solidFill>
                  <a:srgbClr val="4B5563"/>
                </a:solidFill>
                <a:latin typeface="Aptos"/>
              </a:rPr>
              <a:t>Vendor, GSA, bank and local payroll models fragment integration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848606" y="3236976"/>
            <a:ext cx="54864" cy="54864"/>
          </a:xfrm>
          <a:prstGeom prst="rect">
            <a:avLst/>
          </a:prstGeom>
          <a:solidFill>
            <a:srgbClr val="FF7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87" name="TextBox 86"/>
          <p:cNvSpPr txBox="1"/>
          <p:nvPr/>
        </p:nvSpPr>
        <p:spPr>
          <a:xfrm>
            <a:off x="4911719" y="3174856"/>
            <a:ext cx="3771900" cy="182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5">
                <a:solidFill>
                  <a:srgbClr val="4B5563"/>
                </a:solidFill>
                <a:latin typeface="Aptos"/>
              </a:rPr>
              <a:t>Reconciliation and visibility controls are needed across P2P flow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834890" y="3373933"/>
            <a:ext cx="1371600" cy="198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9" b="1" dirty="0">
                <a:solidFill>
                  <a:srgbClr val="1F2937"/>
                </a:solidFill>
                <a:latin typeface="Aptos"/>
              </a:rPr>
              <a:t>Effort implication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882896" y="3524809"/>
            <a:ext cx="685800" cy="170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10" b="1">
                <a:solidFill>
                  <a:srgbClr val="1F2937"/>
                </a:solidFill>
                <a:latin typeface="Aptos"/>
              </a:rPr>
              <a:t>Automation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568696" y="3703320"/>
            <a:ext cx="1474470" cy="5486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91" name="Rectangle 90"/>
          <p:cNvSpPr/>
          <p:nvPr/>
        </p:nvSpPr>
        <p:spPr>
          <a:xfrm>
            <a:off x="5568696" y="3552241"/>
            <a:ext cx="1474470" cy="54864"/>
          </a:xfrm>
          <a:prstGeom prst="rect">
            <a:avLst/>
          </a:prstGeom>
          <a:solidFill>
            <a:srgbClr val="FF7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92" name="TextBox 91"/>
          <p:cNvSpPr txBox="1"/>
          <p:nvPr/>
        </p:nvSpPr>
        <p:spPr>
          <a:xfrm>
            <a:off x="7091172" y="3524809"/>
            <a:ext cx="411480" cy="170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10" b="1">
                <a:solidFill>
                  <a:srgbClr val="1A1A1A"/>
                </a:solidFill>
                <a:latin typeface="Aptos"/>
              </a:rPr>
              <a:t>280d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882896" y="3682543"/>
            <a:ext cx="685800" cy="170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10" b="1">
                <a:solidFill>
                  <a:srgbClr val="1F2937"/>
                </a:solidFill>
                <a:latin typeface="Aptos"/>
              </a:rPr>
              <a:t>Integration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568696" y="3861054"/>
            <a:ext cx="1474470" cy="5486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95" name="Rectangle 94"/>
          <p:cNvSpPr/>
          <p:nvPr/>
        </p:nvSpPr>
        <p:spPr>
          <a:xfrm>
            <a:off x="5568697" y="3709975"/>
            <a:ext cx="1421810" cy="5486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96" name="TextBox 95"/>
          <p:cNvSpPr txBox="1"/>
          <p:nvPr/>
        </p:nvSpPr>
        <p:spPr>
          <a:xfrm>
            <a:off x="7091172" y="3682543"/>
            <a:ext cx="411480" cy="170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10" b="1">
                <a:solidFill>
                  <a:srgbClr val="1A1A1A"/>
                </a:solidFill>
                <a:latin typeface="Aptos"/>
              </a:rPr>
              <a:t>270d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626095" y="3497377"/>
            <a:ext cx="1097280" cy="31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13" b="1">
                <a:solidFill>
                  <a:srgbClr val="FF7235"/>
                </a:solidFill>
                <a:latin typeface="Aptos Display"/>
              </a:rPr>
              <a:t>700 days
Intl total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240030" y="4059936"/>
            <a:ext cx="8675370" cy="651510"/>
          </a:xfrm>
          <a:prstGeom prst="roundRect">
            <a:avLst/>
          </a:prstGeom>
          <a:solidFill>
            <a:srgbClr val="EBF5FA"/>
          </a:solidFill>
          <a:ln w="889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99" name="TextBox 98"/>
          <p:cNvSpPr txBox="1"/>
          <p:nvPr/>
        </p:nvSpPr>
        <p:spPr>
          <a:xfrm>
            <a:off x="377190" y="4142232"/>
            <a:ext cx="1440180" cy="3044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689" b="1" dirty="0">
                <a:solidFill>
                  <a:srgbClr val="1F2937"/>
                </a:solidFill>
                <a:latin typeface="Aptos"/>
              </a:rPr>
              <a:t>Effort → Resource → Budget Logic</a:t>
            </a:r>
            <a:endParaRPr sz="689" b="1" dirty="0">
              <a:solidFill>
                <a:srgbClr val="1F2937"/>
              </a:solidFill>
              <a:latin typeface="Aptos"/>
            </a:endParaRPr>
          </a:p>
        </p:txBody>
      </p:sp>
      <p:sp>
        <p:nvSpPr>
          <p:cNvPr id="100" name="Rounded Rectangle 99"/>
          <p:cNvSpPr/>
          <p:nvPr/>
        </p:nvSpPr>
        <p:spPr>
          <a:xfrm>
            <a:off x="1885950" y="4155948"/>
            <a:ext cx="1626177" cy="39776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01" name="Rectangle 100"/>
          <p:cNvSpPr/>
          <p:nvPr/>
        </p:nvSpPr>
        <p:spPr>
          <a:xfrm>
            <a:off x="1885950" y="4155948"/>
            <a:ext cx="54864" cy="39776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02" name="TextBox 101"/>
          <p:cNvSpPr txBox="1"/>
          <p:nvPr/>
        </p:nvSpPr>
        <p:spPr>
          <a:xfrm>
            <a:off x="1988820" y="4183380"/>
            <a:ext cx="960120" cy="182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585" b="1" dirty="0">
                <a:solidFill>
                  <a:srgbClr val="1F2937"/>
                </a:solidFill>
                <a:latin typeface="Aptos"/>
              </a:rPr>
              <a:t>Effort Base</a:t>
            </a:r>
            <a:endParaRPr sz="585" b="1" dirty="0">
              <a:solidFill>
                <a:srgbClr val="1F2937"/>
              </a:solidFill>
              <a:latin typeface="Aptos"/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3050380" y="4183380"/>
            <a:ext cx="514350" cy="3554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570" b="1" dirty="0">
                <a:solidFill>
                  <a:srgbClr val="C00000"/>
                </a:solidFill>
                <a:latin typeface="Aptos"/>
              </a:rPr>
              <a:t>2,178 person-days</a:t>
            </a:r>
            <a:endParaRPr sz="570" b="1" dirty="0">
              <a:solidFill>
                <a:srgbClr val="C00000"/>
              </a:solidFill>
              <a:latin typeface="Aptos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1988820" y="4327398"/>
            <a:ext cx="1920240" cy="170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510" dirty="0">
                <a:solidFill>
                  <a:srgbClr val="4B5563"/>
                </a:solidFill>
                <a:latin typeface="Aptos"/>
              </a:rPr>
              <a:t>Domestic 1,478 + International 700</a:t>
            </a:r>
            <a:endParaRPr sz="510" dirty="0">
              <a:solidFill>
                <a:srgbClr val="4B5563"/>
              </a:solidFill>
              <a:latin typeface="Aptos"/>
            </a:endParaRPr>
          </a:p>
        </p:txBody>
      </p:sp>
      <p:sp>
        <p:nvSpPr>
          <p:cNvPr id="105" name="Rounded Rectangle 104"/>
          <p:cNvSpPr/>
          <p:nvPr/>
        </p:nvSpPr>
        <p:spPr>
          <a:xfrm>
            <a:off x="3560133" y="4155948"/>
            <a:ext cx="3193959" cy="39776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06" name="Rectangle 105"/>
          <p:cNvSpPr/>
          <p:nvPr/>
        </p:nvSpPr>
        <p:spPr>
          <a:xfrm>
            <a:off x="3566855" y="4155948"/>
            <a:ext cx="54864" cy="397764"/>
          </a:xfrm>
          <a:prstGeom prst="rect">
            <a:avLst/>
          </a:prstGeom>
          <a:solidFill>
            <a:srgbClr val="FF7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07" name="TextBox 106"/>
          <p:cNvSpPr txBox="1"/>
          <p:nvPr/>
        </p:nvSpPr>
        <p:spPr>
          <a:xfrm>
            <a:off x="3621234" y="4183380"/>
            <a:ext cx="960120" cy="182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585" b="1" dirty="0">
                <a:solidFill>
                  <a:srgbClr val="1F2937"/>
                </a:solidFill>
                <a:latin typeface="Aptos"/>
              </a:rPr>
              <a:t>Resource Model</a:t>
            </a:r>
            <a:endParaRPr sz="585" b="1" dirty="0">
              <a:solidFill>
                <a:srgbClr val="1F2937"/>
              </a:solidFill>
              <a:latin typeface="Aptos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6305616" y="4183380"/>
            <a:ext cx="518623" cy="26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570" b="1" dirty="0">
                <a:solidFill>
                  <a:srgbClr val="FF7235"/>
                </a:solidFill>
                <a:latin typeface="Aptos"/>
              </a:rPr>
              <a:t>13 resources</a:t>
            </a:r>
            <a:endParaRPr sz="570" b="1" dirty="0">
              <a:solidFill>
                <a:srgbClr val="FF7235"/>
              </a:solidFill>
              <a:latin typeface="Aptos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3612736" y="4327398"/>
            <a:ext cx="2868074" cy="2492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510" b="1" dirty="0">
                <a:solidFill>
                  <a:srgbClr val="4B5563"/>
                </a:solidFill>
                <a:latin typeface="Aptos"/>
              </a:rPr>
              <a:t>Domestic</a:t>
            </a:r>
            <a:r>
              <a:rPr lang="en-IN" sz="510" dirty="0">
                <a:solidFill>
                  <a:srgbClr val="4B5563"/>
                </a:solidFill>
                <a:latin typeface="Aptos"/>
              </a:rPr>
              <a:t> — 9 Resources (PM, AI Arch, Backend, FE, QA, SF, PS, CAE, Integration Dev)</a:t>
            </a:r>
            <a:br>
              <a:rPr lang="en-IN" sz="510" dirty="0">
                <a:solidFill>
                  <a:srgbClr val="4B5563"/>
                </a:solidFill>
                <a:latin typeface="Aptos"/>
              </a:rPr>
            </a:br>
            <a:r>
              <a:rPr lang="en-IN" sz="510" b="1" dirty="0">
                <a:solidFill>
                  <a:srgbClr val="4B5563"/>
                </a:solidFill>
                <a:latin typeface="Aptos"/>
              </a:rPr>
              <a:t>International </a:t>
            </a:r>
            <a:r>
              <a:rPr lang="en-IN" sz="510" dirty="0">
                <a:solidFill>
                  <a:srgbClr val="4B5563"/>
                </a:solidFill>
                <a:latin typeface="Aptos"/>
              </a:rPr>
              <a:t>— 4 Resources (1 SF, 1 Integration Developer, 1 ADP Resource)</a:t>
            </a:r>
            <a:endParaRPr sz="510" dirty="0">
              <a:solidFill>
                <a:srgbClr val="4B5563"/>
              </a:solidFill>
              <a:latin typeface="Aptos"/>
            </a:endParaRPr>
          </a:p>
        </p:txBody>
      </p:sp>
      <p:sp>
        <p:nvSpPr>
          <p:cNvPr id="110" name="Rounded Rectangle 109"/>
          <p:cNvSpPr/>
          <p:nvPr/>
        </p:nvSpPr>
        <p:spPr>
          <a:xfrm>
            <a:off x="6778614" y="4155948"/>
            <a:ext cx="2112264" cy="39776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11" name="Rectangle 110"/>
          <p:cNvSpPr/>
          <p:nvPr/>
        </p:nvSpPr>
        <p:spPr>
          <a:xfrm>
            <a:off x="6778614" y="4155948"/>
            <a:ext cx="54864" cy="397764"/>
          </a:xfrm>
          <a:prstGeom prst="rect">
            <a:avLst/>
          </a:prstGeom>
          <a:solidFill>
            <a:srgbClr val="205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12" name="TextBox 111"/>
          <p:cNvSpPr txBox="1"/>
          <p:nvPr/>
        </p:nvSpPr>
        <p:spPr>
          <a:xfrm>
            <a:off x="6881484" y="4183380"/>
            <a:ext cx="960120" cy="182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585" b="1" dirty="0">
                <a:solidFill>
                  <a:srgbClr val="1F2937"/>
                </a:solidFill>
                <a:latin typeface="Aptos"/>
              </a:rPr>
              <a:t>Capacity Bridge</a:t>
            </a:r>
            <a:endParaRPr sz="585" b="1" dirty="0">
              <a:solidFill>
                <a:srgbClr val="1F2937"/>
              </a:solidFill>
              <a:latin typeface="Aptos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8376631" y="4183380"/>
            <a:ext cx="514350" cy="3554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570" b="1" dirty="0">
                <a:solidFill>
                  <a:srgbClr val="205273"/>
                </a:solidFill>
                <a:latin typeface="Aptos"/>
              </a:rPr>
              <a:t>2060 resource-days</a:t>
            </a:r>
            <a:endParaRPr sz="570" b="1" dirty="0">
              <a:solidFill>
                <a:srgbClr val="205273"/>
              </a:solidFill>
              <a:latin typeface="Aptos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6881484" y="4327398"/>
            <a:ext cx="1495147" cy="2537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510" dirty="0">
                <a:solidFill>
                  <a:srgbClr val="4B5563"/>
                </a:solidFill>
                <a:latin typeface="Aptos"/>
              </a:rPr>
              <a:t>~98 days covered via reuse, phasing, internal SME / vendor support</a:t>
            </a:r>
            <a:endParaRPr sz="510" dirty="0">
              <a:solidFill>
                <a:srgbClr val="4B5563"/>
              </a:solidFill>
              <a:latin typeface="Aptos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43649811-A025-3871-AA89-874AC0755FD8}"/>
              </a:ext>
            </a:extLst>
          </p:cNvPr>
          <p:cNvSpPr txBox="1"/>
          <p:nvPr/>
        </p:nvSpPr>
        <p:spPr>
          <a:xfrm>
            <a:off x="637897" y="4649639"/>
            <a:ext cx="744093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50" b="1" dirty="0"/>
              <a:t>₹3 Cr covers specialized resources, design, integration, automation, testing, deployment, change management and stabilization.</a:t>
            </a:r>
            <a:endParaRPr lang="en-IN" sz="1050" b="1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40030" y="123444"/>
            <a:ext cx="8641080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1">
                <a:solidFill>
                  <a:srgbClr val="C00000"/>
                </a:solidFill>
                <a:latin typeface="Aptos Display"/>
              </a:rPr>
              <a:t>Effort Estimate Working | Domestic + International Breakdown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3746" y="397764"/>
            <a:ext cx="8503920" cy="20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5">
                <a:solidFill>
                  <a:srgbClr val="4B5563"/>
                </a:solidFill>
                <a:latin typeface="Aptos"/>
              </a:rPr>
              <a:t>Detailed build-up of the 2,178 person-day baseline across scope, effort categories and resource groups.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0030" y="651510"/>
            <a:ext cx="4286250" cy="1837944"/>
          </a:xfrm>
          <a:prstGeom prst="roundRect">
            <a:avLst/>
          </a:prstGeom>
          <a:solidFill>
            <a:srgbClr val="FAFAFA"/>
          </a:solidFill>
          <a:ln w="889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6" name="Rectangle 5"/>
          <p:cNvSpPr/>
          <p:nvPr/>
        </p:nvSpPr>
        <p:spPr>
          <a:xfrm>
            <a:off x="240030" y="651510"/>
            <a:ext cx="4286250" cy="171450"/>
          </a:xfrm>
          <a:prstGeom prst="rect">
            <a:avLst/>
          </a:prstGeom>
          <a:solidFill>
            <a:srgbClr val="2D9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7" name="TextBox 6"/>
          <p:cNvSpPr txBox="1"/>
          <p:nvPr/>
        </p:nvSpPr>
        <p:spPr>
          <a:xfrm>
            <a:off x="322326" y="651166"/>
            <a:ext cx="4114800" cy="1938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60" b="1">
                <a:solidFill>
                  <a:srgbClr val="FFFFFF"/>
                </a:solidFill>
                <a:latin typeface="Aptos"/>
              </a:rPr>
              <a:t>DOMESTIC WORKING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42900" y="891540"/>
          <a:ext cx="202311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4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58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7160">
                <a:tc>
                  <a:txBody>
                    <a:bodyPr/>
                    <a:lstStyle/>
                    <a:p>
                      <a:pPr algn="ctr"/>
                      <a:r>
                        <a:rPr sz="400" b="1">
                          <a:solidFill>
                            <a:srgbClr val="FFFFFF"/>
                          </a:solidFill>
                          <a:latin typeface="Aptos"/>
                        </a:rPr>
                        <a:t>Status</a:t>
                      </a:r>
                    </a:p>
                  </a:txBody>
                  <a:tcPr marL="17145" marR="17145" marT="6858" marB="6858">
                    <a:solidFill>
                      <a:srgbClr val="2D9E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00" b="1">
                          <a:solidFill>
                            <a:srgbClr val="FFFFFF"/>
                          </a:solidFill>
                          <a:latin typeface="Aptos"/>
                        </a:rPr>
                        <a:t>Count</a:t>
                      </a:r>
                    </a:p>
                  </a:txBody>
                  <a:tcPr marL="17145" marR="17145" marT="6858" marB="6858">
                    <a:solidFill>
                      <a:srgbClr val="2D9E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00" b="1">
                          <a:solidFill>
                            <a:srgbClr val="FFFFFF"/>
                          </a:solidFill>
                          <a:latin typeface="Aptos"/>
                        </a:rPr>
                        <a:t>Effort treatment</a:t>
                      </a:r>
                    </a:p>
                  </a:txBody>
                  <a:tcPr marL="17145" marR="17145" marT="6858" marB="6858">
                    <a:solidFill>
                      <a:srgbClr val="2D9E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pPr algn="l"/>
                      <a:r>
                        <a:rPr sz="400" b="0">
                          <a:solidFill>
                            <a:srgbClr val="1A1A1A"/>
                          </a:solidFill>
                          <a:latin typeface="Aptos"/>
                        </a:rPr>
                        <a:t>Fully automated</a:t>
                      </a:r>
                    </a:p>
                  </a:txBody>
                  <a:tcPr marL="17145" marR="17145" marT="5486" marB="548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400" b="0">
                          <a:solidFill>
                            <a:srgbClr val="1A1A1A"/>
                          </a:solidFill>
                          <a:latin typeface="Aptos"/>
                        </a:rPr>
                        <a:t>68</a:t>
                      </a:r>
                    </a:p>
                  </a:txBody>
                  <a:tcPr marL="17145" marR="17145" marT="5486" marB="548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00" b="0">
                          <a:solidFill>
                            <a:srgbClr val="1A1A1A"/>
                          </a:solidFill>
                          <a:latin typeface="Aptos"/>
                        </a:rPr>
                        <a:t>Validate / align</a:t>
                      </a:r>
                    </a:p>
                  </a:txBody>
                  <a:tcPr marL="17145" marR="17145" marT="5486" marB="548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pPr algn="l"/>
                      <a:r>
                        <a:rPr sz="400" b="0">
                          <a:solidFill>
                            <a:srgbClr val="1A1A1A"/>
                          </a:solidFill>
                          <a:latin typeface="Aptos"/>
                        </a:rPr>
                        <a:t>Manual</a:t>
                      </a:r>
                    </a:p>
                  </a:txBody>
                  <a:tcPr marL="17145" marR="17145" marT="5486" marB="5486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400" b="0">
                          <a:solidFill>
                            <a:srgbClr val="1A1A1A"/>
                          </a:solidFill>
                          <a:latin typeface="Aptos"/>
                        </a:rPr>
                        <a:t>104</a:t>
                      </a:r>
                    </a:p>
                  </a:txBody>
                  <a:tcPr marL="17145" marR="17145" marT="5486" marB="5486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00" b="0">
                          <a:solidFill>
                            <a:srgbClr val="1A1A1A"/>
                          </a:solidFill>
                          <a:latin typeface="Aptos"/>
                        </a:rPr>
                        <a:t>Primary automation</a:t>
                      </a:r>
                    </a:p>
                  </a:txBody>
                  <a:tcPr marL="17145" marR="17145" marT="5486" marB="5486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pPr algn="l"/>
                      <a:r>
                        <a:rPr sz="400" b="0">
                          <a:solidFill>
                            <a:srgbClr val="1A1A1A"/>
                          </a:solidFill>
                          <a:latin typeface="Aptos"/>
                        </a:rPr>
                        <a:t>Semi-auto</a:t>
                      </a:r>
                    </a:p>
                  </a:txBody>
                  <a:tcPr marL="17145" marR="17145" marT="5486" marB="548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400" b="0">
                          <a:solidFill>
                            <a:srgbClr val="1A1A1A"/>
                          </a:solidFill>
                          <a:latin typeface="Aptos"/>
                        </a:rPr>
                        <a:t>12</a:t>
                      </a:r>
                    </a:p>
                  </a:txBody>
                  <a:tcPr marL="17145" marR="17145" marT="5486" marB="548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00" b="0">
                          <a:solidFill>
                            <a:srgbClr val="1A1A1A"/>
                          </a:solidFill>
                          <a:latin typeface="Aptos"/>
                        </a:rPr>
                        <a:t>Upgrade to full automation</a:t>
                      </a:r>
                    </a:p>
                  </a:txBody>
                  <a:tcPr marL="17145" marR="17145" marT="5486" marB="548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pPr algn="l"/>
                      <a:r>
                        <a:rPr sz="400" b="1">
                          <a:solidFill>
                            <a:srgbClr val="1A1A1A"/>
                          </a:solidFill>
                          <a:latin typeface="Aptos"/>
                        </a:rPr>
                        <a:t>Total domestic</a:t>
                      </a:r>
                    </a:p>
                  </a:txBody>
                  <a:tcPr marL="17145" marR="17145" marT="5486" marB="5486">
                    <a:solidFill>
                      <a:srgbClr val="EDF7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400" b="1">
                          <a:solidFill>
                            <a:srgbClr val="1A1A1A"/>
                          </a:solidFill>
                          <a:latin typeface="Aptos"/>
                        </a:rPr>
                        <a:t>184</a:t>
                      </a:r>
                    </a:p>
                  </a:txBody>
                  <a:tcPr marL="17145" marR="17145" marT="5486" marB="5486">
                    <a:solidFill>
                      <a:srgbClr val="EDF7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00" b="1">
                          <a:solidFill>
                            <a:srgbClr val="1A1A1A"/>
                          </a:solidFill>
                          <a:latin typeface="Aptos"/>
                        </a:rPr>
                        <a:t>Full domestic scope</a:t>
                      </a:r>
                    </a:p>
                  </a:txBody>
                  <a:tcPr marL="17145" marR="17145" marT="5486" marB="5486">
                    <a:solidFill>
                      <a:srgbClr val="EDF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pPr algn="l"/>
                      <a:r>
                        <a:rPr sz="400" b="1">
                          <a:solidFill>
                            <a:srgbClr val="1A1A1A"/>
                          </a:solidFill>
                          <a:latin typeface="Aptos"/>
                        </a:rPr>
                        <a:t>Requiring uplift</a:t>
                      </a:r>
                    </a:p>
                  </a:txBody>
                  <a:tcPr marL="17145" marR="17145" marT="5486" marB="5486">
                    <a:solidFill>
                      <a:srgbClr val="EDF7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400" b="1">
                          <a:solidFill>
                            <a:srgbClr val="1A1A1A"/>
                          </a:solidFill>
                          <a:latin typeface="Aptos"/>
                        </a:rPr>
                        <a:t>116</a:t>
                      </a:r>
                    </a:p>
                  </a:txBody>
                  <a:tcPr marL="17145" marR="17145" marT="5486" marB="5486">
                    <a:solidFill>
                      <a:srgbClr val="EDF7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00" b="1">
                          <a:solidFill>
                            <a:srgbClr val="1A1A1A"/>
                          </a:solidFill>
                          <a:latin typeface="Aptos"/>
                        </a:rPr>
                        <a:t>104 manual + 12 semi-auto</a:t>
                      </a:r>
                    </a:p>
                  </a:txBody>
                  <a:tcPr marL="17145" marR="17145" marT="5486" marB="5486">
                    <a:solidFill>
                      <a:srgbClr val="EDF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434590" y="891541"/>
          <a:ext cx="1988820" cy="14058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29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86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63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9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0841">
                <a:tc>
                  <a:txBody>
                    <a:bodyPr/>
                    <a:lstStyle/>
                    <a:p>
                      <a:pPr algn="ctr"/>
                      <a:r>
                        <a:rPr sz="400" b="1">
                          <a:solidFill>
                            <a:srgbClr val="FFFFFF"/>
                          </a:solidFill>
                          <a:latin typeface="Aptos"/>
                        </a:rPr>
                        <a:t>Effort category</a:t>
                      </a:r>
                    </a:p>
                  </a:txBody>
                  <a:tcPr marL="17145" marR="17145" marT="6858" marB="6858">
                    <a:solidFill>
                      <a:srgbClr val="2D9E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00" b="1">
                          <a:solidFill>
                            <a:srgbClr val="FFFFFF"/>
                          </a:solidFill>
                          <a:latin typeface="Aptos"/>
                        </a:rPr>
                        <a:t>Days</a:t>
                      </a:r>
                    </a:p>
                  </a:txBody>
                  <a:tcPr marL="17145" marR="17145" marT="6858" marB="6858">
                    <a:solidFill>
                      <a:srgbClr val="2D9E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00" b="1">
                          <a:solidFill>
                            <a:srgbClr val="FFFFFF"/>
                          </a:solidFill>
                          <a:latin typeface="Aptos"/>
                        </a:rPr>
                        <a:t>%</a:t>
                      </a:r>
                    </a:p>
                  </a:txBody>
                  <a:tcPr marL="17145" marR="17145" marT="6858" marB="6858">
                    <a:solidFill>
                      <a:srgbClr val="2D9E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00" b="1">
                          <a:solidFill>
                            <a:srgbClr val="FFFFFF"/>
                          </a:solidFill>
                          <a:latin typeface="Aptos"/>
                        </a:rPr>
                        <a:t>Reasoning / work included</a:t>
                      </a:r>
                    </a:p>
                  </a:txBody>
                  <a:tcPr marL="17145" marR="17145" marT="6858" marB="6858">
                    <a:solidFill>
                      <a:srgbClr val="2D9E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841">
                <a:tc>
                  <a:txBody>
                    <a:bodyPr/>
                    <a:lstStyle/>
                    <a:p>
                      <a:pPr algn="l"/>
                      <a:r>
                        <a:rPr sz="400" b="0">
                          <a:solidFill>
                            <a:srgbClr val="1A1A1A"/>
                          </a:solidFill>
                          <a:latin typeface="Aptos"/>
                        </a:rPr>
                        <a:t>Integration</a:t>
                      </a:r>
                    </a:p>
                  </a:txBody>
                  <a:tcPr marL="17145" marR="17145" marT="5486" marB="548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400" b="0">
                          <a:solidFill>
                            <a:srgbClr val="1A1A1A"/>
                          </a:solidFill>
                          <a:latin typeface="Aptos"/>
                        </a:rPr>
                        <a:t>522</a:t>
                      </a:r>
                    </a:p>
                  </a:txBody>
                  <a:tcPr marL="17145" marR="17145" marT="5486" marB="548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400" b="0">
                          <a:solidFill>
                            <a:srgbClr val="1A1A1A"/>
                          </a:solidFill>
                          <a:latin typeface="Aptos"/>
                        </a:rPr>
                        <a:t>35%</a:t>
                      </a:r>
                    </a:p>
                  </a:txBody>
                  <a:tcPr marL="17145" marR="17145" marT="5486" marB="548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00" b="0">
                          <a:solidFill>
                            <a:srgbClr val="1A1A1A"/>
                          </a:solidFill>
                          <a:latin typeface="Aptos"/>
                        </a:rPr>
                        <a:t>SF–PS, SAP EIP, feeds, APIs</a:t>
                      </a:r>
                    </a:p>
                  </a:txBody>
                  <a:tcPr marL="17145" marR="17145" marT="5486" marB="548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0841">
                <a:tc>
                  <a:txBody>
                    <a:bodyPr/>
                    <a:lstStyle/>
                    <a:p>
                      <a:pPr algn="l"/>
                      <a:r>
                        <a:rPr sz="400" b="0">
                          <a:solidFill>
                            <a:srgbClr val="1A1A1A"/>
                          </a:solidFill>
                          <a:latin typeface="Aptos"/>
                        </a:rPr>
                        <a:t>Automation</a:t>
                      </a:r>
                    </a:p>
                  </a:txBody>
                  <a:tcPr marL="17145" marR="17145" marT="5486" marB="5486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400" b="0">
                          <a:solidFill>
                            <a:srgbClr val="1A1A1A"/>
                          </a:solidFill>
                          <a:latin typeface="Aptos"/>
                        </a:rPr>
                        <a:t>396</a:t>
                      </a:r>
                    </a:p>
                  </a:txBody>
                  <a:tcPr marL="17145" marR="17145" marT="5486" marB="5486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400" b="0">
                          <a:solidFill>
                            <a:srgbClr val="1A1A1A"/>
                          </a:solidFill>
                          <a:latin typeface="Aptos"/>
                        </a:rPr>
                        <a:t>27%</a:t>
                      </a:r>
                    </a:p>
                  </a:txBody>
                  <a:tcPr marL="17145" marR="17145" marT="5486" marB="5486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00" b="0">
                          <a:solidFill>
                            <a:srgbClr val="1A1A1A"/>
                          </a:solidFill>
                          <a:latin typeface="Aptos"/>
                        </a:rPr>
                        <a:t>Manual/semi-auto payheads, rules</a:t>
                      </a:r>
                    </a:p>
                  </a:txBody>
                  <a:tcPr marL="17145" marR="17145" marT="5486" marB="5486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0841">
                <a:tc>
                  <a:txBody>
                    <a:bodyPr/>
                    <a:lstStyle/>
                    <a:p>
                      <a:pPr algn="l"/>
                      <a:r>
                        <a:rPr sz="400" b="0">
                          <a:solidFill>
                            <a:srgbClr val="1A1A1A"/>
                          </a:solidFill>
                          <a:latin typeface="Aptos"/>
                        </a:rPr>
                        <a:t>PS</a:t>
                      </a:r>
                    </a:p>
                  </a:txBody>
                  <a:tcPr marL="17145" marR="17145" marT="5486" marB="548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400" b="0">
                          <a:solidFill>
                            <a:srgbClr val="1A1A1A"/>
                          </a:solidFill>
                          <a:latin typeface="Aptos"/>
                        </a:rPr>
                        <a:t>197</a:t>
                      </a:r>
                    </a:p>
                  </a:txBody>
                  <a:tcPr marL="17145" marR="17145" marT="5486" marB="548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400" b="0">
                          <a:solidFill>
                            <a:srgbClr val="1A1A1A"/>
                          </a:solidFill>
                          <a:latin typeface="Aptos"/>
                        </a:rPr>
                        <a:t>13%</a:t>
                      </a:r>
                    </a:p>
                  </a:txBody>
                  <a:tcPr marL="17145" marR="17145" marT="5486" marB="548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00" b="0">
                          <a:solidFill>
                            <a:srgbClr val="1A1A1A"/>
                          </a:solidFill>
                          <a:latin typeface="Aptos"/>
                        </a:rPr>
                        <a:t>Payroll engine config, validation</a:t>
                      </a:r>
                    </a:p>
                  </a:txBody>
                  <a:tcPr marL="17145" marR="17145" marT="5486" marB="548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0841">
                <a:tc>
                  <a:txBody>
                    <a:bodyPr/>
                    <a:lstStyle/>
                    <a:p>
                      <a:pPr algn="l"/>
                      <a:r>
                        <a:rPr sz="400" b="0">
                          <a:solidFill>
                            <a:srgbClr val="1A1A1A"/>
                          </a:solidFill>
                          <a:latin typeface="Aptos"/>
                        </a:rPr>
                        <a:t>SF</a:t>
                      </a:r>
                    </a:p>
                  </a:txBody>
                  <a:tcPr marL="17145" marR="17145" marT="5486" marB="5486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400" b="0">
                          <a:solidFill>
                            <a:srgbClr val="1A1A1A"/>
                          </a:solidFill>
                          <a:latin typeface="Aptos"/>
                        </a:rPr>
                        <a:t>192</a:t>
                      </a:r>
                    </a:p>
                  </a:txBody>
                  <a:tcPr marL="17145" marR="17145" marT="5486" marB="5486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400" b="0">
                          <a:solidFill>
                            <a:srgbClr val="1A1A1A"/>
                          </a:solidFill>
                          <a:latin typeface="Aptos"/>
                        </a:rPr>
                        <a:t>13%</a:t>
                      </a:r>
                    </a:p>
                  </a:txBody>
                  <a:tcPr marL="17145" marR="17145" marT="5486" marB="5486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00" b="0">
                          <a:solidFill>
                            <a:srgbClr val="1A1A1A"/>
                          </a:solidFill>
                          <a:latin typeface="Aptos"/>
                        </a:rPr>
                        <a:t>Events, master data, comp config</a:t>
                      </a:r>
                    </a:p>
                  </a:txBody>
                  <a:tcPr marL="17145" marR="17145" marT="5486" marB="5486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0841">
                <a:tc>
                  <a:txBody>
                    <a:bodyPr/>
                    <a:lstStyle/>
                    <a:p>
                      <a:pPr algn="l"/>
                      <a:r>
                        <a:rPr sz="400" b="0">
                          <a:solidFill>
                            <a:srgbClr val="1A1A1A"/>
                          </a:solidFill>
                          <a:latin typeface="Aptos"/>
                        </a:rPr>
                        <a:t>Other Systems</a:t>
                      </a:r>
                    </a:p>
                  </a:txBody>
                  <a:tcPr marL="17145" marR="17145" marT="5486" marB="548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400" b="0">
                          <a:solidFill>
                            <a:srgbClr val="1A1A1A"/>
                          </a:solidFill>
                          <a:latin typeface="Aptos"/>
                        </a:rPr>
                        <a:t>171</a:t>
                      </a:r>
                    </a:p>
                  </a:txBody>
                  <a:tcPr marL="17145" marR="17145" marT="5486" marB="548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400" b="0">
                          <a:solidFill>
                            <a:srgbClr val="1A1A1A"/>
                          </a:solidFill>
                          <a:latin typeface="Aptos"/>
                        </a:rPr>
                        <a:t>12%</a:t>
                      </a:r>
                    </a:p>
                  </a:txBody>
                  <a:tcPr marL="17145" marR="17145" marT="5486" marB="548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00" b="0">
                          <a:solidFill>
                            <a:srgbClr val="1A1A1A"/>
                          </a:solidFill>
                          <a:latin typeface="Aptos"/>
                        </a:rPr>
                        <a:t>Deductions, vendors, finance/local</a:t>
                      </a:r>
                    </a:p>
                  </a:txBody>
                  <a:tcPr marL="17145" marR="17145" marT="5486" marB="548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0843">
                <a:tc>
                  <a:txBody>
                    <a:bodyPr/>
                    <a:lstStyle/>
                    <a:p>
                      <a:pPr algn="l"/>
                      <a:r>
                        <a:rPr sz="400" b="1" dirty="0">
                          <a:solidFill>
                            <a:srgbClr val="1A1A1A"/>
                          </a:solidFill>
                          <a:latin typeface="Aptos"/>
                        </a:rPr>
                        <a:t>Total Domestic</a:t>
                      </a:r>
                    </a:p>
                  </a:txBody>
                  <a:tcPr marL="17145" marR="17145" marT="5486" marB="5486">
                    <a:solidFill>
                      <a:srgbClr val="EDF7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400" b="1">
                          <a:solidFill>
                            <a:srgbClr val="1A1A1A"/>
                          </a:solidFill>
                          <a:latin typeface="Aptos"/>
                        </a:rPr>
                        <a:t>1,478</a:t>
                      </a:r>
                    </a:p>
                  </a:txBody>
                  <a:tcPr marL="17145" marR="17145" marT="5486" marB="5486">
                    <a:solidFill>
                      <a:srgbClr val="EDF7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400" b="1">
                          <a:solidFill>
                            <a:srgbClr val="1A1A1A"/>
                          </a:solidFill>
                          <a:latin typeface="Aptos"/>
                        </a:rPr>
                        <a:t>100%</a:t>
                      </a:r>
                    </a:p>
                  </a:txBody>
                  <a:tcPr marL="17145" marR="17145" marT="5486" marB="5486">
                    <a:solidFill>
                      <a:srgbClr val="EDF7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00" b="1" dirty="0">
                          <a:solidFill>
                            <a:srgbClr val="1A1A1A"/>
                          </a:solidFill>
                          <a:latin typeface="Aptos"/>
                        </a:rPr>
                        <a:t>Transformation across 184 </a:t>
                      </a:r>
                      <a:r>
                        <a:rPr sz="400" b="1" dirty="0" err="1">
                          <a:solidFill>
                            <a:srgbClr val="1A1A1A"/>
                          </a:solidFill>
                          <a:latin typeface="Aptos"/>
                        </a:rPr>
                        <a:t>payheads</a:t>
                      </a:r>
                      <a:endParaRPr sz="400" b="1" dirty="0">
                        <a:solidFill>
                          <a:srgbClr val="1A1A1A"/>
                        </a:solidFill>
                        <a:latin typeface="Aptos"/>
                      </a:endParaRPr>
                    </a:p>
                  </a:txBody>
                  <a:tcPr marL="17145" marR="17145" marT="5486" marB="5486">
                    <a:solidFill>
                      <a:srgbClr val="EDF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77190" y="2294013"/>
            <a:ext cx="3943350" cy="1697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3" b="1" dirty="0">
                <a:solidFill>
                  <a:srgbClr val="4B5563"/>
                </a:solidFill>
                <a:latin typeface="Aptos"/>
              </a:rPr>
              <a:t>Interpretation: 116 </a:t>
            </a:r>
            <a:r>
              <a:rPr sz="503" b="1" dirty="0" err="1">
                <a:solidFill>
                  <a:srgbClr val="4B5563"/>
                </a:solidFill>
                <a:latin typeface="Aptos"/>
              </a:rPr>
              <a:t>payheads</a:t>
            </a:r>
            <a:r>
              <a:rPr sz="503" b="1" dirty="0">
                <a:solidFill>
                  <a:srgbClr val="4B5563"/>
                </a:solidFill>
                <a:latin typeface="Aptos"/>
              </a:rPr>
              <a:t> drive build/uplift; Integration + Automation = 918 days / 62% of domestic effort.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97730" y="651510"/>
            <a:ext cx="4286250" cy="1837944"/>
          </a:xfrm>
          <a:prstGeom prst="roundRect">
            <a:avLst/>
          </a:prstGeom>
          <a:solidFill>
            <a:srgbClr val="FAFAFA"/>
          </a:solidFill>
          <a:ln w="889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2" name="Rectangle 11"/>
          <p:cNvSpPr/>
          <p:nvPr/>
        </p:nvSpPr>
        <p:spPr>
          <a:xfrm>
            <a:off x="4697730" y="651510"/>
            <a:ext cx="4286250" cy="171450"/>
          </a:xfrm>
          <a:prstGeom prst="rect">
            <a:avLst/>
          </a:prstGeom>
          <a:solidFill>
            <a:srgbClr val="FF7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3" name="TextBox 12"/>
          <p:cNvSpPr txBox="1"/>
          <p:nvPr/>
        </p:nvSpPr>
        <p:spPr>
          <a:xfrm>
            <a:off x="4780026" y="651166"/>
            <a:ext cx="4114800" cy="1938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60" b="1">
                <a:solidFill>
                  <a:srgbClr val="FFFFFF"/>
                </a:solidFill>
                <a:latin typeface="Aptos"/>
              </a:rPr>
              <a:t>INTERNATIONAL WORKING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800600" y="891540"/>
          <a:ext cx="202311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86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7160">
                <a:tc>
                  <a:txBody>
                    <a:bodyPr/>
                    <a:lstStyle/>
                    <a:p>
                      <a:pPr algn="ctr"/>
                      <a:r>
                        <a:rPr sz="400" b="1">
                          <a:solidFill>
                            <a:srgbClr val="FFFFFF"/>
                          </a:solidFill>
                          <a:latin typeface="Aptos"/>
                        </a:rPr>
                        <a:t>Scope item</a:t>
                      </a:r>
                    </a:p>
                  </a:txBody>
                  <a:tcPr marL="17145" marR="17145" marT="6858" marB="6858">
                    <a:solidFill>
                      <a:srgbClr val="FF72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00" b="1">
                          <a:solidFill>
                            <a:srgbClr val="FFFFFF"/>
                          </a:solidFill>
                          <a:latin typeface="Aptos"/>
                        </a:rPr>
                        <a:t>Count</a:t>
                      </a:r>
                    </a:p>
                  </a:txBody>
                  <a:tcPr marL="17145" marR="17145" marT="6858" marB="6858">
                    <a:solidFill>
                      <a:srgbClr val="FF72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00" b="1">
                          <a:solidFill>
                            <a:srgbClr val="FFFFFF"/>
                          </a:solidFill>
                          <a:latin typeface="Aptos"/>
                        </a:rPr>
                        <a:t>Effort treatment</a:t>
                      </a:r>
                    </a:p>
                  </a:txBody>
                  <a:tcPr marL="17145" marR="17145" marT="6858" marB="6858">
                    <a:solidFill>
                      <a:srgbClr val="FF72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pPr algn="l"/>
                      <a:r>
                        <a:rPr sz="400" b="0">
                          <a:solidFill>
                            <a:srgbClr val="1A1A1A"/>
                          </a:solidFill>
                          <a:latin typeface="Aptos"/>
                        </a:rPr>
                        <a:t>Countries</a:t>
                      </a:r>
                    </a:p>
                  </a:txBody>
                  <a:tcPr marL="17145" marR="17145" marT="5486" marB="548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400" b="0">
                          <a:solidFill>
                            <a:srgbClr val="1A1A1A"/>
                          </a:solidFill>
                          <a:latin typeface="Aptos"/>
                        </a:rPr>
                        <a:t>35</a:t>
                      </a:r>
                    </a:p>
                  </a:txBody>
                  <a:tcPr marL="17145" marR="17145" marT="5486" marB="548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00" b="0">
                          <a:solidFill>
                            <a:srgbClr val="1A1A1A"/>
                          </a:solidFill>
                          <a:latin typeface="Aptos"/>
                        </a:rPr>
                        <a:t>Country-wise requirements</a:t>
                      </a:r>
                    </a:p>
                  </a:txBody>
                  <a:tcPr marL="17145" marR="17145" marT="5486" marB="548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pPr algn="l"/>
                      <a:r>
                        <a:rPr sz="400" b="0">
                          <a:solidFill>
                            <a:srgbClr val="1A1A1A"/>
                          </a:solidFill>
                          <a:latin typeface="Aptos"/>
                        </a:rPr>
                        <a:t>Unique components</a:t>
                      </a:r>
                    </a:p>
                  </a:txBody>
                  <a:tcPr marL="17145" marR="17145" marT="5486" marB="5486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400" b="0">
                          <a:solidFill>
                            <a:srgbClr val="1A1A1A"/>
                          </a:solidFill>
                          <a:latin typeface="Aptos"/>
                        </a:rPr>
                        <a:t>302</a:t>
                      </a:r>
                    </a:p>
                  </a:txBody>
                  <a:tcPr marL="17145" marR="17145" marT="5486" marB="5486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00" b="0">
                          <a:solidFill>
                            <a:srgbClr val="1A1A1A"/>
                          </a:solidFill>
                          <a:latin typeface="Aptos"/>
                        </a:rPr>
                        <a:t>Global component mapping</a:t>
                      </a:r>
                    </a:p>
                  </a:txBody>
                  <a:tcPr marL="17145" marR="17145" marT="5486" marB="5486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pPr algn="l"/>
                      <a:r>
                        <a:rPr sz="400" b="0">
                          <a:solidFill>
                            <a:srgbClr val="1A1A1A"/>
                          </a:solidFill>
                          <a:latin typeface="Aptos"/>
                        </a:rPr>
                        <a:t>Component instances</a:t>
                      </a:r>
                    </a:p>
                  </a:txBody>
                  <a:tcPr marL="17145" marR="17145" marT="5486" marB="548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400" b="0">
                          <a:solidFill>
                            <a:srgbClr val="1A1A1A"/>
                          </a:solidFill>
                          <a:latin typeface="Aptos"/>
                        </a:rPr>
                        <a:t>611</a:t>
                      </a:r>
                    </a:p>
                  </a:txBody>
                  <a:tcPr marL="17145" marR="17145" marT="5486" marB="548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00" b="0">
                          <a:solidFill>
                            <a:srgbClr val="1A1A1A"/>
                          </a:solidFill>
                          <a:latin typeface="Aptos"/>
                        </a:rPr>
                        <a:t>Country config + testing</a:t>
                      </a:r>
                    </a:p>
                  </a:txBody>
                  <a:tcPr marL="17145" marR="17145" marT="5486" marB="548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pPr algn="l"/>
                      <a:r>
                        <a:rPr sz="400" b="0">
                          <a:solidFill>
                            <a:srgbClr val="1A1A1A"/>
                          </a:solidFill>
                          <a:latin typeface="Aptos"/>
                        </a:rPr>
                        <a:t>Processing models</a:t>
                      </a:r>
                    </a:p>
                  </a:txBody>
                  <a:tcPr marL="17145" marR="17145" marT="5486" marB="5486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00" b="0">
                          <a:solidFill>
                            <a:srgbClr val="1A1A1A"/>
                          </a:solidFill>
                          <a:latin typeface="Aptos"/>
                        </a:rPr>
                        <a:t>Multiple</a:t>
                      </a:r>
                    </a:p>
                  </a:txBody>
                  <a:tcPr marL="17145" marR="17145" marT="5486" marB="5486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00" b="0">
                          <a:solidFill>
                            <a:srgbClr val="1A1A1A"/>
                          </a:solidFill>
                          <a:latin typeface="Aptos"/>
                        </a:rPr>
                        <a:t>Vendor/GSA/local variation</a:t>
                      </a:r>
                    </a:p>
                  </a:txBody>
                  <a:tcPr marL="17145" marR="17145" marT="5486" marB="5486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pPr algn="l"/>
                      <a:r>
                        <a:rPr sz="400" b="0">
                          <a:solidFill>
                            <a:srgbClr val="1A1A1A"/>
                          </a:solidFill>
                          <a:latin typeface="Aptos"/>
                        </a:rPr>
                        <a:t>Payment modes</a:t>
                      </a:r>
                    </a:p>
                  </a:txBody>
                  <a:tcPr marL="17145" marR="17145" marT="5486" marB="548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00" b="0">
                          <a:solidFill>
                            <a:srgbClr val="1A1A1A"/>
                          </a:solidFill>
                          <a:latin typeface="Aptos"/>
                        </a:rPr>
                        <a:t>Multiple</a:t>
                      </a:r>
                    </a:p>
                  </a:txBody>
                  <a:tcPr marL="17145" marR="17145" marT="5486" marB="548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00" b="0">
                          <a:solidFill>
                            <a:srgbClr val="1A1A1A"/>
                          </a:solidFill>
                          <a:latin typeface="Aptos"/>
                        </a:rPr>
                        <a:t>ADP, H2H, local, GSA</a:t>
                      </a:r>
                    </a:p>
                  </a:txBody>
                  <a:tcPr marL="17145" marR="17145" marT="5486" marB="548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892290" y="891541"/>
          <a:ext cx="1988820" cy="14058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29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86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63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9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0841">
                <a:tc>
                  <a:txBody>
                    <a:bodyPr/>
                    <a:lstStyle/>
                    <a:p>
                      <a:pPr algn="ctr"/>
                      <a:r>
                        <a:rPr sz="400" b="1">
                          <a:solidFill>
                            <a:srgbClr val="FFFFFF"/>
                          </a:solidFill>
                          <a:latin typeface="Aptos"/>
                        </a:rPr>
                        <a:t>Effort category</a:t>
                      </a:r>
                    </a:p>
                  </a:txBody>
                  <a:tcPr marL="17145" marR="17145" marT="6858" marB="6858">
                    <a:solidFill>
                      <a:srgbClr val="FF72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00" b="1">
                          <a:solidFill>
                            <a:srgbClr val="FFFFFF"/>
                          </a:solidFill>
                          <a:latin typeface="Aptos"/>
                        </a:rPr>
                        <a:t>Days</a:t>
                      </a:r>
                    </a:p>
                  </a:txBody>
                  <a:tcPr marL="17145" marR="17145" marT="6858" marB="6858">
                    <a:solidFill>
                      <a:srgbClr val="FF72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00" b="1">
                          <a:solidFill>
                            <a:srgbClr val="FFFFFF"/>
                          </a:solidFill>
                          <a:latin typeface="Aptos"/>
                        </a:rPr>
                        <a:t>%</a:t>
                      </a:r>
                    </a:p>
                  </a:txBody>
                  <a:tcPr marL="17145" marR="17145" marT="6858" marB="6858">
                    <a:solidFill>
                      <a:srgbClr val="FF72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00" b="1">
                          <a:solidFill>
                            <a:srgbClr val="FFFFFF"/>
                          </a:solidFill>
                          <a:latin typeface="Aptos"/>
                        </a:rPr>
                        <a:t>Reasoning / work included</a:t>
                      </a:r>
                    </a:p>
                  </a:txBody>
                  <a:tcPr marL="17145" marR="17145" marT="6858" marB="6858">
                    <a:solidFill>
                      <a:srgbClr val="FF72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841">
                <a:tc>
                  <a:txBody>
                    <a:bodyPr/>
                    <a:lstStyle/>
                    <a:p>
                      <a:pPr algn="l"/>
                      <a:r>
                        <a:rPr sz="400" b="0">
                          <a:solidFill>
                            <a:srgbClr val="1A1A1A"/>
                          </a:solidFill>
                          <a:latin typeface="Aptos"/>
                        </a:rPr>
                        <a:t>Automation</a:t>
                      </a:r>
                    </a:p>
                  </a:txBody>
                  <a:tcPr marL="17145" marR="17145" marT="5486" marB="548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400" b="0">
                          <a:solidFill>
                            <a:srgbClr val="1A1A1A"/>
                          </a:solidFill>
                          <a:latin typeface="Aptos"/>
                        </a:rPr>
                        <a:t>280</a:t>
                      </a:r>
                    </a:p>
                  </a:txBody>
                  <a:tcPr marL="17145" marR="17145" marT="5486" marB="548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400" b="0">
                          <a:solidFill>
                            <a:srgbClr val="1A1A1A"/>
                          </a:solidFill>
                          <a:latin typeface="Aptos"/>
                        </a:rPr>
                        <a:t>40%</a:t>
                      </a:r>
                    </a:p>
                  </a:txBody>
                  <a:tcPr marL="17145" marR="17145" marT="5486" marB="548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00" b="0">
                          <a:solidFill>
                            <a:srgbClr val="1A1A1A"/>
                          </a:solidFill>
                          <a:latin typeface="Aptos"/>
                        </a:rPr>
                        <a:t>Country rules, tax/statutory logic</a:t>
                      </a:r>
                    </a:p>
                  </a:txBody>
                  <a:tcPr marL="17145" marR="17145" marT="5486" marB="548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0841">
                <a:tc>
                  <a:txBody>
                    <a:bodyPr/>
                    <a:lstStyle/>
                    <a:p>
                      <a:pPr algn="l"/>
                      <a:r>
                        <a:rPr sz="400" b="0">
                          <a:solidFill>
                            <a:srgbClr val="1A1A1A"/>
                          </a:solidFill>
                          <a:latin typeface="Aptos"/>
                        </a:rPr>
                        <a:t>Integration</a:t>
                      </a:r>
                    </a:p>
                  </a:txBody>
                  <a:tcPr marL="17145" marR="17145" marT="5486" marB="5486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400" b="0">
                          <a:solidFill>
                            <a:srgbClr val="1A1A1A"/>
                          </a:solidFill>
                          <a:latin typeface="Aptos"/>
                        </a:rPr>
                        <a:t>270</a:t>
                      </a:r>
                    </a:p>
                  </a:txBody>
                  <a:tcPr marL="17145" marR="17145" marT="5486" marB="5486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400" b="0">
                          <a:solidFill>
                            <a:srgbClr val="1A1A1A"/>
                          </a:solidFill>
                          <a:latin typeface="Aptos"/>
                        </a:rPr>
                        <a:t>39%</a:t>
                      </a:r>
                    </a:p>
                  </a:txBody>
                  <a:tcPr marL="17145" marR="17145" marT="5486" marB="5486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00" b="0">
                          <a:solidFill>
                            <a:srgbClr val="1A1A1A"/>
                          </a:solidFill>
                          <a:latin typeface="Aptos"/>
                        </a:rPr>
                        <a:t>Vendor APIs, SF feeds, bank interfaces</a:t>
                      </a:r>
                    </a:p>
                  </a:txBody>
                  <a:tcPr marL="17145" marR="17145" marT="5486" marB="5486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0841">
                <a:tc>
                  <a:txBody>
                    <a:bodyPr/>
                    <a:lstStyle/>
                    <a:p>
                      <a:pPr algn="l"/>
                      <a:r>
                        <a:rPr sz="400" b="0">
                          <a:solidFill>
                            <a:srgbClr val="1A1A1A"/>
                          </a:solidFill>
                          <a:latin typeface="Aptos"/>
                        </a:rPr>
                        <a:t>PS</a:t>
                      </a:r>
                    </a:p>
                  </a:txBody>
                  <a:tcPr marL="17145" marR="17145" marT="5486" marB="548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400" b="0">
                          <a:solidFill>
                            <a:srgbClr val="1A1A1A"/>
                          </a:solidFill>
                          <a:latin typeface="Aptos"/>
                        </a:rPr>
                        <a:t>60</a:t>
                      </a:r>
                    </a:p>
                  </a:txBody>
                  <a:tcPr marL="17145" marR="17145" marT="5486" marB="548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400" b="0">
                          <a:solidFill>
                            <a:srgbClr val="1A1A1A"/>
                          </a:solidFill>
                          <a:latin typeface="Aptos"/>
                        </a:rPr>
                        <a:t>9%</a:t>
                      </a:r>
                    </a:p>
                  </a:txBody>
                  <a:tcPr marL="17145" marR="17145" marT="5486" marB="548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00" b="0">
                          <a:solidFill>
                            <a:srgbClr val="1A1A1A"/>
                          </a:solidFill>
                          <a:latin typeface="Aptos"/>
                        </a:rPr>
                        <a:t>Multi-currency, validation support</a:t>
                      </a:r>
                    </a:p>
                  </a:txBody>
                  <a:tcPr marL="17145" marR="17145" marT="5486" marB="548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0841">
                <a:tc>
                  <a:txBody>
                    <a:bodyPr/>
                    <a:lstStyle/>
                    <a:p>
                      <a:pPr algn="l"/>
                      <a:r>
                        <a:rPr sz="400" b="0">
                          <a:solidFill>
                            <a:srgbClr val="1A1A1A"/>
                          </a:solidFill>
                          <a:latin typeface="Aptos"/>
                        </a:rPr>
                        <a:t>SF</a:t>
                      </a:r>
                    </a:p>
                  </a:txBody>
                  <a:tcPr marL="17145" marR="17145" marT="5486" marB="5486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400" b="0">
                          <a:solidFill>
                            <a:srgbClr val="1A1A1A"/>
                          </a:solidFill>
                          <a:latin typeface="Aptos"/>
                        </a:rPr>
                        <a:t>50</a:t>
                      </a:r>
                    </a:p>
                  </a:txBody>
                  <a:tcPr marL="17145" marR="17145" marT="5486" marB="5486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400" b="0">
                          <a:solidFill>
                            <a:srgbClr val="1A1A1A"/>
                          </a:solidFill>
                          <a:latin typeface="Aptos"/>
                        </a:rPr>
                        <a:t>7%</a:t>
                      </a:r>
                    </a:p>
                  </a:txBody>
                  <a:tcPr marL="17145" marR="17145" marT="5486" marB="5486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00" b="0">
                          <a:solidFill>
                            <a:srgbClr val="1A1A1A"/>
                          </a:solidFill>
                          <a:latin typeface="Aptos"/>
                        </a:rPr>
                        <a:t>Global mobility, country fields</a:t>
                      </a:r>
                    </a:p>
                  </a:txBody>
                  <a:tcPr marL="17145" marR="17145" marT="5486" marB="5486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0841">
                <a:tc>
                  <a:txBody>
                    <a:bodyPr/>
                    <a:lstStyle/>
                    <a:p>
                      <a:pPr algn="l"/>
                      <a:r>
                        <a:rPr sz="400" b="0">
                          <a:solidFill>
                            <a:srgbClr val="1A1A1A"/>
                          </a:solidFill>
                          <a:latin typeface="Aptos"/>
                        </a:rPr>
                        <a:t>Other Systems</a:t>
                      </a:r>
                    </a:p>
                  </a:txBody>
                  <a:tcPr marL="17145" marR="17145" marT="5486" marB="548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400" b="0">
                          <a:solidFill>
                            <a:srgbClr val="1A1A1A"/>
                          </a:solidFill>
                          <a:latin typeface="Aptos"/>
                        </a:rPr>
                        <a:t>40</a:t>
                      </a:r>
                    </a:p>
                  </a:txBody>
                  <a:tcPr marL="17145" marR="17145" marT="5486" marB="548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400" b="0">
                          <a:solidFill>
                            <a:srgbClr val="1A1A1A"/>
                          </a:solidFill>
                          <a:latin typeface="Aptos"/>
                        </a:rPr>
                        <a:t>6%</a:t>
                      </a:r>
                    </a:p>
                  </a:txBody>
                  <a:tcPr marL="17145" marR="17145" marT="5486" marB="548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00" b="0">
                          <a:solidFill>
                            <a:srgbClr val="1A1A1A"/>
                          </a:solidFill>
                          <a:latin typeface="Aptos"/>
                        </a:rPr>
                        <a:t>Vendors, tax/compliance systems</a:t>
                      </a:r>
                    </a:p>
                  </a:txBody>
                  <a:tcPr marL="17145" marR="17145" marT="5486" marB="548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0843">
                <a:tc>
                  <a:txBody>
                    <a:bodyPr/>
                    <a:lstStyle/>
                    <a:p>
                      <a:pPr algn="l"/>
                      <a:r>
                        <a:rPr sz="400" b="1">
                          <a:solidFill>
                            <a:srgbClr val="1A1A1A"/>
                          </a:solidFill>
                          <a:latin typeface="Aptos"/>
                        </a:rPr>
                        <a:t>Total Intl</a:t>
                      </a:r>
                    </a:p>
                  </a:txBody>
                  <a:tcPr marL="17145" marR="17145" marT="5486" marB="5486">
                    <a:solidFill>
                      <a:srgbClr val="EDF7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400" b="1">
                          <a:solidFill>
                            <a:srgbClr val="1A1A1A"/>
                          </a:solidFill>
                          <a:latin typeface="Aptos"/>
                        </a:rPr>
                        <a:t>700</a:t>
                      </a:r>
                    </a:p>
                  </a:txBody>
                  <a:tcPr marL="17145" marR="17145" marT="5486" marB="5486">
                    <a:solidFill>
                      <a:srgbClr val="EDF7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400" b="1">
                          <a:solidFill>
                            <a:srgbClr val="1A1A1A"/>
                          </a:solidFill>
                          <a:latin typeface="Aptos"/>
                        </a:rPr>
                        <a:t>100%</a:t>
                      </a:r>
                    </a:p>
                  </a:txBody>
                  <a:tcPr marL="17145" marR="17145" marT="5486" marB="5486">
                    <a:solidFill>
                      <a:srgbClr val="EDF7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400" b="1">
                          <a:solidFill>
                            <a:srgbClr val="1A1A1A"/>
                          </a:solidFill>
                          <a:latin typeface="Aptos"/>
                        </a:rPr>
                        <a:t>Expansion across 35 countries</a:t>
                      </a:r>
                    </a:p>
                  </a:txBody>
                  <a:tcPr marL="17145" marR="17145" marT="5486" marB="5486">
                    <a:solidFill>
                      <a:srgbClr val="EDF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4834890" y="2285438"/>
            <a:ext cx="3943350" cy="1697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3" b="1" dirty="0">
                <a:solidFill>
                  <a:srgbClr val="4B5563"/>
                </a:solidFill>
                <a:latin typeface="Aptos"/>
              </a:rPr>
              <a:t>Interpretation: 302 unique components expand to 611 instances; Automation + Integration = 550 days / 79% of international effort.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0030" y="2674620"/>
            <a:ext cx="4286250" cy="2300052"/>
          </a:xfrm>
          <a:prstGeom prst="roundRect">
            <a:avLst/>
          </a:prstGeom>
          <a:solidFill>
            <a:srgbClr val="FAFAFA"/>
          </a:solidFill>
          <a:ln w="889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8" name="Rectangle 17"/>
          <p:cNvSpPr/>
          <p:nvPr/>
        </p:nvSpPr>
        <p:spPr>
          <a:xfrm>
            <a:off x="240030" y="2674620"/>
            <a:ext cx="4286250" cy="17145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9" name="TextBox 18"/>
          <p:cNvSpPr txBox="1"/>
          <p:nvPr/>
        </p:nvSpPr>
        <p:spPr>
          <a:xfrm>
            <a:off x="329184" y="2674276"/>
            <a:ext cx="4149090" cy="1938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60" b="1">
                <a:solidFill>
                  <a:srgbClr val="FFFFFF"/>
                </a:solidFill>
                <a:latin typeface="Aptos"/>
              </a:rPr>
              <a:t>COMBINED EFFORT SUMMARY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77190" y="2948940"/>
          <a:ext cx="3051810" cy="10629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5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72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57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00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51856">
                <a:tc>
                  <a:txBody>
                    <a:bodyPr/>
                    <a:lstStyle/>
                    <a:p>
                      <a:pPr algn="ctr"/>
                      <a:r>
                        <a:rPr sz="500" b="1">
                          <a:solidFill>
                            <a:srgbClr val="FFFFFF"/>
                          </a:solidFill>
                          <a:latin typeface="Aptos"/>
                        </a:rPr>
                        <a:t>Effort category</a:t>
                      </a:r>
                    </a:p>
                  </a:txBody>
                  <a:tcPr marL="17145" marR="17145" marT="6858" marB="6858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1">
                          <a:solidFill>
                            <a:srgbClr val="FFFFFF"/>
                          </a:solidFill>
                          <a:latin typeface="Aptos"/>
                        </a:rPr>
                        <a:t>Domestic</a:t>
                      </a:r>
                    </a:p>
                  </a:txBody>
                  <a:tcPr marL="17145" marR="17145" marT="6858" marB="6858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1">
                          <a:solidFill>
                            <a:srgbClr val="FFFFFF"/>
                          </a:solidFill>
                          <a:latin typeface="Aptos"/>
                        </a:rPr>
                        <a:t>Intl</a:t>
                      </a:r>
                    </a:p>
                  </a:txBody>
                  <a:tcPr marL="17145" marR="17145" marT="6858" marB="6858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1">
                          <a:solidFill>
                            <a:srgbClr val="FFFFFF"/>
                          </a:solidFill>
                          <a:latin typeface="Aptos"/>
                        </a:rPr>
                        <a:t>Combined</a:t>
                      </a:r>
                    </a:p>
                  </a:txBody>
                  <a:tcPr marL="17145" marR="17145" marT="6858" marB="6858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0" b="1">
                          <a:solidFill>
                            <a:srgbClr val="FFFFFF"/>
                          </a:solidFill>
                          <a:latin typeface="Aptos"/>
                        </a:rPr>
                        <a:t>% Total</a:t>
                      </a:r>
                    </a:p>
                  </a:txBody>
                  <a:tcPr marL="17145" marR="17145" marT="6858" marB="6858"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1856">
                <a:tc>
                  <a:txBody>
                    <a:bodyPr/>
                    <a:lstStyle/>
                    <a:p>
                      <a:pPr algn="l"/>
                      <a:r>
                        <a:rPr sz="500" b="0">
                          <a:solidFill>
                            <a:srgbClr val="1A1A1A"/>
                          </a:solidFill>
                          <a:latin typeface="Aptos"/>
                        </a:rPr>
                        <a:t>Integration</a:t>
                      </a:r>
                    </a:p>
                  </a:txBody>
                  <a:tcPr marL="17145" marR="17145" marT="5486" marB="548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500" b="0">
                          <a:solidFill>
                            <a:srgbClr val="1A1A1A"/>
                          </a:solidFill>
                          <a:latin typeface="Aptos"/>
                        </a:rPr>
                        <a:t>522</a:t>
                      </a:r>
                    </a:p>
                  </a:txBody>
                  <a:tcPr marL="17145" marR="17145" marT="5486" marB="548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500" b="0">
                          <a:solidFill>
                            <a:srgbClr val="1A1A1A"/>
                          </a:solidFill>
                          <a:latin typeface="Aptos"/>
                        </a:rPr>
                        <a:t>270</a:t>
                      </a:r>
                    </a:p>
                  </a:txBody>
                  <a:tcPr marL="17145" marR="17145" marT="5486" marB="548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500" b="0">
                          <a:solidFill>
                            <a:srgbClr val="1A1A1A"/>
                          </a:solidFill>
                          <a:latin typeface="Aptos"/>
                        </a:rPr>
                        <a:t>792</a:t>
                      </a:r>
                    </a:p>
                  </a:txBody>
                  <a:tcPr marL="17145" marR="17145" marT="5486" marB="548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500" b="0">
                          <a:solidFill>
                            <a:srgbClr val="1A1A1A"/>
                          </a:solidFill>
                          <a:latin typeface="Aptos"/>
                        </a:rPr>
                        <a:t>36%</a:t>
                      </a:r>
                    </a:p>
                  </a:txBody>
                  <a:tcPr marL="17145" marR="17145" marT="5486" marB="548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1856">
                <a:tc>
                  <a:txBody>
                    <a:bodyPr/>
                    <a:lstStyle/>
                    <a:p>
                      <a:pPr algn="l"/>
                      <a:r>
                        <a:rPr sz="500" b="0">
                          <a:solidFill>
                            <a:srgbClr val="1A1A1A"/>
                          </a:solidFill>
                          <a:latin typeface="Aptos"/>
                        </a:rPr>
                        <a:t>Automation</a:t>
                      </a:r>
                    </a:p>
                  </a:txBody>
                  <a:tcPr marL="17145" marR="17145" marT="5486" marB="5486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500" b="0">
                          <a:solidFill>
                            <a:srgbClr val="1A1A1A"/>
                          </a:solidFill>
                          <a:latin typeface="Aptos"/>
                        </a:rPr>
                        <a:t>396</a:t>
                      </a:r>
                    </a:p>
                  </a:txBody>
                  <a:tcPr marL="17145" marR="17145" marT="5486" marB="5486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500" b="0" dirty="0">
                          <a:solidFill>
                            <a:srgbClr val="1A1A1A"/>
                          </a:solidFill>
                          <a:latin typeface="Aptos"/>
                        </a:rPr>
                        <a:t>280</a:t>
                      </a:r>
                    </a:p>
                  </a:txBody>
                  <a:tcPr marL="17145" marR="17145" marT="5486" marB="5486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500" b="0">
                          <a:solidFill>
                            <a:srgbClr val="1A1A1A"/>
                          </a:solidFill>
                          <a:latin typeface="Aptos"/>
                        </a:rPr>
                        <a:t>676</a:t>
                      </a:r>
                    </a:p>
                  </a:txBody>
                  <a:tcPr marL="17145" marR="17145" marT="5486" marB="5486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500" b="0" dirty="0">
                          <a:solidFill>
                            <a:srgbClr val="1A1A1A"/>
                          </a:solidFill>
                          <a:latin typeface="Aptos"/>
                        </a:rPr>
                        <a:t>31%</a:t>
                      </a:r>
                    </a:p>
                  </a:txBody>
                  <a:tcPr marL="17145" marR="17145" marT="5486" marB="5486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1856">
                <a:tc>
                  <a:txBody>
                    <a:bodyPr/>
                    <a:lstStyle/>
                    <a:p>
                      <a:pPr algn="l"/>
                      <a:r>
                        <a:rPr sz="500" b="0">
                          <a:solidFill>
                            <a:srgbClr val="1A1A1A"/>
                          </a:solidFill>
                          <a:latin typeface="Aptos"/>
                        </a:rPr>
                        <a:t>PS</a:t>
                      </a:r>
                    </a:p>
                  </a:txBody>
                  <a:tcPr marL="17145" marR="17145" marT="5486" marB="548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500" b="0">
                          <a:solidFill>
                            <a:srgbClr val="1A1A1A"/>
                          </a:solidFill>
                          <a:latin typeface="Aptos"/>
                        </a:rPr>
                        <a:t>197</a:t>
                      </a:r>
                    </a:p>
                  </a:txBody>
                  <a:tcPr marL="17145" marR="17145" marT="5486" marB="548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500" b="0">
                          <a:solidFill>
                            <a:srgbClr val="1A1A1A"/>
                          </a:solidFill>
                          <a:latin typeface="Aptos"/>
                        </a:rPr>
                        <a:t>60</a:t>
                      </a:r>
                    </a:p>
                  </a:txBody>
                  <a:tcPr marL="17145" marR="17145" marT="5486" marB="548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500" b="0">
                          <a:solidFill>
                            <a:srgbClr val="1A1A1A"/>
                          </a:solidFill>
                          <a:latin typeface="Aptos"/>
                        </a:rPr>
                        <a:t>257</a:t>
                      </a:r>
                    </a:p>
                  </a:txBody>
                  <a:tcPr marL="17145" marR="17145" marT="5486" marB="548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500" b="0">
                          <a:solidFill>
                            <a:srgbClr val="1A1A1A"/>
                          </a:solidFill>
                          <a:latin typeface="Aptos"/>
                        </a:rPr>
                        <a:t>12%</a:t>
                      </a:r>
                    </a:p>
                  </a:txBody>
                  <a:tcPr marL="17145" marR="17145" marT="5486" marB="548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1856">
                <a:tc>
                  <a:txBody>
                    <a:bodyPr/>
                    <a:lstStyle/>
                    <a:p>
                      <a:pPr algn="l"/>
                      <a:r>
                        <a:rPr sz="500" b="0">
                          <a:solidFill>
                            <a:srgbClr val="1A1A1A"/>
                          </a:solidFill>
                          <a:latin typeface="Aptos"/>
                        </a:rPr>
                        <a:t>SF</a:t>
                      </a:r>
                    </a:p>
                  </a:txBody>
                  <a:tcPr marL="17145" marR="17145" marT="5486" marB="5486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500" b="0">
                          <a:solidFill>
                            <a:srgbClr val="1A1A1A"/>
                          </a:solidFill>
                          <a:latin typeface="Aptos"/>
                        </a:rPr>
                        <a:t>192</a:t>
                      </a:r>
                    </a:p>
                  </a:txBody>
                  <a:tcPr marL="17145" marR="17145" marT="5486" marB="5486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500" b="0">
                          <a:solidFill>
                            <a:srgbClr val="1A1A1A"/>
                          </a:solidFill>
                          <a:latin typeface="Aptos"/>
                        </a:rPr>
                        <a:t>50</a:t>
                      </a:r>
                    </a:p>
                  </a:txBody>
                  <a:tcPr marL="17145" marR="17145" marT="5486" marB="5486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500" b="0">
                          <a:solidFill>
                            <a:srgbClr val="1A1A1A"/>
                          </a:solidFill>
                          <a:latin typeface="Aptos"/>
                        </a:rPr>
                        <a:t>242</a:t>
                      </a:r>
                    </a:p>
                  </a:txBody>
                  <a:tcPr marL="17145" marR="17145" marT="5486" marB="5486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500" b="0">
                          <a:solidFill>
                            <a:srgbClr val="1A1A1A"/>
                          </a:solidFill>
                          <a:latin typeface="Aptos"/>
                        </a:rPr>
                        <a:t>11%</a:t>
                      </a:r>
                    </a:p>
                  </a:txBody>
                  <a:tcPr marL="17145" marR="17145" marT="5486" marB="5486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1856">
                <a:tc>
                  <a:txBody>
                    <a:bodyPr/>
                    <a:lstStyle/>
                    <a:p>
                      <a:pPr algn="l"/>
                      <a:r>
                        <a:rPr sz="500" b="0">
                          <a:solidFill>
                            <a:srgbClr val="1A1A1A"/>
                          </a:solidFill>
                          <a:latin typeface="Aptos"/>
                        </a:rPr>
                        <a:t>Other Systems</a:t>
                      </a:r>
                    </a:p>
                  </a:txBody>
                  <a:tcPr marL="17145" marR="17145" marT="5486" marB="548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500" b="0">
                          <a:solidFill>
                            <a:srgbClr val="1A1A1A"/>
                          </a:solidFill>
                          <a:latin typeface="Aptos"/>
                        </a:rPr>
                        <a:t>171</a:t>
                      </a:r>
                    </a:p>
                  </a:txBody>
                  <a:tcPr marL="17145" marR="17145" marT="5486" marB="548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500" b="0">
                          <a:solidFill>
                            <a:srgbClr val="1A1A1A"/>
                          </a:solidFill>
                          <a:latin typeface="Aptos"/>
                        </a:rPr>
                        <a:t>40</a:t>
                      </a:r>
                    </a:p>
                  </a:txBody>
                  <a:tcPr marL="17145" marR="17145" marT="5486" marB="548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500" b="0">
                          <a:solidFill>
                            <a:srgbClr val="1A1A1A"/>
                          </a:solidFill>
                          <a:latin typeface="Aptos"/>
                        </a:rPr>
                        <a:t>211</a:t>
                      </a:r>
                    </a:p>
                  </a:txBody>
                  <a:tcPr marL="17145" marR="17145" marT="5486" marB="548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500" b="0">
                          <a:solidFill>
                            <a:srgbClr val="1A1A1A"/>
                          </a:solidFill>
                          <a:latin typeface="Aptos"/>
                        </a:rPr>
                        <a:t>10%</a:t>
                      </a:r>
                    </a:p>
                  </a:txBody>
                  <a:tcPr marL="17145" marR="17145" marT="5486" marB="548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1857">
                <a:tc>
                  <a:txBody>
                    <a:bodyPr/>
                    <a:lstStyle/>
                    <a:p>
                      <a:pPr algn="l"/>
                      <a:r>
                        <a:rPr sz="500" b="1">
                          <a:solidFill>
                            <a:srgbClr val="1A1A1A"/>
                          </a:solidFill>
                          <a:latin typeface="Aptos"/>
                        </a:rPr>
                        <a:t>Grand Total</a:t>
                      </a:r>
                    </a:p>
                  </a:txBody>
                  <a:tcPr marL="17145" marR="17145" marT="5486" marB="5486">
                    <a:solidFill>
                      <a:srgbClr val="EDF7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500" b="1">
                          <a:solidFill>
                            <a:srgbClr val="1A1A1A"/>
                          </a:solidFill>
                          <a:latin typeface="Aptos"/>
                        </a:rPr>
                        <a:t>1,478</a:t>
                      </a:r>
                    </a:p>
                  </a:txBody>
                  <a:tcPr marL="17145" marR="17145" marT="5486" marB="5486">
                    <a:solidFill>
                      <a:srgbClr val="EDF7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500" b="1">
                          <a:solidFill>
                            <a:srgbClr val="1A1A1A"/>
                          </a:solidFill>
                          <a:latin typeface="Aptos"/>
                        </a:rPr>
                        <a:t>700</a:t>
                      </a:r>
                    </a:p>
                  </a:txBody>
                  <a:tcPr marL="17145" marR="17145" marT="5486" marB="5486">
                    <a:solidFill>
                      <a:srgbClr val="EDF7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500" b="1">
                          <a:solidFill>
                            <a:srgbClr val="1A1A1A"/>
                          </a:solidFill>
                          <a:latin typeface="Aptos"/>
                        </a:rPr>
                        <a:t>2,178</a:t>
                      </a:r>
                    </a:p>
                  </a:txBody>
                  <a:tcPr marL="17145" marR="17145" marT="5486" marB="5486">
                    <a:solidFill>
                      <a:srgbClr val="EDF7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500" b="1" dirty="0">
                          <a:solidFill>
                            <a:srgbClr val="1A1A1A"/>
                          </a:solidFill>
                          <a:latin typeface="Aptos"/>
                        </a:rPr>
                        <a:t>100%</a:t>
                      </a:r>
                    </a:p>
                  </a:txBody>
                  <a:tcPr marL="17145" marR="17145" marT="5486" marB="5486">
                    <a:solidFill>
                      <a:srgbClr val="EDF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377190" y="4101084"/>
            <a:ext cx="4011930" cy="150876"/>
          </a:xfrm>
          <a:prstGeom prst="roundRect">
            <a:avLst/>
          </a:prstGeom>
          <a:solidFill>
            <a:srgbClr val="FCEBEB"/>
          </a:solidFill>
          <a:ln w="889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2" name="TextBox 21"/>
          <p:cNvSpPr txBox="1"/>
          <p:nvPr/>
        </p:nvSpPr>
        <p:spPr>
          <a:xfrm>
            <a:off x="360045" y="4081897"/>
            <a:ext cx="4011930" cy="173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25" b="1" dirty="0">
                <a:solidFill>
                  <a:srgbClr val="C00000"/>
                </a:solidFill>
                <a:latin typeface="Aptos"/>
              </a:rPr>
              <a:t>Critical path: Integration + Automation = 1,468 days / 67%; ₹3 Cr supports specialized build, integration, testing &amp; stabilization</a:t>
            </a:r>
            <a:endParaRPr sz="525" b="1" dirty="0">
              <a:solidFill>
                <a:srgbClr val="C00000"/>
              </a:solidFill>
              <a:latin typeface="Aptos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4697730" y="2674620"/>
            <a:ext cx="4286250" cy="2300052"/>
          </a:xfrm>
          <a:prstGeom prst="roundRect">
            <a:avLst/>
          </a:prstGeom>
          <a:solidFill>
            <a:srgbClr val="FAFAFA"/>
          </a:solidFill>
          <a:ln w="889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4" name="Rectangle 23"/>
          <p:cNvSpPr/>
          <p:nvPr/>
        </p:nvSpPr>
        <p:spPr>
          <a:xfrm>
            <a:off x="4697730" y="2674620"/>
            <a:ext cx="4286250" cy="171450"/>
          </a:xfrm>
          <a:prstGeom prst="rect">
            <a:avLst/>
          </a:prstGeom>
          <a:solidFill>
            <a:srgbClr val="205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5" name="TextBox 24"/>
          <p:cNvSpPr txBox="1"/>
          <p:nvPr/>
        </p:nvSpPr>
        <p:spPr>
          <a:xfrm>
            <a:off x="4786884" y="2674276"/>
            <a:ext cx="4149090" cy="1938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660" b="1" dirty="0">
                <a:solidFill>
                  <a:srgbClr val="FFFFFF"/>
                </a:solidFill>
                <a:latin typeface="Aptos"/>
              </a:rPr>
              <a:t>RESOURCE COUNT &amp; PERSON-DAY BUILD-UP</a:t>
            </a:r>
            <a:endParaRPr sz="660" b="1" dirty="0">
              <a:solidFill>
                <a:srgbClr val="FFFFFF"/>
              </a:solidFill>
              <a:latin typeface="Aptos"/>
            </a:endParaRPr>
          </a:p>
        </p:txBody>
      </p:sp>
      <p:graphicFrame>
        <p:nvGraphicFramePr>
          <p:cNvPr id="26" name="Table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1300032"/>
              </p:ext>
            </p:extLst>
          </p:nvPr>
        </p:nvGraphicFramePr>
        <p:xfrm>
          <a:off x="4738878" y="2860173"/>
          <a:ext cx="4197095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8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95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3005">
                  <a:extLst>
                    <a:ext uri="{9D8B030D-6E8A-4147-A177-3AD203B41FA5}">
                      <a16:colId xmlns:a16="http://schemas.microsoft.com/office/drawing/2014/main" val="871084836"/>
                    </a:ext>
                  </a:extLst>
                </a:gridCol>
                <a:gridCol w="1956333">
                  <a:extLst>
                    <a:ext uri="{9D8B030D-6E8A-4147-A177-3AD203B41FA5}">
                      <a16:colId xmlns:a16="http://schemas.microsoft.com/office/drawing/2014/main" val="3983715957"/>
                    </a:ext>
                  </a:extLst>
                </a:gridCol>
              </a:tblGrid>
              <a:tr h="122649">
                <a:tc>
                  <a:txBody>
                    <a:bodyPr/>
                    <a:lstStyle/>
                    <a:p>
                      <a:r>
                        <a:rPr lang="en-IN" sz="300" dirty="0">
                          <a:effectLst/>
                          <a:latin typeface="Aptos" panose="020B0004020202020204" pitchFamily="34" charset="0"/>
                        </a:rPr>
                        <a:t>Stream</a:t>
                      </a:r>
                    </a:p>
                  </a:txBody>
                  <a:tcPr anchor="ctr">
                    <a:solidFill>
                      <a:srgbClr val="205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00" dirty="0">
                          <a:effectLst/>
                          <a:latin typeface="Aptos" panose="020B0004020202020204" pitchFamily="34" charset="0"/>
                        </a:rPr>
                        <a:t>Resource Type</a:t>
                      </a:r>
                    </a:p>
                  </a:txBody>
                  <a:tcPr anchor="ctr">
                    <a:solidFill>
                      <a:srgbClr val="205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00" dirty="0">
                          <a:effectLst/>
                          <a:latin typeface="Aptos" panose="020B0004020202020204" pitchFamily="34" charset="0"/>
                        </a:rPr>
                        <a:t>Count</a:t>
                      </a:r>
                    </a:p>
                  </a:txBody>
                  <a:tcPr anchor="ctr">
                    <a:solidFill>
                      <a:srgbClr val="205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00" dirty="0">
                          <a:effectLst/>
                          <a:latin typeface="Aptos" panose="020B0004020202020204" pitchFamily="34" charset="0"/>
                        </a:rPr>
                        <a:t>Person-Days</a:t>
                      </a:r>
                    </a:p>
                  </a:txBody>
                  <a:tcPr anchor="ctr">
                    <a:solidFill>
                      <a:srgbClr val="205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00" dirty="0">
                          <a:effectLst/>
                          <a:latin typeface="Aptos" panose="020B0004020202020204" pitchFamily="34" charset="0"/>
                        </a:rPr>
                        <a:t>Why Required</a:t>
                      </a:r>
                    </a:p>
                  </a:txBody>
                  <a:tcPr anchor="ctr">
                    <a:solidFill>
                      <a:srgbClr val="205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2649">
                <a:tc>
                  <a:txBody>
                    <a:bodyPr/>
                    <a:lstStyle/>
                    <a:p>
                      <a:r>
                        <a:rPr lang="en-IN" sz="300" dirty="0">
                          <a:effectLst/>
                          <a:latin typeface="Aptos" panose="020B0004020202020204" pitchFamily="34" charset="0"/>
                        </a:rPr>
                        <a:t>Domestic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00" dirty="0">
                          <a:effectLst/>
                          <a:latin typeface="Aptos" panose="020B0004020202020204" pitchFamily="34" charset="0"/>
                        </a:rPr>
                        <a:t>PM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00" b="0" dirty="0">
                          <a:effectLst/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00">
                          <a:effectLst/>
                          <a:latin typeface="Aptos" panose="020B0004020202020204" pitchFamily="34" charset="0"/>
                        </a:rPr>
                        <a:t>160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00" dirty="0">
                          <a:effectLst/>
                          <a:latin typeface="Aptos" panose="020B0004020202020204" pitchFamily="34" charset="0"/>
                        </a:rPr>
                        <a:t>Program governance, plan, risks, dependencies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2649">
                <a:tc>
                  <a:txBody>
                    <a:bodyPr/>
                    <a:lstStyle/>
                    <a:p>
                      <a:r>
                        <a:rPr lang="en-IN" sz="300">
                          <a:effectLst/>
                          <a:latin typeface="Aptos" panose="020B0004020202020204" pitchFamily="34" charset="0"/>
                        </a:rPr>
                        <a:t>Domestic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00" dirty="0">
                          <a:effectLst/>
                          <a:latin typeface="Aptos" panose="020B0004020202020204" pitchFamily="34" charset="0"/>
                        </a:rPr>
                        <a:t>AI Architect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00" b="0" dirty="0">
                          <a:effectLst/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00">
                          <a:effectLst/>
                          <a:latin typeface="Aptos" panose="020B0004020202020204" pitchFamily="34" charset="0"/>
                        </a:rPr>
                        <a:t>160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00">
                          <a:effectLst/>
                          <a:latin typeface="Aptos" panose="020B0004020202020204" pitchFamily="34" charset="0"/>
                        </a:rPr>
                        <a:t>Target architecture, AI validation engine, automation design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2649">
                <a:tc>
                  <a:txBody>
                    <a:bodyPr/>
                    <a:lstStyle/>
                    <a:p>
                      <a:r>
                        <a:rPr lang="en-IN" sz="300">
                          <a:effectLst/>
                          <a:latin typeface="Aptos" panose="020B0004020202020204" pitchFamily="34" charset="0"/>
                        </a:rPr>
                        <a:t>Domestic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00" dirty="0">
                          <a:effectLst/>
                          <a:latin typeface="Aptos" panose="020B0004020202020204" pitchFamily="34" charset="0"/>
                        </a:rPr>
                        <a:t>Backend &amp; Frontend Developer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00" b="0" dirty="0">
                          <a:effectLst/>
                          <a:latin typeface="Aptos" panose="020B0004020202020204" pitchFamily="34" charset="0"/>
                        </a:rPr>
                        <a:t>2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00" dirty="0">
                          <a:effectLst/>
                          <a:latin typeface="Aptos" panose="020B0004020202020204" pitchFamily="34" charset="0"/>
                        </a:rPr>
                        <a:t>320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" dirty="0">
                          <a:effectLst/>
                          <a:latin typeface="Aptos" panose="020B0004020202020204" pitchFamily="34" charset="0"/>
                        </a:rPr>
                        <a:t>Rules engine, APIs, workflows, exception handling; Stakeholder input UI, workflow screens, user journeys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2649">
                <a:tc>
                  <a:txBody>
                    <a:bodyPr/>
                    <a:lstStyle/>
                    <a:p>
                      <a:r>
                        <a:rPr lang="en-IN" sz="300">
                          <a:effectLst/>
                          <a:latin typeface="Aptos" panose="020B0004020202020204" pitchFamily="34" charset="0"/>
                        </a:rPr>
                        <a:t>Domestic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00" dirty="0">
                          <a:effectLst/>
                          <a:latin typeface="Aptos" panose="020B0004020202020204" pitchFamily="34" charset="0"/>
                        </a:rPr>
                        <a:t>QA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00" b="0" dirty="0">
                          <a:effectLst/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00">
                          <a:effectLst/>
                          <a:latin typeface="Aptos" panose="020B0004020202020204" pitchFamily="34" charset="0"/>
                        </a:rPr>
                        <a:t>160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" dirty="0">
                          <a:effectLst/>
                          <a:latin typeface="Aptos" panose="020B0004020202020204" pitchFamily="34" charset="0"/>
                        </a:rPr>
                        <a:t>SIT/UAT, payroll regression, parallel-run validation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3532">
                <a:tc>
                  <a:txBody>
                    <a:bodyPr/>
                    <a:lstStyle/>
                    <a:p>
                      <a:r>
                        <a:rPr lang="en-IN" sz="300">
                          <a:effectLst/>
                          <a:latin typeface="Aptos" panose="020B0004020202020204" pitchFamily="34" charset="0"/>
                        </a:rPr>
                        <a:t>Domestic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00" dirty="0">
                          <a:effectLst/>
                          <a:latin typeface="Aptos" panose="020B0004020202020204" pitchFamily="34" charset="0"/>
                        </a:rPr>
                        <a:t>SuccessFactors Developer + Integration Developer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00" b="0" dirty="0">
                          <a:effectLst/>
                          <a:latin typeface="Aptos" panose="020B0004020202020204" pitchFamily="34" charset="0"/>
                        </a:rPr>
                        <a:t>1 + 2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00" dirty="0">
                          <a:effectLst/>
                          <a:latin typeface="Aptos" panose="020B0004020202020204" pitchFamily="34" charset="0"/>
                        </a:rPr>
                        <a:t>480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">
                          <a:effectLst/>
                          <a:latin typeface="Aptos" panose="020B0004020202020204" pitchFamily="34" charset="0"/>
                        </a:rPr>
                        <a:t>SF events, comp fields, employee master triggers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1898683"/>
                  </a:ext>
                </a:extLst>
              </a:tr>
              <a:tr h="122649">
                <a:tc>
                  <a:txBody>
                    <a:bodyPr/>
                    <a:lstStyle/>
                    <a:p>
                      <a:r>
                        <a:rPr lang="en-IN" sz="300">
                          <a:effectLst/>
                          <a:latin typeface="Aptos" panose="020B0004020202020204" pitchFamily="34" charset="0"/>
                        </a:rPr>
                        <a:t>Domestic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00" dirty="0">
                          <a:effectLst/>
                          <a:latin typeface="Aptos" panose="020B0004020202020204" pitchFamily="34" charset="0"/>
                        </a:rPr>
                        <a:t>PeopleStrong Tech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00" b="0" dirty="0">
                          <a:effectLst/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00">
                          <a:effectLst/>
                          <a:latin typeface="Aptos" panose="020B0004020202020204" pitchFamily="34" charset="0"/>
                        </a:rPr>
                        <a:t>160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" dirty="0">
                          <a:effectLst/>
                          <a:latin typeface="Aptos" panose="020B0004020202020204" pitchFamily="34" charset="0"/>
                        </a:rPr>
                        <a:t>Payroll engine configuration, </a:t>
                      </a:r>
                      <a:r>
                        <a:rPr lang="en-US" sz="300" dirty="0" err="1">
                          <a:effectLst/>
                          <a:latin typeface="Aptos" panose="020B0004020202020204" pitchFamily="34" charset="0"/>
                        </a:rPr>
                        <a:t>payhead</a:t>
                      </a:r>
                      <a:r>
                        <a:rPr lang="en-US" sz="300" dirty="0">
                          <a:effectLst/>
                          <a:latin typeface="Aptos" panose="020B0004020202020204" pitchFamily="34" charset="0"/>
                        </a:rPr>
                        <a:t> setup, PS validation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9860208"/>
                  </a:ext>
                </a:extLst>
              </a:tr>
              <a:tr h="122649">
                <a:tc>
                  <a:txBody>
                    <a:bodyPr/>
                    <a:lstStyle/>
                    <a:p>
                      <a:r>
                        <a:rPr lang="en-IN" sz="300" b="1" dirty="0">
                          <a:effectLst/>
                          <a:latin typeface="Aptos" panose="020B0004020202020204" pitchFamily="34" charset="0"/>
                        </a:rPr>
                        <a:t>Domestic Total</a:t>
                      </a:r>
                      <a:endParaRPr lang="en-IN" sz="300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300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00" b="1" dirty="0">
                          <a:effectLst/>
                          <a:latin typeface="Aptos" panose="020B0004020202020204" pitchFamily="34" charset="0"/>
                        </a:rPr>
                        <a:t>9</a:t>
                      </a:r>
                      <a:endParaRPr lang="en-IN" sz="300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00" b="1" dirty="0">
                          <a:effectLst/>
                          <a:latin typeface="Aptos" panose="020B0004020202020204" pitchFamily="34" charset="0"/>
                        </a:rPr>
                        <a:t>1,440</a:t>
                      </a:r>
                      <a:endParaRPr lang="en-IN" sz="300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" dirty="0">
                          <a:effectLst/>
                          <a:latin typeface="Aptos" panose="020B0004020202020204" pitchFamily="34" charset="0"/>
                        </a:rPr>
                        <a:t>Domestic automation and integration delivery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9019290"/>
                  </a:ext>
                </a:extLst>
              </a:tr>
              <a:tr h="122649">
                <a:tc>
                  <a:txBody>
                    <a:bodyPr/>
                    <a:lstStyle/>
                    <a:p>
                      <a:r>
                        <a:rPr lang="en-IN" sz="300">
                          <a:effectLst/>
                          <a:latin typeface="Aptos" panose="020B0004020202020204" pitchFamily="34" charset="0"/>
                        </a:rPr>
                        <a:t>International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00" dirty="0">
                          <a:effectLst/>
                          <a:latin typeface="Aptos" panose="020B0004020202020204" pitchFamily="34" charset="0"/>
                        </a:rPr>
                        <a:t>SuccessFactors Developer + Integration Dev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00" b="0" dirty="0">
                          <a:effectLst/>
                          <a:latin typeface="Aptos" panose="020B0004020202020204" pitchFamily="34" charset="0"/>
                        </a:rPr>
                        <a:t>1 + 2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00" dirty="0">
                          <a:effectLst/>
                          <a:latin typeface="Aptos" panose="020B0004020202020204" pitchFamily="34" charset="0"/>
                        </a:rPr>
                        <a:t>480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">
                          <a:effectLst/>
                          <a:latin typeface="Aptos" panose="020B0004020202020204" pitchFamily="34" charset="0"/>
                        </a:rPr>
                        <a:t>Country fields, global mobility, international employee data setup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7392267"/>
                  </a:ext>
                </a:extLst>
              </a:tr>
              <a:tr h="122649">
                <a:tc>
                  <a:txBody>
                    <a:bodyPr/>
                    <a:lstStyle/>
                    <a:p>
                      <a:r>
                        <a:rPr lang="en-IN" sz="300">
                          <a:effectLst/>
                          <a:latin typeface="Aptos" panose="020B0004020202020204" pitchFamily="34" charset="0"/>
                        </a:rPr>
                        <a:t>International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00" dirty="0">
                          <a:effectLst/>
                          <a:latin typeface="Aptos" panose="020B0004020202020204" pitchFamily="34" charset="0"/>
                        </a:rPr>
                        <a:t>Backend &amp; Frontend Developer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00" b="0">
                          <a:effectLst/>
                          <a:latin typeface="Aptos" panose="020B0004020202020204" pitchFamily="34" charset="0"/>
                        </a:rPr>
                        <a:t>0.5+0.5</a:t>
                      </a:r>
                      <a:endParaRPr lang="en-IN" sz="300" b="0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00" dirty="0">
                          <a:effectLst/>
                          <a:latin typeface="Aptos" panose="020B0004020202020204" pitchFamily="34" charset="0"/>
                        </a:rPr>
                        <a:t>160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00" dirty="0">
                          <a:effectLst/>
                          <a:latin typeface="Aptos" panose="020B0004020202020204" pitchFamily="34" charset="0"/>
                        </a:rPr>
                        <a:t>ADP/vendor APIs, bank interfaces, SAP/SF data exchange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3118569"/>
                  </a:ext>
                </a:extLst>
              </a:tr>
              <a:tr h="122649">
                <a:tc>
                  <a:txBody>
                    <a:bodyPr/>
                    <a:lstStyle/>
                    <a:p>
                      <a:r>
                        <a:rPr lang="en-IN" sz="300" b="1" dirty="0">
                          <a:effectLst/>
                          <a:latin typeface="Aptos" panose="020B0004020202020204" pitchFamily="34" charset="0"/>
                        </a:rPr>
                        <a:t>International Total</a:t>
                      </a:r>
                      <a:endParaRPr lang="en-IN" sz="300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300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00" b="1" dirty="0">
                          <a:effectLst/>
                          <a:latin typeface="Aptos" panose="020B0004020202020204" pitchFamily="34" charset="0"/>
                        </a:rPr>
                        <a:t>4</a:t>
                      </a:r>
                      <a:endParaRPr lang="en-IN" sz="300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00" b="1" dirty="0">
                          <a:effectLst/>
                          <a:latin typeface="Aptos" panose="020B0004020202020204" pitchFamily="34" charset="0"/>
                        </a:rPr>
                        <a:t>640</a:t>
                      </a:r>
                      <a:endParaRPr lang="en-IN" sz="300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" dirty="0">
                          <a:effectLst/>
                          <a:latin typeface="Aptos" panose="020B0004020202020204" pitchFamily="34" charset="0"/>
                        </a:rPr>
                        <a:t>International payroll and ADP integration delivery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9584682"/>
                  </a:ext>
                </a:extLst>
              </a:tr>
              <a:tr h="122649">
                <a:tc>
                  <a:txBody>
                    <a:bodyPr/>
                    <a:lstStyle/>
                    <a:p>
                      <a:r>
                        <a:rPr lang="en-IN" sz="300" b="1" dirty="0">
                          <a:effectLst/>
                          <a:latin typeface="Aptos" panose="020B0004020202020204" pitchFamily="34" charset="0"/>
                        </a:rPr>
                        <a:t>Grand Total</a:t>
                      </a:r>
                      <a:endParaRPr lang="en-IN" sz="300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300"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00" b="1" dirty="0">
                          <a:effectLst/>
                          <a:latin typeface="Aptos" panose="020B0004020202020204" pitchFamily="34" charset="0"/>
                        </a:rPr>
                        <a:t>13</a:t>
                      </a:r>
                      <a:endParaRPr lang="en-IN" sz="300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00" b="1" dirty="0">
                          <a:effectLst/>
                          <a:latin typeface="Aptos" panose="020B0004020202020204" pitchFamily="34" charset="0"/>
                        </a:rPr>
                        <a:t>2080</a:t>
                      </a:r>
                      <a:endParaRPr lang="en-IN" sz="300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" dirty="0">
                          <a:effectLst/>
                          <a:latin typeface="Aptos" panose="020B0004020202020204" pitchFamily="34" charset="0"/>
                        </a:rPr>
                        <a:t>Optimized 8-month core delivery model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3604187"/>
                  </a:ext>
                </a:extLst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4879938" y="4639651"/>
            <a:ext cx="405603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" b="1" dirty="0">
                <a:solidFill>
                  <a:srgbClr val="4B5563"/>
                </a:solidFill>
                <a:latin typeface="Aptos"/>
              </a:rPr>
              <a:t>Blended budget allocation: ₹3 Cr across 13 resources over 8 months; remaining effort gap of 98 person-days is managed through reuse, phased delivery, internal SME support and vendor/platform leverage.</a:t>
            </a:r>
            <a:endParaRPr sz="400" b="1" dirty="0">
              <a:solidFill>
                <a:srgbClr val="4B5563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0F90C7-C776-41E5-283A-303F9E12D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F90FCF9-5ED2-65A9-9084-3005FCBAD0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76864" y="1033044"/>
            <a:ext cx="5183762" cy="2193333"/>
          </a:xfrm>
        </p:spPr>
        <p:txBody>
          <a:bodyPr>
            <a:normAutofit/>
          </a:bodyPr>
          <a:lstStyle/>
          <a:p>
            <a:r>
              <a:rPr lang="en-IN" sz="4200" dirty="0"/>
              <a:t>Where we are…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40399425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7E9F1-DF0D-1B78-BC8D-A91550F70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R Manager Reviews Payroll Software Data">
            <a:extLst>
              <a:ext uri="{FF2B5EF4-FFF2-40B4-BE49-F238E27FC236}">
                <a16:creationId xmlns:a16="http://schemas.microsoft.com/office/drawing/2014/main" id="{3EB95970-5972-EE94-DA65-1068CD06D8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rcRect t="-24" b="24"/>
          <a:stretch>
            <a:fillRect/>
          </a:stretch>
        </p:blipFill>
        <p:spPr>
          <a:xfrm>
            <a:off x="4830019" y="1509847"/>
            <a:ext cx="3840477" cy="2023339"/>
          </a:xfrm>
          <a:prstGeom prst="roundRect">
            <a:avLst>
              <a:gd name="adj" fmla="val 3772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3B7E188-ABEA-846A-4007-724E2C46ED79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rcRect l="7781" t="22208" r="7781" b="-22208"/>
          <a:stretch>
            <a:fillRect/>
          </a:stretch>
        </p:blipFill>
        <p:spPr>
          <a:xfrm>
            <a:off x="254232" y="1509848"/>
            <a:ext cx="3840477" cy="2558406"/>
          </a:xfrm>
          <a:prstGeom prst="roundRect">
            <a:avLst>
              <a:gd name="adj" fmla="val 3772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34" name="Round Same Side Corner Rectangle 33">
            <a:extLst>
              <a:ext uri="{FF2B5EF4-FFF2-40B4-BE49-F238E27FC236}">
                <a16:creationId xmlns:a16="http://schemas.microsoft.com/office/drawing/2014/main" id="{1EAE66D1-1339-EF2E-BF72-104A7C000963}"/>
              </a:ext>
            </a:extLst>
          </p:cNvPr>
          <p:cNvSpPr/>
          <p:nvPr/>
        </p:nvSpPr>
        <p:spPr>
          <a:xfrm>
            <a:off x="254230" y="3185806"/>
            <a:ext cx="3840480" cy="1506645"/>
          </a:xfrm>
          <a:prstGeom prst="round2SameRect">
            <a:avLst>
              <a:gd name="adj1" fmla="val 0"/>
              <a:gd name="adj2" fmla="val 6522"/>
            </a:avLst>
          </a:prstGeom>
          <a:solidFill>
            <a:srgbClr val="FFF4E9"/>
          </a:solidFill>
          <a:ln w="7160">
            <a:noFill/>
            <a:prstDash val="solid"/>
          </a:ln>
        </p:spPr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Round Same Side Corner Rectangle 16">
            <a:extLst>
              <a:ext uri="{FF2B5EF4-FFF2-40B4-BE49-F238E27FC236}">
                <a16:creationId xmlns:a16="http://schemas.microsoft.com/office/drawing/2014/main" id="{5AF17BFE-C273-71C1-B747-BACCE75995F3}"/>
              </a:ext>
            </a:extLst>
          </p:cNvPr>
          <p:cNvSpPr/>
          <p:nvPr/>
        </p:nvSpPr>
        <p:spPr>
          <a:xfrm>
            <a:off x="4830019" y="3185806"/>
            <a:ext cx="3843432" cy="1506645"/>
          </a:xfrm>
          <a:prstGeom prst="round2SameRect">
            <a:avLst>
              <a:gd name="adj1" fmla="val 0"/>
              <a:gd name="adj2" fmla="val 6522"/>
            </a:avLst>
          </a:prstGeom>
          <a:solidFill>
            <a:srgbClr val="E8F6F8"/>
          </a:solidFill>
          <a:ln w="7160">
            <a:noFill/>
            <a:prstDash val="solid"/>
          </a:ln>
        </p:spPr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8A5BC616-061B-C2FA-4AC5-8B143C104126}"/>
              </a:ext>
            </a:extLst>
          </p:cNvPr>
          <p:cNvSpPr/>
          <p:nvPr/>
        </p:nvSpPr>
        <p:spPr>
          <a:xfrm>
            <a:off x="473504" y="3291323"/>
            <a:ext cx="287157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43"/>
              </a:lnSpc>
              <a:buNone/>
            </a:pPr>
            <a:r>
              <a:rPr lang="en-US" sz="1050" b="1" kern="0" spc="5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CONTRACTOR ONBOARDING</a:t>
            </a:r>
            <a:endParaRPr lang="en-US" sz="1050" b="1" spc="5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C74923EE-B157-8161-04AC-2300C61AAB7A}"/>
              </a:ext>
            </a:extLst>
          </p:cNvPr>
          <p:cNvSpPr/>
          <p:nvPr/>
        </p:nvSpPr>
        <p:spPr>
          <a:xfrm>
            <a:off x="5101480" y="3291323"/>
            <a:ext cx="287157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43"/>
              </a:lnSpc>
              <a:buNone/>
            </a:pPr>
            <a:r>
              <a:rPr lang="en-US" sz="1050" b="1" kern="0" spc="5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REQUIREMENT DETAILING - HR</a:t>
            </a:r>
            <a:endParaRPr lang="en-US" sz="1050" b="1" spc="5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C667519C-DDC4-C27A-9BD8-AB68B27F7B9B}"/>
              </a:ext>
            </a:extLst>
          </p:cNvPr>
          <p:cNvSpPr/>
          <p:nvPr/>
        </p:nvSpPr>
        <p:spPr>
          <a:xfrm>
            <a:off x="473504" y="3754028"/>
            <a:ext cx="3571971" cy="760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800" kern="0" spc="50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9+4 external resources to be contracted &amp; POs to be issued</a:t>
            </a:r>
          </a:p>
          <a:p>
            <a:pPr marL="171450" indent="-171450" algn="l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800" kern="0" spc="50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Legal sign-off &amp; NDAs to be executed</a:t>
            </a:r>
          </a:p>
          <a:p>
            <a:pPr marL="171450" indent="-171450" algn="l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800" kern="0" spc="50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System access &amp; tool provisioning</a:t>
            </a:r>
          </a:p>
          <a:p>
            <a:pPr marL="171450" indent="-171450" algn="l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800" kern="0" spc="50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Project orientation, workspace &amp; repo setup</a:t>
            </a:r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C57FDD1C-06AD-0828-0EEF-0FB7826C35C3}"/>
              </a:ext>
            </a:extLst>
          </p:cNvPr>
          <p:cNvSpPr/>
          <p:nvPr/>
        </p:nvSpPr>
        <p:spPr>
          <a:xfrm>
            <a:off x="5101480" y="3754028"/>
            <a:ext cx="3571971" cy="760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800" kern="0" spc="50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Workshops with HR team in progress </a:t>
            </a:r>
          </a:p>
          <a:p>
            <a:pPr marL="171450" indent="-171450" algn="l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800" kern="0" spc="50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Per-phase scope document to be drafted &amp; signed off</a:t>
            </a:r>
          </a:p>
          <a:p>
            <a:pPr marL="171450" indent="-171450" algn="l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800" kern="0" spc="50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Stakeholder RACI matrix to be finalized</a:t>
            </a:r>
          </a:p>
          <a:p>
            <a:pPr marL="171450" indent="-171450" algn="l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800" kern="0" spc="5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Monthly </a:t>
            </a:r>
            <a:r>
              <a:rPr lang="en-US" sz="800" kern="0" spc="50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steering &amp; daily ops cadence to be established</a:t>
            </a:r>
          </a:p>
        </p:txBody>
      </p:sp>
      <p:sp>
        <p:nvSpPr>
          <p:cNvPr id="36" name="Text 8">
            <a:extLst>
              <a:ext uri="{FF2B5EF4-FFF2-40B4-BE49-F238E27FC236}">
                <a16:creationId xmlns:a16="http://schemas.microsoft.com/office/drawing/2014/main" id="{DB3178E5-90FD-DE14-8CA4-E3EDFF11408B}"/>
              </a:ext>
            </a:extLst>
          </p:cNvPr>
          <p:cNvSpPr/>
          <p:nvPr/>
        </p:nvSpPr>
        <p:spPr>
          <a:xfrm>
            <a:off x="8143790" y="324881"/>
            <a:ext cx="726481" cy="141321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spAutoFit/>
          </a:bodyPr>
          <a:lstStyle/>
          <a:p>
            <a:pPr marL="0" indent="0" algn="l">
              <a:lnSpc>
                <a:spcPts val="1090"/>
              </a:lnSpc>
              <a:buNone/>
            </a:pPr>
            <a:r>
              <a:rPr lang="en-US" sz="1000" b="1" kern="0" spc="110" dirty="0">
                <a:solidFill>
                  <a:srgbClr val="C00000"/>
                </a:solidFill>
                <a:latin typeface="Aptos" panose="020B0004020202020204" pitchFamily="34" charset="0"/>
                <a:ea typeface="Inter"/>
              </a:rPr>
              <a:t> MOBILISE</a:t>
            </a:r>
            <a:endParaRPr lang="en-US" sz="1000" b="1" spc="110" dirty="0">
              <a:solidFill>
                <a:srgbClr val="C00000"/>
              </a:solidFill>
              <a:latin typeface="Aptos" panose="020B0004020202020204" pitchFamily="34" charset="0"/>
              <a:ea typeface="Inter"/>
            </a:endParaRPr>
          </a:p>
        </p:txBody>
      </p:sp>
      <p:sp>
        <p:nvSpPr>
          <p:cNvPr id="37" name="Text 8">
            <a:extLst>
              <a:ext uri="{FF2B5EF4-FFF2-40B4-BE49-F238E27FC236}">
                <a16:creationId xmlns:a16="http://schemas.microsoft.com/office/drawing/2014/main" id="{9F035674-C7DA-9425-3F80-26422D8F64B4}"/>
              </a:ext>
            </a:extLst>
          </p:cNvPr>
          <p:cNvSpPr/>
          <p:nvPr/>
        </p:nvSpPr>
        <p:spPr>
          <a:xfrm>
            <a:off x="254233" y="1235632"/>
            <a:ext cx="52101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0"/>
              </a:lnSpc>
              <a:buNone/>
            </a:pPr>
            <a:r>
              <a:rPr lang="en-US" sz="1000" b="1" kern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Inter"/>
              </a:rPr>
              <a:t>Two parallel workstreams – running simultaneously</a:t>
            </a:r>
            <a:endParaRPr lang="en-US" sz="1000" b="1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  <a:ea typeface="Inter"/>
            </a:endParaRPr>
          </a:p>
        </p:txBody>
      </p:sp>
      <p:sp>
        <p:nvSpPr>
          <p:cNvPr id="2" name="Shape 61">
            <a:extLst>
              <a:ext uri="{FF2B5EF4-FFF2-40B4-BE49-F238E27FC236}">
                <a16:creationId xmlns:a16="http://schemas.microsoft.com/office/drawing/2014/main" id="{7120E287-75D7-3626-E51C-940C68B62D95}"/>
              </a:ext>
            </a:extLst>
          </p:cNvPr>
          <p:cNvSpPr/>
          <p:nvPr/>
        </p:nvSpPr>
        <p:spPr>
          <a:xfrm>
            <a:off x="238125" y="576263"/>
            <a:ext cx="8729663" cy="0"/>
          </a:xfrm>
          <a:prstGeom prst="line">
            <a:avLst/>
          </a:prstGeom>
          <a:noFill/>
          <a:ln w="4524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BCF6CD-E7A8-D84A-C054-3EEC5ACEEB9E}"/>
              </a:ext>
            </a:extLst>
          </p:cNvPr>
          <p:cNvSpPr txBox="1"/>
          <p:nvPr/>
        </p:nvSpPr>
        <p:spPr>
          <a:xfrm>
            <a:off x="210383" y="210372"/>
            <a:ext cx="7813019" cy="315471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>
            <a:lvl1pPr defTabSz="914378">
              <a:spcBef>
                <a:spcPct val="0"/>
              </a:spcBef>
              <a:defRPr sz="1500" b="1">
                <a:solidFill>
                  <a:srgbClr val="C00000"/>
                </a:solidFill>
                <a:latin typeface="AirIndia"/>
              </a:defRPr>
            </a:lvl1pPr>
          </a:lstStyle>
          <a:p>
            <a:r>
              <a:rPr lang="en-US"/>
              <a:t>Where we are...</a:t>
            </a:r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D33110DC-588A-3F3C-DE5E-5D06BBF54A8B}"/>
              </a:ext>
            </a:extLst>
          </p:cNvPr>
          <p:cNvSpPr/>
          <p:nvPr/>
        </p:nvSpPr>
        <p:spPr>
          <a:xfrm>
            <a:off x="254229" y="769749"/>
            <a:ext cx="1836741" cy="223818"/>
          </a:xfrm>
          <a:prstGeom prst="roundRect">
            <a:avLst>
              <a:gd name="adj" fmla="val 69818"/>
            </a:avLst>
          </a:prstGeom>
          <a:solidFill>
            <a:srgbClr val="C00000">
              <a:alpha val="10000"/>
            </a:srgbClr>
          </a:solidFill>
          <a:ln w="6350">
            <a:solidFill>
              <a:srgbClr val="C00000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sz="100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Budget Approval in Progress</a:t>
            </a:r>
            <a:endParaRPr lang="en-US" sz="800" b="1">
              <a:solidFill>
                <a:srgbClr val="FF7235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5123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9EB50-F92C-5757-4E56-7816BA50D0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91645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527BB86-0CF0-4109-93D3-808623CB0FC8}">
  <we:reference id="wa200003964" version="1.0.0.0" store="en-US" storeType="OMEX"/>
  <we:alternateReferences>
    <we:reference id="wa200003964" version="1.0.0.0" store="" storeType="OMEX"/>
  </we:alternateReferences>
  <we:properties/>
  <we:bindings/>
  <we:snapshot xmlns:r="http://schemas.openxmlformats.org/officeDocument/2006/relationships"/>
</we:webextension>
</file>

<file path=docMetadata/LabelInfo.xml><?xml version="1.0" encoding="utf-8"?>
<clbl:labelList xmlns:clbl="http://schemas.microsoft.com/office/2020/mipLabelMetadata">
  <clbl:label id="{fc627367-8bb7-4ccb-accc-dcf8fe2e1aa0}" enabled="1" method="Standard" siteId="{41591cc6-574f-45d5-819b-9a4773330aec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285</TotalTime>
  <Words>4937</Words>
  <Application>Microsoft Office PowerPoint</Application>
  <PresentationFormat>On-screen Show (16:9)</PresentationFormat>
  <Paragraphs>829</Paragraphs>
  <Slides>18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8" baseType="lpstr">
      <vt:lpstr>Nunito Sans Normal</vt:lpstr>
      <vt:lpstr>AirIndia</vt:lpstr>
      <vt:lpstr>Aptos</vt:lpstr>
      <vt:lpstr>Aptos Display</vt:lpstr>
      <vt:lpstr>Aptos ExtraBold</vt:lpstr>
      <vt:lpstr>Aptos SemiBold</vt:lpstr>
      <vt:lpstr>Arial</vt:lpstr>
      <vt:lpstr>Calibri</vt:lpstr>
      <vt:lpstr>Nunito Sans</vt:lpstr>
      <vt:lpstr>Office Theme</vt:lpstr>
      <vt:lpstr>Zero Touch, Zero Trust Payroll Eliminating manual touchpoints across the payroll lifecycle </vt:lpstr>
      <vt:lpstr>Domestic Payroll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International Payroll</vt:lpstr>
      <vt:lpstr>PowerPoint Presentation</vt:lpstr>
      <vt:lpstr>PowerPoint Presentation</vt:lpstr>
      <vt:lpstr>PowerPoint Presentation</vt:lpstr>
      <vt:lpstr>PowerPoint Presentation</vt:lpstr>
      <vt:lpstr>Resourcing Effort Estimation</vt:lpstr>
      <vt:lpstr>PowerPoint Presentation</vt:lpstr>
      <vt:lpstr>PowerPoint Presentation</vt:lpstr>
      <vt:lpstr>Where we are…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Amit Sood Shastri</cp:lastModifiedBy>
  <cp:revision>52</cp:revision>
  <dcterms:created xsi:type="dcterms:W3CDTF">2026-05-27T05:30:57Z</dcterms:created>
  <dcterms:modified xsi:type="dcterms:W3CDTF">2026-06-30T03:41:49Z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Theme:3</vt:lpwstr>
  </property>
  <property fmtid="{D5CDD505-2E9C-101B-9397-08002B2CF9AE}" pid="3" name="ClassificationContentMarkingFooterText">
    <vt:lpwstr>Air India General - Internal use only</vt:lpwstr>
  </property>
</Properties>
</file>