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comments/modernComment_7FFFFCDE_50214499.xml" ContentType="application/vnd.ms-powerpoint.comment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81" r:id="rId5"/>
    <p:sldId id="2147482839" r:id="rId6"/>
    <p:sldId id="2147482846" r:id="rId7"/>
    <p:sldId id="2147482844" r:id="rId8"/>
    <p:sldId id="2147482847" r:id="rId9"/>
    <p:sldId id="2147482843" r:id="rId10"/>
    <p:sldId id="2147482849" r:id="rId11"/>
    <p:sldId id="2147482845" r:id="rId12"/>
    <p:sldId id="2147482848" r:id="rId13"/>
    <p:sldId id="2147482818" r:id="rId14"/>
    <p:sldId id="21474816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026C07-246F-CFBA-D3C2-18C90E07F6A6}" name="Kunal" initials="K" userId="S::kunal.kansra@airindia.com::922aa739-7778-437b-afaf-7a265fb2f9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7"/>
  </p:normalViewPr>
  <p:slideViewPr>
    <p:cSldViewPr snapToGrid="0">
      <p:cViewPr>
        <p:scale>
          <a:sx n="60" d="100"/>
          <a:sy n="60" d="100"/>
        </p:scale>
        <p:origin x="8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modernComment_7FFFFCDE_502144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9F492C-37E8-43F9-BEB6-74F85A448A9C}" authorId="{37026C07-246F-CFBA-D3C2-18C90E07F6A6}" created="2024-07-16T11:06:58.7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44357529" sldId="2147482846"/>
      <ac:spMk id="4" creationId="{4CF5E478-71C2-C46B-A2A9-5E24D3C8281C}"/>
      <ac:txMk cp="321" len="10">
        <ac:context len="895" hash="230898890"/>
      </ac:txMk>
    </ac:txMkLst>
    <p188:pos x="6091005" y="2318388"/>
    <p188:replyLst>
      <p188:reply id="{595D5B40-2AF5-45E5-A8C6-6B88B9E9A882}" authorId="{37026C07-246F-CFBA-D3C2-18C90E07F6A6}" created="2024-07-19T06:52:41.285">
        <p188:txBody>
          <a:bodyPr/>
          <a:lstStyle/>
          <a:p>
            <a:r>
              <a:rPr lang="en-IN"/>
              <a:t>To be mailed to Anuj for confirmation.</a:t>
            </a:r>
          </a:p>
        </p188:txBody>
      </p188:reply>
    </p188:replyLst>
    <p188:txBody>
      <a:bodyPr/>
      <a:lstStyle/>
      <a:p>
        <a:r>
          <a:rPr lang="en-IN"/>
          <a:t>Should it be Sep &amp; Oct @amit?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59E56-A758-4A1C-B8D3-62397FD6F7A5}" type="datetimeFigureOut">
              <a:rPr lang="en-IN" smtClean="0"/>
              <a:t>17-07-2024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0F29D-30E3-4E9A-9920-CE0E243125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0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0F29D-30E3-4E9A-9920-CE0E243125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65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BCE7-E630-B2FF-E35D-56963117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E2E61-2A51-2A00-FA5A-7EC0337D6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BD61D-9687-B35A-2D23-C3DAB6DA6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37421-50D0-70E8-B9E0-0A9E2593F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0F29D-30E3-4E9A-9920-CE0E243125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342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0F29D-30E3-4E9A-9920-CE0E243125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243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D455-1851-3C61-AE96-7B842B9B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DF2E0-D411-4D9F-9592-0A8FF6591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B50F1-B24D-8D27-1DA1-A9C07F4BC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88AEE-CEF7-751E-BC20-B163EB731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0F29D-30E3-4E9A-9920-CE0E243125D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240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background with a gold and purple figure&#10;&#10;Description automatically generated">
            <a:extLst>
              <a:ext uri="{FF2B5EF4-FFF2-40B4-BE49-F238E27FC236}">
                <a16:creationId xmlns:a16="http://schemas.microsoft.com/office/drawing/2014/main" id="{89B26D62-2982-895C-4C5E-CADCB2E22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5351" y="1600200"/>
            <a:ext cx="6384966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5350" y="4037607"/>
            <a:ext cx="6384966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411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red dress in front of a large building&#10;&#10;Description automatically generated">
            <a:extLst>
              <a:ext uri="{FF2B5EF4-FFF2-40B4-BE49-F238E27FC236}">
                <a16:creationId xmlns:a16="http://schemas.microsoft.com/office/drawing/2014/main" id="{760CAD27-C4FB-B99A-C7A2-0E210F9DE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233" y="478975"/>
            <a:ext cx="6384966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233" y="2916382"/>
            <a:ext cx="6384966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69524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erson&#10;&#10;Description automatically generated">
            <a:extLst>
              <a:ext uri="{FF2B5EF4-FFF2-40B4-BE49-F238E27FC236}">
                <a16:creationId xmlns:a16="http://schemas.microsoft.com/office/drawing/2014/main" id="{A8809EBD-4F03-089D-9B17-0892C74FE7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84" y="2133600"/>
            <a:ext cx="10066316" cy="132556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dirty="0">
                <a:solidFill>
                  <a:schemeClr val="accent1"/>
                </a:solidFill>
                <a:latin typeface="AirIndia" pitchFamily="82" charset="77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5484" y="3455979"/>
            <a:ext cx="5471984" cy="179060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1160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building&#10;&#10;Description automatically generated">
            <a:extLst>
              <a:ext uri="{FF2B5EF4-FFF2-40B4-BE49-F238E27FC236}">
                <a16:creationId xmlns:a16="http://schemas.microsoft.com/office/drawing/2014/main" id="{4BF3DACE-7AF7-507E-BB2C-74CBFB108C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62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uilding with a dome and a shield&#10;&#10;Description automatically generated with medium confidence">
            <a:extLst>
              <a:ext uri="{FF2B5EF4-FFF2-40B4-BE49-F238E27FC236}">
                <a16:creationId xmlns:a16="http://schemas.microsoft.com/office/drawing/2014/main" id="{84590AF8-3315-DD8B-5187-80D0BBE65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40218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n airplane flying in the sky&#10;&#10;Description automatically generated">
            <a:extLst>
              <a:ext uri="{FF2B5EF4-FFF2-40B4-BE49-F238E27FC236}">
                <a16:creationId xmlns:a16="http://schemas.microsoft.com/office/drawing/2014/main" id="{5427E8E9-5E7C-EE80-E075-E8D3836B3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946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ontent Layou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452D-6719-3A3C-48DC-057312D6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7B8DCE-B813-ECB6-504B-646AA8A70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060" y="304800"/>
            <a:ext cx="10977880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176C6B-4C1B-92FA-CF20-B7F8064C9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372" y="1587998"/>
            <a:ext cx="10974567" cy="4520204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800"/>
            </a:lvl1pPr>
            <a:lvl2pPr marL="6858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600"/>
            </a:lvl2pPr>
            <a:lvl3pPr marL="11430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400"/>
            </a:lvl3pPr>
            <a:lvl4pPr marL="16002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4pPr>
            <a:lvl5pPr marL="20574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AFBD2D-C2BB-8088-2AF6-FCA057912F1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100" y="990600"/>
            <a:ext cx="10965528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0B4ED90-1C19-538C-AD30-CF248331DB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  <p15:guide id="4" orient="horz" pos="91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5658912-D983-FCD7-8563-DCAA4AD6C8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8280" y="1587998"/>
            <a:ext cx="5024120" cy="4588965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>
                <a:solidFill>
                  <a:srgbClr val="FF0000"/>
                </a:solidFill>
              </a:defRPr>
            </a:lvl1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C3759EA-CF74-7437-28A8-38074023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>
              <a:defRPr lang="en-US" sz="1200" smtClean="0">
                <a:solidFill>
                  <a:schemeClr val="accent1"/>
                </a:solidFill>
              </a:defRPr>
            </a:lvl1pPr>
          </a:lstStyle>
          <a:p>
            <a:pPr algn="ctr"/>
            <a:fld id="{3A41A254-7326-714E-AF55-4C213D6394DE}" type="slidenum">
              <a:rPr lang="en-IN" smtClean="0"/>
              <a:pPr algn="ctr"/>
              <a:t>‹#›</a:t>
            </a:fld>
            <a:endParaRPr lang="en-IN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A9E431-EC2B-5717-285E-278016CA8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373" y="1600200"/>
            <a:ext cx="5485628" cy="456183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1800" dirty="0"/>
            </a:lvl1pPr>
            <a:lvl2pPr>
              <a:defRPr lang="en-GB" sz="1600" dirty="0"/>
            </a:lvl2pPr>
            <a:lvl3pPr>
              <a:defRPr lang="en-GB" sz="1400" dirty="0"/>
            </a:lvl3pPr>
            <a:lvl4pPr>
              <a:defRPr lang="en-GB" sz="1200" dirty="0"/>
            </a:lvl4pPr>
            <a:lvl5pPr>
              <a:defRPr lang="en-US" sz="1200" dirty="0"/>
            </a:lvl5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Click to edit Master text styles</a:t>
            </a:r>
          </a:p>
          <a:p>
            <a:pPr lvl="1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07FE69-5627-2F02-8D78-2B38708079C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100" y="990600"/>
            <a:ext cx="10965528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127A2E-2194-FA16-2895-A983F804D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048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C089A545-7420-C6A8-55C6-91018ACE1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3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B5B5505-B75C-A9AE-5EE1-1C13D2335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060" y="304800"/>
            <a:ext cx="10977880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B0F032F-D65A-0255-D2B4-F805BB188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42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2BD0675-B4A3-C2D7-F0F5-5CFD25D415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91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tanding on a beach with palm trees&#10;&#10;Description automatically generated">
            <a:extLst>
              <a:ext uri="{FF2B5EF4-FFF2-40B4-BE49-F238E27FC236}">
                <a16:creationId xmlns:a16="http://schemas.microsoft.com/office/drawing/2014/main" id="{C7D329FF-FF14-46C2-412E-08A9D4AD9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1008601"/>
            <a:ext cx="5486400" cy="2420399"/>
          </a:xfrm>
        </p:spPr>
        <p:txBody>
          <a:bodyPr anchor="b">
            <a:normAutofit/>
          </a:bodyPr>
          <a:lstStyle>
            <a:lvl1pPr algn="l">
              <a:defRPr sz="6600" b="0" i="0">
                <a:solidFill>
                  <a:srgbClr val="962067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14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344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lane flying in the sky&#10;&#10;Description automatically generated">
            <a:extLst>
              <a:ext uri="{FF2B5EF4-FFF2-40B4-BE49-F238E27FC236}">
                <a16:creationId xmlns:a16="http://schemas.microsoft.com/office/drawing/2014/main" id="{55762A92-547E-5F52-4F9B-5EA30AB79E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C3906F-921E-6E1D-753F-E155F5842C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3298" y="4800600"/>
            <a:ext cx="5203902" cy="1752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59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40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4EDAF01-44FD-4D84-2B2D-8890EF5605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702199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5" imgH="394" progId="TCLayout.ActiveDocument.1">
                  <p:embed/>
                </p:oleObj>
              </mc:Choice>
              <mc:Fallback>
                <p:oleObj name="think-cell Slide" r:id="rId15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EDAF01-44FD-4D84-2B2D-8890EF560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DDEF0-7AF8-5F17-BBC5-8B04639B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972800" cy="919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40AF1-B2D1-340A-5F66-CB24C4B8D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399"/>
            <a:ext cx="10972800" cy="411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359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irIndia" pitchFamily="8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CDE_50214499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79BC854-D6BB-8556-67C3-8DB309E3EE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9BC854-D6BB-8556-67C3-8DB309E3E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ubtitle 5">
            <a:extLst>
              <a:ext uri="{FF2B5EF4-FFF2-40B4-BE49-F238E27FC236}">
                <a16:creationId xmlns:a16="http://schemas.microsoft.com/office/drawing/2014/main" id="{8ED3E904-D35A-97A8-B427-8C258A7113F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92385" y="3204506"/>
            <a:ext cx="5868960" cy="125335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GB" sz="3600" b="1" dirty="0">
                <a:latin typeface="Nunito Sans"/>
              </a:rPr>
              <a:t>AI/UK Merger – </a:t>
            </a:r>
          </a:p>
          <a:p>
            <a:pPr marL="0" indent="0">
              <a:buNone/>
            </a:pPr>
            <a:r>
              <a:rPr lang="en-GB" sz="3600" b="1" dirty="0">
                <a:latin typeface="Nunito Sans"/>
              </a:rPr>
              <a:t>HR Systems Integration</a:t>
            </a:r>
            <a:endParaRPr lang="en-GB" sz="3600" b="1" dirty="0"/>
          </a:p>
          <a:p>
            <a:pPr marL="0" indent="0">
              <a:buNone/>
            </a:pPr>
            <a:r>
              <a:rPr lang="en-GB" sz="3100" dirty="0">
                <a:latin typeface="Nunito Sans"/>
              </a:rPr>
              <a:t>16 Jul 2024</a:t>
            </a:r>
            <a:endParaRPr lang="en-GB" sz="31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428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8A2FA7-0A94-5F04-CB03-34970856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8059E-66FF-F434-B5FB-01E1B0824CC8}"/>
              </a:ext>
            </a:extLst>
          </p:cNvPr>
          <p:cNvSpPr txBox="1"/>
          <p:nvPr/>
        </p:nvSpPr>
        <p:spPr>
          <a:xfrm>
            <a:off x="739563" y="991740"/>
            <a:ext cx="10712873" cy="4212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UK active employee’s past 3 year’s HRMS data will be migrated from UK SuccessFactors (SF) (Source System) to AI SF (Target System).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The migrated data will be validated for any data mapping errors followed by corrections.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Parallel run will be done – 2 mock runs (1</a:t>
            </a:r>
            <a:r>
              <a:rPr lang="en-US" baseline="30000" dirty="0"/>
              <a:t>st</a:t>
            </a:r>
            <a:r>
              <a:rPr lang="en-US" dirty="0"/>
              <a:t> Mock run from 23</a:t>
            </a:r>
            <a:r>
              <a:rPr lang="en-US" baseline="30000" dirty="0"/>
              <a:t>rd</a:t>
            </a:r>
            <a:r>
              <a:rPr lang="en-US" dirty="0"/>
              <a:t> Aug to 30</a:t>
            </a:r>
            <a:r>
              <a:rPr lang="en-US" baseline="30000" dirty="0"/>
              <a:t>th</a:t>
            </a:r>
            <a:r>
              <a:rPr lang="en-US" dirty="0"/>
              <a:t> Aug &amp; 2</a:t>
            </a:r>
            <a:r>
              <a:rPr lang="en-US" baseline="30000" dirty="0"/>
              <a:t>nd</a:t>
            </a:r>
            <a:r>
              <a:rPr lang="en-US" dirty="0"/>
              <a:t> Mock run from 9</a:t>
            </a:r>
            <a:r>
              <a:rPr lang="en-US" baseline="30000" dirty="0"/>
              <a:t>th</a:t>
            </a:r>
            <a:r>
              <a:rPr lang="en-US" dirty="0"/>
              <a:t> Sep to 13</a:t>
            </a:r>
            <a:r>
              <a:rPr lang="en-US" baseline="30000" dirty="0"/>
              <a:t>th</a:t>
            </a:r>
            <a:r>
              <a:rPr lang="en-US" dirty="0"/>
              <a:t> Sep) to ensure correctness of data.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On cutover, AI SF will become the Primary system.</a:t>
            </a: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Note: We will be replicating UK SF instance into a Non-Prod new AI SF instance with restricted admin access for meeting business &amp; audit requirements. Post merger Go-Live, UK SF instance will be sunset by Nov 2024.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85FE348-FE7B-ACD6-67AD-B8E276AB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77340"/>
            <a:ext cx="10977880" cy="914400"/>
          </a:xfrm>
        </p:spPr>
        <p:txBody>
          <a:bodyPr/>
          <a:lstStyle/>
          <a:p>
            <a:r>
              <a:rPr lang="en-US" dirty="0"/>
              <a:t>Principles of Migration (HRMS)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010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3354-C5D8-2084-73AC-5B7E17982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6EDFE-2897-DB06-E495-F2950CFC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5E478-71C2-C46B-A2A9-5E24D3C8281C}"/>
              </a:ext>
            </a:extLst>
          </p:cNvPr>
          <p:cNvSpPr txBox="1"/>
          <p:nvPr/>
        </p:nvSpPr>
        <p:spPr>
          <a:xfrm>
            <a:off x="739563" y="799716"/>
            <a:ext cx="10712873" cy="462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UK active employee’s past 3 year’s Payroll data (Pay slip, Form 16, Tax slip) will be migrated from UK SAP S4 HANA (Source System) to a new AI </a:t>
            </a:r>
            <a:r>
              <a:rPr lang="en-US" dirty="0" err="1"/>
              <a:t>PeopleStrong</a:t>
            </a:r>
            <a:r>
              <a:rPr lang="en-US" dirty="0"/>
              <a:t> (PS) instance (Target System).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The migrated data will be validated for any data mapping errors followed by corrections.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Parallel payroll processing will be done for </a:t>
            </a:r>
            <a:r>
              <a:rPr lang="en-US" dirty="0">
                <a:solidFill>
                  <a:srgbClr val="FF0000"/>
                </a:solidFill>
              </a:rPr>
              <a:t>Aug &amp; Sep </a:t>
            </a:r>
            <a:r>
              <a:rPr lang="en-US" dirty="0"/>
              <a:t>months for UK employees in a new AI PS instance to ensure correctness of data.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On cutover, Primary system will comprise of 2 AI PS instance – one (existing) for processing AI employee’s payroll &amp; other (new) for processing UK employee’s payroll (As per HR decision, AI &amp; UK pay structures will not be harmonized until Mar 2025 &amp; hence a separate PS instance needs to be maintained).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Nov 24 payroll to be processed by AI/UK? (1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12 days of Nov 24 payroll inputs to be provided by UK/AI Payroll team. Accounting strategy for Nov 24 payroll is needed from Finance.)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6E8C5913-7EBD-AE21-5DA9-18828C93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060" y="77340"/>
            <a:ext cx="10977880" cy="914400"/>
          </a:xfrm>
        </p:spPr>
        <p:txBody>
          <a:bodyPr/>
          <a:lstStyle/>
          <a:p>
            <a:r>
              <a:rPr lang="en-US" dirty="0"/>
              <a:t>Principles of Migration (Payroll)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3575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39745D-BC35-7A51-A009-8D29B0DF5E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39745D-BC35-7A51-A009-8D29B0DF5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CAFE10-9270-9925-4CCF-ECF7388DE4C3}"/>
              </a:ext>
            </a:extLst>
          </p:cNvPr>
          <p:cNvCxnSpPr>
            <a:cxnSpLocks/>
          </p:cNvCxnSpPr>
          <p:nvPr/>
        </p:nvCxnSpPr>
        <p:spPr>
          <a:xfrm>
            <a:off x="154305" y="4227285"/>
            <a:ext cx="11694578" cy="637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D4B0C2-265B-B283-85CE-7D8B9EA0666B}"/>
              </a:ext>
            </a:extLst>
          </p:cNvPr>
          <p:cNvSpPr/>
          <p:nvPr/>
        </p:nvSpPr>
        <p:spPr>
          <a:xfrm>
            <a:off x="153707" y="4162614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7C4C31-9070-74E7-2734-1D7BD0A583F6}"/>
              </a:ext>
            </a:extLst>
          </p:cNvPr>
          <p:cNvSpPr/>
          <p:nvPr/>
        </p:nvSpPr>
        <p:spPr>
          <a:xfrm>
            <a:off x="1792541" y="4162613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220275-D00D-D7A5-812C-D651D6699672}"/>
              </a:ext>
            </a:extLst>
          </p:cNvPr>
          <p:cNvSpPr/>
          <p:nvPr/>
        </p:nvSpPr>
        <p:spPr>
          <a:xfrm>
            <a:off x="4839006" y="4169259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91C426-A103-FFF5-1AC8-BF03982CFA6F}"/>
              </a:ext>
            </a:extLst>
          </p:cNvPr>
          <p:cNvSpPr/>
          <p:nvPr/>
        </p:nvSpPr>
        <p:spPr>
          <a:xfrm>
            <a:off x="10467807" y="4185429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3E2F7B-36A0-16A4-709F-F484922D9657}"/>
              </a:ext>
            </a:extLst>
          </p:cNvPr>
          <p:cNvSpPr txBox="1"/>
          <p:nvPr/>
        </p:nvSpPr>
        <p:spPr>
          <a:xfrm>
            <a:off x="94760" y="4356429"/>
            <a:ext cx="378630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Jul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6A9EA1-D191-224E-336F-4B45ED05E2A1}"/>
              </a:ext>
            </a:extLst>
          </p:cNvPr>
          <p:cNvSpPr/>
          <p:nvPr/>
        </p:nvSpPr>
        <p:spPr>
          <a:xfrm>
            <a:off x="9322892" y="4156752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124B5287-9BBB-3835-9405-5170EBF82CB5}"/>
              </a:ext>
            </a:extLst>
          </p:cNvPr>
          <p:cNvSpPr txBox="1">
            <a:spLocks/>
          </p:cNvSpPr>
          <p:nvPr/>
        </p:nvSpPr>
        <p:spPr>
          <a:xfrm>
            <a:off x="505884" y="57313"/>
            <a:ext cx="11110384" cy="680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accent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US" sz="2900" dirty="0">
                <a:latin typeface="AirIndia"/>
              </a:rPr>
              <a:t>HRMS – Overall Timeline for UK-AI Merger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E7C0254-B32E-AD25-ABB5-6EE853D6989D}"/>
              </a:ext>
            </a:extLst>
          </p:cNvPr>
          <p:cNvSpPr txBox="1"/>
          <p:nvPr/>
        </p:nvSpPr>
        <p:spPr>
          <a:xfrm>
            <a:off x="10342027" y="4376827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Nov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11427DA-D639-81C2-CCF6-D79DFB687581}"/>
              </a:ext>
            </a:extLst>
          </p:cNvPr>
          <p:cNvCxnSpPr>
            <a:cxnSpLocks/>
          </p:cNvCxnSpPr>
          <p:nvPr/>
        </p:nvCxnSpPr>
        <p:spPr>
          <a:xfrm>
            <a:off x="11273947" y="1716901"/>
            <a:ext cx="28498" cy="45091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DEE5256-E496-2B6B-6969-B442104CF066}"/>
              </a:ext>
            </a:extLst>
          </p:cNvPr>
          <p:cNvSpPr txBox="1"/>
          <p:nvPr/>
        </p:nvSpPr>
        <p:spPr>
          <a:xfrm>
            <a:off x="9197972" y="4340909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Oct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45544-0D8E-6AB6-62D3-CB54D89CA877}"/>
              </a:ext>
            </a:extLst>
          </p:cNvPr>
          <p:cNvSpPr txBox="1"/>
          <p:nvPr/>
        </p:nvSpPr>
        <p:spPr>
          <a:xfrm>
            <a:off x="4586918" y="4401456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Sep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2C62AD-CEA0-4AAD-D8D4-6ECD70CCC86E}"/>
              </a:ext>
            </a:extLst>
          </p:cNvPr>
          <p:cNvSpPr txBox="1"/>
          <p:nvPr/>
        </p:nvSpPr>
        <p:spPr>
          <a:xfrm>
            <a:off x="10842621" y="1126770"/>
            <a:ext cx="862652" cy="60016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chemeClr val="bg1"/>
                </a:solidFill>
                <a:latin typeface="Nunito Sans"/>
              </a:rPr>
              <a:t>70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Aircraft Transfer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C52BC0-6D7F-44B8-201E-4AAAAFF73603}"/>
              </a:ext>
            </a:extLst>
          </p:cNvPr>
          <p:cNvSpPr txBox="1"/>
          <p:nvPr/>
        </p:nvSpPr>
        <p:spPr>
          <a:xfrm>
            <a:off x="10893780" y="4319970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12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Nov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12F4142-AB0E-65D0-946A-CF1259EBDD12}"/>
              </a:ext>
            </a:extLst>
          </p:cNvPr>
          <p:cNvSpPr txBox="1"/>
          <p:nvPr/>
        </p:nvSpPr>
        <p:spPr>
          <a:xfrm>
            <a:off x="1640217" y="4375846"/>
            <a:ext cx="48122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Aug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9B6188F-CBD8-743B-4C38-64FCD5578B69}"/>
              </a:ext>
            </a:extLst>
          </p:cNvPr>
          <p:cNvSpPr/>
          <p:nvPr/>
        </p:nvSpPr>
        <p:spPr>
          <a:xfrm>
            <a:off x="215491" y="945903"/>
            <a:ext cx="1492368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A69C549-8EC2-3C43-E3A9-185E8400CB53}"/>
              </a:ext>
            </a:extLst>
          </p:cNvPr>
          <p:cNvSpPr txBox="1"/>
          <p:nvPr/>
        </p:nvSpPr>
        <p:spPr>
          <a:xfrm>
            <a:off x="188067" y="970721"/>
            <a:ext cx="1482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Data Mapping, Migration Preparation</a:t>
            </a:r>
            <a:endParaRPr lang="en-IN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94B3C9-60E0-CB50-499B-E6C5593673E9}"/>
              </a:ext>
            </a:extLst>
          </p:cNvPr>
          <p:cNvSpPr txBox="1"/>
          <p:nvPr/>
        </p:nvSpPr>
        <p:spPr>
          <a:xfrm>
            <a:off x="2246251" y="2245755"/>
            <a:ext cx="134457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Historical Data Upload</a:t>
            </a:r>
          </a:p>
          <a:p>
            <a:pPr algn="ctr"/>
            <a:r>
              <a:rPr lang="en-US" sz="1000" dirty="0"/>
              <a:t>Emp data, Leave balance, Pay info, Candidate &amp; Requisition data migration</a:t>
            </a:r>
            <a:endParaRPr lang="en-IN" sz="10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E22A3B8-DEC9-FB95-0063-C4ECDE1ECDEB}"/>
              </a:ext>
            </a:extLst>
          </p:cNvPr>
          <p:cNvCxnSpPr>
            <a:cxnSpLocks/>
          </p:cNvCxnSpPr>
          <p:nvPr/>
        </p:nvCxnSpPr>
        <p:spPr>
          <a:xfrm>
            <a:off x="11229293" y="2991146"/>
            <a:ext cx="0" cy="1288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BEC332B-2616-9728-0CD9-2D1C358C33B9}"/>
              </a:ext>
            </a:extLst>
          </p:cNvPr>
          <p:cNvSpPr/>
          <p:nvPr/>
        </p:nvSpPr>
        <p:spPr>
          <a:xfrm>
            <a:off x="7578409" y="953539"/>
            <a:ext cx="4454464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556155-31E8-7A24-12F7-BF00534C1A56}"/>
              </a:ext>
            </a:extLst>
          </p:cNvPr>
          <p:cNvSpPr txBox="1"/>
          <p:nvPr/>
        </p:nvSpPr>
        <p:spPr>
          <a:xfrm>
            <a:off x="7622876" y="970720"/>
            <a:ext cx="2847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Production Migration for UK</a:t>
            </a:r>
            <a:endParaRPr lang="en-IN" sz="1200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63B9E72-880D-20C7-63A2-F4CF6AA4B4E1}"/>
              </a:ext>
            </a:extLst>
          </p:cNvPr>
          <p:cNvCxnSpPr>
            <a:cxnSpLocks/>
          </p:cNvCxnSpPr>
          <p:nvPr/>
        </p:nvCxnSpPr>
        <p:spPr>
          <a:xfrm>
            <a:off x="716343" y="1622170"/>
            <a:ext cx="22905" cy="4389420"/>
          </a:xfrm>
          <a:prstGeom prst="straightConnector1">
            <a:avLst/>
          </a:prstGeom>
          <a:ln w="28575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C0462D3-134A-73F8-BAE5-F71138C1C542}"/>
              </a:ext>
            </a:extLst>
          </p:cNvPr>
          <p:cNvCxnSpPr>
            <a:cxnSpLocks/>
          </p:cNvCxnSpPr>
          <p:nvPr/>
        </p:nvCxnSpPr>
        <p:spPr>
          <a:xfrm>
            <a:off x="246235" y="5245415"/>
            <a:ext cx="13151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DF6D93C-2254-55AA-E2BF-005D0772C0CA}"/>
              </a:ext>
            </a:extLst>
          </p:cNvPr>
          <p:cNvSpPr txBox="1"/>
          <p:nvPr/>
        </p:nvSpPr>
        <p:spPr>
          <a:xfrm>
            <a:off x="215490" y="5317436"/>
            <a:ext cx="1851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Mapping &amp; </a:t>
            </a:r>
          </a:p>
          <a:p>
            <a:r>
              <a:rPr lang="en-US" sz="1000" dirty="0"/>
              <a:t>Migration Preparation</a:t>
            </a:r>
            <a:endParaRPr lang="en-IN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C06D9-5DC2-5067-C40C-96BDF84FC4BF}"/>
              </a:ext>
            </a:extLst>
          </p:cNvPr>
          <p:cNvSpPr txBox="1"/>
          <p:nvPr/>
        </p:nvSpPr>
        <p:spPr>
          <a:xfrm>
            <a:off x="174287" y="2433702"/>
            <a:ext cx="10795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AI Prod Copy to new SF instance</a:t>
            </a:r>
            <a:endParaRPr lang="en-IN" sz="1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572B16-225A-6D80-5A9E-8B2C78C11FF3}"/>
              </a:ext>
            </a:extLst>
          </p:cNvPr>
          <p:cNvCxnSpPr>
            <a:cxnSpLocks/>
          </p:cNvCxnSpPr>
          <p:nvPr/>
        </p:nvCxnSpPr>
        <p:spPr>
          <a:xfrm>
            <a:off x="631715" y="2956321"/>
            <a:ext cx="21618" cy="126391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9CD746-A3FD-F2CE-55A4-1B6A89FDEB28}"/>
              </a:ext>
            </a:extLst>
          </p:cNvPr>
          <p:cNvSpPr txBox="1"/>
          <p:nvPr/>
        </p:nvSpPr>
        <p:spPr>
          <a:xfrm>
            <a:off x="165225" y="3911150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8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July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D43751-C2F5-807C-7737-CBBDE85C8E68}"/>
              </a:ext>
            </a:extLst>
          </p:cNvPr>
          <p:cNvCxnSpPr>
            <a:cxnSpLocks/>
          </p:cNvCxnSpPr>
          <p:nvPr/>
        </p:nvCxnSpPr>
        <p:spPr>
          <a:xfrm>
            <a:off x="995558" y="2961894"/>
            <a:ext cx="21618" cy="1263910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0AFB6A1-946F-A812-F7DE-DD450560BE22}"/>
              </a:ext>
            </a:extLst>
          </p:cNvPr>
          <p:cNvSpPr txBox="1"/>
          <p:nvPr/>
        </p:nvSpPr>
        <p:spPr>
          <a:xfrm>
            <a:off x="706753" y="4446655"/>
            <a:ext cx="882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HR to share harmonized structure</a:t>
            </a:r>
            <a:endParaRPr lang="en-IN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D2D125-6772-BD22-4171-9250AE8CEC2B}"/>
              </a:ext>
            </a:extLst>
          </p:cNvPr>
          <p:cNvSpPr txBox="1"/>
          <p:nvPr/>
        </p:nvSpPr>
        <p:spPr>
          <a:xfrm>
            <a:off x="701771" y="4247751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Nunito Sans"/>
              </a:rPr>
              <a:t>23</a:t>
            </a:r>
            <a:r>
              <a:rPr lang="en-US" sz="1200" baseline="30000" dirty="0">
                <a:solidFill>
                  <a:srgbClr val="000000"/>
                </a:solidFill>
                <a:latin typeface="Nunito Sans"/>
              </a:rPr>
              <a:t>rd</a:t>
            </a:r>
            <a:r>
              <a:rPr lang="en-US" sz="1200" dirty="0">
                <a:solidFill>
                  <a:srgbClr val="000000"/>
                </a:solidFill>
                <a:latin typeface="Nunito San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July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8FF452-BC0F-EC48-C840-753FE49B4753}"/>
              </a:ext>
            </a:extLst>
          </p:cNvPr>
          <p:cNvSpPr txBox="1"/>
          <p:nvPr/>
        </p:nvSpPr>
        <p:spPr>
          <a:xfrm>
            <a:off x="1741350" y="3925507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5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Aug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F11731-14AC-9201-F03C-6D92E9159F7B}"/>
              </a:ext>
            </a:extLst>
          </p:cNvPr>
          <p:cNvCxnSpPr>
            <a:cxnSpLocks/>
          </p:cNvCxnSpPr>
          <p:nvPr/>
        </p:nvCxnSpPr>
        <p:spPr>
          <a:xfrm>
            <a:off x="2024945" y="2987700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8C7F8EE-1AE8-635D-0AA8-FB0199D36B50}"/>
              </a:ext>
            </a:extLst>
          </p:cNvPr>
          <p:cNvCxnSpPr>
            <a:cxnSpLocks/>
          </p:cNvCxnSpPr>
          <p:nvPr/>
        </p:nvCxnSpPr>
        <p:spPr>
          <a:xfrm>
            <a:off x="2059293" y="3429000"/>
            <a:ext cx="1893839" cy="7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73773C6-7006-D3EE-6067-4C5CAC811525}"/>
              </a:ext>
            </a:extLst>
          </p:cNvPr>
          <p:cNvSpPr txBox="1"/>
          <p:nvPr/>
        </p:nvSpPr>
        <p:spPr>
          <a:xfrm>
            <a:off x="3573587" y="3910132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23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rd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Aug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14A59E-8085-3D39-7CF2-1F20CEAE74B9}"/>
              </a:ext>
            </a:extLst>
          </p:cNvPr>
          <p:cNvSpPr txBox="1"/>
          <p:nvPr/>
        </p:nvSpPr>
        <p:spPr>
          <a:xfrm>
            <a:off x="765756" y="6451679"/>
            <a:ext cx="435888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*Past 3 years active UK employee data as aligned with HR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521751-E183-8585-9F4F-4C1735EC83B9}"/>
              </a:ext>
            </a:extLst>
          </p:cNvPr>
          <p:cNvCxnSpPr>
            <a:cxnSpLocks/>
          </p:cNvCxnSpPr>
          <p:nvPr/>
        </p:nvCxnSpPr>
        <p:spPr>
          <a:xfrm>
            <a:off x="1913389" y="4975089"/>
            <a:ext cx="20103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E432607-4222-368E-E258-D0FCCAF9EE2E}"/>
              </a:ext>
            </a:extLst>
          </p:cNvPr>
          <p:cNvSpPr txBox="1"/>
          <p:nvPr/>
        </p:nvSpPr>
        <p:spPr>
          <a:xfrm>
            <a:off x="2164360" y="5072558"/>
            <a:ext cx="1344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Reconfigurations in AI SF instance</a:t>
            </a:r>
            <a:endParaRPr lang="en-IN"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F06E18-78E6-D2D8-096A-4163A921A29D}"/>
              </a:ext>
            </a:extLst>
          </p:cNvPr>
          <p:cNvSpPr txBox="1"/>
          <p:nvPr/>
        </p:nvSpPr>
        <p:spPr>
          <a:xfrm>
            <a:off x="284075" y="6041817"/>
            <a:ext cx="998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B050"/>
                </a:solidFill>
              </a:rPr>
              <a:t>We are here</a:t>
            </a:r>
            <a:endParaRPr lang="en-IN" sz="1000" b="1" dirty="0">
              <a:solidFill>
                <a:srgbClr val="00B05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087CA6-9437-F85F-8800-EC85DC1A89A1}"/>
              </a:ext>
            </a:extLst>
          </p:cNvPr>
          <p:cNvSpPr txBox="1"/>
          <p:nvPr/>
        </p:nvSpPr>
        <p:spPr>
          <a:xfrm>
            <a:off x="4536712" y="3934450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30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Aug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1C0079-A0F8-B298-BFDD-B56BEEB7E46C}"/>
              </a:ext>
            </a:extLst>
          </p:cNvPr>
          <p:cNvSpPr txBox="1"/>
          <p:nvPr/>
        </p:nvSpPr>
        <p:spPr>
          <a:xfrm>
            <a:off x="5269760" y="2520748"/>
            <a:ext cx="13445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Historical Data Upload</a:t>
            </a:r>
          </a:p>
          <a:p>
            <a:pPr algn="ctr"/>
            <a:r>
              <a:rPr lang="en-US" sz="1000" dirty="0"/>
              <a:t>Emp data, Leave balance, Pay info, Candidate data</a:t>
            </a:r>
            <a:endParaRPr lang="en-IN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29A236-FE57-DBEB-4471-993E5DD2072E}"/>
              </a:ext>
            </a:extLst>
          </p:cNvPr>
          <p:cNvSpPr txBox="1"/>
          <p:nvPr/>
        </p:nvSpPr>
        <p:spPr>
          <a:xfrm>
            <a:off x="6220229" y="4241756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9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Sep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DF4EA8B-9AB4-971A-16B4-BDE55203644C}"/>
              </a:ext>
            </a:extLst>
          </p:cNvPr>
          <p:cNvCxnSpPr>
            <a:cxnSpLocks/>
          </p:cNvCxnSpPr>
          <p:nvPr/>
        </p:nvCxnSpPr>
        <p:spPr>
          <a:xfrm>
            <a:off x="4976731" y="3444786"/>
            <a:ext cx="17452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898A954-DB68-DEDD-1643-89EC4825E950}"/>
              </a:ext>
            </a:extLst>
          </p:cNvPr>
          <p:cNvCxnSpPr>
            <a:cxnSpLocks/>
          </p:cNvCxnSpPr>
          <p:nvPr/>
        </p:nvCxnSpPr>
        <p:spPr>
          <a:xfrm>
            <a:off x="6722030" y="2966070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114BB82-CA67-CA0E-0D85-66662D320587}"/>
              </a:ext>
            </a:extLst>
          </p:cNvPr>
          <p:cNvCxnSpPr>
            <a:cxnSpLocks/>
          </p:cNvCxnSpPr>
          <p:nvPr/>
        </p:nvCxnSpPr>
        <p:spPr>
          <a:xfrm>
            <a:off x="3951760" y="2980116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C1766C8-5137-4BDD-B095-F9731A614959}"/>
              </a:ext>
            </a:extLst>
          </p:cNvPr>
          <p:cNvCxnSpPr>
            <a:cxnSpLocks/>
          </p:cNvCxnSpPr>
          <p:nvPr/>
        </p:nvCxnSpPr>
        <p:spPr>
          <a:xfrm>
            <a:off x="4912214" y="2980116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FA38973-A475-E2F7-4D74-BB0346CC34E2}"/>
              </a:ext>
            </a:extLst>
          </p:cNvPr>
          <p:cNvSpPr txBox="1"/>
          <p:nvPr/>
        </p:nvSpPr>
        <p:spPr>
          <a:xfrm>
            <a:off x="2905934" y="3438190"/>
            <a:ext cx="10654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Validation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F0C46FE-1145-A33A-ECEC-1DCDAC89D958}"/>
              </a:ext>
            </a:extLst>
          </p:cNvPr>
          <p:cNvCxnSpPr>
            <a:cxnSpLocks/>
          </p:cNvCxnSpPr>
          <p:nvPr/>
        </p:nvCxnSpPr>
        <p:spPr>
          <a:xfrm>
            <a:off x="2395870" y="3840811"/>
            <a:ext cx="24408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4F5B87D-C862-DE2E-F832-CF1ACEE66676}"/>
              </a:ext>
            </a:extLst>
          </p:cNvPr>
          <p:cNvCxnSpPr>
            <a:cxnSpLocks/>
          </p:cNvCxnSpPr>
          <p:nvPr/>
        </p:nvCxnSpPr>
        <p:spPr>
          <a:xfrm flipH="1">
            <a:off x="7368688" y="3081472"/>
            <a:ext cx="13007" cy="111966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83858A1-77C3-9B25-E19A-05ABD402E590}"/>
              </a:ext>
            </a:extLst>
          </p:cNvPr>
          <p:cNvSpPr txBox="1"/>
          <p:nvPr/>
        </p:nvSpPr>
        <p:spPr>
          <a:xfrm>
            <a:off x="6810342" y="4303797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13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Sep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CEC2A9B-D1A8-1B69-96FF-2A486DE2D667}"/>
              </a:ext>
            </a:extLst>
          </p:cNvPr>
          <p:cNvSpPr txBox="1"/>
          <p:nvPr/>
        </p:nvSpPr>
        <p:spPr>
          <a:xfrm>
            <a:off x="5408097" y="3763179"/>
            <a:ext cx="82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Validation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5286BB4-1297-A81E-D0B9-F8123CD4FE94}"/>
              </a:ext>
            </a:extLst>
          </p:cNvPr>
          <p:cNvCxnSpPr>
            <a:cxnSpLocks/>
          </p:cNvCxnSpPr>
          <p:nvPr/>
        </p:nvCxnSpPr>
        <p:spPr>
          <a:xfrm>
            <a:off x="5324635" y="3734133"/>
            <a:ext cx="19155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85C3815-91BA-FFA6-EC4F-F030100A1721}"/>
              </a:ext>
            </a:extLst>
          </p:cNvPr>
          <p:cNvSpPr txBox="1"/>
          <p:nvPr/>
        </p:nvSpPr>
        <p:spPr>
          <a:xfrm>
            <a:off x="7659340" y="2390625"/>
            <a:ext cx="1035822" cy="43088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Nunito Sans"/>
              </a:rPr>
              <a:t>Prod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Nunito Sans"/>
              </a:rPr>
              <a:t>Migration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21A51C5-BC45-CA67-78F4-8C281D7CEFC8}"/>
              </a:ext>
            </a:extLst>
          </p:cNvPr>
          <p:cNvSpPr txBox="1"/>
          <p:nvPr/>
        </p:nvSpPr>
        <p:spPr>
          <a:xfrm>
            <a:off x="8337525" y="4313390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27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Sep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9B94568-F313-C367-1DB8-448C5A954B44}"/>
              </a:ext>
            </a:extLst>
          </p:cNvPr>
          <p:cNvCxnSpPr>
            <a:cxnSpLocks/>
          </p:cNvCxnSpPr>
          <p:nvPr/>
        </p:nvCxnSpPr>
        <p:spPr>
          <a:xfrm>
            <a:off x="8800286" y="2973954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6FE1295-C255-93CC-6E8E-165D504810C3}"/>
              </a:ext>
            </a:extLst>
          </p:cNvPr>
          <p:cNvCxnSpPr>
            <a:cxnSpLocks/>
          </p:cNvCxnSpPr>
          <p:nvPr/>
        </p:nvCxnSpPr>
        <p:spPr>
          <a:xfrm>
            <a:off x="7659340" y="3444786"/>
            <a:ext cx="10358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89C790E-65DC-4E19-1996-5C03A5464A1C}"/>
              </a:ext>
            </a:extLst>
          </p:cNvPr>
          <p:cNvSpPr txBox="1"/>
          <p:nvPr/>
        </p:nvSpPr>
        <p:spPr>
          <a:xfrm>
            <a:off x="10642982" y="2392634"/>
            <a:ext cx="1175810" cy="6001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Nunito Sans"/>
              </a:rPr>
              <a:t>Activation of UK Employee in AI SF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5971E7-FA48-8F0F-D0A1-5630C4D28919}"/>
              </a:ext>
            </a:extLst>
          </p:cNvPr>
          <p:cNvSpPr/>
          <p:nvPr/>
        </p:nvSpPr>
        <p:spPr>
          <a:xfrm>
            <a:off x="1759964" y="932379"/>
            <a:ext cx="3178892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E8924F-A9FC-2CD4-FEA5-5F2819F9FC6B}"/>
              </a:ext>
            </a:extLst>
          </p:cNvPr>
          <p:cNvSpPr txBox="1"/>
          <p:nvPr/>
        </p:nvSpPr>
        <p:spPr>
          <a:xfrm>
            <a:off x="1791261" y="951068"/>
            <a:ext cx="2918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Historical Data* Migration </a:t>
            </a:r>
            <a:r>
              <a:rPr lang="en-US" sz="1200" b="1" dirty="0">
                <a:highlight>
                  <a:srgbClr val="FFFF00"/>
                </a:highlight>
              </a:rPr>
              <a:t>Mock Run 1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63D536B-3787-384F-45BA-A4CD24E45146}"/>
              </a:ext>
            </a:extLst>
          </p:cNvPr>
          <p:cNvSpPr/>
          <p:nvPr/>
        </p:nvSpPr>
        <p:spPr>
          <a:xfrm>
            <a:off x="5003245" y="932378"/>
            <a:ext cx="2476575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1D16A02-A732-81A6-6427-E4C877B5B86F}"/>
              </a:ext>
            </a:extLst>
          </p:cNvPr>
          <p:cNvSpPr txBox="1"/>
          <p:nvPr/>
        </p:nvSpPr>
        <p:spPr>
          <a:xfrm>
            <a:off x="4990961" y="975839"/>
            <a:ext cx="247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Historical Data* Migration </a:t>
            </a:r>
            <a:r>
              <a:rPr lang="en-US" sz="1200" b="1" dirty="0">
                <a:highlight>
                  <a:srgbClr val="FFFF00"/>
                </a:highlight>
              </a:rPr>
              <a:t>Mock Run 2</a:t>
            </a:r>
            <a:endParaRPr lang="en-IN" sz="1200" b="1" dirty="0">
              <a:highlight>
                <a:srgbClr val="FFFF00"/>
              </a:highlight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016E845-F496-6995-9F70-9C09E7E503B8}"/>
              </a:ext>
            </a:extLst>
          </p:cNvPr>
          <p:cNvCxnSpPr>
            <a:cxnSpLocks/>
          </p:cNvCxnSpPr>
          <p:nvPr/>
        </p:nvCxnSpPr>
        <p:spPr>
          <a:xfrm>
            <a:off x="2408134" y="3018643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26F70D7-5C58-02BF-1902-1622033D8EC4}"/>
              </a:ext>
            </a:extLst>
          </p:cNvPr>
          <p:cNvSpPr txBox="1"/>
          <p:nvPr/>
        </p:nvSpPr>
        <p:spPr>
          <a:xfrm>
            <a:off x="2123690" y="4295848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13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Aug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B5CC721-17CF-5209-923B-306127183F84}"/>
              </a:ext>
            </a:extLst>
          </p:cNvPr>
          <p:cNvSpPr txBox="1"/>
          <p:nvPr/>
        </p:nvSpPr>
        <p:spPr>
          <a:xfrm>
            <a:off x="3639306" y="2481308"/>
            <a:ext cx="935789" cy="6001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Data Migration Complete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09CF38D-1EA8-5183-2C3D-DA9861126815}"/>
              </a:ext>
            </a:extLst>
          </p:cNvPr>
          <p:cNvSpPr txBox="1"/>
          <p:nvPr/>
        </p:nvSpPr>
        <p:spPr>
          <a:xfrm>
            <a:off x="4119190" y="3364801"/>
            <a:ext cx="849707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Moc</a:t>
            </a:r>
            <a:r>
              <a:rPr lang="en-US" sz="900" b="1" dirty="0">
                <a:solidFill>
                  <a:srgbClr val="000000"/>
                </a:solidFill>
                <a:latin typeface="Nunito Sans"/>
              </a:rPr>
              <a:t>k-Run 1 Complete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A1F9CB0-8AA5-40F4-876D-FD8BC123CF8B}"/>
              </a:ext>
            </a:extLst>
          </p:cNvPr>
          <p:cNvSpPr txBox="1"/>
          <p:nvPr/>
        </p:nvSpPr>
        <p:spPr>
          <a:xfrm>
            <a:off x="9912207" y="3933211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Nov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3636F15-198C-A04C-C024-359A9FD08108}"/>
              </a:ext>
            </a:extLst>
          </p:cNvPr>
          <p:cNvCxnSpPr>
            <a:cxnSpLocks/>
          </p:cNvCxnSpPr>
          <p:nvPr/>
        </p:nvCxnSpPr>
        <p:spPr>
          <a:xfrm>
            <a:off x="10536888" y="2942124"/>
            <a:ext cx="13261" cy="122099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94D6A9A-8161-881A-14B5-91FE899B44F4}"/>
              </a:ext>
            </a:extLst>
          </p:cNvPr>
          <p:cNvSpPr txBox="1"/>
          <p:nvPr/>
        </p:nvSpPr>
        <p:spPr>
          <a:xfrm>
            <a:off x="10600958" y="3039851"/>
            <a:ext cx="7135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Parallel run for CAE-CM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361D643-1E66-83D6-F7B6-7A3BAD0367AB}"/>
              </a:ext>
            </a:extLst>
          </p:cNvPr>
          <p:cNvCxnSpPr>
            <a:cxnSpLocks/>
          </p:cNvCxnSpPr>
          <p:nvPr/>
        </p:nvCxnSpPr>
        <p:spPr>
          <a:xfrm>
            <a:off x="10573560" y="3593849"/>
            <a:ext cx="63744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584E5FB-C3A9-5B5B-9C03-B68BCC1A877E}"/>
              </a:ext>
            </a:extLst>
          </p:cNvPr>
          <p:cNvCxnSpPr>
            <a:cxnSpLocks/>
          </p:cNvCxnSpPr>
          <p:nvPr/>
        </p:nvCxnSpPr>
        <p:spPr>
          <a:xfrm flipH="1">
            <a:off x="5330750" y="3527451"/>
            <a:ext cx="4216" cy="66749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9475700D-4EE5-B171-367D-0CECB4A45214}"/>
              </a:ext>
            </a:extLst>
          </p:cNvPr>
          <p:cNvSpPr txBox="1"/>
          <p:nvPr/>
        </p:nvSpPr>
        <p:spPr>
          <a:xfrm>
            <a:off x="5128021" y="4279755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2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nd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Sep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7F9DCE2-7B3D-8B08-99C9-EE70146D0D00}"/>
              </a:ext>
            </a:extLst>
          </p:cNvPr>
          <p:cNvSpPr txBox="1"/>
          <p:nvPr/>
        </p:nvSpPr>
        <p:spPr>
          <a:xfrm>
            <a:off x="6408068" y="2314258"/>
            <a:ext cx="935789" cy="60016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Data Migration Complete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9B7DF4D-D914-B6C0-3D6F-37F900007468}"/>
              </a:ext>
            </a:extLst>
          </p:cNvPr>
          <p:cNvSpPr txBox="1"/>
          <p:nvPr/>
        </p:nvSpPr>
        <p:spPr>
          <a:xfrm>
            <a:off x="6788197" y="3092571"/>
            <a:ext cx="849707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Moc</a:t>
            </a:r>
            <a:r>
              <a:rPr lang="en-US" sz="900" b="1" dirty="0">
                <a:solidFill>
                  <a:srgbClr val="000000"/>
                </a:solidFill>
                <a:latin typeface="Nunito Sans"/>
              </a:rPr>
              <a:t>k-Run 2 Complete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8B618-267E-EBB0-9DDD-1022855BA036}"/>
              </a:ext>
            </a:extLst>
          </p:cNvPr>
          <p:cNvSpPr txBox="1"/>
          <p:nvPr/>
        </p:nvSpPr>
        <p:spPr>
          <a:xfrm>
            <a:off x="9160181" y="4627894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Oct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8AF9AE-4539-B7A6-7E37-0A0DA3F8C812}"/>
              </a:ext>
            </a:extLst>
          </p:cNvPr>
          <p:cNvCxnSpPr>
            <a:cxnSpLocks/>
          </p:cNvCxnSpPr>
          <p:nvPr/>
        </p:nvCxnSpPr>
        <p:spPr>
          <a:xfrm flipH="1">
            <a:off x="7676058" y="2987700"/>
            <a:ext cx="5830" cy="123958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1273CB-0F41-3761-3A31-EFAF2B53E800}"/>
              </a:ext>
            </a:extLst>
          </p:cNvPr>
          <p:cNvSpPr txBox="1"/>
          <p:nvPr/>
        </p:nvSpPr>
        <p:spPr>
          <a:xfrm>
            <a:off x="7520804" y="4301829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21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Sep</a:t>
            </a:r>
          </a:p>
        </p:txBody>
      </p:sp>
    </p:spTree>
    <p:extLst>
      <p:ext uri="{BB962C8B-B14F-4D97-AF65-F5344CB8AC3E}">
        <p14:creationId xmlns:p14="http://schemas.microsoft.com/office/powerpoint/2010/main" val="163302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53F5-5D09-1D1B-C22E-36203B14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3EC2613-99E5-D425-27CE-C18CF5A1919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39745D-BC35-7A51-A009-8D29B0DF5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BF6082-A85C-EE53-8515-4DF3EF3A20FA}"/>
              </a:ext>
            </a:extLst>
          </p:cNvPr>
          <p:cNvCxnSpPr>
            <a:cxnSpLocks/>
          </p:cNvCxnSpPr>
          <p:nvPr/>
        </p:nvCxnSpPr>
        <p:spPr>
          <a:xfrm>
            <a:off x="154305" y="4227285"/>
            <a:ext cx="11694578" cy="637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201276-E721-8F91-1CC1-2FEBAFC9F4BF}"/>
              </a:ext>
            </a:extLst>
          </p:cNvPr>
          <p:cNvSpPr/>
          <p:nvPr/>
        </p:nvSpPr>
        <p:spPr>
          <a:xfrm>
            <a:off x="153707" y="4162614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72FA8C-118D-0AFA-905C-28E35DA822E6}"/>
              </a:ext>
            </a:extLst>
          </p:cNvPr>
          <p:cNvSpPr/>
          <p:nvPr/>
        </p:nvSpPr>
        <p:spPr>
          <a:xfrm>
            <a:off x="1792541" y="4162613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A2C45B-78B9-8945-207A-3827DD48D471}"/>
              </a:ext>
            </a:extLst>
          </p:cNvPr>
          <p:cNvSpPr/>
          <p:nvPr/>
        </p:nvSpPr>
        <p:spPr>
          <a:xfrm>
            <a:off x="3513126" y="4169259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1508C2-FA5F-0EAE-2058-E4D792F3C1EE}"/>
              </a:ext>
            </a:extLst>
          </p:cNvPr>
          <p:cNvSpPr/>
          <p:nvPr/>
        </p:nvSpPr>
        <p:spPr>
          <a:xfrm>
            <a:off x="8254959" y="4185429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B294F5-107D-F47B-FCD6-E98F3DE3F7B8}"/>
              </a:ext>
            </a:extLst>
          </p:cNvPr>
          <p:cNvSpPr txBox="1"/>
          <p:nvPr/>
        </p:nvSpPr>
        <p:spPr>
          <a:xfrm>
            <a:off x="94760" y="4356429"/>
            <a:ext cx="378630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Jul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C78F9D-B851-4F0A-3A50-ADD1D4780FE9}"/>
              </a:ext>
            </a:extLst>
          </p:cNvPr>
          <p:cNvSpPr/>
          <p:nvPr/>
        </p:nvSpPr>
        <p:spPr>
          <a:xfrm>
            <a:off x="6057802" y="4192670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99E17099-A051-8219-8FD5-9B0442107B4C}"/>
              </a:ext>
            </a:extLst>
          </p:cNvPr>
          <p:cNvSpPr txBox="1">
            <a:spLocks/>
          </p:cNvSpPr>
          <p:nvPr/>
        </p:nvSpPr>
        <p:spPr>
          <a:xfrm>
            <a:off x="505884" y="57313"/>
            <a:ext cx="11110384" cy="680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accent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US" sz="2900" dirty="0">
                <a:latin typeface="AirIndia"/>
              </a:rPr>
              <a:t>Payroll – Overall Timeline for UK-AI Merger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C7F88C8-791C-B272-1E5F-941ADE451DF3}"/>
              </a:ext>
            </a:extLst>
          </p:cNvPr>
          <p:cNvSpPr txBox="1"/>
          <p:nvPr/>
        </p:nvSpPr>
        <p:spPr>
          <a:xfrm>
            <a:off x="8129179" y="4376827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Nov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4A467F1-CA98-FB5F-9761-0A6E1B8F2F1D}"/>
              </a:ext>
            </a:extLst>
          </p:cNvPr>
          <p:cNvSpPr/>
          <p:nvPr/>
        </p:nvSpPr>
        <p:spPr>
          <a:xfrm>
            <a:off x="11101601" y="4184130"/>
            <a:ext cx="185057" cy="1741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CFEED5-0536-D491-27BC-FB5182A728B2}"/>
              </a:ext>
            </a:extLst>
          </p:cNvPr>
          <p:cNvSpPr txBox="1"/>
          <p:nvPr/>
        </p:nvSpPr>
        <p:spPr>
          <a:xfrm>
            <a:off x="11003524" y="4366841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Dec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CBCB8B0-6524-286A-B51A-53EA45F1C15C}"/>
              </a:ext>
            </a:extLst>
          </p:cNvPr>
          <p:cNvCxnSpPr>
            <a:cxnSpLocks/>
          </p:cNvCxnSpPr>
          <p:nvPr/>
        </p:nvCxnSpPr>
        <p:spPr>
          <a:xfrm>
            <a:off x="10469275" y="1716901"/>
            <a:ext cx="28498" cy="45091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BB4029-DE3D-41D3-EAD1-F1596FFA1DF3}"/>
              </a:ext>
            </a:extLst>
          </p:cNvPr>
          <p:cNvSpPr txBox="1"/>
          <p:nvPr/>
        </p:nvSpPr>
        <p:spPr>
          <a:xfrm>
            <a:off x="5932882" y="4376827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Oct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3240BF-AFEB-3898-6A44-AB7B01312D35}"/>
              </a:ext>
            </a:extLst>
          </p:cNvPr>
          <p:cNvSpPr txBox="1"/>
          <p:nvPr/>
        </p:nvSpPr>
        <p:spPr>
          <a:xfrm>
            <a:off x="3251894" y="4401456"/>
            <a:ext cx="49964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Nunito Sans"/>
              </a:rPr>
              <a:t>Sep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7C31CB-E760-DCFF-87E0-5838958C3B83}"/>
              </a:ext>
            </a:extLst>
          </p:cNvPr>
          <p:cNvSpPr txBox="1"/>
          <p:nvPr/>
        </p:nvSpPr>
        <p:spPr>
          <a:xfrm>
            <a:off x="10037949" y="1126770"/>
            <a:ext cx="862652" cy="60016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chemeClr val="bg1"/>
                </a:solidFill>
                <a:latin typeface="Nunito Sans"/>
              </a:rPr>
              <a:t>70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Aircraft Transfer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536E01-C82E-FCE6-5423-979E0EB1A656}"/>
              </a:ext>
            </a:extLst>
          </p:cNvPr>
          <p:cNvSpPr txBox="1"/>
          <p:nvPr/>
        </p:nvSpPr>
        <p:spPr>
          <a:xfrm>
            <a:off x="10089108" y="4319970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12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Nov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66C6260-DA37-5DC5-1480-DEBEFA697591}"/>
              </a:ext>
            </a:extLst>
          </p:cNvPr>
          <p:cNvSpPr txBox="1"/>
          <p:nvPr/>
        </p:nvSpPr>
        <p:spPr>
          <a:xfrm>
            <a:off x="1640217" y="4375846"/>
            <a:ext cx="481222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Aug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A5503B0-02C9-2C51-12EF-1EDB7F25261A}"/>
              </a:ext>
            </a:extLst>
          </p:cNvPr>
          <p:cNvSpPr/>
          <p:nvPr/>
        </p:nvSpPr>
        <p:spPr>
          <a:xfrm>
            <a:off x="3604169" y="945903"/>
            <a:ext cx="2549849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450382B-A9E2-5505-8B7B-CE91EE043468}"/>
              </a:ext>
            </a:extLst>
          </p:cNvPr>
          <p:cNvSpPr txBox="1"/>
          <p:nvPr/>
        </p:nvSpPr>
        <p:spPr>
          <a:xfrm>
            <a:off x="188067" y="970721"/>
            <a:ext cx="33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Data Mapping, Migration Preparation &amp; Configuration of UK Pay Structures</a:t>
            </a:r>
            <a:endParaRPr lang="en-IN" sz="12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7283BE0-76E3-505B-8EBB-7B8FB63A07B7}"/>
              </a:ext>
            </a:extLst>
          </p:cNvPr>
          <p:cNvCxnSpPr>
            <a:cxnSpLocks/>
          </p:cNvCxnSpPr>
          <p:nvPr/>
        </p:nvCxnSpPr>
        <p:spPr>
          <a:xfrm>
            <a:off x="1880806" y="3076498"/>
            <a:ext cx="22" cy="1092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933B14D1-C8E4-9B03-C2E5-4EAEBEF6CB83}"/>
              </a:ext>
            </a:extLst>
          </p:cNvPr>
          <p:cNvSpPr/>
          <p:nvPr/>
        </p:nvSpPr>
        <p:spPr>
          <a:xfrm>
            <a:off x="8295552" y="953539"/>
            <a:ext cx="3737319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A2C84B-2E80-1B34-E500-16AE306217E6}"/>
              </a:ext>
            </a:extLst>
          </p:cNvPr>
          <p:cNvSpPr txBox="1"/>
          <p:nvPr/>
        </p:nvSpPr>
        <p:spPr>
          <a:xfrm>
            <a:off x="8304551" y="981172"/>
            <a:ext cx="1859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Production Migration for UK</a:t>
            </a:r>
            <a:endParaRPr lang="en-IN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643A08-CF8E-9AF7-4072-0A226B5E1BE5}"/>
              </a:ext>
            </a:extLst>
          </p:cNvPr>
          <p:cNvSpPr txBox="1"/>
          <p:nvPr/>
        </p:nvSpPr>
        <p:spPr>
          <a:xfrm>
            <a:off x="4293143" y="4271215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13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Sep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582D84-3FE1-DA89-9B81-F1CB95FA2D58}"/>
              </a:ext>
            </a:extLst>
          </p:cNvPr>
          <p:cNvCxnSpPr>
            <a:cxnSpLocks/>
          </p:cNvCxnSpPr>
          <p:nvPr/>
        </p:nvCxnSpPr>
        <p:spPr>
          <a:xfrm>
            <a:off x="3590079" y="2551219"/>
            <a:ext cx="2542591" cy="45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5446F1-8894-3051-343C-29FA30E82E3A}"/>
              </a:ext>
            </a:extLst>
          </p:cNvPr>
          <p:cNvCxnSpPr>
            <a:cxnSpLocks/>
          </p:cNvCxnSpPr>
          <p:nvPr/>
        </p:nvCxnSpPr>
        <p:spPr>
          <a:xfrm>
            <a:off x="4608206" y="3838846"/>
            <a:ext cx="14495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A3BE767-9758-8558-CD46-BC81F3FAD62D}"/>
              </a:ext>
            </a:extLst>
          </p:cNvPr>
          <p:cNvSpPr txBox="1"/>
          <p:nvPr/>
        </p:nvSpPr>
        <p:spPr>
          <a:xfrm>
            <a:off x="4646395" y="3310736"/>
            <a:ext cx="14810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Validation for Aug payroll</a:t>
            </a:r>
          </a:p>
          <a:p>
            <a:r>
              <a:rPr lang="en-US" sz="1000" dirty="0"/>
              <a:t>(Mock Run 1)</a:t>
            </a:r>
            <a:endParaRPr lang="en-IN" sz="10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528827-AE56-A0D1-6030-AE530AA8E703}"/>
              </a:ext>
            </a:extLst>
          </p:cNvPr>
          <p:cNvCxnSpPr>
            <a:cxnSpLocks/>
          </p:cNvCxnSpPr>
          <p:nvPr/>
        </p:nvCxnSpPr>
        <p:spPr>
          <a:xfrm>
            <a:off x="739248" y="1442837"/>
            <a:ext cx="0" cy="4568753"/>
          </a:xfrm>
          <a:prstGeom prst="straightConnector1">
            <a:avLst/>
          </a:prstGeom>
          <a:ln w="28575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DCE955-E89B-B3F4-9CD6-A7B5CF559715}"/>
              </a:ext>
            </a:extLst>
          </p:cNvPr>
          <p:cNvCxnSpPr>
            <a:cxnSpLocks/>
          </p:cNvCxnSpPr>
          <p:nvPr/>
        </p:nvCxnSpPr>
        <p:spPr>
          <a:xfrm>
            <a:off x="796452" y="3787686"/>
            <a:ext cx="10963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650853F-F89C-3791-BEFC-91C8E7194DB6}"/>
              </a:ext>
            </a:extLst>
          </p:cNvPr>
          <p:cNvSpPr txBox="1"/>
          <p:nvPr/>
        </p:nvSpPr>
        <p:spPr>
          <a:xfrm>
            <a:off x="777295" y="3091418"/>
            <a:ext cx="13534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Mapping &amp; </a:t>
            </a:r>
          </a:p>
          <a:p>
            <a:r>
              <a:rPr lang="en-US" sz="1000" dirty="0"/>
              <a:t>Migration Preparation</a:t>
            </a:r>
            <a:endParaRPr lang="en-IN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A08981-A068-B703-5E7C-B753097B7BAE}"/>
              </a:ext>
            </a:extLst>
          </p:cNvPr>
          <p:cNvSpPr txBox="1"/>
          <p:nvPr/>
        </p:nvSpPr>
        <p:spPr>
          <a:xfrm>
            <a:off x="2478197" y="4213985"/>
            <a:ext cx="921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 22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nd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Aug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E1FFA-0171-D4EB-D928-6E26880E4631}"/>
              </a:ext>
            </a:extLst>
          </p:cNvPr>
          <p:cNvSpPr txBox="1"/>
          <p:nvPr/>
        </p:nvSpPr>
        <p:spPr>
          <a:xfrm>
            <a:off x="11112145" y="1597037"/>
            <a:ext cx="869785" cy="110799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Actual Nov Payroll from new AI PS instance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C64123-8442-7FFF-ABF2-E11D4EDCD172}"/>
              </a:ext>
            </a:extLst>
          </p:cNvPr>
          <p:cNvCxnSpPr>
            <a:cxnSpLocks/>
          </p:cNvCxnSpPr>
          <p:nvPr/>
        </p:nvCxnSpPr>
        <p:spPr>
          <a:xfrm>
            <a:off x="11181371" y="2659313"/>
            <a:ext cx="0" cy="15579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A1908B-ADEB-3F73-5694-497BE16828B9}"/>
              </a:ext>
            </a:extLst>
          </p:cNvPr>
          <p:cNvSpPr txBox="1"/>
          <p:nvPr/>
        </p:nvSpPr>
        <p:spPr>
          <a:xfrm>
            <a:off x="1937231" y="2579137"/>
            <a:ext cx="11251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-UK Pay structures, pay heads &amp; master data creation</a:t>
            </a:r>
          </a:p>
          <a:p>
            <a:r>
              <a:rPr lang="en-US" sz="1000" dirty="0"/>
              <a:t>-SF-PS Integration for test PS instance</a:t>
            </a:r>
            <a:endParaRPr lang="en-IN" sz="1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0430B8-02A2-F372-87D4-757B9DAE6A8E}"/>
              </a:ext>
            </a:extLst>
          </p:cNvPr>
          <p:cNvCxnSpPr>
            <a:cxnSpLocks/>
          </p:cNvCxnSpPr>
          <p:nvPr/>
        </p:nvCxnSpPr>
        <p:spPr>
          <a:xfrm>
            <a:off x="1937231" y="3787686"/>
            <a:ext cx="10963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C2C38D-522E-60F3-F504-62706B195FA5}"/>
              </a:ext>
            </a:extLst>
          </p:cNvPr>
          <p:cNvCxnSpPr>
            <a:cxnSpLocks/>
          </p:cNvCxnSpPr>
          <p:nvPr/>
        </p:nvCxnSpPr>
        <p:spPr>
          <a:xfrm>
            <a:off x="3039937" y="3076441"/>
            <a:ext cx="22" cy="1092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69A17E-61BE-A5B6-5C14-AEA1F90B05EB}"/>
              </a:ext>
            </a:extLst>
          </p:cNvPr>
          <p:cNvSpPr txBox="1"/>
          <p:nvPr/>
        </p:nvSpPr>
        <p:spPr>
          <a:xfrm>
            <a:off x="2909719" y="4866495"/>
            <a:ext cx="738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-Data cleansing &amp; template creation</a:t>
            </a:r>
            <a:endParaRPr lang="en-IN" sz="10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86D7F8-AF31-3A87-2233-7E6ABDCDBCF5}"/>
              </a:ext>
            </a:extLst>
          </p:cNvPr>
          <p:cNvCxnSpPr>
            <a:cxnSpLocks/>
          </p:cNvCxnSpPr>
          <p:nvPr/>
        </p:nvCxnSpPr>
        <p:spPr>
          <a:xfrm>
            <a:off x="3057476" y="4851400"/>
            <a:ext cx="5923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AA2951-50FE-1897-7D69-EE242DA4E6E8}"/>
              </a:ext>
            </a:extLst>
          </p:cNvPr>
          <p:cNvCxnSpPr>
            <a:cxnSpLocks/>
          </p:cNvCxnSpPr>
          <p:nvPr/>
        </p:nvCxnSpPr>
        <p:spPr>
          <a:xfrm>
            <a:off x="4552762" y="3127874"/>
            <a:ext cx="22" cy="1092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3943221-B80E-CC83-AF65-625D9F2CB407}"/>
              </a:ext>
            </a:extLst>
          </p:cNvPr>
          <p:cNvCxnSpPr>
            <a:cxnSpLocks/>
          </p:cNvCxnSpPr>
          <p:nvPr/>
        </p:nvCxnSpPr>
        <p:spPr>
          <a:xfrm>
            <a:off x="6141743" y="3098982"/>
            <a:ext cx="22" cy="1092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D531F27-6FA0-00C3-0E7A-9CA5326482D9}"/>
              </a:ext>
            </a:extLst>
          </p:cNvPr>
          <p:cNvSpPr txBox="1"/>
          <p:nvPr/>
        </p:nvSpPr>
        <p:spPr>
          <a:xfrm>
            <a:off x="4258961" y="1731928"/>
            <a:ext cx="1322614" cy="76944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Parallel Run</a:t>
            </a:r>
          </a:p>
          <a:p>
            <a:pPr algn="ctr"/>
            <a:r>
              <a:rPr lang="en-US" sz="1100" dirty="0"/>
              <a:t>Aug payroll mock run in the new AI PS</a:t>
            </a:r>
            <a:endParaRPr lang="en-IN" sz="11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B2C5645-02BC-5005-9B21-A0E419A17D18}"/>
              </a:ext>
            </a:extLst>
          </p:cNvPr>
          <p:cNvCxnSpPr>
            <a:cxnSpLocks/>
          </p:cNvCxnSpPr>
          <p:nvPr/>
        </p:nvCxnSpPr>
        <p:spPr>
          <a:xfrm>
            <a:off x="6384729" y="2553619"/>
            <a:ext cx="17444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19DF115-21F1-20A3-6743-6C68C7B3E4F5}"/>
              </a:ext>
            </a:extLst>
          </p:cNvPr>
          <p:cNvSpPr txBox="1"/>
          <p:nvPr/>
        </p:nvSpPr>
        <p:spPr>
          <a:xfrm>
            <a:off x="6619616" y="1743100"/>
            <a:ext cx="1322614" cy="76944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Parallel Run</a:t>
            </a:r>
          </a:p>
          <a:p>
            <a:pPr algn="ctr"/>
            <a:r>
              <a:rPr lang="en-US" sz="1100" dirty="0"/>
              <a:t>Sep payroll mock run in the new AI PS</a:t>
            </a:r>
            <a:endParaRPr lang="en-IN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4EB32B-8BEB-5D6C-D234-DB5A7BD9966E}"/>
              </a:ext>
            </a:extLst>
          </p:cNvPr>
          <p:cNvSpPr txBox="1"/>
          <p:nvPr/>
        </p:nvSpPr>
        <p:spPr>
          <a:xfrm>
            <a:off x="6493130" y="4262956"/>
            <a:ext cx="859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13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t> Oct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4CB252A-AA83-9986-AAE5-3618B4879607}"/>
              </a:ext>
            </a:extLst>
          </p:cNvPr>
          <p:cNvCxnSpPr>
            <a:cxnSpLocks/>
          </p:cNvCxnSpPr>
          <p:nvPr/>
        </p:nvCxnSpPr>
        <p:spPr>
          <a:xfrm>
            <a:off x="6808193" y="3830587"/>
            <a:ext cx="14495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8A201C2-F79B-35D2-BF19-E9813FC632F4}"/>
              </a:ext>
            </a:extLst>
          </p:cNvPr>
          <p:cNvSpPr txBox="1"/>
          <p:nvPr/>
        </p:nvSpPr>
        <p:spPr>
          <a:xfrm>
            <a:off x="6846382" y="2835948"/>
            <a:ext cx="879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Data Validation for Sep payroll</a:t>
            </a:r>
          </a:p>
          <a:p>
            <a:r>
              <a:rPr lang="en-US" sz="1000" dirty="0"/>
              <a:t>(Mock Run 2)</a:t>
            </a:r>
            <a:endParaRPr lang="en-IN" sz="10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89DE108-8A06-E458-2824-315DB5EE04F7}"/>
              </a:ext>
            </a:extLst>
          </p:cNvPr>
          <p:cNvCxnSpPr>
            <a:cxnSpLocks/>
          </p:cNvCxnSpPr>
          <p:nvPr/>
        </p:nvCxnSpPr>
        <p:spPr>
          <a:xfrm>
            <a:off x="6752749" y="3119615"/>
            <a:ext cx="22" cy="1092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3D05939-5889-F6EA-C2C4-C226079E4BCC}"/>
              </a:ext>
            </a:extLst>
          </p:cNvPr>
          <p:cNvCxnSpPr>
            <a:cxnSpLocks/>
          </p:cNvCxnSpPr>
          <p:nvPr/>
        </p:nvCxnSpPr>
        <p:spPr>
          <a:xfrm>
            <a:off x="8341730" y="3090723"/>
            <a:ext cx="22" cy="1092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228A9EA-2076-1EDC-79C0-6A5B708097DE}"/>
              </a:ext>
            </a:extLst>
          </p:cNvPr>
          <p:cNvCxnSpPr>
            <a:cxnSpLocks/>
          </p:cNvCxnSpPr>
          <p:nvPr/>
        </p:nvCxnSpPr>
        <p:spPr>
          <a:xfrm>
            <a:off x="8551050" y="2932514"/>
            <a:ext cx="16170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EEA94DD-22B3-55C0-942A-6513D8144765}"/>
              </a:ext>
            </a:extLst>
          </p:cNvPr>
          <p:cNvSpPr txBox="1"/>
          <p:nvPr/>
        </p:nvSpPr>
        <p:spPr>
          <a:xfrm>
            <a:off x="8628821" y="3052213"/>
            <a:ext cx="1454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Historical data migration from SAP S4 HANA to AI PS</a:t>
            </a:r>
            <a:endParaRPr lang="en-IN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54725A-37DE-5DB8-A995-1CD638E882E9}"/>
              </a:ext>
            </a:extLst>
          </p:cNvPr>
          <p:cNvSpPr txBox="1"/>
          <p:nvPr/>
        </p:nvSpPr>
        <p:spPr>
          <a:xfrm>
            <a:off x="284075" y="6041817"/>
            <a:ext cx="998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B050"/>
                </a:solidFill>
              </a:rPr>
              <a:t>We are here</a:t>
            </a:r>
            <a:endParaRPr lang="en-IN" sz="1000" b="1" dirty="0">
              <a:solidFill>
                <a:srgbClr val="00B05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7FAC2ED-78D5-2B5A-2F90-35FABDCF9AB7}"/>
              </a:ext>
            </a:extLst>
          </p:cNvPr>
          <p:cNvSpPr/>
          <p:nvPr/>
        </p:nvSpPr>
        <p:spPr>
          <a:xfrm>
            <a:off x="6218851" y="944991"/>
            <a:ext cx="2031052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F476E5-AD76-4730-88A2-025A8E27FD38}"/>
              </a:ext>
            </a:extLst>
          </p:cNvPr>
          <p:cNvSpPr txBox="1"/>
          <p:nvPr/>
        </p:nvSpPr>
        <p:spPr>
          <a:xfrm>
            <a:off x="6324137" y="968243"/>
            <a:ext cx="1971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Mock-Run 2 in new AI PS Test Environment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54967D-2A37-DB85-C8AA-B8686F59D04F}"/>
              </a:ext>
            </a:extLst>
          </p:cNvPr>
          <p:cNvSpPr/>
          <p:nvPr/>
        </p:nvSpPr>
        <p:spPr>
          <a:xfrm>
            <a:off x="199707" y="953740"/>
            <a:ext cx="3352609" cy="5355659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7E4116-7362-AE6E-1F17-A7EF8E6BE18B}"/>
              </a:ext>
            </a:extLst>
          </p:cNvPr>
          <p:cNvSpPr txBox="1"/>
          <p:nvPr/>
        </p:nvSpPr>
        <p:spPr>
          <a:xfrm>
            <a:off x="4035416" y="993572"/>
            <a:ext cx="1971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Mock-Run 1 in new AI PS Test Environment 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BDABBAD-EB7B-9F9D-4378-D97D2B2CB7E9}"/>
              </a:ext>
            </a:extLst>
          </p:cNvPr>
          <p:cNvCxnSpPr>
            <a:cxnSpLocks/>
          </p:cNvCxnSpPr>
          <p:nvPr/>
        </p:nvCxnSpPr>
        <p:spPr>
          <a:xfrm>
            <a:off x="11253345" y="2932514"/>
            <a:ext cx="6855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B7157FB-720C-ACEB-9130-808445BD70A1}"/>
              </a:ext>
            </a:extLst>
          </p:cNvPr>
          <p:cNvSpPr txBox="1"/>
          <p:nvPr/>
        </p:nvSpPr>
        <p:spPr>
          <a:xfrm>
            <a:off x="11200444" y="2993164"/>
            <a:ext cx="868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Payroll data for entire Nov to be processed from AI PS?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44313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39745D-BC35-7A51-A009-8D29B0DF5E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39745D-BC35-7A51-A009-8D29B0DF5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itle 2">
            <a:extLst>
              <a:ext uri="{FF2B5EF4-FFF2-40B4-BE49-F238E27FC236}">
                <a16:creationId xmlns:a16="http://schemas.microsoft.com/office/drawing/2014/main" id="{124B5287-9BBB-3835-9405-5170EBF82CB5}"/>
              </a:ext>
            </a:extLst>
          </p:cNvPr>
          <p:cNvSpPr txBox="1">
            <a:spLocks/>
          </p:cNvSpPr>
          <p:nvPr/>
        </p:nvSpPr>
        <p:spPr>
          <a:xfrm>
            <a:off x="505884" y="57313"/>
            <a:ext cx="11110384" cy="680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accent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US" sz="2900" dirty="0">
                <a:latin typeface="AirIndia"/>
              </a:rPr>
              <a:t>Key Activities, Dependencies &amp; Timelines (HRMS)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6CEC42-3AAD-BD67-A9FD-E902D638D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60686"/>
              </p:ext>
            </p:extLst>
          </p:nvPr>
        </p:nvGraphicFramePr>
        <p:xfrm>
          <a:off x="272142" y="665117"/>
          <a:ext cx="11821884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429">
                  <a:extLst>
                    <a:ext uri="{9D8B030D-6E8A-4147-A177-3AD203B41FA5}">
                      <a16:colId xmlns:a16="http://schemas.microsoft.com/office/drawing/2014/main" val="2336119519"/>
                    </a:ext>
                  </a:extLst>
                </a:gridCol>
                <a:gridCol w="3668486">
                  <a:extLst>
                    <a:ext uri="{9D8B030D-6E8A-4147-A177-3AD203B41FA5}">
                      <a16:colId xmlns:a16="http://schemas.microsoft.com/office/drawing/2014/main" val="1315811804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3931541739"/>
                    </a:ext>
                  </a:extLst>
                </a:gridCol>
                <a:gridCol w="1807029">
                  <a:extLst>
                    <a:ext uri="{9D8B030D-6E8A-4147-A177-3AD203B41FA5}">
                      <a16:colId xmlns:a16="http://schemas.microsoft.com/office/drawing/2014/main" val="1201876223"/>
                    </a:ext>
                  </a:extLst>
                </a:gridCol>
                <a:gridCol w="3592283">
                  <a:extLst>
                    <a:ext uri="{9D8B030D-6E8A-4147-A177-3AD203B41FA5}">
                      <a16:colId xmlns:a16="http://schemas.microsoft.com/office/drawing/2014/main" val="2407820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Key Activities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Timeline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Responsibility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Dependency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954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Data Mapping &amp; Migration Preparation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333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Mapping Sign-off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June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3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Test Environment Creation – AI As-Is Prod Refresh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July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088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Configuration Decision Sign-off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July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HR to share harmonized Org structure &amp; HR policies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64609"/>
                  </a:ext>
                </a:extLst>
              </a:tr>
              <a:tr h="117303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Reconfigure AI Test </a:t>
                      </a:r>
                      <a:r>
                        <a:rPr lang="en-US" sz="1200" dirty="0" err="1"/>
                        <a:t>Envt</a:t>
                      </a:r>
                      <a:r>
                        <a:rPr lang="en-US" sz="1200" dirty="0"/>
                        <a:t> – Org Structure foundation objects, HR events, Time off, Pay Info, Goal templates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July – 23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Aug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Dependent on Config Decision Sign-off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64825"/>
                  </a:ext>
                </a:extLst>
              </a:tr>
              <a:tr h="117303">
                <a:tc>
                  <a:txBody>
                    <a:bodyPr/>
                    <a:lstStyle/>
                    <a:p>
                      <a:r>
                        <a:rPr lang="en-IN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Cleansing &amp; Templates creation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July – 23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Aug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83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Mock Run in AI Test SF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10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Historical Data Migration Mock Run 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Aug – 23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Aug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642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Migration Mock Run 1 – Data Validation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Aug – 30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Aug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87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Historical Data Migration Mock Run 2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31</a:t>
                      </a:r>
                      <a:r>
                        <a:rPr lang="en-IN" sz="1200" baseline="30000" dirty="0"/>
                        <a:t>st</a:t>
                      </a:r>
                      <a:r>
                        <a:rPr lang="en-IN" sz="1200" dirty="0"/>
                        <a:t> Aug – 9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51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Migration Mock Run 2 – Data Validation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  <a:r>
                        <a:rPr lang="en-IN" sz="1200" baseline="30000" dirty="0"/>
                        <a:t>nd</a:t>
                      </a:r>
                      <a:r>
                        <a:rPr lang="en-IN" sz="1200" dirty="0"/>
                        <a:t> Sep – 13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98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Testing of </a:t>
                      </a:r>
                      <a:r>
                        <a:rPr lang="en-IN" sz="1200" dirty="0" err="1"/>
                        <a:t>Reconfigs</a:t>
                      </a:r>
                      <a:r>
                        <a:rPr lang="en-IN" sz="1200" dirty="0"/>
                        <a:t> &amp; Data Migration- FUT, SIT &amp; 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26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Aug – 13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3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Migration in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51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Migrate all Configs to AI SF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16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 – 20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Digital &amp;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4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Integrations deployment on AI SF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23</a:t>
                      </a:r>
                      <a:r>
                        <a:rPr lang="en-IN" sz="1200" baseline="30000" dirty="0"/>
                        <a:t>rd</a:t>
                      </a:r>
                      <a:r>
                        <a:rPr lang="en-IN" sz="1200" dirty="0"/>
                        <a:t> Sep – 27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Digital &amp;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70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Historical data movement to AI SF Prod &amp; Final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 – 27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Digital &amp; Tech, 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38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Hiring of UK employees on permanent roles in AI SF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12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Digital &amp;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80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351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335F-212D-EE07-F9D0-C1891418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0498DA0-84F4-E345-DD0C-9167C8B11A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0" progId="TCLayout.ActiveDocument.1">
                  <p:embed/>
                </p:oleObj>
              </mc:Choice>
              <mc:Fallback>
                <p:oleObj name="think-cell Slide" r:id="rId4" imgW="501" imgH="5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39745D-BC35-7A51-A009-8D29B0DF5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itle 2">
            <a:extLst>
              <a:ext uri="{FF2B5EF4-FFF2-40B4-BE49-F238E27FC236}">
                <a16:creationId xmlns:a16="http://schemas.microsoft.com/office/drawing/2014/main" id="{99BBCAAE-DE78-96C6-E3F3-50E98E8A61AC}"/>
              </a:ext>
            </a:extLst>
          </p:cNvPr>
          <p:cNvSpPr txBox="1">
            <a:spLocks/>
          </p:cNvSpPr>
          <p:nvPr/>
        </p:nvSpPr>
        <p:spPr>
          <a:xfrm>
            <a:off x="505884" y="57313"/>
            <a:ext cx="11110384" cy="680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accent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US" sz="2900" dirty="0">
                <a:latin typeface="AirIndia"/>
              </a:rPr>
              <a:t>Key Activities, Dependencies &amp; Timelines (Payroll)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E10F0F-1FA7-12FB-6271-9EE67A9CC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114346"/>
              </p:ext>
            </p:extLst>
          </p:nvPr>
        </p:nvGraphicFramePr>
        <p:xfrm>
          <a:off x="272142" y="585651"/>
          <a:ext cx="11821884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429">
                  <a:extLst>
                    <a:ext uri="{9D8B030D-6E8A-4147-A177-3AD203B41FA5}">
                      <a16:colId xmlns:a16="http://schemas.microsoft.com/office/drawing/2014/main" val="2336119519"/>
                    </a:ext>
                  </a:extLst>
                </a:gridCol>
                <a:gridCol w="4049486">
                  <a:extLst>
                    <a:ext uri="{9D8B030D-6E8A-4147-A177-3AD203B41FA5}">
                      <a16:colId xmlns:a16="http://schemas.microsoft.com/office/drawing/2014/main" val="1315811804"/>
                    </a:ext>
                  </a:extLst>
                </a:gridCol>
                <a:gridCol w="1937657">
                  <a:extLst>
                    <a:ext uri="{9D8B030D-6E8A-4147-A177-3AD203B41FA5}">
                      <a16:colId xmlns:a16="http://schemas.microsoft.com/office/drawing/2014/main" val="3931541739"/>
                    </a:ext>
                  </a:extLst>
                </a:gridCol>
                <a:gridCol w="1807029">
                  <a:extLst>
                    <a:ext uri="{9D8B030D-6E8A-4147-A177-3AD203B41FA5}">
                      <a16:colId xmlns:a16="http://schemas.microsoft.com/office/drawing/2014/main" val="1201876223"/>
                    </a:ext>
                  </a:extLst>
                </a:gridCol>
                <a:gridCol w="3592283">
                  <a:extLst>
                    <a:ext uri="{9D8B030D-6E8A-4147-A177-3AD203B41FA5}">
                      <a16:colId xmlns:a16="http://schemas.microsoft.com/office/drawing/2014/main" val="2407820484"/>
                    </a:ext>
                  </a:extLst>
                </a:gridCol>
              </a:tblGrid>
              <a:tr h="248242"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Key Activities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Timeline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Responsibility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Dependency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954297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Data Mapping &amp; Migration Preparation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333431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Data Mapping Sign-off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r>
                        <a:rPr lang="en-US" sz="1200" baseline="30000" dirty="0"/>
                        <a:t>st</a:t>
                      </a:r>
                      <a:r>
                        <a:rPr lang="en-US" sz="1200" dirty="0"/>
                        <a:t> July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3711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Test Environment Creation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28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July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088105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Configuration Decision Sign-off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July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HR to share UK Pay structures &amp; components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64609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Configure new AI PS instance - UK Pay structures, pay heads &amp; master data creation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r>
                        <a:rPr lang="en-US" sz="1200" baseline="30000" dirty="0"/>
                        <a:t>st</a:t>
                      </a:r>
                      <a:r>
                        <a:rPr lang="en-US" sz="1200" dirty="0"/>
                        <a:t> Aug – 22</a:t>
                      </a:r>
                      <a:r>
                        <a:rPr lang="en-US" sz="1200" baseline="30000" dirty="0"/>
                        <a:t>nd</a:t>
                      </a:r>
                      <a:r>
                        <a:rPr lang="en-US" sz="1200" dirty="0"/>
                        <a:t> Aug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Dependent on Config Decision Sign-off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264825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r>
                        <a:rPr lang="en-IN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Data Cleansing &amp; Templates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22</a:t>
                      </a:r>
                      <a:r>
                        <a:rPr lang="en-IN" sz="1200" baseline="30000" dirty="0"/>
                        <a:t>nd</a:t>
                      </a:r>
                      <a:r>
                        <a:rPr lang="en-IN" sz="1200" dirty="0"/>
                        <a:t> Aug – 31</a:t>
                      </a:r>
                      <a:r>
                        <a:rPr lang="en-IN" sz="1200" baseline="30000" dirty="0"/>
                        <a:t>st</a:t>
                      </a:r>
                      <a:r>
                        <a:rPr lang="en-IN" sz="1200" dirty="0"/>
                        <a:t> 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978556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Aug Payroll Mock Run in new AI PS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102834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Payroll input for Aug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Sep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Dependent on UK Payroll &amp; IFS teams to share payroll inputs for Aug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642216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Emp Master data, Comp data, Investment declaration data upload on new AI PS instance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Sep – 13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Sep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Dependent on payroll inputs for Aug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87810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r>
                        <a:rPr lang="en-IN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Payroll validation, final paysheet generation &amp;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13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 – 20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515837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Sep Payroll Mock Run in new AI PS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98735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IN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Payroll input for Aug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Oct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Dependent on UK Payroll &amp; IFS teams to share payroll inputs for Sep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36008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Emp Master data, Comp data, Investment declaration data upload on new AI PS instance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Oct – 13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Oct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Dependent on payroll inputs for Sep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519399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r>
                        <a:rPr lang="en-IN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Payroll validation, final paysheet generation &amp; sign-off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13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Oct – 20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Digital &amp; Tech, BU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740908"/>
                  </a:ext>
                </a:extLst>
              </a:tr>
              <a:tr h="248242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Migration to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703005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IN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Historical data movement to new AI PS Prod &amp; Final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  <a:r>
                        <a:rPr lang="en-IN" sz="1200" baseline="30000" dirty="0"/>
                        <a:t>st</a:t>
                      </a:r>
                      <a:r>
                        <a:rPr lang="en-IN" sz="1200" dirty="0"/>
                        <a:t> Nov – 12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Digital &amp; Tech, 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383500"/>
                  </a:ext>
                </a:extLst>
              </a:tr>
              <a:tr h="413737">
                <a:tc>
                  <a:txBody>
                    <a:bodyPr/>
                    <a:lstStyle/>
                    <a:p>
                      <a:r>
                        <a:rPr lang="en-IN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Nov Payroll Processing for UK employees from new AI PS Prod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12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Nov – 20</a:t>
                      </a:r>
                      <a:r>
                        <a:rPr lang="en-IN" sz="1200" baseline="30000" dirty="0"/>
                        <a:t>th</a:t>
                      </a:r>
                      <a:r>
                        <a:rPr lang="en-IN" sz="1200" dirty="0"/>
                        <a:t>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Digital &amp;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80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16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B355E-B189-86B1-7019-92853F98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1A254-7326-714E-AF55-4C213D639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A0E28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A0E28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18B75E-C116-22B6-3052-0294A6A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336"/>
            <a:ext cx="10977880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AirIndia"/>
              </a:rPr>
              <a:t>HRMS Data Migration Landscape</a:t>
            </a: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AD0DEE1A-9985-0261-DA05-412FBC534C43}"/>
              </a:ext>
            </a:extLst>
          </p:cNvPr>
          <p:cNvSpPr/>
          <p:nvPr/>
        </p:nvSpPr>
        <p:spPr>
          <a:xfrm>
            <a:off x="603504" y="1353312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SF Prod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845244EA-30E6-368A-3213-77997BE43988}"/>
              </a:ext>
            </a:extLst>
          </p:cNvPr>
          <p:cNvSpPr/>
          <p:nvPr/>
        </p:nvSpPr>
        <p:spPr>
          <a:xfrm>
            <a:off x="3572256" y="1353312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</a:t>
            </a:r>
            <a:r>
              <a:rPr lang="en-IN"/>
              <a:t>SF Test</a:t>
            </a:r>
            <a:endParaRPr lang="en-IN" dirty="0"/>
          </a:p>
          <a:p>
            <a:pPr algn="ctr"/>
            <a:r>
              <a:rPr lang="en-IN" dirty="0"/>
              <a:t>(New Instance 1)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E18F304D-F598-25FF-CB33-A12A212A627E}"/>
              </a:ext>
            </a:extLst>
          </p:cNvPr>
          <p:cNvSpPr/>
          <p:nvPr/>
        </p:nvSpPr>
        <p:spPr>
          <a:xfrm>
            <a:off x="8218932" y="1353312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UK SF Prod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3E60972D-9EEF-8B7D-DD0E-EA202EB40BC9}"/>
              </a:ext>
            </a:extLst>
          </p:cNvPr>
          <p:cNvSpPr/>
          <p:nvPr/>
        </p:nvSpPr>
        <p:spPr>
          <a:xfrm>
            <a:off x="3572256" y="4720825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SF Test</a:t>
            </a:r>
          </a:p>
          <a:p>
            <a:pPr algn="ctr"/>
            <a:r>
              <a:rPr lang="en-IN" dirty="0"/>
              <a:t>(New Instance 2)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F1CE13-6ACA-6902-2E59-E8F6FDEE7AA5}"/>
              </a:ext>
            </a:extLst>
          </p:cNvPr>
          <p:cNvCxnSpPr>
            <a:cxnSpLocks/>
          </p:cNvCxnSpPr>
          <p:nvPr/>
        </p:nvCxnSpPr>
        <p:spPr>
          <a:xfrm>
            <a:off x="2039112" y="2075688"/>
            <a:ext cx="1496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94CC922-D221-3F9C-E510-67A2F9595532}"/>
              </a:ext>
            </a:extLst>
          </p:cNvPr>
          <p:cNvSpPr txBox="1"/>
          <p:nvPr/>
        </p:nvSpPr>
        <p:spPr>
          <a:xfrm>
            <a:off x="2199580" y="1706356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As-Is AI Copy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A96641-75EB-3BD0-72F7-15C35049CB6C}"/>
              </a:ext>
            </a:extLst>
          </p:cNvPr>
          <p:cNvSpPr txBox="1"/>
          <p:nvPr/>
        </p:nvSpPr>
        <p:spPr>
          <a:xfrm>
            <a:off x="2082203" y="2959084"/>
            <a:ext cx="1566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-Harmonized Org Structure &amp; Policies Reconfigurations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66E56B-CE88-5A4C-CAF0-1279E387668D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5035296" y="2282952"/>
            <a:ext cx="3183636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237D62-E04C-9F88-DE46-7CBC836F68DC}"/>
              </a:ext>
            </a:extLst>
          </p:cNvPr>
          <p:cNvSpPr txBox="1"/>
          <p:nvPr/>
        </p:nvSpPr>
        <p:spPr>
          <a:xfrm>
            <a:off x="6646053" y="1363242"/>
            <a:ext cx="1484995" cy="830997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Past 3 Years Historical UK active employee data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A26DF5-3DEF-9260-C653-477D51C73501}"/>
              </a:ext>
            </a:extLst>
          </p:cNvPr>
          <p:cNvSpPr txBox="1"/>
          <p:nvPr/>
        </p:nvSpPr>
        <p:spPr>
          <a:xfrm>
            <a:off x="2082203" y="3772453"/>
            <a:ext cx="1566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-Past 3 Years Historical UK active employee data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BFE05DD-01E6-BC20-1892-C2C4FBD42557}"/>
              </a:ext>
            </a:extLst>
          </p:cNvPr>
          <p:cNvCxnSpPr>
            <a:cxnSpLocks/>
            <a:stCxn id="24" idx="3"/>
            <a:endCxn id="20" idx="3"/>
          </p:cNvCxnSpPr>
          <p:nvPr/>
        </p:nvCxnSpPr>
        <p:spPr>
          <a:xfrm rot="5400000">
            <a:off x="2805684" y="1752600"/>
            <a:ext cx="12700" cy="2968752"/>
          </a:xfrm>
          <a:prstGeom prst="bentConnector3">
            <a:avLst>
              <a:gd name="adj1" fmla="val 432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0CAABF4-451F-28EA-720E-838DECC30CF5}"/>
              </a:ext>
            </a:extLst>
          </p:cNvPr>
          <p:cNvSpPr/>
          <p:nvPr/>
        </p:nvSpPr>
        <p:spPr>
          <a:xfrm>
            <a:off x="2172148" y="2873294"/>
            <a:ext cx="1336100" cy="1730153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15740D-4F0E-AC90-987E-6A62D6182688}"/>
              </a:ext>
            </a:extLst>
          </p:cNvPr>
          <p:cNvSpPr/>
          <p:nvPr/>
        </p:nvSpPr>
        <p:spPr>
          <a:xfrm>
            <a:off x="2176866" y="1631905"/>
            <a:ext cx="1211132" cy="363978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7C9729-33AD-DFDD-9E04-BBA9740F8205}"/>
              </a:ext>
            </a:extLst>
          </p:cNvPr>
          <p:cNvSpPr txBox="1"/>
          <p:nvPr/>
        </p:nvSpPr>
        <p:spPr>
          <a:xfrm>
            <a:off x="6906033" y="5300546"/>
            <a:ext cx="1225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As-Is UK Copy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55689D-6321-67E0-09D3-C1719C94E786}"/>
              </a:ext>
            </a:extLst>
          </p:cNvPr>
          <p:cNvSpPr/>
          <p:nvPr/>
        </p:nvSpPr>
        <p:spPr>
          <a:xfrm>
            <a:off x="6883319" y="5226095"/>
            <a:ext cx="1211132" cy="363978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AD5D64-B255-8F27-9816-8305A225FE6D}"/>
              </a:ext>
            </a:extLst>
          </p:cNvPr>
          <p:cNvSpPr/>
          <p:nvPr/>
        </p:nvSpPr>
        <p:spPr>
          <a:xfrm>
            <a:off x="9578201" y="3202855"/>
            <a:ext cx="1435608" cy="34345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To be sunset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79396D-470C-C13A-6AFA-99D5A675D42C}"/>
              </a:ext>
            </a:extLst>
          </p:cNvPr>
          <p:cNvSpPr/>
          <p:nvPr/>
        </p:nvSpPr>
        <p:spPr>
          <a:xfrm>
            <a:off x="267656" y="1030917"/>
            <a:ext cx="5590740" cy="5690945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74BEC767-E7CE-7C23-E0A0-4C6D8107FB7D}"/>
              </a:ext>
            </a:extLst>
          </p:cNvPr>
          <p:cNvCxnSpPr>
            <a:cxnSpLocks/>
            <a:stCxn id="25" idx="3"/>
            <a:endCxn id="26" idx="4"/>
          </p:cNvCxnSpPr>
          <p:nvPr/>
        </p:nvCxnSpPr>
        <p:spPr>
          <a:xfrm rot="5400000">
            <a:off x="5759460" y="2485380"/>
            <a:ext cx="2425681" cy="3928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80B4FBB-2174-7690-9520-9F7DC3E49835}"/>
              </a:ext>
            </a:extLst>
          </p:cNvPr>
          <p:cNvSpPr txBox="1"/>
          <p:nvPr/>
        </p:nvSpPr>
        <p:spPr>
          <a:xfrm>
            <a:off x="1711843" y="6087296"/>
            <a:ext cx="1796406" cy="461665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Future Repository of UK employee data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7201C7-85F0-7BBB-94FB-9DE12D991944}"/>
              </a:ext>
            </a:extLst>
          </p:cNvPr>
          <p:cNvSpPr txBox="1"/>
          <p:nvPr/>
        </p:nvSpPr>
        <p:spPr>
          <a:xfrm>
            <a:off x="2445091" y="68587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AI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14C886-01DD-33CE-0A8C-2A8E10D4CD11}"/>
              </a:ext>
            </a:extLst>
          </p:cNvPr>
          <p:cNvSpPr/>
          <p:nvPr/>
        </p:nvSpPr>
        <p:spPr>
          <a:xfrm>
            <a:off x="6580743" y="1014448"/>
            <a:ext cx="5026720" cy="5690945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549D8-A3DE-54E4-8B1B-7A1B299231F6}"/>
              </a:ext>
            </a:extLst>
          </p:cNvPr>
          <p:cNvSpPr txBox="1"/>
          <p:nvPr/>
        </p:nvSpPr>
        <p:spPr>
          <a:xfrm>
            <a:off x="9094103" y="661585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UK</a:t>
            </a:r>
          </a:p>
        </p:txBody>
      </p:sp>
    </p:spTree>
    <p:extLst>
      <p:ext uri="{BB962C8B-B14F-4D97-AF65-F5344CB8AC3E}">
        <p14:creationId xmlns:p14="http://schemas.microsoft.com/office/powerpoint/2010/main" val="279015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5490-B696-9EB9-8335-278CB666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7A129E-9334-1D94-9823-484EBCB7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1A254-7326-714E-AF55-4C213D639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A0E28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A0E28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1A7918-4DAF-6F4A-10A0-BD5F313F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336"/>
            <a:ext cx="10977880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AirIndia"/>
              </a:rPr>
              <a:t>Payroll Data Migration Landscape</a:t>
            </a: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4FB29122-D13F-5590-8EFA-69B604AE911A}"/>
              </a:ext>
            </a:extLst>
          </p:cNvPr>
          <p:cNvSpPr/>
          <p:nvPr/>
        </p:nvSpPr>
        <p:spPr>
          <a:xfrm>
            <a:off x="603504" y="1353312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PS Prod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9FAA0D11-34E3-B469-1304-A8B684E6772D}"/>
              </a:ext>
            </a:extLst>
          </p:cNvPr>
          <p:cNvSpPr/>
          <p:nvPr/>
        </p:nvSpPr>
        <p:spPr>
          <a:xfrm>
            <a:off x="3572256" y="1353312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PS Prod (New Instance for UK)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717A904C-7198-1464-61F8-745AB0BDF522}"/>
              </a:ext>
            </a:extLst>
          </p:cNvPr>
          <p:cNvSpPr/>
          <p:nvPr/>
        </p:nvSpPr>
        <p:spPr>
          <a:xfrm>
            <a:off x="8218932" y="1353312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UK SAP S4 HANA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9DD64A-1C3F-BC52-11DB-2E180DF59248}"/>
              </a:ext>
            </a:extLst>
          </p:cNvPr>
          <p:cNvCxnSpPr>
            <a:cxnSpLocks/>
            <a:stCxn id="25" idx="2"/>
          </p:cNvCxnSpPr>
          <p:nvPr/>
        </p:nvCxnSpPr>
        <p:spPr>
          <a:xfrm flipH="1" flipV="1">
            <a:off x="5035296" y="2282952"/>
            <a:ext cx="3183636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167EE35-5FB5-DA0E-01C6-69C4EA1F51C0}"/>
              </a:ext>
            </a:extLst>
          </p:cNvPr>
          <p:cNvSpPr txBox="1"/>
          <p:nvPr/>
        </p:nvSpPr>
        <p:spPr>
          <a:xfrm>
            <a:off x="6673735" y="1353312"/>
            <a:ext cx="1435609" cy="830997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Past 3 Years Historical UK active employee payroll data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D89C35-DCA6-FE88-CC22-DEC3AA699589}"/>
              </a:ext>
            </a:extLst>
          </p:cNvPr>
          <p:cNvSpPr/>
          <p:nvPr/>
        </p:nvSpPr>
        <p:spPr>
          <a:xfrm>
            <a:off x="267656" y="1030917"/>
            <a:ext cx="5590740" cy="5690945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F83104-C8EB-DE4E-74EA-4110697FE226}"/>
              </a:ext>
            </a:extLst>
          </p:cNvPr>
          <p:cNvSpPr txBox="1"/>
          <p:nvPr/>
        </p:nvSpPr>
        <p:spPr>
          <a:xfrm>
            <a:off x="2445091" y="68587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AI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3D985F8-3778-BF39-4B67-EA5FB5FAF66B}"/>
              </a:ext>
            </a:extLst>
          </p:cNvPr>
          <p:cNvSpPr/>
          <p:nvPr/>
        </p:nvSpPr>
        <p:spPr>
          <a:xfrm>
            <a:off x="6580743" y="1014448"/>
            <a:ext cx="5026720" cy="5690945"/>
          </a:xfrm>
          <a:prstGeom prst="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E5E018-4BFB-661C-44AA-22DECAD501F2}"/>
              </a:ext>
            </a:extLst>
          </p:cNvPr>
          <p:cNvSpPr txBox="1"/>
          <p:nvPr/>
        </p:nvSpPr>
        <p:spPr>
          <a:xfrm>
            <a:off x="9094103" y="661585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UK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C7AB8AEA-B2C8-5555-5D85-2E77A106B737}"/>
              </a:ext>
            </a:extLst>
          </p:cNvPr>
          <p:cNvSpPr/>
          <p:nvPr/>
        </p:nvSpPr>
        <p:spPr>
          <a:xfrm>
            <a:off x="2039112" y="4562856"/>
            <a:ext cx="1435608" cy="188366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SF Prod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AE68D18-E9D3-3474-BFF1-8BBFEE9CDF7E}"/>
              </a:ext>
            </a:extLst>
          </p:cNvPr>
          <p:cNvCxnSpPr>
            <a:cxnSpLocks/>
            <a:stCxn id="5" idx="1"/>
            <a:endCxn id="24" idx="3"/>
          </p:cNvCxnSpPr>
          <p:nvPr/>
        </p:nvCxnSpPr>
        <p:spPr>
          <a:xfrm rot="5400000" flipH="1" flipV="1">
            <a:off x="2860548" y="3133344"/>
            <a:ext cx="1325880" cy="15331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C252765-7C73-09BC-FD92-3E479991B267}"/>
              </a:ext>
            </a:extLst>
          </p:cNvPr>
          <p:cNvCxnSpPr>
            <a:cxnSpLocks/>
            <a:stCxn id="5" idx="1"/>
            <a:endCxn id="20" idx="3"/>
          </p:cNvCxnSpPr>
          <p:nvPr/>
        </p:nvCxnSpPr>
        <p:spPr>
          <a:xfrm rot="16200000" flipV="1">
            <a:off x="1376172" y="3182112"/>
            <a:ext cx="1325880" cy="14356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BD9CB3-1A90-D1D7-4335-90FE03CCDD21}"/>
              </a:ext>
            </a:extLst>
          </p:cNvPr>
          <p:cNvSpPr txBox="1"/>
          <p:nvPr/>
        </p:nvSpPr>
        <p:spPr>
          <a:xfrm>
            <a:off x="1910595" y="3382549"/>
            <a:ext cx="1757318" cy="461665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Integration between SF &amp; 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CF7B4-3C88-FEFE-4294-C3671FC8A76E}"/>
              </a:ext>
            </a:extLst>
          </p:cNvPr>
          <p:cNvSpPr txBox="1"/>
          <p:nvPr/>
        </p:nvSpPr>
        <p:spPr>
          <a:xfrm>
            <a:off x="6673734" y="2405978"/>
            <a:ext cx="1435609" cy="646331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UK Pay Structure &amp; Components Configurations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BDD0E-6157-7BF9-4ED4-C27ABE0CB343}"/>
              </a:ext>
            </a:extLst>
          </p:cNvPr>
          <p:cNvSpPr txBox="1"/>
          <p:nvPr/>
        </p:nvSpPr>
        <p:spPr>
          <a:xfrm>
            <a:off x="412220" y="3438250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Existing</a:t>
            </a:r>
          </a:p>
          <a:p>
            <a:r>
              <a:rPr lang="en-IN" sz="1200" dirty="0"/>
              <a:t>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8E006-8E6C-5DC1-0022-BDC3F48E9BFE}"/>
              </a:ext>
            </a:extLst>
          </p:cNvPr>
          <p:cNvSpPr txBox="1"/>
          <p:nvPr/>
        </p:nvSpPr>
        <p:spPr>
          <a:xfrm>
            <a:off x="4385717" y="3442376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New</a:t>
            </a:r>
          </a:p>
          <a:p>
            <a:r>
              <a:rPr lang="en-IN" sz="1200" dirty="0"/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584166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2C0B8BB-21C0-44A2-0CEC-2F73B9DBDD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0" progId="TCLayout.ActiveDocument.1">
                  <p:embed/>
                </p:oleObj>
              </mc:Choice>
              <mc:Fallback>
                <p:oleObj name="think-cell Slide" r:id="rId3" imgW="501" imgH="5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C0B8BB-21C0-44A2-0CEC-2F73B9DBDD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6D647F-D28A-EAD2-F3F4-2EBC277B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41A254-7326-714E-AF55-4C213D639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DA0E28"/>
                </a:solidFill>
                <a:effectLst/>
                <a:uLnTx/>
                <a:uFillTx/>
                <a:latin typeface="Nunito San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DA0E28"/>
              </a:solidFill>
              <a:effectLst/>
              <a:uLnTx/>
              <a:uFillTx/>
              <a:latin typeface="Nunito Sans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25B22C-F643-9EF8-4D67-2CA8C9FEB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646135"/>
              </p:ext>
            </p:extLst>
          </p:nvPr>
        </p:nvGraphicFramePr>
        <p:xfrm>
          <a:off x="346363" y="734290"/>
          <a:ext cx="11554263" cy="53184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4213">
                  <a:extLst>
                    <a:ext uri="{9D8B030D-6E8A-4147-A177-3AD203B41FA5}">
                      <a16:colId xmlns:a16="http://schemas.microsoft.com/office/drawing/2014/main" val="99871398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169427651"/>
                    </a:ext>
                  </a:extLst>
                </a:gridCol>
                <a:gridCol w="4748050">
                  <a:extLst>
                    <a:ext uri="{9D8B030D-6E8A-4147-A177-3AD203B41FA5}">
                      <a16:colId xmlns:a16="http://schemas.microsoft.com/office/drawing/2014/main" val="3497555564"/>
                    </a:ext>
                  </a:extLst>
                </a:gridCol>
              </a:tblGrid>
              <a:tr h="6108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  <a:endParaRPr lang="en-IN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Constraint/ Dependency</a:t>
                      </a:r>
                      <a:endParaRPr lang="en-IN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  <a:endParaRPr lang="en-IN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27245"/>
                  </a:ext>
                </a:extLst>
              </a:tr>
              <a:tr h="71321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+mn-lt"/>
                        </a:rPr>
                        <a:t>HRMS (SuccessFactors)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Pending sharing of harmonized Org structure with revised foundation objects from HR (Anuj Khanna, Rahul Gautam)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Expected by 22</a:t>
                      </a:r>
                      <a:r>
                        <a:rPr lang="en-US" sz="1600" baseline="30000" dirty="0">
                          <a:latin typeface="+mn-lt"/>
                        </a:rPr>
                        <a:t>nd</a:t>
                      </a:r>
                      <a:r>
                        <a:rPr lang="en-US" sz="1600" dirty="0">
                          <a:latin typeface="+mn-lt"/>
                        </a:rPr>
                        <a:t> July, in case harmonized Org structure  is not available by 22</a:t>
                      </a:r>
                      <a:r>
                        <a:rPr lang="en-US" sz="1600" baseline="30000" dirty="0">
                          <a:latin typeface="+mn-lt"/>
                        </a:rPr>
                        <a:t>nd</a:t>
                      </a:r>
                      <a:r>
                        <a:rPr lang="en-US" sz="1600" dirty="0">
                          <a:latin typeface="+mn-lt"/>
                        </a:rPr>
                        <a:t> July, historical data upload mock run 1 to be done using current Org structure in AI SF Test; incremental reconfigurations to be done later prior to running historical data upload mock run 2 in AI SF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133262"/>
                  </a:ext>
                </a:extLst>
              </a:tr>
              <a:tr h="687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+mn-lt"/>
                        </a:rPr>
                        <a:t>HRMS (SuccessFactors)</a:t>
                      </a:r>
                    </a:p>
                    <a:p>
                      <a:endParaRPr lang="en-IN" sz="1600" dirty="0"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Pending sharing of harmonized HR policies with revised configurations from HR (Akanksha Jain)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dirty="0">
                          <a:latin typeface="+mn-lt"/>
                        </a:rPr>
                        <a:t>In case harmonized HR policies not received by 29</a:t>
                      </a:r>
                      <a:r>
                        <a:rPr lang="en-IN" sz="1600" baseline="30000" dirty="0">
                          <a:latin typeface="+mn-lt"/>
                        </a:rPr>
                        <a:t>th</a:t>
                      </a:r>
                      <a:r>
                        <a:rPr lang="en-IN" sz="1600" dirty="0">
                          <a:latin typeface="+mn-lt"/>
                        </a:rPr>
                        <a:t> July, historical data upload mock run 1 to be done assuming no change &amp; incremental reconfigurations to be done later </a:t>
                      </a:r>
                      <a:r>
                        <a:rPr lang="en-US" sz="1600" dirty="0">
                          <a:latin typeface="+mn-lt"/>
                        </a:rPr>
                        <a:t>prior to running historical data upload mock run 2 in AI SF Test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2415"/>
                  </a:ext>
                </a:extLst>
              </a:tr>
              <a:tr h="921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+mn-lt"/>
                        </a:rPr>
                        <a:t>Learning (</a:t>
                      </a:r>
                      <a:r>
                        <a:rPr lang="en-IN" sz="1600" dirty="0" err="1">
                          <a:latin typeface="+mn-lt"/>
                        </a:rPr>
                        <a:t>Disprz</a:t>
                      </a:r>
                      <a:r>
                        <a:rPr lang="en-IN" sz="1600" dirty="0">
                          <a:latin typeface="+mn-lt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Pending sharing of incremental licenses requirement within Integrated Org post merger for LMS tool </a:t>
                      </a:r>
                      <a:r>
                        <a:rPr lang="en-US" sz="1600" dirty="0" err="1">
                          <a:latin typeface="+mn-lt"/>
                        </a:rPr>
                        <a:t>Disprz</a:t>
                      </a:r>
                      <a:r>
                        <a:rPr lang="en-US" sz="1600" dirty="0">
                          <a:latin typeface="+mn-lt"/>
                        </a:rPr>
                        <a:t> from HR (Tanu Srivastava)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/>
                        <a:buNone/>
                      </a:pPr>
                      <a:r>
                        <a:rPr lang="en-US" sz="1600" b="0" dirty="0">
                          <a:latin typeface="+mn-lt"/>
                        </a:rPr>
                        <a:t>Inputs to be shared by HR team by 14</a:t>
                      </a:r>
                      <a:r>
                        <a:rPr lang="en-US" sz="1600" b="0" baseline="30000" dirty="0">
                          <a:latin typeface="+mn-lt"/>
                        </a:rPr>
                        <a:t>th</a:t>
                      </a:r>
                      <a:r>
                        <a:rPr lang="en-US" sz="1600" b="0" dirty="0">
                          <a:latin typeface="+mn-lt"/>
                        </a:rPr>
                        <a:t> Aug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004669"/>
                  </a:ext>
                </a:extLst>
              </a:tr>
              <a:tr h="921230">
                <a:tc>
                  <a:txBody>
                    <a:bodyPr/>
                    <a:lstStyle/>
                    <a:p>
                      <a:endParaRPr lang="en-IN" sz="1600" dirty="0"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300612"/>
                  </a:ext>
                </a:extLst>
              </a:tr>
            </a:tbl>
          </a:graphicData>
        </a:graphic>
      </p:graphicFrame>
      <p:sp>
        <p:nvSpPr>
          <p:cNvPr id="16" name="Title 2">
            <a:extLst>
              <a:ext uri="{FF2B5EF4-FFF2-40B4-BE49-F238E27FC236}">
                <a16:creationId xmlns:a16="http://schemas.microsoft.com/office/drawing/2014/main" id="{553F227A-4D7A-8D0D-F97E-CB0038B78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884" y="57313"/>
            <a:ext cx="11110384" cy="680357"/>
          </a:xfrm>
        </p:spPr>
        <p:txBody>
          <a:bodyPr vert="horz">
            <a:noAutofit/>
          </a:bodyPr>
          <a:lstStyle/>
          <a:p>
            <a:r>
              <a:rPr lang="en-US" sz="2900" dirty="0"/>
              <a:t>Constraints &amp; Dependencies</a:t>
            </a:r>
          </a:p>
        </p:txBody>
      </p:sp>
    </p:spTree>
    <p:extLst>
      <p:ext uri="{BB962C8B-B14F-4D97-AF65-F5344CB8AC3E}">
        <p14:creationId xmlns:p14="http://schemas.microsoft.com/office/powerpoint/2010/main" val="233605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3D0-C257-C795-570C-133BB03F4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906471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ir India Master">
  <a:themeElements>
    <a:clrScheme name="Airn India">
      <a:dk1>
        <a:srgbClr val="000000"/>
      </a:dk1>
      <a:lt1>
        <a:srgbClr val="FFFFFF"/>
      </a:lt1>
      <a:dk2>
        <a:srgbClr val="44546A"/>
      </a:dk2>
      <a:lt2>
        <a:srgbClr val="F9F6EE"/>
      </a:lt2>
      <a:accent1>
        <a:srgbClr val="DA0E28"/>
      </a:accent1>
      <a:accent2>
        <a:srgbClr val="B61032"/>
      </a:accent2>
      <a:accent3>
        <a:srgbClr val="531251"/>
      </a:accent3>
      <a:accent4>
        <a:srgbClr val="F8C1B3"/>
      </a:accent4>
      <a:accent5>
        <a:srgbClr val="F9F6EE"/>
      </a:accent5>
      <a:accent6>
        <a:srgbClr val="FED9A0"/>
      </a:accent6>
      <a:hlink>
        <a:srgbClr val="9E7947"/>
      </a:hlink>
      <a:folHlink>
        <a:srgbClr val="954F72"/>
      </a:folHlink>
    </a:clrScheme>
    <a:fontScheme name="Nunito Air India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0831_Air India - Presentation Template OPT-1_V07.1" id="{D76D6D51-82C9-874C-93C2-607499FF9295}" vid="{52AAD933-9942-7B43-8B44-8B5668BB68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9A587533228249A2AD36C35ECCC773" ma:contentTypeVersion="14" ma:contentTypeDescription="Create a new document." ma:contentTypeScope="" ma:versionID="ef62b009a80a8add73d5c8b8cc9a16fa">
  <xsd:schema xmlns:xsd="http://www.w3.org/2001/XMLSchema" xmlns:xs="http://www.w3.org/2001/XMLSchema" xmlns:p="http://schemas.microsoft.com/office/2006/metadata/properties" xmlns:ns2="9b385527-6b66-4156-afa4-ca466dc99064" xmlns:ns3="81171a68-18ab-48f5-bb9d-84b5a8b30dd5" targetNamespace="http://schemas.microsoft.com/office/2006/metadata/properties" ma:root="true" ma:fieldsID="a9bfd0ca3b2c61eb081d0957aada56e4" ns2:_="" ns3:_="">
    <xsd:import namespace="9b385527-6b66-4156-afa4-ca466dc99064"/>
    <xsd:import namespace="81171a68-18ab-48f5-bb9d-84b5a8b30d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85527-6b66-4156-afa4-ca466dc99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96e8092-c132-4e16-82f0-b3760f06ce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71a68-18ab-48f5-bb9d-84b5a8b30dd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2478546-6fbb-4c9f-a469-b2690c408d9b}" ma:internalName="TaxCatchAll" ma:showField="CatchAllData" ma:web="81171a68-18ab-48f5-bb9d-84b5a8b30d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385527-6b66-4156-afa4-ca466dc99064">
      <Terms xmlns="http://schemas.microsoft.com/office/infopath/2007/PartnerControls"/>
    </lcf76f155ced4ddcb4097134ff3c332f>
    <TaxCatchAll xmlns="81171a68-18ab-48f5-bb9d-84b5a8b30dd5" xsi:nil="true"/>
    <SharedWithUsers xmlns="81171a68-18ab-48f5-bb9d-84b5a8b30dd5">
      <UserInfo>
        <DisplayName>Suyash Kumar</DisplayName>
        <AccountId>23</AccountId>
        <AccountType/>
      </UserInfo>
      <UserInfo>
        <DisplayName>Sarthak Banerjee</DisplayName>
        <AccountId>9</AccountId>
        <AccountType/>
      </UserInfo>
      <UserInfo>
        <DisplayName>AmitKumar Das</DisplayName>
        <AccountId>16</AccountId>
        <AccountType/>
      </UserInfo>
      <UserInfo>
        <DisplayName>Ritesh Kumar</DisplayName>
        <AccountId>25</AccountId>
        <AccountType/>
      </UserInfo>
      <UserInfo>
        <DisplayName>Kamal Kishor</DisplayName>
        <AccountId>24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851563B-8EF2-4F31-BEB3-C2A6DC0FEB8A}">
  <ds:schemaRefs>
    <ds:schemaRef ds:uri="81171a68-18ab-48f5-bb9d-84b5a8b30dd5"/>
    <ds:schemaRef ds:uri="9b385527-6b66-4156-afa4-ca466dc990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93EAB2-E373-462C-B53E-C04DCA2DB3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52EED6-D273-42E7-8874-F790F9D291D7}">
  <ds:schemaRefs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9b385527-6b66-4156-afa4-ca466dc99064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81171a68-18ab-48f5-bb9d-84b5a8b30dd5"/>
  </ds:schemaRefs>
</ds:datastoreItem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5648</TotalTime>
  <Words>1567</Words>
  <Application>Microsoft Office PowerPoint</Application>
  <PresentationFormat>Widescreen</PresentationFormat>
  <Paragraphs>282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AirIndia</vt:lpstr>
      <vt:lpstr>Aptos</vt:lpstr>
      <vt:lpstr>Arial</vt:lpstr>
      <vt:lpstr>Nunito Sans</vt:lpstr>
      <vt:lpstr>Air India Master</vt:lpstr>
      <vt:lpstr>think-cell Slide</vt:lpstr>
      <vt:lpstr>PowerPoint Presentation</vt:lpstr>
      <vt:lpstr>Principles of Migration (HRMS)</vt:lpstr>
      <vt:lpstr>Principles of Migration (Payroll)</vt:lpstr>
      <vt:lpstr>PowerPoint Presentation</vt:lpstr>
      <vt:lpstr>PowerPoint Presentation</vt:lpstr>
      <vt:lpstr>PowerPoint Presentation</vt:lpstr>
      <vt:lpstr>PowerPoint Presentation</vt:lpstr>
      <vt:lpstr>HRMS Data Migration Landscape</vt:lpstr>
      <vt:lpstr>Payroll Data Migration Landscape</vt:lpstr>
      <vt:lpstr>Constraints &amp; Dependencies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&amp; Tech AI+UK Integration Update</dc:title>
  <dc:creator>Suyash Kumar</dc:creator>
  <cp:lastModifiedBy>Kunal Kansra</cp:lastModifiedBy>
  <cp:revision>125</cp:revision>
  <dcterms:created xsi:type="dcterms:W3CDTF">2024-06-26T09:46:30Z</dcterms:created>
  <dcterms:modified xsi:type="dcterms:W3CDTF">2024-07-19T07:05:12Z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0x010100529A587533228249A2AD36C35ECCC773</vt:lpwstr>
  </property>
  <property fmtid="{D5CDD505-2E9C-101B-9397-08002B2CF9AE}" pid="3" name="MediaServiceImageTags">
    <vt:lpwstr/>
  </property>
</Properties>
</file>